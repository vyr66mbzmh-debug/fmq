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7" r:id="rId2"/>
    <p:sldId id="483" r:id="rId3"/>
    <p:sldId id="685" r:id="rId4"/>
    <p:sldId id="680" r:id="rId5"/>
    <p:sldId id="681" r:id="rId6"/>
    <p:sldId id="682" r:id="rId7"/>
    <p:sldId id="683" r:id="rId8"/>
    <p:sldId id="691" r:id="rId9"/>
    <p:sldId id="692" r:id="rId10"/>
    <p:sldId id="618" r:id="rId11"/>
    <p:sldId id="704" r:id="rId12"/>
    <p:sldId id="686" r:id="rId13"/>
    <p:sldId id="687" r:id="rId14"/>
    <p:sldId id="688" r:id="rId15"/>
    <p:sldId id="689" r:id="rId16"/>
    <p:sldId id="705" r:id="rId17"/>
    <p:sldId id="706" r:id="rId18"/>
    <p:sldId id="690" r:id="rId19"/>
    <p:sldId id="684" r:id="rId20"/>
    <p:sldId id="693" r:id="rId21"/>
    <p:sldId id="694" r:id="rId22"/>
    <p:sldId id="696" r:id="rId23"/>
    <p:sldId id="708" r:id="rId24"/>
    <p:sldId id="695" r:id="rId25"/>
    <p:sldId id="697" r:id="rId26"/>
    <p:sldId id="698" r:id="rId27"/>
    <p:sldId id="699" r:id="rId28"/>
    <p:sldId id="715" r:id="rId29"/>
    <p:sldId id="700" r:id="rId30"/>
    <p:sldId id="701" r:id="rId31"/>
    <p:sldId id="702" r:id="rId32"/>
    <p:sldId id="703" r:id="rId33"/>
    <p:sldId id="711" r:id="rId34"/>
    <p:sldId id="712" r:id="rId35"/>
    <p:sldId id="70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6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16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804" y="108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9T11:39:19.6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162 74 8493,'-14'0'1089,"4"0"-696,0 0-168,7 0 37,-4 0 46,1 0-116,-2 0 0,-2 0-165,0 0 1,5 0-166,-5 0 0,5 5 312,-4 0 0,4 5-163,-5-5 0,7 6 35,-2-1 60,-3-4-201,6 7 1,-5-4-1,6 4 13,-4-4 0,3 4 107,-3-3 0,4 3-109,1 2 106,0 0 0,0-1-14,0 1 1,5-5-1,1-2-13,2-1 0,-3 2 25,5-4-8,0 7-32,-2-11 1,5 6 12,-3-7 0,-2 0 0,2 0 20,1 0 253,2 0-90,2 0 0,0-2-155,-1-3 0,-4 2 1,-2-7 108,-1-1 0,3 3-68,-5-2 1,1 0 70,-1-5-74,-3 1 75,4 6 1,-6-5 0,2 3-33,3-3 1,-4-2 113,4 0 0,-3 1 176,-2-1-273,0 0 1,-5 0 0,-2 1 49,-1-1 1,5 5 64,-2 0-189,-3 7 0,5-8-157,-7 6 29,7 0 1,-10 0 158,3 0 1,2-5-148,-2 5 1,5 1 83,-5 4 0,5 0-119,-5 0 1,6 0-93,-6 0 1,5 0 134,-5 0 1,5 0 1,-5 0 46,7 6-617,-10 2 0,10 2 1,-5 0 134,1 1 1,2 2-188,5 2 1,0-5 232,0 0 0,0-1-21,0 6 1,0 0-163,0 0 1,0-1 633,0 1 0,0 0 0,0-1 0,5-4 0,0 0 0,1-2 0,-1 2 0,-3 3 0,11-11 0,-10 9 0,7-6 0,2-2 0,-4-1 0,2-2 0,-1 6 0,6 3 0</inkml:trace>
  <inkml:trace contextRef="#ctx0" brushRef="#br0" timeOffset="453">207 206 7981,'6'-14'-1893,"-4"-1"1927,4 0 1,-1 5 35,0 1 348,0 5 23,-5-9-295,6 5 0,-4-2 389,3 1-192,-3 5 35,-2-2-65,0 6 1,0-2 130,0-3-13,-7 4 2,5-6-148,-4 7-175,6 0 0,-2 2-66,-3 3 1,4-2 318,-4 7-302,3-1 0,2 6 26,0 0 0,0 0-162,0-1 0,0 1 93,0 0 0,0-1 1,0 1-123,0 0 91,0-1 0,0 1-271,0 0 225,0 6 0,2-5 0,1 6 73,2-1 0,0-5-32,-5 4 1,0 1 48,0-1 1,0-1 76,0-4 0,0 0-5,0-1 1,0 6-81,0 0 0,-2-1 178,-3-4 0,4-7 159,-12 5-275,5-5 0,-7 5 0,0-3 281,0-5-278,1 3 0,-1-1-71,0 2 0,1 3-25,-1-7 0,0 5 167,1-5-233,-1-1-58,0 3 0,5-5-116,1 2 119,5-2-775,-2-2 0,6-2 472,0-2 0,0 0-1543,0-5 1975,0-1 0,6-5 0,2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9T11:39:27.4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662 30 11556,'-7'-8'780,"6"1"-703,-12 7 173,4-6-32,-5 4 1,-1-4-237,0 6 1,1 0 36,-1 0 0,5 0-73,0 0 1,0 1 89,-4 4 0,1 3-240,3 7 0,-2 1-68,8 4 1,-6-2 128,5 7 0,0-6 61,5 6 0,0-7 28,0 1 0,0-1 63,0 2 1,7-9-75,2 4 1,4-10 142,2 0 1,0-4-21,-1-1 0,1 0-23,0 0 0,0-1-6,-1-4 0,-2-3-25,2-7 1,-7-1 2,8-4 0,-6 4 7,1-4 1,2-1 55,-7 1 0,-1-4-57,-4 4 0,0 1 36,0 4 1,0 0 31,0 0 13,0 7-84,0 2 21,0 6 0,0 1-66,0 4 0,-1 3 61,-4 7 1,3 0 35,-3 0 0,4 4-47,1 1 1,0 4 178,0-4 1,-2 6 177,-3-2 0,4 4-141,-4 2 1,-2 1-38,2 3 1,-6-3-64,1 3 1,2 2 47,-2-1 0,2-3 10,-2-7 1,-1 1-174,6-7 1,-5 1 139,5-5 1,-6-7-270,1-3 8,-3-4 0,-2-1-15,0 0 0,1 0-199,-1 0 0,0-6 156,1-4 1,5-3-1309,5-2 1,-3 1 1470,2-1 0,0 0 0,5 1 0</inkml:trace>
  <inkml:trace contextRef="#ctx0" brushRef="#br0" timeOffset="2110">15 986 8231,'5'9'0,"0"1"-173,0-7 1,-4 9 215,4-7 305,-3 6 0,9-8 204,-6 7-268,7-6 0,-4 2-255,6-6 0,-4 0 142,0 0-14,0 0 216,5 0-150,-1-6-65,1-3 0,-2-5 146,-3-1 0,-2 0-165,-3 1 1,-3-1 199,2 0 0,-2 0-53,-2 1 0,0-1-69,0 0 0,0 1 145,0-1 0,-2 0-85,-2 1 0,0 1-254,-6 3 1,6-2 163,-6 7-304,0-6 0,-5 8-62,1-7 0,4 7-13,0-2 0,0 3 81,-5 2 1,6 5 76,-1 0 0,2 6-193,-2-1 1,-2 3 93,8 2 0,-6 0-107,5-1 0,-5 1 90,5 0 1,0 4-76,5 1 0,0-1 121,0-4 0,0 0-199,0 0 0,0-1-323,0 1 465,0 0 0,7-2-125,3-3 1,-2-4 95,2-6 0,-1 0 174,6 0 1,0 0-121,-1 0 0,-4 0 172,0 0 1,0-5-49,5 0 0,-1-6 96,1 1 0,-5 2 24,0-2 0,-2 0-92,2-4 1,-2 1 366,-3 3-205,-4-3 314,12 4-239,-11 1 248,4 2-187,-6 6 123,0 0-360,0 6 0,0 2 192,0 7-14,0 0 0,0 0-76,0-1 1,0 6 326,0-1 0,0 1-104,0-5 0,0-1 30,0 1 1,0 0-65,0 0 0,-1-1-104,-4 1 0,-2 0-168,-2-1 1,-4-4 153,3 0 0,-3-7-1609,-2 2 1098,0 3 0,-4-6 261,-1 3 0,0-10 0,6-3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09/11/2024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09/11/2024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7B1DFBE-C104-6839-D50C-3CCE0EFA464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91"/>
            <a:ext cx="10363200" cy="1470025"/>
          </a:xfrm>
        </p:spPr>
        <p:txBody>
          <a:bodyPr>
            <a:noAutofit/>
          </a:bodyPr>
          <a:lstStyle>
            <a:lvl1pPr>
              <a:defRPr sz="3375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689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09/11/2024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9" Type="http://schemas.openxmlformats.org/officeDocument/2006/relationships/image" Target="../media/image72.png"/><Relationship Id="rId21" Type="http://schemas.openxmlformats.org/officeDocument/2006/relationships/image" Target="../media/image54.png"/><Relationship Id="rId34" Type="http://schemas.openxmlformats.org/officeDocument/2006/relationships/image" Target="../media/image67.png"/><Relationship Id="rId42" Type="http://schemas.openxmlformats.org/officeDocument/2006/relationships/image" Target="../media/image75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32" Type="http://schemas.openxmlformats.org/officeDocument/2006/relationships/image" Target="../media/image65.png"/><Relationship Id="rId37" Type="http://schemas.openxmlformats.org/officeDocument/2006/relationships/image" Target="../media/image70.png"/><Relationship Id="rId40" Type="http://schemas.openxmlformats.org/officeDocument/2006/relationships/image" Target="../media/image73.png"/><Relationship Id="rId45" Type="http://schemas.openxmlformats.org/officeDocument/2006/relationships/image" Target="../media/image78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28" Type="http://schemas.openxmlformats.org/officeDocument/2006/relationships/image" Target="../media/image61.png"/><Relationship Id="rId36" Type="http://schemas.openxmlformats.org/officeDocument/2006/relationships/image" Target="../media/image69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31" Type="http://schemas.openxmlformats.org/officeDocument/2006/relationships/image" Target="../media/image64.png"/><Relationship Id="rId44" Type="http://schemas.openxmlformats.org/officeDocument/2006/relationships/image" Target="../media/image77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60.png"/><Relationship Id="rId30" Type="http://schemas.openxmlformats.org/officeDocument/2006/relationships/image" Target="../media/image63.png"/><Relationship Id="rId35" Type="http://schemas.openxmlformats.org/officeDocument/2006/relationships/image" Target="../media/image68.png"/><Relationship Id="rId43" Type="http://schemas.openxmlformats.org/officeDocument/2006/relationships/image" Target="../media/image76.png"/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33" Type="http://schemas.openxmlformats.org/officeDocument/2006/relationships/image" Target="../media/image66.png"/><Relationship Id="rId38" Type="http://schemas.openxmlformats.org/officeDocument/2006/relationships/image" Target="../media/image71.png"/><Relationship Id="rId20" Type="http://schemas.openxmlformats.org/officeDocument/2006/relationships/image" Target="../media/image53.png"/><Relationship Id="rId41" Type="http://schemas.openxmlformats.org/officeDocument/2006/relationships/image" Target="../media/image7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90.png"/><Relationship Id="rId21" Type="http://schemas.openxmlformats.org/officeDocument/2006/relationships/image" Target="../media/image108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3" Type="http://schemas.openxmlformats.org/officeDocument/2006/relationships/image" Target="../media/image110.png"/><Relationship Id="rId21" Type="http://schemas.openxmlformats.org/officeDocument/2006/relationships/image" Target="../media/image128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" Type="http://schemas.openxmlformats.org/officeDocument/2006/relationships/image" Target="../media/image109.png"/><Relationship Id="rId16" Type="http://schemas.openxmlformats.org/officeDocument/2006/relationships/image" Target="../media/image123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Relationship Id="rId22" Type="http://schemas.openxmlformats.org/officeDocument/2006/relationships/image" Target="../media/image1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10" Type="http://schemas.openxmlformats.org/officeDocument/2006/relationships/image" Target="../media/image158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7" Type="http://schemas.openxmlformats.org/officeDocument/2006/relationships/image" Target="../media/image173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10" Type="http://schemas.openxmlformats.org/officeDocument/2006/relationships/image" Target="../media/image186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190.png"/><Relationship Id="rId7" Type="http://schemas.openxmlformats.org/officeDocument/2006/relationships/image" Target="../media/image194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7" Type="http://schemas.openxmlformats.org/officeDocument/2006/relationships/image" Target="../media/image202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19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6.png"/><Relationship Id="rId4" Type="http://schemas.openxmlformats.org/officeDocument/2006/relationships/image" Target="../media/image20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7" Type="http://schemas.openxmlformats.org/officeDocument/2006/relationships/image" Target="../media/image212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4" Type="http://schemas.openxmlformats.org/officeDocument/2006/relationships/image" Target="../media/image20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7" Type="http://schemas.openxmlformats.org/officeDocument/2006/relationships/image" Target="../media/image218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7.png"/><Relationship Id="rId5" Type="http://schemas.openxmlformats.org/officeDocument/2006/relationships/image" Target="../media/image216.png"/><Relationship Id="rId4" Type="http://schemas.openxmlformats.org/officeDocument/2006/relationships/image" Target="../media/image21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13" Type="http://schemas.openxmlformats.org/officeDocument/2006/relationships/image" Target="../media/image230.png"/><Relationship Id="rId3" Type="http://schemas.openxmlformats.org/officeDocument/2006/relationships/image" Target="../media/image220.png"/><Relationship Id="rId7" Type="http://schemas.openxmlformats.org/officeDocument/2006/relationships/image" Target="../media/image224.png"/><Relationship Id="rId12" Type="http://schemas.openxmlformats.org/officeDocument/2006/relationships/image" Target="../media/image229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3.png"/><Relationship Id="rId11" Type="http://schemas.openxmlformats.org/officeDocument/2006/relationships/image" Target="../media/image228.png"/><Relationship Id="rId5" Type="http://schemas.openxmlformats.org/officeDocument/2006/relationships/image" Target="../media/image222.png"/><Relationship Id="rId10" Type="http://schemas.openxmlformats.org/officeDocument/2006/relationships/image" Target="../media/image227.png"/><Relationship Id="rId4" Type="http://schemas.openxmlformats.org/officeDocument/2006/relationships/image" Target="../media/image221.png"/><Relationship Id="rId9" Type="http://schemas.openxmlformats.org/officeDocument/2006/relationships/image" Target="../media/image2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7" Type="http://schemas.openxmlformats.org/officeDocument/2006/relationships/image" Target="../media/image236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5.png"/><Relationship Id="rId5" Type="http://schemas.openxmlformats.org/officeDocument/2006/relationships/image" Target="../media/image234.png"/><Relationship Id="rId4" Type="http://schemas.openxmlformats.org/officeDocument/2006/relationships/image" Target="../media/image2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png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7" Type="http://schemas.openxmlformats.org/officeDocument/2006/relationships/image" Target="../media/image244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3.png"/><Relationship Id="rId5" Type="http://schemas.openxmlformats.org/officeDocument/2006/relationships/image" Target="../media/image242.png"/><Relationship Id="rId4" Type="http://schemas.openxmlformats.org/officeDocument/2006/relationships/image" Target="../media/image2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7" Type="http://schemas.openxmlformats.org/officeDocument/2006/relationships/image" Target="../media/image250.pn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9.png"/><Relationship Id="rId5" Type="http://schemas.openxmlformats.org/officeDocument/2006/relationships/image" Target="../media/image248.png"/><Relationship Id="rId4" Type="http://schemas.openxmlformats.org/officeDocument/2006/relationships/image" Target="../media/image2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4.png"/><Relationship Id="rId4" Type="http://schemas.openxmlformats.org/officeDocument/2006/relationships/image" Target="../media/image25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256.png"/><Relationship Id="rId7" Type="http://schemas.openxmlformats.org/officeDocument/2006/relationships/image" Target="../media/image260.pn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9.png"/><Relationship Id="rId11" Type="http://schemas.openxmlformats.org/officeDocument/2006/relationships/image" Target="../media/image262.png"/><Relationship Id="rId5" Type="http://schemas.openxmlformats.org/officeDocument/2006/relationships/image" Target="../media/image258.png"/><Relationship Id="rId10" Type="http://schemas.openxmlformats.org/officeDocument/2006/relationships/customXml" Target="../ink/ink2.xml"/><Relationship Id="rId4" Type="http://schemas.openxmlformats.org/officeDocument/2006/relationships/image" Target="../media/image257.png"/><Relationship Id="rId9" Type="http://schemas.openxmlformats.org/officeDocument/2006/relationships/image" Target="../media/image26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png"/><Relationship Id="rId7" Type="http://schemas.openxmlformats.org/officeDocument/2006/relationships/image" Target="../media/image270.png"/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9.png"/><Relationship Id="rId5" Type="http://schemas.openxmlformats.org/officeDocument/2006/relationships/image" Target="../media/image268.png"/><Relationship Id="rId4" Type="http://schemas.openxmlformats.org/officeDocument/2006/relationships/image" Target="../media/image26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png"/><Relationship Id="rId3" Type="http://schemas.openxmlformats.org/officeDocument/2006/relationships/image" Target="../media/image272.png"/><Relationship Id="rId7" Type="http://schemas.openxmlformats.org/officeDocument/2006/relationships/image" Target="../media/image276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5.png"/><Relationship Id="rId5" Type="http://schemas.openxmlformats.org/officeDocument/2006/relationships/image" Target="../media/image274.png"/><Relationship Id="rId4" Type="http://schemas.openxmlformats.org/officeDocument/2006/relationships/image" Target="../media/image273.png"/><Relationship Id="rId9" Type="http://schemas.openxmlformats.org/officeDocument/2006/relationships/image" Target="../media/image27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0.png"/><Relationship Id="rId2" Type="http://schemas.openxmlformats.org/officeDocument/2006/relationships/image" Target="../media/image280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5520" y="3015563"/>
            <a:ext cx="8352928" cy="826889"/>
          </a:xfrm>
        </p:spPr>
        <p:txBody>
          <a:bodyPr/>
          <a:lstStyle/>
          <a:p>
            <a:r>
              <a:rPr lang="en-GB" sz="6600" dirty="0">
                <a:solidFill>
                  <a:srgbClr val="FFFF00"/>
                </a:solidFill>
              </a:rPr>
              <a:t>Y1 Chapter 10 </a:t>
            </a:r>
            <a:br>
              <a:rPr lang="en-GB" sz="6600" dirty="0">
                <a:solidFill>
                  <a:srgbClr val="FFFF00"/>
                </a:solidFill>
              </a:rPr>
            </a:br>
            <a:r>
              <a:rPr lang="en-GB" sz="6600" dirty="0">
                <a:solidFill>
                  <a:srgbClr val="FFFF00"/>
                </a:solidFill>
              </a:rPr>
              <a:t>Trigonometric Identities &amp; Equations</a:t>
            </a:r>
          </a:p>
        </p:txBody>
      </p:sp>
    </p:spTree>
    <p:extLst>
      <p:ext uri="{BB962C8B-B14F-4D97-AF65-F5344CB8AC3E}">
        <p14:creationId xmlns:p14="http://schemas.microsoft.com/office/powerpoint/2010/main" val="3309097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Chapter Overview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91545" y="1852377"/>
                <a:ext cx="3131872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1</a:t>
                </a:r>
                <a:r>
                  <a:rPr lang="en-GB" dirty="0"/>
                  <a:t>: Know exact trig values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30°, 45°, 60°</m:t>
                    </m:r>
                  </m:oMath>
                </a14:m>
                <a:r>
                  <a:rPr lang="en-GB" dirty="0"/>
                  <a:t> and understand unit circle.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5" y="1852377"/>
                <a:ext cx="3131872" cy="923330"/>
              </a:xfrm>
              <a:prstGeom prst="rect">
                <a:avLst/>
              </a:prstGeom>
              <a:blipFill>
                <a:blip r:embed="rId2"/>
                <a:stretch>
                  <a:fillRect l="-1606" t="-1316" b="-78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826817" y="4286319"/>
            <a:ext cx="3509547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4</a:t>
            </a:r>
            <a:r>
              <a:rPr lang="en-GB" dirty="0"/>
              <a:t>: Solve equations which are quadratic in sin/cos/tan.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826817" y="4932647"/>
                <a:ext cx="3509547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Solve,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&lt;360°</m:t>
                    </m:r>
                  </m:oMath>
                </a14:m>
                <a:r>
                  <a:rPr lang="en-GB" i="1" dirty="0"/>
                  <a:t>, </a:t>
                </a:r>
                <a:r>
                  <a:rPr lang="en-GB" dirty="0"/>
                  <a:t>the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4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+9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−6=0</m:t>
                      </m:r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817" y="4932647"/>
                <a:ext cx="3509547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826813" y="1852378"/>
                <a:ext cx="4248472" cy="77226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2</a:t>
                </a:r>
                <a:r>
                  <a:rPr lang="en-GB" dirty="0"/>
                  <a:t>: Use identities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and </a:t>
                </a:r>
                <a:br>
                  <a:rPr lang="en-GB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≡1</m:t>
                    </m:r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813" y="1852378"/>
                <a:ext cx="4248472" cy="772263"/>
              </a:xfrm>
              <a:prstGeom prst="rect">
                <a:avLst/>
              </a:prstGeom>
              <a:blipFill>
                <a:blip r:embed="rId4"/>
                <a:stretch>
                  <a:fillRect l="-8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826813" y="2624639"/>
                <a:ext cx="4248472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Show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+7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can be written in the form 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4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+7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+3=0</m:t>
                    </m:r>
                  </m:oMath>
                </a14:m>
                <a:r>
                  <a:rPr lang="en-GB" i="1" dirty="0"/>
                  <a:t> 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813" y="2624639"/>
                <a:ext cx="4248472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850183" y="3812741"/>
                <a:ext cx="3373951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3</a:t>
                </a:r>
                <a:r>
                  <a:rPr lang="en-GB" dirty="0"/>
                  <a:t>: Solve equations of the form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183" y="3812741"/>
                <a:ext cx="3373951" cy="646331"/>
              </a:xfrm>
              <a:prstGeom prst="rect">
                <a:avLst/>
              </a:prstGeom>
              <a:blipFill>
                <a:blip r:embed="rId6"/>
                <a:stretch>
                  <a:fillRect l="-1115" t="-1887" b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850184" y="4488101"/>
                <a:ext cx="3373951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GB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i="1" dirty="0"/>
                  <a:t>, </a:t>
                </a:r>
                <a:r>
                  <a:rPr lang="en-GB" dirty="0"/>
                  <a:t>for</a:t>
                </a:r>
                <a:r>
                  <a:rPr lang="en-GB" i="1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&lt;360°</m:t>
                    </m:r>
                  </m:oMath>
                </a14:m>
                <a:r>
                  <a:rPr lang="en-GB" i="1" dirty="0"/>
                  <a:t>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184" y="4488101"/>
                <a:ext cx="3373951" cy="646331"/>
              </a:xfrm>
              <a:prstGeom prst="rect">
                <a:avLst/>
              </a:prstGeom>
              <a:blipFill>
                <a:blip r:embed="rId7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8051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272000" y="22202"/>
            <a:ext cx="9143075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1" cy="584775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>
                      <a:latin typeface="+mj-lt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dirty="0"/>
                    <a:t>sin/cos/tan of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30°, 45°, 60°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1" cy="584775"/>
                </a:xfrm>
                <a:prstGeom prst="rect">
                  <a:avLst/>
                </a:prstGeom>
                <a:blipFill>
                  <a:blip r:embed="rId2"/>
                  <a:stretch>
                    <a:fillRect t="-12766" b="-319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4534" y="801086"/>
                <a:ext cx="876034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You will frequently encounter angles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30°, 60°, 45°</m:t>
                    </m:r>
                  </m:oMath>
                </a14:m>
                <a:r>
                  <a:rPr lang="en-GB" sz="2000" dirty="0"/>
                  <a:t> in geometric problems. Why? </a:t>
                </a:r>
              </a:p>
              <a:p>
                <a:r>
                  <a:rPr lang="en-GB" sz="2000" b="1" dirty="0"/>
                  <a:t>We see these angles in equilateral triangles and half squares.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534" y="801086"/>
                <a:ext cx="8760340" cy="707886"/>
              </a:xfrm>
              <a:prstGeom prst="rect">
                <a:avLst/>
              </a:prstGeom>
              <a:blipFill>
                <a:blip r:embed="rId3"/>
                <a:stretch>
                  <a:fillRect l="-724" t="-3448" r="-434" b="-12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887169" y="1180382"/>
            <a:ext cx="8527904" cy="4802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4534" y="1897314"/>
            <a:ext cx="87158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Although you will always have a calculator, you need to know how to derive these.</a:t>
            </a:r>
          </a:p>
          <a:p>
            <a:r>
              <a:rPr lang="en-GB" sz="2000" b="1" dirty="0"/>
              <a:t>All you need to remember: </a:t>
            </a:r>
          </a:p>
          <a:p>
            <a:r>
              <a:rPr lang="en-GB" sz="2000" b="1" dirty="0">
                <a:latin typeface="Wingdings" panose="05000000000000000000" pitchFamily="2" charset="2"/>
              </a:rPr>
              <a:t>!</a:t>
            </a:r>
            <a:r>
              <a:rPr lang="en-GB" sz="2000" b="1" dirty="0"/>
              <a:t> Draw half a unit square and half an equilateral triangle of side 2.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203945" y="3356159"/>
            <a:ext cx="1629852" cy="1727243"/>
            <a:chOff x="899592" y="3486025"/>
            <a:chExt cx="2232248" cy="2376960"/>
          </a:xfrm>
        </p:grpSpPr>
        <p:sp>
          <p:nvSpPr>
            <p:cNvPr id="9" name="Right Triangle 8"/>
            <p:cNvSpPr/>
            <p:nvPr/>
          </p:nvSpPr>
          <p:spPr>
            <a:xfrm>
              <a:off x="899592" y="3486025"/>
              <a:ext cx="2232248" cy="2376264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99592" y="5574953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43768" y="3932193"/>
                <a:ext cx="5328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768" y="3932193"/>
                <a:ext cx="53287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710113" y="5068103"/>
                <a:ext cx="5328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113" y="5068103"/>
                <a:ext cx="5328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871610" y="3741834"/>
                <a:ext cx="718699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8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610" y="3741834"/>
                <a:ext cx="718699" cy="5739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7104111" y="3490038"/>
            <a:ext cx="1212576" cy="2189891"/>
            <a:chOff x="899588" y="3486025"/>
            <a:chExt cx="2232252" cy="2376960"/>
          </a:xfrm>
        </p:grpSpPr>
        <p:sp>
          <p:nvSpPr>
            <p:cNvPr id="17" name="Right Triangle 16"/>
            <p:cNvSpPr/>
            <p:nvPr/>
          </p:nvSpPr>
          <p:spPr>
            <a:xfrm>
              <a:off x="899592" y="3486025"/>
              <a:ext cx="2232248" cy="2376264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99588" y="5652927"/>
              <a:ext cx="332486" cy="2100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0" name="Straight Connector 19"/>
          <p:cNvCxnSpPr>
            <a:stCxn id="17" idx="0"/>
          </p:cNvCxnSpPr>
          <p:nvPr/>
        </p:nvCxnSpPr>
        <p:spPr>
          <a:xfrm flipH="1">
            <a:off x="5879976" y="3490040"/>
            <a:ext cx="1224136" cy="2189249"/>
          </a:xfrm>
          <a:prstGeom prst="line">
            <a:avLst/>
          </a:prstGeom>
          <a:ln>
            <a:prstDash val="sys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897885" y="5684520"/>
            <a:ext cx="1203959" cy="0"/>
          </a:xfrm>
          <a:prstGeom prst="line">
            <a:avLst/>
          </a:prstGeom>
          <a:ln>
            <a:prstDash val="sys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408909" y="5679285"/>
                <a:ext cx="5328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909" y="5679285"/>
                <a:ext cx="53287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556373" y="4061441"/>
                <a:ext cx="5328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373" y="4061441"/>
                <a:ext cx="53287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480922" y="4584660"/>
                <a:ext cx="718699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8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8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922" y="4584660"/>
                <a:ext cx="718699" cy="5739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687991" y="3357210"/>
                <a:ext cx="2088232" cy="167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45°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45°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45°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991" y="3357210"/>
                <a:ext cx="2088232" cy="16716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 27"/>
          <p:cNvSpPr/>
          <p:nvPr/>
        </p:nvSpPr>
        <p:spPr>
          <a:xfrm>
            <a:off x="3355463" y="4762504"/>
            <a:ext cx="149739" cy="333375"/>
          </a:xfrm>
          <a:custGeom>
            <a:avLst/>
            <a:gdLst>
              <a:gd name="connsiteX0" fmla="*/ 6863 w 149738"/>
              <a:gd name="connsiteY0" fmla="*/ 333375 h 333375"/>
              <a:gd name="connsiteX1" fmla="*/ 16388 w 149738"/>
              <a:gd name="connsiteY1" fmla="*/ 209550 h 333375"/>
              <a:gd name="connsiteX2" fmla="*/ 149738 w 149738"/>
              <a:gd name="connsiteY2" fmla="*/ 0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38" h="333375">
                <a:moveTo>
                  <a:pt x="6863" y="333375"/>
                </a:moveTo>
                <a:cubicBezTo>
                  <a:pt x="-281" y="299243"/>
                  <a:pt x="-7424" y="265112"/>
                  <a:pt x="16388" y="209550"/>
                </a:cubicBezTo>
                <a:cubicBezTo>
                  <a:pt x="40200" y="153988"/>
                  <a:pt x="94969" y="76994"/>
                  <a:pt x="149738" y="0"/>
                </a:cubicBezTo>
              </a:path>
            </a:pathLst>
          </a:cu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reeform 28"/>
          <p:cNvSpPr/>
          <p:nvPr/>
        </p:nvSpPr>
        <p:spPr>
          <a:xfrm>
            <a:off x="8001004" y="5391152"/>
            <a:ext cx="161925" cy="285751"/>
          </a:xfrm>
          <a:custGeom>
            <a:avLst/>
            <a:gdLst>
              <a:gd name="connsiteX0" fmla="*/ 0 w 161925"/>
              <a:gd name="connsiteY0" fmla="*/ 285750 h 285750"/>
              <a:gd name="connsiteX1" fmla="*/ 57150 w 161925"/>
              <a:gd name="connsiteY1" fmla="*/ 104775 h 285750"/>
              <a:gd name="connsiteX2" fmla="*/ 161925 w 161925"/>
              <a:gd name="connsiteY2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925" h="285750">
                <a:moveTo>
                  <a:pt x="0" y="285750"/>
                </a:moveTo>
                <a:cubicBezTo>
                  <a:pt x="15081" y="219075"/>
                  <a:pt x="30163" y="152400"/>
                  <a:pt x="57150" y="104775"/>
                </a:cubicBezTo>
                <a:cubicBezTo>
                  <a:pt x="84137" y="57150"/>
                  <a:pt x="123031" y="28575"/>
                  <a:pt x="161925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 29"/>
          <p:cNvSpPr/>
          <p:nvPr/>
        </p:nvSpPr>
        <p:spPr>
          <a:xfrm>
            <a:off x="7115179" y="3895729"/>
            <a:ext cx="219075" cy="52207"/>
          </a:xfrm>
          <a:custGeom>
            <a:avLst/>
            <a:gdLst>
              <a:gd name="connsiteX0" fmla="*/ 0 w 219075"/>
              <a:gd name="connsiteY0" fmla="*/ 47625 h 52207"/>
              <a:gd name="connsiteX1" fmla="*/ 104775 w 219075"/>
              <a:gd name="connsiteY1" fmla="*/ 47625 h 52207"/>
              <a:gd name="connsiteX2" fmla="*/ 219075 w 219075"/>
              <a:gd name="connsiteY2" fmla="*/ 0 h 52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075" h="52207">
                <a:moveTo>
                  <a:pt x="0" y="47625"/>
                </a:moveTo>
                <a:cubicBezTo>
                  <a:pt x="34131" y="51593"/>
                  <a:pt x="68263" y="55562"/>
                  <a:pt x="104775" y="47625"/>
                </a:cubicBezTo>
                <a:cubicBezTo>
                  <a:pt x="141287" y="39688"/>
                  <a:pt x="180181" y="19844"/>
                  <a:pt x="219075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327749" y="3097641"/>
                <a:ext cx="2088232" cy="3515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60°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60°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60°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749" y="3097641"/>
                <a:ext cx="2088232" cy="35153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1633933" y="3888082"/>
            <a:ext cx="570015" cy="567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4225" y="3718991"/>
            <a:ext cx="570015" cy="567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5656" y="5084479"/>
            <a:ext cx="570015" cy="567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947868" y="4617304"/>
                <a:ext cx="532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45°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868" y="4617304"/>
                <a:ext cx="53287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7069611" y="4081653"/>
                <a:ext cx="532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30°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611" y="4081653"/>
                <a:ext cx="53287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580803" y="5221991"/>
                <a:ext cx="532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803" y="5221991"/>
                <a:ext cx="53287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/>
          <p:cNvSpPr/>
          <p:nvPr/>
        </p:nvSpPr>
        <p:spPr>
          <a:xfrm>
            <a:off x="5160319" y="3384108"/>
            <a:ext cx="567551" cy="6297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0319" y="4037459"/>
            <a:ext cx="567551" cy="6297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60867" y="4658633"/>
            <a:ext cx="567551" cy="6297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68976" y="4595753"/>
            <a:ext cx="519455" cy="4161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02233" y="3105823"/>
            <a:ext cx="567551" cy="6297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02233" y="3746565"/>
            <a:ext cx="567551" cy="6297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02233" y="4365303"/>
            <a:ext cx="567551" cy="6297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02233" y="5007143"/>
            <a:ext cx="567551" cy="6297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02233" y="5648985"/>
            <a:ext cx="567551" cy="5380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02233" y="6199134"/>
            <a:ext cx="567551" cy="5380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24532" y="4658634"/>
            <a:ext cx="567551" cy="5380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75468" y="3974841"/>
            <a:ext cx="567551" cy="5380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26628" y="5696791"/>
            <a:ext cx="567551" cy="5380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8831" y="4083306"/>
            <a:ext cx="425960" cy="3818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07413" y="5189647"/>
            <a:ext cx="425960" cy="3818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8082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1" grpId="0"/>
      <p:bldP spid="12" grpId="0"/>
      <p:bldP spid="13" grpId="0"/>
      <p:bldP spid="24" grpId="0"/>
      <p:bldP spid="25" grpId="0"/>
      <p:bldP spid="26" grpId="0"/>
      <p:bldP spid="27" grpId="0"/>
      <p:bldP spid="28" grpId="0" animBg="1"/>
      <p:bldP spid="29" grpId="0" animBg="1"/>
      <p:bldP spid="30" grpId="0" animBg="1"/>
      <p:bldP spid="31" grpId="0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/>
      <p:bldP spid="37" grpId="0"/>
      <p:bldP spid="38" grpId="0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The Unit Circle and Trigonometry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32059" y="908720"/>
                <a:ext cx="274348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For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in the range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&lt;90°</m:t>
                    </m:r>
                  </m:oMath>
                </a14:m>
                <a:r>
                  <a:rPr lang="en-GB" dirty="0"/>
                  <a:t>, you know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dirty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dirty="0"/>
                  <a:t> are lengths on a right-angled triangle: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059" y="908720"/>
                <a:ext cx="2743489" cy="1477328"/>
              </a:xfrm>
              <a:prstGeom prst="rect">
                <a:avLst/>
              </a:prstGeom>
              <a:blipFill>
                <a:blip r:embed="rId2"/>
                <a:stretch>
                  <a:fillRect l="-1843" t="-1709" r="-2765" b="-59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 flipH="1">
            <a:off x="2351584" y="2715477"/>
            <a:ext cx="1512168" cy="1008112"/>
            <a:chOff x="683568" y="1052736"/>
            <a:chExt cx="2520280" cy="1440160"/>
          </a:xfrm>
        </p:grpSpPr>
        <p:sp>
          <p:nvSpPr>
            <p:cNvPr id="7" name="Right Triangle 6"/>
            <p:cNvSpPr/>
            <p:nvPr/>
          </p:nvSpPr>
          <p:spPr>
            <a:xfrm>
              <a:off x="683568" y="1052736"/>
              <a:ext cx="2520280" cy="1440160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83568" y="2204864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15531" y="2842303"/>
                <a:ext cx="468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531" y="2842303"/>
                <a:ext cx="4680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581614" y="3404371"/>
                <a:ext cx="468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614" y="3404371"/>
                <a:ext cx="46805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: Shape 10"/>
          <p:cNvSpPr/>
          <p:nvPr/>
        </p:nvSpPr>
        <p:spPr>
          <a:xfrm>
            <a:off x="2874335" y="3359891"/>
            <a:ext cx="116556" cy="361507"/>
          </a:xfrm>
          <a:custGeom>
            <a:avLst/>
            <a:gdLst>
              <a:gd name="connsiteX0" fmla="*/ 0 w 116556"/>
              <a:gd name="connsiteY0" fmla="*/ 0 h 361507"/>
              <a:gd name="connsiteX1" fmla="*/ 106325 w 116556"/>
              <a:gd name="connsiteY1" fmla="*/ 170121 h 361507"/>
              <a:gd name="connsiteX2" fmla="*/ 106325 w 116556"/>
              <a:gd name="connsiteY2" fmla="*/ 361507 h 3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556" h="361507">
                <a:moveTo>
                  <a:pt x="0" y="0"/>
                </a:moveTo>
                <a:cubicBezTo>
                  <a:pt x="44302" y="54935"/>
                  <a:pt x="88604" y="109870"/>
                  <a:pt x="106325" y="170121"/>
                </a:cubicBezTo>
                <a:cubicBezTo>
                  <a:pt x="124046" y="230372"/>
                  <a:pt x="115185" y="295939"/>
                  <a:pt x="106325" y="361507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80030" y="3026969"/>
                <a:ext cx="695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030" y="3026969"/>
                <a:ext cx="69551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871042" y="3729465"/>
                <a:ext cx="695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042" y="3729465"/>
                <a:ext cx="695517" cy="369332"/>
              </a:xfrm>
              <a:prstGeom prst="rect">
                <a:avLst/>
              </a:prstGeom>
              <a:blipFill>
                <a:blip r:embed="rId6"/>
                <a:stretch>
                  <a:fillRect r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>
            <a:stCxn id="7" idx="4"/>
            <a:endCxn id="7" idx="0"/>
          </p:cNvCxnSpPr>
          <p:nvPr/>
        </p:nvCxnSpPr>
        <p:spPr>
          <a:xfrm flipV="1">
            <a:off x="2351584" y="2715477"/>
            <a:ext cx="1512168" cy="10081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736654" y="4346819"/>
                <a:ext cx="2924029" cy="1883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And what would be the </a:t>
                </a:r>
                <a:r>
                  <a:rPr lang="en-GB" b="1" dirty="0"/>
                  <a:t>gradient</a:t>
                </a:r>
                <a:r>
                  <a:rPr lang="en-GB" dirty="0"/>
                  <a:t> of the bold line?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But also: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>
                            <a:latin typeface="Cambria Math" panose="02040503050406030204" pitchFamily="18" charset="0"/>
                          </a:rPr>
                          <m:t>𝐭𝐚𝐧</m:t>
                        </m:r>
                      </m:fName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func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𝒐𝒑𝒑</m:t>
                        </m:r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𝒂𝒅𝒋</m:t>
                        </m:r>
                      </m:den>
                    </m:f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>
                                <a:latin typeface="Cambria Math" panose="02040503050406030204" pitchFamily="18" charset="0"/>
                              </a:rPr>
                              <m:t>𝐬𝐢𝐧</m:t>
                            </m:r>
                          </m:fName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>
                                <a:latin typeface="Cambria Math" panose="02040503050406030204" pitchFamily="18" charset="0"/>
                              </a:rPr>
                              <m:t>𝐜𝐨𝐬</m:t>
                            </m:r>
                          </m:fName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func>
                      </m:den>
                    </m:f>
                  </m:oMath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654" y="4346819"/>
                <a:ext cx="2924029" cy="1883401"/>
              </a:xfrm>
              <a:prstGeom prst="rect">
                <a:avLst/>
              </a:prstGeom>
              <a:blipFill>
                <a:blip r:embed="rId7"/>
                <a:stretch>
                  <a:fillRect l="-1724" t="-13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>
            <a:off x="4943872" y="908720"/>
            <a:ext cx="0" cy="53214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13225" y="2877033"/>
            <a:ext cx="896236" cy="6423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47285" y="4967346"/>
            <a:ext cx="2987751" cy="13271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447928" y="908723"/>
                <a:ext cx="46805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But how do we get the rest of the graph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dirty="0"/>
                  <a:t> when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90°≤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8" y="908723"/>
                <a:ext cx="4680520" cy="646331"/>
              </a:xfrm>
              <a:prstGeom prst="rect">
                <a:avLst/>
              </a:prstGeom>
              <a:blipFill>
                <a:blip r:embed="rId8"/>
                <a:stretch>
                  <a:fillRect l="-1355" t="-3846" b="-15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2815965" y="3771508"/>
            <a:ext cx="834551" cy="4177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75920" y="1772820"/>
                <a:ext cx="4464496" cy="313932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44" indent="-285744">
                  <a:buFont typeface="Wingdings" panose="05000000000000000000" pitchFamily="2" charset="2"/>
                  <a:buChar char="!"/>
                </a:pPr>
                <a:r>
                  <a:rPr lang="en-GB" dirty="0"/>
                  <a:t>The point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on a unit circle, such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𝑂𝑃</m:t>
                    </m:r>
                  </m:oMath>
                </a14:m>
                <a:r>
                  <a:rPr lang="en-GB" dirty="0"/>
                  <a:t> makes an angle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with the positive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-axis,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</m:oMath>
                </a14:m>
                <a:r>
                  <a:rPr lang="en-GB" dirty="0"/>
                  <a:t>.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has gradient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dirty="0"/>
                  <a:t>.</a:t>
                </a:r>
              </a:p>
              <a:p>
                <a:pPr marL="285744" indent="-285744">
                  <a:buFont typeface="Wingdings" panose="05000000000000000000" pitchFamily="2" charset="2"/>
                  <a:buChar char="!"/>
                </a:pPr>
                <a:endParaRPr lang="en-GB" dirty="0"/>
              </a:p>
              <a:p>
                <a:pPr marL="285744" indent="-285744">
                  <a:buFont typeface="Wingdings" panose="05000000000000000000" pitchFamily="2" charset="2"/>
                  <a:buChar char="!"/>
                </a:pPr>
                <a:endParaRPr lang="en-GB" dirty="0"/>
              </a:p>
              <a:p>
                <a:pPr marL="285744" indent="-285744">
                  <a:buFont typeface="Wingdings" panose="05000000000000000000" pitchFamily="2" charset="2"/>
                  <a:buChar char="!"/>
                </a:pPr>
                <a:endParaRPr lang="en-GB" dirty="0"/>
              </a:p>
              <a:p>
                <a:pPr marL="285744" indent="-285744">
                  <a:buFont typeface="Wingdings" panose="05000000000000000000" pitchFamily="2" charset="2"/>
                  <a:buChar char="!"/>
                </a:pPr>
                <a:endParaRPr lang="en-GB" dirty="0"/>
              </a:p>
              <a:p>
                <a:pPr marL="285744" indent="-285744">
                  <a:buFont typeface="Wingdings" panose="05000000000000000000" pitchFamily="2" charset="2"/>
                  <a:buChar char="!"/>
                </a:pPr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920" y="1772820"/>
                <a:ext cx="4464496" cy="3139321"/>
              </a:xfrm>
              <a:prstGeom prst="rect">
                <a:avLst/>
              </a:prstGeom>
              <a:blipFill>
                <a:blip r:embed="rId9"/>
                <a:stretch>
                  <a:fillRect l="-565" t="-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V="1">
            <a:off x="7535335" y="3139544"/>
            <a:ext cx="0" cy="14737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6889683" y="3943443"/>
            <a:ext cx="1368152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7535339" y="3422446"/>
            <a:ext cx="593079" cy="5209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162586" y="3771644"/>
                <a:ext cx="3364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86" y="3771644"/>
                <a:ext cx="336419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367127" y="2876774"/>
                <a:ext cx="3364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127" y="2876774"/>
                <a:ext cx="336419" cy="307777"/>
              </a:xfrm>
              <a:prstGeom prst="rect">
                <a:avLst/>
              </a:prstGeom>
              <a:blipFill>
                <a:blip r:embed="rId11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116868" y="3210499"/>
                <a:ext cx="116314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GB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868" y="3210499"/>
                <a:ext cx="1163143" cy="307777"/>
              </a:xfrm>
              <a:prstGeom prst="rect">
                <a:avLst/>
              </a:prstGeom>
              <a:blipFill>
                <a:blip r:embed="rId12"/>
                <a:stretch>
                  <a:fillRect r="-1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/>
          <p:cNvSpPr/>
          <p:nvPr/>
        </p:nvSpPr>
        <p:spPr>
          <a:xfrm>
            <a:off x="8086738" y="3365296"/>
            <a:ext cx="84609" cy="826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: Shape 34"/>
          <p:cNvSpPr/>
          <p:nvPr/>
        </p:nvSpPr>
        <p:spPr>
          <a:xfrm>
            <a:off x="7857021" y="3690829"/>
            <a:ext cx="100627" cy="247651"/>
          </a:xfrm>
          <a:custGeom>
            <a:avLst/>
            <a:gdLst>
              <a:gd name="connsiteX0" fmla="*/ 100013 w 100627"/>
              <a:gd name="connsiteY0" fmla="*/ 247650 h 247650"/>
              <a:gd name="connsiteX1" fmla="*/ 85725 w 100627"/>
              <a:gd name="connsiteY1" fmla="*/ 138113 h 247650"/>
              <a:gd name="connsiteX2" fmla="*/ 0 w 10062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627" h="247650">
                <a:moveTo>
                  <a:pt x="100013" y="247650"/>
                </a:moveTo>
                <a:cubicBezTo>
                  <a:pt x="101203" y="213519"/>
                  <a:pt x="102394" y="179388"/>
                  <a:pt x="85725" y="138113"/>
                </a:cubicBezTo>
                <a:cubicBezTo>
                  <a:pt x="69056" y="96838"/>
                  <a:pt x="34528" y="48419"/>
                  <a:pt x="0" y="0"/>
                </a:cubicBezTo>
              </a:path>
            </a:pathLst>
          </a:custGeom>
          <a:noFill/>
          <a:ln w="952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643162" y="3692226"/>
                <a:ext cx="3364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162" y="3692226"/>
                <a:ext cx="336419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7660367" y="3358038"/>
                <a:ext cx="3364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367" y="3358038"/>
                <a:ext cx="336419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392253" y="4966350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Angles are always measured </a:t>
            </a:r>
            <a:r>
              <a:rPr lang="en-GB" sz="1400" b="1" dirty="0"/>
              <a:t>anticlockwise</a:t>
            </a:r>
            <a:r>
              <a:rPr lang="en-GB" sz="1400" dirty="0"/>
              <a:t>.</a:t>
            </a:r>
            <a:br>
              <a:rPr lang="en-GB" sz="1100" dirty="0"/>
            </a:br>
            <a:r>
              <a:rPr lang="en-GB" sz="1100" dirty="0"/>
              <a:t>(Further Mathematicians will encounter the same when they get to Complex Numbers)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358087" y="5762866"/>
                <a:ext cx="46805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can consider the coordinate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</m:oMath>
                </a14:m>
                <a:r>
                  <a:rPr lang="en-GB" dirty="0"/>
                  <a:t> 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increases from 0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dirty="0"/>
                  <a:t>…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087" y="5762866"/>
                <a:ext cx="4680520" cy="646331"/>
              </a:xfrm>
              <a:prstGeom prst="rect">
                <a:avLst/>
              </a:prstGeom>
              <a:blipFill>
                <a:blip r:embed="rId15"/>
                <a:stretch>
                  <a:fillRect l="-811" t="-3846" b="-15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7194147" y="3903398"/>
                <a:ext cx="50500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147" y="3903398"/>
                <a:ext cx="505007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787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6" grpId="0"/>
      <p:bldP spid="19" grpId="0" animBg="1"/>
      <p:bldP spid="20" grpId="0" animBg="1"/>
      <p:bldP spid="20" grpId="1" animBg="1"/>
      <p:bldP spid="20" grpId="2" animBg="1"/>
      <p:bldP spid="21" grpId="0"/>
      <p:bldP spid="22" grpId="0" animBg="1"/>
      <p:bldP spid="23" grpId="0" animBg="1"/>
      <p:bldP spid="31" grpId="0"/>
      <p:bldP spid="32" grpId="0"/>
      <p:bldP spid="33" grpId="0"/>
      <p:bldP spid="34" grpId="0" animBg="1"/>
      <p:bldP spid="35" grpId="0" animBg="1"/>
      <p:bldP spid="36" grpId="0"/>
      <p:bldP spid="37" grpId="0"/>
      <p:bldP spid="38" grpId="0"/>
      <p:bldP spid="39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Mini-Exercise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30155" y="1932836"/>
                <a:ext cx="1156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155" y="1932836"/>
                <a:ext cx="115681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18987" y="3179558"/>
                <a:ext cx="15841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0&lt;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&lt;90°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987" y="3179558"/>
                <a:ext cx="158417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340855" y="1525847"/>
                <a:ext cx="1156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855" y="1525847"/>
                <a:ext cx="115681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79362" y="1526639"/>
                <a:ext cx="1156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362" y="1526639"/>
                <a:ext cx="115681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17867" y="1525847"/>
                <a:ext cx="1156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867" y="1525847"/>
                <a:ext cx="115681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1718990" y="1895179"/>
            <a:ext cx="462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340851" y="1525848"/>
            <a:ext cx="0" cy="46805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705860" y="622763"/>
                <a:ext cx="889546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500" dirty="0"/>
                  <a:t>Use the unit circle to determine each value in the table, </a:t>
                </a:r>
                <a:r>
                  <a:rPr lang="en-GB" sz="1500" b="1" dirty="0"/>
                  <a:t>using either “0”, “+</a:t>
                </a:r>
                <a:r>
                  <a:rPr lang="en-GB" sz="1500" b="1" dirty="0" err="1"/>
                  <a:t>ve</a:t>
                </a:r>
                <a:r>
                  <a:rPr lang="en-GB" sz="1500" b="1" dirty="0"/>
                  <a:t>”, “-</a:t>
                </a:r>
                <a:r>
                  <a:rPr lang="en-GB" sz="1500" b="1" dirty="0" err="1"/>
                  <a:t>ve</a:t>
                </a:r>
                <a:r>
                  <a:rPr lang="en-GB" sz="1500" b="1" dirty="0"/>
                  <a:t>”, “1”, “-1” or “undefined”</a:t>
                </a:r>
                <a:r>
                  <a:rPr lang="en-GB" sz="1500" dirty="0"/>
                  <a:t>. Recall that the point on the unit circle has coordinate </a:t>
                </a:r>
                <a14:m>
                  <m:oMath xmlns:m="http://schemas.openxmlformats.org/officeDocument/2006/math">
                    <m:r>
                      <a:rPr lang="en-GB" sz="1500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sz="15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5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5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500" i="1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GB" sz="15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5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5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500" dirty="0"/>
                  <a:t> and </a:t>
                </a:r>
                <a14:m>
                  <m:oMath xmlns:m="http://schemas.openxmlformats.org/officeDocument/2006/math">
                    <m:r>
                      <a:rPr lang="en-GB" sz="1500" i="1">
                        <a:latin typeface="Cambria Math" panose="02040503050406030204" pitchFamily="18" charset="0"/>
                      </a:rPr>
                      <m:t>𝑂𝑃</m:t>
                    </m:r>
                  </m:oMath>
                </a14:m>
                <a:r>
                  <a:rPr lang="en-GB" sz="1500" dirty="0"/>
                  <a:t> has gradient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5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5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15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1500" dirty="0"/>
                  <a:t>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860" y="622763"/>
                <a:ext cx="8895469" cy="553998"/>
              </a:xfrm>
              <a:prstGeom prst="rect">
                <a:avLst/>
              </a:prstGeom>
              <a:blipFill>
                <a:blip r:embed="rId7"/>
                <a:stretch>
                  <a:fillRect l="-285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V="1">
            <a:off x="2430271" y="3701841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103725" y="4046565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2436959" y="3851863"/>
            <a:ext cx="207627" cy="1974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53839" y="3908416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839" y="3908416"/>
                <a:ext cx="336419" cy="2540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294945" y="3489000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945" y="3489000"/>
                <a:ext cx="273443" cy="2540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554099" y="3645923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099" y="3645923"/>
                <a:ext cx="338324" cy="2540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/>
          <p:cNvSpPr/>
          <p:nvPr/>
        </p:nvSpPr>
        <p:spPr>
          <a:xfrm>
            <a:off x="2620851" y="3814015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Freeform: Shape 22"/>
          <p:cNvSpPr/>
          <p:nvPr/>
        </p:nvSpPr>
        <p:spPr>
          <a:xfrm>
            <a:off x="2599100" y="3928059"/>
            <a:ext cx="45719" cy="107508"/>
          </a:xfrm>
          <a:custGeom>
            <a:avLst/>
            <a:gdLst>
              <a:gd name="connsiteX0" fmla="*/ 100013 w 100627"/>
              <a:gd name="connsiteY0" fmla="*/ 247650 h 247650"/>
              <a:gd name="connsiteX1" fmla="*/ 85725 w 100627"/>
              <a:gd name="connsiteY1" fmla="*/ 138113 h 247650"/>
              <a:gd name="connsiteX2" fmla="*/ 0 w 10062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627" h="247650">
                <a:moveTo>
                  <a:pt x="100013" y="247650"/>
                </a:moveTo>
                <a:cubicBezTo>
                  <a:pt x="101203" y="213519"/>
                  <a:pt x="102394" y="179388"/>
                  <a:pt x="85725" y="138113"/>
                </a:cubicBezTo>
                <a:cubicBezTo>
                  <a:pt x="69056" y="96838"/>
                  <a:pt x="34528" y="48419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442565" y="3889609"/>
                <a:ext cx="23014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565" y="3889609"/>
                <a:ext cx="230149" cy="2154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355418" y="3713175"/>
                <a:ext cx="336419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418" y="3713175"/>
                <a:ext cx="336419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 flipV="1">
            <a:off x="2411049" y="2405680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2084503" y="2750404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634617" y="2612255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617" y="2612255"/>
                <a:ext cx="336419" cy="2540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275723" y="2192839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723" y="2192839"/>
                <a:ext cx="273443" cy="2540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463403" y="2508283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403" y="2508283"/>
                <a:ext cx="338324" cy="2540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Oval 41"/>
          <p:cNvSpPr/>
          <p:nvPr/>
        </p:nvSpPr>
        <p:spPr>
          <a:xfrm>
            <a:off x="2599247" y="2727403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2406336" y="2752837"/>
            <a:ext cx="223343" cy="27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1740670" y="3117901"/>
            <a:ext cx="462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679148" y="4388641"/>
                <a:ext cx="15841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148" y="4388641"/>
                <a:ext cx="158417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/>
          <p:nvPr/>
        </p:nvCxnSpPr>
        <p:spPr>
          <a:xfrm flipV="1">
            <a:off x="2390433" y="4910925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2063887" y="5255649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2389174" y="5045981"/>
            <a:ext cx="2381" cy="2119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2614001" y="5117500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001" y="5117500"/>
                <a:ext cx="336419" cy="2540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2255107" y="4698084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107" y="4698084"/>
                <a:ext cx="273443" cy="25404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/>
          <p:cNvSpPr/>
          <p:nvPr/>
        </p:nvSpPr>
        <p:spPr>
          <a:xfrm>
            <a:off x="2361938" y="5008811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2441732" y="5022949"/>
                <a:ext cx="23014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8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732" y="5022949"/>
                <a:ext cx="230149" cy="21544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/>
          <p:cNvCxnSpPr/>
          <p:nvPr/>
        </p:nvCxnSpPr>
        <p:spPr>
          <a:xfrm>
            <a:off x="1679567" y="4412047"/>
            <a:ext cx="462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Freeform: Shape 63"/>
          <p:cNvSpPr/>
          <p:nvPr/>
        </p:nvSpPr>
        <p:spPr>
          <a:xfrm>
            <a:off x="2412983" y="5105516"/>
            <a:ext cx="121444" cy="147637"/>
          </a:xfrm>
          <a:custGeom>
            <a:avLst/>
            <a:gdLst>
              <a:gd name="connsiteX0" fmla="*/ 121444 w 121444"/>
              <a:gd name="connsiteY0" fmla="*/ 147637 h 147637"/>
              <a:gd name="connsiteX1" fmla="*/ 85725 w 121444"/>
              <a:gd name="connsiteY1" fmla="*/ 45243 h 147637"/>
              <a:gd name="connsiteX2" fmla="*/ 0 w 121444"/>
              <a:gd name="connsiteY2" fmla="*/ 0 h 147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444" h="147637">
                <a:moveTo>
                  <a:pt x="121444" y="147637"/>
                </a:moveTo>
                <a:cubicBezTo>
                  <a:pt x="113705" y="108743"/>
                  <a:pt x="105966" y="69849"/>
                  <a:pt x="85725" y="45243"/>
                </a:cubicBezTo>
                <a:cubicBezTo>
                  <a:pt x="65484" y="20637"/>
                  <a:pt x="32742" y="10318"/>
                  <a:pt x="0" y="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2132913" y="4920802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913" y="4920802"/>
                <a:ext cx="338324" cy="25404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1571629" y="5672775"/>
                <a:ext cx="1747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90°&lt;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&lt;180°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629" y="5672775"/>
                <a:ext cx="174775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/>
          <p:cNvCxnSpPr/>
          <p:nvPr/>
        </p:nvCxnSpPr>
        <p:spPr>
          <a:xfrm flipV="1">
            <a:off x="2414735" y="6125209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2088189" y="6469933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 flipV="1">
            <a:off x="2152651" y="6293644"/>
            <a:ext cx="268771" cy="1789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643230" y="6330900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230" y="6330900"/>
                <a:ext cx="336419" cy="25404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2285759" y="5931419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759" y="5931419"/>
                <a:ext cx="273443" cy="25404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1940869" y="6069291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869" y="6069291"/>
                <a:ext cx="338324" cy="25404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Oval 73"/>
          <p:cNvSpPr/>
          <p:nvPr/>
        </p:nvSpPr>
        <p:spPr>
          <a:xfrm>
            <a:off x="2131446" y="6268339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2374318" y="6164888"/>
                <a:ext cx="23014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8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318" y="6164888"/>
                <a:ext cx="230149" cy="21544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Connector 77"/>
          <p:cNvCxnSpPr/>
          <p:nvPr/>
        </p:nvCxnSpPr>
        <p:spPr>
          <a:xfrm>
            <a:off x="1737834" y="5630169"/>
            <a:ext cx="462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Freeform: Shape 80"/>
          <p:cNvSpPr/>
          <p:nvPr/>
        </p:nvSpPr>
        <p:spPr>
          <a:xfrm>
            <a:off x="2290767" y="6328831"/>
            <a:ext cx="288131" cy="138649"/>
          </a:xfrm>
          <a:custGeom>
            <a:avLst/>
            <a:gdLst>
              <a:gd name="connsiteX0" fmla="*/ 288131 w 288131"/>
              <a:gd name="connsiteY0" fmla="*/ 138649 h 138649"/>
              <a:gd name="connsiteX1" fmla="*/ 164306 w 288131"/>
              <a:gd name="connsiteY1" fmla="*/ 7680 h 138649"/>
              <a:gd name="connsiteX2" fmla="*/ 0 w 288131"/>
              <a:gd name="connsiteY2" fmla="*/ 26730 h 138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8131" h="138649">
                <a:moveTo>
                  <a:pt x="288131" y="138649"/>
                </a:moveTo>
                <a:cubicBezTo>
                  <a:pt x="250229" y="82491"/>
                  <a:pt x="212328" y="26333"/>
                  <a:pt x="164306" y="7680"/>
                </a:cubicBezTo>
                <a:cubicBezTo>
                  <a:pt x="116284" y="-10973"/>
                  <a:pt x="58142" y="7878"/>
                  <a:pt x="0" y="2673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TextBox 81"/>
          <p:cNvSpPr txBox="1"/>
          <p:nvPr/>
        </p:nvSpPr>
        <p:spPr>
          <a:xfrm>
            <a:off x="3719740" y="2302168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4305089" y="1293911"/>
                <a:ext cx="668868" cy="27699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-value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089" y="1293911"/>
                <a:ext cx="668868" cy="276999"/>
              </a:xfrm>
              <a:prstGeom prst="rect">
                <a:avLst/>
              </a:prstGeom>
              <a:blipFill>
                <a:blip r:embed="rId2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5186922" y="1281145"/>
                <a:ext cx="668868" cy="27699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-value</a:t>
                </a: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922" y="1281145"/>
                <a:ext cx="668868" cy="276999"/>
              </a:xfrm>
              <a:prstGeom prst="rect">
                <a:avLst/>
              </a:prstGeom>
              <a:blipFill>
                <a:blip r:embed="rId2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6061135" y="1324288"/>
                <a:ext cx="1176596" cy="27699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Gradient of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𝑂𝑃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135" y="1324288"/>
                <a:ext cx="1176596" cy="276999"/>
              </a:xfrm>
              <a:prstGeom prst="rect">
                <a:avLst/>
              </a:prstGeom>
              <a:blipFill>
                <a:blip r:embed="rId2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/>
          <p:cNvSpPr txBox="1"/>
          <p:nvPr/>
        </p:nvSpPr>
        <p:spPr>
          <a:xfrm>
            <a:off x="4571232" y="2295047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07298" y="2302168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00451" y="3577258"/>
            <a:ext cx="574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89" name="TextBox 88"/>
          <p:cNvSpPr txBox="1"/>
          <p:nvPr/>
        </p:nvSpPr>
        <p:spPr>
          <a:xfrm>
            <a:off x="4429128" y="3579662"/>
            <a:ext cx="60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90" name="TextBox 89"/>
          <p:cNvSpPr txBox="1"/>
          <p:nvPr/>
        </p:nvSpPr>
        <p:spPr>
          <a:xfrm>
            <a:off x="5305429" y="3586782"/>
            <a:ext cx="547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91" name="TextBox 90"/>
          <p:cNvSpPr txBox="1"/>
          <p:nvPr/>
        </p:nvSpPr>
        <p:spPr>
          <a:xfrm>
            <a:off x="3635130" y="4861313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86622" y="4854193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94089" y="4823219"/>
            <a:ext cx="1354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Undefined</a:t>
            </a:r>
          </a:p>
          <a:p>
            <a:r>
              <a:rPr lang="en-GB" sz="900" dirty="0"/>
              <a:t>(vertical lines don’t have a well-defined gradient)</a:t>
            </a:r>
          </a:p>
        </p:txBody>
      </p:sp>
      <p:cxnSp>
        <p:nvCxnSpPr>
          <p:cNvPr id="95" name="Straight Arrow Connector 94"/>
          <p:cNvCxnSpPr/>
          <p:nvPr/>
        </p:nvCxnSpPr>
        <p:spPr>
          <a:xfrm flipH="1">
            <a:off x="4173883" y="1532706"/>
            <a:ext cx="133327" cy="179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H="1">
            <a:off x="5046196" y="1457640"/>
            <a:ext cx="133327" cy="179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 flipH="1">
            <a:off x="5913084" y="1450733"/>
            <a:ext cx="133327" cy="179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631200" y="5928254"/>
            <a:ext cx="574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99" name="TextBox 98"/>
          <p:cNvSpPr txBox="1"/>
          <p:nvPr/>
        </p:nvSpPr>
        <p:spPr>
          <a:xfrm>
            <a:off x="4459877" y="5930658"/>
            <a:ext cx="60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100" name="TextBox 99"/>
          <p:cNvSpPr txBox="1"/>
          <p:nvPr/>
        </p:nvSpPr>
        <p:spPr>
          <a:xfrm>
            <a:off x="5336178" y="5937778"/>
            <a:ext cx="547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6623102" y="1932838"/>
                <a:ext cx="11568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=180°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02" y="1932838"/>
                <a:ext cx="1156817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6336919" y="3168926"/>
                <a:ext cx="18962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180°&lt;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&lt;270°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919" y="3168926"/>
                <a:ext cx="1896227" cy="33855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8075744" y="1525847"/>
                <a:ext cx="1156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744" y="1525847"/>
                <a:ext cx="1156817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8829191" y="1516005"/>
                <a:ext cx="1156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191" y="1516005"/>
                <a:ext cx="1156817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9646431" y="1515215"/>
                <a:ext cx="1156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6431" y="1515215"/>
                <a:ext cx="1156817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Connector 105"/>
          <p:cNvCxnSpPr/>
          <p:nvPr/>
        </p:nvCxnSpPr>
        <p:spPr>
          <a:xfrm>
            <a:off x="6453878" y="1895179"/>
            <a:ext cx="4212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8075740" y="1525848"/>
            <a:ext cx="0" cy="46805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V="1">
            <a:off x="7165160" y="3701841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>
            <a:off x="6838614" y="4046565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H="1">
            <a:off x="6986592" y="4049263"/>
            <a:ext cx="185257" cy="2512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7388727" y="3908416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727" y="3908416"/>
                <a:ext cx="336419" cy="25404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7029834" y="3489000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34" y="3489000"/>
                <a:ext cx="273443" cy="25404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6731775" y="4157892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775" y="4157892"/>
                <a:ext cx="338324" cy="2540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Oval 113"/>
          <p:cNvSpPr/>
          <p:nvPr/>
        </p:nvSpPr>
        <p:spPr>
          <a:xfrm>
            <a:off x="6965215" y="4264071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6965522" y="3777691"/>
                <a:ext cx="23014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800" dirty="0"/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522" y="3777691"/>
                <a:ext cx="230149" cy="2154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/>
          <p:cNvCxnSpPr/>
          <p:nvPr/>
        </p:nvCxnSpPr>
        <p:spPr>
          <a:xfrm flipV="1">
            <a:off x="7145939" y="2405680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>
            <a:off x="6819391" y="2750404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7369506" y="2612255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506" y="2612255"/>
                <a:ext cx="336419" cy="25404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010611" y="2192839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611" y="2192839"/>
                <a:ext cx="273443" cy="25404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688706" y="2527332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706" y="2527332"/>
                <a:ext cx="338324" cy="25404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Oval 122"/>
          <p:cNvSpPr/>
          <p:nvPr/>
        </p:nvSpPr>
        <p:spPr>
          <a:xfrm>
            <a:off x="6886462" y="2727403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24" name="Straight Connector 123"/>
          <p:cNvCxnSpPr/>
          <p:nvPr/>
        </p:nvCxnSpPr>
        <p:spPr>
          <a:xfrm flipH="1">
            <a:off x="6900863" y="2755561"/>
            <a:ext cx="240360" cy="19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>
            <a:off x="6475558" y="3117901"/>
            <a:ext cx="41913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6424669" y="4399275"/>
                <a:ext cx="1584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=270°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669" y="4399275"/>
                <a:ext cx="1584176" cy="3385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Straight Arrow Connector 126"/>
          <p:cNvCxnSpPr/>
          <p:nvPr/>
        </p:nvCxnSpPr>
        <p:spPr>
          <a:xfrm flipV="1">
            <a:off x="7125323" y="4910925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>
            <a:off x="6798775" y="5255649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 flipH="1">
            <a:off x="7122321" y="5257912"/>
            <a:ext cx="4123" cy="2427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>
                <a:off x="7348890" y="5117500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890" y="5117500"/>
                <a:ext cx="336419" cy="25404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6989995" y="4698084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995" y="4698084"/>
                <a:ext cx="273443" cy="25404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Oval 131"/>
          <p:cNvSpPr/>
          <p:nvPr/>
        </p:nvSpPr>
        <p:spPr>
          <a:xfrm>
            <a:off x="7099209" y="5485060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/>
              <p:cNvSpPr txBox="1"/>
              <p:nvPr/>
            </p:nvSpPr>
            <p:spPr>
              <a:xfrm>
                <a:off x="6859713" y="4993500"/>
                <a:ext cx="23014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800" dirty="0"/>
              </a:p>
            </p:txBody>
          </p:sp>
        </mc:Choice>
        <mc:Fallback xmlns="">
          <p:sp>
            <p:nvSpPr>
              <p:cNvPr id="133" name="TextBox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713" y="4993500"/>
                <a:ext cx="230149" cy="21544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Straight Connector 133"/>
          <p:cNvCxnSpPr/>
          <p:nvPr/>
        </p:nvCxnSpPr>
        <p:spPr>
          <a:xfrm>
            <a:off x="6414453" y="4412047"/>
            <a:ext cx="42524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/>
              <p:cNvSpPr txBox="1"/>
              <p:nvPr/>
            </p:nvSpPr>
            <p:spPr>
              <a:xfrm>
                <a:off x="6860658" y="5366095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36" name="TextBox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658" y="5366095"/>
                <a:ext cx="338324" cy="254044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/>
              <p:cNvSpPr txBox="1"/>
              <p:nvPr/>
            </p:nvSpPr>
            <p:spPr>
              <a:xfrm>
                <a:off x="6391580" y="5662144"/>
                <a:ext cx="17477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270°&lt;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&lt;360°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7" name="TextBox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580" y="5662144"/>
                <a:ext cx="1747751" cy="338554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" name="Straight Arrow Connector 137"/>
          <p:cNvCxnSpPr/>
          <p:nvPr/>
        </p:nvCxnSpPr>
        <p:spPr>
          <a:xfrm flipV="1">
            <a:off x="7149624" y="6125209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/>
          <p:nvPr/>
        </p:nvCxnSpPr>
        <p:spPr>
          <a:xfrm>
            <a:off x="6823078" y="6469933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>
            <a:off x="7156313" y="6472631"/>
            <a:ext cx="192229" cy="2663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/>
              <p:cNvSpPr txBox="1"/>
              <p:nvPr/>
            </p:nvSpPr>
            <p:spPr>
              <a:xfrm>
                <a:off x="7378119" y="6330900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41" name="TextBox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119" y="6330900"/>
                <a:ext cx="336419" cy="254044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/>
              <p:cNvSpPr txBox="1"/>
              <p:nvPr/>
            </p:nvSpPr>
            <p:spPr>
              <a:xfrm>
                <a:off x="7020647" y="5931419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42" name="TextBox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647" y="5931419"/>
                <a:ext cx="273443" cy="25404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/>
              <p:cNvSpPr txBox="1"/>
              <p:nvPr/>
            </p:nvSpPr>
            <p:spPr>
              <a:xfrm>
                <a:off x="6675758" y="6069291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43" name="TextBox 1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758" y="6069291"/>
                <a:ext cx="338324" cy="25404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Oval 143"/>
          <p:cNvSpPr/>
          <p:nvPr/>
        </p:nvSpPr>
        <p:spPr>
          <a:xfrm>
            <a:off x="7337822" y="6701727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/>
              <p:cNvSpPr txBox="1"/>
              <p:nvPr/>
            </p:nvSpPr>
            <p:spPr>
              <a:xfrm>
                <a:off x="6873465" y="6217276"/>
                <a:ext cx="23014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800" dirty="0"/>
              </a:p>
            </p:txBody>
          </p:sp>
        </mc:Choice>
        <mc:Fallback xmlns="">
          <p:sp>
            <p:nvSpPr>
              <p:cNvPr id="145" name="TextBox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465" y="6217276"/>
                <a:ext cx="230149" cy="21544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Straight Connector 145"/>
          <p:cNvCxnSpPr/>
          <p:nvPr/>
        </p:nvCxnSpPr>
        <p:spPr>
          <a:xfrm flipV="1">
            <a:off x="6472723" y="5627708"/>
            <a:ext cx="4194137" cy="24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8454629" y="2302169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306121" y="2295047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142188" y="2302168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335340" y="3577258"/>
            <a:ext cx="574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152" name="TextBox 151"/>
          <p:cNvSpPr txBox="1"/>
          <p:nvPr/>
        </p:nvSpPr>
        <p:spPr>
          <a:xfrm>
            <a:off x="9164017" y="3579662"/>
            <a:ext cx="60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153" name="TextBox 152"/>
          <p:cNvSpPr txBox="1"/>
          <p:nvPr/>
        </p:nvSpPr>
        <p:spPr>
          <a:xfrm>
            <a:off x="10040318" y="3586782"/>
            <a:ext cx="547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154" name="TextBox 153"/>
          <p:cNvSpPr txBox="1"/>
          <p:nvPr/>
        </p:nvSpPr>
        <p:spPr>
          <a:xfrm>
            <a:off x="8370020" y="4861313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221512" y="4854194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73797" y="4855113"/>
            <a:ext cx="1354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Undefined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66089" y="5928254"/>
            <a:ext cx="574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158" name="TextBox 157"/>
          <p:cNvSpPr txBox="1"/>
          <p:nvPr/>
        </p:nvSpPr>
        <p:spPr>
          <a:xfrm>
            <a:off x="9194767" y="5930658"/>
            <a:ext cx="60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159" name="TextBox 158"/>
          <p:cNvSpPr txBox="1"/>
          <p:nvPr/>
        </p:nvSpPr>
        <p:spPr>
          <a:xfrm>
            <a:off x="10071067" y="5937778"/>
            <a:ext cx="547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</p:txBody>
      </p:sp>
      <p:cxnSp>
        <p:nvCxnSpPr>
          <p:cNvPr id="160" name="Straight Connector 159"/>
          <p:cNvCxnSpPr/>
          <p:nvPr/>
        </p:nvCxnSpPr>
        <p:spPr>
          <a:xfrm flipV="1">
            <a:off x="1632247" y="1897476"/>
            <a:ext cx="0" cy="46805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6448424" y="1895179"/>
            <a:ext cx="0" cy="46805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Freeform: Shape 162"/>
          <p:cNvSpPr/>
          <p:nvPr/>
        </p:nvSpPr>
        <p:spPr>
          <a:xfrm>
            <a:off x="6996117" y="2619379"/>
            <a:ext cx="300037" cy="123825"/>
          </a:xfrm>
          <a:custGeom>
            <a:avLst/>
            <a:gdLst>
              <a:gd name="connsiteX0" fmla="*/ 300037 w 300037"/>
              <a:gd name="connsiteY0" fmla="*/ 152506 h 152506"/>
              <a:gd name="connsiteX1" fmla="*/ 142875 w 300037"/>
              <a:gd name="connsiteY1" fmla="*/ 106 h 152506"/>
              <a:gd name="connsiteX2" fmla="*/ 0 w 300037"/>
              <a:gd name="connsiteY2" fmla="*/ 133456 h 15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037" h="152506">
                <a:moveTo>
                  <a:pt x="300037" y="152506"/>
                </a:moveTo>
                <a:cubicBezTo>
                  <a:pt x="246459" y="77893"/>
                  <a:pt x="192881" y="3281"/>
                  <a:pt x="142875" y="106"/>
                </a:cubicBezTo>
                <a:cubicBezTo>
                  <a:pt x="92869" y="-3069"/>
                  <a:pt x="46434" y="65193"/>
                  <a:pt x="0" y="133456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/>
              <p:cNvSpPr txBox="1"/>
              <p:nvPr/>
            </p:nvSpPr>
            <p:spPr>
              <a:xfrm>
                <a:off x="7096104" y="2475223"/>
                <a:ext cx="23014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800" dirty="0"/>
              </a:p>
            </p:txBody>
          </p:sp>
        </mc:Choice>
        <mc:Fallback xmlns="">
          <p:sp>
            <p:nvSpPr>
              <p:cNvPr id="164" name="TextBox 1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04" y="2475223"/>
                <a:ext cx="230149" cy="215444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Freeform: Shape 165"/>
          <p:cNvSpPr/>
          <p:nvPr/>
        </p:nvSpPr>
        <p:spPr>
          <a:xfrm>
            <a:off x="7024912" y="3893346"/>
            <a:ext cx="295055" cy="259556"/>
          </a:xfrm>
          <a:custGeom>
            <a:avLst/>
            <a:gdLst>
              <a:gd name="connsiteX0" fmla="*/ 298332 w 298332"/>
              <a:gd name="connsiteY0" fmla="*/ 150019 h 250031"/>
              <a:gd name="connsiteX1" fmla="*/ 148313 w 298332"/>
              <a:gd name="connsiteY1" fmla="*/ 0 h 250031"/>
              <a:gd name="connsiteX2" fmla="*/ 5438 w 298332"/>
              <a:gd name="connsiteY2" fmla="*/ 150019 h 250031"/>
              <a:gd name="connsiteX3" fmla="*/ 43538 w 298332"/>
              <a:gd name="connsiteY3" fmla="*/ 250031 h 250031"/>
              <a:gd name="connsiteX0" fmla="*/ 299840 w 299840"/>
              <a:gd name="connsiteY0" fmla="*/ 150019 h 273844"/>
              <a:gd name="connsiteX1" fmla="*/ 149821 w 299840"/>
              <a:gd name="connsiteY1" fmla="*/ 0 h 273844"/>
              <a:gd name="connsiteX2" fmla="*/ 6946 w 299840"/>
              <a:gd name="connsiteY2" fmla="*/ 150019 h 273844"/>
              <a:gd name="connsiteX3" fmla="*/ 37902 w 299840"/>
              <a:gd name="connsiteY3" fmla="*/ 273844 h 273844"/>
              <a:gd name="connsiteX0" fmla="*/ 296498 w 296498"/>
              <a:gd name="connsiteY0" fmla="*/ 150019 h 252413"/>
              <a:gd name="connsiteX1" fmla="*/ 146479 w 296498"/>
              <a:gd name="connsiteY1" fmla="*/ 0 h 252413"/>
              <a:gd name="connsiteX2" fmla="*/ 3604 w 296498"/>
              <a:gd name="connsiteY2" fmla="*/ 150019 h 252413"/>
              <a:gd name="connsiteX3" fmla="*/ 53610 w 296498"/>
              <a:gd name="connsiteY3" fmla="*/ 252413 h 252413"/>
              <a:gd name="connsiteX0" fmla="*/ 295252 w 295252"/>
              <a:gd name="connsiteY0" fmla="*/ 150019 h 252413"/>
              <a:gd name="connsiteX1" fmla="*/ 145233 w 295252"/>
              <a:gd name="connsiteY1" fmla="*/ 0 h 252413"/>
              <a:gd name="connsiteX2" fmla="*/ 2358 w 295252"/>
              <a:gd name="connsiteY2" fmla="*/ 150019 h 252413"/>
              <a:gd name="connsiteX3" fmla="*/ 64270 w 295252"/>
              <a:gd name="connsiteY3" fmla="*/ 252413 h 252413"/>
              <a:gd name="connsiteX0" fmla="*/ 295054 w 295054"/>
              <a:gd name="connsiteY0" fmla="*/ 150019 h 259556"/>
              <a:gd name="connsiteX1" fmla="*/ 145035 w 295054"/>
              <a:gd name="connsiteY1" fmla="*/ 0 h 259556"/>
              <a:gd name="connsiteX2" fmla="*/ 2160 w 295054"/>
              <a:gd name="connsiteY2" fmla="*/ 150019 h 259556"/>
              <a:gd name="connsiteX3" fmla="*/ 66453 w 295054"/>
              <a:gd name="connsiteY3" fmla="*/ 259556 h 259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054" h="259556">
                <a:moveTo>
                  <a:pt x="295054" y="150019"/>
                </a:moveTo>
                <a:cubicBezTo>
                  <a:pt x="244452" y="75009"/>
                  <a:pt x="193851" y="0"/>
                  <a:pt x="145035" y="0"/>
                </a:cubicBezTo>
                <a:cubicBezTo>
                  <a:pt x="96219" y="0"/>
                  <a:pt x="15257" y="106760"/>
                  <a:pt x="2160" y="150019"/>
                </a:cubicBezTo>
                <a:cubicBezTo>
                  <a:pt x="-10937" y="193278"/>
                  <a:pt x="38672" y="230386"/>
                  <a:pt x="66453" y="259556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Freeform: Shape 167"/>
          <p:cNvSpPr/>
          <p:nvPr/>
        </p:nvSpPr>
        <p:spPr>
          <a:xfrm>
            <a:off x="6924976" y="5086349"/>
            <a:ext cx="368797" cy="315327"/>
          </a:xfrm>
          <a:custGeom>
            <a:avLst/>
            <a:gdLst>
              <a:gd name="connsiteX0" fmla="*/ 362011 w 362011"/>
              <a:gd name="connsiteY0" fmla="*/ 169073 h 332951"/>
              <a:gd name="connsiteX1" fmla="*/ 197705 w 362011"/>
              <a:gd name="connsiteY1" fmla="*/ 4 h 332951"/>
              <a:gd name="connsiteX2" fmla="*/ 2442 w 362011"/>
              <a:gd name="connsiteY2" fmla="*/ 164310 h 332951"/>
              <a:gd name="connsiteX3" fmla="*/ 92930 w 362011"/>
              <a:gd name="connsiteY3" fmla="*/ 311948 h 332951"/>
              <a:gd name="connsiteX4" fmla="*/ 164367 w 362011"/>
              <a:gd name="connsiteY4" fmla="*/ 328617 h 332951"/>
              <a:gd name="connsiteX0" fmla="*/ 368476 w 368476"/>
              <a:gd name="connsiteY0" fmla="*/ 169073 h 331536"/>
              <a:gd name="connsiteX1" fmla="*/ 204170 w 368476"/>
              <a:gd name="connsiteY1" fmla="*/ 4 h 331536"/>
              <a:gd name="connsiteX2" fmla="*/ 8907 w 368476"/>
              <a:gd name="connsiteY2" fmla="*/ 164310 h 331536"/>
              <a:gd name="connsiteX3" fmla="*/ 47007 w 368476"/>
              <a:gd name="connsiteY3" fmla="*/ 307185 h 331536"/>
              <a:gd name="connsiteX4" fmla="*/ 170832 w 368476"/>
              <a:gd name="connsiteY4" fmla="*/ 328617 h 331536"/>
              <a:gd name="connsiteX0" fmla="*/ 369874 w 369874"/>
              <a:gd name="connsiteY0" fmla="*/ 169073 h 331085"/>
              <a:gd name="connsiteX1" fmla="*/ 205568 w 369874"/>
              <a:gd name="connsiteY1" fmla="*/ 4 h 331085"/>
              <a:gd name="connsiteX2" fmla="*/ 10305 w 369874"/>
              <a:gd name="connsiteY2" fmla="*/ 164310 h 331085"/>
              <a:gd name="connsiteX3" fmla="*/ 48405 w 369874"/>
              <a:gd name="connsiteY3" fmla="*/ 307185 h 331085"/>
              <a:gd name="connsiteX4" fmla="*/ 172230 w 369874"/>
              <a:gd name="connsiteY4" fmla="*/ 328617 h 331085"/>
              <a:gd name="connsiteX0" fmla="*/ 368635 w 368635"/>
              <a:gd name="connsiteY0" fmla="*/ 169073 h 319063"/>
              <a:gd name="connsiteX1" fmla="*/ 204329 w 368635"/>
              <a:gd name="connsiteY1" fmla="*/ 4 h 319063"/>
              <a:gd name="connsiteX2" fmla="*/ 9066 w 368635"/>
              <a:gd name="connsiteY2" fmla="*/ 164310 h 319063"/>
              <a:gd name="connsiteX3" fmla="*/ 47166 w 368635"/>
              <a:gd name="connsiteY3" fmla="*/ 307185 h 319063"/>
              <a:gd name="connsiteX4" fmla="*/ 178135 w 368635"/>
              <a:gd name="connsiteY4" fmla="*/ 307186 h 319063"/>
              <a:gd name="connsiteX0" fmla="*/ 368797 w 368797"/>
              <a:gd name="connsiteY0" fmla="*/ 169073 h 315327"/>
              <a:gd name="connsiteX1" fmla="*/ 204491 w 368797"/>
              <a:gd name="connsiteY1" fmla="*/ 4 h 315327"/>
              <a:gd name="connsiteX2" fmla="*/ 9228 w 368797"/>
              <a:gd name="connsiteY2" fmla="*/ 164310 h 315327"/>
              <a:gd name="connsiteX3" fmla="*/ 47328 w 368797"/>
              <a:gd name="connsiteY3" fmla="*/ 307185 h 315327"/>
              <a:gd name="connsiteX4" fmla="*/ 185441 w 368797"/>
              <a:gd name="connsiteY4" fmla="*/ 295280 h 315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8797" h="315327">
                <a:moveTo>
                  <a:pt x="368797" y="169073"/>
                </a:moveTo>
                <a:cubicBezTo>
                  <a:pt x="316608" y="84935"/>
                  <a:pt x="264419" y="798"/>
                  <a:pt x="204491" y="4"/>
                </a:cubicBezTo>
                <a:cubicBezTo>
                  <a:pt x="144563" y="-790"/>
                  <a:pt x="35422" y="113113"/>
                  <a:pt x="9228" y="164310"/>
                </a:cubicBezTo>
                <a:cubicBezTo>
                  <a:pt x="-16966" y="215507"/>
                  <a:pt x="17959" y="285357"/>
                  <a:pt x="47328" y="307185"/>
                </a:cubicBezTo>
                <a:cubicBezTo>
                  <a:pt x="76697" y="329013"/>
                  <a:pt x="163216" y="300638"/>
                  <a:pt x="185441" y="29528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1" name="Freeform: Shape 170"/>
          <p:cNvSpPr/>
          <p:nvPr/>
        </p:nvSpPr>
        <p:spPr>
          <a:xfrm>
            <a:off x="6996110" y="6312667"/>
            <a:ext cx="304804" cy="307243"/>
          </a:xfrm>
          <a:custGeom>
            <a:avLst/>
            <a:gdLst>
              <a:gd name="connsiteX0" fmla="*/ 304804 w 304804"/>
              <a:gd name="connsiteY0" fmla="*/ 152428 h 307242"/>
              <a:gd name="connsiteX1" fmla="*/ 261941 w 304804"/>
              <a:gd name="connsiteY1" fmla="*/ 40509 h 307242"/>
              <a:gd name="connsiteX2" fmla="*/ 154785 w 304804"/>
              <a:gd name="connsiteY2" fmla="*/ 28 h 307242"/>
              <a:gd name="connsiteX3" fmla="*/ 50010 w 304804"/>
              <a:gd name="connsiteY3" fmla="*/ 45272 h 307242"/>
              <a:gd name="connsiteX4" fmla="*/ 4 w 304804"/>
              <a:gd name="connsiteY4" fmla="*/ 157190 h 307242"/>
              <a:gd name="connsiteX5" fmla="*/ 52391 w 304804"/>
              <a:gd name="connsiteY5" fmla="*/ 276253 h 307242"/>
              <a:gd name="connsiteX6" fmla="*/ 145260 w 304804"/>
              <a:gd name="connsiteY6" fmla="*/ 307209 h 307242"/>
              <a:gd name="connsiteX7" fmla="*/ 226222 w 304804"/>
              <a:gd name="connsiteY7" fmla="*/ 281015 h 30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4804" h="307242">
                <a:moveTo>
                  <a:pt x="304804" y="152428"/>
                </a:moveTo>
                <a:cubicBezTo>
                  <a:pt x="295874" y="109168"/>
                  <a:pt x="286944" y="65909"/>
                  <a:pt x="261941" y="40509"/>
                </a:cubicBezTo>
                <a:cubicBezTo>
                  <a:pt x="236938" y="15109"/>
                  <a:pt x="190107" y="-766"/>
                  <a:pt x="154785" y="28"/>
                </a:cubicBezTo>
                <a:cubicBezTo>
                  <a:pt x="119463" y="822"/>
                  <a:pt x="75807" y="19078"/>
                  <a:pt x="50010" y="45272"/>
                </a:cubicBezTo>
                <a:cubicBezTo>
                  <a:pt x="24213" y="71466"/>
                  <a:pt x="-393" y="118693"/>
                  <a:pt x="4" y="157190"/>
                </a:cubicBezTo>
                <a:cubicBezTo>
                  <a:pt x="401" y="195687"/>
                  <a:pt x="28182" y="251250"/>
                  <a:pt x="52391" y="276253"/>
                </a:cubicBezTo>
                <a:cubicBezTo>
                  <a:pt x="76600" y="301256"/>
                  <a:pt x="116288" y="306415"/>
                  <a:pt x="145260" y="307209"/>
                </a:cubicBezTo>
                <a:cubicBezTo>
                  <a:pt x="174232" y="308003"/>
                  <a:pt x="200227" y="294509"/>
                  <a:pt x="226222" y="281015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Rectangle 175"/>
          <p:cNvSpPr/>
          <p:nvPr/>
        </p:nvSpPr>
        <p:spPr>
          <a:xfrm>
            <a:off x="3348025" y="3120769"/>
            <a:ext cx="3011475" cy="12987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348509" y="4419498"/>
            <a:ext cx="3011475" cy="12032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348025" y="5630165"/>
            <a:ext cx="3011475" cy="11551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078983" y="3120763"/>
            <a:ext cx="2557120" cy="12987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073624" y="4421929"/>
            <a:ext cx="2557120" cy="12032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078983" y="5630158"/>
            <a:ext cx="2557120" cy="11551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078983" y="1902622"/>
            <a:ext cx="2557120" cy="12181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638740" y="4740808"/>
            <a:ext cx="1703895" cy="90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638740" y="5983161"/>
            <a:ext cx="1703895" cy="8004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456653" y="3571292"/>
            <a:ext cx="1623885" cy="8488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446877" y="4740808"/>
            <a:ext cx="1637221" cy="90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446877" y="5983161"/>
            <a:ext cx="1637221" cy="8004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453879" y="2262124"/>
            <a:ext cx="1630219" cy="8488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4081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9"/>
                  </p:tgtEl>
                </p:cond>
              </p:nextCondLst>
            </p:seq>
          </p:childTnLst>
        </p:cTn>
      </p:par>
    </p:tnLst>
    <p:bldLst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The Unit Circle and Trigonometry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52131" y="803043"/>
                <a:ext cx="872448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unit circles explains the behaviour of these trigonometric graphs beyond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GB" dirty="0"/>
                  <a:t>. </a:t>
                </a:r>
              </a:p>
              <a:p>
                <a:r>
                  <a:rPr lang="en-GB" dirty="0"/>
                  <a:t>However, the easiest way to remember whether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 are positive or negative is to just do a </a:t>
                </a:r>
                <a:r>
                  <a:rPr lang="en-GB" b="1" dirty="0"/>
                  <a:t>very quick sketch (preferably mentally!) </a:t>
                </a:r>
                <a:r>
                  <a:rPr lang="en-GB" dirty="0"/>
                  <a:t>of the corresponding graph.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131" y="803043"/>
                <a:ext cx="8724484" cy="923330"/>
              </a:xfrm>
              <a:prstGeom prst="rect">
                <a:avLst/>
              </a:prstGeom>
              <a:blipFill>
                <a:blip r:embed="rId2"/>
                <a:stretch>
                  <a:fillRect l="-581" t="-4110" r="-145" b="-109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2758232" y="2692797"/>
            <a:ext cx="0" cy="2736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758232" y="4149084"/>
            <a:ext cx="3841824" cy="17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413795" y="4139555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795" y="4139555"/>
                <a:ext cx="4320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31631" y="4149080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631" y="4149080"/>
                <a:ext cx="432048" cy="369332"/>
              </a:xfrm>
              <a:prstGeom prst="rect">
                <a:avLst/>
              </a:prstGeom>
              <a:blipFill>
                <a:blip r:embed="rId4"/>
                <a:stretch>
                  <a:fillRect r="-25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127811" y="4139555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270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811" y="4139555"/>
                <a:ext cx="432048" cy="369332"/>
              </a:xfrm>
              <a:prstGeom prst="rect">
                <a:avLst/>
              </a:prstGeom>
              <a:blipFill>
                <a:blip r:embed="rId5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42223" y="4139555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360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223" y="4139555"/>
                <a:ext cx="432048" cy="369332"/>
              </a:xfrm>
              <a:prstGeom prst="rect">
                <a:avLst/>
              </a:prstGeom>
              <a:blipFill>
                <a:blip r:embed="rId6"/>
                <a:stretch>
                  <a:fillRect r="-25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527367" y="3940671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367" y="3940671"/>
                <a:ext cx="4320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29632" y="2329567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632" y="2329567"/>
                <a:ext cx="432048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: Shape 18"/>
          <p:cNvSpPr/>
          <p:nvPr/>
        </p:nvSpPr>
        <p:spPr>
          <a:xfrm>
            <a:off x="2755780" y="3013327"/>
            <a:ext cx="3476625" cy="2362209"/>
          </a:xfrm>
          <a:custGeom>
            <a:avLst/>
            <a:gdLst>
              <a:gd name="connsiteX0" fmla="*/ 0 w 3476625"/>
              <a:gd name="connsiteY0" fmla="*/ 1152525 h 2362209"/>
              <a:gd name="connsiteX1" fmla="*/ 885825 w 3476625"/>
              <a:gd name="connsiteY1" fmla="*/ 0 h 2362209"/>
              <a:gd name="connsiteX2" fmla="*/ 1752600 w 3476625"/>
              <a:gd name="connsiteY2" fmla="*/ 1152525 h 2362209"/>
              <a:gd name="connsiteX3" fmla="*/ 2657475 w 3476625"/>
              <a:gd name="connsiteY3" fmla="*/ 2362200 h 2362209"/>
              <a:gd name="connsiteX4" fmla="*/ 3476625 w 3476625"/>
              <a:gd name="connsiteY4" fmla="*/ 1133475 h 2362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76625" h="2362209">
                <a:moveTo>
                  <a:pt x="0" y="1152525"/>
                </a:moveTo>
                <a:cubicBezTo>
                  <a:pt x="296862" y="576262"/>
                  <a:pt x="593725" y="0"/>
                  <a:pt x="885825" y="0"/>
                </a:cubicBezTo>
                <a:cubicBezTo>
                  <a:pt x="1177925" y="0"/>
                  <a:pt x="1752600" y="1152525"/>
                  <a:pt x="1752600" y="1152525"/>
                </a:cubicBezTo>
                <a:cubicBezTo>
                  <a:pt x="2047875" y="1546225"/>
                  <a:pt x="2370138" y="2365375"/>
                  <a:pt x="2657475" y="2362200"/>
                </a:cubicBezTo>
                <a:cubicBezTo>
                  <a:pt x="2944812" y="2359025"/>
                  <a:pt x="3210718" y="1746250"/>
                  <a:pt x="3476625" y="11334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998543" y="2312783"/>
                <a:ext cx="189468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/>
                  <a:t>positive</a:t>
                </a:r>
              </a:p>
              <a:p>
                <a:pPr algn="ctr"/>
                <a:r>
                  <a:rPr lang="en-GB" sz="1400" dirty="0"/>
                  <a:t>for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&lt;180°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543" y="2312783"/>
                <a:ext cx="1894681" cy="584775"/>
              </a:xfrm>
              <a:prstGeom prst="rect">
                <a:avLst/>
              </a:prstGeom>
              <a:blipFill>
                <a:blip r:embed="rId9"/>
                <a:stretch>
                  <a:fillRect t="-2083" b="-10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396499" y="5429105"/>
                <a:ext cx="189468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/>
                  <a:t>negative</a:t>
                </a:r>
              </a:p>
              <a:p>
                <a:pPr algn="ctr"/>
                <a:r>
                  <a:rPr lang="en-GB" sz="1400" dirty="0"/>
                  <a:t>for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180°&lt;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&lt;360°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499" y="5429105"/>
                <a:ext cx="1894681" cy="584775"/>
              </a:xfrm>
              <a:prstGeom prst="rect">
                <a:avLst/>
              </a:prstGeom>
              <a:blipFill>
                <a:blip r:embed="rId10"/>
                <a:stretch>
                  <a:fillRect t="-4255" b="-127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550321" y="3121917"/>
                <a:ext cx="19228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8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321" y="3121917"/>
                <a:ext cx="1922860" cy="523220"/>
              </a:xfrm>
              <a:prstGeom prst="rect">
                <a:avLst/>
              </a:prstGeom>
              <a:blipFill>
                <a:blip r:embed="rId11"/>
                <a:stretch>
                  <a:fillRect b="-9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7320140" y="4725147"/>
            <a:ext cx="3048367" cy="13234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Note:</a:t>
            </a:r>
            <a:r>
              <a:rPr lang="en-GB" sz="1600" dirty="0"/>
              <a:t> The textbook uses something called ‘</a:t>
            </a:r>
            <a:r>
              <a:rPr lang="en-GB" sz="1600" i="1" dirty="0"/>
              <a:t>CAST diagrams</a:t>
            </a:r>
            <a:r>
              <a:rPr lang="en-GB" sz="1600" dirty="0"/>
              <a:t>’, which is an acronym for which quadrants the </a:t>
            </a:r>
            <a:r>
              <a:rPr lang="en-GB" sz="1600" b="1" dirty="0">
                <a:solidFill>
                  <a:srgbClr val="FFFF00"/>
                </a:solidFill>
              </a:rPr>
              <a:t>C</a:t>
            </a:r>
            <a:r>
              <a:rPr lang="en-GB" sz="1600" dirty="0"/>
              <a:t>osine, </a:t>
            </a:r>
            <a:r>
              <a:rPr lang="en-GB" sz="1600" b="1" dirty="0">
                <a:solidFill>
                  <a:srgbClr val="FFFF00"/>
                </a:solidFill>
              </a:rPr>
              <a:t>A</a:t>
            </a:r>
            <a:r>
              <a:rPr lang="en-GB" sz="1600" dirty="0"/>
              <a:t>ll, </a:t>
            </a:r>
            <a:r>
              <a:rPr lang="en-GB" sz="1600" b="1" dirty="0">
                <a:solidFill>
                  <a:srgbClr val="FFFF00"/>
                </a:solidFill>
              </a:rPr>
              <a:t>S</a:t>
            </a:r>
            <a:r>
              <a:rPr lang="en-GB" sz="1600" dirty="0"/>
              <a:t>ine and </a:t>
            </a:r>
            <a:r>
              <a:rPr lang="en-GB" sz="1600" b="1" dirty="0">
                <a:solidFill>
                  <a:srgbClr val="FFFF00"/>
                </a:solidFill>
              </a:rPr>
              <a:t>T</a:t>
            </a:r>
            <a:r>
              <a:rPr lang="en-GB" sz="1600" dirty="0"/>
              <a:t>angent are positive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9F9963-E0D0-9D50-4BB1-08C845977792}"/>
              </a:ext>
            </a:extLst>
          </p:cNvPr>
          <p:cNvSpPr/>
          <p:nvPr/>
        </p:nvSpPr>
        <p:spPr>
          <a:xfrm>
            <a:off x="7608169" y="2420889"/>
            <a:ext cx="1519783" cy="151978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D31DE7-819E-C0B6-81CC-7632A7763942}"/>
              </a:ext>
            </a:extLst>
          </p:cNvPr>
          <p:cNvCxnSpPr>
            <a:cxnSpLocks/>
          </p:cNvCxnSpPr>
          <p:nvPr/>
        </p:nvCxnSpPr>
        <p:spPr>
          <a:xfrm flipV="1">
            <a:off x="8387048" y="2204865"/>
            <a:ext cx="0" cy="2197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3AD894-258D-E352-82B6-D340B383155D}"/>
              </a:ext>
            </a:extLst>
          </p:cNvPr>
          <p:cNvCxnSpPr>
            <a:cxnSpLocks/>
          </p:cNvCxnSpPr>
          <p:nvPr/>
        </p:nvCxnSpPr>
        <p:spPr>
          <a:xfrm>
            <a:off x="7248128" y="3134394"/>
            <a:ext cx="23042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28F046E-44A4-D276-F9CF-6D7B2F356EEF}"/>
              </a:ext>
            </a:extLst>
          </p:cNvPr>
          <p:cNvSpPr txBox="1"/>
          <p:nvPr/>
        </p:nvSpPr>
        <p:spPr>
          <a:xfrm>
            <a:off x="9079244" y="3588834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C</a:t>
            </a:r>
            <a:r>
              <a:rPr lang="en-GB" dirty="0"/>
              <a:t>os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96491C-4046-D9BB-B5CD-F7D01A35716B}"/>
              </a:ext>
            </a:extLst>
          </p:cNvPr>
          <p:cNvSpPr txBox="1"/>
          <p:nvPr/>
        </p:nvSpPr>
        <p:spPr>
          <a:xfrm>
            <a:off x="9008424" y="2255720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A</a:t>
            </a:r>
            <a:r>
              <a:rPr lang="en-GB" dirty="0"/>
              <a:t>ll functions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D210B2-CB95-0AA5-9BAB-923B84EC2C13}"/>
              </a:ext>
            </a:extLst>
          </p:cNvPr>
          <p:cNvSpPr txBox="1"/>
          <p:nvPr/>
        </p:nvSpPr>
        <p:spPr>
          <a:xfrm>
            <a:off x="7248128" y="2255213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S</a:t>
            </a:r>
            <a:r>
              <a:rPr lang="en-GB" dirty="0"/>
              <a:t>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5CB3FE-9DBB-4E0E-FC10-865AE672B532}"/>
              </a:ext>
            </a:extLst>
          </p:cNvPr>
          <p:cNvSpPr txBox="1"/>
          <p:nvPr/>
        </p:nvSpPr>
        <p:spPr>
          <a:xfrm>
            <a:off x="7319455" y="3606329"/>
            <a:ext cx="511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T</a:t>
            </a:r>
            <a:r>
              <a:rPr lang="en-GB" dirty="0"/>
              <a:t>an</a:t>
            </a:r>
          </a:p>
        </p:txBody>
      </p:sp>
    </p:spTree>
    <p:extLst>
      <p:ext uri="{BB962C8B-B14F-4D97-AF65-F5344CB8AC3E}">
        <p14:creationId xmlns:p14="http://schemas.microsoft.com/office/powerpoint/2010/main" val="3084147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 Few Trigonometric Angle Laws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757627" y="674804"/>
            <a:ext cx="864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following are all easily derivable using a quick sketch of a trigonometric graph, and are merely a </a:t>
            </a:r>
            <a:r>
              <a:rPr lang="en-GB" u="sng" dirty="0"/>
              <a:t>convenience</a:t>
            </a:r>
            <a:r>
              <a:rPr lang="en-GB" dirty="0"/>
              <a:t> so you don’t always have to draw out a graph every time.</a:t>
            </a:r>
          </a:p>
          <a:p>
            <a:r>
              <a:rPr lang="en-GB" dirty="0"/>
              <a:t>You are highly encouraged to </a:t>
            </a:r>
            <a:r>
              <a:rPr lang="en-GB" b="1" dirty="0"/>
              <a:t>memorise these </a:t>
            </a:r>
            <a:r>
              <a:rPr lang="en-GB" dirty="0"/>
              <a:t>so that you can do exam questions faster.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15267" y="2092750"/>
                <a:ext cx="34563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180°−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267" y="2092750"/>
                <a:ext cx="3456384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948061" y="2177807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6454259" y="1870227"/>
            <a:ext cx="6871" cy="955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6467311" y="2597155"/>
            <a:ext cx="1270169" cy="2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Freeform: Shape 12"/>
          <p:cNvSpPr/>
          <p:nvPr/>
        </p:nvSpPr>
        <p:spPr>
          <a:xfrm>
            <a:off x="6451604" y="2016130"/>
            <a:ext cx="996951" cy="581025"/>
          </a:xfrm>
          <a:custGeom>
            <a:avLst/>
            <a:gdLst>
              <a:gd name="connsiteX0" fmla="*/ 0 w 1057275"/>
              <a:gd name="connsiteY0" fmla="*/ 581025 h 581025"/>
              <a:gd name="connsiteX1" fmla="*/ 571500 w 1057275"/>
              <a:gd name="connsiteY1" fmla="*/ 0 h 581025"/>
              <a:gd name="connsiteX2" fmla="*/ 1057275 w 1057275"/>
              <a:gd name="connsiteY2" fmla="*/ 581025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7275" h="581025">
                <a:moveTo>
                  <a:pt x="0" y="581025"/>
                </a:moveTo>
                <a:cubicBezTo>
                  <a:pt x="197644" y="290512"/>
                  <a:pt x="395288" y="0"/>
                  <a:pt x="571500" y="0"/>
                </a:cubicBezTo>
                <a:cubicBezTo>
                  <a:pt x="747712" y="0"/>
                  <a:pt x="902493" y="290512"/>
                  <a:pt x="1057275" y="58102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247486" y="2586112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486" y="2586112"/>
                <a:ext cx="499517" cy="254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084706" y="1834819"/>
                <a:ext cx="872899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05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05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051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05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051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706" y="1834819"/>
                <a:ext cx="872899" cy="2540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468684" y="2579812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684" y="2579812"/>
                <a:ext cx="499517" cy="2540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992966" y="2579812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150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966" y="2579812"/>
                <a:ext cx="499517" cy="2540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 flipH="1">
            <a:off x="6699251" y="2249490"/>
            <a:ext cx="139" cy="354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257010" y="2249490"/>
            <a:ext cx="139" cy="354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6451603" y="2254251"/>
            <a:ext cx="8064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096254" y="2069688"/>
            <a:ext cx="2409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 saw this in the previous chapter when covering the ‘ambiguous case’ when using the sine rule.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215267" y="3232574"/>
                <a:ext cx="34563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360°−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267" y="3232574"/>
                <a:ext cx="345638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1948061" y="3317631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 flipV="1">
            <a:off x="6466957" y="2989992"/>
            <a:ext cx="6871" cy="955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6464767" y="3521079"/>
            <a:ext cx="2301411" cy="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977418" y="3487756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330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418" y="3487756"/>
                <a:ext cx="499517" cy="2540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516505" y="2911723"/>
                <a:ext cx="872899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05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05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051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05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051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505" y="2911723"/>
                <a:ext cx="872899" cy="2540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405184" y="3470978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184" y="3470978"/>
                <a:ext cx="499517" cy="2540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8239153" y="3488440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360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53" y="3488440"/>
                <a:ext cx="499517" cy="2540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/>
          <p:cNvCxnSpPr/>
          <p:nvPr/>
        </p:nvCxnSpPr>
        <p:spPr>
          <a:xfrm>
            <a:off x="6642103" y="3154367"/>
            <a:ext cx="3175" cy="364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8246023" y="3125790"/>
            <a:ext cx="1043" cy="3926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6478591" y="3154368"/>
            <a:ext cx="1949451" cy="101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reeform: Shape 43"/>
          <p:cNvSpPr/>
          <p:nvPr/>
        </p:nvSpPr>
        <p:spPr>
          <a:xfrm>
            <a:off x="6466844" y="3106320"/>
            <a:ext cx="2008823" cy="828143"/>
          </a:xfrm>
          <a:custGeom>
            <a:avLst/>
            <a:gdLst>
              <a:gd name="connsiteX0" fmla="*/ 0 w 1645920"/>
              <a:gd name="connsiteY0" fmla="*/ 30480 h 845820"/>
              <a:gd name="connsiteX1" fmla="*/ 472440 w 1645920"/>
              <a:gd name="connsiteY1" fmla="*/ 434340 h 845820"/>
              <a:gd name="connsiteX2" fmla="*/ 922020 w 1645920"/>
              <a:gd name="connsiteY2" fmla="*/ 845820 h 845820"/>
              <a:gd name="connsiteX3" fmla="*/ 1318260 w 1645920"/>
              <a:gd name="connsiteY3" fmla="*/ 434340 h 845820"/>
              <a:gd name="connsiteX4" fmla="*/ 1645920 w 1645920"/>
              <a:gd name="connsiteY4" fmla="*/ 0 h 845820"/>
              <a:gd name="connsiteX0" fmla="*/ 0 w 1645920"/>
              <a:gd name="connsiteY0" fmla="*/ 38632 h 853972"/>
              <a:gd name="connsiteX1" fmla="*/ 472440 w 1645920"/>
              <a:gd name="connsiteY1" fmla="*/ 442492 h 853972"/>
              <a:gd name="connsiteX2" fmla="*/ 922020 w 1645920"/>
              <a:gd name="connsiteY2" fmla="*/ 853972 h 853972"/>
              <a:gd name="connsiteX3" fmla="*/ 1318260 w 1645920"/>
              <a:gd name="connsiteY3" fmla="*/ 442492 h 853972"/>
              <a:gd name="connsiteX4" fmla="*/ 1645920 w 1645920"/>
              <a:gd name="connsiteY4" fmla="*/ 8152 h 853972"/>
              <a:gd name="connsiteX0" fmla="*/ 0 w 1645920"/>
              <a:gd name="connsiteY0" fmla="*/ 38217 h 853557"/>
              <a:gd name="connsiteX1" fmla="*/ 472440 w 1645920"/>
              <a:gd name="connsiteY1" fmla="*/ 442077 h 853557"/>
              <a:gd name="connsiteX2" fmla="*/ 922020 w 1645920"/>
              <a:gd name="connsiteY2" fmla="*/ 853557 h 853557"/>
              <a:gd name="connsiteX3" fmla="*/ 1318260 w 1645920"/>
              <a:gd name="connsiteY3" fmla="*/ 442077 h 853557"/>
              <a:gd name="connsiteX4" fmla="*/ 1645920 w 1645920"/>
              <a:gd name="connsiteY4" fmla="*/ 7737 h 853557"/>
              <a:gd name="connsiteX0" fmla="*/ 0 w 1645920"/>
              <a:gd name="connsiteY0" fmla="*/ 38217 h 853557"/>
              <a:gd name="connsiteX1" fmla="*/ 472440 w 1645920"/>
              <a:gd name="connsiteY1" fmla="*/ 442077 h 853557"/>
              <a:gd name="connsiteX2" fmla="*/ 922020 w 1645920"/>
              <a:gd name="connsiteY2" fmla="*/ 853557 h 853557"/>
              <a:gd name="connsiteX3" fmla="*/ 1318260 w 1645920"/>
              <a:gd name="connsiteY3" fmla="*/ 442077 h 853557"/>
              <a:gd name="connsiteX4" fmla="*/ 1645920 w 1645920"/>
              <a:gd name="connsiteY4" fmla="*/ 7737 h 853557"/>
              <a:gd name="connsiteX0" fmla="*/ 0 w 1645920"/>
              <a:gd name="connsiteY0" fmla="*/ 38217 h 853557"/>
              <a:gd name="connsiteX1" fmla="*/ 472440 w 1645920"/>
              <a:gd name="connsiteY1" fmla="*/ 442077 h 853557"/>
              <a:gd name="connsiteX2" fmla="*/ 922020 w 1645920"/>
              <a:gd name="connsiteY2" fmla="*/ 853557 h 853557"/>
              <a:gd name="connsiteX3" fmla="*/ 1318260 w 1645920"/>
              <a:gd name="connsiteY3" fmla="*/ 442077 h 853557"/>
              <a:gd name="connsiteX4" fmla="*/ 1645920 w 1645920"/>
              <a:gd name="connsiteY4" fmla="*/ 7737 h 853557"/>
              <a:gd name="connsiteX0" fmla="*/ 0 w 1645920"/>
              <a:gd name="connsiteY0" fmla="*/ 38217 h 853557"/>
              <a:gd name="connsiteX1" fmla="*/ 472440 w 1645920"/>
              <a:gd name="connsiteY1" fmla="*/ 442077 h 853557"/>
              <a:gd name="connsiteX2" fmla="*/ 922020 w 1645920"/>
              <a:gd name="connsiteY2" fmla="*/ 853557 h 853557"/>
              <a:gd name="connsiteX3" fmla="*/ 1286593 w 1645920"/>
              <a:gd name="connsiteY3" fmla="*/ 442077 h 853557"/>
              <a:gd name="connsiteX4" fmla="*/ 1645920 w 1645920"/>
              <a:gd name="connsiteY4" fmla="*/ 7737 h 853557"/>
              <a:gd name="connsiteX0" fmla="*/ 0 w 1622169"/>
              <a:gd name="connsiteY0" fmla="*/ 15233 h 830573"/>
              <a:gd name="connsiteX1" fmla="*/ 472440 w 1622169"/>
              <a:gd name="connsiteY1" fmla="*/ 419093 h 830573"/>
              <a:gd name="connsiteX2" fmla="*/ 922020 w 1622169"/>
              <a:gd name="connsiteY2" fmla="*/ 830573 h 830573"/>
              <a:gd name="connsiteX3" fmla="*/ 1286593 w 1622169"/>
              <a:gd name="connsiteY3" fmla="*/ 419093 h 830573"/>
              <a:gd name="connsiteX4" fmla="*/ 1622169 w 1622169"/>
              <a:gd name="connsiteY4" fmla="*/ 8566 h 830573"/>
              <a:gd name="connsiteX0" fmla="*/ 0 w 1622169"/>
              <a:gd name="connsiteY0" fmla="*/ 6667 h 822007"/>
              <a:gd name="connsiteX1" fmla="*/ 472440 w 1622169"/>
              <a:gd name="connsiteY1" fmla="*/ 410527 h 822007"/>
              <a:gd name="connsiteX2" fmla="*/ 922020 w 1622169"/>
              <a:gd name="connsiteY2" fmla="*/ 822007 h 822007"/>
              <a:gd name="connsiteX3" fmla="*/ 1286593 w 1622169"/>
              <a:gd name="connsiteY3" fmla="*/ 410527 h 822007"/>
              <a:gd name="connsiteX4" fmla="*/ 1622169 w 1622169"/>
              <a:gd name="connsiteY4" fmla="*/ 0 h 822007"/>
              <a:gd name="connsiteX0" fmla="*/ 0 w 1622169"/>
              <a:gd name="connsiteY0" fmla="*/ 6667 h 822007"/>
              <a:gd name="connsiteX1" fmla="*/ 472440 w 1622169"/>
              <a:gd name="connsiteY1" fmla="*/ 410527 h 822007"/>
              <a:gd name="connsiteX2" fmla="*/ 922020 w 1622169"/>
              <a:gd name="connsiteY2" fmla="*/ 822007 h 822007"/>
              <a:gd name="connsiteX3" fmla="*/ 1286593 w 1622169"/>
              <a:gd name="connsiteY3" fmla="*/ 410527 h 822007"/>
              <a:gd name="connsiteX4" fmla="*/ 1622169 w 1622169"/>
              <a:gd name="connsiteY4" fmla="*/ 0 h 822007"/>
              <a:gd name="connsiteX0" fmla="*/ 0 w 1669670"/>
              <a:gd name="connsiteY0" fmla="*/ 11430 h 826770"/>
              <a:gd name="connsiteX1" fmla="*/ 472440 w 1669670"/>
              <a:gd name="connsiteY1" fmla="*/ 415290 h 826770"/>
              <a:gd name="connsiteX2" fmla="*/ 922020 w 1669670"/>
              <a:gd name="connsiteY2" fmla="*/ 826770 h 826770"/>
              <a:gd name="connsiteX3" fmla="*/ 1286593 w 1669670"/>
              <a:gd name="connsiteY3" fmla="*/ 415290 h 826770"/>
              <a:gd name="connsiteX4" fmla="*/ 1669670 w 1669670"/>
              <a:gd name="connsiteY4" fmla="*/ 0 h 826770"/>
              <a:gd name="connsiteX0" fmla="*/ 0 w 1669670"/>
              <a:gd name="connsiteY0" fmla="*/ 12763 h 828103"/>
              <a:gd name="connsiteX1" fmla="*/ 472440 w 1669670"/>
              <a:gd name="connsiteY1" fmla="*/ 416623 h 828103"/>
              <a:gd name="connsiteX2" fmla="*/ 922020 w 1669670"/>
              <a:gd name="connsiteY2" fmla="*/ 828103 h 828103"/>
              <a:gd name="connsiteX3" fmla="*/ 1286593 w 1669670"/>
              <a:gd name="connsiteY3" fmla="*/ 416623 h 828103"/>
              <a:gd name="connsiteX4" fmla="*/ 1669670 w 1669670"/>
              <a:gd name="connsiteY4" fmla="*/ 1333 h 828103"/>
              <a:gd name="connsiteX0" fmla="*/ 0 w 1669670"/>
              <a:gd name="connsiteY0" fmla="*/ 12803 h 828143"/>
              <a:gd name="connsiteX1" fmla="*/ 472440 w 1669670"/>
              <a:gd name="connsiteY1" fmla="*/ 416663 h 828143"/>
              <a:gd name="connsiteX2" fmla="*/ 922020 w 1669670"/>
              <a:gd name="connsiteY2" fmla="*/ 828143 h 828143"/>
              <a:gd name="connsiteX3" fmla="*/ 1286593 w 1669670"/>
              <a:gd name="connsiteY3" fmla="*/ 416663 h 828143"/>
              <a:gd name="connsiteX4" fmla="*/ 1669670 w 1669670"/>
              <a:gd name="connsiteY4" fmla="*/ 1373 h 828143"/>
              <a:gd name="connsiteX0" fmla="*/ 0 w 1669670"/>
              <a:gd name="connsiteY0" fmla="*/ 12803 h 828143"/>
              <a:gd name="connsiteX1" fmla="*/ 472440 w 1669670"/>
              <a:gd name="connsiteY1" fmla="*/ 416663 h 828143"/>
              <a:gd name="connsiteX2" fmla="*/ 922020 w 1669670"/>
              <a:gd name="connsiteY2" fmla="*/ 828143 h 828143"/>
              <a:gd name="connsiteX3" fmla="*/ 1286593 w 1669670"/>
              <a:gd name="connsiteY3" fmla="*/ 416663 h 828143"/>
              <a:gd name="connsiteX4" fmla="*/ 1669670 w 1669670"/>
              <a:gd name="connsiteY4" fmla="*/ 1373 h 828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9670" h="828143">
                <a:moveTo>
                  <a:pt x="0" y="12803"/>
                </a:moveTo>
                <a:cubicBezTo>
                  <a:pt x="235585" y="-13232"/>
                  <a:pt x="364490" y="204573"/>
                  <a:pt x="472440" y="416663"/>
                </a:cubicBezTo>
                <a:cubicBezTo>
                  <a:pt x="580390" y="628753"/>
                  <a:pt x="786328" y="828143"/>
                  <a:pt x="922020" y="828143"/>
                </a:cubicBezTo>
                <a:cubicBezTo>
                  <a:pt x="1057712" y="828143"/>
                  <a:pt x="1213445" y="573508"/>
                  <a:pt x="1286593" y="416663"/>
                </a:cubicBezTo>
                <a:cubicBezTo>
                  <a:pt x="1347866" y="269343"/>
                  <a:pt x="1310846" y="-22439"/>
                  <a:pt x="1669670" y="1373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663613" y="2490471"/>
                <a:ext cx="2848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e.g.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150°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30°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613" y="2490471"/>
                <a:ext cx="2848188" cy="338554"/>
              </a:xfrm>
              <a:prstGeom prst="rect">
                <a:avLst/>
              </a:prstGeom>
              <a:blipFill>
                <a:blip r:embed="rId11"/>
                <a:stretch>
                  <a:fillRect l="-889" t="-7407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2674463" y="3655223"/>
                <a:ext cx="288813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e.g.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330°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30°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463" y="3655223"/>
                <a:ext cx="2888139" cy="338554"/>
              </a:xfrm>
              <a:prstGeom prst="rect">
                <a:avLst/>
              </a:prstGeom>
              <a:blipFill>
                <a:blip r:embed="rId12"/>
                <a:stretch>
                  <a:fillRect l="-1310" t="-7407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2341332" y="4183051"/>
                <a:ext cx="415200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𝑠𝑖𝑛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2400" dirty="0"/>
                  <a:t> repeat every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endParaRPr lang="en-GB" sz="2400" dirty="0"/>
              </a:p>
              <a:p>
                <a:r>
                  <a:rPr lang="en-GB" sz="2400" dirty="0"/>
                  <a:t>but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2400" dirty="0"/>
                  <a:t> every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332" y="4183051"/>
                <a:ext cx="4152007" cy="830997"/>
              </a:xfrm>
              <a:prstGeom prst="rect">
                <a:avLst/>
              </a:prstGeom>
              <a:blipFill>
                <a:blip r:embed="rId13"/>
                <a:stretch>
                  <a:fillRect l="-2439" t="-4478" b="-134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>
            <a:off x="1952576" y="4343155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2682733" y="4956878"/>
                <a:ext cx="288813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e.g.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390°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30°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733" y="4956878"/>
                <a:ext cx="2888139" cy="338554"/>
              </a:xfrm>
              <a:prstGeom prst="rect">
                <a:avLst/>
              </a:prstGeom>
              <a:blipFill>
                <a:blip r:embed="rId14"/>
                <a:stretch>
                  <a:fillRect l="-1316" t="-7143" b="-17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/>
          <p:cNvCxnSpPr/>
          <p:nvPr/>
        </p:nvCxnSpPr>
        <p:spPr>
          <a:xfrm flipH="1" flipV="1">
            <a:off x="6580053" y="4213729"/>
            <a:ext cx="6871" cy="955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6577866" y="4724400"/>
            <a:ext cx="3080489" cy="21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058101" y="4192609"/>
                <a:ext cx="872899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05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05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051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05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051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101" y="4192609"/>
                <a:ext cx="872899" cy="2540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6556380" y="4720115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380" y="4720115"/>
                <a:ext cx="499517" cy="25404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7771224" y="4693127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360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224" y="4693127"/>
                <a:ext cx="499517" cy="25404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: Shape 64"/>
          <p:cNvSpPr/>
          <p:nvPr/>
        </p:nvSpPr>
        <p:spPr>
          <a:xfrm>
            <a:off x="6591180" y="4349999"/>
            <a:ext cx="1463799" cy="796676"/>
          </a:xfrm>
          <a:custGeom>
            <a:avLst/>
            <a:gdLst>
              <a:gd name="connsiteX0" fmla="*/ 0 w 3476625"/>
              <a:gd name="connsiteY0" fmla="*/ 1152525 h 2362209"/>
              <a:gd name="connsiteX1" fmla="*/ 885825 w 3476625"/>
              <a:gd name="connsiteY1" fmla="*/ 0 h 2362209"/>
              <a:gd name="connsiteX2" fmla="*/ 1752600 w 3476625"/>
              <a:gd name="connsiteY2" fmla="*/ 1152525 h 2362209"/>
              <a:gd name="connsiteX3" fmla="*/ 2657475 w 3476625"/>
              <a:gd name="connsiteY3" fmla="*/ 2362200 h 2362209"/>
              <a:gd name="connsiteX4" fmla="*/ 3476625 w 3476625"/>
              <a:gd name="connsiteY4" fmla="*/ 1133475 h 2362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76625" h="2362209">
                <a:moveTo>
                  <a:pt x="0" y="1152525"/>
                </a:moveTo>
                <a:cubicBezTo>
                  <a:pt x="296862" y="576262"/>
                  <a:pt x="593725" y="0"/>
                  <a:pt x="885825" y="0"/>
                </a:cubicBezTo>
                <a:cubicBezTo>
                  <a:pt x="1177925" y="0"/>
                  <a:pt x="1752600" y="1152525"/>
                  <a:pt x="1752600" y="1152525"/>
                </a:cubicBezTo>
                <a:cubicBezTo>
                  <a:pt x="2047875" y="1546225"/>
                  <a:pt x="2370138" y="2365375"/>
                  <a:pt x="2657475" y="2362200"/>
                </a:cubicBezTo>
                <a:cubicBezTo>
                  <a:pt x="2944812" y="2359025"/>
                  <a:pt x="3210718" y="1746250"/>
                  <a:pt x="3476625" y="113347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Freeform: Shape 65"/>
          <p:cNvSpPr/>
          <p:nvPr/>
        </p:nvSpPr>
        <p:spPr>
          <a:xfrm>
            <a:off x="8055981" y="4349999"/>
            <a:ext cx="1463799" cy="796676"/>
          </a:xfrm>
          <a:custGeom>
            <a:avLst/>
            <a:gdLst>
              <a:gd name="connsiteX0" fmla="*/ 0 w 3476625"/>
              <a:gd name="connsiteY0" fmla="*/ 1152525 h 2362209"/>
              <a:gd name="connsiteX1" fmla="*/ 885825 w 3476625"/>
              <a:gd name="connsiteY1" fmla="*/ 0 h 2362209"/>
              <a:gd name="connsiteX2" fmla="*/ 1752600 w 3476625"/>
              <a:gd name="connsiteY2" fmla="*/ 1152525 h 2362209"/>
              <a:gd name="connsiteX3" fmla="*/ 2657475 w 3476625"/>
              <a:gd name="connsiteY3" fmla="*/ 2362200 h 2362209"/>
              <a:gd name="connsiteX4" fmla="*/ 3476625 w 3476625"/>
              <a:gd name="connsiteY4" fmla="*/ 1133475 h 2362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76625" h="2362209">
                <a:moveTo>
                  <a:pt x="0" y="1152525"/>
                </a:moveTo>
                <a:cubicBezTo>
                  <a:pt x="296862" y="576262"/>
                  <a:pt x="593725" y="0"/>
                  <a:pt x="885825" y="0"/>
                </a:cubicBezTo>
                <a:cubicBezTo>
                  <a:pt x="1177925" y="0"/>
                  <a:pt x="1752600" y="1152525"/>
                  <a:pt x="1752600" y="1152525"/>
                </a:cubicBezTo>
                <a:cubicBezTo>
                  <a:pt x="2047875" y="1546225"/>
                  <a:pt x="2370138" y="2365375"/>
                  <a:pt x="2657475" y="2362200"/>
                </a:cubicBezTo>
                <a:cubicBezTo>
                  <a:pt x="2944812" y="2359025"/>
                  <a:pt x="3210718" y="1746250"/>
                  <a:pt x="3476625" y="113347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027494" y="4696694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390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494" y="4696694"/>
                <a:ext cx="499517" cy="25404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Connector 69"/>
          <p:cNvCxnSpPr/>
          <p:nvPr/>
        </p:nvCxnSpPr>
        <p:spPr>
          <a:xfrm>
            <a:off x="6796614" y="4447932"/>
            <a:ext cx="4241" cy="290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8263054" y="4453120"/>
            <a:ext cx="4241" cy="290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9203182" y="4706228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720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182" y="4706228"/>
                <a:ext cx="499517" cy="25404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2339508" y="5587406"/>
                <a:ext cx="4152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90°−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2400" dirty="0"/>
                  <a:t> </a:t>
                </a: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508" y="5587406"/>
                <a:ext cx="4152007" cy="461665"/>
              </a:xfrm>
              <a:prstGeom prst="rect">
                <a:avLst/>
              </a:prstGeom>
              <a:blipFill>
                <a:blip r:embed="rId20"/>
                <a:stretch>
                  <a:fillRect l="-3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/>
          <p:cNvSpPr/>
          <p:nvPr/>
        </p:nvSpPr>
        <p:spPr>
          <a:xfrm>
            <a:off x="1948061" y="5674219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17803" y="5523429"/>
            <a:ext cx="37336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Remember from the previous chapter that “cosine” by definition is the sine of the “complementary” angle.</a:t>
            </a:r>
          </a:p>
          <a:p>
            <a:r>
              <a:rPr lang="en-GB" sz="1200" dirty="0"/>
              <a:t>This was/is never covered in the textbook but caught everyone by surprise when it came up in a C3 exam.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2640655" y="6031667"/>
                <a:ext cx="288813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e.g.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50°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40°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655" y="6031667"/>
                <a:ext cx="2888139" cy="338554"/>
              </a:xfrm>
              <a:prstGeom prst="rect">
                <a:avLst/>
              </a:prstGeom>
              <a:blipFill>
                <a:blip r:embed="rId21"/>
                <a:stretch>
                  <a:fillRect l="-873" t="-3571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22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3" grpId="0" animBg="1"/>
      <p:bldP spid="15" grpId="0"/>
      <p:bldP spid="16" grpId="0"/>
      <p:bldP spid="17" grpId="0"/>
      <p:bldP spid="18" grpId="0"/>
      <p:bldP spid="28" grpId="0"/>
      <p:bldP spid="29" grpId="0"/>
      <p:bldP spid="30" grpId="0" animBg="1"/>
      <p:bldP spid="34" grpId="0"/>
      <p:bldP spid="35" grpId="0"/>
      <p:bldP spid="36" grpId="0"/>
      <p:bldP spid="37" grpId="0"/>
      <p:bldP spid="44" grpId="0" animBg="1"/>
      <p:bldP spid="50" grpId="0"/>
      <p:bldP spid="51" grpId="0"/>
      <p:bldP spid="52" grpId="0"/>
      <p:bldP spid="53" grpId="0" animBg="1"/>
      <p:bldP spid="54" grpId="0"/>
      <p:bldP spid="58" grpId="0"/>
      <p:bldP spid="59" grpId="0"/>
      <p:bldP spid="60" grpId="0"/>
      <p:bldP spid="65" grpId="0" animBg="1"/>
      <p:bldP spid="66" grpId="0" animBg="1"/>
      <p:bldP spid="68" grpId="0"/>
      <p:bldP spid="75" grpId="0"/>
      <p:bldP spid="76" grpId="0"/>
      <p:bldP spid="77" grpId="0" animBg="1"/>
      <p:bldP spid="79" grpId="0"/>
      <p:bldP spid="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19536" y="836712"/>
            <a:ext cx="756084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Without a calculator, work out the value of each below.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788922" y="1658779"/>
                <a:ext cx="2677060" cy="206210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Use the ‘laws’ where you can, but otherwise just draw out a quick sketch of the graph.</a:t>
                </a:r>
              </a:p>
              <a:p>
                <a:endParaRPr lang="en-GB" sz="1600" dirty="0"/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180−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360−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600" dirty="0"/>
                  <a:t> repeat every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600" dirty="0"/>
                  <a:t> but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600" dirty="0"/>
                  <a:t> every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922" y="1658779"/>
                <a:ext cx="2677060" cy="2062103"/>
              </a:xfrm>
              <a:prstGeom prst="rect">
                <a:avLst/>
              </a:prstGeom>
              <a:blipFill>
                <a:blip r:embed="rId2"/>
                <a:stretch>
                  <a:fillRect l="-935" r="-935" b="-24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01169" y="1849955"/>
                <a:ext cx="3522087" cy="3650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225°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210°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150°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300°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𝟔𝟎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−45°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750°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120°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𝟔𝟎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169" y="1849955"/>
                <a:ext cx="3522087" cy="36506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17692" y="1372968"/>
                <a:ext cx="17281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200" dirty="0"/>
                  <a:t> repeats every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r>
                  <a:rPr lang="en-GB" sz="1200" dirty="0"/>
                  <a:t> so can subtract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692" y="1372968"/>
                <a:ext cx="1728192" cy="461665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4329062" y="1701102"/>
            <a:ext cx="481399" cy="10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63952" y="2495491"/>
                <a:ext cx="17281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For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𝑠𝑖𝑛</m:t>
                    </m:r>
                  </m:oMath>
                </a14:m>
                <a:r>
                  <a:rPr lang="en-GB" sz="1200" dirty="0"/>
                  <a:t> we can subtract from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2495491"/>
                <a:ext cx="1728192" cy="461665"/>
              </a:xfrm>
              <a:prstGeom prst="rect">
                <a:avLst/>
              </a:prstGeom>
              <a:blipFill>
                <a:blip r:embed="rId5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4958316" y="2722646"/>
            <a:ext cx="623472" cy="190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84645" y="3259217"/>
                <a:ext cx="17281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For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200" dirty="0"/>
                  <a:t> we can subtract from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645" y="3259217"/>
                <a:ext cx="1728192" cy="461665"/>
              </a:xfrm>
              <a:prstGeom prst="rect">
                <a:avLst/>
              </a:prstGeom>
              <a:blipFill>
                <a:blip r:embed="rId6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cxnSpLocks/>
          </p:cNvCxnSpPr>
          <p:nvPr/>
        </p:nvCxnSpPr>
        <p:spPr>
          <a:xfrm flipH="1" flipV="1">
            <a:off x="4958317" y="3496669"/>
            <a:ext cx="669853" cy="86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79977" y="3903126"/>
            <a:ext cx="3033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 have to resort to a sketch for this one.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992114" y="4142494"/>
                <a:ext cx="2561589" cy="170816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050" b="1" dirty="0"/>
                  <a:t>NOTE: in </a:t>
                </a:r>
                <a:r>
                  <a:rPr lang="en-GB" sz="1050" dirty="0"/>
                  <a:t>general,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05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050" i="1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05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050" dirty="0"/>
                  <a:t>.</a:t>
                </a:r>
              </a:p>
              <a:p>
                <a:r>
                  <a:rPr lang="en-GB" sz="1050" dirty="0"/>
                  <a:t>Even more generally, a function </a:t>
                </a:r>
                <a14:m>
                  <m:oMath xmlns:m="http://schemas.openxmlformats.org/officeDocument/2006/math">
                    <m:r>
                      <a:rPr lang="en-GB" sz="105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1050" dirty="0"/>
                  <a:t> is known as an ‘</a:t>
                </a:r>
                <a:r>
                  <a:rPr lang="en-GB" sz="1050" b="1" u="sng" dirty="0">
                    <a:solidFill>
                      <a:srgbClr val="FFFF00"/>
                    </a:solidFill>
                  </a:rPr>
                  <a:t>odd function</a:t>
                </a:r>
                <a:r>
                  <a:rPr lang="en-GB" sz="1050" dirty="0"/>
                  <a:t>’ if </a:t>
                </a:r>
                <a14:m>
                  <m:oMath xmlns:m="http://schemas.openxmlformats.org/officeDocument/2006/math">
                    <m:r>
                      <a:rPr lang="en-GB" sz="105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05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050" dirty="0"/>
                  <a:t>. </a:t>
                </a:r>
              </a:p>
              <a:p>
                <a14:m>
                  <m:oMath xmlns:m="http://schemas.openxmlformats.org/officeDocument/2006/math">
                    <m:r>
                      <a:rPr lang="en-GB" sz="1050" i="1" dirty="0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050" dirty="0"/>
                  <a:t> is similarly ‘odd’ 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05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050" i="1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05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050" dirty="0"/>
                  <a:t>.</a:t>
                </a:r>
              </a:p>
              <a:p>
                <a:endParaRPr lang="en-GB" sz="1050" dirty="0"/>
              </a:p>
              <a:p>
                <a:r>
                  <a:rPr lang="en-GB" sz="1050" dirty="0"/>
                  <a:t>A function is </a:t>
                </a:r>
                <a:r>
                  <a:rPr lang="en-GB" sz="1050" b="1" u="sng" dirty="0">
                    <a:solidFill>
                      <a:srgbClr val="FFFF00"/>
                    </a:solidFill>
                  </a:rPr>
                  <a:t>even</a:t>
                </a:r>
                <a:r>
                  <a:rPr lang="en-GB" sz="1050" dirty="0"/>
                  <a:t> if </a:t>
                </a:r>
                <a14:m>
                  <m:oMath xmlns:m="http://schemas.openxmlformats.org/officeDocument/2006/math">
                    <m:r>
                      <a:rPr lang="en-GB" sz="105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05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050" dirty="0"/>
                  <a:t>. Examples are </a:t>
                </a:r>
                <a14:m>
                  <m:oMath xmlns:m="http://schemas.openxmlformats.org/officeDocument/2006/math">
                    <m:r>
                      <a:rPr lang="en-GB" sz="105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05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05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050" dirty="0"/>
                  <a:t> and </a:t>
                </a:r>
                <a14:m>
                  <m:oMath xmlns:m="http://schemas.openxmlformats.org/officeDocument/2006/math">
                    <m:r>
                      <a:rPr lang="en-GB" sz="105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05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050" dirty="0"/>
                  <a:t> 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05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05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05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05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05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050" dirty="0"/>
                  <a:t>. Not in the exam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114" y="4142494"/>
                <a:ext cx="2561589" cy="1708160"/>
              </a:xfrm>
              <a:prstGeom prst="rect">
                <a:avLst/>
              </a:prstGeom>
              <a:blipFill>
                <a:blip r:embed="rId7"/>
                <a:stretch>
                  <a:fillRect b="-7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/>
          <p:cNvGrpSpPr/>
          <p:nvPr/>
        </p:nvGrpSpPr>
        <p:grpSpPr>
          <a:xfrm>
            <a:off x="5945709" y="4133247"/>
            <a:ext cx="2074963" cy="1069287"/>
            <a:chOff x="4421705" y="4133244"/>
            <a:chExt cx="2074962" cy="1069287"/>
          </a:xfrm>
        </p:grpSpPr>
        <p:cxnSp>
          <p:nvCxnSpPr>
            <p:cNvPr id="18" name="Straight Arrow Connector 17"/>
            <p:cNvCxnSpPr/>
            <p:nvPr/>
          </p:nvCxnSpPr>
          <p:spPr>
            <a:xfrm flipH="1" flipV="1">
              <a:off x="5235252" y="4201987"/>
              <a:ext cx="6871" cy="9555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4421705" y="4717423"/>
              <a:ext cx="1743075" cy="47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5623769" y="4133244"/>
                  <a:ext cx="872898" cy="2540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051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051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GB" sz="105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051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105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051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3769" y="4133244"/>
                  <a:ext cx="872898" cy="25404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4726212" y="4671863"/>
                  <a:ext cx="499517" cy="2540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051" i="1">
                            <a:latin typeface="Cambria Math" panose="02040503050406030204" pitchFamily="18" charset="0"/>
                          </a:rPr>
                          <m:t>−45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6212" y="4671863"/>
                  <a:ext cx="499517" cy="25404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Freeform: Shape 22"/>
            <p:cNvSpPr/>
            <p:nvPr/>
          </p:nvSpPr>
          <p:spPr>
            <a:xfrm>
              <a:off x="4507920" y="4711009"/>
              <a:ext cx="725884" cy="414401"/>
            </a:xfrm>
            <a:custGeom>
              <a:avLst/>
              <a:gdLst>
                <a:gd name="connsiteX0" fmla="*/ 0 w 3476625"/>
                <a:gd name="connsiteY0" fmla="*/ 1152525 h 2362209"/>
                <a:gd name="connsiteX1" fmla="*/ 885825 w 3476625"/>
                <a:gd name="connsiteY1" fmla="*/ 0 h 2362209"/>
                <a:gd name="connsiteX2" fmla="*/ 1752600 w 3476625"/>
                <a:gd name="connsiteY2" fmla="*/ 1152525 h 2362209"/>
                <a:gd name="connsiteX3" fmla="*/ 2657475 w 3476625"/>
                <a:gd name="connsiteY3" fmla="*/ 2362200 h 2362209"/>
                <a:gd name="connsiteX4" fmla="*/ 3476625 w 3476625"/>
                <a:gd name="connsiteY4" fmla="*/ 1133475 h 2362209"/>
                <a:gd name="connsiteX0" fmla="*/ 0 w 2590800"/>
                <a:gd name="connsiteY0" fmla="*/ 0 h 2362209"/>
                <a:gd name="connsiteX1" fmla="*/ 866775 w 2590800"/>
                <a:gd name="connsiteY1" fmla="*/ 1152525 h 2362209"/>
                <a:gd name="connsiteX2" fmla="*/ 1771650 w 2590800"/>
                <a:gd name="connsiteY2" fmla="*/ 2362200 h 2362209"/>
                <a:gd name="connsiteX3" fmla="*/ 2590800 w 2590800"/>
                <a:gd name="connsiteY3" fmla="*/ 1133475 h 2362209"/>
                <a:gd name="connsiteX0" fmla="*/ 0 w 1724025"/>
                <a:gd name="connsiteY0" fmla="*/ 19049 h 1228733"/>
                <a:gd name="connsiteX1" fmla="*/ 904875 w 1724025"/>
                <a:gd name="connsiteY1" fmla="*/ 1228724 h 1228733"/>
                <a:gd name="connsiteX2" fmla="*/ 1724025 w 1724025"/>
                <a:gd name="connsiteY2" fmla="*/ -1 h 1228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24025" h="1228733">
                  <a:moveTo>
                    <a:pt x="0" y="19049"/>
                  </a:moveTo>
                  <a:cubicBezTo>
                    <a:pt x="295275" y="412749"/>
                    <a:pt x="617538" y="1231899"/>
                    <a:pt x="904875" y="1228724"/>
                  </a:cubicBezTo>
                  <a:cubicBezTo>
                    <a:pt x="1192212" y="1225549"/>
                    <a:pt x="1458118" y="612774"/>
                    <a:pt x="1724025" y="-1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5234804" y="4328733"/>
              <a:ext cx="737915" cy="388699"/>
            </a:xfrm>
            <a:custGeom>
              <a:avLst/>
              <a:gdLst>
                <a:gd name="connsiteX0" fmla="*/ 0 w 3476625"/>
                <a:gd name="connsiteY0" fmla="*/ 1152525 h 2362209"/>
                <a:gd name="connsiteX1" fmla="*/ 885825 w 3476625"/>
                <a:gd name="connsiteY1" fmla="*/ 0 h 2362209"/>
                <a:gd name="connsiteX2" fmla="*/ 1752600 w 3476625"/>
                <a:gd name="connsiteY2" fmla="*/ 1152525 h 2362209"/>
                <a:gd name="connsiteX3" fmla="*/ 2657475 w 3476625"/>
                <a:gd name="connsiteY3" fmla="*/ 2362200 h 2362209"/>
                <a:gd name="connsiteX4" fmla="*/ 3476625 w 3476625"/>
                <a:gd name="connsiteY4" fmla="*/ 1133475 h 2362209"/>
                <a:gd name="connsiteX0" fmla="*/ 0 w 2657475"/>
                <a:gd name="connsiteY0" fmla="*/ 1152525 h 2362209"/>
                <a:gd name="connsiteX1" fmla="*/ 885825 w 2657475"/>
                <a:gd name="connsiteY1" fmla="*/ 0 h 2362209"/>
                <a:gd name="connsiteX2" fmla="*/ 1752600 w 2657475"/>
                <a:gd name="connsiteY2" fmla="*/ 1152525 h 2362209"/>
                <a:gd name="connsiteX3" fmla="*/ 2657475 w 2657475"/>
                <a:gd name="connsiteY3" fmla="*/ 2362200 h 2362209"/>
                <a:gd name="connsiteX0" fmla="*/ 0 w 1752600"/>
                <a:gd name="connsiteY0" fmla="*/ 1152525 h 1152524"/>
                <a:gd name="connsiteX1" fmla="*/ 885825 w 1752600"/>
                <a:gd name="connsiteY1" fmla="*/ 0 h 1152524"/>
                <a:gd name="connsiteX2" fmla="*/ 1752600 w 1752600"/>
                <a:gd name="connsiteY2" fmla="*/ 1152525 h 1152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2600" h="1152524">
                  <a:moveTo>
                    <a:pt x="0" y="1152525"/>
                  </a:moveTo>
                  <a:cubicBezTo>
                    <a:pt x="296862" y="576262"/>
                    <a:pt x="593725" y="0"/>
                    <a:pt x="885825" y="0"/>
                  </a:cubicBezTo>
                  <a:cubicBezTo>
                    <a:pt x="1177925" y="0"/>
                    <a:pt x="1752600" y="1152525"/>
                    <a:pt x="1752600" y="1152525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5206318" y="4675428"/>
                  <a:ext cx="499517" cy="2540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051" i="1">
                            <a:latin typeface="Cambria Math" panose="02040503050406030204" pitchFamily="18" charset="0"/>
                          </a:rPr>
                          <m:t>45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6318" y="4675428"/>
                  <a:ext cx="499517" cy="25404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Connector 25"/>
            <p:cNvCxnSpPr/>
            <p:nvPr/>
          </p:nvCxnSpPr>
          <p:spPr>
            <a:xfrm>
              <a:off x="5046999" y="4726703"/>
              <a:ext cx="4241" cy="2907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5441877" y="4431852"/>
              <a:ext cx="4241" cy="2907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6084827" y="4585903"/>
                  <a:ext cx="298076" cy="2540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051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4827" y="4585903"/>
                  <a:ext cx="298076" cy="25404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/>
            <p:cNvCxnSpPr/>
            <p:nvPr/>
          </p:nvCxnSpPr>
          <p:spPr>
            <a:xfrm flipH="1">
              <a:off x="5231330" y="4436435"/>
              <a:ext cx="204787" cy="4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4909318" y="4303340"/>
                  <a:ext cx="499517" cy="3148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7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GB" sz="7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9318" y="4303340"/>
                  <a:ext cx="499517" cy="31489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4889712" y="4887637"/>
                  <a:ext cx="499517" cy="3148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7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sz="7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GB" sz="7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9712" y="4887637"/>
                  <a:ext cx="499517" cy="31489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Connector 37"/>
            <p:cNvCxnSpPr/>
            <p:nvPr/>
          </p:nvCxnSpPr>
          <p:spPr>
            <a:xfrm>
              <a:off x="5057498" y="5012698"/>
              <a:ext cx="1785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Arrow Connector 41"/>
          <p:cNvCxnSpPr/>
          <p:nvPr/>
        </p:nvCxnSpPr>
        <p:spPr>
          <a:xfrm flipH="1" flipV="1">
            <a:off x="5270056" y="4007031"/>
            <a:ext cx="570767" cy="86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 flipV="1">
            <a:off x="5209824" y="5344364"/>
            <a:ext cx="365185" cy="418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557150" y="5462494"/>
            <a:ext cx="2078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Again, let’s just use a graph.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 flipV="1">
            <a:off x="6025720" y="5777584"/>
            <a:ext cx="6871" cy="955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5840823" y="6283494"/>
            <a:ext cx="1743075" cy="4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7042883" y="5699313"/>
                <a:ext cx="872899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05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05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051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05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051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883" y="5699313"/>
                <a:ext cx="872899" cy="2540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235817" y="6228407"/>
                <a:ext cx="2935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i="1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817" y="6228407"/>
                <a:ext cx="293575" cy="2308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/>
          <p:cNvCxnSpPr/>
          <p:nvPr/>
        </p:nvCxnSpPr>
        <p:spPr>
          <a:xfrm>
            <a:off x="6539934" y="6288013"/>
            <a:ext cx="1363" cy="234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7503942" y="6151972"/>
                <a:ext cx="298076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942" y="6151972"/>
                <a:ext cx="298076" cy="25404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/>
          <p:cNvCxnSpPr/>
          <p:nvPr/>
        </p:nvCxnSpPr>
        <p:spPr>
          <a:xfrm flipH="1">
            <a:off x="6029326" y="6031083"/>
            <a:ext cx="256788" cy="3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729644" y="5886174"/>
                <a:ext cx="499517" cy="294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7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7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9644" y="5886174"/>
                <a:ext cx="499517" cy="29405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/>
          <p:cNvCxnSpPr/>
          <p:nvPr/>
        </p:nvCxnSpPr>
        <p:spPr>
          <a:xfrm flipV="1">
            <a:off x="6276587" y="6031707"/>
            <a:ext cx="388" cy="2517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reeform: Shape 61"/>
          <p:cNvSpPr/>
          <p:nvPr/>
        </p:nvSpPr>
        <p:spPr>
          <a:xfrm>
            <a:off x="6029328" y="5908659"/>
            <a:ext cx="1123951" cy="796963"/>
          </a:xfrm>
          <a:custGeom>
            <a:avLst/>
            <a:gdLst>
              <a:gd name="connsiteX0" fmla="*/ 0 w 1123950"/>
              <a:gd name="connsiteY0" fmla="*/ 0 h 796943"/>
              <a:gd name="connsiteX1" fmla="*/ 365125 w 1123950"/>
              <a:gd name="connsiteY1" fmla="*/ 384175 h 796943"/>
              <a:gd name="connsiteX2" fmla="*/ 752475 w 1123950"/>
              <a:gd name="connsiteY2" fmla="*/ 796925 h 796943"/>
              <a:gd name="connsiteX3" fmla="*/ 1123950 w 1123950"/>
              <a:gd name="connsiteY3" fmla="*/ 368300 h 796943"/>
              <a:gd name="connsiteX0" fmla="*/ 0 w 1123950"/>
              <a:gd name="connsiteY0" fmla="*/ 12 h 796955"/>
              <a:gd name="connsiteX1" fmla="*/ 365125 w 1123950"/>
              <a:gd name="connsiteY1" fmla="*/ 384187 h 796955"/>
              <a:gd name="connsiteX2" fmla="*/ 752475 w 1123950"/>
              <a:gd name="connsiteY2" fmla="*/ 796937 h 796955"/>
              <a:gd name="connsiteX3" fmla="*/ 1123950 w 1123950"/>
              <a:gd name="connsiteY3" fmla="*/ 368312 h 796955"/>
              <a:gd name="connsiteX0" fmla="*/ 0 w 1123950"/>
              <a:gd name="connsiteY0" fmla="*/ 17 h 796962"/>
              <a:gd name="connsiteX1" fmla="*/ 365125 w 1123950"/>
              <a:gd name="connsiteY1" fmla="*/ 384192 h 796962"/>
              <a:gd name="connsiteX2" fmla="*/ 752475 w 1123950"/>
              <a:gd name="connsiteY2" fmla="*/ 796942 h 796962"/>
              <a:gd name="connsiteX3" fmla="*/ 1123950 w 1123950"/>
              <a:gd name="connsiteY3" fmla="*/ 368317 h 796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950" h="796962">
                <a:moveTo>
                  <a:pt x="0" y="17"/>
                </a:moveTo>
                <a:cubicBezTo>
                  <a:pt x="280458" y="-2100"/>
                  <a:pt x="268817" y="186284"/>
                  <a:pt x="365125" y="384192"/>
                </a:cubicBezTo>
                <a:cubicBezTo>
                  <a:pt x="445058" y="548450"/>
                  <a:pt x="626004" y="799588"/>
                  <a:pt x="752475" y="796942"/>
                </a:cubicBezTo>
                <a:cubicBezTo>
                  <a:pt x="878946" y="794296"/>
                  <a:pt x="1001448" y="581306"/>
                  <a:pt x="1123950" y="368317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6581780" y="6231771"/>
                <a:ext cx="2935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i="1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780" y="6231771"/>
                <a:ext cx="293575" cy="230832"/>
              </a:xfrm>
              <a:prstGeom prst="rect">
                <a:avLst/>
              </a:prstGeom>
              <a:blipFill>
                <a:blip r:embed="rId18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6358040" y="6136499"/>
                <a:ext cx="29357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GB" sz="1200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040" y="6136499"/>
                <a:ext cx="293575" cy="21544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115052" y="6227661"/>
                <a:ext cx="29357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GB" sz="1200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052" y="6227661"/>
                <a:ext cx="293575" cy="21544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7887849" y="5970713"/>
                <a:ext cx="2078468" cy="900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051" dirty="0"/>
                  <a:t>The graph is rotationally symmetric about </a:t>
                </a:r>
                <a14:m>
                  <m:oMath xmlns:m="http://schemas.openxmlformats.org/officeDocument/2006/math">
                    <m:r>
                      <a:rPr lang="en-GB" sz="1051" i="1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GB" sz="1051" dirty="0"/>
                  <a:t>. Since </a:t>
                </a:r>
                <a14:m>
                  <m:oMath xmlns:m="http://schemas.openxmlformats.org/officeDocument/2006/math">
                    <m:r>
                      <a:rPr lang="en-GB" sz="1051" i="1">
                        <a:latin typeface="Cambria Math" panose="02040503050406030204" pitchFamily="18" charset="0"/>
                      </a:rPr>
                      <m:t>120°</m:t>
                    </m:r>
                  </m:oMath>
                </a14:m>
                <a:r>
                  <a:rPr lang="en-GB" sz="1051" dirty="0"/>
                  <a:t> is </a:t>
                </a:r>
                <a14:m>
                  <m:oMath xmlns:m="http://schemas.openxmlformats.org/officeDocument/2006/math">
                    <m:r>
                      <a:rPr lang="en-GB" sz="1051" i="1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en-GB" sz="1051" dirty="0"/>
                  <a:t> above </a:t>
                </a:r>
                <a14:m>
                  <m:oMath xmlns:m="http://schemas.openxmlformats.org/officeDocument/2006/math">
                    <m:r>
                      <a:rPr lang="en-GB" sz="1051" i="1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GB" sz="1051" dirty="0"/>
                  <a:t>, we get the same </a:t>
                </a:r>
                <a14:m>
                  <m:oMath xmlns:m="http://schemas.openxmlformats.org/officeDocument/2006/math">
                    <m:r>
                      <a:rPr lang="en-GB" sz="1051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051" dirty="0"/>
                  <a:t> value for </a:t>
                </a:r>
                <a14:m>
                  <m:oMath xmlns:m="http://schemas.openxmlformats.org/officeDocument/2006/math">
                    <m:r>
                      <a:rPr lang="en-GB" sz="1051" i="1">
                        <a:latin typeface="Cambria Math" panose="02040503050406030204" pitchFamily="18" charset="0"/>
                      </a:rPr>
                      <m:t>90°−30°=60°</m:t>
                    </m:r>
                  </m:oMath>
                </a14:m>
                <a:r>
                  <a:rPr lang="en-GB" sz="1051" dirty="0"/>
                  <a:t>, except negative.</a:t>
                </a: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849" y="5970713"/>
                <a:ext cx="2078468" cy="900888"/>
              </a:xfrm>
              <a:prstGeom prst="rect">
                <a:avLst/>
              </a:prstGeom>
              <a:blipFill>
                <a:blip r:embed="rId21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4869573" y="4397640"/>
                <a:ext cx="1010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cos repeats every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573" y="4397640"/>
                <a:ext cx="1010407" cy="461665"/>
              </a:xfrm>
              <a:prstGeom prst="rect">
                <a:avLst/>
              </a:prstGeom>
              <a:blipFill>
                <a:blip r:embed="rId22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/>
          <p:cNvCxnSpPr>
            <a:cxnSpLocks/>
          </p:cNvCxnSpPr>
          <p:nvPr/>
        </p:nvCxnSpPr>
        <p:spPr>
          <a:xfrm flipH="1">
            <a:off x="3199748" y="4628469"/>
            <a:ext cx="193431" cy="19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3199748" y="1838070"/>
            <a:ext cx="1877745" cy="3234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99748" y="2161505"/>
            <a:ext cx="1846277" cy="5721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99747" y="2733675"/>
            <a:ext cx="1660750" cy="5238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99747" y="3252226"/>
            <a:ext cx="1660750" cy="5238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199747" y="3776104"/>
            <a:ext cx="2070308" cy="5776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99747" y="4347716"/>
            <a:ext cx="1660750" cy="567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99748" y="4925259"/>
            <a:ext cx="1849613" cy="567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3" name="Freeform: Shape 82"/>
          <p:cNvSpPr/>
          <p:nvPr/>
        </p:nvSpPr>
        <p:spPr>
          <a:xfrm>
            <a:off x="6272218" y="6024567"/>
            <a:ext cx="261937" cy="490537"/>
          </a:xfrm>
          <a:custGeom>
            <a:avLst/>
            <a:gdLst>
              <a:gd name="connsiteX0" fmla="*/ 0 w 261937"/>
              <a:gd name="connsiteY0" fmla="*/ 0 h 490537"/>
              <a:gd name="connsiteX1" fmla="*/ 66675 w 261937"/>
              <a:gd name="connsiteY1" fmla="*/ 133350 h 490537"/>
              <a:gd name="connsiteX2" fmla="*/ 114300 w 261937"/>
              <a:gd name="connsiteY2" fmla="*/ 266700 h 490537"/>
              <a:gd name="connsiteX3" fmla="*/ 176212 w 261937"/>
              <a:gd name="connsiteY3" fmla="*/ 385762 h 490537"/>
              <a:gd name="connsiteX4" fmla="*/ 261937 w 261937"/>
              <a:gd name="connsiteY4" fmla="*/ 490537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937" h="490537">
                <a:moveTo>
                  <a:pt x="0" y="0"/>
                </a:moveTo>
                <a:cubicBezTo>
                  <a:pt x="23812" y="44450"/>
                  <a:pt x="47625" y="88900"/>
                  <a:pt x="66675" y="133350"/>
                </a:cubicBezTo>
                <a:cubicBezTo>
                  <a:pt x="85725" y="177800"/>
                  <a:pt x="96044" y="224631"/>
                  <a:pt x="114300" y="266700"/>
                </a:cubicBezTo>
                <a:cubicBezTo>
                  <a:pt x="132556" y="308769"/>
                  <a:pt x="151606" y="348456"/>
                  <a:pt x="176212" y="385762"/>
                </a:cubicBezTo>
                <a:cubicBezTo>
                  <a:pt x="200818" y="423068"/>
                  <a:pt x="231377" y="456802"/>
                  <a:pt x="261937" y="4905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91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  <p:bldP spid="17" grpId="0"/>
      <p:bldP spid="31" grpId="0" animBg="1"/>
      <p:bldP spid="46" grpId="0"/>
      <p:bldP spid="50" grpId="0"/>
      <p:bldP spid="51" grpId="0"/>
      <p:bldP spid="57" grpId="0"/>
      <p:bldP spid="59" grpId="0"/>
      <p:bldP spid="62" grpId="0" animBg="1"/>
      <p:bldP spid="64" grpId="0"/>
      <p:bldP spid="65" grpId="0"/>
      <p:bldP spid="68" grpId="0"/>
      <p:bldP spid="72" grpId="0"/>
      <p:bldP spid="73" grpId="0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19536" y="836712"/>
            <a:ext cx="756084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Without a calculator, work out the value of each below.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73308" y="1499079"/>
                <a:ext cx="5183663" cy="3544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315°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   = </m:t>
                      </m:r>
                      <m:func>
                        <m:func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400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420°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400" b="1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𝟔𝟎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−120°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400" b="1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𝟔𝟎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GB" sz="2400" dirty="0"/>
              </a:p>
              <a:p>
                <a:pPr/>
                <a:br>
                  <a:rPr lang="en-GB" sz="240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−45°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  =</m:t>
                      </m:r>
                      <m:func>
                        <m:func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400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𝒕𝒂𝒏</m:t>
                          </m:r>
                        </m:fName>
                        <m:e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135°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400" b="1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308" y="1499079"/>
                <a:ext cx="5183663" cy="3544432"/>
              </a:xfrm>
              <a:prstGeom prst="rect">
                <a:avLst/>
              </a:prstGeom>
              <a:blipFill>
                <a:blip r:embed="rId2"/>
                <a:stretch>
                  <a:fillRect l="-244" b="-3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253271" y="1483912"/>
            <a:ext cx="2339238" cy="8413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9633" y="2325249"/>
            <a:ext cx="2332876" cy="7697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3271" y="3102570"/>
            <a:ext cx="2339238" cy="5424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7541" y="3610395"/>
            <a:ext cx="2339238" cy="5894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3271" y="4216484"/>
            <a:ext cx="2339238" cy="8413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680177" y="1517962"/>
                <a:ext cx="2677060" cy="10772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180−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360−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600" dirty="0"/>
                  <a:t> repeat every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600" dirty="0"/>
                  <a:t> but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600" dirty="0"/>
                  <a:t> every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177" y="1517962"/>
                <a:ext cx="2677060" cy="1077218"/>
              </a:xfrm>
              <a:prstGeom prst="rect">
                <a:avLst/>
              </a:prstGeom>
              <a:blipFill>
                <a:blip r:embed="rId3"/>
                <a:stretch>
                  <a:fillRect l="-467"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907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10B – Y1 Page 209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28E443E-A6D9-14B6-1054-66D5AC1AE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27047"/>
            <a:ext cx="7772400" cy="1439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77C096-D0F8-CAE0-6CB0-667C4E799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146" y="2242626"/>
            <a:ext cx="2232248" cy="460820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3D74A44-36B2-3D71-5330-F4803844ABE2}"/>
              </a:ext>
            </a:extLst>
          </p:cNvPr>
          <p:cNvGrpSpPr/>
          <p:nvPr/>
        </p:nvGrpSpPr>
        <p:grpSpPr>
          <a:xfrm>
            <a:off x="3935760" y="2238525"/>
            <a:ext cx="2152228" cy="4524800"/>
            <a:chOff x="2590665" y="2082944"/>
            <a:chExt cx="2152228" cy="45248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BDEE4EE-9FDC-5EEB-3EC2-4DB459B12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0665" y="2082944"/>
              <a:ext cx="2152228" cy="336228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D526AC-E9A2-B85C-9E9F-46BAD818B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8514" y="5568242"/>
              <a:ext cx="2050910" cy="1039502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98C27D5-0040-337D-7970-13F0AACF95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498" y="2306439"/>
            <a:ext cx="2330695" cy="42484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FB444E-E32C-7AE6-1C9E-84547C61CB3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355" r="9819"/>
          <a:stretch/>
        </p:blipFill>
        <p:spPr>
          <a:xfrm>
            <a:off x="8479924" y="2223558"/>
            <a:ext cx="2127909" cy="336780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8700230-C86A-2201-4EAA-99A7BF6F2014}"/>
              </a:ext>
            </a:extLst>
          </p:cNvPr>
          <p:cNvSpPr/>
          <p:nvPr/>
        </p:nvSpPr>
        <p:spPr>
          <a:xfrm>
            <a:off x="1732980" y="2263821"/>
            <a:ext cx="2149330" cy="10801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D9E618-7D76-75F2-30FD-A4CF96D6F191}"/>
              </a:ext>
            </a:extLst>
          </p:cNvPr>
          <p:cNvSpPr/>
          <p:nvPr/>
        </p:nvSpPr>
        <p:spPr>
          <a:xfrm>
            <a:off x="1732980" y="3381234"/>
            <a:ext cx="2149330" cy="1236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D4FCB9-5A2C-744F-023D-F7A84B6E1B81}"/>
              </a:ext>
            </a:extLst>
          </p:cNvPr>
          <p:cNvSpPr/>
          <p:nvPr/>
        </p:nvSpPr>
        <p:spPr>
          <a:xfrm>
            <a:off x="1732980" y="4655188"/>
            <a:ext cx="2149330" cy="11205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6107B-8894-3756-A8BD-1FF1B598015A}"/>
              </a:ext>
            </a:extLst>
          </p:cNvPr>
          <p:cNvSpPr/>
          <p:nvPr/>
        </p:nvSpPr>
        <p:spPr>
          <a:xfrm>
            <a:off x="1732980" y="5813007"/>
            <a:ext cx="2149330" cy="9973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B98455-A1BF-8C3F-8538-7EE9239F65E6}"/>
              </a:ext>
            </a:extLst>
          </p:cNvPr>
          <p:cNvSpPr/>
          <p:nvPr/>
        </p:nvSpPr>
        <p:spPr>
          <a:xfrm>
            <a:off x="3960400" y="2262876"/>
            <a:ext cx="2149330" cy="10713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e?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966CED-4B37-C105-B9DB-B4EBDF90831E}"/>
              </a:ext>
            </a:extLst>
          </p:cNvPr>
          <p:cNvSpPr/>
          <p:nvPr/>
        </p:nvSpPr>
        <p:spPr>
          <a:xfrm>
            <a:off x="3960400" y="3380289"/>
            <a:ext cx="2149330" cy="12057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f?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0FB2AD-D3EF-B2E3-FC5D-790080B97BDB}"/>
              </a:ext>
            </a:extLst>
          </p:cNvPr>
          <p:cNvSpPr/>
          <p:nvPr/>
        </p:nvSpPr>
        <p:spPr>
          <a:xfrm>
            <a:off x="3960400" y="4654242"/>
            <a:ext cx="2149330" cy="10147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g?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A4F3B6-47B9-D899-27E9-A2FB167AC89B}"/>
              </a:ext>
            </a:extLst>
          </p:cNvPr>
          <p:cNvSpPr/>
          <p:nvPr/>
        </p:nvSpPr>
        <p:spPr>
          <a:xfrm>
            <a:off x="3961973" y="5715077"/>
            <a:ext cx="2149330" cy="10942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h?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22D449-E87C-6252-D08C-B32AAFB98E62}"/>
              </a:ext>
            </a:extLst>
          </p:cNvPr>
          <p:cNvSpPr/>
          <p:nvPr/>
        </p:nvSpPr>
        <p:spPr>
          <a:xfrm>
            <a:off x="6187820" y="2266884"/>
            <a:ext cx="2149330" cy="1117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i?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C65DF5-5F41-90AD-E876-39EE3859D36E}"/>
              </a:ext>
            </a:extLst>
          </p:cNvPr>
          <p:cNvSpPr/>
          <p:nvPr/>
        </p:nvSpPr>
        <p:spPr>
          <a:xfrm>
            <a:off x="6187820" y="3428999"/>
            <a:ext cx="2149330" cy="11919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j?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7A7B1D-0016-D68D-699C-EF2EF03F5E1B}"/>
              </a:ext>
            </a:extLst>
          </p:cNvPr>
          <p:cNvSpPr/>
          <p:nvPr/>
        </p:nvSpPr>
        <p:spPr>
          <a:xfrm>
            <a:off x="6187820" y="4665660"/>
            <a:ext cx="2149330" cy="9184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k?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C9247-D14F-53D7-A0C2-E628A8FD1DAE}"/>
              </a:ext>
            </a:extLst>
          </p:cNvPr>
          <p:cNvSpPr/>
          <p:nvPr/>
        </p:nvSpPr>
        <p:spPr>
          <a:xfrm>
            <a:off x="6190966" y="5620930"/>
            <a:ext cx="2149330" cy="11924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l?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D3EED0-9120-9EB1-B009-E04709332F26}"/>
              </a:ext>
            </a:extLst>
          </p:cNvPr>
          <p:cNvSpPr/>
          <p:nvPr/>
        </p:nvSpPr>
        <p:spPr>
          <a:xfrm>
            <a:off x="8415239" y="2270080"/>
            <a:ext cx="2149330" cy="11102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m?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48EFF6F-5CA7-D979-5804-DBF0D9C1A223}"/>
              </a:ext>
            </a:extLst>
          </p:cNvPr>
          <p:cNvSpPr/>
          <p:nvPr/>
        </p:nvSpPr>
        <p:spPr>
          <a:xfrm>
            <a:off x="8415239" y="3429000"/>
            <a:ext cx="2149330" cy="10386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n?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B6D59B-356E-6718-B8E4-CB9D70F1ACCA}"/>
              </a:ext>
            </a:extLst>
          </p:cNvPr>
          <p:cNvSpPr/>
          <p:nvPr/>
        </p:nvSpPr>
        <p:spPr>
          <a:xfrm>
            <a:off x="8415239" y="4527216"/>
            <a:ext cx="2149330" cy="10833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o?</a:t>
            </a:r>
          </a:p>
        </p:txBody>
      </p:sp>
    </p:spTree>
    <p:extLst>
      <p:ext uri="{BB962C8B-B14F-4D97-AF65-F5344CB8AC3E}">
        <p14:creationId xmlns:p14="http://schemas.microsoft.com/office/powerpoint/2010/main" val="85123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10A/B – Y1 Page 207, 209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846FCA5-D03E-3EC2-AB8B-CF8D22391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5" y="631323"/>
            <a:ext cx="4999789" cy="206728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BD57056-09B9-3914-F363-4FF5405B8699}"/>
              </a:ext>
            </a:extLst>
          </p:cNvPr>
          <p:cNvGrpSpPr/>
          <p:nvPr/>
        </p:nvGrpSpPr>
        <p:grpSpPr>
          <a:xfrm>
            <a:off x="1631505" y="2996952"/>
            <a:ext cx="5298701" cy="2902184"/>
            <a:chOff x="132891" y="2831072"/>
            <a:chExt cx="4134700" cy="226464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BBFC3CC-AD72-AD2D-3646-C6753008D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8703" y="3792031"/>
              <a:ext cx="1622863" cy="734729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F7AF58A-94A0-9D8A-F5B5-191F295F773E}"/>
                </a:ext>
              </a:extLst>
            </p:cNvPr>
            <p:cNvGrpSpPr/>
            <p:nvPr/>
          </p:nvGrpSpPr>
          <p:grpSpPr>
            <a:xfrm>
              <a:off x="132891" y="2865172"/>
              <a:ext cx="1874259" cy="936104"/>
              <a:chOff x="0" y="2780929"/>
              <a:chExt cx="2607398" cy="1302272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C2509898-2AB7-E4D0-718E-A6C4C87108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54404"/>
              <a:stretch/>
            </p:blipFill>
            <p:spPr>
              <a:xfrm>
                <a:off x="0" y="2780929"/>
                <a:ext cx="1625531" cy="1017816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5431F6D5-C0AD-1E47-FD32-8139BBB4BB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3342" y="3353623"/>
                <a:ext cx="504056" cy="317774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0B04BC2-D247-EDD4-60B8-4D766388C8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66013" y="3270401"/>
                <a:ext cx="660400" cy="812800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B74B362-48CB-2491-4480-EBCB893A0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05528" y="2831072"/>
              <a:ext cx="2062063" cy="804708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3F967B7-80A5-F7B4-78D8-334321070825}"/>
                </a:ext>
              </a:extLst>
            </p:cNvPr>
            <p:cNvGrpSpPr/>
            <p:nvPr/>
          </p:nvGrpSpPr>
          <p:grpSpPr>
            <a:xfrm>
              <a:off x="2405337" y="3635780"/>
              <a:ext cx="909716" cy="575816"/>
              <a:chOff x="534596" y="5393819"/>
              <a:chExt cx="1063029" cy="672858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013AD07-55E7-5588-F60C-5CEF120870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4596" y="5393819"/>
                <a:ext cx="1063029" cy="243814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E3F2A59-D189-4C94-215E-E425C4354B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9165" y="5602620"/>
                <a:ext cx="869052" cy="464057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948B32-3A52-06E8-D32B-DE01C458F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39377" y="4241261"/>
              <a:ext cx="1676641" cy="57581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33A6034-ED72-D9DF-BB0A-67EC3EA65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245368" y="4604813"/>
              <a:ext cx="326008" cy="22005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8912865-71AB-F65A-D0B2-F2981AD68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405337" y="4859251"/>
              <a:ext cx="1111374" cy="236463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6A023C5E-7F90-8C2D-0FE5-B943B0BA01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4904" y="2780928"/>
            <a:ext cx="3327400" cy="33401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0C4F8DA-A35A-095F-16E0-78AB0D4BA824}"/>
              </a:ext>
            </a:extLst>
          </p:cNvPr>
          <p:cNvSpPr/>
          <p:nvPr/>
        </p:nvSpPr>
        <p:spPr>
          <a:xfrm>
            <a:off x="1643526" y="2922094"/>
            <a:ext cx="5388578" cy="30991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6DAC5C-56C8-D60B-7BFC-73A42C94C839}"/>
              </a:ext>
            </a:extLst>
          </p:cNvPr>
          <p:cNvSpPr/>
          <p:nvPr/>
        </p:nvSpPr>
        <p:spPr>
          <a:xfrm>
            <a:off x="7184430" y="2922094"/>
            <a:ext cx="3301306" cy="5069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5D47E9-5487-1B3C-EC88-ED7528F68826}"/>
              </a:ext>
            </a:extLst>
          </p:cNvPr>
          <p:cNvSpPr/>
          <p:nvPr/>
        </p:nvSpPr>
        <p:spPr>
          <a:xfrm>
            <a:off x="7184430" y="3491547"/>
            <a:ext cx="3301306" cy="25297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75117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1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Trigonometric Identities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Right Triangle 4"/>
          <p:cNvSpPr/>
          <p:nvPr/>
        </p:nvSpPr>
        <p:spPr>
          <a:xfrm flipH="1">
            <a:off x="4079776" y="764704"/>
            <a:ext cx="2808312" cy="2232248"/>
          </a:xfrm>
          <a:prstGeom prst="rt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6475576" y="2564904"/>
            <a:ext cx="412512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087888" y="1124744"/>
                <a:ext cx="57606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888" y="1124744"/>
                <a:ext cx="576064" cy="707886"/>
              </a:xfrm>
              <a:prstGeom prst="rect">
                <a:avLst/>
              </a:prstGeom>
              <a:blipFill>
                <a:blip r:embed="rId2"/>
                <a:stretch>
                  <a:fillRect l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289308" y="2906728"/>
                <a:ext cx="266429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4000" i="1" dirty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GB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4000" i="1" dirty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308" y="2906728"/>
                <a:ext cx="2664296" cy="707886"/>
              </a:xfrm>
              <a:prstGeom prst="rect">
                <a:avLst/>
              </a:prstGeom>
              <a:blipFill>
                <a:blip r:embed="rId3"/>
                <a:stretch>
                  <a:fillRect b="-26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593120" y="1684916"/>
                <a:ext cx="217977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4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4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4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120" y="1684916"/>
                <a:ext cx="2179776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 9"/>
          <p:cNvSpPr/>
          <p:nvPr/>
        </p:nvSpPr>
        <p:spPr>
          <a:xfrm>
            <a:off x="4702408" y="2485648"/>
            <a:ext cx="233680" cy="508000"/>
          </a:xfrm>
          <a:custGeom>
            <a:avLst/>
            <a:gdLst>
              <a:gd name="connsiteX0" fmla="*/ 233680 w 233680"/>
              <a:gd name="connsiteY0" fmla="*/ 508000 h 508000"/>
              <a:gd name="connsiteX1" fmla="*/ 193040 w 233680"/>
              <a:gd name="connsiteY1" fmla="*/ 304800 h 508000"/>
              <a:gd name="connsiteX2" fmla="*/ 91440 w 233680"/>
              <a:gd name="connsiteY2" fmla="*/ 121920 h 508000"/>
              <a:gd name="connsiteX3" fmla="*/ 0 w 233680"/>
              <a:gd name="connsiteY3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680" h="508000">
                <a:moveTo>
                  <a:pt x="233680" y="508000"/>
                </a:moveTo>
                <a:cubicBezTo>
                  <a:pt x="225213" y="438573"/>
                  <a:pt x="216747" y="369147"/>
                  <a:pt x="193040" y="304800"/>
                </a:cubicBezTo>
                <a:cubicBezTo>
                  <a:pt x="169333" y="240453"/>
                  <a:pt x="123613" y="172720"/>
                  <a:pt x="91440" y="121920"/>
                </a:cubicBezTo>
                <a:cubicBezTo>
                  <a:pt x="59267" y="71120"/>
                  <a:pt x="29633" y="35560"/>
                  <a:pt x="0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53435" y="2265721"/>
                <a:ext cx="86409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435" y="2265721"/>
                <a:ext cx="864096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246640" y="4293096"/>
                <a:ext cx="4104456" cy="717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/>
                  <a:t>Then </a:t>
                </a:r>
                <a14:m>
                  <m:oMath xmlns:m="http://schemas.openxmlformats.org/officeDocument/2006/math">
                    <m:r>
                      <a:rPr lang="en-GB" sz="2800" b="1" i="1">
                        <a:latin typeface="Cambria Math" panose="02040503050406030204" pitchFamily="18" charset="0"/>
                      </a:rPr>
                      <m:t>𝒕𝒂𝒏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𝒔𝒊𝒏</m:t>
                        </m:r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𝜽</m:t>
                        </m:r>
                      </m:num>
                      <m:den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𝒄𝒐𝒔</m:t>
                        </m:r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𝜽</m:t>
                        </m:r>
                      </m:den>
                    </m:f>
                  </m:oMath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640" y="4293096"/>
                <a:ext cx="4104456" cy="717376"/>
              </a:xfrm>
              <a:prstGeom prst="rect">
                <a:avLst/>
              </a:prstGeom>
              <a:blipFill>
                <a:blip r:embed="rId6"/>
                <a:stretch>
                  <a:fillRect l="-3086" b="-189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707088" y="4365104"/>
            <a:ext cx="46754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0576" y="5589240"/>
            <a:ext cx="46754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744" y="5517236"/>
            <a:ext cx="2880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Pythagoras gives you...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318679" y="5982883"/>
            <a:ext cx="875771" cy="3839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953605" y="5462615"/>
                <a:ext cx="3642852" cy="595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𝒔𝒊</m:t>
                      </m:r>
                      <m:sSup>
                        <m:sSupPr>
                          <m:ctrlPr>
                            <a:rPr lang="en-GB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GB" sz="3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GB" sz="3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𝒄𝒐</m:t>
                      </m:r>
                      <m:sSup>
                        <m:sSupPr>
                          <m:ctrlPr>
                            <a:rPr lang="en-GB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p>
                          <m:r>
                            <a:rPr lang="en-GB" sz="3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GB" sz="3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3200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605" y="5462615"/>
                <a:ext cx="3642852" cy="595932"/>
              </a:xfrm>
              <a:prstGeom prst="rect">
                <a:avLst/>
              </a:prstGeom>
              <a:blipFill>
                <a:blip r:embed="rId7"/>
                <a:stretch>
                  <a:fillRect l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4436375" y="4058856"/>
            <a:ext cx="1082680" cy="11247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6895" y="1535686"/>
            <a:ext cx="1394103" cy="6913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257" y="3077655"/>
            <a:ext cx="1440160" cy="5040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524000" y="3789040"/>
            <a:ext cx="9144000" cy="0"/>
          </a:xfrm>
          <a:prstGeom prst="line">
            <a:avLst/>
          </a:prstGeom>
          <a:ln w="76200">
            <a:solidFill>
              <a:srgbClr val="1736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81413" y="709932"/>
            <a:ext cx="3292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Returning to our point on the unit circle…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430542" y="5950270"/>
                <a:ext cx="4267769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1400" dirty="0"/>
                  <a:t> is a shorthand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GB" sz="1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14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400" dirty="0"/>
                  <a:t>. It does NOT mean the sin is being squared – this does not make sense as sin is a function, and not a quantity that we can square!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542" y="5950270"/>
                <a:ext cx="4267769" cy="738664"/>
              </a:xfrm>
              <a:prstGeom prst="rect">
                <a:avLst/>
              </a:prstGeom>
              <a:blipFill>
                <a:blip r:embed="rId8"/>
                <a:stretch>
                  <a:fillRect l="-593" t="-1695" r="-297" b="-8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483318" y="5397944"/>
            <a:ext cx="4113141" cy="12822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534319" y="2730644"/>
                <a:ext cx="57606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dirty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319" y="2730644"/>
                <a:ext cx="576064" cy="707886"/>
              </a:xfrm>
              <a:prstGeom prst="rect">
                <a:avLst/>
              </a:prstGeom>
              <a:blipFill>
                <a:blip r:embed="rId9"/>
                <a:stretch>
                  <a:fillRect l="-217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024811" y="525229"/>
                <a:ext cx="57606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dirty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811" y="525229"/>
                <a:ext cx="576064" cy="707886"/>
              </a:xfrm>
              <a:prstGeom prst="rect">
                <a:avLst/>
              </a:prstGeom>
              <a:blipFill>
                <a:blip r:embed="rId10"/>
                <a:stretch>
                  <a:fillRect l="-170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6738975" y="720099"/>
            <a:ext cx="230083" cy="21602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3997643" y="2895947"/>
            <a:ext cx="230083" cy="21602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35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Application of identities #1: Proofs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63552" y="908720"/>
                <a:ext cx="7056784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Prove that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1−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908720"/>
                <a:ext cx="7056784" cy="400110"/>
              </a:xfrm>
              <a:prstGeom prst="rect">
                <a:avLst/>
              </a:prstGeom>
              <a:blipFill>
                <a:blip r:embed="rId2"/>
                <a:stretch>
                  <a:fillRect b="-681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392148" y="1525094"/>
                <a:ext cx="2989657" cy="946093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8" y="1525094"/>
                <a:ext cx="2989657" cy="9460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392146" y="2693667"/>
                <a:ext cx="2994347" cy="206210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Recall that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GB" sz="1600" dirty="0"/>
                  <a:t> means ‘equivalent to’, and just means the LHS is </a:t>
                </a:r>
                <a:r>
                  <a:rPr lang="en-GB" sz="1600" b="1" u="sng" dirty="0"/>
                  <a:t>always</a:t>
                </a:r>
                <a:r>
                  <a:rPr lang="en-GB" sz="1600" dirty="0"/>
                  <a:t> equal to the RHS for all values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From Chapter 7 (‘Proofs’) we saw that usually the best method is to manipulate one side (e.g. LHS) until we get to the other (RHS).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6" y="2693667"/>
                <a:ext cx="2994347" cy="2062103"/>
              </a:xfrm>
              <a:prstGeom prst="rect">
                <a:avLst/>
              </a:prstGeom>
              <a:blipFill>
                <a:blip r:embed="rId4"/>
                <a:stretch>
                  <a:fillRect l="-840" t="-606" r="-840" b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847528" y="1752807"/>
                <a:ext cx="3528392" cy="2521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𝐿𝐻𝑆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br>
                  <a:rPr lang="en-GB" sz="2000" dirty="0"/>
                </a:br>
                <a:br>
                  <a:rPr lang="en-GB" sz="2000" dirty="0"/>
                </a:br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0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=1−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𝑅𝐻𝑆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1752807"/>
                <a:ext cx="3528392" cy="2521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2941596" y="2693663"/>
            <a:ext cx="2608143" cy="9045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41596" y="3586391"/>
            <a:ext cx="2608143" cy="3454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1596" y="3931794"/>
            <a:ext cx="2608143" cy="4969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0331" y="1589204"/>
            <a:ext cx="1800200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b="1" dirty="0"/>
              <a:t>Tip #1</a:t>
            </a:r>
            <a:r>
              <a:rPr lang="en-GB" sz="1200" dirty="0"/>
              <a:t>: Turn any tan’s into sin’s and cos’s. 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5087888" y="1844824"/>
            <a:ext cx="288032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41598" y="1539987"/>
            <a:ext cx="4208937" cy="10155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2580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More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19007" y="1154974"/>
                <a:ext cx="4053713" cy="52860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Prove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007" y="1154974"/>
                <a:ext cx="4053713" cy="5286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819003" y="774259"/>
            <a:ext cx="345638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June 2012 Paper 1 Q16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8144" y="5668558"/>
            <a:ext cx="3384376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Tip #2</a:t>
            </a:r>
            <a:r>
              <a:rPr lang="en-GB" sz="1400" dirty="0"/>
              <a:t>: In any addition/subtraction involving at least one fraction (with trig functions), always combine algebraically into one.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67859" y="1933260"/>
                <a:ext cx="4031876" cy="3355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𝐿𝐻𝑆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br>
                  <a:rPr lang="en-GB" dirty="0"/>
                </a:br>
                <a:br>
                  <a:rPr lang="en-GB" i="1" dirty="0">
                    <a:latin typeface="Cambria Math" panose="02040503050406030204" pitchFamily="18" charset="0"/>
                  </a:rPr>
                </a:br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  <a:p>
                <a:pPr/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𝑅𝐻𝑆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859" y="1933260"/>
                <a:ext cx="4031876" cy="33552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749585" y="1832583"/>
            <a:ext cx="1645723" cy="8715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4911" y="2934115"/>
            <a:ext cx="2682471" cy="829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4909" y="3777828"/>
            <a:ext cx="2682471" cy="829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4909" y="4621543"/>
            <a:ext cx="2682471" cy="829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095432" y="1143592"/>
                <a:ext cx="4053713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Simplify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5−5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432" y="1143592"/>
                <a:ext cx="4053713" cy="400110"/>
              </a:xfrm>
              <a:prstGeom prst="rect">
                <a:avLst/>
              </a:prstGeom>
              <a:blipFill>
                <a:blip r:embed="rId4"/>
                <a:stretch>
                  <a:fillRect b="-681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191120" y="3120486"/>
                <a:ext cx="4032448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 #3</a:t>
                </a:r>
                <a:r>
                  <a:rPr lang="en-GB" sz="1400" dirty="0"/>
                  <a:t>: Look out for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1−</m:t>
                    </m:r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1−</m:t>
                    </m:r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Students often don’t spot that these can be simplified.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120" y="3120486"/>
                <a:ext cx="4032448" cy="738664"/>
              </a:xfrm>
              <a:prstGeom prst="rect">
                <a:avLst/>
              </a:prstGeom>
              <a:blipFill>
                <a:blip r:embed="rId5"/>
                <a:stretch>
                  <a:fillRect l="-313"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240016" y="1832583"/>
                <a:ext cx="23762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≡5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≡5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16" y="1832583"/>
                <a:ext cx="2376264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6086913" y="1555672"/>
            <a:ext cx="4049460" cy="12513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416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75520" y="3665701"/>
                <a:ext cx="7056784" cy="52854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Prove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sz="20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3665701"/>
                <a:ext cx="7056784" cy="5285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775520" y="3284985"/>
            <a:ext cx="388843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AQA IGCSE Further Maths Worksheet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48847" y="4238680"/>
                <a:ext cx="5256584" cy="2083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𝐿𝐻𝑆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endParaRPr lang="en-GB" sz="105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endParaRPr lang="en-GB" sz="105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−1≡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𝑅𝐻𝑆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847" y="4238680"/>
                <a:ext cx="5256584" cy="2083327"/>
              </a:xfrm>
              <a:prstGeom prst="rect">
                <a:avLst/>
              </a:prstGeom>
              <a:blipFill>
                <a:blip r:embed="rId3"/>
                <a:stretch>
                  <a:fillRect b="-6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91547" y="906025"/>
                <a:ext cx="3147527" cy="5389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Prove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rad>
                          <m:radPr>
                            <m:degHide m:val="o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unc>
                              <m:func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rad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≡1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7" y="906025"/>
                <a:ext cx="3147527" cy="5389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76056" y="1626343"/>
                <a:ext cx="3326813" cy="842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𝐿𝐻𝑆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den>
                          </m:f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rad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≡1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056" y="1626343"/>
                <a:ext cx="3326813" cy="842025"/>
              </a:xfrm>
              <a:prstGeom prst="rect">
                <a:avLst/>
              </a:prstGeom>
              <a:blipFill>
                <a:blip r:embed="rId5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991547" y="1461016"/>
            <a:ext cx="3147527" cy="12639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5520" y="4194243"/>
            <a:ext cx="7056784" cy="22058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879980" y="873773"/>
                <a:ext cx="4165543" cy="57118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Prove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sz="20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sz="20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sz="20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≡1−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80" y="873773"/>
                <a:ext cx="4165543" cy="5711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553740" y="1595500"/>
                <a:ext cx="4869712" cy="148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𝐿𝐻𝑆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≡1−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𝑅𝐻𝑆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740" y="1595500"/>
                <a:ext cx="4869712" cy="14810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5879980" y="1456338"/>
            <a:ext cx="4165543" cy="16202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5629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10C – Y1 Page 211-212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F333AF4-4FE8-8252-9B58-3D9999E264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267"/>
          <a:stretch/>
        </p:blipFill>
        <p:spPr>
          <a:xfrm>
            <a:off x="1546204" y="620689"/>
            <a:ext cx="6970518" cy="1008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9A107B-D402-B68C-699B-E13B49890D5B}"/>
              </a:ext>
            </a:extLst>
          </p:cNvPr>
          <p:cNvSpPr/>
          <p:nvPr/>
        </p:nvSpPr>
        <p:spPr>
          <a:xfrm>
            <a:off x="6473312" y="1035984"/>
            <a:ext cx="2214909" cy="11766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BD3C19-FD23-92CE-35F7-680715175E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2649"/>
          <a:stretch/>
        </p:blipFill>
        <p:spPr>
          <a:xfrm>
            <a:off x="2219129" y="2189272"/>
            <a:ext cx="3310308" cy="365720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D4CEBA6-0279-AAA2-1F57-33222C614325}"/>
              </a:ext>
            </a:extLst>
          </p:cNvPr>
          <p:cNvSpPr/>
          <p:nvPr/>
        </p:nvSpPr>
        <p:spPr>
          <a:xfrm>
            <a:off x="2065858" y="1944783"/>
            <a:ext cx="3181875" cy="11809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E627D3-969C-F321-AD0C-1C45842ADA72}"/>
              </a:ext>
            </a:extLst>
          </p:cNvPr>
          <p:cNvSpPr/>
          <p:nvPr/>
        </p:nvSpPr>
        <p:spPr>
          <a:xfrm>
            <a:off x="2056747" y="3226109"/>
            <a:ext cx="3181875" cy="28648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E07C46-71B6-0C96-25FD-11CB6F0715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4745"/>
          <a:stretch/>
        </p:blipFill>
        <p:spPr>
          <a:xfrm>
            <a:off x="6816081" y="3717032"/>
            <a:ext cx="2821835" cy="23283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C351FA-E0D6-21BE-B726-25A1BE5A1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196" y="2087654"/>
            <a:ext cx="2667000" cy="13081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CEA0AFC-B38A-541D-52BB-5E19677F3BFB}"/>
              </a:ext>
            </a:extLst>
          </p:cNvPr>
          <p:cNvSpPr/>
          <p:nvPr/>
        </p:nvSpPr>
        <p:spPr>
          <a:xfrm>
            <a:off x="6443802" y="1944783"/>
            <a:ext cx="3181875" cy="13771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F660BE-ED84-970D-37E3-4080F49E4C6B}"/>
              </a:ext>
            </a:extLst>
          </p:cNvPr>
          <p:cNvSpPr/>
          <p:nvPr/>
        </p:nvSpPr>
        <p:spPr>
          <a:xfrm>
            <a:off x="6452977" y="3453652"/>
            <a:ext cx="3181875" cy="26373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1810027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10C – Y1 Page 211-212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AB6AB20-B392-7744-B4A8-628B0ECFA3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483" b="22728"/>
          <a:stretch/>
        </p:blipFill>
        <p:spPr>
          <a:xfrm>
            <a:off x="1649794" y="600903"/>
            <a:ext cx="4446207" cy="9361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CE2B84-CE3B-9EF7-CBA2-F8227BE287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018" b="36491"/>
          <a:stretch/>
        </p:blipFill>
        <p:spPr>
          <a:xfrm>
            <a:off x="1712652" y="3617241"/>
            <a:ext cx="3672408" cy="8640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2742ED-E419-E4E7-A286-B3A753948F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736"/>
          <a:stretch/>
        </p:blipFill>
        <p:spPr>
          <a:xfrm>
            <a:off x="7957005" y="3368989"/>
            <a:ext cx="2058838" cy="13605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DD7A52-1ED0-D380-FFA5-639E0B49FF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11" t="68185" r="50375"/>
          <a:stretch/>
        </p:blipFill>
        <p:spPr>
          <a:xfrm>
            <a:off x="4578231" y="4134266"/>
            <a:ext cx="3096344" cy="4328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5E7D43-209A-2A29-1D0D-B595F260C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4188" y="4545071"/>
            <a:ext cx="1946920" cy="18356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25DE0A-27CB-A35F-E496-E35E006A52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7648" y="6140269"/>
            <a:ext cx="308928" cy="3485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1ADD44-1697-A686-9231-D7BF8B4E2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848" y="4567143"/>
            <a:ext cx="2797110" cy="200733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CDE415D-2098-9C8D-1F20-987F45504BD1}"/>
              </a:ext>
            </a:extLst>
          </p:cNvPr>
          <p:cNvSpPr/>
          <p:nvPr/>
        </p:nvSpPr>
        <p:spPr>
          <a:xfrm>
            <a:off x="1948930" y="4545071"/>
            <a:ext cx="2346870" cy="21242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E1EEC5-747C-F3F7-D9C0-68AC79D907BA}"/>
              </a:ext>
            </a:extLst>
          </p:cNvPr>
          <p:cNvSpPr/>
          <p:nvPr/>
        </p:nvSpPr>
        <p:spPr>
          <a:xfrm>
            <a:off x="4560382" y="4567143"/>
            <a:ext cx="3114193" cy="21242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21231A-A88C-7048-35B2-259B723BAD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007" r="1076"/>
          <a:stretch/>
        </p:blipFill>
        <p:spPr>
          <a:xfrm>
            <a:off x="7949300" y="725156"/>
            <a:ext cx="2160240" cy="12114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3BD1EE7-0EB0-C378-04E7-9632A03BA8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98" t="79846" r="57946" b="2323"/>
          <a:stretch/>
        </p:blipFill>
        <p:spPr>
          <a:xfrm>
            <a:off x="4511772" y="1222872"/>
            <a:ext cx="2880373" cy="21600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48B0568-6416-3FA9-4F48-D5D40AE58E89}"/>
              </a:ext>
            </a:extLst>
          </p:cNvPr>
          <p:cNvGrpSpPr/>
          <p:nvPr/>
        </p:nvGrpSpPr>
        <p:grpSpPr>
          <a:xfrm>
            <a:off x="4548922" y="1601996"/>
            <a:ext cx="2168842" cy="1678168"/>
            <a:chOff x="2808951" y="1601996"/>
            <a:chExt cx="2007057" cy="155298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BA1D355-3155-A900-5792-259B239861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27237"/>
            <a:stretch/>
          </p:blipFill>
          <p:spPr>
            <a:xfrm>
              <a:off x="2808951" y="1601996"/>
              <a:ext cx="1874215" cy="153897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1F5DC45-D932-8CE6-9E2B-23562919C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27992" y="2647046"/>
              <a:ext cx="488016" cy="507935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4795692-DD2D-2F29-00C4-179263A2E906}"/>
              </a:ext>
            </a:extLst>
          </p:cNvPr>
          <p:cNvGrpSpPr/>
          <p:nvPr/>
        </p:nvGrpSpPr>
        <p:grpSpPr>
          <a:xfrm>
            <a:off x="1965218" y="1650410"/>
            <a:ext cx="1826527" cy="1858764"/>
            <a:chOff x="441217" y="1650410"/>
            <a:chExt cx="1647123" cy="163457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F713405-2CCB-C15E-E003-F6CB047E18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b="13135"/>
            <a:stretch/>
          </p:blipFill>
          <p:spPr>
            <a:xfrm>
              <a:off x="441217" y="1650410"/>
              <a:ext cx="1647123" cy="1614611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A4AE720-B05A-C3E2-D4B5-783066160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00384" y="3007853"/>
              <a:ext cx="327518" cy="277131"/>
            </a:xfrm>
            <a:prstGeom prst="rect">
              <a:avLst/>
            </a:prstGeom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73F4C7A2-10A1-C967-7DF4-D01458F8700D}"/>
              </a:ext>
            </a:extLst>
          </p:cNvPr>
          <p:cNvSpPr/>
          <p:nvPr/>
        </p:nvSpPr>
        <p:spPr>
          <a:xfrm>
            <a:off x="1895832" y="1575171"/>
            <a:ext cx="2346870" cy="19341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FAF3BC-164C-D612-1000-C26B64F6E1CD}"/>
              </a:ext>
            </a:extLst>
          </p:cNvPr>
          <p:cNvSpPr/>
          <p:nvPr/>
        </p:nvSpPr>
        <p:spPr>
          <a:xfrm>
            <a:off x="4507284" y="1597243"/>
            <a:ext cx="3114193" cy="19341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124282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>
                  <a:solidFill>
                    <a:srgbClr val="FF0000"/>
                  </a:solidFill>
                </a:rPr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16097" y="980732"/>
                <a:ext cx="3860556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i="1" dirty="0"/>
                  <a:t>[MAT 2008 1C] </a:t>
                </a:r>
                <a:r>
                  <a:rPr lang="en-GB" sz="2000" dirty="0"/>
                  <a:t>The simultaneous equations in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000" dirty="0"/>
              </a:p>
              <a:p>
                <a:r>
                  <a:rPr lang="en-GB" sz="2000" dirty="0"/>
                  <a:t>are solvable:</a:t>
                </a:r>
              </a:p>
              <a:p>
                <a:pPr marL="342891" indent="-342891">
                  <a:buAutoNum type="alphaUcParenR"/>
                </a:pPr>
                <a:r>
                  <a:rPr lang="en-GB" sz="2000" dirty="0"/>
                  <a:t>for all values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2000" dirty="0"/>
                  <a:t> in range </a:t>
                </a:r>
                <a:br>
                  <a:rPr lang="en-GB" sz="2000" dirty="0"/>
                </a:b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2000" dirty="0"/>
                  <a:t> </a:t>
                </a:r>
              </a:p>
              <a:p>
                <a:pPr marL="342891" indent="-342891">
                  <a:buAutoNum type="alphaUcParenR"/>
                </a:pPr>
                <a:r>
                  <a:rPr lang="en-GB" sz="2000" dirty="0"/>
                  <a:t>except for one value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2000" dirty="0"/>
                  <a:t> in range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GB" sz="2000" dirty="0"/>
              </a:p>
              <a:p>
                <a:pPr marL="342891" indent="-342891">
                  <a:buFontTx/>
                  <a:buAutoNum type="alphaUcParenR"/>
                </a:pPr>
                <a:r>
                  <a:rPr lang="en-GB" sz="2000" dirty="0"/>
                  <a:t>except for two values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2000" dirty="0"/>
                  <a:t> in range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GB" sz="2000" dirty="0"/>
              </a:p>
              <a:p>
                <a:pPr marL="342891" indent="-342891">
                  <a:buFontTx/>
                  <a:buAutoNum type="alphaUcParenR"/>
                </a:pPr>
                <a:r>
                  <a:rPr lang="en-GB" sz="2000" dirty="0"/>
                  <a:t>except for three values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2000" dirty="0"/>
                  <a:t> in range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097" y="980732"/>
                <a:ext cx="3860556" cy="4093428"/>
              </a:xfrm>
              <a:prstGeom prst="rect">
                <a:avLst/>
              </a:prstGeom>
              <a:blipFill>
                <a:blip r:embed="rId2"/>
                <a:stretch>
                  <a:fillRect l="-1974" t="-929" b="-18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794776" y="980733"/>
                <a:ext cx="4572000" cy="442024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GB" b="1" dirty="0"/>
                  <a:t>For convenience let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func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func>
                  </m:oMath>
                </a14:m>
                <a:r>
                  <a:rPr lang="en-GB" b="1" dirty="0"/>
                  <a:t>. As we’d usually do for simultaneous equations, we could make coefficients of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terms the same: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𝒔𝒄𝒙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𝒔</m:t>
                      </m:r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𝒔𝒄𝒙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Then subtracting: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𝒔</m:t>
                      </m:r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Similarly making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 terms the same, we yield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en-GB" b="1" dirty="0"/>
              </a:p>
              <a:p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 are defined for every value of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GB" b="1" dirty="0"/>
                  <a:t>, so the answer is (A). Why might it have not been (A)? Suppose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  <m:func>
                          <m:func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𝒄𝒐𝒔</m:t>
                            </m:r>
                          </m:fName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func>
                        <m:r>
                          <a:rPr lang="en-GB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𝒔𝒊𝒏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𝜽</m:t>
                        </m:r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𝐬𝐢𝐧</m:t>
                        </m:r>
                        <m:r>
                          <a:rPr lang="en-GB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GB" b="1" dirty="0"/>
                  <a:t>. This would not be defined whenever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776" y="980733"/>
                <a:ext cx="4572000" cy="4420249"/>
              </a:xfrm>
              <a:prstGeom prst="rect">
                <a:avLst/>
              </a:prstGeom>
              <a:blipFill>
                <a:blip r:embed="rId3"/>
                <a:stretch>
                  <a:fillRect l="-1108" t="-860" r="-277" b="-14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5798022" y="840899"/>
            <a:ext cx="4432425" cy="46999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9829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Trigonometric Equations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669543" y="901276"/>
                <a:ext cx="2677060" cy="132343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>
                    <a:latin typeface="+mj-lt"/>
                  </a:rPr>
                  <a:t>Reminder of ‘trig laws’:</a:t>
                </a:r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180−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360−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600" dirty="0"/>
                  <a:t> repeat every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600" dirty="0"/>
                  <a:t> but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600" dirty="0"/>
                  <a:t> every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543" y="901276"/>
                <a:ext cx="2677060" cy="1323439"/>
              </a:xfrm>
              <a:prstGeom prst="rect">
                <a:avLst/>
              </a:prstGeom>
              <a:blipFill>
                <a:blip r:embed="rId2"/>
                <a:stretch>
                  <a:fillRect l="-467" t="-935" b="-37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847528" y="848115"/>
            <a:ext cx="5112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Remember those trigonometric angle laws (on the right) earlier this chapter? They’re about to become very useful!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91548" y="2492899"/>
                <a:ext cx="5197629" cy="5269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8" y="2492899"/>
                <a:ext cx="5197629" cy="5269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05561" y="3154974"/>
                <a:ext cx="3672408" cy="895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=30°</m:t>
                      </m:r>
                    </m:oMath>
                  </m:oMathPara>
                </a14:m>
                <a:br>
                  <a:rPr lang="en-GB" dirty="0"/>
                </a:br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=180°−30°=150°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561" y="3154974"/>
                <a:ext cx="3672408" cy="895630"/>
              </a:xfrm>
              <a:prstGeom prst="rect">
                <a:avLst/>
              </a:prstGeom>
              <a:blipFill>
                <a:blip r:embed="rId4"/>
                <a:stretch>
                  <a:fillRect l="-1379" b="-112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527947" y="3138037"/>
                <a:ext cx="2677060" cy="116955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>
                    <a:latin typeface="+mj-lt"/>
                  </a:rPr>
                  <a:t>Calculator Note:</a:t>
                </a:r>
              </a:p>
              <a:p>
                <a:r>
                  <a:rPr lang="en-GB" sz="1400" dirty="0">
                    <a:latin typeface="+mj-lt"/>
                  </a:rPr>
                  <a:t>When you do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𝑠𝑖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4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400" i="1" dirty="0">
                        <a:latin typeface="Cambria Math" panose="02040503050406030204" pitchFamily="18" charset="0"/>
                      </a:rPr>
                      <m:t>𝑐𝑜</m:t>
                    </m:r>
                    <m:sSup>
                      <m:sSupPr>
                        <m:ctrlPr>
                          <a:rPr lang="en-GB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GB" sz="1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𝑡𝑎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400" dirty="0">
                    <a:latin typeface="+mj-lt"/>
                  </a:rPr>
                  <a:t> on a calculator, it gives you only one value, known as the </a:t>
                </a:r>
                <a:r>
                  <a:rPr lang="en-GB" sz="1400" b="1" dirty="0">
                    <a:latin typeface="+mj-lt"/>
                  </a:rPr>
                  <a:t>principal value</a:t>
                </a:r>
                <a:r>
                  <a:rPr lang="en-GB" sz="1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7947" y="3138037"/>
                <a:ext cx="2677060" cy="1169551"/>
              </a:xfrm>
              <a:prstGeom prst="rect">
                <a:avLst/>
              </a:prstGeom>
              <a:blipFill>
                <a:blip r:embed="rId5"/>
                <a:stretch>
                  <a:fillRect b="-31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991547" y="4562284"/>
                <a:ext cx="5997051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5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−180°≤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&lt;180°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7" y="4562284"/>
                <a:ext cx="5997051" cy="400110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512327" y="5155178"/>
                <a:ext cx="2794169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>
                    <a:latin typeface="+mj-lt"/>
                  </a:rPr>
                  <a:t>Tip: </a:t>
                </a:r>
                <a:r>
                  <a:rPr lang="en-GB" sz="1400" dirty="0">
                    <a:latin typeface="+mj-lt"/>
                  </a:rPr>
                  <a:t>Look out for the solution range required.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−180≤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&lt;180°</m:t>
                    </m:r>
                  </m:oMath>
                </a14:m>
                <a:r>
                  <a:rPr lang="en-GB" sz="1400" dirty="0">
                    <a:latin typeface="+mj-lt"/>
                  </a:rPr>
                  <a:t> is a particularly common one.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327" y="5155178"/>
                <a:ext cx="2794169" cy="738664"/>
              </a:xfrm>
              <a:prstGeom prst="rect">
                <a:avLst/>
              </a:prstGeom>
              <a:blipFill>
                <a:blip r:embed="rId7"/>
                <a:stretch>
                  <a:fillRect l="-448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178066" y="5150734"/>
                <a:ext cx="4076885" cy="1166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(2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)=63.4°  (1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𝑑𝑝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=63.4°−180°=−116.6° 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𝑑𝑝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066" y="5150734"/>
                <a:ext cx="4076885" cy="1166794"/>
              </a:xfrm>
              <a:prstGeom prst="rect">
                <a:avLst/>
              </a:prstGeom>
              <a:blipFill>
                <a:blip r:embed="rId8"/>
                <a:stretch>
                  <a:fillRect l="-1242" b="-75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566667" y="6062352"/>
                <a:ext cx="26016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400" dirty="0"/>
                  <a:t> repeats every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r>
                  <a:rPr lang="en-GB" sz="1400" dirty="0"/>
                  <a:t>, so can add/subtract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r>
                  <a:rPr lang="en-GB" sz="1400" dirty="0"/>
                  <a:t> as we please.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667" y="6062352"/>
                <a:ext cx="2601604" cy="523220"/>
              </a:xfrm>
              <a:prstGeom prst="rect">
                <a:avLst/>
              </a:prstGeom>
              <a:blipFill>
                <a:blip r:embed="rId9"/>
                <a:stretch>
                  <a:fillRect l="-485" t="-2381" b="-119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stCxn id="13" idx="1"/>
          </p:cNvCxnSpPr>
          <p:nvPr/>
        </p:nvCxnSpPr>
        <p:spPr>
          <a:xfrm flipH="1" flipV="1">
            <a:off x="7137994" y="6134991"/>
            <a:ext cx="428675" cy="188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093954" y="3136284"/>
            <a:ext cx="3927083" cy="10689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93954" y="5199663"/>
            <a:ext cx="3927083" cy="10689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8945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/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Slightly Harder Ones…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38385" y="1248890"/>
                <a:ext cx="5197629" cy="5269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85" y="1248890"/>
                <a:ext cx="5197629" cy="5269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55640" y="1929750"/>
                <a:ext cx="3672408" cy="1172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=−30°</m:t>
                      </m:r>
                    </m:oMath>
                  </m:oMathPara>
                </a14:m>
                <a:br>
                  <a:rPr lang="en-GB" dirty="0"/>
                </a:br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=180°−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−30°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=210°</m:t>
                    </m:r>
                  </m:oMath>
                </a14:m>
                <a:endParaRPr lang="en-GB" dirty="0"/>
              </a:p>
              <a:p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=−30°+360°=330°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1929750"/>
                <a:ext cx="3672408" cy="1172629"/>
              </a:xfrm>
              <a:prstGeom prst="rect">
                <a:avLst/>
              </a:prstGeom>
              <a:blipFill>
                <a:blip r:embed="rId3"/>
                <a:stretch>
                  <a:fillRect l="-1375" b="-86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634375" y="1918030"/>
                <a:ext cx="36004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is not in range. In general you should have 2 solutions per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400" dirty="0"/>
                  <a:t> (except when at a peak or trough of the trig graph)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375" y="1918030"/>
                <a:ext cx="3600400" cy="738664"/>
              </a:xfrm>
              <a:prstGeom prst="rect">
                <a:avLst/>
              </a:prstGeom>
              <a:blipFill>
                <a:blip r:embed="rId4"/>
                <a:stretch>
                  <a:fillRect l="-704" t="-1695" r="-704" b="-8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13109" y="2750936"/>
                <a:ext cx="3600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Note that we’ve had to use a second law, i.e. that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𝑠𝑖𝑛</m:t>
                    </m:r>
                  </m:oMath>
                </a14:m>
                <a:r>
                  <a:rPr lang="en-GB" sz="1400" dirty="0"/>
                  <a:t> repeats every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109" y="2750936"/>
                <a:ext cx="3600400" cy="523220"/>
              </a:xfrm>
              <a:prstGeom prst="rect">
                <a:avLst/>
              </a:prstGeom>
              <a:blipFill>
                <a:blip r:embed="rId5"/>
                <a:stretch>
                  <a:fillRect l="-351" t="-2381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7" idx="1"/>
          </p:cNvCxnSpPr>
          <p:nvPr/>
        </p:nvCxnSpPr>
        <p:spPr>
          <a:xfrm flipH="1">
            <a:off x="5660067" y="2287364"/>
            <a:ext cx="974308" cy="30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6021575" y="2966487"/>
            <a:ext cx="603123" cy="10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838773" y="1871006"/>
            <a:ext cx="7340133" cy="14463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38386" y="3686691"/>
                <a:ext cx="6120241" cy="42909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86" y="3686691"/>
                <a:ext cx="6120241" cy="429092"/>
              </a:xfrm>
              <a:prstGeom prst="rect">
                <a:avLst/>
              </a:prstGeom>
              <a:blipFill>
                <a:blip r:embed="rId6"/>
                <a:stretch>
                  <a:fillRect b="-652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136979" y="4308332"/>
                <a:ext cx="3672408" cy="1972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  <a:p>
                <a:pPr/>
                <a:br>
                  <a:rPr lang="en-GB" sz="105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=60° 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=60°+180°=240°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79" y="4308332"/>
                <a:ext cx="3672408" cy="1972335"/>
              </a:xfrm>
              <a:prstGeom prst="rect">
                <a:avLst/>
              </a:prstGeom>
              <a:blipFill>
                <a:blip r:embed="rId7"/>
                <a:stretch>
                  <a:fillRect l="-1724" b="-44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7370809" y="4741524"/>
            <a:ext cx="3046820" cy="9541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>
                <a:latin typeface="+mj-lt"/>
              </a:rPr>
              <a:t>Hint:</a:t>
            </a:r>
            <a:r>
              <a:rPr lang="en-GB" sz="1400" dirty="0">
                <a:latin typeface="+mj-lt"/>
              </a:rPr>
              <a:t> The problem here is that we have two different trig functions. Is there anything we can divide both sides by so we only have one trig function?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8773" y="4308327"/>
            <a:ext cx="3866831" cy="21142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6319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81925" y="1020288"/>
                <a:ext cx="5626244" cy="42909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925" y="1020288"/>
                <a:ext cx="5626244" cy="429092"/>
              </a:xfrm>
              <a:prstGeom prst="rect">
                <a:avLst/>
              </a:prstGeom>
              <a:blipFill>
                <a:blip r:embed="rId2"/>
                <a:stretch>
                  <a:fillRect b="-425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11015" y="1606965"/>
                <a:ext cx="3672408" cy="1605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=30°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=360°−30°=330°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015" y="1606965"/>
                <a:ext cx="3672408" cy="1605183"/>
              </a:xfrm>
              <a:prstGeom prst="rect">
                <a:avLst/>
              </a:prstGeom>
              <a:blipFill>
                <a:blip r:embed="rId3"/>
                <a:stretch>
                  <a:fillRect l="-1375" b="-55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19537" y="3717033"/>
                <a:ext cx="6266523" cy="42909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−180°≤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≤180°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7" y="3717033"/>
                <a:ext cx="6266523" cy="429092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88431" y="4293097"/>
                <a:ext cx="3672408" cy="1513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=30°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=30°−180°=−150°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431" y="4293097"/>
                <a:ext cx="3672408" cy="1513876"/>
              </a:xfrm>
              <a:prstGeom prst="rect">
                <a:avLst/>
              </a:prstGeom>
              <a:blipFill>
                <a:blip r:embed="rId5"/>
                <a:stretch>
                  <a:fillRect l="-1379" b="-49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002059" y="1544436"/>
            <a:ext cx="4988059" cy="18736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02059" y="4313250"/>
            <a:ext cx="4988059" cy="18736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8254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10D – Y1 215-216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01BBB4C-19BA-75C7-BA1A-91A25BE8E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5" y="600602"/>
            <a:ext cx="6807005" cy="23243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20412AB-64F3-CE8A-EE20-725B128A11A3}"/>
              </a:ext>
            </a:extLst>
          </p:cNvPr>
          <p:cNvSpPr/>
          <p:nvPr/>
        </p:nvSpPr>
        <p:spPr>
          <a:xfrm>
            <a:off x="7680176" y="1988840"/>
            <a:ext cx="720080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5DEE7E-0676-4625-DD54-12D68361F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972405"/>
            <a:ext cx="2289893" cy="4565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F1EF13-0E76-BDBA-72FA-FE5223194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816" y="2972404"/>
            <a:ext cx="2304256" cy="4271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8A977C-79D3-52A1-8A1B-E65B7D5B7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913" y="2924945"/>
            <a:ext cx="1944607" cy="69094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E628B78-E4BA-D3D3-41DA-A5471D789EAA}"/>
              </a:ext>
            </a:extLst>
          </p:cNvPr>
          <p:cNvSpPr/>
          <p:nvPr/>
        </p:nvSpPr>
        <p:spPr>
          <a:xfrm>
            <a:off x="1855680" y="2972446"/>
            <a:ext cx="2304256" cy="6434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9922F7-4A09-299E-6350-8C569E313717}"/>
              </a:ext>
            </a:extLst>
          </p:cNvPr>
          <p:cNvSpPr/>
          <p:nvPr/>
        </p:nvSpPr>
        <p:spPr>
          <a:xfrm>
            <a:off x="4401563" y="2972446"/>
            <a:ext cx="2304256" cy="6434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EC68FA-6F88-1788-1463-CE585E8A0BD8}"/>
              </a:ext>
            </a:extLst>
          </p:cNvPr>
          <p:cNvSpPr/>
          <p:nvPr/>
        </p:nvSpPr>
        <p:spPr>
          <a:xfrm>
            <a:off x="7008215" y="2981839"/>
            <a:ext cx="2304256" cy="6434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47D3CF-2B4B-C308-9AB2-A9D9ECAA2973}"/>
                  </a:ext>
                </a:extLst>
              </p:cNvPr>
              <p:cNvSpPr txBox="1"/>
              <p:nvPr/>
            </p:nvSpPr>
            <p:spPr>
              <a:xfrm>
                <a:off x="1603437" y="4093442"/>
                <a:ext cx="81437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b="1" dirty="0"/>
                  <a:t>9</a:t>
                </a:r>
                <a:r>
                  <a:rPr lang="en-GB" sz="1600" dirty="0"/>
                  <a:t>  Find all the values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600" dirty="0"/>
                  <a:t>, to 1 decimal place, in the interval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&lt;360°</m:t>
                    </m:r>
                  </m:oMath>
                </a14:m>
                <a:r>
                  <a:rPr lang="en-GB" sz="1600" dirty="0"/>
                  <a:t> for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𝑡𝑎𝑛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47D3CF-2B4B-C308-9AB2-A9D9ECAA2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437" y="4093442"/>
                <a:ext cx="8143768" cy="338554"/>
              </a:xfrm>
              <a:prstGeom prst="rect">
                <a:avLst/>
              </a:prstGeom>
              <a:blipFill>
                <a:blip r:embed="rId6"/>
                <a:stretch>
                  <a:fillRect l="-467" t="-3704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6B050308-6B95-A160-62B3-506E6F92B1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5919" y="4542972"/>
            <a:ext cx="3749402" cy="199968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C06B097-D0EB-5D1C-5F7A-8D5E46DDCF41}"/>
              </a:ext>
            </a:extLst>
          </p:cNvPr>
          <p:cNvSpPr/>
          <p:nvPr/>
        </p:nvSpPr>
        <p:spPr>
          <a:xfrm>
            <a:off x="1840345" y="4462664"/>
            <a:ext cx="4865474" cy="20799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4960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10D – Y1 215-216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F65558-A982-2E54-94BD-9F84D5B23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5" y="692697"/>
            <a:ext cx="5501341" cy="7771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772D67-76BA-8382-E0CE-BF7112DB8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4045538"/>
            <a:ext cx="6336704" cy="806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265DE8-8862-18D6-D252-93AF6F4E3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1636475"/>
            <a:ext cx="2339872" cy="10621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27BE2C-6962-5FD1-0A84-01EFACC0E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929" y="1511862"/>
            <a:ext cx="2722371" cy="198914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BFA3BBE-01F7-E2BD-68EA-85AAF0503DD9}"/>
              </a:ext>
            </a:extLst>
          </p:cNvPr>
          <p:cNvSpPr/>
          <p:nvPr/>
        </p:nvSpPr>
        <p:spPr>
          <a:xfrm>
            <a:off x="1991544" y="1596639"/>
            <a:ext cx="3168352" cy="19891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4263A8-7938-B331-90AA-C58BAD086F55}"/>
              </a:ext>
            </a:extLst>
          </p:cNvPr>
          <p:cNvSpPr/>
          <p:nvPr/>
        </p:nvSpPr>
        <p:spPr>
          <a:xfrm>
            <a:off x="5375920" y="1596640"/>
            <a:ext cx="3744415" cy="19891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D85CAFB-7EB8-72C8-4A2F-FBDDDFEB8E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1544" y="5078812"/>
            <a:ext cx="2592288" cy="10405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40B9B4-EBA7-CBBD-D8D3-968FF735C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2297" y="5051332"/>
            <a:ext cx="3338039" cy="100369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F3C7641-45C2-C5BE-B659-AB021BCFE33B}"/>
              </a:ext>
            </a:extLst>
          </p:cNvPr>
          <p:cNvSpPr/>
          <p:nvPr/>
        </p:nvSpPr>
        <p:spPr>
          <a:xfrm>
            <a:off x="1991544" y="4958109"/>
            <a:ext cx="3168352" cy="13512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0DC300-B294-3670-5E80-0ED2207885F6}"/>
              </a:ext>
            </a:extLst>
          </p:cNvPr>
          <p:cNvSpPr/>
          <p:nvPr/>
        </p:nvSpPr>
        <p:spPr>
          <a:xfrm>
            <a:off x="5375920" y="4958110"/>
            <a:ext cx="3744415" cy="13512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3119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7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050207" y="4028127"/>
                <a:ext cx="4568311" cy="280076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 general you tend to get a </a:t>
                </a:r>
                <a:r>
                  <a:rPr lang="en-GB" sz="1600" u="sng" dirty="0"/>
                  <a:t>pair</a:t>
                </a:r>
                <a:r>
                  <a:rPr lang="en-GB" sz="1600" dirty="0"/>
                  <a:t> of values per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600" dirty="0"/>
                  <a:t> (for any of sin/cos/tan), except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=±1</m:t>
                        </m:r>
                      </m:e>
                    </m:func>
                  </m:oMath>
                </a14:m>
                <a:r>
                  <a:rPr lang="en-GB" sz="1600" dirty="0"/>
                  <a:t> 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=±1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Thus once getting your first pair of values (e.g. using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180−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600" dirty="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⁡(360−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/>
                  <a:t> to get the second value), keep adding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600" dirty="0"/>
                  <a:t> to generate new pairs.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207" y="4028127"/>
                <a:ext cx="4568311" cy="2800767"/>
              </a:xfrm>
              <a:prstGeom prst="rect">
                <a:avLst/>
              </a:prstGeom>
              <a:blipFill>
                <a:blip r:embed="rId2"/>
                <a:stretch>
                  <a:fillRect l="-551" t="-448" b="-13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Harder Equations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00159" y="757445"/>
                <a:ext cx="61206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Harder questions replace the angle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with a linear expression.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159" y="757445"/>
                <a:ext cx="6120680" cy="369332"/>
              </a:xfrm>
              <a:prstGeom prst="rect">
                <a:avLst/>
              </a:prstGeom>
              <a:blipFill>
                <a:blip r:embed="rId3"/>
                <a:stretch>
                  <a:fillRect l="-828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19536" y="1285098"/>
                <a:ext cx="7272808" cy="5269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1285098"/>
                <a:ext cx="7272808" cy="5269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392144" y="2056766"/>
                <a:ext cx="2808312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STEP 1</a:t>
                </a:r>
                <a:r>
                  <a:rPr lang="en-GB" sz="1600" dirty="0"/>
                  <a:t>: Adjust the range of values for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600" dirty="0"/>
                  <a:t> to match the expression inside the cos.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4" y="2056766"/>
                <a:ext cx="2808312" cy="830997"/>
              </a:xfrm>
              <a:prstGeom prst="rect">
                <a:avLst/>
              </a:prstGeom>
              <a:blipFill>
                <a:blip r:embed="rId5"/>
                <a:stretch>
                  <a:fillRect l="-893" b="-5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76075" y="2142659"/>
                <a:ext cx="4736617" cy="1600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0≤3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&lt;1080°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=120°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=120°,240°,480°,600°,840°,960°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=40°,80°,160°,200°,280°,320°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075" y="2142659"/>
                <a:ext cx="4736617" cy="16003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392144" y="3137973"/>
            <a:ext cx="2808312" cy="13234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STEP 2</a:t>
            </a:r>
            <a:r>
              <a:rPr lang="en-GB" sz="1600" dirty="0"/>
              <a:t>: Immediately after applying an inverse trig function (and BEFORE dividing by 3!), find all solutions up to the end of the interval.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2144" y="4704324"/>
            <a:ext cx="2808312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STEP 3</a:t>
            </a:r>
            <a:r>
              <a:rPr lang="en-GB" sz="1600" dirty="0"/>
              <a:t>: </a:t>
            </a:r>
            <a:r>
              <a:rPr lang="en-GB" sz="1600" u="sng" dirty="0"/>
              <a:t>Then</a:t>
            </a:r>
            <a:r>
              <a:rPr lang="en-GB" sz="1600" dirty="0"/>
              <a:t> do final manipulation to each value.</a:t>
            </a:r>
          </a:p>
        </p:txBody>
      </p:sp>
      <p:cxnSp>
        <p:nvCxnSpPr>
          <p:cNvPr id="12" name="Straight Arrow Connector 11"/>
          <p:cNvCxnSpPr>
            <a:stCxn id="7" idx="1"/>
          </p:cNvCxnSpPr>
          <p:nvPr/>
        </p:nvCxnSpPr>
        <p:spPr>
          <a:xfrm flipH="1" flipV="1">
            <a:off x="6616999" y="2349797"/>
            <a:ext cx="775147" cy="122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6659527" y="3359892"/>
            <a:ext cx="732619" cy="20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6617000" y="3678865"/>
            <a:ext cx="828311" cy="1254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91966" y="1948475"/>
            <a:ext cx="4539973" cy="18736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3053920" y="5015584"/>
            <a:ext cx="6871" cy="95552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2869023" y="5521494"/>
            <a:ext cx="1743075" cy="476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045683" y="4908739"/>
                <a:ext cx="872899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05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05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051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05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051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5683" y="4908739"/>
                <a:ext cx="872899" cy="2540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264017" y="5466407"/>
                <a:ext cx="2935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017" y="5466407"/>
                <a:ext cx="293575" cy="2308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532142" y="5389972"/>
                <a:ext cx="298076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142" y="5389972"/>
                <a:ext cx="298076" cy="2540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/>
          <p:cNvCxnSpPr/>
          <p:nvPr/>
        </p:nvCxnSpPr>
        <p:spPr>
          <a:xfrm flipH="1" flipV="1">
            <a:off x="3057529" y="5272090"/>
            <a:ext cx="1558925" cy="476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/>
          <p:cNvSpPr/>
          <p:nvPr/>
        </p:nvSpPr>
        <p:spPr>
          <a:xfrm>
            <a:off x="3057528" y="5116578"/>
            <a:ext cx="1489711" cy="827053"/>
          </a:xfrm>
          <a:custGeom>
            <a:avLst/>
            <a:gdLst>
              <a:gd name="connsiteX0" fmla="*/ 0 w 1123950"/>
              <a:gd name="connsiteY0" fmla="*/ 0 h 796943"/>
              <a:gd name="connsiteX1" fmla="*/ 365125 w 1123950"/>
              <a:gd name="connsiteY1" fmla="*/ 384175 h 796943"/>
              <a:gd name="connsiteX2" fmla="*/ 752475 w 1123950"/>
              <a:gd name="connsiteY2" fmla="*/ 796925 h 796943"/>
              <a:gd name="connsiteX3" fmla="*/ 1123950 w 1123950"/>
              <a:gd name="connsiteY3" fmla="*/ 368300 h 796943"/>
              <a:gd name="connsiteX0" fmla="*/ 0 w 1123950"/>
              <a:gd name="connsiteY0" fmla="*/ 12 h 796955"/>
              <a:gd name="connsiteX1" fmla="*/ 365125 w 1123950"/>
              <a:gd name="connsiteY1" fmla="*/ 384187 h 796955"/>
              <a:gd name="connsiteX2" fmla="*/ 752475 w 1123950"/>
              <a:gd name="connsiteY2" fmla="*/ 796937 h 796955"/>
              <a:gd name="connsiteX3" fmla="*/ 1123950 w 1123950"/>
              <a:gd name="connsiteY3" fmla="*/ 368312 h 796955"/>
              <a:gd name="connsiteX0" fmla="*/ 0 w 1123950"/>
              <a:gd name="connsiteY0" fmla="*/ 17 h 796962"/>
              <a:gd name="connsiteX1" fmla="*/ 365125 w 1123950"/>
              <a:gd name="connsiteY1" fmla="*/ 384192 h 796962"/>
              <a:gd name="connsiteX2" fmla="*/ 752475 w 1123950"/>
              <a:gd name="connsiteY2" fmla="*/ 796942 h 796962"/>
              <a:gd name="connsiteX3" fmla="*/ 1123950 w 1123950"/>
              <a:gd name="connsiteY3" fmla="*/ 368317 h 796962"/>
              <a:gd name="connsiteX0" fmla="*/ 0 w 1123950"/>
              <a:gd name="connsiteY0" fmla="*/ 17 h 797765"/>
              <a:gd name="connsiteX1" fmla="*/ 365125 w 1123950"/>
              <a:gd name="connsiteY1" fmla="*/ 384192 h 797765"/>
              <a:gd name="connsiteX2" fmla="*/ 752475 w 1123950"/>
              <a:gd name="connsiteY2" fmla="*/ 796942 h 797765"/>
              <a:gd name="connsiteX3" fmla="*/ 1052195 w 1123950"/>
              <a:gd name="connsiteY3" fmla="*/ 487062 h 797765"/>
              <a:gd name="connsiteX4" fmla="*/ 1123950 w 1123950"/>
              <a:gd name="connsiteY4" fmla="*/ 368317 h 797765"/>
              <a:gd name="connsiteX0" fmla="*/ 0 w 1482090"/>
              <a:gd name="connsiteY0" fmla="*/ 20320 h 818068"/>
              <a:gd name="connsiteX1" fmla="*/ 365125 w 1482090"/>
              <a:gd name="connsiteY1" fmla="*/ 404495 h 818068"/>
              <a:gd name="connsiteX2" fmla="*/ 752475 w 1482090"/>
              <a:gd name="connsiteY2" fmla="*/ 817245 h 818068"/>
              <a:gd name="connsiteX3" fmla="*/ 1052195 w 1482090"/>
              <a:gd name="connsiteY3" fmla="*/ 507365 h 818068"/>
              <a:gd name="connsiteX4" fmla="*/ 1482090 w 1482090"/>
              <a:gd name="connsiteY4" fmla="*/ 0 h 818068"/>
              <a:gd name="connsiteX0" fmla="*/ 0 w 1482090"/>
              <a:gd name="connsiteY0" fmla="*/ 20320 h 817274"/>
              <a:gd name="connsiteX1" fmla="*/ 365125 w 1482090"/>
              <a:gd name="connsiteY1" fmla="*/ 404495 h 817274"/>
              <a:gd name="connsiteX2" fmla="*/ 752475 w 1482090"/>
              <a:gd name="connsiteY2" fmla="*/ 817245 h 817274"/>
              <a:gd name="connsiteX3" fmla="*/ 1097915 w 1482090"/>
              <a:gd name="connsiteY3" fmla="*/ 385445 h 817274"/>
              <a:gd name="connsiteX4" fmla="*/ 1482090 w 1482090"/>
              <a:gd name="connsiteY4" fmla="*/ 0 h 817274"/>
              <a:gd name="connsiteX0" fmla="*/ 0 w 1283970"/>
              <a:gd name="connsiteY0" fmla="*/ 18 h 796972"/>
              <a:gd name="connsiteX1" fmla="*/ 365125 w 1283970"/>
              <a:gd name="connsiteY1" fmla="*/ 384193 h 796972"/>
              <a:gd name="connsiteX2" fmla="*/ 752475 w 1283970"/>
              <a:gd name="connsiteY2" fmla="*/ 796943 h 796972"/>
              <a:gd name="connsiteX3" fmla="*/ 1097915 w 1283970"/>
              <a:gd name="connsiteY3" fmla="*/ 365143 h 796972"/>
              <a:gd name="connsiteX4" fmla="*/ 1283970 w 1283970"/>
              <a:gd name="connsiteY4" fmla="*/ 33038 h 796972"/>
              <a:gd name="connsiteX0" fmla="*/ 0 w 1489710"/>
              <a:gd name="connsiteY0" fmla="*/ 27940 h 824894"/>
              <a:gd name="connsiteX1" fmla="*/ 365125 w 1489710"/>
              <a:gd name="connsiteY1" fmla="*/ 412115 h 824894"/>
              <a:gd name="connsiteX2" fmla="*/ 752475 w 1489710"/>
              <a:gd name="connsiteY2" fmla="*/ 824865 h 824894"/>
              <a:gd name="connsiteX3" fmla="*/ 1097915 w 1489710"/>
              <a:gd name="connsiteY3" fmla="*/ 393065 h 824894"/>
              <a:gd name="connsiteX4" fmla="*/ 1489710 w 1489710"/>
              <a:gd name="connsiteY4" fmla="*/ 0 h 824894"/>
              <a:gd name="connsiteX0" fmla="*/ 0 w 1489710"/>
              <a:gd name="connsiteY0" fmla="*/ 29866 h 826820"/>
              <a:gd name="connsiteX1" fmla="*/ 365125 w 1489710"/>
              <a:gd name="connsiteY1" fmla="*/ 414041 h 826820"/>
              <a:gd name="connsiteX2" fmla="*/ 752475 w 1489710"/>
              <a:gd name="connsiteY2" fmla="*/ 826791 h 826820"/>
              <a:gd name="connsiteX3" fmla="*/ 1097915 w 1489710"/>
              <a:gd name="connsiteY3" fmla="*/ 394991 h 826820"/>
              <a:gd name="connsiteX4" fmla="*/ 1489710 w 1489710"/>
              <a:gd name="connsiteY4" fmla="*/ 1926 h 826820"/>
              <a:gd name="connsiteX0" fmla="*/ 0 w 1489710"/>
              <a:gd name="connsiteY0" fmla="*/ 30099 h 827053"/>
              <a:gd name="connsiteX1" fmla="*/ 365125 w 1489710"/>
              <a:gd name="connsiteY1" fmla="*/ 414274 h 827053"/>
              <a:gd name="connsiteX2" fmla="*/ 752475 w 1489710"/>
              <a:gd name="connsiteY2" fmla="*/ 827024 h 827053"/>
              <a:gd name="connsiteX3" fmla="*/ 1097915 w 1489710"/>
              <a:gd name="connsiteY3" fmla="*/ 395224 h 827053"/>
              <a:gd name="connsiteX4" fmla="*/ 1489710 w 1489710"/>
              <a:gd name="connsiteY4" fmla="*/ 2159 h 827053"/>
              <a:gd name="connsiteX0" fmla="*/ 0 w 1489710"/>
              <a:gd name="connsiteY0" fmla="*/ 30099 h 827053"/>
              <a:gd name="connsiteX1" fmla="*/ 365125 w 1489710"/>
              <a:gd name="connsiteY1" fmla="*/ 414274 h 827053"/>
              <a:gd name="connsiteX2" fmla="*/ 752475 w 1489710"/>
              <a:gd name="connsiteY2" fmla="*/ 827024 h 827053"/>
              <a:gd name="connsiteX3" fmla="*/ 1097915 w 1489710"/>
              <a:gd name="connsiteY3" fmla="*/ 395224 h 827053"/>
              <a:gd name="connsiteX4" fmla="*/ 1489710 w 1489710"/>
              <a:gd name="connsiteY4" fmla="*/ 2159 h 82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9710" h="827053">
                <a:moveTo>
                  <a:pt x="0" y="30099"/>
                </a:moveTo>
                <a:cubicBezTo>
                  <a:pt x="280458" y="27982"/>
                  <a:pt x="268817" y="216366"/>
                  <a:pt x="365125" y="414274"/>
                </a:cubicBezTo>
                <a:cubicBezTo>
                  <a:pt x="445058" y="578532"/>
                  <a:pt x="630343" y="830199"/>
                  <a:pt x="752475" y="827024"/>
                </a:cubicBezTo>
                <a:cubicBezTo>
                  <a:pt x="874607" y="823849"/>
                  <a:pt x="1039177" y="526987"/>
                  <a:pt x="1097915" y="395224"/>
                </a:cubicBezTo>
                <a:cubicBezTo>
                  <a:pt x="1131253" y="282511"/>
                  <a:pt x="1242801" y="-28850"/>
                  <a:pt x="1489710" y="2159"/>
                </a:cubicBezTo>
              </a:path>
            </a:pathLst>
          </a:cu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609980" y="5469771"/>
                <a:ext cx="2935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980" y="5469771"/>
                <a:ext cx="293575" cy="230832"/>
              </a:xfrm>
              <a:prstGeom prst="rect">
                <a:avLst/>
              </a:prstGeom>
              <a:blipFill>
                <a:blip r:embed="rId10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 flipH="1">
            <a:off x="3282951" y="5226052"/>
            <a:ext cx="63500" cy="825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273430" y="5235575"/>
            <a:ext cx="73025" cy="635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4224810" y="5225515"/>
            <a:ext cx="63500" cy="825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215288" y="5235038"/>
            <a:ext cx="73025" cy="635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966512" y="5463575"/>
                <a:ext cx="2935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270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512" y="5463575"/>
                <a:ext cx="293575" cy="230832"/>
              </a:xfrm>
              <a:prstGeom prst="rect">
                <a:avLst/>
              </a:prstGeom>
              <a:blipFill>
                <a:blip r:embed="rId11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290903" y="5466164"/>
                <a:ext cx="2935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360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903" y="5466164"/>
                <a:ext cx="293575" cy="230832"/>
              </a:xfrm>
              <a:prstGeom prst="rect">
                <a:avLst/>
              </a:prstGeom>
              <a:blipFill>
                <a:blip r:embed="rId12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898906" y="4812006"/>
                <a:ext cx="298076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906" y="4812006"/>
                <a:ext cx="298076" cy="2540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93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9" grpId="0" animBg="1"/>
      <p:bldP spid="17" grpId="0" animBg="1"/>
      <p:bldP spid="22" grpId="0"/>
      <p:bldP spid="23" grpId="0"/>
      <p:bldP spid="25" grpId="0"/>
      <p:bldP spid="29" grpId="0" animBg="1"/>
      <p:bldP spid="30" grpId="0"/>
      <p:bldP spid="43" grpId="0"/>
      <p:bldP spid="44" grpId="0"/>
      <p:bldP spid="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19540" y="834458"/>
                <a:ext cx="8207785" cy="54566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+30°)=</m:t>
                        </m:r>
                        <m:f>
                          <m:f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func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40" y="834458"/>
                <a:ext cx="8207785" cy="5456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18793" y="1558660"/>
                <a:ext cx="504056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30°≤2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+30°≤750°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+30°=45°, 135°, 405°,495°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=15°,105°,375°,465°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=7.5°,52.5°,187.5°,232.5°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793" y="1558660"/>
                <a:ext cx="5040560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174995" y="1547530"/>
                <a:ext cx="295232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To get from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+30°</m:t>
                    </m:r>
                  </m:oMath>
                </a14:m>
                <a:r>
                  <a:rPr lang="en-GB" dirty="0"/>
                  <a:t> we double and add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en-GB" dirty="0"/>
                  <a:t>. So do the same to the upper and lower bound!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995" y="1547530"/>
                <a:ext cx="2952328" cy="1200329"/>
              </a:xfrm>
              <a:prstGeom prst="rect">
                <a:avLst/>
              </a:prstGeom>
              <a:blipFill>
                <a:blip r:embed="rId4"/>
                <a:stretch>
                  <a:fillRect l="-1282" t="-2083" r="-2564" b="-7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>
            <a:off x="6744073" y="1695032"/>
            <a:ext cx="415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919540" y="1380121"/>
            <a:ext cx="8207785" cy="24523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895876" y="4011031"/>
                <a:ext cx="8207785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&lt;300°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876" y="4011031"/>
                <a:ext cx="8207785" cy="400110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79576" y="4725148"/>
                <a:ext cx="36724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=63.43°, 243.43°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4725148"/>
                <a:ext cx="3672408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312025" y="4725145"/>
                <a:ext cx="3378076" cy="147732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By dividing both sides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</m:oMath>
                </a14:m>
                <a:r>
                  <a:rPr lang="en-GB" dirty="0"/>
                  <a:t>,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becomes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and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disappears, leaving a trig equation helpfully only in terms of one trig function.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025" y="4725145"/>
                <a:ext cx="3378076" cy="1477328"/>
              </a:xfrm>
              <a:prstGeom prst="rect">
                <a:avLst/>
              </a:prstGeom>
              <a:blipFill>
                <a:blip r:embed="rId7"/>
                <a:stretch>
                  <a:fillRect l="-1111" t="-840" b="-42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 flipV="1">
            <a:off x="5807968" y="4941169"/>
            <a:ext cx="516632" cy="49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48095" y="4405632"/>
            <a:ext cx="8248409" cy="21094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3623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1847532" y="817539"/>
            <a:ext cx="2557895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Jan 2013 Q4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31" y="1212063"/>
            <a:ext cx="7233859" cy="14248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475" y="2708923"/>
            <a:ext cx="4815420" cy="414229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13525" y="4147944"/>
            <a:ext cx="1092716" cy="302136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3091455" y="4780069"/>
            <a:ext cx="1013825" cy="18245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3091454" y="5120739"/>
            <a:ext cx="1013825" cy="18245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847531" y="2643216"/>
            <a:ext cx="7233859" cy="42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0133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10E – Y1 p219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76A3B22-9C52-D2EF-5C2B-765697D46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698" y="613935"/>
            <a:ext cx="4528327" cy="8751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39CBD3-ACB4-BDED-62E4-0A5816559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582" y="1489073"/>
            <a:ext cx="2894388" cy="16489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D57249-A07F-753F-9E30-1B79EB9D6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944" y="1525077"/>
            <a:ext cx="2528456" cy="15769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29638C-F4A3-D27A-395D-730ED7746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697" y="3346254"/>
            <a:ext cx="5896146" cy="11773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E4E62D-E98B-8DEB-060E-010123DBC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552" y="4512886"/>
            <a:ext cx="2625668" cy="2183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06E3DD-2C5B-63C4-164E-562FAB3873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1944" y="4614107"/>
            <a:ext cx="3147814" cy="176433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21C5CEF-51B7-D73F-332A-0CD25701C913}"/>
              </a:ext>
            </a:extLst>
          </p:cNvPr>
          <p:cNvSpPr/>
          <p:nvPr/>
        </p:nvSpPr>
        <p:spPr>
          <a:xfrm>
            <a:off x="1919536" y="1543650"/>
            <a:ext cx="3528392" cy="16987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1F4F08-AE27-695F-F9DA-5CD96C0B54A0}"/>
              </a:ext>
            </a:extLst>
          </p:cNvPr>
          <p:cNvSpPr/>
          <p:nvPr/>
        </p:nvSpPr>
        <p:spPr>
          <a:xfrm>
            <a:off x="5591944" y="1551016"/>
            <a:ext cx="3528392" cy="16987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D1FBA0-4D64-B85F-A842-3249E9A7CC06}"/>
              </a:ext>
            </a:extLst>
          </p:cNvPr>
          <p:cNvSpPr/>
          <p:nvPr/>
        </p:nvSpPr>
        <p:spPr>
          <a:xfrm>
            <a:off x="1919536" y="4567462"/>
            <a:ext cx="3528392" cy="21288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701BE5-DE19-ECCC-CC12-6DF10EC3BCEE}"/>
              </a:ext>
            </a:extLst>
          </p:cNvPr>
          <p:cNvSpPr/>
          <p:nvPr/>
        </p:nvSpPr>
        <p:spPr>
          <a:xfrm>
            <a:off x="5607518" y="4567462"/>
            <a:ext cx="3528392" cy="21288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427991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10E – Y1 p219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DB5E2E9-4D90-E2FE-EF77-9C922AEF9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037" y="692697"/>
            <a:ext cx="7772400" cy="6514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D1ABFC-D3AC-193E-A467-5D5ED2C66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3341879"/>
            <a:ext cx="7772400" cy="1111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1F4498-246B-270E-80D7-D127F991B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536" y="1556792"/>
            <a:ext cx="1586332" cy="1331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0C97C6-4B36-6A22-E2F0-64C7384EF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6536" y="1338568"/>
            <a:ext cx="3387672" cy="20088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51D503-2C62-2110-A610-146E47A8C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1544" y="4495096"/>
            <a:ext cx="2526510" cy="21793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31AE67-DDE7-2660-801A-DAEBB96625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8578" y="4547416"/>
            <a:ext cx="3444308" cy="75829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317B793-8C08-DF10-ABD2-13DCA908C4CB}"/>
              </a:ext>
            </a:extLst>
          </p:cNvPr>
          <p:cNvSpPr/>
          <p:nvPr/>
        </p:nvSpPr>
        <p:spPr>
          <a:xfrm>
            <a:off x="1904128" y="1385409"/>
            <a:ext cx="3528392" cy="19151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C5EB5C-CC22-CBA3-1341-E7AE69BE4E64}"/>
              </a:ext>
            </a:extLst>
          </p:cNvPr>
          <p:cNvSpPr/>
          <p:nvPr/>
        </p:nvSpPr>
        <p:spPr>
          <a:xfrm>
            <a:off x="5576536" y="1392775"/>
            <a:ext cx="3528392" cy="19151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A00639-E7BE-C9BC-707B-EB061ED1EF98}"/>
              </a:ext>
            </a:extLst>
          </p:cNvPr>
          <p:cNvSpPr/>
          <p:nvPr/>
        </p:nvSpPr>
        <p:spPr>
          <a:xfrm>
            <a:off x="1893701" y="4547417"/>
            <a:ext cx="3528392" cy="21683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E54C96-60D7-027B-DE02-A977CDCA8D1B}"/>
              </a:ext>
            </a:extLst>
          </p:cNvPr>
          <p:cNvSpPr/>
          <p:nvPr/>
        </p:nvSpPr>
        <p:spPr>
          <a:xfrm>
            <a:off x="5566109" y="4554783"/>
            <a:ext cx="3528392" cy="21683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232072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Quadratics in sin/cos/tan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7532" y="2060848"/>
                <a:ext cx="8207785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5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+3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−2=0</m:t>
                    </m:r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32" y="2060848"/>
                <a:ext cx="8207785" cy="400110"/>
              </a:xfrm>
              <a:prstGeom prst="rect">
                <a:avLst/>
              </a:prstGeom>
              <a:blipFill>
                <a:blip r:embed="rId2"/>
                <a:stretch>
                  <a:fillRect b="-681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91544" y="908724"/>
                <a:ext cx="7704856" cy="929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saw that an equation can be ‘quadratic in’ something, e.g.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−2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i="1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GB" dirty="0"/>
                  <a:t> is ‘quadratic in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dirty="0"/>
                  <a:t>’, meaning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dirty="0"/>
                  <a:t> could be replaced with another variable, say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, to produce a quadratic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908724"/>
                <a:ext cx="7704856" cy="929485"/>
              </a:xfrm>
              <a:prstGeom prst="rect">
                <a:avLst/>
              </a:prstGeom>
              <a:blipFill>
                <a:blip r:embed="rId3"/>
                <a:stretch>
                  <a:fillRect l="-658" t="-2703" b="-108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91544" y="2780931"/>
                <a:ext cx="3168352" cy="3072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Method 1: Use a substitution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dirty="0"/>
              </a:p>
              <a:p>
                <a:pPr/>
                <a:r>
                  <a:rPr lang="en-GB" dirty="0"/>
                  <a:t>Then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−2=0</m:t>
                    </m:r>
                  </m:oMath>
                </a14:m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°,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𝟏𝟓𝟔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°,</m:t>
                      </m:r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𝟐𝟕𝟎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2780931"/>
                <a:ext cx="3168352" cy="3072251"/>
              </a:xfrm>
              <a:prstGeom prst="rect">
                <a:avLst/>
              </a:prstGeom>
              <a:blipFill>
                <a:blip r:embed="rId4"/>
                <a:stretch>
                  <a:fillRect l="-1594" t="-823" b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51421" y="2780932"/>
                <a:ext cx="4249036" cy="2967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Method 2: Factorise without substitution.</a:t>
                </a:r>
              </a:p>
              <a:p>
                <a:endParaRPr lang="en-GB" b="1" dirty="0"/>
              </a:p>
              <a:p>
                <a:r>
                  <a:rPr lang="en-GB" dirty="0"/>
                  <a:t>This is the same, but we ‘imagine’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as a single variable and hence factorise immediately.</a:t>
                </a:r>
              </a:p>
              <a:p>
                <a:endParaRPr lang="en-GB" sz="9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°,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𝟏𝟓𝟔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°,</m:t>
                      </m:r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𝟐𝟕𝟎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421" y="2780932"/>
                <a:ext cx="4249036" cy="2967287"/>
              </a:xfrm>
              <a:prstGeom prst="rect">
                <a:avLst/>
              </a:prstGeom>
              <a:blipFill>
                <a:blip r:embed="rId5"/>
                <a:stretch>
                  <a:fillRect l="-1190" t="-851" r="-2083" b="-12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847529" y="3299930"/>
            <a:ext cx="3528392" cy="25532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37728" y="3299930"/>
            <a:ext cx="4262728" cy="25532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088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More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85632" y="930548"/>
                <a:ext cx="8207785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632" y="930548"/>
                <a:ext cx="8207785" cy="400110"/>
              </a:xfrm>
              <a:prstGeom prst="rect">
                <a:avLst/>
              </a:prstGeom>
              <a:blipFill>
                <a:blip r:embed="rId2"/>
                <a:stretch>
                  <a:fillRect b="-681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07568" y="1772816"/>
                <a:ext cx="43204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=2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=−2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=63.4°, 243.4°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=−63.4°, 116.6°,296.6°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1772816"/>
                <a:ext cx="4320480" cy="923330"/>
              </a:xfrm>
              <a:prstGeom prst="rect">
                <a:avLst/>
              </a:prstGeom>
              <a:blipFill>
                <a:blip r:embed="rId3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562205" y="2132882"/>
                <a:ext cx="2630140" cy="52322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−63.4°</m:t>
                    </m:r>
                  </m:oMath>
                </a14:m>
                <a:r>
                  <a:rPr lang="en-GB" sz="1400" dirty="0"/>
                  <a:t> was outside the range so we had to add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r>
                  <a:rPr lang="en-GB" sz="1400" dirty="0"/>
                  <a:t> twice.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205" y="2132882"/>
                <a:ext cx="2630140" cy="52322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5951985" y="2394494"/>
            <a:ext cx="610220" cy="9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05972" y="1502070"/>
            <a:ext cx="3024336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Missing the negative case would result in the loss of multiple marks. Beware!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778501" y="1731366"/>
            <a:ext cx="952996" cy="224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885631" y="1330661"/>
            <a:ext cx="8207785" cy="20983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885631" y="3730748"/>
                <a:ext cx="8207785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=3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−180°≤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≤180°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631" y="3730748"/>
                <a:ext cx="8207785" cy="400110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706803" y="4365108"/>
                <a:ext cx="2376264" cy="203132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Tip</a:t>
                </a:r>
                <a:r>
                  <a:rPr lang="en-GB" dirty="0"/>
                  <a:t>: We have an identity involving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𝑠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𝑜𝑠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so it makes sense to change the </a:t>
                </a:r>
                <a:r>
                  <a:rPr lang="en-GB" u="sng" dirty="0"/>
                  <a:t>squared one </a:t>
                </a:r>
                <a:r>
                  <a:rPr lang="en-GB" dirty="0"/>
                  <a:t>that would </a:t>
                </a:r>
                <a:r>
                  <a:rPr lang="en-GB" u="sng" dirty="0"/>
                  <a:t>match all the others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803" y="4365108"/>
                <a:ext cx="2376264" cy="2031325"/>
              </a:xfrm>
              <a:prstGeom prst="rect">
                <a:avLst/>
              </a:prstGeom>
              <a:blipFill>
                <a:blip r:embed="rId6"/>
                <a:stretch>
                  <a:fillRect l="-1579" t="-613" b="-30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10644" y="4314307"/>
                <a:ext cx="3850456" cy="1997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2−2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−2=0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func>
                        <m:funcPr>
                          <m:ctrlPr>
                            <a:rPr lang="en-GB" i="1" strike="sngStrike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trike="sngStrike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 strike="sngStrik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 strike="sngStrike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trike="sngStrike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=−168.5°, −11.5°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644" y="4314307"/>
                <a:ext cx="3850456" cy="19977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841D85B-DA8D-4683-75A4-4ED2E7797603}"/>
                  </a:ext>
                </a:extLst>
              </p14:cNvPr>
              <p14:cNvContentPartPr/>
              <p14:nvPr/>
            </p14:nvContentPartPr>
            <p14:xfrm>
              <a:off x="3661573" y="3809803"/>
              <a:ext cx="90360" cy="2545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841D85B-DA8D-4683-75A4-4ED2E779760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46453" y="3794683"/>
                <a:ext cx="12096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0501675-EDDF-0093-85E6-82B270239FD8}"/>
                  </a:ext>
                </a:extLst>
              </p14:cNvPr>
              <p14:cNvContentPartPr/>
              <p14:nvPr/>
            </p14:nvContentPartPr>
            <p14:xfrm>
              <a:off x="3809893" y="4386523"/>
              <a:ext cx="243720" cy="444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0501675-EDDF-0093-85E6-82B270239FD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94413" y="4371391"/>
                <a:ext cx="274320" cy="475225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Rectangle 16"/>
          <p:cNvSpPr/>
          <p:nvPr/>
        </p:nvSpPr>
        <p:spPr>
          <a:xfrm>
            <a:off x="1978508" y="4314307"/>
            <a:ext cx="5013379" cy="2375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3643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30" y="1186875"/>
            <a:ext cx="7705725" cy="25622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041" y="4048128"/>
            <a:ext cx="7319979" cy="18958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80582" y="3933056"/>
            <a:ext cx="7299797" cy="20882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532" y="817539"/>
            <a:ext cx="2557895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Jan 2010 Q2</a:t>
            </a:r>
          </a:p>
        </p:txBody>
      </p:sp>
    </p:spTree>
    <p:extLst>
      <p:ext uri="{BB962C8B-B14F-4D97-AF65-F5344CB8AC3E}">
        <p14:creationId xmlns:p14="http://schemas.microsoft.com/office/powerpoint/2010/main" val="378596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10F – Y1 P221-222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6F1374-5A77-6189-1AD9-114C1D095043}"/>
              </a:ext>
            </a:extLst>
          </p:cNvPr>
          <p:cNvGrpSpPr/>
          <p:nvPr/>
        </p:nvGrpSpPr>
        <p:grpSpPr>
          <a:xfrm>
            <a:off x="1631504" y="620688"/>
            <a:ext cx="7992888" cy="792088"/>
            <a:chOff x="107504" y="620688"/>
            <a:chExt cx="7992888" cy="79208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E1B9A-FFC1-A704-76B2-F5B3F2E33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620688"/>
              <a:ext cx="7772400" cy="591378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25CDDC-A71C-5F79-D39C-A10461CF8F55}"/>
                </a:ext>
              </a:extLst>
            </p:cNvPr>
            <p:cNvSpPr/>
            <p:nvPr/>
          </p:nvSpPr>
          <p:spPr>
            <a:xfrm>
              <a:off x="7524328" y="980728"/>
              <a:ext cx="576064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561EED8-6921-E894-1E8E-AEBCFC257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3403519"/>
            <a:ext cx="7200800" cy="5861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4134D7-B818-D35F-93E1-F9D4127BF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577" y="1340769"/>
            <a:ext cx="3357301" cy="18896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FD03DAE-A6C3-0A41-DE18-B6BD368ED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976" y="2626893"/>
            <a:ext cx="2585788" cy="5548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21EFF09-5ED9-DA79-FE07-FA31594CEA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0093" y="4012812"/>
            <a:ext cx="3336784" cy="24546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722EA31-F7DC-0F17-CCE3-80195446804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8125"/>
          <a:stretch/>
        </p:blipFill>
        <p:spPr>
          <a:xfrm>
            <a:off x="5951984" y="4162698"/>
            <a:ext cx="2978770" cy="951912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9D15958-94B0-4B74-5D99-C22616595BBF}"/>
              </a:ext>
            </a:extLst>
          </p:cNvPr>
          <p:cNvCxnSpPr>
            <a:cxnSpLocks/>
          </p:cNvCxnSpPr>
          <p:nvPr/>
        </p:nvCxnSpPr>
        <p:spPr>
          <a:xfrm>
            <a:off x="5807968" y="4078516"/>
            <a:ext cx="0" cy="2230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22D789-8893-2005-343C-694BB69850F0}"/>
              </a:ext>
            </a:extLst>
          </p:cNvPr>
          <p:cNvCxnSpPr>
            <a:cxnSpLocks/>
          </p:cNvCxnSpPr>
          <p:nvPr/>
        </p:nvCxnSpPr>
        <p:spPr>
          <a:xfrm>
            <a:off x="5807968" y="1364379"/>
            <a:ext cx="0" cy="1866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DFE481B-C415-7139-6002-EE785889CE76}"/>
              </a:ext>
            </a:extLst>
          </p:cNvPr>
          <p:cNvSpPr/>
          <p:nvPr/>
        </p:nvSpPr>
        <p:spPr>
          <a:xfrm>
            <a:off x="2050015" y="1241410"/>
            <a:ext cx="6880739" cy="21621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416792-2077-187E-05D9-37FCCDA6A465}"/>
              </a:ext>
            </a:extLst>
          </p:cNvPr>
          <p:cNvSpPr/>
          <p:nvPr/>
        </p:nvSpPr>
        <p:spPr>
          <a:xfrm>
            <a:off x="2077335" y="3992318"/>
            <a:ext cx="6880739" cy="24751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7386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10F – Y1 P221-222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E1C570E-A31F-7BD7-3B19-B6D3A45C0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18332"/>
            <a:ext cx="5688632" cy="3265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F52FB9-1225-ECDF-BF92-63D9B68F89C1}"/>
              </a:ext>
            </a:extLst>
          </p:cNvPr>
          <p:cNvSpPr/>
          <p:nvPr/>
        </p:nvSpPr>
        <p:spPr>
          <a:xfrm>
            <a:off x="9408368" y="3323252"/>
            <a:ext cx="1139384" cy="393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849824-8842-3498-A7F6-7D1259D6F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885522"/>
            <a:ext cx="3254943" cy="21834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D22905-DDAB-8B9B-42AD-5D086319C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414" y="4206462"/>
            <a:ext cx="3265715" cy="7200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0DD27F-545E-8D0C-7E35-4948C7C80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2304" y="4216774"/>
            <a:ext cx="450258" cy="22033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00A140F-664C-6480-7F90-83C282680FC4}"/>
              </a:ext>
            </a:extLst>
          </p:cNvPr>
          <p:cNvGrpSpPr/>
          <p:nvPr/>
        </p:nvGrpSpPr>
        <p:grpSpPr>
          <a:xfrm>
            <a:off x="6299798" y="4074561"/>
            <a:ext cx="3458097" cy="1276751"/>
            <a:chOff x="4788023" y="3680040"/>
            <a:chExt cx="3458097" cy="127675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59BD19E-7BAD-1E5F-AD47-23F850B48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88023" y="3680040"/>
              <a:ext cx="2580283" cy="72007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AD332D-03E0-F5FB-9F50-4B8D6BFB1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76056" y="4480365"/>
              <a:ext cx="3170064" cy="476426"/>
            </a:xfrm>
            <a:prstGeom prst="rect">
              <a:avLst/>
            </a:prstGeom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87DF372-2113-A112-7FE7-4DBCCCBF97A8}"/>
              </a:ext>
            </a:extLst>
          </p:cNvPr>
          <p:cNvSpPr/>
          <p:nvPr/>
        </p:nvSpPr>
        <p:spPr>
          <a:xfrm>
            <a:off x="1991543" y="984567"/>
            <a:ext cx="7848874" cy="21621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550492-05C8-5388-5A82-6F59B6373EEA}"/>
              </a:ext>
            </a:extLst>
          </p:cNvPr>
          <p:cNvSpPr/>
          <p:nvPr/>
        </p:nvSpPr>
        <p:spPr>
          <a:xfrm>
            <a:off x="1991543" y="4077560"/>
            <a:ext cx="3672409" cy="21621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3A645A-E000-CF13-01B8-4562480BE3D7}"/>
              </a:ext>
            </a:extLst>
          </p:cNvPr>
          <p:cNvGrpSpPr/>
          <p:nvPr/>
        </p:nvGrpSpPr>
        <p:grpSpPr>
          <a:xfrm>
            <a:off x="1546338" y="3463481"/>
            <a:ext cx="8989189" cy="508583"/>
            <a:chOff x="22337" y="3463480"/>
            <a:chExt cx="8989189" cy="5085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0BB4B59-1787-536E-2AF4-4BCBCFAF0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337" y="3463480"/>
              <a:ext cx="4393291" cy="50858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1F54A3-8D56-F502-12A3-16900266DAE4}"/>
                </a:ext>
              </a:extLst>
            </p:cNvPr>
            <p:cNvSpPr/>
            <p:nvPr/>
          </p:nvSpPr>
          <p:spPr>
            <a:xfrm>
              <a:off x="3551662" y="3751512"/>
              <a:ext cx="936104" cy="2205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C879279-906C-CD63-FD2D-A22871881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03922" y="3473380"/>
              <a:ext cx="4307604" cy="49866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1418FBF-B55B-9110-34CC-9B92FF0736AE}"/>
                </a:ext>
              </a:extLst>
            </p:cNvPr>
            <p:cNvSpPr/>
            <p:nvPr/>
          </p:nvSpPr>
          <p:spPr>
            <a:xfrm>
              <a:off x="8015841" y="3729121"/>
              <a:ext cx="936104" cy="2205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9A72FC2-6C39-D719-8078-DC024CA06B7C}"/>
              </a:ext>
            </a:extLst>
          </p:cNvPr>
          <p:cNvSpPr/>
          <p:nvPr/>
        </p:nvSpPr>
        <p:spPr>
          <a:xfrm>
            <a:off x="6227923" y="4074561"/>
            <a:ext cx="3612494" cy="21621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95214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10F – Y1 P221-222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C4BA3BF-F609-CD62-2311-352AA2DF2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92697"/>
            <a:ext cx="7772400" cy="10097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5486D5-0D47-4D5E-EF90-E4F7B97F1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7" y="2132856"/>
            <a:ext cx="2664296" cy="2567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2C7F78-7D3E-FC04-5DE8-752790C73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977" y="2126887"/>
            <a:ext cx="3977687" cy="1800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2494642-124E-336F-9D49-41E27F2B95B2}"/>
              </a:ext>
            </a:extLst>
          </p:cNvPr>
          <p:cNvSpPr/>
          <p:nvPr/>
        </p:nvSpPr>
        <p:spPr>
          <a:xfrm>
            <a:off x="1703512" y="2132856"/>
            <a:ext cx="3982748" cy="25674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1CF716-6C50-5B7A-3178-76E559DE75AE}"/>
              </a:ext>
            </a:extLst>
          </p:cNvPr>
          <p:cNvSpPr/>
          <p:nvPr/>
        </p:nvSpPr>
        <p:spPr>
          <a:xfrm>
            <a:off x="5939893" y="2129857"/>
            <a:ext cx="3917770" cy="25674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127734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>
                  <a:solidFill>
                    <a:srgbClr val="FF0000"/>
                  </a:solidFill>
                </a:rPr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68612" y="988452"/>
                <a:ext cx="4176464" cy="3982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2010 1C] </a:t>
                </a:r>
                <a:r>
                  <a:rPr lang="en-GB" dirty="0"/>
                  <a:t>In the range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&lt;360°</m:t>
                    </m:r>
                  </m:oMath>
                </a14:m>
                <a:r>
                  <a:rPr lang="en-GB" dirty="0"/>
                  <a:t>, the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Has how many solutions?</a:t>
                </a:r>
              </a:p>
              <a:p>
                <a:endParaRPr lang="en-GB" dirty="0"/>
              </a:p>
              <a:p>
                <a:r>
                  <a:rPr lang="en-GB" b="1" dirty="0"/>
                  <a:t>There are multiple ways to do this, including factorising LHS to </a:t>
                </a:r>
                <a:br>
                  <a:rPr lang="en-GB" b="1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r>
                      <a:rPr lang="en-GB" b="1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r>
                      <a:rPr lang="en-GB" b="1" i="1">
                        <a:latin typeface="Cambria Math" panose="02040503050406030204" pitchFamily="18" charset="0"/>
                      </a:rPr>
                      <m:t>)(</m:t>
                    </m:r>
                    <m:func>
                      <m:func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r>
                      <a:rPr lang="en-GB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𝟐</m:t>
                    </m:r>
                    <m:func>
                      <m:func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r>
                      <a:rPr lang="en-GB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, but dividing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>
                                <a:latin typeface="Cambria Math" panose="02040503050406030204" pitchFamily="18" charset="0"/>
                              </a:rPr>
                              <m:t>𝐜𝐨𝐬</m:t>
                            </m:r>
                          </m:e>
                          <m:sup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</m:oMath>
                </a14:m>
                <a:r>
                  <a:rPr lang="en-GB" b="1" dirty="0"/>
                  <a:t> gives: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𝒐𝒓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tan </a:t>
                </a:r>
                <a:r>
                  <a:rPr lang="en-GB" b="1" u="sng" dirty="0"/>
                  <a:t>always</a:t>
                </a:r>
                <a:r>
                  <a:rPr lang="en-GB" b="1" dirty="0"/>
                  <a:t> gives a pair of solutions per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𝟑𝟔𝟎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GB" b="1" dirty="0"/>
                  <a:t>, so there are 4 solutions.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612" y="988452"/>
                <a:ext cx="4176464" cy="3982757"/>
              </a:xfrm>
              <a:prstGeom prst="rect">
                <a:avLst/>
              </a:prstGeom>
              <a:blipFill>
                <a:blip r:embed="rId2"/>
                <a:stretch>
                  <a:fillRect l="-1212" t="-635" r="-1515" b="-15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816080" y="980729"/>
                <a:ext cx="3661296" cy="3559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2014 1E] </a:t>
                </a:r>
                <a:r>
                  <a:rPr lang="en-GB" dirty="0"/>
                  <a:t>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varies over the real numbers, the largest value taken by the function </a:t>
                </a:r>
                <a:br>
                  <a:rPr lang="en-GB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func>
                              <m:func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+4</m:t>
                            </m:r>
                            <m:func>
                              <m:func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equals what?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func>
                                <m:func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1">
                                          <a:latin typeface="Cambria Math" panose="02040503050406030204" pitchFamily="18" charset="0"/>
                                        </a:rPr>
                                        <m:t>𝐜𝐨𝐬</m:t>
                                      </m:r>
                                    </m:e>
                                    <m:sup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func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func>
                                <m:func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GB" b="1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func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func>
                                <m:func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1">
                                          <a:latin typeface="Cambria Math" panose="02040503050406030204" pitchFamily="18" charset="0"/>
                                        </a:rPr>
                                        <m:t>𝐜𝐨𝐬</m:t>
                                      </m:r>
                                    </m:e>
                                    <m:sup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func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func>
                                <m:func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GB" b="1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func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  <m:func>
                                        <m:funcPr>
                                          <m:ctrlPr>
                                            <a:rPr lang="en-GB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en-GB" b="1">
                                              <a:latin typeface="Cambria Math" panose="02040503050406030204" pitchFamily="18" charset="0"/>
                                            </a:rPr>
                                            <m:t>𝐜𝐨𝐬</m:t>
                                          </m:r>
                                        </m:fName>
                                        <m:e>
                                          <m:r>
                                            <a:rPr lang="en-GB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func>
                                    </m:e>
                                  </m:d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br>
                  <a:rPr lang="en-GB" b="1" dirty="0"/>
                </a:br>
                <a:endParaRPr lang="en-GB" b="1" dirty="0"/>
              </a:p>
              <a:p>
                <a:r>
                  <a:rPr lang="en-GB" b="1" dirty="0"/>
                  <a:t>We can make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GB" b="1" dirty="0"/>
                  <a:t>, thus giving a maximum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𝟑𝟔</m:t>
                    </m:r>
                  </m:oMath>
                </a14:m>
                <a:r>
                  <a:rPr lang="en-GB" b="1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80" y="980729"/>
                <a:ext cx="3661296" cy="3559501"/>
              </a:xfrm>
              <a:prstGeom prst="rect">
                <a:avLst/>
              </a:prstGeom>
              <a:blipFill>
                <a:blip r:embed="rId3"/>
                <a:stretch>
                  <a:fillRect l="-1379" t="-1068" r="-1379" b="-17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652588" y="1083700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124" y="1083700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68615" y="2274837"/>
            <a:ext cx="4254255" cy="27791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5940" y="2546856"/>
            <a:ext cx="3639616" cy="2546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3591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30770</TotalTime>
  <Words>3370</Words>
  <Application>Microsoft Office PowerPoint</Application>
  <PresentationFormat>Widescreen</PresentationFormat>
  <Paragraphs>530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Y1 Chapter 10  Trigonometric Identities &amp;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A Lamagna</cp:lastModifiedBy>
  <cp:revision>1191</cp:revision>
  <dcterms:created xsi:type="dcterms:W3CDTF">2013-02-28T07:36:55Z</dcterms:created>
  <dcterms:modified xsi:type="dcterms:W3CDTF">2024-11-09T11:41:17Z</dcterms:modified>
</cp:coreProperties>
</file>