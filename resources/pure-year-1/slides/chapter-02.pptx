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7" r:id="rId2"/>
    <p:sldId id="483" r:id="rId3"/>
    <p:sldId id="508" r:id="rId4"/>
    <p:sldId id="509" r:id="rId5"/>
    <p:sldId id="484" r:id="rId6"/>
    <p:sldId id="510" r:id="rId7"/>
    <p:sldId id="511" r:id="rId8"/>
    <p:sldId id="546" r:id="rId9"/>
    <p:sldId id="547" r:id="rId10"/>
    <p:sldId id="486" r:id="rId11"/>
    <p:sldId id="488" r:id="rId12"/>
    <p:sldId id="512" r:id="rId13"/>
    <p:sldId id="513" r:id="rId14"/>
    <p:sldId id="514" r:id="rId15"/>
    <p:sldId id="516" r:id="rId16"/>
    <p:sldId id="515" r:id="rId17"/>
    <p:sldId id="548" r:id="rId18"/>
    <p:sldId id="517" r:id="rId19"/>
    <p:sldId id="518" r:id="rId20"/>
    <p:sldId id="519" r:id="rId21"/>
    <p:sldId id="520" r:id="rId22"/>
    <p:sldId id="521" r:id="rId23"/>
    <p:sldId id="522" r:id="rId24"/>
    <p:sldId id="523" r:id="rId25"/>
    <p:sldId id="524" r:id="rId26"/>
    <p:sldId id="525" r:id="rId27"/>
    <p:sldId id="526" r:id="rId28"/>
    <p:sldId id="527" r:id="rId29"/>
    <p:sldId id="528" r:id="rId30"/>
    <p:sldId id="543" r:id="rId31"/>
    <p:sldId id="545" r:id="rId32"/>
    <p:sldId id="544" r:id="rId33"/>
    <p:sldId id="550" r:id="rId34"/>
    <p:sldId id="529" r:id="rId35"/>
    <p:sldId id="535" r:id="rId36"/>
    <p:sldId id="530" r:id="rId37"/>
    <p:sldId id="538" r:id="rId38"/>
    <p:sldId id="541" r:id="rId39"/>
    <p:sldId id="531" r:id="rId40"/>
    <p:sldId id="532" r:id="rId41"/>
    <p:sldId id="551" r:id="rId42"/>
    <p:sldId id="552" r:id="rId43"/>
    <p:sldId id="553" r:id="rId44"/>
    <p:sldId id="533" r:id="rId45"/>
    <p:sldId id="537" r:id="rId46"/>
    <p:sldId id="539" r:id="rId47"/>
    <p:sldId id="540" r:id="rId48"/>
    <p:sldId id="555" r:id="rId49"/>
    <p:sldId id="554" r:id="rId50"/>
    <p:sldId id="534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4" autoAdjust="0"/>
    <p:restoredTop sz="96327" autoAdjust="0"/>
  </p:normalViewPr>
  <p:slideViewPr>
    <p:cSldViewPr>
      <p:cViewPr varScale="1">
        <p:scale>
          <a:sx n="129" d="100"/>
          <a:sy n="129" d="100"/>
        </p:scale>
        <p:origin x="1745" y="75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Lamagna" userId="51ffa61b-81bf-4463-bdeb-7e3f3f1f8945" providerId="ADAL" clId="{0CFC70CC-240B-43D9-BF13-B464AB9AAEDE}"/>
    <pc:docChg chg="modSld">
      <pc:chgData name="A Lamagna" userId="51ffa61b-81bf-4463-bdeb-7e3f3f1f8945" providerId="ADAL" clId="{0CFC70CC-240B-43D9-BF13-B464AB9AAEDE}" dt="2025-09-17T16:49:12.643" v="26" actId="6549"/>
      <pc:docMkLst>
        <pc:docMk/>
      </pc:docMkLst>
      <pc:sldChg chg="modSp">
        <pc:chgData name="A Lamagna" userId="51ffa61b-81bf-4463-bdeb-7e3f3f1f8945" providerId="ADAL" clId="{0CFC70CC-240B-43D9-BF13-B464AB9AAEDE}" dt="2025-09-17T16:49:12.643" v="26" actId="6549"/>
        <pc:sldMkLst>
          <pc:docMk/>
          <pc:sldMk cId="2991884332" sldId="533"/>
        </pc:sldMkLst>
        <pc:spChg chg="mod">
          <ac:chgData name="A Lamagna" userId="51ffa61b-81bf-4463-bdeb-7e3f3f1f8945" providerId="ADAL" clId="{0CFC70CC-240B-43D9-BF13-B464AB9AAEDE}" dt="2025-09-17T16:49:12.643" v="26" actId="6549"/>
          <ac:spMkLst>
            <pc:docMk/>
            <pc:sldMk cId="2991884332" sldId="533"/>
            <ac:spMk id="5" creationId="{00000000-0000-0000-0000-000000000000}"/>
          </ac:spMkLst>
        </pc:spChg>
      </pc:sldChg>
    </pc:docChg>
  </pc:docChgLst>
  <pc:docChgLst>
    <pc:chgData name="A Lamagna" userId="51ffa61b-81bf-4463-bdeb-7e3f3f1f8945" providerId="ADAL" clId="{D9C216CF-6D61-DB43-BF19-4709B6274E77}"/>
    <pc:docChg chg="custSel modSld">
      <pc:chgData name="A Lamagna" userId="51ffa61b-81bf-4463-bdeb-7e3f3f1f8945" providerId="ADAL" clId="{D9C216CF-6D61-DB43-BF19-4709B6274E77}" dt="2023-12-29T22:52:42.794" v="3" actId="1076"/>
      <pc:docMkLst>
        <pc:docMk/>
      </pc:docMkLst>
      <pc:sldChg chg="delSp modSp mod">
        <pc:chgData name="A Lamagna" userId="51ffa61b-81bf-4463-bdeb-7e3f3f1f8945" providerId="ADAL" clId="{D9C216CF-6D61-DB43-BF19-4709B6274E77}" dt="2023-12-29T22:52:42.794" v="3" actId="1076"/>
        <pc:sldMkLst>
          <pc:docMk/>
          <pc:sldMk cId="3808051470" sldId="4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Last modified: 5</a:t>
            </a:r>
            <a:r>
              <a:rPr lang="en-GB" baseline="30000"/>
              <a:t>th</a:t>
            </a:r>
            <a:r>
              <a:rPr lang="en-GB"/>
              <a:t> November 2019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9758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351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007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698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115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480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409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58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577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6926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746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5109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3635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623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757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5151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2794FB-C7EC-52E2-E5CC-9239F0172DA3}"/>
              </a:ext>
            </a:extLst>
          </p:cNvPr>
          <p:cNvSpPr/>
          <p:nvPr userDrawn="1"/>
        </p:nvSpPr>
        <p:spPr>
          <a:xfrm>
            <a:off x="8428871" y="188640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371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96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41FCD68-8B6E-A7C5-AF86-F245AC0086A7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710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412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32.png"/><Relationship Id="rId5" Type="http://schemas.openxmlformats.org/officeDocument/2006/relationships/image" Target="../media/image7.png"/><Relationship Id="rId10" Type="http://schemas.openxmlformats.org/officeDocument/2006/relationships/image" Target="../media/image31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frostmaths.com/resources/resource.php?rid=268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0.png"/><Relationship Id="rId4" Type="http://schemas.openxmlformats.org/officeDocument/2006/relationships/image" Target="../media/image3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7" Type="http://schemas.openxmlformats.org/officeDocument/2006/relationships/image" Target="../media/image43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0.png"/><Relationship Id="rId5" Type="http://schemas.openxmlformats.org/officeDocument/2006/relationships/image" Target="../media/image411.png"/><Relationship Id="rId4" Type="http://schemas.openxmlformats.org/officeDocument/2006/relationships/image" Target="../media/image40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2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0.png"/><Relationship Id="rId5" Type="http://schemas.openxmlformats.org/officeDocument/2006/relationships/image" Target="../media/image630.png"/><Relationship Id="rId4" Type="http://schemas.openxmlformats.org/officeDocument/2006/relationships/image" Target="../media/image6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0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0.png"/><Relationship Id="rId5" Type="http://schemas.openxmlformats.org/officeDocument/2006/relationships/image" Target="../media/image680.png"/><Relationship Id="rId4" Type="http://schemas.openxmlformats.org/officeDocument/2006/relationships/image" Target="../media/image6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1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png"/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0.png"/><Relationship Id="rId5" Type="http://schemas.openxmlformats.org/officeDocument/2006/relationships/image" Target="../media/image920.png"/><Relationship Id="rId4" Type="http://schemas.openxmlformats.org/officeDocument/2006/relationships/image" Target="../media/image91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0.png"/><Relationship Id="rId7" Type="http://schemas.openxmlformats.org/officeDocument/2006/relationships/image" Target="../media/image99.png"/><Relationship Id="rId2" Type="http://schemas.openxmlformats.org/officeDocument/2006/relationships/image" Target="../media/image9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60.png"/><Relationship Id="rId9" Type="http://schemas.openxmlformats.org/officeDocument/2006/relationships/image" Target="../media/image10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4.png"/><Relationship Id="rId7" Type="http://schemas.openxmlformats.org/officeDocument/2006/relationships/image" Target="../media/image101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10" Type="http://schemas.openxmlformats.org/officeDocument/2006/relationships/image" Target="../media/image110.png"/><Relationship Id="rId4" Type="http://schemas.openxmlformats.org/officeDocument/2006/relationships/image" Target="../media/image105.png"/><Relationship Id="rId9" Type="http://schemas.openxmlformats.org/officeDocument/2006/relationships/image" Target="../media/image10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png"/><Relationship Id="rId18" Type="http://schemas.openxmlformats.org/officeDocument/2006/relationships/image" Target="../media/image127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17" Type="http://schemas.openxmlformats.org/officeDocument/2006/relationships/image" Target="../media/image126.png"/><Relationship Id="rId2" Type="http://schemas.openxmlformats.org/officeDocument/2006/relationships/image" Target="../media/image111.png"/><Relationship Id="rId16" Type="http://schemas.openxmlformats.org/officeDocument/2006/relationships/image" Target="../media/image1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5" Type="http://schemas.openxmlformats.org/officeDocument/2006/relationships/image" Target="../media/image124.png"/><Relationship Id="rId10" Type="http://schemas.openxmlformats.org/officeDocument/2006/relationships/image" Target="../media/image119.png"/><Relationship Id="rId19" Type="http://schemas.openxmlformats.org/officeDocument/2006/relationships/image" Target="../media/image128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0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20.png"/><Relationship Id="rId5" Type="http://schemas.openxmlformats.org/officeDocument/2006/relationships/image" Target="../media/image1310.png"/><Relationship Id="rId4" Type="http://schemas.openxmlformats.org/officeDocument/2006/relationships/image" Target="../media/image130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0.png"/><Relationship Id="rId2" Type="http://schemas.openxmlformats.org/officeDocument/2006/relationships/image" Target="../media/image134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12.png"/><Relationship Id="rId4" Type="http://schemas.openxmlformats.org/officeDocument/2006/relationships/image" Target="../media/image136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0.png"/><Relationship Id="rId7" Type="http://schemas.openxmlformats.org/officeDocument/2006/relationships/image" Target="../media/image143.png"/><Relationship Id="rId2" Type="http://schemas.openxmlformats.org/officeDocument/2006/relationships/image" Target="../media/image13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400.png"/><Relationship Id="rId9" Type="http://schemas.openxmlformats.org/officeDocument/2006/relationships/image" Target="../media/image14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10" Type="http://schemas.openxmlformats.org/officeDocument/2006/relationships/image" Target="../media/image154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3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10.png"/><Relationship Id="rId4" Type="http://schemas.openxmlformats.org/officeDocument/2006/relationships/image" Target="NUL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7.png"/><Relationship Id="rId5" Type="http://schemas.openxmlformats.org/officeDocument/2006/relationships/image" Target="../media/image166.png"/><Relationship Id="rId4" Type="http://schemas.openxmlformats.org/officeDocument/2006/relationships/image" Target="../media/image16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80.png"/><Relationship Id="rId4" Type="http://schemas.openxmlformats.org/officeDocument/2006/relationships/image" Target="../media/image157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10.png"/><Relationship Id="rId4" Type="http://schemas.openxmlformats.org/officeDocument/2006/relationships/image" Target="../media/image160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0.png"/><Relationship Id="rId2" Type="http://schemas.openxmlformats.org/officeDocument/2006/relationships/image" Target="../media/image162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jpeg"/><Relationship Id="rId2" Type="http://schemas.openxmlformats.org/officeDocument/2006/relationships/image" Target="../media/image16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93988"/>
            <a:ext cx="9036496" cy="1470025"/>
          </a:xfrm>
        </p:spPr>
        <p:txBody>
          <a:bodyPr/>
          <a:lstStyle/>
          <a:p>
            <a:r>
              <a:rPr lang="en-GB" b="1" dirty="0"/>
              <a:t>Pure Y1 Ch 2</a:t>
            </a:r>
            <a:br>
              <a:rPr lang="en-GB" b="1" dirty="0"/>
            </a:br>
            <a:r>
              <a:rPr lang="en-GB" b="1" dirty="0"/>
              <a:t>Quadratics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9097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3528" y="764704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Again, most of the content in this chapter is not new, but brings together a variety of algebraic and graph sketching GCSE skills regarding quadratic equations.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7544" y="1999434"/>
                <a:ext cx="3168352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dirty="0"/>
                  <a:t>Solve </a:t>
                </a:r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999434"/>
                <a:ext cx="3168352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67544" y="1627117"/>
            <a:ext cx="316835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1</a:t>
            </a:r>
            <a:r>
              <a:rPr lang="en-GB" dirty="0"/>
              <a:t>: Solving quadratic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55976" y="1987157"/>
                <a:ext cx="2736304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Write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lang="en-GB" dirty="0"/>
                  <a:t>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1987157"/>
                <a:ext cx="2736304" cy="646331"/>
              </a:xfrm>
              <a:prstGeom prst="rect">
                <a:avLst/>
              </a:prstGeom>
              <a:blipFill>
                <a:blip r:embed="rId3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355976" y="1617825"/>
            <a:ext cx="2736304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2</a:t>
            </a:r>
            <a:r>
              <a:rPr lang="en-GB" dirty="0"/>
              <a:t>: Completing the square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7544" y="3852356"/>
                <a:ext cx="3024336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find the roots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852356"/>
                <a:ext cx="3024336" cy="646331"/>
              </a:xfrm>
              <a:prstGeom prst="rect">
                <a:avLst/>
              </a:prstGeom>
              <a:blipFill>
                <a:blip r:embed="rId4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467544" y="3492316"/>
            <a:ext cx="3024336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3</a:t>
            </a:r>
            <a:r>
              <a:rPr lang="en-GB" dirty="0"/>
              <a:t>: Quadratics as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860032" y="3468712"/>
                <a:ext cx="3240360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lang="en-GB" dirty="0"/>
                  <a:t>, indicating the coordinate of the turning point and any intercepts with the axes.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3468712"/>
                <a:ext cx="3240360" cy="1200329"/>
              </a:xfrm>
              <a:prstGeom prst="rect">
                <a:avLst/>
              </a:prstGeom>
              <a:blipFill>
                <a:blip r:embed="rId5"/>
                <a:stretch>
                  <a:fillRect b="-44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4860032" y="3108672"/>
            <a:ext cx="324036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4</a:t>
            </a:r>
            <a:r>
              <a:rPr lang="en-GB" dirty="0"/>
              <a:t>: Quadratic Graphs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67544" y="5457857"/>
                <a:ext cx="3168352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the range of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for which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has two distinct real solutions.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457857"/>
                <a:ext cx="3168352" cy="923330"/>
              </a:xfrm>
              <a:prstGeom prst="rect">
                <a:avLst/>
              </a:prstGeom>
              <a:blipFill>
                <a:blip r:embed="rId6"/>
                <a:stretch>
                  <a:fillRect b="-116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67544" y="5097817"/>
            <a:ext cx="316835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5</a:t>
            </a:r>
            <a:r>
              <a:rPr lang="en-GB" dirty="0"/>
              <a:t>: The Discriminant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4196" y="5282483"/>
            <a:ext cx="316835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6</a:t>
            </a:r>
            <a:r>
              <a:rPr lang="en-GB" dirty="0"/>
              <a:t>: Modelling with Quadratics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A6B68E-DAB9-4A8B-3C25-076028ABA27F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19" name="TextBox 32">
              <a:extLst>
                <a:ext uri="{FF2B5EF4-FFF2-40B4-BE49-F238E27FC236}">
                  <a16:creationId xmlns:a16="http://schemas.microsoft.com/office/drawing/2014/main" id="{DE154DEE-89E3-E460-487C-690F38477922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Chapter Overview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22C28E8-B114-3CA5-1D61-077233E54B5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808051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Why do we care about quadratics…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611560" y="908720"/>
            <a:ext cx="7128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Good question!</a:t>
            </a:r>
          </a:p>
          <a:p>
            <a:r>
              <a:rPr lang="en-GB" dirty="0"/>
              <a:t>There are a number of </a:t>
            </a:r>
            <a:r>
              <a:rPr lang="en-GB" b="1" dirty="0"/>
              <a:t>practical scenarios </a:t>
            </a:r>
            <a:r>
              <a:rPr lang="en-GB" dirty="0"/>
              <a:t>where a quadratic relationship arises between variables…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568" y="2204864"/>
            <a:ext cx="1512168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Summations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12103" y="2708920"/>
                <a:ext cx="4076011" cy="3652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sum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. I recently had to make a Sports Day spreadsheet which took the number of competing school ‘houses’ and worked out the total points allocated for an event by finding the formula of the resulting quadratic sequence.</a:t>
                </a:r>
              </a:p>
              <a:p>
                <a:endParaRPr lang="en-GB" dirty="0"/>
              </a:p>
              <a:p>
                <a:r>
                  <a:rPr lang="en-GB" b="1" dirty="0"/>
                  <a:t>                1 competitor: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GB" b="1" dirty="0"/>
                  <a:t> points</a:t>
                </a:r>
              </a:p>
              <a:p>
                <a:r>
                  <a:rPr lang="en-GB" b="1" dirty="0"/>
                  <a:t>               2 competitors: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𝟏𝟓</m:t>
                    </m:r>
                  </m:oMath>
                </a14:m>
                <a:endParaRPr lang="en-GB" b="1" dirty="0"/>
              </a:p>
              <a:p>
                <a:r>
                  <a:rPr lang="en-GB" b="1" dirty="0"/>
                  <a:t>               3 competitors: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𝟐𝟏</m:t>
                    </m:r>
                  </m:oMath>
                </a14:m>
                <a:endParaRPr lang="en-GB" b="1" dirty="0"/>
              </a:p>
              <a:p>
                <a:r>
                  <a:rPr lang="en-GB" b="1" dirty="0"/>
                  <a:t>              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GB" b="1" dirty="0"/>
                  <a:t> competitors: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𝟏𝟕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03" y="2708920"/>
                <a:ext cx="4076011" cy="3652218"/>
              </a:xfrm>
              <a:prstGeom prst="rect">
                <a:avLst/>
              </a:prstGeom>
              <a:blipFill>
                <a:blip r:embed="rId2"/>
                <a:stretch>
                  <a:fillRect l="-1196" b="-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55" y="5076825"/>
            <a:ext cx="1038225" cy="1781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04048" y="1956977"/>
            <a:ext cx="200135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Projectile Motion</a:t>
            </a:r>
          </a:p>
        </p:txBody>
      </p:sp>
      <p:sp>
        <p:nvSpPr>
          <p:cNvPr id="10" name="Freeform: Shape 9"/>
          <p:cNvSpPr/>
          <p:nvPr/>
        </p:nvSpPr>
        <p:spPr>
          <a:xfrm>
            <a:off x="5781262" y="2510408"/>
            <a:ext cx="1689375" cy="795494"/>
          </a:xfrm>
          <a:custGeom>
            <a:avLst/>
            <a:gdLst>
              <a:gd name="connsiteX0" fmla="*/ 0 w 1491916"/>
              <a:gd name="connsiteY0" fmla="*/ 938470 h 938470"/>
              <a:gd name="connsiteX1" fmla="*/ 806116 w 1491916"/>
              <a:gd name="connsiteY1" fmla="*/ 6 h 938470"/>
              <a:gd name="connsiteX2" fmla="*/ 1491916 w 1491916"/>
              <a:gd name="connsiteY2" fmla="*/ 926438 h 938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1916" h="938470">
                <a:moveTo>
                  <a:pt x="0" y="938470"/>
                </a:moveTo>
                <a:cubicBezTo>
                  <a:pt x="278731" y="470240"/>
                  <a:pt x="557463" y="2011"/>
                  <a:pt x="806116" y="6"/>
                </a:cubicBezTo>
                <a:cubicBezTo>
                  <a:pt x="1054769" y="-1999"/>
                  <a:pt x="1273342" y="462219"/>
                  <a:pt x="1491916" y="926438"/>
                </a:cubicBezTo>
              </a:path>
            </a:pathLst>
          </a:custGeom>
          <a:noFill/>
          <a:ln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004048" y="3388339"/>
                <a:ext cx="3801550" cy="3380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 projected object, acting only under gravity, follows a </a:t>
                </a:r>
                <a:r>
                  <a:rPr lang="en-GB" i="1" dirty="0"/>
                  <a:t>parabolic</a:t>
                </a:r>
                <a:r>
                  <a:rPr lang="en-GB" dirty="0"/>
                  <a:t> trajectory, i.e. its path can be described using a quadratic equation.</a:t>
                </a:r>
              </a:p>
              <a:p>
                <a:r>
                  <a:rPr lang="en-GB" dirty="0"/>
                  <a:t>In Mechanics you will see the formula: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 is distance/displacement,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dirty="0"/>
                  <a:t> is initial speed/velocity,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is time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is acceleration (in this case gravitational acceleration).</a:t>
                </a:r>
              </a:p>
              <a:p>
                <a:r>
                  <a:rPr lang="en-GB" dirty="0"/>
                  <a:t>This equation is quadratic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3388339"/>
                <a:ext cx="3801550" cy="3380926"/>
              </a:xfrm>
              <a:prstGeom prst="rect">
                <a:avLst/>
              </a:prstGeom>
              <a:blipFill>
                <a:blip r:embed="rId4"/>
                <a:stretch>
                  <a:fillRect l="-1445" t="-1083" r="-2087" b="-19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6968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Why do we care about quadratics…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467544" y="990823"/>
            <a:ext cx="2088232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Hannah’s sweets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556792"/>
            <a:ext cx="4981575" cy="3038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32695" y="4941168"/>
            <a:ext cx="5616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Quadratic expressions also regularly emerge when there’s a product of two expressions involving the same variable (in this case because Hannah ate two orange sweets).</a:t>
            </a:r>
          </a:p>
        </p:txBody>
      </p:sp>
    </p:spTree>
    <p:extLst>
      <p:ext uri="{BB962C8B-B14F-4D97-AF65-F5344CB8AC3E}">
        <p14:creationId xmlns:p14="http://schemas.microsoft.com/office/powerpoint/2010/main" val="2453751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1: Solving Quadratic Equations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84129" y="894206"/>
                <a:ext cx="432048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4129" y="894206"/>
                <a:ext cx="4320480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715210" y="1602092"/>
            <a:ext cx="5544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 are three ways of solving a quadratic equation.</a:t>
            </a:r>
          </a:p>
          <a:p>
            <a:r>
              <a:rPr lang="en-GB" dirty="0"/>
              <a:t>One is by </a:t>
            </a:r>
            <a:r>
              <a:rPr lang="en-GB" i="1" dirty="0"/>
              <a:t>completing the square</a:t>
            </a:r>
            <a:r>
              <a:rPr lang="en-GB" dirty="0"/>
              <a:t>, which we’ll do later.</a:t>
            </a:r>
          </a:p>
          <a:p>
            <a:r>
              <a:rPr lang="en-GB" dirty="0"/>
              <a:t>What are the other two ways?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544" y="2780928"/>
            <a:ext cx="4921064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By factorisation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38515" y="3394799"/>
                <a:ext cx="273630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−6=0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=−6,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15" y="3394799"/>
                <a:ext cx="2736304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572767" y="3407725"/>
                <a:ext cx="1815841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Put in form.</a:t>
                </a:r>
              </a:p>
              <a:p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600" dirty="0"/>
                  <a:t> with 0 on one side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2767" y="3407725"/>
                <a:ext cx="1815841" cy="830997"/>
              </a:xfrm>
              <a:prstGeom prst="rect">
                <a:avLst/>
              </a:prstGeom>
              <a:blipFill>
                <a:blip r:embed="rId4"/>
                <a:stretch>
                  <a:fillRect l="-993" t="-714"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>
            <a:stCxn id="32" idx="1"/>
          </p:cNvCxnSpPr>
          <p:nvPr/>
        </p:nvCxnSpPr>
        <p:spPr>
          <a:xfrm flipH="1" flipV="1">
            <a:off x="3059832" y="3645024"/>
            <a:ext cx="512935" cy="17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348145" y="4384778"/>
            <a:ext cx="1815841" cy="10772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Factorise. If the product of two things is 0, at least one must be 0.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 flipH="1" flipV="1">
            <a:off x="2844800" y="4209143"/>
            <a:ext cx="503346" cy="597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67544" y="3179108"/>
            <a:ext cx="4921064" cy="2282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52120" y="2780928"/>
            <a:ext cx="318708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Using the quadratic formula.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652120" y="3179108"/>
                <a:ext cx="3024336" cy="3175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then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−6=0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=−6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−5±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25+24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−5±7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−6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3179108"/>
                <a:ext cx="3024336" cy="3175741"/>
              </a:xfrm>
              <a:prstGeom prst="rect">
                <a:avLst/>
              </a:prstGeom>
              <a:blipFill>
                <a:blip r:embed="rId5"/>
                <a:stretch>
                  <a:fillRect l="-1613" t="-11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/>
          <p:cNvSpPr/>
          <p:nvPr/>
        </p:nvSpPr>
        <p:spPr>
          <a:xfrm>
            <a:off x="5628726" y="3179107"/>
            <a:ext cx="3210474" cy="31757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1783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38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1: Solving Quadratic Equations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687964" y="1236174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 the subject only appears once however, it might be easier not to expand out/factorise: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04188" y="1956254"/>
                <a:ext cx="2808312" cy="1100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−1=±</m:t>
                      </m:r>
                      <m:rad>
                        <m:radPr>
                          <m:deg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=1±</m:t>
                      </m:r>
                      <m:rad>
                        <m:radPr>
                          <m:deg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br>
                  <a:rPr lang="en-GB" b="0" dirty="0"/>
                </a:br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188" y="1956254"/>
                <a:ext cx="2808312" cy="1100879"/>
              </a:xfrm>
              <a:prstGeom prst="rect">
                <a:avLst/>
              </a:prstGeom>
              <a:blipFill>
                <a:blip r:embed="rId2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28524" y="1956254"/>
                <a:ext cx="3096344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If you can’t see why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± </m:t>
                    </m:r>
                  </m:oMath>
                </a14:m>
                <a:r>
                  <a:rPr lang="en-GB" sz="1400" dirty="0"/>
                  <a:t> is required, think about the solutions to: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400" dirty="0"/>
                  <a:t>, but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400" dirty="0"/>
                  <a:t> as well! </a:t>
                </a:r>
              </a:p>
              <a:p>
                <a:r>
                  <a:rPr lang="en-GB" sz="1400" dirty="0"/>
                  <a:t>So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=±2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524" y="1956254"/>
                <a:ext cx="3096344" cy="954107"/>
              </a:xfrm>
              <a:prstGeom prst="rect">
                <a:avLst/>
              </a:prstGeom>
              <a:blipFill>
                <a:blip r:embed="rId3"/>
                <a:stretch>
                  <a:fillRect l="-195" b="-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5008444" y="2433308"/>
            <a:ext cx="720080" cy="73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91932" y="3582302"/>
                <a:ext cx="770485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When we have an expression like say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GB" dirty="0"/>
                  <a:t>, we say it is “quadratic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”. In trigonometry you will have to solve equations like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dirty="0"/>
                  <a:t>. We say that the expression is “quadratic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”. </a:t>
                </a:r>
              </a:p>
              <a:p>
                <a:r>
                  <a:rPr lang="en-GB" dirty="0"/>
                  <a:t>Either use a suitable substitution so that you have a ‘normal’ quadratic, or go straight for the factorisation if you’re feeling more confident (recommended!).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32" y="3582302"/>
                <a:ext cx="7704856" cy="1477328"/>
              </a:xfrm>
              <a:prstGeom prst="rect">
                <a:avLst/>
              </a:prstGeom>
              <a:blipFill>
                <a:blip r:embed="rId4"/>
                <a:stretch>
                  <a:fillRect l="-713" t="-2479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91932" y="3212970"/>
            <a:ext cx="252028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Quadratics ‘in disguise’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537" y="713684"/>
            <a:ext cx="2952328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Solving without factorising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912753" y="5059630"/>
                <a:ext cx="3456384" cy="465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Solve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−6</m:t>
                    </m:r>
                    <m:rad>
                      <m:radPr>
                        <m:deg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+8=0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753" y="5059630"/>
                <a:ext cx="3456384" cy="465769"/>
              </a:xfrm>
              <a:prstGeom prst="rect">
                <a:avLst/>
              </a:prstGeom>
              <a:blipFill>
                <a:blip r:embed="rId5"/>
                <a:stretch>
                  <a:fillRect l="-2822" t="-9211" b="-30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25874" y="5380256"/>
                <a:ext cx="3691384" cy="1483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GB" dirty="0"/>
                  <a:t>, 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+8=0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=2,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    →   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=2, 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74" y="5380256"/>
                <a:ext cx="3691384" cy="1483483"/>
              </a:xfrm>
              <a:prstGeom prst="rect">
                <a:avLst/>
              </a:prstGeom>
              <a:blipFill>
                <a:blip r:embed="rId6"/>
                <a:stretch>
                  <a:fillRect l="-1488" t="-20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023429" y="5747624"/>
                <a:ext cx="2667620" cy="929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429" y="5747624"/>
                <a:ext cx="2667620" cy="9294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13" idx="2"/>
          </p:cNvCxnSpPr>
          <p:nvPr/>
        </p:nvCxnSpPr>
        <p:spPr>
          <a:xfrm flipH="1">
            <a:off x="3846286" y="5525399"/>
            <a:ext cx="794659" cy="498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2"/>
          </p:cNvCxnSpPr>
          <p:nvPr/>
        </p:nvCxnSpPr>
        <p:spPr>
          <a:xfrm>
            <a:off x="4640945" y="5525399"/>
            <a:ext cx="1498598" cy="599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 rot="1206920">
            <a:off x="4920343" y="5890878"/>
            <a:ext cx="1317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hardcore</a:t>
            </a:r>
          </a:p>
        </p:txBody>
      </p:sp>
      <p:sp>
        <p:nvSpPr>
          <p:cNvPr id="24" name="TextBox 23"/>
          <p:cNvSpPr txBox="1"/>
          <p:nvPr/>
        </p:nvSpPr>
        <p:spPr>
          <a:xfrm rot="19609058">
            <a:off x="3733322" y="5673362"/>
            <a:ext cx="1317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substitution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4229" y="5602514"/>
            <a:ext cx="2536914" cy="10931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409" y="5457371"/>
            <a:ext cx="3554219" cy="13207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7143" y="2307771"/>
            <a:ext cx="2536914" cy="6992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0361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3" grpId="0"/>
      <p:bldP spid="14" grpId="0"/>
      <p:bldP spid="15" grpId="0"/>
      <p:bldP spid="21" grpId="0"/>
      <p:bldP spid="24" grpId="0"/>
      <p:bldP spid="25" grpId="0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5355" y="876611"/>
                <a:ext cx="3618765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GB" dirty="0"/>
                  <a:t> using factorisation.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55" y="876611"/>
                <a:ext cx="3618765" cy="646331"/>
              </a:xfrm>
              <a:prstGeom prst="rect">
                <a:avLst/>
              </a:prstGeom>
              <a:blipFill>
                <a:blip r:embed="rId2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1560" y="1556792"/>
                <a:ext cx="288032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+9=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=−4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=−1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556792"/>
                <a:ext cx="2880320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80285" y="2993872"/>
                <a:ext cx="4236984" cy="3724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285" y="2993872"/>
                <a:ext cx="4236984" cy="372410"/>
              </a:xfrm>
              <a:prstGeom prst="rect">
                <a:avLst/>
              </a:prstGeom>
              <a:blipFill>
                <a:blip r:embed="rId4"/>
                <a:stretch>
                  <a:fillRect b="-470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41232" y="3471402"/>
                <a:ext cx="3707231" cy="21482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sz="1600" dirty="0"/>
                  <a:t>The latter gives no solution because the square root of a number can’t give a negative number.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232" y="3471402"/>
                <a:ext cx="3707231" cy="2148280"/>
              </a:xfrm>
              <a:prstGeom prst="rect">
                <a:avLst/>
              </a:prstGeom>
              <a:blipFill>
                <a:blip r:embed="rId5"/>
                <a:stretch>
                  <a:fillRect l="-987" b="-25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54470" y="892495"/>
                <a:ext cx="3618765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470" y="892495"/>
                <a:ext cx="3618765" cy="369332"/>
              </a:xfrm>
              <a:prstGeom prst="rect">
                <a:avLst/>
              </a:prstGeom>
              <a:blipFill>
                <a:blip r:embed="rId6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985189" y="1354962"/>
                <a:ext cx="2880320" cy="1241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+1=±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=−1±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189" y="1354962"/>
                <a:ext cx="2880320" cy="12413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86046" y="2996952"/>
                <a:ext cx="3618765" cy="38997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46" y="2996952"/>
                <a:ext cx="3618765" cy="389979"/>
              </a:xfrm>
              <a:prstGeom prst="rect">
                <a:avLst/>
              </a:prstGeom>
              <a:blipFill>
                <a:blip r:embed="rId8"/>
                <a:stretch>
                  <a:fillRect b="-454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55507" y="3517476"/>
                <a:ext cx="3534321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Squaring both sides: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+3=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+3=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+9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−7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+6=0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e>
                      </m:d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b="1" dirty="0"/>
                  <a:t>However</a:t>
                </a:r>
                <a:r>
                  <a:rPr lang="en-GB" sz="1600" dirty="0"/>
                  <a:t>, squaring both sides of an equation </a:t>
                </a:r>
                <a:r>
                  <a:rPr lang="en-GB" sz="1600" b="1" dirty="0"/>
                  <a:t>can generate false solutions</a:t>
                </a:r>
                <a:r>
                  <a:rPr lang="en-GB" sz="1600" dirty="0"/>
                  <a:t>. e.g. 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GB" sz="1600" dirty="0"/>
                  <a:t>, squaring gives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600" dirty="0"/>
                  <a:t>, which falsely creates the extra solution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! We therefore need to check by substituting into the original equation, where we find only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GB" sz="1600" dirty="0"/>
                  <a:t> works.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07" y="3517476"/>
                <a:ext cx="3534321" cy="3293209"/>
              </a:xfrm>
              <a:prstGeom prst="rect">
                <a:avLst/>
              </a:prstGeom>
              <a:blipFill>
                <a:blip r:embed="rId9"/>
                <a:stretch>
                  <a:fillRect l="-862" t="-556" b="-14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95355" y="3404656"/>
            <a:ext cx="3609456" cy="33367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0128" y="1282304"/>
            <a:ext cx="3632430" cy="14173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355" y="1540079"/>
            <a:ext cx="3641213" cy="11595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9060" y="3382834"/>
            <a:ext cx="4248209" cy="21825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504" y="876611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3007" y="876611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557" y="3006459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22487" y="2993872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90941" y="5859801"/>
                <a:ext cx="3595015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“Use of Technology”:</a:t>
                </a:r>
              </a:p>
              <a:p>
                <a:r>
                  <a:rPr lang="en-GB" sz="1200" dirty="0"/>
                  <a:t>The ‘equation’ mode on your calculator will solve quadratics in the form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200" dirty="0"/>
                  <a:t>. When you’re asked for the ‘order’, use 2 (we’ll see why later).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941" y="5859801"/>
                <a:ext cx="3595015" cy="830997"/>
              </a:xfrm>
              <a:prstGeom prst="rect">
                <a:avLst/>
              </a:prstGeom>
              <a:blipFill>
                <a:blip r:embed="rId10"/>
                <a:stretch>
                  <a:fillRect r="-673" b="-28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802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2A/2B Pure Y1 Pages 20-22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4B53744A-4261-5FEA-C854-3331445A0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644847"/>
            <a:ext cx="3296110" cy="3143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1D7011-D2D4-1574-15F4-D7496A03A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178" y="1001756"/>
            <a:ext cx="1781424" cy="3524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53B65B-45CE-5573-7424-69295DB53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158" y="1001756"/>
            <a:ext cx="2762636" cy="34294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F40417-FBA3-14F7-B849-8ABF59927F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92" y="2996952"/>
            <a:ext cx="5551892" cy="137964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9AE6763-020C-DBA1-F516-F301290724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782" y="4744974"/>
            <a:ext cx="3672408" cy="35948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43D2BB6-0B97-DF71-0EDD-3DEE59DCB2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192" y="1462694"/>
            <a:ext cx="2134906" cy="122494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7790690-A004-96F7-3C23-F85B2A2E07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7158" y="1462694"/>
            <a:ext cx="2163880" cy="127729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2798A608-F57E-501D-2224-B6BB09AFDF7B}"/>
              </a:ext>
            </a:extLst>
          </p:cNvPr>
          <p:cNvSpPr/>
          <p:nvPr/>
        </p:nvSpPr>
        <p:spPr>
          <a:xfrm>
            <a:off x="355178" y="1470653"/>
            <a:ext cx="2693890" cy="13796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 err="1"/>
              <a:t>i</a:t>
            </a:r>
            <a:r>
              <a:rPr lang="en-GB" sz="2800" dirty="0"/>
              <a:t>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4D1A4EB-2ED5-E1CE-CB26-7866E4110BC9}"/>
              </a:ext>
            </a:extLst>
          </p:cNvPr>
          <p:cNvSpPr/>
          <p:nvPr/>
        </p:nvSpPr>
        <p:spPr>
          <a:xfrm>
            <a:off x="3205904" y="1470653"/>
            <a:ext cx="2693890" cy="13796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h?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55D7555-E4D4-98E4-804C-E42D1D501F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1945" y="3309615"/>
            <a:ext cx="3450289" cy="1856658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7D869E79-8C16-961C-2205-C899C1FF8DDA}"/>
              </a:ext>
            </a:extLst>
          </p:cNvPr>
          <p:cNvSpPr/>
          <p:nvPr/>
        </p:nvSpPr>
        <p:spPr>
          <a:xfrm>
            <a:off x="5990144" y="3257270"/>
            <a:ext cx="2974344" cy="19090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77CF706-1858-1702-596C-B382323A1566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b="28437"/>
          <a:stretch/>
        </p:blipFill>
        <p:spPr>
          <a:xfrm>
            <a:off x="107504" y="5293335"/>
            <a:ext cx="2941564" cy="130502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B06F916-4A21-89B0-2965-080A95988D92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4770" t="72131"/>
          <a:stretch/>
        </p:blipFill>
        <p:spPr>
          <a:xfrm>
            <a:off x="2901250" y="6053775"/>
            <a:ext cx="2448488" cy="496339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B93F778D-B92C-A19F-8D2A-EED97102FEE2}"/>
              </a:ext>
            </a:extLst>
          </p:cNvPr>
          <p:cNvSpPr/>
          <p:nvPr/>
        </p:nvSpPr>
        <p:spPr>
          <a:xfrm>
            <a:off x="146781" y="5104461"/>
            <a:ext cx="5367417" cy="156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061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9" grpId="0" animBg="1"/>
      <p:bldP spid="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2A/2B Pure Y1 Pages 20-22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1280DEF-080A-D8B6-7689-A34749A06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1" y="620688"/>
            <a:ext cx="5847544" cy="6348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7FC5B9-E0C6-A3AF-E31C-99BF02E43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60" y="650440"/>
            <a:ext cx="2753829" cy="3368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298B35-851E-4C83-B355-723BC4A12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99417"/>
            <a:ext cx="9144000" cy="6591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29BDDB6-0DF3-DAF7-2990-3C3ECA0255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008" y="3738127"/>
            <a:ext cx="4136672" cy="3603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BB1A046-3DD0-D541-4512-F1B3D88A46E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55144"/>
          <a:stretch/>
        </p:blipFill>
        <p:spPr>
          <a:xfrm>
            <a:off x="539552" y="1432937"/>
            <a:ext cx="3370161" cy="12208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A3BA4B-E36D-8150-8790-F87748B76D1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6796"/>
          <a:stretch/>
        </p:blipFill>
        <p:spPr>
          <a:xfrm>
            <a:off x="4569680" y="1570634"/>
            <a:ext cx="2808312" cy="120663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DC5B072-719D-5D2B-7A52-6B58E20F4FE1}"/>
              </a:ext>
            </a:extLst>
          </p:cNvPr>
          <p:cNvSpPr/>
          <p:nvPr/>
        </p:nvSpPr>
        <p:spPr>
          <a:xfrm>
            <a:off x="260664" y="1342291"/>
            <a:ext cx="7407680" cy="1564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31372D4-776F-14D3-5E26-8C771133DB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008" y="4527189"/>
            <a:ext cx="2152950" cy="127652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3D07DAF-746D-B72B-825E-FA7194B780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6369" y="4350016"/>
            <a:ext cx="2448267" cy="157184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2B241BE-39BF-F20F-81AC-2133AD83D8BE}"/>
              </a:ext>
            </a:extLst>
          </p:cNvPr>
          <p:cNvSpPr/>
          <p:nvPr/>
        </p:nvSpPr>
        <p:spPr>
          <a:xfrm>
            <a:off x="280120" y="4475632"/>
            <a:ext cx="2305838" cy="13796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e?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8780ED-4CF3-D3A0-45AB-5012CDDF9691}"/>
              </a:ext>
            </a:extLst>
          </p:cNvPr>
          <p:cNvSpPr/>
          <p:nvPr/>
        </p:nvSpPr>
        <p:spPr>
          <a:xfrm>
            <a:off x="2904953" y="4475632"/>
            <a:ext cx="2305838" cy="13796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f?</a:t>
            </a:r>
          </a:p>
        </p:txBody>
      </p:sp>
    </p:spTree>
    <p:extLst>
      <p:ext uri="{BB962C8B-B14F-4D97-AF65-F5344CB8AC3E}">
        <p14:creationId xmlns:p14="http://schemas.microsoft.com/office/powerpoint/2010/main" val="426590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1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2A/2B Pure Y1 Pages 20-22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3" name="Rectangle 12"/>
          <p:cNvSpPr/>
          <p:nvPr/>
        </p:nvSpPr>
        <p:spPr>
          <a:xfrm>
            <a:off x="182620" y="1942795"/>
            <a:ext cx="257798" cy="2481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687" y="1249954"/>
            <a:ext cx="630061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</a:rPr>
              <a:t>Extension: 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sz="1200" dirty="0">
                <a:solidFill>
                  <a:schemeClr val="tx1"/>
                </a:solidFill>
              </a:rPr>
              <a:t>(Full Database: </a:t>
            </a:r>
            <a:r>
              <a:rPr lang="en-GB" sz="1200" dirty="0">
                <a:solidFill>
                  <a:schemeClr val="tx1"/>
                </a:solidFill>
                <a:hlinkClick r:id="rId3"/>
              </a:rPr>
              <a:t>http://www.drfrostmaths.com/resources/resource.php?rid=268</a:t>
            </a:r>
            <a:r>
              <a:rPr lang="en-GB" sz="1200" dirty="0">
                <a:solidFill>
                  <a:schemeClr val="tx1"/>
                </a:solidFill>
              </a:rPr>
              <a:t> ) </a:t>
            </a:r>
            <a:endParaRPr lang="en-GB" sz="2400" dirty="0">
              <a:solidFill>
                <a:schemeClr val="tx1"/>
              </a:solidFill>
            </a:endParaRPr>
          </a:p>
        </p:txBody>
      </p:sp>
      <p:pic>
        <p:nvPicPr>
          <p:cNvPr id="19" name="Picture 1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844824"/>
            <a:ext cx="7632848" cy="193687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212114" y="2414113"/>
                <a:ext cx="2902857" cy="3428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−6±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36+8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114" y="2414113"/>
                <a:ext cx="2902857" cy="3428887"/>
              </a:xfrm>
              <a:prstGeom prst="rect">
                <a:avLst/>
              </a:prstGeom>
              <a:blipFill>
                <a:blip r:embed="rId5"/>
                <a:stretch>
                  <a:fillRect l="-16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 flipV="1">
            <a:off x="5782185" y="2702146"/>
            <a:ext cx="546043" cy="795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80146" y="2497448"/>
            <a:ext cx="2631626" cy="3308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</a:t>
            </a:r>
            <a:r>
              <a:rPr lang="en-GB" sz="2800" dirty="0" err="1"/>
              <a:t>i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11519" y="4151573"/>
                <a:ext cx="3670466" cy="1521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(ii)(a)</a:t>
                </a:r>
              </a:p>
              <a:p>
                <a:r>
                  <a:rPr lang="en-GB" dirty="0"/>
                  <a:t>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rad>
                  </m:oMath>
                </a14:m>
                <a:r>
                  <a:rPr lang="en-GB" dirty="0"/>
                  <a:t>, thus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−2+10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−22=0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…  →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(ii)(b):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=2±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19" y="4151573"/>
                <a:ext cx="3670466" cy="1521763"/>
              </a:xfrm>
              <a:prstGeom prst="rect">
                <a:avLst/>
              </a:prstGeom>
              <a:blipFill>
                <a:blip r:embed="rId6"/>
                <a:stretch>
                  <a:fillRect l="-1329" t="-2000" b="-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365457" y="4007240"/>
            <a:ext cx="4264599" cy="1276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ii(a)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457" y="5283568"/>
            <a:ext cx="4264599" cy="6237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ii(b)</a:t>
            </a:r>
          </a:p>
        </p:txBody>
      </p:sp>
    </p:spTree>
    <p:extLst>
      <p:ext uri="{BB962C8B-B14F-4D97-AF65-F5344CB8AC3E}">
        <p14:creationId xmlns:p14="http://schemas.microsoft.com/office/powerpoint/2010/main" val="141509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2: Completing the Square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55576" y="908720"/>
                <a:ext cx="777686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“Completing the square” means putting a quadratic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GB" dirty="0"/>
              </a:p>
              <a:p>
                <a:r>
                  <a:rPr lang="en-GB" dirty="0"/>
                  <a:t>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The </a:t>
                </a:r>
                <a:r>
                  <a:rPr lang="en-GB" b="1" dirty="0"/>
                  <a:t>underlying reason we do this is because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only appears once in the expression</a:t>
                </a:r>
                <a:r>
                  <a:rPr lang="en-GB" dirty="0"/>
                  <a:t> (e.g.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GB" dirty="0"/>
                  <a:t> vs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+7</m:t>
                    </m:r>
                  </m:oMath>
                </a14:m>
                <a:r>
                  <a:rPr lang="en-GB" dirty="0"/>
                  <a:t>), which makes it algebraically easier to handle. This has a number of consequences: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908720"/>
                <a:ext cx="7776864" cy="1754326"/>
              </a:xfrm>
              <a:prstGeom prst="rect">
                <a:avLst/>
              </a:prstGeom>
              <a:blipFill>
                <a:blip r:embed="rId2"/>
                <a:stretch>
                  <a:fillRect l="-705" t="-1736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755576" y="3006423"/>
            <a:ext cx="3618765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a. Solving Quadratics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55576" y="3573016"/>
                <a:ext cx="3456384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we have a completed square: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−7=0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we saw at the start of the chapter how we could rearrange to make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the subject. </a:t>
                </a:r>
              </a:p>
              <a:p>
                <a:r>
                  <a:rPr lang="en-GB" dirty="0"/>
                  <a:t>Indeed using the quadratic formula is actually solving the quadratic by completing the square – it’s just someone has done the work for us already!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573016"/>
                <a:ext cx="3456384" cy="2862322"/>
              </a:xfrm>
              <a:prstGeom prst="rect">
                <a:avLst/>
              </a:prstGeom>
              <a:blipFill>
                <a:blip r:embed="rId3"/>
                <a:stretch>
                  <a:fillRect l="-1587" t="-1064" r="-2822" b="-23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4894788" y="3006423"/>
            <a:ext cx="3618765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b. Sketching Quadratics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788024" y="3573016"/>
                <a:ext cx="424340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We’ll see later that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, then the minimum 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3573016"/>
                <a:ext cx="4243401" cy="646331"/>
              </a:xfrm>
              <a:prstGeom prst="rect">
                <a:avLst/>
              </a:prstGeom>
              <a:blipFill>
                <a:blip r:embed="rId4"/>
                <a:stretch>
                  <a:fillRect l="-1148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4894787" y="4503756"/>
            <a:ext cx="3618765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c. In integration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788024" y="4988035"/>
                <a:ext cx="4355976" cy="1649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In Further Maths, completing the square allows us to ‘integrate’ expressions like: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(you will cover integration later this module)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4988035"/>
                <a:ext cx="4355976" cy="1649875"/>
              </a:xfrm>
              <a:prstGeom prst="rect">
                <a:avLst/>
              </a:prstGeom>
              <a:blipFill>
                <a:blip r:embed="rId5"/>
                <a:stretch>
                  <a:fillRect l="-1119" t="-1845" r="-280" b="-47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142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 animBg="1"/>
      <p:bldP spid="30" grpId="0"/>
      <p:bldP spid="31" grpId="0" animBg="1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Completing the Square Recap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724692" y="734549"/>
                <a:ext cx="3240360" cy="3265061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Textbook Note:</a:t>
                </a:r>
              </a:p>
              <a:p>
                <a:r>
                  <a:rPr lang="en-GB" sz="1600" dirty="0"/>
                  <a:t>The textbook uses the formula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and similarly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My personal judgement is that it’s </a:t>
                </a:r>
                <a:r>
                  <a:rPr lang="en-GB" sz="1600" u="sng" dirty="0"/>
                  <a:t>not</a:t>
                </a:r>
                <a:r>
                  <a:rPr lang="en-GB" sz="1600" dirty="0"/>
                  <a:t> worth memorising these and you should instead think through the steps. Even the textbook agrees!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692" y="734549"/>
                <a:ext cx="3240360" cy="32650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5536" y="980728"/>
                <a:ext cx="4968552" cy="2222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Expand: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𝟗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+81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+25</m:t>
                      </m:r>
                    </m:oMath>
                  </m:oMathPara>
                </a14:m>
                <a:endParaRPr lang="en-GB" i="1" dirty="0"/>
              </a:p>
              <a:p>
                <a:r>
                  <a:rPr lang="en-GB" dirty="0"/>
                  <a:t>What do you notice about the relationship between the bold numbers?</a:t>
                </a:r>
              </a:p>
              <a:p>
                <a:r>
                  <a:rPr lang="en-GB" b="1" dirty="0"/>
                  <a:t>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b="1" dirty="0"/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b="1" dirty="0"/>
                  <a:t> is half the coefficient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in the expansion.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980728"/>
                <a:ext cx="4968552" cy="2222211"/>
              </a:xfrm>
              <a:prstGeom prst="rect">
                <a:avLst/>
              </a:prstGeom>
              <a:blipFill>
                <a:blip r:embed="rId3"/>
                <a:stretch>
                  <a:fillRect l="-1104" t="-1648" r="-982" b="-3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5536" y="3491778"/>
                <a:ext cx="44644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Therefore if we had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+12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how could we write it in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d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𝟑𝟔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491778"/>
                <a:ext cx="4464496" cy="1015663"/>
              </a:xfrm>
              <a:prstGeom prst="rect">
                <a:avLst/>
              </a:prstGeom>
              <a:blipFill>
                <a:blip r:embed="rId4"/>
                <a:stretch>
                  <a:fillRect l="-1230" t="-3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79246" y="4135032"/>
                <a:ext cx="3312368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+6</m:t>
                            </m:r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+12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+36</m:t>
                    </m:r>
                  </m:oMath>
                </a14:m>
                <a:r>
                  <a:rPr lang="en-GB" sz="1600" dirty="0"/>
                  <a:t>, we want to discard the 36, so ‘throw it away’ by subtracting.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246" y="4135032"/>
                <a:ext cx="3312368" cy="830997"/>
              </a:xfrm>
              <a:prstGeom prst="rect">
                <a:avLst/>
              </a:prstGeom>
              <a:blipFill>
                <a:blip r:embed="rId5"/>
                <a:stretch>
                  <a:fillRect l="-547" t="-709" r="-547" b="-63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8" idx="1"/>
          </p:cNvCxnSpPr>
          <p:nvPr/>
        </p:nvCxnSpPr>
        <p:spPr>
          <a:xfrm flipH="1" flipV="1">
            <a:off x="4571428" y="4293096"/>
            <a:ext cx="807818" cy="257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95536" y="4844017"/>
                <a:ext cx="4464496" cy="1871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Further Examples: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d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𝟏𝟔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                         =</m:t>
                      </m:r>
                      <m:sSup>
                        <m:s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e>
                        <m:sup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844017"/>
                <a:ext cx="4464496" cy="1871666"/>
              </a:xfrm>
              <a:prstGeom prst="rect">
                <a:avLst/>
              </a:prstGeom>
              <a:blipFill>
                <a:blip r:embed="rId6"/>
                <a:stretch>
                  <a:fillRect l="-1230" t="-19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394404" y="5236056"/>
                <a:ext cx="3312368" cy="85209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Notice that despite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being negative, we still subtract after the bracket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/>
                  <a:t> is positive.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404" y="5236056"/>
                <a:ext cx="3312368" cy="852093"/>
              </a:xfrm>
              <a:prstGeom prst="rect">
                <a:avLst/>
              </a:prstGeom>
              <a:blipFill>
                <a:blip r:embed="rId7"/>
                <a:stretch>
                  <a:fillRect l="-731" t="-694" b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 flipV="1">
            <a:off x="4397829" y="5704114"/>
            <a:ext cx="1106697" cy="15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16375" y="2599062"/>
            <a:ext cx="4924882" cy="7247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7784" y="1267382"/>
            <a:ext cx="2205473" cy="3872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7784" y="1645213"/>
            <a:ext cx="2205473" cy="3872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19990" y="4106656"/>
            <a:ext cx="2122981" cy="508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57261" y="5152570"/>
            <a:ext cx="2251882" cy="3758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7261" y="5542152"/>
            <a:ext cx="2251882" cy="3758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4934" y="5915809"/>
            <a:ext cx="2251882" cy="818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6317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11" grpId="0"/>
      <p:bldP spid="12" grpId="0" animBg="1"/>
      <p:bldP spid="15" grpId="0" animBg="1"/>
      <p:bldP spid="16" grpId="0" animBg="1"/>
      <p:bldP spid="17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Completing the Square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3594" y="976309"/>
                <a:ext cx="5616624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Express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+12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+7</m:t>
                    </m:r>
                  </m:oMath>
                </a14:m>
                <a:r>
                  <a:rPr lang="en-GB" sz="2000" dirty="0"/>
                  <a:t> in the form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94" y="976309"/>
                <a:ext cx="5616624" cy="400110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5536" y="1556792"/>
                <a:ext cx="4757035" cy="1871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+7</m:t>
                      </m:r>
                    </m:oMath>
                    <m:oMath xmlns:m="http://schemas.openxmlformats.org/officeDocument/2006/math">
                      <m:r>
                        <a:rPr lang="en-GB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+3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+7</m:t>
                      </m:r>
                    </m:oMath>
                    <m:oMath xmlns:m="http://schemas.openxmlformats.org/officeDocument/2006/math">
                      <m:r>
                        <a:rPr lang="en-GB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−18+7</m:t>
                      </m:r>
                    </m:oMath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−11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556792"/>
                <a:ext cx="4757035" cy="18713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98390" y="1510995"/>
                <a:ext cx="3040810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Factorise out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. You can leave the constant term outside the bracket.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390" y="1510995"/>
                <a:ext cx="3040810" cy="923330"/>
              </a:xfrm>
              <a:prstGeom prst="rect">
                <a:avLst/>
              </a:prstGeom>
              <a:blipFill>
                <a:blip r:embed="rId4"/>
                <a:stretch>
                  <a:fillRect l="-1193" t="-2581" r="-2187" b="-83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8" idx="1"/>
          </p:cNvCxnSpPr>
          <p:nvPr/>
        </p:nvCxnSpPr>
        <p:spPr>
          <a:xfrm flipH="1" flipV="1">
            <a:off x="5076056" y="1772816"/>
            <a:ext cx="722334" cy="199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98390" y="2647351"/>
            <a:ext cx="2808312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Complete the square inside the bracket (you should have two sets of brackets)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4833257" y="2307771"/>
            <a:ext cx="965133" cy="754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98390" y="3754845"/>
            <a:ext cx="280831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Expand out outer bracket.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4717143" y="2801257"/>
            <a:ext cx="1081247" cy="1199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390901" y="1506627"/>
            <a:ext cx="3247731" cy="4774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90901" y="2000747"/>
            <a:ext cx="3247731" cy="4774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901" y="2480003"/>
            <a:ext cx="3247731" cy="418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90901" y="2898435"/>
            <a:ext cx="3247731" cy="5438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53594" y="4373808"/>
                <a:ext cx="6422662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Express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in the form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94" y="4373808"/>
                <a:ext cx="6422662" cy="400110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09959" y="4838765"/>
                <a:ext cx="4757035" cy="1986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+3+5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=8−3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59" y="4838765"/>
                <a:ext cx="4757035" cy="19865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1521999" y="4848625"/>
            <a:ext cx="3183352" cy="4028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21999" y="5251451"/>
            <a:ext cx="3183352" cy="4028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21999" y="5654277"/>
            <a:ext cx="3183352" cy="3845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1999" y="6035219"/>
            <a:ext cx="3183352" cy="359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21999" y="6399842"/>
            <a:ext cx="3183352" cy="359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798390" y="5206786"/>
                <a:ext cx="3040810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It may help to write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first.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390" y="5206786"/>
                <a:ext cx="3040810" cy="646331"/>
              </a:xfrm>
              <a:prstGeom prst="rect">
                <a:avLst/>
              </a:prstGeom>
              <a:blipFill>
                <a:blip r:embed="rId7"/>
                <a:stretch>
                  <a:fillRect l="-1193" t="-2727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/>
          <p:nvPr/>
        </p:nvCxnSpPr>
        <p:spPr>
          <a:xfrm flipH="1" flipV="1">
            <a:off x="4864100" y="5041900"/>
            <a:ext cx="934291" cy="543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72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3594" y="976309"/>
                <a:ext cx="5616624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Express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−18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GB" sz="2000" dirty="0"/>
                  <a:t> in the form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94" y="976309"/>
                <a:ext cx="5616624" cy="400110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75656" y="1544092"/>
                <a:ext cx="3888432" cy="1617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−27+4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−23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1544092"/>
                <a:ext cx="3888432" cy="16171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71230" y="3573016"/>
                <a:ext cx="5616624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Express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GB" sz="2000" dirty="0"/>
                  <a:t> in the form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30" y="3573016"/>
                <a:ext cx="5616624" cy="400110"/>
              </a:xfrm>
              <a:prstGeom prst="rect">
                <a:avLst/>
              </a:prstGeom>
              <a:blipFill>
                <a:blip r:embed="rId4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60364" y="4219776"/>
                <a:ext cx="3888432" cy="1986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+20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+20+3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=23−5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364" y="4219776"/>
                <a:ext cx="3888432" cy="19865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258599" y="1584724"/>
            <a:ext cx="3138901" cy="1615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58599" y="4219776"/>
            <a:ext cx="3138901" cy="20895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700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Solving by Completing the Square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9552" y="970182"/>
                <a:ext cx="5616624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the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−18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970182"/>
                <a:ext cx="5616624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21172" y="1831662"/>
                <a:ext cx="3888432" cy="4353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−9+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−3=±</m:t>
                      </m:r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rad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=3±</m:t>
                      </m:r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172" y="1831662"/>
                <a:ext cx="3888432" cy="43535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295599" y="1799084"/>
            <a:ext cx="3276401" cy="8298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First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5027" y="2628900"/>
            <a:ext cx="3276401" cy="35889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And the rest…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417390" y="1926045"/>
                <a:ext cx="3307510" cy="286232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Reflections</a:t>
                </a:r>
                <a:r>
                  <a:rPr lang="en-GB" dirty="0"/>
                  <a:t>: Previously we factorised out the 3. This is because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−18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GB" dirty="0"/>
                  <a:t> on its own is an </a:t>
                </a:r>
                <a:r>
                  <a:rPr lang="en-GB" b="1" dirty="0"/>
                  <a:t>expression, </a:t>
                </a:r>
                <a:r>
                  <a:rPr lang="en-GB" dirty="0"/>
                  <a:t>so dividing by 3 (instead of factorising) would change the expression.</a:t>
                </a:r>
              </a:p>
              <a:p>
                <a:endParaRPr lang="en-GB" dirty="0"/>
              </a:p>
              <a:p>
                <a:r>
                  <a:rPr lang="en-GB" dirty="0"/>
                  <a:t>However, in an equation, we can divide both sides by 3 without affecting the solutions.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390" y="1926045"/>
                <a:ext cx="3307510" cy="2862322"/>
              </a:xfrm>
              <a:prstGeom prst="rect">
                <a:avLst/>
              </a:prstGeom>
              <a:blipFill>
                <a:blip r:embed="rId4"/>
                <a:stretch>
                  <a:fillRect l="-1282" t="-846" r="-366" b="-21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797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-27432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2C/2D Pure Y1 Page 23-24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5A328B2-7AFE-18F0-591A-36F083111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599126"/>
            <a:ext cx="6021856" cy="7416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AAB0E6-34BB-A98D-653D-ABCF7D63F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8" y="3212976"/>
            <a:ext cx="5724128" cy="6426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576522-DF42-63F3-E7D7-4514D09FD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1379578"/>
            <a:ext cx="2179619" cy="6469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106579-E014-1C7D-87B5-41F5097005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6092" y="1276921"/>
            <a:ext cx="2172003" cy="6858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014BFE1-AA67-8F3C-F663-348E83F93C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7865" y="1219763"/>
            <a:ext cx="2267266" cy="8002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6A6F586-1067-19C0-4194-0AE343EBF0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520" y="2250235"/>
            <a:ext cx="2305372" cy="7906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219BB11-C2B1-FFC0-2C98-91C88D3E29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0623" y="2350897"/>
            <a:ext cx="2276793" cy="67636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329957B-7335-8D91-CF57-3A8F40A1BAFF}"/>
              </a:ext>
            </a:extLst>
          </p:cNvPr>
          <p:cNvSpPr/>
          <p:nvPr/>
        </p:nvSpPr>
        <p:spPr>
          <a:xfrm>
            <a:off x="153935" y="1352099"/>
            <a:ext cx="2545857" cy="790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86F785-CFC0-30C2-AFE8-07669ACA57BA}"/>
              </a:ext>
            </a:extLst>
          </p:cNvPr>
          <p:cNvSpPr/>
          <p:nvPr/>
        </p:nvSpPr>
        <p:spPr>
          <a:xfrm>
            <a:off x="2776092" y="1347645"/>
            <a:ext cx="2545857" cy="790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30B94A-F1F4-A9D4-B17B-0F86D22137A0}"/>
              </a:ext>
            </a:extLst>
          </p:cNvPr>
          <p:cNvSpPr/>
          <p:nvPr/>
        </p:nvSpPr>
        <p:spPr>
          <a:xfrm>
            <a:off x="5508569" y="1339934"/>
            <a:ext cx="2545857" cy="790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9E7FFF-3BC3-9843-A30D-1F93EF3E2DC6}"/>
              </a:ext>
            </a:extLst>
          </p:cNvPr>
          <p:cNvSpPr/>
          <p:nvPr/>
        </p:nvSpPr>
        <p:spPr>
          <a:xfrm>
            <a:off x="153935" y="2236581"/>
            <a:ext cx="2545857" cy="790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1D8F01-A34B-2ED9-9A71-DD8BAD5A526A}"/>
              </a:ext>
            </a:extLst>
          </p:cNvPr>
          <p:cNvSpPr/>
          <p:nvPr/>
        </p:nvSpPr>
        <p:spPr>
          <a:xfrm>
            <a:off x="2776090" y="2243803"/>
            <a:ext cx="2545857" cy="790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e?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222FF26-6368-DA14-8B94-16132529DA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243" y="3930304"/>
            <a:ext cx="2572109" cy="105742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3B1EE0C-EA16-7F8E-4B94-2369030AA3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9912" y="3916014"/>
            <a:ext cx="2638793" cy="108600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929B060-7745-64F9-E2F8-1A76D92B75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528" y="5225029"/>
            <a:ext cx="2629267" cy="111458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6FC5BEA-4445-3B51-5E5B-A7E7B65556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67993" y="5186206"/>
            <a:ext cx="2629267" cy="1552856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FF2E191F-60D7-80EE-E7E0-2F7DFB21CB02}"/>
              </a:ext>
            </a:extLst>
          </p:cNvPr>
          <p:cNvSpPr/>
          <p:nvPr/>
        </p:nvSpPr>
        <p:spPr>
          <a:xfrm>
            <a:off x="220208" y="3928179"/>
            <a:ext cx="3055648" cy="11145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80222D8-78CE-1A6A-9557-1E59D578F455}"/>
              </a:ext>
            </a:extLst>
          </p:cNvPr>
          <p:cNvSpPr/>
          <p:nvPr/>
        </p:nvSpPr>
        <p:spPr>
          <a:xfrm>
            <a:off x="3767993" y="3923725"/>
            <a:ext cx="3055648" cy="10860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7829085-DC5A-F668-179B-5028F2FBB353}"/>
              </a:ext>
            </a:extLst>
          </p:cNvPr>
          <p:cNvSpPr/>
          <p:nvPr/>
        </p:nvSpPr>
        <p:spPr>
          <a:xfrm>
            <a:off x="220208" y="5225029"/>
            <a:ext cx="3055648" cy="1444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23EB16B-3535-9D0B-E1CD-9E178D854947}"/>
              </a:ext>
            </a:extLst>
          </p:cNvPr>
          <p:cNvSpPr/>
          <p:nvPr/>
        </p:nvSpPr>
        <p:spPr>
          <a:xfrm>
            <a:off x="3767993" y="5234026"/>
            <a:ext cx="3055648" cy="1444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240816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-27432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2C/2D Pure Y1 Page 23-24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7EF495-81C9-674C-6B8A-15BBCC5919F9}"/>
                  </a:ext>
                </a:extLst>
              </p:cNvPr>
              <p:cNvSpPr txBox="1"/>
              <p:nvPr/>
            </p:nvSpPr>
            <p:spPr>
              <a:xfrm>
                <a:off x="107504" y="606015"/>
                <a:ext cx="77799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4 Given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+6=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find the values of the constants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7EF495-81C9-674C-6B8A-15BBCC591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606015"/>
                <a:ext cx="7779950" cy="369332"/>
              </a:xfrm>
              <a:prstGeom prst="rect">
                <a:avLst/>
              </a:prstGeom>
              <a:blipFill>
                <a:blip r:embed="rId4"/>
                <a:stretch>
                  <a:fillRect l="-705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547597-F029-57FA-70CD-4930AEE0B71E}"/>
                  </a:ext>
                </a:extLst>
              </p:cNvPr>
              <p:cNvSpPr txBox="1"/>
              <p:nvPr/>
            </p:nvSpPr>
            <p:spPr>
              <a:xfrm>
                <a:off x="77808" y="2224931"/>
                <a:ext cx="885698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5 Write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2+0.8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−0.0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are constants to be   </a:t>
                </a:r>
              </a:p>
              <a:p>
                <a:r>
                  <a:rPr lang="en-GB" dirty="0"/>
                  <a:t>   determined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547597-F029-57FA-70CD-4930AEE0B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8" y="2224931"/>
                <a:ext cx="8856984" cy="646331"/>
              </a:xfrm>
              <a:prstGeom prst="rect">
                <a:avLst/>
              </a:prstGeom>
              <a:blipFill>
                <a:blip r:embed="rId5"/>
                <a:stretch>
                  <a:fillRect l="-619"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53A267D0-9731-A9D3-F2CF-A92B4718E8B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070"/>
          <a:stretch/>
        </p:blipFill>
        <p:spPr>
          <a:xfrm>
            <a:off x="611560" y="967371"/>
            <a:ext cx="2873588" cy="12193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E1EC51-BF71-CC04-B8F7-3CDA2FA9A9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533" y="2953801"/>
            <a:ext cx="3972479" cy="154326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8A14DA7-ABCF-9D7A-BCDC-07034602A465}"/>
              </a:ext>
            </a:extLst>
          </p:cNvPr>
          <p:cNvSpPr/>
          <p:nvPr/>
        </p:nvSpPr>
        <p:spPr>
          <a:xfrm>
            <a:off x="478903" y="985477"/>
            <a:ext cx="3976240" cy="11569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8E1785-24B7-FF64-21EE-725E343ABFE3}"/>
              </a:ext>
            </a:extLst>
          </p:cNvPr>
          <p:cNvSpPr/>
          <p:nvPr/>
        </p:nvSpPr>
        <p:spPr>
          <a:xfrm>
            <a:off x="445556" y="2909452"/>
            <a:ext cx="4009587" cy="1592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F6A8FD-6C6F-61C6-FFA8-10D58978655C}"/>
              </a:ext>
            </a:extLst>
          </p:cNvPr>
          <p:cNvGrpSpPr/>
          <p:nvPr/>
        </p:nvGrpSpPr>
        <p:grpSpPr>
          <a:xfrm>
            <a:off x="195003" y="4984720"/>
            <a:ext cx="5270360" cy="905909"/>
            <a:chOff x="21720" y="3789040"/>
            <a:chExt cx="5270360" cy="90590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CB72799-16F8-1945-2506-E840547A3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720" y="3789040"/>
              <a:ext cx="5011413" cy="905909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981CDA8-B126-C31D-90C1-2DD1AE98CE73}"/>
                </a:ext>
              </a:extLst>
            </p:cNvPr>
            <p:cNvSpPr/>
            <p:nvPr/>
          </p:nvSpPr>
          <p:spPr>
            <a:xfrm>
              <a:off x="4067944" y="4365104"/>
              <a:ext cx="1224136" cy="3298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DC58D9D0-CA4E-236D-C1B5-1DC3911784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0112" y="4984720"/>
            <a:ext cx="3162741" cy="144800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5DC270B-7E04-5897-0D67-AB8FDFD86103}"/>
              </a:ext>
            </a:extLst>
          </p:cNvPr>
          <p:cNvSpPr/>
          <p:nvPr/>
        </p:nvSpPr>
        <p:spPr>
          <a:xfrm>
            <a:off x="5292080" y="4850569"/>
            <a:ext cx="3793563" cy="1592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2546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Proving the Quadratic Formula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9444" y="866428"/>
                <a:ext cx="5616624" cy="59965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000" dirty="0"/>
                  <a:t>, prove that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44" y="866428"/>
                <a:ext cx="5616624" cy="5996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468190" y="1710145"/>
            <a:ext cx="3307510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Just use exactly the same method as you usually would!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9552" y="1710145"/>
                <a:ext cx="4608512" cy="4111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710145"/>
                <a:ext cx="4608512" cy="4111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331499" y="2057400"/>
            <a:ext cx="2821401" cy="3759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990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3: Functions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843808" y="5517232"/>
                <a:ext cx="424847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4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8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800" i="1" dirty="0" smtClean="0">
                          <a:latin typeface="Cambria Math" panose="02040503050406030204" pitchFamily="18" charset="0"/>
                        </a:rPr>
                        <m:t>)=2</m:t>
                      </m:r>
                      <m:r>
                        <a:rPr lang="en-GB" sz="48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808" y="5517232"/>
                <a:ext cx="4248472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635896" y="2465437"/>
                <a:ext cx="1512168" cy="93610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 dirty="0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2465437"/>
                <a:ext cx="1512168" cy="936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2628900" y="2921000"/>
            <a:ext cx="939800" cy="127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156200" y="2908300"/>
            <a:ext cx="1044479" cy="243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979712" y="2537445"/>
                <a:ext cx="64807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2537445"/>
                <a:ext cx="648072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156176" y="2537445"/>
                <a:ext cx="9361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4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2537445"/>
                <a:ext cx="936104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691680" y="2321421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0152" y="2321421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520" y="880952"/>
            <a:ext cx="8663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 function is something which </a:t>
            </a:r>
            <a:r>
              <a:rPr lang="en-GB" sz="2000" b="1" dirty="0"/>
              <a:t>provides a rule on how to map inputs to outputs</a:t>
            </a:r>
            <a:r>
              <a:rPr lang="en-GB" sz="2000" dirty="0"/>
              <a:t>.</a:t>
            </a:r>
          </a:p>
          <a:p>
            <a:endParaRPr lang="en-GB" sz="1050" dirty="0"/>
          </a:p>
          <a:p>
            <a:r>
              <a:rPr lang="en-GB" sz="2000" dirty="0"/>
              <a:t>We saw at GCSE that functions were a formal way of describing a ‘number machine’: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5880" y="4848489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83433" y="4803540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350985" y="4937296"/>
                <a:ext cx="24482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Name of the function (often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985" y="4937296"/>
                <a:ext cx="2448272" cy="646331"/>
              </a:xfrm>
              <a:prstGeom prst="rect">
                <a:avLst/>
              </a:prstGeom>
              <a:blipFill>
                <a:blip r:embed="rId6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>
            <a:off x="2843808" y="5649854"/>
            <a:ext cx="739425" cy="220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2" idx="2"/>
          </p:cNvCxnSpPr>
          <p:nvPr/>
        </p:nvCxnSpPr>
        <p:spPr>
          <a:xfrm>
            <a:off x="4379936" y="5217821"/>
            <a:ext cx="0" cy="431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887489" y="5171322"/>
            <a:ext cx="0" cy="431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Down Arrow 1"/>
          <p:cNvSpPr/>
          <p:nvPr/>
        </p:nvSpPr>
        <p:spPr>
          <a:xfrm>
            <a:off x="3959932" y="4026112"/>
            <a:ext cx="864096" cy="504056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/>
          <p:cNvSpPr/>
          <p:nvPr/>
        </p:nvSpPr>
        <p:spPr>
          <a:xfrm>
            <a:off x="1547201" y="4774234"/>
            <a:ext cx="5665470" cy="16569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7193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3: Functions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51520" y="880952"/>
            <a:ext cx="8663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You’ll cover functions extensively in future chapters, but for now, you need to understand the following concepts:</a:t>
            </a:r>
          </a:p>
        </p:txBody>
      </p:sp>
      <p:sp>
        <p:nvSpPr>
          <p:cNvPr id="6" name="Oval 5"/>
          <p:cNvSpPr/>
          <p:nvPr/>
        </p:nvSpPr>
        <p:spPr>
          <a:xfrm>
            <a:off x="911659" y="2002927"/>
            <a:ext cx="1257820" cy="39883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3470672" y="2002927"/>
            <a:ext cx="1257820" cy="39883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429717" y="3553946"/>
                <a:ext cx="780716" cy="88629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717" y="3553946"/>
                <a:ext cx="780716" cy="886297"/>
              </a:xfrm>
              <a:prstGeom prst="rect">
                <a:avLst/>
              </a:prstGeom>
              <a:blipFill>
                <a:blip r:embed="rId2"/>
                <a:stretch>
                  <a:fillRect l="-1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Arrow 10"/>
          <p:cNvSpPr/>
          <p:nvPr/>
        </p:nvSpPr>
        <p:spPr>
          <a:xfrm>
            <a:off x="2169479" y="3886308"/>
            <a:ext cx="260239" cy="2215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11"/>
          <p:cNvSpPr/>
          <p:nvPr/>
        </p:nvSpPr>
        <p:spPr>
          <a:xfrm>
            <a:off x="3210433" y="3886308"/>
            <a:ext cx="260239" cy="2215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1215271" y="2446075"/>
            <a:ext cx="541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4700" y="2983214"/>
            <a:ext cx="346985" cy="40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8524" y="3664733"/>
            <a:ext cx="652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1.7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9415" y="4069284"/>
            <a:ext cx="346985" cy="40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5271" y="4994179"/>
            <a:ext cx="673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265" y="4423447"/>
            <a:ext cx="668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3.1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4403" y="2390682"/>
            <a:ext cx="346985" cy="40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7895" y="3000011"/>
            <a:ext cx="346985" cy="40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7657" y="3609340"/>
            <a:ext cx="850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2.89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6673" y="4110143"/>
            <a:ext cx="346985" cy="40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6119" y="5059101"/>
            <a:ext cx="643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1932" y="4553803"/>
            <a:ext cx="944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9.61</a:t>
            </a:r>
          </a:p>
        </p:txBody>
      </p:sp>
      <p:sp>
        <p:nvSpPr>
          <p:cNvPr id="23" name="Freeform 24"/>
          <p:cNvSpPr/>
          <p:nvPr/>
        </p:nvSpPr>
        <p:spPr>
          <a:xfrm>
            <a:off x="1532542" y="2224772"/>
            <a:ext cx="2380315" cy="313990"/>
          </a:xfrm>
          <a:custGeom>
            <a:avLst/>
            <a:gdLst>
              <a:gd name="connsiteX0" fmla="*/ 0 w 3951798"/>
              <a:gd name="connsiteY0" fmla="*/ 408167 h 408167"/>
              <a:gd name="connsiteX1" fmla="*/ 858741 w 3951798"/>
              <a:gd name="connsiteY1" fmla="*/ 106017 h 408167"/>
              <a:gd name="connsiteX2" fmla="*/ 1924216 w 3951798"/>
              <a:gd name="connsiteY2" fmla="*/ 2650 h 408167"/>
              <a:gd name="connsiteX3" fmla="*/ 2926080 w 3951798"/>
              <a:gd name="connsiteY3" fmla="*/ 90115 h 408167"/>
              <a:gd name="connsiteX4" fmla="*/ 3951798 w 3951798"/>
              <a:gd name="connsiteY4" fmla="*/ 368410 h 40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1798" h="408167">
                <a:moveTo>
                  <a:pt x="0" y="408167"/>
                </a:moveTo>
                <a:cubicBezTo>
                  <a:pt x="269019" y="290885"/>
                  <a:pt x="538038" y="173603"/>
                  <a:pt x="858741" y="106017"/>
                </a:cubicBezTo>
                <a:cubicBezTo>
                  <a:pt x="1179444" y="38431"/>
                  <a:pt x="1579660" y="5300"/>
                  <a:pt x="1924216" y="2650"/>
                </a:cubicBezTo>
                <a:cubicBezTo>
                  <a:pt x="2268772" y="0"/>
                  <a:pt x="2588150" y="29155"/>
                  <a:pt x="2926080" y="90115"/>
                </a:cubicBezTo>
                <a:cubicBezTo>
                  <a:pt x="3264010" y="151075"/>
                  <a:pt x="3607904" y="259742"/>
                  <a:pt x="3951798" y="36841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eform 25"/>
          <p:cNvSpPr/>
          <p:nvPr/>
        </p:nvSpPr>
        <p:spPr>
          <a:xfrm>
            <a:off x="1692375" y="2833830"/>
            <a:ext cx="2380315" cy="313990"/>
          </a:xfrm>
          <a:custGeom>
            <a:avLst/>
            <a:gdLst>
              <a:gd name="connsiteX0" fmla="*/ 0 w 3951798"/>
              <a:gd name="connsiteY0" fmla="*/ 408167 h 408167"/>
              <a:gd name="connsiteX1" fmla="*/ 858741 w 3951798"/>
              <a:gd name="connsiteY1" fmla="*/ 106017 h 408167"/>
              <a:gd name="connsiteX2" fmla="*/ 1924216 w 3951798"/>
              <a:gd name="connsiteY2" fmla="*/ 2650 h 408167"/>
              <a:gd name="connsiteX3" fmla="*/ 2926080 w 3951798"/>
              <a:gd name="connsiteY3" fmla="*/ 90115 h 408167"/>
              <a:gd name="connsiteX4" fmla="*/ 3951798 w 3951798"/>
              <a:gd name="connsiteY4" fmla="*/ 368410 h 40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1798" h="408167">
                <a:moveTo>
                  <a:pt x="0" y="408167"/>
                </a:moveTo>
                <a:cubicBezTo>
                  <a:pt x="269019" y="290885"/>
                  <a:pt x="538038" y="173603"/>
                  <a:pt x="858741" y="106017"/>
                </a:cubicBezTo>
                <a:cubicBezTo>
                  <a:pt x="1179444" y="38431"/>
                  <a:pt x="1579660" y="5300"/>
                  <a:pt x="1924216" y="2650"/>
                </a:cubicBezTo>
                <a:cubicBezTo>
                  <a:pt x="2268772" y="0"/>
                  <a:pt x="2588150" y="29155"/>
                  <a:pt x="2926080" y="90115"/>
                </a:cubicBezTo>
                <a:cubicBezTo>
                  <a:pt x="3264010" y="151075"/>
                  <a:pt x="3607904" y="259742"/>
                  <a:pt x="3951798" y="36841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eform 26"/>
          <p:cNvSpPr/>
          <p:nvPr/>
        </p:nvSpPr>
        <p:spPr>
          <a:xfrm>
            <a:off x="1475509" y="3387766"/>
            <a:ext cx="2380315" cy="313990"/>
          </a:xfrm>
          <a:custGeom>
            <a:avLst/>
            <a:gdLst>
              <a:gd name="connsiteX0" fmla="*/ 0 w 3951798"/>
              <a:gd name="connsiteY0" fmla="*/ 408167 h 408167"/>
              <a:gd name="connsiteX1" fmla="*/ 858741 w 3951798"/>
              <a:gd name="connsiteY1" fmla="*/ 106017 h 408167"/>
              <a:gd name="connsiteX2" fmla="*/ 1924216 w 3951798"/>
              <a:gd name="connsiteY2" fmla="*/ 2650 h 408167"/>
              <a:gd name="connsiteX3" fmla="*/ 2926080 w 3951798"/>
              <a:gd name="connsiteY3" fmla="*/ 90115 h 408167"/>
              <a:gd name="connsiteX4" fmla="*/ 3951798 w 3951798"/>
              <a:gd name="connsiteY4" fmla="*/ 368410 h 40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1798" h="408167">
                <a:moveTo>
                  <a:pt x="0" y="408167"/>
                </a:moveTo>
                <a:cubicBezTo>
                  <a:pt x="269019" y="290885"/>
                  <a:pt x="538038" y="173603"/>
                  <a:pt x="858741" y="106017"/>
                </a:cubicBezTo>
                <a:cubicBezTo>
                  <a:pt x="1179444" y="38431"/>
                  <a:pt x="1579660" y="5300"/>
                  <a:pt x="1924216" y="2650"/>
                </a:cubicBezTo>
                <a:cubicBezTo>
                  <a:pt x="2268772" y="0"/>
                  <a:pt x="2588150" y="29155"/>
                  <a:pt x="2926080" y="90115"/>
                </a:cubicBezTo>
                <a:cubicBezTo>
                  <a:pt x="3264010" y="151075"/>
                  <a:pt x="3607904" y="259742"/>
                  <a:pt x="3951798" y="36841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reeform 27"/>
          <p:cNvSpPr/>
          <p:nvPr/>
        </p:nvSpPr>
        <p:spPr>
          <a:xfrm flipV="1">
            <a:off x="1822494" y="4329456"/>
            <a:ext cx="2380315" cy="313990"/>
          </a:xfrm>
          <a:custGeom>
            <a:avLst/>
            <a:gdLst>
              <a:gd name="connsiteX0" fmla="*/ 0 w 3951798"/>
              <a:gd name="connsiteY0" fmla="*/ 408167 h 408167"/>
              <a:gd name="connsiteX1" fmla="*/ 858741 w 3951798"/>
              <a:gd name="connsiteY1" fmla="*/ 106017 h 408167"/>
              <a:gd name="connsiteX2" fmla="*/ 1924216 w 3951798"/>
              <a:gd name="connsiteY2" fmla="*/ 2650 h 408167"/>
              <a:gd name="connsiteX3" fmla="*/ 2926080 w 3951798"/>
              <a:gd name="connsiteY3" fmla="*/ 90115 h 408167"/>
              <a:gd name="connsiteX4" fmla="*/ 3951798 w 3951798"/>
              <a:gd name="connsiteY4" fmla="*/ 368410 h 40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1798" h="408167">
                <a:moveTo>
                  <a:pt x="0" y="408167"/>
                </a:moveTo>
                <a:cubicBezTo>
                  <a:pt x="269019" y="290885"/>
                  <a:pt x="538038" y="173603"/>
                  <a:pt x="858741" y="106017"/>
                </a:cubicBezTo>
                <a:cubicBezTo>
                  <a:pt x="1179444" y="38431"/>
                  <a:pt x="1579660" y="5300"/>
                  <a:pt x="1924216" y="2650"/>
                </a:cubicBezTo>
                <a:cubicBezTo>
                  <a:pt x="2268772" y="0"/>
                  <a:pt x="2588150" y="29155"/>
                  <a:pt x="2926080" y="90115"/>
                </a:cubicBezTo>
                <a:cubicBezTo>
                  <a:pt x="3264010" y="151075"/>
                  <a:pt x="3607904" y="259742"/>
                  <a:pt x="3951798" y="36841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form 28"/>
          <p:cNvSpPr/>
          <p:nvPr/>
        </p:nvSpPr>
        <p:spPr>
          <a:xfrm flipV="1">
            <a:off x="1518882" y="4827998"/>
            <a:ext cx="2380315" cy="313990"/>
          </a:xfrm>
          <a:custGeom>
            <a:avLst/>
            <a:gdLst>
              <a:gd name="connsiteX0" fmla="*/ 0 w 3951798"/>
              <a:gd name="connsiteY0" fmla="*/ 408167 h 408167"/>
              <a:gd name="connsiteX1" fmla="*/ 858741 w 3951798"/>
              <a:gd name="connsiteY1" fmla="*/ 106017 h 408167"/>
              <a:gd name="connsiteX2" fmla="*/ 1924216 w 3951798"/>
              <a:gd name="connsiteY2" fmla="*/ 2650 h 408167"/>
              <a:gd name="connsiteX3" fmla="*/ 2926080 w 3951798"/>
              <a:gd name="connsiteY3" fmla="*/ 90115 h 408167"/>
              <a:gd name="connsiteX4" fmla="*/ 3951798 w 3951798"/>
              <a:gd name="connsiteY4" fmla="*/ 368410 h 40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1798" h="408167">
                <a:moveTo>
                  <a:pt x="0" y="408167"/>
                </a:moveTo>
                <a:cubicBezTo>
                  <a:pt x="269019" y="290885"/>
                  <a:pt x="538038" y="173603"/>
                  <a:pt x="858741" y="106017"/>
                </a:cubicBezTo>
                <a:cubicBezTo>
                  <a:pt x="1179444" y="38431"/>
                  <a:pt x="1579660" y="5300"/>
                  <a:pt x="1924216" y="2650"/>
                </a:cubicBezTo>
                <a:cubicBezTo>
                  <a:pt x="2268772" y="0"/>
                  <a:pt x="2588150" y="29155"/>
                  <a:pt x="2926080" y="90115"/>
                </a:cubicBezTo>
                <a:cubicBezTo>
                  <a:pt x="3264010" y="151075"/>
                  <a:pt x="3607904" y="259742"/>
                  <a:pt x="3951798" y="36841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/>
          <p:cNvSpPr txBox="1"/>
          <p:nvPr/>
        </p:nvSpPr>
        <p:spPr>
          <a:xfrm>
            <a:off x="385011" y="1836746"/>
            <a:ext cx="873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Inputs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178" y="1896418"/>
            <a:ext cx="1073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520" y="5901045"/>
            <a:ext cx="2578097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latin typeface="Wingdings" panose="05000000000000000000" pitchFamily="2" charset="2"/>
              </a:rPr>
              <a:t>!</a:t>
            </a:r>
            <a:r>
              <a:rPr lang="en-GB" dirty="0"/>
              <a:t> The </a:t>
            </a:r>
            <a:r>
              <a:rPr lang="en-GB" b="1" dirty="0"/>
              <a:t>domain</a:t>
            </a:r>
            <a:r>
              <a:rPr lang="en-GB" dirty="0"/>
              <a:t> of a function is the set of possible inputs.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50195" y="5901045"/>
            <a:ext cx="2645759" cy="9233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latin typeface="Wingdings" panose="05000000000000000000" pitchFamily="2" charset="2"/>
              </a:rPr>
              <a:t>!</a:t>
            </a:r>
            <a:r>
              <a:rPr lang="en-GB" dirty="0"/>
              <a:t> The </a:t>
            </a:r>
            <a:r>
              <a:rPr lang="en-GB" b="1" dirty="0"/>
              <a:t>range</a:t>
            </a:r>
            <a:r>
              <a:rPr lang="en-GB" dirty="0"/>
              <a:t> of a function is the set of possible outputs.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5940152" y="1588838"/>
                <a:ext cx="3013348" cy="1585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domain of a function could potentially be </a:t>
                </a:r>
                <a:r>
                  <a:rPr lang="en-GB" b="1" dirty="0"/>
                  <a:t>any</a:t>
                </a:r>
                <a:r>
                  <a:rPr lang="en-GB" dirty="0"/>
                  <a:t> real number. If so, we’d write:</a:t>
                </a:r>
              </a:p>
              <a:p>
                <a:endParaRPr lang="en-GB" sz="7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2" y="1588838"/>
                <a:ext cx="3013348" cy="1585049"/>
              </a:xfrm>
              <a:prstGeom prst="rect">
                <a:avLst/>
              </a:prstGeom>
              <a:blipFill>
                <a:blip r:embed="rId3"/>
                <a:stretch>
                  <a:fillRect l="-1616" t="-2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855849" y="3270139"/>
                <a:ext cx="114035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input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…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849" y="3270139"/>
                <a:ext cx="1140359" cy="307777"/>
              </a:xfrm>
              <a:prstGeom prst="rect">
                <a:avLst/>
              </a:prstGeom>
              <a:blipFill>
                <a:blip r:embed="rId4"/>
                <a:stretch>
                  <a:fillRect l="-1604" t="-1961" r="-1604" b="-196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/>
          <p:nvPr/>
        </p:nvCxnSpPr>
        <p:spPr>
          <a:xfrm flipV="1">
            <a:off x="6509084" y="3056021"/>
            <a:ext cx="192505" cy="264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38900" y="3478866"/>
            <a:ext cx="1442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is a member of…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31113" y="3262027"/>
            <a:ext cx="1905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the set of real numbers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7096646" y="3095625"/>
            <a:ext cx="142354" cy="434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 flipV="1">
            <a:off x="7762875" y="3057525"/>
            <a:ext cx="208487" cy="24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854427" y="4031184"/>
                <a:ext cx="297524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might be interested in what inputs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give an output of 0. These are known as the </a:t>
                </a:r>
                <a:r>
                  <a:rPr lang="en-GB" b="1" dirty="0"/>
                  <a:t>roots</a:t>
                </a:r>
                <a:r>
                  <a:rPr lang="en-GB" dirty="0"/>
                  <a:t> of the function.</a:t>
                </a: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427" y="4031184"/>
                <a:ext cx="2975248" cy="1200329"/>
              </a:xfrm>
              <a:prstGeom prst="rect">
                <a:avLst/>
              </a:prstGeom>
              <a:blipFill>
                <a:blip r:embed="rId5"/>
                <a:stretch>
                  <a:fillRect l="-1639" t="-2538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989771" y="5421275"/>
                <a:ext cx="2645759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The </a:t>
                </a:r>
                <a:r>
                  <a:rPr lang="en-GB" b="1" dirty="0"/>
                  <a:t>roots/zeroes</a:t>
                </a:r>
                <a:r>
                  <a:rPr lang="en-GB" dirty="0"/>
                  <a:t> of a function are the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for which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771" y="5421275"/>
                <a:ext cx="2645759" cy="923330"/>
              </a:xfrm>
              <a:prstGeom prst="rect">
                <a:avLst/>
              </a:prstGeom>
              <a:blipFill>
                <a:blip r:embed="rId6"/>
                <a:stretch>
                  <a:fillRect l="-1598" t="-2564"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/>
          <p:cNvSpPr/>
          <p:nvPr/>
        </p:nvSpPr>
        <p:spPr>
          <a:xfrm>
            <a:off x="5916001" y="2551735"/>
            <a:ext cx="3100999" cy="12582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39667" y="4899054"/>
            <a:ext cx="824634" cy="422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7457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/>
      <p:bldP spid="30" grpId="0" animBg="1"/>
      <p:bldP spid="31" grpId="0" animBg="1"/>
      <p:bldP spid="33" grpId="0"/>
      <p:bldP spid="34" grpId="0"/>
      <p:bldP spid="38" grpId="0"/>
      <p:bldP spid="39" grpId="0"/>
      <p:bldP spid="44" grpId="0"/>
      <p:bldP spid="45" grpId="0" animBg="1"/>
      <p:bldP spid="46" grpId="0" animBg="1"/>
      <p:bldP spid="46" grpId="1" animBg="1"/>
      <p:bldP spid="47" grpId="0" animBg="1"/>
      <p:bldP spid="47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4844" y="853728"/>
                <a:ext cx="5616624" cy="163121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+5,     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GB" sz="2000" dirty="0"/>
              </a:p>
              <a:p>
                <a:pPr marL="457200" indent="-457200">
                  <a:buAutoNum type="alphaLcParenR"/>
                </a:pPr>
                <a:r>
                  <a:rPr lang="en-GB" sz="2000" dirty="0"/>
                  <a:t>Find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(−4)</m:t>
                    </m:r>
                  </m:oMath>
                </a14:m>
                <a:endParaRPr lang="en-GB" sz="2000" dirty="0"/>
              </a:p>
              <a:p>
                <a:pPr marL="457200" indent="-457200">
                  <a:buAutoNum type="alphaLcParenR"/>
                </a:pPr>
                <a:r>
                  <a:rPr lang="en-GB" sz="2000" dirty="0"/>
                  <a:t>Find the values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for which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/>
              </a:p>
              <a:p>
                <a:pPr marL="457200" indent="-457200">
                  <a:buAutoNum type="alphaLcParenR"/>
                </a:pPr>
                <a:r>
                  <a:rPr lang="en-GB" sz="2000" dirty="0"/>
                  <a:t>Find the roots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pPr marL="457200" indent="-457200">
                  <a:buAutoNum type="alphaLcParenR"/>
                </a:pPr>
                <a:r>
                  <a:rPr lang="en-GB" sz="2000" dirty="0"/>
                  <a:t>Find the roots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44" y="853728"/>
                <a:ext cx="5616624" cy="1631216"/>
              </a:xfrm>
              <a:prstGeom prst="rect">
                <a:avLst/>
              </a:prstGeom>
              <a:blipFill>
                <a:blip r:embed="rId2"/>
                <a:stretch>
                  <a:fillRect b="-67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385024" y="942628"/>
            <a:ext cx="2554632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Note</a:t>
            </a:r>
            <a:r>
              <a:rPr lang="en-GB" dirty="0"/>
              <a:t>: The domain is usually stated for you.</a:t>
            </a:r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 flipV="1">
            <a:off x="5652120" y="1052736"/>
            <a:ext cx="732904" cy="213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3528" y="2852936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55576" y="2852936"/>
                <a:ext cx="280831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  =28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852936"/>
                <a:ext cx="2808312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323528" y="4005064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5816" y="2852936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55576" y="3912126"/>
                <a:ext cx="380079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Conceptually, we’re looking for the inputs of the functions which give the same outputs. We can just equate the output expressions.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−5=0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912126"/>
                <a:ext cx="3800796" cy="2308324"/>
              </a:xfrm>
              <a:prstGeom prst="rect">
                <a:avLst/>
              </a:prstGeom>
              <a:blipFill>
                <a:blip r:embed="rId4"/>
                <a:stretch>
                  <a:fillRect l="-1445" t="-1587" r="-3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130352" y="2783920"/>
                <a:ext cx="380079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roots are the inputs which give an output of 0. So set output expression to 0.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352" y="2783920"/>
                <a:ext cx="3800796" cy="1754326"/>
              </a:xfrm>
              <a:prstGeom prst="rect">
                <a:avLst/>
              </a:prstGeom>
              <a:blipFill>
                <a:blip r:embed="rId5"/>
                <a:stretch>
                  <a:fillRect l="-1445" t="-2091" r="-8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4698304" y="4881468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130352" y="4868242"/>
                <a:ext cx="35149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352" y="4868242"/>
                <a:ext cx="3514976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755576" y="2845405"/>
            <a:ext cx="3800796" cy="943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5576" y="4005063"/>
            <a:ext cx="3800796" cy="23384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5376" y="2852936"/>
            <a:ext cx="3800796" cy="18168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5376" y="4881468"/>
            <a:ext cx="3800796" cy="963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5285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4844" y="853728"/>
                <a:ext cx="5616624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Determine the minimum value of the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−6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sz="2000" dirty="0"/>
                  <a:t>, and state the value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for which this minimum occurs.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44" y="853728"/>
                <a:ext cx="5616624" cy="1015663"/>
              </a:xfrm>
              <a:prstGeom prst="rect">
                <a:avLst/>
              </a:prstGeom>
              <a:blipFill>
                <a:blip r:embed="rId2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85664" y="2177715"/>
                <a:ext cx="60486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 might try a (clumsy) approach of trying a few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try to see what makes the output as small as possible…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64" y="2177715"/>
                <a:ext cx="6048672" cy="646331"/>
              </a:xfrm>
              <a:prstGeom prst="rect">
                <a:avLst/>
              </a:prstGeom>
              <a:blipFill>
                <a:blip r:embed="rId3"/>
                <a:stretch>
                  <a:fillRect l="-907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804248" y="946060"/>
            <a:ext cx="2160240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This means we want to minimise the </a:t>
            </a:r>
            <a:r>
              <a:rPr lang="en-GB" sz="1600" b="1" dirty="0"/>
              <a:t>output</a:t>
            </a:r>
            <a:r>
              <a:rPr lang="en-GB" sz="1600" dirty="0"/>
              <a:t> of the function.</a:t>
            </a:r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6300192" y="1361559"/>
            <a:ext cx="504056" cy="195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822996" y="2854134"/>
                <a:ext cx="288032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=1−6+2=−3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=4−12+2=−6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=9−18+2=−7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=16−24+2=−6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996" y="2854134"/>
                <a:ext cx="2880320" cy="1200329"/>
              </a:xfrm>
              <a:prstGeom prst="rect">
                <a:avLst/>
              </a:prstGeom>
              <a:blipFill>
                <a:blip r:embed="rId4"/>
                <a:stretch>
                  <a:fillRect b="-35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634236" y="3199033"/>
            <a:ext cx="18900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This looks like the minimum as the value starts going up after.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4703316" y="3416300"/>
            <a:ext cx="948184" cy="156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85726" y="4245586"/>
                <a:ext cx="604867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But the best way to find the minimum/maximum value of a quadratic is to </a:t>
                </a:r>
                <a:r>
                  <a:rPr lang="en-GB" b="1" dirty="0"/>
                  <a:t>complete the square</a:t>
                </a:r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−7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26" y="4245586"/>
                <a:ext cx="6048672" cy="923330"/>
              </a:xfrm>
              <a:prstGeom prst="rect">
                <a:avLst/>
              </a:prstGeom>
              <a:blipFill>
                <a:blip r:embed="rId5"/>
                <a:stretch>
                  <a:fillRect l="-806" t="-3289" b="-46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403648" y="5343973"/>
                <a:ext cx="288032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−7=−3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−7=−6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−7=−7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−7=−6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5343973"/>
                <a:ext cx="2880320" cy="1200329"/>
              </a:xfrm>
              <a:prstGeom prst="rect">
                <a:avLst/>
              </a:prstGeom>
              <a:blipFill>
                <a:blip r:embed="rId6"/>
                <a:stretch>
                  <a:fillRect b="-3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329932" y="4724429"/>
                <a:ext cx="234692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Since anything squared is at least 0, the smallest we can make the bracket is 0, which occurs when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932" y="4724429"/>
                <a:ext cx="2346920" cy="954107"/>
              </a:xfrm>
              <a:prstGeom prst="rect">
                <a:avLst/>
              </a:prstGeom>
              <a:blipFill>
                <a:blip r:embed="rId7"/>
                <a:stretch>
                  <a:fillRect l="-779" t="-1274" b="-57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 flipH="1">
            <a:off x="4127500" y="5295900"/>
            <a:ext cx="1193800" cy="723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454076" y="2845405"/>
            <a:ext cx="6070252" cy="12090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177408" y="5788372"/>
                <a:ext cx="3355032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, the minimum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, which occurs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408" y="5788372"/>
                <a:ext cx="3355032" cy="923330"/>
              </a:xfrm>
              <a:prstGeom prst="rect">
                <a:avLst/>
              </a:prstGeom>
              <a:blipFill>
                <a:blip r:embed="rId8"/>
                <a:stretch>
                  <a:fillRect l="-1081" t="-3226" b="-83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609948" y="4836329"/>
            <a:ext cx="7937152" cy="18946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8578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2" grpId="0" animBg="1"/>
      <p:bldP spid="25" grpId="0" animBg="1"/>
      <p:bldP spid="23" grpId="0" animBg="1"/>
      <p:bldP spid="23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 err="1"/>
                <a:t>Quickfire</a:t>
              </a:r>
              <a:r>
                <a:rPr lang="en-GB" dirty="0"/>
                <a:t> Questions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110791"/>
                  </p:ext>
                </p:extLst>
              </p:nvPr>
            </p:nvGraphicFramePr>
            <p:xfrm>
              <a:off x="539552" y="1168560"/>
              <a:ext cx="8275715" cy="2706832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50132">
                      <a:extLst>
                        <a:ext uri="{9D8B030D-6E8A-4147-A177-3AD203B41FA5}">
                          <a16:colId xmlns:a16="http://schemas.microsoft.com/office/drawing/2014/main" val="567043795"/>
                        </a:ext>
                      </a:extLst>
                    </a:gridCol>
                    <a:gridCol w="1950132">
                      <a:extLst>
                        <a:ext uri="{9D8B030D-6E8A-4147-A177-3AD203B41FA5}">
                          <a16:colId xmlns:a16="http://schemas.microsoft.com/office/drawing/2014/main" val="3735725850"/>
                        </a:ext>
                      </a:extLst>
                    </a:gridCol>
                    <a:gridCol w="2425319">
                      <a:extLst>
                        <a:ext uri="{9D8B030D-6E8A-4147-A177-3AD203B41FA5}">
                          <a16:colId xmlns:a16="http://schemas.microsoft.com/office/drawing/2014/main" val="1936596565"/>
                        </a:ext>
                      </a:extLst>
                    </a:gridCol>
                    <a:gridCol w="1950132">
                      <a:extLst>
                        <a:ext uri="{9D8B030D-6E8A-4147-A177-3AD203B41FA5}">
                          <a16:colId xmlns:a16="http://schemas.microsoft.com/office/drawing/2014/main" val="1552963745"/>
                        </a:ext>
                      </a:extLst>
                    </a:gridCol>
                  </a:tblGrid>
                  <a:tr h="58594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Completed square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Min/max value of </a:t>
                          </a:r>
                          <a14:m>
                            <m:oMath xmlns:m="http://schemas.openxmlformats.org/officeDocument/2006/math">
                              <m:r>
                                <a:rPr lang="en-GB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GB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GB" dirty="0"/>
                            <a:t> for which this min/max occurs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1325780"/>
                      </a:ext>
                    </a:extLst>
                  </a:tr>
                  <a:tr h="51668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+4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+9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+2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8377355"/>
                      </a:ext>
                    </a:extLst>
                  </a:tr>
                  <a:tr h="51668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+21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−5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99711805"/>
                      </a:ext>
                    </a:extLst>
                  </a:tr>
                  <a:tr h="51668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10−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Already</a:t>
                          </a:r>
                          <a:r>
                            <a:rPr lang="en-GB" baseline="0" dirty="0"/>
                            <a:t> completed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0501804"/>
                      </a:ext>
                    </a:extLst>
                  </a:tr>
                  <a:tr h="51668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8−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+6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17−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54353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110791"/>
                  </p:ext>
                </p:extLst>
              </p:nvPr>
            </p:nvGraphicFramePr>
            <p:xfrm>
              <a:off x="539552" y="1168560"/>
              <a:ext cx="8275715" cy="2706832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50132">
                      <a:extLst>
                        <a:ext uri="{9D8B030D-6E8A-4147-A177-3AD203B41FA5}">
                          <a16:colId xmlns:a16="http://schemas.microsoft.com/office/drawing/2014/main" val="567043795"/>
                        </a:ext>
                      </a:extLst>
                    </a:gridCol>
                    <a:gridCol w="1950132">
                      <a:extLst>
                        <a:ext uri="{9D8B030D-6E8A-4147-A177-3AD203B41FA5}">
                          <a16:colId xmlns:a16="http://schemas.microsoft.com/office/drawing/2014/main" val="3735725850"/>
                        </a:ext>
                      </a:extLst>
                    </a:gridCol>
                    <a:gridCol w="2425319">
                      <a:extLst>
                        <a:ext uri="{9D8B030D-6E8A-4147-A177-3AD203B41FA5}">
                          <a16:colId xmlns:a16="http://schemas.microsoft.com/office/drawing/2014/main" val="1936596565"/>
                        </a:ext>
                      </a:extLst>
                    </a:gridCol>
                    <a:gridCol w="1950132">
                      <a:extLst>
                        <a:ext uri="{9D8B030D-6E8A-4147-A177-3AD203B41FA5}">
                          <a16:colId xmlns:a16="http://schemas.microsoft.com/office/drawing/2014/main" val="155296374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3" t="-4762" r="-325938" b="-32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Completed square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0652" t="-4762" r="-81203" b="-32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5000" t="-4762" r="-1250" b="-32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1325780"/>
                      </a:ext>
                    </a:extLst>
                  </a:tr>
                  <a:tr h="5166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3" t="-129412" r="-325938" b="-3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13" t="-129412" r="-225938" b="-3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0652" t="-129412" r="-81203" b="-3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5000" t="-129412" r="-1250" b="-3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8377355"/>
                      </a:ext>
                    </a:extLst>
                  </a:tr>
                  <a:tr h="5166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3" t="-229412" r="-325938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13" t="-229412" r="-225938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0652" t="-229412" r="-81203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5000" t="-229412" r="-1250" b="-2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9711805"/>
                      </a:ext>
                    </a:extLst>
                  </a:tr>
                  <a:tr h="5166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3" t="-329412" r="-325938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Already</a:t>
                          </a:r>
                          <a:r>
                            <a:rPr lang="en-GB" baseline="0" dirty="0"/>
                            <a:t> completed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0652" t="-329412" r="-81203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5000" t="-329412" r="-1250" b="-1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0501804"/>
                      </a:ext>
                    </a:extLst>
                  </a:tr>
                  <a:tr h="5166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3" t="-429412" r="-325938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13" t="-429412" r="-225938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0652" t="-429412" r="-81203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5000" t="-429412" r="-1250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54353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/>
          <p:cNvSpPr/>
          <p:nvPr/>
        </p:nvSpPr>
        <p:spPr>
          <a:xfrm>
            <a:off x="2495476" y="1804005"/>
            <a:ext cx="1949524" cy="520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4451400" y="1804005"/>
            <a:ext cx="2406600" cy="520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812787"/>
            <a:ext cx="1957267" cy="5113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95476" y="2319602"/>
            <a:ext cx="1949524" cy="520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1400" y="2319602"/>
            <a:ext cx="2406600" cy="520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328384"/>
            <a:ext cx="1957267" cy="5113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95476" y="2839697"/>
            <a:ext cx="1949524" cy="520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51400" y="2839697"/>
            <a:ext cx="2406600" cy="520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848479"/>
            <a:ext cx="1957267" cy="5113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95476" y="3359580"/>
            <a:ext cx="1949524" cy="520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51400" y="3359580"/>
            <a:ext cx="2406600" cy="5200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3368362"/>
            <a:ext cx="1957267" cy="5113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88251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9552" y="836712"/>
                <a:ext cx="3109044" cy="132343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minimum value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+12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lang="en-GB" sz="2000" dirty="0"/>
                  <a:t> and state the value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for which this occurs.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836712"/>
                <a:ext cx="3109044" cy="1323439"/>
              </a:xfrm>
              <a:prstGeom prst="rect">
                <a:avLst/>
              </a:prstGeom>
              <a:blipFill>
                <a:blip r:embed="rId2"/>
                <a:stretch>
                  <a:fillRect b="-123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355976" y="844476"/>
                <a:ext cx="3744416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roots of the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844476"/>
                <a:ext cx="3744416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55976" y="3573016"/>
                <a:ext cx="3744416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roots of the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−6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3573016"/>
                <a:ext cx="3744416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9552" y="2276872"/>
                <a:ext cx="3109044" cy="2066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−18−5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−23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Minimum value is -23.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at which this occurs is -3.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276872"/>
                <a:ext cx="3109044" cy="2066976"/>
              </a:xfrm>
              <a:prstGeom prst="rect">
                <a:avLst/>
              </a:prstGeom>
              <a:blipFill>
                <a:blip r:embed="rId5"/>
                <a:stretch>
                  <a:fillRect l="-1765" b="-38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139952" y="1797711"/>
                <a:ext cx="3109044" cy="1164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1797711"/>
                <a:ext cx="3109044" cy="11649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322936" y="4509120"/>
                <a:ext cx="3109044" cy="12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−6=0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=±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936" y="4509120"/>
                <a:ext cx="3109044" cy="12329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223640" y="836712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1272" y="848342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1272" y="3573016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672" y="2160151"/>
            <a:ext cx="3136924" cy="23489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9084" y="1527965"/>
            <a:ext cx="3761308" cy="1816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7530" y="4280902"/>
            <a:ext cx="3761308" cy="15963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1966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2E Pure Y1 Pages 26-27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B5B033B-1AF5-8855-85EA-123D3CB2A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7" y="599127"/>
            <a:ext cx="3592548" cy="466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0A99F6-3C2D-9EC3-09C5-E530FD47E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97" y="1951229"/>
            <a:ext cx="6084168" cy="10035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C24B6F-C1C0-8936-0797-EA0257634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97" y="4147555"/>
            <a:ext cx="4448517" cy="10396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0FA4B07-28D2-3CCE-3474-950BD2BBB8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1960" y="667686"/>
            <a:ext cx="1590897" cy="10383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44F3793-062A-010F-2C64-ACE0440DEA17}"/>
              </a:ext>
            </a:extLst>
          </p:cNvPr>
          <p:cNvSpPr/>
          <p:nvPr/>
        </p:nvSpPr>
        <p:spPr>
          <a:xfrm>
            <a:off x="3974657" y="650037"/>
            <a:ext cx="3100999" cy="12582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4B814D2-C556-8A48-BBEF-1FE855FADF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536" y="2954749"/>
            <a:ext cx="1848108" cy="105742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1AD90AB-77BD-3E95-5CA9-BD81111A21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9628" y="3090132"/>
            <a:ext cx="3610479" cy="77163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4A4C349-D1CF-5046-849D-A5E6B20BAD4B}"/>
              </a:ext>
            </a:extLst>
          </p:cNvPr>
          <p:cNvSpPr/>
          <p:nvPr/>
        </p:nvSpPr>
        <p:spPr>
          <a:xfrm>
            <a:off x="251520" y="3001228"/>
            <a:ext cx="3346774" cy="1039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6A8ED3-C59D-0800-114F-4C2866C184A8}"/>
              </a:ext>
            </a:extLst>
          </p:cNvPr>
          <p:cNvSpPr/>
          <p:nvPr/>
        </p:nvSpPr>
        <p:spPr>
          <a:xfrm>
            <a:off x="3859077" y="2999329"/>
            <a:ext cx="3576143" cy="1039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A283A54-F205-9979-A08E-0C473D2E80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226" y="5445224"/>
            <a:ext cx="3324689" cy="64779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A9D1DF5-CDFA-CBC3-1938-6B81A2D5B1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11961" y="5231764"/>
            <a:ext cx="2736304" cy="1324301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DAD1CD0-CB60-27AA-BD3D-6FDFA5318EB6}"/>
              </a:ext>
            </a:extLst>
          </p:cNvPr>
          <p:cNvSpPr/>
          <p:nvPr/>
        </p:nvSpPr>
        <p:spPr>
          <a:xfrm>
            <a:off x="251520" y="5295781"/>
            <a:ext cx="3346774" cy="13243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3163F1-0844-C5CB-6922-F79151450E39}"/>
              </a:ext>
            </a:extLst>
          </p:cNvPr>
          <p:cNvSpPr/>
          <p:nvPr/>
        </p:nvSpPr>
        <p:spPr>
          <a:xfrm>
            <a:off x="3859077" y="5293882"/>
            <a:ext cx="3576143" cy="13243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00357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21" grpId="0" animBg="1"/>
      <p:bldP spid="21" grpId="1" animBg="1"/>
      <p:bldP spid="22" grpId="0" animBg="1"/>
      <p:bldP spid="22" grpId="1" animBg="1"/>
      <p:bldP spid="27" grpId="0" animBg="1"/>
      <p:bldP spid="27" grpId="1" animBg="1"/>
      <p:bldP spid="28" grpId="0" animBg="1"/>
      <p:bldP spid="28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23528" y="756934"/>
                <a:ext cx="835292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Recall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refers to the input of a function, and the expression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refers to the output. For graph sketches, we often write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i.e. we set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values to be the output of the function.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756934"/>
                <a:ext cx="8352928" cy="923330"/>
              </a:xfrm>
              <a:prstGeom prst="rect">
                <a:avLst/>
              </a:prstGeom>
              <a:blipFill>
                <a:blip r:embed="rId2"/>
                <a:stretch>
                  <a:fillRect l="-584" t="-328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57"/>
          <p:cNvGrpSpPr/>
          <p:nvPr/>
        </p:nvGrpSpPr>
        <p:grpSpPr>
          <a:xfrm>
            <a:off x="1144" y="0"/>
            <a:ext cx="9143074" cy="599127"/>
            <a:chOff x="0" y="13335"/>
            <a:chExt cx="9144218" cy="599127"/>
          </a:xfrm>
        </p:grpSpPr>
        <p:sp>
          <p:nvSpPr>
            <p:cNvPr id="7" name="TextBox 6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</a:lstStyle>
            <a:p>
              <a:r>
                <a:rPr lang="en-GB" dirty="0"/>
                <a:t>   4: Quadratic Graphs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4" name="Freeform 3"/>
          <p:cNvSpPr/>
          <p:nvPr/>
        </p:nvSpPr>
        <p:spPr>
          <a:xfrm>
            <a:off x="1979712" y="2120900"/>
            <a:ext cx="4624288" cy="3271286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763688" y="4725144"/>
            <a:ext cx="561662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5165328" y="1988840"/>
            <a:ext cx="0" cy="40324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393012" y="4369256"/>
                <a:ext cx="50405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012" y="4369256"/>
                <a:ext cx="50405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913300" y="1382941"/>
                <a:ext cx="50405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300" y="1382941"/>
                <a:ext cx="50405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298128" y="1874285"/>
            <a:ext cx="2808312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1"/>
                </a:solidFill>
              </a:rPr>
              <a:t>Features needed in sketch of quadratic?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8018" y="3414191"/>
            <a:ext cx="1296144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Roots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868144" y="5790455"/>
                <a:ext cx="1764196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-intercept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5790455"/>
                <a:ext cx="1764196" cy="461665"/>
              </a:xfrm>
              <a:prstGeom prst="rect">
                <a:avLst/>
              </a:prstGeom>
              <a:blipFill>
                <a:blip r:embed="rId5"/>
                <a:stretch>
                  <a:fillRect t="-7500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710571" y="5661248"/>
            <a:ext cx="2538282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General shape: Smiley face or hill?</a:t>
            </a:r>
          </a:p>
        </p:txBody>
      </p:sp>
      <p:cxnSp>
        <p:nvCxnSpPr>
          <p:cNvPr id="31" name="Straight Arrow Connector 30"/>
          <p:cNvCxnSpPr>
            <a:stCxn id="27" idx="2"/>
          </p:cNvCxnSpPr>
          <p:nvPr/>
        </p:nvCxnSpPr>
        <p:spPr>
          <a:xfrm flipH="1">
            <a:off x="3263900" y="3875856"/>
            <a:ext cx="652190" cy="785044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7" idx="2"/>
          </p:cNvCxnSpPr>
          <p:nvPr/>
        </p:nvCxnSpPr>
        <p:spPr>
          <a:xfrm>
            <a:off x="3916090" y="3875856"/>
            <a:ext cx="1633810" cy="785044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8" idx="0"/>
          </p:cNvCxnSpPr>
          <p:nvPr/>
        </p:nvCxnSpPr>
        <p:spPr>
          <a:xfrm flipH="1" flipV="1">
            <a:off x="5165328" y="5301208"/>
            <a:ext cx="1584914" cy="489247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9" idx="0"/>
          </p:cNvCxnSpPr>
          <p:nvPr/>
        </p:nvCxnSpPr>
        <p:spPr>
          <a:xfrm flipV="1">
            <a:off x="1979712" y="5181600"/>
            <a:ext cx="1500088" cy="479648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268018" y="3414192"/>
            <a:ext cx="1296143" cy="461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68144" y="5766822"/>
            <a:ext cx="1764196" cy="4852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0571" y="5661247"/>
            <a:ext cx="2538282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 flipV="1">
            <a:off x="4318000" y="5511801"/>
            <a:ext cx="228600" cy="660399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692872" y="6236791"/>
            <a:ext cx="1971328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Turning point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81784" y="6236791"/>
            <a:ext cx="1982416" cy="4852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1642164"/>
            <a:ext cx="2717800" cy="24622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A ‘sketch’ in maths has a clearly defined meaning: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We care about the </a:t>
            </a:r>
            <a:r>
              <a:rPr lang="en-GB" sz="1400" b="1" u="sng" dirty="0"/>
              <a:t>general shape</a:t>
            </a:r>
            <a:r>
              <a:rPr lang="en-GB" sz="1400" dirty="0"/>
              <a:t> of the graph, not exact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The axes should have </a:t>
            </a:r>
            <a:r>
              <a:rPr lang="en-GB" sz="1400" b="1" u="sng" dirty="0"/>
              <a:t>no scale</a:t>
            </a:r>
            <a:r>
              <a:rPr lang="en-GB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Generally the only coordinates indicated are </a:t>
            </a:r>
            <a:r>
              <a:rPr lang="en-GB" sz="1400" b="1" u="sng" dirty="0"/>
              <a:t>intercepts with the axis</a:t>
            </a:r>
            <a:r>
              <a:rPr lang="en-GB" sz="1400" dirty="0"/>
              <a:t> or other points of interest (e.g. intersections of multiple graphs)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85304" y="3109391"/>
                <a:ext cx="165618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Recall a root of a function is where the output, in this case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 value, is 0.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04" y="3109391"/>
                <a:ext cx="1656184" cy="1323439"/>
              </a:xfrm>
              <a:prstGeom prst="rect">
                <a:avLst/>
              </a:prstGeom>
              <a:blipFill>
                <a:blip r:embed="rId6"/>
                <a:stretch>
                  <a:fillRect l="-2214" t="-1382" r="-2214" b="-50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3338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34" grpId="0" animBg="1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6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9852" y="785912"/>
                <a:ext cx="5429448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Sketch the graph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GB" sz="2000" dirty="0"/>
                  <a:t> and find the coordinates of the turning point.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52" y="785912"/>
                <a:ext cx="5429448" cy="707886"/>
              </a:xfrm>
              <a:prstGeom prst="rect">
                <a:avLst/>
              </a:prstGeom>
              <a:blipFill>
                <a:blip r:embed="rId2"/>
                <a:stretch>
                  <a:fillRect b="-357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99852" y="1844824"/>
            <a:ext cx="959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Roots: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979712" y="1844824"/>
                <a:ext cx="3384376" cy="9233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𝒐𝒓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br>
                  <a:rPr lang="en-GB" b="1" dirty="0"/>
                </a:br>
                <a:endParaRPr lang="en-GB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1844824"/>
                <a:ext cx="3384376" cy="9233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85168" y="2857376"/>
                <a:ext cx="1450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-intercept: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68" y="2857376"/>
                <a:ext cx="1450528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941612" y="2878803"/>
                <a:ext cx="277440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b="1" dirty="0"/>
                  <a:t>When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lang="en-GB" b="1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612" y="2878803"/>
                <a:ext cx="2774404" cy="646331"/>
              </a:xfrm>
              <a:prstGeom prst="rect">
                <a:avLst/>
              </a:prstGeom>
              <a:blipFill>
                <a:blip r:embed="rId5"/>
                <a:stretch>
                  <a:fillRect l="-1978" t="-4717" b="-47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85168" y="3739223"/>
            <a:ext cx="157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Turning point: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941612" y="3658389"/>
                <a:ext cx="2774404" cy="18609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Min point: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,−</m:t>
                        </m:r>
                        <m:f>
                          <m:f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𝟐𝟓</m:t>
                            </m:r>
                          </m:num>
                          <m:den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e>
                    </m:d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612" y="3658389"/>
                <a:ext cx="2774404" cy="1860959"/>
              </a:xfrm>
              <a:prstGeom prst="rect">
                <a:avLst/>
              </a:prstGeom>
              <a:blipFill>
                <a:blip r:embed="rId6"/>
                <a:stretch>
                  <a:fillRect l="-1978" b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6352" y="5856064"/>
                <a:ext cx="4070548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Recall that 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, the minimum output is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 dirty="0"/>
                  <a:t> is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value which minimises it. i.e. Turning point is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52" y="5856064"/>
                <a:ext cx="4070548" cy="830997"/>
              </a:xfrm>
              <a:prstGeom prst="rect">
                <a:avLst/>
              </a:prstGeom>
              <a:blipFill>
                <a:blip r:embed="rId7"/>
                <a:stretch>
                  <a:fillRect l="-446" t="-714"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V="1">
            <a:off x="1259632" y="5301208"/>
            <a:ext cx="576064" cy="55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972618" y="1813992"/>
            <a:ext cx="2599382" cy="9542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72618" y="2901473"/>
            <a:ext cx="2599382" cy="692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55800" y="3717986"/>
            <a:ext cx="2599382" cy="1801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5076056" y="4437112"/>
            <a:ext cx="352839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7164288" y="1701762"/>
            <a:ext cx="0" cy="40324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4820" y="4411068"/>
            <a:ext cx="5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329" y="4411068"/>
            <a:ext cx="5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7" name="Freeform 3"/>
          <p:cNvSpPr/>
          <p:nvPr/>
        </p:nvSpPr>
        <p:spPr>
          <a:xfrm>
            <a:off x="5002312" y="2146300"/>
            <a:ext cx="3392388" cy="2788686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/>
          <p:cNvSpPr txBox="1"/>
          <p:nvPr/>
        </p:nvSpPr>
        <p:spPr>
          <a:xfrm>
            <a:off x="6843960" y="4868162"/>
            <a:ext cx="5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5416435" y="4925859"/>
                <a:ext cx="1435329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435" y="4925859"/>
                <a:ext cx="1435329" cy="7146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/>
          <p:cNvSpPr/>
          <p:nvPr/>
        </p:nvSpPr>
        <p:spPr>
          <a:xfrm>
            <a:off x="6708031" y="4872925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579048" y="424229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48" y="4242296"/>
                <a:ext cx="28803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020272" y="134115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1341156"/>
                <a:ext cx="288032" cy="369332"/>
              </a:xfrm>
              <a:prstGeom prst="rect">
                <a:avLst/>
              </a:prstGeom>
              <a:blipFill>
                <a:blip r:embed="rId10"/>
                <a:stretch>
                  <a:fillRect r="-6383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410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5" grpId="0"/>
      <p:bldP spid="26" grpId="0"/>
      <p:bldP spid="27" grpId="0" animBg="1"/>
      <p:bldP spid="30" grpId="0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6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9851" y="785912"/>
                <a:ext cx="7412509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Sketch the graph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GB" sz="2000" dirty="0"/>
                  <a:t> and find the coordinates of the turning point. Write down the equation of the line of symmetry.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51" y="785912"/>
                <a:ext cx="7412509" cy="707886"/>
              </a:xfrm>
              <a:prstGeom prst="rect">
                <a:avLst/>
              </a:prstGeom>
              <a:blipFill>
                <a:blip r:embed="rId2"/>
                <a:stretch>
                  <a:fillRect b="-357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88752" y="1743224"/>
            <a:ext cx="959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Roots: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420912" y="1768624"/>
                <a:ext cx="3685108" cy="2671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×−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×−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</m:e>
                          </m:rad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This has no solutions, so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 value can never be 0, i.e. the parabola does not touch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-axis.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912" y="1768624"/>
                <a:ext cx="3685108" cy="2671629"/>
              </a:xfrm>
              <a:prstGeom prst="rect">
                <a:avLst/>
              </a:prstGeom>
              <a:blipFill>
                <a:blip r:embed="rId3"/>
                <a:stretch>
                  <a:fillRect l="-1322" r="-331" b="-27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8791" y="4414984"/>
                <a:ext cx="14505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-intercept: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91" y="4414984"/>
                <a:ext cx="1450528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433935" y="4411011"/>
            <a:ext cx="2774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-3 (by inspection)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71709" y="5119031"/>
            <a:ext cx="157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Turning point: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459335" y="5127097"/>
                <a:ext cx="2774404" cy="17711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Max point is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335" y="5127097"/>
                <a:ext cx="2774404" cy="1771191"/>
              </a:xfrm>
              <a:prstGeom prst="rect">
                <a:avLst/>
              </a:prstGeom>
              <a:blipFill>
                <a:blip r:embed="rId5"/>
                <a:stretch>
                  <a:fillRect l="-1096" b="-17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1377206" y="4411848"/>
            <a:ext cx="3601194" cy="6926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43508" y="5158053"/>
            <a:ext cx="2611133" cy="1663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5076056" y="4437112"/>
            <a:ext cx="352839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33" idx="2"/>
          </p:cNvCxnSpPr>
          <p:nvPr/>
        </p:nvCxnSpPr>
        <p:spPr>
          <a:xfrm flipV="1">
            <a:off x="6643588" y="1976417"/>
            <a:ext cx="0" cy="41888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Freeform 3"/>
          <p:cNvSpPr/>
          <p:nvPr/>
        </p:nvSpPr>
        <p:spPr>
          <a:xfrm rot="10800000">
            <a:off x="6262954" y="4823995"/>
            <a:ext cx="2179333" cy="1524410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/>
          <p:cNvSpPr txBox="1"/>
          <p:nvPr/>
        </p:nvSpPr>
        <p:spPr>
          <a:xfrm>
            <a:off x="6314570" y="5000509"/>
            <a:ext cx="5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7195310" y="4691990"/>
                <a:ext cx="9453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1,−1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5310" y="4691990"/>
                <a:ext cx="94532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/>
          <p:cNvSpPr/>
          <p:nvPr/>
        </p:nvSpPr>
        <p:spPr>
          <a:xfrm>
            <a:off x="7152531" y="4733225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8579048" y="424229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48" y="4242296"/>
                <a:ext cx="28803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499572" y="1607085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572" y="1607085"/>
                <a:ext cx="288032" cy="369332"/>
              </a:xfrm>
              <a:prstGeom prst="rect">
                <a:avLst/>
              </a:prstGeom>
              <a:blipFill>
                <a:blip r:embed="rId8"/>
                <a:stretch>
                  <a:fillRect r="-638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1373796" y="1753610"/>
            <a:ext cx="3604604" cy="26151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4172" y="6412686"/>
            <a:ext cx="186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Line of reflection: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955632" y="6405028"/>
                <a:ext cx="11804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632" y="6405028"/>
                <a:ext cx="118042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/>
          <p:nvPr/>
        </p:nvCxnSpPr>
        <p:spPr>
          <a:xfrm>
            <a:off x="7189704" y="2112556"/>
            <a:ext cx="0" cy="405274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900946" y="2760416"/>
                <a:ext cx="13051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946" y="2760416"/>
                <a:ext cx="1305123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6106207" y="6304547"/>
            <a:ext cx="2003077" cy="4841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4368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7" grpId="0" animBg="1"/>
      <p:bldP spid="30" grpId="0"/>
      <p:bldP spid="31" grpId="0" animBg="1"/>
      <p:bldP spid="18" grpId="0" animBg="1"/>
      <p:bldP spid="35" grpId="0"/>
      <p:bldP spid="3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91567" y="749817"/>
            <a:ext cx="7412509" cy="646331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Sketch the following, indicating any intercepts with the axis, the turning point and the equation of the line of symmetry.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01981" y="1563065"/>
                <a:ext cx="2202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1" y="1563065"/>
                <a:ext cx="2202963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48092" y="1617752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01981" y="4293096"/>
                <a:ext cx="2202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−7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1" y="4293096"/>
                <a:ext cx="2202963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48092" y="4347783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16016" y="1522474"/>
                <a:ext cx="2202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+3−2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1522474"/>
                <a:ext cx="2202963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362127" y="1577161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716016" y="4264461"/>
                <a:ext cx="2202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4264461"/>
                <a:ext cx="2202963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362127" y="4319148"/>
            <a:ext cx="288032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018270" y="3429000"/>
            <a:ext cx="19442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2060365" y="2040607"/>
            <a:ext cx="10666" cy="21138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02099" y="3265934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099" y="3265934"/>
                <a:ext cx="216024" cy="369332"/>
              </a:xfrm>
              <a:prstGeom prst="rect">
                <a:avLst/>
              </a:prstGeom>
              <a:blipFill>
                <a:blip r:embed="rId6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933439" y="1705612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439" y="1705612"/>
                <a:ext cx="216024" cy="369332"/>
              </a:xfrm>
              <a:prstGeom prst="rect">
                <a:avLst/>
              </a:prstGeom>
              <a:blipFill>
                <a:blip r:embed="rId7"/>
                <a:stretch>
                  <a:fillRect r="-38889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3"/>
          <p:cNvSpPr/>
          <p:nvPr/>
        </p:nvSpPr>
        <p:spPr>
          <a:xfrm>
            <a:off x="1230413" y="2314574"/>
            <a:ext cx="1550888" cy="715411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1018270" y="6107175"/>
            <a:ext cx="19442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1619672" y="4693417"/>
            <a:ext cx="10666" cy="21138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902099" y="5944109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099" y="5944109"/>
                <a:ext cx="216024" cy="369332"/>
              </a:xfrm>
              <a:prstGeom prst="rect">
                <a:avLst/>
              </a:prstGeom>
              <a:blipFill>
                <a:blip r:embed="rId8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 3"/>
          <p:cNvSpPr/>
          <p:nvPr/>
        </p:nvSpPr>
        <p:spPr>
          <a:xfrm>
            <a:off x="1436153" y="4932843"/>
            <a:ext cx="1590530" cy="1377298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2519591" y="6020506"/>
            <a:ext cx="224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8159" y="6019936"/>
            <a:ext cx="324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5637" y="5502839"/>
            <a:ext cx="51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985819" y="2959826"/>
                <a:ext cx="5147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0,4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819" y="2959826"/>
                <a:ext cx="514722" cy="369332"/>
              </a:xfrm>
              <a:prstGeom prst="rect">
                <a:avLst/>
              </a:prstGeom>
              <a:blipFill>
                <a:blip r:embed="rId9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/>
          <p:cNvSpPr/>
          <p:nvPr/>
        </p:nvSpPr>
        <p:spPr>
          <a:xfrm>
            <a:off x="1996331" y="2986975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2232013" y="6249374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2209860" y="6313068"/>
                <a:ext cx="733762" cy="47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, −</m:t>
                          </m:r>
                          <m:f>
                            <m:f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60" y="6313068"/>
                <a:ext cx="733762" cy="4726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/>
          <p:cNvCxnSpPr/>
          <p:nvPr/>
        </p:nvCxnSpPr>
        <p:spPr>
          <a:xfrm>
            <a:off x="2273968" y="4764505"/>
            <a:ext cx="18883" cy="208659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31904" y="4661405"/>
                <a:ext cx="1305123" cy="551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904" y="4661405"/>
                <a:ext cx="1305123" cy="5517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/>
          <p:nvPr/>
        </p:nvCxnSpPr>
        <p:spPr>
          <a:xfrm>
            <a:off x="4882502" y="3413326"/>
            <a:ext cx="19442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 flipV="1">
            <a:off x="5483904" y="1999568"/>
            <a:ext cx="10666" cy="21138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6766331" y="3250260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331" y="3250260"/>
                <a:ext cx="216024" cy="369332"/>
              </a:xfrm>
              <a:prstGeom prst="rect">
                <a:avLst/>
              </a:prstGeom>
              <a:blipFill>
                <a:blip r:embed="rId12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Freeform 3"/>
          <p:cNvSpPr/>
          <p:nvPr/>
        </p:nvSpPr>
        <p:spPr>
          <a:xfrm rot="10800000">
            <a:off x="5043210" y="2590800"/>
            <a:ext cx="1433790" cy="1330292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/>
          <p:cNvSpPr txBox="1"/>
          <p:nvPr/>
        </p:nvSpPr>
        <p:spPr>
          <a:xfrm>
            <a:off x="6202848" y="3383807"/>
            <a:ext cx="224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896591" y="3373712"/>
                <a:ext cx="446934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591" y="3373712"/>
                <a:ext cx="446934" cy="438005"/>
              </a:xfrm>
              <a:prstGeom prst="rect">
                <a:avLst/>
              </a:prstGeom>
              <a:blipFill>
                <a:blip r:embed="rId1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5216069" y="2485140"/>
            <a:ext cx="51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50" name="Oval 49"/>
          <p:cNvSpPr/>
          <p:nvPr/>
        </p:nvSpPr>
        <p:spPr>
          <a:xfrm>
            <a:off x="5648570" y="2555400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638352" y="2133473"/>
                <a:ext cx="733762" cy="47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49</m:t>
                              </m:r>
                            </m:num>
                            <m:den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352" y="2133473"/>
                <a:ext cx="733762" cy="4726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/>
          <p:cNvCxnSpPr/>
          <p:nvPr/>
        </p:nvCxnSpPr>
        <p:spPr>
          <a:xfrm>
            <a:off x="5709575" y="2061131"/>
            <a:ext cx="18883" cy="208659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5396086" y="3786831"/>
                <a:ext cx="1305123" cy="558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086" y="3786831"/>
                <a:ext cx="1305123" cy="55835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/>
          <p:nvPr/>
        </p:nvCxnSpPr>
        <p:spPr>
          <a:xfrm>
            <a:off x="5259935" y="6301081"/>
            <a:ext cx="19442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 flipV="1">
            <a:off x="6309849" y="4575666"/>
            <a:ext cx="10666" cy="21138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7143764" y="6109440"/>
                <a:ext cx="2160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764" y="6109440"/>
                <a:ext cx="216024" cy="369332"/>
              </a:xfrm>
              <a:prstGeom prst="rect">
                <a:avLst/>
              </a:prstGeom>
              <a:blipFill>
                <a:blip r:embed="rId16"/>
                <a:stretch>
                  <a:fillRect r="-2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Freeform 3"/>
          <p:cNvSpPr/>
          <p:nvPr/>
        </p:nvSpPr>
        <p:spPr>
          <a:xfrm>
            <a:off x="5106318" y="4743449"/>
            <a:ext cx="1433790" cy="998597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216971" y="6509117"/>
                <a:ext cx="7706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6971" y="6509117"/>
                <a:ext cx="770688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/>
          <p:cNvSpPr txBox="1"/>
          <p:nvPr/>
        </p:nvSpPr>
        <p:spPr>
          <a:xfrm>
            <a:off x="5974502" y="5210970"/>
            <a:ext cx="51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11</a:t>
            </a:r>
          </a:p>
        </p:txBody>
      </p:sp>
      <p:sp>
        <p:nvSpPr>
          <p:cNvPr id="61" name="Oval 60"/>
          <p:cNvSpPr/>
          <p:nvPr/>
        </p:nvSpPr>
        <p:spPr>
          <a:xfrm>
            <a:off x="5850068" y="5671630"/>
            <a:ext cx="121394" cy="1229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811410" y="5739306"/>
                <a:ext cx="7337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−2,7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410" y="5739306"/>
                <a:ext cx="733762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/>
          <p:cNvCxnSpPr/>
          <p:nvPr/>
        </p:nvCxnSpPr>
        <p:spPr>
          <a:xfrm>
            <a:off x="5907206" y="4756641"/>
            <a:ext cx="18883" cy="208659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1724963" y="3699514"/>
                <a:ext cx="13051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963" y="3699514"/>
                <a:ext cx="1305123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 65"/>
          <p:cNvSpPr/>
          <p:nvPr/>
        </p:nvSpPr>
        <p:spPr>
          <a:xfrm>
            <a:off x="782447" y="1886563"/>
            <a:ext cx="2715496" cy="23225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3382" y="4659086"/>
            <a:ext cx="2715496" cy="21920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52563" y="1944202"/>
            <a:ext cx="2715496" cy="2322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73861" y="4615543"/>
            <a:ext cx="2715496" cy="22536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1070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  <p:bldP spid="68" grpId="0" animBg="1"/>
      <p:bldP spid="6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13D890F-958F-484D-A8B9-6488853316E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FA5ACAE-45F1-4E82-AF23-42A25D8F8A2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Determining the Equation using a Graph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ACEE6DC-C591-4ECE-B29C-4A90574CEA4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9192F7-3EDD-4D73-9C46-DA5E118428C7}"/>
              </a:ext>
            </a:extLst>
          </p:cNvPr>
          <p:cNvCxnSpPr/>
          <p:nvPr/>
        </p:nvCxnSpPr>
        <p:spPr>
          <a:xfrm>
            <a:off x="323528" y="3645024"/>
            <a:ext cx="352839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74F434-F58D-4C02-8883-E0696E7C34FB}"/>
              </a:ext>
            </a:extLst>
          </p:cNvPr>
          <p:cNvCxnSpPr>
            <a:endCxn id="8" idx="2"/>
          </p:cNvCxnSpPr>
          <p:nvPr/>
        </p:nvCxnSpPr>
        <p:spPr>
          <a:xfrm flipV="1">
            <a:off x="1891060" y="1184329"/>
            <a:ext cx="0" cy="41888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/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/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blipFill>
                <a:blip r:embed="rId3"/>
                <a:stretch>
                  <a:fillRect r="-638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3">
            <a:extLst>
              <a:ext uri="{FF2B5EF4-FFF2-40B4-BE49-F238E27FC236}">
                <a16:creationId xmlns:a16="http://schemas.microsoft.com/office/drawing/2014/main" id="{D8AD6D98-8E55-4FD2-A3FA-75B15682581B}"/>
              </a:ext>
            </a:extLst>
          </p:cNvPr>
          <p:cNvSpPr/>
          <p:nvPr/>
        </p:nvSpPr>
        <p:spPr>
          <a:xfrm rot="10800000" flipV="1">
            <a:off x="539552" y="2657983"/>
            <a:ext cx="2160110" cy="1542033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C3DEEB-9890-4C9B-A854-C3BABC425BC6}"/>
              </a:ext>
            </a:extLst>
          </p:cNvPr>
          <p:cNvSpPr txBox="1"/>
          <p:nvPr/>
        </p:nvSpPr>
        <p:spPr>
          <a:xfrm>
            <a:off x="2238472" y="3655175"/>
            <a:ext cx="36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568FE1-C76C-4E00-966F-D7F5A2F8E931}"/>
              </a:ext>
            </a:extLst>
          </p:cNvPr>
          <p:cNvSpPr txBox="1"/>
          <p:nvPr/>
        </p:nvSpPr>
        <p:spPr>
          <a:xfrm>
            <a:off x="568172" y="3625996"/>
            <a:ext cx="572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A802BB-A59C-4CA0-8794-D20F6C7FF76A}"/>
              </a:ext>
            </a:extLst>
          </p:cNvPr>
          <p:cNvSpPr txBox="1"/>
          <p:nvPr/>
        </p:nvSpPr>
        <p:spPr>
          <a:xfrm>
            <a:off x="1439599" y="3850878"/>
            <a:ext cx="637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31D767-1609-46B7-A07C-BD788160FF56}"/>
                  </a:ext>
                </a:extLst>
              </p:cNvPr>
              <p:cNvSpPr txBox="1"/>
              <p:nvPr/>
            </p:nvSpPr>
            <p:spPr>
              <a:xfrm>
                <a:off x="4283968" y="1484784"/>
                <a:ext cx="4201861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Determine the equation of this quadratic graph,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31D767-1609-46B7-A07C-BD788160F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1484784"/>
                <a:ext cx="4201861" cy="646331"/>
              </a:xfrm>
              <a:prstGeom prst="rect">
                <a:avLst/>
              </a:prstGeom>
              <a:blipFill>
                <a:blip r:embed="rId4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/>
              <p:nvPr/>
            </p:nvSpPr>
            <p:spPr>
              <a:xfrm>
                <a:off x="4356108" y="2564904"/>
                <a:ext cx="4176463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Since the roots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GB" dirty="0"/>
                  <a:t>, a good start would be: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+3)(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noting that this gives us the correct ‘positive quadratic’ shape.</a:t>
                </a:r>
              </a:p>
              <a:p>
                <a:endParaRPr lang="en-GB" dirty="0"/>
              </a:p>
              <a:p>
                <a:r>
                  <a:rPr lang="en-GB" dirty="0"/>
                  <a:t>However, expanding, we get the wrong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-intercept of -6: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n-GB" i="1" dirty="0"/>
              </a:p>
              <a:p>
                <a:endParaRPr lang="en-GB" dirty="0"/>
              </a:p>
              <a:p>
                <a:r>
                  <a:rPr lang="en-GB" dirty="0"/>
                  <a:t>We can simply scale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-value appropriately without affecting the roots: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108" y="2564904"/>
                <a:ext cx="4176463" cy="3970318"/>
              </a:xfrm>
              <a:prstGeom prst="rect">
                <a:avLst/>
              </a:prstGeom>
              <a:blipFill>
                <a:blip r:embed="rId5"/>
                <a:stretch>
                  <a:fillRect l="-1314" t="-9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E748427-A99E-4DB2-B3DB-D87FEBCBB7F5}"/>
              </a:ext>
            </a:extLst>
          </p:cNvPr>
          <p:cNvSpPr/>
          <p:nvPr/>
        </p:nvSpPr>
        <p:spPr>
          <a:xfrm>
            <a:off x="4303381" y="2131115"/>
            <a:ext cx="4182417" cy="440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7571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13D890F-958F-484D-A8B9-6488853316E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FA5ACAE-45F1-4E82-AF23-42A25D8F8A2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ACEE6DC-C591-4ECE-B29C-4A90574CEA4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9192F7-3EDD-4D73-9C46-DA5E118428C7}"/>
              </a:ext>
            </a:extLst>
          </p:cNvPr>
          <p:cNvCxnSpPr/>
          <p:nvPr/>
        </p:nvCxnSpPr>
        <p:spPr>
          <a:xfrm>
            <a:off x="323528" y="3645024"/>
            <a:ext cx="352839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74F434-F58D-4C02-8883-E0696E7C34FB}"/>
              </a:ext>
            </a:extLst>
          </p:cNvPr>
          <p:cNvCxnSpPr>
            <a:endCxn id="8" idx="2"/>
          </p:cNvCxnSpPr>
          <p:nvPr/>
        </p:nvCxnSpPr>
        <p:spPr>
          <a:xfrm flipV="1">
            <a:off x="1891060" y="1184329"/>
            <a:ext cx="0" cy="41888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/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/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blipFill>
                <a:blip r:embed="rId3"/>
                <a:stretch>
                  <a:fillRect r="-638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3">
            <a:extLst>
              <a:ext uri="{FF2B5EF4-FFF2-40B4-BE49-F238E27FC236}">
                <a16:creationId xmlns:a16="http://schemas.microsoft.com/office/drawing/2014/main" id="{D8AD6D98-8E55-4FD2-A3FA-75B15682581B}"/>
              </a:ext>
            </a:extLst>
          </p:cNvPr>
          <p:cNvSpPr/>
          <p:nvPr/>
        </p:nvSpPr>
        <p:spPr>
          <a:xfrm flipV="1">
            <a:off x="1286162" y="2657983"/>
            <a:ext cx="2160110" cy="1542033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C3DEEB-9890-4C9B-A854-C3BABC425BC6}"/>
              </a:ext>
            </a:extLst>
          </p:cNvPr>
          <p:cNvSpPr txBox="1"/>
          <p:nvPr/>
        </p:nvSpPr>
        <p:spPr>
          <a:xfrm>
            <a:off x="2930931" y="3610787"/>
            <a:ext cx="637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3.5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568FE1-C76C-4E00-966F-D7F5A2F8E931}"/>
              </a:ext>
            </a:extLst>
          </p:cNvPr>
          <p:cNvSpPr txBox="1"/>
          <p:nvPr/>
        </p:nvSpPr>
        <p:spPr>
          <a:xfrm>
            <a:off x="1340530" y="3599363"/>
            <a:ext cx="572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31D767-1609-46B7-A07C-BD788160FF56}"/>
                  </a:ext>
                </a:extLst>
              </p:cNvPr>
              <p:cNvSpPr txBox="1"/>
              <p:nvPr/>
            </p:nvSpPr>
            <p:spPr>
              <a:xfrm>
                <a:off x="4283968" y="1484784"/>
                <a:ext cx="4201861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Determine the equation of this quadratic graph,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are integers.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631D767-1609-46B7-A07C-BD788160F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1484784"/>
                <a:ext cx="4201861" cy="923330"/>
              </a:xfrm>
              <a:prstGeom prst="rect">
                <a:avLst/>
              </a:prstGeom>
              <a:blipFill>
                <a:blip r:embed="rId4"/>
                <a:stretch>
                  <a:fillRect b="-171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/>
              <p:nvPr/>
            </p:nvSpPr>
            <p:spPr>
              <a:xfrm>
                <a:off x="4356108" y="2564904"/>
                <a:ext cx="4176463" cy="3699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 good start would be: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+1)(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−3.5)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 minus on the front ensures we get a negative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term for the correct shape.</a:t>
                </a:r>
              </a:p>
              <a:p>
                <a:r>
                  <a:rPr lang="en-GB" dirty="0"/>
                  <a:t>Expanding: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+2.5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+3.5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Note that no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-intercept has been specified, so we can scale the whole expression without affecting the roots (i.e. we only scale in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direction). Doubling: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108" y="2564904"/>
                <a:ext cx="4176463" cy="3699539"/>
              </a:xfrm>
              <a:prstGeom prst="rect">
                <a:avLst/>
              </a:prstGeom>
              <a:blipFill>
                <a:blip r:embed="rId5"/>
                <a:stretch>
                  <a:fillRect l="-1314" t="-988" r="-10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E748427-A99E-4DB2-B3DB-D87FEBCBB7F5}"/>
              </a:ext>
            </a:extLst>
          </p:cNvPr>
          <p:cNvSpPr/>
          <p:nvPr/>
        </p:nvSpPr>
        <p:spPr>
          <a:xfrm>
            <a:off x="4334292" y="2561969"/>
            <a:ext cx="4182417" cy="40473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6790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13D890F-958F-484D-A8B9-6488853316E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FA5ACAE-45F1-4E82-AF23-42A25D8F8A26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ACEE6DC-C591-4ECE-B29C-4A90574CEA4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9192F7-3EDD-4D73-9C46-DA5E118428C7}"/>
              </a:ext>
            </a:extLst>
          </p:cNvPr>
          <p:cNvCxnSpPr/>
          <p:nvPr/>
        </p:nvCxnSpPr>
        <p:spPr>
          <a:xfrm>
            <a:off x="323528" y="3645024"/>
            <a:ext cx="352839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74F434-F58D-4C02-8883-E0696E7C34FB}"/>
              </a:ext>
            </a:extLst>
          </p:cNvPr>
          <p:cNvCxnSpPr>
            <a:endCxn id="8" idx="2"/>
          </p:cNvCxnSpPr>
          <p:nvPr/>
        </p:nvCxnSpPr>
        <p:spPr>
          <a:xfrm flipV="1">
            <a:off x="1891060" y="1184329"/>
            <a:ext cx="0" cy="41888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/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74F1D7-45D6-4358-AE68-C28D41EF7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520" y="3450208"/>
                <a:ext cx="28803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/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DD4C28-1CA3-4422-B3F8-0C12D7901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044" y="814997"/>
                <a:ext cx="288032" cy="369332"/>
              </a:xfrm>
              <a:prstGeom prst="rect">
                <a:avLst/>
              </a:prstGeom>
              <a:blipFill>
                <a:blip r:embed="rId3"/>
                <a:stretch>
                  <a:fillRect r="-638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3">
            <a:extLst>
              <a:ext uri="{FF2B5EF4-FFF2-40B4-BE49-F238E27FC236}">
                <a16:creationId xmlns:a16="http://schemas.microsoft.com/office/drawing/2014/main" id="{D8AD6D98-8E55-4FD2-A3FA-75B15682581B}"/>
              </a:ext>
            </a:extLst>
          </p:cNvPr>
          <p:cNvSpPr/>
          <p:nvPr/>
        </p:nvSpPr>
        <p:spPr>
          <a:xfrm flipV="1">
            <a:off x="405527" y="2035380"/>
            <a:ext cx="2808312" cy="2355192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C3DEEB-9890-4C9B-A854-C3BABC425BC6}"/>
              </a:ext>
            </a:extLst>
          </p:cNvPr>
          <p:cNvSpPr txBox="1"/>
          <p:nvPr/>
        </p:nvSpPr>
        <p:spPr>
          <a:xfrm>
            <a:off x="2838084" y="3644129"/>
            <a:ext cx="36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568FE1-C76C-4E00-966F-D7F5A2F8E931}"/>
              </a:ext>
            </a:extLst>
          </p:cNvPr>
          <p:cNvSpPr txBox="1"/>
          <p:nvPr/>
        </p:nvSpPr>
        <p:spPr>
          <a:xfrm>
            <a:off x="488273" y="3643752"/>
            <a:ext cx="572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-3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A802BB-A59C-4CA0-8794-D20F6C7FF76A}"/>
              </a:ext>
            </a:extLst>
          </p:cNvPr>
          <p:cNvSpPr txBox="1"/>
          <p:nvPr/>
        </p:nvSpPr>
        <p:spPr>
          <a:xfrm>
            <a:off x="1475109" y="1737992"/>
            <a:ext cx="637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31D767-1609-46B7-A07C-BD788160FF56}"/>
              </a:ext>
            </a:extLst>
          </p:cNvPr>
          <p:cNvSpPr txBox="1"/>
          <p:nvPr/>
        </p:nvSpPr>
        <p:spPr>
          <a:xfrm>
            <a:off x="4283968" y="1484784"/>
            <a:ext cx="4201861" cy="646331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Determine an equation of this quadratic graph.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/>
              <p:nvPr/>
            </p:nvSpPr>
            <p:spPr>
              <a:xfrm>
                <a:off x="4309366" y="2242420"/>
                <a:ext cx="4176463" cy="4296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 good start to get the roots correct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+3)(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 minus on the front ensures we get a negative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term for the correct shape.</a:t>
                </a:r>
              </a:p>
              <a:p>
                <a:endParaRPr lang="en-GB" dirty="0"/>
              </a:p>
              <a:p>
                <a:r>
                  <a:rPr lang="en-GB" dirty="0"/>
                  <a:t>Expanding this gives us the incorrect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-intercept of 9: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+9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To scale 9 to 10, without affecting the root, we need to scale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+3)(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Or more cleanly: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62BF92-F65B-4DB2-96B1-FADE90DB3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366" y="2242420"/>
                <a:ext cx="4176463" cy="4296304"/>
              </a:xfrm>
              <a:prstGeom prst="rect">
                <a:avLst/>
              </a:prstGeom>
              <a:blipFill>
                <a:blip r:embed="rId4"/>
                <a:stretch>
                  <a:fillRect l="-1314" t="-851" r="-23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E748427-A99E-4DB2-B3DB-D87FEBCBB7F5}"/>
              </a:ext>
            </a:extLst>
          </p:cNvPr>
          <p:cNvSpPr/>
          <p:nvPr/>
        </p:nvSpPr>
        <p:spPr>
          <a:xfrm>
            <a:off x="4283998" y="2131114"/>
            <a:ext cx="4201831" cy="44076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257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2F Pure Y1 Page 30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5306AB0-628F-3BAF-F364-DFD3780674C9}"/>
              </a:ext>
            </a:extLst>
          </p:cNvPr>
          <p:cNvGrpSpPr/>
          <p:nvPr/>
        </p:nvGrpSpPr>
        <p:grpSpPr>
          <a:xfrm>
            <a:off x="107504" y="599127"/>
            <a:ext cx="7272808" cy="4608512"/>
            <a:chOff x="179512" y="836712"/>
            <a:chExt cx="7776864" cy="504770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9E4B7D-16BD-7806-02C0-7D593009E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512" y="836712"/>
              <a:ext cx="6948264" cy="5047709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0609F6F-9A36-8720-C456-F79D1FB8C850}"/>
                </a:ext>
              </a:extLst>
            </p:cNvPr>
            <p:cNvSpPr/>
            <p:nvPr/>
          </p:nvSpPr>
          <p:spPr>
            <a:xfrm>
              <a:off x="6732240" y="1412776"/>
              <a:ext cx="1224136" cy="2448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3E6EE461-80A6-D184-9D56-0EB0963DF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913" y="1028662"/>
            <a:ext cx="2863881" cy="130370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F53803E-7A74-67FD-79EC-FFEEEF5E6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051" y="2463969"/>
            <a:ext cx="2636162" cy="278018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CE891EB-41A8-79D6-6963-0E7EB65B7D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3913" y="5085184"/>
            <a:ext cx="2923158" cy="1685881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385C634-37CF-8AD9-7064-EEEFD09FD424}"/>
              </a:ext>
            </a:extLst>
          </p:cNvPr>
          <p:cNvSpPr/>
          <p:nvPr/>
        </p:nvSpPr>
        <p:spPr>
          <a:xfrm>
            <a:off x="6084167" y="991592"/>
            <a:ext cx="3044927" cy="13407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65B948-6027-A835-1362-70B87C5E76A7}"/>
              </a:ext>
            </a:extLst>
          </p:cNvPr>
          <p:cNvSpPr/>
          <p:nvPr/>
        </p:nvSpPr>
        <p:spPr>
          <a:xfrm>
            <a:off x="6084167" y="2411591"/>
            <a:ext cx="3044927" cy="12682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7BF7A3-2FD0-BAD8-6012-844D5AFD2BD2}"/>
              </a:ext>
            </a:extLst>
          </p:cNvPr>
          <p:cNvSpPr/>
          <p:nvPr/>
        </p:nvSpPr>
        <p:spPr>
          <a:xfrm>
            <a:off x="6084167" y="3773347"/>
            <a:ext cx="3044927" cy="12682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2B4BABF-09D9-D202-5559-BBC4DDD16C21}"/>
              </a:ext>
            </a:extLst>
          </p:cNvPr>
          <p:cNvSpPr/>
          <p:nvPr/>
        </p:nvSpPr>
        <p:spPr>
          <a:xfrm>
            <a:off x="6084167" y="5158949"/>
            <a:ext cx="3044927" cy="16121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167587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2F Pure Y1 Page 30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89062" y="2596902"/>
                <a:ext cx="619268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[MAT 2003 1H] Into how many regions is the plane divided when the following three parabolas are drawn?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62" y="2596902"/>
                <a:ext cx="6192688" cy="1477328"/>
              </a:xfrm>
              <a:prstGeom prst="rect">
                <a:avLst/>
              </a:prstGeom>
              <a:blipFill>
                <a:blip r:embed="rId3"/>
                <a:stretch>
                  <a:fillRect l="-886" t="-2066" r="-1476" b="-12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76910" y="2338221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 Question: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59718" y="4782294"/>
                <a:ext cx="3456384" cy="1218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Completing the square: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18" y="4782294"/>
                <a:ext cx="3456384" cy="1218988"/>
              </a:xfrm>
              <a:prstGeom prst="rect">
                <a:avLst/>
              </a:prstGeom>
              <a:blipFill>
                <a:blip r:embed="rId4"/>
                <a:stretch>
                  <a:fillRect l="-1411" t="-2500" b="-1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>
            <a:off x="4571428" y="6237312"/>
            <a:ext cx="309691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6006058" y="4445299"/>
            <a:ext cx="0" cy="191761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Freeform 3"/>
          <p:cNvSpPr/>
          <p:nvPr/>
        </p:nvSpPr>
        <p:spPr>
          <a:xfrm>
            <a:off x="4548454" y="4724400"/>
            <a:ext cx="2728646" cy="1509705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 3"/>
          <p:cNvSpPr/>
          <p:nvPr/>
        </p:nvSpPr>
        <p:spPr>
          <a:xfrm>
            <a:off x="3995936" y="4445299"/>
            <a:ext cx="2728646" cy="1509705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 3"/>
          <p:cNvSpPr/>
          <p:nvPr/>
        </p:nvSpPr>
        <p:spPr>
          <a:xfrm>
            <a:off x="5043822" y="4854810"/>
            <a:ext cx="2728646" cy="1509705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5652120" y="4854810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4057146" y="5576543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4217490" y="4789988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4710589" y="4962658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6538161" y="5182908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22" name="Oval 21"/>
          <p:cNvSpPr/>
          <p:nvPr/>
        </p:nvSpPr>
        <p:spPr>
          <a:xfrm>
            <a:off x="7120122" y="5373198"/>
            <a:ext cx="353938" cy="3453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23" name="Oval 22"/>
          <p:cNvSpPr/>
          <p:nvPr/>
        </p:nvSpPr>
        <p:spPr>
          <a:xfrm>
            <a:off x="5508066" y="5955883"/>
            <a:ext cx="225984" cy="2036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809098" y="4066140"/>
                <a:ext cx="376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098" y="4066140"/>
                <a:ext cx="376794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561097" y="5993580"/>
                <a:ext cx="376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097" y="5993580"/>
                <a:ext cx="37679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316286" y="4148245"/>
            <a:ext cx="8103813" cy="25192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B1FEE17-E334-5FD7-AE33-F5565BF9AE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72" y="624119"/>
            <a:ext cx="7005400" cy="68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79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1454" y="956038"/>
            <a:ext cx="8352928" cy="46166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400" dirty="0"/>
              <a:t>How many </a:t>
            </a:r>
            <a:r>
              <a:rPr lang="en-GB" sz="2400" b="1" dirty="0"/>
              <a:t>distinct</a:t>
            </a:r>
            <a:r>
              <a:rPr lang="en-GB" sz="2400" dirty="0"/>
              <a:t> real solutions do each of the following have?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94409" y="1915141"/>
                <a:ext cx="8712968" cy="25438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−12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+36=0</m:t>
                    </m:r>
                  </m:oMath>
                </a14:m>
                <a:r>
                  <a:rPr lang="en-GB" sz="2800" dirty="0"/>
                  <a:t>	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GB" sz="2800" b="1" dirty="0"/>
                  <a:t> (1 distinct solution)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+3=0</m:t>
                    </m:r>
                  </m:oMath>
                </a14:m>
                <a:r>
                  <a:rPr lang="en-GB" sz="2800" dirty="0"/>
                  <a:t>		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−1±</m:t>
                        </m:r>
                        <m:rad>
                          <m:radPr>
                            <m:degHide m:val="on"/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−11</m:t>
                            </m:r>
                          </m:e>
                        </m:rad>
                      </m:num>
                      <m:den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br>
                  <a:rPr lang="en-GB" sz="2800" b="1" dirty="0"/>
                </a:br>
                <a:r>
                  <a:rPr lang="en-GB" sz="2800" b="1" dirty="0"/>
                  <a:t>                                            We can’t square root -11,</a:t>
                </a:r>
                <a:br>
                  <a:rPr lang="en-GB" sz="2800" b="1" dirty="0"/>
                </a:br>
                <a:r>
                  <a:rPr lang="en-GB" sz="2800" b="1" dirty="0"/>
                  <a:t>                                            Therefore no real solutions.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lang="en-GB" sz="2800" dirty="0"/>
                  <a:t>		</a:t>
                </a:r>
                <a14:m>
                  <m:oMath xmlns:m="http://schemas.openxmlformats.org/officeDocument/2006/math"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2800" b="1" i="1" smtClean="0"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GB" sz="28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GB" sz="2800" b="1" dirty="0"/>
                  <a:t> (2 distinct solutions)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409" y="1915141"/>
                <a:ext cx="8712968" cy="2543838"/>
              </a:xfrm>
              <a:prstGeom prst="rect">
                <a:avLst/>
              </a:prstGeom>
              <a:blipFill>
                <a:blip r:embed="rId2"/>
                <a:stretch>
                  <a:fillRect t="-2158" r="-770" b="-59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948822" y="1890334"/>
            <a:ext cx="5050034" cy="536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3954885" y="2417185"/>
            <a:ext cx="5043972" cy="14291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3948821" y="3846286"/>
            <a:ext cx="5050035" cy="637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11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Starter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38474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5: The Discriminant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6972" y="3660668"/>
                <a:ext cx="8208912" cy="1594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Looking at this formula, when in general do you think we have:</a:t>
                </a:r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GB" sz="2400" dirty="0"/>
                  <a:t>No real roots?      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𝒂𝒄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2400" b="1" dirty="0"/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GB" sz="2400" dirty="0"/>
                  <a:t>Equal roots?      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𝒂𝒄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2400" b="1" dirty="0"/>
              </a:p>
              <a:p>
                <a:pPr marL="342900" indent="-342900">
                  <a:buFont typeface="Arial" pitchFamily="34" charset="0"/>
                  <a:buChar char="•"/>
                </a:pPr>
                <a:r>
                  <a:rPr lang="en-GB" sz="2400" dirty="0"/>
                  <a:t>Two distinct roots?  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𝒂𝒄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72" y="3660668"/>
                <a:ext cx="8208912" cy="1594667"/>
              </a:xfrm>
              <a:prstGeom prst="rect">
                <a:avLst/>
              </a:prstGeom>
              <a:blipFill>
                <a:blip r:embed="rId2"/>
                <a:stretch>
                  <a:fillRect l="-1189" t="-3065" b="-8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76890" y="1200160"/>
                <a:ext cx="5004910" cy="1638654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32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/>
                        </a:rPr>
                        <m:t>𝑥</m:t>
                      </m:r>
                      <m:r>
                        <a:rPr lang="en-GB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sz="3200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GB" sz="3200" b="0" i="1" smtClean="0">
                              <a:latin typeface="Cambria Math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200" b="0" i="1" smtClean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sz="32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3200" b="0" i="1" smtClean="0">
                                  <a:latin typeface="Cambria Math"/>
                                </a:rPr>
                                <m:t>−4</m:t>
                              </m:r>
                              <m:r>
                                <a:rPr lang="en-GB" sz="3200" b="0" i="1" smtClean="0">
                                  <a:latin typeface="Cambria Math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GB" sz="32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GB" sz="3200" b="0" i="1" smtClean="0">
                              <a:latin typeface="Cambria Math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890" y="1200160"/>
                <a:ext cx="5004910" cy="16386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96999" y="6068462"/>
                <a:ext cx="5256584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400" i="1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 – 4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is known as the discriminant.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999" y="6068462"/>
                <a:ext cx="5256584" cy="461665"/>
              </a:xfrm>
              <a:prstGeom prst="rect">
                <a:avLst/>
              </a:prstGeom>
              <a:blipFill>
                <a:blip r:embed="rId4"/>
                <a:stretch>
                  <a:fillRect t="-7500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3973256" y="4064704"/>
            <a:ext cx="2462323" cy="366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3256" y="4430815"/>
            <a:ext cx="2462323" cy="366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3255" y="4796926"/>
            <a:ext cx="2462323" cy="366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ight Brace 10"/>
          <p:cNvSpPr/>
          <p:nvPr/>
        </p:nvSpPr>
        <p:spPr>
          <a:xfrm>
            <a:off x="7038451" y="4093027"/>
            <a:ext cx="125837" cy="109833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7120745" y="4386567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Wingdings" panose="05000000000000000000" pitchFamily="2" charset="2"/>
              </a:rPr>
              <a:t>!</a:t>
            </a:r>
            <a:endParaRPr lang="en-GB" dirty="0">
              <a:latin typeface="Wingdings" panose="05000000000000000000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507066" y="853501"/>
                <a:ext cx="242501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dirty="0"/>
                  <a:t>Note</a:t>
                </a:r>
                <a:r>
                  <a:rPr lang="en-GB" dirty="0"/>
                  <a:t>: Roots of a </a:t>
                </a:r>
                <a:r>
                  <a:rPr lang="en-GB" b="1" u="sng" dirty="0"/>
                  <a:t>function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are the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such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 </a:t>
                </a:r>
              </a:p>
              <a:p>
                <a:r>
                  <a:rPr lang="en-GB" dirty="0"/>
                  <a:t>Similarly the roots of an </a:t>
                </a:r>
                <a:r>
                  <a:rPr lang="en-GB" b="1" u="sng" dirty="0"/>
                  <a:t>equation</a:t>
                </a:r>
                <a:r>
                  <a:rPr lang="en-GB" dirty="0"/>
                  <a:t> are solutions to an equation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066" y="853501"/>
                <a:ext cx="2425013" cy="2308324"/>
              </a:xfrm>
              <a:prstGeom prst="rect">
                <a:avLst/>
              </a:prstGeom>
              <a:blipFill>
                <a:blip r:embed="rId5"/>
                <a:stretch>
                  <a:fillRect l="-2010" t="-1319" r="-3266" b="-31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978400" y="5356935"/>
            <a:ext cx="3953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Because adding 0 or subtracting 0 in the quadratic formula gives the same value.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6502400" y="4659086"/>
            <a:ext cx="301848" cy="697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60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5: The Discriminant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>
            <a:off x="562113" y="2564769"/>
            <a:ext cx="2689087" cy="1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1742976" y="1102917"/>
            <a:ext cx="0" cy="2325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Freeform 3"/>
          <p:cNvSpPr/>
          <p:nvPr/>
        </p:nvSpPr>
        <p:spPr>
          <a:xfrm>
            <a:off x="699209" y="1103086"/>
            <a:ext cx="2551991" cy="1755963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194248" y="2355439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248" y="2355439"/>
                <a:ext cx="28803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562901" y="73155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901" y="731556"/>
                <a:ext cx="288032" cy="369332"/>
              </a:xfrm>
              <a:prstGeom prst="rect">
                <a:avLst/>
              </a:prstGeom>
              <a:blipFill>
                <a:blip r:embed="rId3"/>
                <a:stretch>
                  <a:fillRect r="-4167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01216" y="3996713"/>
                <a:ext cx="288032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16" y="3996713"/>
                <a:ext cx="2880320" cy="532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22741" y="3621024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Distinct real roots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1262743" y="2641600"/>
            <a:ext cx="116114" cy="1001486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1843314" y="2641600"/>
            <a:ext cx="827315" cy="104503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6048109" y="1868083"/>
            <a:ext cx="2689087" cy="1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7199943" y="1102917"/>
            <a:ext cx="0" cy="2325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Freeform 3"/>
          <p:cNvSpPr/>
          <p:nvPr/>
        </p:nvSpPr>
        <p:spPr>
          <a:xfrm rot="10800000">
            <a:off x="6431947" y="1872343"/>
            <a:ext cx="2551991" cy="1755963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767329" y="1658753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7329" y="1658753"/>
                <a:ext cx="2880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019868" y="731556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868" y="731556"/>
                <a:ext cx="288032" cy="369332"/>
              </a:xfrm>
              <a:prstGeom prst="rect">
                <a:avLst/>
              </a:prstGeom>
              <a:blipFill>
                <a:blip r:embed="rId6"/>
                <a:stretch>
                  <a:fillRect r="-6383"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904926" y="4011227"/>
                <a:ext cx="288032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926" y="4011227"/>
                <a:ext cx="2880320" cy="5329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6139542" y="3621024"/>
            <a:ext cx="2320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Equal roots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7300281" y="2061029"/>
            <a:ext cx="363262" cy="1625601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2986384" y="5328435"/>
            <a:ext cx="2689087" cy="1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4256147" y="3308303"/>
            <a:ext cx="0" cy="2325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Freeform 3"/>
          <p:cNvSpPr/>
          <p:nvPr/>
        </p:nvSpPr>
        <p:spPr>
          <a:xfrm>
            <a:off x="3212380" y="3308472"/>
            <a:ext cx="2551991" cy="1755963"/>
          </a:xfrm>
          <a:custGeom>
            <a:avLst/>
            <a:gdLst>
              <a:gd name="connsiteX0" fmla="*/ 0 w 4686300"/>
              <a:gd name="connsiteY0" fmla="*/ 88900 h 3763386"/>
              <a:gd name="connsiteX1" fmla="*/ 660400 w 4686300"/>
              <a:gd name="connsiteY1" fmla="*/ 2095500 h 3763386"/>
              <a:gd name="connsiteX2" fmla="*/ 1612900 w 4686300"/>
              <a:gd name="connsiteY2" fmla="*/ 3416300 h 3763386"/>
              <a:gd name="connsiteX3" fmla="*/ 2501900 w 4686300"/>
              <a:gd name="connsiteY3" fmla="*/ 3759200 h 3763386"/>
              <a:gd name="connsiteX4" fmla="*/ 3225800 w 4686300"/>
              <a:gd name="connsiteY4" fmla="*/ 3543300 h 3763386"/>
              <a:gd name="connsiteX5" fmla="*/ 3886200 w 4686300"/>
              <a:gd name="connsiteY5" fmla="*/ 2679700 h 3763386"/>
              <a:gd name="connsiteX6" fmla="*/ 4432300 w 4686300"/>
              <a:gd name="connsiteY6" fmla="*/ 1346200 h 3763386"/>
              <a:gd name="connsiteX7" fmla="*/ 4686300 w 4686300"/>
              <a:gd name="connsiteY7" fmla="*/ 0 h 3763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300" h="3763386">
                <a:moveTo>
                  <a:pt x="0" y="88900"/>
                </a:moveTo>
                <a:cubicBezTo>
                  <a:pt x="195791" y="814916"/>
                  <a:pt x="391583" y="1540933"/>
                  <a:pt x="660400" y="2095500"/>
                </a:cubicBezTo>
                <a:cubicBezTo>
                  <a:pt x="929217" y="2650067"/>
                  <a:pt x="1305983" y="3139017"/>
                  <a:pt x="1612900" y="3416300"/>
                </a:cubicBezTo>
                <a:cubicBezTo>
                  <a:pt x="1919817" y="3693583"/>
                  <a:pt x="2233083" y="3738033"/>
                  <a:pt x="2501900" y="3759200"/>
                </a:cubicBezTo>
                <a:cubicBezTo>
                  <a:pt x="2770717" y="3780367"/>
                  <a:pt x="2995083" y="3723217"/>
                  <a:pt x="3225800" y="3543300"/>
                </a:cubicBezTo>
                <a:cubicBezTo>
                  <a:pt x="3456517" y="3363383"/>
                  <a:pt x="3685117" y="3045883"/>
                  <a:pt x="3886200" y="2679700"/>
                </a:cubicBezTo>
                <a:cubicBezTo>
                  <a:pt x="4087283" y="2313517"/>
                  <a:pt x="4298950" y="1792817"/>
                  <a:pt x="4432300" y="1346200"/>
                </a:cubicBezTo>
                <a:cubicBezTo>
                  <a:pt x="4565650" y="899583"/>
                  <a:pt x="4625975" y="449791"/>
                  <a:pt x="46863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643919" y="5145025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3919" y="5145025"/>
                <a:ext cx="28803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076072" y="2936942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072" y="2936942"/>
                <a:ext cx="288032" cy="369332"/>
              </a:xfrm>
              <a:prstGeom prst="rect">
                <a:avLst/>
              </a:prstGeom>
              <a:blipFill>
                <a:blip r:embed="rId9"/>
                <a:stretch>
                  <a:fillRect r="-6383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714387" y="6202099"/>
                <a:ext cx="288032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387" y="6202099"/>
                <a:ext cx="2880320" cy="5329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/>
          <p:cNvSpPr txBox="1"/>
          <p:nvPr/>
        </p:nvSpPr>
        <p:spPr>
          <a:xfrm>
            <a:off x="2635912" y="5826410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No real roots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4680" y="1230412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We say the graph “touches” the axis.</a:t>
            </a:r>
          </a:p>
        </p:txBody>
      </p:sp>
    </p:spTree>
    <p:extLst>
      <p:ext uri="{BB962C8B-B14F-4D97-AF65-F5344CB8AC3E}">
        <p14:creationId xmlns:p14="http://schemas.microsoft.com/office/powerpoint/2010/main" val="17739581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Just for your interest…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533400" y="787684"/>
            <a:ext cx="688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Why do we say “Equal Roots” not “One root”?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97596" y="1474561"/>
                <a:ext cx="273119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−12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+36=0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96" y="1474561"/>
                <a:ext cx="273119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68737" y="1912579"/>
                <a:ext cx="3794260" cy="1646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Using the quadratic formula gives us the same value in both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1600" dirty="0"/>
                  <a:t> cases: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endParaRPr lang="en-GB" sz="500" dirty="0"/>
              </a:p>
              <a:p>
                <a:r>
                  <a:rPr lang="en-GB" sz="1600" dirty="0"/>
                  <a:t>You might wonder why we say “</a:t>
                </a:r>
                <a:r>
                  <a:rPr lang="en-GB" sz="1600" i="1" dirty="0"/>
                  <a:t>it has one repeated root</a:t>
                </a:r>
                <a:r>
                  <a:rPr lang="en-GB" sz="1600" dirty="0"/>
                  <a:t>” or “</a:t>
                </a:r>
                <a:r>
                  <a:rPr lang="en-GB" sz="1600" i="1" dirty="0"/>
                  <a:t>it has equal roots</a:t>
                </a:r>
                <a:r>
                  <a:rPr lang="en-GB" sz="1600" dirty="0"/>
                  <a:t>”, i.e. indicating we have </a:t>
                </a:r>
                <a:r>
                  <a:rPr lang="en-GB" sz="1600" b="1" u="sng" dirty="0"/>
                  <a:t>2 roots</a:t>
                </a:r>
                <a:r>
                  <a:rPr lang="en-GB" sz="1600" dirty="0"/>
                  <a:t> (but with the same value). Why not say it has 1 root?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37" y="1912579"/>
                <a:ext cx="3794260" cy="1646605"/>
              </a:xfrm>
              <a:prstGeom prst="rect">
                <a:avLst/>
              </a:prstGeom>
              <a:blipFill>
                <a:blip r:embed="rId4"/>
                <a:stretch>
                  <a:fillRect l="-803" t="-1111" b="-40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984248" y="2377393"/>
                <a:ext cx="3457881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“Every polynomial of order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/>
                  <a:t> has exactly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/>
                  <a:t> roots.”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248" y="2377393"/>
                <a:ext cx="3457881" cy="707886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155998" y="3504799"/>
                <a:ext cx="180348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A </a:t>
                </a:r>
                <a:r>
                  <a:rPr lang="en-GB" sz="1200" b="1" dirty="0"/>
                  <a:t>polynomial</a:t>
                </a:r>
                <a:r>
                  <a:rPr lang="en-GB" sz="1200" dirty="0"/>
                  <a:t> is an expression with </a:t>
                </a:r>
                <a:br>
                  <a:rPr lang="en-GB" sz="1200" dirty="0"/>
                </a:br>
                <a:r>
                  <a:rPr lang="en-GB" sz="1200" dirty="0"/>
                  <a:t>non-negative integer powers of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, i.e. </a:t>
                </a:r>
                <a:endParaRPr lang="en-GB" sz="1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sz="1200" dirty="0"/>
              </a:p>
              <a:p>
                <a:r>
                  <a:rPr lang="en-GB" sz="1200" dirty="0"/>
                  <a:t>All linear, quadratic and cubic expressions are examples of polynomials.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998" y="3504799"/>
                <a:ext cx="1803487" cy="1569660"/>
              </a:xfrm>
              <a:prstGeom prst="rect">
                <a:avLst/>
              </a:prstGeom>
              <a:blipFill>
                <a:blip r:embed="rId6"/>
                <a:stretch>
                  <a:fillRect l="-338" t="-389" b="-23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V="1">
            <a:off x="5271881" y="3320345"/>
            <a:ext cx="180652" cy="207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904575" y="3608585"/>
                <a:ext cx="113126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The </a:t>
                </a:r>
                <a:r>
                  <a:rPr lang="en-GB" sz="1200" b="1" dirty="0"/>
                  <a:t>order</a:t>
                </a:r>
                <a:r>
                  <a:rPr lang="en-GB" sz="1200" dirty="0"/>
                  <a:t> of a polynomial is its highest power of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. So the order of a quadratic is 2, and a cubic 3.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575" y="3608585"/>
                <a:ext cx="1131260" cy="1384995"/>
              </a:xfrm>
              <a:prstGeom prst="rect">
                <a:avLst/>
              </a:prstGeom>
              <a:blipFill>
                <a:blip r:embed="rId7"/>
                <a:stretch>
                  <a:fillRect l="-541" t="-441" b="-26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6423377" y="3286477"/>
            <a:ext cx="135467" cy="293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089422" y="3422301"/>
                <a:ext cx="1958363" cy="3619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These roots might be repeated or might not be ‘real’ roots.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r>
                  <a:rPr lang="en-GB" sz="1200" dirty="0"/>
                  <a:t> is known as a </a:t>
                </a:r>
                <a:r>
                  <a:rPr lang="en-GB" sz="1200" b="1" dirty="0"/>
                  <a:t>complex number</a:t>
                </a:r>
                <a:r>
                  <a:rPr lang="en-GB" sz="1200" dirty="0"/>
                  <a:t>, which you will encounter if you do FM. But </a:t>
                </a:r>
                <a:r>
                  <a:rPr lang="en-GB" sz="1200" b="1" dirty="0"/>
                  <a:t>it is still a value</a:t>
                </a:r>
                <a:r>
                  <a:rPr lang="en-GB" sz="1200" dirty="0"/>
                  <a:t>!</a:t>
                </a:r>
              </a:p>
              <a:p>
                <a:endParaRPr lang="en-GB" sz="300" dirty="0"/>
              </a:p>
              <a:p>
                <a:r>
                  <a:rPr lang="en-GB" sz="1200" dirty="0"/>
                  <a:t>The theorem means that a quadratic (order 2) will </a:t>
                </a:r>
                <a:r>
                  <a:rPr lang="en-GB" sz="1200" b="1" u="sng" dirty="0"/>
                  <a:t>always</a:t>
                </a:r>
                <a:r>
                  <a:rPr lang="en-GB" sz="1200" dirty="0"/>
                  <a:t> have 2 roots. This is why you should say “no </a:t>
                </a:r>
                <a:r>
                  <a:rPr lang="en-GB" sz="1200" b="1" dirty="0"/>
                  <a:t>real</a:t>
                </a:r>
                <a:r>
                  <a:rPr lang="en-GB" sz="1200" dirty="0"/>
                  <a:t> roots”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GB" sz="1200" dirty="0"/>
                  <a:t> rather than “no roots”, because there are still roots – it’s just they’re not ‘real’! Similarly we must say “</a:t>
                </a:r>
                <a:r>
                  <a:rPr lang="en-GB" sz="1200" i="1" dirty="0"/>
                  <a:t>equal roots</a:t>
                </a:r>
                <a:r>
                  <a:rPr lang="en-GB" sz="1200" dirty="0"/>
                  <a:t>” because there are still 2 roots.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422" y="3422301"/>
                <a:ext cx="1958363" cy="3619004"/>
              </a:xfrm>
              <a:prstGeom prst="rect">
                <a:avLst/>
              </a:prstGeom>
              <a:blipFill>
                <a:blip r:embed="rId8"/>
                <a:stretch>
                  <a:fillRect l="-312" r="-12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 flipV="1">
            <a:off x="7636277" y="3184879"/>
            <a:ext cx="186923" cy="201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984247" y="1726618"/>
            <a:ext cx="3457881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dirty="0"/>
              <a:t>It is due to the </a:t>
            </a:r>
            <a:r>
              <a:rPr lang="en-GB" b="1" dirty="0"/>
              <a:t>Fundamental Theorem of Algebra</a:t>
            </a:r>
            <a:r>
              <a:rPr lang="en-GB" dirty="0"/>
              <a:t>:</a:t>
            </a:r>
          </a:p>
        </p:txBody>
      </p:sp>
      <p:sp>
        <p:nvSpPr>
          <p:cNvPr id="21" name="Arrow: Right 20"/>
          <p:cNvSpPr/>
          <p:nvPr/>
        </p:nvSpPr>
        <p:spPr>
          <a:xfrm>
            <a:off x="4237424" y="2205772"/>
            <a:ext cx="504056" cy="29830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16912" y="3691326"/>
                <a:ext cx="3947087" cy="308353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Despite the theorem being a simple statement, it was only until 1806 that it was first proven by </a:t>
                </a:r>
                <a:r>
                  <a:rPr lang="en-GB" sz="1200" b="1" dirty="0"/>
                  <a:t>Argand</a:t>
                </a:r>
                <a:r>
                  <a:rPr lang="en-GB" sz="1200" dirty="0"/>
                  <a:t>. Clearly by using the quadratic formula we can show a quadratic equation has 2 roots. We can use similar formulas to show that a cubic has 3 roots and a quartic 4 roots. But there is </a:t>
                </a:r>
                <a:r>
                  <a:rPr lang="en-GB" sz="1200" b="1" dirty="0"/>
                  <a:t>provably</a:t>
                </a:r>
                <a:r>
                  <a:rPr lang="en-GB" sz="1200" dirty="0"/>
                  <a:t> no such formulae for order 5 (quintics) and beyond. So we have to prove for example that 5 roots exist for a quintic, despite us having no way to find these exact roots!</a:t>
                </a:r>
              </a:p>
              <a:p>
                <a:endParaRPr lang="en-GB" sz="600" dirty="0"/>
              </a:p>
              <a:p>
                <a:r>
                  <a:rPr lang="en-GB" sz="1200" b="1" dirty="0"/>
                  <a:t>One side result of the Fundamental Theorem of Algebra is that every polynomial can be written as a </a:t>
                </a:r>
                <a:r>
                  <a:rPr lang="en-GB" sz="1200" b="1" u="sng" dirty="0"/>
                  <a:t>product of linear and/or quadratic expressions</a:t>
                </a:r>
                <a:r>
                  <a:rPr lang="en-GB" sz="1200" b="1" dirty="0"/>
                  <a:t>.</a:t>
                </a:r>
              </a:p>
              <a:p>
                <a:endParaRPr lang="en-GB" sz="600" b="1" dirty="0"/>
              </a:p>
              <a:p>
                <a:r>
                  <a:rPr lang="en-GB" sz="1200" dirty="0"/>
                  <a:t>Leibniz claimed in 1702 that a polynomial of the form </a:t>
                </a:r>
                <a:br>
                  <a:rPr lang="en-GB" sz="12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GB" sz="1200" dirty="0"/>
                  <a:t> cannot be written in this way. He then got completely burned by Euler in 1742 who managed to do so: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ad>
                            <m:radPr>
                              <m:degHide m:val="on"/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ad>
                            <m:radPr>
                              <m:degHide m:val="on"/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12" y="3691326"/>
                <a:ext cx="3947087" cy="30835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/>
          <p:cNvCxnSpPr/>
          <p:nvPr/>
        </p:nvCxnSpPr>
        <p:spPr>
          <a:xfrm flipV="1">
            <a:off x="7025957" y="5382440"/>
            <a:ext cx="0" cy="11848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Arrow: Right 31"/>
          <p:cNvSpPr/>
          <p:nvPr/>
        </p:nvSpPr>
        <p:spPr>
          <a:xfrm>
            <a:off x="3918776" y="5744098"/>
            <a:ext cx="314559" cy="30416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4284319" y="5322582"/>
                <a:ext cx="2591938" cy="138499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200" dirty="0"/>
                  <a:t>There are various other ‘Fundamental Laws’. The ‘</a:t>
                </a:r>
                <a:r>
                  <a:rPr lang="en-GB" sz="1200" b="1" dirty="0"/>
                  <a:t>FL of Arithmetic</a:t>
                </a:r>
                <a:r>
                  <a:rPr lang="en-GB" sz="1200" dirty="0"/>
                  <a:t>’ you encountered at KS3, which states that “</a:t>
                </a:r>
                <a:r>
                  <a:rPr lang="en-GB" sz="1200" i="1" dirty="0"/>
                  <a:t>every positive integer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GB" sz="1200" i="1" dirty="0"/>
                  <a:t> can be written as a product of primes in one way only</a:t>
                </a:r>
                <a:r>
                  <a:rPr lang="en-GB" sz="1200" dirty="0"/>
                  <a:t>”. You will encounter the ‘</a:t>
                </a:r>
                <a:r>
                  <a:rPr lang="en-GB" sz="1200" b="1" dirty="0"/>
                  <a:t>FL of Calculus</a:t>
                </a:r>
                <a:r>
                  <a:rPr lang="en-GB" sz="1200" dirty="0"/>
                  <a:t>’ in Chapter 13.</a:t>
                </a: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319" y="5322582"/>
                <a:ext cx="2591938" cy="1384995"/>
              </a:xfrm>
              <a:prstGeom prst="rect">
                <a:avLst/>
              </a:prstGeom>
              <a:blipFill>
                <a:blip r:embed="rId10"/>
                <a:stretch>
                  <a:fillRect b="-17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row: Right 21"/>
          <p:cNvSpPr/>
          <p:nvPr/>
        </p:nvSpPr>
        <p:spPr>
          <a:xfrm rot="10800000">
            <a:off x="4027525" y="5057422"/>
            <a:ext cx="2869986" cy="19341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00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  <p:bldP spid="12" grpId="0"/>
      <p:bldP spid="14" grpId="0"/>
      <p:bldP spid="16" grpId="0" animBg="1"/>
      <p:bldP spid="21" grpId="0" animBg="1"/>
      <p:bldP spid="23" grpId="0" animBg="1"/>
      <p:bldP spid="32" grpId="0" animBg="1"/>
      <p:bldP spid="33" grpId="0" animBg="1"/>
      <p:bldP spid="2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 err="1"/>
                <a:t>Quickfire</a:t>
              </a:r>
              <a:r>
                <a:rPr lang="en-GB" dirty="0"/>
                <a:t> Questions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0171" y="1657828"/>
                <a:ext cx="310297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1" y="1657828"/>
                <a:ext cx="310297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67544" y="1124744"/>
            <a:ext cx="2808312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Equation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5856" y="1124744"/>
            <a:ext cx="2808312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Discriminant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9654" y="761886"/>
            <a:ext cx="2817790" cy="83099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Number of Distinct Real Roots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275856" y="1628800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−7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1628800"/>
                <a:ext cx="2736304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156176" y="1628800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1628800"/>
                <a:ext cx="2736304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0171" y="2521924"/>
                <a:ext cx="311748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+1=0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1" y="2521924"/>
                <a:ext cx="3117485" cy="5847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203848" y="2492896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2492896"/>
                <a:ext cx="2736304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156176" y="2492896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2492896"/>
                <a:ext cx="2736304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90171" y="3458028"/>
                <a:ext cx="308845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+4=0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1" y="3458028"/>
                <a:ext cx="3088457" cy="58477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03848" y="3356992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3356992"/>
                <a:ext cx="2736304" cy="58477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156176" y="3356992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3356992"/>
                <a:ext cx="2736304" cy="58477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-29029" y="4394132"/>
                <a:ext cx="332377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−3=0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029" y="4394132"/>
                <a:ext cx="3323772" cy="58477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3848" y="4365104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365104"/>
                <a:ext cx="2736304" cy="58477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156176" y="4381996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4381996"/>
                <a:ext cx="2736304" cy="584775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90171" y="5330236"/>
                <a:ext cx="323359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−4−3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1" y="5330236"/>
                <a:ext cx="3233599" cy="58477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203848" y="5301208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−47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301208"/>
                <a:ext cx="2736304" cy="584775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156176" y="5334992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5334992"/>
                <a:ext cx="2736304" cy="58477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90172" y="6122324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1−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2" y="6122324"/>
                <a:ext cx="2736304" cy="584775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203848" y="6093296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6093296"/>
                <a:ext cx="2736304" cy="58477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156176" y="6093296"/>
                <a:ext cx="273630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6093296"/>
                <a:ext cx="2736304" cy="584775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467544" y="2348880"/>
            <a:ext cx="842493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67544" y="3212976"/>
            <a:ext cx="842493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67544" y="4149080"/>
            <a:ext cx="842493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67544" y="5157192"/>
            <a:ext cx="842493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67544" y="6021288"/>
            <a:ext cx="842493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270820" y="1605459"/>
            <a:ext cx="2808312" cy="72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79132" y="1605459"/>
            <a:ext cx="2808312" cy="72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70820" y="2325539"/>
            <a:ext cx="2808312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79132" y="2325539"/>
            <a:ext cx="2808312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70820" y="3189635"/>
            <a:ext cx="2808312" cy="936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79132" y="3189635"/>
            <a:ext cx="2808312" cy="936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70820" y="4125739"/>
            <a:ext cx="2808312" cy="1008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9132" y="4125739"/>
            <a:ext cx="2808312" cy="1008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70820" y="5133851"/>
            <a:ext cx="2808312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79132" y="5133851"/>
            <a:ext cx="2808312" cy="864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70820" y="5970563"/>
            <a:ext cx="2808312" cy="675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79132" y="5970563"/>
            <a:ext cx="2808312" cy="675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9166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980728"/>
            <a:ext cx="8105775" cy="1571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" name="Group 2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Problems involving the discriminant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7544" y="3212976"/>
                <a:ext cx="655272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sz="2400" dirty="0"/>
                  <a:t>a)   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=1,  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    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br>
                  <a:rPr lang="en-GB" sz="24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−12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−16=0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−4=0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212976"/>
                <a:ext cx="6552728" cy="2308324"/>
              </a:xfrm>
              <a:prstGeom prst="rect">
                <a:avLst/>
              </a:prstGeom>
              <a:blipFill rotWithShape="0">
                <a:blip r:embed="rId3"/>
                <a:stretch>
                  <a:fillRect l="-1488" t="-2111" b="-13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7544" y="5607371"/>
                <a:ext cx="65527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sz="2400" dirty="0"/>
                  <a:t>b) When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2400" dirty="0"/>
                  <a:t>: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+16=0</m:t>
                    </m:r>
                  </m:oMath>
                </a14:m>
                <a:br>
                  <a:rPr lang="en-GB" sz="24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=0,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607371"/>
                <a:ext cx="6552728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488" t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1595587" y="3158852"/>
            <a:ext cx="334813" cy="5040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882476" y="3641584"/>
            <a:ext cx="3769643" cy="18797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0523" y="3187699"/>
            <a:ext cx="555277" cy="4286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88494" y="3136900"/>
            <a:ext cx="850206" cy="495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2567" y="5629441"/>
            <a:ext cx="4743490" cy="8729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084168" y="3212976"/>
                <a:ext cx="2736304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Tip:</a:t>
                </a:r>
                <a:r>
                  <a:rPr lang="en-GB" dirty="0"/>
                  <a:t> Always start by writing out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explicitly.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3212976"/>
                <a:ext cx="2736304" cy="646331"/>
              </a:xfrm>
              <a:prstGeom prst="rect">
                <a:avLst/>
              </a:prstGeom>
              <a:blipFill>
                <a:blip r:embed="rId5"/>
                <a:stretch>
                  <a:fillRect l="-1325" t="-2727" r="-1545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22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2G Pure Y1 Page 32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9DFD094-DBE3-3C07-248E-F66EFDF8F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721367"/>
            <a:ext cx="6368636" cy="4655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A87549-9A9D-AB49-6FA5-6711F6B10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0" y="3417884"/>
            <a:ext cx="6948264" cy="28746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0329049-2C91-8061-4A69-ED8E61365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640" y="1157209"/>
            <a:ext cx="3010320" cy="21529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6CA235B-71B9-CCE4-11AA-BED51BC953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1640" y="4082462"/>
            <a:ext cx="3353268" cy="15908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7EFE9F-4532-EFE2-FAA2-59BC4E3488EF}"/>
              </a:ext>
            </a:extLst>
          </p:cNvPr>
          <p:cNvSpPr/>
          <p:nvPr/>
        </p:nvSpPr>
        <p:spPr>
          <a:xfrm>
            <a:off x="1007801" y="1184641"/>
            <a:ext cx="3769643" cy="2125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4DE333-154D-1026-11EF-5A461B97309B}"/>
              </a:ext>
            </a:extLst>
          </p:cNvPr>
          <p:cNvSpPr/>
          <p:nvPr/>
        </p:nvSpPr>
        <p:spPr>
          <a:xfrm>
            <a:off x="1007800" y="3967246"/>
            <a:ext cx="3769643" cy="2125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3965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2G Pure Y1 Page 32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F6045C3-AB38-E11E-64E7-243A1CD7D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694369"/>
            <a:ext cx="6660232" cy="4925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7EDD53-E1C4-6AE5-A64D-A54938919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2" y="3519974"/>
            <a:ext cx="6767736" cy="3836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E1748A-F208-9478-0DAE-7DDAA3DE64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648" y="1162921"/>
            <a:ext cx="3286584" cy="22196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74772A-9688-FF6D-E5A6-4C04E2DC8C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0332" y="3880791"/>
            <a:ext cx="3153215" cy="198147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FCF47C3-B170-7C36-9960-402FDA46BA68}"/>
              </a:ext>
            </a:extLst>
          </p:cNvPr>
          <p:cNvSpPr/>
          <p:nvPr/>
        </p:nvSpPr>
        <p:spPr>
          <a:xfrm>
            <a:off x="1259633" y="1203452"/>
            <a:ext cx="3168352" cy="22196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7AF6BE-6053-DBE1-1032-7B80A8479EBE}"/>
              </a:ext>
            </a:extLst>
          </p:cNvPr>
          <p:cNvSpPr/>
          <p:nvPr/>
        </p:nvSpPr>
        <p:spPr>
          <a:xfrm>
            <a:off x="1259633" y="3880791"/>
            <a:ext cx="3168352" cy="22196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238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2G Pure Y1 Page 32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2705312-FDAC-7B42-B882-132C3DE7B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2" y="764704"/>
            <a:ext cx="5652120" cy="67645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DC8B2F7-3B51-7755-E484-745B1210D153}"/>
              </a:ext>
            </a:extLst>
          </p:cNvPr>
          <p:cNvGrpSpPr/>
          <p:nvPr/>
        </p:nvGrpSpPr>
        <p:grpSpPr>
          <a:xfrm>
            <a:off x="124673" y="3685868"/>
            <a:ext cx="4735359" cy="1149605"/>
            <a:chOff x="124673" y="3225634"/>
            <a:chExt cx="4735359" cy="114960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39656B4-7D5C-BFB8-58A1-BB9A3A4001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179"/>
            <a:stretch/>
          </p:blipFill>
          <p:spPr>
            <a:xfrm>
              <a:off x="124673" y="3225634"/>
              <a:ext cx="4303312" cy="114960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849EC5-3BC8-9648-32C2-7D48B3998DE2}"/>
                </a:ext>
              </a:extLst>
            </p:cNvPr>
            <p:cNvSpPr/>
            <p:nvPr/>
          </p:nvSpPr>
          <p:spPr>
            <a:xfrm>
              <a:off x="3923928" y="3573016"/>
              <a:ext cx="936104" cy="2274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F002AD-FDE6-5B99-7995-00346C638A1A}"/>
                </a:ext>
              </a:extLst>
            </p:cNvPr>
            <p:cNvSpPr/>
            <p:nvPr/>
          </p:nvSpPr>
          <p:spPr>
            <a:xfrm>
              <a:off x="3923928" y="4056003"/>
              <a:ext cx="936104" cy="2274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B8BC223-C747-6422-39FF-77718184E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44" y="1487610"/>
            <a:ext cx="2748131" cy="20359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68F7569-5AA9-90EB-4E67-073CD1E7FC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7984" y="1552477"/>
            <a:ext cx="2232248" cy="15884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DD8FBDD-12A4-F540-EF16-17061D2F34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528" y="4997768"/>
            <a:ext cx="2896004" cy="10955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A6EB2C4-840B-60A4-8B5E-7C096EC76A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1960" y="4853036"/>
            <a:ext cx="4039164" cy="113363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79D1511-209D-7706-0FC6-8462D5F0E245}"/>
              </a:ext>
            </a:extLst>
          </p:cNvPr>
          <p:cNvSpPr/>
          <p:nvPr/>
        </p:nvSpPr>
        <p:spPr>
          <a:xfrm>
            <a:off x="323528" y="1512151"/>
            <a:ext cx="3744416" cy="1986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  <a:endParaRPr lang="en-GB" sz="2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0F29CD-FFD8-9F23-A42D-691C1B3B5A6D}"/>
              </a:ext>
            </a:extLst>
          </p:cNvPr>
          <p:cNvSpPr/>
          <p:nvPr/>
        </p:nvSpPr>
        <p:spPr>
          <a:xfrm>
            <a:off x="323528" y="4835473"/>
            <a:ext cx="3744416" cy="15799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  <a:endParaRPr lang="en-GB" sz="28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3C3E3-387C-2BEC-DEE8-A77BA77E1300}"/>
              </a:ext>
            </a:extLst>
          </p:cNvPr>
          <p:cNvSpPr/>
          <p:nvPr/>
        </p:nvSpPr>
        <p:spPr>
          <a:xfrm>
            <a:off x="4277252" y="1528036"/>
            <a:ext cx="4089388" cy="1986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A72F2F-DEDE-2FBF-32B2-788C8C31CCA9}"/>
              </a:ext>
            </a:extLst>
          </p:cNvPr>
          <p:cNvSpPr/>
          <p:nvPr/>
        </p:nvSpPr>
        <p:spPr>
          <a:xfrm>
            <a:off x="4299036" y="4775267"/>
            <a:ext cx="4089388" cy="16401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172617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39552" y="763168"/>
                <a:ext cx="7705428" cy="10618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𝑘𝑥</m:t>
                      </m:r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sz="2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100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r>
                        <a:rPr lang="en-GB" sz="2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2100" dirty="0"/>
              </a:p>
              <a:p>
                <a:r>
                  <a:rPr lang="en-GB" sz="2100" dirty="0"/>
                  <a:t>where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100" dirty="0"/>
                  <a:t> </a:t>
                </a:r>
                <a:r>
                  <a:rPr lang="en-GB" sz="2100"/>
                  <a:t>is a constant.</a:t>
                </a:r>
                <a:endParaRPr lang="en-GB" sz="2100" dirty="0"/>
              </a:p>
              <a:p>
                <a:r>
                  <a:rPr lang="en-GB" sz="2100" dirty="0"/>
                  <a:t>Given that this equation has equal roots, determine the value of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100" dirty="0"/>
                  <a:t>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763168"/>
                <a:ext cx="7705428" cy="1061829"/>
              </a:xfrm>
              <a:prstGeom prst="rect">
                <a:avLst/>
              </a:prstGeom>
              <a:blipFill>
                <a:blip r:embed="rId2"/>
                <a:stretch>
                  <a:fillRect b="-300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85078" y="1892739"/>
                <a:ext cx="525658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=1,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25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−40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−20=0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−4=0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078" y="1892739"/>
                <a:ext cx="5256584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73756" y="4365104"/>
                <a:ext cx="8395344" cy="7386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100" dirty="0"/>
                  <a:t>Find the range of values of </a:t>
                </a:r>
                <a14:m>
                  <m:oMath xmlns:m="http://schemas.openxmlformats.org/officeDocument/2006/math">
                    <m:r>
                      <a:rPr lang="en-GB" sz="21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100" dirty="0"/>
                  <a:t> for which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1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100" i="1">
                        <a:latin typeface="Cambria Math" panose="02040503050406030204" pitchFamily="18" charset="0"/>
                      </a:rPr>
                      <m:t>+6</m:t>
                    </m:r>
                    <m:r>
                      <a:rPr lang="en-GB" sz="21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1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1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1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100" dirty="0"/>
                  <a:t> has two distinct real solutions.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56" y="4365104"/>
                <a:ext cx="8395344" cy="738664"/>
              </a:xfrm>
              <a:prstGeom prst="rect">
                <a:avLst/>
              </a:prstGeom>
              <a:blipFill>
                <a:blip r:embed="rId4"/>
                <a:stretch>
                  <a:fillRect b="-482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00021" y="5171510"/>
                <a:ext cx="432048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=1,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=6,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36−4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=36−4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36&gt;4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&lt;9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021" y="5171510"/>
                <a:ext cx="4320480" cy="156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132408" y="5171510"/>
            <a:ext cx="4455816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2407" y="1904515"/>
            <a:ext cx="5327935" cy="22175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9188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2G Pure Y1 Page 32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208475" y="2102892"/>
                <a:ext cx="2964960" cy="4433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[MAT 2011 1B] A rectangle has perimeter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and area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. The values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must satisfy:</a:t>
                </a:r>
              </a:p>
              <a:p>
                <a:pPr marL="342900" indent="-342900">
                  <a:buAutoNum type="alphaUcParenR"/>
                </a:pPr>
                <a:r>
                  <a:rPr lang="en-GB" sz="16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sz="1600" b="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&gt;2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≥16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endParaRPr lang="en-GB" sz="1600" dirty="0"/>
              </a:p>
              <a:p>
                <a:r>
                  <a:rPr lang="en-GB" sz="1400" b="1" dirty="0"/>
                  <a:t>Let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400" b="1" dirty="0"/>
                  <a:t> and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1400" b="1" dirty="0"/>
                  <a:t> be the width and height. Then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𝒙𝒚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sz="1400" b="1" dirty="0"/>
                  <a:t>. Substituting: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𝑷𝒙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𝑷𝒙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Discriminant: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GB" sz="1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d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𝟒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475" y="2102892"/>
                <a:ext cx="2964960" cy="4433650"/>
              </a:xfrm>
              <a:prstGeom prst="rect">
                <a:avLst/>
              </a:prstGeom>
              <a:blipFill>
                <a:blip r:embed="rId3"/>
                <a:stretch>
                  <a:fillRect l="-1027" t="-4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689268" y="2140992"/>
                <a:ext cx="2440225" cy="4770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[MAT 2006 1B] The equation </a:t>
                </a:r>
                <a:br>
                  <a:rPr lang="en-GB" sz="16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2+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GB" sz="1600" dirty="0"/>
                  <a:t> has how many real root(s)?</a:t>
                </a:r>
              </a:p>
              <a:p>
                <a:pPr marL="342900" indent="-342900">
                  <a:buAutoNum type="alphaUcParenR"/>
                </a:pPr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=±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br>
                  <a:rPr lang="en-GB" sz="1600" b="1" dirty="0"/>
                </a:br>
                <a:endParaRPr lang="en-GB" sz="1600" b="1" dirty="0"/>
              </a:p>
              <a:p>
                <a:r>
                  <a:rPr lang="en-GB" sz="1600" b="1" dirty="0"/>
                  <a:t>First case: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br>
                  <a:rPr lang="en-GB" sz="1600" b="1" dirty="0"/>
                </a:br>
                <a:endParaRPr lang="en-GB" sz="1600" b="1" dirty="0"/>
              </a:p>
              <a:p>
                <a:r>
                  <a:rPr lang="en-GB" sz="1600" b="1" dirty="0"/>
                  <a:t>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𝒂𝒄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1600" b="1" dirty="0"/>
                  <a:t> no real roots.</a:t>
                </a:r>
              </a:p>
              <a:p>
                <a:endParaRPr lang="en-GB" sz="1600" b="1" dirty="0"/>
              </a:p>
              <a:p>
                <a:r>
                  <a:rPr lang="en-GB" sz="1600" b="1" dirty="0"/>
                  <a:t>Second case: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𝒐𝒓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sz="1600" b="1" dirty="0"/>
              </a:p>
              <a:p>
                <a:endParaRPr lang="en-GB" sz="1000" b="1" dirty="0"/>
              </a:p>
              <a:p>
                <a:r>
                  <a:rPr lang="en-GB" sz="1600" b="1" dirty="0"/>
                  <a:t>So 2 distinct real roots.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268" y="2140992"/>
                <a:ext cx="2440225" cy="4770537"/>
              </a:xfrm>
              <a:prstGeom prst="rect">
                <a:avLst/>
              </a:prstGeom>
              <a:blipFill>
                <a:blip r:embed="rId4"/>
                <a:stretch>
                  <a:fillRect l="-1250" t="-3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80478" y="2192502"/>
            <a:ext cx="216881" cy="2366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5659" y="2250918"/>
            <a:ext cx="216881" cy="2366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91594" y="2199864"/>
            <a:ext cx="216881" cy="2366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2540" y="3378554"/>
            <a:ext cx="2241060" cy="34032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475" y="4077072"/>
            <a:ext cx="2891982" cy="25559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507" y="1815232"/>
            <a:ext cx="2449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 Questions: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8627" y="2120324"/>
                <a:ext cx="3218178" cy="47862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[MAT 2009 1C] Given a real constant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1600" dirty="0"/>
                  <a:t>, the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Has four real solutions (including possible repeated roots) for:</a:t>
                </a:r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1600" b="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≤−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GB" sz="1600" dirty="0"/>
              </a:p>
              <a:p>
                <a:pPr marL="342900" indent="-342900">
                  <a:buAutoNum type="alphaUcParenR"/>
                </a:pPr>
                <a:r>
                  <a:rPr lang="en-GB" sz="1600" dirty="0"/>
                  <a:t> all values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sz="1600" dirty="0"/>
              </a:p>
              <a:p>
                <a:endParaRPr lang="en-GB" sz="1600" b="1" dirty="0"/>
              </a:p>
              <a:p>
                <a:r>
                  <a:rPr lang="en-GB" sz="1400" b="1" dirty="0"/>
                  <a:t>Square rooting: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=±(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1400" b="1" dirty="0"/>
              </a:p>
              <a:p>
                <a:r>
                  <a:rPr lang="en-GB" sz="1400" b="1" dirty="0"/>
                  <a:t>Case 1: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Discriminant: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en-GB" sz="1400" b="1" dirty="0"/>
              </a:p>
              <a:p>
                <a:r>
                  <a:rPr lang="en-GB" sz="1400" b="1" dirty="0"/>
                  <a:t>Case 2: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Discriminant: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≥−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en-GB" sz="1400" b="1" dirty="0"/>
              </a:p>
              <a:p>
                <a:r>
                  <a:rPr lang="en-GB" sz="1400" b="1" dirty="0"/>
                  <a:t>Answer is B.</a:t>
                </a:r>
                <a:endParaRPr lang="en-GB" sz="16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27" y="2120324"/>
                <a:ext cx="3218178" cy="4786247"/>
              </a:xfrm>
              <a:prstGeom prst="rect">
                <a:avLst/>
              </a:prstGeom>
              <a:blipFill>
                <a:blip r:embed="rId5"/>
                <a:stretch>
                  <a:fillRect l="-947" t="-382" r="-1136" b="-3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281524" y="4781550"/>
            <a:ext cx="2976026" cy="20423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2968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Modelling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81236" y="817662"/>
            <a:ext cx="8208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new A Level has a particular emphasis of the application of theory to real-life situations. A mathematical model is the maths used to model such a situation, possibly with some simplifying assumptions.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19336" y="1929780"/>
                <a:ext cx="8500814" cy="230832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Example (from textbook)</a:t>
                </a:r>
                <a:r>
                  <a:rPr lang="en-GB" dirty="0"/>
                  <a:t>: A spear is thrown over level ground from the top of a tower.</a:t>
                </a:r>
              </a:p>
              <a:p>
                <a:r>
                  <a:rPr lang="en-GB" dirty="0"/>
                  <a:t>The height, in metres, of the spear above the ground after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seconds is modelled by the function: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=12.25+14.7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−4.9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Interpret the meaning of the constant term 12.25 in the model.</a:t>
                </a:r>
              </a:p>
              <a:p>
                <a:pPr marL="342900" indent="-342900">
                  <a:buAutoNum type="alphaLcParenR"/>
                </a:pPr>
                <a:r>
                  <a:rPr lang="en-GB" dirty="0"/>
                  <a:t>After how many seconds does the spear hit the ground?</a:t>
                </a:r>
              </a:p>
              <a:p>
                <a:pPr marL="342900" indent="-342900">
                  <a:buAutoNum type="alphaLcParenR"/>
                </a:pPr>
                <a:r>
                  <a:rPr lang="en-GB" dirty="0"/>
                  <a:t>Write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are constants to be found.</a:t>
                </a:r>
              </a:p>
              <a:p>
                <a:pPr marL="342900" indent="-342900">
                  <a:buAutoNum type="alphaLcParenR"/>
                </a:pPr>
                <a:r>
                  <a:rPr lang="en-GB" dirty="0"/>
                  <a:t>Using your answer to part c or otherwise, find the maximum height of the spear above the ground, and the time at which this maximum height is reached?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36" y="1929780"/>
                <a:ext cx="8500814" cy="23083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3636" y="4375770"/>
                <a:ext cx="805651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When the time is 0, clearly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=12.25</m:t>
                    </m:r>
                  </m:oMath>
                </a14:m>
                <a:r>
                  <a:rPr lang="en-GB" dirty="0"/>
                  <a:t>. So the 12.25m is the height of the tower. (In general, the constant term of an expression is often the ‘initial value’.</a:t>
                </a:r>
              </a:p>
              <a:p>
                <a:endParaRPr lang="en-GB" dirty="0"/>
              </a:p>
              <a:p>
                <a:r>
                  <a:rPr lang="en-GB" dirty="0"/>
                  <a:t>When it hits the ground,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, thus: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12.25+14.7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−4.9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Solving gives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=−0.679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=3.68</m:t>
                    </m:r>
                  </m:oMath>
                </a14:m>
                <a:r>
                  <a:rPr lang="en-GB" dirty="0"/>
                  <a:t> (to 3sf) but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=3.68</m:t>
                    </m:r>
                  </m:oMath>
                </a14:m>
                <a:r>
                  <a:rPr lang="en-GB" dirty="0"/>
                  <a:t> (to 3sf)</a:t>
                </a:r>
              </a:p>
              <a:p>
                <a:endParaRPr lang="en-GB" dirty="0"/>
              </a:p>
              <a:p>
                <a:r>
                  <a:rPr lang="en-GB" dirty="0"/>
                  <a:t>By completing the square: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23.275−4.9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−1.5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The maximum height of the spear is 23.275m, 1.5 seconds after spear is thrown.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36" y="4375770"/>
                <a:ext cx="8056512" cy="2308324"/>
              </a:xfrm>
              <a:prstGeom prst="rect">
                <a:avLst/>
              </a:prstGeom>
              <a:blipFill>
                <a:blip r:embed="rId3"/>
                <a:stretch>
                  <a:fillRect l="-605" t="-1587" b="-3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15944" y="4450279"/>
            <a:ext cx="216881" cy="2366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895" y="5293287"/>
            <a:ext cx="216881" cy="2366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2184" y="6068562"/>
            <a:ext cx="216881" cy="2366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2184" y="6354323"/>
            <a:ext cx="216881" cy="2366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568" y="4431594"/>
            <a:ext cx="8173854" cy="6596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568" y="5282764"/>
            <a:ext cx="8173854" cy="5761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568" y="6066239"/>
            <a:ext cx="8173854" cy="2781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568" y="6358519"/>
            <a:ext cx="8173854" cy="2781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2141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2H Pure Y1 Page 34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4C12DD-0C0E-9AD9-8641-70F50C53C63C}"/>
              </a:ext>
            </a:extLst>
          </p:cNvPr>
          <p:cNvGrpSpPr/>
          <p:nvPr/>
        </p:nvGrpSpPr>
        <p:grpSpPr>
          <a:xfrm>
            <a:off x="107504" y="692696"/>
            <a:ext cx="6408712" cy="2343671"/>
            <a:chOff x="107504" y="692696"/>
            <a:chExt cx="7704856" cy="281767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23165D-1128-00FC-4A70-82DB0DC30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504" y="692696"/>
              <a:ext cx="7236296" cy="2817672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11A55F8-4549-0394-ABF6-0925F8C592AC}"/>
                </a:ext>
              </a:extLst>
            </p:cNvPr>
            <p:cNvSpPr/>
            <p:nvPr/>
          </p:nvSpPr>
          <p:spPr>
            <a:xfrm>
              <a:off x="7020272" y="1628800"/>
              <a:ext cx="792088" cy="1872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F3B5DF1B-3673-B1E7-E0D6-7B1EB5657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43" y="3028582"/>
            <a:ext cx="2734248" cy="21608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1E1B3B-1F54-543F-9621-1AD6D178E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5327671"/>
            <a:ext cx="3816424" cy="13344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2227D54-097D-647E-635A-4C15886D71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6056" y="3450704"/>
            <a:ext cx="3248478" cy="9240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5D325E-8579-A0D7-909D-2F69C9D2BD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868" y="5125512"/>
            <a:ext cx="4039164" cy="160042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87754D7-A33A-99C5-4581-E9CE243351A5}"/>
              </a:ext>
            </a:extLst>
          </p:cNvPr>
          <p:cNvSpPr/>
          <p:nvPr/>
        </p:nvSpPr>
        <p:spPr>
          <a:xfrm>
            <a:off x="251520" y="3036367"/>
            <a:ext cx="4101998" cy="2160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595E48-2981-1E72-B963-E486AF5E8BBB}"/>
              </a:ext>
            </a:extLst>
          </p:cNvPr>
          <p:cNvSpPr/>
          <p:nvPr/>
        </p:nvSpPr>
        <p:spPr>
          <a:xfrm>
            <a:off x="4873404" y="3036367"/>
            <a:ext cx="3986875" cy="2160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39F0D7-D902-C123-EEA5-765CF18EAE9A}"/>
              </a:ext>
            </a:extLst>
          </p:cNvPr>
          <p:cNvSpPr/>
          <p:nvPr/>
        </p:nvSpPr>
        <p:spPr>
          <a:xfrm>
            <a:off x="251520" y="5266600"/>
            <a:ext cx="4101998" cy="1495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484980-1F67-14A1-5214-73547882DA9B}"/>
              </a:ext>
            </a:extLst>
          </p:cNvPr>
          <p:cNvSpPr/>
          <p:nvPr/>
        </p:nvSpPr>
        <p:spPr>
          <a:xfrm>
            <a:off x="4873404" y="5266600"/>
            <a:ext cx="3986875" cy="1495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57489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2H Pure Y1 Page 34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202DECB-7750-C2E2-3423-DBFC4E2D0273}"/>
              </a:ext>
            </a:extLst>
          </p:cNvPr>
          <p:cNvGrpSpPr/>
          <p:nvPr/>
        </p:nvGrpSpPr>
        <p:grpSpPr>
          <a:xfrm>
            <a:off x="-9143" y="598040"/>
            <a:ext cx="6676208" cy="1702957"/>
            <a:chOff x="-9143" y="598040"/>
            <a:chExt cx="6676208" cy="170295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D6D017B-AA00-934D-8FCF-E8D6E7B8D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9143" y="598040"/>
              <a:ext cx="6660232" cy="1702957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905B1D0-BD9D-7C61-987D-976C9AAA3A13}"/>
                </a:ext>
              </a:extLst>
            </p:cNvPr>
            <p:cNvSpPr/>
            <p:nvPr/>
          </p:nvSpPr>
          <p:spPr>
            <a:xfrm>
              <a:off x="5857376" y="1974847"/>
              <a:ext cx="793713" cy="3196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3E6C8F-3AD8-4CF5-F8D2-6B9A28F1F260}"/>
                </a:ext>
              </a:extLst>
            </p:cNvPr>
            <p:cNvSpPr/>
            <p:nvPr/>
          </p:nvSpPr>
          <p:spPr>
            <a:xfrm>
              <a:off x="5873352" y="1490207"/>
              <a:ext cx="793713" cy="3196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BD830ADD-5194-1604-77B6-985244F48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2311292"/>
            <a:ext cx="3896269" cy="790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3A0D47-8230-CE31-332A-FCF3988923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3262158"/>
            <a:ext cx="3858163" cy="17909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E687AC-CA6D-D507-0C92-D569B073E3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2536" y="3429000"/>
            <a:ext cx="3724795" cy="275310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138234-E67B-B4A3-75C2-3679BE9DC6A3}"/>
              </a:ext>
            </a:extLst>
          </p:cNvPr>
          <p:cNvSpPr/>
          <p:nvPr/>
        </p:nvSpPr>
        <p:spPr>
          <a:xfrm>
            <a:off x="194949" y="2423895"/>
            <a:ext cx="8173854" cy="6596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0FF3E2-9108-D505-0069-B8CFF6768861}"/>
              </a:ext>
            </a:extLst>
          </p:cNvPr>
          <p:cNvSpPr/>
          <p:nvPr/>
        </p:nvSpPr>
        <p:spPr>
          <a:xfrm>
            <a:off x="194949" y="3304789"/>
            <a:ext cx="8173854" cy="29551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266533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2H Pure Y1 Page 34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DA26101D-2DFD-3D34-2658-208DE8DCD6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5984"/>
          <a:stretch/>
        </p:blipFill>
        <p:spPr>
          <a:xfrm>
            <a:off x="361417" y="3632553"/>
            <a:ext cx="3347864" cy="749605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A872D9F-8166-E634-5FE7-E854E05EF5EE}"/>
              </a:ext>
            </a:extLst>
          </p:cNvPr>
          <p:cNvGrpSpPr/>
          <p:nvPr/>
        </p:nvGrpSpPr>
        <p:grpSpPr>
          <a:xfrm>
            <a:off x="4306" y="599127"/>
            <a:ext cx="7880062" cy="2743326"/>
            <a:chOff x="4306" y="599127"/>
            <a:chExt cx="5704403" cy="196127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A048877-FD7B-A716-087F-C9725BDDEC65}"/>
                </a:ext>
              </a:extLst>
            </p:cNvPr>
            <p:cNvGrpSpPr/>
            <p:nvPr/>
          </p:nvGrpSpPr>
          <p:grpSpPr>
            <a:xfrm>
              <a:off x="16040" y="599127"/>
              <a:ext cx="5692669" cy="1102815"/>
              <a:chOff x="0" y="2607682"/>
              <a:chExt cx="6948264" cy="1248191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910240F-88B1-0EF9-6549-BFFD5C32DA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2607682"/>
                <a:ext cx="6948264" cy="1248191"/>
              </a:xfrm>
              <a:prstGeom prst="rect">
                <a:avLst/>
              </a:prstGeom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16404F5-C881-AB6A-2156-F2DCD93A7344}"/>
                  </a:ext>
                </a:extLst>
              </p:cNvPr>
              <p:cNvSpPr/>
              <p:nvPr/>
            </p:nvSpPr>
            <p:spPr>
              <a:xfrm>
                <a:off x="6125951" y="3517931"/>
                <a:ext cx="793713" cy="3196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5E22EB9-6365-0D57-1FAE-CA264F3C2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06" y="1603411"/>
              <a:ext cx="5364088" cy="956993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30DFDC45-6961-798B-3987-1C268081B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807" b="28361"/>
          <a:stretch/>
        </p:blipFill>
        <p:spPr>
          <a:xfrm>
            <a:off x="467544" y="4796264"/>
            <a:ext cx="3347864" cy="136814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D0AB2C5-2AB8-EDC0-09E8-D9846AE5FD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5984"/>
          <a:stretch/>
        </p:blipFill>
        <p:spPr>
          <a:xfrm>
            <a:off x="4716016" y="4941168"/>
            <a:ext cx="3347864" cy="74960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95A9762-8539-B9D9-398F-6A35BBDA888F}"/>
              </a:ext>
            </a:extLst>
          </p:cNvPr>
          <p:cNvSpPr/>
          <p:nvPr/>
        </p:nvSpPr>
        <p:spPr>
          <a:xfrm>
            <a:off x="248218" y="3422155"/>
            <a:ext cx="3567190" cy="1133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2B734C-C22C-175D-D440-8BE2DC89D009}"/>
              </a:ext>
            </a:extLst>
          </p:cNvPr>
          <p:cNvSpPr/>
          <p:nvPr/>
        </p:nvSpPr>
        <p:spPr>
          <a:xfrm>
            <a:off x="248217" y="4739031"/>
            <a:ext cx="3567191" cy="14253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7D38D8-ECB0-7E9B-77B9-1616BF67C4C7}"/>
              </a:ext>
            </a:extLst>
          </p:cNvPr>
          <p:cNvSpPr/>
          <p:nvPr/>
        </p:nvSpPr>
        <p:spPr>
          <a:xfrm>
            <a:off x="4539712" y="4747190"/>
            <a:ext cx="3567191" cy="13385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315118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/>
        </p:nvGrpSpPr>
        <p:grpSpPr>
          <a:xfrm>
            <a:off x="1144" y="0"/>
            <a:ext cx="9143074" cy="599127"/>
            <a:chOff x="0" y="13335"/>
            <a:chExt cx="9144218" cy="599127"/>
          </a:xfrm>
        </p:grpSpPr>
        <p:sp>
          <p:nvSpPr>
            <p:cNvPr id="3" name="TextBox 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</a:lstStyle>
            <a:p>
              <a:r>
                <a:rPr lang="en-GB" dirty="0"/>
                <a:t>   Would you like $1,000,000 for finding roots?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4887" y="796062"/>
                <a:ext cx="8280920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saw earlier that the roots of a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GB" dirty="0"/>
                  <a:t> are the values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such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87" y="796062"/>
                <a:ext cx="8280920" cy="36933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://upload.wikimedia.org/wikipedia/commons/1/1b/Complex_zet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56792"/>
            <a:ext cx="5091385" cy="508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868144" y="1556792"/>
                <a:ext cx="2952328" cy="5011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</a:t>
                </a:r>
                <a:r>
                  <a:rPr lang="en-GB" b="1" dirty="0"/>
                  <a:t>Riemann Zeta Function </a:t>
                </a:r>
                <a:r>
                  <a:rPr lang="en-GB" dirty="0"/>
                  <a:t>is a function that allows you to do the infinite sum of powers of reciprocals, e.g.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𝜁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+…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𝜁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/>
                        </a:rPr>
                        <m:t>+…</m:t>
                      </m:r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dirty="0"/>
                  <a:t>One of the 8 ‘</a:t>
                </a:r>
                <a:r>
                  <a:rPr lang="en-GB" b="1" dirty="0"/>
                  <a:t>Clay Millennium Problems</a:t>
                </a:r>
                <a:r>
                  <a:rPr lang="en-GB" dirty="0"/>
                  <a:t>’ (for which solving any attracts a $1,000,000 prize) is to </a:t>
                </a:r>
                <a:r>
                  <a:rPr lang="en-GB" b="1" dirty="0"/>
                  <a:t>showing all roots of this function have some particular form</a:t>
                </a:r>
                <a:r>
                  <a:rPr lang="en-GB" dirty="0"/>
                  <a:t>, i.e. the form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such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𝜁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1556792"/>
                <a:ext cx="2952328" cy="5011115"/>
              </a:xfrm>
              <a:prstGeom prst="rect">
                <a:avLst/>
              </a:prstGeom>
              <a:blipFill>
                <a:blip r:embed="rId4"/>
                <a:stretch>
                  <a:fillRect l="-1860" t="-608" r="-620" b="-9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6794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23139</TotalTime>
  <Words>5894</Words>
  <Application>Microsoft Office PowerPoint</Application>
  <PresentationFormat>On-screen Show (4:3)</PresentationFormat>
  <Paragraphs>732</Paragraphs>
  <Slides>50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Cambria Math</vt:lpstr>
      <vt:lpstr>Wingdings</vt:lpstr>
      <vt:lpstr>Office Theme</vt:lpstr>
      <vt:lpstr>Pure Y1 Ch 2 Quadratics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A Lamagna</cp:lastModifiedBy>
  <cp:revision>761</cp:revision>
  <dcterms:created xsi:type="dcterms:W3CDTF">2013-02-28T07:36:55Z</dcterms:created>
  <dcterms:modified xsi:type="dcterms:W3CDTF">2025-09-17T16:49:20Z</dcterms:modified>
</cp:coreProperties>
</file>