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261" r:id="rId3"/>
    <p:sldId id="483" r:id="rId4"/>
    <p:sldId id="484" r:id="rId5"/>
    <p:sldId id="485" r:id="rId6"/>
    <p:sldId id="513" r:id="rId7"/>
    <p:sldId id="486" r:id="rId8"/>
    <p:sldId id="488" r:id="rId9"/>
    <p:sldId id="491" r:id="rId10"/>
    <p:sldId id="514" r:id="rId11"/>
    <p:sldId id="490" r:id="rId12"/>
    <p:sldId id="492" r:id="rId13"/>
    <p:sldId id="493" r:id="rId14"/>
    <p:sldId id="494" r:id="rId15"/>
    <p:sldId id="495" r:id="rId16"/>
    <p:sldId id="497" r:id="rId17"/>
    <p:sldId id="496" r:id="rId18"/>
    <p:sldId id="509" r:id="rId19"/>
    <p:sldId id="510" r:id="rId20"/>
    <p:sldId id="511" r:id="rId21"/>
    <p:sldId id="487" r:id="rId22"/>
    <p:sldId id="498" r:id="rId23"/>
    <p:sldId id="500" r:id="rId24"/>
    <p:sldId id="501" r:id="rId25"/>
    <p:sldId id="502" r:id="rId26"/>
    <p:sldId id="503" r:id="rId27"/>
    <p:sldId id="504" r:id="rId28"/>
    <p:sldId id="505" r:id="rId29"/>
    <p:sldId id="512" r:id="rId30"/>
    <p:sldId id="506" r:id="rId31"/>
    <p:sldId id="507"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65E"/>
    <a:srgbClr val="2330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9" autoAdjust="0"/>
    <p:restoredTop sz="96301" autoAdjust="0"/>
  </p:normalViewPr>
  <p:slideViewPr>
    <p:cSldViewPr>
      <p:cViewPr varScale="1">
        <p:scale>
          <a:sx n="128" d="100"/>
          <a:sy n="128" d="100"/>
        </p:scale>
        <p:origin x="1975" y="110"/>
      </p:cViewPr>
      <p:guideLst>
        <p:guide orient="horz" pos="2160"/>
        <p:guide pos="2880"/>
      </p:guideLst>
    </p:cSldViewPr>
  </p:slideViewPr>
  <p:notesTextViewPr>
    <p:cViewPr>
      <p:scale>
        <a:sx n="150" d="100"/>
        <a:sy n="150" d="100"/>
      </p:scale>
      <p:origin x="0" y="0"/>
    </p:cViewPr>
  </p:notesTextViewPr>
  <p:notesViewPr>
    <p:cSldViewPr>
      <p:cViewPr varScale="1">
        <p:scale>
          <a:sx n="97" d="100"/>
          <a:sy n="97" d="100"/>
        </p:scale>
        <p:origin x="2024"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Lamagna" userId="51ffa61b-81bf-4463-bdeb-7e3f3f1f8945" providerId="ADAL" clId="{78D49768-8953-4BDD-9016-7C6705BBC596}"/>
    <pc:docChg chg="modSld">
      <pc:chgData name="A Lamagna" userId="51ffa61b-81bf-4463-bdeb-7e3f3f1f8945" providerId="ADAL" clId="{78D49768-8953-4BDD-9016-7C6705BBC596}" dt="2026-09-14T07:53:20.709" v="16" actId="1035"/>
      <pc:docMkLst>
        <pc:docMk/>
      </pc:docMkLst>
      <pc:sldChg chg="modSp mod">
        <pc:chgData name="A Lamagna" userId="51ffa61b-81bf-4463-bdeb-7e3f3f1f8945" providerId="ADAL" clId="{78D49768-8953-4BDD-9016-7C6705BBC596}" dt="2026-09-14T07:53:20.709" v="16" actId="1035"/>
        <pc:sldMkLst>
          <pc:docMk/>
          <pc:sldMk cId="2238859092" sldId="506"/>
        </pc:sldMkLst>
        <pc:spChg chg="mod">
          <ac:chgData name="A Lamagna" userId="51ffa61b-81bf-4463-bdeb-7e3f3f1f8945" providerId="ADAL" clId="{78D49768-8953-4BDD-9016-7C6705BBC596}" dt="2026-09-14T07:53:20.709" v="16" actId="1035"/>
          <ac:spMkLst>
            <pc:docMk/>
            <pc:sldMk cId="2238859092" sldId="506"/>
            <ac:spMk id="6"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13"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14"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15"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16"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19"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20"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21"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28" creationId="{00000000-0000-0000-0000-000000000000}"/>
          </ac:spMkLst>
        </pc:spChg>
        <pc:spChg chg="mod">
          <ac:chgData name="A Lamagna" userId="51ffa61b-81bf-4463-bdeb-7e3f3f1f8945" providerId="ADAL" clId="{78D49768-8953-4BDD-9016-7C6705BBC596}" dt="2026-09-14T07:53:20.709" v="16" actId="1035"/>
          <ac:spMkLst>
            <pc:docMk/>
            <pc:sldMk cId="2238859092" sldId="506"/>
            <ac:spMk id="29" creationId="{00000000-0000-0000-0000-000000000000}"/>
          </ac:spMkLst>
        </pc:spChg>
      </pc:sldChg>
      <pc:sldChg chg="addSp modSp mod">
        <pc:chgData name="A Lamagna" userId="51ffa61b-81bf-4463-bdeb-7e3f3f1f8945" providerId="ADAL" clId="{78D49768-8953-4BDD-9016-7C6705BBC596}" dt="2026-09-12T10:56:56.367" v="12"/>
        <pc:sldMkLst>
          <pc:docMk/>
          <pc:sldMk cId="1265011483" sldId="507"/>
        </pc:sldMkLst>
        <pc:grpChg chg="mod">
          <ac:chgData name="A Lamagna" userId="51ffa61b-81bf-4463-bdeb-7e3f3f1f8945" providerId="ADAL" clId="{78D49768-8953-4BDD-9016-7C6705BBC596}" dt="2026-09-12T10:56:52.259" v="2"/>
          <ac:grpSpMkLst>
            <pc:docMk/>
            <pc:sldMk cId="1265011483" sldId="507"/>
            <ac:grpSpMk id="8" creationId="{36B76C25-D809-692A-D400-4EAAC0C0F8F0}"/>
          </ac:grpSpMkLst>
        </pc:grpChg>
        <pc:grpChg chg="mod">
          <ac:chgData name="A Lamagna" userId="51ffa61b-81bf-4463-bdeb-7e3f3f1f8945" providerId="ADAL" clId="{78D49768-8953-4BDD-9016-7C6705BBC596}" dt="2026-09-12T10:56:56.367" v="12"/>
          <ac:grpSpMkLst>
            <pc:docMk/>
            <pc:sldMk cId="1265011483" sldId="507"/>
            <ac:grpSpMk id="18" creationId="{7B3E5DBC-6326-A075-6C78-43CC312ECB1E}"/>
          </ac:grpSpMkLst>
        </pc:grpChg>
        <pc:grpChg chg="mod">
          <ac:chgData name="A Lamagna" userId="51ffa61b-81bf-4463-bdeb-7e3f3f1f8945" providerId="ADAL" clId="{78D49768-8953-4BDD-9016-7C6705BBC596}" dt="2026-09-12T10:56:56.367" v="12"/>
          <ac:grpSpMkLst>
            <pc:docMk/>
            <pc:sldMk cId="1265011483" sldId="507"/>
            <ac:grpSpMk id="22" creationId="{E2801C5B-7301-FA58-8400-AFCE39FE0D63}"/>
          </ac:grpSpMkLst>
        </pc:grpChg>
        <pc:inkChg chg="add mod">
          <ac:chgData name="A Lamagna" userId="51ffa61b-81bf-4463-bdeb-7e3f3f1f8945" providerId="ADAL" clId="{78D49768-8953-4BDD-9016-7C6705BBC596}" dt="2026-09-12T10:56:52.259" v="2"/>
          <ac:inkMkLst>
            <pc:docMk/>
            <pc:sldMk cId="1265011483" sldId="507"/>
            <ac:inkMk id="6" creationId="{5669C0C1-30D4-A057-FA08-0FC54BCF0F68}"/>
          </ac:inkMkLst>
        </pc:inkChg>
        <pc:inkChg chg="add mod">
          <ac:chgData name="A Lamagna" userId="51ffa61b-81bf-4463-bdeb-7e3f3f1f8945" providerId="ADAL" clId="{78D49768-8953-4BDD-9016-7C6705BBC596}" dt="2026-09-12T10:56:52.259" v="2"/>
          <ac:inkMkLst>
            <pc:docMk/>
            <pc:sldMk cId="1265011483" sldId="507"/>
            <ac:inkMk id="7" creationId="{5F326E88-8153-1CFF-1D92-D79E5DF5551F}"/>
          </ac:inkMkLst>
        </pc:inkChg>
        <pc:inkChg chg="add">
          <ac:chgData name="A Lamagna" userId="51ffa61b-81bf-4463-bdeb-7e3f3f1f8945" providerId="ADAL" clId="{78D49768-8953-4BDD-9016-7C6705BBC596}" dt="2026-09-12T10:56:54.014" v="3" actId="9405"/>
          <ac:inkMkLst>
            <pc:docMk/>
            <pc:sldMk cId="1265011483" sldId="507"/>
            <ac:inkMk id="9" creationId="{02ACC5FF-0077-7391-301F-F8077DEF89A8}"/>
          </ac:inkMkLst>
        </pc:inkChg>
        <pc:inkChg chg="add">
          <ac:chgData name="A Lamagna" userId="51ffa61b-81bf-4463-bdeb-7e3f3f1f8945" providerId="ADAL" clId="{78D49768-8953-4BDD-9016-7C6705BBC596}" dt="2026-09-12T10:56:54.763" v="4" actId="9405"/>
          <ac:inkMkLst>
            <pc:docMk/>
            <pc:sldMk cId="1265011483" sldId="507"/>
            <ac:inkMk id="10" creationId="{2A40AAD0-88E2-6DFF-6013-15BE95F44EDC}"/>
          </ac:inkMkLst>
        </pc:inkChg>
        <pc:inkChg chg="add mod">
          <ac:chgData name="A Lamagna" userId="51ffa61b-81bf-4463-bdeb-7e3f3f1f8945" providerId="ADAL" clId="{78D49768-8953-4BDD-9016-7C6705BBC596}" dt="2026-09-12T10:56:56.367" v="12"/>
          <ac:inkMkLst>
            <pc:docMk/>
            <pc:sldMk cId="1265011483" sldId="507"/>
            <ac:inkMk id="11" creationId="{1DE0E028-1E92-FD15-1988-FB5C22186A47}"/>
          </ac:inkMkLst>
        </pc:inkChg>
        <pc:inkChg chg="add mod">
          <ac:chgData name="A Lamagna" userId="51ffa61b-81bf-4463-bdeb-7e3f3f1f8945" providerId="ADAL" clId="{78D49768-8953-4BDD-9016-7C6705BBC596}" dt="2026-09-12T10:56:56.367" v="12"/>
          <ac:inkMkLst>
            <pc:docMk/>
            <pc:sldMk cId="1265011483" sldId="507"/>
            <ac:inkMk id="12" creationId="{405387F0-2CEF-A58F-7E9C-7E27456B747C}"/>
          </ac:inkMkLst>
        </pc:inkChg>
        <pc:inkChg chg="add mod">
          <ac:chgData name="A Lamagna" userId="51ffa61b-81bf-4463-bdeb-7e3f3f1f8945" providerId="ADAL" clId="{78D49768-8953-4BDD-9016-7C6705BBC596}" dt="2026-09-12T10:56:56.367" v="12"/>
          <ac:inkMkLst>
            <pc:docMk/>
            <pc:sldMk cId="1265011483" sldId="507"/>
            <ac:inkMk id="13" creationId="{161C1675-620A-BD39-9AA3-3DFCEB73BE9B}"/>
          </ac:inkMkLst>
        </pc:inkChg>
        <pc:inkChg chg="add mod">
          <ac:chgData name="A Lamagna" userId="51ffa61b-81bf-4463-bdeb-7e3f3f1f8945" providerId="ADAL" clId="{78D49768-8953-4BDD-9016-7C6705BBC596}" dt="2026-09-12T10:56:56.367" v="12"/>
          <ac:inkMkLst>
            <pc:docMk/>
            <pc:sldMk cId="1265011483" sldId="507"/>
            <ac:inkMk id="14" creationId="{FC98B58E-3FCC-8B2B-3010-4E848D4C6C8C}"/>
          </ac:inkMkLst>
        </pc:inkChg>
        <pc:inkChg chg="add mod">
          <ac:chgData name="A Lamagna" userId="51ffa61b-81bf-4463-bdeb-7e3f3f1f8945" providerId="ADAL" clId="{78D49768-8953-4BDD-9016-7C6705BBC596}" dt="2026-09-12T10:56:56.367" v="12"/>
          <ac:inkMkLst>
            <pc:docMk/>
            <pc:sldMk cId="1265011483" sldId="507"/>
            <ac:inkMk id="15" creationId="{3465BA49-C318-44A1-5BC6-200737D5F650}"/>
          </ac:inkMkLst>
        </pc:inkChg>
        <pc:inkChg chg="add mod">
          <ac:chgData name="A Lamagna" userId="51ffa61b-81bf-4463-bdeb-7e3f3f1f8945" providerId="ADAL" clId="{78D49768-8953-4BDD-9016-7C6705BBC596}" dt="2026-09-12T10:56:56.367" v="12"/>
          <ac:inkMkLst>
            <pc:docMk/>
            <pc:sldMk cId="1265011483" sldId="507"/>
            <ac:inkMk id="16" creationId="{9B7CDA01-81E3-3C7A-EFAB-FB669FC63D64}"/>
          </ac:inkMkLst>
        </pc:inkChg>
        <pc:inkChg chg="add mod">
          <ac:chgData name="A Lamagna" userId="51ffa61b-81bf-4463-bdeb-7e3f3f1f8945" providerId="ADAL" clId="{78D49768-8953-4BDD-9016-7C6705BBC596}" dt="2026-09-12T10:56:56.367" v="12"/>
          <ac:inkMkLst>
            <pc:docMk/>
            <pc:sldMk cId="1265011483" sldId="507"/>
            <ac:inkMk id="17" creationId="{F939570D-B43B-FCAB-FA80-B7EDC6E123CE}"/>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1.287"/>
    </inkml:context>
    <inkml:brush xml:id="br0">
      <inkml:brushProperty name="width" value="0.035" units="cm"/>
      <inkml:brushProperty name="height" value="0.035" units="cm"/>
    </inkml:brush>
  </inkml:definitions>
  <inkml:trace contextRef="#ctx0" brushRef="#br0">0 1 16388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1.421"/>
    </inkml:context>
    <inkml:brush xml:id="br0">
      <inkml:brushProperty name="width" value="0.035" units="cm"/>
      <inkml:brushProperty name="height" value="0.035" units="cm"/>
    </inkml:brush>
  </inkml:definitions>
  <inkml:trace contextRef="#ctx0" brushRef="#br0">169 130 16388</inkml:trace>
  <inkml:trace contextRef="#ctx0" brushRef="#br0" timeOffset="1">38 75 16388</inkml:trace>
  <inkml:trace contextRef="#ctx0" brushRef="#br0" timeOffset="2">1 1 16388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4.012"/>
    </inkml:context>
    <inkml:brush xml:id="br0">
      <inkml:brushProperty name="width" value="0.035" units="cm"/>
      <inkml:brushProperty name="height" value="0.035" units="cm"/>
    </inkml:brush>
  </inkml:definitions>
  <inkml:trace contextRef="#ctx0" brushRef="#br0">38 154 16388,'-25'4'0,"24"-4"0,1 0 0,-1 0 0,1 0 0,0 0 0,-1 0 0,1 1 0,0-1 0,-1 0 0,1 0 0,-1 0 0,1 0 0,0 0 0,-1 0 0,1 1 0,0-1 0,-1 0 0,1 0 0,0 0 0,0 1 0,-1-1 0,1 0 0,0 1 0,0-1 0,-1 0 0,1 0 0,0 1 0,0-1 0,0 0 0,0 1 0,-1-1 0,1 0 0,0 1 0,0-1 0,0 1 0,0-1 0,0 0 0,0 1 0,0 0 0,-2 33 0,45-158 0,-22 68 0,-13 34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4.762"/>
    </inkml:context>
    <inkml:brush xml:id="br0">
      <inkml:brushProperty name="width" value="0.035" units="cm"/>
      <inkml:brushProperty name="height" value="0.035" units="cm"/>
    </inkml:brush>
  </inkml:definitions>
  <inkml:trace contextRef="#ctx0" brushRef="#br0">1 0 16388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4.996"/>
    </inkml:context>
    <inkml:brush xml:id="br0">
      <inkml:brushProperty name="width" value="0.035" units="cm"/>
      <inkml:brushProperty name="height" value="0.035" units="cm"/>
    </inkml:brush>
  </inkml:definitions>
  <inkml:trace contextRef="#ctx0" brushRef="#br0">1 0 16388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5.119"/>
    </inkml:context>
    <inkml:brush xml:id="br0">
      <inkml:brushProperty name="width" value="0.035" units="cm"/>
      <inkml:brushProperty name="height" value="0.035" units="cm"/>
    </inkml:brush>
  </inkml:definitions>
  <inkml:trace contextRef="#ctx0" brushRef="#br0">23 110 16388</inkml:trace>
  <inkml:trace contextRef="#ctx0" brushRef="#br0" timeOffset="1">1 118 16388</inkml:trace>
  <inkml:trace contextRef="#ctx0" brushRef="#br0" timeOffset="2">4 139 16388</inkml:trace>
  <inkml:trace contextRef="#ctx0" brushRef="#br0" timeOffset="3">28 128 16388</inkml:trace>
  <inkml:trace contextRef="#ctx0" brushRef="#br0" timeOffset="4">27 0 16388</inkml:trace>
  <inkml:trace contextRef="#ctx0" brushRef="#br0" timeOffset="5">41 17 16388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5.227"/>
    </inkml:context>
    <inkml:brush xml:id="br0">
      <inkml:brushProperty name="width" value="0.035" units="cm"/>
      <inkml:brushProperty name="height" value="0.035" units="cm"/>
    </inkml:brush>
  </inkml:definitions>
  <inkml:trace contextRef="#ctx0" brushRef="#br0">1 1 16388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5.340"/>
    </inkml:context>
    <inkml:brush xml:id="br0">
      <inkml:brushProperty name="width" value="0.035" units="cm"/>
      <inkml:brushProperty name="height" value="0.035" units="cm"/>
    </inkml:brush>
  </inkml:definitions>
  <inkml:trace contextRef="#ctx0" brushRef="#br0">0 141 16388</inkml:trace>
  <inkml:trace contextRef="#ctx0" brushRef="#br0" timeOffset="1">35 149 16388</inkml:trace>
  <inkml:trace contextRef="#ctx0" brushRef="#br0" timeOffset="2">62 121 16388</inkml:trace>
  <inkml:trace contextRef="#ctx0" brushRef="#br0" timeOffset="3">98 86 16388</inkml:trace>
  <inkml:trace contextRef="#ctx0" brushRef="#br0" timeOffset="4">140 64 16388</inkml:trace>
  <inkml:trace contextRef="#ctx0" brushRef="#br0" timeOffset="5">178 74 16388</inkml:trace>
  <inkml:trace contextRef="#ctx0" brushRef="#br0" timeOffset="6">200 85 16388</inkml:trace>
  <inkml:trace contextRef="#ctx0" brushRef="#br0" timeOffset="7">223 81 16388</inkml:trace>
  <inkml:trace contextRef="#ctx0" brushRef="#br0" timeOffset="8">240 37 16388</inkml:trace>
  <inkml:trace contextRef="#ctx0" brushRef="#br0" timeOffset="9">250 35 16388</inkml:trace>
  <inkml:trace contextRef="#ctx0" brushRef="#br0" timeOffset="10">258 34 16388</inkml:trace>
  <inkml:trace contextRef="#ctx0" brushRef="#br0" timeOffset="11">279 23 16388</inkml:trace>
  <inkml:trace contextRef="#ctx0" brushRef="#br0" timeOffset="12">308 1 16388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5.478"/>
    </inkml:context>
    <inkml:brush xml:id="br0">
      <inkml:brushProperty name="width" value="0.035" units="cm"/>
      <inkml:brushProperty name="height" value="0.035" units="cm"/>
    </inkml:brush>
  </inkml:definitions>
  <inkml:trace contextRef="#ctx0" brushRef="#br0">48 342 16388</inkml:trace>
  <inkml:trace contextRef="#ctx0" brushRef="#br0" timeOffset="1">77 307 16388</inkml:trace>
  <inkml:trace contextRef="#ctx0" brushRef="#br0" timeOffset="2">83 249 16388</inkml:trace>
  <inkml:trace contextRef="#ctx0" brushRef="#br0" timeOffset="3">60 172 16388</inkml:trace>
  <inkml:trace contextRef="#ctx0" brushRef="#br0" timeOffset="4">22 87 16388</inkml:trace>
  <inkml:trace contextRef="#ctx0" brushRef="#br0" timeOffset="5">1 27 16388</inkml:trace>
  <inkml:trace contextRef="#ctx0" brushRef="#br0" timeOffset="6">17 0 16388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5.664"/>
    </inkml:context>
    <inkml:brush xml:id="br0">
      <inkml:brushProperty name="width" value="0.035" units="cm"/>
      <inkml:brushProperty name="height" value="0.035" units="cm"/>
    </inkml:brush>
  </inkml:definitions>
  <inkml:trace contextRef="#ctx0" brushRef="#br0">1 1 16388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2T10:56:55.771"/>
    </inkml:context>
    <inkml:brush xml:id="br0">
      <inkml:brushProperty name="width" value="0.035" units="cm"/>
      <inkml:brushProperty name="height" value="0.035" units="cm"/>
    </inkml:brush>
  </inkml:definitions>
  <inkml:trace contextRef="#ctx0" brushRef="#br0">1232 15 16388</inkml:trace>
  <inkml:trace contextRef="#ctx0" brushRef="#br0" timeOffset="1">1173 1 16388</inkml:trace>
  <inkml:trace contextRef="#ctx0" brushRef="#br0" timeOffset="2">1100 42 16388</inkml:trace>
  <inkml:trace contextRef="#ctx0" brushRef="#br0" timeOffset="3">1039 38 16388</inkml:trace>
  <inkml:trace contextRef="#ctx0" brushRef="#br0" timeOffset="4">972 36 16388</inkml:trace>
  <inkml:trace contextRef="#ctx0" brushRef="#br0" timeOffset="5">903 37 16388</inkml:trace>
  <inkml:trace contextRef="#ctx0" brushRef="#br0" timeOffset="6">838 185 16388</inkml:trace>
  <inkml:trace contextRef="#ctx0" brushRef="#br0" timeOffset="7">777 347 16388</inkml:trace>
  <inkml:trace contextRef="#ctx0" brushRef="#br0" timeOffset="8">705 485 16388</inkml:trace>
  <inkml:trace contextRef="#ctx0" brushRef="#br0" timeOffset="9">633 546 16388</inkml:trace>
  <inkml:trace contextRef="#ctx0" brushRef="#br0" timeOffset="10">546 571 16388</inkml:trace>
  <inkml:trace contextRef="#ctx0" brushRef="#br0" timeOffset="11">448 566 16388</inkml:trace>
  <inkml:trace contextRef="#ctx0" brushRef="#br0" timeOffset="12">349 507 16388</inkml:trace>
  <inkml:trace contextRef="#ctx0" brushRef="#br0" timeOffset="13">258 437 16388</inkml:trace>
  <inkml:trace contextRef="#ctx0" brushRef="#br0" timeOffset="14">176 381 16388</inkml:trace>
  <inkml:trace contextRef="#ctx0" brushRef="#br0" timeOffset="15">90 383 16388</inkml:trace>
  <inkml:trace contextRef="#ctx0" brushRef="#br0" timeOffset="16">1 403 16388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12/09/2026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Last modified: 7</a:t>
            </a:r>
            <a:r>
              <a:rPr lang="en-GB" baseline="30000" dirty="0"/>
              <a:t>th</a:t>
            </a:r>
            <a:r>
              <a:rPr lang="en-GB" dirty="0"/>
              <a:t> September 2020</a:t>
            </a:r>
          </a:p>
        </p:txBody>
      </p:sp>
      <p:sp>
        <p:nvSpPr>
          <p:cNvPr id="4" name="Slide Number Placeholder 3"/>
          <p:cNvSpPr>
            <a:spLocks noGrp="1"/>
          </p:cNvSpPr>
          <p:nvPr>
            <p:ph type="sldNum" sz="quarter" idx="5"/>
          </p:nvPr>
        </p:nvSpPr>
        <p:spPr/>
        <p:txBody>
          <a:bodyPr/>
          <a:lstStyle/>
          <a:p>
            <a:fld id="{462F2399-CD51-4C4C-BC34-03B9F40F9CF8}" type="slidenum">
              <a:rPr lang="en-GB" smtClean="0"/>
              <a:pPr/>
              <a:t>1</a:t>
            </a:fld>
            <a:endParaRPr lang="en-GB"/>
          </a:p>
        </p:txBody>
      </p:sp>
    </p:spTree>
    <p:extLst>
      <p:ext uri="{BB962C8B-B14F-4D97-AF65-F5344CB8AC3E}">
        <p14:creationId xmlns:p14="http://schemas.microsoft.com/office/powerpoint/2010/main" val="1349758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62F2399-CD51-4C4C-BC34-03B9F40F9CF8}" type="slidenum">
              <a:rPr lang="en-GB" smtClean="0"/>
              <a:pPr/>
              <a:t>18</a:t>
            </a:fld>
            <a:endParaRPr lang="en-GB"/>
          </a:p>
        </p:txBody>
      </p:sp>
    </p:spTree>
    <p:extLst>
      <p:ext uri="{BB962C8B-B14F-4D97-AF65-F5344CB8AC3E}">
        <p14:creationId xmlns:p14="http://schemas.microsoft.com/office/powerpoint/2010/main" val="4042057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62F2399-CD51-4C4C-BC34-03B9F40F9CF8}" type="slidenum">
              <a:rPr lang="en-GB" smtClean="0"/>
              <a:pPr/>
              <a:t>31</a:t>
            </a:fld>
            <a:endParaRPr lang="en-GB"/>
          </a:p>
        </p:txBody>
      </p:sp>
    </p:spTree>
    <p:extLst>
      <p:ext uri="{BB962C8B-B14F-4D97-AF65-F5344CB8AC3E}">
        <p14:creationId xmlns:p14="http://schemas.microsoft.com/office/powerpoint/2010/main" val="3979946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12/09/2026</a:t>
            </a:fld>
            <a:endParaRPr lang="en-GB"/>
          </a:p>
        </p:txBody>
      </p:sp>
      <p:sp>
        <p:nvSpPr>
          <p:cNvPr id="3" name="Footer Placeholder 2"/>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7933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1736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93988"/>
            <a:ext cx="7772400" cy="1470025"/>
          </a:xfrm>
          <a:prstGeom prst="rect">
            <a:avLst/>
          </a:prstGeom>
        </p:spPr>
        <p:txBody>
          <a:bodyPr>
            <a:noAutofit/>
          </a:bodyPr>
          <a:lstStyle>
            <a:lvl1pPr>
              <a:defRPr sz="6000" b="0">
                <a:solidFill>
                  <a:schemeClr val="bg1"/>
                </a:solidFill>
              </a:defRPr>
            </a:lvl1pPr>
          </a:lstStyle>
          <a:p>
            <a:r>
              <a:rPr lang="en-US" dirty="0"/>
              <a:t>Click to edit Master title style</a:t>
            </a:r>
            <a:endParaRPr lang="en-GB" dirty="0"/>
          </a:p>
        </p:txBody>
      </p:sp>
      <p:sp>
        <p:nvSpPr>
          <p:cNvPr id="3" name="Rectangle 2">
            <a:extLst>
              <a:ext uri="{FF2B5EF4-FFF2-40B4-BE49-F238E27FC236}">
                <a16:creationId xmlns:a16="http://schemas.microsoft.com/office/drawing/2014/main" id="{EDECDDC1-0B0A-6E37-1995-A8CC6B0F35AF}"/>
              </a:ext>
            </a:extLst>
          </p:cNvPr>
          <p:cNvSpPr/>
          <p:nvPr userDrawn="1"/>
        </p:nvSpPr>
        <p:spPr>
          <a:xfrm>
            <a:off x="8458200" y="116632"/>
            <a:ext cx="648072" cy="432048"/>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50430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73519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12/09/2026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7" name="Title Placeholder 1">
            <a:extLst>
              <a:ext uri="{FF2B5EF4-FFF2-40B4-BE49-F238E27FC236}">
                <a16:creationId xmlns:a16="http://schemas.microsoft.com/office/drawing/2014/main" id="{56BE1C5E-5248-9158-42CE-6786A1D85CA5}"/>
              </a:ext>
            </a:extLst>
          </p:cNvPr>
          <p:cNvSpPr>
            <a:spLocks noGrp="1"/>
          </p:cNvSpPr>
          <p:nvPr>
            <p:ph type="title"/>
          </p:nvPr>
        </p:nvSpPr>
        <p:spPr>
          <a:xfrm>
            <a:off x="457200" y="599126"/>
            <a:ext cx="8229600" cy="818512"/>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8" name="Slide Number Placeholder 1">
            <a:extLst>
              <a:ext uri="{FF2B5EF4-FFF2-40B4-BE49-F238E27FC236}">
                <a16:creationId xmlns:a16="http://schemas.microsoft.com/office/drawing/2014/main" id="{C46619E1-8E5E-BED0-8159-D618D0F5B26B}"/>
              </a:ext>
            </a:extLst>
          </p:cNvPr>
          <p:cNvSpPr txBox="1">
            <a:spLocks/>
          </p:cNvSpPr>
          <p:nvPr userDrawn="1"/>
        </p:nvSpPr>
        <p:spPr>
          <a:xfrm>
            <a:off x="0" y="0"/>
            <a:ext cx="9144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dirty="0">
              <a:solidFill>
                <a:schemeClr val="bg1"/>
              </a:solidFill>
            </a:endParaRPr>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55" r:id="rId1"/>
    <p:sldLayoutId id="2147483660" r:id="rId2"/>
    <p:sldLayoutId id="214748366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10.png"/><Relationship Id="rId1" Type="http://schemas.openxmlformats.org/officeDocument/2006/relationships/slideLayout" Target="../slideLayouts/slideLayout1.xml"/><Relationship Id="rId6" Type="http://schemas.openxmlformats.org/officeDocument/2006/relationships/image" Target="../media/image810.png"/><Relationship Id="rId5" Type="http://schemas.openxmlformats.org/officeDocument/2006/relationships/image" Target="../media/image711.png"/><Relationship Id="rId4" Type="http://schemas.openxmlformats.org/officeDocument/2006/relationships/image" Target="../media/image611.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3.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9" Type="http://schemas.openxmlformats.org/officeDocument/2006/relationships/image" Target="../media/image17.png"/><Relationship Id="rId1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5.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33.png"/><Relationship Id="rId5" Type="http://schemas.openxmlformats.org/officeDocument/2006/relationships/image" Target="../media/image9.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8.png"/><Relationship Id="rId9" Type="http://schemas.openxmlformats.org/officeDocument/2006/relationships/image" Target="../media/image27.png"/><Relationship Id="rId14"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hyperlink" Target="http://www.drfrostmaths.com/resources/resource.php?rid=268" TargetMode="External"/><Relationship Id="rId5" Type="http://schemas.openxmlformats.org/officeDocument/2006/relationships/image" Target="../media/image42.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370.png"/><Relationship Id="rId7" Type="http://schemas.openxmlformats.org/officeDocument/2006/relationships/image" Target="../media/image411.png"/><Relationship Id="rId2" Type="http://schemas.openxmlformats.org/officeDocument/2006/relationships/image" Target="../media/image360.png"/><Relationship Id="rId1" Type="http://schemas.openxmlformats.org/officeDocument/2006/relationships/slideLayout" Target="../slideLayouts/slideLayout1.xml"/><Relationship Id="rId6" Type="http://schemas.openxmlformats.org/officeDocument/2006/relationships/image" Target="../media/image400.png"/><Relationship Id="rId5" Type="http://schemas.openxmlformats.org/officeDocument/2006/relationships/image" Target="../media/image390.png"/><Relationship Id="rId10" Type="http://schemas.openxmlformats.org/officeDocument/2006/relationships/image" Target="../media/image44.png"/><Relationship Id="rId4" Type="http://schemas.openxmlformats.org/officeDocument/2006/relationships/image" Target="../media/image380.png"/><Relationship Id="rId9"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hyperlink" Target="http://www.drfrostmaths.com/resources/resource.php?rid=268" TargetMode="External"/><Relationship Id="rId4" Type="http://schemas.openxmlformats.org/officeDocument/2006/relationships/image" Target="../media/image57.png"/></Relationships>
</file>

<file path=ppt/slides/_rels/slide12.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540.png"/><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0.png"/><Relationship Id="rId4" Type="http://schemas.openxmlformats.org/officeDocument/2006/relationships/image" Target="../media/image210.png"/></Relationships>
</file>

<file path=ppt/slides/_rels/slide1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1.xml"/><Relationship Id="rId6" Type="http://schemas.openxmlformats.org/officeDocument/2006/relationships/image" Target="../media/image220.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15.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10" Type="http://schemas.openxmlformats.org/officeDocument/2006/relationships/image" Target="../media/image270.png"/><Relationship Id="rId4" Type="http://schemas.openxmlformats.org/officeDocument/2006/relationships/image" Target="../media/image74.png"/><Relationship Id="rId9" Type="http://schemas.openxmlformats.org/officeDocument/2006/relationships/image" Target="../media/image79.png"/></Relationships>
</file>

<file path=ppt/slides/_rels/slide1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63.png"/><Relationship Id="rId7" Type="http://schemas.openxmlformats.org/officeDocument/2006/relationships/image" Target="../media/image82.png"/><Relationship Id="rId2"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81.png"/></Relationships>
</file>

<file path=ppt/slides/_rels/slide17.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320.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image" Target="../media/image811.png"/><Relationship Id="rId1" Type="http://schemas.openxmlformats.org/officeDocument/2006/relationships/slideLayout" Target="../slideLayouts/slideLayout1.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0.png"/><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830.png"/><Relationship Id="rId9" Type="http://schemas.openxmlformats.org/officeDocument/2006/relationships/image" Target="../media/image88.png"/><Relationship Id="rId14" Type="http://schemas.openxmlformats.org/officeDocument/2006/relationships/image" Target="../media/image93.png"/></Relationships>
</file>

<file path=ppt/slides/_rels/slide18.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40.png"/><Relationship Id="rId4" Type="http://schemas.openxmlformats.org/officeDocument/2006/relationships/image" Target="../media/image95.png"/></Relationships>
</file>

<file path=ppt/slides/_rels/slide1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9.png"/></Relationships>
</file>

<file path=ppt/slides/_rels/slide2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3.png"/><Relationship Id="rId7" Type="http://schemas.openxmlformats.org/officeDocument/2006/relationships/image" Target="../media/image106.png"/><Relationship Id="rId2"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2.png"/><Relationship Id="rId9" Type="http://schemas.openxmlformats.org/officeDocument/2006/relationships/image" Target="../media/image108.png"/></Relationships>
</file>

<file path=ppt/slides/_rels/slide22.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image" Target="../media/image970.png"/><Relationship Id="rId1" Type="http://schemas.openxmlformats.org/officeDocument/2006/relationships/slideLayout" Target="../slideLayouts/slideLayout1.xml"/><Relationship Id="rId4" Type="http://schemas.openxmlformats.org/officeDocument/2006/relationships/image" Target="../media/image820.png"/></Relationships>
</file>

<file path=ppt/slides/_rels/slide23.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image" Target="../media/image111.png"/><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5.png"/><Relationship Id="rId4" Type="http://schemas.openxmlformats.org/officeDocument/2006/relationships/image" Target="../media/image114.png"/></Relationships>
</file>

<file path=ppt/slides/_rels/slide2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60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104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image" Target="../media/image64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60.png"/><Relationship Id="rId2" Type="http://schemas.openxmlformats.org/officeDocument/2006/relationships/image" Target="../media/image780.png"/><Relationship Id="rId1" Type="http://schemas.openxmlformats.org/officeDocument/2006/relationships/slideLayout" Target="../slideLayouts/slideLayout1.xml"/><Relationship Id="rId5" Type="http://schemas.openxmlformats.org/officeDocument/2006/relationships/image" Target="../media/image670.png"/><Relationship Id="rId4" Type="http://schemas.openxmlformats.org/officeDocument/2006/relationships/image" Target="../media/image660.png"/></Relationships>
</file>

<file path=ppt/slides/_rels/slide28.xml.rels><?xml version="1.0" encoding="UTF-8" standalone="yes"?>
<Relationships xmlns="http://schemas.openxmlformats.org/package/2006/relationships"><Relationship Id="rId3" Type="http://schemas.openxmlformats.org/officeDocument/2006/relationships/image" Target="../media/image690.png"/><Relationship Id="rId7" Type="http://schemas.openxmlformats.org/officeDocument/2006/relationships/image" Target="../media/image730.png"/><Relationship Id="rId2" Type="http://schemas.openxmlformats.org/officeDocument/2006/relationships/image" Target="../media/image680.png"/><Relationship Id="rId1" Type="http://schemas.openxmlformats.org/officeDocument/2006/relationships/slideLayout" Target="../slideLayouts/slideLayout1.xml"/><Relationship Id="rId6" Type="http://schemas.openxmlformats.org/officeDocument/2006/relationships/image" Target="../media/image720.png"/><Relationship Id="rId5" Type="http://schemas.openxmlformats.org/officeDocument/2006/relationships/image" Target="../media/image710.png"/><Relationship Id="rId4" Type="http://schemas.openxmlformats.org/officeDocument/2006/relationships/image" Target="../media/image700.png"/></Relationships>
</file>

<file path=ppt/slides/_rels/slide29.xml.rels><?xml version="1.0" encoding="UTF-8" standalone="yes"?>
<Relationships xmlns="http://schemas.openxmlformats.org/package/2006/relationships"><Relationship Id="rId3" Type="http://schemas.openxmlformats.org/officeDocument/2006/relationships/image" Target="../media/image1081.png"/><Relationship Id="rId2" Type="http://schemas.openxmlformats.org/officeDocument/2006/relationships/image" Target="../media/image1071.png"/><Relationship Id="rId1" Type="http://schemas.openxmlformats.org/officeDocument/2006/relationships/slideLayout" Target="../slideLayouts/slideLayout1.xml"/><Relationship Id="rId6" Type="http://schemas.openxmlformats.org/officeDocument/2006/relationships/image" Target="../media/image1110.png"/><Relationship Id="rId5" Type="http://schemas.openxmlformats.org/officeDocument/2006/relationships/image" Target="../media/image1100.png"/><Relationship Id="rId4" Type="http://schemas.openxmlformats.org/officeDocument/2006/relationships/image" Target="../media/image1090.png"/></Relationships>
</file>

<file path=ppt/slides/_rels/slide3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07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customXml" Target="../ink/ink6.xml"/><Relationship Id="rId18" Type="http://schemas.openxmlformats.org/officeDocument/2006/relationships/customXml" Target="../ink/ink9.xml"/><Relationship Id="rId3" Type="http://schemas.openxmlformats.org/officeDocument/2006/relationships/image" Target="../media/image760.png"/><Relationship Id="rId21" Type="http://schemas.openxmlformats.org/officeDocument/2006/relationships/customXml" Target="../ink/ink11.xml"/><Relationship Id="rId7" Type="http://schemas.openxmlformats.org/officeDocument/2006/relationships/customXml" Target="../ink/ink2.xml"/><Relationship Id="rId12" Type="http://schemas.openxmlformats.org/officeDocument/2006/relationships/customXml" Target="../ink/ink5.xml"/><Relationship Id="rId17" Type="http://schemas.openxmlformats.org/officeDocument/2006/relationships/image" Target="../media/image122.png"/><Relationship Id="rId2" Type="http://schemas.openxmlformats.org/officeDocument/2006/relationships/notesSlide" Target="../notesSlides/notesSlide3.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1.xml"/><Relationship Id="rId6" Type="http://schemas.openxmlformats.org/officeDocument/2006/relationships/image" Target="../media/image118.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7.xml"/><Relationship Id="rId10" Type="http://schemas.openxmlformats.org/officeDocument/2006/relationships/image" Target="../media/image120.png"/><Relationship Id="rId19" Type="http://schemas.openxmlformats.org/officeDocument/2006/relationships/image" Target="../media/image123.png"/><Relationship Id="rId4" Type="http://schemas.openxmlformats.org/officeDocument/2006/relationships/image" Target="../media/image770.png"/><Relationship Id="rId9" Type="http://schemas.openxmlformats.org/officeDocument/2006/relationships/customXml" Target="../ink/ink3.xml"/><Relationship Id="rId14" Type="http://schemas.openxmlformats.org/officeDocument/2006/relationships/image" Target="../media/image121.png"/><Relationship Id="rId22"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693988"/>
            <a:ext cx="9036496" cy="1470025"/>
          </a:xfrm>
        </p:spPr>
        <p:txBody>
          <a:bodyPr/>
          <a:lstStyle/>
          <a:p>
            <a:r>
              <a:rPr lang="en-GB" b="1" dirty="0"/>
              <a:t>Pure Y1 Ch 1</a:t>
            </a:r>
            <a:br>
              <a:rPr lang="en-GB" b="1" dirty="0"/>
            </a:br>
            <a:r>
              <a:rPr lang="en-GB" b="1" dirty="0"/>
              <a:t>Algebraic Expressions</a:t>
            </a:r>
            <a:endParaRPr lang="en-GB" dirty="0"/>
          </a:p>
        </p:txBody>
      </p:sp>
    </p:spTree>
    <p:extLst>
      <p:ext uri="{BB962C8B-B14F-4D97-AF65-F5344CB8AC3E}">
        <p14:creationId xmlns:p14="http://schemas.microsoft.com/office/powerpoint/2010/main" val="330909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684000" y="1196752"/>
                <a:ext cx="7776000" cy="4920834"/>
              </a:xfrm>
              <a:prstGeom prst="rect">
                <a:avLst/>
              </a:prstGeom>
              <a:noFill/>
            </p:spPr>
            <p:txBody>
              <a:bodyPr wrap="square" rtlCol="0">
                <a:spAutoFit/>
              </a:bodyPr>
              <a:lstStyle/>
              <a:p>
                <a:pPr marL="342900" indent="-342900">
                  <a:buAutoNum type="arabicParenR"/>
                </a:pPr>
                <a:r>
                  <a:rPr lang="en-GB" dirty="0"/>
                  <a:t>Simplify:</a:t>
                </a:r>
              </a:p>
              <a:p>
                <a:pPr marL="800100" lvl="1" indent="-342900">
                  <a:buFont typeface="+mj-lt"/>
                  <a:buAutoNum type="alphaLcParenR"/>
                </a:pPr>
                <a:r>
                  <a:rPr lang="en-GB" dirty="0"/>
                  <a:t> </a:t>
                </a:r>
                <a14:m>
                  <m:oMath xmlns:m="http://schemas.openxmlformats.org/officeDocument/2006/math">
                    <m:r>
                      <a:rPr lang="en-GB" i="1">
                        <a:latin typeface="Cambria Math"/>
                      </a:rPr>
                      <m:t>4</m:t>
                    </m:r>
                    <m:sSup>
                      <m:sSupPr>
                        <m:ctrlPr>
                          <a:rPr lang="en-GB" i="1">
                            <a:latin typeface="Cambria Math"/>
                          </a:rPr>
                        </m:ctrlPr>
                      </m:sSupPr>
                      <m:e>
                        <m:r>
                          <a:rPr lang="en-GB" i="1">
                            <a:latin typeface="Cambria Math"/>
                          </a:rPr>
                          <m:t>𝑚</m:t>
                        </m:r>
                      </m:e>
                      <m:sup>
                        <m:r>
                          <a:rPr lang="en-GB" i="1">
                            <a:latin typeface="Cambria Math"/>
                          </a:rPr>
                          <m:t>2</m:t>
                        </m:r>
                      </m:sup>
                    </m:sSup>
                    <m:r>
                      <a:rPr lang="en-GB" i="1">
                        <a:latin typeface="Cambria Math"/>
                      </a:rPr>
                      <m:t>𝑛</m:t>
                    </m:r>
                    <m:r>
                      <a:rPr lang="en-GB" i="1">
                        <a:latin typeface="Cambria Math"/>
                      </a:rPr>
                      <m:t>+5</m:t>
                    </m:r>
                    <m:r>
                      <a:rPr lang="en-GB" i="1">
                        <a:latin typeface="Cambria Math"/>
                      </a:rPr>
                      <m:t>𝑚</m:t>
                    </m:r>
                    <m:sSup>
                      <m:sSupPr>
                        <m:ctrlPr>
                          <a:rPr lang="en-GB" i="1">
                            <a:latin typeface="Cambria Math"/>
                          </a:rPr>
                        </m:ctrlPr>
                      </m:sSupPr>
                      <m:e>
                        <m:r>
                          <a:rPr lang="en-GB" i="1">
                            <a:latin typeface="Cambria Math"/>
                          </a:rPr>
                          <m:t>𝑛</m:t>
                        </m:r>
                      </m:e>
                      <m:sup>
                        <m:r>
                          <a:rPr lang="en-GB" i="1">
                            <a:latin typeface="Cambria Math"/>
                          </a:rPr>
                          <m:t>2</m:t>
                        </m:r>
                      </m:sup>
                    </m:sSup>
                    <m:r>
                      <a:rPr lang="en-GB" i="1">
                        <a:latin typeface="Cambria Math"/>
                      </a:rPr>
                      <m:t>−2</m:t>
                    </m:r>
                    <m:sSup>
                      <m:sSupPr>
                        <m:ctrlPr>
                          <a:rPr lang="en-GB" i="1">
                            <a:latin typeface="Cambria Math"/>
                          </a:rPr>
                        </m:ctrlPr>
                      </m:sSupPr>
                      <m:e>
                        <m:r>
                          <a:rPr lang="en-GB" i="1">
                            <a:latin typeface="Cambria Math"/>
                          </a:rPr>
                          <m:t>𝑚</m:t>
                        </m:r>
                      </m:e>
                      <m:sup>
                        <m:r>
                          <a:rPr lang="en-GB" i="1">
                            <a:latin typeface="Cambria Math"/>
                          </a:rPr>
                          <m:t>2</m:t>
                        </m:r>
                      </m:sup>
                    </m:sSup>
                    <m:r>
                      <a:rPr lang="en-GB" i="1">
                        <a:latin typeface="Cambria Math"/>
                      </a:rPr>
                      <m:t>𝑛</m:t>
                    </m:r>
                    <m:r>
                      <a:rPr lang="en-GB" i="1">
                        <a:latin typeface="Cambria Math"/>
                      </a:rPr>
                      <m:t>+</m:t>
                    </m:r>
                    <m:r>
                      <a:rPr lang="en-GB" i="1">
                        <a:latin typeface="Cambria Math"/>
                      </a:rPr>
                      <m:t>𝑚</m:t>
                    </m:r>
                    <m:sSup>
                      <m:sSupPr>
                        <m:ctrlPr>
                          <a:rPr lang="en-GB" i="1">
                            <a:latin typeface="Cambria Math"/>
                          </a:rPr>
                        </m:ctrlPr>
                      </m:sSupPr>
                      <m:e>
                        <m:r>
                          <a:rPr lang="en-GB" i="1">
                            <a:latin typeface="Cambria Math"/>
                          </a:rPr>
                          <m:t>𝑛</m:t>
                        </m:r>
                      </m:e>
                      <m:sup>
                        <m:r>
                          <a:rPr lang="en-GB" i="1">
                            <a:latin typeface="Cambria Math"/>
                          </a:rPr>
                          <m:t>2</m:t>
                        </m:r>
                      </m:sup>
                    </m:sSup>
                    <m:r>
                      <a:rPr lang="en-GB" i="1">
                        <a:latin typeface="Cambria Math"/>
                      </a:rPr>
                      <m:t>−3</m:t>
                    </m:r>
                    <m:r>
                      <a:rPr lang="en-GB" i="1">
                        <a:latin typeface="Cambria Math"/>
                      </a:rPr>
                      <m:t>𝑚</m:t>
                    </m:r>
                    <m:sSup>
                      <m:sSupPr>
                        <m:ctrlPr>
                          <a:rPr lang="en-GB" i="1">
                            <a:latin typeface="Cambria Math"/>
                          </a:rPr>
                        </m:ctrlPr>
                      </m:sSupPr>
                      <m:e>
                        <m:r>
                          <a:rPr lang="en-GB" i="1">
                            <a:latin typeface="Cambria Math"/>
                          </a:rPr>
                          <m:t>𝑛</m:t>
                        </m:r>
                      </m:e>
                      <m:sup>
                        <m:r>
                          <a:rPr lang="en-GB" i="1">
                            <a:latin typeface="Cambria Math"/>
                          </a:rPr>
                          <m:t>2</m:t>
                        </m:r>
                      </m:sup>
                    </m:sSup>
                  </m:oMath>
                </a14:m>
                <a:endParaRPr lang="en-GB" dirty="0"/>
              </a:p>
              <a:p>
                <a:pPr marL="800100" lvl="1" indent="-342900">
                  <a:buFont typeface="+mj-lt"/>
                  <a:buAutoNum type="alphaLcParenR"/>
                </a:pPr>
                <a:r>
                  <a:rPr lang="en-GB" dirty="0"/>
                  <a:t> </a:t>
                </a:r>
                <a14:m>
                  <m:oMath xmlns:m="http://schemas.openxmlformats.org/officeDocument/2006/math">
                    <m:r>
                      <a:rPr lang="en-GB" i="1">
                        <a:latin typeface="Cambria Math"/>
                      </a:rPr>
                      <m:t>3</m:t>
                    </m:r>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−5</m:t>
                    </m:r>
                    <m:r>
                      <a:rPr lang="en-GB" i="1">
                        <a:latin typeface="Cambria Math"/>
                      </a:rPr>
                      <m:t>𝑥</m:t>
                    </m:r>
                    <m:r>
                      <a:rPr lang="en-GB" i="1">
                        <a:latin typeface="Cambria Math"/>
                      </a:rPr>
                      <m:t>+2+3</m:t>
                    </m:r>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−7</m:t>
                    </m:r>
                    <m:r>
                      <a:rPr lang="en-GB" i="1">
                        <a:latin typeface="Cambria Math"/>
                      </a:rPr>
                      <m:t>𝑥</m:t>
                    </m:r>
                    <m:r>
                      <a:rPr lang="en-GB" i="1">
                        <a:latin typeface="Cambria Math"/>
                      </a:rPr>
                      <m:t>−12</m:t>
                    </m:r>
                  </m:oMath>
                </a14:m>
                <a:endParaRPr lang="en-GB" dirty="0"/>
              </a:p>
              <a:p>
                <a:pPr marL="800100" lvl="1" indent="-342900">
                  <a:buFont typeface="+mj-lt"/>
                  <a:buAutoNum type="alphaLcParenR"/>
                </a:pPr>
                <a:endParaRPr lang="en-GB" dirty="0"/>
              </a:p>
              <a:p>
                <a:pPr marL="342900" indent="-342900">
                  <a:buAutoNum type="arabicParenR"/>
                </a:pPr>
                <a:r>
                  <a:rPr lang="en-GB" dirty="0"/>
                  <a:t>Write as a single power of </a:t>
                </a:r>
                <a14:m>
                  <m:oMath xmlns:m="http://schemas.openxmlformats.org/officeDocument/2006/math">
                    <m:r>
                      <a:rPr lang="en-GB" i="1" dirty="0" smtClean="0">
                        <a:latin typeface="Cambria Math"/>
                      </a:rPr>
                      <m:t>2</m:t>
                    </m:r>
                  </m:oMath>
                </a14:m>
                <a:r>
                  <a:rPr lang="en-GB" dirty="0"/>
                  <a:t>:</a:t>
                </a:r>
              </a:p>
              <a:p>
                <a:pPr marL="800100" lvl="1" indent="-342900">
                  <a:buFont typeface="+mj-lt"/>
                  <a:buAutoNum type="alphaLcParenR"/>
                </a:pPr>
                <a:r>
                  <a:rPr lang="en-GB" dirty="0"/>
                  <a:t> </a:t>
                </a:r>
                <a14:m>
                  <m:oMath xmlns:m="http://schemas.openxmlformats.org/officeDocument/2006/math">
                    <m:sSup>
                      <m:sSupPr>
                        <m:ctrlPr>
                          <a:rPr lang="en-GB" i="1">
                            <a:latin typeface="Cambria Math"/>
                          </a:rPr>
                        </m:ctrlPr>
                      </m:sSupPr>
                      <m:e>
                        <m:r>
                          <a:rPr lang="en-GB" i="1">
                            <a:latin typeface="Cambria Math"/>
                          </a:rPr>
                          <m:t>2</m:t>
                        </m:r>
                      </m:e>
                      <m:sup>
                        <m:r>
                          <a:rPr lang="en-GB" i="1">
                            <a:latin typeface="Cambria Math"/>
                          </a:rPr>
                          <m:t>5</m:t>
                        </m:r>
                      </m:sup>
                    </m:sSup>
                    <m:r>
                      <a:rPr lang="en-GB" i="1">
                        <a:latin typeface="Cambria Math"/>
                        <a:ea typeface="Cambria Math"/>
                      </a:rPr>
                      <m:t>×</m:t>
                    </m:r>
                    <m:sSup>
                      <m:sSupPr>
                        <m:ctrlPr>
                          <a:rPr lang="en-GB" i="1">
                            <a:latin typeface="Cambria Math"/>
                            <a:ea typeface="Cambria Math"/>
                          </a:rPr>
                        </m:ctrlPr>
                      </m:sSupPr>
                      <m:e>
                        <m:r>
                          <a:rPr lang="en-GB" i="1">
                            <a:latin typeface="Cambria Math"/>
                            <a:ea typeface="Cambria Math"/>
                          </a:rPr>
                          <m:t>2</m:t>
                        </m:r>
                      </m:e>
                      <m:sup>
                        <m:r>
                          <a:rPr lang="en-GB" i="1">
                            <a:latin typeface="Cambria Math"/>
                            <a:ea typeface="Cambria Math"/>
                          </a:rPr>
                          <m:t>3</m:t>
                        </m:r>
                      </m:sup>
                    </m:sSup>
                  </m:oMath>
                </a14:m>
                <a:r>
                  <a:rPr lang="en-GB" dirty="0">
                    <a:ea typeface="Cambria Math"/>
                  </a:rPr>
                  <a:t>		b)</a:t>
                </a:r>
                <a:r>
                  <a:rPr lang="en-GB" i="1" dirty="0">
                    <a:ea typeface="Cambria Math"/>
                  </a:rPr>
                  <a:t> </a:t>
                </a:r>
                <a14:m>
                  <m:oMath xmlns:m="http://schemas.openxmlformats.org/officeDocument/2006/math">
                    <m:sSup>
                      <m:sSupPr>
                        <m:ctrlPr>
                          <a:rPr lang="en-GB" i="1">
                            <a:latin typeface="Cambria Math"/>
                          </a:rPr>
                        </m:ctrlPr>
                      </m:sSupPr>
                      <m:e>
                        <m:r>
                          <a:rPr lang="en-GB" i="1">
                            <a:latin typeface="Cambria Math"/>
                          </a:rPr>
                          <m:t>2</m:t>
                        </m:r>
                      </m:e>
                      <m:sup>
                        <m:r>
                          <a:rPr lang="en-GB" i="1">
                            <a:latin typeface="Cambria Math"/>
                          </a:rPr>
                          <m:t>6</m:t>
                        </m:r>
                      </m:sup>
                    </m:sSup>
                    <m:r>
                      <a:rPr lang="en-GB" i="1">
                        <a:latin typeface="Cambria Math"/>
                        <a:ea typeface="Cambria Math"/>
                      </a:rPr>
                      <m:t>÷</m:t>
                    </m:r>
                    <m:sSup>
                      <m:sSupPr>
                        <m:ctrlPr>
                          <a:rPr lang="en-GB" i="1">
                            <a:latin typeface="Cambria Math"/>
                            <a:ea typeface="Cambria Math"/>
                          </a:rPr>
                        </m:ctrlPr>
                      </m:sSupPr>
                      <m:e>
                        <m:r>
                          <a:rPr lang="en-GB" i="1">
                            <a:latin typeface="Cambria Math"/>
                            <a:ea typeface="Cambria Math"/>
                          </a:rPr>
                          <m:t>2</m:t>
                        </m:r>
                      </m:e>
                      <m:sup>
                        <m:r>
                          <a:rPr lang="en-GB" i="1">
                            <a:latin typeface="Cambria Math"/>
                            <a:ea typeface="Cambria Math"/>
                          </a:rPr>
                          <m:t>2</m:t>
                        </m:r>
                      </m:sup>
                    </m:sSup>
                  </m:oMath>
                </a14:m>
                <a:r>
                  <a:rPr lang="en-GB" i="1" dirty="0">
                    <a:latin typeface="Cambria Math"/>
                    <a:ea typeface="Cambria Math"/>
                  </a:rPr>
                  <a:t>		</a:t>
                </a:r>
                <a:r>
                  <a:rPr lang="en-GB" dirty="0"/>
                  <a:t>c)</a:t>
                </a:r>
                <a:r>
                  <a:rPr lang="en-GB" dirty="0">
                    <a:latin typeface="Cambria Math"/>
                    <a:ea typeface="Cambria Math"/>
                  </a:rPr>
                  <a:t>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sSup>
                              <m:sSupPr>
                                <m:ctrlPr>
                                  <a:rPr lang="en-GB" i="1">
                                    <a:latin typeface="Cambria Math"/>
                                  </a:rPr>
                                </m:ctrlPr>
                              </m:sSupPr>
                              <m:e>
                                <m:r>
                                  <a:rPr lang="en-GB" i="1">
                                    <a:latin typeface="Cambria Math"/>
                                  </a:rPr>
                                  <m:t>2</m:t>
                                </m:r>
                              </m:e>
                              <m:sup>
                                <m:r>
                                  <a:rPr lang="en-GB" i="1">
                                    <a:latin typeface="Cambria Math"/>
                                  </a:rPr>
                                  <m:t>3</m:t>
                                </m:r>
                              </m:sup>
                            </m:sSup>
                          </m:e>
                        </m:d>
                      </m:e>
                      <m:sup>
                        <m:r>
                          <a:rPr lang="en-GB" i="1">
                            <a:latin typeface="Cambria Math"/>
                          </a:rPr>
                          <m:t>2</m:t>
                        </m:r>
                      </m:sup>
                    </m:sSup>
                  </m:oMath>
                </a14:m>
                <a:endParaRPr lang="en-GB" dirty="0"/>
              </a:p>
              <a:p>
                <a:pPr marL="800100" lvl="1" indent="-342900">
                  <a:buFont typeface="+mj-lt"/>
                  <a:buAutoNum type="alphaLcParenR"/>
                </a:pPr>
                <a:endParaRPr lang="en-GB" dirty="0"/>
              </a:p>
              <a:p>
                <a:pPr marL="342900" indent="-342900">
                  <a:buAutoNum type="arabicParenR"/>
                </a:pPr>
                <a:r>
                  <a:rPr lang="en-GB" dirty="0"/>
                  <a:t>Expand:</a:t>
                </a:r>
              </a:p>
              <a:p>
                <a:pPr marL="800100" lvl="1" indent="-342900">
                  <a:buFont typeface="+mj-lt"/>
                  <a:buAutoNum type="alphaLcParenR"/>
                </a:pPr>
                <a:r>
                  <a:rPr lang="en-GB" dirty="0"/>
                  <a:t> </a:t>
                </a:r>
                <a14:m>
                  <m:oMath xmlns:m="http://schemas.openxmlformats.org/officeDocument/2006/math">
                    <m:r>
                      <a:rPr lang="en-GB" i="1">
                        <a:latin typeface="Cambria Math"/>
                      </a:rPr>
                      <m:t>3</m:t>
                    </m:r>
                    <m:d>
                      <m:dPr>
                        <m:ctrlPr>
                          <a:rPr lang="en-GB" i="1">
                            <a:latin typeface="Cambria Math"/>
                          </a:rPr>
                        </m:ctrlPr>
                      </m:dPr>
                      <m:e>
                        <m:r>
                          <a:rPr lang="en-GB" i="1">
                            <a:latin typeface="Cambria Math"/>
                          </a:rPr>
                          <m:t>𝑥</m:t>
                        </m:r>
                        <m:r>
                          <a:rPr lang="en-GB" i="1">
                            <a:latin typeface="Cambria Math"/>
                          </a:rPr>
                          <m:t>+4</m:t>
                        </m:r>
                      </m:e>
                    </m:d>
                  </m:oMath>
                </a14:m>
                <a:r>
                  <a:rPr lang="en-GB" dirty="0"/>
                  <a:t>		b)</a:t>
                </a:r>
                <a:r>
                  <a:rPr lang="en-GB" i="1" dirty="0"/>
                  <a:t> </a:t>
                </a:r>
                <a14:m>
                  <m:oMath xmlns:m="http://schemas.openxmlformats.org/officeDocument/2006/math">
                    <m:r>
                      <a:rPr lang="en-GB" i="1">
                        <a:latin typeface="Cambria Math"/>
                      </a:rPr>
                      <m:t>5</m:t>
                    </m:r>
                    <m:d>
                      <m:dPr>
                        <m:ctrlPr>
                          <a:rPr lang="en-GB" i="1">
                            <a:latin typeface="Cambria Math"/>
                          </a:rPr>
                        </m:ctrlPr>
                      </m:dPr>
                      <m:e>
                        <m:r>
                          <a:rPr lang="en-GB" i="1">
                            <a:latin typeface="Cambria Math"/>
                          </a:rPr>
                          <m:t>2−3</m:t>
                        </m:r>
                        <m:r>
                          <a:rPr lang="en-GB" i="1">
                            <a:latin typeface="Cambria Math"/>
                          </a:rPr>
                          <m:t>𝑥</m:t>
                        </m:r>
                      </m:e>
                    </m:d>
                  </m:oMath>
                </a14:m>
                <a:r>
                  <a:rPr lang="en-GB" dirty="0"/>
                  <a:t>		c)</a:t>
                </a:r>
                <a:r>
                  <a:rPr lang="en-GB" i="1" dirty="0"/>
                  <a:t> </a:t>
                </a:r>
                <a14:m>
                  <m:oMath xmlns:m="http://schemas.openxmlformats.org/officeDocument/2006/math">
                    <m:r>
                      <a:rPr lang="en-GB" i="1">
                        <a:latin typeface="Cambria Math"/>
                      </a:rPr>
                      <m:t>6</m:t>
                    </m:r>
                    <m:d>
                      <m:dPr>
                        <m:ctrlPr>
                          <a:rPr lang="en-GB" i="1">
                            <a:latin typeface="Cambria Math"/>
                          </a:rPr>
                        </m:ctrlPr>
                      </m:dPr>
                      <m:e>
                        <m:r>
                          <a:rPr lang="en-GB" i="1">
                            <a:latin typeface="Cambria Math"/>
                          </a:rPr>
                          <m:t>2</m:t>
                        </m:r>
                        <m:r>
                          <a:rPr lang="en-GB" i="1">
                            <a:latin typeface="Cambria Math"/>
                          </a:rPr>
                          <m:t>𝑥</m:t>
                        </m:r>
                        <m:r>
                          <a:rPr lang="en-GB" i="1">
                            <a:latin typeface="Cambria Math"/>
                          </a:rPr>
                          <m:t>−5</m:t>
                        </m:r>
                        <m:r>
                          <a:rPr lang="en-GB" i="1">
                            <a:latin typeface="Cambria Math"/>
                          </a:rPr>
                          <m:t>𝑦</m:t>
                        </m:r>
                      </m:e>
                    </m:d>
                  </m:oMath>
                </a14:m>
                <a:endParaRPr lang="en-GB" dirty="0"/>
              </a:p>
              <a:p>
                <a:pPr marL="800100" lvl="1" indent="-342900">
                  <a:buFont typeface="+mj-lt"/>
                  <a:buAutoNum type="alphaLcParenR"/>
                </a:pPr>
                <a:endParaRPr lang="en-GB" dirty="0"/>
              </a:p>
              <a:p>
                <a:pPr marL="342900" indent="-342900">
                  <a:buAutoNum type="arabicParenR"/>
                </a:pPr>
                <a:r>
                  <a:rPr lang="en-GB" dirty="0"/>
                  <a:t>Write down the highest common factor of:</a:t>
                </a:r>
              </a:p>
              <a:p>
                <a:pPr marL="800100" lvl="1" indent="-342900">
                  <a:buFont typeface="+mj-lt"/>
                  <a:buAutoNum type="alphaLcParenR"/>
                </a:pPr>
                <a:r>
                  <a:rPr lang="en-GB" dirty="0"/>
                  <a:t> </a:t>
                </a:r>
                <a14:m>
                  <m:oMath xmlns:m="http://schemas.openxmlformats.org/officeDocument/2006/math">
                    <m:r>
                      <a:rPr lang="en-GB" i="1">
                        <a:latin typeface="Cambria Math"/>
                      </a:rPr>
                      <m:t>24</m:t>
                    </m:r>
                  </m:oMath>
                </a14:m>
                <a:r>
                  <a:rPr lang="en-GB" dirty="0"/>
                  <a:t> and </a:t>
                </a:r>
                <a14:m>
                  <m:oMath xmlns:m="http://schemas.openxmlformats.org/officeDocument/2006/math">
                    <m:r>
                      <a:rPr lang="en-GB" i="1">
                        <a:latin typeface="Cambria Math"/>
                      </a:rPr>
                      <m:t>16</m:t>
                    </m:r>
                  </m:oMath>
                </a14:m>
                <a:endParaRPr lang="en-GB" dirty="0"/>
              </a:p>
              <a:p>
                <a:pPr marL="800100" lvl="1" indent="-342900">
                  <a:buFont typeface="+mj-lt"/>
                  <a:buAutoNum type="alphaLcParenR"/>
                </a:pPr>
                <a:r>
                  <a:rPr lang="en-GB" dirty="0"/>
                  <a:t> </a:t>
                </a:r>
                <a14:m>
                  <m:oMath xmlns:m="http://schemas.openxmlformats.org/officeDocument/2006/math">
                    <m:r>
                      <a:rPr lang="en-GB" i="1">
                        <a:latin typeface="Cambria Math"/>
                      </a:rPr>
                      <m:t>6</m:t>
                    </m:r>
                    <m:r>
                      <a:rPr lang="en-GB" i="1">
                        <a:latin typeface="Cambria Math"/>
                      </a:rPr>
                      <m:t>𝑥</m:t>
                    </m:r>
                  </m:oMath>
                </a14:m>
                <a:r>
                  <a:rPr lang="en-GB" dirty="0"/>
                  <a:t> and </a:t>
                </a:r>
                <a14:m>
                  <m:oMath xmlns:m="http://schemas.openxmlformats.org/officeDocument/2006/math">
                    <m:r>
                      <a:rPr lang="en-GB" i="1">
                        <a:latin typeface="Cambria Math"/>
                      </a:rPr>
                      <m:t>8</m:t>
                    </m:r>
                    <m:sSup>
                      <m:sSupPr>
                        <m:ctrlPr>
                          <a:rPr lang="en-GB" i="1">
                            <a:latin typeface="Cambria Math"/>
                          </a:rPr>
                        </m:ctrlPr>
                      </m:sSupPr>
                      <m:e>
                        <m:r>
                          <a:rPr lang="en-GB" i="1">
                            <a:latin typeface="Cambria Math"/>
                          </a:rPr>
                          <m:t>𝑥</m:t>
                        </m:r>
                      </m:e>
                      <m:sup>
                        <m:r>
                          <a:rPr lang="en-GB" i="1">
                            <a:latin typeface="Cambria Math"/>
                          </a:rPr>
                          <m:t>2</m:t>
                        </m:r>
                      </m:sup>
                    </m:sSup>
                  </m:oMath>
                </a14:m>
                <a:endParaRPr lang="en-GB" dirty="0"/>
              </a:p>
              <a:p>
                <a:pPr marL="800100" lvl="1" indent="-342900">
                  <a:buFont typeface="+mj-lt"/>
                  <a:buAutoNum type="alphaLcParenR"/>
                </a:pPr>
                <a:r>
                  <a:rPr lang="en-GB" dirty="0"/>
                  <a:t> </a:t>
                </a:r>
                <a14:m>
                  <m:oMath xmlns:m="http://schemas.openxmlformats.org/officeDocument/2006/math">
                    <m:r>
                      <a:rPr lang="en-GB" i="1">
                        <a:latin typeface="Cambria Math"/>
                      </a:rPr>
                      <m:t>4</m:t>
                    </m:r>
                    <m:r>
                      <a:rPr lang="en-GB" i="1">
                        <a:latin typeface="Cambria Math"/>
                      </a:rPr>
                      <m:t>𝑥</m:t>
                    </m:r>
                    <m:sSup>
                      <m:sSupPr>
                        <m:ctrlPr>
                          <a:rPr lang="en-GB" i="1">
                            <a:latin typeface="Cambria Math"/>
                          </a:rPr>
                        </m:ctrlPr>
                      </m:sSupPr>
                      <m:e>
                        <m:r>
                          <a:rPr lang="en-GB" i="1">
                            <a:latin typeface="Cambria Math"/>
                          </a:rPr>
                          <m:t>𝑦</m:t>
                        </m:r>
                      </m:e>
                      <m:sup>
                        <m:r>
                          <a:rPr lang="en-GB" i="1">
                            <a:latin typeface="Cambria Math"/>
                          </a:rPr>
                          <m:t>2</m:t>
                        </m:r>
                      </m:sup>
                    </m:sSup>
                  </m:oMath>
                </a14:m>
                <a:r>
                  <a:rPr lang="en-GB" dirty="0"/>
                  <a:t> and </a:t>
                </a:r>
                <a14:m>
                  <m:oMath xmlns:m="http://schemas.openxmlformats.org/officeDocument/2006/math">
                    <m:r>
                      <a:rPr lang="en-GB" i="1">
                        <a:latin typeface="Cambria Math"/>
                      </a:rPr>
                      <m:t>3</m:t>
                    </m:r>
                    <m:r>
                      <a:rPr lang="en-GB" i="1">
                        <a:latin typeface="Cambria Math"/>
                      </a:rPr>
                      <m:t>𝑥𝑦</m:t>
                    </m:r>
                  </m:oMath>
                </a14:m>
                <a:endParaRPr lang="en-GB" dirty="0"/>
              </a:p>
              <a:p>
                <a:pPr marL="800100" lvl="1" indent="-342900">
                  <a:buFont typeface="+mj-lt"/>
                  <a:buAutoNum type="alphaLcParenR"/>
                </a:pPr>
                <a:endParaRPr lang="en-GB" dirty="0"/>
              </a:p>
              <a:p>
                <a:pPr marL="342900" indent="-342900">
                  <a:buAutoNum type="arabicParenR"/>
                </a:pPr>
                <a:r>
                  <a:rPr lang="en-GB" dirty="0"/>
                  <a:t>Simplify:</a:t>
                </a:r>
              </a:p>
              <a:p>
                <a:pPr marL="800100" lvl="1" indent="-342900">
                  <a:buFont typeface="+mj-lt"/>
                  <a:buAutoNum type="alphaLcParenR"/>
                </a:pPr>
                <a:r>
                  <a:rPr lang="en-GB" dirty="0"/>
                  <a:t> </a:t>
                </a:r>
                <a14:m>
                  <m:oMath xmlns:m="http://schemas.openxmlformats.org/officeDocument/2006/math">
                    <m:f>
                      <m:fPr>
                        <m:ctrlPr>
                          <a:rPr lang="en-GB" i="1">
                            <a:latin typeface="Cambria Math"/>
                          </a:rPr>
                        </m:ctrlPr>
                      </m:fPr>
                      <m:num>
                        <m:r>
                          <a:rPr lang="en-GB" i="1">
                            <a:latin typeface="Cambria Math"/>
                          </a:rPr>
                          <m:t>10</m:t>
                        </m:r>
                        <m:r>
                          <a:rPr lang="en-GB" i="1">
                            <a:latin typeface="Cambria Math"/>
                          </a:rPr>
                          <m:t>𝑥</m:t>
                        </m:r>
                      </m:num>
                      <m:den>
                        <m:r>
                          <a:rPr lang="en-GB" i="1">
                            <a:latin typeface="Cambria Math"/>
                          </a:rPr>
                          <m:t>5</m:t>
                        </m:r>
                      </m:den>
                    </m:f>
                  </m:oMath>
                </a14:m>
                <a:r>
                  <a:rPr lang="en-GB" dirty="0"/>
                  <a:t>		b) </a:t>
                </a:r>
                <a14:m>
                  <m:oMath xmlns:m="http://schemas.openxmlformats.org/officeDocument/2006/math">
                    <m:f>
                      <m:fPr>
                        <m:ctrlPr>
                          <a:rPr lang="en-GB" i="1">
                            <a:latin typeface="Cambria Math"/>
                          </a:rPr>
                        </m:ctrlPr>
                      </m:fPr>
                      <m:num>
                        <m:r>
                          <a:rPr lang="en-GB" i="1">
                            <a:latin typeface="Cambria Math"/>
                          </a:rPr>
                          <m:t>20</m:t>
                        </m:r>
                        <m:r>
                          <a:rPr lang="en-GB" i="1">
                            <a:latin typeface="Cambria Math"/>
                          </a:rPr>
                          <m:t>𝑥</m:t>
                        </m:r>
                      </m:num>
                      <m:den>
                        <m:r>
                          <a:rPr lang="en-GB" i="1">
                            <a:latin typeface="Cambria Math"/>
                          </a:rPr>
                          <m:t>2</m:t>
                        </m:r>
                      </m:den>
                    </m:f>
                  </m:oMath>
                </a14:m>
                <a:r>
                  <a:rPr lang="en-GB" dirty="0"/>
                  <a:t>			c) </a:t>
                </a:r>
                <a14:m>
                  <m:oMath xmlns:m="http://schemas.openxmlformats.org/officeDocument/2006/math">
                    <m:f>
                      <m:fPr>
                        <m:ctrlPr>
                          <a:rPr lang="en-GB" i="1">
                            <a:latin typeface="Cambria Math"/>
                          </a:rPr>
                        </m:ctrlPr>
                      </m:fPr>
                      <m:num>
                        <m:r>
                          <a:rPr lang="en-GB" i="1">
                            <a:latin typeface="Cambria Math"/>
                          </a:rPr>
                          <m:t>40</m:t>
                        </m:r>
                        <m:r>
                          <a:rPr lang="en-GB" i="1">
                            <a:latin typeface="Cambria Math"/>
                          </a:rPr>
                          <m:t>𝑥</m:t>
                        </m:r>
                      </m:num>
                      <m:den>
                        <m:r>
                          <a:rPr lang="en-GB" i="1">
                            <a:latin typeface="Cambria Math"/>
                          </a:rPr>
                          <m:t>24</m:t>
                        </m:r>
                      </m:den>
                    </m:f>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684000" y="1196752"/>
                <a:ext cx="7776000" cy="4920834"/>
              </a:xfrm>
              <a:prstGeom prst="rect">
                <a:avLst/>
              </a:prstGeom>
              <a:blipFill rotWithShape="1">
                <a:blip r:embed="rId2"/>
                <a:stretch>
                  <a:fillRect l="-627" t="-6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83568" y="1196752"/>
                <a:ext cx="7776000" cy="4921347"/>
              </a:xfrm>
              <a:prstGeom prst="rect">
                <a:avLst/>
              </a:prstGeom>
              <a:noFill/>
            </p:spPr>
            <p:txBody>
              <a:bodyPr wrap="square" rtlCol="0">
                <a:spAutoFit/>
              </a:bodyPr>
              <a:lstStyle/>
              <a:p>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2</m:t>
                    </m:r>
                    <m:sSup>
                      <m:sSupPr>
                        <m:ctrlPr>
                          <a:rPr lang="en-GB" i="1">
                            <a:solidFill>
                              <a:srgbClr val="FF0000"/>
                            </a:solidFill>
                            <a:latin typeface="Cambria Math"/>
                          </a:rPr>
                        </m:ctrlPr>
                      </m:sSupPr>
                      <m:e>
                        <m:r>
                          <a:rPr lang="en-GB" i="1">
                            <a:solidFill>
                              <a:srgbClr val="FF0000"/>
                            </a:solidFill>
                            <a:latin typeface="Cambria Math"/>
                          </a:rPr>
                          <m:t>𝑚</m:t>
                        </m:r>
                      </m:e>
                      <m:sup>
                        <m:r>
                          <a:rPr lang="en-GB" i="1">
                            <a:solidFill>
                              <a:srgbClr val="FF0000"/>
                            </a:solidFill>
                            <a:latin typeface="Cambria Math"/>
                          </a:rPr>
                          <m:t>2</m:t>
                        </m:r>
                      </m:sup>
                    </m:sSup>
                    <m:r>
                      <a:rPr lang="en-GB" i="1">
                        <a:solidFill>
                          <a:srgbClr val="FF0000"/>
                        </a:solidFill>
                        <a:latin typeface="Cambria Math"/>
                      </a:rPr>
                      <m:t>𝑛</m:t>
                    </m:r>
                    <m:r>
                      <a:rPr lang="en-GB" i="1">
                        <a:solidFill>
                          <a:srgbClr val="FF0000"/>
                        </a:solidFill>
                        <a:latin typeface="Cambria Math"/>
                      </a:rPr>
                      <m:t>+3</m:t>
                    </m:r>
                    <m:r>
                      <a:rPr lang="en-GB" i="1">
                        <a:solidFill>
                          <a:srgbClr val="FF0000"/>
                        </a:solidFill>
                        <a:latin typeface="Cambria Math"/>
                      </a:rPr>
                      <m:t>𝑚</m:t>
                    </m:r>
                    <m:sSup>
                      <m:sSupPr>
                        <m:ctrlPr>
                          <a:rPr lang="en-GB" i="1">
                            <a:solidFill>
                              <a:srgbClr val="FF0000"/>
                            </a:solidFill>
                            <a:latin typeface="Cambria Math"/>
                          </a:rPr>
                        </m:ctrlPr>
                      </m:sSupPr>
                      <m:e>
                        <m:r>
                          <a:rPr lang="en-GB" i="1">
                            <a:solidFill>
                              <a:srgbClr val="FF0000"/>
                            </a:solidFill>
                            <a:latin typeface="Cambria Math"/>
                          </a:rPr>
                          <m:t>𝑛</m:t>
                        </m:r>
                      </m:e>
                      <m:sup>
                        <m:r>
                          <a:rPr lang="en-GB" i="1">
                            <a:solidFill>
                              <a:srgbClr val="FF0000"/>
                            </a:solidFill>
                            <a:latin typeface="Cambria Math"/>
                          </a:rPr>
                          <m:t>2</m:t>
                        </m:r>
                      </m:sup>
                    </m:sSup>
                  </m:oMath>
                </a14:m>
                <a:r>
                  <a:rPr lang="en-GB" dirty="0">
                    <a:solidFill>
                      <a:srgbClr val="FF0000"/>
                    </a:solidFill>
                  </a:rPr>
                  <a:t>							</a:t>
                </a:r>
                <a14:m>
                  <m:oMath xmlns:m="http://schemas.openxmlformats.org/officeDocument/2006/math">
                    <m:r>
                      <a:rPr lang="en-GB" i="1">
                        <a:solidFill>
                          <a:srgbClr val="FF0000"/>
                        </a:solidFill>
                        <a:latin typeface="Cambria Math"/>
                      </a:rPr>
                      <m:t>6</m:t>
                    </m:r>
                    <m:sSup>
                      <m:sSupPr>
                        <m:ctrlPr>
                          <a:rPr lang="en-GB" i="1">
                            <a:solidFill>
                              <a:srgbClr val="FF0000"/>
                            </a:solidFill>
                            <a:latin typeface="Cambria Math"/>
                          </a:rPr>
                        </m:ctrlPr>
                      </m:sSupPr>
                      <m:e>
                        <m:r>
                          <a:rPr lang="en-GB" i="1">
                            <a:solidFill>
                              <a:srgbClr val="FF0000"/>
                            </a:solidFill>
                            <a:latin typeface="Cambria Math"/>
                          </a:rPr>
                          <m:t>𝑥</m:t>
                        </m:r>
                      </m:e>
                      <m:sup>
                        <m:r>
                          <a:rPr lang="en-GB" i="1">
                            <a:solidFill>
                              <a:srgbClr val="FF0000"/>
                            </a:solidFill>
                            <a:latin typeface="Cambria Math"/>
                          </a:rPr>
                          <m:t>2</m:t>
                        </m:r>
                      </m:sup>
                    </m:sSup>
                    <m:r>
                      <a:rPr lang="en-GB" i="1">
                        <a:solidFill>
                          <a:srgbClr val="FF0000"/>
                        </a:solidFill>
                        <a:latin typeface="Cambria Math"/>
                      </a:rPr>
                      <m:t>−12</m:t>
                    </m:r>
                    <m:r>
                      <a:rPr lang="en-GB" i="1">
                        <a:solidFill>
                          <a:srgbClr val="FF0000"/>
                        </a:solidFill>
                        <a:latin typeface="Cambria Math"/>
                      </a:rPr>
                      <m:t>𝑥</m:t>
                    </m:r>
                    <m:r>
                      <a:rPr lang="en-GB" i="1">
                        <a:solidFill>
                          <a:srgbClr val="FF0000"/>
                        </a:solidFill>
                        <a:latin typeface="Cambria Math"/>
                      </a:rPr>
                      <m:t> −10</m:t>
                    </m:r>
                  </m:oMath>
                </a14:m>
                <a:endParaRPr lang="en-GB" dirty="0">
                  <a:solidFill>
                    <a:srgbClr val="FF0000"/>
                  </a:solidFill>
                </a:endParaRPr>
              </a:p>
              <a:p>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sSup>
                      <m:sSupPr>
                        <m:ctrlPr>
                          <a:rPr lang="en-GB" i="1">
                            <a:solidFill>
                              <a:srgbClr val="FF0000"/>
                            </a:solidFill>
                            <a:latin typeface="Cambria Math"/>
                          </a:rPr>
                        </m:ctrlPr>
                      </m:sSupPr>
                      <m:e>
                        <m:r>
                          <a:rPr lang="en-GB" i="1">
                            <a:solidFill>
                              <a:srgbClr val="FF0000"/>
                            </a:solidFill>
                            <a:latin typeface="Cambria Math"/>
                          </a:rPr>
                          <m:t>2</m:t>
                        </m:r>
                      </m:e>
                      <m:sup>
                        <m:r>
                          <a:rPr lang="en-GB" i="1">
                            <a:solidFill>
                              <a:srgbClr val="FF0000"/>
                            </a:solidFill>
                            <a:latin typeface="Cambria Math"/>
                          </a:rPr>
                          <m:t>8</m:t>
                        </m:r>
                      </m:sup>
                    </m:sSup>
                  </m:oMath>
                </a14:m>
                <a:r>
                  <a:rPr lang="en-GB" dirty="0">
                    <a:solidFill>
                      <a:srgbClr val="FF0000"/>
                    </a:solidFill>
                  </a:rPr>
                  <a:t>		    </a:t>
                </a:r>
                <a14:m>
                  <m:oMath xmlns:m="http://schemas.openxmlformats.org/officeDocument/2006/math">
                    <m:sSup>
                      <m:sSupPr>
                        <m:ctrlPr>
                          <a:rPr lang="en-GB" i="1">
                            <a:solidFill>
                              <a:srgbClr val="FF0000"/>
                            </a:solidFill>
                            <a:latin typeface="Cambria Math"/>
                          </a:rPr>
                        </m:ctrlPr>
                      </m:sSupPr>
                      <m:e>
                        <m:r>
                          <a:rPr lang="en-GB" i="1">
                            <a:solidFill>
                              <a:srgbClr val="FF0000"/>
                            </a:solidFill>
                            <a:latin typeface="Cambria Math"/>
                          </a:rPr>
                          <m:t>2</m:t>
                        </m:r>
                      </m:e>
                      <m:sup>
                        <m:r>
                          <a:rPr lang="en-GB" i="1">
                            <a:solidFill>
                              <a:srgbClr val="FF0000"/>
                            </a:solidFill>
                            <a:latin typeface="Cambria Math"/>
                          </a:rPr>
                          <m:t>4</m:t>
                        </m:r>
                      </m:sup>
                    </m:sSup>
                  </m:oMath>
                </a14:m>
                <a:r>
                  <a:rPr lang="en-GB" dirty="0">
                    <a:solidFill>
                      <a:srgbClr val="FF0000"/>
                    </a:solidFill>
                  </a:rPr>
                  <a:t>			</a:t>
                </a:r>
                <a14:m>
                  <m:oMath xmlns:m="http://schemas.openxmlformats.org/officeDocument/2006/math">
                    <m:sSup>
                      <m:sSupPr>
                        <m:ctrlPr>
                          <a:rPr lang="en-GB" i="1">
                            <a:solidFill>
                              <a:srgbClr val="FF0000"/>
                            </a:solidFill>
                            <a:latin typeface="Cambria Math"/>
                          </a:rPr>
                        </m:ctrlPr>
                      </m:sSupPr>
                      <m:e>
                        <m:r>
                          <a:rPr lang="en-GB" i="1">
                            <a:solidFill>
                              <a:srgbClr val="FF0000"/>
                            </a:solidFill>
                            <a:latin typeface="Cambria Math"/>
                          </a:rPr>
                          <m:t>2</m:t>
                        </m:r>
                      </m:e>
                      <m:sup>
                        <m:r>
                          <a:rPr lang="en-GB" i="1">
                            <a:solidFill>
                              <a:srgbClr val="FF0000"/>
                            </a:solidFill>
                            <a:latin typeface="Cambria Math"/>
                          </a:rPr>
                          <m:t>6</m:t>
                        </m:r>
                      </m:sup>
                    </m:sSup>
                  </m:oMath>
                </a14:m>
                <a:endParaRPr lang="en-GB" dirty="0">
                  <a:solidFill>
                    <a:srgbClr val="FF0000"/>
                  </a:solidFill>
                </a:endParaRPr>
              </a:p>
              <a:p>
                <a:endParaRPr lang="en-GB" dirty="0">
                  <a:solidFill>
                    <a:srgbClr val="FF0000"/>
                  </a:solidFill>
                </a:endParaRPr>
              </a:p>
              <a:p>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3</m:t>
                    </m:r>
                    <m:r>
                      <a:rPr lang="en-GB" i="1">
                        <a:solidFill>
                          <a:srgbClr val="FF0000"/>
                        </a:solidFill>
                        <a:latin typeface="Cambria Math"/>
                      </a:rPr>
                      <m:t>𝑥</m:t>
                    </m:r>
                    <m:r>
                      <a:rPr lang="en-GB" i="1">
                        <a:solidFill>
                          <a:srgbClr val="FF0000"/>
                        </a:solidFill>
                        <a:latin typeface="Cambria Math"/>
                      </a:rPr>
                      <m:t>+12</m:t>
                    </m:r>
                  </m:oMath>
                </a14:m>
                <a:r>
                  <a:rPr lang="en-GB" dirty="0">
                    <a:solidFill>
                      <a:srgbClr val="FF0000"/>
                    </a:solidFill>
                  </a:rPr>
                  <a:t>		    </a:t>
                </a:r>
                <a14:m>
                  <m:oMath xmlns:m="http://schemas.openxmlformats.org/officeDocument/2006/math">
                    <m:r>
                      <a:rPr lang="en-GB" i="1">
                        <a:solidFill>
                          <a:srgbClr val="FF0000"/>
                        </a:solidFill>
                        <a:latin typeface="Cambria Math"/>
                      </a:rPr>
                      <m:t>10−15</m:t>
                    </m:r>
                    <m:r>
                      <a:rPr lang="en-GB" i="1">
                        <a:solidFill>
                          <a:srgbClr val="FF0000"/>
                        </a:solidFill>
                        <a:latin typeface="Cambria Math"/>
                      </a:rPr>
                      <m:t>𝑥</m:t>
                    </m:r>
                  </m:oMath>
                </a14:m>
                <a:r>
                  <a:rPr lang="en-GB" dirty="0">
                    <a:solidFill>
                      <a:srgbClr val="FF0000"/>
                    </a:solidFill>
                  </a:rPr>
                  <a:t>		    </a:t>
                </a:r>
                <a14:m>
                  <m:oMath xmlns:m="http://schemas.openxmlformats.org/officeDocument/2006/math">
                    <m:r>
                      <a:rPr lang="en-GB" i="1">
                        <a:solidFill>
                          <a:srgbClr val="FF0000"/>
                        </a:solidFill>
                        <a:latin typeface="Cambria Math"/>
                      </a:rPr>
                      <m:t>12</m:t>
                    </m:r>
                    <m:r>
                      <a:rPr lang="en-GB" i="1">
                        <a:solidFill>
                          <a:srgbClr val="FF0000"/>
                        </a:solidFill>
                        <a:latin typeface="Cambria Math"/>
                      </a:rPr>
                      <m:t>𝑥</m:t>
                    </m:r>
                    <m:r>
                      <a:rPr lang="en-GB" i="1">
                        <a:solidFill>
                          <a:srgbClr val="FF0000"/>
                        </a:solidFill>
                        <a:latin typeface="Cambria Math"/>
                      </a:rPr>
                      <m:t>−30</m:t>
                    </m:r>
                    <m:r>
                      <a:rPr lang="en-GB" i="1">
                        <a:solidFill>
                          <a:srgbClr val="FF0000"/>
                        </a:solidFill>
                        <a:latin typeface="Cambria Math"/>
                      </a:rPr>
                      <m:t>𝑦</m:t>
                    </m:r>
                  </m:oMath>
                </a14:m>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8</m:t>
                    </m:r>
                  </m:oMath>
                </a14:m>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2</m:t>
                    </m:r>
                    <m:r>
                      <a:rPr lang="en-GB" i="1">
                        <a:solidFill>
                          <a:srgbClr val="FF0000"/>
                        </a:solidFill>
                        <a:latin typeface="Cambria Math"/>
                      </a:rPr>
                      <m:t>𝑥</m:t>
                    </m:r>
                  </m:oMath>
                </a14:m>
                <a:endParaRPr lang="en-GB" dirty="0">
                  <a:solidFill>
                    <a:srgbClr val="FF0000"/>
                  </a:solidFill>
                </a:endParaRPr>
              </a:p>
              <a:p>
                <a:r>
                  <a:rPr lang="en-GB" dirty="0">
                    <a:solidFill>
                      <a:srgbClr val="FF0000"/>
                    </a:solidFill>
                  </a:rPr>
                  <a:t>			</a:t>
                </a:r>
                <a14:m>
                  <m:oMath xmlns:m="http://schemas.openxmlformats.org/officeDocument/2006/math">
                    <m:r>
                      <a:rPr lang="en-GB" i="1">
                        <a:solidFill>
                          <a:srgbClr val="FF0000"/>
                        </a:solidFill>
                        <a:latin typeface="Cambria Math"/>
                      </a:rPr>
                      <m:t>𝑥𝑦</m:t>
                    </m:r>
                  </m:oMath>
                </a14:m>
                <a:endParaRPr lang="en-GB" dirty="0">
                  <a:solidFill>
                    <a:srgbClr val="FF0000"/>
                  </a:solidFill>
                </a:endParaRPr>
              </a:p>
              <a:p>
                <a:endParaRPr lang="en-GB" dirty="0">
                  <a:solidFill>
                    <a:srgbClr val="FF0000"/>
                  </a:solidFill>
                </a:endParaRPr>
              </a:p>
              <a:p>
                <a:endParaRPr lang="en-GB" dirty="0">
                  <a:solidFill>
                    <a:srgbClr val="FF0000"/>
                  </a:solidFill>
                </a:endParaRPr>
              </a:p>
              <a:p>
                <a:r>
                  <a:rPr lang="en-GB" dirty="0">
                    <a:solidFill>
                      <a:srgbClr val="FF0000"/>
                    </a:solidFill>
                  </a:rPr>
                  <a:t>	        </a:t>
                </a:r>
                <a14:m>
                  <m:oMath xmlns:m="http://schemas.openxmlformats.org/officeDocument/2006/math">
                    <m:r>
                      <a:rPr lang="en-GB" b="0" i="1" smtClean="0">
                        <a:solidFill>
                          <a:srgbClr val="FF0000"/>
                        </a:solidFill>
                        <a:latin typeface="Cambria Math"/>
                      </a:rPr>
                      <m:t>2</m:t>
                    </m:r>
                    <m:r>
                      <a:rPr lang="en-GB" i="1">
                        <a:solidFill>
                          <a:srgbClr val="FF0000"/>
                        </a:solidFill>
                        <a:latin typeface="Cambria Math"/>
                      </a:rPr>
                      <m:t>𝑥</m:t>
                    </m:r>
                  </m:oMath>
                </a14:m>
                <a:r>
                  <a:rPr lang="en-GB" dirty="0">
                    <a:solidFill>
                      <a:srgbClr val="FF0000"/>
                    </a:solidFill>
                  </a:rPr>
                  <a:t>		              </a:t>
                </a:r>
                <a14:m>
                  <m:oMath xmlns:m="http://schemas.openxmlformats.org/officeDocument/2006/math">
                    <m:r>
                      <a:rPr lang="en-GB" i="1">
                        <a:solidFill>
                          <a:srgbClr val="FF0000"/>
                        </a:solidFill>
                        <a:latin typeface="Cambria Math"/>
                      </a:rPr>
                      <m:t>10</m:t>
                    </m:r>
                    <m:r>
                      <a:rPr lang="en-GB" i="1">
                        <a:solidFill>
                          <a:srgbClr val="FF0000"/>
                        </a:solidFill>
                        <a:latin typeface="Cambria Math"/>
                      </a:rPr>
                      <m:t>𝑥</m:t>
                    </m:r>
                  </m:oMath>
                </a14:m>
                <a:r>
                  <a:rPr lang="en-GB" dirty="0">
                    <a:solidFill>
                      <a:srgbClr val="FF0000"/>
                    </a:solidFill>
                  </a:rPr>
                  <a:t>		             </a:t>
                </a:r>
                <a14:m>
                  <m:oMath xmlns:m="http://schemas.openxmlformats.org/officeDocument/2006/math">
                    <m:f>
                      <m:fPr>
                        <m:ctrlPr>
                          <a:rPr lang="en-GB" i="1">
                            <a:solidFill>
                              <a:srgbClr val="FF0000"/>
                            </a:solidFill>
                            <a:latin typeface="Cambria Math"/>
                          </a:rPr>
                        </m:ctrlPr>
                      </m:fPr>
                      <m:num>
                        <m:r>
                          <a:rPr lang="en-GB" i="1">
                            <a:solidFill>
                              <a:srgbClr val="FF0000"/>
                            </a:solidFill>
                            <a:latin typeface="Cambria Math"/>
                          </a:rPr>
                          <m:t>5</m:t>
                        </m:r>
                        <m:r>
                          <a:rPr lang="en-GB" i="1">
                            <a:solidFill>
                              <a:srgbClr val="FF0000"/>
                            </a:solidFill>
                            <a:latin typeface="Cambria Math"/>
                          </a:rPr>
                          <m:t>𝑥</m:t>
                        </m:r>
                      </m:num>
                      <m:den>
                        <m:r>
                          <a:rPr lang="en-GB" i="1">
                            <a:solidFill>
                              <a:srgbClr val="FF0000"/>
                            </a:solidFill>
                            <a:latin typeface="Cambria Math"/>
                          </a:rPr>
                          <m:t>3</m:t>
                        </m:r>
                      </m:den>
                    </m:f>
                  </m:oMath>
                </a14:m>
                <a:endParaRPr lang="en-GB"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83568" y="1196752"/>
                <a:ext cx="7776000" cy="4921347"/>
              </a:xfrm>
              <a:prstGeom prst="rect">
                <a:avLst/>
              </a:prstGeom>
              <a:blipFill>
                <a:blip r:embed="rId3"/>
                <a:stretch>
                  <a:fillRect/>
                </a:stretch>
              </a:blipFill>
            </p:spPr>
            <p:txBody>
              <a:bodyPr/>
              <a:lstStyle/>
              <a:p>
                <a:r>
                  <a:rPr lang="en-GB">
                    <a:noFill/>
                  </a:rPr>
                  <a:t> </a:t>
                </a:r>
              </a:p>
            </p:txBody>
          </p:sp>
        </mc:Fallback>
      </mc:AlternateContent>
      <p:sp>
        <p:nvSpPr>
          <p:cNvPr id="2" name="Title 1"/>
          <p:cNvSpPr>
            <a:spLocks noGrp="1"/>
          </p:cNvSpPr>
          <p:nvPr>
            <p:ph type="title" idx="4294967295"/>
          </p:nvPr>
        </p:nvSpPr>
        <p:spPr>
          <a:xfrm>
            <a:off x="0" y="73504"/>
            <a:ext cx="9144000" cy="475176"/>
          </a:xfr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p>
            <a:pPr algn="l"/>
            <a:r>
              <a:rPr lang="en-GB" sz="3200" dirty="0">
                <a:solidFill>
                  <a:schemeClr val="lt1"/>
                </a:solidFill>
                <a:ea typeface="+mn-ea"/>
                <a:cs typeface="+mn-cs"/>
              </a:rPr>
              <a:t> Algebraic Expression Starter</a:t>
            </a:r>
          </a:p>
        </p:txBody>
      </p:sp>
    </p:spTree>
    <p:extLst>
      <p:ext uri="{BB962C8B-B14F-4D97-AF65-F5344CB8AC3E}">
        <p14:creationId xmlns:p14="http://schemas.microsoft.com/office/powerpoint/2010/main" val="429050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27384"/>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Chapter Overview</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23528" y="764704"/>
            <a:ext cx="8136904" cy="646331"/>
          </a:xfrm>
          <a:prstGeom prst="rect">
            <a:avLst/>
          </a:prstGeom>
          <a:noFill/>
        </p:spPr>
        <p:txBody>
          <a:bodyPr wrap="square" rtlCol="0">
            <a:spAutoFit/>
          </a:bodyPr>
          <a:lstStyle/>
          <a:p>
            <a:r>
              <a:rPr lang="en-GB" dirty="0"/>
              <a:t>As a relatively gentle introduction to Pure, most of this chapter is a recap of core GCSE algebraic skills.</a:t>
            </a:r>
          </a:p>
        </p:txBody>
      </p:sp>
      <mc:AlternateContent xmlns:mc="http://schemas.openxmlformats.org/markup-compatibility/2006" xmlns:a14="http://schemas.microsoft.com/office/drawing/2010/main">
        <mc:Choice Requires="a14">
          <p:sp>
            <p:nvSpPr>
              <p:cNvPr id="6" name="TextBox 5"/>
              <p:cNvSpPr txBox="1"/>
              <p:nvPr/>
            </p:nvSpPr>
            <p:spPr>
              <a:xfrm>
                <a:off x="1403648" y="1987157"/>
                <a:ext cx="2232248" cy="92903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a:t>
                </a:r>
              </a:p>
              <a:p>
                <a:pP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−6</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5</m:t>
                              </m:r>
                            </m:sup>
                          </m:sSup>
                        </m:num>
                        <m:den>
                          <m:r>
                            <a:rPr lang="en-GB" b="0" i="1" smtClean="0">
                              <a:latin typeface="Cambria Math" panose="02040503050406030204" pitchFamily="18" charset="0"/>
                            </a:rPr>
                            <m:t>2</m:t>
                          </m:r>
                          <m:r>
                            <a:rPr lang="en-GB" b="0" i="1" smtClean="0">
                              <a:latin typeface="Cambria Math" panose="02040503050406030204" pitchFamily="18" charset="0"/>
                            </a:rPr>
                            <m:t>𝑥</m:t>
                          </m:r>
                        </m:den>
                      </m:f>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1403648" y="1987157"/>
                <a:ext cx="2232248" cy="929037"/>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7" name="TextBox 6"/>
          <p:cNvSpPr txBox="1"/>
          <p:nvPr/>
        </p:nvSpPr>
        <p:spPr>
          <a:xfrm>
            <a:off x="1403648" y="1627117"/>
            <a:ext cx="2232248"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1</a:t>
            </a:r>
            <a:r>
              <a:rPr lang="en-GB" dirty="0"/>
              <a:t>: Basic Index Laws</a:t>
            </a:r>
          </a:p>
        </p:txBody>
      </p:sp>
      <mc:AlternateContent xmlns:mc="http://schemas.openxmlformats.org/markup-compatibility/2006" xmlns:a14="http://schemas.microsoft.com/office/drawing/2010/main">
        <mc:Choice Requires="a14">
          <p:sp>
            <p:nvSpPr>
              <p:cNvPr id="8" name="TextBox 7"/>
              <p:cNvSpPr txBox="1"/>
              <p:nvPr/>
            </p:nvSpPr>
            <p:spPr>
              <a:xfrm>
                <a:off x="4355976" y="1987157"/>
                <a:ext cx="223224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Expand and simplify</a:t>
                </a:r>
              </a:p>
              <a:p>
                <a:pPr/>
                <a14:m>
                  <m:oMathPara xmlns:m="http://schemas.openxmlformats.org/officeDocument/2006/math">
                    <m:o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4355976" y="1987157"/>
                <a:ext cx="2232248" cy="646331"/>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9" name="TextBox 8"/>
          <p:cNvSpPr txBox="1"/>
          <p:nvPr/>
        </p:nvSpPr>
        <p:spPr>
          <a:xfrm>
            <a:off x="4355976" y="1617825"/>
            <a:ext cx="2232248"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2</a:t>
            </a:r>
            <a:r>
              <a:rPr lang="en-GB" dirty="0"/>
              <a:t>: Expand brackets</a:t>
            </a:r>
          </a:p>
        </p:txBody>
      </p:sp>
      <mc:AlternateContent xmlns:mc="http://schemas.openxmlformats.org/markup-compatibility/2006" xmlns:a14="http://schemas.microsoft.com/office/drawing/2010/main">
        <mc:Choice Requires="a14">
          <p:sp>
            <p:nvSpPr>
              <p:cNvPr id="10" name="TextBox 9"/>
              <p:cNvSpPr txBox="1"/>
              <p:nvPr/>
            </p:nvSpPr>
            <p:spPr>
              <a:xfrm>
                <a:off x="323528" y="3852356"/>
                <a:ext cx="3024336"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Factorise fully:</a:t>
                </a:r>
              </a:p>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−16</m:t>
                      </m:r>
                      <m:r>
                        <a:rPr lang="en-GB" b="0" i="1" smtClean="0">
                          <a:latin typeface="Cambria Math" panose="02040503050406030204" pitchFamily="18" charset="0"/>
                        </a:rPr>
                        <m:t>𝑥</m:t>
                      </m:r>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323528" y="3852356"/>
                <a:ext cx="3024336" cy="646331"/>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1" name="TextBox 10"/>
          <p:cNvSpPr txBox="1"/>
          <p:nvPr/>
        </p:nvSpPr>
        <p:spPr>
          <a:xfrm>
            <a:off x="323528" y="3492316"/>
            <a:ext cx="3024336"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3</a:t>
            </a:r>
            <a:r>
              <a:rPr lang="en-GB" dirty="0"/>
              <a:t>: Factorise quadratics/</a:t>
            </a:r>
            <a:r>
              <a:rPr lang="en-GB" dirty="0" err="1"/>
              <a:t>cubics</a:t>
            </a:r>
            <a:endParaRPr lang="en-GB" dirty="0"/>
          </a:p>
        </p:txBody>
      </p:sp>
      <mc:AlternateContent xmlns:mc="http://schemas.openxmlformats.org/markup-compatibility/2006" xmlns:a14="http://schemas.microsoft.com/office/drawing/2010/main">
        <mc:Choice Requires="a14">
          <p:sp>
            <p:nvSpPr>
              <p:cNvPr id="12" name="TextBox 11"/>
              <p:cNvSpPr txBox="1"/>
              <p:nvPr/>
            </p:nvSpPr>
            <p:spPr>
              <a:xfrm>
                <a:off x="4860032" y="3468712"/>
                <a:ext cx="3240360" cy="114480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Evaluate:</a:t>
                </a:r>
              </a:p>
              <a:p>
                <a:pPr/>
                <a14:m>
                  <m:oMathPara xmlns:m="http://schemas.openxmlformats.org/officeDocument/2006/math">
                    <m:o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27</m:t>
                                  </m:r>
                                </m:num>
                                <m:den>
                                  <m:r>
                                    <a:rPr lang="en-GB" b="0" i="1" smtClean="0">
                                      <a:latin typeface="Cambria Math" panose="02040503050406030204" pitchFamily="18" charset="0"/>
                                    </a:rPr>
                                    <m:t>8</m:t>
                                  </m:r>
                                </m:den>
                              </m:f>
                            </m:e>
                          </m:d>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sup>
                      </m:sSup>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4860032" y="3468712"/>
                <a:ext cx="3240360" cy="1144801"/>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3" name="TextBox 12"/>
          <p:cNvSpPr txBox="1"/>
          <p:nvPr/>
        </p:nvSpPr>
        <p:spPr>
          <a:xfrm>
            <a:off x="4860032" y="3108672"/>
            <a:ext cx="324036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4</a:t>
            </a:r>
            <a:r>
              <a:rPr lang="en-GB" dirty="0"/>
              <a:t>: Fractional/Negative Powers</a:t>
            </a:r>
          </a:p>
        </p:txBody>
      </p:sp>
      <mc:AlternateContent xmlns:mc="http://schemas.openxmlformats.org/markup-compatibility/2006" xmlns:a14="http://schemas.microsoft.com/office/drawing/2010/main">
        <mc:Choice Requires="a14">
          <p:sp>
            <p:nvSpPr>
              <p:cNvPr id="15" name="TextBox 14"/>
              <p:cNvSpPr txBox="1"/>
              <p:nvPr/>
            </p:nvSpPr>
            <p:spPr>
              <a:xfrm>
                <a:off x="3635896" y="5448737"/>
                <a:ext cx="2232248" cy="121860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Rationalise the denominator of</a:t>
                </a:r>
              </a:p>
              <a:p>
                <a:pP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den>
                      </m:f>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3635896" y="5448737"/>
                <a:ext cx="2232248" cy="1218603"/>
              </a:xfrm>
              <a:prstGeom prst="rect">
                <a:avLst/>
              </a:prstGeom>
              <a:blipFill>
                <a:blip r:embed="rId6"/>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6" name="TextBox 15"/>
          <p:cNvSpPr txBox="1"/>
          <p:nvPr/>
        </p:nvSpPr>
        <p:spPr>
          <a:xfrm>
            <a:off x="3635896" y="5088697"/>
            <a:ext cx="2232248"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5</a:t>
            </a:r>
            <a:r>
              <a:rPr lang="en-GB" dirty="0"/>
              <a:t>: Surds</a:t>
            </a:r>
          </a:p>
        </p:txBody>
      </p:sp>
    </p:spTree>
    <p:extLst>
      <p:ext uri="{BB962C8B-B14F-4D97-AF65-F5344CB8AC3E}">
        <p14:creationId xmlns:p14="http://schemas.microsoft.com/office/powerpoint/2010/main" val="380805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1: Index Laws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5796136" y="945757"/>
                <a:ext cx="2808312" cy="147732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p>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up>
                      </m:sSup>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up>
                      </m:sSup>
                    </m:oMath>
                    <m:o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e>
                          </m:d>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𝑚𝑛</m:t>
                          </m:r>
                        </m:sup>
                      </m:sSup>
                    </m:oMath>
                    <m:o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𝑎𝑏</m:t>
                              </m:r>
                            </m:e>
                          </m:d>
                        </m:e>
                        <m:sup>
                          <m:r>
                            <a:rPr lang="en-GB" b="0" i="1" smtClean="0">
                              <a:latin typeface="Cambria Math" panose="02040503050406030204" pitchFamily="18" charset="0"/>
                            </a:rPr>
                            <m:t>𝑛</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𝑛</m:t>
                          </m:r>
                        </m:sup>
                      </m:sSup>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5796136" y="945757"/>
                <a:ext cx="2808312" cy="1477328"/>
              </a:xfrm>
              <a:prstGeom prst="rect">
                <a:avLst/>
              </a:prstGeom>
              <a:blipFill>
                <a:blip r:embed="rId2"/>
                <a:stretch>
                  <a:fillRect l="-1509" t="-12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556037" y="1291259"/>
                <a:ext cx="1872208" cy="839397"/>
              </a:xfrm>
              <a:prstGeom prst="rect">
                <a:avLst/>
              </a:prstGeom>
              <a:noFill/>
            </p:spPr>
            <p:txBody>
              <a:bodyPr wrap="square" rtlCol="0">
                <a:spAutoFit/>
              </a:bodyPr>
              <a:lstStyle/>
              <a:p>
                <a:pPr/>
                <a14:m>
                  <m:oMathPara xmlns:m="http://schemas.openxmlformats.org/officeDocument/2006/math">
                    <m:oMath>
                      <m:sSup>
                        <m:sSupPr>
                          <m:ctrlPr>
                            <a:rPr lang="en-GB" sz="4800" b="0" i="1" smtClean="0">
                              <a:latin typeface="Cambria Math" panose="02040503050406030204" pitchFamily="18" charset="0"/>
                            </a:rPr>
                          </m:ctrlPr>
                        </m:sSupPr>
                        <m:e>
                          <m:r>
                            <a:rPr lang="en-GB" sz="4800" b="0" i="1" smtClean="0">
                              <a:latin typeface="Cambria Math" panose="02040503050406030204" pitchFamily="18" charset="0"/>
                            </a:rPr>
                            <m:t>3</m:t>
                          </m:r>
                        </m:e>
                        <m:sup>
                          <m:r>
                            <a:rPr lang="en-GB" sz="4800" b="0" i="1" smtClean="0">
                              <a:latin typeface="Cambria Math" panose="02040503050406030204" pitchFamily="18" charset="0"/>
                            </a:rPr>
                            <m:t>5</m:t>
                          </m:r>
                        </m:sup>
                      </m:sSup>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1556037" y="1291259"/>
                <a:ext cx="1872208" cy="839397"/>
              </a:xfrm>
              <a:prstGeom prst="rect">
                <a:avLst/>
              </a:prstGeom>
              <a:blipFill>
                <a:blip r:embed="rId3"/>
                <a:stretch>
                  <a:fillRect/>
                </a:stretch>
              </a:blipFill>
            </p:spPr>
            <p:txBody>
              <a:bodyPr/>
              <a:lstStyle/>
              <a:p>
                <a:r>
                  <a:rPr lang="en-GB">
                    <a:noFill/>
                  </a:rPr>
                  <a:t> </a:t>
                </a:r>
              </a:p>
            </p:txBody>
          </p:sp>
        </mc:Fallback>
      </mc:AlternateContent>
      <p:sp>
        <p:nvSpPr>
          <p:cNvPr id="7" name="TextBox 6"/>
          <p:cNvSpPr txBox="1"/>
          <p:nvPr/>
        </p:nvSpPr>
        <p:spPr>
          <a:xfrm>
            <a:off x="912713" y="1076617"/>
            <a:ext cx="792088" cy="369332"/>
          </a:xfrm>
          <a:prstGeom prst="rect">
            <a:avLst/>
          </a:prstGeom>
          <a:noFill/>
        </p:spPr>
        <p:txBody>
          <a:bodyPr wrap="square" rtlCol="0">
            <a:spAutoFit/>
          </a:bodyPr>
          <a:lstStyle/>
          <a:p>
            <a:r>
              <a:rPr lang="en-GB" dirty="0"/>
              <a:t>base</a:t>
            </a:r>
          </a:p>
        </p:txBody>
      </p:sp>
      <p:cxnSp>
        <p:nvCxnSpPr>
          <p:cNvPr id="9" name="Straight Arrow Connector 8"/>
          <p:cNvCxnSpPr>
            <a:stCxn id="7" idx="2"/>
          </p:cNvCxnSpPr>
          <p:nvPr/>
        </p:nvCxnSpPr>
        <p:spPr>
          <a:xfrm>
            <a:off x="1308757" y="1445949"/>
            <a:ext cx="832864" cy="238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168206" y="798014"/>
            <a:ext cx="2089593" cy="646331"/>
          </a:xfrm>
          <a:prstGeom prst="rect">
            <a:avLst/>
          </a:prstGeom>
          <a:noFill/>
        </p:spPr>
        <p:txBody>
          <a:bodyPr wrap="square" rtlCol="0">
            <a:spAutoFit/>
          </a:bodyPr>
          <a:lstStyle/>
          <a:p>
            <a:r>
              <a:rPr lang="en-GB" dirty="0"/>
              <a:t>exponent or index (plural: indices)</a:t>
            </a:r>
          </a:p>
        </p:txBody>
      </p:sp>
      <p:cxnSp>
        <p:nvCxnSpPr>
          <p:cNvPr id="11" name="Straight Arrow Connector 10"/>
          <p:cNvCxnSpPr/>
          <p:nvPr/>
        </p:nvCxnSpPr>
        <p:spPr>
          <a:xfrm flipH="1">
            <a:off x="2827421" y="1311442"/>
            <a:ext cx="360947" cy="264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84102" y="2545243"/>
            <a:ext cx="5262818" cy="954107"/>
          </a:xfrm>
          <a:prstGeom prst="rect">
            <a:avLst/>
          </a:prstGeom>
          <a:noFill/>
        </p:spPr>
        <p:txBody>
          <a:bodyPr wrap="square" rtlCol="0">
            <a:spAutoFit/>
          </a:bodyPr>
          <a:lstStyle/>
          <a:p>
            <a:r>
              <a:rPr lang="en-GB" sz="1400" dirty="0"/>
              <a:t>Some also refer to the 5 as the ‘power’. But this would lead to unfortunate ambiguous phrases like “when we multiply two powers together, we add the powers” instead of “when we multiply two powers together, we add the indices”.</a:t>
            </a:r>
          </a:p>
        </p:txBody>
      </p:sp>
      <p:cxnSp>
        <p:nvCxnSpPr>
          <p:cNvPr id="16" name="Straight Connector 15"/>
          <p:cNvCxnSpPr/>
          <p:nvPr/>
        </p:nvCxnSpPr>
        <p:spPr>
          <a:xfrm>
            <a:off x="0" y="3573016"/>
            <a:ext cx="91440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383323" y="3740127"/>
                <a:ext cx="361876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3</m:t>
                                </m:r>
                              </m:sup>
                            </m:sSup>
                          </m:e>
                        </m:d>
                      </m:e>
                      <m:sup>
                        <m:r>
                          <a:rPr lang="en-GB" b="0" i="1" smtClean="0">
                            <a:latin typeface="Cambria Math" panose="02040503050406030204" pitchFamily="18" charset="0"/>
                          </a:rPr>
                          <m:t>2</m:t>
                        </m:r>
                      </m:sup>
                    </m:sSup>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oMath>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383323" y="3740127"/>
                <a:ext cx="3618765" cy="369332"/>
              </a:xfrm>
              <a:prstGeom prst="rect">
                <a:avLst/>
              </a:prstGeom>
              <a:blipFill>
                <a:blip r:embed="rId5"/>
                <a:stretch>
                  <a:fillRect b="-476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83323" y="4221088"/>
                <a:ext cx="2784884"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6</m:t>
                          </m:r>
                        </m:sup>
                      </m:sSup>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8</m:t>
                          </m:r>
                        </m:sup>
                      </m:sSup>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383323" y="4221088"/>
                <a:ext cx="2784884"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571428" y="3740127"/>
                <a:ext cx="361876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𝑦</m:t>
                            </m:r>
                          </m:e>
                        </m:d>
                      </m:e>
                      <m:sup>
                        <m:r>
                          <a:rPr lang="en-GB" b="0" i="1" smtClean="0">
                            <a:latin typeface="Cambria Math" panose="02040503050406030204" pitchFamily="18" charset="0"/>
                          </a:rPr>
                          <m:t>3</m:t>
                        </m:r>
                      </m:sup>
                    </m:sSup>
                  </m:oMath>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4571428" y="3740127"/>
                <a:ext cx="3618765" cy="369332"/>
              </a:xfrm>
              <a:prstGeom prst="rect">
                <a:avLst/>
              </a:prstGeom>
              <a:blipFill>
                <a:blip r:embed="rId7"/>
                <a:stretch>
                  <a:fillRect b="-476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571428" y="4221088"/>
                <a:ext cx="2784884"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=64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9</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𝑦</m:t>
                          </m:r>
                        </m:e>
                        <m:sup>
                          <m:r>
                            <a:rPr lang="en-GB" b="0" i="1" smtClean="0">
                              <a:latin typeface="Cambria Math" panose="02040503050406030204" pitchFamily="18" charset="0"/>
                            </a:rPr>
                            <m:t>3</m:t>
                          </m:r>
                        </m:sup>
                      </m:sSup>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4571428" y="4221088"/>
                <a:ext cx="2784884" cy="369332"/>
              </a:xfrm>
              <a:prstGeom prst="rect">
                <a:avLst/>
              </a:prstGeom>
              <a:blipFill>
                <a:blip r:embed="rId8"/>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3322" y="4915770"/>
                <a:ext cx="361876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3+5</m:t>
                        </m:r>
                        <m:r>
                          <a:rPr lang="en-GB" b="0" i="1" smtClean="0">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e>
                    </m:d>
                  </m:oMath>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383322" y="4915770"/>
                <a:ext cx="3618765" cy="369332"/>
              </a:xfrm>
              <a:prstGeom prst="rect">
                <a:avLst/>
              </a:prstGeom>
              <a:blipFill>
                <a:blip r:embed="rId9"/>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63797" y="5447718"/>
                <a:ext cx="2784884"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=6</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+10</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oMath>
                    <m:oMath>
                      <m:r>
                        <a:rPr lang="en-GB" b="0" i="1" smtClean="0">
                          <a:latin typeface="Cambria Math" panose="02040503050406030204" pitchFamily="18" charset="0"/>
                        </a:rPr>
                        <m:t>=11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+6</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563797" y="5447718"/>
                <a:ext cx="2784884" cy="64633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4571428" y="4915770"/>
                <a:ext cx="3618765" cy="52418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−2</m:t>
                        </m:r>
                        <m:r>
                          <a:rPr lang="en-GB" b="0" i="1" smtClean="0">
                            <a:latin typeface="Cambria Math" panose="02040503050406030204" pitchFamily="18" charset="0"/>
                          </a:rPr>
                          <m:t>𝑥</m:t>
                        </m:r>
                      </m:num>
                      <m:den>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4571428" y="4915770"/>
                <a:ext cx="3618765" cy="524182"/>
              </a:xfrm>
              <a:prstGeom prst="rect">
                <a:avLst/>
              </a:prstGeom>
              <a:blipFill>
                <a:blip r:embed="rId11"/>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4595881" y="5451152"/>
                <a:ext cx="1937266" cy="1168525"/>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𝑥</m:t>
                          </m:r>
                        </m:num>
                        <m:den>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r>
                        <a:rPr lang="en-GB" b="0" i="1" smtClean="0">
                          <a:latin typeface="Cambria Math" panose="02040503050406030204" pitchFamily="18" charset="0"/>
                        </a:rPr>
                        <m:t>𝑥</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r>
                            <a:rPr lang="en-GB" b="0" i="1" smtClean="0">
                              <a:latin typeface="Cambria Math" panose="02040503050406030204" pitchFamily="18" charset="0"/>
                            </a:rPr>
                            <m:t>𝑥</m:t>
                          </m:r>
                        </m:den>
                      </m:f>
                    </m:oMath>
                  </m:oMathPara>
                </a14:m>
                <a:endParaRPr lang="en-GB" dirty="0"/>
              </a:p>
            </p:txBody>
          </p:sp>
        </mc:Choice>
        <mc:Fallback xmlns="">
          <p:sp>
            <p:nvSpPr>
              <p:cNvPr id="24" name="TextBox 23"/>
              <p:cNvSpPr txBox="1">
                <a:spLocks noRot="1" noChangeAspect="1" noMove="1" noResize="1" noEditPoints="1" noAdjustHandles="1" noChangeArrowheads="1" noChangeShapeType="1" noTextEdit="1"/>
              </p:cNvSpPr>
              <p:nvPr/>
            </p:nvSpPr>
            <p:spPr>
              <a:xfrm>
                <a:off x="4595881" y="5451152"/>
                <a:ext cx="1937266" cy="1168525"/>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6347411" y="5709375"/>
                <a:ext cx="2700336" cy="100117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While </a:t>
                </a:r>
                <a14:m>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r>
                          <a:rPr lang="en-GB" sz="1400" b="0" i="1" smtClean="0">
                            <a:latin typeface="Cambria Math" panose="02040503050406030204" pitchFamily="18" charset="0"/>
                          </a:rPr>
                          <m:t>+</m:t>
                        </m:r>
                        <m:r>
                          <a:rPr lang="en-GB" sz="1400" b="0" i="1" smtClean="0">
                            <a:latin typeface="Cambria Math" panose="02040503050406030204" pitchFamily="18" charset="0"/>
                          </a:rPr>
                          <m:t>𝑏</m:t>
                        </m:r>
                      </m:num>
                      <m:den>
                        <m:r>
                          <a:rPr lang="en-GB" sz="1400" b="0" i="1" smtClean="0">
                            <a:latin typeface="Cambria Math" panose="02040503050406030204" pitchFamily="18" charset="0"/>
                          </a:rPr>
                          <m:t>𝑐</m:t>
                        </m:r>
                      </m:den>
                    </m:f>
                  </m:oMath>
                </a14:m>
                <a:r>
                  <a:rPr lang="en-GB" sz="1400" dirty="0"/>
                  <a:t> can be split into </a:t>
                </a:r>
                <a14:m>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𝑐</m:t>
                        </m:r>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𝑏</m:t>
                        </m:r>
                      </m:num>
                      <m:den>
                        <m:r>
                          <a:rPr lang="en-GB" sz="1400" b="0" i="1" smtClean="0">
                            <a:latin typeface="Cambria Math" panose="02040503050406030204" pitchFamily="18" charset="0"/>
                          </a:rPr>
                          <m:t>𝑐</m:t>
                        </m:r>
                      </m:den>
                    </m:f>
                  </m:oMath>
                </a14:m>
                <a:r>
                  <a:rPr lang="en-GB" sz="1400" dirty="0"/>
                  <a:t>, a common student error is to think that </a:t>
                </a:r>
                <a14:m>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𝑏</m:t>
                        </m:r>
                        <m:r>
                          <a:rPr lang="en-GB" sz="1400" b="0" i="1" smtClean="0">
                            <a:latin typeface="Cambria Math" panose="02040503050406030204" pitchFamily="18" charset="0"/>
                          </a:rPr>
                          <m:t>+</m:t>
                        </m:r>
                        <m:r>
                          <a:rPr lang="en-GB" sz="1400" b="0" i="1" smtClean="0">
                            <a:latin typeface="Cambria Math" panose="02040503050406030204" pitchFamily="18" charset="0"/>
                          </a:rPr>
                          <m:t>𝑐</m:t>
                        </m:r>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𝑏</m:t>
                        </m:r>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𝑐</m:t>
                        </m:r>
                      </m:den>
                    </m:f>
                  </m:oMath>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6347411" y="5709375"/>
                <a:ext cx="2700336" cy="1001172"/>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767263" y="5841166"/>
                <a:ext cx="1828618" cy="73866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A common student error is to get the sign wrong of </a:t>
                </a:r>
                <a14:m>
                  <m:oMath xmlns:m="http://schemas.openxmlformats.org/officeDocument/2006/math">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3</m:t>
                        </m:r>
                      </m:sup>
                    </m:sSup>
                  </m:oMath>
                </a14:m>
                <a:endParaRPr lang="en-GB" dirty="0"/>
              </a:p>
            </p:txBody>
          </p:sp>
        </mc:Choice>
        <mc:Fallback xmlns="">
          <p:sp>
            <p:nvSpPr>
              <p:cNvPr id="26" name="TextBox 25"/>
              <p:cNvSpPr txBox="1">
                <a:spLocks noRot="1" noChangeAspect="1" noMove="1" noResize="1" noEditPoints="1" noAdjustHandles="1" noChangeArrowheads="1" noChangeShapeType="1" noTextEdit="1"/>
              </p:cNvSpPr>
              <p:nvPr/>
            </p:nvSpPr>
            <p:spPr>
              <a:xfrm>
                <a:off x="2767263" y="5841166"/>
                <a:ext cx="1828618" cy="738664"/>
              </a:xfrm>
              <a:prstGeom prst="rect">
                <a:avLst/>
              </a:prstGeom>
              <a:blipFill>
                <a:blip r:embed="rId14"/>
                <a:stretch>
                  <a:fillRect b="-8197"/>
                </a:stretch>
              </a:blipFill>
            </p:spPr>
            <p:txBody>
              <a:bodyPr/>
              <a:lstStyle/>
              <a:p>
                <a:r>
                  <a:rPr lang="en-GB">
                    <a:noFill/>
                  </a:rPr>
                  <a:t> </a:t>
                </a:r>
              </a:p>
            </p:txBody>
          </p:sp>
        </mc:Fallback>
      </mc:AlternateContent>
      <p:sp>
        <p:nvSpPr>
          <p:cNvPr id="27" name="Rectangle 26"/>
          <p:cNvSpPr/>
          <p:nvPr/>
        </p:nvSpPr>
        <p:spPr>
          <a:xfrm>
            <a:off x="369657" y="4123701"/>
            <a:ext cx="3632430" cy="5346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8" name="Rectangle 27"/>
          <p:cNvSpPr/>
          <p:nvPr/>
        </p:nvSpPr>
        <p:spPr>
          <a:xfrm>
            <a:off x="4557763" y="4100377"/>
            <a:ext cx="3632430" cy="5346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9" name="Rectangle 28"/>
          <p:cNvSpPr/>
          <p:nvPr/>
        </p:nvSpPr>
        <p:spPr>
          <a:xfrm>
            <a:off x="369656" y="5304724"/>
            <a:ext cx="3632431" cy="127510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p:cNvSpPr/>
          <p:nvPr/>
        </p:nvSpPr>
        <p:spPr>
          <a:xfrm>
            <a:off x="4595881" y="5457071"/>
            <a:ext cx="3618765" cy="112275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2" name="TextBox 31"/>
          <p:cNvSpPr txBox="1"/>
          <p:nvPr/>
        </p:nvSpPr>
        <p:spPr>
          <a:xfrm>
            <a:off x="2115344" y="2075644"/>
            <a:ext cx="792088" cy="369332"/>
          </a:xfrm>
          <a:prstGeom prst="rect">
            <a:avLst/>
          </a:prstGeom>
          <a:noFill/>
        </p:spPr>
        <p:txBody>
          <a:bodyPr wrap="square" rtlCol="0">
            <a:spAutoFit/>
          </a:bodyPr>
          <a:lstStyle/>
          <a:p>
            <a:r>
              <a:rPr lang="en-GB" dirty="0"/>
              <a:t>power</a:t>
            </a:r>
          </a:p>
        </p:txBody>
      </p:sp>
      <p:sp>
        <p:nvSpPr>
          <p:cNvPr id="12" name="Left Brace 11"/>
          <p:cNvSpPr/>
          <p:nvPr/>
        </p:nvSpPr>
        <p:spPr>
          <a:xfrm rot="16200000">
            <a:off x="2414300" y="1728497"/>
            <a:ext cx="159375" cy="6355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61783002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7"/>
                                        </p:tgtEl>
                                      </p:cBhvr>
                                    </p:animEffect>
                                    <p:set>
                                      <p:cBhvr>
                                        <p:cTn id="7"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14" restart="whenNotActive" fill="hold" evtFilter="cancelBubble" nodeType="interactiveSeq">
                <p:stCondLst>
                  <p:cond evt="onClick" delay="0">
                    <p:tgtEl>
                      <p:spTgt spid="2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9"/>
                                        </p:tgtEl>
                                      </p:cBhvr>
                                    </p:animEffect>
                                    <p:set>
                                      <p:cBhvr>
                                        <p:cTn id="19" dur="1" fill="hold">
                                          <p:stCondLst>
                                            <p:cond delay="499"/>
                                          </p:stCondLst>
                                        </p:cTn>
                                        <p:tgtEl>
                                          <p:spTgt spid="29"/>
                                        </p:tgtEl>
                                        <p:attrNameLst>
                                          <p:attrName>style.visibility</p:attrName>
                                        </p:attrNameLst>
                                      </p:cBhvr>
                                      <p:to>
                                        <p:strVal val="hidden"/>
                                      </p:to>
                                    </p:se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childTnLst>
              </p:cTn>
              <p:nextCondLst>
                <p:cond evt="onClick" delay="0">
                  <p:tgtEl>
                    <p:spTgt spid="29"/>
                  </p:tgtEl>
                </p:cond>
              </p:nextCondLst>
            </p:seq>
            <p:seq concurrent="1" nextAc="seek">
              <p:cTn id="24" restart="whenNotActive" fill="hold" evtFilter="cancelBubble" nodeType="interactiveSeq">
                <p:stCondLst>
                  <p:cond evt="onClick" delay="0">
                    <p:tgtEl>
                      <p:spTgt spid="30"/>
                    </p:tgtEl>
                  </p:cond>
                </p:stCondLst>
                <p:endSync evt="end" delay="0">
                  <p:rtn val="all"/>
                </p:endSync>
                <p:childTnLst>
                  <p:par>
                    <p:cTn id="25" fill="hold">
                      <p:stCondLst>
                        <p:cond delay="0"/>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500"/>
                                        <p:tgtEl>
                                          <p:spTgt spid="30"/>
                                        </p:tgtEl>
                                      </p:cBhvr>
                                    </p:animEffect>
                                    <p:set>
                                      <p:cBhvr>
                                        <p:cTn id="29" dur="1" fill="hold">
                                          <p:stCondLst>
                                            <p:cond delay="499"/>
                                          </p:stCondLst>
                                        </p:cTn>
                                        <p:tgtEl>
                                          <p:spTgt spid="30"/>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childTnLst>
              </p:cTn>
              <p:nextCondLst>
                <p:cond evt="onClick" delay="0">
                  <p:tgtEl>
                    <p:spTgt spid="30"/>
                  </p:tgtEl>
                </p:cond>
              </p:nextCondLst>
            </p:seq>
          </p:childTnLst>
        </p:cTn>
      </p:par>
    </p:tnLst>
    <p:bldLst>
      <p:bldP spid="25" grpId="0" animBg="1"/>
      <p:bldP spid="26" grpId="0" animBg="1"/>
      <p:bldP spid="27" grpId="0" animBg="1"/>
      <p:bldP spid="28" grpId="0" animBg="1"/>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95355" y="876611"/>
                <a:ext cx="3618765" cy="58875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5</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den>
                            </m:f>
                          </m:e>
                        </m:d>
                      </m:e>
                      <m:sup>
                        <m:r>
                          <a:rPr lang="en-GB" b="0" i="1" smtClean="0">
                            <a:latin typeface="Cambria Math" panose="02040503050406030204" pitchFamily="18" charset="0"/>
                          </a:rPr>
                          <m:t>2</m:t>
                        </m:r>
                      </m:sup>
                    </m:sSup>
                    <m:r>
                      <a:rPr lang="en-GB" b="0" i="1" smtClean="0">
                        <a:latin typeface="Cambria Math" panose="02040503050406030204" pitchFamily="18" charset="0"/>
                      </a:rPr>
                      <m:t>×3</m:t>
                    </m:r>
                    <m:r>
                      <a:rPr lang="en-GB" b="0" i="1" smtClean="0">
                        <a:latin typeface="Cambria Math" panose="02040503050406030204" pitchFamily="18" charset="0"/>
                      </a:rPr>
                      <m:t>𝑎</m:t>
                    </m:r>
                  </m:oMath>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95355" y="876611"/>
                <a:ext cx="3618765" cy="58875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11560" y="1556792"/>
                <a:ext cx="2880320" cy="923330"/>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3</m:t>
                                  </m:r>
                                </m:sup>
                              </m:sSup>
                            </m:e>
                          </m:d>
                        </m:e>
                        <m:sup>
                          <m:r>
                            <a:rPr lang="en-GB" b="0" i="1" smtClean="0">
                              <a:latin typeface="Cambria Math" panose="02040503050406030204" pitchFamily="18" charset="0"/>
                            </a:rPr>
                            <m:t>2</m:t>
                          </m:r>
                        </m:sup>
                      </m:sSup>
                      <m:r>
                        <a:rPr lang="en-GB" b="0" i="1" smtClean="0">
                          <a:latin typeface="Cambria Math" panose="02040503050406030204" pitchFamily="18" charset="0"/>
                        </a:rPr>
                        <m:t>×3</m:t>
                      </m:r>
                      <m:r>
                        <a:rPr lang="en-GB" b="0" i="1" smtClean="0">
                          <a:latin typeface="Cambria Math" panose="02040503050406030204" pitchFamily="18" charset="0"/>
                        </a:rPr>
                        <m:t>𝑎</m:t>
                      </m:r>
                    </m:oMath>
                    <m:oMath>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6</m:t>
                          </m:r>
                        </m:sup>
                      </m:sSup>
                      <m:r>
                        <a:rPr lang="en-GB" b="0" i="1" smtClean="0">
                          <a:latin typeface="Cambria Math" panose="02040503050406030204" pitchFamily="18" charset="0"/>
                        </a:rPr>
                        <m:t>×3</m:t>
                      </m:r>
                      <m:r>
                        <a:rPr lang="en-GB" b="0" i="1" smtClean="0">
                          <a:latin typeface="Cambria Math" panose="02040503050406030204" pitchFamily="18" charset="0"/>
                        </a:rPr>
                        <m:t>𝑎</m:t>
                      </m:r>
                    </m:oMath>
                    <m:oMath>
                      <m:r>
                        <a:rPr lang="en-GB" b="0" i="1" smtClean="0">
                          <a:latin typeface="Cambria Math" panose="02040503050406030204" pitchFamily="18" charset="0"/>
                        </a:rPr>
                        <m:t>=12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7</m:t>
                          </m:r>
                        </m:sup>
                      </m:sSup>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611560" y="1556792"/>
                <a:ext cx="2880320" cy="92333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80285" y="2993872"/>
                <a:ext cx="4236984"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𝑥</m:t>
                        </m:r>
                      </m:sup>
                    </m:sSup>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680285" y="2993872"/>
                <a:ext cx="4236984" cy="369332"/>
              </a:xfrm>
              <a:prstGeom prst="rect">
                <a:avLst/>
              </a:prstGeom>
              <a:blipFill>
                <a:blip r:embed="rId4"/>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041233" y="3471402"/>
                <a:ext cx="2057762"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6</m:t>
                          </m:r>
                        </m:e>
                        <m:sup>
                          <m:r>
                            <a:rPr lang="en-GB" b="0" i="1" smtClean="0">
                              <a:latin typeface="Cambria Math" panose="02040503050406030204" pitchFamily="18" charset="0"/>
                            </a:rPr>
                            <m:t>𝑥</m:t>
                          </m:r>
                        </m:sup>
                      </m:sSup>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5041233" y="3471402"/>
                <a:ext cx="2057762"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516216" y="3441516"/>
                <a:ext cx="2401053"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Note: </a:t>
                </a:r>
                <a:r>
                  <a:rPr lang="en-GB" sz="1400" dirty="0"/>
                  <a:t>This is using </a:t>
                </a:r>
                <a14:m>
                  <m:oMath xmlns:m="http://schemas.openxmlformats.org/officeDocument/2006/math">
                    <m:sSup>
                      <m:sSupPr>
                        <m:ctrlPr>
                          <a:rPr lang="en-GB" sz="1400" b="0" i="1" smtClean="0">
                            <a:latin typeface="Cambria Math" panose="02040503050406030204" pitchFamily="18" charset="0"/>
                          </a:rPr>
                        </m:ctrlPr>
                      </m:sSupPr>
                      <m:e>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𝑎𝑏</m:t>
                            </m:r>
                          </m:e>
                        </m:d>
                      </m:e>
                      <m:sup>
                        <m:r>
                          <a:rPr lang="en-GB" sz="1400" b="0" i="1" smtClean="0">
                            <a:latin typeface="Cambria Math" panose="02040503050406030204" pitchFamily="18" charset="0"/>
                          </a:rPr>
                          <m:t>𝑛</m:t>
                        </m:r>
                      </m:sup>
                    </m:sSup>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𝑎</m:t>
                        </m:r>
                      </m:e>
                      <m:sup>
                        <m:r>
                          <a:rPr lang="en-GB" sz="1400" b="0" i="1" smtClean="0">
                            <a:latin typeface="Cambria Math" panose="02040503050406030204" pitchFamily="18" charset="0"/>
                          </a:rPr>
                          <m:t>𝑛</m:t>
                        </m:r>
                      </m:sup>
                    </m:sSup>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𝑏</m:t>
                        </m:r>
                      </m:e>
                      <m:sup>
                        <m:r>
                          <a:rPr lang="en-GB" sz="1400" b="0" i="1" smtClean="0">
                            <a:latin typeface="Cambria Math" panose="02040503050406030204" pitchFamily="18" charset="0"/>
                          </a:rPr>
                          <m:t>𝑛</m:t>
                        </m:r>
                      </m:sup>
                    </m:sSup>
                  </m:oMath>
                </a14:m>
                <a:r>
                  <a:rPr lang="en-GB" sz="1400" dirty="0"/>
                  <a:t> law backwards.</a:t>
                </a:r>
              </a:p>
            </p:txBody>
          </p:sp>
        </mc:Choice>
        <mc:Fallback xmlns="">
          <p:sp>
            <p:nvSpPr>
              <p:cNvPr id="9" name="TextBox 8"/>
              <p:cNvSpPr txBox="1">
                <a:spLocks noRot="1" noChangeAspect="1" noMove="1" noResize="1" noEditPoints="1" noAdjustHandles="1" noChangeArrowheads="1" noChangeShapeType="1" noTextEdit="1"/>
              </p:cNvSpPr>
              <p:nvPr/>
            </p:nvSpPr>
            <p:spPr>
              <a:xfrm>
                <a:off x="6516216" y="3441516"/>
                <a:ext cx="2401053" cy="523220"/>
              </a:xfrm>
              <a:prstGeom prst="rect">
                <a:avLst/>
              </a:prstGeom>
              <a:blipFill>
                <a:blip r:embed="rId6"/>
                <a:stretch>
                  <a:fillRect l="-521" b="-116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754470" y="892495"/>
                <a:ext cx="3618765" cy="52719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5</m:t>
                            </m:r>
                          </m:sup>
                        </m:sSup>
                      </m:num>
                      <m:den>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den>
                    </m:f>
                  </m:oMath>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4754470" y="892495"/>
                <a:ext cx="3618765" cy="527196"/>
              </a:xfrm>
              <a:prstGeom prst="rect">
                <a:avLst/>
              </a:prstGeom>
              <a:blipFill>
                <a:blip r:embed="rId7"/>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970675" y="1572676"/>
                <a:ext cx="2880320" cy="1042786"/>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m:oMathPara>
                </a14:m>
                <a:br>
                  <a:rPr lang="en-GB" b="0" dirty="0"/>
                </a:br>
                <a:endParaRPr lang="en-GB" b="0" dirty="0"/>
              </a:p>
              <a:p>
                <a:r>
                  <a:rPr lang="en-GB" dirty="0"/>
                  <a:t>or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num>
                      <m:den>
                        <m:r>
                          <a:rPr lang="en-GB" b="0" i="1" smtClean="0">
                            <a:latin typeface="Cambria Math" panose="02040503050406030204" pitchFamily="18" charset="0"/>
                          </a:rPr>
                          <m:t>4</m:t>
                        </m:r>
                      </m:den>
                    </m:f>
                  </m:oMath>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4970675" y="1572676"/>
                <a:ext cx="2880320" cy="1042786"/>
              </a:xfrm>
              <a:prstGeom prst="rect">
                <a:avLst/>
              </a:prstGeom>
              <a:blipFill>
                <a:blip r:embed="rId8"/>
                <a:stretch>
                  <a:fillRect l="-1691" b="-29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86046" y="2996952"/>
                <a:ext cx="3618765"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Expand and simplify</a:t>
                </a:r>
              </a:p>
              <a:p>
                <a:pPr/>
                <a14:m>
                  <m:oMathPara xmlns:m="http://schemas.openxmlformats.org/officeDocument/2006/math">
                    <m:oMath>
                      <m:r>
                        <a:rPr lang="en-GB" b="0" i="1" smtClean="0">
                          <a:latin typeface="Cambria Math" panose="02040503050406030204" pitchFamily="18" charset="0"/>
                        </a:rPr>
                        <m:t>2</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e>
                      </m:d>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386046" y="2996952"/>
                <a:ext cx="3618765" cy="646331"/>
              </a:xfrm>
              <a:prstGeom prst="rect">
                <a:avLst/>
              </a:prstGeom>
              <a:blipFill>
                <a:blip r:embed="rId9"/>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02251" y="3677133"/>
                <a:ext cx="2880320"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=6</m:t>
                      </m:r>
                      <m:r>
                        <a:rPr lang="en-GB" b="0" i="1" smtClean="0">
                          <a:latin typeface="Cambria Math" panose="02040503050406030204" pitchFamily="18" charset="0"/>
                        </a:rPr>
                        <m:t>𝑥</m:t>
                      </m:r>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−12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oMath>
                    <m:oMath>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r>
                        <a:rPr lang="en-GB" b="0" i="1" smtClean="0">
                          <a:latin typeface="Cambria Math" panose="02040503050406030204" pitchFamily="18" charset="0"/>
                        </a:rPr>
                        <m:t>−14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+6</m:t>
                      </m:r>
                      <m:r>
                        <a:rPr lang="en-GB" b="0" i="1" smtClean="0">
                          <a:latin typeface="Cambria Math" panose="02040503050406030204" pitchFamily="18" charset="0"/>
                        </a:rPr>
                        <m:t>𝑥</m:t>
                      </m:r>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602251" y="3677133"/>
                <a:ext cx="2880320" cy="646331"/>
              </a:xfrm>
              <a:prstGeom prst="rect">
                <a:avLst/>
              </a:prstGeom>
              <a:blipFill>
                <a:blip r:embed="rId10"/>
                <a:stretch>
                  <a:fillRect/>
                </a:stretch>
              </a:blipFill>
            </p:spPr>
            <p:txBody>
              <a:bodyPr/>
              <a:lstStyle/>
              <a:p>
                <a:r>
                  <a:rPr lang="en-GB">
                    <a:noFill/>
                  </a:rPr>
                  <a:t> </a:t>
                </a:r>
              </a:p>
            </p:txBody>
          </p:sp>
        </mc:Fallback>
      </mc:AlternateContent>
      <p:sp>
        <p:nvSpPr>
          <p:cNvPr id="14" name="Rectangle 13"/>
          <p:cNvSpPr/>
          <p:nvPr/>
        </p:nvSpPr>
        <p:spPr>
          <a:xfrm>
            <a:off x="381688" y="1464723"/>
            <a:ext cx="3632430" cy="9536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4740805" y="1429510"/>
            <a:ext cx="3632430" cy="11859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363598" y="3643283"/>
            <a:ext cx="3641213" cy="9648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4669060" y="3358973"/>
            <a:ext cx="4248209" cy="9648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107504" y="87661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9" name="Rectangle 18"/>
          <p:cNvSpPr/>
          <p:nvPr/>
        </p:nvSpPr>
        <p:spPr>
          <a:xfrm>
            <a:off x="4483007" y="87661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20" name="Rectangle 19"/>
          <p:cNvSpPr/>
          <p:nvPr/>
        </p:nvSpPr>
        <p:spPr>
          <a:xfrm>
            <a:off x="137557" y="3006459"/>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3</a:t>
            </a:r>
          </a:p>
        </p:txBody>
      </p:sp>
      <p:sp>
        <p:nvSpPr>
          <p:cNvPr id="21" name="Rectangle 20"/>
          <p:cNvSpPr/>
          <p:nvPr/>
        </p:nvSpPr>
        <p:spPr>
          <a:xfrm>
            <a:off x="4422487" y="2993872"/>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4</a:t>
            </a:r>
          </a:p>
        </p:txBody>
      </p:sp>
    </p:spTree>
    <p:extLst>
      <p:ext uri="{BB962C8B-B14F-4D97-AF65-F5344CB8AC3E}">
        <p14:creationId xmlns:p14="http://schemas.microsoft.com/office/powerpoint/2010/main" val="16752319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20" restart="whenNotActive" fill="hold" evtFilter="cancelBubble" nodeType="interactiveSeq">
                <p:stCondLst>
                  <p:cond evt="onClick" delay="0">
                    <p:tgtEl>
                      <p:spTgt spid="1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1A – Pearson Pure Y1 page 4</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25CD2091-87DC-A5F0-3C32-80036159C44D}"/>
              </a:ext>
            </a:extLst>
          </p:cNvPr>
          <p:cNvPicPr>
            <a:picLocks noChangeAspect="1"/>
          </p:cNvPicPr>
          <p:nvPr/>
        </p:nvPicPr>
        <p:blipFill>
          <a:blip r:embed="rId2"/>
          <a:stretch>
            <a:fillRect/>
          </a:stretch>
        </p:blipFill>
        <p:spPr>
          <a:xfrm>
            <a:off x="10952" y="611703"/>
            <a:ext cx="3543999" cy="369021"/>
          </a:xfrm>
          <a:prstGeom prst="rect">
            <a:avLst/>
          </a:prstGeom>
        </p:spPr>
      </p:pic>
      <p:pic>
        <p:nvPicPr>
          <p:cNvPr id="7" name="Picture 6">
            <a:extLst>
              <a:ext uri="{FF2B5EF4-FFF2-40B4-BE49-F238E27FC236}">
                <a16:creationId xmlns:a16="http://schemas.microsoft.com/office/drawing/2014/main" id="{C95E6D82-C88B-5DC7-C8CB-B504CFAE585A}"/>
              </a:ext>
            </a:extLst>
          </p:cNvPr>
          <p:cNvPicPr>
            <a:picLocks noChangeAspect="1"/>
          </p:cNvPicPr>
          <p:nvPr/>
        </p:nvPicPr>
        <p:blipFill>
          <a:blip r:embed="rId3"/>
          <a:stretch>
            <a:fillRect/>
          </a:stretch>
        </p:blipFill>
        <p:spPr>
          <a:xfrm>
            <a:off x="467544" y="1052736"/>
            <a:ext cx="7772400" cy="930086"/>
          </a:xfrm>
          <a:prstGeom prst="rect">
            <a:avLst/>
          </a:prstGeom>
        </p:spPr>
      </p:pic>
      <p:pic>
        <p:nvPicPr>
          <p:cNvPr id="9" name="Picture 8">
            <a:extLst>
              <a:ext uri="{FF2B5EF4-FFF2-40B4-BE49-F238E27FC236}">
                <a16:creationId xmlns:a16="http://schemas.microsoft.com/office/drawing/2014/main" id="{F33BC294-E130-6BB9-C00E-57EF511324CF}"/>
              </a:ext>
            </a:extLst>
          </p:cNvPr>
          <p:cNvPicPr>
            <a:picLocks noChangeAspect="1"/>
          </p:cNvPicPr>
          <p:nvPr/>
        </p:nvPicPr>
        <p:blipFill>
          <a:blip r:embed="rId4"/>
          <a:stretch>
            <a:fillRect/>
          </a:stretch>
        </p:blipFill>
        <p:spPr>
          <a:xfrm>
            <a:off x="251520" y="2004698"/>
            <a:ext cx="2664296" cy="386931"/>
          </a:xfrm>
          <a:prstGeom prst="rect">
            <a:avLst/>
          </a:prstGeom>
        </p:spPr>
      </p:pic>
      <p:pic>
        <p:nvPicPr>
          <p:cNvPr id="20" name="Picture 19">
            <a:extLst>
              <a:ext uri="{FF2B5EF4-FFF2-40B4-BE49-F238E27FC236}">
                <a16:creationId xmlns:a16="http://schemas.microsoft.com/office/drawing/2014/main" id="{B3D11572-6DDE-C119-C88B-CEB8A116DD08}"/>
              </a:ext>
            </a:extLst>
          </p:cNvPr>
          <p:cNvPicPr>
            <a:picLocks noChangeAspect="1"/>
          </p:cNvPicPr>
          <p:nvPr/>
        </p:nvPicPr>
        <p:blipFill>
          <a:blip r:embed="rId5"/>
          <a:stretch>
            <a:fillRect/>
          </a:stretch>
        </p:blipFill>
        <p:spPr>
          <a:xfrm>
            <a:off x="2915816" y="2004698"/>
            <a:ext cx="2886682" cy="376992"/>
          </a:xfrm>
          <a:prstGeom prst="rect">
            <a:avLst/>
          </a:prstGeom>
        </p:spPr>
      </p:pic>
      <p:pic>
        <p:nvPicPr>
          <p:cNvPr id="21" name="Picture 20">
            <a:extLst>
              <a:ext uri="{FF2B5EF4-FFF2-40B4-BE49-F238E27FC236}">
                <a16:creationId xmlns:a16="http://schemas.microsoft.com/office/drawing/2014/main" id="{95AD80B4-E4F6-39BD-E3EE-20CE735A1156}"/>
              </a:ext>
            </a:extLst>
          </p:cNvPr>
          <p:cNvPicPr>
            <a:picLocks noChangeAspect="1"/>
          </p:cNvPicPr>
          <p:nvPr/>
        </p:nvPicPr>
        <p:blipFill>
          <a:blip r:embed="rId6"/>
          <a:stretch>
            <a:fillRect/>
          </a:stretch>
        </p:blipFill>
        <p:spPr>
          <a:xfrm>
            <a:off x="5892233" y="1984820"/>
            <a:ext cx="2994394" cy="376992"/>
          </a:xfrm>
          <a:prstGeom prst="rect">
            <a:avLst/>
          </a:prstGeom>
        </p:spPr>
      </p:pic>
      <p:pic>
        <p:nvPicPr>
          <p:cNvPr id="22" name="Picture 21">
            <a:extLst>
              <a:ext uri="{FF2B5EF4-FFF2-40B4-BE49-F238E27FC236}">
                <a16:creationId xmlns:a16="http://schemas.microsoft.com/office/drawing/2014/main" id="{C9C44CBD-2A62-7C43-5356-975D8E59FE13}"/>
              </a:ext>
            </a:extLst>
          </p:cNvPr>
          <p:cNvPicPr>
            <a:picLocks noChangeAspect="1"/>
          </p:cNvPicPr>
          <p:nvPr/>
        </p:nvPicPr>
        <p:blipFill>
          <a:blip r:embed="rId7"/>
          <a:stretch>
            <a:fillRect/>
          </a:stretch>
        </p:blipFill>
        <p:spPr>
          <a:xfrm>
            <a:off x="266125" y="2391629"/>
            <a:ext cx="2553275" cy="789194"/>
          </a:xfrm>
          <a:prstGeom prst="rect">
            <a:avLst/>
          </a:prstGeom>
        </p:spPr>
      </p:pic>
      <p:pic>
        <p:nvPicPr>
          <p:cNvPr id="23" name="Picture 22">
            <a:extLst>
              <a:ext uri="{FF2B5EF4-FFF2-40B4-BE49-F238E27FC236}">
                <a16:creationId xmlns:a16="http://schemas.microsoft.com/office/drawing/2014/main" id="{0FC7250F-CFBB-C4AB-AED9-0D4853E99FFE}"/>
              </a:ext>
            </a:extLst>
          </p:cNvPr>
          <p:cNvPicPr>
            <a:picLocks noChangeAspect="1"/>
          </p:cNvPicPr>
          <p:nvPr/>
        </p:nvPicPr>
        <p:blipFill>
          <a:blip r:embed="rId8"/>
          <a:stretch>
            <a:fillRect/>
          </a:stretch>
        </p:blipFill>
        <p:spPr>
          <a:xfrm>
            <a:off x="2915816" y="2399160"/>
            <a:ext cx="3560636" cy="567638"/>
          </a:xfrm>
          <a:prstGeom prst="rect">
            <a:avLst/>
          </a:prstGeom>
        </p:spPr>
      </p:pic>
      <p:pic>
        <p:nvPicPr>
          <p:cNvPr id="24" name="Picture 23">
            <a:extLst>
              <a:ext uri="{FF2B5EF4-FFF2-40B4-BE49-F238E27FC236}">
                <a16:creationId xmlns:a16="http://schemas.microsoft.com/office/drawing/2014/main" id="{2A23FCCD-5EA8-C37A-6A5D-3B38F69B2728}"/>
              </a:ext>
            </a:extLst>
          </p:cNvPr>
          <p:cNvPicPr>
            <a:picLocks noChangeAspect="1"/>
          </p:cNvPicPr>
          <p:nvPr/>
        </p:nvPicPr>
        <p:blipFill>
          <a:blip r:embed="rId9"/>
          <a:stretch>
            <a:fillRect/>
          </a:stretch>
        </p:blipFill>
        <p:spPr>
          <a:xfrm>
            <a:off x="251520" y="3174563"/>
            <a:ext cx="2886682" cy="460196"/>
          </a:xfrm>
          <a:prstGeom prst="rect">
            <a:avLst/>
          </a:prstGeom>
        </p:spPr>
      </p:pic>
      <p:pic>
        <p:nvPicPr>
          <p:cNvPr id="25" name="Picture 24">
            <a:extLst>
              <a:ext uri="{FF2B5EF4-FFF2-40B4-BE49-F238E27FC236}">
                <a16:creationId xmlns:a16="http://schemas.microsoft.com/office/drawing/2014/main" id="{75660FCB-E1E6-FD3A-EC31-AD62C81CFDE8}"/>
              </a:ext>
            </a:extLst>
          </p:cNvPr>
          <p:cNvPicPr>
            <a:picLocks noChangeAspect="1"/>
          </p:cNvPicPr>
          <p:nvPr/>
        </p:nvPicPr>
        <p:blipFill>
          <a:blip r:embed="rId10"/>
          <a:stretch>
            <a:fillRect/>
          </a:stretch>
        </p:blipFill>
        <p:spPr>
          <a:xfrm>
            <a:off x="3396678" y="3174563"/>
            <a:ext cx="2349500" cy="736600"/>
          </a:xfrm>
          <a:prstGeom prst="rect">
            <a:avLst/>
          </a:prstGeom>
        </p:spPr>
      </p:pic>
      <p:pic>
        <p:nvPicPr>
          <p:cNvPr id="26" name="Picture 25">
            <a:extLst>
              <a:ext uri="{FF2B5EF4-FFF2-40B4-BE49-F238E27FC236}">
                <a16:creationId xmlns:a16="http://schemas.microsoft.com/office/drawing/2014/main" id="{D8620678-3F47-48C2-534F-724C97A6B999}"/>
              </a:ext>
            </a:extLst>
          </p:cNvPr>
          <p:cNvPicPr>
            <a:picLocks noChangeAspect="1"/>
          </p:cNvPicPr>
          <p:nvPr/>
        </p:nvPicPr>
        <p:blipFill>
          <a:blip r:embed="rId11"/>
          <a:stretch>
            <a:fillRect/>
          </a:stretch>
        </p:blipFill>
        <p:spPr>
          <a:xfrm>
            <a:off x="5802498" y="3106062"/>
            <a:ext cx="2565400" cy="774700"/>
          </a:xfrm>
          <a:prstGeom prst="rect">
            <a:avLst/>
          </a:prstGeom>
        </p:spPr>
      </p:pic>
      <p:pic>
        <p:nvPicPr>
          <p:cNvPr id="28" name="Picture 27">
            <a:extLst>
              <a:ext uri="{FF2B5EF4-FFF2-40B4-BE49-F238E27FC236}">
                <a16:creationId xmlns:a16="http://schemas.microsoft.com/office/drawing/2014/main" id="{0ACC2821-B16E-74A6-6096-FD0503C1D2E3}"/>
              </a:ext>
            </a:extLst>
          </p:cNvPr>
          <p:cNvPicPr>
            <a:picLocks noChangeAspect="1"/>
          </p:cNvPicPr>
          <p:nvPr/>
        </p:nvPicPr>
        <p:blipFill rotWithShape="1">
          <a:blip r:embed="rId12"/>
          <a:srcRect b="77791"/>
          <a:stretch/>
        </p:blipFill>
        <p:spPr>
          <a:xfrm>
            <a:off x="203820" y="4028432"/>
            <a:ext cx="5598678" cy="264984"/>
          </a:xfrm>
          <a:prstGeom prst="rect">
            <a:avLst/>
          </a:prstGeom>
        </p:spPr>
      </p:pic>
      <p:pic>
        <p:nvPicPr>
          <p:cNvPr id="31" name="Picture 30">
            <a:extLst>
              <a:ext uri="{FF2B5EF4-FFF2-40B4-BE49-F238E27FC236}">
                <a16:creationId xmlns:a16="http://schemas.microsoft.com/office/drawing/2014/main" id="{FD93AC52-98D3-78EB-BCC3-0E9A9006265D}"/>
              </a:ext>
            </a:extLst>
          </p:cNvPr>
          <p:cNvPicPr>
            <a:picLocks noChangeAspect="1"/>
          </p:cNvPicPr>
          <p:nvPr/>
        </p:nvPicPr>
        <p:blipFill rotWithShape="1">
          <a:blip r:embed="rId12"/>
          <a:srcRect t="61104"/>
          <a:stretch/>
        </p:blipFill>
        <p:spPr>
          <a:xfrm>
            <a:off x="199763" y="4335280"/>
            <a:ext cx="7309282" cy="605888"/>
          </a:xfrm>
          <a:prstGeom prst="rect">
            <a:avLst/>
          </a:prstGeom>
        </p:spPr>
      </p:pic>
      <p:pic>
        <p:nvPicPr>
          <p:cNvPr id="32" name="Picture 31">
            <a:extLst>
              <a:ext uri="{FF2B5EF4-FFF2-40B4-BE49-F238E27FC236}">
                <a16:creationId xmlns:a16="http://schemas.microsoft.com/office/drawing/2014/main" id="{CFD555B5-0408-9C41-DF50-E488E59946A9}"/>
              </a:ext>
            </a:extLst>
          </p:cNvPr>
          <p:cNvPicPr>
            <a:picLocks noChangeAspect="1"/>
          </p:cNvPicPr>
          <p:nvPr/>
        </p:nvPicPr>
        <p:blipFill>
          <a:blip r:embed="rId13"/>
          <a:stretch>
            <a:fillRect/>
          </a:stretch>
        </p:blipFill>
        <p:spPr>
          <a:xfrm>
            <a:off x="355312" y="5000713"/>
            <a:ext cx="2374900" cy="1701800"/>
          </a:xfrm>
          <a:prstGeom prst="rect">
            <a:avLst/>
          </a:prstGeom>
        </p:spPr>
      </p:pic>
      <p:pic>
        <p:nvPicPr>
          <p:cNvPr id="33" name="Picture 32">
            <a:extLst>
              <a:ext uri="{FF2B5EF4-FFF2-40B4-BE49-F238E27FC236}">
                <a16:creationId xmlns:a16="http://schemas.microsoft.com/office/drawing/2014/main" id="{74CE4426-BFDF-218F-A99B-006DBD08483E}"/>
              </a:ext>
            </a:extLst>
          </p:cNvPr>
          <p:cNvPicPr>
            <a:picLocks noChangeAspect="1"/>
          </p:cNvPicPr>
          <p:nvPr/>
        </p:nvPicPr>
        <p:blipFill>
          <a:blip r:embed="rId14"/>
          <a:stretch>
            <a:fillRect/>
          </a:stretch>
        </p:blipFill>
        <p:spPr>
          <a:xfrm>
            <a:off x="3082234" y="5032312"/>
            <a:ext cx="2374900" cy="1701800"/>
          </a:xfrm>
          <a:prstGeom prst="rect">
            <a:avLst/>
          </a:prstGeom>
        </p:spPr>
      </p:pic>
      <p:pic>
        <p:nvPicPr>
          <p:cNvPr id="34" name="Picture 33">
            <a:extLst>
              <a:ext uri="{FF2B5EF4-FFF2-40B4-BE49-F238E27FC236}">
                <a16:creationId xmlns:a16="http://schemas.microsoft.com/office/drawing/2014/main" id="{82830267-4A65-B892-7690-8DE11B7F7A23}"/>
              </a:ext>
            </a:extLst>
          </p:cNvPr>
          <p:cNvPicPr>
            <a:picLocks noChangeAspect="1"/>
          </p:cNvPicPr>
          <p:nvPr/>
        </p:nvPicPr>
        <p:blipFill>
          <a:blip r:embed="rId15"/>
          <a:stretch>
            <a:fillRect/>
          </a:stretch>
        </p:blipFill>
        <p:spPr>
          <a:xfrm>
            <a:off x="6201980" y="5004068"/>
            <a:ext cx="2374900" cy="1701800"/>
          </a:xfrm>
          <a:prstGeom prst="rect">
            <a:avLst/>
          </a:prstGeom>
        </p:spPr>
      </p:pic>
      <p:sp>
        <p:nvSpPr>
          <p:cNvPr id="35" name="Rectangle 34">
            <a:extLst>
              <a:ext uri="{FF2B5EF4-FFF2-40B4-BE49-F238E27FC236}">
                <a16:creationId xmlns:a16="http://schemas.microsoft.com/office/drawing/2014/main" id="{1B80B73F-15FC-04D2-CF3C-752F1C89F0D6}"/>
              </a:ext>
            </a:extLst>
          </p:cNvPr>
          <p:cNvSpPr/>
          <p:nvPr/>
        </p:nvSpPr>
        <p:spPr>
          <a:xfrm>
            <a:off x="251520" y="2031269"/>
            <a:ext cx="8724842" cy="190178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36" name="Rectangle 35">
            <a:extLst>
              <a:ext uri="{FF2B5EF4-FFF2-40B4-BE49-F238E27FC236}">
                <a16:creationId xmlns:a16="http://schemas.microsoft.com/office/drawing/2014/main" id="{D8EF847D-FD9C-27E2-E979-F6AE6F41E973}"/>
              </a:ext>
            </a:extLst>
          </p:cNvPr>
          <p:cNvSpPr/>
          <p:nvPr/>
        </p:nvSpPr>
        <p:spPr>
          <a:xfrm>
            <a:off x="192258" y="5023992"/>
            <a:ext cx="8724842" cy="167852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373361462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5"/>
                                        </p:tgtEl>
                                      </p:cBhvr>
                                    </p:animEffect>
                                    <p:set>
                                      <p:cBhvr>
                                        <p:cTn id="7"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8" restart="whenNotActive" fill="hold" evtFilter="cancelBubble" nodeType="interactiveSeq">
                <p:stCondLst>
                  <p:cond evt="onClick" delay="0">
                    <p:tgtEl>
                      <p:spTgt spid="3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35"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1A – Pearson Pure Y1 page 4</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Connector 5"/>
          <p:cNvCxnSpPr/>
          <p:nvPr/>
        </p:nvCxnSpPr>
        <p:spPr>
          <a:xfrm>
            <a:off x="-1144" y="1186871"/>
            <a:ext cx="9144000" cy="0"/>
          </a:xfrm>
          <a:prstGeom prst="line">
            <a:avLst/>
          </a:prstGeom>
        </p:spPr>
        <p:style>
          <a:lnRef idx="1">
            <a:schemeClr val="dk1"/>
          </a:lnRef>
          <a:fillRef idx="0">
            <a:schemeClr val="dk1"/>
          </a:fillRef>
          <a:effectRef idx="0">
            <a:schemeClr val="dk1"/>
          </a:effectRef>
          <a:fontRef idx="minor">
            <a:schemeClr val="tx1"/>
          </a:fontRef>
        </p:style>
      </p:cxn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430486" y="1958671"/>
            <a:ext cx="5071543" cy="2900608"/>
          </a:xfrm>
          <a:prstGeom prst="rect">
            <a:avLst/>
          </a:prstGeom>
          <a:noFill/>
          <a:ln>
            <a:noFill/>
          </a:ln>
        </p:spPr>
      </p:pic>
      <mc:AlternateContent xmlns:mc="http://schemas.openxmlformats.org/markup-compatibility/2006" xmlns:a14="http://schemas.microsoft.com/office/drawing/2010/main">
        <mc:Choice Requires="a14">
          <p:sp>
            <p:nvSpPr>
              <p:cNvPr id="11" name="TextBox 10"/>
              <p:cNvSpPr txBox="1"/>
              <p:nvPr/>
            </p:nvSpPr>
            <p:spPr>
              <a:xfrm>
                <a:off x="490099" y="5134917"/>
                <a:ext cx="2047419" cy="532903"/>
              </a:xfrm>
              <a:prstGeom prst="rect">
                <a:avLst/>
              </a:prstGeom>
              <a:noFill/>
            </p:spPr>
            <p:txBody>
              <a:bodyPr wrap="square" rtlCol="0">
                <a:spAutoFit/>
              </a:bodyPr>
              <a:lstStyle/>
              <a:p>
                <a:r>
                  <a:rPr lang="en-GB" b="1" dirty="0"/>
                  <a:t>Solution: </a:t>
                </a:r>
                <a14:m>
                  <m:oMath xmlns:m="http://schemas.openxmlformats.org/officeDocument/2006/math">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d>
                          <m:dPr>
                            <m:ctrlPr>
                              <a:rPr lang="en-GB" b="1" i="1" smtClean="0">
                                <a:latin typeface="Cambria Math" panose="02040503050406030204" pitchFamily="18" charset="0"/>
                              </a:rPr>
                            </m:ctrlPr>
                          </m:dPr>
                          <m:e>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d>
                                  <m:dPr>
                                    <m:ctrlPr>
                                      <a:rPr lang="en-GB" b="1" i="1" smtClean="0">
                                        <a:latin typeface="Cambria Math" panose="02040503050406030204" pitchFamily="18" charset="0"/>
                                      </a:rPr>
                                    </m:ctrlPr>
                                  </m:dPr>
                                  <m:e>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𝟑</m:t>
                                        </m:r>
                                      </m:sup>
                                    </m:sSup>
                                  </m:e>
                                </m:d>
                              </m:sup>
                            </m:sSup>
                          </m:e>
                        </m:d>
                      </m:sup>
                    </m:sSup>
                  </m:oMath>
                </a14:m>
                <a:endParaRPr lang="en-GB"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490099" y="5134917"/>
                <a:ext cx="2047419" cy="532903"/>
              </a:xfrm>
              <a:prstGeom prst="rect">
                <a:avLst/>
              </a:prstGeom>
              <a:blipFill>
                <a:blip r:embed="rId3"/>
                <a:stretch>
                  <a:fillRect l="-2469" b="-18605"/>
                </a:stretch>
              </a:blipFill>
            </p:spPr>
            <p:txBody>
              <a:bodyPr/>
              <a:lstStyle/>
              <a:p>
                <a:r>
                  <a:rPr lang="en-GB">
                    <a:noFill/>
                  </a:rPr>
                  <a:t> </a:t>
                </a:r>
              </a:p>
            </p:txBody>
          </p:sp>
        </mc:Fallback>
      </mc:AlternateContent>
      <p:pic>
        <p:nvPicPr>
          <p:cNvPr id="12" name="Picture 11"/>
          <p:cNvPicPr/>
          <p:nvPr/>
        </p:nvPicPr>
        <p:blipFill>
          <a:blip r:embed="rId4">
            <a:extLst>
              <a:ext uri="{28A0092B-C50C-407E-A947-70E740481C1C}">
                <a14:useLocalDpi xmlns:a14="http://schemas.microsoft.com/office/drawing/2010/main" val="0"/>
              </a:ext>
            </a:extLst>
          </a:blip>
          <a:srcRect/>
          <a:stretch>
            <a:fillRect/>
          </a:stretch>
        </p:blipFill>
        <p:spPr bwMode="auto">
          <a:xfrm>
            <a:off x="4354832" y="1981827"/>
            <a:ext cx="4723765" cy="2220595"/>
          </a:xfrm>
          <a:prstGeom prst="rect">
            <a:avLst/>
          </a:prstGeom>
          <a:noFill/>
          <a:ln>
            <a:noFill/>
          </a:ln>
        </p:spPr>
      </p:pic>
      <p:sp>
        <p:nvSpPr>
          <p:cNvPr id="13" name="Rectangle 12"/>
          <p:cNvSpPr/>
          <p:nvPr/>
        </p:nvSpPr>
        <p:spPr>
          <a:xfrm>
            <a:off x="123419" y="2011697"/>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4" name="Rectangle 13"/>
          <p:cNvSpPr/>
          <p:nvPr/>
        </p:nvSpPr>
        <p:spPr>
          <a:xfrm>
            <a:off x="4046622" y="2011697"/>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mc:AlternateContent xmlns:mc="http://schemas.openxmlformats.org/markup-compatibility/2006" xmlns:a14="http://schemas.microsoft.com/office/drawing/2010/main">
        <mc:Choice Requires="a14">
          <p:sp>
            <p:nvSpPr>
              <p:cNvPr id="15" name="TextBox 14"/>
              <p:cNvSpPr txBox="1"/>
              <p:nvPr/>
            </p:nvSpPr>
            <p:spPr>
              <a:xfrm>
                <a:off x="5028509" y="4246939"/>
                <a:ext cx="2592198" cy="1764201"/>
              </a:xfrm>
              <a:prstGeom prst="rect">
                <a:avLst/>
              </a:prstGeom>
              <a:noFill/>
            </p:spPr>
            <p:txBody>
              <a:bodyPr wrap="square" rtlCol="0">
                <a:spAutoFit/>
              </a:bodyPr>
              <a:lstStyle/>
              <a:p>
                <a:pPr/>
                <a14:m>
                  <m:oMathPara xmlns:m="http://schemas.openxmlformats.org/officeDocument/2006/math">
                    <m:oMath>
                      <m:r>
                        <a:rPr lang="en-GB" b="1" i="1" smtClean="0">
                          <a:latin typeface="Cambria Math" panose="02040503050406030204" pitchFamily="18" charset="0"/>
                        </a:rPr>
                        <m:t>𝑵</m:t>
                      </m:r>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𝒌</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𝟐</m:t>
                          </m:r>
                          <m:r>
                            <a:rPr lang="en-GB" b="1" i="1" smtClean="0">
                              <a:latin typeface="Cambria Math" panose="02040503050406030204" pitchFamily="18" charset="0"/>
                            </a:rPr>
                            <m:t>𝒎</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𝟑</m:t>
                          </m:r>
                          <m:r>
                            <a:rPr lang="en-GB" b="1" i="1" smtClean="0">
                              <a:latin typeface="Cambria Math" panose="02040503050406030204" pitchFamily="18" charset="0"/>
                            </a:rPr>
                            <m:t>𝒏</m:t>
                          </m:r>
                        </m:sup>
                      </m:sSup>
                    </m:oMath>
                    <m:oMath>
                      <m:r>
                        <a:rPr lang="en-GB" b="1" i="0" smtClean="0">
                          <a:latin typeface="Cambria Math" panose="02040503050406030204" pitchFamily="18" charset="0"/>
                        </a:rPr>
                        <m:t>    </m:t>
                      </m:r>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𝒌</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𝒎</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𝒏</m:t>
                          </m:r>
                        </m:sup>
                      </m:sSup>
                    </m:oMath>
                  </m:oMathPara>
                </a14:m>
                <a:endParaRPr lang="en-GB" b="1" dirty="0"/>
              </a:p>
              <a:p>
                <a:r>
                  <a:rPr lang="en-GB" b="1" dirty="0"/>
                  <a:t>This is square if:</a:t>
                </a:r>
              </a:p>
              <a:p>
                <a14:m>
                  <m:oMath xmlns:m="http://schemas.openxmlformats.org/officeDocument/2006/math">
                    <m:r>
                      <a:rPr lang="en-GB" b="1" i="1" smtClean="0">
                        <a:latin typeface="Cambria Math" panose="02040503050406030204" pitchFamily="18" charset="0"/>
                      </a:rPr>
                      <m:t>𝒌</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𝒎</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𝒏</m:t>
                    </m:r>
                  </m:oMath>
                </a14:m>
                <a:r>
                  <a:rPr lang="en-GB" b="1" dirty="0"/>
                  <a:t> is even</a:t>
                </a:r>
              </a:p>
              <a:p>
                <a14:m>
                  <m:oMath xmlns:m="http://schemas.openxmlformats.org/officeDocument/2006/math">
                    <m:r>
                      <a:rPr lang="en-GB" b="1" i="1" smtClean="0">
                        <a:latin typeface="Cambria Math" panose="02040503050406030204" pitchFamily="18" charset="0"/>
                      </a:rPr>
                      <m:t>⇒</m:t>
                    </m:r>
                  </m:oMath>
                </a14:m>
                <a:r>
                  <a:rPr lang="en-GB" b="1" dirty="0"/>
                  <a:t> </a:t>
                </a:r>
                <a14:m>
                  <m:oMath xmlns:m="http://schemas.openxmlformats.org/officeDocument/2006/math">
                    <m:r>
                      <a:rPr lang="en-GB" b="1" i="1" dirty="0" smtClean="0">
                        <a:latin typeface="Cambria Math" panose="02040503050406030204" pitchFamily="18" charset="0"/>
                      </a:rPr>
                      <m:t>𝒌</m:t>
                    </m:r>
                    <m:r>
                      <a:rPr lang="en-GB" b="1" i="1" dirty="0" smtClean="0">
                        <a:latin typeface="Cambria Math" panose="02040503050406030204" pitchFamily="18" charset="0"/>
                      </a:rPr>
                      <m:t>+</m:t>
                    </m:r>
                    <m:r>
                      <a:rPr lang="en-GB" b="1" i="1" dirty="0" smtClean="0">
                        <a:latin typeface="Cambria Math" panose="02040503050406030204" pitchFamily="18" charset="0"/>
                      </a:rPr>
                      <m:t>𝟑</m:t>
                    </m:r>
                    <m:r>
                      <a:rPr lang="en-GB" b="1" i="1" dirty="0" smtClean="0">
                        <a:latin typeface="Cambria Math" panose="02040503050406030204" pitchFamily="18" charset="0"/>
                      </a:rPr>
                      <m:t>𝒏</m:t>
                    </m:r>
                  </m:oMath>
                </a14:m>
                <a:r>
                  <a:rPr lang="en-GB" b="1" dirty="0"/>
                  <a:t> is even</a:t>
                </a:r>
              </a:p>
              <a:p>
                <a14:m>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𝒌</m:t>
                    </m:r>
                    <m:r>
                      <a:rPr lang="en-GB" b="1" i="1" smtClean="0">
                        <a:latin typeface="Cambria Math" panose="02040503050406030204" pitchFamily="18" charset="0"/>
                      </a:rPr>
                      <m:t>+</m:t>
                    </m:r>
                    <m:r>
                      <a:rPr lang="en-GB" b="1" i="1" smtClean="0">
                        <a:latin typeface="Cambria Math" panose="02040503050406030204" pitchFamily="18" charset="0"/>
                      </a:rPr>
                      <m:t>𝒏</m:t>
                    </m:r>
                  </m:oMath>
                </a14:m>
                <a:r>
                  <a:rPr lang="en-GB" b="1" dirty="0"/>
                  <a:t> is even</a:t>
                </a:r>
              </a:p>
            </p:txBody>
          </p:sp>
        </mc:Choice>
        <mc:Fallback xmlns="">
          <p:sp>
            <p:nvSpPr>
              <p:cNvPr id="15" name="TextBox 14"/>
              <p:cNvSpPr txBox="1">
                <a:spLocks noRot="1" noChangeAspect="1" noMove="1" noResize="1" noEditPoints="1" noAdjustHandles="1" noChangeArrowheads="1" noChangeShapeType="1" noTextEdit="1"/>
              </p:cNvSpPr>
              <p:nvPr/>
            </p:nvSpPr>
            <p:spPr>
              <a:xfrm>
                <a:off x="5028509" y="4246939"/>
                <a:ext cx="2592198" cy="1764201"/>
              </a:xfrm>
              <a:prstGeom prst="rect">
                <a:avLst/>
              </a:prstGeom>
              <a:blipFill>
                <a:blip r:embed="rId5"/>
                <a:stretch>
                  <a:fillRect l="-2451" b="-5714"/>
                </a:stretch>
              </a:blipFill>
            </p:spPr>
            <p:txBody>
              <a:bodyPr/>
              <a:lstStyle/>
              <a:p>
                <a:r>
                  <a:rPr lang="en-GB">
                    <a:noFill/>
                  </a:rPr>
                  <a:t> </a:t>
                </a:r>
              </a:p>
            </p:txBody>
          </p:sp>
        </mc:Fallback>
      </mc:AlternateContent>
      <p:sp>
        <p:nvSpPr>
          <p:cNvPr id="16" name="Rectangle 15"/>
          <p:cNvSpPr/>
          <p:nvPr/>
        </p:nvSpPr>
        <p:spPr>
          <a:xfrm>
            <a:off x="428671" y="5030215"/>
            <a:ext cx="2529953" cy="7851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5022103" y="4159564"/>
            <a:ext cx="2640869" cy="180021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TextBox 17"/>
          <p:cNvSpPr txBox="1"/>
          <p:nvPr/>
        </p:nvSpPr>
        <p:spPr>
          <a:xfrm>
            <a:off x="430486" y="1318856"/>
            <a:ext cx="6300610" cy="369332"/>
          </a:xfrm>
          <a:prstGeom prst="rect">
            <a:avLst/>
          </a:prstGeom>
          <a:solidFill>
            <a:schemeClr val="bg1"/>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solidFill>
                  <a:schemeClr val="tx1"/>
                </a:solidFill>
              </a:rPr>
              <a:t>Extension </a:t>
            </a:r>
            <a:r>
              <a:rPr lang="en-GB" dirty="0">
                <a:solidFill>
                  <a:schemeClr val="tx1"/>
                </a:solidFill>
              </a:rPr>
              <a:t> </a:t>
            </a:r>
            <a:r>
              <a:rPr lang="en-GB" sz="1200" dirty="0">
                <a:solidFill>
                  <a:schemeClr val="tx1"/>
                </a:solidFill>
              </a:rPr>
              <a:t>(Full Database: </a:t>
            </a:r>
            <a:r>
              <a:rPr lang="en-GB" sz="1200" dirty="0">
                <a:solidFill>
                  <a:schemeClr val="tx1"/>
                </a:solidFill>
                <a:hlinkClick r:id="rId6"/>
              </a:rPr>
              <a:t>http://www.drfrostmaths.com/resources/resource.php?rid=268</a:t>
            </a:r>
            <a:r>
              <a:rPr lang="en-GB" sz="1200" dirty="0">
                <a:solidFill>
                  <a:schemeClr val="tx1"/>
                </a:solidFill>
              </a:rPr>
              <a:t> ) </a:t>
            </a:r>
            <a:endParaRPr lang="en-GB" sz="2400" dirty="0">
              <a:solidFill>
                <a:schemeClr val="tx1"/>
              </a:solidFill>
            </a:endParaRPr>
          </a:p>
        </p:txBody>
      </p:sp>
    </p:spTree>
    <p:extLst>
      <p:ext uri="{BB962C8B-B14F-4D97-AF65-F5344CB8AC3E}">
        <p14:creationId xmlns:p14="http://schemas.microsoft.com/office/powerpoint/2010/main" val="141509998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2: Expanding Brackets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95536" y="764704"/>
            <a:ext cx="7488832" cy="646331"/>
          </a:xfrm>
          <a:prstGeom prst="rect">
            <a:avLst/>
          </a:prstGeom>
          <a:noFill/>
        </p:spPr>
        <p:txBody>
          <a:bodyPr wrap="square" rtlCol="0">
            <a:spAutoFit/>
          </a:bodyPr>
          <a:lstStyle/>
          <a:p>
            <a:r>
              <a:rPr lang="en-GB" dirty="0"/>
              <a:t>If you have ever been taught ‘FOIL’ to multiply brackets please purge it from your mind now – instead:</a:t>
            </a:r>
          </a:p>
        </p:txBody>
      </p:sp>
      <mc:AlternateContent xmlns:mc="http://schemas.openxmlformats.org/markup-compatibility/2006" xmlns:a14="http://schemas.microsoft.com/office/drawing/2010/main">
        <mc:Choice Requires="a14">
          <p:sp>
            <p:nvSpPr>
              <p:cNvPr id="6" name="TextBox 5"/>
              <p:cNvSpPr txBox="1"/>
              <p:nvPr/>
            </p:nvSpPr>
            <p:spPr>
              <a:xfrm>
                <a:off x="683568" y="2452897"/>
                <a:ext cx="4104456" cy="584775"/>
              </a:xfrm>
              <a:prstGeom prst="rect">
                <a:avLst/>
              </a:prstGeom>
              <a:noFill/>
            </p:spPr>
            <p:txBody>
              <a:bodyPr wrap="square" rtlCol="0">
                <a:spAutoFit/>
              </a:bodyPr>
              <a:lstStyle/>
              <a:p>
                <a:pPr/>
                <a14:m>
                  <m:oMathPara xmlns:m="http://schemas.openxmlformats.org/officeDocument/2006/math">
                    <m:oMath>
                      <m:d>
                        <m:dPr>
                          <m:ctrlPr>
                            <a:rPr lang="en-GB" sz="3200" b="0" i="1" smtClean="0">
                              <a:latin typeface="Cambria Math" panose="02040503050406030204" pitchFamily="18" charset="0"/>
                            </a:rPr>
                          </m:ctrlPr>
                        </m:dPr>
                        <m:e>
                          <m:r>
                            <a:rPr lang="en-GB" sz="3200" b="0" i="1" smtClean="0">
                              <a:latin typeface="Cambria Math" panose="02040503050406030204" pitchFamily="18" charset="0"/>
                            </a:rPr>
                            <m:t>𝑥</m:t>
                          </m:r>
                          <m:r>
                            <a:rPr lang="en-GB" sz="3200" b="0" i="1" smtClean="0">
                              <a:latin typeface="Cambria Math" panose="02040503050406030204" pitchFamily="18" charset="0"/>
                            </a:rPr>
                            <m:t>−</m:t>
                          </m:r>
                          <m:r>
                            <a:rPr lang="en-GB" sz="3200" b="0" i="1" smtClean="0">
                              <a:latin typeface="Cambria Math" panose="02040503050406030204" pitchFamily="18" charset="0"/>
                            </a:rPr>
                            <m:t>𝑦</m:t>
                          </m:r>
                        </m:e>
                      </m:d>
                      <m:d>
                        <m:dPr>
                          <m:ctrlPr>
                            <a:rPr lang="en-GB" sz="3200" b="0" i="1" smtClean="0">
                              <a:latin typeface="Cambria Math" panose="02040503050406030204" pitchFamily="18" charset="0"/>
                            </a:rPr>
                          </m:ctrlPr>
                        </m:dPr>
                        <m:e>
                          <m:r>
                            <a:rPr lang="en-GB" sz="3200" b="0" i="1" smtClean="0">
                              <a:latin typeface="Cambria Math" panose="02040503050406030204" pitchFamily="18" charset="0"/>
                            </a:rPr>
                            <m:t>𝑥</m:t>
                          </m:r>
                          <m:r>
                            <a:rPr lang="en-GB" sz="3200" b="0" i="1" smtClean="0">
                              <a:latin typeface="Cambria Math" panose="02040503050406030204" pitchFamily="18" charset="0"/>
                            </a:rPr>
                            <m:t>+</m:t>
                          </m:r>
                          <m:r>
                            <a:rPr lang="en-GB" sz="3200" b="0" i="1" smtClean="0">
                              <a:latin typeface="Cambria Math" panose="02040503050406030204" pitchFamily="18" charset="0"/>
                            </a:rPr>
                            <m:t>𝑦</m:t>
                          </m:r>
                          <m:r>
                            <a:rPr lang="en-GB" sz="3200" b="0" i="1" smtClean="0">
                              <a:latin typeface="Cambria Math" panose="02040503050406030204" pitchFamily="18" charset="0"/>
                            </a:rPr>
                            <m:t>−1</m:t>
                          </m:r>
                        </m:e>
                      </m:d>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683568" y="2452897"/>
                <a:ext cx="4104456" cy="584775"/>
              </a:xfrm>
              <a:prstGeom prst="rect">
                <a:avLst/>
              </a:prstGeom>
              <a:blipFill>
                <a:blip r:embed="rId2"/>
                <a:stretch>
                  <a:fillRect/>
                </a:stretch>
              </a:blipFill>
            </p:spPr>
            <p:txBody>
              <a:bodyPr/>
              <a:lstStyle/>
              <a:p>
                <a:r>
                  <a:rPr lang="en-GB">
                    <a:noFill/>
                  </a:rPr>
                  <a:t> </a:t>
                </a:r>
              </a:p>
            </p:txBody>
          </p:sp>
        </mc:Fallback>
      </mc:AlternateContent>
      <p:sp>
        <p:nvSpPr>
          <p:cNvPr id="7" name="TextBox 6"/>
          <p:cNvSpPr txBox="1"/>
          <p:nvPr/>
        </p:nvSpPr>
        <p:spPr>
          <a:xfrm>
            <a:off x="1115616" y="1659287"/>
            <a:ext cx="6624736"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Multiply each term in the first bracket by each term in the second.</a:t>
            </a:r>
          </a:p>
        </p:txBody>
      </p:sp>
      <p:sp>
        <p:nvSpPr>
          <p:cNvPr id="8" name="TextBox 7"/>
          <p:cNvSpPr txBox="1"/>
          <p:nvPr/>
        </p:nvSpPr>
        <p:spPr>
          <a:xfrm>
            <a:off x="6086358" y="2831832"/>
            <a:ext cx="2880320" cy="954107"/>
          </a:xfrm>
          <a:prstGeom prst="rect">
            <a:avLst/>
          </a:prstGeom>
          <a:noFill/>
        </p:spPr>
        <p:txBody>
          <a:bodyPr wrap="square" rtlCol="0">
            <a:spAutoFit/>
          </a:bodyPr>
          <a:lstStyle/>
          <a:p>
            <a:r>
              <a:rPr lang="en-GB" sz="1400" b="1" dirty="0"/>
              <a:t>Tip</a:t>
            </a:r>
            <a:r>
              <a:rPr lang="en-GB" sz="1400" dirty="0"/>
              <a:t>: My order is “first term in first brackets times each in second, then second term in first bracket times each in second, etc.”</a:t>
            </a:r>
          </a:p>
        </p:txBody>
      </p:sp>
      <p:sp>
        <p:nvSpPr>
          <p:cNvPr id="9" name="Freeform: Shape 8"/>
          <p:cNvSpPr/>
          <p:nvPr/>
        </p:nvSpPr>
        <p:spPr>
          <a:xfrm>
            <a:off x="1347536" y="2213794"/>
            <a:ext cx="1281363" cy="348932"/>
          </a:xfrm>
          <a:custGeom>
            <a:avLst/>
            <a:gdLst>
              <a:gd name="connsiteX0" fmla="*/ 0 w 1239252"/>
              <a:gd name="connsiteY0" fmla="*/ 348932 h 348932"/>
              <a:gd name="connsiteX1" fmla="*/ 697831 w 1239252"/>
              <a:gd name="connsiteY1" fmla="*/ 17 h 348932"/>
              <a:gd name="connsiteX2" fmla="*/ 1239252 w 1239252"/>
              <a:gd name="connsiteY2" fmla="*/ 336901 h 348932"/>
            </a:gdLst>
            <a:ahLst/>
            <a:cxnLst>
              <a:cxn ang="0">
                <a:pos x="connsiteX0" y="connsiteY0"/>
              </a:cxn>
              <a:cxn ang="0">
                <a:pos x="connsiteX1" y="connsiteY1"/>
              </a:cxn>
              <a:cxn ang="0">
                <a:pos x="connsiteX2" y="connsiteY2"/>
              </a:cxn>
            </a:cxnLst>
            <a:rect l="l" t="t" r="r" b="b"/>
            <a:pathLst>
              <a:path w="1239252" h="348932">
                <a:moveTo>
                  <a:pt x="0" y="348932"/>
                </a:moveTo>
                <a:cubicBezTo>
                  <a:pt x="245644" y="175477"/>
                  <a:pt x="491289" y="2022"/>
                  <a:pt x="697831" y="17"/>
                </a:cubicBezTo>
                <a:cubicBezTo>
                  <a:pt x="904373" y="-1988"/>
                  <a:pt x="1071812" y="167456"/>
                  <a:pt x="1239252" y="33690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p:cNvSpPr txBox="1"/>
              <p:nvPr/>
            </p:nvSpPr>
            <p:spPr>
              <a:xfrm>
                <a:off x="283137" y="3201164"/>
                <a:ext cx="1368152"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2</m:t>
                          </m:r>
                        </m:sup>
                      </m:sSup>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283137" y="3201164"/>
                <a:ext cx="1368152" cy="584775"/>
              </a:xfrm>
              <a:prstGeom prst="rect">
                <a:avLst/>
              </a:prstGeom>
              <a:blipFill>
                <a:blip r:embed="rId3"/>
                <a:stretch>
                  <a:fillRect/>
                </a:stretch>
              </a:blipFill>
            </p:spPr>
            <p:txBody>
              <a:bodyPr/>
              <a:lstStyle/>
              <a:p>
                <a:r>
                  <a:rPr lang="en-GB">
                    <a:noFill/>
                  </a:rPr>
                  <a:t> </a:t>
                </a:r>
              </a:p>
            </p:txBody>
          </p:sp>
        </mc:Fallback>
      </mc:AlternateContent>
      <p:sp>
        <p:nvSpPr>
          <p:cNvPr id="11" name="Freeform: Shape 10"/>
          <p:cNvSpPr/>
          <p:nvPr/>
        </p:nvSpPr>
        <p:spPr>
          <a:xfrm>
            <a:off x="1332206" y="2213794"/>
            <a:ext cx="2005354" cy="348932"/>
          </a:xfrm>
          <a:custGeom>
            <a:avLst/>
            <a:gdLst>
              <a:gd name="connsiteX0" fmla="*/ 0 w 1239252"/>
              <a:gd name="connsiteY0" fmla="*/ 348932 h 348932"/>
              <a:gd name="connsiteX1" fmla="*/ 697831 w 1239252"/>
              <a:gd name="connsiteY1" fmla="*/ 17 h 348932"/>
              <a:gd name="connsiteX2" fmla="*/ 1239252 w 1239252"/>
              <a:gd name="connsiteY2" fmla="*/ 336901 h 348932"/>
            </a:gdLst>
            <a:ahLst/>
            <a:cxnLst>
              <a:cxn ang="0">
                <a:pos x="connsiteX0" y="connsiteY0"/>
              </a:cxn>
              <a:cxn ang="0">
                <a:pos x="connsiteX1" y="connsiteY1"/>
              </a:cxn>
              <a:cxn ang="0">
                <a:pos x="connsiteX2" y="connsiteY2"/>
              </a:cxn>
            </a:cxnLst>
            <a:rect l="l" t="t" r="r" b="b"/>
            <a:pathLst>
              <a:path w="1239252" h="348932">
                <a:moveTo>
                  <a:pt x="0" y="348932"/>
                </a:moveTo>
                <a:cubicBezTo>
                  <a:pt x="245644" y="175477"/>
                  <a:pt x="491289" y="2022"/>
                  <a:pt x="697831" y="17"/>
                </a:cubicBezTo>
                <a:cubicBezTo>
                  <a:pt x="904373" y="-1988"/>
                  <a:pt x="1071812" y="167456"/>
                  <a:pt x="1239252" y="33690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2" name="TextBox 11"/>
              <p:cNvSpPr txBox="1"/>
              <p:nvPr/>
            </p:nvSpPr>
            <p:spPr>
              <a:xfrm>
                <a:off x="1159346" y="3193544"/>
                <a:ext cx="1368152"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r>
                        <a:rPr lang="en-GB" sz="3200" b="0" i="1" smtClean="0">
                          <a:latin typeface="Cambria Math" panose="02040503050406030204" pitchFamily="18" charset="0"/>
                        </a:rPr>
                        <m:t>𝑥𝑦</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1159346" y="3193544"/>
                <a:ext cx="1368152" cy="584775"/>
              </a:xfrm>
              <a:prstGeom prst="rect">
                <a:avLst/>
              </a:prstGeom>
              <a:blipFill>
                <a:blip r:embed="rId4"/>
                <a:stretch>
                  <a:fillRect/>
                </a:stretch>
              </a:blipFill>
            </p:spPr>
            <p:txBody>
              <a:bodyPr/>
              <a:lstStyle/>
              <a:p>
                <a:r>
                  <a:rPr lang="en-GB">
                    <a:noFill/>
                  </a:rPr>
                  <a:t> </a:t>
                </a:r>
              </a:p>
            </p:txBody>
          </p:sp>
        </mc:Fallback>
      </mc:AlternateContent>
      <p:sp>
        <p:nvSpPr>
          <p:cNvPr id="13" name="Freeform: Shape 12"/>
          <p:cNvSpPr/>
          <p:nvPr/>
        </p:nvSpPr>
        <p:spPr>
          <a:xfrm>
            <a:off x="1335716" y="2221414"/>
            <a:ext cx="2474284" cy="348932"/>
          </a:xfrm>
          <a:custGeom>
            <a:avLst/>
            <a:gdLst>
              <a:gd name="connsiteX0" fmla="*/ 0 w 1239252"/>
              <a:gd name="connsiteY0" fmla="*/ 348932 h 348932"/>
              <a:gd name="connsiteX1" fmla="*/ 697831 w 1239252"/>
              <a:gd name="connsiteY1" fmla="*/ 17 h 348932"/>
              <a:gd name="connsiteX2" fmla="*/ 1239252 w 1239252"/>
              <a:gd name="connsiteY2" fmla="*/ 336901 h 348932"/>
            </a:gdLst>
            <a:ahLst/>
            <a:cxnLst>
              <a:cxn ang="0">
                <a:pos x="connsiteX0" y="connsiteY0"/>
              </a:cxn>
              <a:cxn ang="0">
                <a:pos x="connsiteX1" y="connsiteY1"/>
              </a:cxn>
              <a:cxn ang="0">
                <a:pos x="connsiteX2" y="connsiteY2"/>
              </a:cxn>
            </a:cxnLst>
            <a:rect l="l" t="t" r="r" b="b"/>
            <a:pathLst>
              <a:path w="1239252" h="348932">
                <a:moveTo>
                  <a:pt x="0" y="348932"/>
                </a:moveTo>
                <a:cubicBezTo>
                  <a:pt x="245644" y="175477"/>
                  <a:pt x="491289" y="2022"/>
                  <a:pt x="697831" y="17"/>
                </a:cubicBezTo>
                <a:cubicBezTo>
                  <a:pt x="904373" y="-1988"/>
                  <a:pt x="1071812" y="167456"/>
                  <a:pt x="1239252" y="33690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p:cNvSpPr txBox="1"/>
              <p:nvPr/>
            </p:nvSpPr>
            <p:spPr>
              <a:xfrm>
                <a:off x="1901996" y="3185924"/>
                <a:ext cx="1368152"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r>
                        <a:rPr lang="en-GB" sz="3200" b="0" i="1" smtClean="0">
                          <a:latin typeface="Cambria Math" panose="02040503050406030204" pitchFamily="18" charset="0"/>
                        </a:rPr>
                        <m:t>𝑥</m:t>
                      </m:r>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1901996" y="3185924"/>
                <a:ext cx="1368152" cy="584775"/>
              </a:xfrm>
              <a:prstGeom prst="rect">
                <a:avLst/>
              </a:prstGeom>
              <a:blipFill>
                <a:blip r:embed="rId5"/>
                <a:stretch>
                  <a:fillRect/>
                </a:stretch>
              </a:blipFill>
            </p:spPr>
            <p:txBody>
              <a:bodyPr/>
              <a:lstStyle/>
              <a:p>
                <a:r>
                  <a:rPr lang="en-GB">
                    <a:noFill/>
                  </a:rPr>
                  <a:t> </a:t>
                </a:r>
              </a:p>
            </p:txBody>
          </p:sp>
        </mc:Fallback>
      </mc:AlternateContent>
      <p:sp>
        <p:nvSpPr>
          <p:cNvPr id="15" name="Freeform: Shape 14"/>
          <p:cNvSpPr/>
          <p:nvPr/>
        </p:nvSpPr>
        <p:spPr>
          <a:xfrm flipV="1">
            <a:off x="1999945" y="2975794"/>
            <a:ext cx="659435" cy="125546"/>
          </a:xfrm>
          <a:custGeom>
            <a:avLst/>
            <a:gdLst>
              <a:gd name="connsiteX0" fmla="*/ 0 w 1239252"/>
              <a:gd name="connsiteY0" fmla="*/ 348932 h 348932"/>
              <a:gd name="connsiteX1" fmla="*/ 697831 w 1239252"/>
              <a:gd name="connsiteY1" fmla="*/ 17 h 348932"/>
              <a:gd name="connsiteX2" fmla="*/ 1239252 w 1239252"/>
              <a:gd name="connsiteY2" fmla="*/ 336901 h 348932"/>
            </a:gdLst>
            <a:ahLst/>
            <a:cxnLst>
              <a:cxn ang="0">
                <a:pos x="connsiteX0" y="connsiteY0"/>
              </a:cxn>
              <a:cxn ang="0">
                <a:pos x="connsiteX1" y="connsiteY1"/>
              </a:cxn>
              <a:cxn ang="0">
                <a:pos x="connsiteX2" y="connsiteY2"/>
              </a:cxn>
            </a:cxnLst>
            <a:rect l="l" t="t" r="r" b="b"/>
            <a:pathLst>
              <a:path w="1239252" h="348932">
                <a:moveTo>
                  <a:pt x="0" y="348932"/>
                </a:moveTo>
                <a:cubicBezTo>
                  <a:pt x="245644" y="175477"/>
                  <a:pt x="491289" y="2022"/>
                  <a:pt x="697831" y="17"/>
                </a:cubicBezTo>
                <a:cubicBezTo>
                  <a:pt x="904373" y="-1988"/>
                  <a:pt x="1071812" y="167456"/>
                  <a:pt x="1239252" y="33690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6" name="TextBox 15"/>
              <p:cNvSpPr txBox="1"/>
              <p:nvPr/>
            </p:nvSpPr>
            <p:spPr>
              <a:xfrm>
                <a:off x="2657665" y="3185924"/>
                <a:ext cx="1368152"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r>
                        <a:rPr lang="en-GB" sz="3200" b="0" i="1" smtClean="0">
                          <a:latin typeface="Cambria Math" panose="02040503050406030204" pitchFamily="18" charset="0"/>
                        </a:rPr>
                        <m:t>𝑥𝑦</m:t>
                      </m:r>
                    </m:oMath>
                  </m:oMathPara>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a:off x="2657665" y="3185924"/>
                <a:ext cx="1368152" cy="584775"/>
              </a:xfrm>
              <a:prstGeom prst="rect">
                <a:avLst/>
              </a:prstGeom>
              <a:blipFill>
                <a:blip r:embed="rId6"/>
                <a:stretch>
                  <a:fillRect/>
                </a:stretch>
              </a:blipFill>
            </p:spPr>
            <p:txBody>
              <a:bodyPr/>
              <a:lstStyle/>
              <a:p>
                <a:r>
                  <a:rPr lang="en-GB">
                    <a:noFill/>
                  </a:rPr>
                  <a:t> </a:t>
                </a:r>
              </a:p>
            </p:txBody>
          </p:sp>
        </mc:Fallback>
      </mc:AlternateContent>
      <p:sp>
        <p:nvSpPr>
          <p:cNvPr id="17" name="Freeform: Shape 16"/>
          <p:cNvSpPr/>
          <p:nvPr/>
        </p:nvSpPr>
        <p:spPr>
          <a:xfrm flipV="1">
            <a:off x="1981902" y="2968174"/>
            <a:ext cx="1294697" cy="209366"/>
          </a:xfrm>
          <a:custGeom>
            <a:avLst/>
            <a:gdLst>
              <a:gd name="connsiteX0" fmla="*/ 0 w 1239252"/>
              <a:gd name="connsiteY0" fmla="*/ 348932 h 348932"/>
              <a:gd name="connsiteX1" fmla="*/ 697831 w 1239252"/>
              <a:gd name="connsiteY1" fmla="*/ 17 h 348932"/>
              <a:gd name="connsiteX2" fmla="*/ 1239252 w 1239252"/>
              <a:gd name="connsiteY2" fmla="*/ 336901 h 348932"/>
            </a:gdLst>
            <a:ahLst/>
            <a:cxnLst>
              <a:cxn ang="0">
                <a:pos x="connsiteX0" y="connsiteY0"/>
              </a:cxn>
              <a:cxn ang="0">
                <a:pos x="connsiteX1" y="connsiteY1"/>
              </a:cxn>
              <a:cxn ang="0">
                <a:pos x="connsiteX2" y="connsiteY2"/>
              </a:cxn>
            </a:cxnLst>
            <a:rect l="l" t="t" r="r" b="b"/>
            <a:pathLst>
              <a:path w="1239252" h="348932">
                <a:moveTo>
                  <a:pt x="0" y="348932"/>
                </a:moveTo>
                <a:cubicBezTo>
                  <a:pt x="245644" y="175477"/>
                  <a:pt x="491289" y="2022"/>
                  <a:pt x="697831" y="17"/>
                </a:cubicBezTo>
                <a:cubicBezTo>
                  <a:pt x="904373" y="-1988"/>
                  <a:pt x="1071812" y="167456"/>
                  <a:pt x="1239252" y="33690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8" name="TextBox 17"/>
              <p:cNvSpPr txBox="1"/>
              <p:nvPr/>
            </p:nvSpPr>
            <p:spPr>
              <a:xfrm>
                <a:off x="3515923" y="3178304"/>
                <a:ext cx="1368152"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𝑦</m:t>
                          </m:r>
                        </m:e>
                        <m:sup>
                          <m:r>
                            <a:rPr lang="en-GB" sz="3200" b="0" i="1" smtClean="0">
                              <a:latin typeface="Cambria Math" panose="02040503050406030204" pitchFamily="18" charset="0"/>
                            </a:rPr>
                            <m:t>2</m:t>
                          </m:r>
                        </m:sup>
                      </m:sSup>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3515923" y="3178304"/>
                <a:ext cx="1368152" cy="584775"/>
              </a:xfrm>
              <a:prstGeom prst="rect">
                <a:avLst/>
              </a:prstGeom>
              <a:blipFill>
                <a:blip r:embed="rId7"/>
                <a:stretch>
                  <a:fillRect/>
                </a:stretch>
              </a:blipFill>
            </p:spPr>
            <p:txBody>
              <a:bodyPr/>
              <a:lstStyle/>
              <a:p>
                <a:r>
                  <a:rPr lang="en-GB">
                    <a:noFill/>
                  </a:rPr>
                  <a:t> </a:t>
                </a:r>
              </a:p>
            </p:txBody>
          </p:sp>
        </mc:Fallback>
      </mc:AlternateContent>
      <p:sp>
        <p:nvSpPr>
          <p:cNvPr id="19" name="Freeform: Shape 18"/>
          <p:cNvSpPr/>
          <p:nvPr/>
        </p:nvSpPr>
        <p:spPr>
          <a:xfrm flipV="1">
            <a:off x="1992054" y="2983414"/>
            <a:ext cx="1962725" cy="255086"/>
          </a:xfrm>
          <a:custGeom>
            <a:avLst/>
            <a:gdLst>
              <a:gd name="connsiteX0" fmla="*/ 0 w 1239252"/>
              <a:gd name="connsiteY0" fmla="*/ 348932 h 348932"/>
              <a:gd name="connsiteX1" fmla="*/ 697831 w 1239252"/>
              <a:gd name="connsiteY1" fmla="*/ 17 h 348932"/>
              <a:gd name="connsiteX2" fmla="*/ 1239252 w 1239252"/>
              <a:gd name="connsiteY2" fmla="*/ 336901 h 348932"/>
            </a:gdLst>
            <a:ahLst/>
            <a:cxnLst>
              <a:cxn ang="0">
                <a:pos x="connsiteX0" y="connsiteY0"/>
              </a:cxn>
              <a:cxn ang="0">
                <a:pos x="connsiteX1" y="connsiteY1"/>
              </a:cxn>
              <a:cxn ang="0">
                <a:pos x="connsiteX2" y="connsiteY2"/>
              </a:cxn>
            </a:cxnLst>
            <a:rect l="l" t="t" r="r" b="b"/>
            <a:pathLst>
              <a:path w="1239252" h="348932">
                <a:moveTo>
                  <a:pt x="0" y="348932"/>
                </a:moveTo>
                <a:cubicBezTo>
                  <a:pt x="245644" y="175477"/>
                  <a:pt x="491289" y="2022"/>
                  <a:pt x="697831" y="17"/>
                </a:cubicBezTo>
                <a:cubicBezTo>
                  <a:pt x="904373" y="-1988"/>
                  <a:pt x="1071812" y="167456"/>
                  <a:pt x="1239252" y="33690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Box 19"/>
              <p:cNvSpPr txBox="1"/>
              <p:nvPr/>
            </p:nvSpPr>
            <p:spPr>
              <a:xfrm>
                <a:off x="4204255" y="3178304"/>
                <a:ext cx="1368152" cy="584775"/>
              </a:xfrm>
              <a:prstGeom prst="rect">
                <a:avLst/>
              </a:prstGeom>
              <a:noFill/>
            </p:spPr>
            <p:txBody>
              <a:bodyPr wrap="square" rtlCol="0">
                <a:spAutoFit/>
              </a:bodyPr>
              <a:lstStyle/>
              <a:p>
                <a:pPr/>
                <a14:m>
                  <m:oMathPara xmlns:m="http://schemas.openxmlformats.org/officeDocument/2006/math">
                    <m:oMath>
                      <m:r>
                        <a:rPr lang="en-GB" sz="3200" b="0" i="1" smtClean="0">
                          <a:latin typeface="Cambria Math" panose="02040503050406030204" pitchFamily="18" charset="0"/>
                        </a:rPr>
                        <m:t>+</m:t>
                      </m:r>
                      <m:r>
                        <a:rPr lang="en-GB" sz="3200" b="0" i="1" smtClean="0">
                          <a:latin typeface="Cambria Math" panose="02040503050406030204" pitchFamily="18" charset="0"/>
                        </a:rPr>
                        <m:t>𝑦</m:t>
                      </m:r>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4204255" y="3178304"/>
                <a:ext cx="1368152" cy="58477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64820" y="3657043"/>
                <a:ext cx="3489958" cy="584775"/>
              </a:xfrm>
              <a:prstGeom prst="rect">
                <a:avLst/>
              </a:prstGeom>
              <a:noFill/>
            </p:spPr>
            <p:txBody>
              <a:bodyPr wrap="square" rtlCol="0">
                <a:spAutoFit/>
              </a:bodyPr>
              <a:lstStyle/>
              <a:p>
                <a:pPr/>
                <a14:m>
                  <m:oMathPara xmlns:m="http://schemas.openxmlformats.org/officeDocument/2006/math">
                    <m:oMathParaPr>
                      <m:jc m:val="left"/>
                    </m:oMathParaPr>
                    <m:oMath>
                      <m:r>
                        <a:rPr lang="en-GB" sz="3200" b="0" i="1" smtClean="0">
                          <a:latin typeface="Cambria Math" panose="02040503050406030204" pitchFamily="18" charset="0"/>
                        </a:rPr>
                        <m:t>=</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2</m:t>
                          </m:r>
                        </m:sup>
                      </m:sSup>
                      <m:r>
                        <a:rPr lang="en-GB" sz="3200" b="0" i="1" smtClean="0">
                          <a:latin typeface="Cambria Math" panose="02040503050406030204" pitchFamily="18" charset="0"/>
                        </a:rPr>
                        <m:t>−</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𝑦</m:t>
                          </m:r>
                        </m:e>
                        <m:sup>
                          <m:r>
                            <a:rPr lang="en-GB" sz="3200" b="0" i="1" smtClean="0">
                              <a:latin typeface="Cambria Math" panose="02040503050406030204" pitchFamily="18" charset="0"/>
                            </a:rPr>
                            <m:t>2</m:t>
                          </m:r>
                        </m:sup>
                      </m:sSup>
                      <m:r>
                        <a:rPr lang="en-GB" sz="3200" b="0" i="1" smtClean="0">
                          <a:latin typeface="Cambria Math" panose="02040503050406030204" pitchFamily="18" charset="0"/>
                        </a:rPr>
                        <m:t>−</m:t>
                      </m:r>
                      <m:r>
                        <a:rPr lang="en-GB" sz="3200" b="0" i="1" smtClean="0">
                          <a:latin typeface="Cambria Math" panose="02040503050406030204" pitchFamily="18" charset="0"/>
                        </a:rPr>
                        <m:t>𝑥</m:t>
                      </m:r>
                      <m:r>
                        <a:rPr lang="en-GB" sz="3200" b="0" i="1" smtClean="0">
                          <a:latin typeface="Cambria Math" panose="02040503050406030204" pitchFamily="18" charset="0"/>
                        </a:rPr>
                        <m:t>+</m:t>
                      </m:r>
                      <m:r>
                        <a:rPr lang="en-GB" sz="3200" b="0" i="1" smtClean="0">
                          <a:latin typeface="Cambria Math" panose="02040503050406030204" pitchFamily="18" charset="0"/>
                        </a:rPr>
                        <m:t>𝑦</m:t>
                      </m:r>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464820" y="3657043"/>
                <a:ext cx="3489958" cy="58477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898816" y="4792922"/>
                <a:ext cx="6265472" cy="2062103"/>
              </a:xfrm>
              <a:prstGeom prst="rect">
                <a:avLst/>
              </a:prstGeom>
              <a:noFill/>
            </p:spPr>
            <p:txBody>
              <a:bodyPr wrap="square" rtlCol="0">
                <a:spAutoFit/>
              </a:bodyPr>
              <a:lstStyle/>
              <a:p>
                <a:pPr/>
                <a14:m>
                  <m:oMathPara xmlns:m="http://schemas.openxmlformats.org/officeDocument/2006/math">
                    <m:oMathParaPr>
                      <m:jc m:val="left"/>
                    </m:oMathParaPr>
                    <m:oMath>
                      <m:d>
                        <m:dPr>
                          <m:ctrlPr>
                            <a:rPr lang="en-GB" sz="3200" b="0" i="1" smtClean="0">
                              <a:latin typeface="Cambria Math" panose="02040503050406030204" pitchFamily="18" charset="0"/>
                            </a:rPr>
                          </m:ctrlPr>
                        </m:dPr>
                        <m:e>
                          <m:r>
                            <a:rPr lang="en-GB" sz="3200" b="0" i="1" smtClean="0">
                              <a:latin typeface="Cambria Math" panose="02040503050406030204" pitchFamily="18" charset="0"/>
                            </a:rPr>
                            <m:t>𝑥</m:t>
                          </m:r>
                          <m:r>
                            <a:rPr lang="en-GB" sz="3200" b="0" i="1" smtClean="0">
                              <a:latin typeface="Cambria Math" panose="02040503050406030204" pitchFamily="18" charset="0"/>
                            </a:rPr>
                            <m:t>+1</m:t>
                          </m:r>
                        </m:e>
                      </m:d>
                      <m:d>
                        <m:dPr>
                          <m:ctrlPr>
                            <a:rPr lang="en-GB" sz="3200" b="0" i="1" smtClean="0">
                              <a:latin typeface="Cambria Math" panose="02040503050406030204" pitchFamily="18" charset="0"/>
                            </a:rPr>
                          </m:ctrlPr>
                        </m:dPr>
                        <m:e>
                          <m:r>
                            <a:rPr lang="en-GB" sz="3200" b="0" i="1" smtClean="0">
                              <a:latin typeface="Cambria Math" panose="02040503050406030204" pitchFamily="18" charset="0"/>
                            </a:rPr>
                            <m:t>𝑥</m:t>
                          </m:r>
                          <m:r>
                            <a:rPr lang="en-GB" sz="3200" b="0" i="1" smtClean="0">
                              <a:latin typeface="Cambria Math" panose="02040503050406030204" pitchFamily="18" charset="0"/>
                            </a:rPr>
                            <m:t>+2</m:t>
                          </m:r>
                        </m:e>
                      </m:d>
                      <m:d>
                        <m:dPr>
                          <m:ctrlPr>
                            <a:rPr lang="en-GB" sz="3200" b="0" i="1" smtClean="0">
                              <a:latin typeface="Cambria Math" panose="02040503050406030204" pitchFamily="18" charset="0"/>
                            </a:rPr>
                          </m:ctrlPr>
                        </m:dPr>
                        <m:e>
                          <m:r>
                            <a:rPr lang="en-GB" sz="3200" b="0" i="1" smtClean="0">
                              <a:latin typeface="Cambria Math" panose="02040503050406030204" pitchFamily="18" charset="0"/>
                            </a:rPr>
                            <m:t>𝑥</m:t>
                          </m:r>
                          <m:r>
                            <a:rPr lang="en-GB" sz="3200" b="0" i="1" smtClean="0">
                              <a:latin typeface="Cambria Math" panose="02040503050406030204" pitchFamily="18" charset="0"/>
                            </a:rPr>
                            <m:t>+3</m:t>
                          </m:r>
                        </m:e>
                      </m:d>
                    </m:oMath>
                    <m:oMath>
                      <m:r>
                        <a:rPr lang="en-GB" sz="3200" b="0" i="1" smtClean="0">
                          <a:latin typeface="Cambria Math" panose="02040503050406030204" pitchFamily="18" charset="0"/>
                        </a:rPr>
                        <m:t>=</m:t>
                      </m:r>
                      <m:d>
                        <m:dPr>
                          <m:ctrlPr>
                            <a:rPr lang="en-GB" sz="3200" b="0" i="1" smtClean="0">
                              <a:latin typeface="Cambria Math" panose="02040503050406030204" pitchFamily="18" charset="0"/>
                            </a:rPr>
                          </m:ctrlPr>
                        </m:dPr>
                        <m:e>
                          <m:r>
                            <a:rPr lang="en-GB" sz="3200" b="0" i="1" smtClean="0">
                              <a:latin typeface="Cambria Math" panose="02040503050406030204" pitchFamily="18" charset="0"/>
                            </a:rPr>
                            <m:t>𝑥</m:t>
                          </m:r>
                          <m:r>
                            <a:rPr lang="en-GB" sz="3200" b="0" i="1" smtClean="0">
                              <a:latin typeface="Cambria Math" panose="02040503050406030204" pitchFamily="18" charset="0"/>
                            </a:rPr>
                            <m:t>+1</m:t>
                          </m:r>
                        </m:e>
                      </m:d>
                      <m:d>
                        <m:dPr>
                          <m:ctrlPr>
                            <a:rPr lang="en-GB" sz="3200" b="0" i="1" smtClean="0">
                              <a:latin typeface="Cambria Math" panose="02040503050406030204" pitchFamily="18" charset="0"/>
                            </a:rPr>
                          </m:ctrlPr>
                        </m:dPr>
                        <m:e>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2</m:t>
                              </m:r>
                            </m:sup>
                          </m:sSup>
                          <m:r>
                            <a:rPr lang="en-GB" sz="3200" b="0" i="1" smtClean="0">
                              <a:latin typeface="Cambria Math" panose="02040503050406030204" pitchFamily="18" charset="0"/>
                            </a:rPr>
                            <m:t>+5</m:t>
                          </m:r>
                          <m:r>
                            <a:rPr lang="en-GB" sz="3200" b="0" i="1" smtClean="0">
                              <a:latin typeface="Cambria Math" panose="02040503050406030204" pitchFamily="18" charset="0"/>
                            </a:rPr>
                            <m:t>𝑥</m:t>
                          </m:r>
                          <m:r>
                            <a:rPr lang="en-GB" sz="3200" b="0" i="1" smtClean="0">
                              <a:latin typeface="Cambria Math" panose="02040503050406030204" pitchFamily="18" charset="0"/>
                            </a:rPr>
                            <m:t>+6</m:t>
                          </m:r>
                        </m:e>
                      </m:d>
                    </m:oMath>
                    <m:oMath>
                      <m:r>
                        <a:rPr lang="en-GB" sz="3200" b="0" i="1" smtClean="0">
                          <a:latin typeface="Cambria Math" panose="02040503050406030204" pitchFamily="18" charset="0"/>
                        </a:rPr>
                        <m:t>=</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3</m:t>
                          </m:r>
                        </m:sup>
                      </m:sSup>
                      <m:r>
                        <a:rPr lang="en-GB" sz="3200" b="0" i="1" smtClean="0">
                          <a:latin typeface="Cambria Math" panose="02040503050406030204" pitchFamily="18" charset="0"/>
                        </a:rPr>
                        <m:t>+5</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2</m:t>
                          </m:r>
                        </m:sup>
                      </m:sSup>
                      <m:r>
                        <a:rPr lang="en-GB" sz="3200" b="0" i="1" smtClean="0">
                          <a:latin typeface="Cambria Math" panose="02040503050406030204" pitchFamily="18" charset="0"/>
                        </a:rPr>
                        <m:t>+6</m:t>
                      </m:r>
                      <m:r>
                        <a:rPr lang="en-GB" sz="3200" b="0" i="1" smtClean="0">
                          <a:latin typeface="Cambria Math" panose="02040503050406030204" pitchFamily="18" charset="0"/>
                        </a:rPr>
                        <m:t>𝑥</m:t>
                      </m:r>
                      <m:r>
                        <a:rPr lang="en-GB" sz="3200" b="0" i="1" smtClean="0">
                          <a:latin typeface="Cambria Math" panose="02040503050406030204" pitchFamily="18" charset="0"/>
                        </a:rPr>
                        <m:t>+</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2</m:t>
                          </m:r>
                        </m:sup>
                      </m:sSup>
                      <m:r>
                        <a:rPr lang="en-GB" sz="3200" b="0" i="1" smtClean="0">
                          <a:latin typeface="Cambria Math" panose="02040503050406030204" pitchFamily="18" charset="0"/>
                        </a:rPr>
                        <m:t>+5</m:t>
                      </m:r>
                      <m:r>
                        <a:rPr lang="en-GB" sz="3200" b="0" i="1" smtClean="0">
                          <a:latin typeface="Cambria Math" panose="02040503050406030204" pitchFamily="18" charset="0"/>
                        </a:rPr>
                        <m:t>𝑥</m:t>
                      </m:r>
                      <m:r>
                        <a:rPr lang="en-GB" sz="3200" b="0" i="1" smtClean="0">
                          <a:latin typeface="Cambria Math" panose="02040503050406030204" pitchFamily="18" charset="0"/>
                        </a:rPr>
                        <m:t>+6</m:t>
                      </m:r>
                    </m:oMath>
                    <m:oMath>
                      <m:r>
                        <a:rPr lang="en-GB" sz="3200" b="0" i="1" smtClean="0">
                          <a:latin typeface="Cambria Math" panose="02040503050406030204" pitchFamily="18" charset="0"/>
                        </a:rPr>
                        <m:t>=</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3</m:t>
                          </m:r>
                        </m:sup>
                      </m:sSup>
                      <m:r>
                        <a:rPr lang="en-GB" sz="3200" b="0" i="1" smtClean="0">
                          <a:latin typeface="Cambria Math" panose="02040503050406030204" pitchFamily="18" charset="0"/>
                        </a:rPr>
                        <m:t>+6</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𝑥</m:t>
                          </m:r>
                        </m:e>
                        <m:sup>
                          <m:r>
                            <a:rPr lang="en-GB" sz="3200" b="0" i="1" smtClean="0">
                              <a:latin typeface="Cambria Math" panose="02040503050406030204" pitchFamily="18" charset="0"/>
                            </a:rPr>
                            <m:t>2</m:t>
                          </m:r>
                        </m:sup>
                      </m:sSup>
                      <m:r>
                        <a:rPr lang="en-GB" sz="3200" b="0" i="1" smtClean="0">
                          <a:latin typeface="Cambria Math" panose="02040503050406030204" pitchFamily="18" charset="0"/>
                        </a:rPr>
                        <m:t>+11</m:t>
                      </m:r>
                      <m:r>
                        <a:rPr lang="en-GB" sz="3200" b="0" i="1" smtClean="0">
                          <a:latin typeface="Cambria Math" panose="02040503050406030204" pitchFamily="18" charset="0"/>
                        </a:rPr>
                        <m:t>𝑥</m:t>
                      </m:r>
                      <m:r>
                        <a:rPr lang="en-GB" sz="3200" b="0" i="1" smtClean="0">
                          <a:latin typeface="Cambria Math" panose="02040503050406030204" pitchFamily="18" charset="0"/>
                        </a:rPr>
                        <m:t>+6</m:t>
                      </m:r>
                    </m:oMath>
                  </m:oMathPara>
                </a14:m>
                <a:endParaRPr lang="en-GB" sz="3200" b="0" dirty="0"/>
              </a:p>
            </p:txBody>
          </p:sp>
        </mc:Choice>
        <mc:Fallback xmlns="">
          <p:sp>
            <p:nvSpPr>
              <p:cNvPr id="22" name="TextBox 21"/>
              <p:cNvSpPr txBox="1">
                <a:spLocks noRot="1" noChangeAspect="1" noMove="1" noResize="1" noEditPoints="1" noAdjustHandles="1" noChangeArrowheads="1" noChangeShapeType="1" noTextEdit="1"/>
              </p:cNvSpPr>
              <p:nvPr/>
            </p:nvSpPr>
            <p:spPr>
              <a:xfrm>
                <a:off x="898816" y="4792922"/>
                <a:ext cx="6265472" cy="2062103"/>
              </a:xfrm>
              <a:prstGeom prst="rect">
                <a:avLst/>
              </a:prstGeom>
              <a:blipFill>
                <a:blip r:embed="rId10"/>
                <a:stretch>
                  <a:fillRect/>
                </a:stretch>
              </a:blipFill>
            </p:spPr>
            <p:txBody>
              <a:bodyPr/>
              <a:lstStyle/>
              <a:p>
                <a:r>
                  <a:rPr lang="en-GB">
                    <a:noFill/>
                  </a:rPr>
                  <a:t> </a:t>
                </a:r>
              </a:p>
            </p:txBody>
          </p:sp>
        </mc:Fallback>
      </mc:AlternateContent>
      <p:sp>
        <p:nvSpPr>
          <p:cNvPr id="23" name="TextBox 22"/>
          <p:cNvSpPr txBox="1"/>
          <p:nvPr/>
        </p:nvSpPr>
        <p:spPr>
          <a:xfrm>
            <a:off x="6086358" y="4446450"/>
            <a:ext cx="2880320" cy="738664"/>
          </a:xfrm>
          <a:prstGeom prst="rect">
            <a:avLst/>
          </a:prstGeom>
          <a:noFill/>
        </p:spPr>
        <p:txBody>
          <a:bodyPr wrap="square" rtlCol="0">
            <a:spAutoFit/>
          </a:bodyPr>
          <a:lstStyle/>
          <a:p>
            <a:r>
              <a:rPr lang="en-GB" sz="1400" b="1" dirty="0"/>
              <a:t>Tip</a:t>
            </a:r>
            <a:r>
              <a:rPr lang="en-GB" sz="1400" dirty="0"/>
              <a:t>: For more than 2 brackets, multiply two out each time to reduce the number of brackets by one.</a:t>
            </a:r>
          </a:p>
        </p:txBody>
      </p:sp>
      <p:sp>
        <p:nvSpPr>
          <p:cNvPr id="25" name="Rectangle 24"/>
          <p:cNvSpPr/>
          <p:nvPr/>
        </p:nvSpPr>
        <p:spPr>
          <a:xfrm>
            <a:off x="857647" y="5333999"/>
            <a:ext cx="5860653" cy="145314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16142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 presetClass="entr" presetSubtype="0" fill="hold" grpId="1" nodeType="withEffect">
                                  <p:stCondLst>
                                    <p:cond delay="0"/>
                                  </p:stCondLst>
                                  <p:childTnLst>
                                    <p:set>
                                      <p:cBhvr>
                                        <p:cTn id="65"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6" restart="whenNotActive" fill="hold" evtFilter="cancelBubble" nodeType="interactiveSeq">
                <p:stCondLst>
                  <p:cond evt="onClick" delay="0">
                    <p:tgtEl>
                      <p:spTgt spid="25"/>
                    </p:tgtEl>
                  </p:cond>
                </p:stCondLst>
                <p:endSync evt="end" delay="0">
                  <p:rtn val="all"/>
                </p:endSync>
                <p:childTnLst>
                  <p:par>
                    <p:cTn id="67" fill="hold">
                      <p:stCondLst>
                        <p:cond delay="0"/>
                      </p:stCondLst>
                      <p:childTnLst>
                        <p:par>
                          <p:cTn id="68" fill="hold">
                            <p:stCondLst>
                              <p:cond delay="0"/>
                            </p:stCondLst>
                            <p:childTnLst>
                              <p:par>
                                <p:cTn id="69" presetID="10" presetClass="exit" presetSubtype="0" fill="hold" grpId="0" nodeType="clickEffect">
                                  <p:stCondLst>
                                    <p:cond delay="0"/>
                                  </p:stCondLst>
                                  <p:childTnLst>
                                    <p:animEffect transition="out" filter="fade">
                                      <p:cBhvr>
                                        <p:cTn id="70" dur="500"/>
                                        <p:tgtEl>
                                          <p:spTgt spid="25"/>
                                        </p:tgtEl>
                                      </p:cBhvr>
                                    </p:animEffect>
                                    <p:set>
                                      <p:cBhvr>
                                        <p:cTn id="71"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childTnLst>
        </p:cTn>
      </p:par>
    </p:tnLst>
    <p:bldLst>
      <p:bldP spid="9" grpId="0" animBg="1"/>
      <p:bldP spid="10" grpId="0"/>
      <p:bldP spid="11" grpId="0" animBg="1"/>
      <p:bldP spid="12" grpId="0"/>
      <p:bldP spid="13" grpId="0" animBg="1"/>
      <p:bldP spid="14" grpId="0"/>
      <p:bldP spid="15" grpId="0" animBg="1"/>
      <p:bldP spid="16" grpId="0"/>
      <p:bldP spid="17" grpId="0" animBg="1"/>
      <p:bldP spid="18" grpId="0"/>
      <p:bldP spid="19" grpId="0" animBg="1"/>
      <p:bldP spid="20" grpId="0"/>
      <p:bldP spid="21" grpId="0"/>
      <p:bldP spid="22" grpId="0"/>
      <p:bldP spid="23" grpId="0"/>
      <p:bldP spid="25" grpId="0" animBg="1"/>
      <p:bldP spid="2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95355" y="876611"/>
                <a:ext cx="3618765"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Expand and simplify</a:t>
                </a:r>
              </a:p>
              <a:p>
                <a:pPr/>
                <a14:m>
                  <m:oMathPara xmlns:m="http://schemas.openxmlformats.org/officeDocument/2006/math">
                    <m:oMath>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+5</m:t>
                          </m:r>
                        </m:e>
                      </m:d>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95355" y="876611"/>
                <a:ext cx="3618765"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11560" y="1556792"/>
                <a:ext cx="3528392" cy="923330"/>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+5</m:t>
                          </m:r>
                        </m:e>
                      </m:d>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−2</m:t>
                          </m:r>
                        </m:e>
                      </m:d>
                    </m:o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+5</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−5</m:t>
                      </m:r>
                      <m:r>
                        <a:rPr lang="en-GB" b="0" i="1" smtClean="0">
                          <a:latin typeface="Cambria Math" panose="02040503050406030204" pitchFamily="18" charset="0"/>
                        </a:rPr>
                        <m:t>𝑥</m:t>
                      </m:r>
                      <m:r>
                        <a:rPr lang="en-GB" b="0" i="1" smtClean="0">
                          <a:latin typeface="Cambria Math" panose="02040503050406030204" pitchFamily="18" charset="0"/>
                        </a:rPr>
                        <m:t>−10</m:t>
                      </m:r>
                    </m:o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−7</m:t>
                      </m:r>
                      <m:r>
                        <a:rPr lang="en-GB" b="0" i="1" smtClean="0">
                          <a:latin typeface="Cambria Math" panose="02040503050406030204" pitchFamily="18" charset="0"/>
                        </a:rPr>
                        <m:t>𝑥</m:t>
                      </m:r>
                      <m:r>
                        <a:rPr lang="en-GB" b="0" i="1" smtClean="0">
                          <a:latin typeface="Cambria Math" panose="02040503050406030204" pitchFamily="18" charset="0"/>
                        </a:rPr>
                        <m:t>−10</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611560" y="1556792"/>
                <a:ext cx="3528392" cy="92333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754470" y="892495"/>
                <a:ext cx="3618765"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Expand and simplify:</a:t>
                </a:r>
              </a:p>
              <a:p>
                <a:pPr/>
                <a14:m>
                  <m:oMathPara xmlns:m="http://schemas.openxmlformats.org/officeDocument/2006/math">
                    <m:oMath>
                      <m:r>
                        <a:rPr lang="en-GB" b="0" i="1" smtClean="0">
                          <a:latin typeface="Cambria Math" panose="02040503050406030204" pitchFamily="18" charset="0"/>
                        </a:rPr>
                        <m:t>2</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−4</m:t>
                          </m:r>
                        </m:e>
                      </m:d>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4754470" y="892495"/>
                <a:ext cx="3618765" cy="646331"/>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970675" y="1572676"/>
                <a:ext cx="2880320"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=2</m:t>
                      </m:r>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−7</m:t>
                          </m:r>
                          <m:r>
                            <a:rPr lang="en-GB" b="0" i="1" smtClean="0">
                              <a:latin typeface="Cambria Math" panose="02040503050406030204" pitchFamily="18" charset="0"/>
                            </a:rPr>
                            <m:t>𝑥</m:t>
                          </m:r>
                          <m:r>
                            <a:rPr lang="en-GB" b="0" i="1" smtClean="0">
                              <a:latin typeface="Cambria Math" panose="02040503050406030204" pitchFamily="18" charset="0"/>
                            </a:rPr>
                            <m:t>+12</m:t>
                          </m:r>
                        </m:e>
                      </m:d>
                    </m:oMath>
                    <m:oMath>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−14</m:t>
                      </m:r>
                      <m:r>
                        <a:rPr lang="en-GB" b="0" i="1" smtClean="0">
                          <a:latin typeface="Cambria Math" panose="02040503050406030204" pitchFamily="18" charset="0"/>
                        </a:rPr>
                        <m:t>𝑥</m:t>
                      </m:r>
                      <m:r>
                        <a:rPr lang="en-GB" b="0" i="1" smtClean="0">
                          <a:latin typeface="Cambria Math" panose="02040503050406030204" pitchFamily="18" charset="0"/>
                        </a:rPr>
                        <m:t>+24</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4970675" y="1572676"/>
                <a:ext cx="2880320" cy="646331"/>
              </a:xfrm>
              <a:prstGeom prst="rect">
                <a:avLst/>
              </a:prstGeom>
              <a:blipFill>
                <a:blip r:embed="rId5"/>
                <a:stretch>
                  <a:fillRect/>
                </a:stretch>
              </a:blipFill>
            </p:spPr>
            <p:txBody>
              <a:bodyPr/>
              <a:lstStyle/>
              <a:p>
                <a:r>
                  <a:rPr lang="en-GB">
                    <a:noFill/>
                  </a:rPr>
                  <a:t> </a:t>
                </a:r>
              </a:p>
            </p:txBody>
          </p:sp>
        </mc:Fallback>
      </mc:AlternateContent>
      <p:sp>
        <p:nvSpPr>
          <p:cNvPr id="14" name="Rectangle 13"/>
          <p:cNvSpPr/>
          <p:nvPr/>
        </p:nvSpPr>
        <p:spPr>
          <a:xfrm>
            <a:off x="369693" y="1510175"/>
            <a:ext cx="3632430" cy="9536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4740805" y="1522942"/>
            <a:ext cx="3632430" cy="11859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107504" y="87661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9" name="Rectangle 18"/>
          <p:cNvSpPr/>
          <p:nvPr/>
        </p:nvSpPr>
        <p:spPr>
          <a:xfrm>
            <a:off x="4483007" y="87661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mc:AlternateContent xmlns:mc="http://schemas.openxmlformats.org/markup-compatibility/2006" xmlns:a14="http://schemas.microsoft.com/office/drawing/2010/main">
        <mc:Choice Requires="a14">
          <p:sp>
            <p:nvSpPr>
              <p:cNvPr id="22" name="TextBox 21"/>
              <p:cNvSpPr txBox="1"/>
              <p:nvPr/>
            </p:nvSpPr>
            <p:spPr>
              <a:xfrm>
                <a:off x="2673624" y="3272300"/>
                <a:ext cx="3618765"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Expand and simplify:</a:t>
                </a:r>
              </a:p>
              <a:p>
                <a:pPr/>
                <a14:m>
                  <m:oMathPara xmlns:m="http://schemas.openxmlformats.org/officeDocument/2006/math">
                    <m:o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−1</m:t>
                              </m:r>
                            </m:e>
                          </m:d>
                        </m:e>
                        <m:sup>
                          <m:r>
                            <a:rPr lang="en-GB" b="0" i="1" smtClean="0">
                              <a:latin typeface="Cambria Math" panose="02040503050406030204" pitchFamily="18" charset="0"/>
                            </a:rPr>
                            <m:t>3</m:t>
                          </m:r>
                        </m:sup>
                      </m:sSup>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2673624" y="3272300"/>
                <a:ext cx="3618765" cy="646331"/>
              </a:xfrm>
              <a:prstGeom prst="rect">
                <a:avLst/>
              </a:prstGeom>
              <a:blipFill>
                <a:blip r:embed="rId6"/>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496128" y="3990581"/>
                <a:ext cx="3986428" cy="1223989"/>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−1</m:t>
                          </m:r>
                        </m:e>
                      </m:d>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−1</m:t>
                          </m:r>
                        </m:e>
                      </m:d>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−1</m:t>
                          </m:r>
                        </m:e>
                      </m:d>
                    </m:oMath>
                    <m:o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−1</m:t>
                          </m:r>
                        </m:e>
                      </m:d>
                      <m:d>
                        <m:dPr>
                          <m:ctrlPr>
                            <a:rPr lang="en-GB" b="0" i="1" smtClean="0">
                              <a:latin typeface="Cambria Math" panose="02040503050406030204" pitchFamily="18" charset="0"/>
                            </a:rPr>
                          </m:ctrlPr>
                        </m:dPr>
                        <m:e>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+1</m:t>
                          </m:r>
                        </m:e>
                      </m:d>
                    </m:oMath>
                    <m:oMath>
                      <m:r>
                        <a:rPr lang="en-GB" b="0" i="1" smtClean="0">
                          <a:latin typeface="Cambria Math" panose="02040503050406030204" pitchFamily="18" charset="0"/>
                        </a:rPr>
                        <m:t>=8</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−8</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−1</m:t>
                      </m:r>
                    </m:oMath>
                    <m:oMath>
                      <m:r>
                        <a:rPr lang="en-GB" b="0" i="1" smtClean="0">
                          <a:latin typeface="Cambria Math" panose="02040503050406030204" pitchFamily="18" charset="0"/>
                        </a:rPr>
                        <m:t>=8</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−12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+6</m:t>
                      </m:r>
                      <m:r>
                        <a:rPr lang="en-GB" b="0" i="1" smtClean="0">
                          <a:latin typeface="Cambria Math" panose="02040503050406030204" pitchFamily="18" charset="0"/>
                        </a:rPr>
                        <m:t>𝑥</m:t>
                      </m:r>
                      <m:r>
                        <a:rPr lang="en-GB" b="0" i="1" smtClean="0">
                          <a:latin typeface="Cambria Math" panose="02040503050406030204" pitchFamily="18" charset="0"/>
                        </a:rPr>
                        <m:t>−1</m:t>
                      </m:r>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2496128" y="3990581"/>
                <a:ext cx="3986428" cy="1223989"/>
              </a:xfrm>
              <a:prstGeom prst="rect">
                <a:avLst/>
              </a:prstGeom>
              <a:blipFill>
                <a:blip r:embed="rId7"/>
                <a:stretch>
                  <a:fillRect/>
                </a:stretch>
              </a:blipFill>
            </p:spPr>
            <p:txBody>
              <a:bodyPr/>
              <a:lstStyle/>
              <a:p>
                <a:r>
                  <a:rPr lang="en-GB">
                    <a:noFill/>
                  </a:rPr>
                  <a:t> </a:t>
                </a:r>
              </a:p>
            </p:txBody>
          </p:sp>
        </mc:Fallback>
      </mc:AlternateContent>
      <p:sp>
        <p:nvSpPr>
          <p:cNvPr id="24" name="Rectangle 23"/>
          <p:cNvSpPr/>
          <p:nvPr/>
        </p:nvSpPr>
        <p:spPr>
          <a:xfrm>
            <a:off x="2659959" y="3951021"/>
            <a:ext cx="3632430" cy="11859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5" name="Rectangle 24"/>
          <p:cNvSpPr/>
          <p:nvPr/>
        </p:nvSpPr>
        <p:spPr>
          <a:xfrm>
            <a:off x="2402161" y="3256416"/>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3</a:t>
            </a:r>
          </a:p>
        </p:txBody>
      </p:sp>
    </p:spTree>
    <p:extLst>
      <p:ext uri="{BB962C8B-B14F-4D97-AF65-F5344CB8AC3E}">
        <p14:creationId xmlns:p14="http://schemas.microsoft.com/office/powerpoint/2010/main" val="21877634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2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4"/>
                                        </p:tgtEl>
                                      </p:cBhvr>
                                    </p:animEffect>
                                    <p:set>
                                      <p:cBhvr>
                                        <p:cTn id="19"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14" grpId="0" animBg="1"/>
      <p:bldP spid="15"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9664"/>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1B - Pure Year 1/AS  Page 6</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9" name="Picture 8">
            <a:extLst>
              <a:ext uri="{FF2B5EF4-FFF2-40B4-BE49-F238E27FC236}">
                <a16:creationId xmlns:a16="http://schemas.microsoft.com/office/drawing/2014/main" id="{50278E29-7FE6-BAC8-3794-0C4F248228B5}"/>
              </a:ext>
            </a:extLst>
          </p:cNvPr>
          <p:cNvPicPr>
            <a:picLocks noChangeAspect="1"/>
          </p:cNvPicPr>
          <p:nvPr/>
        </p:nvPicPr>
        <p:blipFill>
          <a:blip r:embed="rId2"/>
          <a:stretch>
            <a:fillRect/>
          </a:stretch>
        </p:blipFill>
        <p:spPr>
          <a:xfrm>
            <a:off x="107504" y="692695"/>
            <a:ext cx="4392718" cy="2592287"/>
          </a:xfrm>
          <a:prstGeom prst="rect">
            <a:avLst/>
          </a:prstGeom>
        </p:spPr>
      </p:pic>
      <p:pic>
        <p:nvPicPr>
          <p:cNvPr id="10" name="Picture 9">
            <a:extLst>
              <a:ext uri="{FF2B5EF4-FFF2-40B4-BE49-F238E27FC236}">
                <a16:creationId xmlns:a16="http://schemas.microsoft.com/office/drawing/2014/main" id="{69C44AA3-1A40-3649-7183-5A606F12B7BF}"/>
              </a:ext>
            </a:extLst>
          </p:cNvPr>
          <p:cNvPicPr>
            <a:picLocks noChangeAspect="1"/>
          </p:cNvPicPr>
          <p:nvPr/>
        </p:nvPicPr>
        <p:blipFill>
          <a:blip r:embed="rId3"/>
          <a:stretch>
            <a:fillRect/>
          </a:stretch>
        </p:blipFill>
        <p:spPr>
          <a:xfrm>
            <a:off x="4669743" y="1188219"/>
            <a:ext cx="4314307" cy="1232659"/>
          </a:xfrm>
          <a:prstGeom prst="rect">
            <a:avLst/>
          </a:prstGeom>
        </p:spPr>
      </p:pic>
      <p:pic>
        <p:nvPicPr>
          <p:cNvPr id="21" name="Picture 20">
            <a:extLst>
              <a:ext uri="{FF2B5EF4-FFF2-40B4-BE49-F238E27FC236}">
                <a16:creationId xmlns:a16="http://schemas.microsoft.com/office/drawing/2014/main" id="{B9C088B7-851D-9C35-0AA2-9DBA2D184927}"/>
              </a:ext>
            </a:extLst>
          </p:cNvPr>
          <p:cNvPicPr>
            <a:picLocks noChangeAspect="1"/>
          </p:cNvPicPr>
          <p:nvPr/>
        </p:nvPicPr>
        <p:blipFill>
          <a:blip r:embed="rId4"/>
          <a:stretch>
            <a:fillRect/>
          </a:stretch>
        </p:blipFill>
        <p:spPr>
          <a:xfrm>
            <a:off x="115239" y="3380268"/>
            <a:ext cx="6903438" cy="775296"/>
          </a:xfrm>
          <a:prstGeom prst="rect">
            <a:avLst/>
          </a:prstGeom>
        </p:spPr>
      </p:pic>
      <p:pic>
        <p:nvPicPr>
          <p:cNvPr id="22" name="Picture 21">
            <a:extLst>
              <a:ext uri="{FF2B5EF4-FFF2-40B4-BE49-F238E27FC236}">
                <a16:creationId xmlns:a16="http://schemas.microsoft.com/office/drawing/2014/main" id="{EED9C384-7637-CAD0-CB61-BBBA92CB5B3E}"/>
              </a:ext>
            </a:extLst>
          </p:cNvPr>
          <p:cNvPicPr>
            <a:picLocks noChangeAspect="1"/>
          </p:cNvPicPr>
          <p:nvPr/>
        </p:nvPicPr>
        <p:blipFill rotWithShape="1">
          <a:blip r:embed="rId5"/>
          <a:srcRect l="9804"/>
          <a:stretch/>
        </p:blipFill>
        <p:spPr>
          <a:xfrm>
            <a:off x="395536" y="4155564"/>
            <a:ext cx="4608512" cy="2252864"/>
          </a:xfrm>
          <a:prstGeom prst="rect">
            <a:avLst/>
          </a:prstGeom>
        </p:spPr>
      </p:pic>
      <p:sp>
        <p:nvSpPr>
          <p:cNvPr id="23" name="Rectangle 22">
            <a:extLst>
              <a:ext uri="{FF2B5EF4-FFF2-40B4-BE49-F238E27FC236}">
                <a16:creationId xmlns:a16="http://schemas.microsoft.com/office/drawing/2014/main" id="{32B59B4E-CEE6-9E5E-39A8-961A29C82237}"/>
              </a:ext>
            </a:extLst>
          </p:cNvPr>
          <p:cNvSpPr/>
          <p:nvPr/>
        </p:nvSpPr>
        <p:spPr>
          <a:xfrm>
            <a:off x="395536" y="4155564"/>
            <a:ext cx="4392488" cy="22528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4" name="Rectangle 23">
            <a:extLst>
              <a:ext uri="{FF2B5EF4-FFF2-40B4-BE49-F238E27FC236}">
                <a16:creationId xmlns:a16="http://schemas.microsoft.com/office/drawing/2014/main" id="{829BC6AA-0DD3-C3F1-20A6-7CC58F7CDB46}"/>
              </a:ext>
            </a:extLst>
          </p:cNvPr>
          <p:cNvSpPr/>
          <p:nvPr/>
        </p:nvSpPr>
        <p:spPr>
          <a:xfrm>
            <a:off x="4565342" y="739756"/>
            <a:ext cx="4392488" cy="22528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873283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4"/>
                                        </p:tgtEl>
                                      </p:cBhvr>
                                    </p:animEffect>
                                    <p:set>
                                      <p:cBhvr>
                                        <p:cTn id="13"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9664"/>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1B - Pure Year 1/AS  Page 5</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Connector 5"/>
          <p:cNvCxnSpPr/>
          <p:nvPr/>
        </p:nvCxnSpPr>
        <p:spPr>
          <a:xfrm>
            <a:off x="-1144" y="1340768"/>
            <a:ext cx="9144000" cy="0"/>
          </a:xfrm>
          <a:prstGeom prst="line">
            <a:avLst/>
          </a:prstGeom>
        </p:spPr>
        <p:style>
          <a:lnRef idx="1">
            <a:schemeClr val="dk1"/>
          </a:lnRef>
          <a:fillRef idx="0">
            <a:schemeClr val="dk1"/>
          </a:fillRef>
          <a:effectRef idx="0">
            <a:schemeClr val="dk1"/>
          </a:effectRef>
          <a:fontRef idx="minor">
            <a:schemeClr val="tx1"/>
          </a:fontRef>
        </p:style>
      </p:cxnSp>
      <p:pic>
        <p:nvPicPr>
          <p:cNvPr id="11" name="Picture 10"/>
          <p:cNvPicPr/>
          <p:nvPr/>
        </p:nvPicPr>
        <p:blipFill>
          <a:blip r:embed="rId2">
            <a:extLst>
              <a:ext uri="{28A0092B-C50C-407E-A947-70E740481C1C}">
                <a14:useLocalDpi xmlns:a14="http://schemas.microsoft.com/office/drawing/2010/main" val="0"/>
              </a:ext>
            </a:extLst>
          </a:blip>
          <a:srcRect/>
          <a:stretch>
            <a:fillRect/>
          </a:stretch>
        </p:blipFill>
        <p:spPr bwMode="auto">
          <a:xfrm>
            <a:off x="390076" y="2112568"/>
            <a:ext cx="4624784" cy="3240360"/>
          </a:xfrm>
          <a:prstGeom prst="rect">
            <a:avLst/>
          </a:prstGeom>
          <a:noFill/>
          <a:ln>
            <a:noFill/>
          </a:ln>
        </p:spPr>
      </p:pic>
      <p:sp>
        <p:nvSpPr>
          <p:cNvPr id="12" name="Rectangle 11"/>
          <p:cNvSpPr/>
          <p:nvPr/>
        </p:nvSpPr>
        <p:spPr>
          <a:xfrm>
            <a:off x="123419" y="2165594"/>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3" name="Rectangle 12"/>
          <p:cNvSpPr/>
          <p:nvPr/>
        </p:nvSpPr>
        <p:spPr>
          <a:xfrm>
            <a:off x="4574277" y="2176068"/>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14" name="TextBox 13"/>
          <p:cNvSpPr txBox="1"/>
          <p:nvPr/>
        </p:nvSpPr>
        <p:spPr>
          <a:xfrm>
            <a:off x="610416" y="5517232"/>
            <a:ext cx="2808312" cy="369332"/>
          </a:xfrm>
          <a:prstGeom prst="rect">
            <a:avLst/>
          </a:prstGeom>
          <a:noFill/>
        </p:spPr>
        <p:txBody>
          <a:bodyPr wrap="square" rtlCol="0">
            <a:spAutoFit/>
          </a:bodyPr>
          <a:lstStyle/>
          <a:p>
            <a:r>
              <a:rPr lang="en-GB" b="1" dirty="0"/>
              <a:t>Solution: (ii) only</a:t>
            </a:r>
          </a:p>
        </p:txBody>
      </p:sp>
      <p:pic>
        <p:nvPicPr>
          <p:cNvPr id="15" name="Picture 14"/>
          <p:cNvPicPr/>
          <p:nvPr/>
        </p:nvPicPr>
        <p:blipFill>
          <a:blip r:embed="rId3">
            <a:extLst>
              <a:ext uri="{28A0092B-C50C-407E-A947-70E740481C1C}">
                <a14:useLocalDpi xmlns:a14="http://schemas.microsoft.com/office/drawing/2010/main" val="0"/>
              </a:ext>
            </a:extLst>
          </a:blip>
          <a:srcRect/>
          <a:stretch>
            <a:fillRect/>
          </a:stretch>
        </p:blipFill>
        <p:spPr bwMode="auto">
          <a:xfrm>
            <a:off x="4861812" y="2095924"/>
            <a:ext cx="4279900" cy="2552700"/>
          </a:xfrm>
          <a:prstGeom prst="rect">
            <a:avLst/>
          </a:prstGeom>
          <a:noFill/>
          <a:ln>
            <a:noFill/>
          </a:ln>
        </p:spPr>
      </p:pic>
      <mc:AlternateContent xmlns:mc="http://schemas.openxmlformats.org/markup-compatibility/2006" xmlns:a14="http://schemas.microsoft.com/office/drawing/2010/main">
        <mc:Choice Requires="a14">
          <p:sp>
            <p:nvSpPr>
              <p:cNvPr id="16" name="TextBox 15"/>
              <p:cNvSpPr txBox="1"/>
              <p:nvPr/>
            </p:nvSpPr>
            <p:spPr>
              <a:xfrm>
                <a:off x="5028056" y="5434983"/>
                <a:ext cx="3123253" cy="369332"/>
              </a:xfrm>
              <a:prstGeom prst="rect">
                <a:avLst/>
              </a:prstGeom>
              <a:noFill/>
            </p:spPr>
            <p:txBody>
              <a:bodyPr wrap="square" rtlCol="0">
                <a:spAutoFit/>
              </a:bodyPr>
              <a:lstStyle/>
              <a:p>
                <a:r>
                  <a:rPr lang="en-GB" b="1" dirty="0"/>
                  <a:t>Solution: </a:t>
                </a:r>
                <a14:m>
                  <m:oMath xmlns:m="http://schemas.openxmlformats.org/officeDocument/2006/math">
                    <m:r>
                      <a:rPr lang="en-GB" b="1" i="1" smtClean="0">
                        <a:latin typeface="Cambria Math" panose="02040503050406030204" pitchFamily="18" charset="0"/>
                      </a:rPr>
                      <m:t>𝒏</m:t>
                    </m:r>
                  </m:oMath>
                </a14:m>
                <a:r>
                  <a:rPr lang="en-GB" b="1" dirty="0"/>
                  <a:t> is odd and </a:t>
                </a:r>
                <a14:m>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&gt;</m:t>
                    </m:r>
                    <m:r>
                      <a:rPr lang="en-GB" b="1" i="1" smtClean="0">
                        <a:latin typeface="Cambria Math" panose="02040503050406030204" pitchFamily="18" charset="0"/>
                      </a:rPr>
                      <m:t>𝟓</m:t>
                    </m:r>
                  </m:oMath>
                </a14:m>
                <a:endParaRPr lang="en-GB" b="1" dirty="0"/>
              </a:p>
            </p:txBody>
          </p:sp>
        </mc:Choice>
        <mc:Fallback xmlns="">
          <p:sp>
            <p:nvSpPr>
              <p:cNvPr id="16" name="TextBox 15"/>
              <p:cNvSpPr txBox="1">
                <a:spLocks noRot="1" noChangeAspect="1" noMove="1" noResize="1" noEditPoints="1" noAdjustHandles="1" noChangeArrowheads="1" noChangeShapeType="1" noTextEdit="1"/>
              </p:cNvSpPr>
              <p:nvPr/>
            </p:nvSpPr>
            <p:spPr>
              <a:xfrm>
                <a:off x="5028056" y="5434983"/>
                <a:ext cx="3123253" cy="369332"/>
              </a:xfrm>
              <a:prstGeom prst="rect">
                <a:avLst/>
              </a:prstGeom>
              <a:blipFill>
                <a:blip r:embed="rId4"/>
                <a:stretch>
                  <a:fillRect l="-2033" t="-10345" b="-27586"/>
                </a:stretch>
              </a:blipFill>
            </p:spPr>
            <p:txBody>
              <a:bodyPr/>
              <a:lstStyle/>
              <a:p>
                <a:r>
                  <a:rPr lang="en-GB">
                    <a:noFill/>
                  </a:rPr>
                  <a:t> </a:t>
                </a:r>
              </a:p>
            </p:txBody>
          </p:sp>
        </mc:Fallback>
      </mc:AlternateContent>
      <p:sp>
        <p:nvSpPr>
          <p:cNvPr id="17" name="Rectangle 16"/>
          <p:cNvSpPr/>
          <p:nvPr/>
        </p:nvSpPr>
        <p:spPr>
          <a:xfrm>
            <a:off x="601415" y="5409828"/>
            <a:ext cx="2559741" cy="5395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5028056" y="5396853"/>
            <a:ext cx="2984500" cy="5395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9" name="TextBox 18"/>
          <p:cNvSpPr txBox="1"/>
          <p:nvPr/>
        </p:nvSpPr>
        <p:spPr>
          <a:xfrm>
            <a:off x="430486" y="1472753"/>
            <a:ext cx="6300610" cy="369332"/>
          </a:xfrm>
          <a:prstGeom prst="rect">
            <a:avLst/>
          </a:prstGeom>
          <a:solidFill>
            <a:schemeClr val="bg1"/>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solidFill>
                  <a:schemeClr val="tx1"/>
                </a:solidFill>
              </a:rPr>
              <a:t>Extension </a:t>
            </a:r>
            <a:r>
              <a:rPr lang="en-GB" dirty="0">
                <a:solidFill>
                  <a:schemeClr val="tx1"/>
                </a:solidFill>
              </a:rPr>
              <a:t> </a:t>
            </a:r>
            <a:r>
              <a:rPr lang="en-GB" sz="1200" dirty="0">
                <a:solidFill>
                  <a:schemeClr val="tx1"/>
                </a:solidFill>
              </a:rPr>
              <a:t>(Full Database: </a:t>
            </a:r>
            <a:r>
              <a:rPr lang="en-GB" sz="1200" dirty="0">
                <a:solidFill>
                  <a:schemeClr val="tx1"/>
                </a:solidFill>
                <a:hlinkClick r:id="rId5"/>
              </a:rPr>
              <a:t>http://www.drfrostmaths.com/resources/resource.php?rid=268</a:t>
            </a:r>
            <a:r>
              <a:rPr lang="en-GB" sz="1200" dirty="0">
                <a:solidFill>
                  <a:schemeClr val="tx1"/>
                </a:solidFill>
              </a:rPr>
              <a:t> ) </a:t>
            </a:r>
            <a:endParaRPr lang="en-GB" sz="2400" dirty="0">
              <a:solidFill>
                <a:schemeClr val="tx1"/>
              </a:solidFill>
            </a:endParaRPr>
          </a:p>
        </p:txBody>
      </p:sp>
    </p:spTree>
    <p:extLst>
      <p:ext uri="{BB962C8B-B14F-4D97-AF65-F5344CB8AC3E}">
        <p14:creationId xmlns:p14="http://schemas.microsoft.com/office/powerpoint/2010/main" val="12039148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8"/>
                                        </p:tgtEl>
                                      </p:cBhvr>
                                    </p:animEffect>
                                    <p:set>
                                      <p:cBhvr>
                                        <p:cTn id="1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3: Factorising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95536" y="836712"/>
            <a:ext cx="8208912" cy="923330"/>
          </a:xfrm>
          <a:prstGeom prst="rect">
            <a:avLst/>
          </a:prstGeom>
          <a:noFill/>
        </p:spPr>
        <p:txBody>
          <a:bodyPr wrap="square" rtlCol="0">
            <a:spAutoFit/>
          </a:bodyPr>
          <a:lstStyle/>
          <a:p>
            <a:r>
              <a:rPr lang="en-GB" dirty="0"/>
              <a:t>Informally, factorising is the opposite of expanding brackets.</a:t>
            </a:r>
          </a:p>
          <a:p>
            <a:r>
              <a:rPr lang="en-GB" dirty="0"/>
              <a:t>More formally, a factorised expression is one which is expressed as </a:t>
            </a:r>
            <a:r>
              <a:rPr lang="en-GB" b="1" dirty="0"/>
              <a:t>a product of expressions</a:t>
            </a:r>
            <a:r>
              <a:rPr lang="en-GB" dirty="0"/>
              <a:t>.</a:t>
            </a:r>
          </a:p>
        </p:txBody>
      </p:sp>
      <mc:AlternateContent xmlns:mc="http://schemas.openxmlformats.org/markup-compatibility/2006" xmlns:a14="http://schemas.microsoft.com/office/drawing/2010/main">
        <mc:Choice Requires="a14">
          <p:sp>
            <p:nvSpPr>
              <p:cNvPr id="6" name="TextBox 5"/>
              <p:cNvSpPr txBox="1"/>
              <p:nvPr/>
            </p:nvSpPr>
            <p:spPr>
              <a:xfrm>
                <a:off x="611560" y="2060848"/>
                <a:ext cx="3240360" cy="461665"/>
              </a:xfrm>
              <a:prstGeom prst="rect">
                <a:avLst/>
              </a:prstGeom>
              <a:noFill/>
            </p:spPr>
            <p:txBody>
              <a:bodyPr wrap="square" rtlCol="0">
                <a:spAutoFit/>
              </a:bodyPr>
              <a:lstStyle/>
              <a:p>
                <a:pPr/>
                <a14:m>
                  <m:oMathPara xmlns:m="http://schemas.openxmlformats.org/officeDocument/2006/math">
                    <m:oMath>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+1)(</m:t>
                      </m:r>
                      <m:r>
                        <a:rPr lang="en-GB" sz="2400" b="0" i="1" smtClean="0">
                          <a:latin typeface="Cambria Math" panose="02040503050406030204" pitchFamily="18" charset="0"/>
                        </a:rPr>
                        <m:t>𝑥</m:t>
                      </m:r>
                      <m:r>
                        <a:rPr lang="en-GB" sz="2400" b="0" i="1" smtClean="0">
                          <a:latin typeface="Cambria Math" panose="02040503050406030204" pitchFamily="18" charset="0"/>
                        </a:rPr>
                        <m:t>+2)</m:t>
                      </m:r>
                    </m:oMath>
                  </m:oMathPara>
                </a14:m>
                <a:endParaRPr lang="en-GB"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611560" y="2060848"/>
                <a:ext cx="3240360" cy="461665"/>
              </a:xfrm>
              <a:prstGeom prst="rect">
                <a:avLst/>
              </a:prstGeom>
              <a:blipFill>
                <a:blip r:embed="rId2"/>
                <a:stretch>
                  <a:fillRect b="-171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283720" y="1981214"/>
                <a:ext cx="4536504" cy="646331"/>
              </a:xfrm>
              <a:prstGeom prst="rect">
                <a:avLst/>
              </a:prstGeom>
              <a:noFill/>
            </p:spPr>
            <p:txBody>
              <a:bodyPr wrap="square" rtlCol="0">
                <a:spAutoFit/>
              </a:bodyPr>
              <a:lstStyle/>
              <a:p>
                <a:r>
                  <a:rPr lang="en-GB" dirty="0"/>
                  <a:t>Factorised as it is the product of 3 linear factors,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 </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dirty="0"/>
                  <a:t> and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+2</m:t>
                    </m:r>
                  </m:oMath>
                </a14:m>
                <a:r>
                  <a:rPr lang="en-GB"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4283720" y="1981214"/>
                <a:ext cx="4536504" cy="646331"/>
              </a:xfrm>
              <a:prstGeom prst="rect">
                <a:avLst/>
              </a:prstGeom>
              <a:blipFill>
                <a:blip r:embed="rId3"/>
                <a:stretch>
                  <a:fillRect l="-1210" t="-4717"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885432" y="2637160"/>
                <a:ext cx="4032448" cy="73866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Note</a:t>
                </a:r>
                <a:r>
                  <a:rPr lang="en-GB" sz="1400" dirty="0"/>
                  <a:t>: A linear expression is of the form </a:t>
                </a:r>
                <a14:m>
                  <m:oMath xmlns:m="http://schemas.openxmlformats.org/officeDocument/2006/math">
                    <m:r>
                      <a:rPr lang="en-GB" sz="1400" b="0" i="1" smtClean="0">
                        <a:latin typeface="Cambria Math" panose="02040503050406030204" pitchFamily="18" charset="0"/>
                      </a:rPr>
                      <m:t>𝑎𝑥</m:t>
                    </m:r>
                    <m:r>
                      <a:rPr lang="en-GB" sz="1400" b="0" i="1" smtClean="0">
                        <a:latin typeface="Cambria Math" panose="02040503050406030204" pitchFamily="18" charset="0"/>
                      </a:rPr>
                      <m:t>+</m:t>
                    </m:r>
                    <m:r>
                      <a:rPr lang="en-GB" sz="1400" b="0" i="1" smtClean="0">
                        <a:latin typeface="Cambria Math" panose="02040503050406030204" pitchFamily="18" charset="0"/>
                      </a:rPr>
                      <m:t>𝑏</m:t>
                    </m:r>
                  </m:oMath>
                </a14:m>
                <a:r>
                  <a:rPr lang="en-GB" sz="1400" dirty="0"/>
                  <a:t>. It is called linear because plotting </a:t>
                </a:r>
                <a14:m>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r>
                      <a:rPr lang="en-GB" sz="1400" b="0" i="1" smtClean="0">
                        <a:latin typeface="Cambria Math" panose="02040503050406030204" pitchFamily="18" charset="0"/>
                      </a:rPr>
                      <m:t>𝑎𝑥</m:t>
                    </m:r>
                    <m:r>
                      <a:rPr lang="en-GB" sz="1400" b="0" i="1" smtClean="0">
                        <a:latin typeface="Cambria Math" panose="02040503050406030204" pitchFamily="18" charset="0"/>
                      </a:rPr>
                      <m:t>+</m:t>
                    </m:r>
                    <m:r>
                      <a:rPr lang="en-GB" sz="1400" b="0" i="1" smtClean="0">
                        <a:latin typeface="Cambria Math" panose="02040503050406030204" pitchFamily="18" charset="0"/>
                      </a:rPr>
                      <m:t>𝑏</m:t>
                    </m:r>
                  </m:oMath>
                </a14:m>
                <a:r>
                  <a:rPr lang="en-GB" sz="1400" dirty="0"/>
                  <a:t> would form a straight line.</a:t>
                </a:r>
              </a:p>
            </p:txBody>
          </p:sp>
        </mc:Choice>
        <mc:Fallback xmlns="">
          <p:sp>
            <p:nvSpPr>
              <p:cNvPr id="8" name="TextBox 7"/>
              <p:cNvSpPr txBox="1">
                <a:spLocks noRot="1" noChangeAspect="1" noMove="1" noResize="1" noEditPoints="1" noAdjustHandles="1" noChangeArrowheads="1" noChangeShapeType="1" noTextEdit="1"/>
              </p:cNvSpPr>
              <p:nvPr/>
            </p:nvSpPr>
            <p:spPr>
              <a:xfrm>
                <a:off x="4885432" y="2637160"/>
                <a:ext cx="4032448" cy="738664"/>
              </a:xfrm>
              <a:prstGeom prst="rect">
                <a:avLst/>
              </a:prstGeom>
              <a:blipFill>
                <a:blip r:embed="rId4"/>
                <a:stretch>
                  <a:fillRect b="-819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2104" y="3994855"/>
                <a:ext cx="3744416" cy="461665"/>
              </a:xfrm>
              <a:prstGeom prst="rect">
                <a:avLst/>
              </a:prstGeom>
              <a:noFill/>
            </p:spPr>
            <p:txBody>
              <a:bodyPr wrap="square" rtlCol="0">
                <a:spAutoFit/>
              </a:bodyPr>
              <a:lstStyle/>
              <a:p>
                <a:pPr/>
                <a14:m>
                  <m:oMathPara xmlns:m="http://schemas.openxmlformats.org/officeDocument/2006/math">
                    <m:oMath>
                      <m:r>
                        <a:rPr lang="en-GB" sz="2400" b="0" i="1" smtClean="0">
                          <a:latin typeface="Cambria Math" panose="02040503050406030204" pitchFamily="18" charset="0"/>
                        </a:rPr>
                        <m:t>𝑥</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+1</m:t>
                          </m:r>
                        </m:e>
                      </m:d>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−1</m:t>
                          </m:r>
                        </m:e>
                      </m:d>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+1</m:t>
                          </m:r>
                        </m:e>
                      </m:d>
                    </m:oMath>
                  </m:oMathPara>
                </a14:m>
                <a:endParaRPr lang="en-GB"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82104" y="3994855"/>
                <a:ext cx="3744416" cy="461665"/>
              </a:xfrm>
              <a:prstGeom prst="rect">
                <a:avLst/>
              </a:prstGeom>
              <a:blipFill>
                <a:blip r:embed="rId5"/>
                <a:stretch>
                  <a:fillRect/>
                </a:stretch>
              </a:blipFill>
            </p:spPr>
            <p:txBody>
              <a:bodyPr/>
              <a:lstStyle/>
              <a:p>
                <a:r>
                  <a:rPr lang="en-GB">
                    <a:noFill/>
                  </a:rPr>
                  <a:t> </a:t>
                </a:r>
              </a:p>
            </p:txBody>
          </p:sp>
        </mc:Fallback>
      </mc:AlternateContent>
      <p:sp>
        <p:nvSpPr>
          <p:cNvPr id="10" name="TextBox 9"/>
          <p:cNvSpPr txBox="1"/>
          <p:nvPr/>
        </p:nvSpPr>
        <p:spPr>
          <a:xfrm>
            <a:off x="4283720" y="3914215"/>
            <a:ext cx="4536504" cy="646331"/>
          </a:xfrm>
          <a:prstGeom prst="rect">
            <a:avLst/>
          </a:prstGeom>
          <a:noFill/>
        </p:spPr>
        <p:txBody>
          <a:bodyPr wrap="square" rtlCol="0">
            <a:spAutoFit/>
          </a:bodyPr>
          <a:lstStyle/>
          <a:p>
            <a:r>
              <a:rPr lang="en-GB" dirty="0"/>
              <a:t>Not factorised because the outer-most operation is a sum, not a product.</a:t>
            </a:r>
          </a:p>
        </p:txBody>
      </p:sp>
      <p:sp>
        <p:nvSpPr>
          <p:cNvPr id="11" name="Arrow: Right 10"/>
          <p:cNvSpPr/>
          <p:nvPr/>
        </p:nvSpPr>
        <p:spPr>
          <a:xfrm>
            <a:off x="3796804" y="2228179"/>
            <a:ext cx="360040" cy="21022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 name="Arrow: Right 11"/>
          <p:cNvSpPr/>
          <p:nvPr/>
        </p:nvSpPr>
        <p:spPr>
          <a:xfrm>
            <a:off x="3822080" y="4132269"/>
            <a:ext cx="360040" cy="21022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3" name="TextBox 12"/>
          <p:cNvSpPr txBox="1"/>
          <p:nvPr/>
        </p:nvSpPr>
        <p:spPr>
          <a:xfrm>
            <a:off x="628700" y="4903068"/>
            <a:ext cx="2592288"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Basic Examples:</a:t>
            </a:r>
          </a:p>
        </p:txBody>
      </p:sp>
      <mc:AlternateContent xmlns:mc="http://schemas.openxmlformats.org/markup-compatibility/2006" xmlns:a14="http://schemas.microsoft.com/office/drawing/2010/main">
        <mc:Choice Requires="a14">
          <p:sp>
            <p:nvSpPr>
              <p:cNvPr id="14" name="TextBox 13"/>
              <p:cNvSpPr txBox="1"/>
              <p:nvPr/>
            </p:nvSpPr>
            <p:spPr>
              <a:xfrm>
                <a:off x="2013000" y="5521424"/>
                <a:ext cx="4248472" cy="839332"/>
              </a:xfrm>
              <a:prstGeom prst="rect">
                <a:avLst/>
              </a:prstGeom>
              <a:noFill/>
            </p:spPr>
            <p:txBody>
              <a:bodyPr wrap="square" rtlCol="0">
                <a:spAutoFit/>
              </a:bodyPr>
              <a:lstStyle/>
              <a:p>
                <a:pPr/>
                <a14:m>
                  <m:oMathPara xmlns:m="http://schemas.openxmlformats.org/officeDocument/2006/math">
                    <m:o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   =</m:t>
                      </m:r>
                      <m:sSup>
                        <m:sSupPr>
                          <m:ctrlPr>
                            <a:rPr lang="en-GB" sz="2400" b="1" i="1" smtClean="0">
                              <a:latin typeface="Cambria Math" panose="02040503050406030204" pitchFamily="18" charset="0"/>
                            </a:rPr>
                          </m:ctrlPr>
                        </m:sSupPr>
                        <m:e>
                          <m:r>
                            <a:rPr lang="en-GB" sz="2400" b="1" i="1" smtClean="0">
                              <a:latin typeface="Cambria Math" panose="02040503050406030204" pitchFamily="18" charset="0"/>
                            </a:rPr>
                            <m:t>𝒙</m:t>
                          </m:r>
                        </m:e>
                        <m:sup>
                          <m:r>
                            <a:rPr lang="en-GB" sz="2400" b="1" i="1" smtClean="0">
                              <a:latin typeface="Cambria Math" panose="02040503050406030204" pitchFamily="18" charset="0"/>
                            </a:rPr>
                            <m:t>𝟐</m:t>
                          </m:r>
                        </m:sup>
                      </m:sSup>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𝒙</m:t>
                          </m:r>
                          <m:r>
                            <a:rPr lang="en-GB" sz="2400" b="1" i="1" smtClean="0">
                              <a:latin typeface="Cambria Math" panose="02040503050406030204" pitchFamily="18" charset="0"/>
                            </a:rPr>
                            <m:t>+</m:t>
                          </m:r>
                          <m:r>
                            <a:rPr lang="en-GB" sz="2400" b="1" i="1" smtClean="0">
                              <a:latin typeface="Cambria Math" panose="02040503050406030204" pitchFamily="18" charset="0"/>
                            </a:rPr>
                            <m:t>𝟏</m:t>
                          </m:r>
                        </m:e>
                      </m:d>
                    </m:oMath>
                    <m:oMath>
                      <m:r>
                        <a:rPr lang="en-GB" sz="2400" b="0" i="1" smtClean="0">
                          <a:latin typeface="Cambria Math" panose="02040503050406030204" pitchFamily="18" charset="0"/>
                        </a:rPr>
                        <m:t>4</m:t>
                      </m:r>
                      <m:r>
                        <a:rPr lang="en-GB" sz="2400" b="0" i="1" smtClean="0">
                          <a:latin typeface="Cambria Math" panose="02040503050406030204" pitchFamily="18" charset="0"/>
                        </a:rPr>
                        <m:t>𝑥</m:t>
                      </m:r>
                      <m:r>
                        <a:rPr lang="en-GB" sz="2400" b="0" i="1" smtClean="0">
                          <a:latin typeface="Cambria Math" panose="02040503050406030204" pitchFamily="18" charset="0"/>
                        </a:rPr>
                        <m:t>−8</m:t>
                      </m:r>
                      <m:r>
                        <a:rPr lang="en-GB" sz="2400" b="0" i="1" smtClean="0">
                          <a:latin typeface="Cambria Math" panose="02040503050406030204" pitchFamily="18" charset="0"/>
                        </a:rPr>
                        <m:t>𝑥𝑦</m:t>
                      </m:r>
                      <m:r>
                        <a:rPr lang="en-GB" sz="2400" b="0" i="1" smtClean="0">
                          <a:latin typeface="Cambria Math" panose="02040503050406030204" pitchFamily="18" charset="0"/>
                        </a:rPr>
                        <m:t>=</m:t>
                      </m:r>
                      <m:r>
                        <a:rPr lang="en-GB" sz="2400" b="1" i="1" smtClean="0">
                          <a:latin typeface="Cambria Math" panose="02040503050406030204" pitchFamily="18" charset="0"/>
                        </a:rPr>
                        <m:t>𝟒</m:t>
                      </m:r>
                      <m:r>
                        <a:rPr lang="en-GB" sz="2400" b="1" i="1" smtClean="0">
                          <a:latin typeface="Cambria Math" panose="02040503050406030204" pitchFamily="18" charset="0"/>
                        </a:rPr>
                        <m:t>𝒙</m:t>
                      </m:r>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𝟏</m:t>
                          </m:r>
                          <m:r>
                            <a:rPr lang="en-GB" sz="2400" b="1" i="1" smtClean="0">
                              <a:latin typeface="Cambria Math" panose="02040503050406030204" pitchFamily="18" charset="0"/>
                            </a:rPr>
                            <m:t>−</m:t>
                          </m:r>
                          <m:r>
                            <a:rPr lang="en-GB" sz="2400" b="1" i="1" smtClean="0">
                              <a:latin typeface="Cambria Math" panose="02040503050406030204" pitchFamily="18" charset="0"/>
                            </a:rPr>
                            <m:t>𝟐</m:t>
                          </m:r>
                          <m:r>
                            <a:rPr lang="en-GB" sz="2400" b="1" i="1" smtClean="0">
                              <a:latin typeface="Cambria Math" panose="02040503050406030204" pitchFamily="18" charset="0"/>
                            </a:rPr>
                            <m:t>𝒚</m:t>
                          </m:r>
                        </m:e>
                      </m:d>
                    </m:oMath>
                  </m:oMathPara>
                </a14:m>
                <a:endParaRPr lang="en-GB"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2013000" y="5521424"/>
                <a:ext cx="4248472" cy="839332"/>
              </a:xfrm>
              <a:prstGeom prst="rect">
                <a:avLst/>
              </a:prstGeom>
              <a:blipFill>
                <a:blip r:embed="rId6"/>
                <a:stretch>
                  <a:fillRect b="-8759"/>
                </a:stretch>
              </a:blipFill>
            </p:spPr>
            <p:txBody>
              <a:bodyPr/>
              <a:lstStyle/>
              <a:p>
                <a:r>
                  <a:rPr lang="en-GB">
                    <a:noFill/>
                  </a:rPr>
                  <a:t> </a:t>
                </a:r>
              </a:p>
            </p:txBody>
          </p:sp>
        </mc:Fallback>
      </mc:AlternateContent>
      <p:sp>
        <p:nvSpPr>
          <p:cNvPr id="15" name="Rectangle 14"/>
          <p:cNvSpPr/>
          <p:nvPr/>
        </p:nvSpPr>
        <p:spPr>
          <a:xfrm>
            <a:off x="4183959" y="5499100"/>
            <a:ext cx="1962841" cy="4252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4183959" y="5957808"/>
            <a:ext cx="1962841" cy="4252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07900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9" restart="whenNotActive" fill="hold" evtFilter="cancelBubble" nodeType="interactiveSeq">
                <p:stCondLst>
                  <p:cond evt="onClick" delay="0">
                    <p:tgtEl>
                      <p:spTgt spid="15"/>
                    </p:tgtEl>
                  </p:cond>
                </p:stCondLst>
                <p:endSync evt="end" delay="0">
                  <p:rtn val="all"/>
                </p:endSync>
                <p:childTnLst>
                  <p:par>
                    <p:cTn id="40" fill="hold">
                      <p:stCondLst>
                        <p:cond delay="0"/>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15"/>
                                        </p:tgtEl>
                                      </p:cBhvr>
                                    </p:animEffect>
                                    <p:set>
                                      <p:cBhvr>
                                        <p:cTn id="44"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45" restart="whenNotActive" fill="hold" evtFilter="cancelBubble" nodeType="interactiveSeq">
                <p:stCondLst>
                  <p:cond evt="onClick" delay="0">
                    <p:tgtEl>
                      <p:spTgt spid="16"/>
                    </p:tgtEl>
                  </p:cond>
                </p:stCondLst>
                <p:endSync evt="end" delay="0">
                  <p:rtn val="all"/>
                </p:endSync>
                <p:childTnLst>
                  <p:par>
                    <p:cTn id="46" fill="hold">
                      <p:stCondLst>
                        <p:cond delay="0"/>
                      </p:stCondLst>
                      <p:childTnLst>
                        <p:par>
                          <p:cTn id="47" fill="hold">
                            <p:stCondLst>
                              <p:cond delay="0"/>
                            </p:stCondLst>
                            <p:childTnLst>
                              <p:par>
                                <p:cTn id="48" presetID="10" presetClass="exit" presetSubtype="0" fill="hold" grpId="0" nodeType="clickEffect">
                                  <p:stCondLst>
                                    <p:cond delay="0"/>
                                  </p:stCondLst>
                                  <p:childTnLst>
                                    <p:animEffect transition="out" filter="fade">
                                      <p:cBhvr>
                                        <p:cTn id="49" dur="500"/>
                                        <p:tgtEl>
                                          <p:spTgt spid="16"/>
                                        </p:tgtEl>
                                      </p:cBhvr>
                                    </p:animEffect>
                                    <p:set>
                                      <p:cBhvr>
                                        <p:cTn id="50"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6" grpId="0"/>
      <p:bldP spid="7" grpId="0"/>
      <p:bldP spid="8" grpId="0" animBg="1"/>
      <p:bldP spid="9" grpId="0"/>
      <p:bldP spid="10" grpId="0"/>
      <p:bldP spid="11" grpId="0" animBg="1"/>
      <p:bldP spid="12" grpId="0" animBg="1"/>
      <p:bldP spid="13" grpId="0" animBg="1"/>
      <p:bldP spid="14" grpId="0"/>
      <p:bldP spid="15" grpId="0" animBg="1"/>
      <p:bldP spid="15" grpId="1" animBg="1"/>
      <p:bldP spid="16" grpId="0" animBg="1"/>
      <p:bldP spid="16"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Factorising Quadratics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534492" y="1387878"/>
                <a:ext cx="6912768" cy="646331"/>
              </a:xfrm>
              <a:prstGeom prst="rect">
                <a:avLst/>
              </a:prstGeom>
              <a:noFill/>
            </p:spPr>
            <p:txBody>
              <a:bodyPr wrap="square" rtlCol="0">
                <a:spAutoFit/>
              </a:bodyPr>
              <a:lstStyle/>
              <a:p>
                <a:pPr/>
                <a14:m>
                  <m:oMathPara xmlns:m="http://schemas.openxmlformats.org/officeDocument/2006/math">
                    <m:oMath>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𝑥</m:t>
                          </m:r>
                        </m:e>
                        <m:sup>
                          <m:r>
                            <a:rPr lang="en-GB" sz="3600" b="0" i="1" smtClean="0">
                              <a:latin typeface="Cambria Math" panose="02040503050406030204" pitchFamily="18" charset="0"/>
                            </a:rPr>
                            <m:t>2</m:t>
                          </m:r>
                        </m:sup>
                      </m:sSup>
                      <m:r>
                        <a:rPr lang="en-GB" sz="3600" b="0" i="1" smtClean="0">
                          <a:latin typeface="Cambria Math" panose="02040503050406030204" pitchFamily="18" charset="0"/>
                        </a:rPr>
                        <m:t>−5</m:t>
                      </m:r>
                      <m:r>
                        <a:rPr lang="en-GB" sz="3600" b="0" i="1" smtClean="0">
                          <a:latin typeface="Cambria Math" panose="02040503050406030204" pitchFamily="18" charset="0"/>
                        </a:rPr>
                        <m:t>𝑥</m:t>
                      </m:r>
                      <m:r>
                        <a:rPr lang="en-GB" sz="3600" b="0" i="1" smtClean="0">
                          <a:latin typeface="Cambria Math" panose="02040503050406030204" pitchFamily="18" charset="0"/>
                        </a:rPr>
                        <m:t>−14=</m:t>
                      </m:r>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𝟕</m:t>
                          </m:r>
                        </m:e>
                      </m:d>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𝟐</m:t>
                          </m:r>
                        </m:e>
                      </m:d>
                    </m:oMath>
                  </m:oMathPara>
                </a14:m>
                <a:endParaRPr lang="en-GB" b="1" dirty="0"/>
              </a:p>
            </p:txBody>
          </p:sp>
        </mc:Choice>
        <mc:Fallback xmlns="">
          <p:sp>
            <p:nvSpPr>
              <p:cNvPr id="5" name="TextBox 4"/>
              <p:cNvSpPr txBox="1">
                <a:spLocks noRot="1" noChangeAspect="1" noMove="1" noResize="1" noEditPoints="1" noAdjustHandles="1" noChangeArrowheads="1" noChangeShapeType="1" noTextEdit="1"/>
              </p:cNvSpPr>
              <p:nvPr/>
            </p:nvSpPr>
            <p:spPr>
              <a:xfrm>
                <a:off x="534492" y="1387878"/>
                <a:ext cx="6912768" cy="646331"/>
              </a:xfrm>
              <a:prstGeom prst="rect">
                <a:avLst/>
              </a:prstGeom>
              <a:blipFill>
                <a:blip r:embed="rId2"/>
                <a:stretch>
                  <a:fillRect/>
                </a:stretch>
              </a:blipFill>
            </p:spPr>
            <p:txBody>
              <a:bodyPr/>
              <a:lstStyle/>
              <a:p>
                <a:r>
                  <a:rPr lang="en-GB">
                    <a:noFill/>
                  </a:rPr>
                  <a:t> </a:t>
                </a:r>
              </a:p>
            </p:txBody>
          </p:sp>
        </mc:Fallback>
      </mc:AlternateContent>
      <p:sp>
        <p:nvSpPr>
          <p:cNvPr id="6" name="TextBox 5"/>
          <p:cNvSpPr txBox="1"/>
          <p:nvPr/>
        </p:nvSpPr>
        <p:spPr>
          <a:xfrm>
            <a:off x="377280" y="706737"/>
            <a:ext cx="1152128"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Recap:</a:t>
            </a:r>
            <a:endParaRPr lang="en-GB" dirty="0"/>
          </a:p>
        </p:txBody>
      </p:sp>
      <mc:AlternateContent xmlns:mc="http://schemas.openxmlformats.org/markup-compatibility/2006" xmlns:a14="http://schemas.microsoft.com/office/drawing/2010/main">
        <mc:Choice Requires="a14">
          <p:sp>
            <p:nvSpPr>
              <p:cNvPr id="7" name="TextBox 6"/>
              <p:cNvSpPr txBox="1"/>
              <p:nvPr/>
            </p:nvSpPr>
            <p:spPr>
              <a:xfrm>
                <a:off x="1751484" y="952624"/>
                <a:ext cx="864096" cy="523220"/>
              </a:xfrm>
              <a:prstGeom prst="rect">
                <a:avLst/>
              </a:prstGeom>
              <a:noFill/>
            </p:spPr>
            <p:txBody>
              <a:bodyPr wrap="square" rtlCol="0">
                <a:spAutoFit/>
              </a:bodyPr>
              <a:lstStyle/>
              <a:p>
                <a:pPr/>
                <a14:m>
                  <m:oMathPara xmlns:m="http://schemas.openxmlformats.org/officeDocument/2006/math">
                    <m:oMath>
                      <m:r>
                        <a:rPr lang="en-GB" sz="2800" b="0" i="1" smtClean="0">
                          <a:latin typeface="Cambria Math" panose="02040503050406030204" pitchFamily="18" charset="0"/>
                        </a:rPr>
                        <m:t>⊕</m:t>
                      </m:r>
                    </m:oMath>
                  </m:oMathPara>
                </a14:m>
                <a:endParaRPr lang="en-GB"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1751484" y="952624"/>
                <a:ext cx="864096" cy="52322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797944" y="971472"/>
                <a:ext cx="864096" cy="523220"/>
              </a:xfrm>
              <a:prstGeom prst="rect">
                <a:avLst/>
              </a:prstGeom>
              <a:noFill/>
            </p:spPr>
            <p:txBody>
              <a:bodyPr wrap="square" rtlCol="0">
                <a:spAutoFit/>
              </a:bodyPr>
              <a:lstStyle/>
              <a:p>
                <a:pPr/>
                <a14:m>
                  <m:oMathPara xmlns:m="http://schemas.openxmlformats.org/officeDocument/2006/math">
                    <m:oMath>
                      <m:r>
                        <a:rPr lang="en-GB" sz="2800" b="0" i="1" smtClean="0">
                          <a:latin typeface="Cambria Math" panose="02040503050406030204" pitchFamily="18" charset="0"/>
                        </a:rPr>
                        <m:t>⊗</m:t>
                      </m:r>
                    </m:oMath>
                  </m:oMathPara>
                </a14:m>
                <a:endParaRPr lang="en-GB"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797944" y="971472"/>
                <a:ext cx="864096" cy="523220"/>
              </a:xfrm>
              <a:prstGeom prst="rect">
                <a:avLst/>
              </a:prstGeom>
              <a:blipFill>
                <a:blip r:embed="rId4"/>
                <a:stretch>
                  <a:fillRect/>
                </a:stretch>
              </a:blipFill>
            </p:spPr>
            <p:txBody>
              <a:bodyPr/>
              <a:lstStyle/>
              <a:p>
                <a:r>
                  <a:rPr lang="en-GB">
                    <a:noFill/>
                  </a:rPr>
                  <a:t> </a:t>
                </a:r>
              </a:p>
            </p:txBody>
          </p:sp>
        </mc:Fallback>
      </mc:AlternateContent>
      <p:sp>
        <p:nvSpPr>
          <p:cNvPr id="9" name="Rectangle 8"/>
          <p:cNvSpPr/>
          <p:nvPr/>
        </p:nvSpPr>
        <p:spPr>
          <a:xfrm>
            <a:off x="4133159" y="1346200"/>
            <a:ext cx="3143941" cy="7493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0" name="TextBox 9"/>
              <p:cNvSpPr txBox="1"/>
              <p:nvPr/>
            </p:nvSpPr>
            <p:spPr>
              <a:xfrm>
                <a:off x="3860801" y="703215"/>
                <a:ext cx="4737496" cy="584775"/>
              </a:xfrm>
              <a:prstGeom prst="rect">
                <a:avLst/>
              </a:prstGeom>
              <a:noFill/>
            </p:spPr>
            <p:txBody>
              <a:bodyPr wrap="square" rtlCol="0">
                <a:spAutoFit/>
              </a:bodyPr>
              <a:lstStyle/>
              <a:p>
                <a:r>
                  <a:rPr lang="en-GB" sz="1600" dirty="0"/>
                  <a:t>We find two numbers which multiply to give the coefficient of </a:t>
                </a:r>
                <a14:m>
                  <m:oMath xmlns:m="http://schemas.openxmlformats.org/officeDocument/2006/math">
                    <m:r>
                      <a:rPr lang="en-GB" sz="1600" b="0" i="1" smtClean="0">
                        <a:latin typeface="Cambria Math" panose="02040503050406030204" pitchFamily="18" charset="0"/>
                      </a:rPr>
                      <m:t>𝑥</m:t>
                    </m:r>
                  </m:oMath>
                </a14:m>
                <a:r>
                  <a:rPr lang="en-GB" sz="1600" dirty="0"/>
                  <a:t> and multiply to give the constant term.</a:t>
                </a:r>
              </a:p>
            </p:txBody>
          </p:sp>
        </mc:Choice>
        <mc:Fallback xmlns="">
          <p:sp>
            <p:nvSpPr>
              <p:cNvPr id="10" name="TextBox 9"/>
              <p:cNvSpPr txBox="1">
                <a:spLocks noRot="1" noChangeAspect="1" noMove="1" noResize="1" noEditPoints="1" noAdjustHandles="1" noChangeArrowheads="1" noChangeShapeType="1" noTextEdit="1"/>
              </p:cNvSpPr>
              <p:nvPr/>
            </p:nvSpPr>
            <p:spPr>
              <a:xfrm>
                <a:off x="3860801" y="703215"/>
                <a:ext cx="4737496" cy="584775"/>
              </a:xfrm>
              <a:prstGeom prst="rect">
                <a:avLst/>
              </a:prstGeom>
              <a:blipFill>
                <a:blip r:embed="rId5"/>
                <a:stretch>
                  <a:fillRect l="-644" t="-3125"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692827" y="2126870"/>
                <a:ext cx="4080562" cy="523220"/>
              </a:xfrm>
              <a:prstGeom prst="rect">
                <a:avLst/>
              </a:prstGeom>
              <a:noFill/>
            </p:spPr>
            <p:txBody>
              <a:bodyPr wrap="square" rtlCol="0">
                <a:spAutoFit/>
              </a:bodyPr>
              <a:lstStyle/>
              <a:p>
                <a:r>
                  <a:rPr lang="en-GB" sz="1400" b="1" dirty="0"/>
                  <a:t>Note</a:t>
                </a:r>
                <a:r>
                  <a:rPr lang="en-GB" sz="1400" dirty="0"/>
                  <a:t>: The </a:t>
                </a:r>
                <a:r>
                  <a:rPr lang="en-GB" sz="1400" i="1" dirty="0"/>
                  <a:t>coefficient</a:t>
                </a:r>
                <a:r>
                  <a:rPr lang="en-GB" sz="1400" dirty="0"/>
                  <a:t> of a term is the constant on front of it, e.g. the coefficient of </a:t>
                </a:r>
                <a14:m>
                  <m:oMath xmlns:m="http://schemas.openxmlformats.org/officeDocument/2006/math">
                    <m:r>
                      <a:rPr lang="en-GB" sz="1400" b="0" i="1" smtClean="0">
                        <a:latin typeface="Cambria Math" panose="02040503050406030204" pitchFamily="18" charset="0"/>
                      </a:rPr>
                      <m:t>4</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2</m:t>
                        </m:r>
                      </m:sup>
                    </m:sSup>
                  </m:oMath>
                </a14:m>
                <a:r>
                  <a:rPr lang="en-GB" sz="1400" dirty="0"/>
                  <a:t> is 4.</a:t>
                </a:r>
              </a:p>
            </p:txBody>
          </p:sp>
        </mc:Choice>
        <mc:Fallback xmlns="">
          <p:sp>
            <p:nvSpPr>
              <p:cNvPr id="11" name="TextBox 10"/>
              <p:cNvSpPr txBox="1">
                <a:spLocks noRot="1" noChangeAspect="1" noMove="1" noResize="1" noEditPoints="1" noAdjustHandles="1" noChangeArrowheads="1" noChangeShapeType="1" noTextEdit="1"/>
              </p:cNvSpPr>
              <p:nvPr/>
            </p:nvSpPr>
            <p:spPr>
              <a:xfrm>
                <a:off x="4692827" y="2126870"/>
                <a:ext cx="4080562" cy="523220"/>
              </a:xfrm>
              <a:prstGeom prst="rect">
                <a:avLst/>
              </a:prstGeom>
              <a:blipFill>
                <a:blip r:embed="rId6"/>
                <a:stretch>
                  <a:fillRect l="-311" t="-2381" b="-119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12043" y="4654599"/>
                <a:ext cx="4984831" cy="2308324"/>
              </a:xfrm>
              <a:prstGeom prst="rect">
                <a:avLst/>
              </a:prstGeom>
              <a:noFill/>
            </p:spPr>
            <p:txBody>
              <a:bodyPr wrap="square" rtlCol="0">
                <a:spAutoFit/>
              </a:bodyPr>
              <a:lstStyle/>
              <a:p>
                <a:pPr/>
                <a14:m>
                  <m:oMathPara xmlns:m="http://schemas.openxmlformats.org/officeDocument/2006/math">
                    <m:oMath>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2</m:t>
                          </m:r>
                          <m:r>
                            <a:rPr lang="en-GB" sz="3600" b="0" i="1" smtClean="0">
                              <a:latin typeface="Cambria Math" panose="02040503050406030204" pitchFamily="18" charset="0"/>
                            </a:rPr>
                            <m:t>𝑥</m:t>
                          </m:r>
                        </m:e>
                        <m:sup>
                          <m:r>
                            <a:rPr lang="en-GB" sz="3600" b="0" i="1" smtClean="0">
                              <a:latin typeface="Cambria Math" panose="02040503050406030204" pitchFamily="18" charset="0"/>
                            </a:rPr>
                            <m:t>2</m:t>
                          </m:r>
                        </m:sup>
                      </m:sSup>
                      <m:r>
                        <a:rPr lang="en-GB" sz="3600" b="0" i="1" smtClean="0">
                          <a:latin typeface="Cambria Math" panose="02040503050406030204" pitchFamily="18" charset="0"/>
                        </a:rPr>
                        <m:t>+5</m:t>
                      </m:r>
                      <m:r>
                        <a:rPr lang="en-GB" sz="3600" b="0" i="1" smtClean="0">
                          <a:latin typeface="Cambria Math" panose="02040503050406030204" pitchFamily="18" charset="0"/>
                        </a:rPr>
                        <m:t>𝑥</m:t>
                      </m:r>
                      <m:r>
                        <a:rPr lang="en-GB" sz="3600" b="0" i="1" smtClean="0">
                          <a:latin typeface="Cambria Math" panose="02040503050406030204" pitchFamily="18" charset="0"/>
                        </a:rPr>
                        <m:t>−12</m:t>
                      </m:r>
                    </m:oMath>
                    <m:oMath>
                      <m:r>
                        <a:rPr lang="en-GB" sz="3600" b="0" i="1" smtClean="0">
                          <a:latin typeface="Cambria Math" panose="02040503050406030204" pitchFamily="18" charset="0"/>
                        </a:rPr>
                        <m:t>=2</m:t>
                      </m:r>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𝑥</m:t>
                          </m:r>
                        </m:e>
                        <m:sup>
                          <m:r>
                            <a:rPr lang="en-GB" sz="3600" b="0" i="1" smtClean="0">
                              <a:latin typeface="Cambria Math" panose="02040503050406030204" pitchFamily="18" charset="0"/>
                            </a:rPr>
                            <m:t>2</m:t>
                          </m:r>
                        </m:sup>
                      </m:sSup>
                      <m:r>
                        <a:rPr lang="en-GB" sz="3600" b="0" i="1" smtClean="0">
                          <a:latin typeface="Cambria Math" panose="02040503050406030204" pitchFamily="18" charset="0"/>
                        </a:rPr>
                        <m:t>+8</m:t>
                      </m:r>
                      <m:r>
                        <a:rPr lang="en-GB" sz="3600" b="0" i="1" smtClean="0">
                          <a:latin typeface="Cambria Math" panose="02040503050406030204" pitchFamily="18" charset="0"/>
                        </a:rPr>
                        <m:t>𝑥</m:t>
                      </m:r>
                      <m:r>
                        <a:rPr lang="en-GB" sz="3600" b="0" i="1" smtClean="0">
                          <a:latin typeface="Cambria Math" panose="02040503050406030204" pitchFamily="18" charset="0"/>
                        </a:rPr>
                        <m:t>−3</m:t>
                      </m:r>
                      <m:r>
                        <a:rPr lang="en-GB" sz="3600" b="0" i="1" smtClean="0">
                          <a:latin typeface="Cambria Math" panose="02040503050406030204" pitchFamily="18" charset="0"/>
                        </a:rPr>
                        <m:t>𝑥</m:t>
                      </m:r>
                      <m:r>
                        <a:rPr lang="en-GB" sz="3600" b="0" i="1" smtClean="0">
                          <a:latin typeface="Cambria Math" panose="02040503050406030204" pitchFamily="18" charset="0"/>
                        </a:rPr>
                        <m:t>−12</m:t>
                      </m:r>
                    </m:oMath>
                    <m:oMath>
                      <m:r>
                        <a:rPr lang="en-GB" sz="3600" b="0" i="1" smtClean="0">
                          <a:latin typeface="Cambria Math" panose="02040503050406030204" pitchFamily="18" charset="0"/>
                        </a:rPr>
                        <m:t>=2</m:t>
                      </m:r>
                      <m:r>
                        <a:rPr lang="en-GB" sz="3600" b="0" i="1" smtClean="0">
                          <a:latin typeface="Cambria Math" panose="02040503050406030204" pitchFamily="18" charset="0"/>
                        </a:rPr>
                        <m:t>𝑥</m:t>
                      </m:r>
                      <m:d>
                        <m:dPr>
                          <m:ctrlPr>
                            <a:rPr lang="en-GB" sz="3600" b="0" i="1" smtClean="0">
                              <a:latin typeface="Cambria Math" panose="02040503050406030204" pitchFamily="18" charset="0"/>
                            </a:rPr>
                          </m:ctrlPr>
                        </m:dPr>
                        <m:e>
                          <m:r>
                            <a:rPr lang="en-GB" sz="3600" b="0" i="1" smtClean="0">
                              <a:latin typeface="Cambria Math" panose="02040503050406030204" pitchFamily="18" charset="0"/>
                            </a:rPr>
                            <m:t>𝑥</m:t>
                          </m:r>
                          <m:r>
                            <a:rPr lang="en-GB" sz="3600" b="0" i="1" smtClean="0">
                              <a:latin typeface="Cambria Math" panose="02040503050406030204" pitchFamily="18" charset="0"/>
                            </a:rPr>
                            <m:t>+4</m:t>
                          </m:r>
                        </m:e>
                      </m:d>
                      <m:r>
                        <a:rPr lang="en-GB" sz="3600" b="0" i="1" smtClean="0">
                          <a:latin typeface="Cambria Math" panose="02040503050406030204" pitchFamily="18" charset="0"/>
                        </a:rPr>
                        <m:t>−3</m:t>
                      </m:r>
                      <m:d>
                        <m:dPr>
                          <m:ctrlPr>
                            <a:rPr lang="en-GB" sz="3600" b="0" i="1" smtClean="0">
                              <a:latin typeface="Cambria Math" panose="02040503050406030204" pitchFamily="18" charset="0"/>
                            </a:rPr>
                          </m:ctrlPr>
                        </m:dPr>
                        <m:e>
                          <m:r>
                            <a:rPr lang="en-GB" sz="3600" b="0" i="1" smtClean="0">
                              <a:latin typeface="Cambria Math" panose="02040503050406030204" pitchFamily="18" charset="0"/>
                            </a:rPr>
                            <m:t>𝑥</m:t>
                          </m:r>
                          <m:r>
                            <a:rPr lang="en-GB" sz="3600" b="0" i="1" smtClean="0">
                              <a:latin typeface="Cambria Math" panose="02040503050406030204" pitchFamily="18" charset="0"/>
                            </a:rPr>
                            <m:t>+4</m:t>
                          </m:r>
                        </m:e>
                      </m:d>
                    </m:oMath>
                    <m:oMath>
                      <m:r>
                        <a:rPr lang="en-GB" sz="3600" b="0" i="1" smtClean="0">
                          <a:latin typeface="Cambria Math" panose="02040503050406030204" pitchFamily="18" charset="0"/>
                        </a:rPr>
                        <m:t>=(</m:t>
                      </m:r>
                      <m:r>
                        <a:rPr lang="en-GB" sz="3600" b="0" i="1" smtClean="0">
                          <a:latin typeface="Cambria Math" panose="02040503050406030204" pitchFamily="18" charset="0"/>
                        </a:rPr>
                        <m:t>𝑥</m:t>
                      </m:r>
                      <m:r>
                        <a:rPr lang="en-GB" sz="3600" b="0" i="1" smtClean="0">
                          <a:latin typeface="Cambria Math" panose="02040503050406030204" pitchFamily="18" charset="0"/>
                        </a:rPr>
                        <m:t>+4)(2</m:t>
                      </m:r>
                      <m:r>
                        <a:rPr lang="en-GB" sz="3600" b="0" i="1" smtClean="0">
                          <a:latin typeface="Cambria Math" panose="02040503050406030204" pitchFamily="18" charset="0"/>
                        </a:rPr>
                        <m:t>𝑥</m:t>
                      </m:r>
                      <m:r>
                        <a:rPr lang="en-GB" sz="3600" b="0" i="1" smtClean="0">
                          <a:latin typeface="Cambria Math" panose="02040503050406030204" pitchFamily="18" charset="0"/>
                        </a:rPr>
                        <m:t>−3)</m:t>
                      </m:r>
                    </m:oMath>
                  </m:oMathPara>
                </a14:m>
                <a:endParaRPr lang="en-GB"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112043" y="4654599"/>
                <a:ext cx="4984831" cy="230832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281732" y="2649290"/>
                <a:ext cx="5395986"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But what if the coefficient of </a:t>
                </a:r>
                <a14:m>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oMath>
                </a14:m>
                <a:r>
                  <a:rPr lang="en-GB" sz="2400" dirty="0"/>
                  <a:t> is not 1?</a:t>
                </a:r>
              </a:p>
            </p:txBody>
          </p:sp>
        </mc:Choice>
        <mc:Fallback xmlns="">
          <p:sp>
            <p:nvSpPr>
              <p:cNvPr id="13" name="TextBox 12"/>
              <p:cNvSpPr txBox="1">
                <a:spLocks noRot="1" noChangeAspect="1" noMove="1" noResize="1" noEditPoints="1" noAdjustHandles="1" noChangeArrowheads="1" noChangeShapeType="1" noTextEdit="1"/>
              </p:cNvSpPr>
              <p:nvPr/>
            </p:nvSpPr>
            <p:spPr>
              <a:xfrm>
                <a:off x="281732" y="2649290"/>
                <a:ext cx="5395986" cy="461665"/>
              </a:xfrm>
              <a:prstGeom prst="rect">
                <a:avLst/>
              </a:prstGeom>
              <a:blipFill>
                <a:blip r:embed="rId8"/>
                <a:stretch>
                  <a:fillRect b="-11111"/>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199011" y="4586935"/>
                <a:ext cx="864096" cy="646331"/>
              </a:xfrm>
              <a:prstGeom prst="rect">
                <a:avLst/>
              </a:prstGeom>
              <a:noFill/>
            </p:spPr>
            <p:txBody>
              <a:bodyPr wrap="square" rtlCol="0">
                <a:spAutoFit/>
              </a:bodyPr>
              <a:lstStyle/>
              <a:p>
                <a:pPr/>
                <a14:m>
                  <m:oMathPara xmlns:m="http://schemas.openxmlformats.org/officeDocument/2006/math">
                    <m:oMathParaPr>
                      <m:jc m:val="left"/>
                    </m:oMathParaPr>
                    <m:oMath>
                      <m:r>
                        <a:rPr lang="en-GB" b="0" i="1" smtClean="0">
                          <a:latin typeface="Cambria Math" panose="02040503050406030204" pitchFamily="18" charset="0"/>
                        </a:rPr>
                        <m:t>⊕5</m:t>
                      </m:r>
                    </m:oMath>
                    <m:oMath>
                      <m:r>
                        <a:rPr lang="en-GB" b="0" i="1" smtClean="0">
                          <a:latin typeface="Cambria Math" panose="02040503050406030204" pitchFamily="18" charset="0"/>
                        </a:rPr>
                        <m:t>⊗−24</m:t>
                      </m:r>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3199011" y="4586935"/>
                <a:ext cx="864096" cy="646331"/>
              </a:xfrm>
              <a:prstGeom prst="rect">
                <a:avLst/>
              </a:prstGeom>
              <a:blipFill>
                <a:blip r:embed="rId9"/>
                <a:stretch>
                  <a:fillRect l="-1408" r="-1408" b="-28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97558" y="3207655"/>
                <a:ext cx="7903566" cy="646331"/>
              </a:xfrm>
              <a:prstGeom prst="rect">
                <a:avLst/>
              </a:prstGeom>
              <a:noFill/>
            </p:spPr>
            <p:txBody>
              <a:bodyPr wrap="square" rtlCol="0">
                <a:spAutoFit/>
              </a:bodyPr>
              <a:lstStyle/>
              <a:p>
                <a:pPr/>
                <a14:m>
                  <m:oMathPara xmlns:m="http://schemas.openxmlformats.org/officeDocument/2006/math">
                    <m:oMath>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2</m:t>
                          </m:r>
                          <m:r>
                            <a:rPr lang="en-GB" sz="3600" b="0" i="1" smtClean="0">
                              <a:latin typeface="Cambria Math" panose="02040503050406030204" pitchFamily="18" charset="0"/>
                            </a:rPr>
                            <m:t>𝑥</m:t>
                          </m:r>
                        </m:e>
                        <m:sup>
                          <m:r>
                            <a:rPr lang="en-GB" sz="3600" b="0" i="1" smtClean="0">
                              <a:latin typeface="Cambria Math" panose="02040503050406030204" pitchFamily="18" charset="0"/>
                            </a:rPr>
                            <m:t>2</m:t>
                          </m:r>
                        </m:sup>
                      </m:sSup>
                      <m:r>
                        <a:rPr lang="en-GB" sz="3600" b="0" i="1" smtClean="0">
                          <a:latin typeface="Cambria Math" panose="02040503050406030204" pitchFamily="18" charset="0"/>
                        </a:rPr>
                        <m:t>+5</m:t>
                      </m:r>
                      <m:r>
                        <a:rPr lang="en-GB" sz="3600" b="0" i="1" smtClean="0">
                          <a:latin typeface="Cambria Math" panose="02040503050406030204" pitchFamily="18" charset="0"/>
                        </a:rPr>
                        <m:t>𝑥</m:t>
                      </m:r>
                      <m:r>
                        <a:rPr lang="en-GB" sz="3600" b="0" i="1" smtClean="0">
                          <a:latin typeface="Cambria Math" panose="02040503050406030204" pitchFamily="18" charset="0"/>
                        </a:rPr>
                        <m:t>−12=</m:t>
                      </m:r>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𝟐</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𝟑</m:t>
                          </m:r>
                        </m:e>
                      </m:d>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𝟒</m:t>
                          </m:r>
                        </m:e>
                      </m:d>
                    </m:oMath>
                  </m:oMathPara>
                </a14:m>
                <a:endParaRPr lang="en-GB" b="1" dirty="0"/>
              </a:p>
            </p:txBody>
          </p:sp>
        </mc:Choice>
        <mc:Fallback xmlns="">
          <p:sp>
            <p:nvSpPr>
              <p:cNvPr id="19" name="TextBox 18"/>
              <p:cNvSpPr txBox="1">
                <a:spLocks noRot="1" noChangeAspect="1" noMove="1" noResize="1" noEditPoints="1" noAdjustHandles="1" noChangeArrowheads="1" noChangeShapeType="1" noTextEdit="1"/>
              </p:cNvSpPr>
              <p:nvPr/>
            </p:nvSpPr>
            <p:spPr>
              <a:xfrm>
                <a:off x="497558" y="3207655"/>
                <a:ext cx="7903566" cy="64633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35236" y="3803615"/>
                <a:ext cx="8011864" cy="646331"/>
              </a:xfrm>
              <a:prstGeom prst="rect">
                <a:avLst/>
              </a:prstGeom>
              <a:noFill/>
            </p:spPr>
            <p:txBody>
              <a:bodyPr wrap="square" rtlCol="0">
                <a:spAutoFit/>
              </a:bodyPr>
              <a:lstStyle/>
              <a:p>
                <a:r>
                  <a:rPr lang="en-GB" dirty="0"/>
                  <a:t>The easiest way is to use your common sense to guess the brackets. What multiplies to give the </a:t>
                </a:r>
                <a14:m>
                  <m:oMath xmlns:m="http://schemas.openxmlformats.org/officeDocument/2006/math">
                    <m:r>
                      <a:rPr lang="en-GB" b="0" i="1" smtClean="0">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a14:m>
                <a:r>
                  <a:rPr lang="en-GB" dirty="0"/>
                  <a:t>? What multiplies to give the constant term of </a:t>
                </a:r>
                <a14:m>
                  <m:oMath xmlns:m="http://schemas.openxmlformats.org/officeDocument/2006/math">
                    <m:r>
                      <a:rPr lang="en-GB" b="0" i="1" smtClean="0">
                        <a:latin typeface="Cambria Math" panose="02040503050406030204" pitchFamily="18" charset="0"/>
                      </a:rPr>
                      <m:t>−12</m:t>
                    </m:r>
                  </m:oMath>
                </a14:m>
                <a:r>
                  <a:rPr lang="en-GB" dirty="0"/>
                  <a:t>? </a:t>
                </a:r>
              </a:p>
            </p:txBody>
          </p:sp>
        </mc:Choice>
        <mc:Fallback xmlns="">
          <p:sp>
            <p:nvSpPr>
              <p:cNvPr id="20" name="TextBox 19"/>
              <p:cNvSpPr txBox="1">
                <a:spLocks noRot="1" noChangeAspect="1" noMove="1" noResize="1" noEditPoints="1" noAdjustHandles="1" noChangeArrowheads="1" noChangeShapeType="1" noTextEdit="1"/>
              </p:cNvSpPr>
              <p:nvPr/>
            </p:nvSpPr>
            <p:spPr>
              <a:xfrm>
                <a:off x="535236" y="3803615"/>
                <a:ext cx="8011864" cy="646331"/>
              </a:xfrm>
              <a:prstGeom prst="rect">
                <a:avLst/>
              </a:prstGeom>
              <a:blipFill>
                <a:blip r:embed="rId11"/>
                <a:stretch>
                  <a:fillRect l="-685" t="-5660" r="-913" b="-14151"/>
                </a:stretch>
              </a:blipFill>
            </p:spPr>
            <p:txBody>
              <a:bodyPr/>
              <a:lstStyle/>
              <a:p>
                <a:r>
                  <a:rPr lang="en-GB">
                    <a:noFill/>
                  </a:rPr>
                  <a:t> </a:t>
                </a:r>
              </a:p>
            </p:txBody>
          </p:sp>
        </mc:Fallback>
      </mc:AlternateContent>
      <p:sp>
        <p:nvSpPr>
          <p:cNvPr id="21" name="Rectangle 20"/>
          <p:cNvSpPr/>
          <p:nvPr/>
        </p:nvSpPr>
        <p:spPr>
          <a:xfrm>
            <a:off x="4576564" y="3237012"/>
            <a:ext cx="3284736" cy="57298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2" name="TextBox 21"/>
          <p:cNvSpPr txBox="1"/>
          <p:nvPr/>
        </p:nvSpPr>
        <p:spPr>
          <a:xfrm>
            <a:off x="4632159" y="4385082"/>
            <a:ext cx="3960298" cy="584775"/>
          </a:xfrm>
          <a:prstGeom prst="rect">
            <a:avLst/>
          </a:prstGeom>
          <a:noFill/>
        </p:spPr>
        <p:txBody>
          <a:bodyPr wrap="square" rtlCol="0">
            <a:spAutoFit/>
          </a:bodyPr>
          <a:lstStyle/>
          <a:p>
            <a:r>
              <a:rPr lang="en-GB" sz="1600" b="1" dirty="0"/>
              <a:t>Or you can ‘split the middle term’ (don’t be embarrassed if you’ve forgotten how to!)</a:t>
            </a:r>
          </a:p>
        </p:txBody>
      </p:sp>
      <p:sp>
        <p:nvSpPr>
          <p:cNvPr id="23" name="TextBox 22"/>
          <p:cNvSpPr txBox="1"/>
          <p:nvPr/>
        </p:nvSpPr>
        <p:spPr>
          <a:xfrm>
            <a:off x="4794993" y="4953230"/>
            <a:ext cx="4312912"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STEP 1</a:t>
            </a:r>
            <a:r>
              <a:rPr lang="en-GB" sz="1400" dirty="0"/>
              <a:t>: Find two numbers which add to give the middle number and multiply to give the first times last.</a:t>
            </a:r>
          </a:p>
        </p:txBody>
      </p:sp>
      <p:sp>
        <p:nvSpPr>
          <p:cNvPr id="24" name="Rectangle 23"/>
          <p:cNvSpPr/>
          <p:nvPr/>
        </p:nvSpPr>
        <p:spPr>
          <a:xfrm>
            <a:off x="3536466" y="4514849"/>
            <a:ext cx="730734" cy="36017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5" name="Rectangle 24"/>
          <p:cNvSpPr/>
          <p:nvPr/>
        </p:nvSpPr>
        <p:spPr>
          <a:xfrm>
            <a:off x="3536466" y="4865819"/>
            <a:ext cx="730734" cy="36017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6" name="TextBox 25"/>
          <p:cNvSpPr txBox="1"/>
          <p:nvPr/>
        </p:nvSpPr>
        <p:spPr>
          <a:xfrm>
            <a:off x="4975467" y="5545527"/>
            <a:ext cx="3187292" cy="30777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STEP 2: </a:t>
            </a:r>
            <a:r>
              <a:rPr lang="en-GB" sz="1400" dirty="0"/>
              <a:t>Split the middle term.</a:t>
            </a:r>
          </a:p>
        </p:txBody>
      </p:sp>
      <p:sp>
        <p:nvSpPr>
          <p:cNvPr id="27" name="TextBox 26"/>
          <p:cNvSpPr txBox="1"/>
          <p:nvPr/>
        </p:nvSpPr>
        <p:spPr>
          <a:xfrm>
            <a:off x="4975466" y="5923506"/>
            <a:ext cx="3326323"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STEP 3: </a:t>
            </a:r>
            <a:r>
              <a:rPr lang="en-GB" sz="1400" dirty="0"/>
              <a:t>Factorise first half and second half ensuring bracket is duplicated..</a:t>
            </a:r>
          </a:p>
        </p:txBody>
      </p:sp>
      <p:sp>
        <p:nvSpPr>
          <p:cNvPr id="28" name="TextBox 27"/>
          <p:cNvSpPr txBox="1"/>
          <p:nvPr/>
        </p:nvSpPr>
        <p:spPr>
          <a:xfrm>
            <a:off x="4975466" y="6542117"/>
            <a:ext cx="3326323" cy="30777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STEP 4: </a:t>
            </a:r>
            <a:r>
              <a:rPr lang="en-GB" sz="1400" dirty="0"/>
              <a:t>Factorise out bracket.</a:t>
            </a:r>
          </a:p>
        </p:txBody>
      </p:sp>
      <p:sp>
        <p:nvSpPr>
          <p:cNvPr id="29" name="Rectangle 28"/>
          <p:cNvSpPr/>
          <p:nvPr/>
        </p:nvSpPr>
        <p:spPr>
          <a:xfrm>
            <a:off x="534492" y="5258417"/>
            <a:ext cx="3917192" cy="51674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p:cNvSpPr/>
          <p:nvPr/>
        </p:nvSpPr>
        <p:spPr>
          <a:xfrm>
            <a:off x="526445" y="5829810"/>
            <a:ext cx="4201966" cy="51674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1" name="Rectangle 30"/>
          <p:cNvSpPr/>
          <p:nvPr/>
        </p:nvSpPr>
        <p:spPr>
          <a:xfrm>
            <a:off x="526445" y="6333153"/>
            <a:ext cx="4201966" cy="51674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cxnSp>
        <p:nvCxnSpPr>
          <p:cNvPr id="33" name="Straight Arrow Connector 32"/>
          <p:cNvCxnSpPr>
            <a:stCxn id="23" idx="1"/>
          </p:cNvCxnSpPr>
          <p:nvPr/>
        </p:nvCxnSpPr>
        <p:spPr>
          <a:xfrm flipH="1" flipV="1">
            <a:off x="4449341" y="4910100"/>
            <a:ext cx="345652" cy="3047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flipH="1" flipV="1">
            <a:off x="4586288" y="5576888"/>
            <a:ext cx="393287" cy="1473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flipH="1" flipV="1">
            <a:off x="4762500" y="6100763"/>
            <a:ext cx="212491" cy="137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H="1" flipV="1">
            <a:off x="4791075" y="6624638"/>
            <a:ext cx="183916" cy="1001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4422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7" restart="whenNotActive" fill="hold" evtFilter="cancelBubble" nodeType="interactiveSeq">
                <p:stCondLst>
                  <p:cond evt="onClick" delay="0">
                    <p:tgtEl>
                      <p:spTgt spid="9"/>
                    </p:tgtEl>
                  </p:cond>
                </p:stCondLst>
                <p:endSync evt="end" delay="0">
                  <p:rtn val="all"/>
                </p:endSync>
                <p:childTnLst>
                  <p:par>
                    <p:cTn id="48" fill="hold">
                      <p:stCondLst>
                        <p:cond delay="0"/>
                      </p:stCondLst>
                      <p:childTnLst>
                        <p:par>
                          <p:cTn id="49" fill="hold">
                            <p:stCondLst>
                              <p:cond delay="0"/>
                            </p:stCondLst>
                            <p:childTnLst>
                              <p:par>
                                <p:cTn id="50" presetID="10" presetClass="exit" presetSubtype="0" fill="hold" grpId="0" nodeType="clickEffect">
                                  <p:stCondLst>
                                    <p:cond delay="0"/>
                                  </p:stCondLst>
                                  <p:childTnLst>
                                    <p:animEffect transition="out" filter="fade">
                                      <p:cBhvr>
                                        <p:cTn id="51" dur="500"/>
                                        <p:tgtEl>
                                          <p:spTgt spid="9"/>
                                        </p:tgtEl>
                                      </p:cBhvr>
                                    </p:animEffect>
                                    <p:set>
                                      <p:cBhvr>
                                        <p:cTn id="52" dur="1" fill="hold">
                                          <p:stCondLst>
                                            <p:cond delay="499"/>
                                          </p:stCondLst>
                                        </p:cTn>
                                        <p:tgtEl>
                                          <p:spTgt spid="9"/>
                                        </p:tgtEl>
                                        <p:attrNameLst>
                                          <p:attrName>style.visibility</p:attrName>
                                        </p:attrNameLst>
                                      </p:cBhvr>
                                      <p:to>
                                        <p:strVal val="hidden"/>
                                      </p:to>
                                    </p:set>
                                  </p:childTnLst>
                                </p:cTn>
                              </p:par>
                              <p:par>
                                <p:cTn id="53" presetID="21" presetClass="entr" presetSubtype="1"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heel(1)">
                                      <p:cBhvr>
                                        <p:cTn id="55" dur="750"/>
                                        <p:tgtEl>
                                          <p:spTgt spid="8"/>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wheel(1)">
                                      <p:cBhvr>
                                        <p:cTn id="58" dur="750"/>
                                        <p:tgtEl>
                                          <p:spTgt spid="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childTnLst>
                          </p:cTn>
                        </p:par>
                        <p:par>
                          <p:cTn id="62" fill="hold">
                            <p:stCondLst>
                              <p:cond delay="750"/>
                            </p:stCondLst>
                            <p:childTnLst>
                              <p:par>
                                <p:cTn id="63" presetID="10" presetClass="entr" presetSubtype="0" fill="hold" grpId="0" nodeType="after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500"/>
                                        <p:tgtEl>
                                          <p:spTgt spid="11"/>
                                        </p:tgtEl>
                                      </p:cBhvr>
                                    </p:animEffect>
                                  </p:childTnLst>
                                </p:cTn>
                              </p:par>
                            </p:childTnLst>
                          </p:cTn>
                        </p:par>
                      </p:childTnLst>
                    </p:cTn>
                  </p:par>
                </p:childTnLst>
              </p:cTn>
              <p:nextCondLst>
                <p:cond evt="onClick" delay="0">
                  <p:tgtEl>
                    <p:spTgt spid="9"/>
                  </p:tgtEl>
                </p:cond>
              </p:nextCondLst>
            </p:seq>
            <p:seq concurrent="1" nextAc="seek">
              <p:cTn id="66" restart="whenNotActive" fill="hold" evtFilter="cancelBubble" nodeType="interactiveSeq">
                <p:stCondLst>
                  <p:cond evt="onClick" delay="0">
                    <p:tgtEl>
                      <p:spTgt spid="21"/>
                    </p:tgtEl>
                  </p:cond>
                </p:stCondLst>
                <p:endSync evt="end" delay="0">
                  <p:rtn val="all"/>
                </p:endSync>
                <p:childTnLst>
                  <p:par>
                    <p:cTn id="67" fill="hold">
                      <p:stCondLst>
                        <p:cond delay="0"/>
                      </p:stCondLst>
                      <p:childTnLst>
                        <p:par>
                          <p:cTn id="68" fill="hold">
                            <p:stCondLst>
                              <p:cond delay="0"/>
                            </p:stCondLst>
                            <p:childTnLst>
                              <p:par>
                                <p:cTn id="69" presetID="10" presetClass="exit" presetSubtype="0" fill="hold" grpId="0" nodeType="clickEffect">
                                  <p:stCondLst>
                                    <p:cond delay="0"/>
                                  </p:stCondLst>
                                  <p:childTnLst>
                                    <p:animEffect transition="out" filter="fade">
                                      <p:cBhvr>
                                        <p:cTn id="70" dur="500"/>
                                        <p:tgtEl>
                                          <p:spTgt spid="21"/>
                                        </p:tgtEl>
                                      </p:cBhvr>
                                    </p:animEffect>
                                    <p:set>
                                      <p:cBhvr>
                                        <p:cTn id="71"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72" restart="whenNotActive" fill="hold" evtFilter="cancelBubble" nodeType="interactiveSeq">
                <p:stCondLst>
                  <p:cond evt="onClick" delay="0">
                    <p:tgtEl>
                      <p:spTgt spid="24"/>
                    </p:tgtEl>
                  </p:cond>
                </p:stCondLst>
                <p:endSync evt="end" delay="0">
                  <p:rtn val="all"/>
                </p:endSync>
                <p:childTnLst>
                  <p:par>
                    <p:cTn id="73" fill="hold">
                      <p:stCondLst>
                        <p:cond delay="0"/>
                      </p:stCondLst>
                      <p:childTnLst>
                        <p:par>
                          <p:cTn id="74" fill="hold">
                            <p:stCondLst>
                              <p:cond delay="0"/>
                            </p:stCondLst>
                            <p:childTnLst>
                              <p:par>
                                <p:cTn id="75" presetID="10" presetClass="exit" presetSubtype="0" fill="hold" grpId="0" nodeType="clickEffect">
                                  <p:stCondLst>
                                    <p:cond delay="0"/>
                                  </p:stCondLst>
                                  <p:childTnLst>
                                    <p:animEffect transition="out" filter="fade">
                                      <p:cBhvr>
                                        <p:cTn id="76" dur="500"/>
                                        <p:tgtEl>
                                          <p:spTgt spid="24"/>
                                        </p:tgtEl>
                                      </p:cBhvr>
                                    </p:animEffect>
                                    <p:set>
                                      <p:cBhvr>
                                        <p:cTn id="7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78" restart="whenNotActive" fill="hold" evtFilter="cancelBubble" nodeType="interactiveSeq">
                <p:stCondLst>
                  <p:cond evt="onClick" delay="0">
                    <p:tgtEl>
                      <p:spTgt spid="25"/>
                    </p:tgtEl>
                  </p:cond>
                </p:stCondLst>
                <p:endSync evt="end" delay="0">
                  <p:rtn val="all"/>
                </p:endSync>
                <p:childTnLst>
                  <p:par>
                    <p:cTn id="79" fill="hold">
                      <p:stCondLst>
                        <p:cond delay="0"/>
                      </p:stCondLst>
                      <p:childTnLst>
                        <p:par>
                          <p:cTn id="80" fill="hold">
                            <p:stCondLst>
                              <p:cond delay="0"/>
                            </p:stCondLst>
                            <p:childTnLst>
                              <p:par>
                                <p:cTn id="81" presetID="10" presetClass="exit" presetSubtype="0" fill="hold" grpId="0" nodeType="clickEffect">
                                  <p:stCondLst>
                                    <p:cond delay="0"/>
                                  </p:stCondLst>
                                  <p:childTnLst>
                                    <p:animEffect transition="out" filter="fade">
                                      <p:cBhvr>
                                        <p:cTn id="82" dur="500"/>
                                        <p:tgtEl>
                                          <p:spTgt spid="25"/>
                                        </p:tgtEl>
                                      </p:cBhvr>
                                    </p:animEffect>
                                    <p:set>
                                      <p:cBhvr>
                                        <p:cTn id="83"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84" restart="whenNotActive" fill="hold" evtFilter="cancelBubble" nodeType="interactiveSeq">
                <p:stCondLst>
                  <p:cond evt="onClick" delay="0">
                    <p:tgtEl>
                      <p:spTgt spid="29"/>
                    </p:tgtEl>
                  </p:cond>
                </p:stCondLst>
                <p:endSync evt="end" delay="0">
                  <p:rtn val="all"/>
                </p:endSync>
                <p:childTnLst>
                  <p:par>
                    <p:cTn id="85" fill="hold">
                      <p:stCondLst>
                        <p:cond delay="0"/>
                      </p:stCondLst>
                      <p:childTnLst>
                        <p:par>
                          <p:cTn id="86" fill="hold">
                            <p:stCondLst>
                              <p:cond delay="0"/>
                            </p:stCondLst>
                            <p:childTnLst>
                              <p:par>
                                <p:cTn id="87" presetID="10" presetClass="exit" presetSubtype="0" fill="hold" grpId="0" nodeType="clickEffect">
                                  <p:stCondLst>
                                    <p:cond delay="0"/>
                                  </p:stCondLst>
                                  <p:childTnLst>
                                    <p:animEffect transition="out" filter="fade">
                                      <p:cBhvr>
                                        <p:cTn id="88" dur="500"/>
                                        <p:tgtEl>
                                          <p:spTgt spid="29"/>
                                        </p:tgtEl>
                                      </p:cBhvr>
                                    </p:animEffect>
                                    <p:set>
                                      <p:cBhvr>
                                        <p:cTn id="89"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90" restart="whenNotActive" fill="hold" evtFilter="cancelBubble" nodeType="interactiveSeq">
                <p:stCondLst>
                  <p:cond evt="onClick" delay="0">
                    <p:tgtEl>
                      <p:spTgt spid="30"/>
                    </p:tgtEl>
                  </p:cond>
                </p:stCondLst>
                <p:endSync evt="end" delay="0">
                  <p:rtn val="all"/>
                </p:endSync>
                <p:childTnLst>
                  <p:par>
                    <p:cTn id="91" fill="hold">
                      <p:stCondLst>
                        <p:cond delay="0"/>
                      </p:stCondLst>
                      <p:childTnLst>
                        <p:par>
                          <p:cTn id="92" fill="hold">
                            <p:stCondLst>
                              <p:cond delay="0"/>
                            </p:stCondLst>
                            <p:childTnLst>
                              <p:par>
                                <p:cTn id="93" presetID="10" presetClass="exit" presetSubtype="0" fill="hold" grpId="0" nodeType="clickEffect">
                                  <p:stCondLst>
                                    <p:cond delay="0"/>
                                  </p:stCondLst>
                                  <p:childTnLst>
                                    <p:animEffect transition="out" filter="fade">
                                      <p:cBhvr>
                                        <p:cTn id="94" dur="500"/>
                                        <p:tgtEl>
                                          <p:spTgt spid="30"/>
                                        </p:tgtEl>
                                      </p:cBhvr>
                                    </p:animEffect>
                                    <p:set>
                                      <p:cBhvr>
                                        <p:cTn id="95"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96" restart="whenNotActive" fill="hold" evtFilter="cancelBubble" nodeType="interactiveSeq">
                <p:stCondLst>
                  <p:cond evt="onClick" delay="0">
                    <p:tgtEl>
                      <p:spTgt spid="31"/>
                    </p:tgtEl>
                  </p:cond>
                </p:stCondLst>
                <p:endSync evt="end" delay="0">
                  <p:rtn val="all"/>
                </p:endSync>
                <p:childTnLst>
                  <p:par>
                    <p:cTn id="97" fill="hold">
                      <p:stCondLst>
                        <p:cond delay="0"/>
                      </p:stCondLst>
                      <p:childTnLst>
                        <p:par>
                          <p:cTn id="98" fill="hold">
                            <p:stCondLst>
                              <p:cond delay="0"/>
                            </p:stCondLst>
                            <p:childTnLst>
                              <p:par>
                                <p:cTn id="99" presetID="10" presetClass="exit" presetSubtype="0" fill="hold" grpId="0" nodeType="clickEffect">
                                  <p:stCondLst>
                                    <p:cond delay="0"/>
                                  </p:stCondLst>
                                  <p:childTnLst>
                                    <p:animEffect transition="out" filter="fade">
                                      <p:cBhvr>
                                        <p:cTn id="100" dur="500"/>
                                        <p:tgtEl>
                                          <p:spTgt spid="31"/>
                                        </p:tgtEl>
                                      </p:cBhvr>
                                    </p:animEffect>
                                    <p:set>
                                      <p:cBhvr>
                                        <p:cTn id="101"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7" grpId="0"/>
      <p:bldP spid="8" grpId="0"/>
      <p:bldP spid="9" grpId="0" animBg="1"/>
      <p:bldP spid="10" grpId="0"/>
      <p:bldP spid="11" grpId="0"/>
      <p:bldP spid="12" grpId="0"/>
      <p:bldP spid="13" grpId="0" animBg="1"/>
      <p:bldP spid="15" grpId="0"/>
      <p:bldP spid="19" grpId="0"/>
      <p:bldP spid="20" grpId="0"/>
      <p:bldP spid="21" grpId="0" animBg="1"/>
      <p:bldP spid="21" grpId="1" animBg="1"/>
      <p:bldP spid="22" grpId="0"/>
      <p:bldP spid="23" grpId="0" animBg="1"/>
      <p:bldP spid="24" grpId="0" animBg="1"/>
      <p:bldP spid="24" grpId="1" animBg="1"/>
      <p:bldP spid="25" grpId="0" animBg="1"/>
      <p:bldP spid="25" grpId="1" animBg="1"/>
      <p:bldP spid="26" grpId="0" animBg="1"/>
      <p:bldP spid="27" grpId="0" animBg="1"/>
      <p:bldP spid="28" grpId="0" animBg="1"/>
      <p:bldP spid="29" grpId="0" animBg="1"/>
      <p:bldP spid="29" grpId="1" animBg="1"/>
      <p:bldP spid="30" grpId="0" animBg="1"/>
      <p:bldP spid="30" grpId="1" animBg="1"/>
      <p:bldP spid="31" grpId="0" animBg="1"/>
      <p:bldP spid="31"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Other Factorisations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723177" y="1358849"/>
                <a:ext cx="6912768" cy="646331"/>
              </a:xfrm>
              <a:prstGeom prst="rect">
                <a:avLst/>
              </a:prstGeom>
              <a:noFill/>
            </p:spPr>
            <p:txBody>
              <a:bodyPr wrap="square" rtlCol="0">
                <a:spAutoFit/>
              </a:bodyPr>
              <a:lstStyle/>
              <a:p>
                <a:pPr/>
                <a14:m>
                  <m:oMathPara xmlns:m="http://schemas.openxmlformats.org/officeDocument/2006/math">
                    <m:oMath>
                      <m:r>
                        <a:rPr lang="en-GB" sz="3600" b="0" i="1" smtClean="0">
                          <a:latin typeface="Cambria Math" panose="02040503050406030204" pitchFamily="18" charset="0"/>
                        </a:rPr>
                        <m:t>4</m:t>
                      </m:r>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𝑥</m:t>
                          </m:r>
                        </m:e>
                        <m:sup>
                          <m:r>
                            <a:rPr lang="en-GB" sz="3600" b="0" i="1" smtClean="0">
                              <a:latin typeface="Cambria Math" panose="02040503050406030204" pitchFamily="18" charset="0"/>
                            </a:rPr>
                            <m:t>2</m:t>
                          </m:r>
                        </m:sup>
                      </m:sSup>
                      <m:r>
                        <a:rPr lang="en-GB" sz="3600" b="0" i="1" smtClean="0">
                          <a:latin typeface="Cambria Math" panose="02040503050406030204" pitchFamily="18" charset="0"/>
                        </a:rPr>
                        <m:t>−9=</m:t>
                      </m:r>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𝟐</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𝟑</m:t>
                          </m:r>
                        </m:e>
                      </m:d>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𝟐</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𝟑</m:t>
                          </m:r>
                        </m:e>
                      </m:d>
                    </m:oMath>
                  </m:oMathPara>
                </a14:m>
                <a:endParaRPr lang="en-GB" b="1" dirty="0"/>
              </a:p>
            </p:txBody>
          </p:sp>
        </mc:Choice>
        <mc:Fallback xmlns="">
          <p:sp>
            <p:nvSpPr>
              <p:cNvPr id="5" name="TextBox 4"/>
              <p:cNvSpPr txBox="1">
                <a:spLocks noRot="1" noChangeAspect="1" noMove="1" noResize="1" noEditPoints="1" noAdjustHandles="1" noChangeArrowheads="1" noChangeShapeType="1" noTextEdit="1"/>
              </p:cNvSpPr>
              <p:nvPr/>
            </p:nvSpPr>
            <p:spPr>
              <a:xfrm>
                <a:off x="723177" y="1358849"/>
                <a:ext cx="6912768" cy="646331"/>
              </a:xfrm>
              <a:prstGeom prst="rect">
                <a:avLst/>
              </a:prstGeom>
              <a:blipFill>
                <a:blip r:embed="rId2"/>
                <a:stretch>
                  <a:fillRect/>
                </a:stretch>
              </a:blipFill>
            </p:spPr>
            <p:txBody>
              <a:bodyPr/>
              <a:lstStyle/>
              <a:p>
                <a:r>
                  <a:rPr lang="en-GB">
                    <a:noFill/>
                  </a:rPr>
                  <a:t> </a:t>
                </a:r>
              </a:p>
            </p:txBody>
          </p:sp>
        </mc:Fallback>
      </mc:AlternateContent>
      <p:sp>
        <p:nvSpPr>
          <p:cNvPr id="6" name="TextBox 5"/>
          <p:cNvSpPr txBox="1"/>
          <p:nvPr/>
        </p:nvSpPr>
        <p:spPr>
          <a:xfrm>
            <a:off x="449852" y="808337"/>
            <a:ext cx="3690664"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Difference of two squares:</a:t>
            </a:r>
            <a:endParaRPr lang="en-GB" dirty="0"/>
          </a:p>
        </p:txBody>
      </p:sp>
      <p:sp>
        <p:nvSpPr>
          <p:cNvPr id="7" name="TextBox 6"/>
          <p:cNvSpPr txBox="1"/>
          <p:nvPr/>
        </p:nvSpPr>
        <p:spPr>
          <a:xfrm>
            <a:off x="449851" y="2303237"/>
            <a:ext cx="4252777"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Using multiple factorisations:</a:t>
            </a:r>
            <a:endParaRPr lang="en-GB" dirty="0"/>
          </a:p>
        </p:txBody>
      </p:sp>
      <p:sp>
        <p:nvSpPr>
          <p:cNvPr id="8" name="TextBox 7"/>
          <p:cNvSpPr txBox="1"/>
          <p:nvPr/>
        </p:nvSpPr>
        <p:spPr>
          <a:xfrm>
            <a:off x="5580112" y="3184151"/>
            <a:ext cx="2664296"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Tip</a:t>
            </a:r>
            <a:r>
              <a:rPr lang="en-GB" dirty="0"/>
              <a:t>: Always look for a common factor first before using other factorisation techniques.</a:t>
            </a:r>
          </a:p>
        </p:txBody>
      </p:sp>
      <mc:AlternateContent xmlns:mc="http://schemas.openxmlformats.org/markup-compatibility/2006" xmlns:a14="http://schemas.microsoft.com/office/drawing/2010/main">
        <mc:Choice Requires="a14">
          <p:sp>
            <p:nvSpPr>
              <p:cNvPr id="9" name="TextBox 8"/>
              <p:cNvSpPr txBox="1"/>
              <p:nvPr/>
            </p:nvSpPr>
            <p:spPr>
              <a:xfrm>
                <a:off x="785732" y="2907153"/>
                <a:ext cx="4319916" cy="1825693"/>
              </a:xfrm>
              <a:prstGeom prst="rect">
                <a:avLst/>
              </a:prstGeom>
              <a:noFill/>
            </p:spPr>
            <p:txBody>
              <a:bodyPr wrap="square" rtlCol="0">
                <a:spAutoFit/>
              </a:bodyPr>
              <a:lstStyle/>
              <a:p>
                <a:pPr/>
                <a14:m>
                  <m:oMathPara xmlns:m="http://schemas.openxmlformats.org/officeDocument/2006/math">
                    <m:oMath>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𝑥</m:t>
                          </m:r>
                        </m:e>
                        <m:sup>
                          <m:r>
                            <a:rPr lang="en-GB" sz="3600" b="0" i="1" smtClean="0">
                              <a:latin typeface="Cambria Math" panose="02040503050406030204" pitchFamily="18" charset="0"/>
                            </a:rPr>
                            <m:t>3</m:t>
                          </m:r>
                        </m:sup>
                      </m:sSup>
                      <m:r>
                        <a:rPr lang="en-GB" sz="3600" b="0" i="1" smtClean="0">
                          <a:latin typeface="Cambria Math" panose="02040503050406030204" pitchFamily="18" charset="0"/>
                        </a:rPr>
                        <m:t>−</m:t>
                      </m:r>
                      <m:r>
                        <a:rPr lang="en-GB" sz="3600" b="0" i="1" smtClean="0">
                          <a:latin typeface="Cambria Math" panose="02040503050406030204" pitchFamily="18" charset="0"/>
                        </a:rPr>
                        <m:t>𝑥</m:t>
                      </m:r>
                    </m:oMath>
                    <m:oMath>
                      <m:r>
                        <a:rPr lang="en-GB" sz="3600" b="1" i="1" smtClean="0">
                          <a:latin typeface="Cambria Math" panose="02040503050406030204" pitchFamily="18" charset="0"/>
                        </a:rPr>
                        <m:t>=</m:t>
                      </m:r>
                      <m:r>
                        <a:rPr lang="en-GB" sz="3600" b="1" i="1" smtClean="0">
                          <a:latin typeface="Cambria Math" panose="02040503050406030204" pitchFamily="18" charset="0"/>
                        </a:rPr>
                        <m:t>𝒙</m:t>
                      </m:r>
                      <m:d>
                        <m:dPr>
                          <m:ctrlPr>
                            <a:rPr lang="en-GB" sz="3600" b="1" i="1" smtClean="0">
                              <a:latin typeface="Cambria Math" panose="02040503050406030204" pitchFamily="18" charset="0"/>
                            </a:rPr>
                          </m:ctrlPr>
                        </m:dPr>
                        <m:e>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𝒙</m:t>
                              </m:r>
                            </m:e>
                            <m:sup>
                              <m:r>
                                <a:rPr lang="en-GB" sz="3600" b="1" i="1" smtClean="0">
                                  <a:latin typeface="Cambria Math" panose="02040503050406030204" pitchFamily="18" charset="0"/>
                                </a:rPr>
                                <m:t>𝟐</m:t>
                              </m:r>
                            </m:sup>
                          </m:sSup>
                          <m:r>
                            <a:rPr lang="en-GB" sz="3600" b="1" i="1" smtClean="0">
                              <a:latin typeface="Cambria Math" panose="02040503050406030204" pitchFamily="18" charset="0"/>
                            </a:rPr>
                            <m:t>−</m:t>
                          </m:r>
                          <m:r>
                            <a:rPr lang="en-GB" sz="3600" b="1" i="1" smtClean="0">
                              <a:latin typeface="Cambria Math" panose="02040503050406030204" pitchFamily="18" charset="0"/>
                            </a:rPr>
                            <m:t>𝟏</m:t>
                          </m:r>
                        </m:e>
                      </m:d>
                    </m:oMath>
                    <m:oMath>
                      <m:r>
                        <a:rPr lang="en-GB" sz="3600" b="1" i="1" smtClean="0">
                          <a:latin typeface="Cambria Math" panose="02040503050406030204" pitchFamily="18" charset="0"/>
                        </a:rPr>
                        <m:t>=</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𝟏</m:t>
                      </m:r>
                      <m:r>
                        <a:rPr lang="en-GB" sz="3600" b="1" i="1" smtClean="0">
                          <a:latin typeface="Cambria Math" panose="02040503050406030204" pitchFamily="18" charset="0"/>
                        </a:rPr>
                        <m:t>)(</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𝟏</m:t>
                      </m:r>
                      <m:r>
                        <a:rPr lang="en-GB" sz="3600" b="1" i="1" smtClean="0">
                          <a:latin typeface="Cambria Math" panose="02040503050406030204" pitchFamily="18" charset="0"/>
                        </a:rPr>
                        <m:t>)</m:t>
                      </m:r>
                    </m:oMath>
                  </m:oMathPara>
                </a14:m>
                <a:endParaRPr lang="en-GB" b="1" dirty="0"/>
              </a:p>
            </p:txBody>
          </p:sp>
        </mc:Choice>
        <mc:Fallback xmlns="">
          <p:sp>
            <p:nvSpPr>
              <p:cNvPr id="9" name="TextBox 8"/>
              <p:cNvSpPr txBox="1">
                <a:spLocks noRot="1" noChangeAspect="1" noMove="1" noResize="1" noEditPoints="1" noAdjustHandles="1" noChangeArrowheads="1" noChangeShapeType="1" noTextEdit="1"/>
              </p:cNvSpPr>
              <p:nvPr/>
            </p:nvSpPr>
            <p:spPr>
              <a:xfrm>
                <a:off x="785732" y="2907153"/>
                <a:ext cx="4319916" cy="1825693"/>
              </a:xfrm>
              <a:prstGeom prst="rect">
                <a:avLst/>
              </a:prstGeom>
              <a:blipFill>
                <a:blip r:embed="rId3"/>
                <a:stretch>
                  <a:fillRect/>
                </a:stretch>
              </a:blipFill>
            </p:spPr>
            <p:txBody>
              <a:bodyPr/>
              <a:lstStyle/>
              <a:p>
                <a:r>
                  <a:rPr lang="en-GB">
                    <a:noFill/>
                  </a:rPr>
                  <a:t> </a:t>
                </a:r>
              </a:p>
            </p:txBody>
          </p:sp>
        </mc:Fallback>
      </mc:AlternateContent>
      <p:sp>
        <p:nvSpPr>
          <p:cNvPr id="10" name="Rectangle 9"/>
          <p:cNvSpPr/>
          <p:nvPr/>
        </p:nvSpPr>
        <p:spPr>
          <a:xfrm>
            <a:off x="3480016" y="1346200"/>
            <a:ext cx="3820670" cy="7493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1522210" y="3488892"/>
            <a:ext cx="3804533" cy="128630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2" name="TextBox 11"/>
              <p:cNvSpPr txBox="1"/>
              <p:nvPr/>
            </p:nvSpPr>
            <p:spPr>
              <a:xfrm>
                <a:off x="675387" y="4978546"/>
                <a:ext cx="4319916" cy="1825693"/>
              </a:xfrm>
              <a:prstGeom prst="rect">
                <a:avLst/>
              </a:prstGeom>
              <a:noFill/>
            </p:spPr>
            <p:txBody>
              <a:bodyPr wrap="square" rtlCol="0">
                <a:spAutoFit/>
              </a:bodyPr>
              <a:lstStyle/>
              <a:p>
                <a:pPr/>
                <a14:m>
                  <m:oMathPara xmlns:m="http://schemas.openxmlformats.org/officeDocument/2006/math">
                    <m:oMath>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𝑥</m:t>
                          </m:r>
                        </m:e>
                        <m:sup>
                          <m:r>
                            <a:rPr lang="en-GB" sz="3600" b="0" i="1" smtClean="0">
                              <a:latin typeface="Cambria Math" panose="02040503050406030204" pitchFamily="18" charset="0"/>
                            </a:rPr>
                            <m:t>3</m:t>
                          </m:r>
                        </m:sup>
                      </m:sSup>
                      <m:r>
                        <a:rPr lang="en-GB" sz="3600" b="0" i="1" smtClean="0">
                          <a:latin typeface="Cambria Math" panose="02040503050406030204" pitchFamily="18" charset="0"/>
                        </a:rPr>
                        <m:t>+3</m:t>
                      </m:r>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𝑥</m:t>
                          </m:r>
                        </m:e>
                        <m:sup>
                          <m:r>
                            <a:rPr lang="en-GB" sz="3600" b="0" i="1" smtClean="0">
                              <a:latin typeface="Cambria Math" panose="02040503050406030204" pitchFamily="18" charset="0"/>
                            </a:rPr>
                            <m:t>2</m:t>
                          </m:r>
                        </m:sup>
                      </m:sSup>
                      <m:r>
                        <a:rPr lang="en-GB" sz="3600" b="0" i="1" smtClean="0">
                          <a:latin typeface="Cambria Math" panose="02040503050406030204" pitchFamily="18" charset="0"/>
                        </a:rPr>
                        <m:t>+2</m:t>
                      </m:r>
                      <m:r>
                        <a:rPr lang="en-GB" sz="3600" b="0" i="1" smtClean="0">
                          <a:latin typeface="Cambria Math" panose="02040503050406030204" pitchFamily="18" charset="0"/>
                        </a:rPr>
                        <m:t>𝑥</m:t>
                      </m:r>
                    </m:oMath>
                    <m:oMath>
                      <m:r>
                        <a:rPr lang="en-GB" sz="3600" b="1" i="1" smtClean="0">
                          <a:latin typeface="Cambria Math" panose="02040503050406030204" pitchFamily="18" charset="0"/>
                        </a:rPr>
                        <m:t>=</m:t>
                      </m:r>
                      <m:r>
                        <a:rPr lang="en-GB" sz="3600" b="1" i="1" smtClean="0">
                          <a:latin typeface="Cambria Math" panose="02040503050406030204" pitchFamily="18" charset="0"/>
                        </a:rPr>
                        <m:t>𝒙</m:t>
                      </m:r>
                      <m:d>
                        <m:dPr>
                          <m:ctrlPr>
                            <a:rPr lang="en-GB" sz="3600" b="1" i="1" smtClean="0">
                              <a:latin typeface="Cambria Math" panose="02040503050406030204" pitchFamily="18" charset="0"/>
                            </a:rPr>
                          </m:ctrlPr>
                        </m:dPr>
                        <m:e>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𝒙</m:t>
                              </m:r>
                            </m:e>
                            <m:sup>
                              <m:r>
                                <a:rPr lang="en-GB" sz="3600" b="1" i="1" smtClean="0">
                                  <a:latin typeface="Cambria Math" panose="02040503050406030204" pitchFamily="18" charset="0"/>
                                </a:rPr>
                                <m:t>𝟐</m:t>
                              </m:r>
                            </m:sup>
                          </m:sSup>
                          <m:r>
                            <a:rPr lang="en-GB" sz="3600" b="1" i="1" smtClean="0">
                              <a:latin typeface="Cambria Math" panose="02040503050406030204" pitchFamily="18" charset="0"/>
                            </a:rPr>
                            <m:t>+</m:t>
                          </m:r>
                          <m:r>
                            <a:rPr lang="en-GB" sz="3600" b="1" i="1" smtClean="0">
                              <a:latin typeface="Cambria Math" panose="02040503050406030204" pitchFamily="18" charset="0"/>
                            </a:rPr>
                            <m:t>𝟑</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𝟐</m:t>
                          </m:r>
                        </m:e>
                      </m:d>
                    </m:oMath>
                    <m:oMath>
                      <m:r>
                        <a:rPr lang="en-GB" sz="3600" b="1" i="1" smtClean="0">
                          <a:latin typeface="Cambria Math" panose="02040503050406030204" pitchFamily="18" charset="0"/>
                        </a:rPr>
                        <m:t>=</m:t>
                      </m:r>
                      <m:r>
                        <a:rPr lang="en-GB" sz="3600" b="1" i="1" smtClean="0">
                          <a:latin typeface="Cambria Math" panose="02040503050406030204" pitchFamily="18" charset="0"/>
                        </a:rPr>
                        <m:t>𝒙</m:t>
                      </m:r>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𝟐</m:t>
                          </m:r>
                        </m:e>
                      </m:d>
                      <m:d>
                        <m:dPr>
                          <m:ctrlPr>
                            <a:rPr lang="en-GB" sz="3600" b="1" i="1" smtClean="0">
                              <a:latin typeface="Cambria Math" panose="02040503050406030204" pitchFamily="18" charset="0"/>
                            </a:rPr>
                          </m:ctrlPr>
                        </m:dPr>
                        <m:e>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𝟏</m:t>
                          </m:r>
                        </m:e>
                      </m:d>
                    </m:oMath>
                  </m:oMathPara>
                </a14:m>
                <a:endParaRPr lang="en-GB"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675387" y="4978546"/>
                <a:ext cx="4319916" cy="1825693"/>
              </a:xfrm>
              <a:prstGeom prst="rect">
                <a:avLst/>
              </a:prstGeom>
              <a:blipFill>
                <a:blip r:embed="rId4"/>
                <a:stretch>
                  <a:fillRect/>
                </a:stretch>
              </a:blipFill>
            </p:spPr>
            <p:txBody>
              <a:bodyPr/>
              <a:lstStyle/>
              <a:p>
                <a:r>
                  <a:rPr lang="en-GB">
                    <a:noFill/>
                  </a:rPr>
                  <a:t> </a:t>
                </a:r>
              </a:p>
            </p:txBody>
          </p:sp>
        </mc:Fallback>
      </mc:AlternateContent>
      <p:sp>
        <p:nvSpPr>
          <p:cNvPr id="13" name="Rectangle 12"/>
          <p:cNvSpPr/>
          <p:nvPr/>
        </p:nvSpPr>
        <p:spPr>
          <a:xfrm>
            <a:off x="1422401" y="5571692"/>
            <a:ext cx="3454400" cy="113390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6759604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3"/>
                                        </p:tgtEl>
                                      </p:cBhvr>
                                    </p:animEffect>
                                    <p:set>
                                      <p:cBhvr>
                                        <p:cTn id="19"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0" grpId="0" animBg="1"/>
      <p:bldP spid="11"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490948" y="792793"/>
                <a:ext cx="3533453" cy="95410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800" dirty="0"/>
                  <a:t>Factorise completely:</a:t>
                </a:r>
              </a:p>
              <a:p>
                <a:pPr/>
                <a14:m>
                  <m:oMathPara xmlns:m="http://schemas.openxmlformats.org/officeDocument/2006/math">
                    <m:oMath>
                      <m:r>
                        <a:rPr lang="en-GB" sz="2800" b="0" i="1" smtClean="0">
                          <a:latin typeface="Cambria Math" panose="02040503050406030204" pitchFamily="18" charset="0"/>
                        </a:rPr>
                        <m:t>6</m:t>
                      </m:r>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𝑥</m:t>
                          </m:r>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r>
                        <a:rPr lang="en-GB" sz="2800" b="0" i="1" smtClean="0">
                          <a:latin typeface="Cambria Math" panose="02040503050406030204" pitchFamily="18" charset="0"/>
                        </a:rPr>
                        <m:t>𝑥</m:t>
                      </m:r>
                      <m:r>
                        <a:rPr lang="en-GB" sz="2800" b="0" i="1" smtClean="0">
                          <a:latin typeface="Cambria Math" panose="02040503050406030204" pitchFamily="18" charset="0"/>
                        </a:rPr>
                        <m:t>−2</m:t>
                      </m:r>
                    </m:oMath>
                  </m:oMathPara>
                </a14:m>
                <a:endParaRPr lang="en-GB"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490948" y="792793"/>
                <a:ext cx="3533453" cy="954107"/>
              </a:xfrm>
              <a:prstGeom prst="rect">
                <a:avLst/>
              </a:prstGeom>
              <a:blipFill>
                <a:blip r:embed="rId2"/>
                <a:stretch>
                  <a:fillRect l="-653"/>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75773" y="1960938"/>
                <a:ext cx="3908286" cy="1569660"/>
              </a:xfrm>
              <a:prstGeom prst="rect">
                <a:avLst/>
              </a:prstGeom>
              <a:noFill/>
            </p:spPr>
            <p:txBody>
              <a:bodyPr wrap="square" rtlCol="0">
                <a:spAutoFit/>
              </a:bodyPr>
              <a:lstStyle/>
              <a:p>
                <a:pPr/>
                <a14:m>
                  <m:oMathPara xmlns:m="http://schemas.openxmlformats.org/officeDocument/2006/math">
                    <m:oMath>
                      <m:r>
                        <a:rPr lang="en-GB" sz="2400" b="0" i="1" smtClean="0">
                          <a:latin typeface="Cambria Math" panose="02040503050406030204" pitchFamily="18" charset="0"/>
                        </a:rPr>
                        <m:t>6</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−2     ⊕1 ⊗−12</m:t>
                      </m:r>
                    </m:oMath>
                    <m:oMath>
                      <m:r>
                        <a:rPr lang="en-GB" sz="2400" b="0" i="0" smtClean="0">
                          <a:latin typeface="Cambria Math" panose="02040503050406030204" pitchFamily="18" charset="0"/>
                        </a:rPr>
                        <m:t>=</m:t>
                      </m:r>
                      <m:r>
                        <a:rPr lang="en-GB" sz="2400" b="0" i="1" smtClean="0">
                          <a:latin typeface="Cambria Math" panose="02040503050406030204" pitchFamily="18" charset="0"/>
                        </a:rPr>
                        <m:t>6</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+4</m:t>
                      </m:r>
                      <m:r>
                        <a:rPr lang="en-GB" sz="2400" b="0" i="1" smtClean="0">
                          <a:latin typeface="Cambria Math" panose="02040503050406030204" pitchFamily="18" charset="0"/>
                        </a:rPr>
                        <m:t>𝑥</m:t>
                      </m:r>
                      <m:r>
                        <a:rPr lang="en-GB" sz="2400" b="0" i="1" smtClean="0">
                          <a:latin typeface="Cambria Math" panose="02040503050406030204" pitchFamily="18" charset="0"/>
                        </a:rPr>
                        <m:t>−3</m:t>
                      </m:r>
                      <m:r>
                        <a:rPr lang="en-GB" sz="2400" b="0" i="1" smtClean="0">
                          <a:latin typeface="Cambria Math" panose="02040503050406030204" pitchFamily="18" charset="0"/>
                        </a:rPr>
                        <m:t>𝑥</m:t>
                      </m:r>
                      <m:r>
                        <a:rPr lang="en-GB" sz="2400" b="0" i="1" smtClean="0">
                          <a:latin typeface="Cambria Math" panose="02040503050406030204" pitchFamily="18" charset="0"/>
                        </a:rPr>
                        <m:t>−2</m:t>
                      </m:r>
                    </m:oMath>
                    <m:oMath>
                      <m:r>
                        <a:rPr lang="en-GB" sz="2400" b="0" i="0" smtClean="0">
                          <a:latin typeface="Cambria Math" panose="02040503050406030204" pitchFamily="18" charset="0"/>
                        </a:rPr>
                        <m:t>=</m:t>
                      </m:r>
                      <m:r>
                        <a:rPr lang="en-GB" sz="2400" b="0" i="1" smtClean="0">
                          <a:latin typeface="Cambria Math" panose="02040503050406030204" pitchFamily="18" charset="0"/>
                        </a:rPr>
                        <m:t>2</m:t>
                      </m:r>
                      <m:r>
                        <a:rPr lang="en-GB" sz="2400" b="0" i="1" smtClean="0">
                          <a:latin typeface="Cambria Math" panose="02040503050406030204" pitchFamily="18" charset="0"/>
                        </a:rPr>
                        <m:t>𝑥</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3</m:t>
                          </m:r>
                          <m:r>
                            <a:rPr lang="en-GB" sz="2400" b="0" i="1" smtClean="0">
                              <a:latin typeface="Cambria Math" panose="02040503050406030204" pitchFamily="18" charset="0"/>
                            </a:rPr>
                            <m:t>𝑥</m:t>
                          </m:r>
                          <m:r>
                            <a:rPr lang="en-GB" sz="2400" b="0" i="1" smtClean="0">
                              <a:latin typeface="Cambria Math" panose="02040503050406030204" pitchFamily="18" charset="0"/>
                            </a:rPr>
                            <m:t>+2</m:t>
                          </m:r>
                        </m:e>
                      </m:d>
                      <m:r>
                        <a:rPr lang="en-GB" sz="2400" b="0" i="1" smtClean="0">
                          <a:latin typeface="Cambria Math" panose="02040503050406030204" pitchFamily="18" charset="0"/>
                        </a:rPr>
                        <m:t>−1</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3</m:t>
                          </m:r>
                          <m:r>
                            <a:rPr lang="en-GB" sz="2400" b="0" i="1" smtClean="0">
                              <a:latin typeface="Cambria Math" panose="02040503050406030204" pitchFamily="18" charset="0"/>
                            </a:rPr>
                            <m:t>𝑥</m:t>
                          </m:r>
                          <m:r>
                            <a:rPr lang="en-GB" sz="2400" b="0" i="1" smtClean="0">
                              <a:latin typeface="Cambria Math" panose="02040503050406030204" pitchFamily="18" charset="0"/>
                            </a:rPr>
                            <m:t>+2</m:t>
                          </m:r>
                        </m:e>
                      </m:d>
                    </m:oMath>
                    <m:oMath>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3</m:t>
                          </m:r>
                          <m:r>
                            <a:rPr lang="en-GB" sz="2400" b="0" i="1" smtClean="0">
                              <a:latin typeface="Cambria Math" panose="02040503050406030204" pitchFamily="18" charset="0"/>
                            </a:rPr>
                            <m:t>𝑥</m:t>
                          </m:r>
                          <m:r>
                            <a:rPr lang="en-GB" sz="2400" b="0" i="1" smtClean="0">
                              <a:latin typeface="Cambria Math" panose="02040503050406030204" pitchFamily="18" charset="0"/>
                            </a:rPr>
                            <m:t>+2</m:t>
                          </m:r>
                        </m:e>
                      </m:d>
                      <m:d>
                        <m:dPr>
                          <m:ctrlPr>
                            <a:rPr lang="en-GB" sz="2400" b="0" i="1" smtClean="0">
                              <a:latin typeface="Cambria Math" panose="02040503050406030204" pitchFamily="18" charset="0"/>
                            </a:rPr>
                          </m:ctrlPr>
                        </m:dPr>
                        <m:e>
                          <m:r>
                            <a:rPr lang="en-GB" sz="2400" b="0" i="1" smtClean="0">
                              <a:latin typeface="Cambria Math" panose="02040503050406030204" pitchFamily="18" charset="0"/>
                            </a:rPr>
                            <m:t>2</m:t>
                          </m:r>
                          <m:r>
                            <a:rPr lang="en-GB" sz="2400" b="0" i="1" smtClean="0">
                              <a:latin typeface="Cambria Math" panose="02040503050406030204" pitchFamily="18" charset="0"/>
                            </a:rPr>
                            <m:t>𝑥</m:t>
                          </m:r>
                          <m:r>
                            <a:rPr lang="en-GB" sz="2400" b="0" i="1" smtClean="0">
                              <a:latin typeface="Cambria Math" panose="02040503050406030204" pitchFamily="18" charset="0"/>
                            </a:rPr>
                            <m:t>−1</m:t>
                          </m:r>
                        </m:e>
                      </m:d>
                    </m:oMath>
                  </m:oMathPara>
                </a14:m>
                <a:endParaRPr lang="en-GB"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275773" y="1960938"/>
                <a:ext cx="3908286" cy="156966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884553" y="781207"/>
                <a:ext cx="3533453" cy="95410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800" dirty="0"/>
                  <a:t>Factorise completely:</a:t>
                </a:r>
              </a:p>
              <a:p>
                <a:pPr/>
                <a14:m>
                  <m:oMathPara xmlns:m="http://schemas.openxmlformats.org/officeDocument/2006/math">
                    <m:oMath>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𝑥</m:t>
                          </m:r>
                        </m:e>
                        <m:sup>
                          <m:r>
                            <a:rPr lang="en-GB" sz="2800" b="0" i="1" smtClean="0">
                              <a:latin typeface="Cambria Math" panose="02040503050406030204" pitchFamily="18" charset="0"/>
                            </a:rPr>
                            <m:t>3</m:t>
                          </m:r>
                        </m:sup>
                      </m:sSup>
                      <m:r>
                        <a:rPr lang="en-GB" sz="2800" b="0" i="1" smtClean="0">
                          <a:latin typeface="Cambria Math" panose="02040503050406030204" pitchFamily="18" charset="0"/>
                        </a:rPr>
                        <m:t>−7</m:t>
                      </m:r>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𝑥</m:t>
                          </m:r>
                        </m:e>
                        <m:sup>
                          <m:r>
                            <a:rPr lang="en-GB" sz="2800" b="0" i="1" smtClean="0">
                              <a:latin typeface="Cambria Math" panose="02040503050406030204" pitchFamily="18" charset="0"/>
                            </a:rPr>
                            <m:t>2</m:t>
                          </m:r>
                        </m:sup>
                      </m:sSup>
                      <m:r>
                        <a:rPr lang="en-GB" sz="2800" b="0" i="1" smtClean="0">
                          <a:latin typeface="Cambria Math" panose="02040503050406030204" pitchFamily="18" charset="0"/>
                        </a:rPr>
                        <m:t>+12</m:t>
                      </m:r>
                      <m:r>
                        <a:rPr lang="en-GB" sz="2800" b="0" i="1" smtClean="0">
                          <a:latin typeface="Cambria Math" panose="02040503050406030204" pitchFamily="18" charset="0"/>
                        </a:rPr>
                        <m:t>𝑥</m:t>
                      </m:r>
                    </m:oMath>
                  </m:oMathPara>
                </a14:m>
                <a:endParaRPr lang="en-GB"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4884553" y="781207"/>
                <a:ext cx="3533453" cy="954107"/>
              </a:xfrm>
              <a:prstGeom prst="rect">
                <a:avLst/>
              </a:prstGeom>
              <a:blipFill>
                <a:blip r:embed="rId4"/>
                <a:stretch>
                  <a:fillRect l="-48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02448" y="1917395"/>
                <a:ext cx="3152981" cy="830997"/>
              </a:xfrm>
              <a:prstGeom prst="rect">
                <a:avLst/>
              </a:prstGeom>
              <a:noFill/>
            </p:spPr>
            <p:txBody>
              <a:bodyPr wrap="square" rtlCol="0">
                <a:spAutoFit/>
              </a:bodyPr>
              <a:lstStyle/>
              <a:p>
                <a:pPr/>
                <a14:m>
                  <m:oMathPara xmlns:m="http://schemas.openxmlformats.org/officeDocument/2006/math">
                    <m:oMath>
                      <m:r>
                        <a:rPr lang="en-GB" sz="2400" b="0" i="1" smtClean="0">
                          <a:latin typeface="Cambria Math" panose="02040503050406030204" pitchFamily="18" charset="0"/>
                        </a:rPr>
                        <m:t>=</m:t>
                      </m:r>
                      <m:r>
                        <a:rPr lang="en-GB" sz="2400" b="0" i="1" smtClean="0">
                          <a:latin typeface="Cambria Math" panose="02040503050406030204" pitchFamily="18" charset="0"/>
                        </a:rPr>
                        <m:t>𝑥</m:t>
                      </m:r>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−7</m:t>
                          </m:r>
                          <m:r>
                            <a:rPr lang="en-GB" sz="2400" b="0" i="1" smtClean="0">
                              <a:latin typeface="Cambria Math" panose="02040503050406030204" pitchFamily="18" charset="0"/>
                            </a:rPr>
                            <m:t>𝑥</m:t>
                          </m:r>
                          <m:r>
                            <a:rPr lang="en-GB" sz="2400" b="0" i="1" smtClean="0">
                              <a:latin typeface="Cambria Math" panose="02040503050406030204" pitchFamily="18" charset="0"/>
                            </a:rPr>
                            <m:t>+12</m:t>
                          </m:r>
                        </m:e>
                      </m:d>
                    </m:oMath>
                    <m:oMath>
                      <m:r>
                        <a:rPr lang="en-GB" sz="2400" b="0" i="1" smtClean="0">
                          <a:latin typeface="Cambria Math" panose="02040503050406030204" pitchFamily="18" charset="0"/>
                        </a:rPr>
                        <m:t>=</m:t>
                      </m:r>
                      <m:r>
                        <a:rPr lang="en-GB" sz="2400" b="0" i="1" smtClean="0">
                          <a:latin typeface="Cambria Math" panose="02040503050406030204" pitchFamily="18" charset="0"/>
                        </a:rPr>
                        <m:t>𝑥</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−3</m:t>
                          </m:r>
                        </m:e>
                      </m:d>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−4</m:t>
                          </m:r>
                        </m:e>
                      </m:d>
                    </m:oMath>
                  </m:oMathPara>
                </a14:m>
                <a:endParaRPr lang="en-GB"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4902448" y="1917395"/>
                <a:ext cx="3152981" cy="83099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67554" y="3938302"/>
                <a:ext cx="3533453" cy="95410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800" dirty="0"/>
                  <a:t>Factorise completely:</a:t>
                </a:r>
              </a:p>
              <a:p>
                <a:pPr/>
                <a14:m>
                  <m:oMathPara xmlns:m="http://schemas.openxmlformats.org/officeDocument/2006/math">
                    <m:oMath>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𝑥</m:t>
                          </m:r>
                        </m:e>
                        <m:sup>
                          <m:r>
                            <a:rPr lang="en-GB" sz="2800" b="0" i="1" smtClean="0">
                              <a:latin typeface="Cambria Math" panose="02040503050406030204" pitchFamily="18" charset="0"/>
                            </a:rPr>
                            <m:t>4</m:t>
                          </m:r>
                        </m:sup>
                      </m:sSup>
                      <m:r>
                        <a:rPr lang="en-GB" sz="2800" b="0" i="1" smtClean="0">
                          <a:latin typeface="Cambria Math" panose="02040503050406030204" pitchFamily="18" charset="0"/>
                        </a:rPr>
                        <m:t>−1</m:t>
                      </m:r>
                    </m:oMath>
                  </m:oMathPara>
                </a14:m>
                <a:endParaRPr lang="en-GB"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467554" y="3938302"/>
                <a:ext cx="3533453" cy="954107"/>
              </a:xfrm>
              <a:prstGeom prst="rect">
                <a:avLst/>
              </a:prstGeom>
              <a:blipFill>
                <a:blip r:embed="rId6"/>
                <a:stretch>
                  <a:fillRect l="-653"/>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03531" y="5161338"/>
                <a:ext cx="3908286" cy="830997"/>
              </a:xfrm>
              <a:prstGeom prst="rect">
                <a:avLst/>
              </a:prstGeom>
              <a:noFill/>
            </p:spPr>
            <p:txBody>
              <a:bodyPr wrap="square" rtlCol="0">
                <a:spAutoFit/>
              </a:bodyPr>
              <a:lstStyle/>
              <a:p>
                <a:pPr/>
                <a14:m>
                  <m:oMathPara xmlns:m="http://schemas.openxmlformats.org/officeDocument/2006/math">
                    <m:oMath>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+1</m:t>
                          </m:r>
                        </m:e>
                      </m:d>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−1</m:t>
                          </m:r>
                        </m:e>
                      </m:d>
                    </m:oMath>
                    <m:oMath>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+1</m:t>
                          </m:r>
                        </m:e>
                      </m:d>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+1</m:t>
                          </m:r>
                        </m:e>
                      </m:d>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−1</m:t>
                          </m:r>
                        </m:e>
                      </m:d>
                    </m:oMath>
                  </m:oMathPara>
                </a14:m>
                <a:endParaRPr lang="en-GB"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303531" y="5161338"/>
                <a:ext cx="3908286" cy="83099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879054" y="3953911"/>
                <a:ext cx="3533453" cy="95410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800" dirty="0"/>
                  <a:t>Factorise completely:</a:t>
                </a:r>
              </a:p>
              <a:p>
                <a:pPr/>
                <a14:m>
                  <m:oMathPara xmlns:m="http://schemas.openxmlformats.org/officeDocument/2006/math">
                    <m:oMath>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𝑥</m:t>
                          </m:r>
                        </m:e>
                        <m:sup>
                          <m:r>
                            <a:rPr lang="en-GB" sz="2800" b="0" i="1" smtClean="0">
                              <a:latin typeface="Cambria Math" panose="02040503050406030204" pitchFamily="18" charset="0"/>
                            </a:rPr>
                            <m:t>3</m:t>
                          </m:r>
                        </m:sup>
                      </m:sSup>
                      <m:r>
                        <a:rPr lang="en-GB" sz="2800" b="0" i="1" smtClean="0">
                          <a:latin typeface="Cambria Math" panose="02040503050406030204" pitchFamily="18" charset="0"/>
                        </a:rPr>
                        <m:t>−1</m:t>
                      </m:r>
                    </m:oMath>
                  </m:oMathPara>
                </a14:m>
                <a:endParaRPr lang="en-GB" sz="2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4879054" y="3953911"/>
                <a:ext cx="3533453" cy="954107"/>
              </a:xfrm>
              <a:prstGeom prst="rect">
                <a:avLst/>
              </a:prstGeom>
              <a:blipFill>
                <a:blip r:embed="rId8"/>
                <a:stretch>
                  <a:fillRect l="-48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508999" y="5045224"/>
                <a:ext cx="3908286" cy="461665"/>
              </a:xfrm>
              <a:prstGeom prst="rect">
                <a:avLst/>
              </a:prstGeom>
              <a:noFill/>
            </p:spPr>
            <p:txBody>
              <a:bodyPr wrap="square" rtlCol="0">
                <a:spAutoFit/>
              </a:bodyPr>
              <a:lstStyle/>
              <a:p>
                <a:pPr/>
                <a14:m>
                  <m:oMathPara xmlns:m="http://schemas.openxmlformats.org/officeDocument/2006/math">
                    <m:oMath>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−1)(</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+1)</m:t>
                      </m:r>
                    </m:oMath>
                  </m:oMathPara>
                </a14:m>
                <a:endParaRPr lang="en-GB"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4508999" y="5045224"/>
                <a:ext cx="3908286" cy="461665"/>
              </a:xfrm>
              <a:prstGeom prst="rect">
                <a:avLst/>
              </a:prstGeom>
              <a:blipFill>
                <a:blip r:embed="rId9"/>
                <a:stretch>
                  <a:fillRect b="-18667"/>
                </a:stretch>
              </a:blipFill>
            </p:spPr>
            <p:txBody>
              <a:bodyPr/>
              <a:lstStyle/>
              <a:p>
                <a:r>
                  <a:rPr lang="en-GB">
                    <a:noFill/>
                  </a:rPr>
                  <a:t> </a:t>
                </a:r>
              </a:p>
            </p:txBody>
          </p:sp>
        </mc:Fallback>
      </mc:AlternateContent>
      <p:sp>
        <p:nvSpPr>
          <p:cNvPr id="13" name="Rectangle 12"/>
          <p:cNvSpPr/>
          <p:nvPr/>
        </p:nvSpPr>
        <p:spPr>
          <a:xfrm>
            <a:off x="419124" y="2037462"/>
            <a:ext cx="3673905" cy="15185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226163" y="781666"/>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5" name="Rectangle 14"/>
          <p:cNvSpPr/>
          <p:nvPr/>
        </p:nvSpPr>
        <p:spPr>
          <a:xfrm>
            <a:off x="4644650" y="74963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16" name="Rectangle 15"/>
          <p:cNvSpPr/>
          <p:nvPr/>
        </p:nvSpPr>
        <p:spPr>
          <a:xfrm>
            <a:off x="188704" y="3937128"/>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latin typeface="Wingdings" panose="05000000000000000000" pitchFamily="2" charset="2"/>
              </a:rPr>
              <a:t>N</a:t>
            </a:r>
          </a:p>
        </p:txBody>
      </p:sp>
      <p:sp>
        <p:nvSpPr>
          <p:cNvPr id="17" name="Rectangle 16"/>
          <p:cNvSpPr/>
          <p:nvPr/>
        </p:nvSpPr>
        <p:spPr>
          <a:xfrm>
            <a:off x="4594294" y="3953911"/>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latin typeface="Wingdings" panose="05000000000000000000" pitchFamily="2" charset="2"/>
              </a:rPr>
              <a:t>N</a:t>
            </a:r>
          </a:p>
        </p:txBody>
      </p:sp>
      <mc:AlternateContent xmlns:mc="http://schemas.openxmlformats.org/markup-compatibility/2006" xmlns:a14="http://schemas.microsoft.com/office/drawing/2010/main">
        <mc:Choice Requires="a14">
          <p:sp>
            <p:nvSpPr>
              <p:cNvPr id="18" name="TextBox 17"/>
              <p:cNvSpPr txBox="1"/>
              <p:nvPr/>
            </p:nvSpPr>
            <p:spPr>
              <a:xfrm>
                <a:off x="4325258" y="5660121"/>
                <a:ext cx="4759542" cy="10772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Note</a:t>
                </a:r>
                <a:r>
                  <a:rPr lang="en-GB" sz="1600" dirty="0"/>
                  <a:t>: You would not be expected to factorise this at A Level (but you would in STEP!).</a:t>
                </a:r>
              </a:p>
              <a:p>
                <a:r>
                  <a:rPr lang="en-GB" sz="1600" dirty="0"/>
                  <a:t>In general, the </a:t>
                </a:r>
                <a:r>
                  <a:rPr lang="en-GB" sz="1600" i="1" dirty="0"/>
                  <a:t>difference of two cubes</a:t>
                </a:r>
                <a:r>
                  <a:rPr lang="en-GB" sz="1600" dirty="0"/>
                  <a:t>:</a:t>
                </a:r>
              </a:p>
              <a:p>
                <a:pPr/>
                <a14:m>
                  <m:oMathPara xmlns:m="http://schemas.openxmlformats.org/officeDocument/2006/math">
                    <m:o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𝑦</m:t>
                          </m:r>
                        </m:e>
                        <m:sup>
                          <m:r>
                            <a:rPr lang="en-GB" sz="1600" b="0" i="1" smtClean="0">
                              <a:latin typeface="Cambria Math" panose="02040503050406030204" pitchFamily="18" charset="0"/>
                            </a:rPr>
                            <m:t>3</m:t>
                          </m:r>
                        </m:sup>
                      </m:sSup>
                      <m:r>
                        <a:rPr lang="en-GB" sz="1600" b="0" i="1" smtClean="0">
                          <a:latin typeface="Cambria Math" panose="02040503050406030204" pitchFamily="18" charset="0"/>
                        </a:rPr>
                        <m:t>=</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r>
                            <a:rPr lang="en-GB" sz="1600" b="0" i="1" smtClean="0">
                              <a:latin typeface="Cambria Math" panose="02040503050406030204" pitchFamily="18" charset="0"/>
                            </a:rPr>
                            <m:t>−</m:t>
                          </m:r>
                          <m:r>
                            <a:rPr lang="en-GB" sz="1600" b="0" i="1" smtClean="0">
                              <a:latin typeface="Cambria Math" panose="02040503050406030204" pitchFamily="18" charset="0"/>
                            </a:rPr>
                            <m:t>𝑦</m:t>
                          </m:r>
                        </m:e>
                      </m:d>
                      <m:d>
                        <m:dPr>
                          <m:ctrlPr>
                            <a:rPr lang="en-GB" sz="1600" b="0" i="1" smtClean="0">
                              <a:latin typeface="Cambria Math" panose="02040503050406030204" pitchFamily="18" charset="0"/>
                            </a:rPr>
                          </m:ctrlPr>
                        </m:dPr>
                        <m:e>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𝑥𝑦</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𝑦</m:t>
                              </m:r>
                            </m:e>
                            <m:sup>
                              <m:r>
                                <a:rPr lang="en-GB" sz="1600" b="0" i="1" smtClean="0">
                                  <a:latin typeface="Cambria Math" panose="02040503050406030204" pitchFamily="18" charset="0"/>
                                </a:rPr>
                                <m:t>2</m:t>
                              </m:r>
                            </m:sup>
                          </m:sSup>
                        </m:e>
                      </m:d>
                    </m:oMath>
                  </m:oMathPara>
                </a14:m>
                <a:endParaRPr lang="en-GB" sz="1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4325258" y="5660121"/>
                <a:ext cx="4759542" cy="1077218"/>
              </a:xfrm>
              <a:prstGeom prst="rect">
                <a:avLst/>
              </a:prstGeom>
              <a:blipFill>
                <a:blip r:embed="rId10"/>
                <a:stretch>
                  <a:fillRect l="-529"/>
                </a:stretch>
              </a:blipFill>
            </p:spPr>
            <p:txBody>
              <a:bodyPr/>
              <a:lstStyle/>
              <a:p>
                <a:r>
                  <a:rPr lang="en-GB">
                    <a:noFill/>
                  </a:rPr>
                  <a:t> </a:t>
                </a:r>
              </a:p>
            </p:txBody>
          </p:sp>
        </mc:Fallback>
      </mc:AlternateContent>
      <p:sp>
        <p:nvSpPr>
          <p:cNvPr id="19" name="Rectangle 18"/>
          <p:cNvSpPr/>
          <p:nvPr/>
        </p:nvSpPr>
        <p:spPr>
          <a:xfrm>
            <a:off x="4797078" y="2024556"/>
            <a:ext cx="3673905" cy="15185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470102" y="5045224"/>
            <a:ext cx="3554300" cy="15185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4301006" y="5045224"/>
            <a:ext cx="4783793" cy="169211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1441222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4" restart="whenNotActive" fill="hold" evtFilter="cancelBubble" nodeType="interactiveSeq">
                <p:stCondLst>
                  <p:cond evt="onClick" delay="0">
                    <p:tgtEl>
                      <p:spTgt spid="2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0"/>
                                        </p:tgtEl>
                                      </p:cBhvr>
                                    </p:animEffect>
                                    <p:set>
                                      <p:cBhvr>
                                        <p:cTn id="19"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20" restart="whenNotActive" fill="hold" evtFilter="cancelBubble" nodeType="interactiveSeq">
                <p:stCondLst>
                  <p:cond evt="onClick" delay="0">
                    <p:tgtEl>
                      <p:spTgt spid="2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1"/>
                                        </p:tgtEl>
                                      </p:cBhvr>
                                    </p:animEffect>
                                    <p:set>
                                      <p:cBhvr>
                                        <p:cTn id="25"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13" grpId="0" animBg="1"/>
      <p:bldP spid="19"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1C - Pure Y1 Page 8</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7" name="Picture 6">
            <a:extLst>
              <a:ext uri="{FF2B5EF4-FFF2-40B4-BE49-F238E27FC236}">
                <a16:creationId xmlns:a16="http://schemas.microsoft.com/office/drawing/2014/main" id="{991EFD3D-A613-A236-CCDC-7C1CF5CD79FE}"/>
              </a:ext>
            </a:extLst>
          </p:cNvPr>
          <p:cNvPicPr>
            <a:picLocks noChangeAspect="1"/>
          </p:cNvPicPr>
          <p:nvPr/>
        </p:nvPicPr>
        <p:blipFill>
          <a:blip r:embed="rId2"/>
          <a:stretch>
            <a:fillRect/>
          </a:stretch>
        </p:blipFill>
        <p:spPr>
          <a:xfrm>
            <a:off x="107504" y="610439"/>
            <a:ext cx="3496876" cy="525604"/>
          </a:xfrm>
          <a:prstGeom prst="rect">
            <a:avLst/>
          </a:prstGeom>
        </p:spPr>
      </p:pic>
      <p:pic>
        <p:nvPicPr>
          <p:cNvPr id="8" name="Picture 7">
            <a:extLst>
              <a:ext uri="{FF2B5EF4-FFF2-40B4-BE49-F238E27FC236}">
                <a16:creationId xmlns:a16="http://schemas.microsoft.com/office/drawing/2014/main" id="{EBD4A0EC-3F22-B699-8B7F-B62068A8C9E4}"/>
              </a:ext>
            </a:extLst>
          </p:cNvPr>
          <p:cNvPicPr>
            <a:picLocks noChangeAspect="1"/>
          </p:cNvPicPr>
          <p:nvPr/>
        </p:nvPicPr>
        <p:blipFill>
          <a:blip r:embed="rId3"/>
          <a:stretch>
            <a:fillRect/>
          </a:stretch>
        </p:blipFill>
        <p:spPr>
          <a:xfrm>
            <a:off x="107504" y="2420888"/>
            <a:ext cx="3968831" cy="525602"/>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0FCD640-32DA-6A4A-85CD-C3965350B0A0}"/>
                  </a:ext>
                </a:extLst>
              </p:cNvPr>
              <p:cNvSpPr txBox="1"/>
              <p:nvPr/>
            </p:nvSpPr>
            <p:spPr>
              <a:xfrm>
                <a:off x="35496" y="4406549"/>
                <a:ext cx="6786345" cy="369332"/>
              </a:xfrm>
              <a:prstGeom prst="rect">
                <a:avLst/>
              </a:prstGeom>
              <a:noFill/>
            </p:spPr>
            <p:txBody>
              <a:bodyPr wrap="none" rtlCol="0">
                <a:spAutoFit/>
              </a:bodyPr>
              <a:lstStyle/>
              <a:p>
                <a:r>
                  <a:rPr lang="en-GB" b="1" dirty="0">
                    <a:solidFill>
                      <a:srgbClr val="FF0000"/>
                    </a:solidFill>
                  </a:rPr>
                  <a:t>Challenge:  </a:t>
                </a:r>
                <a:r>
                  <a:rPr lang="en-GB" dirty="0"/>
                  <a:t>Write </a:t>
                </a:r>
                <a14:m>
                  <m:oMath xmlns:m="http://schemas.openxmlformats.org/officeDocument/2006/math">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r>
                      <a:rPr lang="en-GB" b="0" i="1" smtClean="0">
                        <a:latin typeface="Cambria Math" panose="02040503050406030204" pitchFamily="18" charset="0"/>
                      </a:rPr>
                      <m:t>−13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+9 </m:t>
                    </m:r>
                  </m:oMath>
                </a14:m>
                <a:r>
                  <a:rPr lang="en-GB" dirty="0"/>
                  <a:t>as the product of four linear factors</a:t>
                </a:r>
              </a:p>
            </p:txBody>
          </p:sp>
        </mc:Choice>
        <mc:Fallback xmlns="">
          <p:sp>
            <p:nvSpPr>
              <p:cNvPr id="10" name="TextBox 9">
                <a:extLst>
                  <a:ext uri="{FF2B5EF4-FFF2-40B4-BE49-F238E27FC236}">
                    <a16:creationId xmlns:a16="http://schemas.microsoft.com/office/drawing/2014/main" id="{F0FCD640-32DA-6A4A-85CD-C3965350B0A0}"/>
                  </a:ext>
                </a:extLst>
              </p:cNvPr>
              <p:cNvSpPr txBox="1">
                <a:spLocks noRot="1" noChangeAspect="1" noMove="1" noResize="1" noEditPoints="1" noAdjustHandles="1" noChangeArrowheads="1" noChangeShapeType="1" noTextEdit="1"/>
              </p:cNvSpPr>
              <p:nvPr/>
            </p:nvSpPr>
            <p:spPr>
              <a:xfrm>
                <a:off x="35496" y="4406549"/>
                <a:ext cx="6786345" cy="369332"/>
              </a:xfrm>
              <a:prstGeom prst="rect">
                <a:avLst/>
              </a:prstGeom>
              <a:blipFill>
                <a:blip r:embed="rId5"/>
                <a:stretch>
                  <a:fillRect l="-746" t="-10345" b="-27586"/>
                </a:stretch>
              </a:blipFill>
            </p:spPr>
            <p:txBody>
              <a:bodyPr/>
              <a:lstStyle/>
              <a:p>
                <a:r>
                  <a:rPr lang="en-GB">
                    <a:noFill/>
                  </a:rPr>
                  <a:t> </a:t>
                </a:r>
              </a:p>
            </p:txBody>
          </p:sp>
        </mc:Fallback>
      </mc:AlternateContent>
      <p:pic>
        <p:nvPicPr>
          <p:cNvPr id="11" name="Picture 10">
            <a:extLst>
              <a:ext uri="{FF2B5EF4-FFF2-40B4-BE49-F238E27FC236}">
                <a16:creationId xmlns:a16="http://schemas.microsoft.com/office/drawing/2014/main" id="{5B7C747A-046B-992C-CCA8-07AECD2F121C}"/>
              </a:ext>
            </a:extLst>
          </p:cNvPr>
          <p:cNvPicPr>
            <a:picLocks noChangeAspect="1"/>
          </p:cNvPicPr>
          <p:nvPr/>
        </p:nvPicPr>
        <p:blipFill>
          <a:blip r:embed="rId6"/>
          <a:stretch>
            <a:fillRect/>
          </a:stretch>
        </p:blipFill>
        <p:spPr>
          <a:xfrm>
            <a:off x="911808" y="1210826"/>
            <a:ext cx="3084127" cy="893950"/>
          </a:xfrm>
          <a:prstGeom prst="rect">
            <a:avLst/>
          </a:prstGeom>
        </p:spPr>
      </p:pic>
      <p:pic>
        <p:nvPicPr>
          <p:cNvPr id="12" name="Picture 11">
            <a:extLst>
              <a:ext uri="{FF2B5EF4-FFF2-40B4-BE49-F238E27FC236}">
                <a16:creationId xmlns:a16="http://schemas.microsoft.com/office/drawing/2014/main" id="{D2597977-ED34-EA7B-38FA-51D3CB6EA48E}"/>
              </a:ext>
            </a:extLst>
          </p:cNvPr>
          <p:cNvPicPr>
            <a:picLocks noChangeAspect="1"/>
          </p:cNvPicPr>
          <p:nvPr/>
        </p:nvPicPr>
        <p:blipFill>
          <a:blip r:embed="rId7"/>
          <a:stretch>
            <a:fillRect/>
          </a:stretch>
        </p:blipFill>
        <p:spPr>
          <a:xfrm>
            <a:off x="911808" y="3018498"/>
            <a:ext cx="3429000" cy="1104900"/>
          </a:xfrm>
          <a:prstGeom prst="rect">
            <a:avLst/>
          </a:prstGeom>
        </p:spPr>
      </p:pic>
      <p:pic>
        <p:nvPicPr>
          <p:cNvPr id="13" name="Picture 12">
            <a:extLst>
              <a:ext uri="{FF2B5EF4-FFF2-40B4-BE49-F238E27FC236}">
                <a16:creationId xmlns:a16="http://schemas.microsoft.com/office/drawing/2014/main" id="{5F969313-276C-143B-9D54-B97FEB6A9A21}"/>
              </a:ext>
            </a:extLst>
          </p:cNvPr>
          <p:cNvPicPr>
            <a:picLocks noChangeAspect="1"/>
          </p:cNvPicPr>
          <p:nvPr/>
        </p:nvPicPr>
        <p:blipFill>
          <a:blip r:embed="rId8"/>
          <a:stretch>
            <a:fillRect/>
          </a:stretch>
        </p:blipFill>
        <p:spPr>
          <a:xfrm>
            <a:off x="911808" y="4980424"/>
            <a:ext cx="3987800" cy="1333500"/>
          </a:xfrm>
          <a:prstGeom prst="rect">
            <a:avLst/>
          </a:prstGeom>
        </p:spPr>
      </p:pic>
      <p:sp>
        <p:nvSpPr>
          <p:cNvPr id="14" name="Rectangle 13">
            <a:extLst>
              <a:ext uri="{FF2B5EF4-FFF2-40B4-BE49-F238E27FC236}">
                <a16:creationId xmlns:a16="http://schemas.microsoft.com/office/drawing/2014/main" id="{A87CF35B-7790-F5D8-88CF-01D8B40464CA}"/>
              </a:ext>
            </a:extLst>
          </p:cNvPr>
          <p:cNvSpPr/>
          <p:nvPr/>
        </p:nvSpPr>
        <p:spPr>
          <a:xfrm>
            <a:off x="616918" y="1070801"/>
            <a:ext cx="4531146" cy="13179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a:extLst>
              <a:ext uri="{FF2B5EF4-FFF2-40B4-BE49-F238E27FC236}">
                <a16:creationId xmlns:a16="http://schemas.microsoft.com/office/drawing/2014/main" id="{83A27AB1-C8D8-3038-4F1A-C3D51E948A99}"/>
              </a:ext>
            </a:extLst>
          </p:cNvPr>
          <p:cNvSpPr/>
          <p:nvPr/>
        </p:nvSpPr>
        <p:spPr>
          <a:xfrm>
            <a:off x="616918" y="3044075"/>
            <a:ext cx="4531146" cy="118350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a:extLst>
              <a:ext uri="{FF2B5EF4-FFF2-40B4-BE49-F238E27FC236}">
                <a16:creationId xmlns:a16="http://schemas.microsoft.com/office/drawing/2014/main" id="{A2AFC615-5091-A9A7-012E-0D27A5CC8C3E}"/>
              </a:ext>
            </a:extLst>
          </p:cNvPr>
          <p:cNvSpPr/>
          <p:nvPr/>
        </p:nvSpPr>
        <p:spPr>
          <a:xfrm>
            <a:off x="628074" y="4954847"/>
            <a:ext cx="4531146" cy="15185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5961090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4" grpId="0" animBg="1"/>
      <p:bldP spid="15"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4: Negative and Fractional Indices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915233" y="903545"/>
                <a:ext cx="2808312" cy="167257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0</m:t>
                          </m:r>
                        </m:sup>
                      </m:sSup>
                      <m:r>
                        <a:rPr lang="en-GB" b="0" i="1" smtClean="0">
                          <a:latin typeface="Cambria Math" panose="02040503050406030204" pitchFamily="18" charset="0"/>
                        </a:rPr>
                        <m:t>=1</m:t>
                      </m:r>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𝑚</m:t>
                              </m:r>
                            </m:den>
                          </m:f>
                        </m:sup>
                      </m:sSup>
                      <m:r>
                        <a:rPr lang="en-GB" b="0" i="1" smtClean="0">
                          <a:latin typeface="Cambria Math" panose="02040503050406030204" pitchFamily="18" charset="0"/>
                        </a:rPr>
                        <m:t>=</m:t>
                      </m:r>
                      <m:rad>
                        <m:radPr>
                          <m:ctrlPr>
                            <a:rPr lang="en-GB" b="0" i="1" smtClean="0">
                              <a:latin typeface="Cambria Math" panose="02040503050406030204" pitchFamily="18" charset="0"/>
                            </a:rPr>
                          </m:ctrlPr>
                        </m:radPr>
                        <m:deg>
                          <m:r>
                            <m:rPr>
                              <m:brk m:alnAt="7"/>
                            </m:rPr>
                            <a:rPr lang="en-GB" b="0" i="1" smtClean="0">
                              <a:latin typeface="Cambria Math" panose="02040503050406030204" pitchFamily="18" charset="0"/>
                            </a:rPr>
                            <m:t>𝑚</m:t>
                          </m:r>
                        </m:deg>
                        <m:e>
                          <m:r>
                            <a:rPr lang="en-GB" b="0" i="1" smtClean="0">
                              <a:latin typeface="Cambria Math" panose="02040503050406030204" pitchFamily="18" charset="0"/>
                            </a:rPr>
                            <m:t>𝑎</m:t>
                          </m:r>
                        </m:e>
                      </m:rad>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f>
                            <m:fPr>
                              <m:ctrlPr>
                                <a:rPr lang="en-GB" b="0" i="1" smtClean="0">
                                  <a:latin typeface="Cambria Math" panose="02040503050406030204" pitchFamily="18" charset="0"/>
                                </a:rPr>
                              </m:ctrlPr>
                            </m:fPr>
                            <m:num>
                              <m:r>
                                <a:rPr lang="en-GB" b="0" i="1" smtClean="0">
                                  <a:latin typeface="Cambria Math" panose="02040503050406030204" pitchFamily="18" charset="0"/>
                                </a:rPr>
                                <m:t>𝑛</m:t>
                              </m:r>
                            </m:num>
                            <m:den>
                              <m:r>
                                <a:rPr lang="en-GB" b="0" i="1" smtClean="0">
                                  <a:latin typeface="Cambria Math" panose="02040503050406030204" pitchFamily="18" charset="0"/>
                                </a:rPr>
                                <m:t>𝑚</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rad>
                                <m:radPr>
                                  <m:ctrlPr>
                                    <a:rPr lang="en-GB" i="1">
                                      <a:latin typeface="Cambria Math" panose="02040503050406030204" pitchFamily="18" charset="0"/>
                                    </a:rPr>
                                  </m:ctrlPr>
                                </m:radPr>
                                <m:deg>
                                  <m:r>
                                    <m:rPr>
                                      <m:brk m:alnAt="7"/>
                                    </m:rPr>
                                    <a:rPr lang="en-GB" i="1">
                                      <a:latin typeface="Cambria Math" panose="02040503050406030204" pitchFamily="18" charset="0"/>
                                    </a:rPr>
                                    <m:t>𝑚</m:t>
                                  </m:r>
                                </m:deg>
                                <m:e>
                                  <m:r>
                                    <a:rPr lang="en-GB" i="1">
                                      <a:latin typeface="Cambria Math" panose="02040503050406030204" pitchFamily="18" charset="0"/>
                                    </a:rPr>
                                    <m:t>𝑎</m:t>
                                  </m:r>
                                </m:e>
                              </m:rad>
                            </m:e>
                          </m:d>
                        </m:e>
                        <m:sup>
                          <m:r>
                            <a:rPr lang="en-GB" b="0" i="1" smtClean="0">
                              <a:latin typeface="Cambria Math" panose="02040503050406030204" pitchFamily="18" charset="0"/>
                            </a:rPr>
                            <m:t>𝑛</m:t>
                          </m:r>
                        </m:sup>
                      </m:sSup>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r>
                            <a:rPr lang="en-GB" b="0" i="1" smtClean="0">
                              <a:latin typeface="Cambria Math" panose="02040503050406030204" pitchFamily="18" charset="0"/>
                            </a:rPr>
                            <m:t>𝑚</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𝑚</m:t>
                              </m:r>
                            </m:sup>
                          </m:sSup>
                        </m:den>
                      </m:f>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915233" y="903545"/>
                <a:ext cx="2808312" cy="167257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139388" y="1006938"/>
                <a:ext cx="4104456" cy="1539589"/>
              </a:xfrm>
              <a:prstGeom prst="rect">
                <a:avLst/>
              </a:prstGeom>
              <a:noFill/>
            </p:spPr>
            <p:txBody>
              <a:bodyPr wrap="square" rtlCol="0">
                <a:spAutoFit/>
              </a:bodyPr>
              <a:lstStyle/>
              <a:p>
                <a:r>
                  <a:rPr lang="en-GB" b="1" dirty="0"/>
                  <a:t>Note</a:t>
                </a:r>
                <a:r>
                  <a:rPr lang="en-GB" dirty="0"/>
                  <a:t>: </a:t>
                </a:r>
                <a14:m>
                  <m:oMath xmlns:m="http://schemas.openxmlformats.org/officeDocument/2006/math">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9</m:t>
                        </m:r>
                      </m:e>
                    </m:rad>
                  </m:oMath>
                </a14:m>
                <a:r>
                  <a:rPr lang="en-GB" dirty="0"/>
                  <a:t> only means the </a:t>
                </a:r>
                <a:r>
                  <a:rPr lang="en-GB" u="sng" dirty="0"/>
                  <a:t>positive</a:t>
                </a:r>
                <a:r>
                  <a:rPr lang="en-GB" dirty="0"/>
                  <a:t> square root of 9, i.e. 3 not -3.</a:t>
                </a:r>
              </a:p>
              <a:p>
                <a:r>
                  <a:rPr lang="en-GB" dirty="0"/>
                  <a:t>Otherwise, what would be the point of the </a:t>
                </a:r>
                <a14:m>
                  <m:oMath xmlns:m="http://schemas.openxmlformats.org/officeDocument/2006/math">
                    <m:r>
                      <a:rPr lang="en-GB" b="0" i="1" smtClean="0">
                        <a:latin typeface="Cambria Math" panose="02040503050406030204" pitchFamily="18" charset="0"/>
                      </a:rPr>
                      <m:t>±</m:t>
                    </m:r>
                  </m:oMath>
                </a14:m>
                <a:r>
                  <a:rPr lang="en-GB" dirty="0"/>
                  <a:t> in the quadratic formula before the </a:t>
                </a:r>
                <a14:m>
                  <m:oMath xmlns:m="http://schemas.openxmlformats.org/officeDocument/2006/math">
                    <m:rad>
                      <m:radPr>
                        <m:degHide m:val="on"/>
                        <m:ctrlPr>
                          <a:rPr lang="en-GB" b="0" i="1" smtClean="0">
                            <a:latin typeface="Cambria Math" panose="02040503050406030204" pitchFamily="18" charset="0"/>
                          </a:rPr>
                        </m:ctrlPr>
                      </m:radPr>
                      <m:deg/>
                      <m:e>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𝑎𝑐</m:t>
                        </m:r>
                      </m:e>
                    </m:rad>
                  </m:oMath>
                </a14:m>
                <a:r>
                  <a:rPr lang="en-GB"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4139388" y="1006938"/>
                <a:ext cx="4104456" cy="1539589"/>
              </a:xfrm>
              <a:prstGeom prst="rect">
                <a:avLst/>
              </a:prstGeom>
              <a:blipFill>
                <a:blip r:embed="rId3"/>
                <a:stretch>
                  <a:fillRect l="-926" r="-1235" b="-57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6980" y="2866887"/>
                <a:ext cx="2304819" cy="47038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Prove that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oMath>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66980" y="2866887"/>
                <a:ext cx="2304819" cy="470385"/>
              </a:xfrm>
              <a:prstGeom prst="rect">
                <a:avLst/>
              </a:prstGeom>
              <a:blipFill>
                <a:blip r:embed="rId4"/>
                <a:stretch>
                  <a:fillRect b="-396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66982" y="3501008"/>
                <a:ext cx="2304818" cy="1174296"/>
              </a:xfrm>
              <a:prstGeom prst="rect">
                <a:avLst/>
              </a:prstGeom>
              <a:noFill/>
            </p:spPr>
            <p:txBody>
              <a:bodyPr wrap="square" rtlCol="0">
                <a:spAutoFit/>
              </a:bodyPr>
              <a:lstStyle/>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1</m:t>
                          </m:r>
                        </m:sup>
                      </m:sSup>
                    </m:oMath>
                  </m:oMathPara>
                </a14:m>
                <a:endParaRPr lang="en-GB" dirty="0"/>
              </a:p>
              <a:p>
                <a:r>
                  <a:rPr lang="en-GB" dirty="0"/>
                  <a:t>But </a:t>
                </a:r>
                <a14:m>
                  <m:oMath xmlns:m="http://schemas.openxmlformats.org/officeDocument/2006/math">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r>
                      <a:rPr lang="en-GB" b="0" i="1" smtClean="0">
                        <a:latin typeface="Cambria Math" panose="02040503050406030204" pitchFamily="18" charset="0"/>
                      </a:rPr>
                      <m:t>=</m:t>
                    </m:r>
                    <m:r>
                      <a:rPr lang="en-GB" b="0" i="1" smtClean="0">
                        <a:latin typeface="Cambria Math" panose="02040503050406030204" pitchFamily="18" charset="0"/>
                      </a:rPr>
                      <m:t>𝑥</m:t>
                    </m:r>
                  </m:oMath>
                </a14:m>
                <a:endParaRPr lang="en-GB" dirty="0"/>
              </a:p>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466982" y="3501008"/>
                <a:ext cx="2304818" cy="1174296"/>
              </a:xfrm>
              <a:prstGeom prst="rect">
                <a:avLst/>
              </a:prstGeom>
              <a:blipFill>
                <a:blip r:embed="rId5"/>
                <a:stretch>
                  <a:fillRect l="-23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986978" y="2899807"/>
                <a:ext cx="2304819" cy="48487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Evaluate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27</m:t>
                        </m:r>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up>
                    </m:sSup>
                  </m:oMath>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2986978" y="2899807"/>
                <a:ext cx="2304819" cy="484876"/>
              </a:xfrm>
              <a:prstGeom prst="rect">
                <a:avLst/>
              </a:prstGeom>
              <a:blipFill>
                <a:blip r:embed="rId6"/>
                <a:stretch>
                  <a:fillRect b="-194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777005" y="3517226"/>
                <a:ext cx="2304818" cy="745525"/>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27</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2777005" y="3517226"/>
                <a:ext cx="2304818" cy="74552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724128" y="2899807"/>
                <a:ext cx="2304819" cy="48577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Evaluate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32</m:t>
                        </m:r>
                      </m:e>
                      <m:sup>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sup>
                    </m:sSup>
                  </m:oMath>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5724128" y="2899807"/>
                <a:ext cx="2304819" cy="485774"/>
              </a:xfrm>
              <a:prstGeom prst="rect">
                <a:avLst/>
              </a:prstGeom>
              <a:blipFill>
                <a:blip r:embed="rId8"/>
                <a:stretch>
                  <a:fillRect b="-194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508104" y="3501008"/>
                <a:ext cx="2304818"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2</m:t>
                          </m:r>
                        </m:sup>
                      </m:sSup>
                      <m:r>
                        <a:rPr lang="en-GB" b="0" i="1" smtClean="0">
                          <a:latin typeface="Cambria Math" panose="02040503050406030204" pitchFamily="18" charset="0"/>
                        </a:rPr>
                        <m:t>=4</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5508104" y="3501008"/>
                <a:ext cx="2304818"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66979" y="4960971"/>
                <a:ext cx="2304819" cy="63652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Simplify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9</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6</m:t>
                                </m:r>
                              </m:sup>
                            </m:sSup>
                            <m:r>
                              <a:rPr lang="en-GB" b="0" i="1" smtClean="0">
                                <a:latin typeface="Cambria Math" panose="02040503050406030204" pitchFamily="18" charset="0"/>
                              </a:rPr>
                              <m:t>𝑦</m:t>
                            </m:r>
                          </m:e>
                        </m:d>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oMath>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466979" y="4960971"/>
                <a:ext cx="2304819" cy="636521"/>
              </a:xfrm>
              <a:prstGeom prst="rect">
                <a:avLst/>
              </a:prstGeom>
              <a:blipFill>
                <a:blip r:embed="rId10"/>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23528" y="5605032"/>
                <a:ext cx="2304818" cy="6127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𝑦</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323528" y="5605032"/>
                <a:ext cx="2304818" cy="612732"/>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068146" y="4960971"/>
                <a:ext cx="2304819" cy="63716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Evaluate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27</m:t>
                                </m:r>
                              </m:num>
                              <m:den>
                                <m:r>
                                  <a:rPr lang="en-GB" b="0" i="1" smtClean="0">
                                    <a:latin typeface="Cambria Math" panose="02040503050406030204" pitchFamily="18" charset="0"/>
                                  </a:rPr>
                                  <m:t>8</m:t>
                                </m:r>
                              </m:den>
                            </m:f>
                          </m:e>
                        </m:d>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sup>
                    </m:sSup>
                  </m:oMath>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a:off x="3068146" y="4960971"/>
                <a:ext cx="2304819" cy="637162"/>
              </a:xfrm>
              <a:prstGeom prst="rect">
                <a:avLst/>
              </a:prstGeom>
              <a:blipFill>
                <a:blip r:embed="rId1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922709" y="5597492"/>
                <a:ext cx="2304818" cy="86780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8</m:t>
                                  </m:r>
                                </m:num>
                                <m:den>
                                  <m:r>
                                    <a:rPr lang="en-GB" b="0" i="1" smtClean="0">
                                      <a:latin typeface="Cambria Math" panose="02040503050406030204" pitchFamily="18" charset="0"/>
                                    </a:rPr>
                                    <m:t>27</m:t>
                                  </m:r>
                                </m:den>
                              </m:f>
                            </m:e>
                          </m:d>
                        </m:e>
                        <m:sup>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e>
                          </m:d>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2922709" y="5597492"/>
                <a:ext cx="2304818" cy="867802"/>
              </a:xfrm>
              <a:prstGeom prst="rect">
                <a:avLst/>
              </a:prstGeom>
              <a:blipFill>
                <a:blip r:embed="rId13"/>
                <a:stretch>
                  <a:fillRect/>
                </a:stretch>
              </a:blipFill>
            </p:spPr>
            <p:txBody>
              <a:bodyPr/>
              <a:lstStyle/>
              <a:p>
                <a:r>
                  <a:rPr lang="en-GB">
                    <a:noFill/>
                  </a:rPr>
                  <a:t> </a:t>
                </a:r>
              </a:p>
            </p:txBody>
          </p:sp>
        </mc:Fallback>
      </mc:AlternateContent>
      <p:sp>
        <p:nvSpPr>
          <p:cNvPr id="18" name="Rectangle 17"/>
          <p:cNvSpPr/>
          <p:nvPr/>
        </p:nvSpPr>
        <p:spPr>
          <a:xfrm>
            <a:off x="465483" y="3372961"/>
            <a:ext cx="2306316"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9" name="Rectangle 18"/>
          <p:cNvSpPr/>
          <p:nvPr/>
        </p:nvSpPr>
        <p:spPr>
          <a:xfrm>
            <a:off x="2985481" y="3372961"/>
            <a:ext cx="2306316"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5737515" y="3372961"/>
            <a:ext cx="2306316"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456895" y="5597492"/>
            <a:ext cx="2322361" cy="99986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2" name="Rectangle 21"/>
          <p:cNvSpPr/>
          <p:nvPr/>
        </p:nvSpPr>
        <p:spPr>
          <a:xfrm>
            <a:off x="3059374" y="5597492"/>
            <a:ext cx="2322361" cy="99986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23" name="TextBox 22"/>
              <p:cNvSpPr txBox="1"/>
              <p:nvPr/>
            </p:nvSpPr>
            <p:spPr>
              <a:xfrm>
                <a:off x="5564471" y="4906860"/>
                <a:ext cx="3492443" cy="76194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If </a:t>
                </a:r>
                <a14:m>
                  <m:oMath xmlns:m="http://schemas.openxmlformats.org/officeDocument/2006/math">
                    <m:r>
                      <a:rPr lang="en-GB" b="0" i="1" smtClean="0">
                        <a:latin typeface="Cambria Math" panose="02040503050406030204" pitchFamily="18" charset="0"/>
                      </a:rPr>
                      <m:t>𝑏</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9</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oMath>
                </a14:m>
                <a:r>
                  <a:rPr lang="en-GB" dirty="0"/>
                  <a:t>, determine </a:t>
                </a:r>
                <a14:m>
                  <m:oMath xmlns:m="http://schemas.openxmlformats.org/officeDocument/2006/math">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−2</m:t>
                        </m:r>
                      </m:sup>
                    </m:sSup>
                  </m:oMath>
                </a14:m>
                <a:r>
                  <a:rPr lang="en-GB" dirty="0"/>
                  <a:t> in the form </a:t>
                </a:r>
                <a14:m>
                  <m:oMath xmlns:m="http://schemas.openxmlformats.org/officeDocument/2006/math">
                    <m:r>
                      <a:rPr lang="en-GB" b="0" i="1" smtClean="0">
                        <a:latin typeface="Cambria Math" panose="02040503050406030204" pitchFamily="18" charset="0"/>
                      </a:rPr>
                      <m:t>𝑘</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𝑛</m:t>
                        </m:r>
                      </m:sup>
                    </m:sSup>
                  </m:oMath>
                </a14:m>
                <a:r>
                  <a:rPr lang="en-GB" dirty="0"/>
                  <a:t> where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𝑛</m:t>
                    </m:r>
                  </m:oMath>
                </a14:m>
                <a:r>
                  <a:rPr lang="en-GB" dirty="0"/>
                  <a:t> are constants.</a:t>
                </a:r>
              </a:p>
            </p:txBody>
          </p:sp>
        </mc:Choice>
        <mc:Fallback xmlns="">
          <p:sp>
            <p:nvSpPr>
              <p:cNvPr id="23" name="TextBox 22"/>
              <p:cNvSpPr txBox="1">
                <a:spLocks noRot="1" noChangeAspect="1" noMove="1" noResize="1" noEditPoints="1" noAdjustHandles="1" noChangeArrowheads="1" noChangeShapeType="1" noTextEdit="1"/>
              </p:cNvSpPr>
              <p:nvPr/>
            </p:nvSpPr>
            <p:spPr>
              <a:xfrm>
                <a:off x="5564471" y="4906860"/>
                <a:ext cx="3492443" cy="761940"/>
              </a:xfrm>
              <a:prstGeom prst="rect">
                <a:avLst/>
              </a:prstGeom>
              <a:blipFill>
                <a:blip r:embed="rId14"/>
                <a:stretch>
                  <a:fillRect b="-2013"/>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5593499" y="5693637"/>
                <a:ext cx="3256001" cy="1046377"/>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−2</m:t>
                          </m:r>
                        </m:sup>
                      </m:sSup>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9</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e>
                          </m:d>
                        </m:e>
                        <m:sup>
                          <m:r>
                            <a:rPr lang="en-GB" b="0" i="1" smtClean="0">
                              <a:latin typeface="Cambria Math" panose="02040503050406030204" pitchFamily="18" charset="0"/>
                            </a:rPr>
                            <m:t>−2</m:t>
                          </m:r>
                        </m:sup>
                      </m:sSup>
                    </m:oMath>
                    <m:oMath>
                      <m:r>
                        <a:rPr lang="en-GB" b="0" i="1" smtClean="0">
                          <a:latin typeface="Cambria Math" panose="02040503050406030204" pitchFamily="18" charset="0"/>
                        </a:rPr>
                        <m:t>=3</m:t>
                      </m:r>
                      <m:d>
                        <m:dPr>
                          <m:ctrlPr>
                            <a:rPr lang="en-GB" b="0" i="1" smtClean="0">
                              <a:latin typeface="Cambria Math" panose="02040503050406030204" pitchFamily="18" charset="0"/>
                            </a:rPr>
                          </m:ctrlPr>
                        </m:dPr>
                        <m:e>
                          <m:r>
                            <a:rPr lang="en-GB" b="0" i="1" smtClean="0">
                              <a:latin typeface="Cambria Math" panose="02040503050406030204" pitchFamily="18" charset="0"/>
                            </a:rPr>
                            <m:t>81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−4</m:t>
                              </m:r>
                            </m:sup>
                          </m:sSup>
                        </m:e>
                      </m:d>
                      <m:r>
                        <a:rPr lang="en-GB" b="0" i="1" smtClean="0">
                          <a:latin typeface="Cambria Math" panose="02040503050406030204" pitchFamily="18" charset="0"/>
                        </a:rPr>
                        <m:t>=243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−4</m:t>
                          </m:r>
                        </m:sup>
                      </m:sSup>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5593499" y="5693637"/>
                <a:ext cx="3256001" cy="1046377"/>
              </a:xfrm>
              <a:prstGeom prst="rect">
                <a:avLst/>
              </a:prstGeom>
              <a:blipFill>
                <a:blip r:embed="rId15"/>
                <a:stretch>
                  <a:fillRect/>
                </a:stretch>
              </a:blipFill>
            </p:spPr>
            <p:txBody>
              <a:bodyPr/>
              <a:lstStyle/>
              <a:p>
                <a:r>
                  <a:rPr lang="en-GB">
                    <a:noFill/>
                  </a:rPr>
                  <a:t> </a:t>
                </a:r>
              </a:p>
            </p:txBody>
          </p:sp>
        </mc:Fallback>
      </mc:AlternateContent>
      <p:sp>
        <p:nvSpPr>
          <p:cNvPr id="24" name="Rectangle 23"/>
          <p:cNvSpPr/>
          <p:nvPr/>
        </p:nvSpPr>
        <p:spPr>
          <a:xfrm>
            <a:off x="5582389" y="5666030"/>
            <a:ext cx="3474525" cy="107398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4722939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4" restart="whenNotActive" fill="hold" evtFilter="cancelBubble" nodeType="interactiveSeq">
                <p:stCondLst>
                  <p:cond evt="onClick" delay="0">
                    <p:tgtEl>
                      <p:spTgt spid="2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0"/>
                                        </p:tgtEl>
                                      </p:cBhvr>
                                    </p:animEffect>
                                    <p:set>
                                      <p:cBhvr>
                                        <p:cTn id="19"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20" restart="whenNotActive" fill="hold" evtFilter="cancelBubble" nodeType="interactiveSeq">
                <p:stCondLst>
                  <p:cond evt="onClick" delay="0">
                    <p:tgtEl>
                      <p:spTgt spid="2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1"/>
                                        </p:tgtEl>
                                      </p:cBhvr>
                                    </p:animEffect>
                                    <p:set>
                                      <p:cBhvr>
                                        <p:cTn id="25"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26" restart="whenNotActive" fill="hold" evtFilter="cancelBubble" nodeType="interactiveSeq">
                <p:stCondLst>
                  <p:cond evt="onClick" delay="0">
                    <p:tgtEl>
                      <p:spTgt spid="22"/>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2"/>
                                        </p:tgtEl>
                                      </p:cBhvr>
                                    </p:animEffect>
                                    <p:set>
                                      <p:cBhvr>
                                        <p:cTn id="31"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32" restart="whenNotActive" fill="hold" evtFilter="cancelBubble" nodeType="interactiveSeq">
                <p:stCondLst>
                  <p:cond evt="onClick" delay="0">
                    <p:tgtEl>
                      <p:spTgt spid="24"/>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24"/>
                                        </p:tgtEl>
                                      </p:cBhvr>
                                    </p:animEffect>
                                    <p:set>
                                      <p:cBhvr>
                                        <p:cTn id="3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18" grpId="0" animBg="1"/>
      <p:bldP spid="19" grpId="0" animBg="1"/>
      <p:bldP spid="20" grpId="0" animBg="1"/>
      <p:bldP spid="21" grpId="0" animBg="1"/>
      <p:bldP spid="22" grpId="0" animBg="1"/>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Writing a surd using indices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452804" y="823944"/>
                <a:ext cx="6264696" cy="49648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If </a:t>
                </a:r>
                <a14:m>
                  <m:oMath xmlns:m="http://schemas.openxmlformats.org/officeDocument/2006/math">
                    <m:r>
                      <a:rPr lang="en-GB" sz="2400" b="0" i="1" smtClean="0">
                        <a:latin typeface="Cambria Math" panose="02040503050406030204" pitchFamily="18" charset="0"/>
                      </a:rPr>
                      <m:t>9</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𝑘</m:t>
                        </m:r>
                      </m:sup>
                    </m:sSup>
                  </m:oMath>
                </a14:m>
                <a:r>
                  <a:rPr lang="en-GB" sz="2400" dirty="0"/>
                  <a:t>, determine the value of </a:t>
                </a:r>
                <a14:m>
                  <m:oMath xmlns:m="http://schemas.openxmlformats.org/officeDocument/2006/math">
                    <m:r>
                      <a:rPr lang="en-GB" sz="2400" b="0" i="1" smtClean="0">
                        <a:latin typeface="Cambria Math" panose="02040503050406030204" pitchFamily="18" charset="0"/>
                      </a:rPr>
                      <m:t>𝑘</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452804" y="823944"/>
                <a:ext cx="6264696" cy="496483"/>
              </a:xfrm>
              <a:prstGeom prst="rect">
                <a:avLst/>
              </a:prstGeom>
              <a:blipFill>
                <a:blip r:embed="rId3"/>
                <a:stretch>
                  <a:fillRect b="-943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6" name="TextBox 5"/>
          <p:cNvSpPr txBox="1"/>
          <p:nvPr/>
        </p:nvSpPr>
        <p:spPr>
          <a:xfrm>
            <a:off x="480957" y="1345182"/>
            <a:ext cx="6264696" cy="707886"/>
          </a:xfrm>
          <a:prstGeom prst="rect">
            <a:avLst/>
          </a:prstGeom>
          <a:noFill/>
        </p:spPr>
        <p:txBody>
          <a:bodyPr wrap="square" rtlCol="0">
            <a:spAutoFit/>
          </a:bodyPr>
          <a:lstStyle/>
          <a:p>
            <a:r>
              <a:rPr lang="en-GB" sz="2000" dirty="0"/>
              <a:t>The key here is to write everything as powers with a consistent base, in this case, 3.</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6BC60A-EF6A-4CC7-8D3E-580DF6A6C4A1}"/>
                  </a:ext>
                </a:extLst>
              </p:cNvPr>
              <p:cNvSpPr txBox="1"/>
              <p:nvPr/>
            </p:nvSpPr>
            <p:spPr>
              <a:xfrm>
                <a:off x="1838443" y="2175370"/>
                <a:ext cx="2016224" cy="1916230"/>
              </a:xfrm>
              <a:prstGeom prst="rect">
                <a:avLst/>
              </a:prstGeom>
              <a:noFill/>
            </p:spPr>
            <p:txBody>
              <a:bodyPr wrap="square" rtlCol="0">
                <a:spAutoFit/>
              </a:bodyPr>
              <a:lstStyle/>
              <a:p>
                <a:pPr/>
                <a14:m>
                  <m:oMathPara xmlns:m="http://schemas.openxmlformats.org/officeDocument/2006/math">
                    <m:oMath>
                      <m:r>
                        <a:rPr lang="en-GB" sz="2000" b="0" i="1" smtClean="0">
                          <a:latin typeface="Cambria Math" panose="02040503050406030204" pitchFamily="18" charset="0"/>
                        </a:rPr>
                        <m:t>9</m:t>
                      </m:r>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3</m:t>
                          </m:r>
                        </m:e>
                      </m:rad>
                      <m:r>
                        <a:rPr lang="en-GB" sz="2000" b="0" i="1" smtClean="0">
                          <a:latin typeface="Cambria Math" panose="02040503050406030204" pitchFamily="18" charset="0"/>
                        </a:rPr>
                        <m:t>=9×</m:t>
                      </m:r>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3</m:t>
                          </m:r>
                        </m:e>
                      </m:rad>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m:t>
                              </m:r>
                            </m:den>
                          </m:f>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5</m:t>
                              </m:r>
                            </m:num>
                            <m:den>
                              <m:r>
                                <a:rPr lang="en-GB" sz="2000" b="0" i="1" smtClean="0">
                                  <a:latin typeface="Cambria Math" panose="02040503050406030204" pitchFamily="18" charset="0"/>
                                </a:rPr>
                                <m:t>2</m:t>
                              </m:r>
                            </m:den>
                          </m:f>
                        </m:sup>
                      </m:sSup>
                    </m:oMath>
                  </m:oMathPara>
                </a14:m>
                <a:endParaRPr lang="en-GB" sz="2000" dirty="0"/>
              </a:p>
              <a:p>
                <a:pPr/>
                <a14:m>
                  <m:oMathPara xmlns:m="http://schemas.openxmlformats.org/officeDocument/2006/math">
                    <m:oMath>
                      <m:r>
                        <a:rPr lang="en-GB" sz="2000" b="0" i="1" smtClean="0">
                          <a:latin typeface="Cambria Math" panose="02040503050406030204" pitchFamily="18" charset="0"/>
                        </a:rPr>
                        <m:t>∴</m:t>
                      </m:r>
                      <m:r>
                        <a:rPr lang="en-GB" sz="2000" b="0" i="1" smtClean="0">
                          <a:latin typeface="Cambria Math" panose="02040503050406030204" pitchFamily="18" charset="0"/>
                        </a:rPr>
                        <m:t>𝑘</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5</m:t>
                          </m:r>
                        </m:num>
                        <m:den>
                          <m:r>
                            <a:rPr lang="en-GB" sz="2000" b="0" i="1" smtClean="0">
                              <a:latin typeface="Cambria Math" panose="02040503050406030204" pitchFamily="18" charset="0"/>
                            </a:rPr>
                            <m:t>2</m:t>
                          </m:r>
                        </m:den>
                      </m:f>
                    </m:oMath>
                  </m:oMathPara>
                </a14:m>
                <a:endParaRPr lang="en-GB" sz="2000" dirty="0"/>
              </a:p>
            </p:txBody>
          </p:sp>
        </mc:Choice>
        <mc:Fallback xmlns="">
          <p:sp>
            <p:nvSpPr>
              <p:cNvPr id="7" name="TextBox 6">
                <a:extLst>
                  <a:ext uri="{FF2B5EF4-FFF2-40B4-BE49-F238E27FC236}">
                    <a16:creationId xmlns:a16="http://schemas.microsoft.com/office/drawing/2014/main" id="{A96BC60A-EF6A-4CC7-8D3E-580DF6A6C4A1}"/>
                  </a:ext>
                </a:extLst>
              </p:cNvPr>
              <p:cNvSpPr txBox="1">
                <a:spLocks noRot="1" noChangeAspect="1" noMove="1" noResize="1" noEditPoints="1" noAdjustHandles="1" noChangeArrowheads="1" noChangeShapeType="1" noTextEdit="1"/>
              </p:cNvSpPr>
              <p:nvPr/>
            </p:nvSpPr>
            <p:spPr>
              <a:xfrm>
                <a:off x="1838443" y="2175370"/>
                <a:ext cx="2016224" cy="191623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E899475-F37A-4D40-A0AC-5F09027CFB44}"/>
                  </a:ext>
                </a:extLst>
              </p:cNvPr>
              <p:cNvSpPr txBox="1"/>
              <p:nvPr/>
            </p:nvSpPr>
            <p:spPr>
              <a:xfrm>
                <a:off x="5186815" y="2607418"/>
                <a:ext cx="2952328" cy="102438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Note</a:t>
                </a:r>
                <a:r>
                  <a:rPr lang="en-GB" dirty="0"/>
                  <a:t>: In algebra we like to avoid mixed numbers. So don’t write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2</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 </m:t>
                        </m:r>
                      </m:sup>
                    </m:sSup>
                  </m:oMath>
                </a14:m>
                <a:endParaRPr lang="en-GB" dirty="0"/>
              </a:p>
            </p:txBody>
          </p:sp>
        </mc:Choice>
        <mc:Fallback xmlns="">
          <p:sp>
            <p:nvSpPr>
              <p:cNvPr id="8" name="TextBox 7">
                <a:extLst>
                  <a:ext uri="{FF2B5EF4-FFF2-40B4-BE49-F238E27FC236}">
                    <a16:creationId xmlns:a16="http://schemas.microsoft.com/office/drawing/2014/main" id="{CE899475-F37A-4D40-A0AC-5F09027CFB44}"/>
                  </a:ext>
                </a:extLst>
              </p:cNvPr>
              <p:cNvSpPr txBox="1">
                <a:spLocks noRot="1" noChangeAspect="1" noMove="1" noResize="1" noEditPoints="1" noAdjustHandles="1" noChangeArrowheads="1" noChangeShapeType="1" noTextEdit="1"/>
              </p:cNvSpPr>
              <p:nvPr/>
            </p:nvSpPr>
            <p:spPr>
              <a:xfrm>
                <a:off x="5186815" y="2607418"/>
                <a:ext cx="2952328" cy="1024383"/>
              </a:xfrm>
              <a:prstGeom prst="rect">
                <a:avLst/>
              </a:prstGeom>
              <a:blipFill>
                <a:blip r:embed="rId5"/>
                <a:stretch>
                  <a:fillRect l="-1277" t="-1190" b="-7143"/>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3C140B72-4F95-4A0F-8AB6-E0C903B16EA6}"/>
              </a:ext>
            </a:extLst>
          </p:cNvPr>
          <p:cNvCxnSpPr>
            <a:stCxn id="8" idx="1"/>
          </p:cNvCxnSpPr>
          <p:nvPr/>
        </p:nvCxnSpPr>
        <p:spPr>
          <a:xfrm flipH="1">
            <a:off x="3278603" y="3119610"/>
            <a:ext cx="1908212" cy="638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0AC28E89-FFCC-4D87-990B-C3103098542D}"/>
              </a:ext>
            </a:extLst>
          </p:cNvPr>
          <p:cNvSpPr/>
          <p:nvPr/>
        </p:nvSpPr>
        <p:spPr>
          <a:xfrm>
            <a:off x="452804" y="1357786"/>
            <a:ext cx="8007628" cy="29353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599982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CF66555-9EE1-41DE-9EA7-C461C3D35171}"/>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69AA4B0B-C662-4A52-9F0D-844670D92B5D}"/>
                </a:ext>
              </a:extLst>
            </p:cNvPr>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Further Examples</a:t>
              </a:r>
            </a:p>
          </p:txBody>
        </p:sp>
        <p:cxnSp>
          <p:nvCxnSpPr>
            <p:cNvPr id="4" name="Straight Connector 3">
              <a:extLst>
                <a:ext uri="{FF2B5EF4-FFF2-40B4-BE49-F238E27FC236}">
                  <a16:creationId xmlns:a16="http://schemas.microsoft.com/office/drawing/2014/main" id="{EA175393-8652-4F9C-BA4E-95B93FBEC50E}"/>
                </a:ext>
              </a:extLst>
            </p:cNvPr>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07727A-4F3D-44B0-8464-4004ACA34403}"/>
                  </a:ext>
                </a:extLst>
              </p:cNvPr>
              <p:cNvSpPr txBox="1"/>
              <p:nvPr/>
            </p:nvSpPr>
            <p:spPr>
              <a:xfrm>
                <a:off x="4062662" y="808137"/>
                <a:ext cx="4824536" cy="159184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i="1" dirty="0"/>
                  <a:t>[Edexcel IAL C12 Jan 2019 Q2c] </a:t>
                </a:r>
                <a:r>
                  <a:rPr lang="en-GB" sz="2000" dirty="0"/>
                  <a:t>Given that </a:t>
                </a:r>
                <a14:m>
                  <m:oMath xmlns:m="http://schemas.openxmlformats.org/officeDocument/2006/math">
                    <m:r>
                      <a:rPr lang="en-GB" sz="2000" b="0" i="1" smtClean="0">
                        <a:latin typeface="Cambria Math" panose="02040503050406030204" pitchFamily="18" charset="0"/>
                      </a:rPr>
                      <m:t>𝑦</m:t>
                    </m:r>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𝑥</m:t>
                        </m:r>
                      </m:sup>
                    </m:sSup>
                  </m:oMath>
                </a14:m>
                <a:r>
                  <a:rPr lang="en-GB" sz="2000" dirty="0"/>
                  <a:t>, express the following in terms of </a:t>
                </a:r>
                <a14:m>
                  <m:oMath xmlns:m="http://schemas.openxmlformats.org/officeDocument/2006/math">
                    <m:r>
                      <a:rPr lang="en-GB" sz="2000" b="0" i="1" smtClean="0">
                        <a:latin typeface="Cambria Math" panose="02040503050406030204" pitchFamily="18" charset="0"/>
                      </a:rPr>
                      <m:t>𝑦</m:t>
                    </m:r>
                  </m:oMath>
                </a14:m>
                <a:r>
                  <a:rPr lang="en-GB" sz="2000" dirty="0"/>
                  <a:t>.</a:t>
                </a:r>
              </a:p>
              <a:p>
                <a:pPr/>
                <a14:m>
                  <m:oMathPara xmlns:m="http://schemas.openxmlformats.org/officeDocument/2006/math">
                    <m:o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den>
                      </m:f>
                    </m:oMath>
                  </m:oMathPara>
                </a14:m>
                <a:endParaRPr lang="en-GB" sz="2000" b="0" dirty="0"/>
              </a:p>
              <a:p>
                <a:r>
                  <a:rPr lang="en-GB" sz="2000" dirty="0"/>
                  <a:t>Write your expression in its simplest form.</a:t>
                </a:r>
              </a:p>
            </p:txBody>
          </p:sp>
        </mc:Choice>
        <mc:Fallback xmlns="">
          <p:sp>
            <p:nvSpPr>
              <p:cNvPr id="5" name="TextBox 4">
                <a:extLst>
                  <a:ext uri="{FF2B5EF4-FFF2-40B4-BE49-F238E27FC236}">
                    <a16:creationId xmlns:a16="http://schemas.microsoft.com/office/drawing/2014/main" id="{7607727A-4F3D-44B0-8464-4004ACA34403}"/>
                  </a:ext>
                </a:extLst>
              </p:cNvPr>
              <p:cNvSpPr txBox="1">
                <a:spLocks noRot="1" noChangeAspect="1" noMove="1" noResize="1" noEditPoints="1" noAdjustHandles="1" noChangeArrowheads="1" noChangeShapeType="1" noTextEdit="1"/>
              </p:cNvSpPr>
              <p:nvPr/>
            </p:nvSpPr>
            <p:spPr>
              <a:xfrm>
                <a:off x="4062662" y="808137"/>
                <a:ext cx="4824536" cy="1591846"/>
              </a:xfrm>
              <a:prstGeom prst="rect">
                <a:avLst/>
              </a:prstGeom>
              <a:blipFill>
                <a:blip r:embed="rId2"/>
                <a:stretch>
                  <a:fillRect b="-69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B876357-D56C-471A-A629-1A90B35FB793}"/>
                  </a:ext>
                </a:extLst>
              </p:cNvPr>
              <p:cNvSpPr txBox="1"/>
              <p:nvPr/>
            </p:nvSpPr>
            <p:spPr>
              <a:xfrm>
                <a:off x="4319974" y="2708920"/>
                <a:ext cx="3096344" cy="2838213"/>
              </a:xfrm>
              <a:prstGeom prst="rect">
                <a:avLst/>
              </a:prstGeom>
              <a:noFill/>
            </p:spPr>
            <p:txBody>
              <a:bodyPr wrap="square" rtlCol="0">
                <a:spAutoFit/>
              </a:bodyPr>
              <a:lstStyle/>
              <a:p>
                <a:pPr/>
                <a14:m>
                  <m:oMathPara xmlns:m="http://schemas.openxmlformats.org/officeDocument/2006/math">
                    <m:o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den>
                      </m:f>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2</m:t>
                                  </m:r>
                                </m:sup>
                              </m:sSup>
                            </m:e>
                          </m:d>
                        </m:e>
                        <m:sup>
                          <m:r>
                            <a:rPr lang="en-GB" sz="2000" b="0" i="1" smtClean="0">
                              <a:latin typeface="Cambria Math" panose="02040503050406030204" pitchFamily="18" charset="0"/>
                            </a:rPr>
                            <m:t>−2</m:t>
                          </m:r>
                          <m:r>
                            <a:rPr lang="en-GB" sz="2000" b="0" i="1" smtClean="0">
                              <a:latin typeface="Cambria Math" panose="02040503050406030204" pitchFamily="18" charset="0"/>
                            </a:rPr>
                            <m:t>𝑥</m:t>
                          </m:r>
                          <m:r>
                            <a:rPr lang="en-GB" sz="2000" b="0" i="1" smtClean="0">
                              <a:latin typeface="Cambria Math" panose="02040503050406030204" pitchFamily="18" charset="0"/>
                            </a:rPr>
                            <m:t>+3</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−4</m:t>
                          </m:r>
                          <m:r>
                            <a:rPr lang="en-GB" sz="2000" b="0" i="1" smtClean="0">
                              <a:latin typeface="Cambria Math" panose="02040503050406030204" pitchFamily="18" charset="0"/>
                            </a:rPr>
                            <m:t>𝑥</m:t>
                          </m:r>
                          <m:r>
                            <a:rPr lang="en-GB" sz="2000" b="0" i="1" smtClean="0">
                              <a:latin typeface="Cambria Math" panose="02040503050406030204" pitchFamily="18" charset="0"/>
                            </a:rPr>
                            <m:t>+6</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−4</m:t>
                          </m:r>
                          <m:r>
                            <a:rPr lang="en-GB" sz="2000" b="0" i="1" smtClean="0">
                              <a:latin typeface="Cambria Math" panose="02040503050406030204" pitchFamily="18" charset="0"/>
                            </a:rPr>
                            <m:t>𝑥</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6</m:t>
                          </m:r>
                        </m:sup>
                      </m:sSup>
                    </m:oMath>
                    <m:o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𝑥</m:t>
                                  </m:r>
                                </m:sup>
                              </m:sSup>
                            </m:e>
                          </m:d>
                        </m:e>
                        <m:sup>
                          <m:r>
                            <a:rPr lang="en-GB" sz="2000" b="0" i="1" smtClean="0">
                              <a:latin typeface="Cambria Math" panose="02040503050406030204" pitchFamily="18" charset="0"/>
                            </a:rPr>
                            <m:t>−4</m:t>
                          </m:r>
                        </m:sup>
                      </m:sSup>
                      <m:r>
                        <a:rPr lang="en-GB" sz="2000" b="0" i="1" smtClean="0">
                          <a:latin typeface="Cambria Math" panose="02040503050406030204" pitchFamily="18" charset="0"/>
                        </a:rPr>
                        <m:t>×64</m:t>
                      </m:r>
                    </m:oMath>
                    <m:oMath>
                      <m:r>
                        <a:rPr lang="en-GB" sz="2000" b="0" i="1" smtClean="0">
                          <a:latin typeface="Cambria Math" panose="02040503050406030204" pitchFamily="18" charset="0"/>
                        </a:rPr>
                        <m:t>=64</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𝑦</m:t>
                          </m:r>
                        </m:e>
                        <m:sup>
                          <m:r>
                            <a:rPr lang="en-GB" sz="2000" b="0" i="1" smtClean="0">
                              <a:latin typeface="Cambria Math" panose="02040503050406030204" pitchFamily="18" charset="0"/>
                            </a:rPr>
                            <m:t>−4</m:t>
                          </m:r>
                        </m:sup>
                      </m:sSup>
                      <m:r>
                        <a:rPr lang="en-GB" sz="2000" b="0" i="0" smtClean="0">
                          <a:latin typeface="Cambria Math" panose="02040503050406030204" pitchFamily="18" charset="0"/>
                        </a:rPr>
                        <m:t>   </m:t>
                      </m:r>
                      <m:r>
                        <m:rPr>
                          <m:sty m:val="p"/>
                        </m:rPr>
                        <a:rPr lang="en-GB" sz="2000" b="0" i="0" smtClean="0">
                          <a:latin typeface="Cambria Math" panose="02040503050406030204" pitchFamily="18" charset="0"/>
                        </a:rPr>
                        <m:t>or</m:t>
                      </m:r>
                      <m:r>
                        <a:rPr lang="en-GB" sz="2000" b="0" i="0"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64</m:t>
                          </m:r>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𝑦</m:t>
                              </m:r>
                            </m:e>
                            <m:sup>
                              <m:r>
                                <a:rPr lang="en-GB" sz="2000" b="0" i="1" smtClean="0">
                                  <a:latin typeface="Cambria Math" panose="02040503050406030204" pitchFamily="18" charset="0"/>
                                </a:rPr>
                                <m:t>4</m:t>
                              </m:r>
                            </m:sup>
                          </m:sSup>
                        </m:den>
                      </m:f>
                    </m:oMath>
                  </m:oMathPara>
                </a14:m>
                <a:endParaRPr lang="en-GB" sz="2000" dirty="0"/>
              </a:p>
            </p:txBody>
          </p:sp>
        </mc:Choice>
        <mc:Fallback xmlns="">
          <p:sp>
            <p:nvSpPr>
              <p:cNvPr id="6" name="TextBox 5">
                <a:extLst>
                  <a:ext uri="{FF2B5EF4-FFF2-40B4-BE49-F238E27FC236}">
                    <a16:creationId xmlns:a16="http://schemas.microsoft.com/office/drawing/2014/main" id="{4B876357-D56C-471A-A629-1A90B35FB793}"/>
                  </a:ext>
                </a:extLst>
              </p:cNvPr>
              <p:cNvSpPr txBox="1">
                <a:spLocks noRot="1" noChangeAspect="1" noMove="1" noResize="1" noEditPoints="1" noAdjustHandles="1" noChangeArrowheads="1" noChangeShapeType="1" noTextEdit="1"/>
              </p:cNvSpPr>
              <p:nvPr/>
            </p:nvSpPr>
            <p:spPr>
              <a:xfrm>
                <a:off x="4319974" y="2708920"/>
                <a:ext cx="3096344" cy="283821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0ACB27A-BAF8-4F5F-B6CD-E84E48C207D1}"/>
                  </a:ext>
                </a:extLst>
              </p:cNvPr>
              <p:cNvSpPr txBox="1"/>
              <p:nvPr/>
            </p:nvSpPr>
            <p:spPr>
              <a:xfrm>
                <a:off x="395536" y="785759"/>
                <a:ext cx="3384376" cy="161422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i="1" dirty="0"/>
                  <a:t>[Edexcel IGCSE May14-4H] </a:t>
                </a:r>
                <a:r>
                  <a:rPr lang="en-GB" sz="2000" dirty="0"/>
                  <a:t>Given that</a:t>
                </a:r>
              </a:p>
              <a:p>
                <a:pPr/>
                <a14:m>
                  <m:oMathPara xmlns:m="http://schemas.openxmlformats.org/officeDocument/2006/math">
                    <m:oMath>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m:t>
                                      </m:r>
                                    </m:den>
                                  </m:f>
                                </m:sup>
                              </m:sSup>
                            </m:e>
                          </m:d>
                        </m:e>
                        <m:sup>
                          <m:r>
                            <a:rPr lang="en-GB" sz="2000" b="0" i="1" smtClean="0">
                              <a:latin typeface="Cambria Math" panose="02040503050406030204" pitchFamily="18" charset="0"/>
                            </a:rPr>
                            <m:t>𝑛</m:t>
                          </m:r>
                        </m:sup>
                      </m:sSup>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𝑥</m:t>
                              </m:r>
                            </m:sup>
                          </m:sSup>
                        </m:num>
                        <m:den>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8</m:t>
                              </m:r>
                            </m:e>
                            <m:sup>
                              <m:r>
                                <a:rPr lang="en-GB" sz="2000" b="0" i="1" smtClean="0">
                                  <a:latin typeface="Cambria Math" panose="02040503050406030204" pitchFamily="18" charset="0"/>
                                </a:rPr>
                                <m:t>𝑦</m:t>
                              </m:r>
                            </m:sup>
                          </m:sSup>
                        </m:den>
                      </m:f>
                    </m:oMath>
                  </m:oMathPara>
                </a14:m>
                <a:endParaRPr lang="en-GB" sz="2000" dirty="0"/>
              </a:p>
              <a:p>
                <a:r>
                  <a:rPr lang="en-GB" sz="2000" dirty="0"/>
                  <a:t>Express </a:t>
                </a:r>
                <a14:m>
                  <m:oMath xmlns:m="http://schemas.openxmlformats.org/officeDocument/2006/math">
                    <m:r>
                      <a:rPr lang="en-GB" sz="2000" b="0" i="1" smtClean="0">
                        <a:latin typeface="Cambria Math" panose="02040503050406030204" pitchFamily="18" charset="0"/>
                      </a:rPr>
                      <m:t>𝑛</m:t>
                    </m:r>
                  </m:oMath>
                </a14:m>
                <a:r>
                  <a:rPr lang="en-GB" sz="2000" dirty="0"/>
                  <a:t> in terms of </a:t>
                </a:r>
                <a14:m>
                  <m:oMath xmlns:m="http://schemas.openxmlformats.org/officeDocument/2006/math">
                    <m:r>
                      <a:rPr lang="en-GB" sz="2000" b="0" i="1" smtClean="0">
                        <a:latin typeface="Cambria Math" panose="02040503050406030204" pitchFamily="18" charset="0"/>
                      </a:rPr>
                      <m:t>𝑥</m:t>
                    </m:r>
                  </m:oMath>
                </a14:m>
                <a:r>
                  <a:rPr lang="en-GB" sz="2000" dirty="0"/>
                  <a:t> and </a:t>
                </a:r>
                <a14:m>
                  <m:oMath xmlns:m="http://schemas.openxmlformats.org/officeDocument/2006/math">
                    <m:r>
                      <a:rPr lang="en-GB" sz="2000" b="0" i="1" smtClean="0">
                        <a:latin typeface="Cambria Math" panose="02040503050406030204" pitchFamily="18" charset="0"/>
                      </a:rPr>
                      <m:t>𝑦</m:t>
                    </m:r>
                  </m:oMath>
                </a14:m>
                <a:r>
                  <a:rPr lang="en-GB" sz="2000" dirty="0"/>
                  <a:t>.</a:t>
                </a:r>
              </a:p>
            </p:txBody>
          </p:sp>
        </mc:Choice>
        <mc:Fallback xmlns="">
          <p:sp>
            <p:nvSpPr>
              <p:cNvPr id="7" name="TextBox 6">
                <a:extLst>
                  <a:ext uri="{FF2B5EF4-FFF2-40B4-BE49-F238E27FC236}">
                    <a16:creationId xmlns:a16="http://schemas.microsoft.com/office/drawing/2014/main" id="{B0ACB27A-BAF8-4F5F-B6CD-E84E48C207D1}"/>
                  </a:ext>
                </a:extLst>
              </p:cNvPr>
              <p:cNvSpPr txBox="1">
                <a:spLocks noRot="1" noChangeAspect="1" noMove="1" noResize="1" noEditPoints="1" noAdjustHandles="1" noChangeArrowheads="1" noChangeShapeType="1" noTextEdit="1"/>
              </p:cNvSpPr>
              <p:nvPr/>
            </p:nvSpPr>
            <p:spPr>
              <a:xfrm>
                <a:off x="395536" y="785759"/>
                <a:ext cx="3384376" cy="1614224"/>
              </a:xfrm>
              <a:prstGeom prst="rect">
                <a:avLst/>
              </a:prstGeom>
              <a:blipFill>
                <a:blip r:embed="rId4"/>
                <a:stretch>
                  <a:fillRect b="-341"/>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E31956C-901A-4282-BE46-DFD6B32856EF}"/>
                  </a:ext>
                </a:extLst>
              </p:cNvPr>
              <p:cNvSpPr txBox="1"/>
              <p:nvPr/>
            </p:nvSpPr>
            <p:spPr>
              <a:xfrm>
                <a:off x="611560" y="2624304"/>
                <a:ext cx="2664296" cy="1991827"/>
              </a:xfrm>
              <a:prstGeom prst="rect">
                <a:avLst/>
              </a:prstGeom>
              <a:noFill/>
            </p:spPr>
            <p:txBody>
              <a:bodyPr wrap="square" rtlCol="0">
                <a:spAutoFit/>
              </a:bodyPr>
              <a:lstStyle/>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𝑛</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sup>
                          </m:sSup>
                        </m:num>
                        <m:den>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3</m:t>
                                      </m:r>
                                    </m:sup>
                                  </m:sSup>
                                </m:e>
                              </m:d>
                            </m:e>
                            <m:sup>
                              <m:r>
                                <a:rPr lang="en-GB" b="0" i="1" smtClean="0">
                                  <a:latin typeface="Cambria Math" panose="02040503050406030204" pitchFamily="18" charset="0"/>
                                </a:rPr>
                                <m:t>𝑦</m:t>
                              </m:r>
                            </m:sup>
                          </m:sSup>
                        </m:den>
                      </m:f>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3</m:t>
                              </m:r>
                              <m:r>
                                <a:rPr lang="en-GB" b="0" i="1" smtClean="0">
                                  <a:latin typeface="Cambria Math" panose="02040503050406030204" pitchFamily="18" charset="0"/>
                                </a:rPr>
                                <m:t>𝑦</m:t>
                              </m:r>
                            </m:sup>
                          </m:sSup>
                        </m:den>
                      </m:f>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𝑥</m:t>
                          </m:r>
                          <m:r>
                            <a:rPr lang="en-GB" b="0" i="1" smtClean="0">
                              <a:latin typeface="Cambria Math" panose="02040503050406030204" pitchFamily="18" charset="0"/>
                            </a:rPr>
                            <m:t>−3</m:t>
                          </m:r>
                          <m:r>
                            <a:rPr lang="en-GB" b="0" i="1" smtClean="0">
                              <a:latin typeface="Cambria Math" panose="02040503050406030204" pitchFamily="18" charset="0"/>
                            </a:rPr>
                            <m:t>𝑦</m:t>
                          </m:r>
                        </m:sup>
                      </m:sSup>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−3</m:t>
                      </m:r>
                      <m:r>
                        <a:rPr lang="en-GB" b="0" i="1" smtClean="0">
                          <a:latin typeface="Cambria Math" panose="02040503050406030204" pitchFamily="18" charset="0"/>
                        </a:rPr>
                        <m:t>𝑦</m:t>
                      </m:r>
                    </m:oMath>
                    <m:oMath>
                      <m:r>
                        <a:rPr lang="en-GB" b="0" i="1" smtClean="0">
                          <a:latin typeface="Cambria Math" panose="02040503050406030204" pitchFamily="18" charset="0"/>
                        </a:rPr>
                        <m:t>𝑛</m:t>
                      </m:r>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−6</m:t>
                      </m:r>
                      <m:r>
                        <a:rPr lang="en-GB" b="0" i="1" smtClean="0">
                          <a:latin typeface="Cambria Math" panose="02040503050406030204" pitchFamily="18" charset="0"/>
                        </a:rPr>
                        <m:t>𝑦</m:t>
                      </m:r>
                    </m:oMath>
                  </m:oMathPara>
                </a14:m>
                <a:endParaRPr lang="en-GB" dirty="0"/>
              </a:p>
            </p:txBody>
          </p:sp>
        </mc:Choice>
        <mc:Fallback xmlns="">
          <p:sp>
            <p:nvSpPr>
              <p:cNvPr id="8" name="TextBox 7">
                <a:extLst>
                  <a:ext uri="{FF2B5EF4-FFF2-40B4-BE49-F238E27FC236}">
                    <a16:creationId xmlns:a16="http://schemas.microsoft.com/office/drawing/2014/main" id="{3E31956C-901A-4282-BE46-DFD6B32856EF}"/>
                  </a:ext>
                </a:extLst>
              </p:cNvPr>
              <p:cNvSpPr txBox="1">
                <a:spLocks noRot="1" noChangeAspect="1" noMove="1" noResize="1" noEditPoints="1" noAdjustHandles="1" noChangeArrowheads="1" noChangeShapeType="1" noTextEdit="1"/>
              </p:cNvSpPr>
              <p:nvPr/>
            </p:nvSpPr>
            <p:spPr>
              <a:xfrm>
                <a:off x="611560" y="2624304"/>
                <a:ext cx="2664296" cy="1991827"/>
              </a:xfrm>
              <a:prstGeom prst="rect">
                <a:avLst/>
              </a:prstGeom>
              <a:blipFill>
                <a:blip r:embed="rId5"/>
                <a:stretch>
                  <a:fillRect b="-1529"/>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9FD45277-CF41-42F8-A4B4-31960FF482BE}"/>
              </a:ext>
            </a:extLst>
          </p:cNvPr>
          <p:cNvSpPr txBox="1"/>
          <p:nvPr/>
        </p:nvSpPr>
        <p:spPr>
          <a:xfrm>
            <a:off x="1547664" y="5013176"/>
            <a:ext cx="2376264" cy="147732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Write 8 as a power of 2 (putting a bracket around it), for consistency of base with the other powers.</a:t>
            </a:r>
          </a:p>
        </p:txBody>
      </p:sp>
      <p:cxnSp>
        <p:nvCxnSpPr>
          <p:cNvPr id="11" name="Straight Arrow Connector 10">
            <a:extLst>
              <a:ext uri="{FF2B5EF4-FFF2-40B4-BE49-F238E27FC236}">
                <a16:creationId xmlns:a16="http://schemas.microsoft.com/office/drawing/2014/main" id="{2CD79400-B1D1-465F-B557-A2F492B7052F}"/>
              </a:ext>
            </a:extLst>
          </p:cNvPr>
          <p:cNvCxnSpPr/>
          <p:nvPr/>
        </p:nvCxnSpPr>
        <p:spPr>
          <a:xfrm flipH="1" flipV="1">
            <a:off x="2771800" y="3212976"/>
            <a:ext cx="1008112" cy="1800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58F36A1F-B1D2-4473-B437-380807025575}"/>
              </a:ext>
            </a:extLst>
          </p:cNvPr>
          <p:cNvSpPr/>
          <p:nvPr/>
        </p:nvSpPr>
        <p:spPr>
          <a:xfrm>
            <a:off x="395536" y="2387944"/>
            <a:ext cx="3528392" cy="420940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a:extLst>
              <a:ext uri="{FF2B5EF4-FFF2-40B4-BE49-F238E27FC236}">
                <a16:creationId xmlns:a16="http://schemas.microsoft.com/office/drawing/2014/main" id="{F0D06E12-0B2F-4DD4-95EF-DB4B569873F8}"/>
              </a:ext>
            </a:extLst>
          </p:cNvPr>
          <p:cNvSpPr/>
          <p:nvPr/>
        </p:nvSpPr>
        <p:spPr>
          <a:xfrm>
            <a:off x="4070523" y="2399983"/>
            <a:ext cx="4819254" cy="420940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6262299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2ACC42E-2DB1-4372-AB90-AFDF6AB38E06}"/>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91AC5797-AE5C-45CD-BE8A-1CF970152838}"/>
                </a:ext>
              </a:extLst>
            </p:cNvPr>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a:extLst>
                <a:ext uri="{FF2B5EF4-FFF2-40B4-BE49-F238E27FC236}">
                  <a16:creationId xmlns:a16="http://schemas.microsoft.com/office/drawing/2014/main" id="{26B5C283-02DB-41E6-A790-660600269DAB}"/>
                </a:ext>
              </a:extLst>
            </p:cNvPr>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EDDD3B93-70B5-4CE5-B577-EFB44BB922E8}"/>
              </a:ext>
            </a:extLst>
          </p:cNvPr>
          <p:cNvPicPr>
            <a:picLocks noChangeAspect="1"/>
          </p:cNvPicPr>
          <p:nvPr/>
        </p:nvPicPr>
        <p:blipFill>
          <a:blip r:embed="rId2"/>
          <a:stretch>
            <a:fillRect/>
          </a:stretch>
        </p:blipFill>
        <p:spPr>
          <a:xfrm>
            <a:off x="539552" y="1293679"/>
            <a:ext cx="6934200" cy="163830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71FC8F43-A93A-4C16-851F-271FFD9DA1C4}"/>
              </a:ext>
            </a:extLst>
          </p:cNvPr>
          <p:cNvSpPr txBox="1"/>
          <p:nvPr/>
        </p:nvSpPr>
        <p:spPr>
          <a:xfrm>
            <a:off x="539552" y="908720"/>
            <a:ext cx="3096344"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Paper 2 – May 2019</a:t>
            </a:r>
          </a:p>
        </p:txBody>
      </p:sp>
      <p:pic>
        <p:nvPicPr>
          <p:cNvPr id="8" name="Picture 7">
            <a:extLst>
              <a:ext uri="{FF2B5EF4-FFF2-40B4-BE49-F238E27FC236}">
                <a16:creationId xmlns:a16="http://schemas.microsoft.com/office/drawing/2014/main" id="{4BA18F1E-C8C4-43F7-B51B-CD0B9510A0B1}"/>
              </a:ext>
            </a:extLst>
          </p:cNvPr>
          <p:cNvPicPr>
            <a:picLocks noChangeAspect="1"/>
          </p:cNvPicPr>
          <p:nvPr/>
        </p:nvPicPr>
        <p:blipFill>
          <a:blip r:embed="rId3"/>
          <a:stretch>
            <a:fillRect/>
          </a:stretch>
        </p:blipFill>
        <p:spPr>
          <a:xfrm>
            <a:off x="1032693" y="3426506"/>
            <a:ext cx="7058025" cy="1962150"/>
          </a:xfrm>
          <a:prstGeom prst="rect">
            <a:avLst/>
          </a:prstGeom>
        </p:spPr>
      </p:pic>
      <p:sp>
        <p:nvSpPr>
          <p:cNvPr id="9" name="Rectangle 8">
            <a:extLst>
              <a:ext uri="{FF2B5EF4-FFF2-40B4-BE49-F238E27FC236}">
                <a16:creationId xmlns:a16="http://schemas.microsoft.com/office/drawing/2014/main" id="{9D82BBBE-DF98-4237-8ED8-D895CB9B9878}"/>
              </a:ext>
            </a:extLst>
          </p:cNvPr>
          <p:cNvSpPr/>
          <p:nvPr/>
        </p:nvSpPr>
        <p:spPr>
          <a:xfrm>
            <a:off x="539552" y="3284984"/>
            <a:ext cx="7920880" cy="225248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9334071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1D</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3584622" y="3182108"/>
            <a:ext cx="5423937" cy="3619528"/>
          </a:xfrm>
          <a:prstGeom prst="rect">
            <a:avLst/>
          </a:prstGeom>
          <a:noFill/>
          <a:ln>
            <a:noFill/>
          </a:ln>
        </p:spPr>
      </p:pic>
      <mc:AlternateContent xmlns:mc="http://schemas.openxmlformats.org/markup-compatibility/2006" xmlns:a14="http://schemas.microsoft.com/office/drawing/2010/main">
        <mc:Choice Requires="a14">
          <p:sp>
            <p:nvSpPr>
              <p:cNvPr id="9" name="TextBox 8"/>
              <p:cNvSpPr txBox="1"/>
              <p:nvPr/>
            </p:nvSpPr>
            <p:spPr>
              <a:xfrm>
                <a:off x="5379550" y="5460868"/>
                <a:ext cx="3695745" cy="1214692"/>
              </a:xfrm>
              <a:prstGeom prst="rect">
                <a:avLst/>
              </a:prstGeom>
              <a:noFill/>
            </p:spPr>
            <p:txBody>
              <a:bodyPr wrap="square" rtlCol="0">
                <a:spAutoFit/>
              </a:bodyPr>
              <a:lstStyle/>
              <a:p>
                <a:pPr/>
                <a14:m>
                  <m:oMathPara xmlns:m="http://schemas.openxmlformats.org/officeDocument/2006/math">
                    <m:oMath>
                      <m:r>
                        <a:rPr lang="en-GB" b="1" i="1" smtClean="0">
                          <a:latin typeface="Cambria Math" panose="02040503050406030204" pitchFamily="18" charset="0"/>
                        </a:rPr>
                        <m:t>=</m:t>
                      </m:r>
                      <m:f>
                        <m:fPr>
                          <m:ctrlPr>
                            <a:rPr lang="en-GB" b="1" i="1" smtClean="0">
                              <a:latin typeface="Cambria Math" panose="02040503050406030204" pitchFamily="18" charset="0"/>
                            </a:rPr>
                          </m:ctrlPr>
                        </m:fPr>
                        <m:num>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𝟐</m:t>
                              </m:r>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𝒔</m:t>
                              </m:r>
                            </m:sup>
                          </m:sSup>
                        </m:num>
                        <m:den>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𝟑</m:t>
                              </m:r>
                              <m:r>
                                <a:rPr lang="en-GB" b="1" i="1" smtClean="0">
                                  <a:latin typeface="Cambria Math" panose="02040503050406030204" pitchFamily="18" charset="0"/>
                                </a:rPr>
                                <m:t>𝒓</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𝟐</m:t>
                              </m:r>
                              <m:r>
                                <a:rPr lang="en-GB" b="1" i="1" smtClean="0">
                                  <a:latin typeface="Cambria Math" panose="02040503050406030204" pitchFamily="18" charset="0"/>
                                </a:rPr>
                                <m:t>𝒓</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𝒔</m:t>
                              </m:r>
                            </m:sup>
                          </m:sSup>
                        </m:den>
                      </m:f>
                    </m:oMath>
                    <m:oMath>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m:t>
                          </m:r>
                          <m:r>
                            <a:rPr lang="en-GB" b="1" i="1" smtClean="0">
                              <a:latin typeface="Cambria Math" panose="02040503050406030204" pitchFamily="18" charset="0"/>
                            </a:rPr>
                            <m:t>𝒔</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𝒔</m:t>
                          </m:r>
                        </m:sup>
                      </m:sSup>
                    </m:oMath>
                  </m:oMathPara>
                </a14:m>
                <a:endParaRPr lang="en-GB" b="1" dirty="0"/>
              </a:p>
              <a:p>
                <a:r>
                  <a:rPr lang="en-GB" b="1" dirty="0"/>
                  <a:t>This is an integer only if </a:t>
                </a:r>
                <a14:m>
                  <m:oMath xmlns:m="http://schemas.openxmlformats.org/officeDocument/2006/math">
                    <m:r>
                      <a:rPr lang="en-GB" b="1" i="1" smtClean="0">
                        <a:latin typeface="Cambria Math" panose="02040503050406030204" pitchFamily="18" charset="0"/>
                      </a:rPr>
                      <m:t>𝒔</m:t>
                    </m:r>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b="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5379550" y="5460868"/>
                <a:ext cx="3695745" cy="1214692"/>
              </a:xfrm>
              <a:prstGeom prst="rect">
                <a:avLst/>
              </a:prstGeom>
              <a:blipFill>
                <a:blip r:embed="rId3"/>
                <a:stretch>
                  <a:fillRect l="-1370" b="-7292"/>
                </a:stretch>
              </a:blipFill>
            </p:spPr>
            <p:txBody>
              <a:bodyPr/>
              <a:lstStyle/>
              <a:p>
                <a:r>
                  <a:rPr lang="en-GB">
                    <a:noFill/>
                  </a:rPr>
                  <a:t> </a:t>
                </a:r>
              </a:p>
            </p:txBody>
          </p:sp>
        </mc:Fallback>
      </mc:AlternateContent>
      <p:sp>
        <p:nvSpPr>
          <p:cNvPr id="11" name="Rectangle 10"/>
          <p:cNvSpPr/>
          <p:nvPr/>
        </p:nvSpPr>
        <p:spPr>
          <a:xfrm>
            <a:off x="5436096" y="5373216"/>
            <a:ext cx="3566142" cy="1302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TextBox 12">
            <a:extLst>
              <a:ext uri="{FF2B5EF4-FFF2-40B4-BE49-F238E27FC236}">
                <a16:creationId xmlns:a16="http://schemas.microsoft.com/office/drawing/2014/main" id="{D32FBFDF-E142-AD89-F317-942A2B52E7D1}"/>
              </a:ext>
            </a:extLst>
          </p:cNvPr>
          <p:cNvSpPr txBox="1"/>
          <p:nvPr/>
        </p:nvSpPr>
        <p:spPr>
          <a:xfrm>
            <a:off x="3614641" y="2932055"/>
            <a:ext cx="1131387" cy="369332"/>
          </a:xfrm>
          <a:prstGeom prst="rect">
            <a:avLst/>
          </a:prstGeom>
          <a:noFill/>
        </p:spPr>
        <p:txBody>
          <a:bodyPr wrap="square">
            <a:spAutoFit/>
          </a:bodyPr>
          <a:lstStyle/>
          <a:p>
            <a:r>
              <a:rPr lang="en-GB" dirty="0">
                <a:solidFill>
                  <a:srgbClr val="FF0000"/>
                </a:solidFill>
              </a:rPr>
              <a:t>Challenge</a:t>
            </a:r>
          </a:p>
        </p:txBody>
      </p:sp>
      <p:pic>
        <p:nvPicPr>
          <p:cNvPr id="14" name="Picture 13">
            <a:extLst>
              <a:ext uri="{FF2B5EF4-FFF2-40B4-BE49-F238E27FC236}">
                <a16:creationId xmlns:a16="http://schemas.microsoft.com/office/drawing/2014/main" id="{0F5AB069-407E-203F-1529-7AA5FAA525DB}"/>
              </a:ext>
            </a:extLst>
          </p:cNvPr>
          <p:cNvPicPr>
            <a:picLocks noChangeAspect="1"/>
          </p:cNvPicPr>
          <p:nvPr/>
        </p:nvPicPr>
        <p:blipFill>
          <a:blip r:embed="rId4"/>
          <a:stretch>
            <a:fillRect/>
          </a:stretch>
        </p:blipFill>
        <p:spPr>
          <a:xfrm>
            <a:off x="0" y="621738"/>
            <a:ext cx="2736304" cy="821894"/>
          </a:xfrm>
          <a:prstGeom prst="rect">
            <a:avLst/>
          </a:prstGeom>
        </p:spPr>
      </p:pic>
      <p:pic>
        <p:nvPicPr>
          <p:cNvPr id="15" name="Picture 14">
            <a:extLst>
              <a:ext uri="{FF2B5EF4-FFF2-40B4-BE49-F238E27FC236}">
                <a16:creationId xmlns:a16="http://schemas.microsoft.com/office/drawing/2014/main" id="{C2F09FF3-5E3B-CAFD-7FAB-AF3D26FCD4EC}"/>
              </a:ext>
            </a:extLst>
          </p:cNvPr>
          <p:cNvPicPr>
            <a:picLocks noChangeAspect="1"/>
          </p:cNvPicPr>
          <p:nvPr/>
        </p:nvPicPr>
        <p:blipFill>
          <a:blip r:embed="rId5"/>
          <a:stretch>
            <a:fillRect/>
          </a:stretch>
        </p:blipFill>
        <p:spPr>
          <a:xfrm>
            <a:off x="3203848" y="628107"/>
            <a:ext cx="1219200" cy="660400"/>
          </a:xfrm>
          <a:prstGeom prst="rect">
            <a:avLst/>
          </a:prstGeom>
        </p:spPr>
      </p:pic>
      <p:pic>
        <p:nvPicPr>
          <p:cNvPr id="17" name="Picture 16">
            <a:extLst>
              <a:ext uri="{FF2B5EF4-FFF2-40B4-BE49-F238E27FC236}">
                <a16:creationId xmlns:a16="http://schemas.microsoft.com/office/drawing/2014/main" id="{2F70D9BD-7797-7E30-36F7-350DB459203C}"/>
              </a:ext>
            </a:extLst>
          </p:cNvPr>
          <p:cNvPicPr>
            <a:picLocks noChangeAspect="1"/>
          </p:cNvPicPr>
          <p:nvPr/>
        </p:nvPicPr>
        <p:blipFill rotWithShape="1">
          <a:blip r:embed="rId6"/>
          <a:srcRect b="64737"/>
          <a:stretch/>
        </p:blipFill>
        <p:spPr>
          <a:xfrm>
            <a:off x="4985274" y="664167"/>
            <a:ext cx="2095500" cy="465757"/>
          </a:xfrm>
          <a:prstGeom prst="rect">
            <a:avLst/>
          </a:prstGeom>
        </p:spPr>
      </p:pic>
      <p:pic>
        <p:nvPicPr>
          <p:cNvPr id="18" name="Picture 17">
            <a:extLst>
              <a:ext uri="{FF2B5EF4-FFF2-40B4-BE49-F238E27FC236}">
                <a16:creationId xmlns:a16="http://schemas.microsoft.com/office/drawing/2014/main" id="{5844F662-699C-3CBE-A490-1F81B57AA427}"/>
              </a:ext>
            </a:extLst>
          </p:cNvPr>
          <p:cNvPicPr>
            <a:picLocks noChangeAspect="1"/>
          </p:cNvPicPr>
          <p:nvPr/>
        </p:nvPicPr>
        <p:blipFill>
          <a:blip r:embed="rId7"/>
          <a:stretch>
            <a:fillRect/>
          </a:stretch>
        </p:blipFill>
        <p:spPr>
          <a:xfrm>
            <a:off x="7081907" y="714385"/>
            <a:ext cx="1003300" cy="406400"/>
          </a:xfrm>
          <a:prstGeom prst="rect">
            <a:avLst/>
          </a:prstGeom>
        </p:spPr>
      </p:pic>
      <p:pic>
        <p:nvPicPr>
          <p:cNvPr id="19" name="Picture 18">
            <a:extLst>
              <a:ext uri="{FF2B5EF4-FFF2-40B4-BE49-F238E27FC236}">
                <a16:creationId xmlns:a16="http://schemas.microsoft.com/office/drawing/2014/main" id="{00524191-61C5-BF2B-91A0-5EAC1CCF7ADE}"/>
              </a:ext>
            </a:extLst>
          </p:cNvPr>
          <p:cNvPicPr>
            <a:picLocks noChangeAspect="1"/>
          </p:cNvPicPr>
          <p:nvPr/>
        </p:nvPicPr>
        <p:blipFill>
          <a:blip r:embed="rId8"/>
          <a:stretch>
            <a:fillRect/>
          </a:stretch>
        </p:blipFill>
        <p:spPr>
          <a:xfrm>
            <a:off x="8007956" y="680833"/>
            <a:ext cx="825500" cy="406400"/>
          </a:xfrm>
          <a:prstGeom prst="rect">
            <a:avLst/>
          </a:prstGeom>
        </p:spPr>
      </p:pic>
      <p:sp>
        <p:nvSpPr>
          <p:cNvPr id="20" name="Rectangle 19">
            <a:extLst>
              <a:ext uri="{FF2B5EF4-FFF2-40B4-BE49-F238E27FC236}">
                <a16:creationId xmlns:a16="http://schemas.microsoft.com/office/drawing/2014/main" id="{9DDE41FB-3933-B48B-0B35-11A1EA99AC3A}"/>
              </a:ext>
            </a:extLst>
          </p:cNvPr>
          <p:cNvSpPr/>
          <p:nvPr/>
        </p:nvSpPr>
        <p:spPr>
          <a:xfrm>
            <a:off x="2841556" y="705319"/>
            <a:ext cx="2095500" cy="7794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1" name="Rectangle 20">
            <a:extLst>
              <a:ext uri="{FF2B5EF4-FFF2-40B4-BE49-F238E27FC236}">
                <a16:creationId xmlns:a16="http://schemas.microsoft.com/office/drawing/2014/main" id="{D72CF30C-5980-E4E5-2D8B-7AB062D1F411}"/>
              </a:ext>
            </a:extLst>
          </p:cNvPr>
          <p:cNvSpPr/>
          <p:nvPr/>
        </p:nvSpPr>
        <p:spPr>
          <a:xfrm>
            <a:off x="4985274" y="705319"/>
            <a:ext cx="3763190" cy="7794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grpSp>
        <p:nvGrpSpPr>
          <p:cNvPr id="22" name="Group 21">
            <a:extLst>
              <a:ext uri="{FF2B5EF4-FFF2-40B4-BE49-F238E27FC236}">
                <a16:creationId xmlns:a16="http://schemas.microsoft.com/office/drawing/2014/main" id="{5203F315-E698-CE4C-81E7-E9E4567DC065}"/>
              </a:ext>
            </a:extLst>
          </p:cNvPr>
          <p:cNvGrpSpPr/>
          <p:nvPr/>
        </p:nvGrpSpPr>
        <p:grpSpPr>
          <a:xfrm>
            <a:off x="169737" y="1606070"/>
            <a:ext cx="8280921" cy="1221178"/>
            <a:chOff x="251519" y="3287942"/>
            <a:chExt cx="8280921" cy="1221178"/>
          </a:xfrm>
        </p:grpSpPr>
        <p:pic>
          <p:nvPicPr>
            <p:cNvPr id="23" name="Picture 22">
              <a:extLst>
                <a:ext uri="{FF2B5EF4-FFF2-40B4-BE49-F238E27FC236}">
                  <a16:creationId xmlns:a16="http://schemas.microsoft.com/office/drawing/2014/main" id="{0E572C9A-A55C-5CFE-07AD-3D95A719779E}"/>
                </a:ext>
              </a:extLst>
            </p:cNvPr>
            <p:cNvPicPr>
              <a:picLocks noChangeAspect="1"/>
            </p:cNvPicPr>
            <p:nvPr/>
          </p:nvPicPr>
          <p:blipFill>
            <a:blip r:embed="rId9"/>
            <a:stretch>
              <a:fillRect/>
            </a:stretch>
          </p:blipFill>
          <p:spPr>
            <a:xfrm>
              <a:off x="251519" y="3287942"/>
              <a:ext cx="8113031" cy="1005154"/>
            </a:xfrm>
            <a:prstGeom prst="rect">
              <a:avLst/>
            </a:prstGeom>
          </p:spPr>
        </p:pic>
        <p:sp>
          <p:nvSpPr>
            <p:cNvPr id="24" name="Rectangle 23">
              <a:extLst>
                <a:ext uri="{FF2B5EF4-FFF2-40B4-BE49-F238E27FC236}">
                  <a16:creationId xmlns:a16="http://schemas.microsoft.com/office/drawing/2014/main" id="{20890129-2898-1097-CCDD-CB0CFB8156D5}"/>
                </a:ext>
              </a:extLst>
            </p:cNvPr>
            <p:cNvSpPr/>
            <p:nvPr/>
          </p:nvSpPr>
          <p:spPr>
            <a:xfrm>
              <a:off x="7524328" y="3645024"/>
              <a:ext cx="1008112" cy="864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a:extLst>
              <a:ext uri="{FF2B5EF4-FFF2-40B4-BE49-F238E27FC236}">
                <a16:creationId xmlns:a16="http://schemas.microsoft.com/office/drawing/2014/main" id="{69D290BF-C954-5D4C-13E6-1B2B744B4259}"/>
              </a:ext>
            </a:extLst>
          </p:cNvPr>
          <p:cNvPicPr>
            <a:picLocks noChangeAspect="1"/>
          </p:cNvPicPr>
          <p:nvPr/>
        </p:nvPicPr>
        <p:blipFill>
          <a:blip r:embed="rId10"/>
          <a:stretch>
            <a:fillRect/>
          </a:stretch>
        </p:blipFill>
        <p:spPr>
          <a:xfrm>
            <a:off x="375356" y="2635467"/>
            <a:ext cx="1376196" cy="1587065"/>
          </a:xfrm>
          <a:prstGeom prst="rect">
            <a:avLst/>
          </a:prstGeom>
        </p:spPr>
      </p:pic>
      <p:pic>
        <p:nvPicPr>
          <p:cNvPr id="26" name="Picture 25">
            <a:extLst>
              <a:ext uri="{FF2B5EF4-FFF2-40B4-BE49-F238E27FC236}">
                <a16:creationId xmlns:a16="http://schemas.microsoft.com/office/drawing/2014/main" id="{E924314C-5E6D-8A1A-B0A9-7F7F6CCC1593}"/>
              </a:ext>
            </a:extLst>
          </p:cNvPr>
          <p:cNvPicPr>
            <a:picLocks noChangeAspect="1"/>
          </p:cNvPicPr>
          <p:nvPr/>
        </p:nvPicPr>
        <p:blipFill>
          <a:blip r:embed="rId11"/>
          <a:stretch>
            <a:fillRect/>
          </a:stretch>
        </p:blipFill>
        <p:spPr>
          <a:xfrm>
            <a:off x="375356" y="4214216"/>
            <a:ext cx="1656184" cy="2412983"/>
          </a:xfrm>
          <a:prstGeom prst="rect">
            <a:avLst/>
          </a:prstGeom>
        </p:spPr>
      </p:pic>
      <p:sp>
        <p:nvSpPr>
          <p:cNvPr id="27" name="Rectangle 26">
            <a:extLst>
              <a:ext uri="{FF2B5EF4-FFF2-40B4-BE49-F238E27FC236}">
                <a16:creationId xmlns:a16="http://schemas.microsoft.com/office/drawing/2014/main" id="{F5091302-BA8C-9128-E616-559BE473F5C9}"/>
              </a:ext>
            </a:extLst>
          </p:cNvPr>
          <p:cNvSpPr/>
          <p:nvPr/>
        </p:nvSpPr>
        <p:spPr>
          <a:xfrm>
            <a:off x="366863" y="2647842"/>
            <a:ext cx="1851263" cy="159893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8" name="Rectangle 27">
            <a:extLst>
              <a:ext uri="{FF2B5EF4-FFF2-40B4-BE49-F238E27FC236}">
                <a16:creationId xmlns:a16="http://schemas.microsoft.com/office/drawing/2014/main" id="{4401EC87-0833-2992-286E-21FA08535166}"/>
              </a:ext>
            </a:extLst>
          </p:cNvPr>
          <p:cNvSpPr/>
          <p:nvPr/>
        </p:nvSpPr>
        <p:spPr>
          <a:xfrm>
            <a:off x="366863" y="4349201"/>
            <a:ext cx="1851263" cy="239216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cxnSp>
        <p:nvCxnSpPr>
          <p:cNvPr id="30" name="Straight Connector 29">
            <a:extLst>
              <a:ext uri="{FF2B5EF4-FFF2-40B4-BE49-F238E27FC236}">
                <a16:creationId xmlns:a16="http://schemas.microsoft.com/office/drawing/2014/main" id="{D29BEFDE-7E49-7454-CFB6-3D4121718221}"/>
              </a:ext>
            </a:extLst>
          </p:cNvPr>
          <p:cNvCxnSpPr/>
          <p:nvPr/>
        </p:nvCxnSpPr>
        <p:spPr>
          <a:xfrm>
            <a:off x="3275856" y="2827248"/>
            <a:ext cx="5868144" cy="0"/>
          </a:xfrm>
          <a:prstGeom prst="line">
            <a:avLst/>
          </a:prstGeom>
          <a:ln w="127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FA4B0AFE-C629-69ED-A764-A5B9EEC00212}"/>
              </a:ext>
            </a:extLst>
          </p:cNvPr>
          <p:cNvCxnSpPr>
            <a:cxnSpLocks/>
          </p:cNvCxnSpPr>
          <p:nvPr/>
        </p:nvCxnSpPr>
        <p:spPr>
          <a:xfrm>
            <a:off x="3275856" y="2827248"/>
            <a:ext cx="0" cy="4202152"/>
          </a:xfrm>
          <a:prstGeom prst="line">
            <a:avLst/>
          </a:prstGeom>
          <a:ln w="127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4713544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14" restart="whenNotActive" fill="hold" evtFilter="cancelBubble" nodeType="interactiveSeq">
                <p:stCondLst>
                  <p:cond evt="onClick" delay="0">
                    <p:tgtEl>
                      <p:spTgt spid="2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1"/>
                                        </p:tgtEl>
                                      </p:cBhvr>
                                    </p:animEffect>
                                    <p:set>
                                      <p:cBhvr>
                                        <p:cTn id="19"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20" restart="whenNotActive" fill="hold" evtFilter="cancelBubble" nodeType="interactiveSeq">
                <p:stCondLst>
                  <p:cond evt="onClick" delay="0">
                    <p:tgtEl>
                      <p:spTgt spid="2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26" restart="whenNotActive" fill="hold" evtFilter="cancelBubble" nodeType="interactiveSeq">
                <p:stCondLst>
                  <p:cond evt="onClick" delay="0">
                    <p:tgtEl>
                      <p:spTgt spid="28"/>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8"/>
                                        </p:tgtEl>
                                      </p:cBhvr>
                                    </p:animEffect>
                                    <p:set>
                                      <p:cBhvr>
                                        <p:cTn id="31"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childTnLst>
        </p:cTn>
      </p:par>
    </p:tnLst>
    <p:bldLst>
      <p:bldP spid="11" grpId="0" animBg="1"/>
      <p:bldP spid="20" grpId="0" animBg="1"/>
      <p:bldP spid="21" grpId="0" animBg="1"/>
      <p:bldP spid="27" grpId="0" animBg="1"/>
      <p:bldP spid="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5: Surds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77280" y="706737"/>
            <a:ext cx="1152128"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Recap:</a:t>
            </a:r>
            <a:endParaRPr lang="en-GB" dirty="0"/>
          </a:p>
        </p:txBody>
      </p:sp>
      <mc:AlternateContent xmlns:mc="http://schemas.openxmlformats.org/markup-compatibility/2006" xmlns:a14="http://schemas.microsoft.com/office/drawing/2010/main">
        <mc:Choice Requires="a14">
          <p:sp>
            <p:nvSpPr>
              <p:cNvPr id="6" name="TextBox 5"/>
              <p:cNvSpPr txBox="1"/>
              <p:nvPr/>
            </p:nvSpPr>
            <p:spPr>
              <a:xfrm>
                <a:off x="624023" y="1311175"/>
                <a:ext cx="4659177" cy="2353145"/>
              </a:xfrm>
              <a:prstGeom prst="rect">
                <a:avLst/>
              </a:prstGeom>
              <a:noFill/>
            </p:spPr>
            <p:txBody>
              <a:bodyPr wrap="square" rtlCol="0">
                <a:spAutoFit/>
              </a:bodyPr>
              <a:lstStyle/>
              <a:p>
                <a:r>
                  <a:rPr lang="en-GB" sz="2000" dirty="0"/>
                  <a:t>A surd is a root of a number that does not simplify to a rational number.</a:t>
                </a:r>
              </a:p>
              <a:p>
                <a:endParaRPr lang="en-GB" sz="2000" dirty="0"/>
              </a:p>
              <a:p>
                <a:r>
                  <a:rPr lang="en-GB" sz="2000" dirty="0"/>
                  <a:t>Laws:</a:t>
                </a:r>
              </a:p>
              <a:p>
                <a:pPr/>
                <a14:m>
                  <m:oMathPara xmlns:m="http://schemas.openxmlformats.org/officeDocument/2006/math">
                    <m:oMath>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𝑎</m:t>
                          </m:r>
                        </m:e>
                      </m:rad>
                      <m:r>
                        <a:rPr lang="en-GB" sz="2000" b="0" i="1" smtClean="0">
                          <a:latin typeface="Cambria Math" panose="02040503050406030204" pitchFamily="18" charset="0"/>
                        </a:rPr>
                        <m:t>×</m:t>
                      </m:r>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𝑏</m:t>
                          </m:r>
                        </m:e>
                      </m:rad>
                      <m:r>
                        <a:rPr lang="en-GB" sz="2000" b="0" i="1" smtClean="0">
                          <a:latin typeface="Cambria Math" panose="02040503050406030204" pitchFamily="18" charset="0"/>
                        </a:rPr>
                        <m:t>=</m:t>
                      </m:r>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𝑎𝑏</m:t>
                          </m:r>
                        </m:e>
                      </m:rad>
                    </m:oMath>
                    <m:oMath>
                      <m:f>
                        <m:fPr>
                          <m:ctrlPr>
                            <a:rPr lang="en-GB" sz="2000" b="0" i="1" smtClean="0">
                              <a:latin typeface="Cambria Math" panose="02040503050406030204" pitchFamily="18" charset="0"/>
                            </a:rPr>
                          </m:ctrlPr>
                        </m:fPr>
                        <m:num>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𝑎</m:t>
                              </m:r>
                            </m:e>
                          </m:rad>
                        </m:num>
                        <m:den>
                          <m:rad>
                            <m:radPr>
                              <m:degHide m:val="on"/>
                              <m:ctrlPr>
                                <a:rPr lang="en-GB" sz="2000" b="0" i="1" smtClean="0">
                                  <a:latin typeface="Cambria Math" panose="02040503050406030204" pitchFamily="18" charset="0"/>
                                </a:rPr>
                              </m:ctrlPr>
                            </m:radPr>
                            <m:deg/>
                            <m:e>
                              <m:r>
                                <a:rPr lang="en-GB" sz="2000" b="0" i="1" smtClean="0">
                                  <a:latin typeface="Cambria Math" panose="02040503050406030204" pitchFamily="18" charset="0"/>
                                </a:rPr>
                                <m:t>𝑏</m:t>
                              </m:r>
                            </m:e>
                          </m:rad>
                        </m:den>
                      </m:f>
                      <m:r>
                        <a:rPr lang="en-GB" sz="2000" b="0" i="1" smtClean="0">
                          <a:latin typeface="Cambria Math" panose="02040503050406030204" pitchFamily="18" charset="0"/>
                        </a:rPr>
                        <m:t>=</m:t>
                      </m:r>
                      <m:rad>
                        <m:radPr>
                          <m:degHide m:val="on"/>
                          <m:ctrlPr>
                            <a:rPr lang="en-GB" sz="2000" b="0" i="1" smtClean="0">
                              <a:latin typeface="Cambria Math" panose="02040503050406030204" pitchFamily="18" charset="0"/>
                            </a:rPr>
                          </m:ctrlPr>
                        </m:radPr>
                        <m:deg/>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𝑎</m:t>
                              </m:r>
                            </m:num>
                            <m:den>
                              <m:r>
                                <a:rPr lang="en-GB" sz="2000" b="0" i="1" smtClean="0">
                                  <a:latin typeface="Cambria Math" panose="02040503050406030204" pitchFamily="18" charset="0"/>
                                </a:rPr>
                                <m:t>𝑏</m:t>
                              </m:r>
                            </m:den>
                          </m:f>
                        </m:e>
                      </m:rad>
                    </m:oMath>
                  </m:oMathPara>
                </a14:m>
                <a:endParaRPr lang="en-GB"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624023" y="1311175"/>
                <a:ext cx="4659177" cy="2353145"/>
              </a:xfrm>
              <a:prstGeom prst="rect">
                <a:avLst/>
              </a:prstGeom>
              <a:blipFill>
                <a:blip r:embed="rId2"/>
                <a:stretch>
                  <a:fillRect l="-1307" t="-129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957483" y="843404"/>
                <a:ext cx="2880320" cy="19847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Note</a:t>
                </a:r>
                <a:r>
                  <a:rPr lang="en-GB" dirty="0"/>
                  <a:t>: A </a:t>
                </a:r>
                <a:r>
                  <a:rPr lang="en-GB" i="1" dirty="0"/>
                  <a:t>rational</a:t>
                </a:r>
                <a:r>
                  <a:rPr lang="en-GB" dirty="0"/>
                  <a:t> number is any which can be expressed as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𝑎</m:t>
                        </m:r>
                      </m:num>
                      <m:den>
                        <m:r>
                          <a:rPr lang="en-GB" b="0" i="1" smtClean="0">
                            <a:latin typeface="Cambria Math" panose="02040503050406030204" pitchFamily="18" charset="0"/>
                          </a:rPr>
                          <m:t>𝑏</m:t>
                        </m:r>
                      </m:den>
                    </m:f>
                  </m:oMath>
                </a14:m>
                <a:r>
                  <a:rPr lang="en-GB" dirty="0"/>
                  <a:t> where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oMath>
                </a14:m>
                <a:r>
                  <a:rPr lang="en-GB" dirty="0"/>
                  <a:t> are integers.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oMath>
                </a14:m>
                <a:r>
                  <a:rPr lang="en-GB" dirty="0"/>
                  <a:t> and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1</m:t>
                        </m:r>
                      </m:den>
                    </m:f>
                    <m:r>
                      <a:rPr lang="en-GB" b="0" i="1" smtClean="0">
                        <a:latin typeface="Cambria Math" panose="02040503050406030204" pitchFamily="18" charset="0"/>
                      </a:rPr>
                      <m:t>=4</m:t>
                    </m:r>
                  </m:oMath>
                </a14:m>
                <a:r>
                  <a:rPr lang="en-GB" dirty="0"/>
                  <a:t> are rational numbers, but </a:t>
                </a:r>
                <a14:m>
                  <m:oMath xmlns:m="http://schemas.openxmlformats.org/officeDocument/2006/math">
                    <m:r>
                      <a:rPr lang="en-GB" b="0" i="1" smtClean="0">
                        <a:latin typeface="Cambria Math" panose="02040503050406030204" pitchFamily="18" charset="0"/>
                      </a:rPr>
                      <m:t>𝜋</m:t>
                    </m:r>
                  </m:oMath>
                </a14:m>
                <a:r>
                  <a:rPr lang="en-GB" dirty="0"/>
                  <a:t> and </a:t>
                </a:r>
                <a14:m>
                  <m:oMath xmlns:m="http://schemas.openxmlformats.org/officeDocument/2006/math">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oMath>
                </a14:m>
                <a:r>
                  <a:rPr lang="en-GB" dirty="0"/>
                  <a:t> are not.</a:t>
                </a:r>
              </a:p>
            </p:txBody>
          </p:sp>
        </mc:Choice>
        <mc:Fallback xmlns="">
          <p:sp>
            <p:nvSpPr>
              <p:cNvPr id="7" name="TextBox 6"/>
              <p:cNvSpPr txBox="1">
                <a:spLocks noRot="1" noChangeAspect="1" noMove="1" noResize="1" noEditPoints="1" noAdjustHandles="1" noChangeArrowheads="1" noChangeShapeType="1" noTextEdit="1"/>
              </p:cNvSpPr>
              <p:nvPr/>
            </p:nvSpPr>
            <p:spPr>
              <a:xfrm>
                <a:off x="5957483" y="843404"/>
                <a:ext cx="2880320" cy="1984710"/>
              </a:xfrm>
              <a:prstGeom prst="rect">
                <a:avLst/>
              </a:prstGeom>
              <a:blipFill>
                <a:blip r:embed="rId3"/>
                <a:stretch>
                  <a:fillRect l="-1310" t="-629" b="-3774"/>
                </a:stretch>
              </a:blipFill>
            </p:spPr>
            <p:txBody>
              <a:bodyPr/>
              <a:lstStyle/>
              <a:p>
                <a:r>
                  <a:rPr lang="en-GB">
                    <a:noFill/>
                  </a:rPr>
                  <a:t> </a:t>
                </a:r>
              </a:p>
            </p:txBody>
          </p:sp>
        </mc:Fallback>
      </mc:AlternateContent>
      <p:cxnSp>
        <p:nvCxnSpPr>
          <p:cNvPr id="9" name="Straight Connector 8"/>
          <p:cNvCxnSpPr/>
          <p:nvPr/>
        </p:nvCxnSpPr>
        <p:spPr>
          <a:xfrm>
            <a:off x="0" y="3789040"/>
            <a:ext cx="91440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391795" y="3888387"/>
                <a:ext cx="6369474" cy="3019545"/>
              </a:xfrm>
              <a:prstGeom prst="rect">
                <a:avLst/>
              </a:prstGeom>
              <a:noFill/>
            </p:spPr>
            <p:txBody>
              <a:bodyPr wrap="square" rtlCol="0">
                <a:spAutoFit/>
              </a:bodyPr>
              <a:lstStyle/>
              <a:p>
                <a:pPr/>
                <a14:m>
                  <m:oMathPara xmlns:m="http://schemas.openxmlformats.org/officeDocument/2006/math">
                    <m:oMath>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×2                        =</m:t>
                      </m:r>
                      <m:r>
                        <a:rPr lang="en-GB" sz="2400" b="1" i="1" smtClean="0">
                          <a:latin typeface="Cambria Math" panose="02040503050406030204" pitchFamily="18" charset="0"/>
                        </a:rPr>
                        <m:t>𝟐</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𝟑</m:t>
                          </m:r>
                        </m:e>
                      </m:rad>
                    </m:oMath>
                    <m:oMath>
                      <m:r>
                        <a:rPr lang="en-GB" sz="2400" b="0" i="1" smtClean="0">
                          <a:latin typeface="Cambria Math" panose="02040503050406030204" pitchFamily="18" charset="0"/>
                        </a:rPr>
                        <m:t>3</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5</m:t>
                          </m:r>
                        </m:e>
                      </m:rad>
                      <m:r>
                        <a:rPr lang="en-GB" sz="2400" b="0" i="1" smtClean="0">
                          <a:latin typeface="Cambria Math" panose="02040503050406030204" pitchFamily="18" charset="0"/>
                        </a:rPr>
                        <m:t>×2</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5</m:t>
                          </m:r>
                        </m:e>
                      </m:rad>
                      <m:r>
                        <a:rPr lang="en-GB" sz="2400" b="0" i="1" smtClean="0">
                          <a:latin typeface="Cambria Math" panose="02040503050406030204" pitchFamily="18" charset="0"/>
                        </a:rPr>
                        <m:t>                =</m:t>
                      </m:r>
                      <m:r>
                        <a:rPr lang="en-GB" sz="2400" b="1" i="1" smtClean="0">
                          <a:latin typeface="Cambria Math" panose="02040503050406030204" pitchFamily="18" charset="0"/>
                        </a:rPr>
                        <m:t>𝟑𝟎</m:t>
                      </m:r>
                    </m:oMath>
                    <m:oMath>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8</m:t>
                          </m:r>
                        </m:e>
                      </m:rad>
                      <m:r>
                        <a:rPr lang="en-GB" sz="2400" b="0" i="1" smtClean="0">
                          <a:latin typeface="Cambria Math" panose="02040503050406030204" pitchFamily="18" charset="0"/>
                        </a:rPr>
                        <m:t>=</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4</m:t>
                          </m:r>
                        </m:e>
                      </m:rad>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2</m:t>
                          </m:r>
                        </m:e>
                      </m:rad>
                      <m:r>
                        <a:rPr lang="en-GB" sz="2400" b="0" i="1" smtClean="0">
                          <a:latin typeface="Cambria Math" panose="02040503050406030204" pitchFamily="18" charset="0"/>
                        </a:rPr>
                        <m:t>             =</m:t>
                      </m:r>
                      <m:r>
                        <a:rPr lang="en-GB" sz="2400" b="1" i="1" smtClean="0">
                          <a:latin typeface="Cambria Math" panose="02040503050406030204" pitchFamily="18" charset="0"/>
                        </a:rPr>
                        <m:t>𝟐</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oMath>
                    <m:oMath>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12</m:t>
                          </m:r>
                        </m:e>
                      </m:rad>
                      <m:r>
                        <a:rPr lang="en-GB" sz="2400" b="0" i="1" smtClean="0">
                          <a:latin typeface="Cambria Math" panose="02040503050406030204" pitchFamily="18" charset="0"/>
                        </a:rPr>
                        <m:t>+</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27</m:t>
                          </m:r>
                        </m:e>
                      </m:rad>
                      <m:r>
                        <a:rPr lang="en-GB" sz="2400" b="0" i="1" smtClean="0">
                          <a:latin typeface="Cambria Math" panose="02040503050406030204" pitchFamily="18" charset="0"/>
                        </a:rPr>
                        <m:t>              =</m:t>
                      </m:r>
                      <m:r>
                        <a:rPr lang="en-GB" sz="2400" b="1" i="1" smtClean="0">
                          <a:latin typeface="Cambria Math" panose="02040503050406030204" pitchFamily="18" charset="0"/>
                        </a:rPr>
                        <m:t>𝟐</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𝟑</m:t>
                          </m:r>
                        </m:e>
                      </m:rad>
                      <m:r>
                        <a:rPr lang="en-GB" sz="2400" b="1" i="1" smtClean="0">
                          <a:latin typeface="Cambria Math" panose="02040503050406030204" pitchFamily="18" charset="0"/>
                        </a:rPr>
                        <m:t>+</m:t>
                      </m:r>
                      <m:r>
                        <a:rPr lang="en-GB" sz="2400" b="1" i="1" smtClean="0">
                          <a:latin typeface="Cambria Math" panose="02040503050406030204" pitchFamily="18" charset="0"/>
                        </a:rPr>
                        <m:t>𝟑</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𝟑</m:t>
                          </m:r>
                        </m:e>
                      </m:rad>
                      <m:r>
                        <a:rPr lang="en-GB" sz="2400" b="1" i="1" smtClean="0">
                          <a:latin typeface="Cambria Math" panose="02040503050406030204" pitchFamily="18" charset="0"/>
                        </a:rPr>
                        <m:t>=</m:t>
                      </m:r>
                      <m:r>
                        <a:rPr lang="en-GB" sz="2400" b="1" i="1" smtClean="0">
                          <a:latin typeface="Cambria Math" panose="02040503050406030204" pitchFamily="18" charset="0"/>
                        </a:rPr>
                        <m:t>𝟓</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𝟑</m:t>
                          </m:r>
                        </m:e>
                      </m:rad>
                    </m:oMath>
                    <m:oMath>
                      <m:d>
                        <m:dPr>
                          <m:ctrlPr>
                            <a:rPr lang="en-GB" sz="2400" b="0" i="1" smtClean="0">
                              <a:latin typeface="Cambria Math" panose="02040503050406030204" pitchFamily="18" charset="0"/>
                            </a:rPr>
                          </m:ctrlPr>
                        </m:dPr>
                        <m:e>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8</m:t>
                              </m:r>
                            </m:e>
                          </m:rad>
                          <m:r>
                            <a:rPr lang="en-GB" sz="2400" b="0" i="1" smtClean="0">
                              <a:latin typeface="Cambria Math" panose="02040503050406030204" pitchFamily="18" charset="0"/>
                            </a:rPr>
                            <m:t>+1</m:t>
                          </m:r>
                        </m:e>
                      </m:d>
                      <m:d>
                        <m:dPr>
                          <m:ctrlPr>
                            <a:rPr lang="en-GB" sz="2400" b="0" i="1" smtClean="0">
                              <a:latin typeface="Cambria Math" panose="02040503050406030204" pitchFamily="18" charset="0"/>
                            </a:rPr>
                          </m:ctrlPr>
                        </m:dPr>
                        <m:e>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2</m:t>
                              </m:r>
                            </m:e>
                          </m:rad>
                          <m:r>
                            <a:rPr lang="en-GB" sz="2400" b="0" i="1" smtClean="0">
                              <a:latin typeface="Cambria Math" panose="02040503050406030204" pitchFamily="18" charset="0"/>
                            </a:rPr>
                            <m:t>−3</m:t>
                          </m:r>
                        </m:e>
                      </m:d>
                      <m:r>
                        <a:rPr lang="en-GB" sz="2400" b="0" i="1" smtClean="0">
                          <a:latin typeface="Cambria Math" panose="02040503050406030204" pitchFamily="18" charset="0"/>
                        </a:rPr>
                        <m:t>=</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𝟏𝟔</m:t>
                          </m:r>
                        </m:e>
                      </m:rad>
                      <m:r>
                        <a:rPr lang="en-GB" sz="2400" b="1" i="1" smtClean="0">
                          <a:latin typeface="Cambria Math" panose="02040503050406030204" pitchFamily="18" charset="0"/>
                        </a:rPr>
                        <m:t>−</m:t>
                      </m:r>
                      <m:r>
                        <a:rPr lang="en-GB" sz="2400" b="1" i="1" smtClean="0">
                          <a:latin typeface="Cambria Math" panose="02040503050406030204" pitchFamily="18" charset="0"/>
                        </a:rPr>
                        <m:t>𝟑</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𝟖</m:t>
                          </m:r>
                        </m:e>
                      </m:rad>
                      <m:r>
                        <a:rPr lang="en-GB" sz="2400" b="1" i="1" smtClean="0">
                          <a:latin typeface="Cambria Math" panose="02040503050406030204" pitchFamily="18" charset="0"/>
                        </a:rPr>
                        <m:t>+</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r>
                        <a:rPr lang="en-GB" sz="2400" b="1" i="1" smtClean="0">
                          <a:latin typeface="Cambria Math" panose="02040503050406030204" pitchFamily="18" charset="0"/>
                        </a:rPr>
                        <m:t>−</m:t>
                      </m:r>
                      <m:r>
                        <a:rPr lang="en-GB" sz="2400" b="1" i="1" smtClean="0">
                          <a:latin typeface="Cambria Math" panose="02040503050406030204" pitchFamily="18" charset="0"/>
                        </a:rPr>
                        <m:t>𝟑</m:t>
                      </m:r>
                    </m:oMath>
                    <m:oMath>
                      <m:r>
                        <a:rPr lang="en-GB" sz="2400" b="0" i="1" smtClean="0">
                          <a:latin typeface="Cambria Math" panose="02040503050406030204" pitchFamily="18" charset="0"/>
                        </a:rPr>
                        <m:t>                                     =</m:t>
                      </m:r>
                      <m:r>
                        <a:rPr lang="en-GB" sz="2400" b="1" i="1" smtClean="0">
                          <a:latin typeface="Cambria Math" panose="02040503050406030204" pitchFamily="18" charset="0"/>
                        </a:rPr>
                        <m:t>𝟒</m:t>
                      </m:r>
                      <m:r>
                        <a:rPr lang="en-GB" sz="2400" b="1" i="1" smtClean="0">
                          <a:latin typeface="Cambria Math" panose="02040503050406030204" pitchFamily="18" charset="0"/>
                        </a:rPr>
                        <m:t>−</m:t>
                      </m:r>
                      <m:r>
                        <a:rPr lang="en-GB" sz="2400" b="1" i="1" smtClean="0">
                          <a:latin typeface="Cambria Math" panose="02040503050406030204" pitchFamily="18" charset="0"/>
                        </a:rPr>
                        <m:t>𝟔</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r>
                        <a:rPr lang="en-GB" sz="2400" b="1" i="1" smtClean="0">
                          <a:latin typeface="Cambria Math" panose="02040503050406030204" pitchFamily="18" charset="0"/>
                        </a:rPr>
                        <m:t>+</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r>
                        <a:rPr lang="en-GB" sz="2400" b="1" i="1" smtClean="0">
                          <a:latin typeface="Cambria Math" panose="02040503050406030204" pitchFamily="18" charset="0"/>
                        </a:rPr>
                        <m:t>−</m:t>
                      </m:r>
                      <m:r>
                        <a:rPr lang="en-GB" sz="2400" b="1" i="1" smtClean="0">
                          <a:latin typeface="Cambria Math" panose="02040503050406030204" pitchFamily="18" charset="0"/>
                        </a:rPr>
                        <m:t>𝟑</m:t>
                      </m:r>
                    </m:oMath>
                    <m:oMath>
                      <m:r>
                        <a:rPr lang="en-GB" sz="2400" b="0" i="1" smtClean="0">
                          <a:latin typeface="Cambria Math" panose="02040503050406030204" pitchFamily="18" charset="0"/>
                        </a:rPr>
                        <m:t>                                     =</m:t>
                      </m:r>
                      <m:r>
                        <a:rPr lang="en-GB" sz="2400" b="1" i="1" smtClean="0">
                          <a:latin typeface="Cambria Math" panose="02040503050406030204" pitchFamily="18" charset="0"/>
                        </a:rPr>
                        <m:t>𝟏</m:t>
                      </m:r>
                      <m:r>
                        <a:rPr lang="en-GB" sz="2400" b="1" i="1" smtClean="0">
                          <a:latin typeface="Cambria Math" panose="02040503050406030204" pitchFamily="18" charset="0"/>
                        </a:rPr>
                        <m:t>−</m:t>
                      </m:r>
                      <m:r>
                        <a:rPr lang="en-GB" sz="2400" b="1" i="1" smtClean="0">
                          <a:latin typeface="Cambria Math" panose="02040503050406030204" pitchFamily="18" charset="0"/>
                        </a:rPr>
                        <m:t>𝟓</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oMath>
                  </m:oMathPara>
                </a14:m>
                <a:endParaRPr lang="en-GB" sz="2400" b="1" dirty="0"/>
              </a:p>
            </p:txBody>
          </p:sp>
        </mc:Choice>
        <mc:Fallback xmlns="">
          <p:sp>
            <p:nvSpPr>
              <p:cNvPr id="10" name="TextBox 9"/>
              <p:cNvSpPr txBox="1">
                <a:spLocks noRot="1" noChangeAspect="1" noMove="1" noResize="1" noEditPoints="1" noAdjustHandles="1" noChangeArrowheads="1" noChangeShapeType="1" noTextEdit="1"/>
              </p:cNvSpPr>
              <p:nvPr/>
            </p:nvSpPr>
            <p:spPr>
              <a:xfrm>
                <a:off x="391795" y="3888387"/>
                <a:ext cx="6369474" cy="3019545"/>
              </a:xfrm>
              <a:prstGeom prst="rect">
                <a:avLst/>
              </a:prstGeom>
              <a:blipFill>
                <a:blip r:embed="rId4"/>
                <a:stretch>
                  <a:fillRect b="-2521"/>
                </a:stretch>
              </a:blipFill>
            </p:spPr>
            <p:txBody>
              <a:bodyPr/>
              <a:lstStyle/>
              <a:p>
                <a:r>
                  <a:rPr lang="en-GB">
                    <a:noFill/>
                  </a:rPr>
                  <a:t> </a:t>
                </a:r>
              </a:p>
            </p:txBody>
          </p:sp>
        </mc:Fallback>
      </mc:AlternateContent>
      <p:sp>
        <p:nvSpPr>
          <p:cNvPr id="11" name="Rectangle 10"/>
          <p:cNvSpPr/>
          <p:nvPr/>
        </p:nvSpPr>
        <p:spPr>
          <a:xfrm>
            <a:off x="3516830" y="3875313"/>
            <a:ext cx="2889086" cy="46616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3516830" y="4344048"/>
            <a:ext cx="2889086" cy="4192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3516830" y="4765830"/>
            <a:ext cx="2889086" cy="4192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3516829" y="5187612"/>
            <a:ext cx="2889087" cy="39123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3516828" y="5581418"/>
            <a:ext cx="2889090" cy="40784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3516830" y="5991829"/>
            <a:ext cx="2889087" cy="40784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3528785" y="6402240"/>
            <a:ext cx="2877131" cy="40784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13371290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14" restart="whenNotActive" fill="hold" evtFilter="cancelBubble" nodeType="interactiveSeq">
                <p:stCondLst>
                  <p:cond evt="onClick" delay="0">
                    <p:tgtEl>
                      <p:spTgt spid="1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3"/>
                                        </p:tgtEl>
                                      </p:cBhvr>
                                    </p:animEffect>
                                    <p:set>
                                      <p:cBhvr>
                                        <p:cTn id="19"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20" restart="whenNotActive" fill="hold" evtFilter="cancelBubble" nodeType="interactiveSeq">
                <p:stCondLst>
                  <p:cond evt="onClick" delay="0">
                    <p:tgtEl>
                      <p:spTgt spid="14"/>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4"/>
                                        </p:tgtEl>
                                      </p:cBhvr>
                                    </p:animEffect>
                                    <p:set>
                                      <p:cBhvr>
                                        <p:cTn id="25"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26" restart="whenNotActive" fill="hold" evtFilter="cancelBubble" nodeType="interactiveSeq">
                <p:stCondLst>
                  <p:cond evt="onClick" delay="0">
                    <p:tgtEl>
                      <p:spTgt spid="15"/>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5"/>
                                        </p:tgtEl>
                                      </p:cBhvr>
                                    </p:animEffect>
                                    <p:set>
                                      <p:cBhvr>
                                        <p:cTn id="31"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32" restart="whenNotActive" fill="hold" evtFilter="cancelBubble" nodeType="interactiveSeq">
                <p:stCondLst>
                  <p:cond evt="onClick" delay="0">
                    <p:tgtEl>
                      <p:spTgt spid="16"/>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6"/>
                                        </p:tgtEl>
                                      </p:cBhvr>
                                    </p:animEffect>
                                    <p:set>
                                      <p:cBhvr>
                                        <p:cTn id="3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7"/>
                                        </p:tgtEl>
                                      </p:cBhvr>
                                    </p:animEffect>
                                    <p:set>
                                      <p:cBhvr>
                                        <p:cTn id="4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1E – Pure Y1 Page 13</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0" name="Picture 9"/>
          <p:cNvPicPr>
            <a:picLocks noChangeAspect="1"/>
          </p:cNvPicPr>
          <p:nvPr/>
        </p:nvPicPr>
        <p:blipFill>
          <a:blip r:embed="rId2"/>
          <a:stretch>
            <a:fillRect/>
          </a:stretch>
        </p:blipFill>
        <p:spPr>
          <a:xfrm>
            <a:off x="4513784" y="2747841"/>
            <a:ext cx="4608512" cy="2214480"/>
          </a:xfrm>
          <a:prstGeom prst="rect">
            <a:avLst/>
          </a:prstGeom>
        </p:spPr>
      </p:pic>
      <p:pic>
        <p:nvPicPr>
          <p:cNvPr id="12" name="Picture 11"/>
          <p:cNvPicPr>
            <a:picLocks noChangeAspect="1"/>
          </p:cNvPicPr>
          <p:nvPr/>
        </p:nvPicPr>
        <p:blipFill>
          <a:blip r:embed="rId3"/>
          <a:stretch>
            <a:fillRect/>
          </a:stretch>
        </p:blipFill>
        <p:spPr>
          <a:xfrm>
            <a:off x="338188" y="2717554"/>
            <a:ext cx="3743325" cy="2247900"/>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572241" y="4961071"/>
                <a:ext cx="3835569" cy="1837747"/>
              </a:xfrm>
              <a:prstGeom prst="rect">
                <a:avLst/>
              </a:prstGeom>
              <a:noFill/>
            </p:spPr>
            <p:txBody>
              <a:bodyPr wrap="square" rtlCol="0">
                <a:spAutoFit/>
              </a:bodyPr>
              <a:lstStyle/>
              <a:p>
                <a:r>
                  <a:rPr lang="en-GB" b="1" dirty="0"/>
                  <a:t>Note that:</a:t>
                </a:r>
              </a:p>
              <a:p>
                <a:pPr/>
                <a14:m>
                  <m:oMathPara xmlns:m="http://schemas.openxmlformats.org/officeDocument/2006/math">
                    <m:oMath>
                      <m:r>
                        <a:rPr lang="en-GB" b="1" i="1" smtClean="0">
                          <a:latin typeface="Cambria Math" panose="02040503050406030204" pitchFamily="18" charset="0"/>
                        </a:rPr>
                        <m:t>𝟏𝟎</m:t>
                      </m:r>
                      <m:r>
                        <a:rPr lang="en-GB" b="1" i="1" smtClean="0">
                          <a:latin typeface="Cambria Math" panose="02040503050406030204" pitchFamily="18" charset="0"/>
                        </a:rPr>
                        <m:t>−</m:t>
                      </m:r>
                      <m:r>
                        <a:rPr lang="en-GB" b="1" i="1" smtClean="0">
                          <a:latin typeface="Cambria Math" panose="02040503050406030204" pitchFamily="18" charset="0"/>
                        </a:rPr>
                        <m:t>𝟑</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𝟏𝟏</m:t>
                          </m:r>
                        </m:e>
                      </m:rad>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𝟏𝟎𝟎</m:t>
                          </m:r>
                        </m:e>
                      </m:rad>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𝟗𝟗</m:t>
                          </m:r>
                        </m:e>
                      </m:rad>
                    </m:oMath>
                  </m:oMathPara>
                </a14:m>
                <a:endParaRPr lang="en-GB" b="1" dirty="0"/>
              </a:p>
              <a:p>
                <a:r>
                  <a:rPr lang="en-GB" b="1" dirty="0"/>
                  <a:t>The other options can similarly be written as </a:t>
                </a:r>
                <a14:m>
                  <m:oMath xmlns:m="http://schemas.openxmlformats.org/officeDocument/2006/math">
                    <m:rad>
                      <m:radPr>
                        <m:degHide m:val="on"/>
                        <m:ctrlPr>
                          <a:rPr lang="en-GB" b="1" i="1">
                            <a:latin typeface="Cambria Math" panose="02040503050406030204" pitchFamily="18" charset="0"/>
                          </a:rPr>
                        </m:ctrlPr>
                      </m:radPr>
                      <m:deg/>
                      <m:e>
                        <m:r>
                          <a:rPr lang="en-GB" b="1" i="1">
                            <a:latin typeface="Cambria Math" panose="02040503050406030204" pitchFamily="18" charset="0"/>
                          </a:rPr>
                          <m:t>𝒏</m:t>
                        </m:r>
                        <m:r>
                          <a:rPr lang="en-GB" b="1" i="1">
                            <a:latin typeface="Cambria Math" panose="02040503050406030204" pitchFamily="18" charset="0"/>
                          </a:rPr>
                          <m:t>+</m:t>
                        </m:r>
                        <m:r>
                          <a:rPr lang="en-GB" b="1" i="1">
                            <a:latin typeface="Cambria Math" panose="02040503050406030204" pitchFamily="18" charset="0"/>
                          </a:rPr>
                          <m:t>𝟏</m:t>
                        </m:r>
                      </m:e>
                    </m:rad>
                    <m:r>
                      <a:rPr lang="en-GB" b="1" i="1">
                        <a:latin typeface="Cambria Math" panose="02040503050406030204" pitchFamily="18" charset="0"/>
                      </a:rPr>
                      <m:t>−</m:t>
                    </m:r>
                    <m:rad>
                      <m:radPr>
                        <m:degHide m:val="on"/>
                        <m:ctrlPr>
                          <a:rPr lang="en-GB" b="1" i="1">
                            <a:latin typeface="Cambria Math" panose="02040503050406030204" pitchFamily="18" charset="0"/>
                          </a:rPr>
                        </m:ctrlPr>
                      </m:radPr>
                      <m:deg/>
                      <m:e>
                        <m:r>
                          <a:rPr lang="en-GB" b="1" i="1">
                            <a:latin typeface="Cambria Math" panose="02040503050406030204" pitchFamily="18" charset="0"/>
                          </a:rPr>
                          <m:t>𝒏</m:t>
                        </m:r>
                      </m:e>
                    </m:rad>
                  </m:oMath>
                </a14:m>
                <a:r>
                  <a:rPr lang="en-GB" b="1" dirty="0"/>
                  <a:t>. The greater the </a:t>
                </a:r>
                <a14:m>
                  <m:oMath xmlns:m="http://schemas.openxmlformats.org/officeDocument/2006/math">
                    <m:r>
                      <a:rPr lang="en-GB" b="1" i="1" smtClean="0">
                        <a:latin typeface="Cambria Math" panose="02040503050406030204" pitchFamily="18" charset="0"/>
                      </a:rPr>
                      <m:t>𝒏</m:t>
                    </m:r>
                  </m:oMath>
                </a14:m>
                <a:r>
                  <a:rPr lang="en-GB" b="1" dirty="0"/>
                  <a:t>, the smaller the number, so the answer is </a:t>
                </a:r>
                <a14:m>
                  <m:oMath xmlns:m="http://schemas.openxmlformats.org/officeDocument/2006/math">
                    <m:r>
                      <a:rPr lang="en-GB" b="1" i="1" smtClean="0">
                        <a:latin typeface="Cambria Math" panose="02040503050406030204" pitchFamily="18" charset="0"/>
                      </a:rPr>
                      <m:t>𝟏𝟎</m:t>
                    </m:r>
                    <m:r>
                      <a:rPr lang="en-GB" b="1" i="1" smtClean="0">
                        <a:latin typeface="Cambria Math" panose="02040503050406030204" pitchFamily="18" charset="0"/>
                      </a:rPr>
                      <m:t>−</m:t>
                    </m:r>
                    <m:r>
                      <a:rPr lang="en-GB" b="1" i="1" smtClean="0">
                        <a:latin typeface="Cambria Math" panose="02040503050406030204" pitchFamily="18" charset="0"/>
                      </a:rPr>
                      <m:t>𝟑</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𝟏𝟏</m:t>
                        </m:r>
                      </m:e>
                    </m:rad>
                  </m:oMath>
                </a14:m>
                <a:r>
                  <a:rPr lang="en-GB" b="1" dirty="0"/>
                  <a:t>.</a:t>
                </a:r>
              </a:p>
            </p:txBody>
          </p:sp>
        </mc:Choice>
        <mc:Fallback xmlns="">
          <p:sp>
            <p:nvSpPr>
              <p:cNvPr id="13" name="TextBox 12"/>
              <p:cNvSpPr txBox="1">
                <a:spLocks noRot="1" noChangeAspect="1" noMove="1" noResize="1" noEditPoints="1" noAdjustHandles="1" noChangeArrowheads="1" noChangeShapeType="1" noTextEdit="1"/>
              </p:cNvSpPr>
              <p:nvPr/>
            </p:nvSpPr>
            <p:spPr>
              <a:xfrm>
                <a:off x="572241" y="4961071"/>
                <a:ext cx="3835569" cy="1837747"/>
              </a:xfrm>
              <a:prstGeom prst="rect">
                <a:avLst/>
              </a:prstGeom>
              <a:blipFill>
                <a:blip r:embed="rId4"/>
                <a:stretch>
                  <a:fillRect l="-1650" t="-1370" b="-479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726562" y="4932605"/>
                <a:ext cx="4394742" cy="1941622"/>
              </a:xfrm>
              <a:prstGeom prst="rect">
                <a:avLst/>
              </a:prstGeom>
              <a:noFill/>
            </p:spPr>
            <p:txBody>
              <a:bodyPr wrap="square" rtlCol="0">
                <a:spAutoFit/>
              </a:bodyPr>
              <a:lstStyle/>
              <a:p>
                <a:r>
                  <a:rPr lang="en-GB" sz="1600" b="1" dirty="0"/>
                  <a:t>If </a:t>
                </a:r>
                <a14:m>
                  <m:oMath xmlns:m="http://schemas.openxmlformats.org/officeDocument/2006/math">
                    <m:rad>
                      <m:radPr>
                        <m:degHide m:val="on"/>
                        <m:ctrlPr>
                          <a:rPr lang="en-GB" sz="1600" b="1" i="1" smtClean="0">
                            <a:latin typeface="Cambria Math" panose="02040503050406030204" pitchFamily="18" charset="0"/>
                          </a:rPr>
                        </m:ctrlPr>
                      </m:radPr>
                      <m:deg/>
                      <m:e>
                        <m:r>
                          <a:rPr lang="en-GB" sz="1600" b="1" i="1" smtClean="0">
                            <a:latin typeface="Cambria Math" panose="02040503050406030204" pitchFamily="18" charset="0"/>
                          </a:rPr>
                          <m:t>𝒂</m:t>
                        </m:r>
                        <m:r>
                          <a:rPr lang="en-GB" sz="1600" b="1" i="1" smtClean="0">
                            <a:latin typeface="Cambria Math" panose="02040503050406030204" pitchFamily="18" charset="0"/>
                          </a:rPr>
                          <m:t>+</m:t>
                        </m:r>
                        <m:r>
                          <a:rPr lang="en-GB" sz="1600" b="1" i="1" smtClean="0">
                            <a:latin typeface="Cambria Math" panose="02040503050406030204" pitchFamily="18" charset="0"/>
                          </a:rPr>
                          <m:t>𝟏𝟐</m:t>
                        </m:r>
                        <m:rad>
                          <m:radPr>
                            <m:degHide m:val="on"/>
                            <m:ctrlPr>
                              <a:rPr lang="en-GB" sz="1600" b="1" i="1" smtClean="0">
                                <a:latin typeface="Cambria Math" panose="02040503050406030204" pitchFamily="18" charset="0"/>
                              </a:rPr>
                            </m:ctrlPr>
                          </m:radPr>
                          <m:deg/>
                          <m:e>
                            <m:r>
                              <a:rPr lang="en-GB" sz="1600" b="1" i="1" smtClean="0">
                                <a:latin typeface="Cambria Math" panose="02040503050406030204" pitchFamily="18" charset="0"/>
                              </a:rPr>
                              <m:t>𝟐</m:t>
                            </m:r>
                          </m:e>
                        </m:rad>
                      </m:e>
                    </m:rad>
                    <m:r>
                      <a:rPr lang="en-GB" sz="1600" b="1" i="1" smtClean="0">
                        <a:latin typeface="Cambria Math" panose="02040503050406030204" pitchFamily="18" charset="0"/>
                      </a:rPr>
                      <m:t>=</m:t>
                    </m:r>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𝒚</m:t>
                    </m:r>
                    <m:rad>
                      <m:radPr>
                        <m:degHide m:val="on"/>
                        <m:ctrlPr>
                          <a:rPr lang="en-GB" sz="1600" b="1" i="1" smtClean="0">
                            <a:latin typeface="Cambria Math" panose="02040503050406030204" pitchFamily="18" charset="0"/>
                          </a:rPr>
                        </m:ctrlPr>
                      </m:radPr>
                      <m:deg/>
                      <m:e>
                        <m:r>
                          <a:rPr lang="en-GB" sz="1600" b="1" i="1" smtClean="0">
                            <a:latin typeface="Cambria Math" panose="02040503050406030204" pitchFamily="18" charset="0"/>
                          </a:rPr>
                          <m:t>𝟐</m:t>
                        </m:r>
                      </m:e>
                    </m:rad>
                  </m:oMath>
                </a14:m>
                <a:r>
                  <a:rPr lang="en-GB" sz="1600" b="1" dirty="0"/>
                  <a:t>, then squaring:</a:t>
                </a:r>
              </a:p>
              <a:p>
                <a:pPr/>
                <a14:m>
                  <m:oMathPara xmlns:m="http://schemas.openxmlformats.org/officeDocument/2006/math">
                    <m:oMath>
                      <m:r>
                        <a:rPr lang="en-GB" sz="1600" b="1" i="1" smtClean="0">
                          <a:latin typeface="Cambria Math" panose="02040503050406030204" pitchFamily="18" charset="0"/>
                        </a:rPr>
                        <m:t>𝒂</m:t>
                      </m:r>
                      <m:r>
                        <a:rPr lang="en-GB" sz="1600" b="1" i="1" smtClean="0">
                          <a:latin typeface="Cambria Math" panose="02040503050406030204" pitchFamily="18" charset="0"/>
                        </a:rPr>
                        <m:t>+</m:t>
                      </m:r>
                      <m:r>
                        <a:rPr lang="en-GB" sz="1600" b="1" i="1" smtClean="0">
                          <a:latin typeface="Cambria Math" panose="02040503050406030204" pitchFamily="18" charset="0"/>
                        </a:rPr>
                        <m:t>𝟏𝟐</m:t>
                      </m:r>
                      <m:rad>
                        <m:radPr>
                          <m:degHide m:val="on"/>
                          <m:ctrlPr>
                            <a:rPr lang="en-GB" sz="1600" b="1" i="1" smtClean="0">
                              <a:latin typeface="Cambria Math" panose="02040503050406030204" pitchFamily="18" charset="0"/>
                            </a:rPr>
                          </m:ctrlPr>
                        </m:radPr>
                        <m:deg/>
                        <m:e>
                          <m:r>
                            <a:rPr lang="en-GB" sz="1600" b="1" i="1" smtClean="0">
                              <a:latin typeface="Cambria Math" panose="02040503050406030204" pitchFamily="18" charset="0"/>
                            </a:rPr>
                            <m:t>𝟐</m:t>
                          </m:r>
                        </m:e>
                      </m:rad>
                      <m:r>
                        <a:rPr lang="en-GB" sz="1600" b="1" i="1" smtClean="0">
                          <a:latin typeface="Cambria Math" panose="02040503050406030204" pitchFamily="18" charset="0"/>
                        </a:rPr>
                        <m:t>=</m:t>
                      </m:r>
                      <m:sSup>
                        <m:sSupPr>
                          <m:ctrlPr>
                            <a:rPr lang="en-GB" sz="1600" b="1" i="1" smtClean="0">
                              <a:latin typeface="Cambria Math" panose="02040503050406030204" pitchFamily="18" charset="0"/>
                            </a:rPr>
                          </m:ctrlPr>
                        </m:sSupPr>
                        <m:e>
                          <m:r>
                            <a:rPr lang="en-GB" sz="1600" b="1" i="1" smtClean="0">
                              <a:latin typeface="Cambria Math" panose="02040503050406030204" pitchFamily="18" charset="0"/>
                            </a:rPr>
                            <m:t>𝒙</m:t>
                          </m:r>
                        </m:e>
                        <m:sup>
                          <m:r>
                            <a:rPr lang="en-GB" sz="1600" b="1" i="1" smtClean="0">
                              <a:latin typeface="Cambria Math" panose="02040503050406030204" pitchFamily="18" charset="0"/>
                            </a:rPr>
                            <m:t>𝟐</m:t>
                          </m:r>
                        </m:sup>
                      </m:sSup>
                      <m:r>
                        <a:rPr lang="en-GB" sz="1600" b="1" i="1" smtClean="0">
                          <a:latin typeface="Cambria Math" panose="02040503050406030204" pitchFamily="18" charset="0"/>
                        </a:rPr>
                        <m:t>+</m:t>
                      </m:r>
                      <m:r>
                        <a:rPr lang="en-GB" sz="1600" b="1" i="1" smtClean="0">
                          <a:latin typeface="Cambria Math" panose="02040503050406030204" pitchFamily="18" charset="0"/>
                        </a:rPr>
                        <m:t>𝟐</m:t>
                      </m:r>
                      <m:sSup>
                        <m:sSupPr>
                          <m:ctrlPr>
                            <a:rPr lang="en-GB" sz="1600" b="1" i="1" smtClean="0">
                              <a:latin typeface="Cambria Math" panose="02040503050406030204" pitchFamily="18" charset="0"/>
                            </a:rPr>
                          </m:ctrlPr>
                        </m:sSupPr>
                        <m:e>
                          <m:r>
                            <a:rPr lang="en-GB" sz="1600" b="1" i="1" smtClean="0">
                              <a:latin typeface="Cambria Math" panose="02040503050406030204" pitchFamily="18" charset="0"/>
                            </a:rPr>
                            <m:t>𝒚</m:t>
                          </m:r>
                        </m:e>
                        <m:sup>
                          <m:r>
                            <a:rPr lang="en-GB" sz="1600" b="1" i="1" smtClean="0">
                              <a:latin typeface="Cambria Math" panose="02040503050406030204" pitchFamily="18" charset="0"/>
                            </a:rPr>
                            <m:t>𝟐</m:t>
                          </m:r>
                        </m:sup>
                      </m:sSup>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𝒙𝒚</m:t>
                      </m:r>
                      <m:rad>
                        <m:radPr>
                          <m:degHide m:val="on"/>
                          <m:ctrlPr>
                            <a:rPr lang="en-GB" sz="1600" b="1" i="1" smtClean="0">
                              <a:latin typeface="Cambria Math" panose="02040503050406030204" pitchFamily="18" charset="0"/>
                            </a:rPr>
                          </m:ctrlPr>
                        </m:radPr>
                        <m:deg/>
                        <m:e>
                          <m:r>
                            <a:rPr lang="en-GB" sz="1600" b="1" i="1" smtClean="0">
                              <a:latin typeface="Cambria Math" panose="02040503050406030204" pitchFamily="18" charset="0"/>
                            </a:rPr>
                            <m:t>𝟐</m:t>
                          </m:r>
                        </m:e>
                      </m:rad>
                    </m:oMath>
                  </m:oMathPara>
                </a14:m>
                <a:endParaRPr lang="en-GB" sz="1600" b="1" dirty="0"/>
              </a:p>
              <a:p>
                <a:r>
                  <a:rPr lang="en-GB" sz="1600" b="1" dirty="0"/>
                  <a:t>Thus </a:t>
                </a:r>
                <a14:m>
                  <m:oMath xmlns:m="http://schemas.openxmlformats.org/officeDocument/2006/math">
                    <m:r>
                      <a:rPr lang="en-GB" sz="1600" b="1" i="1" smtClean="0">
                        <a:latin typeface="Cambria Math" panose="02040503050406030204" pitchFamily="18" charset="0"/>
                      </a:rPr>
                      <m:t>𝟐</m:t>
                    </m:r>
                    <m:r>
                      <a:rPr lang="en-GB" sz="1600" b="1" i="1" smtClean="0">
                        <a:latin typeface="Cambria Math" panose="02040503050406030204" pitchFamily="18" charset="0"/>
                      </a:rPr>
                      <m:t>𝒙𝒚</m:t>
                    </m:r>
                    <m:r>
                      <a:rPr lang="en-GB" sz="1600" b="1" i="1" smtClean="0">
                        <a:latin typeface="Cambria Math" panose="02040503050406030204" pitchFamily="18" charset="0"/>
                      </a:rPr>
                      <m:t>=</m:t>
                    </m:r>
                    <m:r>
                      <a:rPr lang="en-GB" sz="1600" b="1" i="1" smtClean="0">
                        <a:latin typeface="Cambria Math" panose="02040503050406030204" pitchFamily="18" charset="0"/>
                      </a:rPr>
                      <m:t>𝟏𝟐</m:t>
                    </m:r>
                    <m:r>
                      <a:rPr lang="en-GB" sz="1600" b="1" i="1" smtClean="0">
                        <a:latin typeface="Cambria Math" panose="02040503050406030204" pitchFamily="18" charset="0"/>
                      </a:rPr>
                      <m:t>   →   </m:t>
                    </m:r>
                    <m:r>
                      <a:rPr lang="en-GB" sz="1600" b="1" i="1" smtClean="0">
                        <a:latin typeface="Cambria Math" panose="02040503050406030204" pitchFamily="18" charset="0"/>
                      </a:rPr>
                      <m:t>𝒙𝒚</m:t>
                    </m:r>
                    <m:r>
                      <a:rPr lang="en-GB" sz="1600" b="1" i="1" smtClean="0">
                        <a:latin typeface="Cambria Math" panose="02040503050406030204" pitchFamily="18" charset="0"/>
                      </a:rPr>
                      <m:t>=</m:t>
                    </m:r>
                    <m:r>
                      <a:rPr lang="en-GB" sz="1600" b="1" i="1" smtClean="0">
                        <a:latin typeface="Cambria Math" panose="02040503050406030204" pitchFamily="18" charset="0"/>
                      </a:rPr>
                      <m:t>𝟔</m:t>
                    </m:r>
                  </m:oMath>
                </a14:m>
                <a:endParaRPr lang="en-GB" sz="1600" b="1" dirty="0"/>
              </a:p>
              <a:p>
                <a:r>
                  <a:rPr lang="en-GB" sz="1600" b="1" dirty="0"/>
                  <a:t>The only possibilities are </a:t>
                </a:r>
                <a14:m>
                  <m:oMath xmlns:m="http://schemas.openxmlformats.org/officeDocument/2006/math">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𝒚</m:t>
                        </m:r>
                      </m:e>
                    </m:d>
                    <m:r>
                      <a:rPr lang="en-GB" sz="1600" b="1" i="1" smtClean="0">
                        <a:latin typeface="Cambria Math" panose="02040503050406030204" pitchFamily="18" charset="0"/>
                      </a:rPr>
                      <m:t>=</m:t>
                    </m:r>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𝟏</m:t>
                        </m:r>
                        <m:r>
                          <a:rPr lang="en-GB" sz="1600" b="1" i="1" smtClean="0">
                            <a:latin typeface="Cambria Math" panose="02040503050406030204" pitchFamily="18" charset="0"/>
                          </a:rPr>
                          <m:t>,</m:t>
                        </m:r>
                        <m:r>
                          <a:rPr lang="en-GB" sz="1600" b="1" i="1" smtClean="0">
                            <a:latin typeface="Cambria Math" panose="02040503050406030204" pitchFamily="18" charset="0"/>
                          </a:rPr>
                          <m:t>𝟔</m:t>
                        </m:r>
                      </m:e>
                    </m:d>
                    <m:r>
                      <a:rPr lang="en-GB" sz="1600" b="1" i="1" smtClean="0">
                        <a:latin typeface="Cambria Math" panose="02040503050406030204" pitchFamily="18" charset="0"/>
                      </a:rPr>
                      <m:t>,</m:t>
                    </m:r>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𝟐</m:t>
                        </m:r>
                        <m:r>
                          <a:rPr lang="en-GB" sz="1600" b="1" i="1" smtClean="0">
                            <a:latin typeface="Cambria Math" panose="02040503050406030204" pitchFamily="18" charset="0"/>
                          </a:rPr>
                          <m:t>,</m:t>
                        </m:r>
                        <m:r>
                          <a:rPr lang="en-GB" sz="1600" b="1" i="1" smtClean="0">
                            <a:latin typeface="Cambria Math" panose="02040503050406030204" pitchFamily="18" charset="0"/>
                          </a:rPr>
                          <m:t>𝟑</m:t>
                        </m:r>
                      </m:e>
                    </m:d>
                    <m:r>
                      <a:rPr lang="en-GB" sz="1600" b="1" i="1" smtClean="0">
                        <a:latin typeface="Cambria Math" panose="02040503050406030204" pitchFamily="18" charset="0"/>
                      </a:rPr>
                      <m:t>,</m:t>
                    </m:r>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𝟑</m:t>
                        </m:r>
                        <m:r>
                          <a:rPr lang="en-GB" sz="1600" b="1" i="1" smtClean="0">
                            <a:latin typeface="Cambria Math" panose="02040503050406030204" pitchFamily="18" charset="0"/>
                          </a:rPr>
                          <m:t>,</m:t>
                        </m:r>
                        <m:r>
                          <a:rPr lang="en-GB" sz="1600" b="1" i="1" smtClean="0">
                            <a:latin typeface="Cambria Math" panose="02040503050406030204" pitchFamily="18" charset="0"/>
                          </a:rPr>
                          <m:t>𝟐</m:t>
                        </m:r>
                      </m:e>
                    </m:d>
                    <m:r>
                      <a:rPr lang="en-GB" sz="1600" b="1" i="1" smtClean="0">
                        <a:latin typeface="Cambria Math" panose="02040503050406030204" pitchFamily="18" charset="0"/>
                      </a:rPr>
                      <m:t>,</m:t>
                    </m:r>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𝟔</m:t>
                        </m:r>
                        <m:r>
                          <a:rPr lang="en-GB" sz="1600" b="1" i="1" smtClean="0">
                            <a:latin typeface="Cambria Math" panose="02040503050406030204" pitchFamily="18" charset="0"/>
                          </a:rPr>
                          <m:t>,</m:t>
                        </m:r>
                        <m:r>
                          <a:rPr lang="en-GB" sz="1600" b="1" i="1" smtClean="0">
                            <a:latin typeface="Cambria Math" panose="02040503050406030204" pitchFamily="18" charset="0"/>
                          </a:rPr>
                          <m:t>𝟏</m:t>
                        </m:r>
                      </m:e>
                    </m:d>
                  </m:oMath>
                </a14:m>
                <a:r>
                  <a:rPr lang="en-GB" sz="1600" b="1" dirty="0"/>
                  <a:t> corresponding to the 5</a:t>
                </a:r>
                <a:r>
                  <a:rPr lang="en-GB" sz="1600" b="1" baseline="30000" dirty="0"/>
                  <a:t>th</a:t>
                </a:r>
                <a:r>
                  <a:rPr lang="en-GB" sz="1600" b="1" dirty="0"/>
                  <a:t>, 2</a:t>
                </a:r>
                <a:r>
                  <a:rPr lang="en-GB" sz="1600" b="1" baseline="30000" dirty="0"/>
                  <a:t>nd</a:t>
                </a:r>
                <a:r>
                  <a:rPr lang="en-GB" sz="1600" b="1" dirty="0"/>
                  <a:t>, 1</a:t>
                </a:r>
                <a:r>
                  <a:rPr lang="en-GB" sz="1600" b="1" baseline="30000" dirty="0"/>
                  <a:t>st</a:t>
                </a:r>
                <a:r>
                  <a:rPr lang="en-GB" sz="1600" b="1" dirty="0"/>
                  <a:t> and 3</a:t>
                </a:r>
                <a:r>
                  <a:rPr lang="en-GB" sz="1600" b="1" baseline="30000" dirty="0"/>
                  <a:t>rd</a:t>
                </a:r>
                <a:r>
                  <a:rPr lang="en-GB" sz="1600" b="1" dirty="0"/>
                  <a:t> options. Thus </a:t>
                </a:r>
                <a14:m>
                  <m:oMath xmlns:m="http://schemas.openxmlformats.org/officeDocument/2006/math">
                    <m:r>
                      <a:rPr lang="en-GB" sz="1600" b="1" i="1" smtClean="0">
                        <a:latin typeface="Cambria Math" panose="02040503050406030204" pitchFamily="18" charset="0"/>
                      </a:rPr>
                      <m:t>𝟓𝟒</m:t>
                    </m:r>
                    <m:r>
                      <a:rPr lang="en-GB" sz="1600" b="1" i="1" smtClean="0">
                        <a:latin typeface="Cambria Math" panose="02040503050406030204" pitchFamily="18" charset="0"/>
                      </a:rPr>
                      <m:t>+</m:t>
                    </m:r>
                    <m:r>
                      <a:rPr lang="en-GB" sz="1600" b="1" i="1" smtClean="0">
                        <a:latin typeface="Cambria Math" panose="02040503050406030204" pitchFamily="18" charset="0"/>
                      </a:rPr>
                      <m:t>𝟏𝟐</m:t>
                    </m:r>
                    <m:rad>
                      <m:radPr>
                        <m:degHide m:val="on"/>
                        <m:ctrlPr>
                          <a:rPr lang="en-GB" sz="1600" b="1" i="1" smtClean="0">
                            <a:latin typeface="Cambria Math" panose="02040503050406030204" pitchFamily="18" charset="0"/>
                          </a:rPr>
                        </m:ctrlPr>
                      </m:radPr>
                      <m:deg/>
                      <m:e>
                        <m:r>
                          <a:rPr lang="en-GB" sz="1600" b="1" i="1" smtClean="0">
                            <a:latin typeface="Cambria Math" panose="02040503050406030204" pitchFamily="18" charset="0"/>
                          </a:rPr>
                          <m:t>𝟐</m:t>
                        </m:r>
                      </m:e>
                    </m:rad>
                  </m:oMath>
                </a14:m>
                <a:r>
                  <a:rPr lang="en-GB" sz="1600" b="1" dirty="0"/>
                  <a:t> is the odd one out.</a:t>
                </a:r>
              </a:p>
            </p:txBody>
          </p:sp>
        </mc:Choice>
        <mc:Fallback xmlns="">
          <p:sp>
            <p:nvSpPr>
              <p:cNvPr id="14" name="TextBox 13"/>
              <p:cNvSpPr txBox="1">
                <a:spLocks noRot="1" noChangeAspect="1" noMove="1" noResize="1" noEditPoints="1" noAdjustHandles="1" noChangeArrowheads="1" noChangeShapeType="1" noTextEdit="1"/>
              </p:cNvSpPr>
              <p:nvPr/>
            </p:nvSpPr>
            <p:spPr>
              <a:xfrm>
                <a:off x="4726562" y="4932605"/>
                <a:ext cx="4394742" cy="1941622"/>
              </a:xfrm>
              <a:prstGeom prst="rect">
                <a:avLst/>
              </a:prstGeom>
              <a:blipFill>
                <a:blip r:embed="rId5"/>
                <a:stretch>
                  <a:fillRect l="-865" b="-2597"/>
                </a:stretch>
              </a:blipFill>
            </p:spPr>
            <p:txBody>
              <a:bodyPr/>
              <a:lstStyle/>
              <a:p>
                <a:r>
                  <a:rPr lang="en-GB">
                    <a:noFill/>
                  </a:rPr>
                  <a:t> </a:t>
                </a:r>
              </a:p>
            </p:txBody>
          </p:sp>
        </mc:Fallback>
      </mc:AlternateContent>
      <p:sp>
        <p:nvSpPr>
          <p:cNvPr id="11" name="Rectangle 10"/>
          <p:cNvSpPr/>
          <p:nvPr/>
        </p:nvSpPr>
        <p:spPr>
          <a:xfrm>
            <a:off x="478114" y="5017561"/>
            <a:ext cx="3871639" cy="170963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4686506" y="5017560"/>
            <a:ext cx="4235248" cy="173866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82173" y="2747841"/>
            <a:ext cx="251520" cy="28521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7" name="Rectangle 16"/>
          <p:cNvSpPr/>
          <p:nvPr/>
        </p:nvSpPr>
        <p:spPr>
          <a:xfrm>
            <a:off x="4171888" y="2770479"/>
            <a:ext cx="251520" cy="28521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pic>
        <p:nvPicPr>
          <p:cNvPr id="8" name="Picture 7">
            <a:extLst>
              <a:ext uri="{FF2B5EF4-FFF2-40B4-BE49-F238E27FC236}">
                <a16:creationId xmlns:a16="http://schemas.microsoft.com/office/drawing/2014/main" id="{9189DBC4-0668-755E-DF04-AFB3948C7E23}"/>
              </a:ext>
            </a:extLst>
          </p:cNvPr>
          <p:cNvPicPr>
            <a:picLocks noChangeAspect="1"/>
          </p:cNvPicPr>
          <p:nvPr/>
        </p:nvPicPr>
        <p:blipFill>
          <a:blip r:embed="rId6"/>
          <a:stretch>
            <a:fillRect/>
          </a:stretch>
        </p:blipFill>
        <p:spPr>
          <a:xfrm>
            <a:off x="195313" y="671112"/>
            <a:ext cx="7772400" cy="449980"/>
          </a:xfrm>
          <a:prstGeom prst="rect">
            <a:avLst/>
          </a:prstGeom>
        </p:spPr>
      </p:pic>
      <p:sp>
        <p:nvSpPr>
          <p:cNvPr id="19" name="TextBox 18">
            <a:extLst>
              <a:ext uri="{FF2B5EF4-FFF2-40B4-BE49-F238E27FC236}">
                <a16:creationId xmlns:a16="http://schemas.microsoft.com/office/drawing/2014/main" id="{D28B23A0-ECC9-7E49-061C-811FEEF818CF}"/>
              </a:ext>
            </a:extLst>
          </p:cNvPr>
          <p:cNvSpPr txBox="1"/>
          <p:nvPr/>
        </p:nvSpPr>
        <p:spPr>
          <a:xfrm>
            <a:off x="-52334" y="2332839"/>
            <a:ext cx="4572000" cy="369332"/>
          </a:xfrm>
          <a:prstGeom prst="rect">
            <a:avLst/>
          </a:prstGeom>
          <a:noFill/>
        </p:spPr>
        <p:txBody>
          <a:bodyPr wrap="square">
            <a:spAutoFit/>
          </a:bodyPr>
          <a:lstStyle/>
          <a:p>
            <a:r>
              <a:rPr lang="en-GB" dirty="0">
                <a:solidFill>
                  <a:srgbClr val="FF0000"/>
                </a:solidFill>
              </a:rPr>
              <a:t>Extension</a:t>
            </a:r>
            <a:endParaRPr lang="en-GB" dirty="0"/>
          </a:p>
        </p:txBody>
      </p:sp>
      <p:cxnSp>
        <p:nvCxnSpPr>
          <p:cNvPr id="20" name="Straight Connector 19">
            <a:extLst>
              <a:ext uri="{FF2B5EF4-FFF2-40B4-BE49-F238E27FC236}">
                <a16:creationId xmlns:a16="http://schemas.microsoft.com/office/drawing/2014/main" id="{60822927-D14B-7962-9A03-F16102102917}"/>
              </a:ext>
            </a:extLst>
          </p:cNvPr>
          <p:cNvCxnSpPr>
            <a:cxnSpLocks/>
          </p:cNvCxnSpPr>
          <p:nvPr/>
        </p:nvCxnSpPr>
        <p:spPr>
          <a:xfrm>
            <a:off x="0" y="2420888"/>
            <a:ext cx="9144000" cy="0"/>
          </a:xfrm>
          <a:prstGeom prst="line">
            <a:avLst/>
          </a:prstGeom>
          <a:ln w="12700">
            <a:solidFill>
              <a:srgbClr val="FF0000"/>
            </a:solidFill>
          </a:ln>
        </p:spPr>
        <p:style>
          <a:lnRef idx="1">
            <a:schemeClr val="accent2"/>
          </a:lnRef>
          <a:fillRef idx="0">
            <a:schemeClr val="accent2"/>
          </a:fillRef>
          <a:effectRef idx="0">
            <a:schemeClr val="accent2"/>
          </a:effectRef>
          <a:fontRef idx="minor">
            <a:schemeClr val="tx1"/>
          </a:fontRef>
        </p:style>
      </p:cxnSp>
      <p:pic>
        <p:nvPicPr>
          <p:cNvPr id="22" name="Picture 21">
            <a:extLst>
              <a:ext uri="{FF2B5EF4-FFF2-40B4-BE49-F238E27FC236}">
                <a16:creationId xmlns:a16="http://schemas.microsoft.com/office/drawing/2014/main" id="{1C981463-432C-67BD-ED6D-A128685A64CB}"/>
              </a:ext>
            </a:extLst>
          </p:cNvPr>
          <p:cNvPicPr>
            <a:picLocks noChangeAspect="1"/>
          </p:cNvPicPr>
          <p:nvPr/>
        </p:nvPicPr>
        <p:blipFill>
          <a:blip r:embed="rId7"/>
          <a:stretch>
            <a:fillRect/>
          </a:stretch>
        </p:blipFill>
        <p:spPr>
          <a:xfrm>
            <a:off x="478114" y="1085506"/>
            <a:ext cx="2844800" cy="1054100"/>
          </a:xfrm>
          <a:prstGeom prst="rect">
            <a:avLst/>
          </a:prstGeom>
        </p:spPr>
      </p:pic>
      <p:sp>
        <p:nvSpPr>
          <p:cNvPr id="23" name="Rectangle 22">
            <a:extLst>
              <a:ext uri="{FF2B5EF4-FFF2-40B4-BE49-F238E27FC236}">
                <a16:creationId xmlns:a16="http://schemas.microsoft.com/office/drawing/2014/main" id="{6CE57634-F359-1980-5E4E-C2E62178116A}"/>
              </a:ext>
            </a:extLst>
          </p:cNvPr>
          <p:cNvSpPr/>
          <p:nvPr/>
        </p:nvSpPr>
        <p:spPr>
          <a:xfrm>
            <a:off x="478115" y="1141354"/>
            <a:ext cx="3871638" cy="105035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4383389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2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3"/>
                                        </p:tgtEl>
                                      </p:cBhvr>
                                    </p:animEffect>
                                    <p:set>
                                      <p:cBhvr>
                                        <p:cTn id="19"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11" grpId="0" animBg="1"/>
      <p:bldP spid="15"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11560" y="741118"/>
            <a:ext cx="8280920" cy="830997"/>
          </a:xfrm>
          <a:prstGeom prst="rect">
            <a:avLst/>
          </a:prstGeom>
          <a:noFill/>
        </p:spPr>
        <p:txBody>
          <a:bodyPr wrap="square" rtlCol="0">
            <a:spAutoFit/>
          </a:bodyPr>
          <a:lstStyle/>
          <a:p>
            <a:r>
              <a:rPr lang="en-GB" sz="2400" dirty="0"/>
              <a:t>Here’s a surd. What could we multiply it by such that it’s no longer an irrational number?</a:t>
            </a:r>
          </a:p>
        </p:txBody>
      </p:sp>
      <p:grpSp>
        <p:nvGrpSpPr>
          <p:cNvPr id="7" name="Group 6"/>
          <p:cNvGrpSpPr/>
          <p:nvPr/>
        </p:nvGrpSpPr>
        <p:grpSpPr>
          <a:xfrm>
            <a:off x="0" y="0"/>
            <a:ext cx="9143074" cy="599127"/>
            <a:chOff x="0" y="13335"/>
            <a:chExt cx="9144218" cy="599127"/>
          </a:xfrm>
        </p:grpSpPr>
        <p:sp>
          <p:nvSpPr>
            <p:cNvPr id="8"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6: Rationalising The Denominator</a:t>
              </a:r>
            </a:p>
          </p:txBody>
        </p:sp>
        <p:cxnSp>
          <p:nvCxnSpPr>
            <p:cNvPr id="9" name="Straight Connector 8"/>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4" name="TextBox 3"/>
              <p:cNvSpPr txBox="1"/>
              <p:nvPr/>
            </p:nvSpPr>
            <p:spPr>
              <a:xfrm>
                <a:off x="2771800" y="1714106"/>
                <a:ext cx="3348372" cy="792974"/>
              </a:xfrm>
              <a:prstGeom prst="rect">
                <a:avLst/>
              </a:prstGeom>
              <a:noFill/>
            </p:spPr>
            <p:txBody>
              <a:bodyPr wrap="square" rtlCol="0">
                <a:spAutoFit/>
              </a:bodyPr>
              <a:lstStyle/>
              <a:p>
                <a:pPr/>
                <a14:m>
                  <m:oMathPara xmlns:m="http://schemas.openxmlformats.org/officeDocument/2006/math">
                    <m:oMath>
                      <m:rad>
                        <m:radPr>
                          <m:degHide m:val="on"/>
                          <m:ctrlPr>
                            <a:rPr lang="en-GB" sz="4000" b="0" i="1" smtClean="0">
                              <a:latin typeface="Cambria Math" panose="02040503050406030204" pitchFamily="18" charset="0"/>
                            </a:rPr>
                          </m:ctrlPr>
                        </m:radPr>
                        <m:deg/>
                        <m:e>
                          <m:r>
                            <a:rPr lang="en-GB" sz="4000" b="0" i="1" smtClean="0">
                              <a:latin typeface="Cambria Math" panose="02040503050406030204" pitchFamily="18" charset="0"/>
                            </a:rPr>
                            <m:t>5</m:t>
                          </m:r>
                        </m:e>
                      </m:rad>
                      <m:r>
                        <a:rPr lang="en-GB" sz="4000" b="0" i="1" smtClean="0">
                          <a:latin typeface="Cambria Math" panose="02040503050406030204" pitchFamily="18" charset="0"/>
                        </a:rPr>
                        <m:t>×</m:t>
                      </m:r>
                      <m:rad>
                        <m:radPr>
                          <m:degHide m:val="on"/>
                          <m:ctrlPr>
                            <a:rPr lang="en-GB" sz="4000" b="0" i="1" smtClean="0">
                              <a:latin typeface="Cambria Math" panose="02040503050406030204" pitchFamily="18" charset="0"/>
                            </a:rPr>
                          </m:ctrlPr>
                        </m:radPr>
                        <m:deg/>
                        <m:e>
                          <m:r>
                            <a:rPr lang="en-GB" sz="4000" b="0" i="1" smtClean="0">
                              <a:latin typeface="Cambria Math" panose="02040503050406030204" pitchFamily="18" charset="0"/>
                            </a:rPr>
                            <m:t>5</m:t>
                          </m:r>
                        </m:e>
                      </m:rad>
                      <m:r>
                        <a:rPr lang="en-GB" sz="4000" b="0" i="1" smtClean="0">
                          <a:latin typeface="Cambria Math" panose="02040503050406030204" pitchFamily="18" charset="0"/>
                        </a:rPr>
                        <m:t>=5</m:t>
                      </m:r>
                    </m:oMath>
                  </m:oMathPara>
                </a14:m>
                <a:endParaRPr lang="en-GB" sz="4000" dirty="0"/>
              </a:p>
            </p:txBody>
          </p:sp>
        </mc:Choice>
        <mc:Fallback xmlns="">
          <p:sp>
            <p:nvSpPr>
              <p:cNvPr id="4" name="TextBox 3"/>
              <p:cNvSpPr txBox="1">
                <a:spLocks noRot="1" noChangeAspect="1" noMove="1" noResize="1" noEditPoints="1" noAdjustHandles="1" noChangeArrowheads="1" noChangeShapeType="1" noTextEdit="1"/>
              </p:cNvSpPr>
              <p:nvPr/>
            </p:nvSpPr>
            <p:spPr>
              <a:xfrm>
                <a:off x="2771800" y="1714106"/>
                <a:ext cx="3348372" cy="792974"/>
              </a:xfrm>
              <a:prstGeom prst="rect">
                <a:avLst/>
              </a:prstGeom>
              <a:blipFill rotWithShape="0">
                <a:blip r:embed="rId2"/>
                <a:stretch>
                  <a:fillRect/>
                </a:stretch>
              </a:blipFill>
            </p:spPr>
            <p:txBody>
              <a:bodyPr/>
              <a:lstStyle/>
              <a:p>
                <a:r>
                  <a:rPr lang="en-GB">
                    <a:noFill/>
                  </a:rPr>
                  <a:t> </a:t>
                </a:r>
              </a:p>
            </p:txBody>
          </p:sp>
        </mc:Fallback>
      </mc:AlternateContent>
      <p:sp>
        <p:nvSpPr>
          <p:cNvPr id="11" name="Rectangle 10"/>
          <p:cNvSpPr/>
          <p:nvPr/>
        </p:nvSpPr>
        <p:spPr>
          <a:xfrm>
            <a:off x="4247392" y="1714105"/>
            <a:ext cx="732232" cy="7867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5472100" y="1714104"/>
            <a:ext cx="828092" cy="7867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TextBox 12"/>
          <p:cNvSpPr txBox="1"/>
          <p:nvPr/>
        </p:nvSpPr>
        <p:spPr>
          <a:xfrm>
            <a:off x="395536" y="4293096"/>
            <a:ext cx="3635832" cy="2308324"/>
          </a:xfrm>
          <a:prstGeom prst="rect">
            <a:avLst/>
          </a:prstGeom>
          <a:noFill/>
        </p:spPr>
        <p:txBody>
          <a:bodyPr wrap="square" rtlCol="0">
            <a:spAutoFit/>
          </a:bodyPr>
          <a:lstStyle/>
          <a:p>
            <a:r>
              <a:rPr lang="en-GB" sz="1600" dirty="0"/>
              <a:t>In this fraction, the denominator is irrational. ‘</a:t>
            </a:r>
            <a:r>
              <a:rPr lang="en-GB" sz="1600" b="1" dirty="0"/>
              <a:t>Rationalising the denominator</a:t>
            </a:r>
            <a:r>
              <a:rPr lang="en-GB" sz="1600" dirty="0"/>
              <a:t>’ means making the denominator a rational number.</a:t>
            </a:r>
          </a:p>
          <a:p>
            <a:endParaRPr lang="en-GB" sz="1600" dirty="0"/>
          </a:p>
          <a:p>
            <a:r>
              <a:rPr lang="en-GB" sz="1600" dirty="0"/>
              <a:t>What could we multiply this fraction by to both rationalise the denominator, but leave the value of the fraction unchanged?</a:t>
            </a:r>
          </a:p>
        </p:txBody>
      </p:sp>
      <mc:AlternateContent xmlns:mc="http://schemas.openxmlformats.org/markup-compatibility/2006" xmlns:a14="http://schemas.microsoft.com/office/drawing/2010/main">
        <mc:Choice Requires="a14">
          <p:sp>
            <p:nvSpPr>
              <p:cNvPr id="5" name="TextBox 4"/>
              <p:cNvSpPr txBox="1"/>
              <p:nvPr/>
            </p:nvSpPr>
            <p:spPr>
              <a:xfrm>
                <a:off x="2687133" y="2644174"/>
                <a:ext cx="3366374" cy="1363194"/>
              </a:xfrm>
              <a:prstGeom prst="rect">
                <a:avLst/>
              </a:prstGeom>
              <a:noFill/>
            </p:spPr>
            <p:txBody>
              <a:bodyPr wrap="square" rtlCol="0">
                <a:spAutoFit/>
              </a:bodyPr>
              <a:lstStyle/>
              <a:p>
                <a:pPr/>
                <a14:m>
                  <m:oMathPara xmlns:m="http://schemas.openxmlformats.org/officeDocument/2006/math">
                    <m:oMath>
                      <m:f>
                        <m:fPr>
                          <m:ctrlPr>
                            <a:rPr lang="en-GB" sz="3600" b="0" i="1" smtClean="0">
                              <a:latin typeface="Cambria Math" panose="02040503050406030204" pitchFamily="18" charset="0"/>
                            </a:rPr>
                          </m:ctrlPr>
                        </m:fPr>
                        <m:num>
                          <m:r>
                            <a:rPr lang="en-GB" sz="3600" b="0" i="1" smtClean="0">
                              <a:latin typeface="Cambria Math" panose="02040503050406030204" pitchFamily="18" charset="0"/>
                            </a:rPr>
                            <m:t>1</m:t>
                          </m:r>
                        </m:num>
                        <m:den>
                          <m:rad>
                            <m:radPr>
                              <m:degHide m:val="on"/>
                              <m:ctrlPr>
                                <a:rPr lang="en-GB" sz="3600" b="0" i="1" smtClean="0">
                                  <a:latin typeface="Cambria Math" panose="02040503050406030204" pitchFamily="18" charset="0"/>
                                </a:rPr>
                              </m:ctrlPr>
                            </m:radPr>
                            <m:deg/>
                            <m:e>
                              <m:r>
                                <a:rPr lang="en-GB" sz="3600" b="0" i="1" smtClean="0">
                                  <a:latin typeface="Cambria Math" panose="02040503050406030204" pitchFamily="18" charset="0"/>
                                </a:rPr>
                                <m:t>2</m:t>
                              </m:r>
                            </m:e>
                          </m:rad>
                        </m:den>
                      </m:f>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rad>
                            <m:radPr>
                              <m:degHide m:val="on"/>
                              <m:ctrlPr>
                                <a:rPr lang="en-GB" sz="3600" b="0" i="1" smtClean="0">
                                  <a:latin typeface="Cambria Math" panose="02040503050406030204" pitchFamily="18" charset="0"/>
                                </a:rPr>
                              </m:ctrlPr>
                            </m:radPr>
                            <m:deg/>
                            <m:e>
                              <m:r>
                                <a:rPr lang="en-GB" sz="3600" b="0" i="1" smtClean="0">
                                  <a:latin typeface="Cambria Math" panose="02040503050406030204" pitchFamily="18" charset="0"/>
                                </a:rPr>
                                <m:t>2</m:t>
                              </m:r>
                            </m:e>
                          </m:rad>
                        </m:num>
                        <m:den>
                          <m:rad>
                            <m:radPr>
                              <m:degHide m:val="on"/>
                              <m:ctrlPr>
                                <a:rPr lang="en-GB" sz="3600" b="0" i="1" smtClean="0">
                                  <a:latin typeface="Cambria Math" panose="02040503050406030204" pitchFamily="18" charset="0"/>
                                </a:rPr>
                              </m:ctrlPr>
                            </m:radPr>
                            <m:deg/>
                            <m:e>
                              <m:r>
                                <a:rPr lang="en-GB" sz="3600" b="0" i="1" smtClean="0">
                                  <a:latin typeface="Cambria Math" panose="02040503050406030204" pitchFamily="18" charset="0"/>
                                </a:rPr>
                                <m:t>2</m:t>
                              </m:r>
                            </m:e>
                          </m:rad>
                        </m:den>
                      </m:f>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rad>
                            <m:radPr>
                              <m:degHide m:val="on"/>
                              <m:ctrlPr>
                                <a:rPr lang="en-GB" sz="3600" b="0" i="1" smtClean="0">
                                  <a:latin typeface="Cambria Math" panose="02040503050406030204" pitchFamily="18" charset="0"/>
                                </a:rPr>
                              </m:ctrlPr>
                            </m:radPr>
                            <m:deg/>
                            <m:e>
                              <m:r>
                                <a:rPr lang="en-GB" sz="3600" b="0" i="1" smtClean="0">
                                  <a:latin typeface="Cambria Math" panose="02040503050406030204" pitchFamily="18" charset="0"/>
                                </a:rPr>
                                <m:t>2</m:t>
                              </m:r>
                            </m:e>
                          </m:rad>
                        </m:num>
                        <m:den>
                          <m:r>
                            <a:rPr lang="en-GB" sz="3600" b="0" i="1" smtClean="0">
                              <a:latin typeface="Cambria Math" panose="02040503050406030204" pitchFamily="18" charset="0"/>
                            </a:rPr>
                            <m:t>2</m:t>
                          </m:r>
                        </m:den>
                      </m:f>
                    </m:oMath>
                  </m:oMathPara>
                </a14:m>
                <a:endParaRPr lang="en-GB"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2687133" y="2644174"/>
                <a:ext cx="3366374" cy="1363194"/>
              </a:xfrm>
              <a:prstGeom prst="rect">
                <a:avLst/>
              </a:prstGeom>
              <a:blipFill rotWithShape="0">
                <a:blip r:embed="rId3"/>
                <a:stretch>
                  <a:fillRect/>
                </a:stretch>
              </a:blipFill>
            </p:spPr>
            <p:txBody>
              <a:bodyPr/>
              <a:lstStyle/>
              <a:p>
                <a:r>
                  <a:rPr lang="en-GB">
                    <a:noFill/>
                  </a:rPr>
                  <a:t> </a:t>
                </a:r>
              </a:p>
            </p:txBody>
          </p:sp>
        </mc:Fallback>
      </mc:AlternateContent>
      <p:cxnSp>
        <p:nvCxnSpPr>
          <p:cNvPr id="10" name="Straight Arrow Connector 9"/>
          <p:cNvCxnSpPr>
            <a:stCxn id="13" idx="0"/>
          </p:cNvCxnSpPr>
          <p:nvPr/>
        </p:nvCxnSpPr>
        <p:spPr>
          <a:xfrm flipV="1">
            <a:off x="2213452" y="3789040"/>
            <a:ext cx="630356" cy="5040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4031368" y="2649765"/>
            <a:ext cx="683851" cy="143749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5218928" y="2649765"/>
            <a:ext cx="683851" cy="143749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TextBox 16"/>
          <p:cNvSpPr txBox="1"/>
          <p:nvPr/>
        </p:nvSpPr>
        <p:spPr>
          <a:xfrm>
            <a:off x="5186015" y="4311647"/>
            <a:ext cx="3312368" cy="230832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Side Note</a:t>
            </a:r>
            <a:r>
              <a:rPr lang="en-GB" sz="1600" dirty="0"/>
              <a:t>: There’s two reasons why we might want to do this:</a:t>
            </a:r>
          </a:p>
          <a:p>
            <a:pPr marL="342900" indent="-342900">
              <a:buFont typeface="+mj-lt"/>
              <a:buAutoNum type="arabicPeriod"/>
            </a:pPr>
            <a:r>
              <a:rPr lang="en-GB" sz="1600" dirty="0"/>
              <a:t>For aesthetic reasons, it makes more sense to say “half of root 2” rather than “one root two-</a:t>
            </a:r>
            <a:r>
              <a:rPr lang="en-GB" sz="1600" dirty="0" err="1"/>
              <a:t>th</a:t>
            </a:r>
            <a:r>
              <a:rPr lang="en-GB" sz="1600" dirty="0"/>
              <a:t> of 1”. It’s nice to divide by something whole!</a:t>
            </a:r>
          </a:p>
          <a:p>
            <a:pPr marL="342900" indent="-342900">
              <a:buFont typeface="+mj-lt"/>
              <a:buAutoNum type="arabicPeriod"/>
            </a:pPr>
            <a:r>
              <a:rPr lang="en-GB" sz="1600" dirty="0"/>
              <a:t>It makes it easier for us to add expressions involving surds. </a:t>
            </a:r>
          </a:p>
        </p:txBody>
      </p:sp>
    </p:spTree>
    <p:extLst>
      <p:ext uri="{BB962C8B-B14F-4D97-AF65-F5344CB8AC3E}">
        <p14:creationId xmlns:p14="http://schemas.microsoft.com/office/powerpoint/2010/main" val="7290909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par>
                          <p:cTn id="14" fill="hold">
                            <p:stCondLst>
                              <p:cond delay="500"/>
                            </p:stCondLst>
                            <p:childTnLst>
                              <p:par>
                                <p:cTn id="15" presetID="1" presetClass="entr" presetSubtype="0" fill="hold" grpId="1" nodeType="after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25" restart="whenNotActive" fill="hold" evtFilter="cancelBubble" nodeType="interactiveSeq">
                <p:stCondLst>
                  <p:cond evt="onClick" delay="0">
                    <p:tgtEl>
                      <p:spTgt spid="15"/>
                    </p:tgtEl>
                  </p:cond>
                </p:stCondLst>
                <p:endSync evt="end" delay="0">
                  <p:rtn val="all"/>
                </p:endSync>
                <p:childTnLst>
                  <p:par>
                    <p:cTn id="26" fill="hold">
                      <p:stCondLst>
                        <p:cond delay="0"/>
                      </p:stCondLst>
                      <p:childTnLst>
                        <p:par>
                          <p:cTn id="27" fill="hold">
                            <p:stCondLst>
                              <p:cond delay="0"/>
                            </p:stCondLst>
                            <p:childTnLst>
                              <p:par>
                                <p:cTn id="28" presetID="10" presetClass="exit" presetSubtype="0" fill="hold" grpId="0" nodeType="clickEffect">
                                  <p:stCondLst>
                                    <p:cond delay="0"/>
                                  </p:stCondLst>
                                  <p:childTnLst>
                                    <p:animEffect transition="out" filter="fade">
                                      <p:cBhvr>
                                        <p:cTn id="29" dur="500"/>
                                        <p:tgtEl>
                                          <p:spTgt spid="15"/>
                                        </p:tgtEl>
                                      </p:cBhvr>
                                    </p:animEffect>
                                    <p:set>
                                      <p:cBhvr>
                                        <p:cTn id="30"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31" restart="whenNotActive" fill="hold" evtFilter="cancelBubble" nodeType="interactiveSeq">
                <p:stCondLst>
                  <p:cond evt="onClick" delay="0">
                    <p:tgtEl>
                      <p:spTgt spid="16"/>
                    </p:tgtEl>
                  </p:cond>
                </p:stCondLst>
                <p:endSync evt="end" delay="0">
                  <p:rtn val="all"/>
                </p:endSync>
                <p:childTnLst>
                  <p:par>
                    <p:cTn id="32" fill="hold">
                      <p:stCondLst>
                        <p:cond delay="0"/>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16"/>
                                        </p:tgtEl>
                                      </p:cBhvr>
                                    </p:animEffect>
                                    <p:set>
                                      <p:cBhvr>
                                        <p:cTn id="36" dur="1" fill="hold">
                                          <p:stCondLst>
                                            <p:cond delay="499"/>
                                          </p:stCondLst>
                                        </p:cTn>
                                        <p:tgtEl>
                                          <p:spTgt spid="16"/>
                                        </p:tgtEl>
                                        <p:attrNameLst>
                                          <p:attrName>style.visibility</p:attrName>
                                        </p:attrNameLst>
                                      </p:cBhvr>
                                      <p:to>
                                        <p:strVal val="hidden"/>
                                      </p:to>
                                    </p:se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childTnLst>
              </p:cTn>
              <p:nextCondLst>
                <p:cond evt="onClick" delay="0">
                  <p:tgtEl>
                    <p:spTgt spid="16"/>
                  </p:tgtEl>
                </p:cond>
              </p:nextCondLst>
            </p:seq>
          </p:childTnLst>
        </p:cTn>
      </p:par>
    </p:tnLst>
    <p:bldLst>
      <p:bldP spid="11" grpId="0" animBg="1"/>
      <p:bldP spid="12" grpId="0" animBg="1"/>
      <p:bldP spid="13" grpId="0"/>
      <p:bldP spid="5" grpId="0"/>
      <p:bldP spid="15" grpId="0" animBg="1"/>
      <p:bldP spid="15" grpId="1" animBg="1"/>
      <p:bldP spid="16" grpId="0" animBg="1"/>
      <p:bldP spid="16" grpId="1" animBg="1"/>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535992" y="1214483"/>
                <a:ext cx="4680520" cy="5002523"/>
              </a:xfrm>
              <a:prstGeom prst="rect">
                <a:avLst/>
              </a:prstGeom>
              <a:noFill/>
            </p:spPr>
            <p:txBody>
              <a:bodyPr wrap="square" rtlCol="0">
                <a:spAutoFit/>
              </a:bodyPr>
              <a:lstStyle/>
              <a:p>
                <a:pPr/>
                <a14:m>
                  <m:oMathPara xmlns:m="http://schemas.openxmlformats.org/officeDocument/2006/math">
                    <m:oMathParaPr>
                      <m:jc m:val="left"/>
                    </m:oMathParaPr>
                    <m:oMath>
                      <m:f>
                        <m:fPr>
                          <m:ctrlPr>
                            <a:rPr lang="en-GB" sz="2400" b="0" i="1" smtClean="0">
                              <a:latin typeface="Cambria Math"/>
                            </a:rPr>
                          </m:ctrlPr>
                        </m:fPr>
                        <m:num>
                          <m:r>
                            <a:rPr lang="en-GB" sz="2400" b="0" i="1" smtClean="0">
                              <a:latin typeface="Cambria Math"/>
                            </a:rPr>
                            <m:t>3</m:t>
                          </m:r>
                        </m:num>
                        <m:den>
                          <m:rad>
                            <m:radPr>
                              <m:degHide m:val="on"/>
                              <m:ctrlPr>
                                <a:rPr lang="en-GB" sz="2400" b="0" i="1" smtClean="0">
                                  <a:latin typeface="Cambria Math" panose="02040503050406030204" pitchFamily="18" charset="0"/>
                                </a:rPr>
                              </m:ctrlPr>
                            </m:radPr>
                            <m:deg/>
                            <m:e>
                              <m:r>
                                <a:rPr lang="en-GB" sz="2400" b="0" i="1" smtClean="0">
                                  <a:latin typeface="Cambria Math"/>
                                </a:rPr>
                                <m:t>2</m:t>
                              </m:r>
                            </m:e>
                          </m:rad>
                        </m:den>
                      </m:f>
                      <m:r>
                        <a:rPr lang="en-GB" sz="2400" b="0" i="1" smtClean="0">
                          <a:latin typeface="Cambria Math"/>
                        </a:rPr>
                        <m:t>=</m:t>
                      </m:r>
                      <m:f>
                        <m:fPr>
                          <m:ctrlPr>
                            <a:rPr lang="en-GB" sz="2400" b="1" i="1" smtClean="0">
                              <a:latin typeface="Cambria Math"/>
                            </a:rPr>
                          </m:ctrlPr>
                        </m:fPr>
                        <m:num>
                          <m:r>
                            <a:rPr lang="en-GB" sz="2400" b="1" i="1" smtClean="0">
                              <a:latin typeface="Cambria Math"/>
                            </a:rPr>
                            <m:t>𝟑</m:t>
                          </m:r>
                          <m:rad>
                            <m:radPr>
                              <m:degHide m:val="on"/>
                              <m:ctrlPr>
                                <a:rPr lang="en-GB" sz="2400" b="1" i="1" smtClean="0">
                                  <a:latin typeface="Cambria Math" panose="02040503050406030204" pitchFamily="18" charset="0"/>
                                </a:rPr>
                              </m:ctrlPr>
                            </m:radPr>
                            <m:deg/>
                            <m:e>
                              <m:r>
                                <a:rPr lang="en-GB" sz="2400" b="1" i="1" smtClean="0">
                                  <a:latin typeface="Cambria Math"/>
                                </a:rPr>
                                <m:t>𝟐</m:t>
                              </m:r>
                            </m:e>
                          </m:rad>
                        </m:num>
                        <m:den>
                          <m:r>
                            <a:rPr lang="en-GB" sz="2400" b="1" i="1" smtClean="0">
                              <a:latin typeface="Cambria Math"/>
                            </a:rPr>
                            <m:t>𝟐</m:t>
                          </m:r>
                        </m:den>
                      </m:f>
                    </m:oMath>
                  </m:oMathPara>
                </a14:m>
                <a:endParaRPr lang="en-GB" sz="2400" b="1" dirty="0"/>
              </a:p>
              <a:p>
                <a:endParaRPr lang="en-GB" sz="2400" dirty="0"/>
              </a:p>
              <a:p>
                <a:pPr/>
                <a14:m>
                  <m:oMathPara xmlns:m="http://schemas.openxmlformats.org/officeDocument/2006/math">
                    <m:oMathParaPr>
                      <m:jc m:val="left"/>
                    </m:oMathParaPr>
                    <m:oMath>
                      <m:f>
                        <m:fPr>
                          <m:ctrlPr>
                            <a:rPr lang="en-GB" sz="2400" b="0" i="1" smtClean="0">
                              <a:latin typeface="Cambria Math"/>
                            </a:rPr>
                          </m:ctrlPr>
                        </m:fPr>
                        <m:num>
                          <m:r>
                            <a:rPr lang="en-GB" sz="2400" b="0" i="1" smtClean="0">
                              <a:latin typeface="Cambria Math"/>
                            </a:rPr>
                            <m:t>6</m:t>
                          </m:r>
                        </m:num>
                        <m:den>
                          <m:rad>
                            <m:radPr>
                              <m:degHide m:val="on"/>
                              <m:ctrlPr>
                                <a:rPr lang="en-GB" sz="2400" b="0" i="1" smtClean="0">
                                  <a:latin typeface="Cambria Math" panose="02040503050406030204" pitchFamily="18" charset="0"/>
                                </a:rPr>
                              </m:ctrlPr>
                            </m:radPr>
                            <m:deg/>
                            <m:e>
                              <m:r>
                                <a:rPr lang="en-GB" sz="2400" b="0" i="1" smtClean="0">
                                  <a:latin typeface="Cambria Math"/>
                                </a:rPr>
                                <m:t>3</m:t>
                              </m:r>
                            </m:e>
                          </m:rad>
                        </m:den>
                      </m:f>
                      <m:r>
                        <a:rPr lang="en-GB" sz="2400" b="0" i="1" smtClean="0">
                          <a:latin typeface="Cambria Math"/>
                        </a:rPr>
                        <m:t>=</m:t>
                      </m:r>
                      <m:f>
                        <m:fPr>
                          <m:ctrlPr>
                            <a:rPr lang="en-GB" sz="2400" b="1" i="1" smtClean="0">
                              <a:latin typeface="Cambria Math"/>
                            </a:rPr>
                          </m:ctrlPr>
                        </m:fPr>
                        <m:num>
                          <m:r>
                            <a:rPr lang="en-GB" sz="2400" b="1" i="1" smtClean="0">
                              <a:latin typeface="Cambria Math"/>
                            </a:rPr>
                            <m:t>𝟔</m:t>
                          </m:r>
                          <m:rad>
                            <m:radPr>
                              <m:degHide m:val="on"/>
                              <m:ctrlPr>
                                <a:rPr lang="en-GB" sz="2400" b="1" i="1" smtClean="0">
                                  <a:latin typeface="Cambria Math" panose="02040503050406030204" pitchFamily="18" charset="0"/>
                                </a:rPr>
                              </m:ctrlPr>
                            </m:radPr>
                            <m:deg/>
                            <m:e>
                              <m:r>
                                <a:rPr lang="en-GB" sz="2400" b="1" i="1" smtClean="0">
                                  <a:latin typeface="Cambria Math"/>
                                </a:rPr>
                                <m:t>𝟑</m:t>
                              </m:r>
                            </m:e>
                          </m:rad>
                        </m:num>
                        <m:den>
                          <m:r>
                            <a:rPr lang="en-GB" sz="2400" b="1" i="1" smtClean="0">
                              <a:latin typeface="Cambria Math"/>
                            </a:rPr>
                            <m:t>𝟑</m:t>
                          </m:r>
                        </m:den>
                      </m:f>
                      <m:r>
                        <a:rPr lang="en-GB" sz="2400" b="0" i="1" smtClean="0">
                          <a:latin typeface="Cambria Math"/>
                        </a:rPr>
                        <m:t>=</m:t>
                      </m:r>
                      <m:r>
                        <a:rPr lang="en-GB" sz="2400" b="1" i="1" smtClean="0">
                          <a:latin typeface="Cambria Math"/>
                        </a:rPr>
                        <m:t>𝟐</m:t>
                      </m:r>
                      <m:rad>
                        <m:radPr>
                          <m:degHide m:val="on"/>
                          <m:ctrlPr>
                            <a:rPr lang="en-GB" sz="2400" b="1" i="1" smtClean="0">
                              <a:latin typeface="Cambria Math" panose="02040503050406030204" pitchFamily="18" charset="0"/>
                            </a:rPr>
                          </m:ctrlPr>
                        </m:radPr>
                        <m:deg/>
                        <m:e>
                          <m:r>
                            <a:rPr lang="en-GB" sz="2400" b="1" i="1" smtClean="0">
                              <a:latin typeface="Cambria Math"/>
                            </a:rPr>
                            <m:t>𝟑</m:t>
                          </m:r>
                        </m:e>
                      </m:rad>
                    </m:oMath>
                  </m:oMathPara>
                </a14:m>
                <a:endParaRPr lang="en-GB" sz="2400" b="1" dirty="0"/>
              </a:p>
              <a:p>
                <a:endParaRPr lang="en-GB" sz="2400" b="1" dirty="0"/>
              </a:p>
              <a:p>
                <a:endParaRPr lang="en-GB" sz="2400" dirty="0"/>
              </a:p>
              <a:p>
                <a:pPr/>
                <a14:m>
                  <m:oMathPara xmlns:m="http://schemas.openxmlformats.org/officeDocument/2006/math">
                    <m:oMathParaPr>
                      <m:jc m:val="left"/>
                    </m:oMathParaPr>
                    <m:oMath>
                      <m:f>
                        <m:fPr>
                          <m:ctrlPr>
                            <a:rPr lang="en-GB" sz="2400" b="0" i="1" smtClean="0">
                              <a:latin typeface="Cambria Math"/>
                            </a:rPr>
                          </m:ctrlPr>
                        </m:fPr>
                        <m:num>
                          <m:r>
                            <a:rPr lang="en-GB" sz="2400" b="0" i="1" smtClean="0">
                              <a:latin typeface="Cambria Math"/>
                            </a:rPr>
                            <m:t>7</m:t>
                          </m:r>
                        </m:num>
                        <m:den>
                          <m:rad>
                            <m:radPr>
                              <m:degHide m:val="on"/>
                              <m:ctrlPr>
                                <a:rPr lang="en-GB" sz="2400" b="0" i="1" smtClean="0">
                                  <a:latin typeface="Cambria Math" panose="02040503050406030204" pitchFamily="18" charset="0"/>
                                </a:rPr>
                              </m:ctrlPr>
                            </m:radPr>
                            <m:deg/>
                            <m:e>
                              <m:r>
                                <a:rPr lang="en-GB" sz="2400" b="0" i="1" smtClean="0">
                                  <a:latin typeface="Cambria Math"/>
                                </a:rPr>
                                <m:t>7</m:t>
                              </m:r>
                            </m:e>
                          </m:rad>
                        </m:den>
                      </m:f>
                      <m:r>
                        <a:rPr lang="en-GB" sz="2400" b="0" i="1" smtClean="0">
                          <a:latin typeface="Cambria Math"/>
                        </a:rPr>
                        <m:t>=</m:t>
                      </m:r>
                      <m:f>
                        <m:fPr>
                          <m:ctrlPr>
                            <a:rPr lang="en-GB" sz="2400" b="1" i="1" smtClean="0">
                              <a:latin typeface="Cambria Math"/>
                            </a:rPr>
                          </m:ctrlPr>
                        </m:fPr>
                        <m:num>
                          <m:r>
                            <a:rPr lang="en-GB" sz="2400" b="1" i="1" smtClean="0">
                              <a:latin typeface="Cambria Math"/>
                            </a:rPr>
                            <m:t>𝟕</m:t>
                          </m:r>
                          <m:rad>
                            <m:radPr>
                              <m:degHide m:val="on"/>
                              <m:ctrlPr>
                                <a:rPr lang="en-GB" sz="2400" b="1" i="1" smtClean="0">
                                  <a:latin typeface="Cambria Math" panose="02040503050406030204" pitchFamily="18" charset="0"/>
                                </a:rPr>
                              </m:ctrlPr>
                            </m:radPr>
                            <m:deg/>
                            <m:e>
                              <m:r>
                                <a:rPr lang="en-GB" sz="2400" b="1" i="1" smtClean="0">
                                  <a:latin typeface="Cambria Math"/>
                                </a:rPr>
                                <m:t>𝟕</m:t>
                              </m:r>
                            </m:e>
                          </m:rad>
                        </m:num>
                        <m:den>
                          <m:r>
                            <a:rPr lang="en-GB" sz="2400" b="1" i="1" smtClean="0">
                              <a:latin typeface="Cambria Math"/>
                            </a:rPr>
                            <m:t>𝟕</m:t>
                          </m:r>
                        </m:den>
                      </m:f>
                      <m:r>
                        <a:rPr lang="en-GB" sz="2400" b="1" i="1" smtClean="0">
                          <a:latin typeface="Cambria Math"/>
                        </a:rPr>
                        <m:t>=</m:t>
                      </m:r>
                      <m:rad>
                        <m:radPr>
                          <m:degHide m:val="on"/>
                          <m:ctrlPr>
                            <a:rPr lang="en-GB" sz="2400" b="1" i="1" smtClean="0">
                              <a:latin typeface="Cambria Math" panose="02040503050406030204" pitchFamily="18" charset="0"/>
                            </a:rPr>
                          </m:ctrlPr>
                        </m:radPr>
                        <m:deg/>
                        <m:e>
                          <m:r>
                            <a:rPr lang="en-GB" sz="2400" b="1" i="1" smtClean="0">
                              <a:latin typeface="Cambria Math"/>
                            </a:rPr>
                            <m:t>𝟕</m:t>
                          </m:r>
                        </m:e>
                      </m:rad>
                    </m:oMath>
                  </m:oMathPara>
                </a14:m>
                <a:endParaRPr lang="en-GB" sz="2400" b="1" dirty="0"/>
              </a:p>
              <a:p>
                <a:endParaRPr lang="en-GB" sz="3200" b="1" dirty="0"/>
              </a:p>
              <a:p>
                <a:pPr/>
                <a14:m>
                  <m:oMathPara xmlns:m="http://schemas.openxmlformats.org/officeDocument/2006/math">
                    <m:oMathParaPr>
                      <m:jc m:val="left"/>
                    </m:oMathParaPr>
                    <m:o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15</m:t>
                          </m:r>
                        </m:num>
                        <m:den>
                          <m:rad>
                            <m:radPr>
                              <m:degHide m:val="on"/>
                              <m:ctrlPr>
                                <a:rPr lang="en-GB" sz="2400" i="1" smtClean="0">
                                  <a:latin typeface="Cambria Math" panose="02040503050406030204" pitchFamily="18" charset="0"/>
                                </a:rPr>
                              </m:ctrlPr>
                            </m:radPr>
                            <m:deg/>
                            <m:e>
                              <m:r>
                                <a:rPr lang="en-GB" sz="2400" b="0" i="1" smtClean="0">
                                  <a:latin typeface="Cambria Math" panose="02040503050406030204" pitchFamily="18" charset="0"/>
                                </a:rPr>
                                <m:t>5</m:t>
                              </m:r>
                            </m:e>
                          </m:rad>
                        </m:den>
                      </m:f>
                      <m:r>
                        <a:rPr lang="en-GB" sz="2400" b="0" i="1" smtClean="0">
                          <a:latin typeface="Cambria Math" panose="02040503050406030204" pitchFamily="18" charset="0"/>
                        </a:rPr>
                        <m:t>+</m:t>
                      </m:r>
                      <m:rad>
                        <m:radPr>
                          <m:degHide m:val="on"/>
                          <m:ctrlPr>
                            <a:rPr lang="en-GB" sz="2400" i="1" smtClean="0">
                              <a:latin typeface="Cambria Math" panose="02040503050406030204" pitchFamily="18" charset="0"/>
                            </a:rPr>
                          </m:ctrlPr>
                        </m:radPr>
                        <m:deg/>
                        <m:e>
                          <m:r>
                            <a:rPr lang="en-GB" sz="2400" b="0" i="1" smtClean="0">
                              <a:latin typeface="Cambria Math" panose="02040503050406030204" pitchFamily="18" charset="0"/>
                            </a:rPr>
                            <m:t>5</m:t>
                          </m:r>
                        </m:e>
                      </m:rad>
                      <m:r>
                        <a:rPr lang="en-GB" sz="2400" b="0" i="1" smtClean="0">
                          <a:latin typeface="Cambria Math" panose="02040503050406030204" pitchFamily="18" charset="0"/>
                        </a:rPr>
                        <m:t>=</m:t>
                      </m:r>
                      <m:r>
                        <a:rPr lang="en-GB" sz="2400" b="1" i="1" smtClean="0">
                          <a:latin typeface="Cambria Math" panose="02040503050406030204" pitchFamily="18" charset="0"/>
                        </a:rPr>
                        <m:t>𝟑</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𝟓</m:t>
                          </m:r>
                        </m:e>
                      </m:rad>
                      <m:r>
                        <a:rPr lang="en-GB" sz="2400" b="1" i="1" smtClean="0">
                          <a:latin typeface="Cambria Math" panose="02040503050406030204" pitchFamily="18" charset="0"/>
                        </a:rPr>
                        <m:t>+</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𝟓</m:t>
                          </m:r>
                        </m:e>
                      </m:rad>
                      <m:r>
                        <a:rPr lang="en-GB" sz="2400" b="1" i="1" smtClean="0">
                          <a:latin typeface="Cambria Math" panose="02040503050406030204" pitchFamily="18" charset="0"/>
                        </a:rPr>
                        <m:t>=</m:t>
                      </m:r>
                      <m:r>
                        <a:rPr lang="en-GB" sz="2400" b="1" i="1" smtClean="0">
                          <a:latin typeface="Cambria Math" panose="02040503050406030204" pitchFamily="18" charset="0"/>
                        </a:rPr>
                        <m:t>𝟒</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𝟓</m:t>
                          </m:r>
                        </m:e>
                      </m:rad>
                    </m:oMath>
                  </m:oMathPara>
                </a14:m>
                <a:endParaRPr lang="en-GB"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535992" y="1214483"/>
                <a:ext cx="4680520" cy="5002523"/>
              </a:xfrm>
              <a:prstGeom prst="rect">
                <a:avLst/>
              </a:prstGeom>
              <a:blipFill>
                <a:blip r:embed="rId2"/>
                <a:stretch>
                  <a:fillRect/>
                </a:stretch>
              </a:blipFill>
            </p:spPr>
            <p:txBody>
              <a:bodyPr/>
              <a:lstStyle/>
              <a:p>
                <a:r>
                  <a:rPr lang="en-GB">
                    <a:noFill/>
                  </a:rPr>
                  <a:t> </a:t>
                </a:r>
              </a:p>
            </p:txBody>
          </p:sp>
        </mc:Fallback>
      </mc:AlternateContent>
      <p:grpSp>
        <p:nvGrpSpPr>
          <p:cNvPr id="6" name="Group 5"/>
          <p:cNvGrpSpPr/>
          <p:nvPr/>
        </p:nvGrpSpPr>
        <p:grpSpPr>
          <a:xfrm>
            <a:off x="0" y="0"/>
            <a:ext cx="9143074" cy="599127"/>
            <a:chOff x="0" y="13335"/>
            <a:chExt cx="9144218" cy="599127"/>
          </a:xfrm>
        </p:grpSpPr>
        <p:sp>
          <p:nvSpPr>
            <p:cNvPr id="7"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8" name="Straight Connector 7"/>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9" name="Rectangle 8"/>
          <p:cNvSpPr/>
          <p:nvPr/>
        </p:nvSpPr>
        <p:spPr>
          <a:xfrm>
            <a:off x="2359337" y="1241985"/>
            <a:ext cx="732232" cy="7867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2399990" y="3960206"/>
            <a:ext cx="1812069" cy="97074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2405017" y="2393162"/>
            <a:ext cx="1731561" cy="84996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4" name="TextBox 13"/>
              <p:cNvSpPr txBox="1"/>
              <p:nvPr/>
            </p:nvSpPr>
            <p:spPr>
              <a:xfrm>
                <a:off x="5451445" y="1668762"/>
                <a:ext cx="2415859" cy="3287375"/>
              </a:xfrm>
              <a:prstGeom prst="rect">
                <a:avLst/>
              </a:prstGeom>
              <a:noFill/>
            </p:spPr>
            <p:txBody>
              <a:bodyPr wrap="square" rtlCol="0">
                <a:spAutoFit/>
              </a:bodyPr>
              <a:lstStyle/>
              <a:p>
                <a:pPr/>
                <a14:m>
                  <m:oMathPara xmlns:m="http://schemas.openxmlformats.org/officeDocument/2006/math">
                    <m:oMathParaPr>
                      <m:jc m:val="left"/>
                    </m:oMathParaPr>
                    <m:o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12</m:t>
                          </m:r>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den>
                      </m:f>
                      <m:r>
                        <a:rPr lang="en-GB" sz="2400" b="0" i="1" smtClean="0">
                          <a:latin typeface="Cambria Math" panose="02040503050406030204" pitchFamily="18" charset="0"/>
                        </a:rPr>
                        <m:t>=</m:t>
                      </m:r>
                      <m:r>
                        <a:rPr lang="en-GB" sz="2400" b="1" i="1" smtClean="0">
                          <a:latin typeface="Cambria Math" panose="02040503050406030204" pitchFamily="18" charset="0"/>
                        </a:rPr>
                        <m:t>𝟒</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𝟑</m:t>
                          </m:r>
                        </m:e>
                      </m:rad>
                    </m:oMath>
                  </m:oMathPara>
                </a14:m>
                <a:endParaRPr lang="en-GB" sz="2400" b="1" dirty="0"/>
              </a:p>
              <a:p>
                <a:endParaRPr lang="en-GB" sz="2400" dirty="0"/>
              </a:p>
              <a:p>
                <a:pPr/>
                <a14:m>
                  <m:oMathPara xmlns:m="http://schemas.openxmlformats.org/officeDocument/2006/math">
                    <m:oMathParaPr>
                      <m:jc m:val="left"/>
                    </m:oMathParaPr>
                    <m:o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2</m:t>
                          </m:r>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6</m:t>
                              </m:r>
                            </m:e>
                          </m:rad>
                        </m:den>
                      </m:f>
                      <m:r>
                        <a:rPr lang="en-GB" sz="2400" b="0" i="1" smtClean="0">
                          <a:latin typeface="Cambria Math" panose="02040503050406030204" pitchFamily="18" charset="0"/>
                        </a:rPr>
                        <m:t>=</m:t>
                      </m:r>
                      <m:f>
                        <m:fPr>
                          <m:ctrlPr>
                            <a:rPr lang="en-GB" sz="2400" b="1" i="1" smtClean="0">
                              <a:latin typeface="Cambria Math" panose="02040503050406030204" pitchFamily="18" charset="0"/>
                            </a:rPr>
                          </m:ctrlPr>
                        </m:fPr>
                        <m:num>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𝟔</m:t>
                              </m:r>
                            </m:e>
                          </m:rad>
                        </m:num>
                        <m:den>
                          <m:r>
                            <a:rPr lang="en-GB" sz="2400" b="1" i="1" smtClean="0">
                              <a:latin typeface="Cambria Math" panose="02040503050406030204" pitchFamily="18" charset="0"/>
                            </a:rPr>
                            <m:t>𝟑</m:t>
                          </m:r>
                        </m:den>
                      </m:f>
                    </m:oMath>
                  </m:oMathPara>
                </a14:m>
                <a:endParaRPr lang="en-GB" sz="2400" b="1" dirty="0"/>
              </a:p>
              <a:p>
                <a:endParaRPr lang="en-GB" sz="2400" b="0" dirty="0"/>
              </a:p>
              <a:p>
                <a:pPr/>
                <a14:m>
                  <m:oMathPara xmlns:m="http://schemas.openxmlformats.org/officeDocument/2006/math">
                    <m:oMathParaPr>
                      <m:jc m:val="left"/>
                    </m:oMathParaPr>
                    <m:o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4</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2</m:t>
                              </m:r>
                            </m:e>
                          </m:rad>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8</m:t>
                              </m:r>
                            </m:e>
                          </m:rad>
                        </m:den>
                      </m:f>
                      <m:r>
                        <a:rPr lang="en-GB" sz="2400" b="0"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𝟏𝟔</m:t>
                          </m:r>
                        </m:num>
                        <m:den>
                          <m:r>
                            <a:rPr lang="en-GB" sz="2400" b="1" i="1" smtClean="0">
                              <a:latin typeface="Cambria Math" panose="02040503050406030204" pitchFamily="18" charset="0"/>
                            </a:rPr>
                            <m:t>𝟖</m:t>
                          </m:r>
                        </m:den>
                      </m:f>
                      <m:r>
                        <a:rPr lang="en-GB" sz="2400" b="1" i="1" smtClean="0">
                          <a:latin typeface="Cambria Math" panose="02040503050406030204" pitchFamily="18" charset="0"/>
                        </a:rPr>
                        <m:t>=</m:t>
                      </m:r>
                      <m:r>
                        <a:rPr lang="en-GB" sz="2400" b="1" i="1" smtClean="0">
                          <a:latin typeface="Cambria Math" panose="02040503050406030204" pitchFamily="18" charset="0"/>
                        </a:rPr>
                        <m:t>𝟐</m:t>
                      </m:r>
                    </m:oMath>
                  </m:oMathPara>
                </a14:m>
                <a:endParaRPr lang="en-GB" sz="2400"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5451445" y="1668762"/>
                <a:ext cx="2415859" cy="3287375"/>
              </a:xfrm>
              <a:prstGeom prst="rect">
                <a:avLst/>
              </a:prstGeom>
              <a:blipFill rotWithShape="0">
                <a:blip r:embed="rId3"/>
                <a:stretch>
                  <a:fillRect/>
                </a:stretch>
              </a:blipFill>
            </p:spPr>
            <p:txBody>
              <a:bodyPr/>
              <a:lstStyle/>
              <a:p>
                <a:r>
                  <a:rPr lang="en-GB">
                    <a:noFill/>
                  </a:rPr>
                  <a:t> </a:t>
                </a:r>
              </a:p>
            </p:txBody>
          </p:sp>
        </mc:Fallback>
      </mc:AlternateContent>
      <p:sp>
        <p:nvSpPr>
          <p:cNvPr id="15" name="Rectangle 14"/>
          <p:cNvSpPr/>
          <p:nvPr/>
        </p:nvSpPr>
        <p:spPr>
          <a:xfrm>
            <a:off x="6293258" y="1649777"/>
            <a:ext cx="732232" cy="7867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6240396" y="2845720"/>
            <a:ext cx="732232" cy="7867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6451420" y="4044754"/>
            <a:ext cx="1192838" cy="7867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TextBox 17"/>
          <p:cNvSpPr txBox="1"/>
          <p:nvPr/>
        </p:nvSpPr>
        <p:spPr>
          <a:xfrm>
            <a:off x="5069280" y="1081481"/>
            <a:ext cx="2592288"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b="1" dirty="0"/>
              <a:t>Test Your Understanding:</a:t>
            </a:r>
          </a:p>
        </p:txBody>
      </p:sp>
      <p:sp>
        <p:nvSpPr>
          <p:cNvPr id="19" name="Rectangle 18"/>
          <p:cNvSpPr/>
          <p:nvPr/>
        </p:nvSpPr>
        <p:spPr>
          <a:xfrm>
            <a:off x="3075203" y="5273763"/>
            <a:ext cx="2396683" cy="8367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12591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9"/>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1" restart="whenNotActive" fill="hold" evtFilter="cancelBubble" nodeType="interactiveSeq">
                <p:stCondLst>
                  <p:cond evt="onClick" delay="0">
                    <p:tgtEl>
                      <p:spTgt spid="11"/>
                    </p:tgtEl>
                  </p:cond>
                </p:stCondLst>
                <p:endSync evt="end" delay="0">
                  <p:rtn val="all"/>
                </p:endSync>
                <p:childTnLst>
                  <p:par>
                    <p:cTn id="22" fill="hold">
                      <p:stCondLst>
                        <p:cond delay="0"/>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11"/>
                                        </p:tgtEl>
                                      </p:cBhvr>
                                    </p:animEffect>
                                    <p:set>
                                      <p:cBhvr>
                                        <p:cTn id="26"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7" restart="whenNotActive" fill="hold" evtFilter="cancelBubble" nodeType="interactiveSeq">
                <p:stCondLst>
                  <p:cond evt="onClick" delay="0">
                    <p:tgtEl>
                      <p:spTgt spid="13"/>
                    </p:tgtEl>
                  </p:cond>
                </p:stCondLst>
                <p:endSync evt="end" delay="0">
                  <p:rtn val="all"/>
                </p:endSync>
                <p:childTnLst>
                  <p:par>
                    <p:cTn id="28" fill="hold">
                      <p:stCondLst>
                        <p:cond delay="0"/>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33" restart="whenNotActive" fill="hold" evtFilter="cancelBubble" nodeType="interactiveSeq">
                <p:stCondLst>
                  <p:cond evt="onClick" delay="0">
                    <p:tgtEl>
                      <p:spTgt spid="15"/>
                    </p:tgtEl>
                  </p:cond>
                </p:stCondLst>
                <p:endSync evt="end" delay="0">
                  <p:rtn val="all"/>
                </p:endSync>
                <p:childTnLst>
                  <p:par>
                    <p:cTn id="34" fill="hold">
                      <p:stCondLst>
                        <p:cond delay="0"/>
                      </p:stCondLst>
                      <p:childTnLst>
                        <p:par>
                          <p:cTn id="35" fill="hold">
                            <p:stCondLst>
                              <p:cond delay="0"/>
                            </p:stCondLst>
                            <p:childTnLst>
                              <p:par>
                                <p:cTn id="36" presetID="10" presetClass="exit" presetSubtype="0" fill="hold" grpId="0" nodeType="clickEffect">
                                  <p:stCondLst>
                                    <p:cond delay="0"/>
                                  </p:stCondLst>
                                  <p:childTnLst>
                                    <p:animEffect transition="out" filter="fade">
                                      <p:cBhvr>
                                        <p:cTn id="37" dur="500"/>
                                        <p:tgtEl>
                                          <p:spTgt spid="15"/>
                                        </p:tgtEl>
                                      </p:cBhvr>
                                    </p:animEffect>
                                    <p:set>
                                      <p:cBhvr>
                                        <p:cTn id="38"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39" restart="whenNotActive" fill="hold" evtFilter="cancelBubble" nodeType="interactiveSeq">
                <p:stCondLst>
                  <p:cond evt="onClick" delay="0">
                    <p:tgtEl>
                      <p:spTgt spid="16"/>
                    </p:tgtEl>
                  </p:cond>
                </p:stCondLst>
                <p:endSync evt="end" delay="0">
                  <p:rtn val="all"/>
                </p:endSync>
                <p:childTnLst>
                  <p:par>
                    <p:cTn id="40" fill="hold">
                      <p:stCondLst>
                        <p:cond delay="0"/>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16"/>
                                        </p:tgtEl>
                                      </p:cBhvr>
                                    </p:animEffect>
                                    <p:set>
                                      <p:cBhvr>
                                        <p:cTn id="44"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45" restart="whenNotActive" fill="hold" evtFilter="cancelBubble" nodeType="interactiveSeq">
                <p:stCondLst>
                  <p:cond evt="onClick" delay="0">
                    <p:tgtEl>
                      <p:spTgt spid="17"/>
                    </p:tgtEl>
                  </p:cond>
                </p:stCondLst>
                <p:endSync evt="end" delay="0">
                  <p:rtn val="all"/>
                </p:endSync>
                <p:childTnLst>
                  <p:par>
                    <p:cTn id="46" fill="hold">
                      <p:stCondLst>
                        <p:cond delay="0"/>
                      </p:stCondLst>
                      <p:childTnLst>
                        <p:par>
                          <p:cTn id="47" fill="hold">
                            <p:stCondLst>
                              <p:cond delay="0"/>
                            </p:stCondLst>
                            <p:childTnLst>
                              <p:par>
                                <p:cTn id="48" presetID="10" presetClass="exit" presetSubtype="0" fill="hold" grpId="0" nodeType="clickEffect">
                                  <p:stCondLst>
                                    <p:cond delay="0"/>
                                  </p:stCondLst>
                                  <p:childTnLst>
                                    <p:animEffect transition="out" filter="fade">
                                      <p:cBhvr>
                                        <p:cTn id="49" dur="500"/>
                                        <p:tgtEl>
                                          <p:spTgt spid="17"/>
                                        </p:tgtEl>
                                      </p:cBhvr>
                                    </p:animEffect>
                                    <p:set>
                                      <p:cBhvr>
                                        <p:cTn id="50"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51" restart="whenNotActive" fill="hold" evtFilter="cancelBubble" nodeType="interactiveSeq">
                <p:stCondLst>
                  <p:cond evt="onClick" delay="0">
                    <p:tgtEl>
                      <p:spTgt spid="19"/>
                    </p:tgtEl>
                  </p:cond>
                </p:stCondLst>
                <p:endSync evt="end" delay="0">
                  <p:rtn val="all"/>
                </p:endSync>
                <p:childTnLst>
                  <p:par>
                    <p:cTn id="52" fill="hold">
                      <p:stCondLst>
                        <p:cond delay="0"/>
                      </p:stCondLst>
                      <p:childTnLst>
                        <p:par>
                          <p:cTn id="53" fill="hold">
                            <p:stCondLst>
                              <p:cond delay="0"/>
                            </p:stCondLst>
                            <p:childTnLst>
                              <p:par>
                                <p:cTn id="54" presetID="10" presetClass="exit" presetSubtype="0" fill="hold" grpId="0" nodeType="clickEffect">
                                  <p:stCondLst>
                                    <p:cond delay="0"/>
                                  </p:stCondLst>
                                  <p:childTnLst>
                                    <p:animEffect transition="out" filter="fade">
                                      <p:cBhvr>
                                        <p:cTn id="55" dur="500"/>
                                        <p:tgtEl>
                                          <p:spTgt spid="19"/>
                                        </p:tgtEl>
                                      </p:cBhvr>
                                    </p:animEffect>
                                    <p:set>
                                      <p:cBhvr>
                                        <p:cTn id="56"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9" grpId="0" animBg="1"/>
      <p:bldP spid="11" grpId="0" animBg="1"/>
      <p:bldP spid="13" grpId="0" animBg="1"/>
      <p:bldP spid="14" grpId="0"/>
      <p:bldP spid="15" grpId="0" animBg="1"/>
      <p:bldP spid="15" grpId="1" animBg="1"/>
      <p:bldP spid="16" grpId="0" animBg="1"/>
      <p:bldP spid="16" grpId="1" animBg="1"/>
      <p:bldP spid="17" grpId="0" animBg="1"/>
      <p:bldP spid="17" grpId="1" animBg="1"/>
      <p:bldP spid="18"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More Complex Denominators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251520" y="836712"/>
            <a:ext cx="7920880" cy="646331"/>
          </a:xfrm>
          <a:prstGeom prst="rect">
            <a:avLst/>
          </a:prstGeom>
          <a:noFill/>
        </p:spPr>
        <p:txBody>
          <a:bodyPr wrap="square" rtlCol="0">
            <a:spAutoFit/>
          </a:bodyPr>
          <a:lstStyle/>
          <a:p>
            <a:r>
              <a:rPr lang="en-GB" dirty="0"/>
              <a:t>You’ve seen ‘rationalising a denominator’, the idea being that we don’t like to divide things by an irrational number.</a:t>
            </a:r>
          </a:p>
        </p:txBody>
      </p:sp>
      <mc:AlternateContent xmlns:mc="http://schemas.openxmlformats.org/markup-compatibility/2006" xmlns:a14="http://schemas.microsoft.com/office/drawing/2010/main">
        <mc:Choice Requires="a14">
          <p:sp>
            <p:nvSpPr>
              <p:cNvPr id="6" name="Rectangle 5"/>
              <p:cNvSpPr/>
              <p:nvPr/>
            </p:nvSpPr>
            <p:spPr>
              <a:xfrm>
                <a:off x="239981" y="1697208"/>
                <a:ext cx="8064896" cy="1911677"/>
              </a:xfrm>
              <a:prstGeom prst="rect">
                <a:avLst/>
              </a:prstGeom>
            </p:spPr>
            <p:txBody>
              <a:bodyPr wrap="square">
                <a:spAutoFit/>
              </a:bodyPr>
              <a:lstStyle/>
              <a:p>
                <a:r>
                  <a:rPr lang="en-GB" dirty="0"/>
                  <a:t>But what do we multiply the top and bottom by if we have a more complicated denominator?</a:t>
                </a:r>
              </a:p>
              <a:p>
                <a:endParaRPr lang="en-GB" dirty="0"/>
              </a:p>
              <a:p>
                <a:pPr/>
                <a14:m>
                  <m:oMathPara xmlns:m="http://schemas.openxmlformats.org/officeDocument/2006/math">
                    <m:oMath>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1</m:t>
                          </m:r>
                        </m:num>
                        <m:den>
                          <m:rad>
                            <m:radPr>
                              <m:degHide m:val="on"/>
                              <m:ctrlPr>
                                <a:rPr lang="en-GB" sz="2800" b="0" i="1" smtClean="0">
                                  <a:latin typeface="Cambria Math" panose="02040503050406030204" pitchFamily="18" charset="0"/>
                                </a:rPr>
                              </m:ctrlPr>
                            </m:radPr>
                            <m:deg/>
                            <m:e>
                              <m:r>
                                <a:rPr lang="en-GB" sz="2800" b="0" i="1" smtClean="0">
                                  <a:latin typeface="Cambria Math" panose="02040503050406030204" pitchFamily="18" charset="0"/>
                                </a:rPr>
                                <m:t>2</m:t>
                              </m:r>
                            </m:e>
                          </m:rad>
                          <m:r>
                            <a:rPr lang="en-GB" sz="2800" b="0" i="1" smtClean="0">
                              <a:latin typeface="Cambria Math" panose="02040503050406030204" pitchFamily="18" charset="0"/>
                            </a:rPr>
                            <m:t>+1</m:t>
                          </m:r>
                        </m:den>
                      </m:f>
                      <m:r>
                        <a:rPr lang="en-GB" sz="2800" b="0" i="1" smtClean="0">
                          <a:latin typeface="Cambria Math" panose="02040503050406030204" pitchFamily="18" charset="0"/>
                        </a:rPr>
                        <m:t>×</m:t>
                      </m:r>
                      <m:f>
                        <m:fPr>
                          <m:ctrlPr>
                            <a:rPr lang="en-GB" sz="2800" b="1" i="1" smtClean="0">
                              <a:latin typeface="Cambria Math" panose="02040503050406030204" pitchFamily="18" charset="0"/>
                            </a:rPr>
                          </m:ctrlPr>
                        </m:fPr>
                        <m:num>
                          <m:rad>
                            <m:radPr>
                              <m:degHide m:val="on"/>
                              <m:ctrlPr>
                                <a:rPr lang="en-GB" sz="2800" b="1" i="1" smtClean="0">
                                  <a:latin typeface="Cambria Math" panose="02040503050406030204" pitchFamily="18" charset="0"/>
                                </a:rPr>
                              </m:ctrlPr>
                            </m:radPr>
                            <m:deg/>
                            <m:e>
                              <m:r>
                                <a:rPr lang="en-GB" sz="2800" b="1" i="1" smtClean="0">
                                  <a:latin typeface="Cambria Math" panose="02040503050406030204" pitchFamily="18" charset="0"/>
                                </a:rPr>
                                <m:t>𝟐</m:t>
                              </m:r>
                            </m:e>
                          </m:rad>
                          <m:r>
                            <a:rPr lang="en-GB" sz="2800" b="1" i="1" smtClean="0">
                              <a:latin typeface="Cambria Math" panose="02040503050406030204" pitchFamily="18" charset="0"/>
                            </a:rPr>
                            <m:t>−</m:t>
                          </m:r>
                          <m:r>
                            <a:rPr lang="en-GB" sz="2800" b="1" i="1" smtClean="0">
                              <a:latin typeface="Cambria Math" panose="02040503050406030204" pitchFamily="18" charset="0"/>
                            </a:rPr>
                            <m:t>𝟏</m:t>
                          </m:r>
                        </m:num>
                        <m:den>
                          <m:rad>
                            <m:radPr>
                              <m:degHide m:val="on"/>
                              <m:ctrlPr>
                                <a:rPr lang="en-GB" sz="2800" b="1" i="1" smtClean="0">
                                  <a:latin typeface="Cambria Math" panose="02040503050406030204" pitchFamily="18" charset="0"/>
                                </a:rPr>
                              </m:ctrlPr>
                            </m:radPr>
                            <m:deg/>
                            <m:e>
                              <m:r>
                                <a:rPr lang="en-GB" sz="2800" b="1" i="1" smtClean="0">
                                  <a:latin typeface="Cambria Math" panose="02040503050406030204" pitchFamily="18" charset="0"/>
                                </a:rPr>
                                <m:t>𝟐</m:t>
                              </m:r>
                            </m:e>
                          </m:rad>
                          <m:r>
                            <a:rPr lang="en-GB" sz="2800" b="1" i="1" smtClean="0">
                              <a:latin typeface="Cambria Math" panose="02040503050406030204" pitchFamily="18" charset="0"/>
                            </a:rPr>
                            <m:t>−</m:t>
                          </m:r>
                          <m:r>
                            <a:rPr lang="en-GB" sz="2800" b="1" i="1" smtClean="0">
                              <a:latin typeface="Cambria Math" panose="02040503050406030204" pitchFamily="18" charset="0"/>
                            </a:rPr>
                            <m:t>𝟏</m:t>
                          </m:r>
                        </m:den>
                      </m:f>
                      <m:r>
                        <a:rPr lang="en-GB" sz="2800" b="1" i="1" smtClean="0">
                          <a:latin typeface="Cambria Math" panose="02040503050406030204" pitchFamily="18" charset="0"/>
                        </a:rPr>
                        <m:t>=</m:t>
                      </m:r>
                      <m:f>
                        <m:fPr>
                          <m:ctrlPr>
                            <a:rPr lang="en-GB" sz="2800" b="1" i="1" smtClean="0">
                              <a:latin typeface="Cambria Math" panose="02040503050406030204" pitchFamily="18" charset="0"/>
                            </a:rPr>
                          </m:ctrlPr>
                        </m:fPr>
                        <m:num>
                          <m:rad>
                            <m:radPr>
                              <m:degHide m:val="on"/>
                              <m:ctrlPr>
                                <a:rPr lang="en-GB" sz="2800" b="1" i="1" smtClean="0">
                                  <a:latin typeface="Cambria Math" panose="02040503050406030204" pitchFamily="18" charset="0"/>
                                </a:rPr>
                              </m:ctrlPr>
                            </m:radPr>
                            <m:deg/>
                            <m:e>
                              <m:r>
                                <a:rPr lang="en-GB" sz="2800" b="1" i="1" smtClean="0">
                                  <a:latin typeface="Cambria Math" panose="02040503050406030204" pitchFamily="18" charset="0"/>
                                </a:rPr>
                                <m:t>𝟐</m:t>
                              </m:r>
                            </m:e>
                          </m:rad>
                          <m:r>
                            <a:rPr lang="en-GB" sz="2800" b="1" i="1" smtClean="0">
                              <a:latin typeface="Cambria Math" panose="02040503050406030204" pitchFamily="18" charset="0"/>
                            </a:rPr>
                            <m:t>−</m:t>
                          </m:r>
                          <m:r>
                            <a:rPr lang="en-GB" sz="2800" b="1" i="1" smtClean="0">
                              <a:latin typeface="Cambria Math" panose="02040503050406030204" pitchFamily="18" charset="0"/>
                            </a:rPr>
                            <m:t>𝟏</m:t>
                          </m:r>
                        </m:num>
                        <m:den>
                          <m:r>
                            <a:rPr lang="en-GB" sz="2800" b="1" i="1" smtClean="0">
                              <a:latin typeface="Cambria Math" panose="02040503050406030204" pitchFamily="18" charset="0"/>
                            </a:rPr>
                            <m:t>𝟏</m:t>
                          </m:r>
                        </m:den>
                      </m:f>
                      <m:r>
                        <a:rPr lang="en-GB" sz="2800" b="1" i="1" smtClean="0">
                          <a:latin typeface="Cambria Math" panose="02040503050406030204" pitchFamily="18" charset="0"/>
                        </a:rPr>
                        <m:t>=</m:t>
                      </m:r>
                      <m:rad>
                        <m:radPr>
                          <m:degHide m:val="on"/>
                          <m:ctrlPr>
                            <a:rPr lang="en-GB" sz="2800" b="1" i="1" smtClean="0">
                              <a:latin typeface="Cambria Math" panose="02040503050406030204" pitchFamily="18" charset="0"/>
                            </a:rPr>
                          </m:ctrlPr>
                        </m:radPr>
                        <m:deg/>
                        <m:e>
                          <m:r>
                            <a:rPr lang="en-GB" sz="2800" b="1" i="1" smtClean="0">
                              <a:latin typeface="Cambria Math" panose="02040503050406030204" pitchFamily="18" charset="0"/>
                            </a:rPr>
                            <m:t>𝟐</m:t>
                          </m:r>
                        </m:e>
                      </m:rad>
                      <m:r>
                        <a:rPr lang="en-GB" sz="2800" b="1" i="1" smtClean="0">
                          <a:latin typeface="Cambria Math" panose="02040503050406030204" pitchFamily="18" charset="0"/>
                        </a:rPr>
                        <m:t>−</m:t>
                      </m:r>
                      <m:r>
                        <a:rPr lang="en-GB" sz="2800" b="1" i="1" smtClean="0">
                          <a:latin typeface="Cambria Math" panose="02040503050406030204" pitchFamily="18" charset="0"/>
                        </a:rPr>
                        <m:t>𝟏</m:t>
                      </m:r>
                    </m:oMath>
                  </m:oMathPara>
                </a14:m>
                <a:endParaRPr lang="en-GB" sz="2800" b="1" dirty="0"/>
              </a:p>
            </p:txBody>
          </p:sp>
        </mc:Choice>
        <mc:Fallback xmlns="">
          <p:sp>
            <p:nvSpPr>
              <p:cNvPr id="6" name="Rectangle 5"/>
              <p:cNvSpPr>
                <a:spLocks noRot="1" noChangeAspect="1" noMove="1" noResize="1" noEditPoints="1" noAdjustHandles="1" noChangeArrowheads="1" noChangeShapeType="1" noTextEdit="1"/>
              </p:cNvSpPr>
              <p:nvPr/>
            </p:nvSpPr>
            <p:spPr>
              <a:xfrm>
                <a:off x="239981" y="1697208"/>
                <a:ext cx="8064896" cy="1911677"/>
              </a:xfrm>
              <a:prstGeom prst="rect">
                <a:avLst/>
              </a:prstGeom>
              <a:blipFill rotWithShape="0">
                <a:blip r:embed="rId2"/>
                <a:stretch>
                  <a:fillRect l="-605" t="-1592"/>
                </a:stretch>
              </a:blipFill>
            </p:spPr>
            <p:txBody>
              <a:bodyPr/>
              <a:lstStyle/>
              <a:p>
                <a:r>
                  <a:rPr lang="en-GB">
                    <a:noFill/>
                  </a:rPr>
                  <a:t> </a:t>
                </a:r>
              </a:p>
            </p:txBody>
          </p:sp>
        </mc:Fallback>
      </mc:AlternateContent>
      <p:sp>
        <p:nvSpPr>
          <p:cNvPr id="9" name="Rectangle 8"/>
          <p:cNvSpPr/>
          <p:nvPr/>
        </p:nvSpPr>
        <p:spPr>
          <a:xfrm>
            <a:off x="2868117" y="2404367"/>
            <a:ext cx="1180949" cy="133762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0" name="Rectangle 9"/>
          <p:cNvSpPr/>
          <p:nvPr/>
        </p:nvSpPr>
        <p:spPr>
          <a:xfrm>
            <a:off x="4444034" y="2404367"/>
            <a:ext cx="2924739" cy="133762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1" name="TextBox 10"/>
              <p:cNvSpPr txBox="1"/>
              <p:nvPr/>
            </p:nvSpPr>
            <p:spPr>
              <a:xfrm>
                <a:off x="527623" y="4449146"/>
                <a:ext cx="7832822"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We basically use the same expression but with the sign reversed (this is known as the </a:t>
                </a:r>
                <a:r>
                  <a:rPr lang="en-GB" i="1" dirty="0"/>
                  <a:t>conjugate</a:t>
                </a:r>
                <a:r>
                  <a:rPr lang="en-GB" dirty="0"/>
                  <a:t>). That way, we obtain the difference of two squares. Since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e>
                    </m:d>
                    <m:d>
                      <m:dPr>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2</m:t>
                        </m:r>
                      </m:sup>
                    </m:sSup>
                  </m:oMath>
                </a14:m>
                <a:r>
                  <a:rPr lang="en-GB" dirty="0"/>
                  <a:t>, any surds will be squared and thus we’ll end up with no surds in the denominator.</a:t>
                </a:r>
              </a:p>
            </p:txBody>
          </p:sp>
        </mc:Choice>
        <mc:Fallback xmlns="">
          <p:sp>
            <p:nvSpPr>
              <p:cNvPr id="11" name="TextBox 10"/>
              <p:cNvSpPr txBox="1">
                <a:spLocks noRot="1" noChangeAspect="1" noMove="1" noResize="1" noEditPoints="1" noAdjustHandles="1" noChangeArrowheads="1" noChangeShapeType="1" noTextEdit="1"/>
              </p:cNvSpPr>
              <p:nvPr/>
            </p:nvSpPr>
            <p:spPr>
              <a:xfrm>
                <a:off x="527623" y="4449146"/>
                <a:ext cx="7832822" cy="1200329"/>
              </a:xfrm>
              <a:prstGeom prst="rect">
                <a:avLst/>
              </a:prstGeom>
              <a:blipFill>
                <a:blip r:embed="rId3"/>
                <a:stretch>
                  <a:fillRect l="-543" t="-1990" b="-5970"/>
                </a:stretch>
              </a:blipFill>
            </p:spPr>
            <p:txBody>
              <a:bodyPr/>
              <a:lstStyle/>
              <a:p>
                <a:r>
                  <a:rPr lang="en-GB">
                    <a:noFill/>
                  </a:rPr>
                  <a:t> </a:t>
                </a:r>
              </a:p>
            </p:txBody>
          </p:sp>
        </mc:Fallback>
      </mc:AlternateContent>
    </p:spTree>
    <p:extLst>
      <p:ext uri="{BB962C8B-B14F-4D97-AF65-F5344CB8AC3E}">
        <p14:creationId xmlns:p14="http://schemas.microsoft.com/office/powerpoint/2010/main" val="108332404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nextCondLst>
                <p:cond evt="onClick" delay="0">
                  <p:tgtEl>
                    <p:spTgt spid="9"/>
                  </p:tgtEl>
                </p:cond>
              </p:nextCondLst>
            </p:seq>
            <p:seq concurrent="1" nextAc="seek">
              <p:cTn id="11" restart="whenNotActive" fill="hold" evtFilter="cancelBubble" nodeType="interactiveSeq">
                <p:stCondLst>
                  <p:cond evt="onClick" delay="0">
                    <p:tgtEl>
                      <p:spTgt spid="10"/>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10"/>
                                        </p:tgtEl>
                                      </p:cBhvr>
                                    </p:animEffect>
                                    <p:set>
                                      <p:cBhvr>
                                        <p:cTn id="16"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More 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683568" y="1052736"/>
                <a:ext cx="5472608" cy="942181"/>
              </a:xfrm>
              <a:prstGeom prst="rect">
                <a:avLst/>
              </a:prstGeom>
              <a:noFill/>
            </p:spPr>
            <p:txBody>
              <a:bodyPr wrap="square" rtlCol="0">
                <a:spAutoFit/>
              </a:bodyPr>
              <a:lstStyle/>
              <a:p>
                <a:pPr/>
                <a14:m>
                  <m:oMathPara xmlns:m="http://schemas.openxmlformats.org/officeDocument/2006/math">
                    <m:o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3</m:t>
                          </m:r>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6</m:t>
                              </m:r>
                            </m:e>
                          </m:rad>
                          <m:r>
                            <a:rPr lang="en-GB" sz="2400" b="0" i="1" smtClean="0">
                              <a:latin typeface="Cambria Math" panose="02040503050406030204" pitchFamily="18" charset="0"/>
                            </a:rPr>
                            <m:t>−2</m:t>
                          </m:r>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6</m:t>
                              </m:r>
                            </m:e>
                          </m:rad>
                          <m:r>
                            <a:rPr lang="en-GB" sz="2400" b="0" i="1" smtClean="0">
                              <a:latin typeface="Cambria Math" panose="02040503050406030204" pitchFamily="18" charset="0"/>
                            </a:rPr>
                            <m:t>+2</m:t>
                          </m:r>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6</m:t>
                              </m:r>
                            </m:e>
                          </m:rad>
                          <m:r>
                            <a:rPr lang="en-GB" sz="2400" b="0" i="1" smtClean="0">
                              <a:latin typeface="Cambria Math" panose="02040503050406030204" pitchFamily="18" charset="0"/>
                            </a:rPr>
                            <m:t>+2</m:t>
                          </m:r>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3</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6</m:t>
                              </m:r>
                            </m:e>
                          </m:rad>
                          <m:r>
                            <a:rPr lang="en-GB" sz="2400" b="0" i="1" smtClean="0">
                              <a:latin typeface="Cambria Math" panose="02040503050406030204" pitchFamily="18" charset="0"/>
                            </a:rPr>
                            <m:t>+6</m:t>
                          </m:r>
                        </m:num>
                        <m:den>
                          <m:r>
                            <a:rPr lang="en-GB" sz="2400" b="0" i="1" smtClean="0">
                              <a:latin typeface="Cambria Math" panose="02040503050406030204" pitchFamily="18" charset="0"/>
                            </a:rPr>
                            <m:t>2</m:t>
                          </m:r>
                        </m:den>
                      </m:f>
                    </m:oMath>
                  </m:oMathPara>
                </a14:m>
                <a:endParaRPr lang="en-GB"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683568" y="1052736"/>
                <a:ext cx="5472608" cy="942181"/>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037943" y="1029354"/>
                <a:ext cx="2998553" cy="185884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dirty="0"/>
                  <a:t>You can explicitly expand out </a:t>
                </a:r>
                <a14:m>
                  <m:oMath xmlns:m="http://schemas.openxmlformats.org/officeDocument/2006/math">
                    <m:d>
                      <m:dPr>
                        <m:ctrlPr>
                          <a:rPr lang="en-GB" sz="1600" b="0" i="1" smtClean="0">
                            <a:latin typeface="Cambria Math" panose="02040503050406030204" pitchFamily="18" charset="0"/>
                          </a:rPr>
                        </m:ctrlPr>
                      </m:dPr>
                      <m:e>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6</m:t>
                            </m:r>
                          </m:e>
                        </m:rad>
                        <m:r>
                          <a:rPr lang="en-GB" sz="1600" b="0" i="1" smtClean="0">
                            <a:latin typeface="Cambria Math" panose="02040503050406030204" pitchFamily="18" charset="0"/>
                          </a:rPr>
                          <m:t>−2</m:t>
                        </m:r>
                      </m:e>
                    </m:d>
                    <m:d>
                      <m:dPr>
                        <m:ctrlPr>
                          <a:rPr lang="en-GB" sz="1600" b="0" i="1" smtClean="0">
                            <a:latin typeface="Cambria Math" panose="02040503050406030204" pitchFamily="18" charset="0"/>
                          </a:rPr>
                        </m:ctrlPr>
                      </m:dPr>
                      <m:e>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6</m:t>
                            </m:r>
                          </m:e>
                        </m:rad>
                        <m:r>
                          <a:rPr lang="en-GB" sz="1600" b="0" i="1" smtClean="0">
                            <a:latin typeface="Cambria Math" panose="02040503050406030204" pitchFamily="18" charset="0"/>
                          </a:rPr>
                          <m:t>+2</m:t>
                        </m:r>
                      </m:e>
                    </m:d>
                  </m:oMath>
                </a14:m>
                <a:r>
                  <a:rPr lang="en-GB" sz="1600" dirty="0"/>
                  <a:t> in the denominator, but remember that </a:t>
                </a:r>
                <a14:m>
                  <m:oMath xmlns:m="http://schemas.openxmlformats.org/officeDocument/2006/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𝑎</m:t>
                        </m:r>
                        <m:r>
                          <a:rPr lang="en-GB" sz="1600" b="0" i="1" smtClean="0">
                            <a:latin typeface="Cambria Math" panose="02040503050406030204" pitchFamily="18" charset="0"/>
                          </a:rPr>
                          <m:t>−</m:t>
                        </m:r>
                        <m:r>
                          <a:rPr lang="en-GB" sz="1600" b="0" i="1" smtClean="0">
                            <a:latin typeface="Cambria Math" panose="02040503050406030204" pitchFamily="18" charset="0"/>
                          </a:rPr>
                          <m:t>𝑏</m:t>
                        </m:r>
                      </m:e>
                    </m:d>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𝑎</m:t>
                        </m:r>
                        <m:r>
                          <a:rPr lang="en-GB" sz="1600" b="0" i="1" smtClean="0">
                            <a:latin typeface="Cambria Math" panose="02040503050406030204" pitchFamily="18" charset="0"/>
                          </a:rPr>
                          <m:t>+</m:t>
                        </m:r>
                        <m:r>
                          <a:rPr lang="en-GB" sz="1600" b="0" i="1" smtClean="0">
                            <a:latin typeface="Cambria Math" panose="02040503050406030204" pitchFamily="18" charset="0"/>
                          </a:rPr>
                          <m:t>𝑏</m:t>
                        </m:r>
                      </m:e>
                    </m:d>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𝑎</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𝑏</m:t>
                        </m:r>
                      </m:e>
                      <m:sup>
                        <m:r>
                          <a:rPr lang="en-GB" sz="1600" b="0" i="1" smtClean="0">
                            <a:latin typeface="Cambria Math" panose="02040503050406030204" pitchFamily="18" charset="0"/>
                          </a:rPr>
                          <m:t>2</m:t>
                        </m:r>
                      </m:sup>
                    </m:sSup>
                  </m:oMath>
                </a14:m>
                <a:r>
                  <a:rPr lang="en-GB" sz="1600" dirty="0"/>
                  <a:t> so we can mentally obtain </a:t>
                </a:r>
                <a14:m>
                  <m:oMath xmlns:m="http://schemas.openxmlformats.org/officeDocument/2006/math">
                    <m:r>
                      <a:rPr lang="en-GB" sz="1600" b="0" i="1" smtClean="0">
                        <a:latin typeface="Cambria Math" panose="02040503050406030204" pitchFamily="18" charset="0"/>
                      </a:rPr>
                      <m:t>6−4=2</m:t>
                    </m:r>
                  </m:oMath>
                </a14:m>
                <a:endParaRPr lang="en-GB" sz="1600" dirty="0"/>
              </a:p>
              <a:p>
                <a:r>
                  <a:rPr lang="en-GB" sz="1600" dirty="0"/>
                  <a:t>Just remember: ‘difference of two squares’!</a:t>
                </a:r>
              </a:p>
            </p:txBody>
          </p:sp>
        </mc:Choice>
        <mc:Fallback xmlns="">
          <p:sp>
            <p:nvSpPr>
              <p:cNvPr id="7" name="TextBox 6"/>
              <p:cNvSpPr txBox="1">
                <a:spLocks noRot="1" noChangeAspect="1" noMove="1" noResize="1" noEditPoints="1" noAdjustHandles="1" noChangeArrowheads="1" noChangeShapeType="1" noTextEdit="1"/>
              </p:cNvSpPr>
              <p:nvPr/>
            </p:nvSpPr>
            <p:spPr>
              <a:xfrm>
                <a:off x="6037943" y="1029354"/>
                <a:ext cx="2998553" cy="1858842"/>
              </a:xfrm>
              <a:prstGeom prst="rect">
                <a:avLst/>
              </a:prstGeom>
              <a:blipFill>
                <a:blip r:embed="rId3"/>
                <a:stretch>
                  <a:fillRect l="-605" t="-324" r="-1613" b="-2589"/>
                </a:stretch>
              </a:blipFill>
            </p:spPr>
            <p:txBody>
              <a:bodyPr/>
              <a:lstStyle/>
              <a:p>
                <a:r>
                  <a:rPr lang="en-GB">
                    <a:noFill/>
                  </a:rPr>
                  <a:t> </a:t>
                </a:r>
              </a:p>
            </p:txBody>
          </p:sp>
        </mc:Fallback>
      </mc:AlternateContent>
      <p:cxnSp>
        <p:nvCxnSpPr>
          <p:cNvPr id="9" name="Straight Arrow Connector 8"/>
          <p:cNvCxnSpPr/>
          <p:nvPr/>
        </p:nvCxnSpPr>
        <p:spPr>
          <a:xfrm flipH="1">
            <a:off x="5220072" y="1700808"/>
            <a:ext cx="936104" cy="720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4092304" y="1080655"/>
            <a:ext cx="1127768" cy="9025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2" name="TextBox 11"/>
              <p:cNvSpPr txBox="1"/>
              <p:nvPr/>
            </p:nvSpPr>
            <p:spPr>
              <a:xfrm>
                <a:off x="755576" y="4529342"/>
                <a:ext cx="7704856" cy="1352486"/>
              </a:xfrm>
              <a:prstGeom prst="rect">
                <a:avLst/>
              </a:prstGeom>
              <a:noFill/>
            </p:spPr>
            <p:txBody>
              <a:bodyPr wrap="square" rtlCol="0">
                <a:spAutoFit/>
              </a:bodyPr>
              <a:lstStyle/>
              <a:p>
                <a:pPr/>
                <a14:m>
                  <m:oMathPara xmlns:m="http://schemas.openxmlformats.org/officeDocument/2006/math">
                    <m:o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3</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2</m:t>
                              </m:r>
                            </m:e>
                          </m:rad>
                          <m:r>
                            <a:rPr lang="en-GB" sz="2400" b="0" i="1" smtClean="0">
                              <a:latin typeface="Cambria Math" panose="02040503050406030204" pitchFamily="18" charset="0"/>
                            </a:rPr>
                            <m:t>+4</m:t>
                          </m:r>
                        </m:num>
                        <m:den>
                          <m:r>
                            <a:rPr lang="en-GB" sz="2400" b="0" i="1" smtClean="0">
                              <a:latin typeface="Cambria Math" panose="02040503050406030204" pitchFamily="18" charset="0"/>
                            </a:rPr>
                            <m:t>5</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2</m:t>
                              </m:r>
                            </m:e>
                          </m:rad>
                          <m:r>
                            <a:rPr lang="en-GB" sz="2400" b="0" i="1" smtClean="0">
                              <a:latin typeface="Cambria Math" panose="02040503050406030204" pitchFamily="18" charset="0"/>
                            </a:rPr>
                            <m:t>−7</m:t>
                          </m:r>
                        </m:den>
                      </m:f>
                      <m:r>
                        <a:rPr lang="en-GB" sz="2400" b="0" i="1" smtClean="0">
                          <a:latin typeface="Cambria Math" panose="02040503050406030204" pitchFamily="18" charset="0"/>
                        </a:rPr>
                        <m:t>×</m:t>
                      </m:r>
                      <m:f>
                        <m:fPr>
                          <m:ctrlPr>
                            <a:rPr lang="en-GB" sz="2400" b="1" i="1">
                              <a:latin typeface="Cambria Math" panose="02040503050406030204" pitchFamily="18" charset="0"/>
                            </a:rPr>
                          </m:ctrlPr>
                        </m:fPr>
                        <m:num>
                          <m:r>
                            <a:rPr lang="en-GB" sz="2400" b="1" i="1">
                              <a:latin typeface="Cambria Math" panose="02040503050406030204" pitchFamily="18" charset="0"/>
                            </a:rPr>
                            <m:t>𝟓</m:t>
                          </m:r>
                          <m:rad>
                            <m:radPr>
                              <m:degHide m:val="on"/>
                              <m:ctrlPr>
                                <a:rPr lang="en-GB" sz="2400" b="1" i="1">
                                  <a:latin typeface="Cambria Math" panose="02040503050406030204" pitchFamily="18" charset="0"/>
                                </a:rPr>
                              </m:ctrlPr>
                            </m:radPr>
                            <m:deg/>
                            <m:e>
                              <m:r>
                                <a:rPr lang="en-GB" sz="2400" b="1" i="1">
                                  <a:latin typeface="Cambria Math" panose="02040503050406030204" pitchFamily="18" charset="0"/>
                                </a:rPr>
                                <m:t>𝟐</m:t>
                              </m:r>
                            </m:e>
                          </m:rad>
                          <m:r>
                            <a:rPr lang="en-GB" sz="2400" b="1" i="1" smtClean="0">
                              <a:latin typeface="Cambria Math" panose="02040503050406030204" pitchFamily="18" charset="0"/>
                            </a:rPr>
                            <m:t>+</m:t>
                          </m:r>
                          <m:r>
                            <a:rPr lang="en-GB" sz="2400" b="1" i="1">
                              <a:latin typeface="Cambria Math" panose="02040503050406030204" pitchFamily="18" charset="0"/>
                            </a:rPr>
                            <m:t>𝟕</m:t>
                          </m:r>
                        </m:num>
                        <m:den>
                          <m:r>
                            <a:rPr lang="en-GB" sz="2400" b="1" i="1">
                              <a:latin typeface="Cambria Math" panose="02040503050406030204" pitchFamily="18" charset="0"/>
                            </a:rPr>
                            <m:t>𝟓</m:t>
                          </m:r>
                          <m:rad>
                            <m:radPr>
                              <m:degHide m:val="on"/>
                              <m:ctrlPr>
                                <a:rPr lang="en-GB" sz="2400" b="1" i="1">
                                  <a:latin typeface="Cambria Math" panose="02040503050406030204" pitchFamily="18" charset="0"/>
                                </a:rPr>
                              </m:ctrlPr>
                            </m:radPr>
                            <m:deg/>
                            <m:e>
                              <m:r>
                                <a:rPr lang="en-GB" sz="2400" b="1" i="1">
                                  <a:latin typeface="Cambria Math" panose="02040503050406030204" pitchFamily="18" charset="0"/>
                                </a:rPr>
                                <m:t>𝟐</m:t>
                              </m:r>
                            </m:e>
                          </m:rad>
                          <m:r>
                            <a:rPr lang="en-GB" sz="2400" b="1" i="1" smtClean="0">
                              <a:latin typeface="Cambria Math" panose="02040503050406030204" pitchFamily="18" charset="0"/>
                            </a:rPr>
                            <m:t>+</m:t>
                          </m:r>
                          <m:r>
                            <a:rPr lang="en-GB" sz="2400" b="1" i="1">
                              <a:latin typeface="Cambria Math" panose="02040503050406030204" pitchFamily="18" charset="0"/>
                            </a:rPr>
                            <m:t>𝟕</m:t>
                          </m:r>
                        </m:den>
                      </m:f>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𝟑𝟎</m:t>
                          </m:r>
                          <m:r>
                            <a:rPr lang="en-GB" sz="2400" b="1" i="1" smtClean="0">
                              <a:latin typeface="Cambria Math" panose="02040503050406030204" pitchFamily="18" charset="0"/>
                            </a:rPr>
                            <m:t>+</m:t>
                          </m:r>
                          <m:r>
                            <a:rPr lang="en-GB" sz="2400" b="1" i="1" smtClean="0">
                              <a:latin typeface="Cambria Math" panose="02040503050406030204" pitchFamily="18" charset="0"/>
                            </a:rPr>
                            <m:t>𝟐𝟏</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r>
                            <a:rPr lang="en-GB" sz="2400" b="1" i="1" smtClean="0">
                              <a:latin typeface="Cambria Math" panose="02040503050406030204" pitchFamily="18" charset="0"/>
                            </a:rPr>
                            <m:t>+</m:t>
                          </m:r>
                          <m:r>
                            <a:rPr lang="en-GB" sz="2400" b="1" i="1" smtClean="0">
                              <a:latin typeface="Cambria Math" panose="02040503050406030204" pitchFamily="18" charset="0"/>
                            </a:rPr>
                            <m:t>𝟐𝟎</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r>
                            <a:rPr lang="en-GB" sz="2400" b="1" i="1" smtClean="0">
                              <a:latin typeface="Cambria Math" panose="02040503050406030204" pitchFamily="18" charset="0"/>
                            </a:rPr>
                            <m:t>+</m:t>
                          </m:r>
                          <m:r>
                            <a:rPr lang="en-GB" sz="2400" b="1" i="1" smtClean="0">
                              <a:latin typeface="Cambria Math" panose="02040503050406030204" pitchFamily="18" charset="0"/>
                            </a:rPr>
                            <m:t>𝟐𝟖</m:t>
                          </m:r>
                        </m:num>
                        <m:den>
                          <m:r>
                            <a:rPr lang="en-GB" sz="2400" b="1" i="1" smtClean="0">
                              <a:latin typeface="Cambria Math" panose="02040503050406030204" pitchFamily="18" charset="0"/>
                            </a:rPr>
                            <m:t>𝟏</m:t>
                          </m:r>
                        </m:den>
                      </m:f>
                    </m:oMath>
                    <m:oMath>
                      <m:r>
                        <a:rPr lang="en-GB" sz="2400" b="1" i="1" smtClean="0">
                          <a:latin typeface="Cambria Math" panose="02040503050406030204" pitchFamily="18" charset="0"/>
                        </a:rPr>
                        <m:t>                                       =</m:t>
                      </m:r>
                      <m:r>
                        <a:rPr lang="en-GB" sz="2400" b="1" i="1" smtClean="0">
                          <a:latin typeface="Cambria Math" panose="02040503050406030204" pitchFamily="18" charset="0"/>
                        </a:rPr>
                        <m:t>𝟓𝟖</m:t>
                      </m:r>
                      <m:r>
                        <a:rPr lang="en-GB" sz="2400" b="1" i="1" smtClean="0">
                          <a:latin typeface="Cambria Math" panose="02040503050406030204" pitchFamily="18" charset="0"/>
                        </a:rPr>
                        <m:t>+</m:t>
                      </m:r>
                      <m:r>
                        <a:rPr lang="en-GB" sz="2400" b="1" i="1" smtClean="0">
                          <a:latin typeface="Cambria Math" panose="02040503050406030204" pitchFamily="18" charset="0"/>
                        </a:rPr>
                        <m:t>𝟒𝟏</m:t>
                      </m:r>
                      <m:rad>
                        <m:radPr>
                          <m:degHide m:val="on"/>
                          <m:ctrlPr>
                            <a:rPr lang="en-GB" sz="2400" b="1" i="1" smtClean="0">
                              <a:latin typeface="Cambria Math" panose="02040503050406030204" pitchFamily="18" charset="0"/>
                            </a:rPr>
                          </m:ctrlPr>
                        </m:radPr>
                        <m:deg/>
                        <m:e>
                          <m:r>
                            <a:rPr lang="en-GB" sz="2400" b="1" i="1" smtClean="0">
                              <a:latin typeface="Cambria Math" panose="02040503050406030204" pitchFamily="18" charset="0"/>
                            </a:rPr>
                            <m:t>𝟐</m:t>
                          </m:r>
                        </m:e>
                      </m:rad>
                    </m:oMath>
                  </m:oMathPara>
                </a14:m>
                <a:endParaRPr lang="en-GB" sz="2400"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755576" y="4529342"/>
                <a:ext cx="7704856" cy="1352486"/>
              </a:xfrm>
              <a:prstGeom prst="rect">
                <a:avLst/>
              </a:prstGeom>
              <a:blipFill rotWithShape="0">
                <a:blip r:embed="rId4"/>
                <a:stretch>
                  <a:fillRect/>
                </a:stretch>
              </a:blipFill>
            </p:spPr>
            <p:txBody>
              <a:bodyPr/>
              <a:lstStyle/>
              <a:p>
                <a:r>
                  <a:rPr lang="en-GB">
                    <a:noFill/>
                  </a:rPr>
                  <a:t> </a:t>
                </a:r>
              </a:p>
            </p:txBody>
          </p:sp>
        </mc:Fallback>
      </mc:AlternateContent>
      <p:sp>
        <p:nvSpPr>
          <p:cNvPr id="10" name="Rectangle 9"/>
          <p:cNvSpPr/>
          <p:nvPr/>
        </p:nvSpPr>
        <p:spPr>
          <a:xfrm>
            <a:off x="2891405" y="4509120"/>
            <a:ext cx="1158837" cy="95173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4355976" y="4509120"/>
            <a:ext cx="3600400" cy="137270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2819397" y="1080655"/>
            <a:ext cx="992582" cy="9025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7" name="TextBox 16"/>
              <p:cNvSpPr txBox="1"/>
              <p:nvPr/>
            </p:nvSpPr>
            <p:spPr>
              <a:xfrm>
                <a:off x="1260621" y="3002172"/>
                <a:ext cx="5472608" cy="942181"/>
              </a:xfrm>
              <a:prstGeom prst="rect">
                <a:avLst/>
              </a:prstGeom>
              <a:noFill/>
            </p:spPr>
            <p:txBody>
              <a:bodyPr wrap="square" rtlCol="0">
                <a:spAutoFit/>
              </a:bodyPr>
              <a:lstStyle/>
              <a:p>
                <a:pPr/>
                <a14:m>
                  <m:oMathPara xmlns:m="http://schemas.openxmlformats.org/officeDocument/2006/math">
                    <m:o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4</m:t>
                          </m:r>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+1</m:t>
                          </m:r>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−1</m:t>
                          </m:r>
                        </m:num>
                        <m:den>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−1</m:t>
                          </m:r>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4</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−4</m:t>
                          </m:r>
                        </m:num>
                        <m:den>
                          <m:r>
                            <a:rPr lang="en-GB" sz="2400" b="0" i="1" smtClean="0">
                              <a:latin typeface="Cambria Math" panose="02040503050406030204" pitchFamily="18" charset="0"/>
                            </a:rPr>
                            <m:t>2</m:t>
                          </m:r>
                        </m:den>
                      </m:f>
                      <m:r>
                        <a:rPr lang="en-GB" sz="2400" b="0" i="1" smtClean="0">
                          <a:latin typeface="Cambria Math" panose="02040503050406030204" pitchFamily="18" charset="0"/>
                        </a:rPr>
                        <m:t>=2</m:t>
                      </m:r>
                      <m:rad>
                        <m:radPr>
                          <m:degHide m:val="on"/>
                          <m:ctrlPr>
                            <a:rPr lang="en-GB" sz="2400" b="0" i="1" smtClean="0">
                              <a:latin typeface="Cambria Math" panose="02040503050406030204" pitchFamily="18" charset="0"/>
                            </a:rPr>
                          </m:ctrlPr>
                        </m:radPr>
                        <m:deg/>
                        <m:e>
                          <m:r>
                            <a:rPr lang="en-GB" sz="2400" b="0" i="1" smtClean="0">
                              <a:latin typeface="Cambria Math" panose="02040503050406030204" pitchFamily="18" charset="0"/>
                            </a:rPr>
                            <m:t>3</m:t>
                          </m:r>
                        </m:e>
                      </m:rad>
                      <m:r>
                        <a:rPr lang="en-GB" sz="2400" b="0" i="1" smtClean="0">
                          <a:latin typeface="Cambria Math" panose="02040503050406030204" pitchFamily="18" charset="0"/>
                        </a:rPr>
                        <m:t>−2</m:t>
                      </m:r>
                    </m:oMath>
                  </m:oMathPara>
                </a14:m>
                <a:endParaRPr lang="en-GB"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1260621" y="3002172"/>
                <a:ext cx="5472608" cy="942181"/>
              </a:xfrm>
              <a:prstGeom prst="rect">
                <a:avLst/>
              </a:prstGeom>
              <a:blipFill rotWithShape="0">
                <a:blip r:embed="rId5"/>
                <a:stretch>
                  <a:fillRect/>
                </a:stretch>
              </a:blipFill>
            </p:spPr>
            <p:txBody>
              <a:bodyPr/>
              <a:lstStyle/>
              <a:p>
                <a:r>
                  <a:rPr lang="en-GB">
                    <a:noFill/>
                  </a:rPr>
                  <a:t> </a:t>
                </a:r>
              </a:p>
            </p:txBody>
          </p:sp>
        </mc:Fallback>
      </mc:AlternateContent>
      <p:sp>
        <p:nvSpPr>
          <p:cNvPr id="15" name="Rectangle 14"/>
          <p:cNvSpPr/>
          <p:nvPr/>
        </p:nvSpPr>
        <p:spPr>
          <a:xfrm>
            <a:off x="3965474" y="3076500"/>
            <a:ext cx="1127768" cy="9025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2681549" y="3076501"/>
            <a:ext cx="992582" cy="9025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5392085" y="3076500"/>
            <a:ext cx="1295154" cy="90252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7012833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nextCondLst>
                <p:cond evt="onClick" delay="0">
                  <p:tgtEl>
                    <p:spTgt spid="11"/>
                  </p:tgtEl>
                </p:cond>
              </p:nextCondLst>
            </p:seq>
            <p:seq concurrent="1" nextAc="seek">
              <p:cTn id="21" restart="whenNotActive" fill="hold" evtFilter="cancelBubble" nodeType="interactiveSeq">
                <p:stCondLst>
                  <p:cond evt="onClick" delay="0">
                    <p:tgtEl>
                      <p:spTgt spid="13"/>
                    </p:tgtEl>
                  </p:cond>
                </p:stCondLst>
                <p:endSync evt="end" delay="0">
                  <p:rtn val="all"/>
                </p:endSync>
                <p:childTnLst>
                  <p:par>
                    <p:cTn id="22" fill="hold">
                      <p:stCondLst>
                        <p:cond delay="0"/>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13"/>
                                        </p:tgtEl>
                                      </p:cBhvr>
                                    </p:animEffect>
                                    <p:set>
                                      <p:cBhvr>
                                        <p:cTn id="26"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27" restart="whenNotActive" fill="hold" evtFilter="cancelBubble" nodeType="interactiveSeq">
                <p:stCondLst>
                  <p:cond evt="onClick" delay="0">
                    <p:tgtEl>
                      <p:spTgt spid="14"/>
                    </p:tgtEl>
                  </p:cond>
                </p:stCondLst>
                <p:endSync evt="end" delay="0">
                  <p:rtn val="all"/>
                </p:endSync>
                <p:childTnLst>
                  <p:par>
                    <p:cTn id="28" fill="hold">
                      <p:stCondLst>
                        <p:cond delay="0"/>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33" restart="whenNotActive" fill="hold" evtFilter="cancelBubble" nodeType="interactiveSeq">
                <p:stCondLst>
                  <p:cond evt="onClick" delay="0">
                    <p:tgtEl>
                      <p:spTgt spid="15"/>
                    </p:tgtEl>
                  </p:cond>
                </p:stCondLst>
                <p:endSync evt="end" delay="0">
                  <p:rtn val="all"/>
                </p:endSync>
                <p:childTnLst>
                  <p:par>
                    <p:cTn id="34" fill="hold">
                      <p:stCondLst>
                        <p:cond delay="0"/>
                      </p:stCondLst>
                      <p:childTnLst>
                        <p:par>
                          <p:cTn id="35" fill="hold">
                            <p:stCondLst>
                              <p:cond delay="0"/>
                            </p:stCondLst>
                            <p:childTnLst>
                              <p:par>
                                <p:cTn id="36" presetID="10" presetClass="exit" presetSubtype="0" fill="hold" grpId="0" nodeType="clickEffect">
                                  <p:stCondLst>
                                    <p:cond delay="0"/>
                                  </p:stCondLst>
                                  <p:childTnLst>
                                    <p:animEffect transition="out" filter="fade">
                                      <p:cBhvr>
                                        <p:cTn id="37" dur="500"/>
                                        <p:tgtEl>
                                          <p:spTgt spid="15"/>
                                        </p:tgtEl>
                                      </p:cBhvr>
                                    </p:animEffect>
                                    <p:set>
                                      <p:cBhvr>
                                        <p:cTn id="38"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39" restart="whenNotActive" fill="hold" evtFilter="cancelBubble" nodeType="interactiveSeq">
                <p:stCondLst>
                  <p:cond evt="onClick" delay="0">
                    <p:tgtEl>
                      <p:spTgt spid="16"/>
                    </p:tgtEl>
                  </p:cond>
                </p:stCondLst>
                <p:endSync evt="end" delay="0">
                  <p:rtn val="all"/>
                </p:endSync>
                <p:childTnLst>
                  <p:par>
                    <p:cTn id="40" fill="hold">
                      <p:stCondLst>
                        <p:cond delay="0"/>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16"/>
                                        </p:tgtEl>
                                      </p:cBhvr>
                                    </p:animEffect>
                                    <p:set>
                                      <p:cBhvr>
                                        <p:cTn id="44"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45" restart="whenNotActive" fill="hold" evtFilter="cancelBubble" nodeType="interactiveSeq">
                <p:stCondLst>
                  <p:cond evt="onClick" delay="0">
                    <p:tgtEl>
                      <p:spTgt spid="18"/>
                    </p:tgtEl>
                  </p:cond>
                </p:stCondLst>
                <p:endSync evt="end" delay="0">
                  <p:rtn val="all"/>
                </p:endSync>
                <p:childTnLst>
                  <p:par>
                    <p:cTn id="46" fill="hold">
                      <p:stCondLst>
                        <p:cond delay="0"/>
                      </p:stCondLst>
                      <p:childTnLst>
                        <p:par>
                          <p:cTn id="47" fill="hold">
                            <p:stCondLst>
                              <p:cond delay="0"/>
                            </p:stCondLst>
                            <p:childTnLst>
                              <p:par>
                                <p:cTn id="48" presetID="10" presetClass="exit" presetSubtype="0" fill="hold" grpId="0" nodeType="clickEffect">
                                  <p:stCondLst>
                                    <p:cond delay="0"/>
                                  </p:stCondLst>
                                  <p:childTnLst>
                                    <p:animEffect transition="out" filter="fade">
                                      <p:cBhvr>
                                        <p:cTn id="49" dur="500"/>
                                        <p:tgtEl>
                                          <p:spTgt spid="18"/>
                                        </p:tgtEl>
                                      </p:cBhvr>
                                    </p:animEffect>
                                    <p:set>
                                      <p:cBhvr>
                                        <p:cTn id="50"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7" grpId="0" animBg="1"/>
      <p:bldP spid="11" grpId="0" animBg="1"/>
      <p:bldP spid="10" grpId="0" animBg="1"/>
      <p:bldP spid="13" grpId="0" animBg="1"/>
      <p:bldP spid="14" grpId="0" animBg="1"/>
      <p:bldP spid="15" grpId="0" animBg="1"/>
      <p:bldP spid="16" grpId="0" animBg="1"/>
      <p:bldP spid="1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8" name="TextBox 7"/>
          <p:cNvSpPr txBox="1"/>
          <p:nvPr/>
        </p:nvSpPr>
        <p:spPr>
          <a:xfrm>
            <a:off x="4788024" y="3801444"/>
            <a:ext cx="345609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AQA IGCSE FM June 2013 Paper 1</a:t>
            </a:r>
          </a:p>
        </p:txBody>
      </p:sp>
      <mc:AlternateContent xmlns:mc="http://schemas.openxmlformats.org/markup-compatibility/2006" xmlns:a14="http://schemas.microsoft.com/office/drawing/2010/main">
        <mc:Choice Requires="a14">
          <p:sp>
            <p:nvSpPr>
              <p:cNvPr id="9" name="TextBox 8"/>
              <p:cNvSpPr txBox="1"/>
              <p:nvPr/>
            </p:nvSpPr>
            <p:spPr>
              <a:xfrm>
                <a:off x="4788024" y="4161484"/>
                <a:ext cx="3960440" cy="99777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Solve </a:t>
                </a:r>
                <a14:m>
                  <m:oMath xmlns:m="http://schemas.openxmlformats.org/officeDocument/2006/math">
                    <m:r>
                      <a:rPr lang="en-GB" b="0" i="1" smtClean="0">
                        <a:latin typeface="Cambria Math" panose="02040503050406030204" pitchFamily="18" charset="0"/>
                      </a:rPr>
                      <m:t>𝑦</m:t>
                    </m:r>
                    <m:d>
                      <m:dPr>
                        <m:ctrlPr>
                          <a:rPr lang="en-GB" b="0" i="1" smtClean="0">
                            <a:latin typeface="Cambria Math" panose="02040503050406030204" pitchFamily="18" charset="0"/>
                          </a:rPr>
                        </m:ctrlPr>
                      </m:dPr>
                      <m:e>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r>
                          <a:rPr lang="en-GB" b="0" i="1" smtClean="0">
                            <a:latin typeface="Cambria Math" panose="02040503050406030204" pitchFamily="18" charset="0"/>
                          </a:rPr>
                          <m:t>−1</m:t>
                        </m:r>
                      </m:e>
                    </m:d>
                    <m:r>
                      <a:rPr lang="en-GB" b="0" i="1" smtClean="0">
                        <a:latin typeface="Cambria Math" panose="02040503050406030204" pitchFamily="18" charset="0"/>
                      </a:rPr>
                      <m:t>=8</m:t>
                    </m:r>
                  </m:oMath>
                </a14:m>
                <a:endParaRPr lang="en-GB" dirty="0"/>
              </a:p>
              <a:p>
                <a:r>
                  <a:rPr lang="en-GB" dirty="0"/>
                  <a:t>Give your answer in the form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oMath>
                </a14:m>
                <a:r>
                  <a:rPr lang="en-GB" dirty="0"/>
                  <a:t> where </a:t>
                </a:r>
                <a14:m>
                  <m:oMath xmlns:m="http://schemas.openxmlformats.org/officeDocument/2006/math">
                    <m:r>
                      <a:rPr lang="en-GB" b="0" i="1" smtClean="0">
                        <a:latin typeface="Cambria Math" panose="02040503050406030204" pitchFamily="18" charset="0"/>
                      </a:rPr>
                      <m:t>𝑎</m:t>
                    </m:r>
                  </m:oMath>
                </a14:m>
                <a:r>
                  <a:rPr lang="en-GB" dirty="0"/>
                  <a:t> and </a:t>
                </a:r>
                <a14:m>
                  <m:oMath xmlns:m="http://schemas.openxmlformats.org/officeDocument/2006/math">
                    <m:r>
                      <a:rPr lang="en-GB" b="0" i="1" smtClean="0">
                        <a:latin typeface="Cambria Math" panose="02040503050406030204" pitchFamily="18" charset="0"/>
                      </a:rPr>
                      <m:t>𝑏</m:t>
                    </m:r>
                  </m:oMath>
                </a14:m>
                <a:r>
                  <a:rPr lang="en-GB" dirty="0"/>
                  <a:t> are integers.</a:t>
                </a:r>
              </a:p>
            </p:txBody>
          </p:sp>
        </mc:Choice>
        <mc:Fallback xmlns="">
          <p:sp>
            <p:nvSpPr>
              <p:cNvPr id="9" name="TextBox 8"/>
              <p:cNvSpPr txBox="1">
                <a:spLocks noRot="1" noChangeAspect="1" noMove="1" noResize="1" noEditPoints="1" noAdjustHandles="1" noChangeArrowheads="1" noChangeShapeType="1" noTextEdit="1"/>
              </p:cNvSpPr>
              <p:nvPr/>
            </p:nvSpPr>
            <p:spPr>
              <a:xfrm>
                <a:off x="4788024" y="4161484"/>
                <a:ext cx="3960440" cy="997774"/>
              </a:xfrm>
              <a:prstGeom prst="rect">
                <a:avLst/>
              </a:prstGeom>
              <a:blipFill rotWithShape="0">
                <a:blip r:embed="rId2"/>
                <a:stretch>
                  <a:fillRect b="-105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936169" y="5384937"/>
                <a:ext cx="3664150" cy="1442767"/>
              </a:xfrm>
              <a:prstGeom prst="rect">
                <a:avLst/>
              </a:prstGeom>
              <a:noFill/>
            </p:spPr>
            <p:txBody>
              <a:bodyPr wrap="square" rtlCol="0">
                <a:spAutoFit/>
              </a:bodyPr>
              <a:lstStyle/>
              <a:p>
                <a:pPr/>
                <a14:m>
                  <m:oMathPara xmlns:m="http://schemas.openxmlformats.org/officeDocument/2006/math">
                    <m:oMath>
                      <m:r>
                        <a:rPr lang="en-GB" sz="2000" b="1" i="1" smtClean="0">
                          <a:latin typeface="Cambria Math" panose="02040503050406030204" pitchFamily="18" charset="0"/>
                        </a:rPr>
                        <m:t>𝒚</m:t>
                      </m:r>
                      <m:r>
                        <a:rPr lang="en-GB" sz="2000" b="1" i="1" smtClean="0">
                          <a:latin typeface="Cambria Math" panose="02040503050406030204" pitchFamily="18" charset="0"/>
                        </a:rPr>
                        <m:t>=</m:t>
                      </m:r>
                      <m:f>
                        <m:fPr>
                          <m:ctrlPr>
                            <a:rPr lang="en-GB" sz="2000" b="1" i="1" smtClean="0">
                              <a:latin typeface="Cambria Math" panose="02040503050406030204" pitchFamily="18" charset="0"/>
                            </a:rPr>
                          </m:ctrlPr>
                        </m:fPr>
                        <m:num>
                          <m:r>
                            <a:rPr lang="en-GB" sz="2000" b="1" i="1" smtClean="0">
                              <a:latin typeface="Cambria Math" panose="02040503050406030204" pitchFamily="18" charset="0"/>
                            </a:rPr>
                            <m:t>𝟖</m:t>
                          </m:r>
                        </m:num>
                        <m:den>
                          <m:rad>
                            <m:radPr>
                              <m:degHide m:val="on"/>
                              <m:ctrlPr>
                                <a:rPr lang="en-GB" sz="2000" b="1" i="1" smtClean="0">
                                  <a:latin typeface="Cambria Math" panose="02040503050406030204" pitchFamily="18" charset="0"/>
                                </a:rPr>
                              </m:ctrlPr>
                            </m:radPr>
                            <m:deg/>
                            <m:e>
                              <m:r>
                                <a:rPr lang="en-GB" sz="2000" b="1" i="1" smtClean="0">
                                  <a:latin typeface="Cambria Math" panose="02040503050406030204" pitchFamily="18" charset="0"/>
                                </a:rPr>
                                <m:t>𝟑</m:t>
                              </m:r>
                            </m:e>
                          </m:rad>
                          <m:r>
                            <a:rPr lang="en-GB" sz="2000" b="1" i="1" smtClean="0">
                              <a:latin typeface="Cambria Math" panose="02040503050406030204" pitchFamily="18" charset="0"/>
                            </a:rPr>
                            <m:t>−</m:t>
                          </m:r>
                          <m:r>
                            <a:rPr lang="en-GB" sz="2000" b="1" i="1" smtClean="0">
                              <a:latin typeface="Cambria Math" panose="02040503050406030204" pitchFamily="18" charset="0"/>
                            </a:rPr>
                            <m:t>𝟏</m:t>
                          </m:r>
                        </m:den>
                      </m:f>
                      <m:r>
                        <a:rPr lang="en-GB" sz="2000" b="1" i="1" smtClean="0">
                          <a:latin typeface="Cambria Math" panose="02040503050406030204" pitchFamily="18" charset="0"/>
                        </a:rPr>
                        <m:t>×</m:t>
                      </m:r>
                      <m:f>
                        <m:fPr>
                          <m:ctrlPr>
                            <a:rPr lang="en-GB" sz="2000" b="1" i="1" smtClean="0">
                              <a:latin typeface="Cambria Math" panose="02040503050406030204" pitchFamily="18" charset="0"/>
                            </a:rPr>
                          </m:ctrlPr>
                        </m:fPr>
                        <m:num>
                          <m:rad>
                            <m:radPr>
                              <m:degHide m:val="on"/>
                              <m:ctrlPr>
                                <a:rPr lang="en-GB" sz="2000" b="1" i="1" smtClean="0">
                                  <a:latin typeface="Cambria Math" panose="02040503050406030204" pitchFamily="18" charset="0"/>
                                </a:rPr>
                              </m:ctrlPr>
                            </m:radPr>
                            <m:deg/>
                            <m:e>
                              <m:r>
                                <a:rPr lang="en-GB" sz="2000" b="1" i="1" smtClean="0">
                                  <a:latin typeface="Cambria Math" panose="02040503050406030204" pitchFamily="18" charset="0"/>
                                </a:rPr>
                                <m:t>𝟑</m:t>
                              </m:r>
                            </m:e>
                          </m:rad>
                          <m:r>
                            <a:rPr lang="en-GB" sz="2000" b="1" i="1" smtClean="0">
                              <a:latin typeface="Cambria Math" panose="02040503050406030204" pitchFamily="18" charset="0"/>
                            </a:rPr>
                            <m:t>+</m:t>
                          </m:r>
                          <m:r>
                            <a:rPr lang="en-GB" sz="2000" b="1" i="1" smtClean="0">
                              <a:latin typeface="Cambria Math" panose="02040503050406030204" pitchFamily="18" charset="0"/>
                            </a:rPr>
                            <m:t>𝟏</m:t>
                          </m:r>
                        </m:num>
                        <m:den>
                          <m:rad>
                            <m:radPr>
                              <m:degHide m:val="on"/>
                              <m:ctrlPr>
                                <a:rPr lang="en-GB" sz="2000" b="1" i="1" smtClean="0">
                                  <a:latin typeface="Cambria Math" panose="02040503050406030204" pitchFamily="18" charset="0"/>
                                </a:rPr>
                              </m:ctrlPr>
                            </m:radPr>
                            <m:deg/>
                            <m:e>
                              <m:r>
                                <a:rPr lang="en-GB" sz="2000" b="1" i="1" smtClean="0">
                                  <a:latin typeface="Cambria Math" panose="02040503050406030204" pitchFamily="18" charset="0"/>
                                </a:rPr>
                                <m:t>𝟑</m:t>
                              </m:r>
                            </m:e>
                          </m:rad>
                          <m:r>
                            <a:rPr lang="en-GB" sz="2000" b="1" i="1" smtClean="0">
                              <a:latin typeface="Cambria Math" panose="02040503050406030204" pitchFamily="18" charset="0"/>
                            </a:rPr>
                            <m:t>+</m:t>
                          </m:r>
                          <m:r>
                            <a:rPr lang="en-GB" sz="2000" b="1" i="1" smtClean="0">
                              <a:latin typeface="Cambria Math" panose="02040503050406030204" pitchFamily="18" charset="0"/>
                            </a:rPr>
                            <m:t>𝟏</m:t>
                          </m:r>
                        </m:den>
                      </m:f>
                    </m:oMath>
                    <m:oMath>
                      <m:r>
                        <a:rPr lang="en-GB" sz="2000" b="1" i="1" smtClean="0">
                          <a:latin typeface="Cambria Math" panose="02040503050406030204" pitchFamily="18" charset="0"/>
                        </a:rPr>
                        <m:t>    =</m:t>
                      </m:r>
                      <m:f>
                        <m:fPr>
                          <m:ctrlPr>
                            <a:rPr lang="en-GB" sz="2000" b="1" i="1" smtClean="0">
                              <a:latin typeface="Cambria Math" panose="02040503050406030204" pitchFamily="18" charset="0"/>
                            </a:rPr>
                          </m:ctrlPr>
                        </m:fPr>
                        <m:num>
                          <m:r>
                            <a:rPr lang="en-GB" sz="2000" b="1" i="1" smtClean="0">
                              <a:latin typeface="Cambria Math" panose="02040503050406030204" pitchFamily="18" charset="0"/>
                            </a:rPr>
                            <m:t>𝟖</m:t>
                          </m:r>
                          <m:rad>
                            <m:radPr>
                              <m:degHide m:val="on"/>
                              <m:ctrlPr>
                                <a:rPr lang="en-GB" sz="2000" b="1" i="1" smtClean="0">
                                  <a:latin typeface="Cambria Math" panose="02040503050406030204" pitchFamily="18" charset="0"/>
                                </a:rPr>
                              </m:ctrlPr>
                            </m:radPr>
                            <m:deg/>
                            <m:e>
                              <m:r>
                                <a:rPr lang="en-GB" sz="2000" b="1" i="1" smtClean="0">
                                  <a:latin typeface="Cambria Math" panose="02040503050406030204" pitchFamily="18" charset="0"/>
                                </a:rPr>
                                <m:t>𝟑</m:t>
                              </m:r>
                            </m:e>
                          </m:rad>
                          <m:r>
                            <a:rPr lang="en-GB" sz="2000" b="1" i="1" smtClean="0">
                              <a:latin typeface="Cambria Math" panose="02040503050406030204" pitchFamily="18" charset="0"/>
                            </a:rPr>
                            <m:t>+</m:t>
                          </m:r>
                          <m:r>
                            <a:rPr lang="en-GB" sz="2000" b="1" i="1" smtClean="0">
                              <a:latin typeface="Cambria Math" panose="02040503050406030204" pitchFamily="18" charset="0"/>
                            </a:rPr>
                            <m:t>𝟖</m:t>
                          </m:r>
                        </m:num>
                        <m:den>
                          <m:r>
                            <a:rPr lang="en-GB" sz="2000" b="1" i="1" smtClean="0">
                              <a:latin typeface="Cambria Math" panose="02040503050406030204" pitchFamily="18" charset="0"/>
                            </a:rPr>
                            <m:t>𝟐</m:t>
                          </m:r>
                        </m:den>
                      </m:f>
                      <m:r>
                        <a:rPr lang="en-GB" sz="2000" b="1" i="1" smtClean="0">
                          <a:latin typeface="Cambria Math" panose="02040503050406030204" pitchFamily="18" charset="0"/>
                        </a:rPr>
                        <m:t>=</m:t>
                      </m:r>
                      <m:r>
                        <a:rPr lang="en-GB" sz="2000" b="1" i="1" smtClean="0">
                          <a:latin typeface="Cambria Math" panose="02040503050406030204" pitchFamily="18" charset="0"/>
                        </a:rPr>
                        <m:t>𝟒</m:t>
                      </m:r>
                      <m:r>
                        <a:rPr lang="en-GB" sz="2000" b="1" i="1" smtClean="0">
                          <a:latin typeface="Cambria Math" panose="02040503050406030204" pitchFamily="18" charset="0"/>
                        </a:rPr>
                        <m:t>+</m:t>
                      </m:r>
                      <m:r>
                        <a:rPr lang="en-GB" sz="2000" b="1" i="1" smtClean="0">
                          <a:latin typeface="Cambria Math" panose="02040503050406030204" pitchFamily="18" charset="0"/>
                        </a:rPr>
                        <m:t>𝟒</m:t>
                      </m:r>
                      <m:rad>
                        <m:radPr>
                          <m:degHide m:val="on"/>
                          <m:ctrlPr>
                            <a:rPr lang="en-GB" sz="2000" b="1" i="1" smtClean="0">
                              <a:latin typeface="Cambria Math" panose="02040503050406030204" pitchFamily="18" charset="0"/>
                            </a:rPr>
                          </m:ctrlPr>
                        </m:radPr>
                        <m:deg/>
                        <m:e>
                          <m:r>
                            <a:rPr lang="en-GB" sz="2000" b="1" i="1" smtClean="0">
                              <a:latin typeface="Cambria Math" panose="02040503050406030204" pitchFamily="18" charset="0"/>
                            </a:rPr>
                            <m:t>𝟑</m:t>
                          </m:r>
                        </m:e>
                      </m:rad>
                    </m:oMath>
                  </m:oMathPara>
                </a14:m>
                <a:endParaRPr lang="en-GB" b="1" dirty="0"/>
              </a:p>
            </p:txBody>
          </p:sp>
        </mc:Choice>
        <mc:Fallback xmlns="">
          <p:sp>
            <p:nvSpPr>
              <p:cNvPr id="10" name="TextBox 9"/>
              <p:cNvSpPr txBox="1">
                <a:spLocks noRot="1" noChangeAspect="1" noMove="1" noResize="1" noEditPoints="1" noAdjustHandles="1" noChangeArrowheads="1" noChangeShapeType="1" noTextEdit="1"/>
              </p:cNvSpPr>
              <p:nvPr/>
            </p:nvSpPr>
            <p:spPr>
              <a:xfrm>
                <a:off x="4936169" y="5384937"/>
                <a:ext cx="3664150" cy="1442767"/>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99501" y="3160980"/>
                <a:ext cx="3960440" cy="128092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Rationalise the denominator and simplify</a:t>
                </a:r>
              </a:p>
              <a:p>
                <a:pP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2</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r>
                            <a:rPr lang="en-GB" b="0" i="1" smtClean="0">
                              <a:latin typeface="Cambria Math" panose="02040503050406030204" pitchFamily="18" charset="0"/>
                            </a:rPr>
                            <m:t>−1</m:t>
                          </m:r>
                        </m:num>
                        <m:den>
                          <m:r>
                            <a:rPr lang="en-GB" b="0" i="1" smtClean="0">
                              <a:latin typeface="Cambria Math" panose="02040503050406030204" pitchFamily="18" charset="0"/>
                            </a:rPr>
                            <m:t>3</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r>
                            <a:rPr lang="en-GB" b="0" i="1" smtClean="0">
                              <a:latin typeface="Cambria Math" panose="02040503050406030204" pitchFamily="18" charset="0"/>
                            </a:rPr>
                            <m:t>+1</m:t>
                          </m:r>
                        </m:den>
                      </m:f>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499501" y="3160980"/>
                <a:ext cx="3960440" cy="1280928"/>
              </a:xfrm>
              <a:prstGeom prst="rect">
                <a:avLst/>
              </a:prstGeom>
              <a:blipFill rotWithShape="0">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643517" y="4755037"/>
                <a:ext cx="3816424" cy="1891415"/>
              </a:xfrm>
              <a:prstGeom prst="rect">
                <a:avLst/>
              </a:prstGeom>
              <a:noFill/>
            </p:spPr>
            <p:txBody>
              <a:bodyPr wrap="square" rtlCol="0">
                <a:spAutoFit/>
              </a:bodyPr>
              <a:lstStyle/>
              <a:p>
                <a:pPr/>
                <a14:m>
                  <m:oMathPara xmlns:m="http://schemas.openxmlformats.org/officeDocument/2006/math">
                    <m:oMath>
                      <m:f>
                        <m:fPr>
                          <m:ctrlPr>
                            <a:rPr lang="en-GB" b="1" i="1">
                              <a:latin typeface="Cambria Math" panose="02040503050406030204" pitchFamily="18" charset="0"/>
                            </a:rPr>
                          </m:ctrlPr>
                        </m:fPr>
                        <m:num>
                          <m:r>
                            <a:rPr lang="en-GB" b="1" i="1">
                              <a:latin typeface="Cambria Math" panose="02040503050406030204" pitchFamily="18" charset="0"/>
                            </a:rPr>
                            <m:t>𝟐</m:t>
                          </m:r>
                          <m:rad>
                            <m:radPr>
                              <m:degHide m:val="on"/>
                              <m:ctrlPr>
                                <a:rPr lang="en-GB" b="1" i="1">
                                  <a:latin typeface="Cambria Math" panose="02040503050406030204" pitchFamily="18" charset="0"/>
                                </a:rPr>
                              </m:ctrlPr>
                            </m:radPr>
                            <m:deg/>
                            <m:e>
                              <m:r>
                                <a:rPr lang="en-GB" b="1" i="1">
                                  <a:latin typeface="Cambria Math" panose="02040503050406030204" pitchFamily="18" charset="0"/>
                                </a:rPr>
                                <m:t>𝟑</m:t>
                              </m:r>
                            </m:e>
                          </m:rad>
                          <m:r>
                            <a:rPr lang="en-GB" b="1" i="1">
                              <a:latin typeface="Cambria Math" panose="02040503050406030204" pitchFamily="18" charset="0"/>
                            </a:rPr>
                            <m:t>−</m:t>
                          </m:r>
                          <m:r>
                            <a:rPr lang="en-GB" b="1" i="1">
                              <a:latin typeface="Cambria Math" panose="02040503050406030204" pitchFamily="18" charset="0"/>
                            </a:rPr>
                            <m:t>𝟏</m:t>
                          </m:r>
                        </m:num>
                        <m:den>
                          <m:r>
                            <a:rPr lang="en-GB" b="1" i="1">
                              <a:latin typeface="Cambria Math" panose="02040503050406030204" pitchFamily="18" charset="0"/>
                            </a:rPr>
                            <m:t>𝟑</m:t>
                          </m:r>
                          <m:rad>
                            <m:radPr>
                              <m:degHide m:val="on"/>
                              <m:ctrlPr>
                                <a:rPr lang="en-GB" b="1" i="1">
                                  <a:latin typeface="Cambria Math" panose="02040503050406030204" pitchFamily="18" charset="0"/>
                                </a:rPr>
                              </m:ctrlPr>
                            </m:radPr>
                            <m:deg/>
                            <m:e>
                              <m:r>
                                <a:rPr lang="en-GB" b="1" i="1">
                                  <a:latin typeface="Cambria Math" panose="02040503050406030204" pitchFamily="18" charset="0"/>
                                </a:rPr>
                                <m:t>𝟑</m:t>
                              </m:r>
                            </m:e>
                          </m:rad>
                          <m:r>
                            <a:rPr lang="en-GB" b="1" i="1">
                              <a:latin typeface="Cambria Math" panose="02040503050406030204" pitchFamily="18" charset="0"/>
                            </a:rPr>
                            <m:t>+</m:t>
                          </m:r>
                          <m:r>
                            <a:rPr lang="en-GB" b="1" i="1">
                              <a:latin typeface="Cambria Math" panose="02040503050406030204" pitchFamily="18" charset="0"/>
                            </a:rPr>
                            <m:t>𝟏</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𝟑</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r>
                            <a:rPr lang="en-GB" b="1" i="1" smtClean="0">
                              <a:latin typeface="Cambria Math" panose="02040503050406030204" pitchFamily="18" charset="0"/>
                            </a:rPr>
                            <m:t>−</m:t>
                          </m:r>
                          <m:r>
                            <a:rPr lang="en-GB" b="1" i="1" smtClean="0">
                              <a:latin typeface="Cambria Math" panose="02040503050406030204" pitchFamily="18" charset="0"/>
                            </a:rPr>
                            <m:t>𝟏</m:t>
                          </m:r>
                        </m:num>
                        <m:den>
                          <m:r>
                            <a:rPr lang="en-GB" b="1" i="1" smtClean="0">
                              <a:latin typeface="Cambria Math" panose="02040503050406030204" pitchFamily="18" charset="0"/>
                            </a:rPr>
                            <m:t>𝟑</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r>
                            <a:rPr lang="en-GB" b="1" i="1" smtClean="0">
                              <a:latin typeface="Cambria Math" panose="02040503050406030204" pitchFamily="18" charset="0"/>
                            </a:rPr>
                            <m:t>−</m:t>
                          </m:r>
                          <m:r>
                            <a:rPr lang="en-GB" b="1" i="1" smtClean="0">
                              <a:latin typeface="Cambria Math" panose="02040503050406030204" pitchFamily="18" charset="0"/>
                            </a:rPr>
                            <m:t>𝟏</m:t>
                          </m:r>
                        </m:den>
                      </m:f>
                    </m:oMath>
                    <m:oMath>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𝟏𝟖</m:t>
                          </m:r>
                          <m:r>
                            <a:rPr lang="en-GB" b="1" i="1" smtClean="0">
                              <a:latin typeface="Cambria Math" panose="02040503050406030204" pitchFamily="18" charset="0"/>
                            </a:rPr>
                            <m:t>−</m:t>
                          </m:r>
                          <m:r>
                            <a:rPr lang="en-GB" b="1" i="1" smtClean="0">
                              <a:latin typeface="Cambria Math" panose="02040503050406030204" pitchFamily="18" charset="0"/>
                            </a:rPr>
                            <m:t>𝟐</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r>
                            <a:rPr lang="en-GB" b="1" i="1" smtClean="0">
                              <a:latin typeface="Cambria Math" panose="02040503050406030204" pitchFamily="18" charset="0"/>
                            </a:rPr>
                            <m:t>−</m:t>
                          </m:r>
                          <m:r>
                            <a:rPr lang="en-GB" b="1" i="1" smtClean="0">
                              <a:latin typeface="Cambria Math" panose="02040503050406030204" pitchFamily="18" charset="0"/>
                            </a:rPr>
                            <m:t>𝟑</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r>
                            <a:rPr lang="en-GB" b="1" i="1" smtClean="0">
                              <a:latin typeface="Cambria Math" panose="02040503050406030204" pitchFamily="18" charset="0"/>
                            </a:rPr>
                            <m:t>+</m:t>
                          </m:r>
                          <m:r>
                            <a:rPr lang="en-GB" b="1" i="1" smtClean="0">
                              <a:latin typeface="Cambria Math" panose="02040503050406030204" pitchFamily="18" charset="0"/>
                            </a:rPr>
                            <m:t>𝟏</m:t>
                          </m:r>
                        </m:num>
                        <m:den>
                          <m:r>
                            <a:rPr lang="en-GB" b="1" i="1" smtClean="0">
                              <a:latin typeface="Cambria Math" panose="02040503050406030204" pitchFamily="18" charset="0"/>
                            </a:rPr>
                            <m:t>𝟐𝟕</m:t>
                          </m:r>
                          <m:r>
                            <a:rPr lang="en-GB" b="1" i="1" smtClean="0">
                              <a:latin typeface="Cambria Math" panose="02040503050406030204" pitchFamily="18" charset="0"/>
                            </a:rPr>
                            <m:t>−</m:t>
                          </m:r>
                          <m:r>
                            <a:rPr lang="en-GB" b="1" i="1" smtClean="0">
                              <a:latin typeface="Cambria Math" panose="02040503050406030204" pitchFamily="18" charset="0"/>
                            </a:rPr>
                            <m:t>𝟏</m:t>
                          </m:r>
                        </m:den>
                      </m:f>
                    </m:oMath>
                    <m:oMath>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𝟏𝟗</m:t>
                          </m:r>
                          <m:r>
                            <a:rPr lang="en-GB" b="1" i="1" smtClean="0">
                              <a:latin typeface="Cambria Math" panose="02040503050406030204" pitchFamily="18" charset="0"/>
                            </a:rPr>
                            <m:t>−</m:t>
                          </m:r>
                          <m:r>
                            <a:rPr lang="en-GB" b="1" i="1" smtClean="0">
                              <a:latin typeface="Cambria Math" panose="02040503050406030204" pitchFamily="18" charset="0"/>
                            </a:rPr>
                            <m:t>𝟓</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num>
                        <m:den>
                          <m:r>
                            <a:rPr lang="en-GB" b="1" i="1" smtClean="0">
                              <a:latin typeface="Cambria Math" panose="02040503050406030204" pitchFamily="18" charset="0"/>
                            </a:rPr>
                            <m:t>𝟐𝟔</m:t>
                          </m:r>
                        </m:den>
                      </m:f>
                    </m:oMath>
                  </m:oMathPara>
                </a14:m>
                <a:endParaRPr lang="en-GB"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643517" y="4755037"/>
                <a:ext cx="3816424" cy="1891415"/>
              </a:xfrm>
              <a:prstGeom prst="rect">
                <a:avLst/>
              </a:prstGeom>
              <a:blipFill rotWithShape="0">
                <a:blip r:embed="rId5"/>
                <a:stretch>
                  <a:fillRect/>
                </a:stretch>
              </a:blipFill>
            </p:spPr>
            <p:txBody>
              <a:bodyPr/>
              <a:lstStyle/>
              <a:p>
                <a:r>
                  <a:rPr lang="en-GB">
                    <a:noFill/>
                  </a:rPr>
                  <a:t> </a:t>
                </a:r>
              </a:p>
            </p:txBody>
          </p:sp>
        </mc:Fallback>
      </mc:AlternateContent>
      <p:sp>
        <p:nvSpPr>
          <p:cNvPr id="14" name="Rectangle 13"/>
          <p:cNvSpPr/>
          <p:nvPr/>
        </p:nvSpPr>
        <p:spPr>
          <a:xfrm>
            <a:off x="5356189" y="5308803"/>
            <a:ext cx="2801475" cy="147398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1150991" y="4644035"/>
            <a:ext cx="2801475" cy="200241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6" name="TextBox 15"/>
              <p:cNvSpPr txBox="1"/>
              <p:nvPr/>
            </p:nvSpPr>
            <p:spPr>
              <a:xfrm>
                <a:off x="395536" y="900874"/>
                <a:ext cx="2664296" cy="124245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Rationalise the denominator and simplify</a:t>
                </a:r>
              </a:p>
              <a:p>
                <a:pP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−2</m:t>
                          </m:r>
                        </m:den>
                      </m:f>
                    </m:oMath>
                  </m:oMathPara>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a:off x="395536" y="900874"/>
                <a:ext cx="2664296" cy="1242456"/>
              </a:xfrm>
              <a:prstGeom prst="rect">
                <a:avLst/>
              </a:prstGeom>
              <a:blipFill rotWithShape="0">
                <a:blip r:embed="rId6"/>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215662" y="1334065"/>
                <a:ext cx="1440160" cy="407547"/>
              </a:xfrm>
              <a:prstGeom prst="rect">
                <a:avLst/>
              </a:prstGeom>
              <a:noFill/>
            </p:spPr>
            <p:txBody>
              <a:bodyPr wrap="square" rtlCol="0">
                <a:spAutoFit/>
              </a:bodyPr>
              <a:lstStyle/>
              <a:p>
                <a:pPr/>
                <a14:m>
                  <m:oMathPara xmlns:m="http://schemas.openxmlformats.org/officeDocument/2006/math">
                    <m:oMath>
                      <m:r>
                        <a:rPr lang="en-GB" b="1" i="1" smtClean="0">
                          <a:latin typeface="Cambria Math" panose="02040503050406030204" pitchFamily="18" charset="0"/>
                        </a:rPr>
                        <m:t>𝟖</m:t>
                      </m:r>
                      <m:r>
                        <a:rPr lang="en-GB" b="1" i="1" smtClean="0">
                          <a:latin typeface="Cambria Math" panose="02040503050406030204" pitchFamily="18" charset="0"/>
                        </a:rPr>
                        <m:t>+</m:t>
                      </m:r>
                      <m:r>
                        <a:rPr lang="en-GB" b="1" i="1" smtClean="0">
                          <a:latin typeface="Cambria Math" panose="02040503050406030204" pitchFamily="18" charset="0"/>
                        </a:rPr>
                        <m:t>𝟒</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𝟓</m:t>
                          </m:r>
                        </m:e>
                      </m:rad>
                    </m:oMath>
                  </m:oMathPara>
                </a14:m>
                <a:endParaRPr lang="en-GB"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3215662" y="1334065"/>
                <a:ext cx="1440160" cy="407547"/>
              </a:xfrm>
              <a:prstGeom prst="rect">
                <a:avLst/>
              </a:prstGeom>
              <a:blipFill rotWithShape="0">
                <a:blip r:embed="rId7"/>
                <a:stretch>
                  <a:fillRect/>
                </a:stretch>
              </a:blipFill>
            </p:spPr>
            <p:txBody>
              <a:bodyPr/>
              <a:lstStyle/>
              <a:p>
                <a:r>
                  <a:rPr lang="en-GB">
                    <a:noFill/>
                  </a:rPr>
                  <a:t> </a:t>
                </a:r>
              </a:p>
            </p:txBody>
          </p:sp>
        </mc:Fallback>
      </mc:AlternateContent>
      <p:sp>
        <p:nvSpPr>
          <p:cNvPr id="18" name="Rectangle 17"/>
          <p:cNvSpPr/>
          <p:nvPr/>
        </p:nvSpPr>
        <p:spPr>
          <a:xfrm>
            <a:off x="3408661" y="1203633"/>
            <a:ext cx="1097237" cy="66923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2786767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4" grpId="0" animBg="1"/>
      <p:bldP spid="15" grpId="0" animBg="1"/>
      <p:bldP spid="1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C3A6C8C-42D9-4F92-AB63-F6278C434A6C}"/>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5F823278-7D07-411A-B6B5-B3A25CF27758}"/>
                </a:ext>
              </a:extLst>
            </p:cNvPr>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Writing surd expressions in power form</a:t>
              </a:r>
            </a:p>
          </p:txBody>
        </p:sp>
        <p:cxnSp>
          <p:nvCxnSpPr>
            <p:cNvPr id="4" name="Straight Connector 3">
              <a:extLst>
                <a:ext uri="{FF2B5EF4-FFF2-40B4-BE49-F238E27FC236}">
                  <a16:creationId xmlns:a16="http://schemas.microsoft.com/office/drawing/2014/main" id="{09F05C23-D8CD-4339-BA7C-FBEBE88EBB2D}"/>
                </a:ext>
              </a:extLst>
            </p:cNvPr>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9A2C728-FFFC-4EFE-B79C-14F93260A0ED}"/>
                  </a:ext>
                </a:extLst>
              </p:cNvPr>
              <p:cNvSpPr txBox="1"/>
              <p:nvPr/>
            </p:nvSpPr>
            <p:spPr>
              <a:xfrm>
                <a:off x="395536" y="1844824"/>
                <a:ext cx="3600400" cy="58176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Express </a:t>
                </a:r>
                <a14:m>
                  <m:oMath xmlns:m="http://schemas.openxmlformats.org/officeDocument/2006/math">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2+</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e>
                            </m:d>
                          </m:e>
                          <m:sup>
                            <m:r>
                              <a:rPr lang="en-GB" b="0" i="0" smtClean="0">
                                <a:latin typeface="Cambria Math" panose="02040503050406030204" pitchFamily="18" charset="0"/>
                              </a:rPr>
                              <m:t>2</m:t>
                            </m:r>
                          </m:sup>
                        </m:sSup>
                      </m:num>
                      <m:den>
                        <m:r>
                          <a:rPr lang="en-GB" b="0" i="1" smtClean="0">
                            <a:latin typeface="Cambria Math" panose="02040503050406030204" pitchFamily="18" charset="0"/>
                          </a:rPr>
                          <m:t>𝑥</m:t>
                        </m:r>
                      </m:den>
                    </m:f>
                  </m:oMath>
                </a14:m>
                <a:r>
                  <a:rPr lang="en-GB" dirty="0"/>
                  <a:t> as powers of </a:t>
                </a:r>
                <a14:m>
                  <m:oMath xmlns:m="http://schemas.openxmlformats.org/officeDocument/2006/math">
                    <m:r>
                      <a:rPr lang="en-GB" b="0" i="1" smtClean="0">
                        <a:latin typeface="Cambria Math" panose="02040503050406030204" pitchFamily="18" charset="0"/>
                      </a:rPr>
                      <m:t>𝑥</m:t>
                    </m:r>
                  </m:oMath>
                </a14:m>
                <a:r>
                  <a:rPr lang="en-GB" dirty="0"/>
                  <a:t>.</a:t>
                </a:r>
              </a:p>
            </p:txBody>
          </p:sp>
        </mc:Choice>
        <mc:Fallback xmlns="">
          <p:sp>
            <p:nvSpPr>
              <p:cNvPr id="5" name="TextBox 4">
                <a:extLst>
                  <a:ext uri="{FF2B5EF4-FFF2-40B4-BE49-F238E27FC236}">
                    <a16:creationId xmlns:a16="http://schemas.microsoft.com/office/drawing/2014/main" id="{59A2C728-FFFC-4EFE-B79C-14F93260A0ED}"/>
                  </a:ext>
                </a:extLst>
              </p:cNvPr>
              <p:cNvSpPr txBox="1">
                <a:spLocks noRot="1" noChangeAspect="1" noMove="1" noResize="1" noEditPoints="1" noAdjustHandles="1" noChangeArrowheads="1" noChangeShapeType="1" noTextEdit="1"/>
              </p:cNvSpPr>
              <p:nvPr/>
            </p:nvSpPr>
            <p:spPr>
              <a:xfrm>
                <a:off x="395536" y="1844824"/>
                <a:ext cx="3600400" cy="581762"/>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5CEBB1D-0610-4705-8051-660DCCBCEFF3}"/>
                  </a:ext>
                </a:extLst>
              </p:cNvPr>
              <p:cNvSpPr txBox="1"/>
              <p:nvPr/>
            </p:nvSpPr>
            <p:spPr>
              <a:xfrm>
                <a:off x="683568" y="2708920"/>
                <a:ext cx="2664296" cy="2414122"/>
              </a:xfrm>
              <a:prstGeom prst="rect">
                <a:avLst/>
              </a:prstGeom>
              <a:noFill/>
            </p:spPr>
            <p:txBody>
              <a:bodyPr wrap="square" rtlCol="0">
                <a:spAutoFit/>
              </a:bodyPr>
              <a:lstStyle/>
              <a:p>
                <a:pP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4+4</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r>
                            <a:rPr lang="en-GB" b="0" i="1" smtClean="0">
                              <a:latin typeface="Cambria Math" panose="02040503050406030204" pitchFamily="18" charset="0"/>
                            </a:rPr>
                            <m:t>+</m:t>
                          </m:r>
                          <m:r>
                            <a:rPr lang="en-GB" b="0" i="1" smtClean="0">
                              <a:latin typeface="Cambria Math" panose="02040503050406030204" pitchFamily="18" charset="0"/>
                            </a:rPr>
                            <m:t>𝑥</m:t>
                          </m:r>
                        </m:num>
                        <m:den>
                          <m:r>
                            <a:rPr lang="en-GB" b="0" i="1" smtClean="0">
                              <a:latin typeface="Cambria Math" panose="02040503050406030204" pitchFamily="18" charset="0"/>
                            </a:rPr>
                            <m:t>𝑥</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r>
                            <a:rPr lang="en-GB" b="0" i="1" smtClean="0">
                              <a:latin typeface="Cambria Math" panose="02040503050406030204" pitchFamily="18" charset="0"/>
                            </a:rPr>
                            <m:t>𝑥</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1</m:t>
                              </m:r>
                            </m:sup>
                          </m:sSup>
                        </m:den>
                      </m:f>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1</m:t>
                              </m:r>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1</m:t>
                              </m:r>
                            </m:sup>
                          </m:sSup>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𝑥</m:t>
                          </m:r>
                        </m:num>
                        <m:den>
                          <m:r>
                            <a:rPr lang="en-GB" b="0" i="1" smtClean="0">
                              <a:latin typeface="Cambria Math" panose="02040503050406030204" pitchFamily="18" charset="0"/>
                            </a:rPr>
                            <m:t>𝑥</m:t>
                          </m:r>
                        </m:den>
                      </m:f>
                    </m:oMath>
                    <m:oMath>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−1</m:t>
                          </m:r>
                        </m:sup>
                      </m:sSup>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r>
                        <a:rPr lang="en-GB" b="0" i="1" smtClean="0">
                          <a:latin typeface="Cambria Math" panose="02040503050406030204" pitchFamily="18" charset="0"/>
                        </a:rPr>
                        <m:t>+1</m:t>
                      </m:r>
                    </m:oMath>
                  </m:oMathPara>
                </a14:m>
                <a:endParaRPr lang="en-GB" dirty="0"/>
              </a:p>
            </p:txBody>
          </p:sp>
        </mc:Choice>
        <mc:Fallback xmlns="">
          <p:sp>
            <p:nvSpPr>
              <p:cNvPr id="6" name="TextBox 5">
                <a:extLst>
                  <a:ext uri="{FF2B5EF4-FFF2-40B4-BE49-F238E27FC236}">
                    <a16:creationId xmlns:a16="http://schemas.microsoft.com/office/drawing/2014/main" id="{65CEBB1D-0610-4705-8051-660DCCBCEFF3}"/>
                  </a:ext>
                </a:extLst>
              </p:cNvPr>
              <p:cNvSpPr txBox="1">
                <a:spLocks noRot="1" noChangeAspect="1" noMove="1" noResize="1" noEditPoints="1" noAdjustHandles="1" noChangeArrowheads="1" noChangeShapeType="1" noTextEdit="1"/>
              </p:cNvSpPr>
              <p:nvPr/>
            </p:nvSpPr>
            <p:spPr>
              <a:xfrm>
                <a:off x="683568" y="2708920"/>
                <a:ext cx="2664296" cy="2414122"/>
              </a:xfrm>
              <a:prstGeom prst="rect">
                <a:avLst/>
              </a:prstGeom>
              <a:blipFill>
                <a:blip r:embed="rId3"/>
                <a:stretch>
                  <a:fillRect/>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CBACE758-E8E1-4040-AA26-03D14C70EA29}"/>
              </a:ext>
            </a:extLst>
          </p:cNvPr>
          <p:cNvSpPr txBox="1"/>
          <p:nvPr/>
        </p:nvSpPr>
        <p:spPr>
          <a:xfrm>
            <a:off x="395536" y="836712"/>
            <a:ext cx="6768752" cy="646331"/>
          </a:xfrm>
          <a:prstGeom prst="rect">
            <a:avLst/>
          </a:prstGeom>
          <a:noFill/>
        </p:spPr>
        <p:txBody>
          <a:bodyPr wrap="square" rtlCol="0">
            <a:spAutoFit/>
          </a:bodyPr>
          <a:lstStyle/>
          <a:p>
            <a:r>
              <a:rPr lang="en-GB" dirty="0"/>
              <a:t>This is not in the textbook, but a common type of question in exams, often asked in conjunction with differentiation (a later chapter).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3F97BD9-1949-4797-AAC1-98949587BF72}"/>
                  </a:ext>
                </a:extLst>
              </p:cNvPr>
              <p:cNvSpPr txBox="1"/>
              <p:nvPr/>
            </p:nvSpPr>
            <p:spPr>
              <a:xfrm>
                <a:off x="5292080" y="1782713"/>
                <a:ext cx="3600400" cy="88620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b="1" dirty="0"/>
                  <a:t>Test Your Understanding</a:t>
                </a:r>
              </a:p>
              <a:p>
                <a:r>
                  <a:rPr lang="en-GB" dirty="0"/>
                  <a:t>Express </a:t>
                </a:r>
                <a14:m>
                  <m:oMath xmlns:m="http://schemas.openxmlformats.org/officeDocument/2006/math">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e>
                            </m:d>
                          </m:e>
                          <m:sup>
                            <m:r>
                              <a:rPr lang="en-GB" b="0" i="0" smtClean="0">
                                <a:latin typeface="Cambria Math" panose="02040503050406030204" pitchFamily="18" charset="0"/>
                              </a:rPr>
                              <m:t>2</m:t>
                            </m:r>
                          </m:sup>
                        </m:sSup>
                      </m:num>
                      <m:den>
                        <m:r>
                          <a:rPr lang="en-GB" b="0" i="1" smtClean="0">
                            <a:latin typeface="Cambria Math" panose="02040503050406030204" pitchFamily="18" charset="0"/>
                          </a:rPr>
                          <m:t>2</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den>
                    </m:f>
                  </m:oMath>
                </a14:m>
                <a:r>
                  <a:rPr lang="en-GB" dirty="0"/>
                  <a:t> as powers of </a:t>
                </a:r>
                <a14:m>
                  <m:oMath xmlns:m="http://schemas.openxmlformats.org/officeDocument/2006/math">
                    <m:r>
                      <a:rPr lang="en-GB" b="0" i="1" smtClean="0">
                        <a:latin typeface="Cambria Math" panose="02040503050406030204" pitchFamily="18" charset="0"/>
                      </a:rPr>
                      <m:t>𝑥</m:t>
                    </m:r>
                  </m:oMath>
                </a14:m>
                <a:r>
                  <a:rPr lang="en-GB" dirty="0"/>
                  <a:t>.</a:t>
                </a:r>
              </a:p>
            </p:txBody>
          </p:sp>
        </mc:Choice>
        <mc:Fallback xmlns="">
          <p:sp>
            <p:nvSpPr>
              <p:cNvPr id="8" name="TextBox 7">
                <a:extLst>
                  <a:ext uri="{FF2B5EF4-FFF2-40B4-BE49-F238E27FC236}">
                    <a16:creationId xmlns:a16="http://schemas.microsoft.com/office/drawing/2014/main" id="{53F97BD9-1949-4797-AAC1-98949587BF72}"/>
                  </a:ext>
                </a:extLst>
              </p:cNvPr>
              <p:cNvSpPr txBox="1">
                <a:spLocks noRot="1" noChangeAspect="1" noMove="1" noResize="1" noEditPoints="1" noAdjustHandles="1" noChangeArrowheads="1" noChangeShapeType="1" noTextEdit="1"/>
              </p:cNvSpPr>
              <p:nvPr/>
            </p:nvSpPr>
            <p:spPr>
              <a:xfrm>
                <a:off x="5292080" y="1782713"/>
                <a:ext cx="3600400" cy="886205"/>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59779E3-198B-4555-A8B4-B001B1CE9697}"/>
                  </a:ext>
                </a:extLst>
              </p:cNvPr>
              <p:cNvSpPr txBox="1"/>
              <p:nvPr/>
            </p:nvSpPr>
            <p:spPr>
              <a:xfrm>
                <a:off x="5472100" y="2960948"/>
                <a:ext cx="2880320" cy="2036007"/>
              </a:xfrm>
              <a:prstGeom prst="rect">
                <a:avLst/>
              </a:prstGeom>
              <a:noFill/>
            </p:spPr>
            <p:txBody>
              <a:bodyPr wrap="square" rtlCol="0">
                <a:spAutoFit/>
              </a:bodyPr>
              <a:lstStyle/>
              <a:p>
                <a:pPr/>
                <a14:m>
                  <m:oMathPara xmlns:m="http://schemas.openxmlformats.org/officeDocument/2006/math">
                    <m:oMath>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+2</m:t>
                          </m:r>
                          <m:r>
                            <a:rPr lang="en-GB" b="0" i="1" smtClean="0">
                              <a:latin typeface="Cambria Math" panose="02040503050406030204" pitchFamily="18" charset="0"/>
                            </a:rPr>
                            <m:t>𝑥</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r>
                            <a:rPr lang="en-GB" b="0" i="1" smtClean="0">
                              <a:latin typeface="Cambria Math" panose="02040503050406030204" pitchFamily="18" charset="0"/>
                            </a:rPr>
                            <m:t>+</m:t>
                          </m:r>
                          <m:r>
                            <a:rPr lang="en-GB" b="0" i="1" smtClean="0">
                              <a:latin typeface="Cambria Math" panose="02040503050406030204" pitchFamily="18" charset="0"/>
                            </a:rPr>
                            <m:t>𝑥</m:t>
                          </m:r>
                        </m:num>
                        <m:den>
                          <m:r>
                            <a:rPr lang="en-GB" b="0" i="1" smtClean="0">
                              <a:latin typeface="Cambria Math" panose="02040503050406030204" pitchFamily="18" charset="0"/>
                            </a:rPr>
                            <m:t>2</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𝑥</m:t>
                              </m:r>
                            </m:e>
                          </m:rad>
                        </m:den>
                      </m:f>
                    </m:oMath>
                    <m:oMath>
                      <m:r>
                        <a:rPr lang="en-GB" b="0" i="1" smtClean="0">
                          <a:latin typeface="Cambria Math" panose="02040503050406030204" pitchFamily="18" charset="0"/>
                        </a:rPr>
                        <m:t>=</m:t>
                      </m:r>
                      <m:f>
                        <m:fPr>
                          <m:ctrlPr>
                            <a:rPr lang="en-GB" i="1">
                              <a:latin typeface="Cambria Math" panose="02040503050406030204" pitchFamily="18" charset="0"/>
                            </a:rPr>
                          </m:ctrlPr>
                        </m:fPr>
                        <m:num>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sup>
                          </m:sSup>
                          <m:r>
                            <a:rPr lang="en-GB" i="1">
                              <a:latin typeface="Cambria Math" panose="02040503050406030204" pitchFamily="18" charset="0"/>
                            </a:rPr>
                            <m:t>+</m:t>
                          </m:r>
                          <m:r>
                            <a:rPr lang="en-GB" i="1">
                              <a:latin typeface="Cambria Math" panose="02040503050406030204" pitchFamily="18" charset="0"/>
                            </a:rPr>
                            <m:t>𝑥</m:t>
                          </m:r>
                        </m:num>
                        <m:den>
                          <m:r>
                            <a:rPr lang="en-GB" i="1">
                              <a:latin typeface="Cambria Math" panose="02040503050406030204" pitchFamily="18" charset="0"/>
                            </a:rPr>
                            <m:t>2</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den>
                      </m:f>
                    </m:oMath>
                    <m:o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up>
                      </m:sSup>
                    </m:oMath>
                  </m:oMathPara>
                </a14:m>
                <a:endParaRPr lang="en-GB" dirty="0"/>
              </a:p>
            </p:txBody>
          </p:sp>
        </mc:Choice>
        <mc:Fallback xmlns="">
          <p:sp>
            <p:nvSpPr>
              <p:cNvPr id="9" name="TextBox 8">
                <a:extLst>
                  <a:ext uri="{FF2B5EF4-FFF2-40B4-BE49-F238E27FC236}">
                    <a16:creationId xmlns:a16="http://schemas.microsoft.com/office/drawing/2014/main" id="{559779E3-198B-4555-A8B4-B001B1CE9697}"/>
                  </a:ext>
                </a:extLst>
              </p:cNvPr>
              <p:cNvSpPr txBox="1">
                <a:spLocks noRot="1" noChangeAspect="1" noMove="1" noResize="1" noEditPoints="1" noAdjustHandles="1" noChangeArrowheads="1" noChangeShapeType="1" noTextEdit="1"/>
              </p:cNvSpPr>
              <p:nvPr/>
            </p:nvSpPr>
            <p:spPr>
              <a:xfrm>
                <a:off x="5472100" y="2960948"/>
                <a:ext cx="2880320" cy="2036007"/>
              </a:xfrm>
              <a:prstGeom prst="rect">
                <a:avLst/>
              </a:prstGeom>
              <a:blipFill>
                <a:blip r:embed="rId5"/>
                <a:stretch>
                  <a:fillRect/>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32BC02B1-DDD7-40F2-9473-2C1305D420A9}"/>
              </a:ext>
            </a:extLst>
          </p:cNvPr>
          <p:cNvSpPr txBox="1"/>
          <p:nvPr/>
        </p:nvSpPr>
        <p:spPr>
          <a:xfrm>
            <a:off x="2988593" y="2769865"/>
            <a:ext cx="930063"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GB" dirty="0"/>
              <a:t>Expand.</a:t>
            </a:r>
          </a:p>
        </p:txBody>
      </p:sp>
      <p:cxnSp>
        <p:nvCxnSpPr>
          <p:cNvPr id="13" name="Straight Arrow Connector 12">
            <a:extLst>
              <a:ext uri="{FF2B5EF4-FFF2-40B4-BE49-F238E27FC236}">
                <a16:creationId xmlns:a16="http://schemas.microsoft.com/office/drawing/2014/main" id="{E2FBB805-83C6-4DE0-ACE3-44D6B22E544A}"/>
              </a:ext>
            </a:extLst>
          </p:cNvPr>
          <p:cNvCxnSpPr/>
          <p:nvPr/>
        </p:nvCxnSpPr>
        <p:spPr>
          <a:xfrm flipH="1" flipV="1">
            <a:off x="2627784" y="2924944"/>
            <a:ext cx="360040" cy="720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5C7341E-9E1C-4367-A4DF-41D72443D625}"/>
                  </a:ext>
                </a:extLst>
              </p:cNvPr>
              <p:cNvSpPr txBox="1"/>
              <p:nvPr/>
            </p:nvSpPr>
            <p:spPr>
              <a:xfrm>
                <a:off x="3168613" y="3491717"/>
                <a:ext cx="1763427"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Write any roots as powers of </a:t>
                </a:r>
                <a14:m>
                  <m:oMath xmlns:m="http://schemas.openxmlformats.org/officeDocument/2006/math">
                    <m:r>
                      <a:rPr lang="en-GB" b="0" i="1" smtClean="0">
                        <a:latin typeface="Cambria Math" panose="02040503050406030204" pitchFamily="18" charset="0"/>
                      </a:rPr>
                      <m:t>𝑥</m:t>
                    </m:r>
                  </m:oMath>
                </a14:m>
                <a:r>
                  <a:rPr lang="en-GB" dirty="0"/>
                  <a:t>.</a:t>
                </a:r>
              </a:p>
            </p:txBody>
          </p:sp>
        </mc:Choice>
        <mc:Fallback xmlns="">
          <p:sp>
            <p:nvSpPr>
              <p:cNvPr id="14" name="TextBox 13">
                <a:extLst>
                  <a:ext uri="{FF2B5EF4-FFF2-40B4-BE49-F238E27FC236}">
                    <a16:creationId xmlns:a16="http://schemas.microsoft.com/office/drawing/2014/main" id="{85C7341E-9E1C-4367-A4DF-41D72443D625}"/>
                  </a:ext>
                </a:extLst>
              </p:cNvPr>
              <p:cNvSpPr txBox="1">
                <a:spLocks noRot="1" noChangeAspect="1" noMove="1" noResize="1" noEditPoints="1" noAdjustHandles="1" noChangeArrowheads="1" noChangeShapeType="1" noTextEdit="1"/>
              </p:cNvSpPr>
              <p:nvPr/>
            </p:nvSpPr>
            <p:spPr>
              <a:xfrm>
                <a:off x="3168613" y="3491717"/>
                <a:ext cx="1763427" cy="646331"/>
              </a:xfrm>
              <a:prstGeom prst="rect">
                <a:avLst/>
              </a:prstGeom>
              <a:blipFill>
                <a:blip r:embed="rId6"/>
                <a:stretch>
                  <a:fillRect l="-2389" t="-3636" b="-11818"/>
                </a:stretch>
              </a:blipFill>
            </p:spPr>
            <p:txBody>
              <a:bodyPr/>
              <a:lstStyle/>
              <a:p>
                <a:r>
                  <a:rPr lang="en-GB">
                    <a:noFill/>
                  </a:rPr>
                  <a:t> </a:t>
                </a:r>
              </a:p>
            </p:txBody>
          </p:sp>
        </mc:Fallback>
      </mc:AlternateContent>
      <p:cxnSp>
        <p:nvCxnSpPr>
          <p:cNvPr id="15" name="Straight Arrow Connector 14">
            <a:extLst>
              <a:ext uri="{FF2B5EF4-FFF2-40B4-BE49-F238E27FC236}">
                <a16:creationId xmlns:a16="http://schemas.microsoft.com/office/drawing/2014/main" id="{9F58C420-585A-47F5-87A4-78D76C3088A8}"/>
              </a:ext>
            </a:extLst>
          </p:cNvPr>
          <p:cNvCxnSpPr/>
          <p:nvPr/>
        </p:nvCxnSpPr>
        <p:spPr>
          <a:xfrm flipH="1" flipV="1">
            <a:off x="2807804" y="3646796"/>
            <a:ext cx="360040" cy="720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D36627E5-EA18-4F11-AE0A-5FE91DC3D92A}"/>
              </a:ext>
            </a:extLst>
          </p:cNvPr>
          <p:cNvSpPr txBox="1"/>
          <p:nvPr/>
        </p:nvSpPr>
        <p:spPr>
          <a:xfrm>
            <a:off x="3320610" y="4538847"/>
            <a:ext cx="1763427" cy="80021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Split fraction </a:t>
            </a:r>
            <a:r>
              <a:rPr lang="en-GB" sz="1400" dirty="0"/>
              <a:t>(some may wish to do this step mentally)</a:t>
            </a:r>
          </a:p>
        </p:txBody>
      </p:sp>
      <p:cxnSp>
        <p:nvCxnSpPr>
          <p:cNvPr id="17" name="Straight Arrow Connector 16">
            <a:extLst>
              <a:ext uri="{FF2B5EF4-FFF2-40B4-BE49-F238E27FC236}">
                <a16:creationId xmlns:a16="http://schemas.microsoft.com/office/drawing/2014/main" id="{2BB87E9F-EFF1-4393-95A7-C20664523CD7}"/>
              </a:ext>
            </a:extLst>
          </p:cNvPr>
          <p:cNvCxnSpPr>
            <a:cxnSpLocks/>
          </p:cNvCxnSpPr>
          <p:nvPr/>
        </p:nvCxnSpPr>
        <p:spPr>
          <a:xfrm flipH="1" flipV="1">
            <a:off x="2987824" y="4538847"/>
            <a:ext cx="332786" cy="178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886E653E-6452-4D94-88BD-AD58B5DB00B7}"/>
              </a:ext>
            </a:extLst>
          </p:cNvPr>
          <p:cNvSpPr/>
          <p:nvPr/>
        </p:nvSpPr>
        <p:spPr>
          <a:xfrm>
            <a:off x="411163" y="2435248"/>
            <a:ext cx="4672874" cy="32260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a:extLst>
              <a:ext uri="{FF2B5EF4-FFF2-40B4-BE49-F238E27FC236}">
                <a16:creationId xmlns:a16="http://schemas.microsoft.com/office/drawing/2014/main" id="{39FC9D11-F2A2-4D6E-8D71-EA9289B753C3}"/>
              </a:ext>
            </a:extLst>
          </p:cNvPr>
          <p:cNvSpPr/>
          <p:nvPr/>
        </p:nvSpPr>
        <p:spPr>
          <a:xfrm>
            <a:off x="5295131" y="2666629"/>
            <a:ext cx="3597349" cy="299461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0152746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9"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1F (Page 15)</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728237" y="1054990"/>
                <a:ext cx="3024336" cy="4501169"/>
              </a:xfrm>
              <a:prstGeom prst="rect">
                <a:avLst/>
              </a:prstGeom>
              <a:noFill/>
            </p:spPr>
            <p:txBody>
              <a:bodyPr wrap="square" rtlCol="0">
                <a:spAutoFit/>
              </a:bodyPr>
              <a:lstStyle/>
              <a:p>
                <a:r>
                  <a:rPr lang="en-GB" dirty="0"/>
                  <a:t>Rationalise the denominator and simplify the following:</a:t>
                </a:r>
              </a:p>
              <a:p>
                <a:pP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+2</m:t>
                          </m:r>
                        </m:den>
                      </m:f>
                      <m:r>
                        <a:rPr lang="en-GB" b="0"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𝟓</m:t>
                          </m:r>
                        </m:e>
                      </m:rad>
                      <m:r>
                        <a:rPr lang="en-GB" b="1" i="1" smtClean="0">
                          <a:latin typeface="Cambria Math" panose="02040503050406030204" pitchFamily="18" charset="0"/>
                        </a:rPr>
                        <m:t>−</m:t>
                      </m:r>
                      <m:r>
                        <a:rPr lang="en-GB" b="1" i="1" smtClean="0">
                          <a:latin typeface="Cambria Math" panose="02040503050406030204" pitchFamily="18" charset="0"/>
                        </a:rPr>
                        <m:t>𝟐</m:t>
                      </m:r>
                    </m:oMath>
                  </m:oMathPara>
                </a14:m>
                <a:endParaRPr lang="en-GB" b="1" dirty="0"/>
              </a:p>
              <a:p>
                <a:pPr/>
                <a:br>
                  <a:rPr lang="en-GB" sz="1200" b="0" dirty="0"/>
                </a:br>
                <a14:m>
                  <m:oMathPara xmlns:m="http://schemas.openxmlformats.org/officeDocument/2006/math">
                    <m:oMath>
                      <m:f>
                        <m:fPr>
                          <m:ctrlPr>
                            <a:rPr lang="en-GB" b="0" i="1" smtClean="0">
                              <a:latin typeface="Cambria Math" panose="02040503050406030204" pitchFamily="18" charset="0"/>
                            </a:rPr>
                          </m:ctrlPr>
                        </m:fPr>
                        <m:num>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r>
                            <a:rPr lang="en-GB" b="0" i="1" smtClean="0">
                              <a:latin typeface="Cambria Math" panose="02040503050406030204" pitchFamily="18" charset="0"/>
                            </a:rPr>
                            <m:t>−1</m:t>
                          </m:r>
                        </m:den>
                      </m:f>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𝟑</m:t>
                          </m:r>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num>
                        <m:den>
                          <m:r>
                            <a:rPr lang="en-GB" b="1" i="1" smtClean="0">
                              <a:latin typeface="Cambria Math" panose="02040503050406030204" pitchFamily="18" charset="0"/>
                            </a:rPr>
                            <m:t>𝟐</m:t>
                          </m:r>
                        </m:den>
                      </m:f>
                    </m:oMath>
                  </m:oMathPara>
                </a14:m>
                <a:endParaRPr lang="en-GB" b="1" dirty="0"/>
              </a:p>
              <a:p>
                <a:pPr/>
                <a:br>
                  <a:rPr lang="en-GB" sz="1200" b="0" dirty="0"/>
                </a:br>
                <a14:m>
                  <m:oMathPara xmlns:m="http://schemas.openxmlformats.org/officeDocument/2006/math">
                    <m:oMath>
                      <m:f>
                        <m:fPr>
                          <m:ctrlPr>
                            <a:rPr lang="en-GB" b="0" i="1" smtClean="0">
                              <a:latin typeface="Cambria Math" panose="02040503050406030204" pitchFamily="18" charset="0"/>
                            </a:rPr>
                          </m:ctrlPr>
                        </m:fPr>
                        <m:num>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+1</m:t>
                          </m:r>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−2</m:t>
                          </m:r>
                        </m:den>
                      </m:f>
                      <m:r>
                        <a:rPr lang="en-GB" b="0" i="1" smtClean="0">
                          <a:latin typeface="Cambria Math" panose="02040503050406030204" pitchFamily="18" charset="0"/>
                        </a:rPr>
                        <m:t>=</m:t>
                      </m:r>
                      <m:r>
                        <a:rPr lang="en-GB" b="1" i="1" smtClean="0">
                          <a:latin typeface="Cambria Math" panose="02040503050406030204" pitchFamily="18" charset="0"/>
                        </a:rPr>
                        <m:t>𝟕</m:t>
                      </m:r>
                      <m:r>
                        <a:rPr lang="en-GB" b="1" i="1" smtClean="0">
                          <a:latin typeface="Cambria Math" panose="02040503050406030204" pitchFamily="18" charset="0"/>
                        </a:rPr>
                        <m:t>+</m:t>
                      </m:r>
                      <m:r>
                        <a:rPr lang="en-GB" b="1" i="1" smtClean="0">
                          <a:latin typeface="Cambria Math" panose="02040503050406030204" pitchFamily="18" charset="0"/>
                        </a:rPr>
                        <m:t>𝟑</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𝟓</m:t>
                          </m:r>
                        </m:e>
                      </m:rad>
                    </m:oMath>
                  </m:oMathPara>
                </a14:m>
                <a:endParaRPr lang="en-GB" b="1" dirty="0"/>
              </a:p>
              <a:p>
                <a:pPr/>
                <a:br>
                  <a:rPr lang="en-GB" sz="1200" b="0" dirty="0"/>
                </a:b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2</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r>
                            <a:rPr lang="en-GB" b="0" i="1" smtClean="0">
                              <a:latin typeface="Cambria Math" panose="02040503050406030204" pitchFamily="18" charset="0"/>
                            </a:rPr>
                            <m:t>−1</m:t>
                          </m:r>
                        </m:num>
                        <m:den>
                          <m:r>
                            <a:rPr lang="en-GB" b="0" i="1" smtClean="0">
                              <a:latin typeface="Cambria Math" panose="02040503050406030204" pitchFamily="18" charset="0"/>
                            </a:rPr>
                            <m:t>3</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r>
                            <a:rPr lang="en-GB" b="0" i="1" smtClean="0">
                              <a:latin typeface="Cambria Math" panose="02040503050406030204" pitchFamily="18" charset="0"/>
                            </a:rPr>
                            <m:t>+4</m:t>
                          </m:r>
                        </m:den>
                      </m:f>
                      <m:r>
                        <a:rPr lang="en-GB" b="0"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oMath>
                  </m:oMathPara>
                </a14:m>
                <a:endParaRPr lang="en-GB" b="1" dirty="0"/>
              </a:p>
              <a:p>
                <a:pPr/>
                <a:br>
                  <a:rPr lang="en-GB" sz="1200" b="0" dirty="0"/>
                </a:b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5</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−2</m:t>
                          </m:r>
                        </m:num>
                        <m:den>
                          <m:r>
                            <a:rPr lang="en-GB" b="0" i="1" smtClean="0">
                              <a:latin typeface="Cambria Math" panose="02040503050406030204" pitchFamily="18" charset="0"/>
                            </a:rPr>
                            <m:t>2</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−3</m:t>
                          </m:r>
                        </m:den>
                      </m:f>
                      <m:r>
                        <a:rPr lang="en-GB" b="0"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𝟓</m:t>
                          </m:r>
                        </m:e>
                      </m:rad>
                    </m:oMath>
                  </m:oMathPara>
                </a14:m>
                <a:endParaRPr lang="en-GB" b="1" dirty="0"/>
              </a:p>
            </p:txBody>
          </p:sp>
        </mc:Choice>
        <mc:Fallback xmlns="">
          <p:sp>
            <p:nvSpPr>
              <p:cNvPr id="5" name="TextBox 4"/>
              <p:cNvSpPr txBox="1">
                <a:spLocks noRot="1" noChangeAspect="1" noMove="1" noResize="1" noEditPoints="1" noAdjustHandles="1" noChangeArrowheads="1" noChangeShapeType="1" noTextEdit="1"/>
              </p:cNvSpPr>
              <p:nvPr/>
            </p:nvSpPr>
            <p:spPr>
              <a:xfrm>
                <a:off x="728237" y="1054990"/>
                <a:ext cx="3024336" cy="4501169"/>
              </a:xfrm>
              <a:prstGeom prst="rect">
                <a:avLst/>
              </a:prstGeom>
              <a:blipFill>
                <a:blip r:embed="rId2"/>
                <a:stretch>
                  <a:fillRect l="-1610" t="-678"/>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4614339" y="836712"/>
                <a:ext cx="3888432" cy="5844933"/>
              </a:xfrm>
              <a:prstGeom prst="rect">
                <a:avLst/>
              </a:prstGeom>
              <a:noFill/>
            </p:spPr>
            <p:txBody>
              <a:bodyPr wrap="square" rtlCol="0">
                <a:spAutoFit/>
              </a:bodyPr>
              <a:lstStyle/>
              <a:p>
                <a:r>
                  <a:rPr lang="en-GB" dirty="0"/>
                  <a:t>Expand and simplify:</a:t>
                </a:r>
              </a:p>
              <a:p>
                <a:pPr/>
                <a14:m>
                  <m:oMathPara xmlns:m="http://schemas.openxmlformats.org/officeDocument/2006/math">
                    <m:oMath>
                      <m:d>
                        <m:dPr>
                          <m:ctrlPr>
                            <a:rPr lang="en-GB" b="0" i="1" smtClean="0">
                              <a:latin typeface="Cambria Math" panose="02040503050406030204" pitchFamily="18" charset="0"/>
                            </a:rPr>
                          </m:ctrlPr>
                        </m:dPr>
                        <m:e>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+3</m:t>
                          </m:r>
                        </m:e>
                      </m:d>
                      <m:d>
                        <m:dPr>
                          <m:ctrlPr>
                            <a:rPr lang="en-GB" b="0" i="1" smtClean="0">
                              <a:latin typeface="Cambria Math" panose="02040503050406030204" pitchFamily="18" charset="0"/>
                            </a:rPr>
                          </m:ctrlPr>
                        </m:dPr>
                        <m:e>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−2</m:t>
                          </m:r>
                        </m:e>
                      </m:d>
                      <m:d>
                        <m:dPr>
                          <m:ctrlPr>
                            <a:rPr lang="en-GB" b="0" i="1" smtClean="0">
                              <a:latin typeface="Cambria Math" panose="02040503050406030204" pitchFamily="18" charset="0"/>
                            </a:rPr>
                          </m:ctrlPr>
                        </m:dPr>
                        <m:e>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5</m:t>
                              </m:r>
                            </m:e>
                          </m:rad>
                          <m:r>
                            <a:rPr lang="en-GB" b="0" i="1" smtClean="0">
                              <a:latin typeface="Cambria Math" panose="02040503050406030204" pitchFamily="18" charset="0"/>
                            </a:rPr>
                            <m:t>+1</m:t>
                          </m:r>
                        </m:e>
                      </m:d>
                      <m:r>
                        <a:rPr lang="en-GB" b="0" i="1" smtClean="0">
                          <a:latin typeface="Cambria Math" panose="02040503050406030204" pitchFamily="18" charset="0"/>
                        </a:rPr>
                        <m:t>=</m:t>
                      </m:r>
                      <m:r>
                        <a:rPr lang="en-GB" b="1" i="1" smtClean="0">
                          <a:latin typeface="Cambria Math" panose="02040503050406030204" pitchFamily="18" charset="0"/>
                        </a:rPr>
                        <m:t>𝟒</m:t>
                      </m:r>
                    </m:oMath>
                  </m:oMathPara>
                </a14:m>
                <a:endParaRPr lang="en-GB" b="1" dirty="0"/>
              </a:p>
              <a:p>
                <a:endParaRPr lang="en-GB" dirty="0"/>
              </a:p>
              <a:p>
                <a:r>
                  <a:rPr lang="en-GB" dirty="0"/>
                  <a:t>Rationalise the denominator, giving your answer in the form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3</m:t>
                        </m:r>
                      </m:e>
                    </m:rad>
                  </m:oMath>
                </a14:m>
                <a:r>
                  <a:rPr lang="en-GB" dirty="0"/>
                  <a:t>.</a:t>
                </a:r>
              </a:p>
              <a:p>
                <a:pPr/>
                <a14:m>
                  <m:oMathPara xmlns:m="http://schemas.openxmlformats.org/officeDocument/2006/math">
                    <m:oMath>
                      <m:f>
                        <m:fPr>
                          <m:ctrlPr>
                            <a:rPr lang="en-GB" b="0" i="1" smtClean="0">
                              <a:latin typeface="Cambria Math" panose="02040503050406030204" pitchFamily="18" charset="0"/>
                            </a:rPr>
                          </m:ctrlPr>
                        </m:fPr>
                        <m:num>
                          <m:r>
                            <a:rPr lang="en-GB" b="0" i="1" smtClean="0">
                              <a:latin typeface="Cambria Math" panose="02040503050406030204" pitchFamily="18" charset="0"/>
                            </a:rPr>
                            <m:t>3</m:t>
                          </m:r>
                          <m:rad>
                            <m:radPr>
                              <m:degHide m:val="on"/>
                              <m:ctrlPr>
                                <a:rPr lang="en-GB" i="1">
                                  <a:latin typeface="Cambria Math" panose="02040503050406030204" pitchFamily="18" charset="0"/>
                                </a:rPr>
                              </m:ctrlPr>
                            </m:radPr>
                            <m:deg/>
                            <m:e>
                              <m:r>
                                <a:rPr lang="en-GB" i="1">
                                  <a:latin typeface="Cambria Math" panose="02040503050406030204" pitchFamily="18" charset="0"/>
                                </a:rPr>
                                <m:t>3</m:t>
                              </m:r>
                            </m:e>
                          </m:rad>
                          <m:r>
                            <a:rPr lang="en-GB" b="0" i="1" smtClean="0">
                              <a:latin typeface="Cambria Math" panose="02040503050406030204" pitchFamily="18" charset="0"/>
                            </a:rPr>
                            <m:t>+7</m:t>
                          </m:r>
                        </m:num>
                        <m:den>
                          <m:r>
                            <a:rPr lang="en-GB" i="1">
                              <a:latin typeface="Cambria Math" panose="02040503050406030204" pitchFamily="18" charset="0"/>
                            </a:rPr>
                            <m:t>3</m:t>
                          </m:r>
                          <m:rad>
                            <m:radPr>
                              <m:degHide m:val="on"/>
                              <m:ctrlPr>
                                <a:rPr lang="en-GB" i="1">
                                  <a:latin typeface="Cambria Math" panose="02040503050406030204" pitchFamily="18" charset="0"/>
                                </a:rPr>
                              </m:ctrlPr>
                            </m:radPr>
                            <m:deg/>
                            <m:e>
                              <m:r>
                                <a:rPr lang="en-GB" i="1">
                                  <a:latin typeface="Cambria Math" panose="02040503050406030204" pitchFamily="18" charset="0"/>
                                </a:rPr>
                                <m:t>3</m:t>
                              </m:r>
                            </m:e>
                          </m:rad>
                          <m:r>
                            <a:rPr lang="en-GB" b="0" i="1" smtClean="0">
                              <a:latin typeface="Cambria Math" panose="02040503050406030204" pitchFamily="18" charset="0"/>
                            </a:rPr>
                            <m:t>−5</m:t>
                          </m:r>
                        </m:den>
                      </m:f>
                      <m:r>
                        <a:rPr lang="en-GB" b="0" i="1" smtClean="0">
                          <a:latin typeface="Cambria Math" panose="02040503050406030204" pitchFamily="18" charset="0"/>
                        </a:rPr>
                        <m:t>=</m:t>
                      </m:r>
                      <m:r>
                        <a:rPr lang="en-GB" b="1" i="1" smtClean="0">
                          <a:latin typeface="Cambria Math" panose="02040503050406030204" pitchFamily="18" charset="0"/>
                        </a:rPr>
                        <m:t>𝟑𝟏</m:t>
                      </m:r>
                      <m:r>
                        <a:rPr lang="en-GB" b="1" i="1" smtClean="0">
                          <a:latin typeface="Cambria Math" panose="02040503050406030204" pitchFamily="18" charset="0"/>
                        </a:rPr>
                        <m:t>+</m:t>
                      </m:r>
                      <m:r>
                        <a:rPr lang="en-GB" b="1" i="1" smtClean="0">
                          <a:latin typeface="Cambria Math" panose="02040503050406030204" pitchFamily="18" charset="0"/>
                        </a:rPr>
                        <m:t>𝟏𝟖</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𝟑</m:t>
                          </m:r>
                        </m:e>
                      </m:rad>
                    </m:oMath>
                  </m:oMathPara>
                </a14:m>
                <a:endParaRPr lang="en-GB" b="1" dirty="0"/>
              </a:p>
              <a:p>
                <a:endParaRPr lang="en-GB" dirty="0"/>
              </a:p>
              <a:p>
                <a:r>
                  <a:rPr lang="en-GB" dirty="0"/>
                  <a:t>Solve </a:t>
                </a:r>
                <a14:m>
                  <m:oMath xmlns:m="http://schemas.openxmlformats.org/officeDocument/2006/math">
                    <m:r>
                      <a:rPr lang="en-GB" b="0" i="1" smtClean="0">
                        <a:latin typeface="Cambria Math" panose="02040503050406030204" pitchFamily="18" charset="0"/>
                      </a:rPr>
                      <m:t>𝑥</m:t>
                    </m:r>
                    <m:d>
                      <m:dPr>
                        <m:ctrlPr>
                          <a:rPr lang="en-GB" b="0" i="1" smtClean="0">
                            <a:latin typeface="Cambria Math" panose="02040503050406030204" pitchFamily="18" charset="0"/>
                          </a:rPr>
                        </m:ctrlPr>
                      </m:dPr>
                      <m:e>
                        <m:r>
                          <a:rPr lang="en-GB" b="0" i="1" smtClean="0">
                            <a:latin typeface="Cambria Math" panose="02040503050406030204" pitchFamily="18" charset="0"/>
                          </a:rPr>
                          <m:t>4−</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6</m:t>
                            </m:r>
                          </m:e>
                        </m:rad>
                      </m:e>
                    </m:d>
                    <m:r>
                      <a:rPr lang="en-GB" b="0" i="1" smtClean="0">
                        <a:latin typeface="Cambria Math" panose="02040503050406030204" pitchFamily="18" charset="0"/>
                      </a:rPr>
                      <m:t>=10</m:t>
                    </m:r>
                  </m:oMath>
                </a14:m>
                <a:r>
                  <a:rPr lang="en-GB" dirty="0"/>
                  <a:t> giving your answer in the form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6</m:t>
                        </m:r>
                      </m:e>
                    </m:rad>
                  </m:oMath>
                </a14:m>
                <a:r>
                  <a:rPr lang="en-GB" dirty="0"/>
                  <a:t>.</a:t>
                </a:r>
              </a:p>
              <a:p>
                <a:pPr/>
                <a14:m>
                  <m:oMathPara xmlns:m="http://schemas.openxmlformats.org/officeDocument/2006/math">
                    <m:oMath>
                      <m:r>
                        <a:rPr lang="en-GB" b="0" i="1" smtClean="0">
                          <a:latin typeface="Cambria Math" panose="02040503050406030204" pitchFamily="18" charset="0"/>
                        </a:rPr>
                        <m:t>𝑥</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10</m:t>
                          </m:r>
                        </m:num>
                        <m:den>
                          <m:r>
                            <a:rPr lang="en-GB" b="0" i="1" smtClean="0">
                              <a:latin typeface="Cambria Math" panose="02040503050406030204" pitchFamily="18" charset="0"/>
                            </a:rPr>
                            <m:t>4−</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6</m:t>
                              </m:r>
                            </m:e>
                          </m:rad>
                        </m:den>
                      </m:f>
                      <m:r>
                        <a:rPr lang="en-GB" b="0"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𝟔</m:t>
                          </m:r>
                        </m:e>
                      </m:rad>
                    </m:oMath>
                  </m:oMathPara>
                </a14:m>
                <a:endParaRPr lang="en-GB" b="1" dirty="0"/>
              </a:p>
              <a:p>
                <a:endParaRPr lang="en-GB" dirty="0"/>
              </a:p>
              <a:p>
                <a:r>
                  <a:rPr lang="en-GB" dirty="0"/>
                  <a:t>Solve </a:t>
                </a:r>
                <a14:m>
                  <m:oMath xmlns:m="http://schemas.openxmlformats.org/officeDocument/2006/math">
                    <m:r>
                      <a:rPr lang="en-GB" b="0" i="1" smtClean="0">
                        <a:latin typeface="Cambria Math" panose="02040503050406030204" pitchFamily="18" charset="0"/>
                      </a:rPr>
                      <m:t>𝑦</m:t>
                    </m:r>
                    <m:d>
                      <m:dPr>
                        <m:ctrlPr>
                          <a:rPr lang="en-GB" b="0" i="1" smtClean="0">
                            <a:latin typeface="Cambria Math" panose="02040503050406030204" pitchFamily="18" charset="0"/>
                          </a:rPr>
                        </m:ctrlPr>
                      </m:dPr>
                      <m:e>
                        <m:r>
                          <a:rPr lang="en-GB" b="0" i="1" smtClean="0">
                            <a:latin typeface="Cambria Math" panose="02040503050406030204" pitchFamily="18" charset="0"/>
                          </a:rPr>
                          <m:t>1+</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e>
                    </m:d>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r>
                      <a:rPr lang="en-GB" b="0" i="1" smtClean="0">
                        <a:latin typeface="Cambria Math" panose="02040503050406030204" pitchFamily="18" charset="0"/>
                      </a:rPr>
                      <m:t>=3</m:t>
                    </m:r>
                  </m:oMath>
                </a14:m>
                <a:endParaRPr lang="en-GB" dirty="0"/>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num>
                        <m:den>
                          <m:r>
                            <a:rPr lang="en-GB" b="0" i="1" smtClean="0">
                              <a:latin typeface="Cambria Math" panose="02040503050406030204" pitchFamily="18" charset="0"/>
                            </a:rPr>
                            <m:t>1+</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e>
                          </m:rad>
                        </m:den>
                      </m:f>
                      <m:r>
                        <a:rPr lang="en-GB" b="0" i="1" smtClean="0">
                          <a:latin typeface="Cambria Math" panose="02040503050406030204" pitchFamily="18" charset="0"/>
                        </a:rPr>
                        <m:t>=</m:t>
                      </m:r>
                      <m:r>
                        <a:rPr lang="en-GB" b="1" i="1" smtClean="0">
                          <a:latin typeface="Cambria Math" panose="02040503050406030204" pitchFamily="18" charset="0"/>
                        </a:rPr>
                        <m:t>𝟐</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𝟐</m:t>
                          </m:r>
                        </m:e>
                      </m:rad>
                      <m:r>
                        <a:rPr lang="en-GB" b="1" i="1" smtClean="0">
                          <a:latin typeface="Cambria Math" panose="02040503050406030204" pitchFamily="18" charset="0"/>
                        </a:rPr>
                        <m:t>−</m:t>
                      </m:r>
                      <m:r>
                        <a:rPr lang="en-GB" b="1" i="1" smtClean="0">
                          <a:latin typeface="Cambria Math" panose="02040503050406030204" pitchFamily="18" charset="0"/>
                        </a:rPr>
                        <m:t>𝟏</m:t>
                      </m:r>
                    </m:oMath>
                  </m:oMathPara>
                </a14:m>
                <a:endParaRPr lang="en-GB" dirty="0"/>
              </a:p>
              <a:p>
                <a:r>
                  <a:rPr lang="en-GB" dirty="0"/>
                  <a:t>Simplify:</a:t>
                </a:r>
              </a:p>
              <a:p>
                <a:pPr/>
                <a14:m>
                  <m:oMathPara xmlns:m="http://schemas.openxmlformats.org/officeDocument/2006/math">
                    <m:oMath>
                      <m:f>
                        <m:fPr>
                          <m:ctrlPr>
                            <a:rPr lang="en-GB" b="0" i="1" smtClean="0">
                              <a:latin typeface="Cambria Math" panose="02040503050406030204" pitchFamily="18" charset="0"/>
                            </a:rPr>
                          </m:ctrlPr>
                        </m:fPr>
                        <m:num>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𝑎</m:t>
                              </m:r>
                              <m:r>
                                <a:rPr lang="en-GB" b="0" i="1" smtClean="0">
                                  <a:latin typeface="Cambria Math" panose="02040503050406030204" pitchFamily="18" charset="0"/>
                                </a:rPr>
                                <m:t>+1</m:t>
                              </m:r>
                            </m:e>
                          </m:rad>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𝑎</m:t>
                              </m:r>
                            </m:e>
                          </m:rad>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𝑎</m:t>
                              </m:r>
                              <m:r>
                                <a:rPr lang="en-GB" b="0" i="1" smtClean="0">
                                  <a:latin typeface="Cambria Math" panose="02040503050406030204" pitchFamily="18" charset="0"/>
                                </a:rPr>
                                <m:t>+1</m:t>
                              </m:r>
                            </m:e>
                          </m:rad>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𝑎</m:t>
                              </m:r>
                            </m:e>
                          </m:rad>
                        </m:den>
                      </m:f>
                      <m:r>
                        <a:rPr lang="en-GB" b="0"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𝒂</m:t>
                      </m:r>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𝟐</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𝒂</m:t>
                          </m:r>
                        </m:e>
                      </m:rad>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𝒂</m:t>
                          </m:r>
                          <m:r>
                            <a:rPr lang="en-GB" b="1" i="1" smtClean="0">
                              <a:latin typeface="Cambria Math" panose="02040503050406030204" pitchFamily="18" charset="0"/>
                            </a:rPr>
                            <m:t>+</m:t>
                          </m:r>
                          <m:r>
                            <a:rPr lang="en-GB" b="1" i="1" smtClean="0">
                              <a:latin typeface="Cambria Math" panose="02040503050406030204" pitchFamily="18" charset="0"/>
                            </a:rPr>
                            <m:t>𝟏</m:t>
                          </m:r>
                        </m:e>
                      </m:rad>
                    </m:oMath>
                  </m:oMathPara>
                </a14:m>
                <a:endParaRPr lang="en-GB" b="1" dirty="0"/>
              </a:p>
            </p:txBody>
          </p:sp>
        </mc:Choice>
        <mc:Fallback>
          <p:sp>
            <p:nvSpPr>
              <p:cNvPr id="6" name="TextBox 5"/>
              <p:cNvSpPr txBox="1">
                <a:spLocks noRot="1" noChangeAspect="1" noMove="1" noResize="1" noEditPoints="1" noAdjustHandles="1" noChangeArrowheads="1" noChangeShapeType="1" noTextEdit="1"/>
              </p:cNvSpPr>
              <p:nvPr/>
            </p:nvSpPr>
            <p:spPr>
              <a:xfrm>
                <a:off x="4614339" y="836712"/>
                <a:ext cx="3888432" cy="5844933"/>
              </a:xfrm>
              <a:prstGeom prst="rect">
                <a:avLst/>
              </a:prstGeom>
              <a:blipFill>
                <a:blip r:embed="rId3"/>
                <a:stretch>
                  <a:fillRect l="-1411" t="-521"/>
                </a:stretch>
              </a:blipFill>
            </p:spPr>
            <p:txBody>
              <a:bodyPr/>
              <a:lstStyle/>
              <a:p>
                <a:r>
                  <a:rPr lang="en-US">
                    <a:noFill/>
                  </a:rPr>
                  <a:t> </a:t>
                </a:r>
              </a:p>
            </p:txBody>
          </p:sp>
        </mc:Fallback>
      </mc:AlternateContent>
      <p:sp>
        <p:nvSpPr>
          <p:cNvPr id="8" name="Rectangle 7"/>
          <p:cNvSpPr/>
          <p:nvPr/>
        </p:nvSpPr>
        <p:spPr>
          <a:xfrm>
            <a:off x="2364941" y="1671014"/>
            <a:ext cx="1104468"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p:cNvSpPr/>
          <p:nvPr/>
        </p:nvSpPr>
        <p:spPr>
          <a:xfrm>
            <a:off x="2364941" y="2420653"/>
            <a:ext cx="1104468"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0" name="Rectangle 9"/>
          <p:cNvSpPr/>
          <p:nvPr/>
        </p:nvSpPr>
        <p:spPr>
          <a:xfrm>
            <a:off x="2293057" y="3315075"/>
            <a:ext cx="1104468"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2364941" y="4083870"/>
            <a:ext cx="1104468"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2381322" y="4906351"/>
            <a:ext cx="1104468"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6532051" y="2354239"/>
            <a:ext cx="1224136"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5148064" y="3943703"/>
            <a:ext cx="2993540"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5852906" y="5096669"/>
            <a:ext cx="2202579" cy="64723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6301319" y="5979204"/>
            <a:ext cx="2201452" cy="57484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440205" y="1114555"/>
            <a:ext cx="288032" cy="2880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9" name="Rectangle 18"/>
          <p:cNvSpPr/>
          <p:nvPr/>
        </p:nvSpPr>
        <p:spPr>
          <a:xfrm>
            <a:off x="4239830" y="877655"/>
            <a:ext cx="288032" cy="2880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20" name="Rectangle 19"/>
          <p:cNvSpPr/>
          <p:nvPr/>
        </p:nvSpPr>
        <p:spPr>
          <a:xfrm>
            <a:off x="4239830" y="1831544"/>
            <a:ext cx="288032" cy="2880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3</a:t>
            </a:r>
          </a:p>
        </p:txBody>
      </p:sp>
      <p:sp>
        <p:nvSpPr>
          <p:cNvPr id="21" name="Rectangle 20"/>
          <p:cNvSpPr/>
          <p:nvPr/>
        </p:nvSpPr>
        <p:spPr>
          <a:xfrm>
            <a:off x="4239830" y="3283007"/>
            <a:ext cx="288032" cy="2880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4</a:t>
            </a:r>
          </a:p>
        </p:txBody>
      </p:sp>
      <p:sp>
        <p:nvSpPr>
          <p:cNvPr id="22" name="Rectangle 21"/>
          <p:cNvSpPr/>
          <p:nvPr/>
        </p:nvSpPr>
        <p:spPr>
          <a:xfrm>
            <a:off x="4239830" y="4757749"/>
            <a:ext cx="288032" cy="2880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5</a:t>
            </a:r>
          </a:p>
        </p:txBody>
      </p:sp>
      <p:sp>
        <p:nvSpPr>
          <p:cNvPr id="23" name="Rectangle 22"/>
          <p:cNvSpPr/>
          <p:nvPr/>
        </p:nvSpPr>
        <p:spPr>
          <a:xfrm>
            <a:off x="913765" y="1846259"/>
            <a:ext cx="288032" cy="2880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a</a:t>
            </a:r>
          </a:p>
        </p:txBody>
      </p:sp>
      <p:sp>
        <p:nvSpPr>
          <p:cNvPr id="24" name="Rectangle 23"/>
          <p:cNvSpPr/>
          <p:nvPr/>
        </p:nvSpPr>
        <p:spPr>
          <a:xfrm>
            <a:off x="913765" y="2575078"/>
            <a:ext cx="288032" cy="2880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b</a:t>
            </a:r>
          </a:p>
        </p:txBody>
      </p:sp>
      <p:sp>
        <p:nvSpPr>
          <p:cNvPr id="25" name="Rectangle 24"/>
          <p:cNvSpPr/>
          <p:nvPr/>
        </p:nvSpPr>
        <p:spPr>
          <a:xfrm>
            <a:off x="913765" y="3418616"/>
            <a:ext cx="288032" cy="2880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c</a:t>
            </a:r>
          </a:p>
        </p:txBody>
      </p:sp>
      <p:sp>
        <p:nvSpPr>
          <p:cNvPr id="26" name="Rectangle 25"/>
          <p:cNvSpPr/>
          <p:nvPr/>
        </p:nvSpPr>
        <p:spPr>
          <a:xfrm>
            <a:off x="913765" y="4263306"/>
            <a:ext cx="288032" cy="2880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d</a:t>
            </a:r>
          </a:p>
        </p:txBody>
      </p:sp>
      <p:sp>
        <p:nvSpPr>
          <p:cNvPr id="27" name="Rectangle 26"/>
          <p:cNvSpPr/>
          <p:nvPr/>
        </p:nvSpPr>
        <p:spPr>
          <a:xfrm>
            <a:off x="913765" y="5107996"/>
            <a:ext cx="288032" cy="2880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e</a:t>
            </a:r>
          </a:p>
        </p:txBody>
      </p:sp>
      <p:sp>
        <p:nvSpPr>
          <p:cNvPr id="28" name="Rectangle 27"/>
          <p:cNvSpPr/>
          <p:nvPr/>
        </p:nvSpPr>
        <p:spPr>
          <a:xfrm>
            <a:off x="7959160" y="995878"/>
            <a:ext cx="634093" cy="60012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9" name="Rectangle 28"/>
          <p:cNvSpPr/>
          <p:nvPr/>
        </p:nvSpPr>
        <p:spPr>
          <a:xfrm>
            <a:off x="4239830" y="5944459"/>
            <a:ext cx="288032" cy="2880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6</a:t>
            </a:r>
          </a:p>
        </p:txBody>
      </p:sp>
      <p:sp>
        <p:nvSpPr>
          <p:cNvPr id="7" name="TextBox 6"/>
          <p:cNvSpPr txBox="1"/>
          <p:nvPr/>
        </p:nvSpPr>
        <p:spPr>
          <a:xfrm>
            <a:off x="251520" y="642670"/>
            <a:ext cx="4362819" cy="369332"/>
          </a:xfrm>
          <a:prstGeom prst="rect">
            <a:avLst/>
          </a:prstGeom>
          <a:noFill/>
        </p:spPr>
        <p:txBody>
          <a:bodyPr wrap="square" rtlCol="0">
            <a:spAutoFit/>
          </a:bodyPr>
          <a:lstStyle/>
          <a:p>
            <a:r>
              <a:rPr lang="en-GB" b="1" dirty="0"/>
              <a:t>or alternatively: (not in textbook)</a:t>
            </a:r>
          </a:p>
        </p:txBody>
      </p:sp>
    </p:spTree>
    <p:extLst>
      <p:ext uri="{BB962C8B-B14F-4D97-AF65-F5344CB8AC3E}">
        <p14:creationId xmlns:p14="http://schemas.microsoft.com/office/powerpoint/2010/main" val="223885909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14" restart="whenNotActive" fill="hold" evtFilter="cancelBubble" nodeType="interactiveSeq">
                <p:stCondLst>
                  <p:cond evt="onClick" delay="0">
                    <p:tgtEl>
                      <p:spTgt spid="1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0" restart="whenNotActive" fill="hold" evtFilter="cancelBubble" nodeType="interactiveSeq">
                <p:stCondLst>
                  <p:cond evt="onClick" delay="0">
                    <p:tgtEl>
                      <p:spTgt spid="1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1"/>
                                        </p:tgtEl>
                                      </p:cBhvr>
                                    </p:animEffect>
                                    <p:set>
                                      <p:cBhvr>
                                        <p:cTn id="25"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6" restart="whenNotActive" fill="hold" evtFilter="cancelBubble" nodeType="interactiveSeq">
                <p:stCondLst>
                  <p:cond evt="onClick" delay="0">
                    <p:tgtEl>
                      <p:spTgt spid="12"/>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2"/>
                                        </p:tgtEl>
                                      </p:cBhvr>
                                    </p:animEffect>
                                    <p:set>
                                      <p:cBhvr>
                                        <p:cTn id="31"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32" restart="whenNotActive" fill="hold" evtFilter="cancelBubble" nodeType="interactiveSeq">
                <p:stCondLst>
                  <p:cond evt="onClick" delay="0">
                    <p:tgtEl>
                      <p:spTgt spid="13"/>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38" restart="whenNotActive" fill="hold" evtFilter="cancelBubble" nodeType="interactiveSeq">
                <p:stCondLst>
                  <p:cond evt="onClick" delay="0">
                    <p:tgtEl>
                      <p:spTgt spid="14"/>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4"/>
                                        </p:tgtEl>
                                      </p:cBhvr>
                                    </p:animEffect>
                                    <p:set>
                                      <p:cBhvr>
                                        <p:cTn id="4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44" restart="whenNotActive" fill="hold" evtFilter="cancelBubble" nodeType="interactiveSeq">
                <p:stCondLst>
                  <p:cond evt="onClick" delay="0">
                    <p:tgtEl>
                      <p:spTgt spid="15"/>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15"/>
                                        </p:tgtEl>
                                      </p:cBhvr>
                                    </p:animEffect>
                                    <p:set>
                                      <p:cBhvr>
                                        <p:cTn id="49"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50" restart="whenNotActive" fill="hold" evtFilter="cancelBubble" nodeType="interactiveSeq">
                <p:stCondLst>
                  <p:cond evt="onClick" delay="0">
                    <p:tgtEl>
                      <p:spTgt spid="16"/>
                    </p:tgtEl>
                  </p:cond>
                </p:stCondLst>
                <p:endSync evt="end" delay="0">
                  <p:rtn val="all"/>
                </p:endSync>
                <p:childTnLst>
                  <p:par>
                    <p:cTn id="51" fill="hold">
                      <p:stCondLst>
                        <p:cond delay="0"/>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16"/>
                                        </p:tgtEl>
                                      </p:cBhvr>
                                    </p:animEffect>
                                    <p:set>
                                      <p:cBhvr>
                                        <p:cTn id="55"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56" restart="whenNotActive" fill="hold" evtFilter="cancelBubble" nodeType="interactiveSeq">
                <p:stCondLst>
                  <p:cond evt="onClick" delay="0">
                    <p:tgtEl>
                      <p:spTgt spid="28"/>
                    </p:tgtEl>
                  </p:cond>
                </p:stCondLst>
                <p:endSync evt="end" delay="0">
                  <p:rtn val="all"/>
                </p:endSync>
                <p:childTnLst>
                  <p:par>
                    <p:cTn id="57" fill="hold">
                      <p:stCondLst>
                        <p:cond delay="0"/>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28"/>
                                        </p:tgtEl>
                                      </p:cBhvr>
                                    </p:animEffect>
                                    <p:set>
                                      <p:cBhvr>
                                        <p:cTn id="61"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2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 final super hard puzzle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2843808" y="1412776"/>
                <a:ext cx="4464496" cy="1084143"/>
              </a:xfrm>
              <a:prstGeom prst="rect">
                <a:avLst/>
              </a:prstGeom>
              <a:noFill/>
            </p:spPr>
            <p:txBody>
              <a:bodyPr wrap="square" rtlCol="0">
                <a:spAutoFit/>
              </a:bodyPr>
              <a:lstStyle/>
              <a:p>
                <a:r>
                  <a:rPr lang="en-GB" sz="3600" b="0" dirty="0"/>
                  <a:t>Solve </a:t>
                </a:r>
                <a14:m>
                  <m:oMath xmlns:m="http://schemas.openxmlformats.org/officeDocument/2006/math">
                    <m:f>
                      <m:fPr>
                        <m:ctrlPr>
                          <a:rPr lang="en-GB" sz="3600" b="0" i="1" smtClean="0">
                            <a:latin typeface="Cambria Math" panose="02040503050406030204" pitchFamily="18" charset="0"/>
                          </a:rPr>
                        </m:ctrlPr>
                      </m:fPr>
                      <m:num>
                        <m:rad>
                          <m:radPr>
                            <m:ctrlPr>
                              <a:rPr lang="en-GB" sz="3600" b="0" i="0" smtClean="0">
                                <a:latin typeface="Cambria Math" panose="02040503050406030204" pitchFamily="18" charset="0"/>
                              </a:rPr>
                            </m:ctrlPr>
                          </m:radPr>
                          <m:deg>
                            <m:r>
                              <a:rPr lang="en-GB" sz="3600" b="0" i="0" smtClean="0">
                                <a:latin typeface="Cambria Math" panose="02040503050406030204" pitchFamily="18" charset="0"/>
                              </a:rPr>
                              <m:t>4</m:t>
                            </m:r>
                          </m:deg>
                          <m:e>
                            <m:r>
                              <a:rPr lang="en-GB" sz="3600" b="0" i="1" smtClean="0">
                                <a:latin typeface="Cambria Math" panose="02040503050406030204" pitchFamily="18" charset="0"/>
                              </a:rPr>
                              <m:t>9</m:t>
                            </m:r>
                          </m:e>
                        </m:rad>
                      </m:num>
                      <m:den>
                        <m:rad>
                          <m:radPr>
                            <m:ctrlPr>
                              <a:rPr lang="en-GB" sz="3600" b="0" i="0" smtClean="0">
                                <a:latin typeface="Cambria Math" panose="02040503050406030204" pitchFamily="18" charset="0"/>
                              </a:rPr>
                            </m:ctrlPr>
                          </m:radPr>
                          <m:deg>
                            <m:r>
                              <a:rPr lang="en-GB" sz="3600" b="0" i="0" smtClean="0">
                                <a:latin typeface="Cambria Math" panose="02040503050406030204" pitchFamily="18" charset="0"/>
                              </a:rPr>
                              <m:t>5</m:t>
                            </m:r>
                          </m:deg>
                          <m:e>
                            <m:r>
                              <a:rPr lang="en-GB" sz="3600" b="0" i="1" smtClean="0">
                                <a:latin typeface="Cambria Math" panose="02040503050406030204" pitchFamily="18" charset="0"/>
                              </a:rPr>
                              <m:t>27</m:t>
                            </m:r>
                          </m:e>
                        </m:rad>
                      </m:den>
                    </m:f>
                    <m:r>
                      <a:rPr lang="en-GB" sz="3600" b="0" i="1" smtClean="0">
                        <a:latin typeface="Cambria Math" panose="02040503050406030204" pitchFamily="18" charset="0"/>
                      </a:rPr>
                      <m:t>=</m:t>
                    </m:r>
                    <m:rad>
                      <m:radPr>
                        <m:ctrlPr>
                          <a:rPr lang="en-GB" sz="3600" b="0" i="1" smtClean="0">
                            <a:latin typeface="Cambria Math" panose="02040503050406030204" pitchFamily="18" charset="0"/>
                          </a:rPr>
                        </m:ctrlPr>
                      </m:radPr>
                      <m:deg>
                        <m:r>
                          <a:rPr lang="en-GB" sz="3600" b="0" i="1" smtClean="0">
                            <a:latin typeface="Cambria Math" panose="02040503050406030204" pitchFamily="18" charset="0"/>
                          </a:rPr>
                          <m:t>𝑥</m:t>
                        </m:r>
                      </m:deg>
                      <m:e>
                        <m:r>
                          <a:rPr lang="en-GB" sz="3600" b="0" i="1" smtClean="0">
                            <a:latin typeface="Cambria Math" panose="02040503050406030204" pitchFamily="18" charset="0"/>
                          </a:rPr>
                          <m:t>3</m:t>
                        </m:r>
                      </m:e>
                    </m:rad>
                  </m:oMath>
                </a14:m>
                <a:endParaRPr lang="en-GB"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2843808" y="1412776"/>
                <a:ext cx="4464496" cy="1084143"/>
              </a:xfrm>
              <a:prstGeom prst="rect">
                <a:avLst/>
              </a:prstGeom>
              <a:blipFill rotWithShape="0">
                <a:blip r:embed="rId3"/>
                <a:stretch>
                  <a:fillRect l="-4235" b="-2809"/>
                </a:stretch>
              </a:blipFill>
            </p:spPr>
            <p:txBody>
              <a:bodyPr/>
              <a:lstStyle/>
              <a:p>
                <a:r>
                  <a:rPr lang="en-GB">
                    <a:noFill/>
                  </a:rPr>
                  <a:t> </a:t>
                </a:r>
              </a:p>
            </p:txBody>
          </p:sp>
        </mc:Fallback>
      </mc:AlternateContent>
      <p:sp>
        <p:nvSpPr>
          <p:cNvPr id="19" name="Rectangle 18"/>
          <p:cNvSpPr/>
          <p:nvPr/>
        </p:nvSpPr>
        <p:spPr>
          <a:xfrm>
            <a:off x="2261837" y="1721795"/>
            <a:ext cx="504056" cy="47716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2400" dirty="0">
                <a:latin typeface="Wingdings" panose="05000000000000000000" pitchFamily="2" charset="2"/>
              </a:rPr>
              <a:t>N</a:t>
            </a:r>
            <a:endParaRPr lang="en-GB" dirty="0">
              <a:latin typeface="Wingdings" panose="05000000000000000000" pitchFamily="2" charset="2"/>
            </a:endParaRPr>
          </a:p>
        </p:txBody>
      </p:sp>
      <mc:AlternateContent xmlns:mc="http://schemas.openxmlformats.org/markup-compatibility/2006" xmlns:a14="http://schemas.microsoft.com/office/drawing/2010/main">
        <mc:Choice Requires="a14">
          <p:sp>
            <p:nvSpPr>
              <p:cNvPr id="20" name="TextBox 19"/>
              <p:cNvSpPr txBox="1"/>
              <p:nvPr/>
            </p:nvSpPr>
            <p:spPr>
              <a:xfrm>
                <a:off x="1259632" y="2780928"/>
                <a:ext cx="6222785" cy="3741089"/>
              </a:xfrm>
              <a:prstGeom prst="rect">
                <a:avLst/>
              </a:prstGeom>
              <a:noFill/>
            </p:spPr>
            <p:txBody>
              <a:bodyPr wrap="square" rtlCol="0">
                <a:spAutoFit/>
              </a:bodyPr>
              <a:lstStyle/>
              <a:p>
                <a:pPr/>
                <a14:m>
                  <m:oMathPara xmlns:m="http://schemas.openxmlformats.org/officeDocument/2006/math">
                    <m:oMath>
                      <m:f>
                        <m:fPr>
                          <m:ctrlPr>
                            <a:rPr lang="en-GB" sz="3600" b="1" i="1" smtClean="0">
                              <a:latin typeface="Cambria Math" panose="02040503050406030204" pitchFamily="18" charset="0"/>
                            </a:rPr>
                          </m:ctrlPr>
                        </m:fPr>
                        <m:num>
                          <m:rad>
                            <m:radPr>
                              <m:ctrlPr>
                                <a:rPr lang="en-GB" sz="3600" b="1" i="0" smtClean="0">
                                  <a:latin typeface="Cambria Math" panose="02040503050406030204" pitchFamily="18" charset="0"/>
                                </a:rPr>
                              </m:ctrlPr>
                            </m:radPr>
                            <m:deg>
                              <m:r>
                                <a:rPr lang="en-GB" sz="3600" b="1" i="0" smtClean="0">
                                  <a:latin typeface="Cambria Math" panose="02040503050406030204" pitchFamily="18" charset="0"/>
                                </a:rPr>
                                <m:t>𝟒</m:t>
                              </m:r>
                            </m:deg>
                            <m:e>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r>
                                    <a:rPr lang="en-GB" sz="3600" b="1" i="1" smtClean="0">
                                      <a:latin typeface="Cambria Math" panose="02040503050406030204" pitchFamily="18" charset="0"/>
                                    </a:rPr>
                                    <m:t>𝟐</m:t>
                                  </m:r>
                                </m:sup>
                              </m:sSup>
                            </m:e>
                          </m:rad>
                        </m:num>
                        <m:den>
                          <m:rad>
                            <m:radPr>
                              <m:ctrlPr>
                                <a:rPr lang="en-GB" sz="3600" b="1" i="0" smtClean="0">
                                  <a:latin typeface="Cambria Math" panose="02040503050406030204" pitchFamily="18" charset="0"/>
                                </a:rPr>
                              </m:ctrlPr>
                            </m:radPr>
                            <m:deg>
                              <m:r>
                                <a:rPr lang="en-GB" sz="3600" b="1" i="0" smtClean="0">
                                  <a:latin typeface="Cambria Math" panose="02040503050406030204" pitchFamily="18" charset="0"/>
                                </a:rPr>
                                <m:t>𝟓</m:t>
                              </m:r>
                            </m:deg>
                            <m:e>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r>
                                    <a:rPr lang="en-GB" sz="3600" b="1" i="1" smtClean="0">
                                      <a:latin typeface="Cambria Math" panose="02040503050406030204" pitchFamily="18" charset="0"/>
                                    </a:rPr>
                                    <m:t>𝟑</m:t>
                                  </m:r>
                                </m:sup>
                              </m:sSup>
                            </m:e>
                          </m:rad>
                        </m:den>
                      </m:f>
                      <m:r>
                        <a:rPr lang="en-GB" sz="3600" b="1" i="1" smtClean="0">
                          <a:latin typeface="Cambria Math" panose="02040503050406030204" pitchFamily="18" charset="0"/>
                        </a:rPr>
                        <m:t>=</m:t>
                      </m:r>
                      <m:f>
                        <m:fPr>
                          <m:ctrlPr>
                            <a:rPr lang="en-GB" sz="3600" b="1" i="1" smtClean="0">
                              <a:latin typeface="Cambria Math" panose="02040503050406030204" pitchFamily="18" charset="0"/>
                            </a:rPr>
                          </m:ctrlPr>
                        </m:fPr>
                        <m:num>
                          <m:sSup>
                            <m:sSupPr>
                              <m:ctrlPr>
                                <a:rPr lang="en-GB" sz="3600" b="1" i="1" smtClean="0">
                                  <a:latin typeface="Cambria Math" panose="02040503050406030204" pitchFamily="18" charset="0"/>
                                </a:rPr>
                              </m:ctrlPr>
                            </m:sSupPr>
                            <m:e>
                              <m:d>
                                <m:dPr>
                                  <m:ctrlPr>
                                    <a:rPr lang="en-GB" sz="3600" b="1" i="1" smtClean="0">
                                      <a:latin typeface="Cambria Math" panose="02040503050406030204" pitchFamily="18" charset="0"/>
                                    </a:rPr>
                                  </m:ctrlPr>
                                </m:dPr>
                                <m:e>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r>
                                        <a:rPr lang="en-GB" sz="3600" b="1" i="1" smtClean="0">
                                          <a:latin typeface="Cambria Math" panose="02040503050406030204" pitchFamily="18" charset="0"/>
                                        </a:rPr>
                                        <m:t>𝟐</m:t>
                                      </m:r>
                                    </m:sup>
                                  </m:sSup>
                                </m:e>
                              </m:d>
                            </m:e>
                            <m:sup>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𝟏</m:t>
                                  </m:r>
                                </m:num>
                                <m:den>
                                  <m:r>
                                    <a:rPr lang="en-GB" sz="3600" b="1" i="1" smtClean="0">
                                      <a:latin typeface="Cambria Math" panose="02040503050406030204" pitchFamily="18" charset="0"/>
                                    </a:rPr>
                                    <m:t>𝟒</m:t>
                                  </m:r>
                                </m:den>
                              </m:f>
                            </m:sup>
                          </m:sSup>
                        </m:num>
                        <m:den>
                          <m:sSup>
                            <m:sSupPr>
                              <m:ctrlPr>
                                <a:rPr lang="en-GB" sz="3600" b="1" i="1" smtClean="0">
                                  <a:latin typeface="Cambria Math" panose="02040503050406030204" pitchFamily="18" charset="0"/>
                                </a:rPr>
                              </m:ctrlPr>
                            </m:sSupPr>
                            <m:e>
                              <m:d>
                                <m:dPr>
                                  <m:ctrlPr>
                                    <a:rPr lang="en-GB" sz="3600" b="1" i="1" smtClean="0">
                                      <a:latin typeface="Cambria Math" panose="02040503050406030204" pitchFamily="18" charset="0"/>
                                    </a:rPr>
                                  </m:ctrlPr>
                                </m:dPr>
                                <m:e>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r>
                                        <a:rPr lang="en-GB" sz="3600" b="1" i="1" smtClean="0">
                                          <a:latin typeface="Cambria Math" panose="02040503050406030204" pitchFamily="18" charset="0"/>
                                        </a:rPr>
                                        <m:t>𝟑</m:t>
                                      </m:r>
                                    </m:sup>
                                  </m:sSup>
                                </m:e>
                              </m:d>
                            </m:e>
                            <m:sup>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𝟏</m:t>
                                  </m:r>
                                </m:num>
                                <m:den>
                                  <m:r>
                                    <a:rPr lang="en-GB" sz="3600" b="1" i="1" smtClean="0">
                                      <a:latin typeface="Cambria Math" panose="02040503050406030204" pitchFamily="18" charset="0"/>
                                    </a:rPr>
                                    <m:t>𝟓</m:t>
                                  </m:r>
                                </m:den>
                              </m:f>
                            </m:sup>
                          </m:sSup>
                        </m:den>
                      </m:f>
                      <m:r>
                        <a:rPr lang="en-GB" sz="3600" b="1" i="1" smtClean="0">
                          <a:latin typeface="Cambria Math" panose="02040503050406030204" pitchFamily="18" charset="0"/>
                        </a:rPr>
                        <m:t>=</m:t>
                      </m:r>
                      <m:f>
                        <m:fPr>
                          <m:ctrlPr>
                            <a:rPr lang="en-GB" sz="3600" b="1" i="1" smtClean="0">
                              <a:latin typeface="Cambria Math" panose="02040503050406030204" pitchFamily="18" charset="0"/>
                            </a:rPr>
                          </m:ctrlPr>
                        </m:fPr>
                        <m:num>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𝟏</m:t>
                                  </m:r>
                                </m:num>
                                <m:den>
                                  <m:r>
                                    <a:rPr lang="en-GB" sz="3600" b="1" i="1" smtClean="0">
                                      <a:latin typeface="Cambria Math" panose="02040503050406030204" pitchFamily="18" charset="0"/>
                                    </a:rPr>
                                    <m:t>𝟐</m:t>
                                  </m:r>
                                </m:den>
                              </m:f>
                            </m:sup>
                          </m:sSup>
                        </m:num>
                        <m:den>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𝟑</m:t>
                                  </m:r>
                                </m:num>
                                <m:den>
                                  <m:r>
                                    <a:rPr lang="en-GB" sz="3600" b="1" i="1" smtClean="0">
                                      <a:latin typeface="Cambria Math" panose="02040503050406030204" pitchFamily="18" charset="0"/>
                                    </a:rPr>
                                    <m:t>𝟓</m:t>
                                  </m:r>
                                </m:den>
                              </m:f>
                            </m:sup>
                          </m:sSup>
                        </m:den>
                      </m:f>
                      <m:r>
                        <a:rPr lang="en-GB" sz="3600" b="1" i="1" smtClean="0">
                          <a:latin typeface="Cambria Math" panose="02040503050406030204" pitchFamily="18" charset="0"/>
                        </a:rPr>
                        <m:t>=</m:t>
                      </m:r>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r>
                            <a:rPr lang="en-GB" sz="3600" b="1" i="1" smtClean="0">
                              <a:latin typeface="Cambria Math" panose="02040503050406030204" pitchFamily="18" charset="0"/>
                            </a:rPr>
                            <m:t>−</m:t>
                          </m:r>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𝟏</m:t>
                              </m:r>
                            </m:num>
                            <m:den>
                              <m:r>
                                <a:rPr lang="en-GB" sz="3600" b="1" i="1" smtClean="0">
                                  <a:latin typeface="Cambria Math" panose="02040503050406030204" pitchFamily="18" charset="0"/>
                                </a:rPr>
                                <m:t>𝟏𝟎</m:t>
                              </m:r>
                            </m:den>
                          </m:f>
                        </m:sup>
                      </m:sSup>
                    </m:oMath>
                  </m:oMathPara>
                </a14:m>
                <a:endParaRPr lang="en-GB" sz="3600" b="1" dirty="0"/>
              </a:p>
              <a:p>
                <a:r>
                  <a:rPr lang="en-GB" sz="3600" b="1" dirty="0"/>
                  <a:t>But </a:t>
                </a:r>
                <a14:m>
                  <m:oMath xmlns:m="http://schemas.openxmlformats.org/officeDocument/2006/math">
                    <m:rad>
                      <m:radPr>
                        <m:ctrlPr>
                          <a:rPr lang="en-GB" sz="3600" b="1" i="1">
                            <a:latin typeface="Cambria Math" panose="02040503050406030204" pitchFamily="18" charset="0"/>
                          </a:rPr>
                        </m:ctrlPr>
                      </m:radPr>
                      <m:deg>
                        <m:r>
                          <a:rPr lang="en-GB" sz="3600" b="1" i="1">
                            <a:latin typeface="Cambria Math" panose="02040503050406030204" pitchFamily="18" charset="0"/>
                          </a:rPr>
                          <m:t>𝒙</m:t>
                        </m:r>
                      </m:deg>
                      <m:e>
                        <m:r>
                          <a:rPr lang="en-GB" sz="3600" b="1" i="1">
                            <a:latin typeface="Cambria Math" panose="02040503050406030204" pitchFamily="18" charset="0"/>
                          </a:rPr>
                          <m:t>𝟑</m:t>
                        </m:r>
                      </m:e>
                    </m:rad>
                    <m:r>
                      <a:rPr lang="en-GB" sz="3600" b="1" i="1" smtClean="0">
                        <a:latin typeface="Cambria Math" panose="02040503050406030204" pitchFamily="18" charset="0"/>
                      </a:rPr>
                      <m:t>=</m:t>
                    </m:r>
                    <m:sSup>
                      <m:sSupPr>
                        <m:ctrlPr>
                          <a:rPr lang="en-GB" sz="3600" b="1" i="1" smtClean="0">
                            <a:latin typeface="Cambria Math" panose="02040503050406030204" pitchFamily="18" charset="0"/>
                          </a:rPr>
                        </m:ctrlPr>
                      </m:sSupPr>
                      <m:e>
                        <m:r>
                          <a:rPr lang="en-GB" sz="3600" b="1" i="1" smtClean="0">
                            <a:latin typeface="Cambria Math" panose="02040503050406030204" pitchFamily="18" charset="0"/>
                          </a:rPr>
                          <m:t>𝟑</m:t>
                        </m:r>
                      </m:e>
                      <m:sup>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𝟏</m:t>
                            </m:r>
                          </m:num>
                          <m:den>
                            <m:r>
                              <a:rPr lang="en-GB" sz="3600" b="1" i="1" smtClean="0">
                                <a:latin typeface="Cambria Math" panose="02040503050406030204" pitchFamily="18" charset="0"/>
                              </a:rPr>
                              <m:t>𝒙</m:t>
                            </m:r>
                          </m:den>
                        </m:f>
                      </m:sup>
                    </m:sSup>
                  </m:oMath>
                </a14:m>
                <a:endParaRPr lang="en-GB" sz="3600" b="1" dirty="0"/>
              </a:p>
              <a:p>
                <a:pPr/>
                <a14:m>
                  <m:oMathPara xmlns:m="http://schemas.openxmlformats.org/officeDocument/2006/math">
                    <m:oMath>
                      <m:r>
                        <a:rPr lang="en-GB" sz="3600" b="1" i="1" smtClean="0">
                          <a:latin typeface="Cambria Math" panose="02040503050406030204" pitchFamily="18" charset="0"/>
                        </a:rPr>
                        <m:t>∴</m:t>
                      </m:r>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𝟏</m:t>
                          </m:r>
                        </m:num>
                        <m:den>
                          <m:r>
                            <a:rPr lang="en-GB" sz="3600" b="1" i="1" smtClean="0">
                              <a:latin typeface="Cambria Math" panose="02040503050406030204" pitchFamily="18" charset="0"/>
                            </a:rPr>
                            <m:t>𝒙</m:t>
                          </m:r>
                        </m:den>
                      </m:f>
                      <m:r>
                        <a:rPr lang="en-GB" sz="3600" b="1" i="1" smtClean="0">
                          <a:latin typeface="Cambria Math" panose="02040503050406030204" pitchFamily="18" charset="0"/>
                        </a:rPr>
                        <m:t>=−</m:t>
                      </m:r>
                      <m:f>
                        <m:fPr>
                          <m:ctrlPr>
                            <a:rPr lang="en-GB" sz="3600" b="1" i="1" smtClean="0">
                              <a:latin typeface="Cambria Math" panose="02040503050406030204" pitchFamily="18" charset="0"/>
                            </a:rPr>
                          </m:ctrlPr>
                        </m:fPr>
                        <m:num>
                          <m:r>
                            <a:rPr lang="en-GB" sz="3600" b="1" i="1" smtClean="0">
                              <a:latin typeface="Cambria Math" panose="02040503050406030204" pitchFamily="18" charset="0"/>
                            </a:rPr>
                            <m:t>𝟏</m:t>
                          </m:r>
                        </m:num>
                        <m:den>
                          <m:r>
                            <a:rPr lang="en-GB" sz="3600" b="1" i="1" smtClean="0">
                              <a:latin typeface="Cambria Math" panose="02040503050406030204" pitchFamily="18" charset="0"/>
                            </a:rPr>
                            <m:t>𝟏𝟎</m:t>
                          </m:r>
                        </m:den>
                      </m:f>
                      <m:r>
                        <a:rPr lang="en-GB" sz="3600" b="1" i="1" smtClean="0">
                          <a:latin typeface="Cambria Math" panose="02040503050406030204" pitchFamily="18" charset="0"/>
                        </a:rPr>
                        <m:t>     →  </m:t>
                      </m:r>
                      <m:r>
                        <a:rPr lang="en-GB" sz="3600" b="1" i="1" smtClean="0">
                          <a:latin typeface="Cambria Math" panose="02040503050406030204" pitchFamily="18" charset="0"/>
                        </a:rPr>
                        <m:t>𝒙</m:t>
                      </m:r>
                      <m:r>
                        <a:rPr lang="en-GB" sz="3600" b="1" i="1" smtClean="0">
                          <a:latin typeface="Cambria Math" panose="02040503050406030204" pitchFamily="18" charset="0"/>
                        </a:rPr>
                        <m:t>=−</m:t>
                      </m:r>
                      <m:r>
                        <a:rPr lang="en-GB" sz="3600" b="1" i="1" smtClean="0">
                          <a:latin typeface="Cambria Math" panose="02040503050406030204" pitchFamily="18" charset="0"/>
                        </a:rPr>
                        <m:t>𝟏𝟎</m:t>
                      </m:r>
                      <m:r>
                        <a:rPr lang="en-GB" sz="3600" b="1" i="1" smtClean="0">
                          <a:latin typeface="Cambria Math" panose="02040503050406030204" pitchFamily="18" charset="0"/>
                        </a:rPr>
                        <m:t> </m:t>
                      </m:r>
                    </m:oMath>
                  </m:oMathPara>
                </a14:m>
                <a:endParaRPr lang="en-GB" sz="3600" b="1" dirty="0"/>
              </a:p>
            </p:txBody>
          </p:sp>
        </mc:Choice>
        <mc:Fallback xmlns="">
          <p:sp>
            <p:nvSpPr>
              <p:cNvPr id="20" name="TextBox 19"/>
              <p:cNvSpPr txBox="1">
                <a:spLocks noRot="1" noChangeAspect="1" noMove="1" noResize="1" noEditPoints="1" noAdjustHandles="1" noChangeArrowheads="1" noChangeShapeType="1" noTextEdit="1"/>
              </p:cNvSpPr>
              <p:nvPr/>
            </p:nvSpPr>
            <p:spPr>
              <a:xfrm>
                <a:off x="1259632" y="2780928"/>
                <a:ext cx="6222785" cy="3741089"/>
              </a:xfrm>
              <a:prstGeom prst="rect">
                <a:avLst/>
              </a:prstGeom>
              <a:blipFill rotWithShape="0">
                <a:blip r:embed="rId4"/>
                <a:stretch>
                  <a:fillRect l="-3039"/>
                </a:stretch>
              </a:blipFill>
            </p:spPr>
            <p:txBody>
              <a:bodyPr/>
              <a:lstStyle/>
              <a:p>
                <a:r>
                  <a:rPr lang="en-GB">
                    <a:noFill/>
                  </a:rPr>
                  <a:t> </a:t>
                </a:r>
              </a:p>
            </p:txBody>
          </p:sp>
        </mc:Fallback>
      </mc:AlternateContent>
      <p:sp>
        <p:nvSpPr>
          <p:cNvPr id="21" name="Rectangle 20"/>
          <p:cNvSpPr/>
          <p:nvPr/>
        </p:nvSpPr>
        <p:spPr>
          <a:xfrm>
            <a:off x="1058192" y="2887686"/>
            <a:ext cx="6898184" cy="370966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grpSp>
        <p:nvGrpSpPr>
          <p:cNvPr id="8" name="Group 7">
            <a:extLst>
              <a:ext uri="{FF2B5EF4-FFF2-40B4-BE49-F238E27FC236}">
                <a16:creationId xmlns:a16="http://schemas.microsoft.com/office/drawing/2014/main" id="{36B76C25-D809-692A-D400-4EAAC0C0F8F0}"/>
              </a:ext>
            </a:extLst>
          </p:cNvPr>
          <p:cNvGrpSpPr/>
          <p:nvPr/>
        </p:nvGrpSpPr>
        <p:grpSpPr>
          <a:xfrm>
            <a:off x="7390859" y="5328795"/>
            <a:ext cx="61200" cy="46800"/>
            <a:chOff x="7390859" y="5328795"/>
            <a:chExt cx="61200" cy="46800"/>
          </a:xfrm>
        </p:grpSpPr>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5669C0C1-30D4-A057-FA08-0FC54BCF0F68}"/>
                    </a:ext>
                  </a:extLst>
                </p14:cNvPr>
                <p14:cNvContentPartPr/>
                <p14:nvPr/>
              </p14:nvContentPartPr>
              <p14:xfrm>
                <a:off x="7451699" y="5375235"/>
                <a:ext cx="360" cy="360"/>
              </p14:xfrm>
            </p:contentPart>
          </mc:Choice>
          <mc:Fallback>
            <p:pic>
              <p:nvPicPr>
                <p:cNvPr id="6" name="Ink 5">
                  <a:extLst>
                    <a:ext uri="{FF2B5EF4-FFF2-40B4-BE49-F238E27FC236}">
                      <a16:creationId xmlns:a16="http://schemas.microsoft.com/office/drawing/2014/main" id="{5669C0C1-30D4-A057-FA08-0FC54BCF0F68}"/>
                    </a:ext>
                  </a:extLst>
                </p:cNvPr>
                <p:cNvPicPr/>
                <p:nvPr/>
              </p:nvPicPr>
              <p:blipFill>
                <a:blip r:embed="rId6"/>
                <a:stretch>
                  <a:fillRect/>
                </a:stretch>
              </p:blipFill>
              <p:spPr>
                <a:xfrm>
                  <a:off x="7445579" y="536911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5F326E88-8153-1CFF-1D92-D79E5DF5551F}"/>
                    </a:ext>
                  </a:extLst>
                </p14:cNvPr>
                <p14:cNvContentPartPr/>
                <p14:nvPr/>
              </p14:nvContentPartPr>
              <p14:xfrm>
                <a:off x="7390859" y="5328795"/>
                <a:ext cx="61200" cy="46800"/>
              </p14:xfrm>
            </p:contentPart>
          </mc:Choice>
          <mc:Fallback>
            <p:pic>
              <p:nvPicPr>
                <p:cNvPr id="7" name="Ink 6">
                  <a:extLst>
                    <a:ext uri="{FF2B5EF4-FFF2-40B4-BE49-F238E27FC236}">
                      <a16:creationId xmlns:a16="http://schemas.microsoft.com/office/drawing/2014/main" id="{5F326E88-8153-1CFF-1D92-D79E5DF5551F}"/>
                    </a:ext>
                  </a:extLst>
                </p:cNvPr>
                <p:cNvPicPr/>
                <p:nvPr/>
              </p:nvPicPr>
              <p:blipFill>
                <a:blip r:embed="rId8"/>
                <a:stretch>
                  <a:fillRect/>
                </a:stretch>
              </p:blipFill>
              <p:spPr>
                <a:xfrm>
                  <a:off x="7384739" y="5322675"/>
                  <a:ext cx="73440" cy="59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02ACC5FF-0077-7391-301F-F8077DEF89A8}"/>
                  </a:ext>
                </a:extLst>
              </p14:cNvPr>
              <p14:cNvContentPartPr/>
              <p14:nvPr/>
            </p14:nvContentPartPr>
            <p14:xfrm>
              <a:off x="9173939" y="6144463"/>
              <a:ext cx="26280" cy="73080"/>
            </p14:xfrm>
          </p:contentPart>
        </mc:Choice>
        <mc:Fallback>
          <p:pic>
            <p:nvPicPr>
              <p:cNvPr id="9" name="Ink 8">
                <a:extLst>
                  <a:ext uri="{FF2B5EF4-FFF2-40B4-BE49-F238E27FC236}">
                    <a16:creationId xmlns:a16="http://schemas.microsoft.com/office/drawing/2014/main" id="{02ACC5FF-0077-7391-301F-F8077DEF89A8}"/>
                  </a:ext>
                </a:extLst>
              </p:cNvPr>
              <p:cNvPicPr/>
              <p:nvPr/>
            </p:nvPicPr>
            <p:blipFill>
              <a:blip r:embed="rId10"/>
              <a:stretch>
                <a:fillRect/>
              </a:stretch>
            </p:blipFill>
            <p:spPr>
              <a:xfrm>
                <a:off x="9167819" y="6138343"/>
                <a:ext cx="3852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2A40AAD0-88E2-6DFF-6013-15BE95F44EDC}"/>
                  </a:ext>
                </a:extLst>
              </p14:cNvPr>
              <p14:cNvContentPartPr/>
              <p14:nvPr/>
            </p14:nvContentPartPr>
            <p14:xfrm>
              <a:off x="9349979" y="5907943"/>
              <a:ext cx="360" cy="360"/>
            </p14:xfrm>
          </p:contentPart>
        </mc:Choice>
        <mc:Fallback>
          <p:pic>
            <p:nvPicPr>
              <p:cNvPr id="10" name="Ink 9">
                <a:extLst>
                  <a:ext uri="{FF2B5EF4-FFF2-40B4-BE49-F238E27FC236}">
                    <a16:creationId xmlns:a16="http://schemas.microsoft.com/office/drawing/2014/main" id="{2A40AAD0-88E2-6DFF-6013-15BE95F44EDC}"/>
                  </a:ext>
                </a:extLst>
              </p:cNvPr>
              <p:cNvPicPr/>
              <p:nvPr/>
            </p:nvPicPr>
            <p:blipFill>
              <a:blip r:embed="rId6"/>
              <a:stretch>
                <a:fillRect/>
              </a:stretch>
            </p:blipFill>
            <p:spPr>
              <a:xfrm>
                <a:off x="9343859" y="5901823"/>
                <a:ext cx="12600" cy="12600"/>
              </a:xfrm>
              <a:prstGeom prst="rect">
                <a:avLst/>
              </a:prstGeom>
            </p:spPr>
          </p:pic>
        </mc:Fallback>
      </mc:AlternateContent>
      <p:grpSp>
        <p:nvGrpSpPr>
          <p:cNvPr id="22" name="Group 21">
            <a:extLst>
              <a:ext uri="{FF2B5EF4-FFF2-40B4-BE49-F238E27FC236}">
                <a16:creationId xmlns:a16="http://schemas.microsoft.com/office/drawing/2014/main" id="{E2801C5B-7301-FA58-8400-AFCE39FE0D63}"/>
              </a:ext>
            </a:extLst>
          </p:cNvPr>
          <p:cNvGrpSpPr/>
          <p:nvPr/>
        </p:nvGrpSpPr>
        <p:grpSpPr>
          <a:xfrm>
            <a:off x="9328019" y="5986515"/>
            <a:ext cx="133920" cy="189000"/>
            <a:chOff x="9328019" y="5986515"/>
            <a:chExt cx="133920" cy="189000"/>
          </a:xfrm>
        </p:grpSpPr>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1DE0E028-1E92-FD15-1988-FB5C22186A47}"/>
                    </a:ext>
                  </a:extLst>
                </p14:cNvPr>
                <p14:cNvContentPartPr/>
                <p14:nvPr/>
              </p14:nvContentPartPr>
              <p14:xfrm>
                <a:off x="9418739" y="6090463"/>
                <a:ext cx="360" cy="360"/>
              </p14:xfrm>
            </p:contentPart>
          </mc:Choice>
          <mc:Fallback>
            <p:pic>
              <p:nvPicPr>
                <p:cNvPr id="11" name="Ink 10">
                  <a:extLst>
                    <a:ext uri="{FF2B5EF4-FFF2-40B4-BE49-F238E27FC236}">
                      <a16:creationId xmlns:a16="http://schemas.microsoft.com/office/drawing/2014/main" id="{1DE0E028-1E92-FD15-1988-FB5C22186A47}"/>
                    </a:ext>
                  </a:extLst>
                </p:cNvPr>
                <p:cNvPicPr/>
                <p:nvPr/>
              </p:nvPicPr>
              <p:blipFill>
                <a:blip r:embed="rId6"/>
                <a:stretch>
                  <a:fillRect/>
                </a:stretch>
              </p:blipFill>
              <p:spPr>
                <a:xfrm>
                  <a:off x="9412619" y="608434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405387F0-2CEF-A58F-7E9C-7E27456B747C}"/>
                    </a:ext>
                  </a:extLst>
                </p14:cNvPr>
                <p14:cNvContentPartPr/>
                <p14:nvPr/>
              </p14:nvContentPartPr>
              <p14:xfrm>
                <a:off x="9400739" y="6037903"/>
                <a:ext cx="14760" cy="50400"/>
              </p14:xfrm>
            </p:contentPart>
          </mc:Choice>
          <mc:Fallback>
            <p:pic>
              <p:nvPicPr>
                <p:cNvPr id="12" name="Ink 11">
                  <a:extLst>
                    <a:ext uri="{FF2B5EF4-FFF2-40B4-BE49-F238E27FC236}">
                      <a16:creationId xmlns:a16="http://schemas.microsoft.com/office/drawing/2014/main" id="{405387F0-2CEF-A58F-7E9C-7E27456B747C}"/>
                    </a:ext>
                  </a:extLst>
                </p:cNvPr>
                <p:cNvPicPr/>
                <p:nvPr/>
              </p:nvPicPr>
              <p:blipFill>
                <a:blip r:embed="rId14"/>
                <a:stretch>
                  <a:fillRect/>
                </a:stretch>
              </p:blipFill>
              <p:spPr>
                <a:xfrm>
                  <a:off x="9394619" y="6031783"/>
                  <a:ext cx="2700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161C1675-620A-BD39-9AA3-3DFCEB73BE9B}"/>
                    </a:ext>
                  </a:extLst>
                </p14:cNvPr>
                <p14:cNvContentPartPr/>
                <p14:nvPr/>
              </p14:nvContentPartPr>
              <p14:xfrm>
                <a:off x="9409739" y="6064116"/>
                <a:ext cx="360" cy="360"/>
              </p14:xfrm>
            </p:contentPart>
          </mc:Choice>
          <mc:Fallback>
            <p:pic>
              <p:nvPicPr>
                <p:cNvPr id="13" name="Ink 12">
                  <a:extLst>
                    <a:ext uri="{FF2B5EF4-FFF2-40B4-BE49-F238E27FC236}">
                      <a16:creationId xmlns:a16="http://schemas.microsoft.com/office/drawing/2014/main" id="{161C1675-620A-BD39-9AA3-3DFCEB73BE9B}"/>
                    </a:ext>
                  </a:extLst>
                </p:cNvPr>
                <p:cNvPicPr/>
                <p:nvPr/>
              </p:nvPicPr>
              <p:blipFill>
                <a:blip r:embed="rId6"/>
                <a:stretch>
                  <a:fillRect/>
                </a:stretch>
              </p:blipFill>
              <p:spPr>
                <a:xfrm>
                  <a:off x="9403619" y="6057996"/>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FC98B58E-3FCC-8B2B-3010-4E848D4C6C8C}"/>
                    </a:ext>
                  </a:extLst>
                </p14:cNvPr>
                <p14:cNvContentPartPr/>
                <p14:nvPr/>
              </p14:nvContentPartPr>
              <p14:xfrm>
                <a:off x="9328019" y="6121515"/>
                <a:ext cx="111240" cy="54000"/>
              </p14:xfrm>
            </p:contentPart>
          </mc:Choice>
          <mc:Fallback>
            <p:pic>
              <p:nvPicPr>
                <p:cNvPr id="14" name="Ink 13">
                  <a:extLst>
                    <a:ext uri="{FF2B5EF4-FFF2-40B4-BE49-F238E27FC236}">
                      <a16:creationId xmlns:a16="http://schemas.microsoft.com/office/drawing/2014/main" id="{FC98B58E-3FCC-8B2B-3010-4E848D4C6C8C}"/>
                    </a:ext>
                  </a:extLst>
                </p:cNvPr>
                <p:cNvPicPr/>
                <p:nvPr/>
              </p:nvPicPr>
              <p:blipFill>
                <a:blip r:embed="rId17"/>
                <a:stretch>
                  <a:fillRect/>
                </a:stretch>
              </p:blipFill>
              <p:spPr>
                <a:xfrm>
                  <a:off x="9321899" y="6115395"/>
                  <a:ext cx="12348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3465BA49-C318-44A1-5BC6-200737D5F650}"/>
                    </a:ext>
                  </a:extLst>
                </p14:cNvPr>
                <p14:cNvContentPartPr/>
                <p14:nvPr/>
              </p14:nvContentPartPr>
              <p14:xfrm>
                <a:off x="9432059" y="5986515"/>
                <a:ext cx="29880" cy="123480"/>
              </p14:xfrm>
            </p:contentPart>
          </mc:Choice>
          <mc:Fallback>
            <p:pic>
              <p:nvPicPr>
                <p:cNvPr id="15" name="Ink 14">
                  <a:extLst>
                    <a:ext uri="{FF2B5EF4-FFF2-40B4-BE49-F238E27FC236}">
                      <a16:creationId xmlns:a16="http://schemas.microsoft.com/office/drawing/2014/main" id="{3465BA49-C318-44A1-5BC6-200737D5F650}"/>
                    </a:ext>
                  </a:extLst>
                </p:cNvPr>
                <p:cNvPicPr/>
                <p:nvPr/>
              </p:nvPicPr>
              <p:blipFill>
                <a:blip r:embed="rId19"/>
                <a:stretch>
                  <a:fillRect/>
                </a:stretch>
              </p:blipFill>
              <p:spPr>
                <a:xfrm>
                  <a:off x="9425939" y="5980395"/>
                  <a:ext cx="42120" cy="135720"/>
                </a:xfrm>
                <a:prstGeom prst="rect">
                  <a:avLst/>
                </a:prstGeom>
              </p:spPr>
            </p:pic>
          </mc:Fallback>
        </mc:AlternateContent>
      </p:grpSp>
      <p:grpSp>
        <p:nvGrpSpPr>
          <p:cNvPr id="18" name="Group 17">
            <a:extLst>
              <a:ext uri="{FF2B5EF4-FFF2-40B4-BE49-F238E27FC236}">
                <a16:creationId xmlns:a16="http://schemas.microsoft.com/office/drawing/2014/main" id="{7B3E5DBC-6326-A075-6C78-43CC312ECB1E}"/>
              </a:ext>
            </a:extLst>
          </p:cNvPr>
          <p:cNvGrpSpPr/>
          <p:nvPr/>
        </p:nvGrpSpPr>
        <p:grpSpPr>
          <a:xfrm>
            <a:off x="9540419" y="5001103"/>
            <a:ext cx="469080" cy="205920"/>
            <a:chOff x="9540419" y="5001103"/>
            <a:chExt cx="469080" cy="205920"/>
          </a:xfrm>
        </p:grpSpPr>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9B7CDA01-81E3-3C7A-EFAB-FB669FC63D64}"/>
                    </a:ext>
                  </a:extLst>
                </p14:cNvPr>
                <p14:cNvContentPartPr/>
                <p14:nvPr/>
              </p14:nvContentPartPr>
              <p14:xfrm>
                <a:off x="10009139" y="5032063"/>
                <a:ext cx="360" cy="360"/>
              </p14:xfrm>
            </p:contentPart>
          </mc:Choice>
          <mc:Fallback>
            <p:pic>
              <p:nvPicPr>
                <p:cNvPr id="16" name="Ink 15">
                  <a:extLst>
                    <a:ext uri="{FF2B5EF4-FFF2-40B4-BE49-F238E27FC236}">
                      <a16:creationId xmlns:a16="http://schemas.microsoft.com/office/drawing/2014/main" id="{9B7CDA01-81E3-3C7A-EFAB-FB669FC63D64}"/>
                    </a:ext>
                  </a:extLst>
                </p:cNvPr>
                <p:cNvPicPr/>
                <p:nvPr/>
              </p:nvPicPr>
              <p:blipFill>
                <a:blip r:embed="rId6"/>
                <a:stretch>
                  <a:fillRect/>
                </a:stretch>
              </p:blipFill>
              <p:spPr>
                <a:xfrm>
                  <a:off x="10003019" y="502594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F939570D-B43B-FCAB-FA80-B7EDC6E123CE}"/>
                    </a:ext>
                  </a:extLst>
                </p14:cNvPr>
                <p14:cNvContentPartPr/>
                <p14:nvPr/>
              </p14:nvContentPartPr>
              <p14:xfrm>
                <a:off x="9540419" y="5001103"/>
                <a:ext cx="443880" cy="205920"/>
              </p14:xfrm>
            </p:contentPart>
          </mc:Choice>
          <mc:Fallback>
            <p:pic>
              <p:nvPicPr>
                <p:cNvPr id="17" name="Ink 16">
                  <a:extLst>
                    <a:ext uri="{FF2B5EF4-FFF2-40B4-BE49-F238E27FC236}">
                      <a16:creationId xmlns:a16="http://schemas.microsoft.com/office/drawing/2014/main" id="{F939570D-B43B-FCAB-FA80-B7EDC6E123CE}"/>
                    </a:ext>
                  </a:extLst>
                </p:cNvPr>
                <p:cNvPicPr/>
                <p:nvPr/>
              </p:nvPicPr>
              <p:blipFill>
                <a:blip r:embed="rId22"/>
                <a:stretch>
                  <a:fillRect/>
                </a:stretch>
              </p:blipFill>
              <p:spPr>
                <a:xfrm>
                  <a:off x="9534299" y="4994983"/>
                  <a:ext cx="456120" cy="218160"/>
                </a:xfrm>
                <a:prstGeom prst="rect">
                  <a:avLst/>
                </a:prstGeom>
              </p:spPr>
            </p:pic>
          </mc:Fallback>
        </mc:AlternateContent>
      </p:grpSp>
    </p:spTree>
    <p:extLst>
      <p:ext uri="{BB962C8B-B14F-4D97-AF65-F5344CB8AC3E}">
        <p14:creationId xmlns:p14="http://schemas.microsoft.com/office/powerpoint/2010/main" val="126501148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2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22116</TotalTime>
  <Words>2954</Words>
  <Application>Microsoft Office PowerPoint</Application>
  <PresentationFormat>On-screen Show (4:3)</PresentationFormat>
  <Paragraphs>446</Paragraphs>
  <Slides>31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Cambria Math</vt:lpstr>
      <vt:lpstr>Wingdings</vt:lpstr>
      <vt:lpstr>Office Theme</vt:lpstr>
      <vt:lpstr>Pure Y1 Ch 1 Algebraic Expressions</vt:lpstr>
      <vt:lpstr> Algebraic Expression Starter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A Lamagna</cp:lastModifiedBy>
  <cp:revision>675</cp:revision>
  <dcterms:created xsi:type="dcterms:W3CDTF">2013-02-28T07:36:55Z</dcterms:created>
  <dcterms:modified xsi:type="dcterms:W3CDTF">2026-09-14T07:53:31Z</dcterms:modified>
</cp:coreProperties>
</file>