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7" r:id="rId2"/>
    <p:sldId id="261" r:id="rId3"/>
    <p:sldId id="483" r:id="rId4"/>
    <p:sldId id="551" r:id="rId5"/>
    <p:sldId id="552" r:id="rId6"/>
    <p:sldId id="553" r:id="rId7"/>
    <p:sldId id="554" r:id="rId8"/>
    <p:sldId id="559" r:id="rId9"/>
    <p:sldId id="555" r:id="rId10"/>
    <p:sldId id="556" r:id="rId11"/>
    <p:sldId id="557" r:id="rId12"/>
    <p:sldId id="560" r:id="rId13"/>
    <p:sldId id="561" r:id="rId14"/>
    <p:sldId id="587" r:id="rId15"/>
    <p:sldId id="564" r:id="rId16"/>
    <p:sldId id="563" r:id="rId17"/>
    <p:sldId id="588" r:id="rId18"/>
    <p:sldId id="594" r:id="rId19"/>
    <p:sldId id="558" r:id="rId20"/>
    <p:sldId id="562" r:id="rId21"/>
    <p:sldId id="566" r:id="rId22"/>
    <p:sldId id="565" r:id="rId23"/>
    <p:sldId id="567" r:id="rId24"/>
    <p:sldId id="569" r:id="rId25"/>
    <p:sldId id="568" r:id="rId26"/>
    <p:sldId id="570" r:id="rId27"/>
    <p:sldId id="590" r:id="rId28"/>
    <p:sldId id="574" r:id="rId29"/>
    <p:sldId id="571" r:id="rId30"/>
    <p:sldId id="572" r:id="rId31"/>
    <p:sldId id="573" r:id="rId32"/>
    <p:sldId id="591" r:id="rId33"/>
    <p:sldId id="595" r:id="rId34"/>
    <p:sldId id="575" r:id="rId35"/>
    <p:sldId id="577" r:id="rId36"/>
    <p:sldId id="578" r:id="rId37"/>
    <p:sldId id="579" r:id="rId38"/>
    <p:sldId id="580" r:id="rId39"/>
    <p:sldId id="581" r:id="rId40"/>
    <p:sldId id="592" r:id="rId41"/>
    <p:sldId id="596" r:id="rId42"/>
    <p:sldId id="582" r:id="rId43"/>
    <p:sldId id="550" r:id="rId44"/>
    <p:sldId id="583" r:id="rId45"/>
    <p:sldId id="584" r:id="rId46"/>
    <p:sldId id="585" r:id="rId47"/>
    <p:sldId id="593" r:id="rId48"/>
    <p:sldId id="586" r:id="rId49"/>
    <p:sldId id="597"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0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82" autoAdjust="0"/>
    <p:restoredTop sz="96301" autoAdjust="0"/>
  </p:normalViewPr>
  <p:slideViewPr>
    <p:cSldViewPr>
      <p:cViewPr varScale="1">
        <p:scale>
          <a:sx n="118" d="100"/>
          <a:sy n="118" d="100"/>
        </p:scale>
        <p:origin x="1896" y="192"/>
      </p:cViewPr>
      <p:guideLst>
        <p:guide orient="horz" pos="2160"/>
        <p:guide pos="288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 Lamagna" userId="51ffa61b-81bf-4463-bdeb-7e3f3f1f8945" providerId="ADAL" clId="{AA14FEB1-1D96-5DEE-983E-67CDFED89FE8}"/>
    <pc:docChg chg="modSld">
      <pc:chgData name="A Lamagna" userId="51ffa61b-81bf-4463-bdeb-7e3f3f1f8945" providerId="ADAL" clId="{AA14FEB1-1D96-5DEE-983E-67CDFED89FE8}" dt="2026-04-16T13:51:03.159" v="0" actId="1076"/>
      <pc:docMkLst>
        <pc:docMk/>
      </pc:docMkLst>
      <pc:sldChg chg="modSp mod">
        <pc:chgData name="A Lamagna" userId="51ffa61b-81bf-4463-bdeb-7e3f3f1f8945" providerId="ADAL" clId="{AA14FEB1-1D96-5DEE-983E-67CDFED89FE8}" dt="2026-04-16T13:51:03.159" v="0" actId="1076"/>
        <pc:sldMkLst>
          <pc:docMk/>
          <pc:sldMk cId="3083716952" sldId="551"/>
        </pc:sldMkLst>
        <pc:spChg chg="mod">
          <ac:chgData name="A Lamagna" userId="51ffa61b-81bf-4463-bdeb-7e3f3f1f8945" providerId="ADAL" clId="{AA14FEB1-1D96-5DEE-983E-67CDFED89FE8}" dt="2026-04-16T13:51:03.159" v="0" actId="1076"/>
          <ac:spMkLst>
            <pc:docMk/>
            <pc:sldMk cId="3083716952" sldId="551"/>
            <ac:spMk id="4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E87F4A-DD11-41AF-8B76-F2E5B6202836}" type="datetimeFigureOut">
              <a:rPr lang="en-GB" smtClean="0"/>
              <a:pPr/>
              <a:t>16/04/2026</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F2399-CD51-4C4C-BC34-03B9F40F9CF8}" type="slidenum">
              <a:rPr lang="en-GB" smtClean="0"/>
              <a:pPr/>
              <a:t>‹#›</a:t>
            </a:fld>
            <a:endParaRPr lang="en-GB" dirty="0"/>
          </a:p>
        </p:txBody>
      </p:sp>
    </p:spTree>
    <p:extLst>
      <p:ext uri="{BB962C8B-B14F-4D97-AF65-F5344CB8AC3E}">
        <p14:creationId xmlns:p14="http://schemas.microsoft.com/office/powerpoint/2010/main" val="547450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Last modified: 7</a:t>
            </a:r>
            <a:r>
              <a:rPr lang="en-GB" baseline="30000" dirty="0"/>
              <a:t>th</a:t>
            </a:r>
            <a:r>
              <a:rPr lang="en-GB" dirty="0"/>
              <a:t> September 2020</a:t>
            </a:r>
          </a:p>
        </p:txBody>
      </p:sp>
      <p:sp>
        <p:nvSpPr>
          <p:cNvPr id="4" name="Slide Number Placeholder 3"/>
          <p:cNvSpPr>
            <a:spLocks noGrp="1"/>
          </p:cNvSpPr>
          <p:nvPr>
            <p:ph type="sldNum" sz="quarter" idx="5"/>
          </p:nvPr>
        </p:nvSpPr>
        <p:spPr/>
        <p:txBody>
          <a:bodyPr/>
          <a:lstStyle/>
          <a:p>
            <a:fld id="{462F2399-CD51-4C4C-BC34-03B9F40F9CF8}" type="slidenum">
              <a:rPr lang="en-GB" smtClean="0"/>
              <a:pPr/>
              <a:t>1</a:t>
            </a:fld>
            <a:endParaRPr lang="en-GB"/>
          </a:p>
        </p:txBody>
      </p:sp>
    </p:spTree>
    <p:extLst>
      <p:ext uri="{BB962C8B-B14F-4D97-AF65-F5344CB8AC3E}">
        <p14:creationId xmlns:p14="http://schemas.microsoft.com/office/powerpoint/2010/main" val="1349758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9AFE4D-3339-4F90-AB07-DAB31D79E32A}" type="datetimeFigureOut">
              <a:rPr lang="en-GB" smtClean="0"/>
              <a:pPr/>
              <a:t>16/04/2026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dirty="0"/>
          </a:p>
        </p:txBody>
      </p:sp>
    </p:spTree>
    <p:extLst>
      <p:ext uri="{BB962C8B-B14F-4D97-AF65-F5344CB8AC3E}">
        <p14:creationId xmlns:p14="http://schemas.microsoft.com/office/powerpoint/2010/main" val="875171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9AFE4D-3339-4F90-AB07-DAB31D79E32A}" type="datetimeFigureOut">
              <a:rPr lang="en-GB" smtClean="0"/>
              <a:pPr/>
              <a:t>16/04/2026</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48177B05-5D28-4021-9BD2-A7A72850B659}" type="slidenum">
              <a:rPr lang="en-GB" smtClean="0"/>
              <a:pPr/>
              <a:t>‹#›</a:t>
            </a:fld>
            <a:endParaRPr lang="en-GB" dirty="0"/>
          </a:p>
        </p:txBody>
      </p:sp>
    </p:spTree>
    <p:extLst>
      <p:ext uri="{BB962C8B-B14F-4D97-AF65-F5344CB8AC3E}">
        <p14:creationId xmlns:p14="http://schemas.microsoft.com/office/powerpoint/2010/main" val="179336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2330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693988"/>
            <a:ext cx="7772400" cy="1470025"/>
          </a:xfrm>
        </p:spPr>
        <p:txBody>
          <a:bodyPr>
            <a:noAutofit/>
          </a:bodyPr>
          <a:lstStyle>
            <a:lvl1pPr>
              <a:defRPr sz="6000" b="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2915596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496"/>
            <a:ext cx="9144000" cy="691200"/>
          </a:xfrm>
          <a:solidFill>
            <a:srgbClr val="23305E"/>
          </a:solidFill>
        </p:spPr>
        <p:txBody>
          <a:bodyPr>
            <a:noAutofit/>
          </a:bodyPr>
          <a:lstStyle>
            <a:lvl1pPr>
              <a:defRPr sz="400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15394601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AFE4D-3339-4F90-AB07-DAB31D79E32A}" type="datetimeFigureOut">
              <a:rPr lang="en-GB" smtClean="0"/>
              <a:pPr/>
              <a:t>16/04/2026</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177B05-5D28-4021-9BD2-A7A72850B659}" type="slidenum">
              <a:rPr lang="en-GB" smtClean="0"/>
              <a:pPr/>
              <a:t>‹#›</a:t>
            </a:fld>
            <a:endParaRPr lang="en-GB" dirty="0"/>
          </a:p>
        </p:txBody>
      </p:sp>
    </p:spTree>
    <p:extLst>
      <p:ext uri="{BB962C8B-B14F-4D97-AF65-F5344CB8AC3E}">
        <p14:creationId xmlns:p14="http://schemas.microsoft.com/office/powerpoint/2010/main" val="3896745248"/>
      </p:ext>
    </p:extLst>
  </p:cSld>
  <p:clrMap bg1="lt1" tx1="dk1" bg2="lt2" tx2="dk2" accent1="accent1" accent2="accent2" accent3="accent3" accent4="accent4" accent5="accent5" accent6="accent6" hlink="hlink" folHlink="folHlink"/>
  <p:sldLayoutIdLst>
    <p:sldLayoutId id="2147483650" r:id="rId1"/>
    <p:sldLayoutId id="2147483655" r:id="rId2"/>
    <p:sldLayoutId id="2147483660" r:id="rId3"/>
    <p:sldLayoutId id="2147483661"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NUL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11.png"/><Relationship Id="rId1" Type="http://schemas.openxmlformats.org/officeDocument/2006/relationships/slideLayout" Target="../slideLayouts/slideLayout2.xml"/><Relationship Id="rId6" Type="http://schemas.openxmlformats.org/officeDocument/2006/relationships/image" Target="../media/image811.png"/><Relationship Id="rId5" Type="http://schemas.openxmlformats.org/officeDocument/2006/relationships/image" Target="../media/image710.png"/><Relationship Id="rId4" Type="http://schemas.openxmlformats.org/officeDocument/2006/relationships/image" Target="../media/image611.png"/></Relationships>
</file>

<file path=ppt/slides/_rels/slide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610.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010.png"/><Relationship Id="rId13" Type="http://schemas.openxmlformats.org/officeDocument/2006/relationships/image" Target="../media/image1510.png"/><Relationship Id="rId3" Type="http://schemas.openxmlformats.org/officeDocument/2006/relationships/image" Target="../media/image410.png"/><Relationship Id="rId7" Type="http://schemas.openxmlformats.org/officeDocument/2006/relationships/image" Target="../media/image5.png"/><Relationship Id="rId12" Type="http://schemas.openxmlformats.org/officeDocument/2006/relationships/image" Target="../media/image141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810.png"/><Relationship Id="rId11" Type="http://schemas.openxmlformats.org/officeDocument/2006/relationships/image" Target="../media/image1310.png"/><Relationship Id="rId5" Type="http://schemas.openxmlformats.org/officeDocument/2006/relationships/image" Target="../media/image4.png"/><Relationship Id="rId10" Type="http://schemas.openxmlformats.org/officeDocument/2006/relationships/image" Target="../media/image1210.png"/><Relationship Id="rId4" Type="http://schemas.openxmlformats.org/officeDocument/2006/relationships/image" Target="../media/image510.png"/><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10.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7.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0.png"/></Relationships>
</file>

<file path=ppt/slides/_rels/slide14.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7" Type="http://schemas.openxmlformats.org/officeDocument/2006/relationships/image" Target="../media/image52.png"/><Relationship Id="rId12" Type="http://schemas.openxmlformats.org/officeDocument/2006/relationships/image" Target="../media/image57.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48.pn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59.png"/></Relationships>
</file>

<file path=ppt/slides/_rels/slide15.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image" Target="../media/image48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61.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5.png"/><Relationship Id="rId4" Type="http://schemas.openxmlformats.org/officeDocument/2006/relationships/image" Target="../media/image46.png"/></Relationships>
</file>

<file path=ppt/slides/_rels/slide18.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19.xml.rels><?xml version="1.0" encoding="UTF-8" standalone="yes"?>
<Relationships xmlns="http://schemas.openxmlformats.org/package/2006/relationships"><Relationship Id="rId3" Type="http://schemas.openxmlformats.org/officeDocument/2006/relationships/image" Target="../media/image511.png"/><Relationship Id="rId2" Type="http://schemas.openxmlformats.org/officeDocument/2006/relationships/image" Target="../media/image50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530.png"/><Relationship Id="rId7" Type="http://schemas.openxmlformats.org/officeDocument/2006/relationships/image" Target="../media/image570.png"/><Relationship Id="rId2" Type="http://schemas.openxmlformats.org/officeDocument/2006/relationships/image" Target="../media/image520.png"/><Relationship Id="rId1" Type="http://schemas.openxmlformats.org/officeDocument/2006/relationships/slideLayout" Target="../slideLayouts/slideLayout2.xml"/><Relationship Id="rId6" Type="http://schemas.openxmlformats.org/officeDocument/2006/relationships/image" Target="../media/image560.png"/><Relationship Id="rId11" Type="http://schemas.openxmlformats.org/officeDocument/2006/relationships/image" Target="../media/image612.png"/><Relationship Id="rId5" Type="http://schemas.openxmlformats.org/officeDocument/2006/relationships/image" Target="../media/image550.png"/><Relationship Id="rId10" Type="http://schemas.openxmlformats.org/officeDocument/2006/relationships/image" Target="../media/image600.png"/><Relationship Id="rId4" Type="http://schemas.openxmlformats.org/officeDocument/2006/relationships/image" Target="../media/image540.png"/><Relationship Id="rId9" Type="http://schemas.openxmlformats.org/officeDocument/2006/relationships/image" Target="../media/image590.png"/></Relationships>
</file>

<file path=ppt/slides/_rels/slide2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30.png"/><Relationship Id="rId2" Type="http://schemas.openxmlformats.org/officeDocument/2006/relationships/image" Target="../media/image620.png"/><Relationship Id="rId1" Type="http://schemas.openxmlformats.org/officeDocument/2006/relationships/slideLayout" Target="../slideLayouts/slideLayout2.xml"/><Relationship Id="rId5" Type="http://schemas.openxmlformats.org/officeDocument/2006/relationships/image" Target="../media/image650.png"/><Relationship Id="rId4" Type="http://schemas.openxmlformats.org/officeDocument/2006/relationships/image" Target="../media/image640.png"/></Relationships>
</file>

<file path=ppt/slides/_rels/slide23.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9.png"/><Relationship Id="rId3" Type="http://schemas.openxmlformats.org/officeDocument/2006/relationships/image" Target="../media/image69.png"/><Relationship Id="rId7" Type="http://schemas.openxmlformats.org/officeDocument/2006/relationships/image" Target="../media/image73.png"/><Relationship Id="rId12" Type="http://schemas.openxmlformats.org/officeDocument/2006/relationships/image" Target="../media/image78.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png"/><Relationship Id="rId11" Type="http://schemas.openxmlformats.org/officeDocument/2006/relationships/image" Target="../media/image77.png"/><Relationship Id="rId5" Type="http://schemas.openxmlformats.org/officeDocument/2006/relationships/image" Target="../media/image71.png"/><Relationship Id="rId10" Type="http://schemas.openxmlformats.org/officeDocument/2006/relationships/image" Target="../media/image76.png"/><Relationship Id="rId4" Type="http://schemas.openxmlformats.org/officeDocument/2006/relationships/image" Target="../media/image70.png"/><Relationship Id="rId9" Type="http://schemas.openxmlformats.org/officeDocument/2006/relationships/image" Target="../media/image75.png"/></Relationships>
</file>

<file path=ppt/slides/_rels/slide24.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108.png"/><Relationship Id="rId7" Type="http://schemas.openxmlformats.org/officeDocument/2006/relationships/image" Target="../media/image112.png"/><Relationship Id="rId2" Type="http://schemas.openxmlformats.org/officeDocument/2006/relationships/image" Target="../media/image107.png"/><Relationship Id="rId1" Type="http://schemas.openxmlformats.org/officeDocument/2006/relationships/slideLayout" Target="../slideLayouts/slideLayout2.xml"/><Relationship Id="rId6" Type="http://schemas.openxmlformats.org/officeDocument/2006/relationships/image" Target="../media/image551.png"/><Relationship Id="rId5" Type="http://schemas.openxmlformats.org/officeDocument/2006/relationships/image" Target="../media/image110.png"/><Relationship Id="rId4" Type="http://schemas.openxmlformats.org/officeDocument/2006/relationships/image" Target="../media/image109.png"/><Relationship Id="rId9" Type="http://schemas.openxmlformats.org/officeDocument/2006/relationships/image" Target="../media/image114.png"/></Relationships>
</file>

<file path=ppt/slides/_rels/slide2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26.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 Id="rId9" Type="http://schemas.openxmlformats.org/officeDocument/2006/relationships/image" Target="../media/image91.png"/></Relationships>
</file>

<file path=ppt/slides/_rels/slide27.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93.png"/><Relationship Id="rId7" Type="http://schemas.openxmlformats.org/officeDocument/2006/relationships/image" Target="../media/image97.png"/><Relationship Id="rId12" Type="http://schemas.openxmlformats.org/officeDocument/2006/relationships/image" Target="../media/image102.png"/><Relationship Id="rId2"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96.png"/><Relationship Id="rId11" Type="http://schemas.openxmlformats.org/officeDocument/2006/relationships/image" Target="../media/image101.png"/><Relationship Id="rId5" Type="http://schemas.openxmlformats.org/officeDocument/2006/relationships/image" Target="../media/image95.pn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png"/></Relationships>
</file>

<file path=ppt/slides/_rels/slide28.xml.rels><?xml version="1.0" encoding="UTF-8" standalone="yes"?>
<Relationships xmlns="http://schemas.openxmlformats.org/package/2006/relationships"><Relationship Id="rId8" Type="http://schemas.openxmlformats.org/officeDocument/2006/relationships/image" Target="../media/image760.png"/><Relationship Id="rId3" Type="http://schemas.openxmlformats.org/officeDocument/2006/relationships/image" Target="../media/image711.png"/><Relationship Id="rId7" Type="http://schemas.openxmlformats.org/officeDocument/2006/relationships/image" Target="../media/image750.png"/><Relationship Id="rId2" Type="http://schemas.openxmlformats.org/officeDocument/2006/relationships/image" Target="../media/image700.png"/><Relationship Id="rId1" Type="http://schemas.openxmlformats.org/officeDocument/2006/relationships/slideLayout" Target="../slideLayouts/slideLayout1.xml"/><Relationship Id="rId6" Type="http://schemas.openxmlformats.org/officeDocument/2006/relationships/image" Target="../media/image740.png"/><Relationship Id="rId5" Type="http://schemas.openxmlformats.org/officeDocument/2006/relationships/image" Target="../media/image730.png"/><Relationship Id="rId10" Type="http://schemas.openxmlformats.org/officeDocument/2006/relationships/image" Target="../media/image690.png"/><Relationship Id="rId4" Type="http://schemas.openxmlformats.org/officeDocument/2006/relationships/image" Target="../media/image720.png"/><Relationship Id="rId9" Type="http://schemas.openxmlformats.org/officeDocument/2006/relationships/image" Target="../media/image770.png"/></Relationships>
</file>

<file path=ppt/slides/_rels/slide29.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145.png"/><Relationship Id="rId7" Type="http://schemas.openxmlformats.org/officeDocument/2006/relationships/image" Target="../media/image149.png"/><Relationship Id="rId2" Type="http://schemas.openxmlformats.org/officeDocument/2006/relationships/image" Target="../media/image144.png"/><Relationship Id="rId1" Type="http://schemas.openxmlformats.org/officeDocument/2006/relationships/slideLayout" Target="../slideLayouts/slideLayout2.xml"/><Relationship Id="rId6" Type="http://schemas.openxmlformats.org/officeDocument/2006/relationships/image" Target="../media/image148.png"/><Relationship Id="rId5" Type="http://schemas.openxmlformats.org/officeDocument/2006/relationships/image" Target="../media/image147.png"/><Relationship Id="rId4" Type="http://schemas.openxmlformats.org/officeDocument/2006/relationships/image" Target="../media/image146.png"/></Relationships>
</file>

<file path=ppt/slides/_rels/slide32.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04.png"/><Relationship Id="rId7" Type="http://schemas.openxmlformats.org/officeDocument/2006/relationships/image" Target="../media/image115.png"/><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106.png"/><Relationship Id="rId10" Type="http://schemas.openxmlformats.org/officeDocument/2006/relationships/image" Target="../media/image118.png"/><Relationship Id="rId4" Type="http://schemas.openxmlformats.org/officeDocument/2006/relationships/image" Target="../media/image105.png"/><Relationship Id="rId9" Type="http://schemas.openxmlformats.org/officeDocument/2006/relationships/image" Target="../media/image117.png"/></Relationships>
</file>

<file path=ppt/slides/_rels/slide33.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30.png"/><Relationship Id="rId3" Type="http://schemas.openxmlformats.org/officeDocument/2006/relationships/image" Target="../media/image120.png"/><Relationship Id="rId7" Type="http://schemas.openxmlformats.org/officeDocument/2006/relationships/image" Target="../media/image124.png"/><Relationship Id="rId12" Type="http://schemas.openxmlformats.org/officeDocument/2006/relationships/image" Target="../media/image129.png"/><Relationship Id="rId2" Type="http://schemas.openxmlformats.org/officeDocument/2006/relationships/image" Target="../media/image119.png"/><Relationship Id="rId1" Type="http://schemas.openxmlformats.org/officeDocument/2006/relationships/slideLayout" Target="../slideLayouts/slideLayout2.xml"/><Relationship Id="rId6" Type="http://schemas.openxmlformats.org/officeDocument/2006/relationships/image" Target="../media/image123.png"/><Relationship Id="rId11" Type="http://schemas.openxmlformats.org/officeDocument/2006/relationships/image" Target="../media/image128.png"/><Relationship Id="rId5" Type="http://schemas.openxmlformats.org/officeDocument/2006/relationships/image" Target="../media/image122.png"/><Relationship Id="rId10" Type="http://schemas.openxmlformats.org/officeDocument/2006/relationships/image" Target="../media/image127.png"/><Relationship Id="rId4" Type="http://schemas.openxmlformats.org/officeDocument/2006/relationships/image" Target="../media/image121.png"/><Relationship Id="rId9" Type="http://schemas.openxmlformats.org/officeDocument/2006/relationships/image" Target="../media/image126.png"/><Relationship Id="rId14" Type="http://schemas.openxmlformats.org/officeDocument/2006/relationships/image" Target="../media/image131.png"/></Relationships>
</file>

<file path=ppt/slides/_rels/slide34.xml.rels><?xml version="1.0" encoding="UTF-8" standalone="yes"?>
<Relationships xmlns="http://schemas.openxmlformats.org/package/2006/relationships"><Relationship Id="rId3" Type="http://schemas.openxmlformats.org/officeDocument/2006/relationships/image" Target="../media/image800.png"/><Relationship Id="rId7" Type="http://schemas.openxmlformats.org/officeDocument/2006/relationships/image" Target="../media/image850.png"/><Relationship Id="rId2" Type="http://schemas.openxmlformats.org/officeDocument/2006/relationships/image" Target="../media/image790.png"/><Relationship Id="rId1" Type="http://schemas.openxmlformats.org/officeDocument/2006/relationships/slideLayout" Target="../slideLayouts/slideLayout2.xml"/><Relationship Id="rId6" Type="http://schemas.openxmlformats.org/officeDocument/2006/relationships/image" Target="../media/image830.png"/><Relationship Id="rId5" Type="http://schemas.openxmlformats.org/officeDocument/2006/relationships/image" Target="../media/image820.png"/><Relationship Id="rId4" Type="http://schemas.openxmlformats.org/officeDocument/2006/relationships/image" Target="../media/image812.png"/></Relationships>
</file>

<file path=ppt/slides/_rels/slide35.xml.rels><?xml version="1.0" encoding="UTF-8" standalone="yes"?>
<Relationships xmlns="http://schemas.openxmlformats.org/package/2006/relationships"><Relationship Id="rId8" Type="http://schemas.openxmlformats.org/officeDocument/2006/relationships/image" Target="../media/image860.png"/><Relationship Id="rId3" Type="http://schemas.openxmlformats.org/officeDocument/2006/relationships/image" Target="../media/image960.png"/><Relationship Id="rId7" Type="http://schemas.openxmlformats.org/officeDocument/2006/relationships/image" Target="../media/image1000.png"/><Relationship Id="rId2" Type="http://schemas.openxmlformats.org/officeDocument/2006/relationships/image" Target="../media/image950.png"/><Relationship Id="rId1" Type="http://schemas.openxmlformats.org/officeDocument/2006/relationships/slideLayout" Target="../slideLayouts/slideLayout2.xml"/><Relationship Id="rId6" Type="http://schemas.openxmlformats.org/officeDocument/2006/relationships/image" Target="../media/image990.png"/><Relationship Id="rId5" Type="http://schemas.openxmlformats.org/officeDocument/2006/relationships/image" Target="../media/image980.png"/><Relationship Id="rId4" Type="http://schemas.openxmlformats.org/officeDocument/2006/relationships/image" Target="../media/image970.png"/><Relationship Id="rId9" Type="http://schemas.openxmlformats.org/officeDocument/2006/relationships/image" Target="../media/image1020.png"/></Relationships>
</file>

<file path=ppt/slides/_rels/slide36.xml.rels><?xml version="1.0" encoding="UTF-8" standalone="yes"?>
<Relationships xmlns="http://schemas.openxmlformats.org/package/2006/relationships"><Relationship Id="rId3" Type="http://schemas.openxmlformats.org/officeDocument/2006/relationships/image" Target="../media/image1040.png"/><Relationship Id="rId2" Type="http://schemas.openxmlformats.org/officeDocument/2006/relationships/image" Target="../media/image10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108.png"/><Relationship Id="rId7" Type="http://schemas.openxmlformats.org/officeDocument/2006/relationships/image" Target="../media/image112.png"/><Relationship Id="rId2" Type="http://schemas.openxmlformats.org/officeDocument/2006/relationships/image" Target="../media/image107.png"/><Relationship Id="rId1" Type="http://schemas.openxmlformats.org/officeDocument/2006/relationships/slideLayout" Target="../slideLayouts/slideLayout2.xml"/><Relationship Id="rId6" Type="http://schemas.openxmlformats.org/officeDocument/2006/relationships/image" Target="../media/image870.png"/><Relationship Id="rId5" Type="http://schemas.openxmlformats.org/officeDocument/2006/relationships/image" Target="../media/image110.png"/><Relationship Id="rId4" Type="http://schemas.openxmlformats.org/officeDocument/2006/relationships/image" Target="../media/image109.png"/><Relationship Id="rId9" Type="http://schemas.openxmlformats.org/officeDocument/2006/relationships/image" Target="../media/image114.png"/></Relationships>
</file>

<file path=ppt/slides/_rels/slide38.xml.rels><?xml version="1.0" encoding="UTF-8" standalone="yes"?>
<Relationships xmlns="http://schemas.openxmlformats.org/package/2006/relationships"><Relationship Id="rId8" Type="http://schemas.openxmlformats.org/officeDocument/2006/relationships/image" Target="../media/image1180.png"/><Relationship Id="rId3" Type="http://schemas.openxmlformats.org/officeDocument/2006/relationships/image" Target="../media/image108.png"/><Relationship Id="rId7" Type="http://schemas.openxmlformats.org/officeDocument/2006/relationships/image" Target="../media/image114.png"/><Relationship Id="rId2" Type="http://schemas.openxmlformats.org/officeDocument/2006/relationships/image" Target="../media/image107.png"/><Relationship Id="rId1" Type="http://schemas.openxmlformats.org/officeDocument/2006/relationships/slideLayout" Target="../slideLayouts/slideLayout2.xml"/><Relationship Id="rId6" Type="http://schemas.openxmlformats.org/officeDocument/2006/relationships/image" Target="../media/image1170.png"/><Relationship Id="rId11" Type="http://schemas.openxmlformats.org/officeDocument/2006/relationships/image" Target="../media/image900.png"/><Relationship Id="rId5" Type="http://schemas.openxmlformats.org/officeDocument/2006/relationships/image" Target="../media/image1160.png"/><Relationship Id="rId10" Type="http://schemas.openxmlformats.org/officeDocument/2006/relationships/image" Target="../media/image890.png"/><Relationship Id="rId4" Type="http://schemas.openxmlformats.org/officeDocument/2006/relationships/image" Target="../media/image1150.png"/><Relationship Id="rId9" Type="http://schemas.openxmlformats.org/officeDocument/2006/relationships/image" Target="../media/image880.png"/></Relationships>
</file>

<file path=ppt/slides/_rels/slide39.xml.rels><?xml version="1.0" encoding="UTF-8" standalone="yes"?>
<Relationships xmlns="http://schemas.openxmlformats.org/package/2006/relationships"><Relationship Id="rId8" Type="http://schemas.openxmlformats.org/officeDocument/2006/relationships/image" Target="../media/image1240.png"/><Relationship Id="rId3" Type="http://schemas.openxmlformats.org/officeDocument/2006/relationships/image" Target="../media/image108.png"/><Relationship Id="rId7" Type="http://schemas.openxmlformats.org/officeDocument/2006/relationships/image" Target="../media/image1230.png"/><Relationship Id="rId2" Type="http://schemas.openxmlformats.org/officeDocument/2006/relationships/image" Target="../media/image107.png"/><Relationship Id="rId1" Type="http://schemas.openxmlformats.org/officeDocument/2006/relationships/slideLayout" Target="../slideLayouts/slideLayout2.xml"/><Relationship Id="rId6" Type="http://schemas.openxmlformats.org/officeDocument/2006/relationships/image" Target="../media/image1220.png"/><Relationship Id="rId5" Type="http://schemas.openxmlformats.org/officeDocument/2006/relationships/image" Target="../media/image1211.png"/><Relationship Id="rId10" Type="http://schemas.openxmlformats.org/officeDocument/2006/relationships/image" Target="../media/image1260.png"/><Relationship Id="rId4" Type="http://schemas.openxmlformats.org/officeDocument/2006/relationships/image" Target="../media/image1200.png"/><Relationship Id="rId9" Type="http://schemas.openxmlformats.org/officeDocument/2006/relationships/image" Target="../media/image1250.png"/></Relationships>
</file>

<file path=ppt/slides/_rels/slide40.xml.rels><?xml version="1.0" encoding="UTF-8" standalone="yes"?>
<Relationships xmlns="http://schemas.openxmlformats.org/package/2006/relationships"><Relationship Id="rId8" Type="http://schemas.openxmlformats.org/officeDocument/2006/relationships/image" Target="../media/image139.png"/><Relationship Id="rId13" Type="http://schemas.openxmlformats.org/officeDocument/2006/relationships/image" Target="../media/image153.png"/><Relationship Id="rId18" Type="http://schemas.openxmlformats.org/officeDocument/2006/relationships/image" Target="../media/image158.png"/><Relationship Id="rId3" Type="http://schemas.openxmlformats.org/officeDocument/2006/relationships/image" Target="../media/image134.png"/><Relationship Id="rId7" Type="http://schemas.openxmlformats.org/officeDocument/2006/relationships/image" Target="../media/image138.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image" Target="../media/image132.png"/><Relationship Id="rId16" Type="http://schemas.openxmlformats.org/officeDocument/2006/relationships/image" Target="../media/image156.png"/><Relationship Id="rId1" Type="http://schemas.openxmlformats.org/officeDocument/2006/relationships/slideLayout" Target="../slideLayouts/slideLayout2.xml"/><Relationship Id="rId6" Type="http://schemas.openxmlformats.org/officeDocument/2006/relationships/image" Target="../media/image137.png"/><Relationship Id="rId11" Type="http://schemas.openxmlformats.org/officeDocument/2006/relationships/image" Target="../media/image151.png"/><Relationship Id="rId5" Type="http://schemas.openxmlformats.org/officeDocument/2006/relationships/image" Target="../media/image136.png"/><Relationship Id="rId15" Type="http://schemas.openxmlformats.org/officeDocument/2006/relationships/image" Target="../media/image155.png"/><Relationship Id="rId10" Type="http://schemas.openxmlformats.org/officeDocument/2006/relationships/image" Target="../media/image142.png"/><Relationship Id="rId19" Type="http://schemas.openxmlformats.org/officeDocument/2006/relationships/image" Target="../media/image159.png"/><Relationship Id="rId4" Type="http://schemas.openxmlformats.org/officeDocument/2006/relationships/image" Target="../media/image135.png"/><Relationship Id="rId9" Type="http://schemas.openxmlformats.org/officeDocument/2006/relationships/image" Target="../media/image141.png"/><Relationship Id="rId14" Type="http://schemas.openxmlformats.org/officeDocument/2006/relationships/image" Target="../media/image154.png"/></Relationships>
</file>

<file path=ppt/slides/_rels/slide41.xml.rels><?xml version="1.0" encoding="UTF-8" standalone="yes"?>
<Relationships xmlns="http://schemas.openxmlformats.org/package/2006/relationships"><Relationship Id="rId3" Type="http://schemas.openxmlformats.org/officeDocument/2006/relationships/image" Target="../media/image161.png"/><Relationship Id="rId7" Type="http://schemas.openxmlformats.org/officeDocument/2006/relationships/image" Target="../media/image165.png"/><Relationship Id="rId2" Type="http://schemas.openxmlformats.org/officeDocument/2006/relationships/image" Target="../media/image160.png"/><Relationship Id="rId1" Type="http://schemas.openxmlformats.org/officeDocument/2006/relationships/slideLayout" Target="../slideLayouts/slideLayout2.xml"/><Relationship Id="rId6" Type="http://schemas.openxmlformats.org/officeDocument/2006/relationships/image" Target="../media/image164.png"/><Relationship Id="rId5" Type="http://schemas.openxmlformats.org/officeDocument/2006/relationships/image" Target="../media/image163.png"/><Relationship Id="rId4" Type="http://schemas.openxmlformats.org/officeDocument/2006/relationships/image" Target="../media/image162.png"/></Relationships>
</file>

<file path=ppt/slides/_rels/slide42.xml.rels><?xml version="1.0" encoding="UTF-8" standalone="yes"?>
<Relationships xmlns="http://schemas.openxmlformats.org/package/2006/relationships"><Relationship Id="rId3" Type="http://schemas.openxmlformats.org/officeDocument/2006/relationships/image" Target="../media/image920.png"/><Relationship Id="rId2" Type="http://schemas.openxmlformats.org/officeDocument/2006/relationships/image" Target="../media/image910.png"/><Relationship Id="rId1" Type="http://schemas.openxmlformats.org/officeDocument/2006/relationships/slideLayout" Target="../slideLayouts/slideLayout2.xml"/><Relationship Id="rId4" Type="http://schemas.openxmlformats.org/officeDocument/2006/relationships/image" Target="../media/image930.png"/></Relationships>
</file>

<file path=ppt/slides/_rels/slide43.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2.xml"/><Relationship Id="rId5" Type="http://schemas.openxmlformats.org/officeDocument/2006/relationships/image" Target="../media/image1060.png"/><Relationship Id="rId4" Type="http://schemas.openxmlformats.org/officeDocument/2006/relationships/image" Target="../media/image168.png"/></Relationships>
</file>

<file path=ppt/slides/_rels/slide44.xml.rels><?xml version="1.0" encoding="UTF-8" standalone="yes"?>
<Relationships xmlns="http://schemas.openxmlformats.org/package/2006/relationships"><Relationship Id="rId3" Type="http://schemas.openxmlformats.org/officeDocument/2006/relationships/image" Target="../media/image1190.png"/><Relationship Id="rId2" Type="http://schemas.openxmlformats.org/officeDocument/2006/relationships/image" Target="../media/image1110.png"/><Relationship Id="rId1" Type="http://schemas.openxmlformats.org/officeDocument/2006/relationships/slideLayout" Target="../slideLayouts/slideLayout2.xml"/><Relationship Id="rId6" Type="http://schemas.openxmlformats.org/officeDocument/2006/relationships/image" Target="../media/image1290.png"/><Relationship Id="rId5" Type="http://schemas.openxmlformats.org/officeDocument/2006/relationships/image" Target="../media/image1280.png"/><Relationship Id="rId4" Type="http://schemas.openxmlformats.org/officeDocument/2006/relationships/image" Target="../media/image1270.png"/></Relationships>
</file>

<file path=ppt/slides/_rels/slide45.xml.rels><?xml version="1.0" encoding="UTF-8" standalone="yes"?>
<Relationships xmlns="http://schemas.openxmlformats.org/package/2006/relationships"><Relationship Id="rId3" Type="http://schemas.openxmlformats.org/officeDocument/2006/relationships/image" Target="../media/image1311.png"/><Relationship Id="rId2" Type="http://schemas.openxmlformats.org/officeDocument/2006/relationships/image" Target="../media/image1300.png"/><Relationship Id="rId1" Type="http://schemas.openxmlformats.org/officeDocument/2006/relationships/slideLayout" Target="../slideLayouts/slideLayout2.xml"/><Relationship Id="rId5" Type="http://schemas.openxmlformats.org/officeDocument/2006/relationships/image" Target="../media/image170.png"/><Relationship Id="rId4" Type="http://schemas.openxmlformats.org/officeDocument/2006/relationships/image" Target="../media/image1320.png"/></Relationships>
</file>

<file path=ppt/slides/_rels/slide46.xml.rels><?xml version="1.0" encoding="UTF-8" standalone="yes"?>
<Relationships xmlns="http://schemas.openxmlformats.org/package/2006/relationships"><Relationship Id="rId3" Type="http://schemas.openxmlformats.org/officeDocument/2006/relationships/image" Target="../media/image1350.png"/><Relationship Id="rId2" Type="http://schemas.openxmlformats.org/officeDocument/2006/relationships/image" Target="../media/image1340.png"/><Relationship Id="rId1" Type="http://schemas.openxmlformats.org/officeDocument/2006/relationships/slideLayout" Target="../slideLayouts/slideLayout2.xml"/><Relationship Id="rId4" Type="http://schemas.openxmlformats.org/officeDocument/2006/relationships/image" Target="../media/image1360.png"/></Relationships>
</file>

<file path=ppt/slides/_rels/slide47.xml.rels><?xml version="1.0" encoding="UTF-8" standalone="yes"?>
<Relationships xmlns="http://schemas.openxmlformats.org/package/2006/relationships"><Relationship Id="rId8" Type="http://schemas.openxmlformats.org/officeDocument/2006/relationships/image" Target="../media/image176.png"/><Relationship Id="rId3" Type="http://schemas.openxmlformats.org/officeDocument/2006/relationships/image" Target="../media/image171.png"/><Relationship Id="rId7" Type="http://schemas.openxmlformats.org/officeDocument/2006/relationships/image" Target="../media/image175.png"/><Relationship Id="rId2" Type="http://schemas.openxmlformats.org/officeDocument/2006/relationships/image" Target="../media/image169.png"/><Relationship Id="rId1" Type="http://schemas.openxmlformats.org/officeDocument/2006/relationships/slideLayout" Target="../slideLayouts/slideLayout2.xml"/><Relationship Id="rId6" Type="http://schemas.openxmlformats.org/officeDocument/2006/relationships/image" Target="../media/image174.png"/><Relationship Id="rId5" Type="http://schemas.openxmlformats.org/officeDocument/2006/relationships/image" Target="../media/image173.png"/><Relationship Id="rId10" Type="http://schemas.openxmlformats.org/officeDocument/2006/relationships/image" Target="../media/image178.png"/><Relationship Id="rId4" Type="http://schemas.openxmlformats.org/officeDocument/2006/relationships/image" Target="../media/image172.png"/><Relationship Id="rId9" Type="http://schemas.openxmlformats.org/officeDocument/2006/relationships/image" Target="../media/image177.png"/></Relationships>
</file>

<file path=ppt/slides/_rels/slide48.xml.rels><?xml version="1.0" encoding="UTF-8" standalone="yes"?>
<Relationships xmlns="http://schemas.openxmlformats.org/package/2006/relationships"><Relationship Id="rId8" Type="http://schemas.openxmlformats.org/officeDocument/2006/relationships/image" Target="../media/image185.png"/><Relationship Id="rId3" Type="http://schemas.openxmlformats.org/officeDocument/2006/relationships/image" Target="../media/image180.png"/><Relationship Id="rId7" Type="http://schemas.openxmlformats.org/officeDocument/2006/relationships/image" Target="../media/image184.png"/><Relationship Id="rId2" Type="http://schemas.openxmlformats.org/officeDocument/2006/relationships/image" Target="../media/image179.png"/><Relationship Id="rId1" Type="http://schemas.openxmlformats.org/officeDocument/2006/relationships/slideLayout" Target="../slideLayouts/slideLayout2.xml"/><Relationship Id="rId6" Type="http://schemas.openxmlformats.org/officeDocument/2006/relationships/image" Target="../media/image183.png"/><Relationship Id="rId5" Type="http://schemas.openxmlformats.org/officeDocument/2006/relationships/image" Target="../media/image182.png"/><Relationship Id="rId4" Type="http://schemas.openxmlformats.org/officeDocument/2006/relationships/image" Target="../media/image181.png"/></Relationships>
</file>

<file path=ppt/slides/_rels/slide49.xml.rels><?xml version="1.0" encoding="UTF-8" standalone="yes"?>
<Relationships xmlns="http://schemas.openxmlformats.org/package/2006/relationships"><Relationship Id="rId8" Type="http://schemas.openxmlformats.org/officeDocument/2006/relationships/image" Target="../media/image192.png"/><Relationship Id="rId13" Type="http://schemas.openxmlformats.org/officeDocument/2006/relationships/image" Target="../media/image197.png"/><Relationship Id="rId3" Type="http://schemas.openxmlformats.org/officeDocument/2006/relationships/image" Target="../media/image187.png"/><Relationship Id="rId7" Type="http://schemas.openxmlformats.org/officeDocument/2006/relationships/image" Target="../media/image191.png"/><Relationship Id="rId12" Type="http://schemas.openxmlformats.org/officeDocument/2006/relationships/image" Target="../media/image196.png"/><Relationship Id="rId2" Type="http://schemas.openxmlformats.org/officeDocument/2006/relationships/image" Target="../media/image186.png"/><Relationship Id="rId1" Type="http://schemas.openxmlformats.org/officeDocument/2006/relationships/slideLayout" Target="../slideLayouts/slideLayout2.xml"/><Relationship Id="rId6" Type="http://schemas.openxmlformats.org/officeDocument/2006/relationships/image" Target="../media/image190.png"/><Relationship Id="rId11" Type="http://schemas.openxmlformats.org/officeDocument/2006/relationships/image" Target="../media/image195.png"/><Relationship Id="rId5" Type="http://schemas.openxmlformats.org/officeDocument/2006/relationships/image" Target="../media/image189.png"/><Relationship Id="rId10" Type="http://schemas.openxmlformats.org/officeDocument/2006/relationships/image" Target="../media/image194.png"/><Relationship Id="rId4" Type="http://schemas.openxmlformats.org/officeDocument/2006/relationships/image" Target="../media/image188.png"/><Relationship Id="rId9" Type="http://schemas.openxmlformats.org/officeDocument/2006/relationships/image" Target="../media/image193.png"/><Relationship Id="rId14" Type="http://schemas.openxmlformats.org/officeDocument/2006/relationships/image" Target="../media/image19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693988"/>
            <a:ext cx="9036496" cy="1470025"/>
          </a:xfrm>
        </p:spPr>
        <p:txBody>
          <a:bodyPr/>
          <a:lstStyle/>
          <a:p>
            <a:r>
              <a:rPr lang="en-GB" b="1" dirty="0"/>
              <a:t>Pure Y1 Ch 5</a:t>
            </a:r>
            <a:br>
              <a:rPr lang="en-GB" b="1" dirty="0"/>
            </a:br>
            <a:r>
              <a:rPr lang="en-GB" b="1" dirty="0"/>
              <a:t>Straight Line Graphs</a:t>
            </a:r>
            <a:endParaRPr lang="en-GB" dirty="0"/>
          </a:p>
        </p:txBody>
      </p:sp>
    </p:spTree>
    <p:extLst>
      <p:ext uri="{BB962C8B-B14F-4D97-AF65-F5344CB8AC3E}">
        <p14:creationId xmlns:p14="http://schemas.microsoft.com/office/powerpoint/2010/main" val="3309097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p:cNvSpPr txBox="1"/>
              <p:nvPr/>
            </p:nvSpPr>
            <p:spPr>
              <a:xfrm>
                <a:off x="684000" y="1196752"/>
                <a:ext cx="7776000" cy="4051365"/>
              </a:xfrm>
              <a:prstGeom prst="rect">
                <a:avLst/>
              </a:prstGeom>
              <a:noFill/>
            </p:spPr>
            <p:txBody>
              <a:bodyPr wrap="square" rtlCol="0">
                <a:spAutoFit/>
              </a:bodyPr>
              <a:lstStyle/>
              <a:p>
                <a:pPr marL="342900" indent="-342900">
                  <a:buAutoNum type="arabicParenR"/>
                </a:pPr>
                <a:r>
                  <a:rPr lang="en-GB" dirty="0"/>
                  <a:t>Find the point of intersections of the following pairs of lines.</a:t>
                </a:r>
              </a:p>
              <a:p>
                <a:pPr marL="800100" lvl="1" indent="-342900">
                  <a:buFont typeface="+mj-lt"/>
                  <a:buAutoNum type="alphaLcParenR"/>
                </a:pPr>
                <a:r>
                  <a:rPr lang="en-GB" dirty="0"/>
                  <a:t> </a:t>
                </a:r>
                <a14:m>
                  <m:oMath xmlns:m="http://schemas.openxmlformats.org/officeDocument/2006/math">
                    <m:r>
                      <a:rPr lang="en-GB" i="1">
                        <a:latin typeface="Cambria Math"/>
                      </a:rPr>
                      <m:t>𝑦</m:t>
                    </m:r>
                    <m:r>
                      <a:rPr lang="en-GB" i="1">
                        <a:latin typeface="Cambria Math"/>
                      </a:rPr>
                      <m:t>=4</m:t>
                    </m:r>
                    <m:r>
                      <a:rPr lang="en-GB" i="1">
                        <a:latin typeface="Cambria Math"/>
                      </a:rPr>
                      <m:t>𝑥</m:t>
                    </m:r>
                    <m:r>
                      <a:rPr lang="en-GB" i="1">
                        <a:latin typeface="Cambria Math"/>
                      </a:rPr>
                      <m:t>+7</m:t>
                    </m:r>
                  </m:oMath>
                </a14:m>
                <a:r>
                  <a:rPr lang="en-GB" dirty="0"/>
                  <a:t> and </a:t>
                </a:r>
                <a14:m>
                  <m:oMath xmlns:m="http://schemas.openxmlformats.org/officeDocument/2006/math">
                    <m:r>
                      <a:rPr lang="en-GB" i="1">
                        <a:latin typeface="Cambria Math"/>
                      </a:rPr>
                      <m:t>3</m:t>
                    </m:r>
                    <m:r>
                      <a:rPr lang="en-GB" i="1">
                        <a:latin typeface="Cambria Math"/>
                      </a:rPr>
                      <m:t>𝑦</m:t>
                    </m:r>
                    <m:r>
                      <a:rPr lang="en-GB" i="1">
                        <a:latin typeface="Cambria Math"/>
                      </a:rPr>
                      <m:t>=2</m:t>
                    </m:r>
                    <m:r>
                      <a:rPr lang="en-GB" i="1">
                        <a:latin typeface="Cambria Math"/>
                      </a:rPr>
                      <m:t>𝑥</m:t>
                    </m:r>
                    <m:r>
                      <a:rPr lang="en-GB" i="1">
                        <a:latin typeface="Cambria Math"/>
                      </a:rPr>
                      <m:t>−1</m:t>
                    </m:r>
                  </m:oMath>
                </a14:m>
                <a:endParaRPr lang="en-GB" dirty="0"/>
              </a:p>
              <a:p>
                <a:pPr marL="800100" lvl="1" indent="-342900">
                  <a:buFont typeface="+mj-lt"/>
                  <a:buAutoNum type="alphaLcParenR"/>
                </a:pPr>
                <a:r>
                  <a:rPr lang="en-GB" dirty="0"/>
                  <a:t> </a:t>
                </a:r>
                <a14:m>
                  <m:oMath xmlns:m="http://schemas.openxmlformats.org/officeDocument/2006/math">
                    <m:r>
                      <a:rPr lang="en-GB" i="1">
                        <a:latin typeface="Cambria Math"/>
                      </a:rPr>
                      <m:t>𝑦</m:t>
                    </m:r>
                    <m:r>
                      <a:rPr lang="en-GB" i="1">
                        <a:latin typeface="Cambria Math"/>
                      </a:rPr>
                      <m:t>=5</m:t>
                    </m:r>
                    <m:r>
                      <a:rPr lang="en-GB" i="1">
                        <a:latin typeface="Cambria Math"/>
                      </a:rPr>
                      <m:t>𝑥</m:t>
                    </m:r>
                    <m:r>
                      <a:rPr lang="en-GB" i="1">
                        <a:latin typeface="Cambria Math"/>
                      </a:rPr>
                      <m:t>−1</m:t>
                    </m:r>
                  </m:oMath>
                </a14:m>
                <a:r>
                  <a:rPr lang="en-GB" dirty="0"/>
                  <a:t> and </a:t>
                </a:r>
                <a14:m>
                  <m:oMath xmlns:m="http://schemas.openxmlformats.org/officeDocument/2006/math">
                    <m:r>
                      <a:rPr lang="en-GB" i="1">
                        <a:latin typeface="Cambria Math"/>
                      </a:rPr>
                      <m:t>3</m:t>
                    </m:r>
                    <m:r>
                      <a:rPr lang="en-GB" i="1">
                        <a:latin typeface="Cambria Math"/>
                      </a:rPr>
                      <m:t>𝑥</m:t>
                    </m:r>
                    <m:r>
                      <a:rPr lang="en-GB" i="1">
                        <a:latin typeface="Cambria Math"/>
                      </a:rPr>
                      <m:t>+7</m:t>
                    </m:r>
                    <m:r>
                      <a:rPr lang="en-GB" i="1">
                        <a:latin typeface="Cambria Math"/>
                      </a:rPr>
                      <m:t>𝑦</m:t>
                    </m:r>
                    <m:r>
                      <a:rPr lang="en-GB" i="1">
                        <a:latin typeface="Cambria Math"/>
                      </a:rPr>
                      <m:t>=11</m:t>
                    </m:r>
                  </m:oMath>
                </a14:m>
                <a:endParaRPr lang="en-GB" dirty="0"/>
              </a:p>
              <a:p>
                <a:pPr marL="800100" lvl="1" indent="-342900">
                  <a:buFont typeface="+mj-lt"/>
                  <a:buAutoNum type="alphaLcParenR"/>
                </a:pPr>
                <a:r>
                  <a:rPr lang="en-GB" dirty="0"/>
                  <a:t> </a:t>
                </a:r>
                <a14:m>
                  <m:oMath xmlns:m="http://schemas.openxmlformats.org/officeDocument/2006/math">
                    <m:r>
                      <a:rPr lang="en-GB" i="1">
                        <a:latin typeface="Cambria Math"/>
                      </a:rPr>
                      <m:t>2</m:t>
                    </m:r>
                    <m:r>
                      <a:rPr lang="en-GB" i="1">
                        <a:latin typeface="Cambria Math"/>
                      </a:rPr>
                      <m:t>𝑥</m:t>
                    </m:r>
                    <m:r>
                      <a:rPr lang="en-GB" i="1">
                        <a:latin typeface="Cambria Math"/>
                      </a:rPr>
                      <m:t>−5</m:t>
                    </m:r>
                    <m:r>
                      <a:rPr lang="en-GB" i="1">
                        <a:latin typeface="Cambria Math"/>
                      </a:rPr>
                      <m:t>𝑦</m:t>
                    </m:r>
                    <m:r>
                      <a:rPr lang="en-GB" i="1">
                        <a:latin typeface="Cambria Math"/>
                      </a:rPr>
                      <m:t>=−1</m:t>
                    </m:r>
                  </m:oMath>
                </a14:m>
                <a:r>
                  <a:rPr lang="en-GB" dirty="0"/>
                  <a:t> and </a:t>
                </a:r>
                <a14:m>
                  <m:oMath xmlns:m="http://schemas.openxmlformats.org/officeDocument/2006/math">
                    <m:r>
                      <a:rPr lang="en-GB" i="1">
                        <a:latin typeface="Cambria Math"/>
                      </a:rPr>
                      <m:t>5</m:t>
                    </m:r>
                    <m:r>
                      <a:rPr lang="en-GB" i="1">
                        <a:latin typeface="Cambria Math"/>
                      </a:rPr>
                      <m:t>𝑥</m:t>
                    </m:r>
                    <m:r>
                      <a:rPr lang="en-GB" i="1">
                        <a:latin typeface="Cambria Math"/>
                      </a:rPr>
                      <m:t>−7</m:t>
                    </m:r>
                    <m:r>
                      <a:rPr lang="en-GB" i="1">
                        <a:latin typeface="Cambria Math"/>
                      </a:rPr>
                      <m:t>𝑦</m:t>
                    </m:r>
                    <m:r>
                      <a:rPr lang="en-GB" i="1">
                        <a:latin typeface="Cambria Math"/>
                      </a:rPr>
                      <m:t>=14</m:t>
                    </m:r>
                  </m:oMath>
                </a14:m>
                <a:endParaRPr lang="en-GB" dirty="0"/>
              </a:p>
              <a:p>
                <a:pPr marL="342900" indent="-342900">
                  <a:buAutoNum type="arabicParenR"/>
                </a:pPr>
                <a:endParaRPr lang="en-GB" dirty="0"/>
              </a:p>
              <a:p>
                <a:pPr marL="342900" indent="-342900">
                  <a:buAutoNum type="arabicParenR"/>
                </a:pPr>
                <a:r>
                  <a:rPr lang="en-GB" dirty="0"/>
                  <a:t>Simplify each of the following:</a:t>
                </a:r>
              </a:p>
              <a:p>
                <a:pPr marL="800100" lvl="1" indent="-342900">
                  <a:buFont typeface="+mj-lt"/>
                  <a:buAutoNum type="alphaLcParenR"/>
                </a:pPr>
                <a:r>
                  <a:rPr lang="en-GB" dirty="0"/>
                  <a:t> </a:t>
                </a:r>
                <a14:m>
                  <m:oMath xmlns:m="http://schemas.openxmlformats.org/officeDocument/2006/math">
                    <m:rad>
                      <m:radPr>
                        <m:degHide m:val="on"/>
                        <m:ctrlPr>
                          <a:rPr lang="en-GB" i="1">
                            <a:latin typeface="Cambria Math" panose="02040503050406030204" pitchFamily="18" charset="0"/>
                          </a:rPr>
                        </m:ctrlPr>
                      </m:radPr>
                      <m:deg/>
                      <m:e>
                        <m:r>
                          <a:rPr lang="en-GB" i="1">
                            <a:latin typeface="Cambria Math"/>
                          </a:rPr>
                          <m:t>80</m:t>
                        </m:r>
                      </m:e>
                    </m:rad>
                  </m:oMath>
                </a14:m>
                <a:endParaRPr lang="en-GB" dirty="0"/>
              </a:p>
              <a:p>
                <a:pPr marL="800100" lvl="1" indent="-342900">
                  <a:buFont typeface="+mj-lt"/>
                  <a:buAutoNum type="alphaLcParenR"/>
                </a:pPr>
                <a:r>
                  <a:rPr lang="en-GB" dirty="0"/>
                  <a:t> </a:t>
                </a:r>
                <a14:m>
                  <m:oMath xmlns:m="http://schemas.openxmlformats.org/officeDocument/2006/math">
                    <m:rad>
                      <m:radPr>
                        <m:degHide m:val="on"/>
                        <m:ctrlPr>
                          <a:rPr lang="en-GB" i="1">
                            <a:latin typeface="Cambria Math" panose="02040503050406030204" pitchFamily="18" charset="0"/>
                          </a:rPr>
                        </m:ctrlPr>
                      </m:radPr>
                      <m:deg/>
                      <m:e>
                        <m:r>
                          <a:rPr lang="en-GB" i="1">
                            <a:latin typeface="Cambria Math"/>
                          </a:rPr>
                          <m:t>200</m:t>
                        </m:r>
                      </m:e>
                    </m:rad>
                  </m:oMath>
                </a14:m>
                <a:endParaRPr lang="en-GB" dirty="0"/>
              </a:p>
              <a:p>
                <a:pPr marL="800100" lvl="1" indent="-342900">
                  <a:buFont typeface="+mj-lt"/>
                  <a:buAutoNum type="alphaLcParenR"/>
                </a:pPr>
                <a:r>
                  <a:rPr lang="en-GB" dirty="0"/>
                  <a:t> </a:t>
                </a:r>
                <a14:m>
                  <m:oMath xmlns:m="http://schemas.openxmlformats.org/officeDocument/2006/math">
                    <m:rad>
                      <m:radPr>
                        <m:degHide m:val="on"/>
                        <m:ctrlPr>
                          <a:rPr lang="en-GB" i="1">
                            <a:latin typeface="Cambria Math" panose="02040503050406030204" pitchFamily="18" charset="0"/>
                          </a:rPr>
                        </m:ctrlPr>
                      </m:radPr>
                      <m:deg/>
                      <m:e>
                        <m:r>
                          <a:rPr lang="en-GB" i="1">
                            <a:latin typeface="Cambria Math"/>
                          </a:rPr>
                          <m:t>125</m:t>
                        </m:r>
                      </m:e>
                    </m:rad>
                  </m:oMath>
                </a14:m>
                <a:endParaRPr lang="en-GB" dirty="0"/>
              </a:p>
              <a:p>
                <a:pPr marL="342900" indent="-342900">
                  <a:buAutoNum type="arabicParenR"/>
                </a:pPr>
                <a:endParaRPr lang="en-GB" dirty="0"/>
              </a:p>
              <a:p>
                <a:pPr marL="342900" indent="-342900">
                  <a:buAutoNum type="arabicParenR"/>
                </a:pPr>
                <a:r>
                  <a:rPr lang="en-GB" dirty="0"/>
                  <a:t>Make </a:t>
                </a:r>
                <a14:m>
                  <m:oMath xmlns:m="http://schemas.openxmlformats.org/officeDocument/2006/math">
                    <m:r>
                      <a:rPr lang="en-GB" i="1">
                        <a:latin typeface="Cambria Math"/>
                      </a:rPr>
                      <m:t>𝑦</m:t>
                    </m:r>
                  </m:oMath>
                </a14:m>
                <a:r>
                  <a:rPr lang="en-GB" dirty="0"/>
                  <a:t> the subject of each equation:</a:t>
                </a:r>
              </a:p>
              <a:p>
                <a:pPr marL="800100" lvl="1" indent="-342900">
                  <a:buFont typeface="+mj-lt"/>
                  <a:buAutoNum type="alphaLcParenR"/>
                </a:pPr>
                <a:r>
                  <a:rPr lang="en-GB" dirty="0"/>
                  <a:t> </a:t>
                </a:r>
                <a14:m>
                  <m:oMath xmlns:m="http://schemas.openxmlformats.org/officeDocument/2006/math">
                    <m:r>
                      <a:rPr lang="en-GB" i="1">
                        <a:latin typeface="Cambria Math"/>
                      </a:rPr>
                      <m:t>6</m:t>
                    </m:r>
                    <m:r>
                      <a:rPr lang="en-GB" i="1">
                        <a:latin typeface="Cambria Math"/>
                      </a:rPr>
                      <m:t>𝑥</m:t>
                    </m:r>
                    <m:r>
                      <a:rPr lang="en-GB" i="1">
                        <a:latin typeface="Cambria Math"/>
                      </a:rPr>
                      <m:t>+3</m:t>
                    </m:r>
                    <m:r>
                      <a:rPr lang="en-GB" i="1">
                        <a:latin typeface="Cambria Math"/>
                      </a:rPr>
                      <m:t>𝑦</m:t>
                    </m:r>
                    <m:r>
                      <a:rPr lang="en-GB" i="1">
                        <a:latin typeface="Cambria Math"/>
                      </a:rPr>
                      <m:t>−15=0</m:t>
                    </m:r>
                  </m:oMath>
                </a14:m>
                <a:endParaRPr lang="en-GB" dirty="0"/>
              </a:p>
              <a:p>
                <a:pPr marL="800100" lvl="1" indent="-342900">
                  <a:buFont typeface="+mj-lt"/>
                  <a:buAutoNum type="alphaLcParenR"/>
                </a:pPr>
                <a:r>
                  <a:rPr lang="en-GB" dirty="0"/>
                  <a:t> </a:t>
                </a:r>
                <a14:m>
                  <m:oMath xmlns:m="http://schemas.openxmlformats.org/officeDocument/2006/math">
                    <m:r>
                      <a:rPr lang="en-GB" i="1">
                        <a:latin typeface="Cambria Math"/>
                      </a:rPr>
                      <m:t>2</m:t>
                    </m:r>
                    <m:r>
                      <a:rPr lang="en-GB" i="1">
                        <a:latin typeface="Cambria Math"/>
                      </a:rPr>
                      <m:t>𝑥</m:t>
                    </m:r>
                    <m:r>
                      <a:rPr lang="en-GB" i="1">
                        <a:latin typeface="Cambria Math"/>
                      </a:rPr>
                      <m:t>−5</m:t>
                    </m:r>
                    <m:r>
                      <a:rPr lang="en-GB" i="1">
                        <a:latin typeface="Cambria Math"/>
                      </a:rPr>
                      <m:t>𝑦</m:t>
                    </m:r>
                    <m:r>
                      <a:rPr lang="en-GB" i="1">
                        <a:latin typeface="Cambria Math"/>
                      </a:rPr>
                      <m:t>−9=0</m:t>
                    </m:r>
                  </m:oMath>
                </a14:m>
                <a:endParaRPr lang="en-GB" dirty="0"/>
              </a:p>
              <a:p>
                <a:pPr marL="800100" lvl="1" indent="-342900">
                  <a:buFont typeface="+mj-lt"/>
                  <a:buAutoNum type="alphaLcParenR"/>
                </a:pPr>
                <a:r>
                  <a:rPr lang="en-GB" dirty="0"/>
                  <a:t> </a:t>
                </a:r>
                <a14:m>
                  <m:oMath xmlns:m="http://schemas.openxmlformats.org/officeDocument/2006/math">
                    <m:r>
                      <a:rPr lang="en-GB" i="1">
                        <a:latin typeface="Cambria Math"/>
                      </a:rPr>
                      <m:t>3</m:t>
                    </m:r>
                    <m:r>
                      <a:rPr lang="en-GB" i="1">
                        <a:latin typeface="Cambria Math"/>
                      </a:rPr>
                      <m:t>𝑥</m:t>
                    </m:r>
                    <m:r>
                      <a:rPr lang="en-GB" i="1">
                        <a:latin typeface="Cambria Math"/>
                      </a:rPr>
                      <m:t>−7</m:t>
                    </m:r>
                    <m:r>
                      <a:rPr lang="en-GB" i="1">
                        <a:latin typeface="Cambria Math"/>
                      </a:rPr>
                      <m:t>𝑦</m:t>
                    </m:r>
                    <m:r>
                      <a:rPr lang="en-GB" i="1">
                        <a:latin typeface="Cambria Math"/>
                      </a:rPr>
                      <m:t>+12=0</m:t>
                    </m:r>
                  </m:oMath>
                </a14:m>
                <a:endParaRPr lang="en-GB" dirty="0"/>
              </a:p>
            </p:txBody>
          </p:sp>
        </mc:Choice>
        <mc:Fallback xmlns="">
          <p:sp>
            <p:nvSpPr>
              <p:cNvPr id="9" name="TextBox 8"/>
              <p:cNvSpPr txBox="1">
                <a:spLocks noRot="1" noChangeAspect="1" noMove="1" noResize="1" noEditPoints="1" noAdjustHandles="1" noChangeArrowheads="1" noChangeShapeType="1" noTextEdit="1"/>
              </p:cNvSpPr>
              <p:nvPr/>
            </p:nvSpPr>
            <p:spPr>
              <a:xfrm>
                <a:off x="684000" y="1196752"/>
                <a:ext cx="7776000" cy="4051365"/>
              </a:xfrm>
              <a:prstGeom prst="rect">
                <a:avLst/>
              </a:prstGeom>
              <a:blipFill rotWithShape="1">
                <a:blip r:embed="rId2"/>
                <a:stretch>
                  <a:fillRect l="-627" t="-752" b="-1353"/>
                </a:stretch>
              </a:blipFill>
            </p:spPr>
            <p:txBody>
              <a:bodyPr/>
              <a:lstStyle/>
              <a:p>
                <a:r>
                  <a:rPr lang="en-GB">
                    <a:noFill/>
                  </a:rPr>
                  <a:t> </a:t>
                </a:r>
              </a:p>
            </p:txBody>
          </p:sp>
        </mc:Fallback>
      </mc:AlternateContent>
      <p:sp>
        <p:nvSpPr>
          <p:cNvPr id="2" name="Title 1"/>
          <p:cNvSpPr>
            <a:spLocks noGrp="1"/>
          </p:cNvSpPr>
          <p:nvPr>
            <p:ph type="title"/>
          </p:nvPr>
        </p:nvSpPr>
        <p:spPr/>
        <p:txBody>
          <a:bodyPr/>
          <a:lstStyle/>
          <a:p>
            <a:r>
              <a:rPr lang="en-GB" dirty="0"/>
              <a:t>Straight Line Graphs</a:t>
            </a:r>
          </a:p>
        </p:txBody>
      </p:sp>
      <p:sp>
        <p:nvSpPr>
          <p:cNvPr id="6" name="TextBox 5"/>
          <p:cNvSpPr txBox="1"/>
          <p:nvPr/>
        </p:nvSpPr>
        <p:spPr>
          <a:xfrm>
            <a:off x="144016" y="692696"/>
            <a:ext cx="4428000" cy="523220"/>
          </a:xfrm>
          <a:prstGeom prst="rect">
            <a:avLst/>
          </a:prstGeom>
          <a:noFill/>
        </p:spPr>
        <p:txBody>
          <a:bodyPr wrap="square" rtlCol="0">
            <a:spAutoFit/>
          </a:bodyPr>
          <a:lstStyle/>
          <a:p>
            <a:r>
              <a:rPr lang="en-GB" sz="2800" u="sng" dirty="0"/>
              <a:t>Starter (Pre-requisites)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64596D7-329E-BB69-707E-DF057D70D807}"/>
                  </a:ext>
                </a:extLst>
              </p:cNvPr>
              <p:cNvSpPr txBox="1"/>
              <p:nvPr/>
            </p:nvSpPr>
            <p:spPr>
              <a:xfrm>
                <a:off x="683568" y="1196752"/>
                <a:ext cx="7776000" cy="4425827"/>
              </a:xfrm>
              <a:prstGeom prst="rect">
                <a:avLst/>
              </a:prstGeom>
              <a:noFill/>
            </p:spPr>
            <p:txBody>
              <a:bodyPr wrap="square" rtlCol="0">
                <a:spAutoFit/>
              </a:bodyPr>
              <a:lstStyle/>
              <a:p>
                <a:endParaRPr lang="en-GB" dirty="0">
                  <a:solidFill>
                    <a:srgbClr val="FF0000"/>
                  </a:solidFill>
                </a:endParaRPr>
              </a:p>
              <a:p>
                <a:r>
                  <a:rPr lang="en-GB" dirty="0">
                    <a:solidFill>
                      <a:srgbClr val="FF0000"/>
                    </a:solidFill>
                  </a:rPr>
                  <a:t>					</a:t>
                </a:r>
                <a14:m>
                  <m:oMath xmlns:m="http://schemas.openxmlformats.org/officeDocument/2006/math">
                    <m:d>
                      <m:dPr>
                        <m:ctrlPr>
                          <a:rPr lang="en-GB" i="1">
                            <a:solidFill>
                              <a:srgbClr val="FF0000"/>
                            </a:solidFill>
                            <a:latin typeface="Cambria Math" panose="02040503050406030204" pitchFamily="18" charset="0"/>
                          </a:rPr>
                        </m:ctrlPr>
                      </m:dPr>
                      <m:e>
                        <m:r>
                          <a:rPr lang="en-GB" i="1">
                            <a:solidFill>
                              <a:srgbClr val="FF0000"/>
                            </a:solidFill>
                            <a:latin typeface="Cambria Math"/>
                          </a:rPr>
                          <m:t>−2,−1</m:t>
                        </m:r>
                      </m:e>
                    </m:d>
                  </m:oMath>
                </a14:m>
                <a:endParaRPr lang="en-GB" dirty="0">
                  <a:solidFill>
                    <a:srgbClr val="FF0000"/>
                  </a:solidFill>
                </a:endParaRPr>
              </a:p>
              <a:p>
                <a:r>
                  <a:rPr lang="en-GB" dirty="0">
                    <a:solidFill>
                      <a:srgbClr val="FF0000"/>
                    </a:solidFill>
                  </a:rPr>
                  <a:t>					</a:t>
                </a:r>
                <a14:m>
                  <m:oMath xmlns:m="http://schemas.openxmlformats.org/officeDocument/2006/math">
                    <m:d>
                      <m:dPr>
                        <m:ctrlPr>
                          <a:rPr lang="en-GB" i="1">
                            <a:solidFill>
                              <a:srgbClr val="FF0000"/>
                            </a:solidFill>
                            <a:latin typeface="Cambria Math" panose="02040503050406030204" pitchFamily="18" charset="0"/>
                          </a:rPr>
                        </m:ctrlPr>
                      </m:dPr>
                      <m:e>
                        <m:f>
                          <m:fPr>
                            <m:ctrlPr>
                              <a:rPr lang="en-GB" i="1">
                                <a:solidFill>
                                  <a:srgbClr val="FF0000"/>
                                </a:solidFill>
                                <a:latin typeface="Cambria Math" panose="02040503050406030204" pitchFamily="18" charset="0"/>
                              </a:rPr>
                            </m:ctrlPr>
                          </m:fPr>
                          <m:num>
                            <m:r>
                              <a:rPr lang="en-GB" i="1">
                                <a:solidFill>
                                  <a:srgbClr val="FF0000"/>
                                </a:solidFill>
                                <a:latin typeface="Cambria Math"/>
                              </a:rPr>
                              <m:t>9</m:t>
                            </m:r>
                          </m:num>
                          <m:den>
                            <m:r>
                              <a:rPr lang="en-GB" i="1">
                                <a:solidFill>
                                  <a:srgbClr val="FF0000"/>
                                </a:solidFill>
                                <a:latin typeface="Cambria Math"/>
                              </a:rPr>
                              <m:t>19</m:t>
                            </m:r>
                          </m:den>
                        </m:f>
                        <m:r>
                          <a:rPr lang="en-GB" i="1">
                            <a:solidFill>
                              <a:srgbClr val="FF0000"/>
                            </a:solidFill>
                            <a:latin typeface="Cambria Math"/>
                          </a:rPr>
                          <m:t>,</m:t>
                        </m:r>
                        <m:f>
                          <m:fPr>
                            <m:ctrlPr>
                              <a:rPr lang="en-GB" i="1">
                                <a:solidFill>
                                  <a:srgbClr val="FF0000"/>
                                </a:solidFill>
                                <a:latin typeface="Cambria Math" panose="02040503050406030204" pitchFamily="18" charset="0"/>
                              </a:rPr>
                            </m:ctrlPr>
                          </m:fPr>
                          <m:num>
                            <m:r>
                              <a:rPr lang="en-GB" i="1">
                                <a:solidFill>
                                  <a:srgbClr val="FF0000"/>
                                </a:solidFill>
                                <a:latin typeface="Cambria Math"/>
                              </a:rPr>
                              <m:t>26</m:t>
                            </m:r>
                          </m:num>
                          <m:den>
                            <m:r>
                              <a:rPr lang="en-GB" i="1">
                                <a:solidFill>
                                  <a:srgbClr val="FF0000"/>
                                </a:solidFill>
                                <a:latin typeface="Cambria Math"/>
                              </a:rPr>
                              <m:t>19</m:t>
                            </m:r>
                          </m:den>
                        </m:f>
                      </m:e>
                    </m:d>
                  </m:oMath>
                </a14:m>
                <a:endParaRPr lang="en-GB" dirty="0">
                  <a:solidFill>
                    <a:srgbClr val="FF0000"/>
                  </a:solidFill>
                </a:endParaRPr>
              </a:p>
              <a:p>
                <a:r>
                  <a:rPr lang="en-GB" dirty="0">
                    <a:solidFill>
                      <a:srgbClr val="FF0000"/>
                    </a:solidFill>
                  </a:rPr>
                  <a:t>					</a:t>
                </a:r>
                <a14:m>
                  <m:oMath xmlns:m="http://schemas.openxmlformats.org/officeDocument/2006/math">
                    <m:d>
                      <m:dPr>
                        <m:ctrlPr>
                          <a:rPr lang="en-GB" i="1">
                            <a:solidFill>
                              <a:srgbClr val="FF0000"/>
                            </a:solidFill>
                            <a:latin typeface="Cambria Math" panose="02040503050406030204" pitchFamily="18" charset="0"/>
                          </a:rPr>
                        </m:ctrlPr>
                      </m:dPr>
                      <m:e>
                        <m:r>
                          <a:rPr lang="en-GB" i="1">
                            <a:solidFill>
                              <a:srgbClr val="FF0000"/>
                            </a:solidFill>
                            <a:latin typeface="Cambria Math"/>
                          </a:rPr>
                          <m:t>7,3</m:t>
                        </m:r>
                      </m:e>
                    </m:d>
                  </m:oMath>
                </a14:m>
                <a:endParaRPr lang="en-GB" dirty="0">
                  <a:solidFill>
                    <a:srgbClr val="FF0000"/>
                  </a:solidFill>
                </a:endParaRPr>
              </a:p>
              <a:p>
                <a:endParaRPr lang="en-GB" dirty="0">
                  <a:solidFill>
                    <a:srgbClr val="FF0000"/>
                  </a:solidFill>
                </a:endParaRPr>
              </a:p>
              <a:p>
                <a:pPr/>
                <a14:m>
                  <m:oMathPara xmlns:m="http://schemas.openxmlformats.org/officeDocument/2006/math">
                    <m:oMathParaPr>
                      <m:jc m:val="centerGroup"/>
                    </m:oMathParaPr>
                    <m:oMath xmlns:m="http://schemas.openxmlformats.org/officeDocument/2006/math">
                      <m:r>
                        <a:rPr lang="en-GB" i="1">
                          <a:solidFill>
                            <a:srgbClr val="FF0000"/>
                          </a:solidFill>
                          <a:latin typeface="Cambria Math"/>
                        </a:rPr>
                        <m:t>4</m:t>
                      </m:r>
                      <m:rad>
                        <m:radPr>
                          <m:degHide m:val="on"/>
                          <m:ctrlPr>
                            <a:rPr lang="en-GB" i="1">
                              <a:solidFill>
                                <a:srgbClr val="FF0000"/>
                              </a:solidFill>
                              <a:latin typeface="Cambria Math" panose="02040503050406030204" pitchFamily="18" charset="0"/>
                            </a:rPr>
                          </m:ctrlPr>
                        </m:radPr>
                        <m:deg/>
                        <m:e>
                          <m:r>
                            <a:rPr lang="en-GB" i="1">
                              <a:solidFill>
                                <a:srgbClr val="FF0000"/>
                              </a:solidFill>
                              <a:latin typeface="Cambria Math"/>
                            </a:rPr>
                            <m:t>5</m:t>
                          </m:r>
                        </m:e>
                      </m:rad>
                    </m:oMath>
                  </m:oMathPara>
                </a14:m>
                <a:endParaRPr lang="en-GB" dirty="0">
                  <a:solidFill>
                    <a:srgbClr val="FF0000"/>
                  </a:solidFill>
                </a:endParaRPr>
              </a:p>
              <a:p>
                <a:pPr/>
                <a14:m>
                  <m:oMathPara xmlns:m="http://schemas.openxmlformats.org/officeDocument/2006/math">
                    <m:oMathParaPr>
                      <m:jc m:val="centerGroup"/>
                    </m:oMathParaPr>
                    <m:oMath xmlns:m="http://schemas.openxmlformats.org/officeDocument/2006/math">
                      <m:r>
                        <a:rPr lang="en-GB" i="1">
                          <a:solidFill>
                            <a:srgbClr val="FF0000"/>
                          </a:solidFill>
                          <a:latin typeface="Cambria Math"/>
                        </a:rPr>
                        <m:t>10</m:t>
                      </m:r>
                      <m:rad>
                        <m:radPr>
                          <m:degHide m:val="on"/>
                          <m:ctrlPr>
                            <a:rPr lang="en-GB" i="1">
                              <a:solidFill>
                                <a:srgbClr val="FF0000"/>
                              </a:solidFill>
                              <a:latin typeface="Cambria Math" panose="02040503050406030204" pitchFamily="18" charset="0"/>
                            </a:rPr>
                          </m:ctrlPr>
                        </m:radPr>
                        <m:deg/>
                        <m:e>
                          <m:r>
                            <a:rPr lang="en-GB" i="1">
                              <a:solidFill>
                                <a:srgbClr val="FF0000"/>
                              </a:solidFill>
                              <a:latin typeface="Cambria Math"/>
                            </a:rPr>
                            <m:t>2</m:t>
                          </m:r>
                        </m:e>
                      </m:rad>
                    </m:oMath>
                  </m:oMathPara>
                </a14:m>
                <a:endParaRPr lang="en-GB" dirty="0">
                  <a:solidFill>
                    <a:srgbClr val="FF0000"/>
                  </a:solidFill>
                </a:endParaRPr>
              </a:p>
              <a:p>
                <a:pPr/>
                <a14:m>
                  <m:oMathPara xmlns:m="http://schemas.openxmlformats.org/officeDocument/2006/math">
                    <m:oMathParaPr>
                      <m:jc m:val="centerGroup"/>
                    </m:oMathParaPr>
                    <m:oMath xmlns:m="http://schemas.openxmlformats.org/officeDocument/2006/math">
                      <m:r>
                        <a:rPr lang="en-GB" i="1">
                          <a:solidFill>
                            <a:srgbClr val="FF0000"/>
                          </a:solidFill>
                          <a:latin typeface="Cambria Math"/>
                        </a:rPr>
                        <m:t>5</m:t>
                      </m:r>
                      <m:rad>
                        <m:radPr>
                          <m:degHide m:val="on"/>
                          <m:ctrlPr>
                            <a:rPr lang="en-GB" i="1">
                              <a:solidFill>
                                <a:srgbClr val="FF0000"/>
                              </a:solidFill>
                              <a:latin typeface="Cambria Math" panose="02040503050406030204" pitchFamily="18" charset="0"/>
                            </a:rPr>
                          </m:ctrlPr>
                        </m:radPr>
                        <m:deg/>
                        <m:e>
                          <m:r>
                            <a:rPr lang="en-GB" i="1">
                              <a:solidFill>
                                <a:srgbClr val="FF0000"/>
                              </a:solidFill>
                              <a:latin typeface="Cambria Math"/>
                            </a:rPr>
                            <m:t>5</m:t>
                          </m:r>
                        </m:e>
                      </m:rad>
                    </m:oMath>
                  </m:oMathPara>
                </a14:m>
                <a:endParaRPr lang="en-GB" dirty="0">
                  <a:solidFill>
                    <a:srgbClr val="FF0000"/>
                  </a:solidFill>
                </a:endParaRPr>
              </a:p>
              <a:p>
                <a:endParaRPr lang="en-GB" dirty="0">
                  <a:solidFill>
                    <a:srgbClr val="FF0000"/>
                  </a:solidFill>
                </a:endParaRPr>
              </a:p>
              <a:p>
                <a:endParaRPr lang="en-GB" dirty="0">
                  <a:solidFill>
                    <a:srgbClr val="FF0000"/>
                  </a:solidFill>
                </a:endParaRPr>
              </a:p>
              <a:p>
                <a:pPr/>
                <a14:m>
                  <m:oMathPara xmlns:m="http://schemas.openxmlformats.org/officeDocument/2006/math">
                    <m:oMathParaPr>
                      <m:jc m:val="centerGroup"/>
                    </m:oMathParaPr>
                    <m:oMath xmlns:m="http://schemas.openxmlformats.org/officeDocument/2006/math">
                      <m:r>
                        <a:rPr lang="en-GB" i="1">
                          <a:solidFill>
                            <a:srgbClr val="FF0000"/>
                          </a:solidFill>
                          <a:latin typeface="Cambria Math"/>
                        </a:rPr>
                        <m:t>𝑦</m:t>
                      </m:r>
                      <m:r>
                        <a:rPr lang="en-GB" i="1">
                          <a:solidFill>
                            <a:srgbClr val="FF0000"/>
                          </a:solidFill>
                          <a:latin typeface="Cambria Math"/>
                        </a:rPr>
                        <m:t>=5−2</m:t>
                      </m:r>
                      <m:r>
                        <a:rPr lang="en-GB" i="1">
                          <a:solidFill>
                            <a:srgbClr val="FF0000"/>
                          </a:solidFill>
                          <a:latin typeface="Cambria Math"/>
                        </a:rPr>
                        <m:t>𝑥</m:t>
                      </m:r>
                    </m:oMath>
                  </m:oMathPara>
                </a14:m>
                <a:endParaRPr lang="en-GB" dirty="0">
                  <a:solidFill>
                    <a:srgbClr val="FF0000"/>
                  </a:solidFill>
                </a:endParaRPr>
              </a:p>
              <a:p>
                <a:pPr/>
                <a14:m>
                  <m:oMathPara xmlns:m="http://schemas.openxmlformats.org/officeDocument/2006/math">
                    <m:oMathParaPr>
                      <m:jc m:val="centerGroup"/>
                    </m:oMathParaPr>
                    <m:oMath xmlns:m="http://schemas.openxmlformats.org/officeDocument/2006/math">
                      <m:r>
                        <a:rPr lang="en-GB" i="1">
                          <a:solidFill>
                            <a:srgbClr val="FF0000"/>
                          </a:solidFill>
                          <a:latin typeface="Cambria Math"/>
                        </a:rPr>
                        <m:t>𝑦</m:t>
                      </m:r>
                      <m:r>
                        <a:rPr lang="en-GB" i="1">
                          <a:solidFill>
                            <a:srgbClr val="FF0000"/>
                          </a:solidFill>
                          <a:latin typeface="Cambria Math"/>
                        </a:rPr>
                        <m:t>=</m:t>
                      </m:r>
                      <m:f>
                        <m:fPr>
                          <m:ctrlPr>
                            <a:rPr lang="en-GB" i="1">
                              <a:solidFill>
                                <a:srgbClr val="FF0000"/>
                              </a:solidFill>
                              <a:latin typeface="Cambria Math" panose="02040503050406030204" pitchFamily="18" charset="0"/>
                            </a:rPr>
                          </m:ctrlPr>
                        </m:fPr>
                        <m:num>
                          <m:r>
                            <a:rPr lang="en-GB" i="1">
                              <a:solidFill>
                                <a:srgbClr val="FF0000"/>
                              </a:solidFill>
                              <a:latin typeface="Cambria Math"/>
                            </a:rPr>
                            <m:t>2</m:t>
                          </m:r>
                        </m:num>
                        <m:den>
                          <m:r>
                            <a:rPr lang="en-GB" i="1">
                              <a:solidFill>
                                <a:srgbClr val="FF0000"/>
                              </a:solidFill>
                              <a:latin typeface="Cambria Math"/>
                            </a:rPr>
                            <m:t>5</m:t>
                          </m:r>
                        </m:den>
                      </m:f>
                      <m:r>
                        <a:rPr lang="en-GB" i="1">
                          <a:solidFill>
                            <a:srgbClr val="FF0000"/>
                          </a:solidFill>
                          <a:latin typeface="Cambria Math"/>
                        </a:rPr>
                        <m:t>𝑥</m:t>
                      </m:r>
                      <m:r>
                        <a:rPr lang="en-GB" i="1">
                          <a:solidFill>
                            <a:srgbClr val="FF0000"/>
                          </a:solidFill>
                          <a:latin typeface="Cambria Math"/>
                        </a:rPr>
                        <m:t>−</m:t>
                      </m:r>
                      <m:f>
                        <m:fPr>
                          <m:ctrlPr>
                            <a:rPr lang="en-GB" i="1">
                              <a:solidFill>
                                <a:srgbClr val="FF0000"/>
                              </a:solidFill>
                              <a:latin typeface="Cambria Math" panose="02040503050406030204" pitchFamily="18" charset="0"/>
                            </a:rPr>
                          </m:ctrlPr>
                        </m:fPr>
                        <m:num>
                          <m:r>
                            <a:rPr lang="en-GB" i="1">
                              <a:solidFill>
                                <a:srgbClr val="FF0000"/>
                              </a:solidFill>
                              <a:latin typeface="Cambria Math"/>
                            </a:rPr>
                            <m:t>9</m:t>
                          </m:r>
                        </m:num>
                        <m:den>
                          <m:r>
                            <a:rPr lang="en-GB" i="1">
                              <a:solidFill>
                                <a:srgbClr val="FF0000"/>
                              </a:solidFill>
                              <a:latin typeface="Cambria Math"/>
                            </a:rPr>
                            <m:t>5</m:t>
                          </m:r>
                        </m:den>
                      </m:f>
                    </m:oMath>
                  </m:oMathPara>
                </a14:m>
                <a:endParaRPr lang="en-GB" dirty="0">
                  <a:solidFill>
                    <a:srgbClr val="FF0000"/>
                  </a:solidFill>
                </a:endParaRPr>
              </a:p>
              <a:p>
                <a:pPr/>
                <a14:m>
                  <m:oMathPara xmlns:m="http://schemas.openxmlformats.org/officeDocument/2006/math">
                    <m:oMathParaPr>
                      <m:jc m:val="centerGroup"/>
                    </m:oMathParaPr>
                    <m:oMath xmlns:m="http://schemas.openxmlformats.org/officeDocument/2006/math">
                      <m:r>
                        <a:rPr lang="en-GB" i="1">
                          <a:solidFill>
                            <a:srgbClr val="FF0000"/>
                          </a:solidFill>
                          <a:latin typeface="Cambria Math"/>
                        </a:rPr>
                        <m:t>𝑦</m:t>
                      </m:r>
                      <m:r>
                        <a:rPr lang="en-GB" i="1">
                          <a:solidFill>
                            <a:srgbClr val="FF0000"/>
                          </a:solidFill>
                          <a:latin typeface="Cambria Math"/>
                        </a:rPr>
                        <m:t>=</m:t>
                      </m:r>
                      <m:f>
                        <m:fPr>
                          <m:ctrlPr>
                            <a:rPr lang="en-GB" i="1">
                              <a:solidFill>
                                <a:srgbClr val="FF0000"/>
                              </a:solidFill>
                              <a:latin typeface="Cambria Math" panose="02040503050406030204" pitchFamily="18" charset="0"/>
                            </a:rPr>
                          </m:ctrlPr>
                        </m:fPr>
                        <m:num>
                          <m:r>
                            <a:rPr lang="en-GB" i="1">
                              <a:solidFill>
                                <a:srgbClr val="FF0000"/>
                              </a:solidFill>
                              <a:latin typeface="Cambria Math"/>
                            </a:rPr>
                            <m:t>3</m:t>
                          </m:r>
                        </m:num>
                        <m:den>
                          <m:r>
                            <a:rPr lang="en-GB" b="0" i="1" smtClean="0">
                              <a:solidFill>
                                <a:srgbClr val="FF0000"/>
                              </a:solidFill>
                              <a:latin typeface="Cambria Math"/>
                            </a:rPr>
                            <m:t>7</m:t>
                          </m:r>
                        </m:den>
                      </m:f>
                      <m:r>
                        <a:rPr lang="en-GB" i="1">
                          <a:solidFill>
                            <a:srgbClr val="FF0000"/>
                          </a:solidFill>
                          <a:latin typeface="Cambria Math"/>
                        </a:rPr>
                        <m:t>𝑥</m:t>
                      </m:r>
                      <m:r>
                        <a:rPr lang="en-GB" i="1">
                          <a:solidFill>
                            <a:srgbClr val="FF0000"/>
                          </a:solidFill>
                          <a:latin typeface="Cambria Math"/>
                        </a:rPr>
                        <m:t>+</m:t>
                      </m:r>
                      <m:f>
                        <m:fPr>
                          <m:ctrlPr>
                            <a:rPr lang="en-GB" i="1">
                              <a:solidFill>
                                <a:srgbClr val="FF0000"/>
                              </a:solidFill>
                              <a:latin typeface="Cambria Math" panose="02040503050406030204" pitchFamily="18" charset="0"/>
                            </a:rPr>
                          </m:ctrlPr>
                        </m:fPr>
                        <m:num>
                          <m:r>
                            <a:rPr lang="en-GB" i="1">
                              <a:solidFill>
                                <a:srgbClr val="FF0000"/>
                              </a:solidFill>
                              <a:latin typeface="Cambria Math"/>
                            </a:rPr>
                            <m:t>12</m:t>
                          </m:r>
                        </m:num>
                        <m:den>
                          <m:r>
                            <a:rPr lang="en-GB" i="1">
                              <a:solidFill>
                                <a:srgbClr val="FF0000"/>
                              </a:solidFill>
                              <a:latin typeface="Cambria Math"/>
                            </a:rPr>
                            <m:t>7</m:t>
                          </m:r>
                        </m:den>
                      </m:f>
                    </m:oMath>
                  </m:oMathPara>
                </a14:m>
                <a:endParaRPr lang="en-GB" dirty="0">
                  <a:solidFill>
                    <a:srgbClr val="FF0000"/>
                  </a:solidFill>
                </a:endParaRPr>
              </a:p>
            </p:txBody>
          </p:sp>
        </mc:Choice>
        <mc:Fallback xmlns="">
          <p:sp>
            <p:nvSpPr>
              <p:cNvPr id="3" name="TextBox 2">
                <a:extLst>
                  <a:ext uri="{FF2B5EF4-FFF2-40B4-BE49-F238E27FC236}">
                    <a16:creationId xmlns:a16="http://schemas.microsoft.com/office/drawing/2014/main" id="{864596D7-329E-BB69-707E-DF057D70D807}"/>
                  </a:ext>
                </a:extLst>
              </p:cNvPr>
              <p:cNvSpPr txBox="1">
                <a:spLocks noRot="1" noChangeAspect="1" noMove="1" noResize="1" noEditPoints="1" noAdjustHandles="1" noChangeArrowheads="1" noChangeShapeType="1" noTextEdit="1"/>
              </p:cNvSpPr>
              <p:nvPr/>
            </p:nvSpPr>
            <p:spPr>
              <a:xfrm>
                <a:off x="683568" y="1196752"/>
                <a:ext cx="7776000" cy="4425827"/>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290500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23528" y="764704"/>
            <a:ext cx="8136904" cy="369332"/>
          </a:xfrm>
          <a:prstGeom prst="rect">
            <a:avLst/>
          </a:prstGeom>
          <a:noFill/>
        </p:spPr>
        <p:txBody>
          <a:bodyPr wrap="square" rtlCol="0">
            <a:spAutoFit/>
          </a:bodyPr>
          <a:lstStyle/>
          <a:p>
            <a:r>
              <a:rPr lang="en-GB" dirty="0"/>
              <a:t>There is little new theory since GCSE, but the algebraic manipulation is harder.</a:t>
            </a:r>
          </a:p>
        </p:txBody>
      </p:sp>
      <mc:AlternateContent xmlns:mc="http://schemas.openxmlformats.org/markup-compatibility/2006" xmlns:a14="http://schemas.microsoft.com/office/drawing/2010/main">
        <mc:Choice Requires="a14">
          <p:sp>
            <p:nvSpPr>
              <p:cNvPr id="6" name="TextBox 5"/>
              <p:cNvSpPr txBox="1"/>
              <p:nvPr/>
            </p:nvSpPr>
            <p:spPr>
              <a:xfrm>
                <a:off x="282840" y="1837430"/>
                <a:ext cx="5151061" cy="92333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Find the equation of the line passing through </a:t>
                </a:r>
                <a14:m>
                  <m:oMath xmlns:m="http://schemas.openxmlformats.org/officeDocument/2006/math">
                    <m:r>
                      <a:rPr lang="en-GB" b="0" i="1" smtClean="0">
                        <a:latin typeface="Cambria Math" panose="02040503050406030204" pitchFamily="18" charset="0"/>
                      </a:rPr>
                      <m:t>(2,3)</m:t>
                    </m:r>
                  </m:oMath>
                </a14:m>
                <a:r>
                  <a:rPr lang="en-GB" dirty="0"/>
                  <a:t> and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7,5</m:t>
                        </m:r>
                      </m:e>
                    </m:d>
                  </m:oMath>
                </a14:m>
                <a:r>
                  <a:rPr lang="en-GB" dirty="0"/>
                  <a:t>, giving your equation in the form </a:t>
                </a:r>
              </a:p>
              <a:p>
                <a14:m>
                  <m:oMath xmlns:m="http://schemas.openxmlformats.org/officeDocument/2006/math">
                    <m:r>
                      <a:rPr lang="en-GB" b="0" i="1" smtClean="0">
                        <a:latin typeface="Cambria Math" panose="02040503050406030204" pitchFamily="18" charset="0"/>
                      </a:rPr>
                      <m:t>𝑎𝑥</m:t>
                    </m:r>
                    <m:r>
                      <a:rPr lang="en-GB" b="0" i="1" smtClean="0">
                        <a:latin typeface="Cambria Math" panose="02040503050406030204" pitchFamily="18" charset="0"/>
                      </a:rPr>
                      <m:t>+</m:t>
                    </m:r>
                    <m:r>
                      <a:rPr lang="en-GB" b="0" i="1" smtClean="0">
                        <a:latin typeface="Cambria Math" panose="02040503050406030204" pitchFamily="18" charset="0"/>
                      </a:rPr>
                      <m:t>𝑏𝑦</m:t>
                    </m:r>
                    <m:r>
                      <a:rPr lang="en-GB" b="0" i="1" smtClean="0">
                        <a:latin typeface="Cambria Math" panose="02040503050406030204" pitchFamily="18" charset="0"/>
                      </a:rPr>
                      <m:t>+</m:t>
                    </m:r>
                    <m:r>
                      <a:rPr lang="en-GB" b="0" i="1" smtClean="0">
                        <a:latin typeface="Cambria Math" panose="02040503050406030204" pitchFamily="18" charset="0"/>
                      </a:rPr>
                      <m:t>𝑐</m:t>
                    </m:r>
                    <m:r>
                      <a:rPr lang="en-GB" b="0" i="1" smtClean="0">
                        <a:latin typeface="Cambria Math" panose="02040503050406030204" pitchFamily="18" charset="0"/>
                      </a:rPr>
                      <m:t>=0</m:t>
                    </m:r>
                  </m:oMath>
                </a14:m>
                <a:r>
                  <a:rPr lang="en-GB" dirty="0"/>
                  <a:t>, where </a:t>
                </a:r>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𝑐</m:t>
                    </m:r>
                  </m:oMath>
                </a14:m>
                <a:r>
                  <a:rPr lang="en-GB" dirty="0"/>
                  <a:t> are integers.</a:t>
                </a:r>
              </a:p>
            </p:txBody>
          </p:sp>
        </mc:Choice>
        <mc:Fallback xmlns="">
          <p:sp>
            <p:nvSpPr>
              <p:cNvPr id="6" name="TextBox 5"/>
              <p:cNvSpPr txBox="1">
                <a:spLocks noRot="1" noChangeAspect="1" noMove="1" noResize="1" noEditPoints="1" noAdjustHandles="1" noChangeArrowheads="1" noChangeShapeType="1" noTextEdit="1"/>
              </p:cNvSpPr>
              <p:nvPr/>
            </p:nvSpPr>
            <p:spPr>
              <a:xfrm>
                <a:off x="282840" y="1837430"/>
                <a:ext cx="5151061" cy="923330"/>
              </a:xfrm>
              <a:prstGeom prst="rect">
                <a:avLst/>
              </a:prstGeom>
              <a:blipFill>
                <a:blip r:embed="rId2"/>
                <a:stretch>
                  <a:fillRect b="-1136"/>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04616" y="1446540"/>
                <a:ext cx="5131480"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1</a:t>
                </a:r>
                <a:r>
                  <a:rPr lang="en-GB" dirty="0"/>
                  <a:t>: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𝑚𝑥</m:t>
                    </m:r>
                    <m:r>
                      <a:rPr lang="en-GB" b="0" i="1" smtClean="0">
                        <a:latin typeface="Cambria Math" panose="02040503050406030204" pitchFamily="18" charset="0"/>
                      </a:rPr>
                      <m:t>+</m:t>
                    </m:r>
                    <m:r>
                      <a:rPr lang="en-GB" b="0" i="1" smtClean="0">
                        <a:latin typeface="Cambria Math" panose="02040503050406030204" pitchFamily="18" charset="0"/>
                      </a:rPr>
                      <m:t>𝑐</m:t>
                    </m:r>
                  </m:oMath>
                </a14:m>
                <a:r>
                  <a:rPr lang="en-GB" dirty="0"/>
                  <a:t> , Gradient &amp; Determining Equations</a:t>
                </a:r>
              </a:p>
            </p:txBody>
          </p:sp>
        </mc:Choice>
        <mc:Fallback xmlns="">
          <p:sp>
            <p:nvSpPr>
              <p:cNvPr id="7" name="TextBox 6"/>
              <p:cNvSpPr txBox="1">
                <a:spLocks noRot="1" noChangeAspect="1" noMove="1" noResize="1" noEditPoints="1" noAdjustHandles="1" noChangeArrowheads="1" noChangeShapeType="1" noTextEdit="1"/>
              </p:cNvSpPr>
              <p:nvPr/>
            </p:nvSpPr>
            <p:spPr>
              <a:xfrm>
                <a:off x="304616" y="1446540"/>
                <a:ext cx="5131480" cy="369332"/>
              </a:xfrm>
              <a:prstGeom prst="rect">
                <a:avLst/>
              </a:prstGeom>
              <a:blipFill>
                <a:blip r:embed="rId3"/>
                <a:stretch>
                  <a:fillRect l="-827" t="-4615"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85681" y="4365104"/>
                <a:ext cx="3024336" cy="175432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The line </a:t>
                </a:r>
                <a14:m>
                  <m:oMath xmlns:m="http://schemas.openxmlformats.org/officeDocument/2006/math">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+3</m:t>
                    </m:r>
                    <m:r>
                      <a:rPr lang="en-GB" b="0" i="1" smtClean="0">
                        <a:latin typeface="Cambria Math" panose="02040503050406030204" pitchFamily="18" charset="0"/>
                      </a:rPr>
                      <m:t>𝑦</m:t>
                    </m:r>
                    <m:r>
                      <a:rPr lang="en-GB" b="0" i="1" smtClean="0">
                        <a:latin typeface="Cambria Math" panose="02040503050406030204" pitchFamily="18" charset="0"/>
                      </a:rPr>
                      <m:t>=6</m:t>
                    </m:r>
                  </m:oMath>
                </a14:m>
                <a:r>
                  <a:rPr lang="en-GB" dirty="0"/>
                  <a:t> crosses the </a:t>
                </a:r>
                <a14:m>
                  <m:oMath xmlns:m="http://schemas.openxmlformats.org/officeDocument/2006/math">
                    <m:r>
                      <a:rPr lang="en-GB" b="0" i="1" smtClean="0">
                        <a:latin typeface="Cambria Math" panose="02040503050406030204" pitchFamily="18" charset="0"/>
                      </a:rPr>
                      <m:t>𝑥</m:t>
                    </m:r>
                  </m:oMath>
                </a14:m>
                <a:r>
                  <a:rPr lang="en-GB" dirty="0"/>
                  <a:t>-axis and </a:t>
                </a:r>
                <a14:m>
                  <m:oMath xmlns:m="http://schemas.openxmlformats.org/officeDocument/2006/math">
                    <m:r>
                      <a:rPr lang="en-GB" b="0" i="1" smtClean="0">
                        <a:latin typeface="Cambria Math" panose="02040503050406030204" pitchFamily="18" charset="0"/>
                      </a:rPr>
                      <m:t>𝑦</m:t>
                    </m:r>
                  </m:oMath>
                </a14:m>
                <a:r>
                  <a:rPr lang="en-GB" dirty="0"/>
                  <a:t>-axis at the points </a:t>
                </a:r>
                <a14:m>
                  <m:oMath xmlns:m="http://schemas.openxmlformats.org/officeDocument/2006/math">
                    <m:r>
                      <a:rPr lang="en-GB" b="0" i="1" smtClean="0">
                        <a:latin typeface="Cambria Math" panose="02040503050406030204" pitchFamily="18" charset="0"/>
                      </a:rPr>
                      <m:t>𝐴</m:t>
                    </m:r>
                  </m:oMath>
                </a14:m>
                <a:r>
                  <a:rPr lang="en-GB" dirty="0"/>
                  <a:t> and </a:t>
                </a:r>
                <a14:m>
                  <m:oMath xmlns:m="http://schemas.openxmlformats.org/officeDocument/2006/math">
                    <m:r>
                      <a:rPr lang="en-GB" b="0" i="1" smtClean="0">
                        <a:latin typeface="Cambria Math" panose="02040503050406030204" pitchFamily="18" charset="0"/>
                      </a:rPr>
                      <m:t>𝐵</m:t>
                    </m:r>
                  </m:oMath>
                </a14:m>
                <a:r>
                  <a:rPr lang="en-GB" dirty="0"/>
                  <a:t> respectively.</a:t>
                </a:r>
              </a:p>
              <a:p>
                <a:r>
                  <a:rPr lang="en-GB" dirty="0"/>
                  <a:t>Determine:</a:t>
                </a:r>
              </a:p>
              <a:p>
                <a:r>
                  <a:rPr lang="en-GB" dirty="0"/>
                  <a:t>(a) The length </a:t>
                </a:r>
                <a14:m>
                  <m:oMath xmlns:m="http://schemas.openxmlformats.org/officeDocument/2006/math">
                    <m:r>
                      <a:rPr lang="en-GB" b="0" i="1" smtClean="0">
                        <a:latin typeface="Cambria Math" panose="02040503050406030204" pitchFamily="18" charset="0"/>
                      </a:rPr>
                      <m:t>𝐴𝐵</m:t>
                    </m:r>
                  </m:oMath>
                </a14:m>
                <a:r>
                  <a:rPr lang="en-GB" dirty="0"/>
                  <a:t> and</a:t>
                </a:r>
              </a:p>
              <a:p>
                <a:r>
                  <a:rPr lang="en-GB" dirty="0"/>
                  <a:t>(b) The area </a:t>
                </a:r>
                <a14:m>
                  <m:oMath xmlns:m="http://schemas.openxmlformats.org/officeDocument/2006/math">
                    <m:r>
                      <a:rPr lang="en-GB" b="0" i="1" smtClean="0">
                        <a:latin typeface="Cambria Math" panose="02040503050406030204" pitchFamily="18" charset="0"/>
                      </a:rPr>
                      <m:t>𝑂𝐴𝐵</m:t>
                    </m:r>
                  </m:oMath>
                </a14:m>
                <a:r>
                  <a:rPr lang="en-GB" dirty="0"/>
                  <a:t>.</a:t>
                </a:r>
              </a:p>
            </p:txBody>
          </p:sp>
        </mc:Choice>
        <mc:Fallback xmlns="">
          <p:sp>
            <p:nvSpPr>
              <p:cNvPr id="10" name="TextBox 9"/>
              <p:cNvSpPr txBox="1">
                <a:spLocks noRot="1" noChangeAspect="1" noMove="1" noResize="1" noEditPoints="1" noAdjustHandles="1" noChangeArrowheads="1" noChangeShapeType="1" noTextEdit="1"/>
              </p:cNvSpPr>
              <p:nvPr/>
            </p:nvSpPr>
            <p:spPr>
              <a:xfrm>
                <a:off x="585681" y="4365104"/>
                <a:ext cx="3024336" cy="1754326"/>
              </a:xfrm>
              <a:prstGeom prst="rect">
                <a:avLst/>
              </a:prstGeom>
              <a:blipFill>
                <a:blip r:embed="rId4"/>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11" name="TextBox 10"/>
          <p:cNvSpPr txBox="1"/>
          <p:nvPr/>
        </p:nvSpPr>
        <p:spPr>
          <a:xfrm>
            <a:off x="585681" y="4005064"/>
            <a:ext cx="3024336"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3</a:t>
            </a:r>
            <a:r>
              <a:rPr lang="en-GB" dirty="0"/>
              <a:t>: Lengths and Areas</a:t>
            </a:r>
          </a:p>
        </p:txBody>
      </p:sp>
      <p:sp>
        <p:nvSpPr>
          <p:cNvPr id="15" name="TextBox 14"/>
          <p:cNvSpPr txBox="1"/>
          <p:nvPr/>
        </p:nvSpPr>
        <p:spPr>
          <a:xfrm>
            <a:off x="4355976" y="4355812"/>
            <a:ext cx="3096344" cy="120032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A plumber charges a fixed cost plus a unit cost per day. If he charges £840 for 2 days work and …</a:t>
            </a:r>
          </a:p>
        </p:txBody>
      </p:sp>
      <p:sp>
        <p:nvSpPr>
          <p:cNvPr id="16" name="TextBox 15"/>
          <p:cNvSpPr txBox="1"/>
          <p:nvPr/>
        </p:nvSpPr>
        <p:spPr>
          <a:xfrm>
            <a:off x="4355976" y="3995772"/>
            <a:ext cx="3096344"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4</a:t>
            </a:r>
            <a:r>
              <a:rPr lang="en-GB" dirty="0"/>
              <a:t>: Modelling</a:t>
            </a:r>
          </a:p>
        </p:txBody>
      </p:sp>
      <mc:AlternateContent xmlns:mc="http://schemas.openxmlformats.org/markup-compatibility/2006" xmlns:a14="http://schemas.microsoft.com/office/drawing/2010/main">
        <mc:Choice Requires="a14">
          <p:sp>
            <p:nvSpPr>
              <p:cNvPr id="19" name="TextBox 18"/>
              <p:cNvSpPr txBox="1"/>
              <p:nvPr/>
            </p:nvSpPr>
            <p:spPr>
              <a:xfrm>
                <a:off x="5796137" y="1853285"/>
                <a:ext cx="3168351" cy="120032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A line is perpendicular to </a:t>
                </a:r>
                <a:br>
                  <a:rPr lang="en-GB" dirty="0"/>
                </a:br>
                <a14:m>
                  <m:oMath xmlns:m="http://schemas.openxmlformats.org/officeDocument/2006/math">
                    <m:r>
                      <a:rPr lang="en-GB" b="0" i="1" smtClean="0">
                        <a:latin typeface="Cambria Math" panose="02040503050406030204" pitchFamily="18" charset="0"/>
                      </a:rPr>
                      <m:t>3</m:t>
                    </m:r>
                    <m:r>
                      <a:rPr lang="en-GB" b="0" i="1" smtClean="0">
                        <a:latin typeface="Cambria Math" panose="02040503050406030204" pitchFamily="18" charset="0"/>
                      </a:rPr>
                      <m:t>𝑥</m:t>
                    </m:r>
                    <m:r>
                      <a:rPr lang="en-GB" b="0" i="1" smtClean="0">
                        <a:latin typeface="Cambria Math" panose="02040503050406030204" pitchFamily="18" charset="0"/>
                      </a:rPr>
                      <m:t>+8</m:t>
                    </m:r>
                    <m:r>
                      <a:rPr lang="en-GB" b="0" i="1" smtClean="0">
                        <a:latin typeface="Cambria Math" panose="02040503050406030204" pitchFamily="18" charset="0"/>
                      </a:rPr>
                      <m:t>𝑦</m:t>
                    </m:r>
                    <m:r>
                      <a:rPr lang="en-GB" b="0" i="1" smtClean="0">
                        <a:latin typeface="Cambria Math" panose="02040503050406030204" pitchFamily="18" charset="0"/>
                      </a:rPr>
                      <m:t>−11=0</m:t>
                    </m:r>
                  </m:oMath>
                </a14:m>
                <a:r>
                  <a:rPr lang="en-GB" dirty="0"/>
                  <a:t> and passes through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0,−8</m:t>
                        </m:r>
                      </m:e>
                    </m:d>
                  </m:oMath>
                </a14:m>
                <a:r>
                  <a:rPr lang="en-GB" dirty="0"/>
                  <a:t>. Find the equation of the line.</a:t>
                </a:r>
              </a:p>
            </p:txBody>
          </p:sp>
        </mc:Choice>
        <mc:Fallback xmlns="">
          <p:sp>
            <p:nvSpPr>
              <p:cNvPr id="19" name="TextBox 18"/>
              <p:cNvSpPr txBox="1">
                <a:spLocks noRot="1" noChangeAspect="1" noMove="1" noResize="1" noEditPoints="1" noAdjustHandles="1" noChangeArrowheads="1" noChangeShapeType="1" noTextEdit="1"/>
              </p:cNvSpPr>
              <p:nvPr/>
            </p:nvSpPr>
            <p:spPr>
              <a:xfrm>
                <a:off x="5796137" y="1853285"/>
                <a:ext cx="3168351" cy="1200329"/>
              </a:xfrm>
              <a:prstGeom prst="rect">
                <a:avLst/>
              </a:prstGeom>
              <a:blipFill>
                <a:blip r:embed="rId5"/>
                <a:stretch>
                  <a:fillRect b="-44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20" name="TextBox 19"/>
          <p:cNvSpPr txBox="1"/>
          <p:nvPr/>
        </p:nvSpPr>
        <p:spPr>
          <a:xfrm>
            <a:off x="5796137" y="1493245"/>
            <a:ext cx="3168352"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dirty="0"/>
              <a:t>2</a:t>
            </a:r>
            <a:r>
              <a:rPr lang="en-GB" dirty="0"/>
              <a:t>: Parallel/Perpendicular Lines</a:t>
            </a:r>
          </a:p>
        </p:txBody>
      </p:sp>
      <mc:AlternateContent xmlns:mc="http://schemas.openxmlformats.org/markup-compatibility/2006" xmlns:a14="http://schemas.microsoft.com/office/drawing/2010/main">
        <mc:Choice Requires="a14">
          <p:sp>
            <p:nvSpPr>
              <p:cNvPr id="22" name="TextBox 21"/>
              <p:cNvSpPr txBox="1"/>
              <p:nvPr/>
            </p:nvSpPr>
            <p:spPr>
              <a:xfrm>
                <a:off x="874954" y="2826486"/>
                <a:ext cx="3960440" cy="738664"/>
              </a:xfrm>
              <a:prstGeom prst="rect">
                <a:avLst/>
              </a:prstGeom>
              <a:noFill/>
            </p:spPr>
            <p:txBody>
              <a:bodyPr wrap="square" rtlCol="0">
                <a:spAutoFit/>
              </a:bodyPr>
              <a:lstStyle/>
              <a:p>
                <a:r>
                  <a:rPr lang="en-GB" sz="1400" b="1" dirty="0"/>
                  <a:t>NEW! since GCSE</a:t>
                </a:r>
              </a:p>
              <a:p>
                <a:r>
                  <a:rPr lang="en-GB" sz="1400" dirty="0"/>
                  <a:t>The equation </a:t>
                </a:r>
                <a14:m>
                  <m:oMath xmlns:m="http://schemas.openxmlformats.org/officeDocument/2006/math">
                    <m:r>
                      <a:rPr lang="en-GB" sz="1400" b="0" i="1" smtClean="0">
                        <a:latin typeface="Cambria Math" panose="02040503050406030204" pitchFamily="18" charset="0"/>
                      </a:rPr>
                      <m:t>𝑦</m:t>
                    </m:r>
                    <m:r>
                      <a:rPr lang="en-GB" sz="1400" b="0" i="1" smtClean="0">
                        <a:latin typeface="Cambria Math" panose="02040503050406030204" pitchFamily="18" charset="0"/>
                      </a:rPr>
                      <m:t>−</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𝑦</m:t>
                        </m:r>
                      </m:e>
                      <m:sub>
                        <m:r>
                          <a:rPr lang="en-GB" sz="1400" b="0" i="1" smtClean="0">
                            <a:latin typeface="Cambria Math" panose="02040503050406030204" pitchFamily="18" charset="0"/>
                          </a:rPr>
                          <m:t>1</m:t>
                        </m:r>
                      </m:sub>
                    </m:sSub>
                    <m:r>
                      <a:rPr lang="en-GB" sz="1400" b="0" i="1" smtClean="0">
                        <a:latin typeface="Cambria Math" panose="02040503050406030204" pitchFamily="18" charset="0"/>
                      </a:rPr>
                      <m:t>=</m:t>
                    </m:r>
                    <m:r>
                      <a:rPr lang="en-GB" sz="1400" b="0" i="1" smtClean="0">
                        <a:latin typeface="Cambria Math" panose="02040503050406030204" pitchFamily="18" charset="0"/>
                      </a:rPr>
                      <m:t>𝑚</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𝑥</m:t>
                        </m:r>
                        <m:r>
                          <a:rPr lang="en-GB" sz="1400" b="0" i="1" smtClean="0">
                            <a:latin typeface="Cambria Math" panose="02040503050406030204" pitchFamily="18" charset="0"/>
                          </a:rPr>
                          <m:t>−</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𝑥</m:t>
                            </m:r>
                          </m:e>
                          <m:sub>
                            <m:r>
                              <a:rPr lang="en-GB" sz="1400" b="0" i="1" smtClean="0">
                                <a:latin typeface="Cambria Math" panose="02040503050406030204" pitchFamily="18" charset="0"/>
                              </a:rPr>
                              <m:t>1</m:t>
                            </m:r>
                          </m:sub>
                        </m:sSub>
                      </m:e>
                    </m:d>
                  </m:oMath>
                </a14:m>
                <a:r>
                  <a:rPr lang="en-GB" sz="1400" dirty="0"/>
                  <a:t> for a line with given gradient and going through a given point.</a:t>
                </a:r>
              </a:p>
            </p:txBody>
          </p:sp>
        </mc:Choice>
        <mc:Fallback xmlns="">
          <p:sp>
            <p:nvSpPr>
              <p:cNvPr id="22" name="TextBox 21"/>
              <p:cNvSpPr txBox="1">
                <a:spLocks noRot="1" noChangeAspect="1" noMove="1" noResize="1" noEditPoints="1" noAdjustHandles="1" noChangeArrowheads="1" noChangeShapeType="1" noTextEdit="1"/>
              </p:cNvSpPr>
              <p:nvPr/>
            </p:nvSpPr>
            <p:spPr>
              <a:xfrm>
                <a:off x="874954" y="2826486"/>
                <a:ext cx="3960440" cy="738664"/>
              </a:xfrm>
              <a:prstGeom prst="rect">
                <a:avLst/>
              </a:prstGeom>
              <a:blipFill>
                <a:blip r:embed="rId6"/>
                <a:stretch>
                  <a:fillRect l="-462" t="-1653" b="-7438"/>
                </a:stretch>
              </a:blipFill>
            </p:spPr>
            <p:txBody>
              <a:bodyPr/>
              <a:lstStyle/>
              <a:p>
                <a:r>
                  <a:rPr lang="en-GB">
                    <a:noFill/>
                  </a:rPr>
                  <a:t> </a:t>
                </a:r>
              </a:p>
            </p:txBody>
          </p:sp>
        </mc:Fallback>
      </mc:AlternateContent>
      <p:grpSp>
        <p:nvGrpSpPr>
          <p:cNvPr id="12" name="Group 11">
            <a:extLst>
              <a:ext uri="{FF2B5EF4-FFF2-40B4-BE49-F238E27FC236}">
                <a16:creationId xmlns:a16="http://schemas.microsoft.com/office/drawing/2014/main" id="{A7E4A139-0372-ECD4-1CF8-ECE884821571}"/>
              </a:ext>
            </a:extLst>
          </p:cNvPr>
          <p:cNvGrpSpPr/>
          <p:nvPr/>
        </p:nvGrpSpPr>
        <p:grpSpPr>
          <a:xfrm>
            <a:off x="0" y="-27384"/>
            <a:ext cx="9143074" cy="599127"/>
            <a:chOff x="0" y="13335"/>
            <a:chExt cx="9144218" cy="599127"/>
          </a:xfrm>
        </p:grpSpPr>
        <p:sp>
          <p:nvSpPr>
            <p:cNvPr id="13" name="TextBox 32">
              <a:extLst>
                <a:ext uri="{FF2B5EF4-FFF2-40B4-BE49-F238E27FC236}">
                  <a16:creationId xmlns:a16="http://schemas.microsoft.com/office/drawing/2014/main" id="{581CCFEF-DAD3-5A1C-4E4E-E40AEABA4874}"/>
                </a:ext>
              </a:extLst>
            </p:cNvPr>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Chapter Overview</a:t>
              </a:r>
            </a:p>
          </p:txBody>
        </p:sp>
        <p:cxnSp>
          <p:nvCxnSpPr>
            <p:cNvPr id="14" name="Straight Connector 13">
              <a:extLst>
                <a:ext uri="{FF2B5EF4-FFF2-40B4-BE49-F238E27FC236}">
                  <a16:creationId xmlns:a16="http://schemas.microsoft.com/office/drawing/2014/main" id="{D29A6D2C-8CB4-E474-2D8B-02C926592876}"/>
                </a:ext>
              </a:extLst>
            </p:cNvPr>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Tree>
    <p:extLst>
      <p:ext uri="{BB962C8B-B14F-4D97-AF65-F5344CB8AC3E}">
        <p14:creationId xmlns:p14="http://schemas.microsoft.com/office/powerpoint/2010/main" val="3808051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4572000" y="0"/>
            <a:ext cx="0" cy="6858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43" name="Line 3"/>
          <p:cNvSpPr>
            <a:spLocks noChangeShapeType="1"/>
          </p:cNvSpPr>
          <p:nvPr/>
        </p:nvSpPr>
        <p:spPr bwMode="auto">
          <a:xfrm>
            <a:off x="0" y="3429000"/>
            <a:ext cx="91440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44" name="Text Box 4"/>
          <p:cNvSpPr txBox="1">
            <a:spLocks noChangeArrowheads="1"/>
          </p:cNvSpPr>
          <p:nvPr/>
        </p:nvSpPr>
        <p:spPr bwMode="auto">
          <a:xfrm>
            <a:off x="85148" y="3429000"/>
            <a:ext cx="9144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715963" algn="l"/>
                <a:tab pos="1431925" algn="l"/>
                <a:tab pos="2149475" algn="l"/>
                <a:tab pos="2865438" algn="l"/>
                <a:tab pos="3581400" algn="l"/>
                <a:tab pos="4313238" algn="l"/>
                <a:tab pos="5029200" algn="l"/>
                <a:tab pos="5745163" algn="l"/>
                <a:tab pos="6461125" algn="l"/>
                <a:tab pos="7178675" algn="l"/>
                <a:tab pos="7894638" algn="l"/>
                <a:tab pos="8610600" algn="l"/>
              </a:tabLst>
              <a:defRPr>
                <a:solidFill>
                  <a:schemeClr val="tx1"/>
                </a:solidFill>
                <a:latin typeface="Arial" charset="0"/>
              </a:defRPr>
            </a:lvl1pPr>
            <a:lvl2pPr>
              <a:tabLst>
                <a:tab pos="715963" algn="l"/>
                <a:tab pos="1431925" algn="l"/>
                <a:tab pos="2149475" algn="l"/>
                <a:tab pos="2865438" algn="l"/>
                <a:tab pos="3581400" algn="l"/>
                <a:tab pos="4313238" algn="l"/>
                <a:tab pos="5029200" algn="l"/>
                <a:tab pos="5745163" algn="l"/>
                <a:tab pos="6461125" algn="l"/>
                <a:tab pos="7178675" algn="l"/>
                <a:tab pos="7894638" algn="l"/>
                <a:tab pos="8610600" algn="l"/>
              </a:tabLst>
              <a:defRPr>
                <a:solidFill>
                  <a:schemeClr val="tx1"/>
                </a:solidFill>
                <a:latin typeface="Arial" charset="0"/>
              </a:defRPr>
            </a:lvl2pPr>
            <a:lvl3pPr>
              <a:tabLst>
                <a:tab pos="715963" algn="l"/>
                <a:tab pos="1431925" algn="l"/>
                <a:tab pos="2149475" algn="l"/>
                <a:tab pos="2865438" algn="l"/>
                <a:tab pos="3581400" algn="l"/>
                <a:tab pos="4313238" algn="l"/>
                <a:tab pos="5029200" algn="l"/>
                <a:tab pos="5745163" algn="l"/>
                <a:tab pos="6461125" algn="l"/>
                <a:tab pos="7178675" algn="l"/>
                <a:tab pos="7894638" algn="l"/>
                <a:tab pos="8610600" algn="l"/>
              </a:tabLst>
              <a:defRPr>
                <a:solidFill>
                  <a:schemeClr val="tx1"/>
                </a:solidFill>
                <a:latin typeface="Arial" charset="0"/>
              </a:defRPr>
            </a:lvl3pPr>
            <a:lvl4pPr>
              <a:tabLst>
                <a:tab pos="715963" algn="l"/>
                <a:tab pos="1431925" algn="l"/>
                <a:tab pos="2149475" algn="l"/>
                <a:tab pos="2865438" algn="l"/>
                <a:tab pos="3581400" algn="l"/>
                <a:tab pos="4313238" algn="l"/>
                <a:tab pos="5029200" algn="l"/>
                <a:tab pos="5745163" algn="l"/>
                <a:tab pos="6461125" algn="l"/>
                <a:tab pos="7178675" algn="l"/>
                <a:tab pos="7894638" algn="l"/>
                <a:tab pos="8610600" algn="l"/>
              </a:tabLst>
              <a:defRPr>
                <a:solidFill>
                  <a:schemeClr val="tx1"/>
                </a:solidFill>
                <a:latin typeface="Arial" charset="0"/>
              </a:defRPr>
            </a:lvl4pPr>
            <a:lvl5pPr>
              <a:tabLst>
                <a:tab pos="715963" algn="l"/>
                <a:tab pos="1431925" algn="l"/>
                <a:tab pos="2149475" algn="l"/>
                <a:tab pos="2865438" algn="l"/>
                <a:tab pos="3581400" algn="l"/>
                <a:tab pos="4313238" algn="l"/>
                <a:tab pos="5029200" algn="l"/>
                <a:tab pos="5745163" algn="l"/>
                <a:tab pos="6461125" algn="l"/>
                <a:tab pos="7178675" algn="l"/>
                <a:tab pos="7894638" algn="l"/>
                <a:tab pos="8610600" algn="l"/>
              </a:tabLst>
              <a:defRPr>
                <a:solidFill>
                  <a:schemeClr val="tx1"/>
                </a:solidFill>
                <a:latin typeface="Arial" charset="0"/>
              </a:defRPr>
            </a:lvl5pPr>
            <a:lvl6pPr fontAlgn="base">
              <a:spcBef>
                <a:spcPct val="0"/>
              </a:spcBef>
              <a:spcAft>
                <a:spcPct val="0"/>
              </a:spcAft>
              <a:tabLst>
                <a:tab pos="715963" algn="l"/>
                <a:tab pos="1431925" algn="l"/>
                <a:tab pos="2149475" algn="l"/>
                <a:tab pos="2865438" algn="l"/>
                <a:tab pos="3581400" algn="l"/>
                <a:tab pos="4313238" algn="l"/>
                <a:tab pos="5029200" algn="l"/>
                <a:tab pos="5745163" algn="l"/>
                <a:tab pos="6461125" algn="l"/>
                <a:tab pos="7178675" algn="l"/>
                <a:tab pos="7894638" algn="l"/>
                <a:tab pos="8610600" algn="l"/>
              </a:tabLst>
              <a:defRPr>
                <a:solidFill>
                  <a:schemeClr val="tx1"/>
                </a:solidFill>
                <a:latin typeface="Arial" charset="0"/>
              </a:defRPr>
            </a:lvl6pPr>
            <a:lvl7pPr fontAlgn="base">
              <a:spcBef>
                <a:spcPct val="0"/>
              </a:spcBef>
              <a:spcAft>
                <a:spcPct val="0"/>
              </a:spcAft>
              <a:tabLst>
                <a:tab pos="715963" algn="l"/>
                <a:tab pos="1431925" algn="l"/>
                <a:tab pos="2149475" algn="l"/>
                <a:tab pos="2865438" algn="l"/>
                <a:tab pos="3581400" algn="l"/>
                <a:tab pos="4313238" algn="l"/>
                <a:tab pos="5029200" algn="l"/>
                <a:tab pos="5745163" algn="l"/>
                <a:tab pos="6461125" algn="l"/>
                <a:tab pos="7178675" algn="l"/>
                <a:tab pos="7894638" algn="l"/>
                <a:tab pos="8610600" algn="l"/>
              </a:tabLst>
              <a:defRPr>
                <a:solidFill>
                  <a:schemeClr val="tx1"/>
                </a:solidFill>
                <a:latin typeface="Arial" charset="0"/>
              </a:defRPr>
            </a:lvl7pPr>
            <a:lvl8pPr fontAlgn="base">
              <a:spcBef>
                <a:spcPct val="0"/>
              </a:spcBef>
              <a:spcAft>
                <a:spcPct val="0"/>
              </a:spcAft>
              <a:tabLst>
                <a:tab pos="715963" algn="l"/>
                <a:tab pos="1431925" algn="l"/>
                <a:tab pos="2149475" algn="l"/>
                <a:tab pos="2865438" algn="l"/>
                <a:tab pos="3581400" algn="l"/>
                <a:tab pos="4313238" algn="l"/>
                <a:tab pos="5029200" algn="l"/>
                <a:tab pos="5745163" algn="l"/>
                <a:tab pos="6461125" algn="l"/>
                <a:tab pos="7178675" algn="l"/>
                <a:tab pos="7894638" algn="l"/>
                <a:tab pos="8610600" algn="l"/>
              </a:tabLst>
              <a:defRPr>
                <a:solidFill>
                  <a:schemeClr val="tx1"/>
                </a:solidFill>
                <a:latin typeface="Arial" charset="0"/>
              </a:defRPr>
            </a:lvl8pPr>
            <a:lvl9pPr fontAlgn="base">
              <a:spcBef>
                <a:spcPct val="0"/>
              </a:spcBef>
              <a:spcAft>
                <a:spcPct val="0"/>
              </a:spcAft>
              <a:tabLst>
                <a:tab pos="715963" algn="l"/>
                <a:tab pos="1431925" algn="l"/>
                <a:tab pos="2149475" algn="l"/>
                <a:tab pos="2865438" algn="l"/>
                <a:tab pos="3581400" algn="l"/>
                <a:tab pos="4313238" algn="l"/>
                <a:tab pos="5029200" algn="l"/>
                <a:tab pos="5745163" algn="l"/>
                <a:tab pos="6461125" algn="l"/>
                <a:tab pos="7178675" algn="l"/>
                <a:tab pos="7894638" algn="l"/>
                <a:tab pos="8610600" algn="l"/>
              </a:tabLst>
              <a:defRPr>
                <a:solidFill>
                  <a:schemeClr val="tx1"/>
                </a:solidFill>
                <a:latin typeface="Arial" charset="0"/>
              </a:defRPr>
            </a:lvl9pPr>
          </a:lstStyle>
          <a:p>
            <a:pPr>
              <a:spcBef>
                <a:spcPct val="50000"/>
              </a:spcBef>
            </a:pPr>
            <a:r>
              <a:rPr lang="en-GB" sz="1400" dirty="0"/>
              <a:t>x	-5	-4	-3	-2	-1	0	1	2	3	4	5	6</a:t>
            </a:r>
            <a:endParaRPr lang="en-US" sz="1400" dirty="0"/>
          </a:p>
        </p:txBody>
      </p:sp>
      <p:sp>
        <p:nvSpPr>
          <p:cNvPr id="10245" name="Line 5"/>
          <p:cNvSpPr>
            <a:spLocks noChangeShapeType="1"/>
          </p:cNvSpPr>
          <p:nvPr/>
        </p:nvSpPr>
        <p:spPr bwMode="auto">
          <a:xfrm flipH="1">
            <a:off x="250825"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46" name="Line 6"/>
          <p:cNvSpPr>
            <a:spLocks noChangeShapeType="1"/>
          </p:cNvSpPr>
          <p:nvPr/>
        </p:nvSpPr>
        <p:spPr bwMode="auto">
          <a:xfrm>
            <a:off x="971550"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47" name="Line 7"/>
          <p:cNvSpPr>
            <a:spLocks noChangeShapeType="1"/>
          </p:cNvSpPr>
          <p:nvPr/>
        </p:nvSpPr>
        <p:spPr bwMode="auto">
          <a:xfrm>
            <a:off x="1692275"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48" name="Line 8"/>
          <p:cNvSpPr>
            <a:spLocks noChangeShapeType="1"/>
          </p:cNvSpPr>
          <p:nvPr/>
        </p:nvSpPr>
        <p:spPr bwMode="auto">
          <a:xfrm>
            <a:off x="2411413"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49" name="Line 9"/>
          <p:cNvSpPr>
            <a:spLocks noChangeShapeType="1"/>
          </p:cNvSpPr>
          <p:nvPr/>
        </p:nvSpPr>
        <p:spPr bwMode="auto">
          <a:xfrm>
            <a:off x="3132138"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0" name="Line 10"/>
          <p:cNvSpPr>
            <a:spLocks noChangeShapeType="1"/>
          </p:cNvSpPr>
          <p:nvPr/>
        </p:nvSpPr>
        <p:spPr bwMode="auto">
          <a:xfrm>
            <a:off x="0" y="2708275"/>
            <a:ext cx="914400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1" name="Line 11"/>
          <p:cNvSpPr>
            <a:spLocks noChangeShapeType="1"/>
          </p:cNvSpPr>
          <p:nvPr/>
        </p:nvSpPr>
        <p:spPr bwMode="auto">
          <a:xfrm>
            <a:off x="5292725"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2" name="Line 12"/>
          <p:cNvSpPr>
            <a:spLocks noChangeShapeType="1"/>
          </p:cNvSpPr>
          <p:nvPr/>
        </p:nvSpPr>
        <p:spPr bwMode="auto">
          <a:xfrm>
            <a:off x="6011863"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3" name="Line 13"/>
          <p:cNvSpPr>
            <a:spLocks noChangeShapeType="1"/>
          </p:cNvSpPr>
          <p:nvPr/>
        </p:nvSpPr>
        <p:spPr bwMode="auto">
          <a:xfrm>
            <a:off x="6732588"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4" name="Line 14"/>
          <p:cNvSpPr>
            <a:spLocks noChangeShapeType="1"/>
          </p:cNvSpPr>
          <p:nvPr/>
        </p:nvSpPr>
        <p:spPr bwMode="auto">
          <a:xfrm>
            <a:off x="7451725"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5" name="Line 15"/>
          <p:cNvSpPr>
            <a:spLocks noChangeShapeType="1"/>
          </p:cNvSpPr>
          <p:nvPr/>
        </p:nvSpPr>
        <p:spPr bwMode="auto">
          <a:xfrm>
            <a:off x="8172450"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6" name="Line 16"/>
          <p:cNvSpPr>
            <a:spLocks noChangeShapeType="1"/>
          </p:cNvSpPr>
          <p:nvPr/>
        </p:nvSpPr>
        <p:spPr bwMode="auto">
          <a:xfrm>
            <a:off x="8893175"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7" name="Line 17"/>
          <p:cNvSpPr>
            <a:spLocks noChangeShapeType="1"/>
          </p:cNvSpPr>
          <p:nvPr/>
        </p:nvSpPr>
        <p:spPr bwMode="auto">
          <a:xfrm>
            <a:off x="0" y="549275"/>
            <a:ext cx="914400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8" name="Line 18"/>
          <p:cNvSpPr>
            <a:spLocks noChangeShapeType="1"/>
          </p:cNvSpPr>
          <p:nvPr/>
        </p:nvSpPr>
        <p:spPr bwMode="auto">
          <a:xfrm>
            <a:off x="0" y="1268413"/>
            <a:ext cx="914400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9" name="Line 19"/>
          <p:cNvSpPr>
            <a:spLocks noChangeShapeType="1"/>
          </p:cNvSpPr>
          <p:nvPr/>
        </p:nvSpPr>
        <p:spPr bwMode="auto">
          <a:xfrm>
            <a:off x="0" y="1989138"/>
            <a:ext cx="914400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61" name="Line 21"/>
          <p:cNvSpPr>
            <a:spLocks noChangeShapeType="1"/>
          </p:cNvSpPr>
          <p:nvPr/>
        </p:nvSpPr>
        <p:spPr bwMode="auto">
          <a:xfrm>
            <a:off x="0" y="4149725"/>
            <a:ext cx="914400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62" name="Line 22"/>
          <p:cNvSpPr>
            <a:spLocks noChangeShapeType="1"/>
          </p:cNvSpPr>
          <p:nvPr/>
        </p:nvSpPr>
        <p:spPr bwMode="auto">
          <a:xfrm flipV="1">
            <a:off x="0" y="4868863"/>
            <a:ext cx="914400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63" name="Line 23"/>
          <p:cNvSpPr>
            <a:spLocks noChangeShapeType="1"/>
          </p:cNvSpPr>
          <p:nvPr/>
        </p:nvSpPr>
        <p:spPr bwMode="auto">
          <a:xfrm>
            <a:off x="0" y="5589588"/>
            <a:ext cx="914400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64" name="Line 24"/>
          <p:cNvSpPr>
            <a:spLocks noChangeShapeType="1"/>
          </p:cNvSpPr>
          <p:nvPr/>
        </p:nvSpPr>
        <p:spPr bwMode="auto">
          <a:xfrm>
            <a:off x="0" y="6308725"/>
            <a:ext cx="914400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65" name="Text Box 25"/>
          <p:cNvSpPr txBox="1">
            <a:spLocks noChangeArrowheads="1"/>
          </p:cNvSpPr>
          <p:nvPr/>
        </p:nvSpPr>
        <p:spPr bwMode="auto">
          <a:xfrm>
            <a:off x="4283968" y="0"/>
            <a:ext cx="28803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1400" dirty="0"/>
              <a:t>y</a:t>
            </a:r>
          </a:p>
          <a:p>
            <a:endParaRPr lang="en-GB" sz="1400" dirty="0"/>
          </a:p>
          <a:p>
            <a:endParaRPr lang="en-US" sz="1400" dirty="0"/>
          </a:p>
        </p:txBody>
      </p:sp>
      <p:sp>
        <p:nvSpPr>
          <p:cNvPr id="10269" name="Text Box 29"/>
          <p:cNvSpPr txBox="1">
            <a:spLocks noChangeArrowheads="1"/>
          </p:cNvSpPr>
          <p:nvPr/>
        </p:nvSpPr>
        <p:spPr bwMode="auto">
          <a:xfrm>
            <a:off x="4264025" y="396875"/>
            <a:ext cx="334130"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GB" sz="1400" dirty="0"/>
              <a:t>4</a:t>
            </a:r>
          </a:p>
          <a:p>
            <a:pPr algn="r"/>
            <a:endParaRPr lang="en-GB" sz="3300" dirty="0"/>
          </a:p>
          <a:p>
            <a:pPr algn="r"/>
            <a:r>
              <a:rPr lang="en-GB" sz="1400" dirty="0"/>
              <a:t>3</a:t>
            </a:r>
          </a:p>
          <a:p>
            <a:pPr algn="r"/>
            <a:endParaRPr lang="en-GB" sz="3300" dirty="0"/>
          </a:p>
          <a:p>
            <a:pPr algn="r"/>
            <a:r>
              <a:rPr lang="en-GB" sz="1400" dirty="0"/>
              <a:t>2</a:t>
            </a:r>
          </a:p>
          <a:p>
            <a:pPr algn="r"/>
            <a:endParaRPr lang="en-GB" sz="3300" dirty="0"/>
          </a:p>
          <a:p>
            <a:pPr algn="r"/>
            <a:r>
              <a:rPr lang="en-GB" sz="1400" dirty="0"/>
              <a:t>1</a:t>
            </a:r>
          </a:p>
          <a:p>
            <a:pPr algn="r"/>
            <a:endParaRPr lang="en-GB" sz="3300" dirty="0"/>
          </a:p>
          <a:p>
            <a:pPr algn="r"/>
            <a:endParaRPr lang="en-GB" sz="1400" dirty="0"/>
          </a:p>
          <a:p>
            <a:pPr algn="r"/>
            <a:endParaRPr lang="en-GB" sz="3300" dirty="0"/>
          </a:p>
          <a:p>
            <a:pPr algn="r"/>
            <a:r>
              <a:rPr lang="en-GB" sz="1400" dirty="0"/>
              <a:t>-1</a:t>
            </a:r>
          </a:p>
          <a:p>
            <a:pPr algn="r"/>
            <a:endParaRPr lang="en-GB" sz="3300" dirty="0"/>
          </a:p>
          <a:p>
            <a:pPr algn="r"/>
            <a:r>
              <a:rPr lang="en-GB" sz="1400" dirty="0"/>
              <a:t>-2</a:t>
            </a:r>
          </a:p>
          <a:p>
            <a:pPr algn="r"/>
            <a:endParaRPr lang="en-GB" sz="3300" dirty="0"/>
          </a:p>
          <a:p>
            <a:pPr algn="r"/>
            <a:r>
              <a:rPr lang="en-GB" sz="1400" dirty="0"/>
              <a:t>-3</a:t>
            </a:r>
          </a:p>
          <a:p>
            <a:pPr algn="r"/>
            <a:endParaRPr lang="en-GB" sz="3300" dirty="0"/>
          </a:p>
          <a:p>
            <a:pPr algn="r"/>
            <a:r>
              <a:rPr lang="en-GB" sz="1400" dirty="0"/>
              <a:t>-4</a:t>
            </a:r>
          </a:p>
        </p:txBody>
      </p:sp>
      <p:sp>
        <p:nvSpPr>
          <p:cNvPr id="10288" name="Line 48"/>
          <p:cNvSpPr>
            <a:spLocks noChangeShapeType="1"/>
          </p:cNvSpPr>
          <p:nvPr/>
        </p:nvSpPr>
        <p:spPr bwMode="auto">
          <a:xfrm>
            <a:off x="3851275"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 name="Line 20"/>
          <p:cNvSpPr>
            <a:spLocks noChangeShapeType="1"/>
          </p:cNvSpPr>
          <p:nvPr/>
        </p:nvSpPr>
        <p:spPr bwMode="auto">
          <a:xfrm flipV="1">
            <a:off x="6011862" y="0"/>
            <a:ext cx="1" cy="6858000"/>
          </a:xfrm>
          <a:prstGeom prst="line">
            <a:avLst/>
          </a:prstGeom>
          <a:ln w="76200">
            <a:headEnd/>
            <a:tailEnd/>
          </a:ln>
        </p:spPr>
        <p:style>
          <a:lnRef idx="3">
            <a:schemeClr val="accent4"/>
          </a:lnRef>
          <a:fillRef idx="0">
            <a:schemeClr val="accent4"/>
          </a:fillRef>
          <a:effectRef idx="2">
            <a:schemeClr val="accent4"/>
          </a:effectRef>
          <a:fontRef idx="minor">
            <a:schemeClr val="tx1"/>
          </a:fontRef>
        </p:style>
        <p:txBody>
          <a:bodyPr/>
          <a:lstStyle/>
          <a:p>
            <a:endParaRPr lang="en-GB"/>
          </a:p>
        </p:txBody>
      </p:sp>
      <p:sp>
        <p:nvSpPr>
          <p:cNvPr id="2" name="TextBox 1"/>
          <p:cNvSpPr txBox="1"/>
          <p:nvPr/>
        </p:nvSpPr>
        <p:spPr>
          <a:xfrm>
            <a:off x="467543" y="188640"/>
            <a:ext cx="3796482" cy="2246769"/>
          </a:xfrm>
          <a:prstGeom prst="rect">
            <a:avLst/>
          </a:prstGeom>
          <a:solidFill>
            <a:schemeClr val="bg1">
              <a:alpha val="87000"/>
            </a:schemeClr>
          </a:solidFill>
        </p:spPr>
        <p:txBody>
          <a:bodyPr wrap="square" rtlCol="0">
            <a:spAutoFit/>
          </a:bodyPr>
          <a:lstStyle/>
          <a:p>
            <a:r>
              <a:rPr lang="en-GB" sz="2800" b="1" dirty="0"/>
              <a:t>Let’s start simple…</a:t>
            </a:r>
          </a:p>
          <a:p>
            <a:r>
              <a:rPr lang="en-GB" sz="2800" dirty="0"/>
              <a:t>What is the equation of this line?</a:t>
            </a:r>
          </a:p>
          <a:p>
            <a:r>
              <a:rPr lang="en-GB" sz="2800" dirty="0"/>
              <a:t>And more importantly, why is it that?</a:t>
            </a:r>
          </a:p>
        </p:txBody>
      </p:sp>
      <mc:AlternateContent xmlns:mc="http://schemas.openxmlformats.org/markup-compatibility/2006" xmlns:a14="http://schemas.microsoft.com/office/drawing/2010/main">
        <mc:Choice Requires="a14">
          <p:sp>
            <p:nvSpPr>
              <p:cNvPr id="3" name="TextBox 2"/>
              <p:cNvSpPr txBox="1"/>
              <p:nvPr/>
            </p:nvSpPr>
            <p:spPr>
              <a:xfrm>
                <a:off x="971550" y="5589588"/>
                <a:ext cx="2016274" cy="707886"/>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GB" sz="4000" b="0" i="1" smtClean="0">
                          <a:latin typeface="Cambria Math"/>
                        </a:rPr>
                        <m:t>𝑥</m:t>
                      </m:r>
                      <m:r>
                        <a:rPr lang="en-GB" sz="4000" b="0" i="1" smtClean="0">
                          <a:latin typeface="Cambria Math"/>
                        </a:rPr>
                        <m:t>=2</m:t>
                      </m:r>
                    </m:oMath>
                  </m:oMathPara>
                </a14:m>
                <a:endParaRPr lang="en-GB" sz="4000" dirty="0"/>
              </a:p>
            </p:txBody>
          </p:sp>
        </mc:Choice>
        <mc:Fallback xmlns="">
          <p:sp>
            <p:nvSpPr>
              <p:cNvPr id="3" name="TextBox 2"/>
              <p:cNvSpPr txBox="1">
                <a:spLocks noRot="1" noChangeAspect="1" noMove="1" noResize="1" noEditPoints="1" noAdjustHandles="1" noChangeArrowheads="1" noChangeShapeType="1" noTextEdit="1"/>
              </p:cNvSpPr>
              <p:nvPr/>
            </p:nvSpPr>
            <p:spPr>
              <a:xfrm>
                <a:off x="971550" y="5589588"/>
                <a:ext cx="2016274" cy="707886"/>
              </a:xfrm>
              <a:prstGeom prst="rect">
                <a:avLst/>
              </a:prstGeom>
              <a:blipFill rotWithShape="1">
                <a:blip r:embed="rId2"/>
                <a:stretch>
                  <a:fillRect/>
                </a:stretch>
              </a:blipFill>
            </p:spPr>
            <p:txBody>
              <a:bodyPr/>
              <a:lstStyle/>
              <a:p>
                <a:r>
                  <a:rPr lang="en-GB">
                    <a:noFill/>
                  </a:rPr>
                  <a:t> </a:t>
                </a:r>
              </a:p>
            </p:txBody>
          </p:sp>
        </mc:Fallback>
      </mc:AlternateContent>
      <p:sp>
        <p:nvSpPr>
          <p:cNvPr id="49" name="Rectangle 48"/>
          <p:cNvSpPr/>
          <p:nvPr/>
        </p:nvSpPr>
        <p:spPr>
          <a:xfrm>
            <a:off x="971549" y="5600839"/>
            <a:ext cx="2016274" cy="70788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mc:AlternateContent xmlns:mc="http://schemas.openxmlformats.org/markup-compatibility/2006" xmlns:a14="http://schemas.microsoft.com/office/drawing/2010/main">
        <mc:Choice Requires="a14">
          <p:sp>
            <p:nvSpPr>
              <p:cNvPr id="4" name="TextBox 3"/>
              <p:cNvSpPr txBox="1"/>
              <p:nvPr/>
            </p:nvSpPr>
            <p:spPr>
              <a:xfrm>
                <a:off x="5038041" y="5763904"/>
                <a:ext cx="3882270" cy="83099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2400" dirty="0"/>
                  <a:t>For any point we pick on the line, the </a:t>
                </a:r>
                <a14:m>
                  <m:oMath xmlns:m="http://schemas.openxmlformats.org/officeDocument/2006/math">
                    <m:r>
                      <a:rPr lang="en-GB" sz="2400" b="0" i="1" smtClean="0">
                        <a:latin typeface="Cambria Math" panose="02040503050406030204" pitchFamily="18" charset="0"/>
                      </a:rPr>
                      <m:t>𝑥</m:t>
                    </m:r>
                  </m:oMath>
                </a14:m>
                <a:r>
                  <a:rPr lang="en-GB" sz="2400" dirty="0"/>
                  <a:t> value is always 2.</a:t>
                </a:r>
              </a:p>
            </p:txBody>
          </p:sp>
        </mc:Choice>
        <mc:Fallback xmlns="">
          <p:sp>
            <p:nvSpPr>
              <p:cNvPr id="4" name="TextBox 3"/>
              <p:cNvSpPr txBox="1">
                <a:spLocks noRot="1" noChangeAspect="1" noMove="1" noResize="1" noEditPoints="1" noAdjustHandles="1" noChangeArrowheads="1" noChangeShapeType="1" noTextEdit="1"/>
              </p:cNvSpPr>
              <p:nvPr/>
            </p:nvSpPr>
            <p:spPr>
              <a:xfrm>
                <a:off x="5038041" y="5763904"/>
                <a:ext cx="3882270" cy="830997"/>
              </a:xfrm>
              <a:prstGeom prst="rect">
                <a:avLst/>
              </a:prstGeom>
              <a:blipFill rotWithShape="0">
                <a:blip r:embed="rId3"/>
                <a:stretch>
                  <a:fillRect l="-2028" t="-4286" b="-14286"/>
                </a:stretch>
              </a:blipFill>
            </p:spPr>
            <p:txBody>
              <a:bodyPr/>
              <a:lstStyle/>
              <a:p>
                <a:r>
                  <a:rPr lang="en-GB">
                    <a:noFill/>
                  </a:rPr>
                  <a:t> </a:t>
                </a:r>
              </a:p>
            </p:txBody>
          </p:sp>
        </mc:Fallback>
      </mc:AlternateContent>
    </p:spTree>
    <p:extLst>
      <p:ext uri="{BB962C8B-B14F-4D97-AF65-F5344CB8AC3E}">
        <p14:creationId xmlns:p14="http://schemas.microsoft.com/office/powerpoint/2010/main" val="308371695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9"/>
                                        </p:tgtEl>
                                      </p:cBhvr>
                                    </p:animEffect>
                                    <p:set>
                                      <p:cBhvr>
                                        <p:cTn id="7" dur="1" fill="hold">
                                          <p:stCondLst>
                                            <p:cond delay="499"/>
                                          </p:stCondLst>
                                        </p:cTn>
                                        <p:tgtEl>
                                          <p:spTgt spid="49"/>
                                        </p:tgtEl>
                                        <p:attrNameLst>
                                          <p:attrName>style.visibility</p:attrName>
                                        </p:attrNameLst>
                                      </p:cBhvr>
                                      <p:to>
                                        <p:strVal val="hidden"/>
                                      </p:to>
                                    </p:se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childTnLst>
              </p:cTn>
              <p:nextCondLst>
                <p:cond evt="onClick" delay="0">
                  <p:tgtEl>
                    <p:spTgt spid="49"/>
                  </p:tgtEl>
                </p:cond>
              </p:nextCondLst>
            </p:seq>
          </p:childTnLst>
        </p:cTn>
      </p:par>
    </p:tnLst>
    <p:bldLst>
      <p:bldP spid="49" grpId="0" animBg="1"/>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6038132" y="2363295"/>
            <a:ext cx="965079" cy="1244444"/>
          </a:xfrm>
          <a:prstGeom prst="rect">
            <a:avLst/>
          </a:prstGeom>
        </p:spPr>
      </p:pic>
      <p:cxnSp>
        <p:nvCxnSpPr>
          <p:cNvPr id="24" name="Straight Connector 23"/>
          <p:cNvCxnSpPr/>
          <p:nvPr/>
        </p:nvCxnSpPr>
        <p:spPr>
          <a:xfrm>
            <a:off x="2053682" y="155541"/>
            <a:ext cx="7090318" cy="6945867"/>
          </a:xfrm>
          <a:prstGeom prst="line">
            <a:avLst/>
          </a:prstGeom>
          <a:ln w="644525"/>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 name="TextBox 4"/>
              <p:cNvSpPr txBox="1"/>
              <p:nvPr/>
            </p:nvSpPr>
            <p:spPr>
              <a:xfrm>
                <a:off x="251520" y="764704"/>
                <a:ext cx="8568952" cy="830997"/>
              </a:xfrm>
              <a:prstGeom prst="rect">
                <a:avLst/>
              </a:prstGeom>
              <a:solidFill>
                <a:schemeClr val="bg1"/>
              </a:solidFill>
              <a:effectLst>
                <a:outerShdw blurRad="50800" dist="38100" algn="l" rotWithShape="0">
                  <a:prstClr val="black">
                    <a:alpha val="40000"/>
                  </a:prstClr>
                </a:outerShdw>
              </a:effectLst>
            </p:spPr>
            <p:txBody>
              <a:bodyPr wrap="square" rtlCol="0">
                <a:spAutoFit/>
              </a:bodyPr>
              <a:lstStyle/>
              <a:p>
                <a:pPr marL="342900" indent="-342900">
                  <a:buFont typeface="Wingdings" panose="05000000000000000000" pitchFamily="2" charset="2"/>
                  <a:buChar char="!"/>
                </a:pPr>
                <a:r>
                  <a:rPr lang="en-GB" sz="2400" dirty="0"/>
                  <a:t>A line consists of all points which satisfy some equation in terms of </a:t>
                </a:r>
                <a14:m>
                  <m:oMath xmlns:m="http://schemas.openxmlformats.org/officeDocument/2006/math">
                    <m:r>
                      <a:rPr lang="en-GB" sz="2400" b="0" i="1" smtClean="0">
                        <a:latin typeface="Cambria Math" panose="02040503050406030204" pitchFamily="18" charset="0"/>
                      </a:rPr>
                      <m:t>𝑥</m:t>
                    </m:r>
                  </m:oMath>
                </a14:m>
                <a:r>
                  <a:rPr lang="en-GB" sz="2400" dirty="0"/>
                  <a:t> and/or </a:t>
                </a:r>
                <a14:m>
                  <m:oMath xmlns:m="http://schemas.openxmlformats.org/officeDocument/2006/math">
                    <m:r>
                      <a:rPr lang="en-GB" sz="2400" b="0" i="1" smtClean="0">
                        <a:latin typeface="Cambria Math" panose="02040503050406030204" pitchFamily="18" charset="0"/>
                      </a:rPr>
                      <m:t>𝑦</m:t>
                    </m:r>
                  </m:oMath>
                </a14:m>
                <a:r>
                  <a:rPr lang="en-GB" sz="2400"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251520" y="764704"/>
                <a:ext cx="8568952" cy="830997"/>
              </a:xfrm>
              <a:prstGeom prst="rect">
                <a:avLst/>
              </a:prstGeom>
              <a:blipFill rotWithShape="0">
                <a:blip r:embed="rId3"/>
                <a:stretch>
                  <a:fillRect/>
                </a:stretch>
              </a:blipFill>
              <a:effectLst>
                <a:outerShdw blurRad="50800" dist="38100" algn="l" rotWithShape="0">
                  <a:prstClr val="black">
                    <a:alpha val="40000"/>
                  </a:prstClr>
                </a:outerShdw>
              </a:effectLst>
            </p:spPr>
            <p:txBody>
              <a:bodyPr/>
              <a:lstStyle/>
              <a:p>
                <a:r>
                  <a:rPr lang="en-GB">
                    <a:noFill/>
                  </a:rPr>
                  <a:t> </a:t>
                </a:r>
              </a:p>
            </p:txBody>
          </p:sp>
        </mc:Fallback>
      </mc:AlternateContent>
      <p:grpSp>
        <p:nvGrpSpPr>
          <p:cNvPr id="2" name="Group 1"/>
          <p:cNvGrpSpPr/>
          <p:nvPr/>
        </p:nvGrpSpPr>
        <p:grpSpPr>
          <a:xfrm>
            <a:off x="0" y="0"/>
            <a:ext cx="9143074" cy="571743"/>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Lines and Equations of Lines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22" name="Rectangle 21"/>
          <p:cNvSpPr/>
          <p:nvPr/>
        </p:nvSpPr>
        <p:spPr>
          <a:xfrm>
            <a:off x="6180846" y="4043503"/>
            <a:ext cx="72008" cy="133572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0" name="Rectangle 19"/>
              <p:cNvSpPr/>
              <p:nvPr/>
            </p:nvSpPr>
            <p:spPr>
              <a:xfrm>
                <a:off x="5172734" y="3441314"/>
                <a:ext cx="2088232" cy="859893"/>
              </a:xfrm>
              <a:prstGeom prst="rect">
                <a:avLst/>
              </a:prstGeom>
              <a:scene3d>
                <a:camera prst="perspectiveContrastingLeftFacing">
                  <a:rot lat="623785" lon="1800000" rev="21386789"/>
                </a:camera>
                <a:lightRig rig="threePt" dir="t"/>
              </a:scene3d>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b="1" dirty="0"/>
                  <a:t>Anirudh’s Line Club</a:t>
                </a:r>
              </a:p>
              <a:p>
                <a:pPr algn="ctr"/>
                <a:r>
                  <a:rPr lang="en-GB" sz="1400" dirty="0"/>
                  <a:t>Membership Rules: </a:t>
                </a:r>
                <a:br>
                  <a:rPr lang="en-GB" sz="1400"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𝑦</m:t>
                      </m:r>
                      <m:r>
                        <a:rPr lang="en-GB" b="0" i="1" smtClean="0">
                          <a:latin typeface="Cambria Math" panose="02040503050406030204" pitchFamily="18" charset="0"/>
                        </a:rPr>
                        <m:t>=5</m:t>
                      </m:r>
                    </m:oMath>
                  </m:oMathPara>
                </a14:m>
                <a:endParaRPr lang="en-GB" dirty="0"/>
              </a:p>
            </p:txBody>
          </p:sp>
        </mc:Choice>
        <mc:Fallback xmlns="">
          <p:sp>
            <p:nvSpPr>
              <p:cNvPr id="20" name="Rectangle 19"/>
              <p:cNvSpPr>
                <a:spLocks noRot="1" noChangeAspect="1" noMove="1" noResize="1" noEditPoints="1" noAdjustHandles="1" noChangeArrowheads="1" noChangeShapeType="1" noTextEdit="1"/>
              </p:cNvSpPr>
              <p:nvPr/>
            </p:nvSpPr>
            <p:spPr>
              <a:xfrm>
                <a:off x="5172734" y="3441314"/>
                <a:ext cx="2088232" cy="859893"/>
              </a:xfrm>
              <a:prstGeom prst="rect">
                <a:avLst/>
              </a:prstGeom>
              <a:blipFill rotWithShape="0">
                <a:blip r:embed="rId4"/>
                <a:stretch>
                  <a:fillRect/>
                </a:stretch>
              </a:blipFill>
            </p:spPr>
            <p:txBody>
              <a:bodyPr/>
              <a:lstStyle/>
              <a:p>
                <a:r>
                  <a:rPr lang="en-GB">
                    <a:noFill/>
                  </a:rPr>
                  <a:t> </a:t>
                </a:r>
              </a:p>
            </p:txBody>
          </p:sp>
        </mc:Fallback>
      </mc:AlternateContent>
      <p:grpSp>
        <p:nvGrpSpPr>
          <p:cNvPr id="49" name="Group 48"/>
          <p:cNvGrpSpPr/>
          <p:nvPr/>
        </p:nvGrpSpPr>
        <p:grpSpPr>
          <a:xfrm>
            <a:off x="-1587733" y="4043503"/>
            <a:ext cx="992330" cy="1495200"/>
            <a:chOff x="856244" y="3120255"/>
            <a:chExt cx="992330" cy="1495200"/>
          </a:xfrm>
        </p:grpSpPr>
        <p:pic>
          <p:nvPicPr>
            <p:cNvPr id="11" name="Picture 10"/>
            <p:cNvPicPr>
              <a:picLocks noChangeAspect="1"/>
            </p:cNvPicPr>
            <p:nvPr/>
          </p:nvPicPr>
          <p:blipFill>
            <a:blip r:embed="rId5"/>
            <a:stretch>
              <a:fillRect/>
            </a:stretch>
          </p:blipFill>
          <p:spPr>
            <a:xfrm>
              <a:off x="856244" y="3120255"/>
              <a:ext cx="939683" cy="1180952"/>
            </a:xfrm>
            <a:prstGeom prst="rect">
              <a:avLst/>
            </a:prstGeom>
          </p:spPr>
        </p:pic>
        <mc:AlternateContent xmlns:mc="http://schemas.openxmlformats.org/markup-compatibility/2006" xmlns:a14="http://schemas.microsoft.com/office/drawing/2010/main">
          <mc:Choice Requires="a14">
            <p:sp>
              <p:nvSpPr>
                <p:cNvPr id="47" name="TextBox 46"/>
                <p:cNvSpPr txBox="1"/>
                <p:nvPr/>
              </p:nvSpPr>
              <p:spPr>
                <a:xfrm>
                  <a:off x="952239" y="4246123"/>
                  <a:ext cx="8963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0,5</m:t>
                            </m:r>
                          </m:e>
                        </m:d>
                      </m:oMath>
                    </m:oMathPara>
                  </a14:m>
                  <a:endParaRPr lang="en-GB" dirty="0"/>
                </a:p>
              </p:txBody>
            </p:sp>
          </mc:Choice>
          <mc:Fallback xmlns="">
            <p:sp>
              <p:nvSpPr>
                <p:cNvPr id="47" name="TextBox 46"/>
                <p:cNvSpPr txBox="1">
                  <a:spLocks noRot="1" noChangeAspect="1" noMove="1" noResize="1" noEditPoints="1" noAdjustHandles="1" noChangeArrowheads="1" noChangeShapeType="1" noTextEdit="1"/>
                </p:cNvSpPr>
                <p:nvPr/>
              </p:nvSpPr>
              <p:spPr>
                <a:xfrm>
                  <a:off x="952239" y="4246123"/>
                  <a:ext cx="896335" cy="369332"/>
                </a:xfrm>
                <a:prstGeom prst="rect">
                  <a:avLst/>
                </a:prstGeom>
                <a:blipFill rotWithShape="0">
                  <a:blip r:embed="rId6"/>
                  <a:stretch>
                    <a:fillRect/>
                  </a:stretch>
                </a:blipFill>
              </p:spPr>
              <p:txBody>
                <a:bodyPr/>
                <a:lstStyle/>
                <a:p>
                  <a:r>
                    <a:rPr lang="en-GB">
                      <a:noFill/>
                    </a:rPr>
                    <a:t> </a:t>
                  </a:r>
                </a:p>
              </p:txBody>
            </p:sp>
          </mc:Fallback>
        </mc:AlternateContent>
      </p:grpSp>
      <p:grpSp>
        <p:nvGrpSpPr>
          <p:cNvPr id="50" name="Group 49"/>
          <p:cNvGrpSpPr/>
          <p:nvPr/>
        </p:nvGrpSpPr>
        <p:grpSpPr>
          <a:xfrm>
            <a:off x="-1290779" y="2363295"/>
            <a:ext cx="939683" cy="1646587"/>
            <a:chOff x="-1188640" y="3434109"/>
            <a:chExt cx="939683" cy="1646587"/>
          </a:xfrm>
        </p:grpSpPr>
        <p:pic>
          <p:nvPicPr>
            <p:cNvPr id="7" name="Picture 6"/>
            <p:cNvPicPr>
              <a:picLocks noChangeAspect="1"/>
            </p:cNvPicPr>
            <p:nvPr/>
          </p:nvPicPr>
          <p:blipFill>
            <a:blip r:embed="rId7"/>
            <a:stretch>
              <a:fillRect/>
            </a:stretch>
          </p:blipFill>
          <p:spPr>
            <a:xfrm>
              <a:off x="-1188640" y="3434109"/>
              <a:ext cx="939683" cy="1295238"/>
            </a:xfrm>
            <a:prstGeom prst="rect">
              <a:avLst/>
            </a:prstGeom>
          </p:spPr>
        </p:pic>
        <mc:AlternateContent xmlns:mc="http://schemas.openxmlformats.org/markup-compatibility/2006" xmlns:a14="http://schemas.microsoft.com/office/drawing/2010/main">
          <mc:Choice Requires="a14">
            <p:sp>
              <p:nvSpPr>
                <p:cNvPr id="48" name="TextBox 47"/>
                <p:cNvSpPr txBox="1"/>
                <p:nvPr/>
              </p:nvSpPr>
              <p:spPr>
                <a:xfrm>
                  <a:off x="-1166967" y="4711364"/>
                  <a:ext cx="8963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3,2</m:t>
                            </m:r>
                          </m:e>
                        </m:d>
                      </m:oMath>
                    </m:oMathPara>
                  </a14:m>
                  <a:endParaRPr lang="en-GB" dirty="0"/>
                </a:p>
              </p:txBody>
            </p:sp>
          </mc:Choice>
          <mc:Fallback xmlns="">
            <p:sp>
              <p:nvSpPr>
                <p:cNvPr id="48" name="TextBox 47"/>
                <p:cNvSpPr txBox="1">
                  <a:spLocks noRot="1" noChangeAspect="1" noMove="1" noResize="1" noEditPoints="1" noAdjustHandles="1" noChangeArrowheads="1" noChangeShapeType="1" noTextEdit="1"/>
                </p:cNvSpPr>
                <p:nvPr/>
              </p:nvSpPr>
              <p:spPr>
                <a:xfrm>
                  <a:off x="-1166967" y="4711364"/>
                  <a:ext cx="896335" cy="369332"/>
                </a:xfrm>
                <a:prstGeom prst="rect">
                  <a:avLst/>
                </a:prstGeom>
                <a:blipFill rotWithShape="0">
                  <a:blip r:embed="rId8"/>
                  <a:stretch>
                    <a:fillRect/>
                  </a:stretch>
                </a:blipFill>
              </p:spPr>
              <p:txBody>
                <a:bodyPr/>
                <a:lstStyle/>
                <a:p>
                  <a:r>
                    <a:rPr lang="en-GB">
                      <a:noFill/>
                    </a:rPr>
                    <a:t> </a:t>
                  </a:r>
                </a:p>
              </p:txBody>
            </p:sp>
          </mc:Fallback>
        </mc:AlternateContent>
      </p:grpSp>
      <p:grpSp>
        <p:nvGrpSpPr>
          <p:cNvPr id="53" name="Group 52"/>
          <p:cNvGrpSpPr/>
          <p:nvPr/>
        </p:nvGrpSpPr>
        <p:grpSpPr>
          <a:xfrm>
            <a:off x="-2553098" y="5169371"/>
            <a:ext cx="964032" cy="1467462"/>
            <a:chOff x="2395699" y="4297395"/>
            <a:chExt cx="964032" cy="1467462"/>
          </a:xfrm>
        </p:grpSpPr>
        <p:pic>
          <p:nvPicPr>
            <p:cNvPr id="51" name="Picture 50"/>
            <p:cNvPicPr>
              <a:picLocks noChangeAspect="1"/>
            </p:cNvPicPr>
            <p:nvPr/>
          </p:nvPicPr>
          <p:blipFill>
            <a:blip r:embed="rId9"/>
            <a:stretch>
              <a:fillRect/>
            </a:stretch>
          </p:blipFill>
          <p:spPr>
            <a:xfrm>
              <a:off x="2395699" y="4297395"/>
              <a:ext cx="921974" cy="1210091"/>
            </a:xfrm>
            <a:prstGeom prst="rect">
              <a:avLst/>
            </a:prstGeom>
          </p:spPr>
        </p:pic>
        <mc:AlternateContent xmlns:mc="http://schemas.openxmlformats.org/markup-compatibility/2006" xmlns:a14="http://schemas.microsoft.com/office/drawing/2010/main">
          <mc:Choice Requires="a14">
            <p:sp>
              <p:nvSpPr>
                <p:cNvPr id="52" name="TextBox 51"/>
                <p:cNvSpPr txBox="1"/>
                <p:nvPr/>
              </p:nvSpPr>
              <p:spPr>
                <a:xfrm>
                  <a:off x="2463396" y="5395525"/>
                  <a:ext cx="8963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3,−1</m:t>
                            </m:r>
                          </m:e>
                        </m:d>
                      </m:oMath>
                    </m:oMathPara>
                  </a14:m>
                  <a:endParaRPr lang="en-GB" dirty="0"/>
                </a:p>
              </p:txBody>
            </p:sp>
          </mc:Choice>
          <mc:Fallback xmlns="">
            <p:sp>
              <p:nvSpPr>
                <p:cNvPr id="52" name="TextBox 51"/>
                <p:cNvSpPr txBox="1">
                  <a:spLocks noRot="1" noChangeAspect="1" noMove="1" noResize="1" noEditPoints="1" noAdjustHandles="1" noChangeArrowheads="1" noChangeShapeType="1" noTextEdit="1"/>
                </p:cNvSpPr>
                <p:nvPr/>
              </p:nvSpPr>
              <p:spPr>
                <a:xfrm>
                  <a:off x="2463396" y="5395525"/>
                  <a:ext cx="896335" cy="369332"/>
                </a:xfrm>
                <a:prstGeom prst="rect">
                  <a:avLst/>
                </a:prstGeom>
                <a:blipFill rotWithShape="0">
                  <a:blip r:embed="rId10"/>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54" name="Rounded Rectangular Callout 53"/>
              <p:cNvSpPr/>
              <p:nvPr/>
            </p:nvSpPr>
            <p:spPr>
              <a:xfrm>
                <a:off x="7260966" y="1844824"/>
                <a:ext cx="1703522" cy="1008112"/>
              </a:xfrm>
              <a:prstGeom prst="wedgeRoundRectCallout">
                <a:avLst>
                  <a:gd name="adj1" fmla="val -54914"/>
                  <a:gd name="adj2" fmla="val 7257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Yes, you can join as:</a:t>
                </a:r>
              </a:p>
              <a:p>
                <a:pPr algn="ct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2</m:t>
                      </m:r>
                      <m:d>
                        <m:dPr>
                          <m:ctrlPr>
                            <a:rPr lang="en-GB" b="0" i="1" smtClean="0">
                              <a:latin typeface="Cambria Math" panose="02040503050406030204" pitchFamily="18" charset="0"/>
                            </a:rPr>
                          </m:ctrlPr>
                        </m:dPr>
                        <m:e>
                          <m:r>
                            <a:rPr lang="en-GB" b="0" i="1" smtClean="0">
                              <a:latin typeface="Cambria Math" panose="02040503050406030204" pitchFamily="18" charset="0"/>
                            </a:rPr>
                            <m:t>0</m:t>
                          </m:r>
                        </m:e>
                      </m:d>
                      <m:r>
                        <a:rPr lang="en-GB" b="0" i="1" smtClean="0">
                          <a:latin typeface="Cambria Math" panose="02040503050406030204" pitchFamily="18" charset="0"/>
                        </a:rPr>
                        <m:t>+5=5</m:t>
                      </m:r>
                    </m:oMath>
                  </m:oMathPara>
                </a14:m>
                <a:endParaRPr lang="en-GB" dirty="0"/>
              </a:p>
            </p:txBody>
          </p:sp>
        </mc:Choice>
        <mc:Fallback xmlns="">
          <p:sp>
            <p:nvSpPr>
              <p:cNvPr id="54" name="Rounded Rectangular Callout 53"/>
              <p:cNvSpPr>
                <a:spLocks noRot="1" noChangeAspect="1" noMove="1" noResize="1" noEditPoints="1" noAdjustHandles="1" noChangeArrowheads="1" noChangeShapeType="1" noTextEdit="1"/>
              </p:cNvSpPr>
              <p:nvPr/>
            </p:nvSpPr>
            <p:spPr>
              <a:xfrm>
                <a:off x="7260966" y="1844824"/>
                <a:ext cx="1703522" cy="1008112"/>
              </a:xfrm>
              <a:prstGeom prst="wedgeRoundRectCallout">
                <a:avLst>
                  <a:gd name="adj1" fmla="val -54914"/>
                  <a:gd name="adj2" fmla="val 72578"/>
                  <a:gd name="adj3" fmla="val 16667"/>
                </a:avLst>
              </a:prstGeom>
              <a:blipFill rotWithShape="0">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5" name="Rounded Rectangular Callout 54"/>
              <p:cNvSpPr/>
              <p:nvPr/>
            </p:nvSpPr>
            <p:spPr>
              <a:xfrm>
                <a:off x="7188602" y="1844824"/>
                <a:ext cx="1703522" cy="1257235"/>
              </a:xfrm>
              <a:prstGeom prst="wedgeRoundRectCallout">
                <a:avLst>
                  <a:gd name="adj1" fmla="val -54914"/>
                  <a:gd name="adj2" fmla="val 7257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Sorry, you can’t join as </a:t>
                </a:r>
                <a14:m>
                  <m:oMath xmlns:m="http://schemas.openxmlformats.org/officeDocument/2006/math">
                    <m:r>
                      <a:rPr lang="en-GB" b="0" i="1" smtClean="0">
                        <a:latin typeface="Cambria Math" panose="02040503050406030204" pitchFamily="18" charset="0"/>
                      </a:rPr>
                      <m:t>2</m:t>
                    </m:r>
                    <m:d>
                      <m:dPr>
                        <m:ctrlPr>
                          <a:rPr lang="en-GB" b="0" i="1" smtClean="0">
                            <a:latin typeface="Cambria Math" panose="02040503050406030204" pitchFamily="18" charset="0"/>
                          </a:rPr>
                        </m:ctrlPr>
                      </m:dPr>
                      <m:e>
                        <m:r>
                          <a:rPr lang="en-GB" b="0" i="1" smtClean="0">
                            <a:latin typeface="Cambria Math" panose="02040503050406030204" pitchFamily="18" charset="0"/>
                          </a:rPr>
                          <m:t>3</m:t>
                        </m:r>
                      </m:e>
                    </m:d>
                    <m:r>
                      <a:rPr lang="en-GB" b="0" i="1" smtClean="0">
                        <a:latin typeface="Cambria Math" panose="02040503050406030204" pitchFamily="18" charset="0"/>
                      </a:rPr>
                      <m:t>+2=8</m:t>
                    </m:r>
                  </m:oMath>
                </a14:m>
                <a:endParaRPr lang="en-GB" dirty="0"/>
              </a:p>
              <a:p>
                <a:pPr algn="ctr"/>
                <a:r>
                  <a:rPr lang="en-GB" dirty="0"/>
                  <a:t>Get lost.</a:t>
                </a:r>
              </a:p>
            </p:txBody>
          </p:sp>
        </mc:Choice>
        <mc:Fallback xmlns="">
          <p:sp>
            <p:nvSpPr>
              <p:cNvPr id="55" name="Rounded Rectangular Callout 54"/>
              <p:cNvSpPr>
                <a:spLocks noRot="1" noChangeAspect="1" noMove="1" noResize="1" noEditPoints="1" noAdjustHandles="1" noChangeArrowheads="1" noChangeShapeType="1" noTextEdit="1"/>
              </p:cNvSpPr>
              <p:nvPr/>
            </p:nvSpPr>
            <p:spPr>
              <a:xfrm>
                <a:off x="7188602" y="1844824"/>
                <a:ext cx="1703522" cy="1257235"/>
              </a:xfrm>
              <a:prstGeom prst="wedgeRoundRectCallout">
                <a:avLst>
                  <a:gd name="adj1" fmla="val -54914"/>
                  <a:gd name="adj2" fmla="val 72578"/>
                  <a:gd name="adj3" fmla="val 16667"/>
                </a:avLst>
              </a:prstGeom>
              <a:blipFill rotWithShape="0">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6" name="Rounded Rectangular Callout 55"/>
              <p:cNvSpPr/>
              <p:nvPr/>
            </p:nvSpPr>
            <p:spPr>
              <a:xfrm>
                <a:off x="7081211" y="2045102"/>
                <a:ext cx="1984789" cy="1056957"/>
              </a:xfrm>
              <a:prstGeom prst="wedgeRoundRectCallout">
                <a:avLst>
                  <a:gd name="adj1" fmla="val -56376"/>
                  <a:gd name="adj2" fmla="val 8025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2</m:t>
                      </m:r>
                      <m:d>
                        <m:dPr>
                          <m:ctrlPr>
                            <a:rPr lang="en-GB" b="0" i="1" smtClean="0">
                              <a:latin typeface="Cambria Math" panose="02040503050406030204" pitchFamily="18" charset="0"/>
                            </a:rPr>
                          </m:ctrlPr>
                        </m:dPr>
                        <m:e>
                          <m:r>
                            <a:rPr lang="en-GB" b="0" i="1" smtClean="0">
                              <a:latin typeface="Cambria Math" panose="02040503050406030204" pitchFamily="18" charset="0"/>
                            </a:rPr>
                            <m:t>3</m:t>
                          </m:r>
                        </m:e>
                      </m:d>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−1</m:t>
                          </m:r>
                        </m:e>
                      </m:d>
                      <m:r>
                        <a:rPr lang="en-GB" b="0" i="1" smtClean="0">
                          <a:latin typeface="Cambria Math" panose="02040503050406030204" pitchFamily="18" charset="0"/>
                        </a:rPr>
                        <m:t>=5</m:t>
                      </m:r>
                    </m:oMath>
                  </m:oMathPara>
                </a14:m>
                <a:endParaRPr lang="en-GB" b="0" dirty="0"/>
              </a:p>
              <a:p>
                <a:pPr algn="ctr"/>
                <a:r>
                  <a:rPr lang="en-GB" dirty="0"/>
                  <a:t>so you can join.</a:t>
                </a:r>
              </a:p>
            </p:txBody>
          </p:sp>
        </mc:Choice>
        <mc:Fallback xmlns="">
          <p:sp>
            <p:nvSpPr>
              <p:cNvPr id="56" name="Rounded Rectangular Callout 55"/>
              <p:cNvSpPr>
                <a:spLocks noRot="1" noChangeAspect="1" noMove="1" noResize="1" noEditPoints="1" noAdjustHandles="1" noChangeArrowheads="1" noChangeShapeType="1" noTextEdit="1"/>
              </p:cNvSpPr>
              <p:nvPr/>
            </p:nvSpPr>
            <p:spPr>
              <a:xfrm>
                <a:off x="7081211" y="2045102"/>
                <a:ext cx="1984789" cy="1056957"/>
              </a:xfrm>
              <a:prstGeom prst="wedgeRoundRectCallout">
                <a:avLst>
                  <a:gd name="adj1" fmla="val -56376"/>
                  <a:gd name="adj2" fmla="val 80259"/>
                  <a:gd name="adj3" fmla="val 16667"/>
                </a:avLst>
              </a:prstGeom>
              <a:blipFill rotWithShape="0">
                <a:blip r:embed="rId1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808038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8.33333E-7 -1.11111E-6 L 0.56406 0.05023 " pathEditMode="relative" rAng="0" ptsTypes="AA">
                                      <p:cBhvr>
                                        <p:cTn id="6" dur="2000" fill="hold"/>
                                        <p:tgtEl>
                                          <p:spTgt spid="49"/>
                                        </p:tgtEl>
                                        <p:attrNameLst>
                                          <p:attrName>ppt_x</p:attrName>
                                          <p:attrName>ppt_y</p:attrName>
                                        </p:attrNameLst>
                                      </p:cBhvr>
                                      <p:rCtr x="28194" y="2500"/>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fade">
                                      <p:cBhvr>
                                        <p:cTn id="11" dur="500"/>
                                        <p:tgtEl>
                                          <p:spTgt spid="54"/>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path" presetSubtype="0" accel="50000" decel="50000" fill="hold" nodeType="clickEffect">
                                  <p:stCondLst>
                                    <p:cond delay="0"/>
                                  </p:stCondLst>
                                  <p:childTnLst>
                                    <p:animMotion origin="layout" path="M 0.56406 0.05023 L 0.57465 -0.32454 " pathEditMode="relative" rAng="0" ptsTypes="AA">
                                      <p:cBhvr>
                                        <p:cTn id="15" dur="2000" fill="hold"/>
                                        <p:tgtEl>
                                          <p:spTgt spid="49"/>
                                        </p:tgtEl>
                                        <p:attrNameLst>
                                          <p:attrName>ppt_x</p:attrName>
                                          <p:attrName>ppt_y</p:attrName>
                                        </p:attrNameLst>
                                      </p:cBhvr>
                                      <p:rCtr x="521" y="-18750"/>
                                    </p:animMotion>
                                  </p:childTnLst>
                                </p:cTn>
                              </p:par>
                            </p:childTnLst>
                          </p:cTn>
                        </p:par>
                        <p:par>
                          <p:cTn id="16" fill="hold">
                            <p:stCondLst>
                              <p:cond delay="2000"/>
                            </p:stCondLst>
                            <p:childTnLst>
                              <p:par>
                                <p:cTn id="17" presetID="10" presetClass="exit" presetSubtype="0" fill="hold" grpId="1" nodeType="afterEffect">
                                  <p:stCondLst>
                                    <p:cond delay="0"/>
                                  </p:stCondLst>
                                  <p:childTnLst>
                                    <p:animEffect transition="out" filter="fade">
                                      <p:cBhvr>
                                        <p:cTn id="18" dur="500"/>
                                        <p:tgtEl>
                                          <p:spTgt spid="54"/>
                                        </p:tgtEl>
                                      </p:cBhvr>
                                    </p:animEffect>
                                    <p:set>
                                      <p:cBhvr>
                                        <p:cTn id="19" dur="1" fill="hold">
                                          <p:stCondLst>
                                            <p:cond delay="499"/>
                                          </p:stCondLst>
                                        </p:cTn>
                                        <p:tgtEl>
                                          <p:spTgt spid="54"/>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42" presetClass="path" presetSubtype="0" accel="50000" decel="50000" fill="hold" nodeType="clickEffect">
                                  <p:stCondLst>
                                    <p:cond delay="0"/>
                                  </p:stCondLst>
                                  <p:childTnLst>
                                    <p:animMotion origin="layout" path="M -3.05556E-6 -3.33333E-6 L 0.61337 0.34306 " pathEditMode="relative" rAng="0" ptsTypes="AA">
                                      <p:cBhvr>
                                        <p:cTn id="23" dur="2000" fill="hold"/>
                                        <p:tgtEl>
                                          <p:spTgt spid="50"/>
                                        </p:tgtEl>
                                        <p:attrNameLst>
                                          <p:attrName>ppt_x</p:attrName>
                                          <p:attrName>ppt_y</p:attrName>
                                        </p:attrNameLst>
                                      </p:cBhvr>
                                      <p:rCtr x="30660" y="17153"/>
                                    </p:animMotion>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fade">
                                      <p:cBhvr>
                                        <p:cTn id="28" dur="500"/>
                                        <p:tgtEl>
                                          <p:spTgt spid="55"/>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path" presetSubtype="0" accel="50000" decel="50000" fill="hold" nodeType="clickEffect">
                                  <p:stCondLst>
                                    <p:cond delay="0"/>
                                  </p:stCondLst>
                                  <p:childTnLst>
                                    <p:animMotion origin="layout" path="M 0.61337 0.34306 L -0.11111 -0.07986 " pathEditMode="relative" rAng="0" ptsTypes="AA">
                                      <p:cBhvr>
                                        <p:cTn id="32" dur="2000" fill="hold"/>
                                        <p:tgtEl>
                                          <p:spTgt spid="50"/>
                                        </p:tgtEl>
                                        <p:attrNameLst>
                                          <p:attrName>ppt_x</p:attrName>
                                          <p:attrName>ppt_y</p:attrName>
                                        </p:attrNameLst>
                                      </p:cBhvr>
                                      <p:rCtr x="-36233" y="-21157"/>
                                    </p:animMotion>
                                  </p:childTnLst>
                                </p:cTn>
                              </p:par>
                            </p:childTnLst>
                          </p:cTn>
                        </p:par>
                        <p:par>
                          <p:cTn id="33" fill="hold">
                            <p:stCondLst>
                              <p:cond delay="2000"/>
                            </p:stCondLst>
                            <p:childTnLst>
                              <p:par>
                                <p:cTn id="34" presetID="10" presetClass="exit" presetSubtype="0" fill="hold" grpId="1" nodeType="afterEffect">
                                  <p:stCondLst>
                                    <p:cond delay="0"/>
                                  </p:stCondLst>
                                  <p:childTnLst>
                                    <p:animEffect transition="out" filter="fade">
                                      <p:cBhvr>
                                        <p:cTn id="35" dur="500"/>
                                        <p:tgtEl>
                                          <p:spTgt spid="55"/>
                                        </p:tgtEl>
                                      </p:cBhvr>
                                    </p:animEffect>
                                    <p:set>
                                      <p:cBhvr>
                                        <p:cTn id="36" dur="1" fill="hold">
                                          <p:stCondLst>
                                            <p:cond delay="499"/>
                                          </p:stCondLst>
                                        </p:cTn>
                                        <p:tgtEl>
                                          <p:spTgt spid="55"/>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nodeType="clickEffect">
                                  <p:stCondLst>
                                    <p:cond delay="0"/>
                                  </p:stCondLst>
                                  <p:childTnLst>
                                    <p:animMotion origin="layout" path="M -1.11111E-6 1.85185E-6 L 0.65556 -0.01412 " pathEditMode="relative" rAng="0" ptsTypes="AA">
                                      <p:cBhvr>
                                        <p:cTn id="40" dur="2000" fill="hold"/>
                                        <p:tgtEl>
                                          <p:spTgt spid="53"/>
                                        </p:tgtEl>
                                        <p:attrNameLst>
                                          <p:attrName>ppt_x</p:attrName>
                                          <p:attrName>ppt_y</p:attrName>
                                        </p:attrNameLst>
                                      </p:cBhvr>
                                      <p:rCtr x="32778" y="-718"/>
                                    </p:animMotion>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56"/>
                                        </p:tgtEl>
                                        <p:attrNameLst>
                                          <p:attrName>style.visibility</p:attrName>
                                        </p:attrNameLst>
                                      </p:cBhvr>
                                      <p:to>
                                        <p:strVal val="visible"/>
                                      </p:to>
                                    </p:set>
                                    <p:animEffect transition="in" filter="fade">
                                      <p:cBhvr>
                                        <p:cTn id="45" dur="500"/>
                                        <p:tgtEl>
                                          <p:spTgt spid="56"/>
                                        </p:tgtEl>
                                      </p:cBhvr>
                                    </p:animEffect>
                                  </p:childTnLst>
                                </p:cTn>
                              </p:par>
                            </p:childTnLst>
                          </p:cTn>
                        </p:par>
                      </p:childTnLst>
                    </p:cTn>
                  </p:par>
                  <p:par>
                    <p:cTn id="46" fill="hold">
                      <p:stCondLst>
                        <p:cond delay="indefinite"/>
                      </p:stCondLst>
                      <p:childTnLst>
                        <p:par>
                          <p:cTn id="47" fill="hold">
                            <p:stCondLst>
                              <p:cond delay="0"/>
                            </p:stCondLst>
                            <p:childTnLst>
                              <p:par>
                                <p:cTn id="48" presetID="42" presetClass="path" presetSubtype="0" accel="50000" decel="50000" fill="hold" nodeType="clickEffect">
                                  <p:stCondLst>
                                    <p:cond delay="0"/>
                                  </p:stCondLst>
                                  <p:childTnLst>
                                    <p:animMotion origin="layout" path="M 0.65556 -0.01412 L 1.04132 0.00694 " pathEditMode="relative" rAng="0" ptsTypes="AA">
                                      <p:cBhvr>
                                        <p:cTn id="49" dur="2000" fill="hold"/>
                                        <p:tgtEl>
                                          <p:spTgt spid="53"/>
                                        </p:tgtEl>
                                        <p:attrNameLst>
                                          <p:attrName>ppt_x</p:attrName>
                                          <p:attrName>ppt_y</p:attrName>
                                        </p:attrNameLst>
                                      </p:cBhvr>
                                      <p:rCtr x="19288" y="1042"/>
                                    </p:animMotion>
                                  </p:childTnLst>
                                </p:cTn>
                              </p:par>
                            </p:childTnLst>
                          </p:cTn>
                        </p:par>
                        <p:par>
                          <p:cTn id="50" fill="hold">
                            <p:stCondLst>
                              <p:cond delay="2000"/>
                            </p:stCondLst>
                            <p:childTnLst>
                              <p:par>
                                <p:cTn id="51" presetID="10" presetClass="exit" presetSubtype="0" fill="hold" grpId="1" nodeType="afterEffect">
                                  <p:stCondLst>
                                    <p:cond delay="0"/>
                                  </p:stCondLst>
                                  <p:childTnLst>
                                    <p:animEffect transition="out" filter="fade">
                                      <p:cBhvr>
                                        <p:cTn id="52" dur="500"/>
                                        <p:tgtEl>
                                          <p:spTgt spid="56"/>
                                        </p:tgtEl>
                                      </p:cBhvr>
                                    </p:animEffect>
                                    <p:set>
                                      <p:cBhvr>
                                        <p:cTn id="53" dur="1" fill="hold">
                                          <p:stCondLst>
                                            <p:cond delay="499"/>
                                          </p:stCondLst>
                                        </p:cTn>
                                        <p:tgtEl>
                                          <p:spTgt spid="56"/>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5"/>
                                        </p:tgtEl>
                                        <p:attrNameLst>
                                          <p:attrName>style.visibility</p:attrName>
                                        </p:attrNameLst>
                                      </p:cBhvr>
                                      <p:to>
                                        <p:strVal val="visible"/>
                                      </p:to>
                                    </p:set>
                                    <p:animEffect transition="in" filter="fade">
                                      <p:cBhvr>
                                        <p:cTn id="58" dur="1000"/>
                                        <p:tgtEl>
                                          <p:spTgt spid="5"/>
                                        </p:tgtEl>
                                      </p:cBhvr>
                                    </p:animEffect>
                                    <p:anim calcmode="lin" valueType="num">
                                      <p:cBhvr>
                                        <p:cTn id="59" dur="1000" fill="hold"/>
                                        <p:tgtEl>
                                          <p:spTgt spid="5"/>
                                        </p:tgtEl>
                                        <p:attrNameLst>
                                          <p:attrName>ppt_x</p:attrName>
                                        </p:attrNameLst>
                                      </p:cBhvr>
                                      <p:tavLst>
                                        <p:tav tm="0">
                                          <p:val>
                                            <p:strVal val="#ppt_x"/>
                                          </p:val>
                                        </p:tav>
                                        <p:tav tm="100000">
                                          <p:val>
                                            <p:strVal val="#ppt_x"/>
                                          </p:val>
                                        </p:tav>
                                      </p:tavLst>
                                    </p:anim>
                                    <p:anim calcmode="lin" valueType="num">
                                      <p:cBhvr>
                                        <p:cTn id="6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4" grpId="0" animBg="1"/>
      <p:bldP spid="54" grpId="1" animBg="1"/>
      <p:bldP spid="55" grpId="0" animBg="1"/>
      <p:bldP spid="55" grpId="1" animBg="1"/>
      <p:bldP spid="56" grpId="0" animBg="1"/>
      <p:bldP spid="56"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71743"/>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Examples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323528" y="764704"/>
            <a:ext cx="8568952" cy="707886"/>
          </a:xfrm>
          <a:prstGeom prst="rect">
            <a:avLst/>
          </a:prstGeom>
          <a:noFill/>
        </p:spPr>
        <p:txBody>
          <a:bodyPr wrap="square" rtlCol="0">
            <a:spAutoFit/>
          </a:bodyPr>
          <a:lstStyle/>
          <a:p>
            <a:r>
              <a:rPr lang="en-GB" sz="2000" dirty="0"/>
              <a:t>This means we can </a:t>
            </a:r>
            <a:r>
              <a:rPr lang="en-GB" sz="2000" b="1" u="sng" dirty="0"/>
              <a:t>substitute</a:t>
            </a:r>
            <a:r>
              <a:rPr lang="en-GB" sz="2000" dirty="0"/>
              <a:t> the values of a coordinate into our equation whenever we know the point lies on the line.</a:t>
            </a:r>
          </a:p>
        </p:txBody>
      </p:sp>
      <mc:AlternateContent xmlns:mc="http://schemas.openxmlformats.org/markup-compatibility/2006" xmlns:a14="http://schemas.microsoft.com/office/drawing/2010/main">
        <mc:Choice Requires="a14">
          <p:sp>
            <p:nvSpPr>
              <p:cNvPr id="6" name="TextBox 5"/>
              <p:cNvSpPr txBox="1"/>
              <p:nvPr/>
            </p:nvSpPr>
            <p:spPr>
              <a:xfrm>
                <a:off x="467544" y="3717032"/>
                <a:ext cx="7848872"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Find the coordinate of the point where the line </a:t>
                </a:r>
                <a14:m>
                  <m:oMath xmlns:m="http://schemas.openxmlformats.org/officeDocument/2006/math">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𝑦</m:t>
                    </m:r>
                    <m:r>
                      <a:rPr lang="en-GB" b="0" i="1" smtClean="0">
                        <a:latin typeface="Cambria Math" panose="02040503050406030204" pitchFamily="18" charset="0"/>
                      </a:rPr>
                      <m:t>=5</m:t>
                    </m:r>
                  </m:oMath>
                </a14:m>
                <a:r>
                  <a:rPr lang="en-GB" dirty="0"/>
                  <a:t> cuts the </a:t>
                </a:r>
                <a14:m>
                  <m:oMath xmlns:m="http://schemas.openxmlformats.org/officeDocument/2006/math">
                    <m:r>
                      <a:rPr lang="en-GB" b="0" i="1" smtClean="0">
                        <a:latin typeface="Cambria Math" panose="02040503050406030204" pitchFamily="18" charset="0"/>
                      </a:rPr>
                      <m:t>𝑥</m:t>
                    </m:r>
                  </m:oMath>
                </a14:m>
                <a:r>
                  <a:rPr lang="en-GB" dirty="0"/>
                  <a:t>-axis.</a:t>
                </a:r>
              </a:p>
            </p:txBody>
          </p:sp>
        </mc:Choice>
        <mc:Fallback xmlns="">
          <p:sp>
            <p:nvSpPr>
              <p:cNvPr id="6" name="TextBox 5"/>
              <p:cNvSpPr txBox="1">
                <a:spLocks noRot="1" noChangeAspect="1" noMove="1" noResize="1" noEditPoints="1" noAdjustHandles="1" noChangeArrowheads="1" noChangeShapeType="1" noTextEdit="1"/>
              </p:cNvSpPr>
              <p:nvPr/>
            </p:nvSpPr>
            <p:spPr>
              <a:xfrm>
                <a:off x="467544" y="3717032"/>
                <a:ext cx="7848872" cy="369332"/>
              </a:xfrm>
              <a:prstGeom prst="rect">
                <a:avLst/>
              </a:prstGeom>
              <a:blipFill rotWithShape="0">
                <a:blip r:embed="rId2"/>
                <a:stretch>
                  <a:fillRect b="-4762"/>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367644" y="4221088"/>
                <a:ext cx="6048672" cy="1268681"/>
              </a:xfrm>
              <a:prstGeom prst="rect">
                <a:avLst/>
              </a:prstGeom>
              <a:noFill/>
            </p:spPr>
            <p:txBody>
              <a:bodyPr wrap="square" rtlCol="0">
                <a:spAutoFit/>
              </a:bodyPr>
              <a:lstStyle/>
              <a:p>
                <a:r>
                  <a:rPr lang="en-GB" dirty="0"/>
                  <a:t>On the </a:t>
                </a:r>
                <a14:m>
                  <m:oMath xmlns:m="http://schemas.openxmlformats.org/officeDocument/2006/math">
                    <m:r>
                      <a:rPr lang="en-GB" b="0" i="1" smtClean="0">
                        <a:latin typeface="Cambria Math" panose="02040503050406030204" pitchFamily="18" charset="0"/>
                      </a:rPr>
                      <m:t>𝑥</m:t>
                    </m:r>
                  </m:oMath>
                </a14:m>
                <a:r>
                  <a:rPr lang="en-GB" dirty="0"/>
                  <a:t>-axis,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=0</m:t>
                    </m:r>
                  </m:oMath>
                </a14:m>
                <a:r>
                  <a:rPr lang="en-GB" dirty="0"/>
                  <a:t>. Substituting:</a:t>
                </a: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+0=5</m:t>
                      </m:r>
                    </m:oMath>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5</m:t>
                          </m:r>
                        </m:num>
                        <m:den>
                          <m:r>
                            <a:rPr lang="en-GB" b="0" i="1" smtClean="0">
                              <a:latin typeface="Cambria Math" panose="02040503050406030204" pitchFamily="18" charset="0"/>
                            </a:rPr>
                            <m:t>2</m:t>
                          </m:r>
                        </m:den>
                      </m:f>
                      <m:r>
                        <a:rPr lang="en-GB" b="0" i="1" smtClean="0">
                          <a:latin typeface="Cambria Math" panose="02040503050406030204" pitchFamily="18" charset="0"/>
                        </a:rPr>
                        <m:t>   →   </m:t>
                      </m:r>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5</m:t>
                              </m:r>
                            </m:num>
                            <m:den>
                              <m:r>
                                <a:rPr lang="en-GB" b="0" i="1" smtClean="0">
                                  <a:latin typeface="Cambria Math" panose="02040503050406030204" pitchFamily="18" charset="0"/>
                                </a:rPr>
                                <m:t>2</m:t>
                              </m:r>
                            </m:den>
                          </m:f>
                          <m:r>
                            <a:rPr lang="en-GB" b="0" i="1" smtClean="0">
                              <a:latin typeface="Cambria Math" panose="02040503050406030204" pitchFamily="18" charset="0"/>
                            </a:rPr>
                            <m:t>, 0</m:t>
                          </m:r>
                        </m:e>
                      </m:d>
                    </m:oMath>
                  </m:oMathPara>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1367644" y="4221088"/>
                <a:ext cx="6048672" cy="1268681"/>
              </a:xfrm>
              <a:prstGeom prst="rect">
                <a:avLst/>
              </a:prstGeom>
              <a:blipFill rotWithShape="0">
                <a:blip r:embed="rId3"/>
                <a:stretch>
                  <a:fillRect l="-806" t="-239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26638" y="1772816"/>
                <a:ext cx="8133793"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The point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5,</m:t>
                        </m:r>
                        <m:r>
                          <a:rPr lang="en-GB" b="0" i="1" smtClean="0">
                            <a:latin typeface="Cambria Math" panose="02040503050406030204" pitchFamily="18" charset="0"/>
                          </a:rPr>
                          <m:t>𝑎</m:t>
                        </m:r>
                      </m:e>
                    </m:d>
                  </m:oMath>
                </a14:m>
                <a:r>
                  <a:rPr lang="en-GB" dirty="0"/>
                  <a:t> lies on the line with equation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=3</m:t>
                    </m:r>
                    <m:r>
                      <a:rPr lang="en-GB" b="0" i="1" smtClean="0">
                        <a:latin typeface="Cambria Math" panose="02040503050406030204" pitchFamily="18" charset="0"/>
                      </a:rPr>
                      <m:t>𝑥</m:t>
                    </m:r>
                    <m:r>
                      <a:rPr lang="en-GB" b="0" i="1" smtClean="0">
                        <a:latin typeface="Cambria Math" panose="02040503050406030204" pitchFamily="18" charset="0"/>
                      </a:rPr>
                      <m:t>+2</m:t>
                    </m:r>
                  </m:oMath>
                </a14:m>
                <a:r>
                  <a:rPr lang="en-GB" dirty="0"/>
                  <a:t>. Determine the value of </a:t>
                </a:r>
                <a14:m>
                  <m:oMath xmlns:m="http://schemas.openxmlformats.org/officeDocument/2006/math">
                    <m:r>
                      <a:rPr lang="en-GB" b="0" i="1" smtClean="0">
                        <a:latin typeface="Cambria Math" panose="02040503050406030204" pitchFamily="18" charset="0"/>
                      </a:rPr>
                      <m:t>𝑎</m:t>
                    </m:r>
                  </m:oMath>
                </a14:m>
                <a:r>
                  <a:rPr lang="en-GB" dirty="0"/>
                  <a:t>.</a:t>
                </a:r>
              </a:p>
            </p:txBody>
          </p:sp>
        </mc:Choice>
        <mc:Fallback xmlns="">
          <p:sp>
            <p:nvSpPr>
              <p:cNvPr id="8" name="TextBox 7"/>
              <p:cNvSpPr txBox="1">
                <a:spLocks noRot="1" noChangeAspect="1" noMove="1" noResize="1" noEditPoints="1" noAdjustHandles="1" noChangeArrowheads="1" noChangeShapeType="1" noTextEdit="1"/>
              </p:cNvSpPr>
              <p:nvPr/>
            </p:nvSpPr>
            <p:spPr>
              <a:xfrm>
                <a:off x="326638" y="1772816"/>
                <a:ext cx="8133793" cy="369332"/>
              </a:xfrm>
              <a:prstGeom prst="rect">
                <a:avLst/>
              </a:prstGeom>
              <a:blipFill rotWithShape="0">
                <a:blip r:embed="rId4"/>
                <a:stretch>
                  <a:fillRect b="-4762"/>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349321" y="2323909"/>
                <a:ext cx="6048672" cy="923330"/>
              </a:xfrm>
              <a:prstGeom prst="rect">
                <a:avLst/>
              </a:prstGeom>
              <a:noFill/>
            </p:spPr>
            <p:txBody>
              <a:bodyPr wrap="square" rtlCol="0">
                <a:spAutoFit/>
              </a:bodyPr>
              <a:lstStyle/>
              <a:p>
                <a:r>
                  <a:rPr lang="en-GB" dirty="0"/>
                  <a:t>Substituting in </a:t>
                </a:r>
                <a14:m>
                  <m:oMath xmlns:m="http://schemas.openxmlformats.org/officeDocument/2006/math">
                    <m:r>
                      <a:rPr lang="en-GB" b="0" i="1" smtClean="0">
                        <a:latin typeface="Cambria Math" panose="02040503050406030204" pitchFamily="18" charset="0"/>
                      </a:rPr>
                      <m:t>𝑥</m:t>
                    </m:r>
                  </m:oMath>
                </a14:m>
                <a:r>
                  <a:rPr lang="en-GB" dirty="0"/>
                  <a:t> and </a:t>
                </a:r>
                <a14:m>
                  <m:oMath xmlns:m="http://schemas.openxmlformats.org/officeDocument/2006/math">
                    <m:r>
                      <a:rPr lang="en-GB" b="0" i="1" smtClean="0">
                        <a:latin typeface="Cambria Math" panose="02040503050406030204" pitchFamily="18" charset="0"/>
                      </a:rPr>
                      <m:t>𝑦</m:t>
                    </m:r>
                  </m:oMath>
                </a14:m>
                <a:r>
                  <a:rPr lang="en-GB" dirty="0"/>
                  <a:t> value:</a:t>
                </a: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=3</m:t>
                      </m:r>
                      <m:d>
                        <m:dPr>
                          <m:ctrlPr>
                            <a:rPr lang="en-GB" b="0" i="1" smtClean="0">
                              <a:latin typeface="Cambria Math" panose="02040503050406030204" pitchFamily="18" charset="0"/>
                            </a:rPr>
                          </m:ctrlPr>
                        </m:dPr>
                        <m:e>
                          <m:r>
                            <a:rPr lang="en-GB" b="0" i="1" smtClean="0">
                              <a:latin typeface="Cambria Math" panose="02040503050406030204" pitchFamily="18" charset="0"/>
                            </a:rPr>
                            <m:t>5</m:t>
                          </m:r>
                        </m:e>
                      </m:d>
                      <m:r>
                        <a:rPr lang="en-GB" b="0" i="1" smtClean="0">
                          <a:latin typeface="Cambria Math" panose="02040503050406030204" pitchFamily="18" charset="0"/>
                        </a:rPr>
                        <m:t>+2</m:t>
                      </m:r>
                    </m:oMath>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=17</m:t>
                      </m:r>
                    </m:oMath>
                  </m:oMathPara>
                </a14:m>
                <a:endParaRPr lang="en-GB" dirty="0"/>
              </a:p>
            </p:txBody>
          </p:sp>
        </mc:Choice>
        <mc:Fallback xmlns="">
          <p:sp>
            <p:nvSpPr>
              <p:cNvPr id="9" name="TextBox 8"/>
              <p:cNvSpPr txBox="1">
                <a:spLocks noRot="1" noChangeAspect="1" noMove="1" noResize="1" noEditPoints="1" noAdjustHandles="1" noChangeArrowheads="1" noChangeShapeType="1" noTextEdit="1"/>
              </p:cNvSpPr>
              <p:nvPr/>
            </p:nvSpPr>
            <p:spPr>
              <a:xfrm>
                <a:off x="1349321" y="2323909"/>
                <a:ext cx="6048672" cy="923330"/>
              </a:xfrm>
              <a:prstGeom prst="rect">
                <a:avLst/>
              </a:prstGeom>
              <a:blipFill rotWithShape="0">
                <a:blip r:embed="rId5"/>
                <a:stretch>
                  <a:fillRect l="-806" t="-3289"/>
                </a:stretch>
              </a:blipFill>
            </p:spPr>
            <p:txBody>
              <a:bodyPr/>
              <a:lstStyle/>
              <a:p>
                <a:r>
                  <a:rPr lang="en-GB">
                    <a:noFill/>
                  </a:rPr>
                  <a:t> </a:t>
                </a:r>
              </a:p>
            </p:txBody>
          </p:sp>
        </mc:Fallback>
      </mc:AlternateContent>
      <p:sp>
        <p:nvSpPr>
          <p:cNvPr id="10" name="Rectangle 9"/>
          <p:cNvSpPr/>
          <p:nvPr/>
        </p:nvSpPr>
        <p:spPr>
          <a:xfrm>
            <a:off x="1421492" y="2251301"/>
            <a:ext cx="4662675" cy="99593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1" name="Rectangle 10"/>
          <p:cNvSpPr/>
          <p:nvPr/>
        </p:nvSpPr>
        <p:spPr>
          <a:xfrm>
            <a:off x="1421492" y="4221088"/>
            <a:ext cx="4662675" cy="126868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333852812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childTnLst>
        </p:cTn>
      </p:par>
    </p:tnLst>
    <p:bldLst>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2911"/>
            <a:ext cx="9144000"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323528" y="908720"/>
                <a:ext cx="7560840" cy="3660361"/>
              </a:xfrm>
              <a:prstGeom prst="rect">
                <a:avLst/>
              </a:prstGeom>
              <a:noFill/>
            </p:spPr>
            <p:txBody>
              <a:bodyPr wrap="square" rtlCol="0">
                <a:spAutoFit/>
              </a:bodyPr>
              <a:lstStyle/>
              <a:p>
                <a:r>
                  <a:rPr lang="en-GB" sz="2400" dirty="0"/>
                  <a:t>Determine where the line </a:t>
                </a:r>
                <a14:m>
                  <m:oMath xmlns:m="http://schemas.openxmlformats.org/officeDocument/2006/math">
                    <m:r>
                      <a:rPr lang="en-GB" sz="2400" b="0" i="1" smtClean="0">
                        <a:latin typeface="Cambria Math" panose="02040503050406030204" pitchFamily="18" charset="0"/>
                      </a:rPr>
                      <m:t>𝑥</m:t>
                    </m:r>
                    <m:r>
                      <a:rPr lang="en-GB" sz="2400" b="0" i="1" smtClean="0">
                        <a:latin typeface="Cambria Math" panose="02040503050406030204" pitchFamily="18" charset="0"/>
                      </a:rPr>
                      <m:t>+2</m:t>
                    </m:r>
                    <m:r>
                      <a:rPr lang="en-GB" sz="2400" b="0" i="1" smtClean="0">
                        <a:latin typeface="Cambria Math" panose="02040503050406030204" pitchFamily="18" charset="0"/>
                      </a:rPr>
                      <m:t>𝑦</m:t>
                    </m:r>
                    <m:r>
                      <a:rPr lang="en-GB" sz="2400" b="0" i="1" smtClean="0">
                        <a:latin typeface="Cambria Math" panose="02040503050406030204" pitchFamily="18" charset="0"/>
                      </a:rPr>
                      <m:t>=3</m:t>
                    </m:r>
                  </m:oMath>
                </a14:m>
                <a:r>
                  <a:rPr lang="en-GB" sz="2400" dirty="0"/>
                  <a:t> crosses the:</a:t>
                </a:r>
              </a:p>
              <a:p>
                <a:endParaRPr lang="en-GB" sz="2400" dirty="0"/>
              </a:p>
              <a:p>
                <a:pPr marL="342900" indent="-342900">
                  <a:buAutoNum type="alphaLcParenR"/>
                </a:pPr>
                <a:r>
                  <a:rPr lang="en-GB" sz="2400" b="0" dirty="0"/>
                  <a:t> </a:t>
                </a:r>
                <a14:m>
                  <m:oMath xmlns:m="http://schemas.openxmlformats.org/officeDocument/2006/math">
                    <m:r>
                      <a:rPr lang="en-GB" sz="2400" b="0" i="1" smtClean="0">
                        <a:latin typeface="Cambria Math" panose="02040503050406030204" pitchFamily="18" charset="0"/>
                      </a:rPr>
                      <m:t>𝑦</m:t>
                    </m:r>
                  </m:oMath>
                </a14:m>
                <a:r>
                  <a:rPr lang="en-GB" sz="2400" dirty="0"/>
                  <a:t>-axis:            </a:t>
                </a:r>
                <a:r>
                  <a:rPr lang="en-GB" sz="2400" b="1" dirty="0"/>
                  <a:t>Let </a:t>
                </a:r>
                <a14:m>
                  <m:oMath xmlns:m="http://schemas.openxmlformats.org/officeDocument/2006/math">
                    <m:r>
                      <a:rPr lang="en-GB" sz="2400" b="1" i="1" smtClean="0">
                        <a:latin typeface="Cambria Math" panose="02040503050406030204" pitchFamily="18" charset="0"/>
                      </a:rPr>
                      <m:t>𝒙</m:t>
                    </m:r>
                    <m:r>
                      <a:rPr lang="en-GB" sz="2400" b="1" i="1" smtClean="0">
                        <a:latin typeface="Cambria Math" panose="02040503050406030204" pitchFamily="18" charset="0"/>
                      </a:rPr>
                      <m:t>=</m:t>
                    </m:r>
                    <m:r>
                      <a:rPr lang="en-GB" sz="2400" b="1" i="1" smtClean="0">
                        <a:latin typeface="Cambria Math" panose="02040503050406030204" pitchFamily="18" charset="0"/>
                      </a:rPr>
                      <m:t>𝟎</m:t>
                    </m:r>
                  </m:oMath>
                </a14:m>
                <a:r>
                  <a:rPr lang="en-GB" sz="2400" b="1" dirty="0"/>
                  <a:t>.</a:t>
                </a:r>
                <a:br>
                  <a:rPr lang="en-GB" sz="2400" b="1" dirty="0"/>
                </a:br>
                <a:r>
                  <a:rPr lang="en-GB" sz="2400" b="1" dirty="0"/>
                  <a:t>                            </a:t>
                </a:r>
                <a14:m>
                  <m:oMath xmlns:m="http://schemas.openxmlformats.org/officeDocument/2006/math">
                    <m:r>
                      <a:rPr lang="en-GB" sz="2400" b="1" i="1" smtClean="0">
                        <a:latin typeface="Cambria Math" panose="02040503050406030204" pitchFamily="18" charset="0"/>
                      </a:rPr>
                      <m:t>𝟐</m:t>
                    </m:r>
                    <m:r>
                      <a:rPr lang="en-GB" sz="2400" b="1" i="1" smtClean="0">
                        <a:latin typeface="Cambria Math" panose="02040503050406030204" pitchFamily="18" charset="0"/>
                      </a:rPr>
                      <m:t>𝒚</m:t>
                    </m:r>
                    <m:r>
                      <a:rPr lang="en-GB" sz="2400" b="1" i="1" smtClean="0">
                        <a:latin typeface="Cambria Math" panose="02040503050406030204" pitchFamily="18" charset="0"/>
                      </a:rPr>
                      <m:t>=</m:t>
                    </m:r>
                    <m:r>
                      <a:rPr lang="en-GB" sz="2400" b="1" i="1" smtClean="0">
                        <a:latin typeface="Cambria Math" panose="02040503050406030204" pitchFamily="18" charset="0"/>
                      </a:rPr>
                      <m:t>𝟑</m:t>
                    </m:r>
                    <m:r>
                      <a:rPr lang="en-GB" sz="2400" b="1" i="1" smtClean="0">
                        <a:latin typeface="Cambria Math" panose="02040503050406030204" pitchFamily="18" charset="0"/>
                      </a:rPr>
                      <m:t>      →  </m:t>
                    </m:r>
                    <m:r>
                      <a:rPr lang="en-GB" sz="2400" b="1" i="1" smtClean="0">
                        <a:latin typeface="Cambria Math" panose="02040503050406030204" pitchFamily="18" charset="0"/>
                      </a:rPr>
                      <m:t>𝒚</m:t>
                    </m:r>
                    <m:r>
                      <a:rPr lang="en-GB" sz="2400" b="1" i="1" smtClean="0">
                        <a:latin typeface="Cambria Math" panose="02040503050406030204" pitchFamily="18" charset="0"/>
                      </a:rPr>
                      <m:t>=</m:t>
                    </m:r>
                    <m:f>
                      <m:fPr>
                        <m:ctrlPr>
                          <a:rPr lang="en-GB" sz="2400" b="1" i="1" smtClean="0">
                            <a:latin typeface="Cambria Math" panose="02040503050406030204" pitchFamily="18" charset="0"/>
                          </a:rPr>
                        </m:ctrlPr>
                      </m:fPr>
                      <m:num>
                        <m:r>
                          <a:rPr lang="en-GB" sz="2400" b="1" i="1" smtClean="0">
                            <a:latin typeface="Cambria Math" panose="02040503050406030204" pitchFamily="18" charset="0"/>
                          </a:rPr>
                          <m:t>𝟑</m:t>
                        </m:r>
                      </m:num>
                      <m:den>
                        <m:r>
                          <a:rPr lang="en-GB" sz="2400" b="1" i="1" smtClean="0">
                            <a:latin typeface="Cambria Math" panose="02040503050406030204" pitchFamily="18" charset="0"/>
                          </a:rPr>
                          <m:t>𝟐</m:t>
                        </m:r>
                      </m:den>
                    </m:f>
                  </m:oMath>
                </a14:m>
                <a:br>
                  <a:rPr lang="en-GB" sz="2400" b="1" dirty="0"/>
                </a:br>
                <a:r>
                  <a:rPr lang="en-GB" sz="2400" b="1" dirty="0"/>
                  <a:t>                            </a:t>
                </a:r>
                <a14:m>
                  <m:oMath xmlns:m="http://schemas.openxmlformats.org/officeDocument/2006/math">
                    <m:d>
                      <m:dPr>
                        <m:ctrlPr>
                          <a:rPr lang="en-GB" sz="2400" b="1" i="1" smtClean="0">
                            <a:latin typeface="Cambria Math" panose="02040503050406030204" pitchFamily="18" charset="0"/>
                          </a:rPr>
                        </m:ctrlPr>
                      </m:dPr>
                      <m:e>
                        <m:r>
                          <a:rPr lang="en-GB" sz="2400" b="1" i="1" smtClean="0">
                            <a:latin typeface="Cambria Math" panose="02040503050406030204" pitchFamily="18" charset="0"/>
                          </a:rPr>
                          <m:t>𝟎</m:t>
                        </m:r>
                        <m:r>
                          <a:rPr lang="en-GB" sz="2400" b="1" i="1" smtClean="0">
                            <a:latin typeface="Cambria Math" panose="02040503050406030204" pitchFamily="18" charset="0"/>
                          </a:rPr>
                          <m:t>,</m:t>
                        </m:r>
                        <m:f>
                          <m:fPr>
                            <m:ctrlPr>
                              <a:rPr lang="en-GB" sz="2400" b="1" i="1" smtClean="0">
                                <a:latin typeface="Cambria Math" panose="02040503050406030204" pitchFamily="18" charset="0"/>
                              </a:rPr>
                            </m:ctrlPr>
                          </m:fPr>
                          <m:num>
                            <m:r>
                              <a:rPr lang="en-GB" sz="2400" b="1" i="1" smtClean="0">
                                <a:latin typeface="Cambria Math" panose="02040503050406030204" pitchFamily="18" charset="0"/>
                              </a:rPr>
                              <m:t>𝟑</m:t>
                            </m:r>
                          </m:num>
                          <m:den>
                            <m:r>
                              <a:rPr lang="en-GB" sz="2400" b="1" i="1" smtClean="0">
                                <a:latin typeface="Cambria Math" panose="02040503050406030204" pitchFamily="18" charset="0"/>
                              </a:rPr>
                              <m:t>𝟐</m:t>
                            </m:r>
                          </m:den>
                        </m:f>
                      </m:e>
                    </m:d>
                  </m:oMath>
                </a14:m>
                <a:endParaRPr lang="en-GB" sz="2400" b="1" dirty="0"/>
              </a:p>
              <a:p>
                <a:pPr marL="342900" indent="-342900">
                  <a:buAutoNum type="alphaLcParenR"/>
                </a:pPr>
                <a:r>
                  <a:rPr lang="en-GB" sz="2400" b="0" dirty="0"/>
                  <a:t> </a:t>
                </a:r>
                <a14:m>
                  <m:oMath xmlns:m="http://schemas.openxmlformats.org/officeDocument/2006/math">
                    <m:r>
                      <a:rPr lang="en-GB" sz="2400" b="0" i="1" smtClean="0">
                        <a:latin typeface="Cambria Math" panose="02040503050406030204" pitchFamily="18" charset="0"/>
                      </a:rPr>
                      <m:t>𝑥</m:t>
                    </m:r>
                  </m:oMath>
                </a14:m>
                <a:r>
                  <a:rPr lang="en-GB" sz="2400" dirty="0"/>
                  <a:t>-axis:          </a:t>
                </a:r>
                <a:r>
                  <a:rPr lang="en-GB" sz="2400" b="1" dirty="0"/>
                  <a:t>Let </a:t>
                </a:r>
                <a14:m>
                  <m:oMath xmlns:m="http://schemas.openxmlformats.org/officeDocument/2006/math">
                    <m:r>
                      <a:rPr lang="en-GB" sz="2400" b="1" i="1" smtClean="0">
                        <a:latin typeface="Cambria Math" panose="02040503050406030204" pitchFamily="18" charset="0"/>
                      </a:rPr>
                      <m:t>𝒚</m:t>
                    </m:r>
                    <m:r>
                      <a:rPr lang="en-GB" sz="2400" b="1" i="1" smtClean="0">
                        <a:latin typeface="Cambria Math" panose="02040503050406030204" pitchFamily="18" charset="0"/>
                      </a:rPr>
                      <m:t>=</m:t>
                    </m:r>
                    <m:r>
                      <a:rPr lang="en-GB" sz="2400" b="1" i="1" smtClean="0">
                        <a:latin typeface="Cambria Math" panose="02040503050406030204" pitchFamily="18" charset="0"/>
                      </a:rPr>
                      <m:t>𝟎</m:t>
                    </m:r>
                  </m:oMath>
                </a14:m>
                <a:br>
                  <a:rPr lang="en-GB" sz="2400" b="1" dirty="0"/>
                </a:br>
                <a:r>
                  <a:rPr lang="en-GB" sz="2400" b="1" dirty="0"/>
                  <a:t>                           </a:t>
                </a:r>
                <a14:m>
                  <m:oMath xmlns:m="http://schemas.openxmlformats.org/officeDocument/2006/math">
                    <m:r>
                      <a:rPr lang="en-GB" sz="2400" b="1" i="1" smtClean="0">
                        <a:latin typeface="Cambria Math" panose="02040503050406030204" pitchFamily="18" charset="0"/>
                      </a:rPr>
                      <m:t>𝒙</m:t>
                    </m:r>
                    <m:r>
                      <a:rPr lang="en-GB" sz="2400" b="1" i="1" smtClean="0">
                        <a:latin typeface="Cambria Math" panose="02040503050406030204" pitchFamily="18" charset="0"/>
                      </a:rPr>
                      <m:t>+</m:t>
                    </m:r>
                    <m:r>
                      <a:rPr lang="en-GB" sz="2400" b="1" i="1" smtClean="0">
                        <a:latin typeface="Cambria Math" panose="02040503050406030204" pitchFamily="18" charset="0"/>
                      </a:rPr>
                      <m:t>𝟎</m:t>
                    </m:r>
                    <m:r>
                      <a:rPr lang="en-GB" sz="2400" b="1" i="1" smtClean="0">
                        <a:latin typeface="Cambria Math" panose="02040503050406030204" pitchFamily="18" charset="0"/>
                      </a:rPr>
                      <m:t>=</m:t>
                    </m:r>
                    <m:r>
                      <a:rPr lang="en-GB" sz="2400" b="1" i="1" smtClean="0">
                        <a:latin typeface="Cambria Math" panose="02040503050406030204" pitchFamily="18" charset="0"/>
                      </a:rPr>
                      <m:t>𝟑</m:t>
                    </m:r>
                  </m:oMath>
                </a14:m>
                <a:br>
                  <a:rPr lang="en-GB" sz="2400" b="1" dirty="0"/>
                </a:br>
                <a:r>
                  <a:rPr lang="en-GB" sz="2400" b="1" dirty="0"/>
                  <a:t>                         </a:t>
                </a:r>
                <a14:m>
                  <m:oMath xmlns:m="http://schemas.openxmlformats.org/officeDocument/2006/math">
                    <m:d>
                      <m:dPr>
                        <m:ctrlPr>
                          <a:rPr lang="en-GB" sz="2400" b="1" i="1" smtClean="0">
                            <a:latin typeface="Cambria Math" panose="02040503050406030204" pitchFamily="18" charset="0"/>
                          </a:rPr>
                        </m:ctrlPr>
                      </m:dPr>
                      <m:e>
                        <m:r>
                          <a:rPr lang="en-GB" sz="2400" b="1" i="1" smtClean="0">
                            <a:latin typeface="Cambria Math" panose="02040503050406030204" pitchFamily="18" charset="0"/>
                          </a:rPr>
                          <m:t>𝟑</m:t>
                        </m:r>
                        <m:r>
                          <a:rPr lang="en-GB" sz="2400" b="1" i="1" smtClean="0">
                            <a:latin typeface="Cambria Math" panose="02040503050406030204" pitchFamily="18" charset="0"/>
                          </a:rPr>
                          <m:t>,</m:t>
                        </m:r>
                        <m:r>
                          <a:rPr lang="en-GB" sz="2400" b="1" i="1" smtClean="0">
                            <a:latin typeface="Cambria Math" panose="02040503050406030204" pitchFamily="18" charset="0"/>
                          </a:rPr>
                          <m:t>𝟎</m:t>
                        </m:r>
                      </m:e>
                    </m:d>
                  </m:oMath>
                </a14:m>
                <a:endParaRPr lang="en-GB" b="1" dirty="0"/>
              </a:p>
              <a:p>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323528" y="908720"/>
                <a:ext cx="7560840" cy="3660361"/>
              </a:xfrm>
              <a:prstGeom prst="rect">
                <a:avLst/>
              </a:prstGeom>
              <a:blipFill rotWithShape="0">
                <a:blip r:embed="rId2"/>
                <a:stretch>
                  <a:fillRect l="-1290" t="-1331"/>
                </a:stretch>
              </a:blipFill>
            </p:spPr>
            <p:txBody>
              <a:bodyPr/>
              <a:lstStyle/>
              <a:p>
                <a:r>
                  <a:rPr lang="en-GB">
                    <a:noFill/>
                  </a:rPr>
                  <a:t> </a:t>
                </a:r>
              </a:p>
            </p:txBody>
          </p:sp>
        </mc:Fallback>
      </mc:AlternateContent>
      <p:sp>
        <p:nvSpPr>
          <p:cNvPr id="6" name="Rectangle 5"/>
          <p:cNvSpPr/>
          <p:nvPr/>
        </p:nvSpPr>
        <p:spPr>
          <a:xfrm>
            <a:off x="2253258" y="1628800"/>
            <a:ext cx="4118942" cy="151216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7" name="Rectangle 6"/>
          <p:cNvSpPr/>
          <p:nvPr/>
        </p:nvSpPr>
        <p:spPr>
          <a:xfrm>
            <a:off x="2253258" y="3212976"/>
            <a:ext cx="4118942" cy="100811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cxnSp>
        <p:nvCxnSpPr>
          <p:cNvPr id="8" name="Straight Connector 7"/>
          <p:cNvCxnSpPr/>
          <p:nvPr/>
        </p:nvCxnSpPr>
        <p:spPr>
          <a:xfrm>
            <a:off x="0" y="4365104"/>
            <a:ext cx="914400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467544" y="4569081"/>
                <a:ext cx="7344816" cy="923330"/>
              </a:xfrm>
              <a:prstGeom prst="rect">
                <a:avLst/>
              </a:prstGeom>
              <a:noFill/>
            </p:spPr>
            <p:txBody>
              <a:bodyPr wrap="square" rtlCol="0">
                <a:spAutoFit/>
              </a:bodyPr>
              <a:lstStyle/>
              <a:p>
                <a:r>
                  <a:rPr lang="en-GB" dirty="0"/>
                  <a:t>What mistakes do you think it’s easy to make?</a:t>
                </a:r>
              </a:p>
              <a:p>
                <a:pPr marL="285750" indent="-285750">
                  <a:buFont typeface="Arial" panose="020B0604020202020204" pitchFamily="34" charset="0"/>
                  <a:buChar char="•"/>
                </a:pPr>
                <a:r>
                  <a:rPr lang="en-GB" b="1" dirty="0"/>
                  <a:t>Mixing up </a:t>
                </a:r>
                <a14:m>
                  <m:oMath xmlns:m="http://schemas.openxmlformats.org/officeDocument/2006/math">
                    <m:r>
                      <a:rPr lang="en-GB" b="1" i="1" dirty="0" smtClean="0">
                        <a:latin typeface="Cambria Math" panose="02040503050406030204" pitchFamily="18" charset="0"/>
                      </a:rPr>
                      <m:t>𝒙</m:t>
                    </m:r>
                  </m:oMath>
                </a14:m>
                <a:r>
                  <a:rPr lang="en-GB" b="1" dirty="0"/>
                  <a:t>/</a:t>
                </a:r>
                <a14:m>
                  <m:oMath xmlns:m="http://schemas.openxmlformats.org/officeDocument/2006/math">
                    <m:r>
                      <a:rPr lang="en-GB" b="1" i="1" dirty="0" smtClean="0">
                        <a:latin typeface="Cambria Math" panose="02040503050406030204" pitchFamily="18" charset="0"/>
                      </a:rPr>
                      <m:t>𝒚</m:t>
                    </m:r>
                  </m:oMath>
                </a14:m>
                <a:r>
                  <a:rPr lang="en-GB" b="1" dirty="0"/>
                  <a:t>: Putting answer as </a:t>
                </a:r>
                <a14:m>
                  <m:oMath xmlns:m="http://schemas.openxmlformats.org/officeDocument/2006/math">
                    <m:r>
                      <a:rPr lang="en-GB" b="1" i="1" smtClean="0">
                        <a:latin typeface="Cambria Math" panose="02040503050406030204" pitchFamily="18" charset="0"/>
                      </a:rPr>
                      <m:t>(</m:t>
                    </m:r>
                    <m:r>
                      <a:rPr lang="en-GB" b="1" i="1" smtClean="0">
                        <a:latin typeface="Cambria Math" panose="02040503050406030204" pitchFamily="18" charset="0"/>
                      </a:rPr>
                      <m:t>𝟎</m:t>
                    </m:r>
                    <m:r>
                      <a:rPr lang="en-GB" b="1" i="1" smtClean="0">
                        <a:latin typeface="Cambria Math" panose="02040503050406030204" pitchFamily="18" charset="0"/>
                      </a:rPr>
                      <m:t>,</m:t>
                    </m:r>
                    <m:r>
                      <a:rPr lang="en-GB" b="1" i="1" smtClean="0">
                        <a:latin typeface="Cambria Math" panose="02040503050406030204" pitchFamily="18" charset="0"/>
                      </a:rPr>
                      <m:t>𝟑</m:t>
                    </m:r>
                    <m:r>
                      <a:rPr lang="en-GB" b="1" i="1" smtClean="0">
                        <a:latin typeface="Cambria Math" panose="02040503050406030204" pitchFamily="18" charset="0"/>
                      </a:rPr>
                      <m:t>)</m:t>
                    </m:r>
                  </m:oMath>
                </a14:m>
                <a:r>
                  <a:rPr lang="en-GB" b="1" dirty="0"/>
                  <a:t> rather than </a:t>
                </a:r>
                <a14:m>
                  <m:oMath xmlns:m="http://schemas.openxmlformats.org/officeDocument/2006/math">
                    <m:r>
                      <a:rPr lang="en-GB" b="1" i="1" smtClean="0">
                        <a:latin typeface="Cambria Math" panose="02040503050406030204" pitchFamily="18" charset="0"/>
                      </a:rPr>
                      <m:t>(</m:t>
                    </m:r>
                    <m:r>
                      <a:rPr lang="en-GB" b="1" i="1" smtClean="0">
                        <a:latin typeface="Cambria Math" panose="02040503050406030204" pitchFamily="18" charset="0"/>
                      </a:rPr>
                      <m:t>𝟑</m:t>
                    </m:r>
                    <m:r>
                      <a:rPr lang="en-GB" b="1" i="1" smtClean="0">
                        <a:latin typeface="Cambria Math" panose="02040503050406030204" pitchFamily="18" charset="0"/>
                      </a:rPr>
                      <m:t>,</m:t>
                    </m:r>
                    <m:r>
                      <a:rPr lang="en-GB" b="1" i="1" smtClean="0">
                        <a:latin typeface="Cambria Math" panose="02040503050406030204" pitchFamily="18" charset="0"/>
                      </a:rPr>
                      <m:t>𝟎</m:t>
                    </m:r>
                    <m:r>
                      <a:rPr lang="en-GB" b="1" i="1" smtClean="0">
                        <a:latin typeface="Cambria Math" panose="02040503050406030204" pitchFamily="18" charset="0"/>
                      </a:rPr>
                      <m:t>)</m:t>
                    </m:r>
                  </m:oMath>
                </a14:m>
                <a:r>
                  <a:rPr lang="en-GB" b="1" dirty="0"/>
                  <a:t>.</a:t>
                </a:r>
              </a:p>
              <a:p>
                <a:pPr marL="285750" indent="-285750">
                  <a:buFont typeface="Arial" panose="020B0604020202020204" pitchFamily="34" charset="0"/>
                  <a:buChar char="•"/>
                </a:pPr>
                <a:r>
                  <a:rPr lang="en-GB" b="1" dirty="0"/>
                  <a:t>Setting </a:t>
                </a:r>
                <a14:m>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𝟎</m:t>
                    </m:r>
                  </m:oMath>
                </a14:m>
                <a:r>
                  <a:rPr lang="en-GB" b="1" dirty="0"/>
                  <a:t> to find the </a:t>
                </a:r>
                <a14:m>
                  <m:oMath xmlns:m="http://schemas.openxmlformats.org/officeDocument/2006/math">
                    <m:r>
                      <a:rPr lang="en-GB" b="1" i="1" smtClean="0">
                        <a:latin typeface="Cambria Math" panose="02040503050406030204" pitchFamily="18" charset="0"/>
                      </a:rPr>
                      <m:t>𝒚</m:t>
                    </m:r>
                  </m:oMath>
                </a14:m>
                <a:r>
                  <a:rPr lang="en-GB" b="1" dirty="0"/>
                  <a:t>-intercept, or </a:t>
                </a:r>
                <a14:m>
                  <m:oMath xmlns:m="http://schemas.openxmlformats.org/officeDocument/2006/math">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𝟎</m:t>
                    </m:r>
                  </m:oMath>
                </a14:m>
                <a:r>
                  <a:rPr lang="en-GB" b="1" dirty="0"/>
                  <a:t> to find the </a:t>
                </a:r>
                <a14:m>
                  <m:oMath xmlns:m="http://schemas.openxmlformats.org/officeDocument/2006/math">
                    <m:r>
                      <a:rPr lang="en-GB" b="1" i="1" smtClean="0">
                        <a:latin typeface="Cambria Math" panose="02040503050406030204" pitchFamily="18" charset="0"/>
                      </a:rPr>
                      <m:t>𝒙</m:t>
                    </m:r>
                  </m:oMath>
                </a14:m>
                <a:r>
                  <a:rPr lang="en-GB" b="1" dirty="0"/>
                  <a:t>-intercept.</a:t>
                </a:r>
              </a:p>
            </p:txBody>
          </p:sp>
        </mc:Choice>
        <mc:Fallback xmlns="">
          <p:sp>
            <p:nvSpPr>
              <p:cNvPr id="11" name="TextBox 10"/>
              <p:cNvSpPr txBox="1">
                <a:spLocks noRot="1" noChangeAspect="1" noMove="1" noResize="1" noEditPoints="1" noAdjustHandles="1" noChangeArrowheads="1" noChangeShapeType="1" noTextEdit="1"/>
              </p:cNvSpPr>
              <p:nvPr/>
            </p:nvSpPr>
            <p:spPr>
              <a:xfrm>
                <a:off x="467544" y="4569081"/>
                <a:ext cx="7344816" cy="923330"/>
              </a:xfrm>
              <a:prstGeom prst="rect">
                <a:avLst/>
              </a:prstGeom>
              <a:blipFill>
                <a:blip r:embed="rId3"/>
                <a:stretch>
                  <a:fillRect l="-747" t="-3974" b="-9934"/>
                </a:stretch>
              </a:blipFill>
            </p:spPr>
            <p:txBody>
              <a:bodyPr/>
              <a:lstStyle/>
              <a:p>
                <a:r>
                  <a:rPr lang="en-GB">
                    <a:noFill/>
                  </a:rPr>
                  <a:t> </a:t>
                </a:r>
              </a:p>
            </p:txBody>
          </p:sp>
        </mc:Fallback>
      </mc:AlternateContent>
      <p:sp>
        <p:nvSpPr>
          <p:cNvPr id="12" name="Rectangle 11"/>
          <p:cNvSpPr/>
          <p:nvPr/>
        </p:nvSpPr>
        <p:spPr>
          <a:xfrm>
            <a:off x="774058" y="4888313"/>
            <a:ext cx="6984776" cy="61373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316957968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6"/>
                  </p:tgtEl>
                </p:cond>
              </p:nextCondLst>
            </p:seq>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7"/>
                                        </p:tgtEl>
                                      </p:cBhvr>
                                    </p:animEffect>
                                    <p:set>
                                      <p:cBhvr>
                                        <p:cTn id="13"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14" restart="whenNotActive" fill="hold" evtFilter="cancelBubble" nodeType="interactiveSeq">
                <p:stCondLst>
                  <p:cond evt="onClick" delay="0">
                    <p:tgtEl>
                      <p:spTgt spid="12"/>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2"/>
                                        </p:tgtEl>
                                      </p:cBhvr>
                                    </p:animEffect>
                                    <p:set>
                                      <p:cBhvr>
                                        <p:cTn id="19"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6" grpId="0" animBg="1"/>
      <p:bldP spid="7"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251520" y="746701"/>
                <a:ext cx="8496944" cy="954107"/>
              </a:xfrm>
              <a:prstGeom prst="rect">
                <a:avLst/>
              </a:prstGeom>
              <a:noFill/>
            </p:spPr>
            <p:txBody>
              <a:bodyPr wrap="square" rtlCol="0">
                <a:spAutoFit/>
              </a:bodyPr>
              <a:lstStyle/>
              <a:p>
                <a:r>
                  <a:rPr lang="en-GB" sz="2800" dirty="0"/>
                  <a:t>The steepness of a line is known as the </a:t>
                </a:r>
                <a:r>
                  <a:rPr lang="en-GB" sz="2800" b="1" dirty="0"/>
                  <a:t>gradient</a:t>
                </a:r>
                <a:r>
                  <a:rPr lang="en-GB" sz="2800" dirty="0"/>
                  <a:t>.</a:t>
                </a:r>
              </a:p>
              <a:p>
                <a:r>
                  <a:rPr lang="en-GB" sz="2800" dirty="0"/>
                  <a:t>It tells us what </a:t>
                </a:r>
                <a14:m>
                  <m:oMath xmlns:m="http://schemas.openxmlformats.org/officeDocument/2006/math">
                    <m:r>
                      <a:rPr lang="en-GB" sz="2800" b="0" i="1" smtClean="0">
                        <a:latin typeface="Cambria Math"/>
                      </a:rPr>
                      <m:t>𝑦</m:t>
                    </m:r>
                  </m:oMath>
                </a14:m>
                <a:r>
                  <a:rPr lang="en-GB" sz="2800" dirty="0"/>
                  <a:t> changes by as </a:t>
                </a:r>
                <a14:m>
                  <m:oMath xmlns:m="http://schemas.openxmlformats.org/officeDocument/2006/math">
                    <m:r>
                      <a:rPr lang="en-GB" sz="2800" b="0" i="1" smtClean="0">
                        <a:latin typeface="Cambria Math"/>
                      </a:rPr>
                      <m:t>𝑥</m:t>
                    </m:r>
                  </m:oMath>
                </a14:m>
                <a:r>
                  <a:rPr lang="en-GB" sz="2800" dirty="0"/>
                  <a:t> increases by 1.</a:t>
                </a:r>
              </a:p>
            </p:txBody>
          </p:sp>
        </mc:Choice>
        <mc:Fallback xmlns="">
          <p:sp>
            <p:nvSpPr>
              <p:cNvPr id="5" name="TextBox 4"/>
              <p:cNvSpPr txBox="1">
                <a:spLocks noRot="1" noChangeAspect="1" noMove="1" noResize="1" noEditPoints="1" noAdjustHandles="1" noChangeArrowheads="1" noChangeShapeType="1" noTextEdit="1"/>
              </p:cNvSpPr>
              <p:nvPr/>
            </p:nvSpPr>
            <p:spPr>
              <a:xfrm>
                <a:off x="251520" y="746701"/>
                <a:ext cx="8496944" cy="954107"/>
              </a:xfrm>
              <a:prstGeom prst="rect">
                <a:avLst/>
              </a:prstGeom>
              <a:blipFill rotWithShape="0">
                <a:blip r:embed="rId2"/>
                <a:stretch>
                  <a:fillRect l="-1435" t="-5732" b="-17197"/>
                </a:stretch>
              </a:blipFill>
            </p:spPr>
            <p:txBody>
              <a:bodyPr/>
              <a:lstStyle/>
              <a:p>
                <a:r>
                  <a:rPr lang="en-GB">
                    <a:noFill/>
                  </a:rPr>
                  <a:t> </a:t>
                </a:r>
              </a:p>
            </p:txBody>
          </p:sp>
        </mc:Fallback>
      </mc:AlternateContent>
      <p:cxnSp>
        <p:nvCxnSpPr>
          <p:cNvPr id="9" name="Straight Arrow Connector 8"/>
          <p:cNvCxnSpPr/>
          <p:nvPr/>
        </p:nvCxnSpPr>
        <p:spPr>
          <a:xfrm flipV="1">
            <a:off x="1786270" y="1881514"/>
            <a:ext cx="21436" cy="3126421"/>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0" name="Straight Arrow Connector 9"/>
          <p:cNvCxnSpPr/>
          <p:nvPr/>
        </p:nvCxnSpPr>
        <p:spPr>
          <a:xfrm flipV="1">
            <a:off x="1041991" y="3897738"/>
            <a:ext cx="2924617" cy="25676"/>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4" name="Straight Connector 13"/>
          <p:cNvCxnSpPr/>
          <p:nvPr/>
        </p:nvCxnSpPr>
        <p:spPr>
          <a:xfrm flipV="1">
            <a:off x="1637414" y="1881514"/>
            <a:ext cx="1119916" cy="3158319"/>
          </a:xfrm>
          <a:prstGeom prst="line">
            <a:avLst/>
          </a:prstGeom>
        </p:spPr>
        <p:style>
          <a:lnRef idx="3">
            <a:schemeClr val="accent4"/>
          </a:lnRef>
          <a:fillRef idx="0">
            <a:schemeClr val="accent4"/>
          </a:fillRef>
          <a:effectRef idx="2">
            <a:schemeClr val="accent4"/>
          </a:effectRef>
          <a:fontRef idx="minor">
            <a:schemeClr val="tx1"/>
          </a:fontRef>
        </p:style>
      </p:cxnSp>
      <p:cxnSp>
        <p:nvCxnSpPr>
          <p:cNvPr id="16" name="Straight Connector 15"/>
          <p:cNvCxnSpPr/>
          <p:nvPr/>
        </p:nvCxnSpPr>
        <p:spPr>
          <a:xfrm>
            <a:off x="2253274" y="3321674"/>
            <a:ext cx="504056" cy="0"/>
          </a:xfrm>
          <a:prstGeom prst="line">
            <a:avLst/>
          </a:prstGeom>
          <a:ln>
            <a:prstDash val="sysDot"/>
          </a:ln>
        </p:spPr>
        <p:style>
          <a:lnRef idx="2">
            <a:schemeClr val="dk1"/>
          </a:lnRef>
          <a:fillRef idx="0">
            <a:schemeClr val="dk1"/>
          </a:fillRef>
          <a:effectRef idx="1">
            <a:schemeClr val="dk1"/>
          </a:effectRef>
          <a:fontRef idx="minor">
            <a:schemeClr val="tx1"/>
          </a:fontRef>
        </p:style>
      </p:cxnSp>
      <p:cxnSp>
        <p:nvCxnSpPr>
          <p:cNvPr id="17" name="Straight Connector 16"/>
          <p:cNvCxnSpPr/>
          <p:nvPr/>
        </p:nvCxnSpPr>
        <p:spPr>
          <a:xfrm flipV="1">
            <a:off x="2757330" y="2025530"/>
            <a:ext cx="0" cy="1296144"/>
          </a:xfrm>
          <a:prstGeom prst="line">
            <a:avLst/>
          </a:prstGeom>
          <a:ln>
            <a:prstDash val="sysDot"/>
            <a:tailEnd type="triangle" w="lg" len="lg"/>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0" name="TextBox 19"/>
              <p:cNvSpPr txBox="1"/>
              <p:nvPr/>
            </p:nvSpPr>
            <p:spPr>
              <a:xfrm>
                <a:off x="2361286" y="3321674"/>
                <a:ext cx="28803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dirty="0" smtClean="0">
                          <a:latin typeface="Cambria Math"/>
                        </a:rPr>
                        <m:t>1</m:t>
                      </m:r>
                    </m:oMath>
                  </m:oMathPara>
                </a14:m>
                <a:endParaRPr lang="en-GB" dirty="0"/>
              </a:p>
            </p:txBody>
          </p:sp>
        </mc:Choice>
        <mc:Fallback xmlns="">
          <p:sp>
            <p:nvSpPr>
              <p:cNvPr id="20" name="TextBox 19"/>
              <p:cNvSpPr txBox="1">
                <a:spLocks noRot="1" noChangeAspect="1" noMove="1" noResize="1" noEditPoints="1" noAdjustHandles="1" noChangeArrowheads="1" noChangeShapeType="1" noTextEdit="1"/>
              </p:cNvSpPr>
              <p:nvPr/>
            </p:nvSpPr>
            <p:spPr>
              <a:xfrm>
                <a:off x="2361286" y="3321674"/>
                <a:ext cx="288032" cy="369332"/>
              </a:xfrm>
              <a:prstGeom prst="rect">
                <a:avLst/>
              </a:prstGeom>
              <a:blipFill>
                <a:blip r:embed="rId3"/>
                <a:stretch>
                  <a:fillRect r="-41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2757330" y="2673602"/>
                <a:ext cx="4553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𝑚</m:t>
                      </m:r>
                    </m:oMath>
                  </m:oMathPara>
                </a14:m>
                <a:endParaRPr lang="en-GB" dirty="0"/>
              </a:p>
            </p:txBody>
          </p:sp>
        </mc:Choice>
        <mc:Fallback xmlns="">
          <p:sp>
            <p:nvSpPr>
              <p:cNvPr id="21" name="TextBox 20"/>
              <p:cNvSpPr txBox="1">
                <a:spLocks noRot="1" noChangeAspect="1" noMove="1" noResize="1" noEditPoints="1" noAdjustHandles="1" noChangeArrowheads="1" noChangeShapeType="1" noTextEdit="1"/>
              </p:cNvSpPr>
              <p:nvPr/>
            </p:nvSpPr>
            <p:spPr>
              <a:xfrm>
                <a:off x="2757330" y="2673602"/>
                <a:ext cx="455341" cy="36933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5111326" y="3683741"/>
                <a:ext cx="3011948" cy="1017523"/>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3200" b="0" i="1" smtClean="0">
                          <a:latin typeface="Cambria Math" panose="02040503050406030204" pitchFamily="18" charset="0"/>
                        </a:rPr>
                        <m:t>𝑚</m:t>
                      </m:r>
                      <m:r>
                        <a:rPr lang="en-GB" sz="3200" b="0" i="1" smtClean="0">
                          <a:latin typeface="Cambria Math" panose="02040503050406030204" pitchFamily="18" charset="0"/>
                        </a:rPr>
                        <m:t>=</m:t>
                      </m:r>
                      <m:f>
                        <m:fPr>
                          <m:ctrlPr>
                            <a:rPr lang="en-GB" sz="3200" b="0" i="1" smtClean="0">
                              <a:latin typeface="Cambria Math" panose="02040503050406030204" pitchFamily="18" charset="0"/>
                            </a:rPr>
                          </m:ctrlPr>
                        </m:fPr>
                        <m:num>
                          <m:r>
                            <m:rPr>
                              <m:sty m:val="p"/>
                            </m:rPr>
                            <a:rPr lang="en-GB" sz="3200" b="0" i="0" smtClean="0">
                              <a:latin typeface="Cambria Math" panose="02040503050406030204" pitchFamily="18" charset="0"/>
                            </a:rPr>
                            <m:t>Δ</m:t>
                          </m:r>
                          <m:r>
                            <a:rPr lang="en-GB" sz="3200" b="0" i="1" smtClean="0">
                              <a:latin typeface="Cambria Math" panose="02040503050406030204" pitchFamily="18" charset="0"/>
                            </a:rPr>
                            <m:t>𝑦</m:t>
                          </m:r>
                        </m:num>
                        <m:den>
                          <m:r>
                            <m:rPr>
                              <m:sty m:val="p"/>
                            </m:rPr>
                            <a:rPr lang="en-GB" sz="3200" b="0" i="0" smtClean="0">
                              <a:latin typeface="Cambria Math" panose="02040503050406030204" pitchFamily="18" charset="0"/>
                            </a:rPr>
                            <m:t>Δ</m:t>
                          </m:r>
                          <m:r>
                            <a:rPr lang="en-GB" sz="3200" b="0" i="1" smtClean="0">
                              <a:latin typeface="Cambria Math" panose="02040503050406030204" pitchFamily="18" charset="0"/>
                            </a:rPr>
                            <m:t>𝑥</m:t>
                          </m:r>
                        </m:den>
                      </m:f>
                    </m:oMath>
                  </m:oMathPara>
                </a14:m>
                <a:endParaRPr lang="en-GB" sz="2400" dirty="0"/>
              </a:p>
            </p:txBody>
          </p:sp>
        </mc:Choice>
        <mc:Fallback xmlns="">
          <p:sp>
            <p:nvSpPr>
              <p:cNvPr id="22" name="TextBox 21"/>
              <p:cNvSpPr txBox="1">
                <a:spLocks noRot="1" noChangeAspect="1" noMove="1" noResize="1" noEditPoints="1" noAdjustHandles="1" noChangeArrowheads="1" noChangeShapeType="1" noTextEdit="1"/>
              </p:cNvSpPr>
              <p:nvPr/>
            </p:nvSpPr>
            <p:spPr>
              <a:xfrm>
                <a:off x="5111326" y="3683741"/>
                <a:ext cx="3011948" cy="1017523"/>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6007395" y="4939850"/>
                <a:ext cx="2764465" cy="523220"/>
              </a:xfrm>
              <a:prstGeom prst="rect">
                <a:avLst/>
              </a:prstGeom>
              <a:noFill/>
            </p:spPr>
            <p:txBody>
              <a:bodyPr wrap="square" rtlCol="0">
                <a:spAutoFit/>
              </a:bodyPr>
              <a:lstStyle/>
              <a:p>
                <a14:m>
                  <m:oMath xmlns:m="http://schemas.openxmlformats.org/officeDocument/2006/math">
                    <m:r>
                      <m:rPr>
                        <m:sty m:val="p"/>
                      </m:rPr>
                      <a:rPr lang="en-GB" sz="1400" b="0" i="0" smtClean="0">
                        <a:latin typeface="Cambria Math" panose="02040503050406030204" pitchFamily="18" charset="0"/>
                      </a:rPr>
                      <m:t>Δ</m:t>
                    </m:r>
                  </m:oMath>
                </a14:m>
                <a:r>
                  <a:rPr lang="en-GB" sz="1400" dirty="0"/>
                  <a:t> is the (capital) Greek letter “delta” and means </a:t>
                </a:r>
                <a:r>
                  <a:rPr lang="en-GB" sz="1400" b="1" dirty="0"/>
                  <a:t>“change in</a:t>
                </a:r>
                <a:r>
                  <a:rPr lang="en-GB" sz="1400" dirty="0"/>
                  <a:t>”.</a:t>
                </a:r>
              </a:p>
            </p:txBody>
          </p:sp>
        </mc:Choice>
        <mc:Fallback xmlns="">
          <p:sp>
            <p:nvSpPr>
              <p:cNvPr id="2" name="TextBox 1"/>
              <p:cNvSpPr txBox="1">
                <a:spLocks noRot="1" noChangeAspect="1" noMove="1" noResize="1" noEditPoints="1" noAdjustHandles="1" noChangeArrowheads="1" noChangeShapeType="1" noTextEdit="1"/>
              </p:cNvSpPr>
              <p:nvPr/>
            </p:nvSpPr>
            <p:spPr>
              <a:xfrm>
                <a:off x="6007395" y="4939850"/>
                <a:ext cx="2764465" cy="523220"/>
              </a:xfrm>
              <a:prstGeom prst="rect">
                <a:avLst/>
              </a:prstGeom>
              <a:blipFill>
                <a:blip r:embed="rId6"/>
                <a:stretch>
                  <a:fillRect l="-661" t="-1163" b="-11628"/>
                </a:stretch>
              </a:blipFill>
            </p:spPr>
            <p:txBody>
              <a:bodyPr/>
              <a:lstStyle/>
              <a:p>
                <a:r>
                  <a:rPr lang="en-GB">
                    <a:noFill/>
                  </a:rPr>
                  <a:t> </a:t>
                </a:r>
              </a:p>
            </p:txBody>
          </p:sp>
        </mc:Fallback>
      </mc:AlternateContent>
      <p:cxnSp>
        <p:nvCxnSpPr>
          <p:cNvPr id="6" name="Straight Arrow Connector 5"/>
          <p:cNvCxnSpPr/>
          <p:nvPr/>
        </p:nvCxnSpPr>
        <p:spPr>
          <a:xfrm flipH="1" flipV="1">
            <a:off x="7070651" y="4774018"/>
            <a:ext cx="255182" cy="1594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4458414" y="1920205"/>
                <a:ext cx="4176464" cy="1477328"/>
              </a:xfrm>
              <a:prstGeom prst="rect">
                <a:avLst/>
              </a:prstGeom>
              <a:noFill/>
            </p:spPr>
            <p:txBody>
              <a:bodyPr wrap="square" rtlCol="0">
                <a:spAutoFit/>
              </a:bodyPr>
              <a:lstStyle/>
              <a:p>
                <a:r>
                  <a:rPr lang="en-GB" dirty="0"/>
                  <a:t>So if the </a:t>
                </a:r>
                <a14:m>
                  <m:oMath xmlns:m="http://schemas.openxmlformats.org/officeDocument/2006/math">
                    <m:r>
                      <a:rPr lang="en-GB" b="0" i="1" smtClean="0">
                        <a:latin typeface="Cambria Math" panose="02040503050406030204" pitchFamily="18" charset="0"/>
                      </a:rPr>
                      <m:t>𝑦</m:t>
                    </m:r>
                  </m:oMath>
                </a14:m>
                <a:r>
                  <a:rPr lang="en-GB" dirty="0"/>
                  <a:t> value increased by 6 as the </a:t>
                </a:r>
                <a14:m>
                  <m:oMath xmlns:m="http://schemas.openxmlformats.org/officeDocument/2006/math">
                    <m:r>
                      <a:rPr lang="en-GB" b="0" i="1" smtClean="0">
                        <a:latin typeface="Cambria Math" panose="02040503050406030204" pitchFamily="18" charset="0"/>
                      </a:rPr>
                      <m:t>𝑥</m:t>
                    </m:r>
                  </m:oMath>
                </a14:m>
                <a:r>
                  <a:rPr lang="en-GB" dirty="0"/>
                  <a:t> value increased by 2, what is </a:t>
                </a:r>
                <a14:m>
                  <m:oMath xmlns:m="http://schemas.openxmlformats.org/officeDocument/2006/math">
                    <m:r>
                      <a:rPr lang="en-GB" b="0" i="1" smtClean="0">
                        <a:latin typeface="Cambria Math" panose="02040503050406030204" pitchFamily="18" charset="0"/>
                      </a:rPr>
                      <m:t>𝑦</m:t>
                    </m:r>
                  </m:oMath>
                </a14:m>
                <a:r>
                  <a:rPr lang="en-GB" dirty="0"/>
                  <a:t> increasing by for each unit increase of </a:t>
                </a:r>
                <a14:m>
                  <m:oMath xmlns:m="http://schemas.openxmlformats.org/officeDocument/2006/math">
                    <m:r>
                      <a:rPr lang="en-GB" b="0" i="1" smtClean="0">
                        <a:latin typeface="Cambria Math" panose="02040503050406030204" pitchFamily="18" charset="0"/>
                      </a:rPr>
                      <m:t>𝑥</m:t>
                    </m:r>
                  </m:oMath>
                </a14:m>
                <a:r>
                  <a:rPr lang="en-GB" dirty="0"/>
                  <a:t>?</a:t>
                </a:r>
              </a:p>
              <a:p>
                <a:r>
                  <a:rPr lang="en-GB" dirty="0"/>
                  <a:t>How would that give us a suitable formula for the gradient </a:t>
                </a:r>
                <a14:m>
                  <m:oMath xmlns:m="http://schemas.openxmlformats.org/officeDocument/2006/math">
                    <m:r>
                      <a:rPr lang="en-GB" b="0" i="1" smtClean="0">
                        <a:latin typeface="Cambria Math" panose="02040503050406030204" pitchFamily="18" charset="0"/>
                      </a:rPr>
                      <m:t>𝑚</m:t>
                    </m:r>
                  </m:oMath>
                </a14:m>
                <a:r>
                  <a:rPr lang="en-GB" dirty="0"/>
                  <a:t>?</a:t>
                </a:r>
              </a:p>
            </p:txBody>
          </p:sp>
        </mc:Choice>
        <mc:Fallback xmlns="">
          <p:sp>
            <p:nvSpPr>
              <p:cNvPr id="11" name="TextBox 10"/>
              <p:cNvSpPr txBox="1">
                <a:spLocks noRot="1" noChangeAspect="1" noMove="1" noResize="1" noEditPoints="1" noAdjustHandles="1" noChangeArrowheads="1" noChangeShapeType="1" noTextEdit="1"/>
              </p:cNvSpPr>
              <p:nvPr/>
            </p:nvSpPr>
            <p:spPr>
              <a:xfrm>
                <a:off x="4458414" y="1920205"/>
                <a:ext cx="4176464" cy="1477328"/>
              </a:xfrm>
              <a:prstGeom prst="rect">
                <a:avLst/>
              </a:prstGeom>
              <a:blipFill>
                <a:blip r:embed="rId7"/>
                <a:stretch>
                  <a:fillRect l="-1168" t="-2479" r="-438" b="-578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835282" y="5305533"/>
                <a:ext cx="7968475" cy="1469313"/>
              </a:xfrm>
              <a:prstGeom prst="rect">
                <a:avLst/>
              </a:prstGeom>
              <a:noFill/>
            </p:spPr>
            <p:txBody>
              <a:bodyPr wrap="square" rtlCol="0">
                <a:spAutoFit/>
              </a:bodyPr>
              <a:lstStyle/>
              <a:p>
                <a:r>
                  <a:rPr lang="en-GB" sz="1200" b="1" dirty="0"/>
                  <a:t>Textbook Note:</a:t>
                </a:r>
              </a:p>
              <a:p>
                <a:r>
                  <a:rPr lang="en-GB" sz="1200" dirty="0"/>
                  <a:t>The textbook uses </a:t>
                </a:r>
                <a14:m>
                  <m:oMath xmlns:m="http://schemas.openxmlformats.org/officeDocument/2006/math">
                    <m:r>
                      <a:rPr lang="en-GB" sz="1200" b="0" i="1" smtClean="0">
                        <a:latin typeface="Cambria Math" panose="02040503050406030204" pitchFamily="18" charset="0"/>
                      </a:rPr>
                      <m:t>𝑚</m:t>
                    </m:r>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𝑦</m:t>
                            </m:r>
                          </m:e>
                          <m:sub>
                            <m:r>
                              <a:rPr lang="en-GB" sz="1200" b="0" i="1" smtClean="0">
                                <a:latin typeface="Cambria Math" panose="02040503050406030204" pitchFamily="18" charset="0"/>
                              </a:rPr>
                              <m:t>2</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𝑦</m:t>
                            </m:r>
                          </m:e>
                          <m:sub>
                            <m:r>
                              <a:rPr lang="en-GB" sz="1200" b="0" i="1" smtClean="0">
                                <a:latin typeface="Cambria Math" panose="02040503050406030204" pitchFamily="18" charset="0"/>
                              </a:rPr>
                              <m:t>1</m:t>
                            </m:r>
                          </m:sub>
                        </m:sSub>
                      </m:num>
                      <m:den>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𝑥</m:t>
                            </m:r>
                          </m:e>
                          <m:sub>
                            <m:r>
                              <a:rPr lang="en-GB" sz="1200" b="0" i="1" smtClean="0">
                                <a:latin typeface="Cambria Math" panose="02040503050406030204" pitchFamily="18" charset="0"/>
                              </a:rPr>
                              <m:t>2</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𝑥</m:t>
                            </m:r>
                          </m:e>
                          <m:sub>
                            <m:r>
                              <a:rPr lang="en-GB" sz="1200" b="0" i="1" smtClean="0">
                                <a:latin typeface="Cambria Math" panose="02040503050406030204" pitchFamily="18" charset="0"/>
                              </a:rPr>
                              <m:t>1</m:t>
                            </m:r>
                          </m:sub>
                        </m:sSub>
                      </m:den>
                    </m:f>
                  </m:oMath>
                </a14:m>
                <a:r>
                  <a:rPr lang="en-GB" sz="1200" dirty="0"/>
                  <a:t> for two points </a:t>
                </a:r>
                <a14:m>
                  <m:oMath xmlns:m="http://schemas.openxmlformats.org/officeDocument/2006/math">
                    <m:d>
                      <m:dPr>
                        <m:ctrlPr>
                          <a:rPr lang="en-GB" sz="1200" b="0" i="1" smtClean="0">
                            <a:latin typeface="Cambria Math" panose="02040503050406030204" pitchFamily="18" charset="0"/>
                          </a:rPr>
                        </m:ctrlPr>
                      </m:dP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𝑥</m:t>
                            </m:r>
                          </m:e>
                          <m:sub>
                            <m:r>
                              <a:rPr lang="en-GB" sz="1200" b="0" i="1" smtClean="0">
                                <a:latin typeface="Cambria Math" panose="02040503050406030204" pitchFamily="18" charset="0"/>
                              </a:rPr>
                              <m:t>1</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𝑦</m:t>
                            </m:r>
                          </m:e>
                          <m:sub>
                            <m:r>
                              <a:rPr lang="en-GB" sz="1200" b="0" i="1" smtClean="0">
                                <a:latin typeface="Cambria Math" panose="02040503050406030204" pitchFamily="18" charset="0"/>
                              </a:rPr>
                              <m:t>1</m:t>
                            </m:r>
                          </m:sub>
                        </m:sSub>
                      </m:e>
                    </m:d>
                  </m:oMath>
                </a14:m>
                <a:r>
                  <a:rPr lang="en-GB" sz="1200" dirty="0"/>
                  <a:t> and </a:t>
                </a:r>
                <a14:m>
                  <m:oMath xmlns:m="http://schemas.openxmlformats.org/officeDocument/2006/math">
                    <m:d>
                      <m:dPr>
                        <m:ctrlPr>
                          <a:rPr lang="en-GB" sz="1200" b="0" i="1" smtClean="0">
                            <a:latin typeface="Cambria Math" panose="02040503050406030204" pitchFamily="18" charset="0"/>
                          </a:rPr>
                        </m:ctrlPr>
                      </m:dPr>
                      <m:e>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𝑥</m:t>
                            </m:r>
                          </m:e>
                          <m:sub>
                            <m:r>
                              <a:rPr lang="en-GB" sz="1200" b="0" i="1" smtClean="0">
                                <a:latin typeface="Cambria Math" panose="02040503050406030204" pitchFamily="18" charset="0"/>
                              </a:rPr>
                              <m:t>2</m:t>
                            </m:r>
                          </m:sub>
                        </m:sSub>
                        <m:r>
                          <a:rPr lang="en-GB" sz="1200" b="0" i="1" smtClean="0">
                            <a:latin typeface="Cambria Math" panose="02040503050406030204" pitchFamily="18" charset="0"/>
                          </a:rPr>
                          <m:t>,</m:t>
                        </m:r>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𝑦</m:t>
                            </m:r>
                          </m:e>
                          <m:sub>
                            <m:r>
                              <a:rPr lang="en-GB" sz="1200" b="0" i="1" smtClean="0">
                                <a:latin typeface="Cambria Math" panose="02040503050406030204" pitchFamily="18" charset="0"/>
                              </a:rPr>
                              <m:t>2</m:t>
                            </m:r>
                          </m:sub>
                        </m:sSub>
                      </m:e>
                    </m:d>
                  </m:oMath>
                </a14:m>
                <a:r>
                  <a:rPr lang="en-GB" sz="1200" dirty="0"/>
                  <a:t>. Reasons I don’t use it for non-algebraic coordinates:</a:t>
                </a:r>
              </a:p>
              <a:p>
                <a:pPr marL="285750" indent="-285750">
                  <a:buFont typeface="Arial" panose="020B0604020202020204" pitchFamily="34" charset="0"/>
                  <a:buChar char="•"/>
                </a:pPr>
                <a:r>
                  <a:rPr lang="en-GB" sz="1200" dirty="0"/>
                  <a:t>Students often get the </a:t>
                </a:r>
                <a14:m>
                  <m:oMath xmlns:m="http://schemas.openxmlformats.org/officeDocument/2006/math">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𝑦</m:t>
                        </m:r>
                      </m:e>
                      <m:sub>
                        <m:r>
                          <a:rPr lang="en-GB" sz="1200" b="0" i="1" smtClean="0">
                            <a:latin typeface="Cambria Math" panose="02040503050406030204" pitchFamily="18" charset="0"/>
                          </a:rPr>
                          <m:t>1</m:t>
                        </m:r>
                      </m:sub>
                    </m:sSub>
                  </m:oMath>
                </a14:m>
                <a:r>
                  <a:rPr lang="en-GB" sz="1200" dirty="0"/>
                  <a:t> and </a:t>
                </a:r>
                <a14:m>
                  <m:oMath xmlns:m="http://schemas.openxmlformats.org/officeDocument/2006/math">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𝑦</m:t>
                        </m:r>
                      </m:e>
                      <m:sub>
                        <m:r>
                          <a:rPr lang="en-GB" sz="1200" b="0" i="1" smtClean="0">
                            <a:latin typeface="Cambria Math" panose="02040503050406030204" pitchFamily="18" charset="0"/>
                          </a:rPr>
                          <m:t>2</m:t>
                        </m:r>
                      </m:sub>
                    </m:sSub>
                  </m:oMath>
                </a14:m>
                <a:r>
                  <a:rPr lang="en-GB" sz="1200" dirty="0"/>
                  <a:t> the wrong way round (or with the </a:t>
                </a:r>
                <a14:m>
                  <m:oMath xmlns:m="http://schemas.openxmlformats.org/officeDocument/2006/math">
                    <m:r>
                      <a:rPr lang="en-GB" sz="1200" b="0" i="1" smtClean="0">
                        <a:latin typeface="Cambria Math" panose="02040503050406030204" pitchFamily="18" charset="0"/>
                      </a:rPr>
                      <m:t>𝑥</m:t>
                    </m:r>
                  </m:oMath>
                </a14:m>
                <a:r>
                  <a:rPr lang="en-GB" sz="1200" dirty="0"/>
                  <a:t>’s)</a:t>
                </a:r>
              </a:p>
              <a:p>
                <a:pPr marL="285750" indent="-285750">
                  <a:buFont typeface="Arial" panose="020B0604020202020204" pitchFamily="34" charset="0"/>
                  <a:buChar char="•"/>
                </a:pPr>
                <a:r>
                  <a:rPr lang="en-GB" sz="1200" dirty="0"/>
                  <a:t>Students often make sign errors when dealing with negatives, e.g. </a:t>
                </a:r>
                <a14:m>
                  <m:oMath xmlns:m="http://schemas.openxmlformats.org/officeDocument/2006/math">
                    <m:d>
                      <m:dPr>
                        <m:ctrlPr>
                          <a:rPr lang="en-GB" sz="1200" b="0" i="1" smtClean="0">
                            <a:latin typeface="Cambria Math" panose="02040503050406030204" pitchFamily="18" charset="0"/>
                          </a:rPr>
                        </m:ctrlPr>
                      </m:dPr>
                      <m:e>
                        <m:r>
                          <a:rPr lang="en-GB" sz="1200" b="0" i="1" smtClean="0">
                            <a:latin typeface="Cambria Math" panose="02040503050406030204" pitchFamily="18" charset="0"/>
                          </a:rPr>
                          <m:t>−3</m:t>
                        </m:r>
                      </m:e>
                    </m:d>
                    <m:r>
                      <a:rPr lang="en-GB" sz="1200" b="0" i="1" smtClean="0">
                        <a:latin typeface="Cambria Math" panose="02040503050406030204" pitchFamily="18" charset="0"/>
                      </a:rPr>
                      <m:t>−</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−4</m:t>
                        </m:r>
                      </m:e>
                    </m:d>
                  </m:oMath>
                </a14:m>
                <a:endParaRPr lang="en-GB" sz="1200" dirty="0"/>
              </a:p>
              <a:p>
                <a:pPr marL="285750" indent="-285750">
                  <a:buFont typeface="Arial" panose="020B0604020202020204" pitchFamily="34" charset="0"/>
                  <a:buChar char="•"/>
                </a:pPr>
                <a:r>
                  <a:rPr lang="en-GB" sz="1200" dirty="0"/>
                  <a:t>It can’t be done as easily mentally,</a:t>
                </a:r>
              </a:p>
              <a:p>
                <a:pPr marL="285750" indent="-285750">
                  <a:buFont typeface="Arial" panose="020B0604020202020204" pitchFamily="34" charset="0"/>
                  <a:buChar char="•"/>
                </a:pPr>
                <a:r>
                  <a:rPr lang="en-GB" sz="1200" dirty="0"/>
                  <a:t>Students see it as “yet another formula to learn” when really all you need is to appreciate is what gradient is, i.e. “</a:t>
                </a:r>
                <a14:m>
                  <m:oMath xmlns:m="http://schemas.openxmlformats.org/officeDocument/2006/math">
                    <m:r>
                      <a:rPr lang="en-GB" sz="1200" b="0" i="1" smtClean="0">
                        <a:latin typeface="Cambria Math" panose="02040503050406030204" pitchFamily="18" charset="0"/>
                      </a:rPr>
                      <m:t>𝑦</m:t>
                    </m:r>
                  </m:oMath>
                </a14:m>
                <a:r>
                  <a:rPr lang="en-GB" sz="1200" dirty="0"/>
                  <a:t> change per </a:t>
                </a:r>
                <a14:m>
                  <m:oMath xmlns:m="http://schemas.openxmlformats.org/officeDocument/2006/math">
                    <m:r>
                      <a:rPr lang="en-GB" sz="1200" b="0" i="1" smtClean="0">
                        <a:latin typeface="Cambria Math" panose="02040503050406030204" pitchFamily="18" charset="0"/>
                      </a:rPr>
                      <m:t>𝑥</m:t>
                    </m:r>
                  </m:oMath>
                </a14:m>
                <a:r>
                  <a:rPr lang="en-GB" sz="1200" dirty="0"/>
                  <a:t> change”.</a:t>
                </a:r>
              </a:p>
            </p:txBody>
          </p:sp>
        </mc:Choice>
        <mc:Fallback xmlns="">
          <p:sp>
            <p:nvSpPr>
              <p:cNvPr id="12" name="TextBox 11"/>
              <p:cNvSpPr txBox="1">
                <a:spLocks noRot="1" noChangeAspect="1" noMove="1" noResize="1" noEditPoints="1" noAdjustHandles="1" noChangeArrowheads="1" noChangeShapeType="1" noTextEdit="1"/>
              </p:cNvSpPr>
              <p:nvPr/>
            </p:nvSpPr>
            <p:spPr>
              <a:xfrm>
                <a:off x="835282" y="5305533"/>
                <a:ext cx="7968475" cy="1469313"/>
              </a:xfrm>
              <a:prstGeom prst="rect">
                <a:avLst/>
              </a:prstGeom>
              <a:blipFill>
                <a:blip r:embed="rId8"/>
                <a:stretch>
                  <a:fillRect b="-2490"/>
                </a:stretch>
              </a:blipFill>
            </p:spPr>
            <p:txBody>
              <a:bodyPr/>
              <a:lstStyle/>
              <a:p>
                <a:r>
                  <a:rPr lang="en-GB">
                    <a:noFill/>
                  </a:rPr>
                  <a:t> </a:t>
                </a:r>
              </a:p>
            </p:txBody>
          </p:sp>
        </mc:Fallback>
      </mc:AlternateContent>
      <p:sp>
        <p:nvSpPr>
          <p:cNvPr id="24" name="Rectangle 23"/>
          <p:cNvSpPr/>
          <p:nvPr/>
        </p:nvSpPr>
        <p:spPr>
          <a:xfrm>
            <a:off x="6747562" y="3718780"/>
            <a:ext cx="844085" cy="97017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grpSp>
        <p:nvGrpSpPr>
          <p:cNvPr id="7" name="Group 6">
            <a:extLst>
              <a:ext uri="{FF2B5EF4-FFF2-40B4-BE49-F238E27FC236}">
                <a16:creationId xmlns:a16="http://schemas.microsoft.com/office/drawing/2014/main" id="{6AECBD50-C8CC-0583-A836-CD1771FF77AC}"/>
              </a:ext>
            </a:extLst>
          </p:cNvPr>
          <p:cNvGrpSpPr/>
          <p:nvPr/>
        </p:nvGrpSpPr>
        <p:grpSpPr>
          <a:xfrm>
            <a:off x="0" y="0"/>
            <a:ext cx="9143074" cy="599127"/>
            <a:chOff x="0" y="13335"/>
            <a:chExt cx="9144218" cy="599127"/>
          </a:xfrm>
        </p:grpSpPr>
        <p:sp>
          <p:nvSpPr>
            <p:cNvPr id="8" name="TextBox 32">
              <a:extLst>
                <a:ext uri="{FF2B5EF4-FFF2-40B4-BE49-F238E27FC236}">
                  <a16:creationId xmlns:a16="http://schemas.microsoft.com/office/drawing/2014/main" id="{78F0396A-51A8-3E1D-3BDC-0B3A12989723}"/>
                </a:ext>
              </a:extLst>
            </p:cNvPr>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Recap of gradient</a:t>
              </a:r>
            </a:p>
          </p:txBody>
        </p:sp>
        <p:cxnSp>
          <p:nvCxnSpPr>
            <p:cNvPr id="13" name="Straight Connector 12">
              <a:extLst>
                <a:ext uri="{FF2B5EF4-FFF2-40B4-BE49-F238E27FC236}">
                  <a16:creationId xmlns:a16="http://schemas.microsoft.com/office/drawing/2014/main" id="{27750D76-B4D2-FE40-78D0-A6E88ACC4B0B}"/>
                </a:ext>
              </a:extLst>
            </p:cNvPr>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Tree>
    <p:extLst>
      <p:ext uri="{BB962C8B-B14F-4D97-AF65-F5344CB8AC3E}">
        <p14:creationId xmlns:p14="http://schemas.microsoft.com/office/powerpoint/2010/main" val="347198374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4"/>
                                        </p:tgtEl>
                                      </p:cBhvr>
                                    </p:animEffect>
                                    <p:set>
                                      <p:cBhvr>
                                        <p:cTn id="7" dur="1" fill="hold">
                                          <p:stCondLst>
                                            <p:cond delay="499"/>
                                          </p:stCondLst>
                                        </p:cTn>
                                        <p:tgtEl>
                                          <p:spTgt spid="24"/>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par>
                                <p:cTn id="12" presetID="10"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childTnLst>
              </p:cTn>
              <p:nextCondLst>
                <p:cond evt="onClick" delay="0">
                  <p:tgtEl>
                    <p:spTgt spid="24"/>
                  </p:tgtEl>
                </p:cond>
              </p:nextCondLst>
            </p:seq>
          </p:childTnLst>
        </p:cTn>
      </p:par>
    </p:tnLst>
    <p:bldLst>
      <p:bldP spid="2" grpId="0"/>
      <p:bldP spid="12" grpId="0"/>
      <p:bldP spid="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319336" y="1180278"/>
                <a:ext cx="4595886"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sz="4000" b="0" i="1" smtClean="0">
                              <a:latin typeface="Cambria Math" panose="02040503050406030204" pitchFamily="18" charset="0"/>
                            </a:rPr>
                          </m:ctrlPr>
                        </m:dPr>
                        <m:e>
                          <m:r>
                            <a:rPr lang="en-GB" sz="4000" b="0" i="1" smtClean="0">
                              <a:latin typeface="Cambria Math"/>
                            </a:rPr>
                            <m:t>1, 4</m:t>
                          </m:r>
                        </m:e>
                      </m:d>
                      <m:r>
                        <a:rPr lang="en-GB" sz="4000" b="0" i="1" smtClean="0">
                          <a:latin typeface="Cambria Math"/>
                        </a:rPr>
                        <m:t>    (3, 10)</m:t>
                      </m:r>
                    </m:oMath>
                  </m:oMathPara>
                </a14:m>
                <a:endParaRPr lang="en-GB" sz="4000" dirty="0"/>
              </a:p>
            </p:txBody>
          </p:sp>
        </mc:Choice>
        <mc:Fallback xmlns="">
          <p:sp>
            <p:nvSpPr>
              <p:cNvPr id="2" name="TextBox 1"/>
              <p:cNvSpPr txBox="1">
                <a:spLocks noRot="1" noChangeAspect="1" noMove="1" noResize="1" noEditPoints="1" noAdjustHandles="1" noChangeArrowheads="1" noChangeShapeType="1" noTextEdit="1"/>
              </p:cNvSpPr>
              <p:nvPr/>
            </p:nvSpPr>
            <p:spPr>
              <a:xfrm>
                <a:off x="319336" y="1180278"/>
                <a:ext cx="4595886" cy="707886"/>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5347270" y="1246189"/>
                <a:ext cx="2808312"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4000" b="0" i="1" smtClean="0">
                          <a:latin typeface="Cambria Math"/>
                        </a:rPr>
                        <m:t>𝑚</m:t>
                      </m:r>
                      <m:r>
                        <a:rPr lang="en-GB" sz="4000" b="0" i="1" smtClean="0">
                          <a:latin typeface="Cambria Math"/>
                        </a:rPr>
                        <m:t>=3</m:t>
                      </m:r>
                    </m:oMath>
                  </m:oMathPara>
                </a14:m>
                <a:endParaRPr lang="en-GB" sz="4000" dirty="0"/>
              </a:p>
            </p:txBody>
          </p:sp>
        </mc:Choice>
        <mc:Fallback xmlns="">
          <p:sp>
            <p:nvSpPr>
              <p:cNvPr id="3" name="TextBox 2"/>
              <p:cNvSpPr txBox="1">
                <a:spLocks noRot="1" noChangeAspect="1" noMove="1" noResize="1" noEditPoints="1" noAdjustHandles="1" noChangeArrowheads="1" noChangeShapeType="1" noTextEdit="1"/>
              </p:cNvSpPr>
              <p:nvPr/>
            </p:nvSpPr>
            <p:spPr>
              <a:xfrm>
                <a:off x="5347270" y="1246189"/>
                <a:ext cx="2808312" cy="707886"/>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5491286" y="2030775"/>
                <a:ext cx="2808312"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4000" b="0" i="1" smtClean="0">
                          <a:latin typeface="Cambria Math"/>
                        </a:rPr>
                        <m:t>𝑚</m:t>
                      </m:r>
                      <m:r>
                        <a:rPr lang="en-GB" sz="4000" b="0" i="1" smtClean="0">
                          <a:latin typeface="Cambria Math"/>
                        </a:rPr>
                        <m:t>=−2</m:t>
                      </m:r>
                    </m:oMath>
                  </m:oMathPara>
                </a14:m>
                <a:endParaRPr lang="en-GB" sz="4000" dirty="0"/>
              </a:p>
            </p:txBody>
          </p:sp>
        </mc:Choice>
        <mc:Fallback xmlns="">
          <p:sp>
            <p:nvSpPr>
              <p:cNvPr id="4" name="TextBox 3"/>
              <p:cNvSpPr txBox="1">
                <a:spLocks noRot="1" noChangeAspect="1" noMove="1" noResize="1" noEditPoints="1" noAdjustHandles="1" noChangeArrowheads="1" noChangeShapeType="1" noTextEdit="1"/>
              </p:cNvSpPr>
              <p:nvPr/>
            </p:nvSpPr>
            <p:spPr>
              <a:xfrm>
                <a:off x="5491286" y="2030775"/>
                <a:ext cx="2808312" cy="707886"/>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50726" y="3112300"/>
                <a:ext cx="4595886"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sz="4000" b="0" i="1" smtClean="0">
                              <a:latin typeface="Cambria Math" panose="02040503050406030204" pitchFamily="18" charset="0"/>
                            </a:rPr>
                          </m:ctrlPr>
                        </m:dPr>
                        <m:e>
                          <m:r>
                            <a:rPr lang="en-GB" sz="4000" b="0" i="1" smtClean="0">
                              <a:latin typeface="Cambria Math"/>
                            </a:rPr>
                            <m:t>2, 2</m:t>
                          </m:r>
                        </m:e>
                      </m:d>
                      <m:r>
                        <a:rPr lang="en-GB" sz="4000" b="0" i="1" smtClean="0">
                          <a:latin typeface="Cambria Math"/>
                        </a:rPr>
                        <m:t>    (−1, 10)</m:t>
                      </m:r>
                    </m:oMath>
                  </m:oMathPara>
                </a14:m>
                <a:endParaRPr lang="en-GB" sz="4000" dirty="0"/>
              </a:p>
            </p:txBody>
          </p:sp>
        </mc:Choice>
        <mc:Fallback xmlns="">
          <p:sp>
            <p:nvSpPr>
              <p:cNvPr id="5" name="TextBox 4"/>
              <p:cNvSpPr txBox="1">
                <a:spLocks noRot="1" noChangeAspect="1" noMove="1" noResize="1" noEditPoints="1" noAdjustHandles="1" noChangeArrowheads="1" noChangeShapeType="1" noTextEdit="1"/>
              </p:cNvSpPr>
              <p:nvPr/>
            </p:nvSpPr>
            <p:spPr>
              <a:xfrm>
                <a:off x="450726" y="3112300"/>
                <a:ext cx="4595886" cy="707886"/>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526450" y="2773055"/>
                <a:ext cx="2808312" cy="12488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4000" b="0" i="1" smtClean="0">
                          <a:latin typeface="Cambria Math"/>
                        </a:rPr>
                        <m:t>𝑚</m:t>
                      </m:r>
                      <m:r>
                        <a:rPr lang="en-GB" sz="4000" b="0" i="1" smtClean="0">
                          <a:latin typeface="Cambria Math"/>
                        </a:rPr>
                        <m:t>=−</m:t>
                      </m:r>
                      <m:f>
                        <m:fPr>
                          <m:ctrlPr>
                            <a:rPr lang="en-GB" sz="4000" b="0" i="1" smtClean="0">
                              <a:latin typeface="Cambria Math" panose="02040503050406030204" pitchFamily="18" charset="0"/>
                            </a:rPr>
                          </m:ctrlPr>
                        </m:fPr>
                        <m:num>
                          <m:r>
                            <a:rPr lang="en-GB" sz="4000" b="0" i="1" smtClean="0">
                              <a:latin typeface="Cambria Math"/>
                            </a:rPr>
                            <m:t>8</m:t>
                          </m:r>
                        </m:num>
                        <m:den>
                          <m:r>
                            <a:rPr lang="en-GB" sz="4000" b="0" i="1" smtClean="0">
                              <a:latin typeface="Cambria Math"/>
                            </a:rPr>
                            <m:t>3</m:t>
                          </m:r>
                        </m:den>
                      </m:f>
                    </m:oMath>
                  </m:oMathPara>
                </a14:m>
                <a:endParaRPr lang="en-GB" sz="4000" dirty="0"/>
              </a:p>
            </p:txBody>
          </p:sp>
        </mc:Choice>
        <mc:Fallback xmlns="">
          <p:sp>
            <p:nvSpPr>
              <p:cNvPr id="6" name="TextBox 5"/>
              <p:cNvSpPr txBox="1">
                <a:spLocks noRot="1" noChangeAspect="1" noMove="1" noResize="1" noEditPoints="1" noAdjustHandles="1" noChangeArrowheads="1" noChangeShapeType="1" noTextEdit="1"/>
              </p:cNvSpPr>
              <p:nvPr/>
            </p:nvSpPr>
            <p:spPr>
              <a:xfrm>
                <a:off x="5526450" y="2773055"/>
                <a:ext cx="2808312" cy="1248803"/>
              </a:xfrm>
              <a:prstGeom prst="rect">
                <a:avLst/>
              </a:prstGeom>
              <a:blipFill>
                <a:blip r:embed="rId6"/>
                <a:stretch>
                  <a:fillRect/>
                </a:stretch>
              </a:blipFill>
            </p:spPr>
            <p:txBody>
              <a:bodyPr/>
              <a:lstStyle/>
              <a:p>
                <a:r>
                  <a:rPr lang="en-GB">
                    <a:noFill/>
                  </a:rPr>
                  <a:t> </a:t>
                </a:r>
              </a:p>
            </p:txBody>
          </p:sp>
        </mc:Fallback>
      </mc:AlternateContent>
      <p:sp>
        <p:nvSpPr>
          <p:cNvPr id="7" name="Rectangle 6"/>
          <p:cNvSpPr/>
          <p:nvPr/>
        </p:nvSpPr>
        <p:spPr>
          <a:xfrm>
            <a:off x="7078094" y="1312100"/>
            <a:ext cx="828093" cy="57606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8" name="Rectangle 7"/>
          <p:cNvSpPr/>
          <p:nvPr/>
        </p:nvSpPr>
        <p:spPr>
          <a:xfrm>
            <a:off x="7075462" y="2096686"/>
            <a:ext cx="828093" cy="57606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9" name="Rectangle 8"/>
          <p:cNvSpPr/>
          <p:nvPr/>
        </p:nvSpPr>
        <p:spPr>
          <a:xfrm>
            <a:off x="7062761" y="2825972"/>
            <a:ext cx="828093" cy="117296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mc:AlternateContent xmlns:mc="http://schemas.openxmlformats.org/markup-compatibility/2006" xmlns:a14="http://schemas.microsoft.com/office/drawing/2010/main">
        <mc:Choice Requires="a14">
          <p:sp>
            <p:nvSpPr>
              <p:cNvPr id="10" name="TextBox 9"/>
              <p:cNvSpPr txBox="1"/>
              <p:nvPr/>
            </p:nvSpPr>
            <p:spPr>
              <a:xfrm>
                <a:off x="153883" y="2176196"/>
                <a:ext cx="4595886"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sz="4000" b="0" i="1" smtClean="0">
                              <a:latin typeface="Cambria Math" panose="02040503050406030204" pitchFamily="18" charset="0"/>
                            </a:rPr>
                          </m:ctrlPr>
                        </m:dPr>
                        <m:e>
                          <m:r>
                            <a:rPr lang="en-GB" sz="4000" b="0" i="1" smtClean="0">
                              <a:latin typeface="Cambria Math"/>
                            </a:rPr>
                            <m:t>5, 7</m:t>
                          </m:r>
                        </m:e>
                      </m:d>
                      <m:r>
                        <a:rPr lang="en-GB" sz="4000" b="0" i="1" smtClean="0">
                          <a:latin typeface="Cambria Math"/>
                        </a:rPr>
                        <m:t>    (8, 1)</m:t>
                      </m:r>
                    </m:oMath>
                  </m:oMathPara>
                </a14:m>
                <a:endParaRPr lang="en-GB" sz="4000" dirty="0"/>
              </a:p>
            </p:txBody>
          </p:sp>
        </mc:Choice>
        <mc:Fallback xmlns="">
          <p:sp>
            <p:nvSpPr>
              <p:cNvPr id="10" name="TextBox 9"/>
              <p:cNvSpPr txBox="1">
                <a:spLocks noRot="1" noChangeAspect="1" noMove="1" noResize="1" noEditPoints="1" noAdjustHandles="1" noChangeArrowheads="1" noChangeShapeType="1" noTextEdit="1"/>
              </p:cNvSpPr>
              <p:nvPr/>
            </p:nvSpPr>
            <p:spPr>
              <a:xfrm>
                <a:off x="153883" y="2176196"/>
                <a:ext cx="4595886" cy="707886"/>
              </a:xfrm>
              <a:prstGeom prst="rect">
                <a:avLst/>
              </a:prstGeom>
              <a:blipFill>
                <a:blip r:embed="rId7"/>
                <a:stretch>
                  <a:fillRect/>
                </a:stretch>
              </a:blipFill>
            </p:spPr>
            <p:txBody>
              <a:bodyPr/>
              <a:lstStyle/>
              <a:p>
                <a:r>
                  <a:rPr lang="en-GB">
                    <a:noFill/>
                  </a:rPr>
                  <a:t> </a:t>
                </a:r>
              </a:p>
            </p:txBody>
          </p:sp>
        </mc:Fallback>
      </mc:AlternateContent>
      <p:grpSp>
        <p:nvGrpSpPr>
          <p:cNvPr id="11" name="Group 10"/>
          <p:cNvGrpSpPr/>
          <p:nvPr/>
        </p:nvGrpSpPr>
        <p:grpSpPr>
          <a:xfrm>
            <a:off x="0" y="0"/>
            <a:ext cx="9144000" cy="599127"/>
            <a:chOff x="0" y="13335"/>
            <a:chExt cx="9144218" cy="599127"/>
          </a:xfrm>
        </p:grpSpPr>
        <p:sp>
          <p:nvSpPr>
            <p:cNvPr id="12"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Examples</a:t>
              </a:r>
            </a:p>
          </p:txBody>
        </p:sp>
        <p:cxnSp>
          <p:nvCxnSpPr>
            <p:cNvPr id="13" name="Straight Connector 12"/>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14" name="TextBox 13"/>
              <p:cNvSpPr txBox="1"/>
              <p:nvPr/>
            </p:nvSpPr>
            <p:spPr>
              <a:xfrm>
                <a:off x="1002045" y="4130387"/>
                <a:ext cx="7113157" cy="2194447"/>
              </a:xfrm>
              <a:prstGeom prst="rect">
                <a:avLst/>
              </a:prstGeom>
              <a:noFill/>
            </p:spPr>
            <p:txBody>
              <a:bodyPr wrap="square" rtlCol="0">
                <a:spAutoFit/>
              </a:bodyPr>
              <a:lstStyle/>
              <a:p>
                <a:r>
                  <a:rPr lang="en-GB" sz="2800" dirty="0"/>
                  <a:t>Show that the points </a:t>
                </a:r>
                <a14:m>
                  <m:oMath xmlns:m="http://schemas.openxmlformats.org/officeDocument/2006/math">
                    <m:r>
                      <m:rPr>
                        <m:sty m:val="p"/>
                      </m:rPr>
                      <a:rPr lang="en-GB" sz="2800" b="0" i="0" smtClean="0">
                        <a:latin typeface="Cambria Math" panose="02040503050406030204" pitchFamily="18" charset="0"/>
                      </a:rPr>
                      <m:t>A</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3,4</m:t>
                        </m:r>
                      </m:e>
                    </m:d>
                    <m:r>
                      <a:rPr lang="en-GB" sz="2800" b="0" i="1" smtClean="0">
                        <a:latin typeface="Cambria Math" panose="02040503050406030204" pitchFamily="18" charset="0"/>
                      </a:rPr>
                      <m:t>,</m:t>
                    </m:r>
                    <m:r>
                      <a:rPr lang="en-GB" sz="2800" b="0" i="1" smtClean="0">
                        <a:latin typeface="Cambria Math" panose="02040503050406030204" pitchFamily="18" charset="0"/>
                      </a:rPr>
                      <m:t>𝐵</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5,5</m:t>
                        </m:r>
                      </m:e>
                    </m:d>
                    <m:r>
                      <a:rPr lang="en-GB" sz="2800" b="0" i="1" smtClean="0">
                        <a:latin typeface="Cambria Math" panose="02040503050406030204" pitchFamily="18" charset="0"/>
                      </a:rPr>
                      <m:t>,</m:t>
                    </m:r>
                    <m:r>
                      <a:rPr lang="en-GB" sz="2800" b="0" i="1" smtClean="0">
                        <a:latin typeface="Cambria Math" panose="02040503050406030204" pitchFamily="18" charset="0"/>
                      </a:rPr>
                      <m:t>𝐶</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11,8</m:t>
                        </m:r>
                      </m:e>
                    </m:d>
                  </m:oMath>
                </a14:m>
                <a:r>
                  <a:rPr lang="en-GB" sz="2800" dirty="0"/>
                  <a:t> all lie on a straight line.</a:t>
                </a:r>
              </a:p>
              <a:p>
                <a:pPr/>
                <a14:m>
                  <m:oMathPara xmlns:m="http://schemas.openxmlformats.org/officeDocument/2006/math">
                    <m:oMathParaPr>
                      <m:jc m:val="centerGroup"/>
                    </m:oMathParaPr>
                    <m:oMath xmlns:m="http://schemas.openxmlformats.org/officeDocument/2006/math">
                      <m:sSub>
                        <m:sSubPr>
                          <m:ctrlPr>
                            <a:rPr lang="en-GB" sz="2800" b="1" i="1" smtClean="0">
                              <a:latin typeface="Cambria Math" panose="02040503050406030204" pitchFamily="18" charset="0"/>
                            </a:rPr>
                          </m:ctrlPr>
                        </m:sSubPr>
                        <m:e>
                          <m:r>
                            <a:rPr lang="en-GB" sz="2800" b="1" i="1" smtClean="0">
                              <a:latin typeface="Cambria Math" panose="02040503050406030204" pitchFamily="18" charset="0"/>
                            </a:rPr>
                            <m:t>𝒎</m:t>
                          </m:r>
                        </m:e>
                        <m:sub>
                          <m:r>
                            <a:rPr lang="en-GB" sz="2800" b="1" i="1" smtClean="0">
                              <a:latin typeface="Cambria Math" panose="02040503050406030204" pitchFamily="18" charset="0"/>
                            </a:rPr>
                            <m:t>𝑨𝑩</m:t>
                          </m:r>
                        </m:sub>
                      </m:sSub>
                      <m:r>
                        <a:rPr lang="en-GB" sz="2800" b="1" i="1" smtClean="0">
                          <a:latin typeface="Cambria Math" panose="02040503050406030204" pitchFamily="18" charset="0"/>
                        </a:rPr>
                        <m:t>=</m:t>
                      </m:r>
                      <m:f>
                        <m:fPr>
                          <m:ctrlPr>
                            <a:rPr lang="en-GB" sz="2800" b="1" i="1" smtClean="0">
                              <a:latin typeface="Cambria Math" panose="02040503050406030204" pitchFamily="18" charset="0"/>
                            </a:rPr>
                          </m:ctrlPr>
                        </m:fPr>
                        <m:num>
                          <m:r>
                            <a:rPr lang="en-GB" sz="2800" b="1" i="1" smtClean="0">
                              <a:latin typeface="Cambria Math" panose="02040503050406030204" pitchFamily="18" charset="0"/>
                            </a:rPr>
                            <m:t>𝟏</m:t>
                          </m:r>
                        </m:num>
                        <m:den>
                          <m:r>
                            <a:rPr lang="en-GB" sz="2800" b="1" i="1" smtClean="0">
                              <a:latin typeface="Cambria Math" panose="02040503050406030204" pitchFamily="18" charset="0"/>
                            </a:rPr>
                            <m:t>𝟐</m:t>
                          </m:r>
                        </m:den>
                      </m:f>
                      <m:r>
                        <a:rPr lang="en-GB" sz="2800" b="1" i="1" smtClean="0">
                          <a:latin typeface="Cambria Math" panose="02040503050406030204" pitchFamily="18" charset="0"/>
                        </a:rPr>
                        <m:t>      </m:t>
                      </m:r>
                      <m:sSub>
                        <m:sSubPr>
                          <m:ctrlPr>
                            <a:rPr lang="en-GB" sz="2800" b="1" i="1" smtClean="0">
                              <a:latin typeface="Cambria Math" panose="02040503050406030204" pitchFamily="18" charset="0"/>
                            </a:rPr>
                          </m:ctrlPr>
                        </m:sSubPr>
                        <m:e>
                          <m:r>
                            <a:rPr lang="en-GB" sz="2800" b="1" i="1" smtClean="0">
                              <a:latin typeface="Cambria Math" panose="02040503050406030204" pitchFamily="18" charset="0"/>
                            </a:rPr>
                            <m:t>𝒎</m:t>
                          </m:r>
                        </m:e>
                        <m:sub>
                          <m:r>
                            <a:rPr lang="en-GB" sz="2800" b="1" i="1" smtClean="0">
                              <a:latin typeface="Cambria Math" panose="02040503050406030204" pitchFamily="18" charset="0"/>
                            </a:rPr>
                            <m:t>𝑩𝑪</m:t>
                          </m:r>
                        </m:sub>
                      </m:sSub>
                      <m:r>
                        <a:rPr lang="en-GB" sz="2800" b="1" i="1" smtClean="0">
                          <a:latin typeface="Cambria Math" panose="02040503050406030204" pitchFamily="18" charset="0"/>
                        </a:rPr>
                        <m:t>=</m:t>
                      </m:r>
                      <m:f>
                        <m:fPr>
                          <m:ctrlPr>
                            <a:rPr lang="en-GB" sz="2800" b="1" i="1" smtClean="0">
                              <a:latin typeface="Cambria Math" panose="02040503050406030204" pitchFamily="18" charset="0"/>
                            </a:rPr>
                          </m:ctrlPr>
                        </m:fPr>
                        <m:num>
                          <m:r>
                            <a:rPr lang="en-GB" sz="2800" b="1" i="1" smtClean="0">
                              <a:latin typeface="Cambria Math" panose="02040503050406030204" pitchFamily="18" charset="0"/>
                            </a:rPr>
                            <m:t>𝟑</m:t>
                          </m:r>
                        </m:num>
                        <m:den>
                          <m:r>
                            <a:rPr lang="en-GB" sz="2800" b="1" i="1" smtClean="0">
                              <a:latin typeface="Cambria Math" panose="02040503050406030204" pitchFamily="18" charset="0"/>
                            </a:rPr>
                            <m:t>𝟔</m:t>
                          </m:r>
                        </m:den>
                      </m:f>
                      <m:r>
                        <a:rPr lang="en-GB" sz="2800" b="1" i="1" smtClean="0">
                          <a:latin typeface="Cambria Math" panose="02040503050406030204" pitchFamily="18" charset="0"/>
                        </a:rPr>
                        <m:t>=</m:t>
                      </m:r>
                      <m:f>
                        <m:fPr>
                          <m:ctrlPr>
                            <a:rPr lang="en-GB" sz="2800" b="1" i="1" smtClean="0">
                              <a:latin typeface="Cambria Math" panose="02040503050406030204" pitchFamily="18" charset="0"/>
                            </a:rPr>
                          </m:ctrlPr>
                        </m:fPr>
                        <m:num>
                          <m:r>
                            <a:rPr lang="en-GB" sz="2800" b="1" i="1" smtClean="0">
                              <a:latin typeface="Cambria Math" panose="02040503050406030204" pitchFamily="18" charset="0"/>
                            </a:rPr>
                            <m:t>𝟏</m:t>
                          </m:r>
                        </m:num>
                        <m:den>
                          <m:r>
                            <a:rPr lang="en-GB" sz="2800" b="1" i="1" smtClean="0">
                              <a:latin typeface="Cambria Math" panose="02040503050406030204" pitchFamily="18" charset="0"/>
                            </a:rPr>
                            <m:t>𝟐</m:t>
                          </m:r>
                        </m:den>
                      </m:f>
                    </m:oMath>
                  </m:oMathPara>
                </a14:m>
                <a:endParaRPr lang="en-GB" sz="2800" b="1" dirty="0"/>
              </a:p>
              <a:p>
                <a:r>
                  <a:rPr lang="en-GB" sz="2800" b="1" dirty="0"/>
                  <a:t>Gradients the same </a:t>
                </a:r>
                <a14:m>
                  <m:oMath xmlns:m="http://schemas.openxmlformats.org/officeDocument/2006/math">
                    <m:r>
                      <a:rPr lang="en-GB" sz="2800" b="1" i="1" smtClean="0">
                        <a:latin typeface="Cambria Math" panose="02040503050406030204" pitchFamily="18" charset="0"/>
                      </a:rPr>
                      <m:t>∴</m:t>
                    </m:r>
                  </m:oMath>
                </a14:m>
                <a:r>
                  <a:rPr lang="en-GB" sz="2800" b="1" dirty="0"/>
                  <a:t> ‘collinear’.</a:t>
                </a:r>
              </a:p>
            </p:txBody>
          </p:sp>
        </mc:Choice>
        <mc:Fallback xmlns="">
          <p:sp>
            <p:nvSpPr>
              <p:cNvPr id="14" name="TextBox 13"/>
              <p:cNvSpPr txBox="1">
                <a:spLocks noRot="1" noChangeAspect="1" noMove="1" noResize="1" noEditPoints="1" noAdjustHandles="1" noChangeArrowheads="1" noChangeShapeType="1" noTextEdit="1"/>
              </p:cNvSpPr>
              <p:nvPr/>
            </p:nvSpPr>
            <p:spPr>
              <a:xfrm>
                <a:off x="1002045" y="4130387"/>
                <a:ext cx="7113157" cy="2194447"/>
              </a:xfrm>
              <a:prstGeom prst="rect">
                <a:avLst/>
              </a:prstGeom>
              <a:blipFill>
                <a:blip r:embed="rId8"/>
                <a:stretch>
                  <a:fillRect l="-1714" t="-2778" b="-6944"/>
                </a:stretch>
              </a:blipFill>
            </p:spPr>
            <p:txBody>
              <a:bodyPr/>
              <a:lstStyle/>
              <a:p>
                <a:r>
                  <a:rPr lang="en-GB">
                    <a:noFill/>
                  </a:rPr>
                  <a:t> </a:t>
                </a:r>
              </a:p>
            </p:txBody>
          </p:sp>
        </mc:Fallback>
      </mc:AlternateContent>
      <p:sp>
        <p:nvSpPr>
          <p:cNvPr id="15" name="Rectangle 14"/>
          <p:cNvSpPr/>
          <p:nvPr/>
        </p:nvSpPr>
        <p:spPr>
          <a:xfrm>
            <a:off x="395536" y="1337500"/>
            <a:ext cx="347413" cy="42092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16" name="Rectangle 15"/>
          <p:cNvSpPr/>
          <p:nvPr/>
        </p:nvSpPr>
        <p:spPr>
          <a:xfrm>
            <a:off x="395535" y="2317733"/>
            <a:ext cx="347413" cy="42092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p:sp>
        <p:nvSpPr>
          <p:cNvPr id="17" name="Rectangle 16"/>
          <p:cNvSpPr/>
          <p:nvPr/>
        </p:nvSpPr>
        <p:spPr>
          <a:xfrm>
            <a:off x="395535" y="3255779"/>
            <a:ext cx="347413" cy="42092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3</a:t>
            </a:r>
          </a:p>
        </p:txBody>
      </p:sp>
      <p:sp>
        <p:nvSpPr>
          <p:cNvPr id="18" name="TextBox 17"/>
          <p:cNvSpPr txBox="1"/>
          <p:nvPr/>
        </p:nvSpPr>
        <p:spPr>
          <a:xfrm>
            <a:off x="252745" y="743496"/>
            <a:ext cx="6363955" cy="400110"/>
          </a:xfrm>
          <a:prstGeom prst="rect">
            <a:avLst/>
          </a:prstGeom>
          <a:noFill/>
        </p:spPr>
        <p:txBody>
          <a:bodyPr wrap="square" rtlCol="0">
            <a:spAutoFit/>
          </a:bodyPr>
          <a:lstStyle/>
          <a:p>
            <a:r>
              <a:rPr lang="en-GB" sz="2000" dirty="0"/>
              <a:t>Find the gradient of the line that goes through the points:</a:t>
            </a:r>
          </a:p>
        </p:txBody>
      </p:sp>
      <p:sp>
        <p:nvSpPr>
          <p:cNvPr id="19" name="Rectangle 18"/>
          <p:cNvSpPr/>
          <p:nvPr/>
        </p:nvSpPr>
        <p:spPr>
          <a:xfrm>
            <a:off x="382834" y="4171718"/>
            <a:ext cx="347413" cy="42092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4</a:t>
            </a:r>
          </a:p>
        </p:txBody>
      </p:sp>
      <p:sp>
        <p:nvSpPr>
          <p:cNvPr id="20" name="TextBox 19"/>
          <p:cNvSpPr txBox="1"/>
          <p:nvPr/>
        </p:nvSpPr>
        <p:spPr>
          <a:xfrm>
            <a:off x="6884961" y="5529932"/>
            <a:ext cx="1852639" cy="830997"/>
          </a:xfrm>
          <a:prstGeom prst="rect">
            <a:avLst/>
          </a:prstGeom>
          <a:noFill/>
        </p:spPr>
        <p:txBody>
          <a:bodyPr wrap="square" rtlCol="0">
            <a:spAutoFit/>
          </a:bodyPr>
          <a:lstStyle/>
          <a:p>
            <a:r>
              <a:rPr lang="en-GB" sz="1600" dirty="0"/>
              <a:t>If points are ‘collinear’ they lie on the same line.</a:t>
            </a:r>
          </a:p>
        </p:txBody>
      </p:sp>
      <p:cxnSp>
        <p:nvCxnSpPr>
          <p:cNvPr id="22" name="Straight Arrow Connector 21"/>
          <p:cNvCxnSpPr/>
          <p:nvPr/>
        </p:nvCxnSpPr>
        <p:spPr>
          <a:xfrm flipH="1">
            <a:off x="6070600" y="5945430"/>
            <a:ext cx="814361" cy="1124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Rectangle 22"/>
          <p:cNvSpPr/>
          <p:nvPr/>
        </p:nvSpPr>
        <p:spPr>
          <a:xfrm>
            <a:off x="1115616" y="5029200"/>
            <a:ext cx="7456884" cy="139700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283216220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8"/>
                                        </p:tgtEl>
                                      </p:cBhvr>
                                    </p:animEffect>
                                    <p:set>
                                      <p:cBhvr>
                                        <p:cTn id="13"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14" restart="whenNotActive" fill="hold" evtFilter="cancelBubble" nodeType="interactiveSeq">
                <p:stCondLst>
                  <p:cond evt="onClick" delay="0">
                    <p:tgtEl>
                      <p:spTgt spid="9"/>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9"/>
                                        </p:tgtEl>
                                      </p:cBhvr>
                                    </p:animEffect>
                                    <p:set>
                                      <p:cBhvr>
                                        <p:cTn id="19"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20" restart="whenNotActive" fill="hold" evtFilter="cancelBubble" nodeType="interactiveSeq">
                <p:stCondLst>
                  <p:cond evt="onClick" delay="0">
                    <p:tgtEl>
                      <p:spTgt spid="23"/>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23"/>
                                        </p:tgtEl>
                                      </p:cBhvr>
                                    </p:animEffect>
                                    <p:set>
                                      <p:cBhvr>
                                        <p:cTn id="25"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bldLst>
      <p:bldP spid="7" grpId="0" animBg="1"/>
      <p:bldP spid="8" grpId="0" animBg="1"/>
      <p:bldP spid="9" grpId="0" animBg="1"/>
      <p:bldP spid="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4000"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Further Example</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520700" y="908720"/>
                <a:ext cx="8083748" cy="830997"/>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The line joining </a:t>
                </a:r>
                <a14:m>
                  <m:oMath xmlns:m="http://schemas.openxmlformats.org/officeDocument/2006/math">
                    <m:d>
                      <m:dPr>
                        <m:ctrlPr>
                          <a:rPr lang="en-GB" sz="2400" b="0" i="1" smtClean="0">
                            <a:latin typeface="Cambria Math" panose="02040503050406030204" pitchFamily="18" charset="0"/>
                          </a:rPr>
                        </m:ctrlPr>
                      </m:dPr>
                      <m:e>
                        <m:r>
                          <a:rPr lang="en-GB" sz="2400" b="0" i="1" smtClean="0">
                            <a:latin typeface="Cambria Math" panose="02040503050406030204" pitchFamily="18" charset="0"/>
                          </a:rPr>
                          <m:t>2,−5</m:t>
                        </m:r>
                      </m:e>
                    </m:d>
                  </m:oMath>
                </a14:m>
                <a:r>
                  <a:rPr lang="en-GB" sz="2400" dirty="0"/>
                  <a:t> to </a:t>
                </a:r>
                <a14:m>
                  <m:oMath xmlns:m="http://schemas.openxmlformats.org/officeDocument/2006/math">
                    <m:d>
                      <m:dPr>
                        <m:ctrlPr>
                          <a:rPr lang="en-GB" sz="2400" b="0" i="1" smtClean="0">
                            <a:latin typeface="Cambria Math" panose="02040503050406030204" pitchFamily="18" charset="0"/>
                          </a:rPr>
                        </m:ctrlPr>
                      </m:dPr>
                      <m:e>
                        <m:r>
                          <a:rPr lang="en-GB" sz="2400" b="0" i="1" smtClean="0">
                            <a:latin typeface="Cambria Math" panose="02040503050406030204" pitchFamily="18" charset="0"/>
                          </a:rPr>
                          <m:t>4,</m:t>
                        </m:r>
                        <m:r>
                          <a:rPr lang="en-GB" sz="2400" b="0" i="1" smtClean="0">
                            <a:latin typeface="Cambria Math" panose="02040503050406030204" pitchFamily="18" charset="0"/>
                          </a:rPr>
                          <m:t>𝑎</m:t>
                        </m:r>
                      </m:e>
                    </m:d>
                  </m:oMath>
                </a14:m>
                <a:r>
                  <a:rPr lang="en-GB" sz="2400" dirty="0"/>
                  <a:t> has gradient -1. Work out the value of </a:t>
                </a:r>
                <a14:m>
                  <m:oMath xmlns:m="http://schemas.openxmlformats.org/officeDocument/2006/math">
                    <m:r>
                      <a:rPr lang="en-GB" sz="2400" b="0" i="1" smtClean="0">
                        <a:latin typeface="Cambria Math" panose="02040503050406030204" pitchFamily="18" charset="0"/>
                      </a:rPr>
                      <m:t>𝑎</m:t>
                    </m:r>
                  </m:oMath>
                </a14:m>
                <a:r>
                  <a:rPr lang="en-GB" sz="2400"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520700" y="908720"/>
                <a:ext cx="8083748" cy="830997"/>
              </a:xfrm>
              <a:prstGeom prst="rect">
                <a:avLst/>
              </a:prstGeom>
              <a:blipFill>
                <a:blip r:embed="rId2"/>
                <a:stretch>
                  <a:fillRect b="-6250"/>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555280" y="2005732"/>
                <a:ext cx="3456384" cy="215405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GB" sz="2800" b="0" i="1" smtClean="0">
                              <a:latin typeface="Cambria Math" panose="02040503050406030204" pitchFamily="18" charset="0"/>
                            </a:rPr>
                          </m:ctrlPr>
                        </m:fPr>
                        <m:num>
                          <m:r>
                            <a:rPr lang="en-GB" sz="2800" b="0" i="1" smtClean="0">
                              <a:latin typeface="Cambria Math" panose="02040503050406030204" pitchFamily="18" charset="0"/>
                            </a:rPr>
                            <m:t>𝑎</m:t>
                          </m:r>
                          <m:r>
                            <a:rPr lang="en-GB" sz="2800" b="0" i="1" smtClean="0">
                              <a:latin typeface="Cambria Math" panose="02040503050406030204" pitchFamily="18" charset="0"/>
                            </a:rPr>
                            <m:t>−−5</m:t>
                          </m:r>
                        </m:num>
                        <m:den>
                          <m:r>
                            <a:rPr lang="en-GB" sz="2800" b="0" i="1" smtClean="0">
                              <a:latin typeface="Cambria Math" panose="02040503050406030204" pitchFamily="18" charset="0"/>
                            </a:rPr>
                            <m:t>4−2</m:t>
                          </m:r>
                        </m:den>
                      </m:f>
                      <m:r>
                        <a:rPr lang="en-GB" sz="2800" b="0" i="1" smtClean="0">
                          <a:latin typeface="Cambria Math" panose="02040503050406030204" pitchFamily="18" charset="0"/>
                        </a:rPr>
                        <m:t>=−1</m:t>
                      </m:r>
                    </m:oMath>
                    <m:oMath xmlns:m="http://schemas.openxmlformats.org/officeDocument/2006/math">
                      <m:f>
                        <m:fPr>
                          <m:ctrlPr>
                            <a:rPr lang="en-GB" sz="2800" b="0" i="1" smtClean="0">
                              <a:latin typeface="Cambria Math" panose="02040503050406030204" pitchFamily="18" charset="0"/>
                            </a:rPr>
                          </m:ctrlPr>
                        </m:fPr>
                        <m:num>
                          <m:r>
                            <a:rPr lang="en-GB" sz="2800" b="0" i="1" smtClean="0">
                              <a:latin typeface="Cambria Math" panose="02040503050406030204" pitchFamily="18" charset="0"/>
                            </a:rPr>
                            <m:t>𝑎</m:t>
                          </m:r>
                          <m:r>
                            <a:rPr lang="en-GB" sz="2800" b="0" i="1" smtClean="0">
                              <a:latin typeface="Cambria Math" panose="02040503050406030204" pitchFamily="18" charset="0"/>
                            </a:rPr>
                            <m:t>+5</m:t>
                          </m:r>
                        </m:num>
                        <m:den>
                          <m:r>
                            <a:rPr lang="en-GB" sz="2800" b="0" i="1" smtClean="0">
                              <a:latin typeface="Cambria Math" panose="02040503050406030204" pitchFamily="18" charset="0"/>
                            </a:rPr>
                            <m:t>2</m:t>
                          </m:r>
                        </m:den>
                      </m:f>
                      <m:r>
                        <a:rPr lang="en-GB" sz="2800" b="0" i="1" smtClean="0">
                          <a:latin typeface="Cambria Math" panose="02040503050406030204" pitchFamily="18" charset="0"/>
                        </a:rPr>
                        <m:t>=−1</m:t>
                      </m:r>
                    </m:oMath>
                    <m:oMath xmlns:m="http://schemas.openxmlformats.org/officeDocument/2006/math">
                      <m:r>
                        <a:rPr lang="en-GB" sz="2800" b="0" i="1" smtClean="0">
                          <a:latin typeface="Cambria Math" panose="02040503050406030204" pitchFamily="18" charset="0"/>
                        </a:rPr>
                        <m:t>𝑎</m:t>
                      </m:r>
                      <m:r>
                        <a:rPr lang="en-GB" sz="2800" b="0" i="1" smtClean="0">
                          <a:latin typeface="Cambria Math" panose="02040503050406030204" pitchFamily="18" charset="0"/>
                        </a:rPr>
                        <m:t>=−7</m:t>
                      </m:r>
                    </m:oMath>
                  </m:oMathPara>
                </a14:m>
                <a:endParaRPr lang="en-GB"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2555280" y="2005732"/>
                <a:ext cx="3456384" cy="2154051"/>
              </a:xfrm>
              <a:prstGeom prst="rect">
                <a:avLst/>
              </a:prstGeom>
              <a:blipFill>
                <a:blip r:embed="rId3"/>
                <a:stretch>
                  <a:fillRect/>
                </a:stretch>
              </a:blipFill>
            </p:spPr>
            <p:txBody>
              <a:bodyPr/>
              <a:lstStyle/>
              <a:p>
                <a:r>
                  <a:rPr lang="en-GB">
                    <a:noFill/>
                  </a:rPr>
                  <a:t> </a:t>
                </a:r>
              </a:p>
            </p:txBody>
          </p:sp>
        </mc:Fallback>
      </mc:AlternateContent>
      <p:sp>
        <p:nvSpPr>
          <p:cNvPr id="7" name="Rectangle 6"/>
          <p:cNvSpPr/>
          <p:nvPr/>
        </p:nvSpPr>
        <p:spPr>
          <a:xfrm>
            <a:off x="2874394" y="1934400"/>
            <a:ext cx="2904106" cy="224390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360477313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4000" cy="587744"/>
            <a:chOff x="0" y="13335"/>
            <a:chExt cx="9144218" cy="587744"/>
          </a:xfrm>
        </p:grpSpPr>
        <mc:AlternateContent xmlns:mc="http://schemas.openxmlformats.org/markup-compatibility/2006" xmlns:a14="http://schemas.microsoft.com/office/drawing/2010/main">
          <mc:Choice Requires="a14">
            <p:sp>
              <p:nvSpPr>
                <p:cNvPr id="3" name="TextBox 32"/>
                <p:cNvSpPr txBox="1"/>
                <p:nvPr/>
              </p:nvSpPr>
              <p:spPr>
                <a:xfrm>
                  <a:off x="0" y="13335"/>
                  <a:ext cx="9144000" cy="5734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14:m>
                    <m:oMathPara xmlns:m="http://schemas.openxmlformats.org/officeDocument/2006/math">
                      <m:oMathParaPr>
                        <m:jc m:val="left"/>
                      </m:oMathParaPr>
                      <m:oMath xmlns:m="http://schemas.openxmlformats.org/officeDocument/2006/math">
                        <m:r>
                          <a:rPr lang="en-GB" dirty="0">
                            <a:latin typeface="Cambria Math" panose="02040503050406030204" pitchFamily="18" charset="0"/>
                          </a:rPr>
                          <m:t>𝑦</m:t>
                        </m:r>
                        <m:r>
                          <a:rPr lang="en-GB" dirty="0">
                            <a:latin typeface="Cambria Math" panose="02040503050406030204" pitchFamily="18" charset="0"/>
                          </a:rPr>
                          <m:t>=</m:t>
                        </m:r>
                        <m:r>
                          <a:rPr lang="en-GB" dirty="0" err="1">
                            <a:latin typeface="Cambria Math" panose="02040503050406030204" pitchFamily="18" charset="0"/>
                          </a:rPr>
                          <m:t>𝑚𝑥</m:t>
                        </m:r>
                        <m:r>
                          <a:rPr lang="en-GB" dirty="0" err="1">
                            <a:latin typeface="Cambria Math" panose="02040503050406030204" pitchFamily="18" charset="0"/>
                          </a:rPr>
                          <m:t>+</m:t>
                        </m:r>
                        <m:r>
                          <a:rPr lang="en-GB" dirty="0" err="1">
                            <a:latin typeface="Cambria Math" panose="02040503050406030204" pitchFamily="18" charset="0"/>
                          </a:rPr>
                          <m:t>𝑐</m:t>
                        </m:r>
                      </m:oMath>
                    </m:oMathPara>
                  </a14:m>
                  <a:endParaRPr lang="en-GB" dirty="0"/>
                </a:p>
              </p:txBody>
            </p:sp>
          </mc:Choice>
          <mc:Fallback xmlns="">
            <p:sp>
              <p:nvSpPr>
                <p:cNvPr id="3" name="TextBox 32"/>
                <p:cNvSpPr txBox="1">
                  <a:spLocks noRot="1" noChangeAspect="1" noMove="1" noResize="1" noEditPoints="1" noAdjustHandles="1" noChangeArrowheads="1" noChangeShapeType="1" noTextEdit="1"/>
                </p:cNvSpPr>
                <p:nvPr/>
              </p:nvSpPr>
              <p:spPr>
                <a:xfrm>
                  <a:off x="0" y="13335"/>
                  <a:ext cx="9144000" cy="573427"/>
                </a:xfrm>
                <a:prstGeom prst="rect">
                  <a:avLst/>
                </a:prstGeom>
                <a:blipFill>
                  <a:blip r:embed="rId2"/>
                  <a:stretch>
                    <a:fillRect/>
                  </a:stretch>
                </a:blipFill>
                <a:ln>
                  <a:noFill/>
                </a:ln>
              </p:spPr>
              <p:txBody>
                <a:bodyPr/>
                <a:lstStyle/>
                <a:p>
                  <a:r>
                    <a:rPr lang="en-GB">
                      <a:noFill/>
                    </a:rPr>
                    <a:t> </a:t>
                  </a:r>
                </a:p>
              </p:txBody>
            </p:sp>
          </mc:Fallback>
        </mc:AlternateContent>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291108" y="795164"/>
                <a:ext cx="8636774" cy="1754326"/>
              </a:xfrm>
              <a:prstGeom prst="rect">
                <a:avLst/>
              </a:prstGeom>
              <a:noFill/>
            </p:spPr>
            <p:txBody>
              <a:bodyPr wrap="square" rtlCol="0">
                <a:spAutoFit/>
              </a:bodyPr>
              <a:lstStyle/>
              <a:p>
                <a:r>
                  <a:rPr lang="en-GB" sz="3200" dirty="0"/>
                  <a:t>One form we can put a straight line equation in is:</a:t>
                </a:r>
              </a:p>
              <a:p>
                <a:endParaRPr lang="en-GB" sz="3200" dirty="0"/>
              </a:p>
              <a:p>
                <a:pPr/>
                <a14:m>
                  <m:oMathPara xmlns:m="http://schemas.openxmlformats.org/officeDocument/2006/math">
                    <m:oMathParaPr>
                      <m:jc m:val="centerGroup"/>
                    </m:oMathParaPr>
                    <m:oMath xmlns:m="http://schemas.openxmlformats.org/officeDocument/2006/math">
                      <m:r>
                        <a:rPr lang="en-GB" sz="4400" b="0" i="1" smtClean="0">
                          <a:latin typeface="Cambria Math" panose="02040503050406030204" pitchFamily="18" charset="0"/>
                        </a:rPr>
                        <m:t>𝑦</m:t>
                      </m:r>
                      <m:r>
                        <a:rPr lang="en-GB" sz="4400" b="0" i="1" smtClean="0">
                          <a:latin typeface="Cambria Math" panose="02040503050406030204" pitchFamily="18" charset="0"/>
                        </a:rPr>
                        <m:t>=</m:t>
                      </m:r>
                      <m:r>
                        <a:rPr lang="en-GB" sz="4400" b="0" i="1" smtClean="0">
                          <a:latin typeface="Cambria Math" panose="02040503050406030204" pitchFamily="18" charset="0"/>
                        </a:rPr>
                        <m:t>𝑚𝑥</m:t>
                      </m:r>
                      <m:r>
                        <a:rPr lang="en-GB" sz="4400" b="0" i="1" smtClean="0">
                          <a:latin typeface="Cambria Math" panose="02040503050406030204" pitchFamily="18" charset="0"/>
                        </a:rPr>
                        <m:t>+</m:t>
                      </m:r>
                      <m:r>
                        <a:rPr lang="en-GB" sz="4400" b="0" i="1" smtClean="0">
                          <a:latin typeface="Cambria Math" panose="02040503050406030204" pitchFamily="18" charset="0"/>
                        </a:rPr>
                        <m:t>𝑐</m:t>
                      </m:r>
                    </m:oMath>
                  </m:oMathPara>
                </a14:m>
                <a:endParaRPr lang="en-GB" sz="4400" dirty="0"/>
              </a:p>
            </p:txBody>
          </p:sp>
        </mc:Choice>
        <mc:Fallback xmlns="">
          <p:sp>
            <p:nvSpPr>
              <p:cNvPr id="5" name="TextBox 4"/>
              <p:cNvSpPr txBox="1">
                <a:spLocks noRot="1" noChangeAspect="1" noMove="1" noResize="1" noEditPoints="1" noAdjustHandles="1" noChangeArrowheads="1" noChangeShapeType="1" noTextEdit="1"/>
              </p:cNvSpPr>
              <p:nvPr/>
            </p:nvSpPr>
            <p:spPr>
              <a:xfrm>
                <a:off x="291108" y="795164"/>
                <a:ext cx="8636774" cy="1754326"/>
              </a:xfrm>
              <a:prstGeom prst="rect">
                <a:avLst/>
              </a:prstGeom>
              <a:blipFill>
                <a:blip r:embed="rId3"/>
                <a:stretch>
                  <a:fillRect l="-1835" t="-4514"/>
                </a:stretch>
              </a:blipFill>
            </p:spPr>
            <p:txBody>
              <a:bodyPr/>
              <a:lstStyle/>
              <a:p>
                <a:r>
                  <a:rPr lang="en-GB">
                    <a:noFill/>
                  </a:rPr>
                  <a:t> </a:t>
                </a:r>
              </a:p>
            </p:txBody>
          </p:sp>
        </mc:Fallback>
      </mc:AlternateContent>
      <p:sp>
        <p:nvSpPr>
          <p:cNvPr id="6" name="TextBox 5"/>
          <p:cNvSpPr txBox="1"/>
          <p:nvPr/>
        </p:nvSpPr>
        <p:spPr>
          <a:xfrm>
            <a:off x="3711476" y="2844552"/>
            <a:ext cx="1368152" cy="461665"/>
          </a:xfrm>
          <a:prstGeom prst="rect">
            <a:avLst/>
          </a:prstGeom>
          <a:noFill/>
        </p:spPr>
        <p:txBody>
          <a:bodyPr wrap="square" rtlCol="0">
            <a:spAutoFit/>
          </a:bodyPr>
          <a:lstStyle/>
          <a:p>
            <a:r>
              <a:rPr lang="en-GB" sz="2400" dirty="0"/>
              <a:t>Gradient</a:t>
            </a:r>
          </a:p>
        </p:txBody>
      </p:sp>
      <p:cxnSp>
        <p:nvCxnSpPr>
          <p:cNvPr id="8" name="Straight Arrow Connector 7"/>
          <p:cNvCxnSpPr/>
          <p:nvPr/>
        </p:nvCxnSpPr>
        <p:spPr>
          <a:xfrm flipV="1">
            <a:off x="4381500" y="2387600"/>
            <a:ext cx="101600" cy="469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5762476" y="2857500"/>
                <a:ext cx="1895624" cy="461665"/>
              </a:xfrm>
              <a:prstGeom prst="rect">
                <a:avLst/>
              </a:prstGeom>
              <a:noFill/>
            </p:spPr>
            <p:txBody>
              <a:bodyPr wrap="square" rtlCol="0">
                <a:spAutoFit/>
              </a:bodyPr>
              <a:lstStyle/>
              <a:p>
                <a14:m>
                  <m:oMath xmlns:m="http://schemas.openxmlformats.org/officeDocument/2006/math">
                    <m:r>
                      <a:rPr lang="en-GB" sz="2400" b="0" i="1" smtClean="0">
                        <a:latin typeface="Cambria Math" panose="02040503050406030204" pitchFamily="18" charset="0"/>
                      </a:rPr>
                      <m:t>𝑦</m:t>
                    </m:r>
                  </m:oMath>
                </a14:m>
                <a:r>
                  <a:rPr lang="en-GB" sz="2400" dirty="0"/>
                  <a:t>-intercept</a:t>
                </a:r>
              </a:p>
            </p:txBody>
          </p:sp>
        </mc:Choice>
        <mc:Fallback xmlns="">
          <p:sp>
            <p:nvSpPr>
              <p:cNvPr id="10" name="TextBox 9"/>
              <p:cNvSpPr txBox="1">
                <a:spLocks noRot="1" noChangeAspect="1" noMove="1" noResize="1" noEditPoints="1" noAdjustHandles="1" noChangeArrowheads="1" noChangeShapeType="1" noTextEdit="1"/>
              </p:cNvSpPr>
              <p:nvPr/>
            </p:nvSpPr>
            <p:spPr>
              <a:xfrm>
                <a:off x="5762476" y="2857500"/>
                <a:ext cx="1895624" cy="461665"/>
              </a:xfrm>
              <a:prstGeom prst="rect">
                <a:avLst/>
              </a:prstGeom>
              <a:blipFill>
                <a:blip r:embed="rId4"/>
                <a:stretch>
                  <a:fillRect l="-965" t="-10667" b="-30667"/>
                </a:stretch>
              </a:blipFill>
            </p:spPr>
            <p:txBody>
              <a:bodyPr/>
              <a:lstStyle/>
              <a:p>
                <a:r>
                  <a:rPr lang="en-GB">
                    <a:noFill/>
                  </a:rPr>
                  <a:t> </a:t>
                </a:r>
              </a:p>
            </p:txBody>
          </p:sp>
        </mc:Fallback>
      </mc:AlternateContent>
      <p:cxnSp>
        <p:nvCxnSpPr>
          <p:cNvPr id="11" name="Straight Arrow Connector 10"/>
          <p:cNvCxnSpPr/>
          <p:nvPr/>
        </p:nvCxnSpPr>
        <p:spPr>
          <a:xfrm flipH="1" flipV="1">
            <a:off x="5943600" y="2476500"/>
            <a:ext cx="356592" cy="4491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476300" y="3535040"/>
                <a:ext cx="8121600" cy="3046988"/>
              </a:xfrm>
              <a:prstGeom prst="rect">
                <a:avLst/>
              </a:prstGeom>
              <a:noFill/>
            </p:spPr>
            <p:txBody>
              <a:bodyPr wrap="square" rtlCol="0">
                <a:spAutoFit/>
              </a:bodyPr>
              <a:lstStyle/>
              <a:p>
                <a:r>
                  <a:rPr lang="en-GB" sz="2400" dirty="0"/>
                  <a:t>Why does it work?</a:t>
                </a:r>
              </a:p>
              <a:p>
                <a:pPr marL="457200" indent="-457200">
                  <a:buFont typeface="Arial" panose="020B0604020202020204" pitchFamily="34" charset="0"/>
                  <a:buChar char="•"/>
                </a:pPr>
                <a:r>
                  <a:rPr lang="en-GB" sz="2400" b="1" dirty="0"/>
                  <a:t>The </a:t>
                </a:r>
                <a14:m>
                  <m:oMath xmlns:m="http://schemas.openxmlformats.org/officeDocument/2006/math">
                    <m:r>
                      <a:rPr lang="en-GB" sz="2400" b="1" i="1" smtClean="0">
                        <a:latin typeface="Cambria Math" panose="02040503050406030204" pitchFamily="18" charset="0"/>
                      </a:rPr>
                      <m:t>𝒚</m:t>
                    </m:r>
                  </m:oMath>
                </a14:m>
                <a:r>
                  <a:rPr lang="en-GB" sz="2400" b="1" dirty="0"/>
                  <a:t>-intercept by definition is the </a:t>
                </a:r>
                <a14:m>
                  <m:oMath xmlns:m="http://schemas.openxmlformats.org/officeDocument/2006/math">
                    <m:r>
                      <a:rPr lang="en-GB" sz="2400" b="1" i="1" smtClean="0">
                        <a:latin typeface="Cambria Math" panose="02040503050406030204" pitchFamily="18" charset="0"/>
                      </a:rPr>
                      <m:t>𝒚</m:t>
                    </m:r>
                  </m:oMath>
                </a14:m>
                <a:r>
                  <a:rPr lang="en-GB" sz="2400" b="1" dirty="0"/>
                  <a:t> value when </a:t>
                </a:r>
                <a14:m>
                  <m:oMath xmlns:m="http://schemas.openxmlformats.org/officeDocument/2006/math">
                    <m:r>
                      <a:rPr lang="en-GB" sz="2400" b="1" i="1" smtClean="0">
                        <a:latin typeface="Cambria Math" panose="02040503050406030204" pitchFamily="18" charset="0"/>
                      </a:rPr>
                      <m:t>𝒙</m:t>
                    </m:r>
                    <m:r>
                      <a:rPr lang="en-GB" sz="2400" b="1" i="1" smtClean="0">
                        <a:latin typeface="Cambria Math" panose="02040503050406030204" pitchFamily="18" charset="0"/>
                      </a:rPr>
                      <m:t>=</m:t>
                    </m:r>
                    <m:r>
                      <a:rPr lang="en-GB" sz="2400" b="1" i="1" smtClean="0">
                        <a:latin typeface="Cambria Math" panose="02040503050406030204" pitchFamily="18" charset="0"/>
                      </a:rPr>
                      <m:t>𝟎</m:t>
                    </m:r>
                  </m:oMath>
                </a14:m>
                <a:r>
                  <a:rPr lang="en-GB" sz="2400" b="1" dirty="0"/>
                  <a:t>. Substituting:</a:t>
                </a:r>
                <a:br>
                  <a:rPr lang="en-GB" sz="2400" b="1" i="1" dirty="0">
                    <a:latin typeface="Cambria Math" panose="02040503050406030204" pitchFamily="18" charset="0"/>
                  </a:rPr>
                </a:br>
                <a14:m>
                  <m:oMath xmlns:m="http://schemas.openxmlformats.org/officeDocument/2006/math">
                    <m:r>
                      <a:rPr lang="en-GB" sz="2400" b="1" i="1" smtClean="0">
                        <a:latin typeface="Cambria Math" panose="02040503050406030204" pitchFamily="18" charset="0"/>
                      </a:rPr>
                      <m:t>𝒚</m:t>
                    </m:r>
                    <m:r>
                      <a:rPr lang="en-GB" sz="2400" b="1" i="1" smtClean="0">
                        <a:latin typeface="Cambria Math" panose="02040503050406030204" pitchFamily="18" charset="0"/>
                      </a:rPr>
                      <m:t>=</m:t>
                    </m:r>
                    <m:d>
                      <m:dPr>
                        <m:ctrlPr>
                          <a:rPr lang="en-GB" sz="2400" b="1" i="1" smtClean="0">
                            <a:latin typeface="Cambria Math" panose="02040503050406030204" pitchFamily="18" charset="0"/>
                          </a:rPr>
                        </m:ctrlPr>
                      </m:dPr>
                      <m:e>
                        <m:r>
                          <a:rPr lang="en-GB" sz="2400" b="1" i="1" smtClean="0">
                            <a:latin typeface="Cambria Math" panose="02040503050406030204" pitchFamily="18" charset="0"/>
                          </a:rPr>
                          <m:t>𝒎</m:t>
                        </m:r>
                        <m:r>
                          <a:rPr lang="en-GB" sz="2400" b="1" i="1" smtClean="0">
                            <a:latin typeface="Cambria Math" panose="02040503050406030204" pitchFamily="18" charset="0"/>
                          </a:rPr>
                          <m:t>×</m:t>
                        </m:r>
                        <m:r>
                          <a:rPr lang="en-GB" sz="2400" b="1" i="1" smtClean="0">
                            <a:latin typeface="Cambria Math" panose="02040503050406030204" pitchFamily="18" charset="0"/>
                          </a:rPr>
                          <m:t>𝟎</m:t>
                        </m:r>
                      </m:e>
                    </m:d>
                    <m:r>
                      <a:rPr lang="en-GB" sz="2400" b="1" i="1" smtClean="0">
                        <a:latin typeface="Cambria Math" panose="02040503050406030204" pitchFamily="18" charset="0"/>
                      </a:rPr>
                      <m:t>+</m:t>
                    </m:r>
                    <m:r>
                      <a:rPr lang="en-GB" sz="2400" b="1" i="1" smtClean="0">
                        <a:latin typeface="Cambria Math" panose="02040503050406030204" pitchFamily="18" charset="0"/>
                      </a:rPr>
                      <m:t>𝒄</m:t>
                    </m:r>
                    <m:r>
                      <a:rPr lang="en-GB" sz="2400" b="1" i="1" smtClean="0">
                        <a:latin typeface="Cambria Math" panose="02040503050406030204" pitchFamily="18" charset="0"/>
                      </a:rPr>
                      <m:t>=</m:t>
                    </m:r>
                    <m:r>
                      <a:rPr lang="en-GB" sz="2400" b="1" i="1" smtClean="0">
                        <a:latin typeface="Cambria Math" panose="02040503050406030204" pitchFamily="18" charset="0"/>
                      </a:rPr>
                      <m:t>𝒄</m:t>
                    </m:r>
                  </m:oMath>
                </a14:m>
                <a:r>
                  <a:rPr lang="en-GB" sz="2400" b="1" dirty="0"/>
                  <a:t> as expected.</a:t>
                </a:r>
              </a:p>
              <a:p>
                <a:pPr marL="457200" indent="-457200">
                  <a:buFont typeface="Arial" panose="020B0604020202020204" pitchFamily="34" charset="0"/>
                  <a:buChar char="•"/>
                </a:pPr>
                <a:r>
                  <a:rPr lang="en-GB" sz="2400" b="1" dirty="0"/>
                  <a:t>By the definition of gradient, if we increase </a:t>
                </a:r>
                <a14:m>
                  <m:oMath xmlns:m="http://schemas.openxmlformats.org/officeDocument/2006/math">
                    <m:r>
                      <a:rPr lang="en-GB" sz="2400" b="1" i="1" smtClean="0">
                        <a:latin typeface="Cambria Math" panose="02040503050406030204" pitchFamily="18" charset="0"/>
                      </a:rPr>
                      <m:t>𝒙</m:t>
                    </m:r>
                  </m:oMath>
                </a14:m>
                <a:r>
                  <a:rPr lang="en-GB" sz="2400" b="1" dirty="0"/>
                  <a:t> by 1, </a:t>
                </a:r>
                <a14:m>
                  <m:oMath xmlns:m="http://schemas.openxmlformats.org/officeDocument/2006/math">
                    <m:r>
                      <a:rPr lang="en-GB" sz="2400" b="1" i="1" smtClean="0">
                        <a:latin typeface="Cambria Math" panose="02040503050406030204" pitchFamily="18" charset="0"/>
                      </a:rPr>
                      <m:t>𝒚</m:t>
                    </m:r>
                  </m:oMath>
                </a14:m>
                <a:r>
                  <a:rPr lang="en-GB" sz="2400" b="1" dirty="0"/>
                  <a:t> should increase by </a:t>
                </a:r>
                <a14:m>
                  <m:oMath xmlns:m="http://schemas.openxmlformats.org/officeDocument/2006/math">
                    <m:r>
                      <a:rPr lang="en-GB" sz="2400" b="1" i="1" smtClean="0">
                        <a:latin typeface="Cambria Math" panose="02040503050406030204" pitchFamily="18" charset="0"/>
                      </a:rPr>
                      <m:t>𝒎</m:t>
                    </m:r>
                  </m:oMath>
                </a14:m>
                <a:r>
                  <a:rPr lang="en-GB" sz="2400" b="1" dirty="0"/>
                  <a:t>:</a:t>
                </a:r>
                <a:br>
                  <a:rPr lang="en-GB" sz="2400" b="1" dirty="0"/>
                </a:br>
                <a14:m>
                  <m:oMath xmlns:m="http://schemas.openxmlformats.org/officeDocument/2006/math">
                    <m:r>
                      <a:rPr lang="en-GB" sz="2400" b="1" i="1" smtClean="0">
                        <a:latin typeface="Cambria Math" panose="02040503050406030204" pitchFamily="18" charset="0"/>
                      </a:rPr>
                      <m:t>𝒚</m:t>
                    </m:r>
                    <m:r>
                      <a:rPr lang="en-GB" sz="2400" b="1" i="1" smtClean="0">
                        <a:latin typeface="Cambria Math" panose="02040503050406030204" pitchFamily="18" charset="0"/>
                      </a:rPr>
                      <m:t>=</m:t>
                    </m:r>
                    <m:r>
                      <a:rPr lang="en-GB" sz="2400" b="1" i="1" smtClean="0">
                        <a:latin typeface="Cambria Math" panose="02040503050406030204" pitchFamily="18" charset="0"/>
                      </a:rPr>
                      <m:t>𝒎</m:t>
                    </m:r>
                    <m:d>
                      <m:dPr>
                        <m:ctrlPr>
                          <a:rPr lang="en-GB" sz="2400" b="1" i="1" smtClean="0">
                            <a:latin typeface="Cambria Math" panose="02040503050406030204" pitchFamily="18" charset="0"/>
                          </a:rPr>
                        </m:ctrlPr>
                      </m:dPr>
                      <m:e>
                        <m:r>
                          <a:rPr lang="en-GB" sz="2400" b="1" i="1" smtClean="0">
                            <a:latin typeface="Cambria Math" panose="02040503050406030204" pitchFamily="18" charset="0"/>
                          </a:rPr>
                          <m:t>𝒙</m:t>
                        </m:r>
                        <m:r>
                          <a:rPr lang="en-GB" sz="2400" b="1" i="1" smtClean="0">
                            <a:latin typeface="Cambria Math" panose="02040503050406030204" pitchFamily="18" charset="0"/>
                          </a:rPr>
                          <m:t>+</m:t>
                        </m:r>
                        <m:r>
                          <a:rPr lang="en-GB" sz="2400" b="1" i="1" smtClean="0">
                            <a:latin typeface="Cambria Math" panose="02040503050406030204" pitchFamily="18" charset="0"/>
                          </a:rPr>
                          <m:t>𝟏</m:t>
                        </m:r>
                      </m:e>
                    </m:d>
                    <m:r>
                      <a:rPr lang="en-GB" sz="2400" b="1" i="1" smtClean="0">
                        <a:latin typeface="Cambria Math" panose="02040503050406030204" pitchFamily="18" charset="0"/>
                      </a:rPr>
                      <m:t>+</m:t>
                    </m:r>
                    <m:r>
                      <a:rPr lang="en-GB" sz="2400" b="1" i="1" smtClean="0">
                        <a:latin typeface="Cambria Math" panose="02040503050406030204" pitchFamily="18" charset="0"/>
                      </a:rPr>
                      <m:t>𝒄</m:t>
                    </m:r>
                    <m:r>
                      <a:rPr lang="en-GB" sz="2400" b="1" i="1" smtClean="0">
                        <a:latin typeface="Cambria Math" panose="02040503050406030204" pitchFamily="18" charset="0"/>
                      </a:rPr>
                      <m:t>=</m:t>
                    </m:r>
                    <m:r>
                      <a:rPr lang="en-GB" sz="2400" b="1" i="1" smtClean="0">
                        <a:latin typeface="Cambria Math" panose="02040503050406030204" pitchFamily="18" charset="0"/>
                      </a:rPr>
                      <m:t>𝒎𝒙</m:t>
                    </m:r>
                    <m:r>
                      <a:rPr lang="en-GB" sz="2400" b="1" i="1" smtClean="0">
                        <a:latin typeface="Cambria Math" panose="02040503050406030204" pitchFamily="18" charset="0"/>
                      </a:rPr>
                      <m:t>+</m:t>
                    </m:r>
                    <m:r>
                      <a:rPr lang="en-GB" sz="2400" b="1" i="1" smtClean="0">
                        <a:latin typeface="Cambria Math" panose="02040503050406030204" pitchFamily="18" charset="0"/>
                      </a:rPr>
                      <m:t>𝒎</m:t>
                    </m:r>
                    <m:r>
                      <a:rPr lang="en-GB" sz="2400" b="1" i="1" smtClean="0">
                        <a:latin typeface="Cambria Math" panose="02040503050406030204" pitchFamily="18" charset="0"/>
                      </a:rPr>
                      <m:t>+</m:t>
                    </m:r>
                    <m:r>
                      <a:rPr lang="en-GB" sz="2400" b="1" i="1" smtClean="0">
                        <a:latin typeface="Cambria Math" panose="02040503050406030204" pitchFamily="18" charset="0"/>
                      </a:rPr>
                      <m:t>𝒄</m:t>
                    </m:r>
                  </m:oMath>
                </a14:m>
                <a:br>
                  <a:rPr lang="en-GB" sz="2400" b="1" dirty="0"/>
                </a:br>
                <a:r>
                  <a:rPr lang="en-GB" sz="2400" b="1" dirty="0"/>
                  <a:t>which indeed has increased by </a:t>
                </a:r>
                <a14:m>
                  <m:oMath xmlns:m="http://schemas.openxmlformats.org/officeDocument/2006/math">
                    <m:r>
                      <a:rPr lang="en-GB" sz="2400" b="1" i="1" smtClean="0">
                        <a:latin typeface="Cambria Math" panose="02040503050406030204" pitchFamily="18" charset="0"/>
                      </a:rPr>
                      <m:t>𝒎</m:t>
                    </m:r>
                  </m:oMath>
                </a14:m>
                <a:r>
                  <a:rPr lang="en-GB" sz="2400" b="1" dirty="0"/>
                  <a:t>. </a:t>
                </a:r>
              </a:p>
            </p:txBody>
          </p:sp>
        </mc:Choice>
        <mc:Fallback xmlns="">
          <p:sp>
            <p:nvSpPr>
              <p:cNvPr id="13" name="TextBox 12"/>
              <p:cNvSpPr txBox="1">
                <a:spLocks noRot="1" noChangeAspect="1" noMove="1" noResize="1" noEditPoints="1" noAdjustHandles="1" noChangeArrowheads="1" noChangeShapeType="1" noTextEdit="1"/>
              </p:cNvSpPr>
              <p:nvPr/>
            </p:nvSpPr>
            <p:spPr>
              <a:xfrm>
                <a:off x="476300" y="3535040"/>
                <a:ext cx="8121600" cy="3046988"/>
              </a:xfrm>
              <a:prstGeom prst="rect">
                <a:avLst/>
              </a:prstGeom>
              <a:blipFill>
                <a:blip r:embed="rId5"/>
                <a:stretch>
                  <a:fillRect l="-1126" t="-1600" b="-3600"/>
                </a:stretch>
              </a:blipFill>
            </p:spPr>
            <p:txBody>
              <a:bodyPr/>
              <a:lstStyle/>
              <a:p>
                <a:r>
                  <a:rPr lang="en-GB">
                    <a:noFill/>
                  </a:rPr>
                  <a:t> </a:t>
                </a:r>
              </a:p>
            </p:txBody>
          </p:sp>
        </mc:Fallback>
      </mc:AlternateContent>
      <p:sp>
        <p:nvSpPr>
          <p:cNvPr id="14" name="Rectangle 13"/>
          <p:cNvSpPr/>
          <p:nvPr/>
        </p:nvSpPr>
        <p:spPr>
          <a:xfrm>
            <a:off x="550294" y="3979100"/>
            <a:ext cx="8136506" cy="266300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324121790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childTnLst>
        </p:cTn>
      </p:par>
    </p:tnLst>
    <p:bldLst>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4000" cy="587744"/>
            <a:chOff x="0" y="13335"/>
            <a:chExt cx="9144218" cy="587744"/>
          </a:xfrm>
        </p:grpSpPr>
        <mc:AlternateContent xmlns:mc="http://schemas.openxmlformats.org/markup-compatibility/2006" xmlns:a14="http://schemas.microsoft.com/office/drawing/2010/main">
          <mc:Choice Requires="a14">
            <p:sp>
              <p:nvSpPr>
                <p:cNvPr id="3" name="TextBox 32"/>
                <p:cNvSpPr txBox="1"/>
                <p:nvPr/>
              </p:nvSpPr>
              <p:spPr>
                <a:xfrm>
                  <a:off x="0" y="13335"/>
                  <a:ext cx="9144000" cy="5734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14:m>
                    <m:oMathPara xmlns:m="http://schemas.openxmlformats.org/officeDocument/2006/math">
                      <m:oMathParaPr>
                        <m:jc m:val="left"/>
                      </m:oMathParaPr>
                      <m:oMath xmlns:m="http://schemas.openxmlformats.org/officeDocument/2006/math">
                        <m:r>
                          <a:rPr lang="en-GB" dirty="0">
                            <a:latin typeface="Cambria Math" panose="02040503050406030204" pitchFamily="18" charset="0"/>
                          </a:rPr>
                          <m:t>𝑦</m:t>
                        </m:r>
                        <m:r>
                          <a:rPr lang="en-GB" dirty="0">
                            <a:latin typeface="Cambria Math" panose="02040503050406030204" pitchFamily="18" charset="0"/>
                          </a:rPr>
                          <m:t>=</m:t>
                        </m:r>
                        <m:r>
                          <a:rPr lang="en-GB" dirty="0" err="1">
                            <a:latin typeface="Cambria Math" panose="02040503050406030204" pitchFamily="18" charset="0"/>
                          </a:rPr>
                          <m:t>𝑚𝑥</m:t>
                        </m:r>
                        <m:r>
                          <a:rPr lang="en-GB" dirty="0" err="1">
                            <a:latin typeface="Cambria Math" panose="02040503050406030204" pitchFamily="18" charset="0"/>
                          </a:rPr>
                          <m:t>+</m:t>
                        </m:r>
                        <m:r>
                          <a:rPr lang="en-GB" dirty="0" err="1">
                            <a:latin typeface="Cambria Math" panose="02040503050406030204" pitchFamily="18" charset="0"/>
                          </a:rPr>
                          <m:t>𝑐</m:t>
                        </m:r>
                      </m:oMath>
                    </m:oMathPara>
                  </a14:m>
                  <a:endParaRPr lang="en-GB" dirty="0"/>
                </a:p>
              </p:txBody>
            </p:sp>
          </mc:Choice>
          <mc:Fallback xmlns="">
            <p:sp>
              <p:nvSpPr>
                <p:cNvPr id="3" name="TextBox 32"/>
                <p:cNvSpPr txBox="1">
                  <a:spLocks noRot="1" noChangeAspect="1" noMove="1" noResize="1" noEditPoints="1" noAdjustHandles="1" noChangeArrowheads="1" noChangeShapeType="1" noTextEdit="1"/>
                </p:cNvSpPr>
                <p:nvPr/>
              </p:nvSpPr>
              <p:spPr>
                <a:xfrm>
                  <a:off x="0" y="13335"/>
                  <a:ext cx="9144000" cy="573427"/>
                </a:xfrm>
                <a:prstGeom prst="rect">
                  <a:avLst/>
                </a:prstGeom>
                <a:blipFill>
                  <a:blip r:embed="rId2"/>
                  <a:stretch>
                    <a:fillRect/>
                  </a:stretch>
                </a:blipFill>
                <a:ln>
                  <a:noFill/>
                </a:ln>
              </p:spPr>
              <p:txBody>
                <a:bodyPr/>
                <a:lstStyle/>
                <a:p>
                  <a:r>
                    <a:rPr lang="en-GB">
                      <a:noFill/>
                    </a:rPr>
                    <a:t> </a:t>
                  </a:r>
                </a:p>
              </p:txBody>
            </p:sp>
          </mc:Fallback>
        </mc:AlternateContent>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395536" y="908720"/>
                <a:ext cx="8280920" cy="830997"/>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Determine the gradient and </a:t>
                </a:r>
                <a14:m>
                  <m:oMath xmlns:m="http://schemas.openxmlformats.org/officeDocument/2006/math">
                    <m:r>
                      <a:rPr lang="en-GB" sz="2400" b="0" i="1" smtClean="0">
                        <a:latin typeface="Cambria Math" panose="02040503050406030204" pitchFamily="18" charset="0"/>
                      </a:rPr>
                      <m:t>𝑦</m:t>
                    </m:r>
                  </m:oMath>
                </a14:m>
                <a:r>
                  <a:rPr lang="en-GB" sz="2400" dirty="0"/>
                  <a:t>-intercept of the line with equation </a:t>
                </a:r>
                <a14:m>
                  <m:oMath xmlns:m="http://schemas.openxmlformats.org/officeDocument/2006/math">
                    <m:r>
                      <a:rPr lang="en-GB" sz="2400" b="0" i="1" smtClean="0">
                        <a:latin typeface="Cambria Math" panose="02040503050406030204" pitchFamily="18" charset="0"/>
                      </a:rPr>
                      <m:t>4</m:t>
                    </m:r>
                    <m:r>
                      <a:rPr lang="en-GB" sz="2400" b="0" i="1" smtClean="0">
                        <a:latin typeface="Cambria Math" panose="02040503050406030204" pitchFamily="18" charset="0"/>
                      </a:rPr>
                      <m:t>𝑥</m:t>
                    </m:r>
                    <m:r>
                      <a:rPr lang="en-GB" sz="2400" b="0" i="1" smtClean="0">
                        <a:latin typeface="Cambria Math" panose="02040503050406030204" pitchFamily="18" charset="0"/>
                      </a:rPr>
                      <m:t>−3</m:t>
                    </m:r>
                    <m:r>
                      <a:rPr lang="en-GB" sz="2400" b="0" i="1" smtClean="0">
                        <a:latin typeface="Cambria Math" panose="02040503050406030204" pitchFamily="18" charset="0"/>
                      </a:rPr>
                      <m:t>𝑦</m:t>
                    </m:r>
                    <m:r>
                      <a:rPr lang="en-GB" sz="2400" b="0" i="1" smtClean="0">
                        <a:latin typeface="Cambria Math" panose="02040503050406030204" pitchFamily="18" charset="0"/>
                      </a:rPr>
                      <m:t>+5=0</m:t>
                    </m:r>
                  </m:oMath>
                </a14:m>
                <a:endParaRPr lang="en-GB"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395536" y="908720"/>
                <a:ext cx="8280920" cy="830997"/>
              </a:xfrm>
              <a:prstGeom prst="rect">
                <a:avLst/>
              </a:prstGeom>
              <a:blipFill>
                <a:blip r:embed="rId3"/>
                <a:stretch>
                  <a:fillRect b="-625"/>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6363568" y="1925340"/>
                <a:ext cx="2069232" cy="132343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dirty="0"/>
                  <a:t>Make </a:t>
                </a:r>
                <a14:m>
                  <m:oMath xmlns:m="http://schemas.openxmlformats.org/officeDocument/2006/math">
                    <m:r>
                      <a:rPr lang="en-GB" sz="1600" b="0" i="1" smtClean="0">
                        <a:latin typeface="Cambria Math" panose="02040503050406030204" pitchFamily="18" charset="0"/>
                      </a:rPr>
                      <m:t>𝑦</m:t>
                    </m:r>
                  </m:oMath>
                </a14:m>
                <a:r>
                  <a:rPr lang="en-GB" sz="1600" dirty="0"/>
                  <a:t> the subject so we have the form </a:t>
                </a:r>
              </a:p>
              <a:p>
                <a:pPr/>
                <a14:m>
                  <m:oMathPara xmlns:m="http://schemas.openxmlformats.org/officeDocument/2006/math">
                    <m:oMathParaPr>
                      <m:jc m:val="centerGroup"/>
                    </m:oMathParaPr>
                    <m:oMath xmlns:m="http://schemas.openxmlformats.org/officeDocument/2006/math">
                      <m:r>
                        <a:rPr lang="en-GB" sz="1600" b="0" i="1" smtClean="0">
                          <a:latin typeface="Cambria Math" panose="02040503050406030204" pitchFamily="18" charset="0"/>
                        </a:rPr>
                        <m:t>𝑦</m:t>
                      </m:r>
                      <m:r>
                        <a:rPr lang="en-GB" sz="1600" b="0" i="1" smtClean="0">
                          <a:latin typeface="Cambria Math" panose="02040503050406030204" pitchFamily="18" charset="0"/>
                        </a:rPr>
                        <m:t>=</m:t>
                      </m:r>
                      <m:r>
                        <a:rPr lang="en-GB" sz="1600" b="0" i="1" smtClean="0">
                          <a:latin typeface="Cambria Math" panose="02040503050406030204" pitchFamily="18" charset="0"/>
                        </a:rPr>
                        <m:t>𝑚𝑥</m:t>
                      </m:r>
                      <m:r>
                        <a:rPr lang="en-GB" sz="1600" b="0" i="1" smtClean="0">
                          <a:latin typeface="Cambria Math" panose="02040503050406030204" pitchFamily="18" charset="0"/>
                        </a:rPr>
                        <m:t>+</m:t>
                      </m:r>
                      <m:r>
                        <a:rPr lang="en-GB" sz="1600" b="0" i="1" smtClean="0">
                          <a:latin typeface="Cambria Math" panose="02040503050406030204" pitchFamily="18" charset="0"/>
                        </a:rPr>
                        <m:t>𝑐</m:t>
                      </m:r>
                    </m:oMath>
                  </m:oMathPara>
                </a14:m>
                <a:endParaRPr lang="en-GB" sz="1600" dirty="0"/>
              </a:p>
              <a:p>
                <a:r>
                  <a:rPr lang="en-GB" sz="1600" dirty="0"/>
                  <a:t>Put </a:t>
                </a:r>
                <a14:m>
                  <m:oMath xmlns:m="http://schemas.openxmlformats.org/officeDocument/2006/math">
                    <m:r>
                      <a:rPr lang="en-GB" sz="1600" b="0" i="1" smtClean="0">
                        <a:latin typeface="Cambria Math" panose="02040503050406030204" pitchFamily="18" charset="0"/>
                      </a:rPr>
                      <m:t>𝑦</m:t>
                    </m:r>
                  </m:oMath>
                </a14:m>
                <a:r>
                  <a:rPr lang="en-GB" sz="1600" dirty="0"/>
                  <a:t> on the side it’s positive.</a:t>
                </a:r>
              </a:p>
            </p:txBody>
          </p:sp>
        </mc:Choice>
        <mc:Fallback xmlns="">
          <p:sp>
            <p:nvSpPr>
              <p:cNvPr id="6" name="TextBox 5"/>
              <p:cNvSpPr txBox="1">
                <a:spLocks noRot="1" noChangeAspect="1" noMove="1" noResize="1" noEditPoints="1" noAdjustHandles="1" noChangeArrowheads="1" noChangeShapeType="1" noTextEdit="1"/>
              </p:cNvSpPr>
              <p:nvPr/>
            </p:nvSpPr>
            <p:spPr>
              <a:xfrm>
                <a:off x="6363568" y="1925340"/>
                <a:ext cx="2069232" cy="1323439"/>
              </a:xfrm>
              <a:prstGeom prst="rect">
                <a:avLst/>
              </a:prstGeom>
              <a:blipFill>
                <a:blip r:embed="rId4"/>
                <a:stretch>
                  <a:fillRect l="-1166" t="-452" b="-407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950268" y="1993156"/>
                <a:ext cx="4176464" cy="25941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3</m:t>
                      </m:r>
                      <m:r>
                        <a:rPr lang="en-GB" sz="2400" b="0" i="1" smtClean="0">
                          <a:latin typeface="Cambria Math" panose="02040503050406030204" pitchFamily="18" charset="0"/>
                        </a:rPr>
                        <m:t>𝑦</m:t>
                      </m:r>
                      <m:r>
                        <a:rPr lang="en-GB" sz="2400" b="0" i="1" smtClean="0">
                          <a:latin typeface="Cambria Math" panose="02040503050406030204" pitchFamily="18" charset="0"/>
                        </a:rPr>
                        <m:t>=4</m:t>
                      </m:r>
                      <m:r>
                        <a:rPr lang="en-GB" sz="2400" b="0" i="1" smtClean="0">
                          <a:latin typeface="Cambria Math" panose="02040503050406030204" pitchFamily="18" charset="0"/>
                        </a:rPr>
                        <m:t>𝑥</m:t>
                      </m:r>
                      <m:r>
                        <a:rPr lang="en-GB" sz="2400" b="0" i="1" smtClean="0">
                          <a:latin typeface="Cambria Math" panose="02040503050406030204" pitchFamily="18" charset="0"/>
                        </a:rPr>
                        <m:t>+5</m:t>
                      </m:r>
                    </m:oMath>
                    <m:oMath xmlns:m="http://schemas.openxmlformats.org/officeDocument/2006/math">
                      <m:r>
                        <a:rPr lang="en-GB" sz="2400" b="0" i="1" smtClean="0">
                          <a:latin typeface="Cambria Math" panose="02040503050406030204" pitchFamily="18" charset="0"/>
                        </a:rPr>
                        <m:t>𝑦</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4</m:t>
                          </m:r>
                        </m:num>
                        <m:den>
                          <m:r>
                            <a:rPr lang="en-GB" sz="2400" b="0" i="1" smtClean="0">
                              <a:latin typeface="Cambria Math" panose="02040503050406030204" pitchFamily="18" charset="0"/>
                            </a:rPr>
                            <m:t>3</m:t>
                          </m:r>
                        </m:den>
                      </m:f>
                      <m:r>
                        <a:rPr lang="en-GB" sz="2400" b="0" i="1" smtClean="0">
                          <a:latin typeface="Cambria Math" panose="02040503050406030204" pitchFamily="18" charset="0"/>
                        </a:rPr>
                        <m:t>𝑥</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5</m:t>
                          </m:r>
                        </m:num>
                        <m:den>
                          <m:r>
                            <a:rPr lang="en-GB" sz="2400" b="0" i="1" smtClean="0">
                              <a:latin typeface="Cambria Math" panose="02040503050406030204" pitchFamily="18" charset="0"/>
                            </a:rPr>
                            <m:t>3</m:t>
                          </m:r>
                        </m:den>
                      </m:f>
                    </m:oMath>
                  </m:oMathPara>
                </a14:m>
                <a:endParaRPr lang="en-GB" dirty="0"/>
              </a:p>
              <a:p>
                <a:endParaRPr lang="en-GB" sz="2400" dirty="0"/>
              </a:p>
              <a:p>
                <a:endParaRPr lang="en-GB" sz="2400" dirty="0"/>
              </a:p>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m:t>
                      </m:r>
                      <m:r>
                        <a:rPr lang="en-GB" sz="2400" b="0" i="1" smtClean="0">
                          <a:latin typeface="Cambria Math" panose="02040503050406030204" pitchFamily="18" charset="0"/>
                        </a:rPr>
                        <m:t>𝑚</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4</m:t>
                          </m:r>
                        </m:num>
                        <m:den>
                          <m:r>
                            <a:rPr lang="en-GB" sz="2400" b="0" i="1" smtClean="0">
                              <a:latin typeface="Cambria Math" panose="02040503050406030204" pitchFamily="18" charset="0"/>
                            </a:rPr>
                            <m:t>3</m:t>
                          </m:r>
                        </m:den>
                      </m:f>
                      <m:r>
                        <a:rPr lang="en-GB" sz="2400" b="0" i="1" smtClean="0">
                          <a:latin typeface="Cambria Math" panose="02040503050406030204" pitchFamily="18" charset="0"/>
                        </a:rPr>
                        <m:t>,  </m:t>
                      </m:r>
                      <m:r>
                        <a:rPr lang="en-GB" sz="2400" b="0" i="1" smtClean="0">
                          <a:latin typeface="Cambria Math" panose="02040503050406030204" pitchFamily="18" charset="0"/>
                        </a:rPr>
                        <m:t>𝑐</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5</m:t>
                          </m:r>
                        </m:num>
                        <m:den>
                          <m:r>
                            <a:rPr lang="en-GB" sz="2400" b="0" i="1" smtClean="0">
                              <a:latin typeface="Cambria Math" panose="02040503050406030204" pitchFamily="18" charset="0"/>
                            </a:rPr>
                            <m:t>3</m:t>
                          </m:r>
                        </m:den>
                      </m:f>
                    </m:oMath>
                  </m:oMathPara>
                </a14:m>
                <a:endParaRPr lang="en-GB"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950268" y="1993156"/>
                <a:ext cx="4176464" cy="259417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6363568" y="3407247"/>
                <a:ext cx="2069232" cy="118397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dirty="0"/>
                  <a:t>Divide </a:t>
                </a:r>
                <a:r>
                  <a:rPr lang="en-GB" sz="1600" b="1" u="sng" dirty="0"/>
                  <a:t>each</a:t>
                </a:r>
                <a:r>
                  <a:rPr lang="en-GB" sz="1600" dirty="0"/>
                  <a:t> term by 3; don’t write </a:t>
                </a:r>
                <a14:m>
                  <m:oMath xmlns:m="http://schemas.openxmlformats.org/officeDocument/2006/math">
                    <m:r>
                      <a:rPr lang="en-GB" sz="1600" b="0" i="1" smtClean="0">
                        <a:latin typeface="Cambria Math" panose="02040503050406030204" pitchFamily="18" charset="0"/>
                      </a:rPr>
                      <m:t>𝑦</m:t>
                    </m:r>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4</m:t>
                        </m:r>
                        <m:r>
                          <a:rPr lang="en-GB" sz="1600" b="0" i="1" smtClean="0">
                            <a:latin typeface="Cambria Math" panose="02040503050406030204" pitchFamily="18" charset="0"/>
                          </a:rPr>
                          <m:t>𝑥</m:t>
                        </m:r>
                        <m:r>
                          <a:rPr lang="en-GB" sz="1600" b="0" i="1" smtClean="0">
                            <a:latin typeface="Cambria Math" panose="02040503050406030204" pitchFamily="18" charset="0"/>
                          </a:rPr>
                          <m:t>+5</m:t>
                        </m:r>
                      </m:num>
                      <m:den>
                        <m:r>
                          <a:rPr lang="en-GB" sz="1600" b="0" i="1" smtClean="0">
                            <a:latin typeface="Cambria Math" panose="02040503050406030204" pitchFamily="18" charset="0"/>
                          </a:rPr>
                          <m:t>3</m:t>
                        </m:r>
                      </m:den>
                    </m:f>
                  </m:oMath>
                </a14:m>
                <a:r>
                  <a:rPr lang="en-GB" sz="1600" dirty="0"/>
                  <a:t> otherwise it’s not in the form </a:t>
                </a:r>
                <a14:m>
                  <m:oMath xmlns:m="http://schemas.openxmlformats.org/officeDocument/2006/math">
                    <m:r>
                      <a:rPr lang="en-GB" sz="1600" b="0" i="1" smtClean="0">
                        <a:latin typeface="Cambria Math" panose="02040503050406030204" pitchFamily="18" charset="0"/>
                      </a:rPr>
                      <m:t>𝑦</m:t>
                    </m:r>
                    <m:r>
                      <a:rPr lang="en-GB" sz="1600" b="0" i="1" smtClean="0">
                        <a:latin typeface="Cambria Math" panose="02040503050406030204" pitchFamily="18" charset="0"/>
                      </a:rPr>
                      <m:t>=</m:t>
                    </m:r>
                    <m:r>
                      <a:rPr lang="en-GB" sz="1600" b="0" i="1" smtClean="0">
                        <a:latin typeface="Cambria Math" panose="02040503050406030204" pitchFamily="18" charset="0"/>
                      </a:rPr>
                      <m:t>𝑚𝑥</m:t>
                    </m:r>
                    <m:r>
                      <a:rPr lang="en-GB" sz="1600" b="0" i="1" smtClean="0">
                        <a:latin typeface="Cambria Math" panose="02040503050406030204" pitchFamily="18" charset="0"/>
                      </a:rPr>
                      <m:t>+</m:t>
                    </m:r>
                    <m:r>
                      <a:rPr lang="en-GB" sz="1600" b="0" i="1" smtClean="0">
                        <a:latin typeface="Cambria Math" panose="02040503050406030204" pitchFamily="18" charset="0"/>
                      </a:rPr>
                      <m:t>𝑐</m:t>
                    </m:r>
                  </m:oMath>
                </a14:m>
                <a:endParaRPr lang="en-GB" sz="1600" dirty="0"/>
              </a:p>
            </p:txBody>
          </p:sp>
        </mc:Choice>
        <mc:Fallback xmlns="">
          <p:sp>
            <p:nvSpPr>
              <p:cNvPr id="8" name="TextBox 7"/>
              <p:cNvSpPr txBox="1">
                <a:spLocks noRot="1" noChangeAspect="1" noMove="1" noResize="1" noEditPoints="1" noAdjustHandles="1" noChangeArrowheads="1" noChangeShapeType="1" noTextEdit="1"/>
              </p:cNvSpPr>
              <p:nvPr/>
            </p:nvSpPr>
            <p:spPr>
              <a:xfrm>
                <a:off x="6363568" y="3407247"/>
                <a:ext cx="2069232" cy="1183978"/>
              </a:xfrm>
              <a:prstGeom prst="rect">
                <a:avLst/>
              </a:prstGeom>
              <a:blipFill>
                <a:blip r:embed="rId6"/>
                <a:stretch>
                  <a:fillRect l="-1166" t="-505" r="-1749" b="-5051"/>
                </a:stretch>
              </a:blipFill>
            </p:spPr>
            <p:txBody>
              <a:bodyPr/>
              <a:lstStyle/>
              <a:p>
                <a:r>
                  <a:rPr lang="en-GB">
                    <a:noFill/>
                  </a:rPr>
                  <a:t> </a:t>
                </a:r>
              </a:p>
            </p:txBody>
          </p:sp>
        </mc:Fallback>
      </mc:AlternateContent>
      <p:cxnSp>
        <p:nvCxnSpPr>
          <p:cNvPr id="10" name="Straight Arrow Connector 9"/>
          <p:cNvCxnSpPr>
            <a:stCxn id="6" idx="1"/>
          </p:cNvCxnSpPr>
          <p:nvPr/>
        </p:nvCxnSpPr>
        <p:spPr>
          <a:xfrm flipH="1" flipV="1">
            <a:off x="5508104" y="2276875"/>
            <a:ext cx="855464" cy="3101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p:nvPr/>
        </p:nvCxnSpPr>
        <p:spPr>
          <a:xfrm flipH="1" flipV="1">
            <a:off x="5511800" y="2921000"/>
            <a:ext cx="851768" cy="723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6363568" y="4763385"/>
            <a:ext cx="2069232" cy="132343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dirty="0"/>
              <a:t>This is algebra, so use improper fractions, and not mixed numbers or recurring decimals.</a:t>
            </a:r>
          </a:p>
        </p:txBody>
      </p:sp>
      <p:cxnSp>
        <p:nvCxnSpPr>
          <p:cNvPr id="15" name="Straight Arrow Connector 14"/>
          <p:cNvCxnSpPr/>
          <p:nvPr/>
        </p:nvCxnSpPr>
        <p:spPr>
          <a:xfrm flipH="1" flipV="1">
            <a:off x="5473700" y="4191000"/>
            <a:ext cx="878408" cy="12443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Rectangle 16"/>
          <p:cNvSpPr/>
          <p:nvPr/>
        </p:nvSpPr>
        <p:spPr>
          <a:xfrm>
            <a:off x="1475656" y="1845500"/>
            <a:ext cx="3662536" cy="437750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248047806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7"/>
                                        </p:tgtEl>
                                      </p:cBhvr>
                                    </p:animEffect>
                                    <p:set>
                                      <p:cBhvr>
                                        <p:cTn id="7" dur="1" fill="hold">
                                          <p:stCondLst>
                                            <p:cond delay="499"/>
                                          </p:stCondLst>
                                        </p:cTn>
                                        <p:tgtEl>
                                          <p:spTgt spid="17"/>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childTnLst>
                    </p:cTn>
                  </p:par>
                </p:childTnLst>
              </p:cTn>
              <p:nextCondLst>
                <p:cond evt="onClick" delay="0">
                  <p:tgtEl>
                    <p:spTgt spid="17"/>
                  </p:tgtEl>
                </p:cond>
              </p:nextCondLst>
            </p:seq>
          </p:childTnLst>
        </p:cTn>
      </p:par>
    </p:tnLst>
    <p:bldLst>
      <p:bldP spid="8" grpId="0" animBg="1"/>
      <p:bldP spid="14" grpId="0" animBg="1"/>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4000" cy="587744"/>
            <a:chOff x="0" y="13335"/>
            <a:chExt cx="9144218" cy="587744"/>
          </a:xfrm>
        </p:grpSpPr>
        <mc:AlternateContent xmlns:mc="http://schemas.openxmlformats.org/markup-compatibility/2006" xmlns:a14="http://schemas.microsoft.com/office/drawing/2010/main">
          <mc:Choice Requires="a14">
            <p:sp>
              <p:nvSpPr>
                <p:cNvPr id="3" name="TextBox 32"/>
                <p:cNvSpPr txBox="1"/>
                <p:nvPr/>
              </p:nvSpPr>
              <p:spPr>
                <a:xfrm>
                  <a:off x="0" y="13335"/>
                  <a:ext cx="9144000" cy="5734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14:m>
                    <m:oMathPara xmlns:m="http://schemas.openxmlformats.org/officeDocument/2006/math">
                      <m:oMathParaPr>
                        <m:jc m:val="left"/>
                      </m:oMathParaPr>
                      <m:oMath xmlns:m="http://schemas.openxmlformats.org/officeDocument/2006/math">
                        <m:r>
                          <a:rPr lang="en-GB" dirty="0">
                            <a:latin typeface="Cambria Math" panose="02040503050406030204" pitchFamily="18" charset="0"/>
                          </a:rPr>
                          <m:t>𝑎𝑥</m:t>
                        </m:r>
                        <m:r>
                          <a:rPr lang="en-GB" dirty="0">
                            <a:latin typeface="Cambria Math" panose="02040503050406030204" pitchFamily="18" charset="0"/>
                          </a:rPr>
                          <m:t>+</m:t>
                        </m:r>
                        <m:r>
                          <a:rPr lang="en-GB" dirty="0">
                            <a:latin typeface="Cambria Math" panose="02040503050406030204" pitchFamily="18" charset="0"/>
                          </a:rPr>
                          <m:t>𝑏𝑦</m:t>
                        </m:r>
                        <m:r>
                          <a:rPr lang="en-GB" dirty="0">
                            <a:latin typeface="Cambria Math" panose="02040503050406030204" pitchFamily="18" charset="0"/>
                          </a:rPr>
                          <m:t>+</m:t>
                        </m:r>
                        <m:r>
                          <a:rPr lang="en-GB" dirty="0">
                            <a:latin typeface="Cambria Math" panose="02040503050406030204" pitchFamily="18" charset="0"/>
                          </a:rPr>
                          <m:t>𝑐</m:t>
                        </m:r>
                        <m:r>
                          <a:rPr lang="en-GB" dirty="0">
                            <a:latin typeface="Cambria Math" panose="02040503050406030204" pitchFamily="18" charset="0"/>
                          </a:rPr>
                          <m:t>=0</m:t>
                        </m:r>
                      </m:oMath>
                    </m:oMathPara>
                  </a14:m>
                  <a:endParaRPr lang="en-GB" dirty="0"/>
                </a:p>
              </p:txBody>
            </p:sp>
          </mc:Choice>
          <mc:Fallback xmlns="">
            <p:sp>
              <p:nvSpPr>
                <p:cNvPr id="3" name="TextBox 32"/>
                <p:cNvSpPr txBox="1">
                  <a:spLocks noRot="1" noChangeAspect="1" noMove="1" noResize="1" noEditPoints="1" noAdjustHandles="1" noChangeArrowheads="1" noChangeShapeType="1" noTextEdit="1"/>
                </p:cNvSpPr>
                <p:nvPr/>
              </p:nvSpPr>
              <p:spPr>
                <a:xfrm>
                  <a:off x="0" y="13335"/>
                  <a:ext cx="9144000" cy="573427"/>
                </a:xfrm>
                <a:prstGeom prst="rect">
                  <a:avLst/>
                </a:prstGeom>
                <a:blipFill>
                  <a:blip r:embed="rId2"/>
                  <a:stretch>
                    <a:fillRect/>
                  </a:stretch>
                </a:blipFill>
                <a:ln>
                  <a:noFill/>
                </a:ln>
              </p:spPr>
              <p:txBody>
                <a:bodyPr/>
                <a:lstStyle/>
                <a:p>
                  <a:r>
                    <a:rPr lang="en-GB">
                      <a:noFill/>
                    </a:rPr>
                    <a:t> </a:t>
                  </a:r>
                </a:p>
              </p:txBody>
            </p:sp>
          </mc:Fallback>
        </mc:AlternateContent>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522660" y="900336"/>
                <a:ext cx="7865764" cy="1323439"/>
              </a:xfrm>
              <a:prstGeom prst="rect">
                <a:avLst/>
              </a:prstGeom>
              <a:noFill/>
            </p:spPr>
            <p:txBody>
              <a:bodyPr wrap="square" rtlCol="0">
                <a:spAutoFit/>
              </a:bodyPr>
              <a:lstStyle/>
              <a:p>
                <a:r>
                  <a:rPr lang="en-GB" sz="2000" dirty="0"/>
                  <a:t>At GCSE, </a:t>
                </a:r>
                <a14:m>
                  <m:oMath xmlns:m="http://schemas.openxmlformats.org/officeDocument/2006/math">
                    <m:r>
                      <a:rPr lang="en-GB" sz="2000" b="1" i="1" smtClean="0">
                        <a:latin typeface="Cambria Math" panose="02040503050406030204" pitchFamily="18" charset="0"/>
                      </a:rPr>
                      <m:t>𝒚</m:t>
                    </m:r>
                    <m:r>
                      <a:rPr lang="en-GB" sz="2000" b="1" i="1" smtClean="0">
                        <a:latin typeface="Cambria Math" panose="02040503050406030204" pitchFamily="18" charset="0"/>
                      </a:rPr>
                      <m:t>=</m:t>
                    </m:r>
                    <m:r>
                      <a:rPr lang="en-GB" sz="2000" b="1" i="1" smtClean="0">
                        <a:latin typeface="Cambria Math" panose="02040503050406030204" pitchFamily="18" charset="0"/>
                      </a:rPr>
                      <m:t>𝒎𝒙</m:t>
                    </m:r>
                    <m:r>
                      <a:rPr lang="en-GB" sz="2000" b="1" i="1" smtClean="0">
                        <a:latin typeface="Cambria Math" panose="02040503050406030204" pitchFamily="18" charset="0"/>
                      </a:rPr>
                      <m:t>+</m:t>
                    </m:r>
                    <m:r>
                      <a:rPr lang="en-GB" sz="2000" b="1" i="1" smtClean="0">
                        <a:latin typeface="Cambria Math" panose="02040503050406030204" pitchFamily="18" charset="0"/>
                      </a:rPr>
                      <m:t>𝒄</m:t>
                    </m:r>
                  </m:oMath>
                </a14:m>
                <a:r>
                  <a:rPr lang="en-GB" sz="2000" b="1" dirty="0"/>
                  <a:t> </a:t>
                </a:r>
                <a:r>
                  <a:rPr lang="en-GB" sz="2000" dirty="0"/>
                  <a:t>was the main form you would express a straight line equation, sometimes known as the ‘</a:t>
                </a:r>
                <a:r>
                  <a:rPr lang="en-GB" sz="2000" b="1" dirty="0"/>
                  <a:t>slope-intercept form</a:t>
                </a:r>
                <a:r>
                  <a:rPr lang="en-GB" sz="2000" dirty="0"/>
                  <a:t>’. </a:t>
                </a:r>
              </a:p>
              <a:p>
                <a:r>
                  <a:rPr lang="en-GB" sz="2000" dirty="0"/>
                  <a:t>But another common form is </a:t>
                </a:r>
                <a14:m>
                  <m:oMath xmlns:m="http://schemas.openxmlformats.org/officeDocument/2006/math">
                    <m:r>
                      <a:rPr lang="en-GB" sz="2000" b="1" i="1" smtClean="0">
                        <a:latin typeface="Cambria Math" panose="02040503050406030204" pitchFamily="18" charset="0"/>
                      </a:rPr>
                      <m:t>𝒂𝒙</m:t>
                    </m:r>
                    <m:r>
                      <a:rPr lang="en-GB" sz="2000" b="1" i="1" smtClean="0">
                        <a:latin typeface="Cambria Math" panose="02040503050406030204" pitchFamily="18" charset="0"/>
                      </a:rPr>
                      <m:t>+</m:t>
                    </m:r>
                    <m:r>
                      <a:rPr lang="en-GB" sz="2000" b="1" i="1" smtClean="0">
                        <a:latin typeface="Cambria Math" panose="02040503050406030204" pitchFamily="18" charset="0"/>
                      </a:rPr>
                      <m:t>𝒃𝒚</m:t>
                    </m:r>
                    <m:r>
                      <a:rPr lang="en-GB" sz="2000" b="1" i="1" smtClean="0">
                        <a:latin typeface="Cambria Math" panose="02040503050406030204" pitchFamily="18" charset="0"/>
                      </a:rPr>
                      <m:t>+</m:t>
                    </m:r>
                    <m:r>
                      <a:rPr lang="en-GB" sz="2000" b="1" i="1" smtClean="0">
                        <a:latin typeface="Cambria Math" panose="02040503050406030204" pitchFamily="18" charset="0"/>
                      </a:rPr>
                      <m:t>𝒄</m:t>
                    </m:r>
                    <m:r>
                      <a:rPr lang="en-GB" sz="2000" b="1" i="1" smtClean="0">
                        <a:latin typeface="Cambria Math" panose="02040503050406030204" pitchFamily="18" charset="0"/>
                      </a:rPr>
                      <m:t>=</m:t>
                    </m:r>
                    <m:r>
                      <a:rPr lang="en-GB" sz="2000" b="1" i="1" smtClean="0">
                        <a:latin typeface="Cambria Math" panose="02040503050406030204" pitchFamily="18" charset="0"/>
                      </a:rPr>
                      <m:t>𝟎</m:t>
                    </m:r>
                  </m:oMath>
                </a14:m>
                <a:r>
                  <a:rPr lang="en-GB" sz="2000" dirty="0"/>
                  <a:t>, where </a:t>
                </a:r>
                <a14:m>
                  <m:oMath xmlns:m="http://schemas.openxmlformats.org/officeDocument/2006/math">
                    <m:r>
                      <a:rPr lang="en-GB" sz="2000" b="0" i="1" smtClean="0">
                        <a:latin typeface="Cambria Math" panose="02040503050406030204" pitchFamily="18" charset="0"/>
                      </a:rPr>
                      <m:t>𝑎</m:t>
                    </m:r>
                    <m:r>
                      <a:rPr lang="en-GB" sz="2000" b="0" i="1" smtClean="0">
                        <a:latin typeface="Cambria Math" panose="02040503050406030204" pitchFamily="18" charset="0"/>
                      </a:rPr>
                      <m:t>,</m:t>
                    </m:r>
                    <m:r>
                      <a:rPr lang="en-GB" sz="2000" b="0" i="1" smtClean="0">
                        <a:latin typeface="Cambria Math" panose="02040503050406030204" pitchFamily="18" charset="0"/>
                      </a:rPr>
                      <m:t>𝑏</m:t>
                    </m:r>
                    <m:r>
                      <a:rPr lang="en-GB" sz="2000" b="0" i="1" smtClean="0">
                        <a:latin typeface="Cambria Math" panose="02040503050406030204" pitchFamily="18" charset="0"/>
                      </a:rPr>
                      <m:t>,</m:t>
                    </m:r>
                    <m:r>
                      <a:rPr lang="en-GB" sz="2000" b="0" i="1" smtClean="0">
                        <a:latin typeface="Cambria Math" panose="02040503050406030204" pitchFamily="18" charset="0"/>
                      </a:rPr>
                      <m:t>𝑐</m:t>
                    </m:r>
                  </m:oMath>
                </a14:m>
                <a:r>
                  <a:rPr lang="en-GB" sz="2000" dirty="0"/>
                  <a:t> are integers. This is known as the ‘</a:t>
                </a:r>
                <a:r>
                  <a:rPr lang="en-GB" sz="2000" b="1" dirty="0"/>
                  <a:t>standard</a:t>
                </a:r>
                <a:r>
                  <a:rPr lang="en-GB" sz="2000" dirty="0"/>
                  <a:t>’ form.</a:t>
                </a:r>
              </a:p>
            </p:txBody>
          </p:sp>
        </mc:Choice>
        <mc:Fallback xmlns="">
          <p:sp>
            <p:nvSpPr>
              <p:cNvPr id="5" name="TextBox 4"/>
              <p:cNvSpPr txBox="1">
                <a:spLocks noRot="1" noChangeAspect="1" noMove="1" noResize="1" noEditPoints="1" noAdjustHandles="1" noChangeArrowheads="1" noChangeShapeType="1" noTextEdit="1"/>
              </p:cNvSpPr>
              <p:nvPr/>
            </p:nvSpPr>
            <p:spPr>
              <a:xfrm>
                <a:off x="522660" y="900336"/>
                <a:ext cx="7865764" cy="1323439"/>
              </a:xfrm>
              <a:prstGeom prst="rect">
                <a:avLst/>
              </a:prstGeom>
              <a:blipFill>
                <a:blip r:embed="rId3"/>
                <a:stretch>
                  <a:fillRect l="-853" t="-2765" r="-1085" b="-737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60883" y="2502086"/>
                <a:ext cx="8316415" cy="529184"/>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000" dirty="0"/>
                  <a:t>Express </a:t>
                </a:r>
                <a14:m>
                  <m:oMath xmlns:m="http://schemas.openxmlformats.org/officeDocument/2006/math">
                    <m:r>
                      <a:rPr lang="en-GB" sz="2000" b="0" i="1" smtClean="0">
                        <a:latin typeface="Cambria Math" panose="02040503050406030204" pitchFamily="18" charset="0"/>
                      </a:rPr>
                      <m:t>𝑦</m:t>
                    </m:r>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3</m:t>
                        </m:r>
                      </m:den>
                    </m:f>
                    <m:r>
                      <a:rPr lang="en-GB" sz="2000" b="0" i="1" smtClean="0">
                        <a:latin typeface="Cambria Math" panose="02040503050406030204" pitchFamily="18" charset="0"/>
                      </a:rPr>
                      <m:t>𝑥</m:t>
                    </m:r>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2</m:t>
                        </m:r>
                      </m:num>
                      <m:den>
                        <m:r>
                          <a:rPr lang="en-GB" sz="2000" b="0" i="1" smtClean="0">
                            <a:latin typeface="Cambria Math" panose="02040503050406030204" pitchFamily="18" charset="0"/>
                          </a:rPr>
                          <m:t>3</m:t>
                        </m:r>
                      </m:den>
                    </m:f>
                  </m:oMath>
                </a14:m>
                <a:r>
                  <a:rPr lang="en-GB" sz="2000" dirty="0"/>
                  <a:t> in the form </a:t>
                </a:r>
                <a14:m>
                  <m:oMath xmlns:m="http://schemas.openxmlformats.org/officeDocument/2006/math">
                    <m:r>
                      <a:rPr lang="en-GB" sz="2000" b="0" i="1" smtClean="0">
                        <a:latin typeface="Cambria Math" panose="02040503050406030204" pitchFamily="18" charset="0"/>
                      </a:rPr>
                      <m:t>𝑎𝑥</m:t>
                    </m:r>
                    <m:r>
                      <a:rPr lang="en-GB" sz="2000" b="0" i="1" smtClean="0">
                        <a:latin typeface="Cambria Math" panose="02040503050406030204" pitchFamily="18" charset="0"/>
                      </a:rPr>
                      <m:t>+</m:t>
                    </m:r>
                    <m:r>
                      <a:rPr lang="en-GB" sz="2000" b="0" i="1" smtClean="0">
                        <a:latin typeface="Cambria Math" panose="02040503050406030204" pitchFamily="18" charset="0"/>
                      </a:rPr>
                      <m:t>𝑏𝑦</m:t>
                    </m:r>
                    <m:r>
                      <a:rPr lang="en-GB" sz="2000" b="0" i="1" smtClean="0">
                        <a:latin typeface="Cambria Math" panose="02040503050406030204" pitchFamily="18" charset="0"/>
                      </a:rPr>
                      <m:t>+</m:t>
                    </m:r>
                    <m:r>
                      <a:rPr lang="en-GB" sz="2000" b="0" i="1" smtClean="0">
                        <a:latin typeface="Cambria Math" panose="02040503050406030204" pitchFamily="18" charset="0"/>
                      </a:rPr>
                      <m:t>𝑐</m:t>
                    </m:r>
                    <m:r>
                      <a:rPr lang="en-GB" sz="2000" b="0" i="1" smtClean="0">
                        <a:latin typeface="Cambria Math" panose="02040503050406030204" pitchFamily="18" charset="0"/>
                      </a:rPr>
                      <m:t>=0</m:t>
                    </m:r>
                  </m:oMath>
                </a14:m>
                <a:r>
                  <a:rPr lang="en-GB" sz="2000" dirty="0"/>
                  <a:t>, where </a:t>
                </a:r>
                <a14:m>
                  <m:oMath xmlns:m="http://schemas.openxmlformats.org/officeDocument/2006/math">
                    <m:r>
                      <a:rPr lang="en-GB" sz="2000" b="0" i="1" smtClean="0">
                        <a:latin typeface="Cambria Math" panose="02040503050406030204" pitchFamily="18" charset="0"/>
                      </a:rPr>
                      <m:t>𝑎</m:t>
                    </m:r>
                    <m:r>
                      <a:rPr lang="en-GB" sz="2000" b="0" i="1" smtClean="0">
                        <a:latin typeface="Cambria Math" panose="02040503050406030204" pitchFamily="18" charset="0"/>
                      </a:rPr>
                      <m:t>,</m:t>
                    </m:r>
                    <m:r>
                      <a:rPr lang="en-GB" sz="2000" b="0" i="1" smtClean="0">
                        <a:latin typeface="Cambria Math" panose="02040503050406030204" pitchFamily="18" charset="0"/>
                      </a:rPr>
                      <m:t>𝑏</m:t>
                    </m:r>
                    <m:r>
                      <a:rPr lang="en-GB" sz="2000" b="0" i="1" smtClean="0">
                        <a:latin typeface="Cambria Math" panose="02040503050406030204" pitchFamily="18" charset="0"/>
                      </a:rPr>
                      <m:t>,</m:t>
                    </m:r>
                    <m:r>
                      <a:rPr lang="en-GB" sz="2000" b="0" i="1" smtClean="0">
                        <a:latin typeface="Cambria Math" panose="02040503050406030204" pitchFamily="18" charset="0"/>
                      </a:rPr>
                      <m:t>𝑐</m:t>
                    </m:r>
                  </m:oMath>
                </a14:m>
                <a:r>
                  <a:rPr lang="en-GB" sz="2000" dirty="0"/>
                  <a:t> are integers.</a:t>
                </a:r>
              </a:p>
            </p:txBody>
          </p:sp>
        </mc:Choice>
        <mc:Fallback xmlns="">
          <p:sp>
            <p:nvSpPr>
              <p:cNvPr id="6" name="TextBox 5"/>
              <p:cNvSpPr txBox="1">
                <a:spLocks noRot="1" noChangeAspect="1" noMove="1" noResize="1" noEditPoints="1" noAdjustHandles="1" noChangeArrowheads="1" noChangeShapeType="1" noTextEdit="1"/>
              </p:cNvSpPr>
              <p:nvPr/>
            </p:nvSpPr>
            <p:spPr>
              <a:xfrm>
                <a:off x="560883" y="2502086"/>
                <a:ext cx="8316415" cy="529184"/>
              </a:xfrm>
              <a:prstGeom prst="rect">
                <a:avLst/>
              </a:prstGeom>
              <a:blipFill>
                <a:blip r:embed="rId4"/>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275361" y="3247008"/>
                <a:ext cx="3672408"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3</m:t>
                      </m:r>
                      <m:r>
                        <a:rPr lang="en-GB" sz="2000" b="0" i="1" smtClean="0">
                          <a:latin typeface="Cambria Math" panose="02040503050406030204" pitchFamily="18" charset="0"/>
                        </a:rPr>
                        <m:t>𝑦</m:t>
                      </m:r>
                      <m:r>
                        <a:rPr lang="en-GB" sz="2000" b="0" i="1" smtClean="0">
                          <a:latin typeface="Cambria Math" panose="02040503050406030204" pitchFamily="18" charset="0"/>
                        </a:rPr>
                        <m:t>=</m:t>
                      </m:r>
                      <m:r>
                        <a:rPr lang="en-GB" sz="2000" b="0" i="1" smtClean="0">
                          <a:latin typeface="Cambria Math" panose="02040503050406030204" pitchFamily="18" charset="0"/>
                        </a:rPr>
                        <m:t>𝑥</m:t>
                      </m:r>
                      <m:r>
                        <a:rPr lang="en-GB" sz="2000" b="0" i="1" smtClean="0">
                          <a:latin typeface="Cambria Math" panose="02040503050406030204" pitchFamily="18" charset="0"/>
                        </a:rPr>
                        <m:t>−2</m:t>
                      </m:r>
                    </m:oMath>
                    <m:oMath xmlns:m="http://schemas.openxmlformats.org/officeDocument/2006/math">
                      <m:r>
                        <a:rPr lang="en-GB" sz="2000" b="0" i="1" smtClean="0">
                          <a:latin typeface="Cambria Math" panose="02040503050406030204" pitchFamily="18" charset="0"/>
                        </a:rPr>
                        <m:t>𝑥</m:t>
                      </m:r>
                      <m:r>
                        <a:rPr lang="en-GB" sz="2000" b="0" i="1" smtClean="0">
                          <a:latin typeface="Cambria Math" panose="02040503050406030204" pitchFamily="18" charset="0"/>
                        </a:rPr>
                        <m:t>−3</m:t>
                      </m:r>
                      <m:r>
                        <a:rPr lang="en-GB" sz="2000" b="0" i="1" smtClean="0">
                          <a:latin typeface="Cambria Math" panose="02040503050406030204" pitchFamily="18" charset="0"/>
                        </a:rPr>
                        <m:t>𝑦</m:t>
                      </m:r>
                      <m:r>
                        <a:rPr lang="en-GB" sz="2000" b="0" i="1" smtClean="0">
                          <a:latin typeface="Cambria Math" panose="02040503050406030204" pitchFamily="18" charset="0"/>
                        </a:rPr>
                        <m:t>−2=0</m:t>
                      </m:r>
                    </m:oMath>
                  </m:oMathPara>
                </a14:m>
                <a:endParaRPr lang="en-GB" sz="2000" dirty="0"/>
              </a:p>
            </p:txBody>
          </p:sp>
        </mc:Choice>
        <mc:Fallback xmlns="">
          <p:sp>
            <p:nvSpPr>
              <p:cNvPr id="7" name="TextBox 6"/>
              <p:cNvSpPr txBox="1">
                <a:spLocks noRot="1" noChangeAspect="1" noMove="1" noResize="1" noEditPoints="1" noAdjustHandles="1" noChangeArrowheads="1" noChangeShapeType="1" noTextEdit="1"/>
              </p:cNvSpPr>
              <p:nvPr/>
            </p:nvSpPr>
            <p:spPr>
              <a:xfrm>
                <a:off x="1275361" y="3247008"/>
                <a:ext cx="3672408" cy="707886"/>
              </a:xfrm>
              <a:prstGeom prst="rect">
                <a:avLst/>
              </a:prstGeom>
              <a:blipFill>
                <a:blip r:embed="rId5"/>
                <a:stretch>
                  <a:fillRect b="-6897"/>
                </a:stretch>
              </a:blipFill>
            </p:spPr>
            <p:txBody>
              <a:bodyPr/>
              <a:lstStyle/>
              <a:p>
                <a:r>
                  <a:rPr lang="en-GB">
                    <a:noFill/>
                  </a:rPr>
                  <a:t> </a:t>
                </a:r>
              </a:p>
            </p:txBody>
          </p:sp>
        </mc:Fallback>
      </mc:AlternateContent>
      <p:sp>
        <p:nvSpPr>
          <p:cNvPr id="8" name="TextBox 7"/>
          <p:cNvSpPr txBox="1"/>
          <p:nvPr/>
        </p:nvSpPr>
        <p:spPr>
          <a:xfrm>
            <a:off x="5202684" y="3247008"/>
            <a:ext cx="3674616" cy="584775"/>
          </a:xfrm>
          <a:prstGeom prst="rect">
            <a:avLst/>
          </a:prstGeom>
          <a:noFill/>
        </p:spPr>
        <p:txBody>
          <a:bodyPr wrap="square" rtlCol="0">
            <a:spAutoFit/>
          </a:bodyPr>
          <a:lstStyle/>
          <a:p>
            <a:r>
              <a:rPr lang="en-GB" sz="1600" dirty="0"/>
              <a:t>We don’t want fractions, so multiply by an appropriate number.</a:t>
            </a:r>
          </a:p>
        </p:txBody>
      </p:sp>
      <mc:AlternateContent xmlns:mc="http://schemas.openxmlformats.org/markup-compatibility/2006" xmlns:a14="http://schemas.microsoft.com/office/drawing/2010/main">
        <mc:Choice Requires="a14">
          <p:sp>
            <p:nvSpPr>
              <p:cNvPr id="9" name="TextBox 8"/>
              <p:cNvSpPr txBox="1"/>
              <p:nvPr/>
            </p:nvSpPr>
            <p:spPr>
              <a:xfrm>
                <a:off x="5240784" y="4058687"/>
                <a:ext cx="3674616" cy="615553"/>
              </a:xfrm>
              <a:prstGeom prst="rect">
                <a:avLst/>
              </a:prstGeom>
              <a:noFill/>
            </p:spPr>
            <p:txBody>
              <a:bodyPr wrap="square" rtlCol="0">
                <a:spAutoFit/>
              </a:bodyPr>
              <a:lstStyle/>
              <a:p>
                <a:r>
                  <a:rPr lang="en-GB" sz="1600" dirty="0"/>
                  <a:t>Put everything on either side of equation. </a:t>
                </a:r>
                <a14:m>
                  <m:oMath xmlns:m="http://schemas.openxmlformats.org/officeDocument/2006/math">
                    <m:r>
                      <a:rPr lang="en-GB" sz="1600" b="0" i="1" smtClean="0">
                        <a:latin typeface="Cambria Math" panose="02040503050406030204" pitchFamily="18" charset="0"/>
                      </a:rPr>
                      <m:t>−</m:t>
                    </m:r>
                    <m:r>
                      <a:rPr lang="en-GB" sz="1600" b="0" i="1" smtClean="0">
                        <a:latin typeface="Cambria Math" panose="02040503050406030204" pitchFamily="18" charset="0"/>
                      </a:rPr>
                      <m:t>𝑥</m:t>
                    </m:r>
                    <m:r>
                      <a:rPr lang="en-GB" sz="1600" b="0" i="1" smtClean="0">
                        <a:latin typeface="Cambria Math" panose="02040503050406030204" pitchFamily="18" charset="0"/>
                      </a:rPr>
                      <m:t>+3</m:t>
                    </m:r>
                    <m:r>
                      <a:rPr lang="en-GB" sz="1600" b="0" i="1" smtClean="0">
                        <a:latin typeface="Cambria Math" panose="02040503050406030204" pitchFamily="18" charset="0"/>
                      </a:rPr>
                      <m:t>𝑦</m:t>
                    </m:r>
                    <m:r>
                      <a:rPr lang="en-GB" sz="1600" b="0" i="1" smtClean="0">
                        <a:latin typeface="Cambria Math" panose="02040503050406030204" pitchFamily="18" charset="0"/>
                      </a:rPr>
                      <m:t>+2=0</m:t>
                    </m:r>
                  </m:oMath>
                </a14:m>
                <a:r>
                  <a:rPr lang="en-GB" sz="1600" dirty="0"/>
                  <a:t> would also be OK</a:t>
                </a:r>
                <a:r>
                  <a:rPr lang="en-GB" dirty="0"/>
                  <a:t>.</a:t>
                </a:r>
              </a:p>
            </p:txBody>
          </p:sp>
        </mc:Choice>
        <mc:Fallback xmlns="">
          <p:sp>
            <p:nvSpPr>
              <p:cNvPr id="9" name="TextBox 8"/>
              <p:cNvSpPr txBox="1">
                <a:spLocks noRot="1" noChangeAspect="1" noMove="1" noResize="1" noEditPoints="1" noAdjustHandles="1" noChangeArrowheads="1" noChangeShapeType="1" noTextEdit="1"/>
              </p:cNvSpPr>
              <p:nvPr/>
            </p:nvSpPr>
            <p:spPr>
              <a:xfrm>
                <a:off x="5240784" y="4058687"/>
                <a:ext cx="3674616" cy="615553"/>
              </a:xfrm>
              <a:prstGeom prst="rect">
                <a:avLst/>
              </a:prstGeom>
              <a:blipFill>
                <a:blip r:embed="rId6"/>
                <a:stretch>
                  <a:fillRect l="-995" t="-2970" r="-498" b="-14851"/>
                </a:stretch>
              </a:blipFill>
            </p:spPr>
            <p:txBody>
              <a:bodyPr/>
              <a:lstStyle/>
              <a:p>
                <a:r>
                  <a:rPr lang="en-GB">
                    <a:noFill/>
                  </a:rPr>
                  <a:t> </a:t>
                </a:r>
              </a:p>
            </p:txBody>
          </p:sp>
        </mc:Fallback>
      </mc:AlternateContent>
      <p:cxnSp>
        <p:nvCxnSpPr>
          <p:cNvPr id="11" name="Straight Arrow Connector 10"/>
          <p:cNvCxnSpPr/>
          <p:nvPr/>
        </p:nvCxnSpPr>
        <p:spPr>
          <a:xfrm flipH="1">
            <a:off x="4355976" y="3519377"/>
            <a:ext cx="800815" cy="1256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p:cNvCxnSpPr/>
          <p:nvPr/>
        </p:nvCxnSpPr>
        <p:spPr>
          <a:xfrm flipH="1" flipV="1">
            <a:off x="4355976" y="3917393"/>
            <a:ext cx="738301" cy="3701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Rectangle 33"/>
          <p:cNvSpPr/>
          <p:nvPr/>
        </p:nvSpPr>
        <p:spPr>
          <a:xfrm>
            <a:off x="529872" y="3140968"/>
            <a:ext cx="8347427" cy="153327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mc:AlternateContent xmlns:mc="http://schemas.openxmlformats.org/markup-compatibility/2006" xmlns:a14="http://schemas.microsoft.com/office/drawing/2010/main">
        <mc:Choice Requires="a14">
          <p:sp>
            <p:nvSpPr>
              <p:cNvPr id="14" name="TextBox 13"/>
              <p:cNvSpPr txBox="1"/>
              <p:nvPr/>
            </p:nvSpPr>
            <p:spPr>
              <a:xfrm>
                <a:off x="2044080" y="5622389"/>
                <a:ext cx="5009728" cy="64633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t>We’ll see on the next slide WHY we might want to put an equation in this form over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𝑚𝑥</m:t>
                    </m:r>
                    <m:r>
                      <a:rPr lang="en-GB" b="0" i="1" smtClean="0">
                        <a:latin typeface="Cambria Math" panose="02040503050406030204" pitchFamily="18" charset="0"/>
                      </a:rPr>
                      <m:t>+</m:t>
                    </m:r>
                    <m:r>
                      <a:rPr lang="en-GB" b="0" i="1" smtClean="0">
                        <a:latin typeface="Cambria Math" panose="02040503050406030204" pitchFamily="18" charset="0"/>
                      </a:rPr>
                      <m:t>𝑐</m:t>
                    </m:r>
                  </m:oMath>
                </a14:m>
                <a:r>
                  <a:rPr lang="en-GB" dirty="0"/>
                  <a:t>…</a:t>
                </a:r>
              </a:p>
            </p:txBody>
          </p:sp>
        </mc:Choice>
        <mc:Fallback xmlns="">
          <p:sp>
            <p:nvSpPr>
              <p:cNvPr id="14" name="TextBox 13"/>
              <p:cNvSpPr txBox="1">
                <a:spLocks noRot="1" noChangeAspect="1" noMove="1" noResize="1" noEditPoints="1" noAdjustHandles="1" noChangeArrowheads="1" noChangeShapeType="1" noTextEdit="1"/>
              </p:cNvSpPr>
              <p:nvPr/>
            </p:nvSpPr>
            <p:spPr>
              <a:xfrm>
                <a:off x="2044080" y="5622389"/>
                <a:ext cx="5009728" cy="646331"/>
              </a:xfrm>
              <a:prstGeom prst="rect">
                <a:avLst/>
              </a:prstGeom>
              <a:blipFill>
                <a:blip r:embed="rId7"/>
                <a:stretch>
                  <a:fillRect l="-726" t="-2727" b="-11818"/>
                </a:stretch>
              </a:blipFill>
            </p:spPr>
            <p:txBody>
              <a:bodyPr/>
              <a:lstStyle/>
              <a:p>
                <a:r>
                  <a:rPr lang="en-GB">
                    <a:noFill/>
                  </a:rPr>
                  <a:t> </a:t>
                </a:r>
              </a:p>
            </p:txBody>
          </p:sp>
        </mc:Fallback>
      </mc:AlternateContent>
    </p:spTree>
    <p:extLst>
      <p:ext uri="{BB962C8B-B14F-4D97-AF65-F5344CB8AC3E}">
        <p14:creationId xmlns:p14="http://schemas.microsoft.com/office/powerpoint/2010/main" val="363119705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4"/>
                                        </p:tgtEl>
                                      </p:cBhvr>
                                    </p:animEffect>
                                    <p:set>
                                      <p:cBhvr>
                                        <p:cTn id="7" dur="1" fill="hold">
                                          <p:stCondLst>
                                            <p:cond delay="499"/>
                                          </p:stCondLst>
                                        </p:cTn>
                                        <p:tgtEl>
                                          <p:spTgt spid="34"/>
                                        </p:tgtEl>
                                        <p:attrNameLst>
                                          <p:attrName>style.visibility</p:attrName>
                                        </p:attrNameLst>
                                      </p:cBhvr>
                                      <p:to>
                                        <p:strVal val="hidden"/>
                                      </p:to>
                                    </p:set>
                                  </p:childTnLst>
                                </p:cTn>
                              </p:par>
                            </p:childTnLst>
                          </p:cTn>
                        </p:par>
                      </p:childTnLst>
                    </p:cTn>
                  </p:par>
                </p:childTnLst>
              </p:cTn>
              <p:nextCondLst>
                <p:cond evt="onClick" delay="0">
                  <p:tgtEl>
                    <p:spTgt spid="34"/>
                  </p:tgtEl>
                </p:cond>
              </p:nextCondLst>
            </p:seq>
          </p:childTnLst>
        </p:cTn>
      </p:par>
    </p:tnLst>
    <p:bldLst>
      <p:bldP spid="3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4499993" y="3109770"/>
            <a:ext cx="4569578" cy="2961067"/>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Arrow: Down 14"/>
          <p:cNvSpPr/>
          <p:nvPr/>
        </p:nvSpPr>
        <p:spPr>
          <a:xfrm rot="3008957">
            <a:off x="4236718" y="2149814"/>
            <a:ext cx="310919" cy="142276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0" name="Arrow: Down 9"/>
          <p:cNvSpPr/>
          <p:nvPr/>
        </p:nvSpPr>
        <p:spPr>
          <a:xfrm rot="4311916">
            <a:off x="3389608" y="1168714"/>
            <a:ext cx="187357" cy="320788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nvGrpSpPr>
          <p:cNvPr id="2" name="Group 17"/>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Just for your interest…</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468658" y="698785"/>
                <a:ext cx="6192688" cy="954107"/>
              </a:xfrm>
              <a:prstGeom prst="rect">
                <a:avLst/>
              </a:prstGeom>
              <a:noFill/>
            </p:spPr>
            <p:txBody>
              <a:bodyPr wrap="square" rtlCol="0">
                <a:spAutoFit/>
              </a:bodyPr>
              <a:lstStyle/>
              <a:p>
                <a:pPr algn="ctr"/>
                <a:r>
                  <a:rPr lang="en-GB" sz="2800" dirty="0"/>
                  <a:t>Why might we want to put a straight line equation in the form </a:t>
                </a:r>
                <a14:m>
                  <m:oMath xmlns:m="http://schemas.openxmlformats.org/officeDocument/2006/math">
                    <m:r>
                      <a:rPr lang="en-GB" sz="2800" b="0" i="1" smtClean="0">
                        <a:latin typeface="Cambria Math" panose="02040503050406030204" pitchFamily="18" charset="0"/>
                      </a:rPr>
                      <m:t>𝑎𝑥</m:t>
                    </m:r>
                    <m:r>
                      <a:rPr lang="en-GB" sz="2800" b="0" i="1" smtClean="0">
                        <a:latin typeface="Cambria Math" panose="02040503050406030204" pitchFamily="18" charset="0"/>
                      </a:rPr>
                      <m:t>+</m:t>
                    </m:r>
                    <m:r>
                      <a:rPr lang="en-GB" sz="2800" b="0" i="1" smtClean="0">
                        <a:latin typeface="Cambria Math" panose="02040503050406030204" pitchFamily="18" charset="0"/>
                      </a:rPr>
                      <m:t>𝑏𝑦</m:t>
                    </m:r>
                    <m:r>
                      <a:rPr lang="en-GB" sz="2800" b="0" i="1" smtClean="0">
                        <a:latin typeface="Cambria Math" panose="02040503050406030204" pitchFamily="18" charset="0"/>
                      </a:rPr>
                      <m:t>+</m:t>
                    </m:r>
                    <m:r>
                      <a:rPr lang="en-GB" sz="2800" b="0" i="1" smtClean="0">
                        <a:latin typeface="Cambria Math" panose="02040503050406030204" pitchFamily="18" charset="0"/>
                      </a:rPr>
                      <m:t>𝑐</m:t>
                    </m:r>
                    <m:r>
                      <a:rPr lang="en-GB" sz="2800" b="0" i="1" smtClean="0">
                        <a:latin typeface="Cambria Math" panose="02040503050406030204" pitchFamily="18" charset="0"/>
                      </a:rPr>
                      <m:t>=0</m:t>
                    </m:r>
                  </m:oMath>
                </a14:m>
                <a:r>
                  <a:rPr lang="en-GB" sz="2800"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468658" y="698785"/>
                <a:ext cx="6192688" cy="954107"/>
              </a:xfrm>
              <a:prstGeom prst="rect">
                <a:avLst/>
              </a:prstGeom>
              <a:blipFill>
                <a:blip r:embed="rId2"/>
                <a:stretch>
                  <a:fillRect l="-886" t="-6410" r="-2264" b="-1794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849419" y="1800894"/>
                <a:ext cx="2520280" cy="86409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𝑦</m:t>
                      </m:r>
                      <m:r>
                        <a:rPr lang="en-GB" sz="2400" b="0" i="1" smtClean="0">
                          <a:latin typeface="Cambria Math" panose="02040503050406030204" pitchFamily="18" charset="0"/>
                        </a:rPr>
                        <m:t>=</m:t>
                      </m:r>
                      <m:r>
                        <a:rPr lang="en-GB" sz="2400" b="0" i="1" smtClean="0">
                          <a:latin typeface="Cambria Math" panose="02040503050406030204" pitchFamily="18" charset="0"/>
                        </a:rPr>
                        <m:t>𝑚𝑥</m:t>
                      </m:r>
                      <m:r>
                        <a:rPr lang="en-GB" sz="2400" b="0" i="1" smtClean="0">
                          <a:latin typeface="Cambria Math" panose="02040503050406030204" pitchFamily="18" charset="0"/>
                        </a:rPr>
                        <m:t>+</m:t>
                      </m:r>
                      <m:r>
                        <a:rPr lang="en-GB" sz="2400" b="0" i="1" smtClean="0">
                          <a:latin typeface="Cambria Math" panose="02040503050406030204" pitchFamily="18" charset="0"/>
                        </a:rPr>
                        <m:t>𝑐</m:t>
                      </m:r>
                    </m:oMath>
                  </m:oMathPara>
                </a14:m>
                <a:endParaRPr lang="en-GB" sz="2400" dirty="0"/>
              </a:p>
              <a:p>
                <a:pPr algn="ctr"/>
                <a:r>
                  <a:rPr lang="en-GB" dirty="0"/>
                  <a:t>“Slope-Intercept Form”</a:t>
                </a:r>
              </a:p>
            </p:txBody>
          </p:sp>
        </mc:Choice>
        <mc:Fallback xmlns="">
          <p:sp>
            <p:nvSpPr>
              <p:cNvPr id="8" name="Rectangle 7"/>
              <p:cNvSpPr>
                <a:spLocks noRot="1" noChangeAspect="1" noMove="1" noResize="1" noEditPoints="1" noAdjustHandles="1" noChangeArrowheads="1" noChangeShapeType="1" noTextEdit="1"/>
              </p:cNvSpPr>
              <p:nvPr/>
            </p:nvSpPr>
            <p:spPr>
              <a:xfrm>
                <a:off x="849419" y="1800894"/>
                <a:ext cx="2520280" cy="864096"/>
              </a:xfrm>
              <a:prstGeom prst="rect">
                <a:avLst/>
              </a:prstGeom>
              <a:blipFill>
                <a:blip r:embed="rId4"/>
                <a:stretch>
                  <a:fillRect b="-205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4912952" y="1816635"/>
                <a:ext cx="2520280" cy="86409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𝑎𝑥</m:t>
                      </m:r>
                      <m:r>
                        <a:rPr lang="en-GB" sz="2400" b="0" i="1" smtClean="0">
                          <a:latin typeface="Cambria Math" panose="02040503050406030204" pitchFamily="18" charset="0"/>
                        </a:rPr>
                        <m:t>+</m:t>
                      </m:r>
                      <m:r>
                        <a:rPr lang="en-GB" sz="2400" b="0" i="1" smtClean="0">
                          <a:latin typeface="Cambria Math" panose="02040503050406030204" pitchFamily="18" charset="0"/>
                        </a:rPr>
                        <m:t>𝑏𝑦</m:t>
                      </m:r>
                      <m:r>
                        <a:rPr lang="en-GB" sz="2400" b="0" i="1" smtClean="0">
                          <a:latin typeface="Cambria Math" panose="02040503050406030204" pitchFamily="18" charset="0"/>
                        </a:rPr>
                        <m:t>+</m:t>
                      </m:r>
                      <m:r>
                        <a:rPr lang="en-GB" sz="2400" b="0" i="1" smtClean="0">
                          <a:latin typeface="Cambria Math" panose="02040503050406030204" pitchFamily="18" charset="0"/>
                        </a:rPr>
                        <m:t>𝑐</m:t>
                      </m:r>
                      <m:r>
                        <a:rPr lang="en-GB" sz="2400" b="0" i="1" smtClean="0">
                          <a:latin typeface="Cambria Math" panose="02040503050406030204" pitchFamily="18" charset="0"/>
                        </a:rPr>
                        <m:t>=0</m:t>
                      </m:r>
                    </m:oMath>
                  </m:oMathPara>
                </a14:m>
                <a:endParaRPr lang="en-GB" sz="2400" b="0" dirty="0"/>
              </a:p>
              <a:p>
                <a:pPr algn="ctr"/>
                <a:r>
                  <a:rPr lang="en-GB" dirty="0"/>
                  <a:t>“Standard Form”</a:t>
                </a:r>
              </a:p>
            </p:txBody>
          </p:sp>
        </mc:Choice>
        <mc:Fallback xmlns="">
          <p:sp>
            <p:nvSpPr>
              <p:cNvPr id="9" name="Rectangle 8"/>
              <p:cNvSpPr>
                <a:spLocks noRot="1" noChangeAspect="1" noMove="1" noResize="1" noEditPoints="1" noAdjustHandles="1" noChangeArrowheads="1" noChangeShapeType="1" noTextEdit="1"/>
              </p:cNvSpPr>
              <p:nvPr/>
            </p:nvSpPr>
            <p:spPr>
              <a:xfrm>
                <a:off x="4912952" y="1816635"/>
                <a:ext cx="2520280" cy="864096"/>
              </a:xfrm>
              <a:prstGeom prst="rect">
                <a:avLst/>
              </a:prstGeom>
              <a:blipFill>
                <a:blip r:embed="rId5"/>
                <a:stretch>
                  <a:fillRect b="-205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211409" y="3396849"/>
                <a:ext cx="1696295" cy="1661993"/>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b="1" dirty="0"/>
                  <a:t>Coverage</a:t>
                </a:r>
              </a:p>
              <a:p>
                <a14:m>
                  <m:oMath xmlns:m="http://schemas.openxmlformats.org/officeDocument/2006/math">
                    <m:r>
                      <a:rPr lang="en-GB" sz="1300" b="0" i="1" smtClean="0">
                        <a:latin typeface="Cambria Math" panose="02040503050406030204" pitchFamily="18" charset="0"/>
                      </a:rPr>
                      <m:t>𝑦</m:t>
                    </m:r>
                    <m:r>
                      <a:rPr lang="en-GB" sz="1300" b="0" i="1" smtClean="0">
                        <a:latin typeface="Cambria Math" panose="02040503050406030204" pitchFamily="18" charset="0"/>
                      </a:rPr>
                      <m:t>=</m:t>
                    </m:r>
                    <m:r>
                      <a:rPr lang="en-GB" sz="1300" b="0" i="1" smtClean="0">
                        <a:latin typeface="Cambria Math" panose="02040503050406030204" pitchFamily="18" charset="0"/>
                      </a:rPr>
                      <m:t>𝑚𝑥</m:t>
                    </m:r>
                    <m:r>
                      <a:rPr lang="en-GB" sz="1300" b="0" i="1" smtClean="0">
                        <a:latin typeface="Cambria Math" panose="02040503050406030204" pitchFamily="18" charset="0"/>
                      </a:rPr>
                      <m:t>+</m:t>
                    </m:r>
                    <m:r>
                      <a:rPr lang="en-GB" sz="1300" b="0" i="1" smtClean="0">
                        <a:latin typeface="Cambria Math" panose="02040503050406030204" pitchFamily="18" charset="0"/>
                      </a:rPr>
                      <m:t>𝑐</m:t>
                    </m:r>
                  </m:oMath>
                </a14:m>
                <a:r>
                  <a:rPr lang="en-GB" sz="1300" dirty="0"/>
                  <a:t> doesn’t allow you to represent vertical lines. Standard form allows us to do this by just making </a:t>
                </a:r>
                <a14:m>
                  <m:oMath xmlns:m="http://schemas.openxmlformats.org/officeDocument/2006/math">
                    <m:r>
                      <a:rPr lang="en-GB" sz="1300" b="0" i="1" smtClean="0">
                        <a:latin typeface="Cambria Math" panose="02040503050406030204" pitchFamily="18" charset="0"/>
                      </a:rPr>
                      <m:t>𝑏</m:t>
                    </m:r>
                  </m:oMath>
                </a14:m>
                <a:r>
                  <a:rPr lang="en-GB" sz="1300" dirty="0"/>
                  <a:t> zero.</a:t>
                </a:r>
              </a:p>
            </p:txBody>
          </p:sp>
        </mc:Choice>
        <mc:Fallback xmlns="">
          <p:sp>
            <p:nvSpPr>
              <p:cNvPr id="11" name="TextBox 10"/>
              <p:cNvSpPr txBox="1">
                <a:spLocks noRot="1" noChangeAspect="1" noMove="1" noResize="1" noEditPoints="1" noAdjustHandles="1" noChangeArrowheads="1" noChangeShapeType="1" noTextEdit="1"/>
              </p:cNvSpPr>
              <p:nvPr/>
            </p:nvSpPr>
            <p:spPr>
              <a:xfrm>
                <a:off x="211409" y="3396849"/>
                <a:ext cx="1696295" cy="1661993"/>
              </a:xfrm>
              <a:prstGeom prst="rect">
                <a:avLst/>
              </a:prstGeom>
              <a:blipFill>
                <a:blip r:embed="rId6"/>
                <a:stretch>
                  <a:fillRect l="-654"/>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cxnSp>
        <p:nvCxnSpPr>
          <p:cNvPr id="13" name="Straight Connector 12"/>
          <p:cNvCxnSpPr/>
          <p:nvPr/>
        </p:nvCxnSpPr>
        <p:spPr>
          <a:xfrm>
            <a:off x="1083264" y="5247310"/>
            <a:ext cx="0" cy="1152128"/>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 name="TextBox 13"/>
              <p:cNvSpPr txBox="1"/>
              <p:nvPr/>
            </p:nvSpPr>
            <p:spPr>
              <a:xfrm rot="16200000">
                <a:off x="286530" y="5627960"/>
                <a:ext cx="12241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+4=0</m:t>
                      </m:r>
                    </m:oMath>
                  </m:oMathPara>
                </a14:m>
                <a:endParaRPr lang="en-GB" dirty="0"/>
              </a:p>
            </p:txBody>
          </p:sp>
        </mc:Choice>
        <mc:Fallback xmlns="">
          <p:sp>
            <p:nvSpPr>
              <p:cNvPr id="14" name="TextBox 13"/>
              <p:cNvSpPr txBox="1">
                <a:spLocks noRot="1" noChangeAspect="1" noMove="1" noResize="1" noEditPoints="1" noAdjustHandles="1" noChangeArrowheads="1" noChangeShapeType="1" noTextEdit="1"/>
              </p:cNvSpPr>
              <p:nvPr/>
            </p:nvSpPr>
            <p:spPr>
              <a:xfrm rot="16200000">
                <a:off x="286530" y="5627960"/>
                <a:ext cx="1224136" cy="369332"/>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2013845" y="3409043"/>
                <a:ext cx="2150949" cy="2462213"/>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b="1" dirty="0"/>
                  <a:t>Symmetry</a:t>
                </a:r>
              </a:p>
              <a:p>
                <a:r>
                  <a:rPr lang="en-GB" sz="1300" dirty="0"/>
                  <a:t>In general, the ‘</a:t>
                </a:r>
                <a:r>
                  <a:rPr lang="en-GB" sz="1300" b="1" dirty="0"/>
                  <a:t>linear combination</a:t>
                </a:r>
                <a:r>
                  <a:rPr lang="en-GB" sz="1300" dirty="0"/>
                  <a:t>’ of two variables </a:t>
                </a:r>
                <a14:m>
                  <m:oMath xmlns:m="http://schemas.openxmlformats.org/officeDocument/2006/math">
                    <m:r>
                      <a:rPr lang="en-GB" sz="1300" i="1">
                        <a:latin typeface="Cambria Math" panose="02040503050406030204" pitchFamily="18" charset="0"/>
                      </a:rPr>
                      <m:t>𝑥</m:t>
                    </m:r>
                  </m:oMath>
                </a14:m>
                <a:r>
                  <a:rPr lang="en-GB" sz="1300" dirty="0"/>
                  <a:t> and </a:t>
                </a:r>
                <a14:m>
                  <m:oMath xmlns:m="http://schemas.openxmlformats.org/officeDocument/2006/math">
                    <m:r>
                      <a:rPr lang="en-GB" sz="1300" i="1">
                        <a:latin typeface="Cambria Math" panose="02040503050406030204" pitchFamily="18" charset="0"/>
                      </a:rPr>
                      <m:t>𝑦</m:t>
                    </m:r>
                  </m:oMath>
                </a14:m>
                <a:r>
                  <a:rPr lang="en-GB" sz="1300" dirty="0"/>
                  <a:t> is </a:t>
                </a:r>
                <a14:m>
                  <m:oMath xmlns:m="http://schemas.openxmlformats.org/officeDocument/2006/math">
                    <m:r>
                      <a:rPr lang="en-GB" sz="1300" i="1">
                        <a:latin typeface="Cambria Math" panose="02040503050406030204" pitchFamily="18" charset="0"/>
                      </a:rPr>
                      <m:t>𝑎𝑥</m:t>
                    </m:r>
                    <m:r>
                      <a:rPr lang="en-GB" sz="1300" i="1">
                        <a:latin typeface="Cambria Math" panose="02040503050406030204" pitchFamily="18" charset="0"/>
                      </a:rPr>
                      <m:t>+</m:t>
                    </m:r>
                    <m:r>
                      <a:rPr lang="en-GB" sz="1300" i="1">
                        <a:latin typeface="Cambria Math" panose="02040503050406030204" pitchFamily="18" charset="0"/>
                      </a:rPr>
                      <m:t>𝑏𝑦</m:t>
                    </m:r>
                  </m:oMath>
                </a14:m>
                <a:r>
                  <a:rPr lang="en-GB" sz="1300" dirty="0"/>
                  <a:t>, i.e. “some amount of </a:t>
                </a:r>
                <a14:m>
                  <m:oMath xmlns:m="http://schemas.openxmlformats.org/officeDocument/2006/math">
                    <m:r>
                      <a:rPr lang="en-GB" sz="1300" b="0" i="1" smtClean="0">
                        <a:latin typeface="Cambria Math" panose="02040503050406030204" pitchFamily="18" charset="0"/>
                      </a:rPr>
                      <m:t>𝑥</m:t>
                    </m:r>
                  </m:oMath>
                </a14:m>
                <a:r>
                  <a:rPr lang="en-GB" sz="1300" dirty="0"/>
                  <a:t> and some amount of </a:t>
                </a:r>
                <a14:m>
                  <m:oMath xmlns:m="http://schemas.openxmlformats.org/officeDocument/2006/math">
                    <m:r>
                      <a:rPr lang="en-GB" sz="1300" b="0" i="1" smtClean="0">
                        <a:latin typeface="Cambria Math" panose="02040503050406030204" pitchFamily="18" charset="0"/>
                      </a:rPr>
                      <m:t>𝑦</m:t>
                    </m:r>
                  </m:oMath>
                </a14:m>
                <a:r>
                  <a:rPr lang="en-GB" sz="1300" dirty="0"/>
                  <a:t>”. There is a greater elegance and symmetry to this form over </a:t>
                </a:r>
                <a14:m>
                  <m:oMath xmlns:m="http://schemas.openxmlformats.org/officeDocument/2006/math">
                    <m:r>
                      <a:rPr lang="en-GB" sz="1300" i="1">
                        <a:latin typeface="Cambria Math" panose="02040503050406030204" pitchFamily="18" charset="0"/>
                      </a:rPr>
                      <m:t>𝑦</m:t>
                    </m:r>
                    <m:r>
                      <a:rPr lang="en-GB" sz="1300" i="1">
                        <a:latin typeface="Cambria Math" panose="02040503050406030204" pitchFamily="18" charset="0"/>
                      </a:rPr>
                      <m:t>=</m:t>
                    </m:r>
                    <m:r>
                      <a:rPr lang="en-GB" sz="1300" i="1">
                        <a:latin typeface="Cambria Math" panose="02040503050406030204" pitchFamily="18" charset="0"/>
                      </a:rPr>
                      <m:t>𝑚𝑥</m:t>
                    </m:r>
                    <m:r>
                      <a:rPr lang="en-GB" sz="1300" i="1">
                        <a:latin typeface="Cambria Math" panose="02040503050406030204" pitchFamily="18" charset="0"/>
                      </a:rPr>
                      <m:t>+</m:t>
                    </m:r>
                    <m:r>
                      <a:rPr lang="en-GB" sz="1300" i="1">
                        <a:latin typeface="Cambria Math" panose="02040503050406030204" pitchFamily="18" charset="0"/>
                      </a:rPr>
                      <m:t>𝑐</m:t>
                    </m:r>
                  </m:oMath>
                </a14:m>
                <a:r>
                  <a:rPr lang="en-GB" sz="1300" dirty="0"/>
                  <a:t> because </a:t>
                </a:r>
                <a14:m>
                  <m:oMath xmlns:m="http://schemas.openxmlformats.org/officeDocument/2006/math">
                    <m:r>
                      <a:rPr lang="en-GB" sz="1300" i="1">
                        <a:latin typeface="Cambria Math" panose="02040503050406030204" pitchFamily="18" charset="0"/>
                      </a:rPr>
                      <m:t>𝑥</m:t>
                    </m:r>
                  </m:oMath>
                </a14:m>
                <a:r>
                  <a:rPr lang="en-GB" sz="1300" dirty="0"/>
                  <a:t> and </a:t>
                </a:r>
                <a14:m>
                  <m:oMath xmlns:m="http://schemas.openxmlformats.org/officeDocument/2006/math">
                    <m:r>
                      <a:rPr lang="en-GB" sz="1300" i="1">
                        <a:latin typeface="Cambria Math" panose="02040503050406030204" pitchFamily="18" charset="0"/>
                      </a:rPr>
                      <m:t>𝑦</m:t>
                    </m:r>
                  </m:oMath>
                </a14:m>
                <a:r>
                  <a:rPr lang="en-GB" sz="1300" dirty="0"/>
                  <a:t> appear similarly within the expression.</a:t>
                </a:r>
              </a:p>
            </p:txBody>
          </p:sp>
        </mc:Choice>
        <mc:Fallback xmlns="">
          <p:sp>
            <p:nvSpPr>
              <p:cNvPr id="16" name="TextBox 15"/>
              <p:cNvSpPr txBox="1">
                <a:spLocks noRot="1" noChangeAspect="1" noMove="1" noResize="1" noEditPoints="1" noAdjustHandles="1" noChangeArrowheads="1" noChangeShapeType="1" noTextEdit="1"/>
              </p:cNvSpPr>
              <p:nvPr/>
            </p:nvSpPr>
            <p:spPr>
              <a:xfrm>
                <a:off x="2013845" y="3409043"/>
                <a:ext cx="2150949" cy="2462213"/>
              </a:xfrm>
              <a:prstGeom prst="rect">
                <a:avLst/>
              </a:prstGeom>
              <a:blipFill>
                <a:blip r:embed="rId8"/>
                <a:stretch>
                  <a:fillRect l="-262"/>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4500773" y="3101977"/>
                <a:ext cx="2234637" cy="2961067"/>
              </a:xfrm>
              <a:prstGeom prst="rect">
                <a:avLst/>
              </a:prstGeom>
              <a:noFill/>
              <a:effectLst/>
            </p:spPr>
            <p:txBody>
              <a:bodyPr wrap="square" rtlCol="0">
                <a:spAutoFit/>
              </a:bodyPr>
              <a:lstStyle/>
              <a:p>
                <a:r>
                  <a:rPr lang="en-GB" sz="2400" b="1" dirty="0"/>
                  <a:t>Usefulness</a:t>
                </a:r>
              </a:p>
              <a:p>
                <a:r>
                  <a:rPr lang="en-GB" sz="1300" dirty="0"/>
                  <a:t>This more ‘elegant’ form also means it ties in with vectors and matrices. In FM, you will learn about the ‘</a:t>
                </a:r>
                <a:r>
                  <a:rPr lang="en-GB" sz="1300" b="1" dirty="0"/>
                  <a:t>dot product</a:t>
                </a:r>
                <a:r>
                  <a:rPr lang="en-GB" sz="1300" dirty="0"/>
                  <a:t>’ of two vectors:</a:t>
                </a:r>
              </a:p>
              <a:p>
                <a:pPr/>
                <a14:m>
                  <m:oMathPara xmlns:m="http://schemas.openxmlformats.org/officeDocument/2006/math">
                    <m:oMathParaPr>
                      <m:jc m:val="centerGroup"/>
                    </m:oMathParaPr>
                    <m:oMath xmlns:m="http://schemas.openxmlformats.org/officeDocument/2006/math">
                      <m:d>
                        <m:dPr>
                          <m:ctrlPr>
                            <a:rPr lang="en-GB" sz="1300" i="1">
                              <a:latin typeface="Cambria Math" panose="02040503050406030204" pitchFamily="18" charset="0"/>
                            </a:rPr>
                          </m:ctrlPr>
                        </m:dPr>
                        <m:e>
                          <m:m>
                            <m:mPr>
                              <m:plcHide m:val="on"/>
                              <m:mcs>
                                <m:mc>
                                  <m:mcPr>
                                    <m:count m:val="1"/>
                                    <m:mcJc m:val="center"/>
                                  </m:mcPr>
                                </m:mc>
                              </m:mcs>
                              <m:ctrlPr>
                                <a:rPr lang="en-GB" sz="1300" i="1">
                                  <a:latin typeface="Cambria Math" panose="02040503050406030204" pitchFamily="18" charset="0"/>
                                </a:rPr>
                              </m:ctrlPr>
                            </m:mPr>
                            <m:mr>
                              <m:e/>
                            </m:mr>
                            <m:mr>
                              <m:e/>
                            </m:mr>
                            <m:mr>
                              <m:e/>
                            </m:mr>
                          </m:m>
                          <m:m>
                            <m:mPr>
                              <m:plcHide m:val="on"/>
                              <m:mcs>
                                <m:mc>
                                  <m:mcPr>
                                    <m:count m:val="1"/>
                                    <m:mcJc m:val="center"/>
                                  </m:mcPr>
                                </m:mc>
                              </m:mcs>
                              <m:ctrlPr>
                                <a:rPr lang="en-GB" sz="1300" b="0" i="1" smtClean="0">
                                  <a:latin typeface="Cambria Math" panose="02040503050406030204" pitchFamily="18" charset="0"/>
                                </a:rPr>
                              </m:ctrlPr>
                            </m:mPr>
                            <m:mr>
                              <m:e>
                                <m:r>
                                  <a:rPr lang="en-GB" sz="1300" b="0" i="1" smtClean="0">
                                    <a:latin typeface="Cambria Math" panose="02040503050406030204" pitchFamily="18" charset="0"/>
                                  </a:rPr>
                                  <m:t>𝑎</m:t>
                                </m:r>
                              </m:e>
                            </m:mr>
                            <m:mr>
                              <m:e>
                                <m:r>
                                  <a:rPr lang="en-GB" sz="1300" b="0" i="1" smtClean="0">
                                    <a:latin typeface="Cambria Math" panose="02040503050406030204" pitchFamily="18" charset="0"/>
                                  </a:rPr>
                                  <m:t>𝑏</m:t>
                                </m:r>
                              </m:e>
                            </m:mr>
                          </m:m>
                        </m:e>
                      </m:d>
                      <m:r>
                        <a:rPr lang="en-GB" sz="1300" i="1">
                          <a:latin typeface="Cambria Math" panose="02040503050406030204" pitchFamily="18" charset="0"/>
                        </a:rPr>
                        <m:t>⋅</m:t>
                      </m:r>
                      <m:d>
                        <m:dPr>
                          <m:ctrlPr>
                            <a:rPr lang="en-GB" sz="1300" i="1">
                              <a:latin typeface="Cambria Math" panose="02040503050406030204" pitchFamily="18" charset="0"/>
                            </a:rPr>
                          </m:ctrlPr>
                        </m:dPr>
                        <m:e>
                          <m:m>
                            <m:mPr>
                              <m:plcHide m:val="on"/>
                              <m:mcs>
                                <m:mc>
                                  <m:mcPr>
                                    <m:count m:val="1"/>
                                    <m:mcJc m:val="center"/>
                                  </m:mcPr>
                                </m:mc>
                              </m:mcs>
                              <m:ctrlPr>
                                <a:rPr lang="en-GB" sz="1300" b="0" i="1" smtClean="0">
                                  <a:latin typeface="Cambria Math" panose="02040503050406030204" pitchFamily="18" charset="0"/>
                                </a:rPr>
                              </m:ctrlPr>
                            </m:mPr>
                            <m:mr>
                              <m:e>
                                <m:r>
                                  <a:rPr lang="en-GB" sz="1300" b="0" i="1" smtClean="0">
                                    <a:latin typeface="Cambria Math" panose="02040503050406030204" pitchFamily="18" charset="0"/>
                                  </a:rPr>
                                  <m:t>𝑥</m:t>
                                </m:r>
                              </m:e>
                            </m:mr>
                            <m:mr>
                              <m:e>
                                <m:r>
                                  <a:rPr lang="en-GB" sz="1300" b="0" i="1" smtClean="0">
                                    <a:latin typeface="Cambria Math" panose="02040503050406030204" pitchFamily="18" charset="0"/>
                                  </a:rPr>
                                  <m:t>𝑦</m:t>
                                </m:r>
                              </m:e>
                            </m:mr>
                          </m:m>
                        </m:e>
                      </m:d>
                      <m:r>
                        <a:rPr lang="en-GB" sz="1300" b="0" i="1" smtClean="0">
                          <a:latin typeface="Cambria Math" panose="02040503050406030204" pitchFamily="18" charset="0"/>
                        </a:rPr>
                        <m:t>=</m:t>
                      </m:r>
                      <m:r>
                        <a:rPr lang="en-GB" sz="1300" b="0" i="1" smtClean="0">
                          <a:latin typeface="Cambria Math" panose="02040503050406030204" pitchFamily="18" charset="0"/>
                        </a:rPr>
                        <m:t>𝑎𝑥</m:t>
                      </m:r>
                      <m:r>
                        <a:rPr lang="en-GB" sz="1300" b="0" i="1" smtClean="0">
                          <a:latin typeface="Cambria Math" panose="02040503050406030204" pitchFamily="18" charset="0"/>
                        </a:rPr>
                        <m:t>+</m:t>
                      </m:r>
                      <m:r>
                        <a:rPr lang="en-GB" sz="1300" b="0" i="1" smtClean="0">
                          <a:latin typeface="Cambria Math" panose="02040503050406030204" pitchFamily="18" charset="0"/>
                        </a:rPr>
                        <m:t>𝑏𝑦</m:t>
                      </m:r>
                    </m:oMath>
                  </m:oMathPara>
                </a14:m>
                <a:endParaRPr lang="en-GB" sz="1300" dirty="0"/>
              </a:p>
              <a:p>
                <a:pPr/>
                <a:r>
                  <a:rPr lang="en-GB" sz="1300" dirty="0"/>
                  <a:t>thus since </a:t>
                </a:r>
                <a14:m>
                  <m:oMath xmlns:m="http://schemas.openxmlformats.org/officeDocument/2006/math">
                    <m:r>
                      <a:rPr lang="en-GB" sz="1300" b="0" i="1" smtClean="0">
                        <a:latin typeface="Cambria Math" panose="02040503050406030204" pitchFamily="18" charset="0"/>
                      </a:rPr>
                      <m:t>𝑎𝑥</m:t>
                    </m:r>
                    <m:r>
                      <a:rPr lang="en-GB" sz="1300" b="0" i="1" smtClean="0">
                        <a:latin typeface="Cambria Math" panose="02040503050406030204" pitchFamily="18" charset="0"/>
                      </a:rPr>
                      <m:t>+</m:t>
                    </m:r>
                    <m:r>
                      <a:rPr lang="en-GB" sz="1300" b="0" i="1" smtClean="0">
                        <a:latin typeface="Cambria Math" panose="02040503050406030204" pitchFamily="18" charset="0"/>
                      </a:rPr>
                      <m:t>𝑏𝑦</m:t>
                    </m:r>
                    <m:r>
                      <a:rPr lang="en-GB" sz="1300" b="0" i="1" smtClean="0">
                        <a:latin typeface="Cambria Math" panose="02040503050406030204" pitchFamily="18" charset="0"/>
                      </a:rPr>
                      <m:t>+</m:t>
                    </m:r>
                    <m:r>
                      <a:rPr lang="en-GB" sz="1300" b="0" i="1" smtClean="0">
                        <a:latin typeface="Cambria Math" panose="02040503050406030204" pitchFamily="18" charset="0"/>
                      </a:rPr>
                      <m:t>𝑐</m:t>
                    </m:r>
                    <m:r>
                      <a:rPr lang="en-GB" sz="1300" b="0" i="1" smtClean="0">
                        <a:latin typeface="Cambria Math" panose="02040503050406030204" pitchFamily="18" charset="0"/>
                      </a:rPr>
                      <m:t>=0</m:t>
                    </m:r>
                  </m:oMath>
                </a14:m>
                <a:r>
                  <a:rPr lang="en-GB" sz="1300" dirty="0"/>
                  <a:t>, we can represent a straight line using: </a:t>
                </a:r>
                <a:br>
                  <a:rPr lang="en-GB" sz="1300" dirty="0"/>
                </a:br>
                <a14:m>
                  <m:oMathPara xmlns:m="http://schemas.openxmlformats.org/officeDocument/2006/math">
                    <m:oMathParaPr>
                      <m:jc m:val="centerGroup"/>
                    </m:oMathParaPr>
                    <m:oMath xmlns:m="http://schemas.openxmlformats.org/officeDocument/2006/math">
                      <m:d>
                        <m:dPr>
                          <m:ctrlPr>
                            <a:rPr lang="en-GB" sz="1300" i="1">
                              <a:latin typeface="Cambria Math" panose="02040503050406030204" pitchFamily="18" charset="0"/>
                            </a:rPr>
                          </m:ctrlPr>
                        </m:dPr>
                        <m:e>
                          <m:m>
                            <m:mPr>
                              <m:plcHide m:val="on"/>
                              <m:mcs>
                                <m:mc>
                                  <m:mcPr>
                                    <m:count m:val="1"/>
                                    <m:mcJc m:val="center"/>
                                  </m:mcPr>
                                </m:mc>
                              </m:mcs>
                              <m:ctrlPr>
                                <a:rPr lang="en-GB" sz="1300" i="1">
                                  <a:latin typeface="Cambria Math" panose="02040503050406030204" pitchFamily="18" charset="0"/>
                                </a:rPr>
                              </m:ctrlPr>
                            </m:mPr>
                            <m:mr>
                              <m:e/>
                            </m:mr>
                            <m:mr>
                              <m:e/>
                            </m:mr>
                            <m:mr>
                              <m:e/>
                            </m:mr>
                          </m:m>
                          <m:m>
                            <m:mPr>
                              <m:plcHide m:val="on"/>
                              <m:mcs>
                                <m:mc>
                                  <m:mcPr>
                                    <m:count m:val="1"/>
                                    <m:mcJc m:val="center"/>
                                  </m:mcPr>
                                </m:mc>
                              </m:mcs>
                              <m:ctrlPr>
                                <a:rPr lang="en-GB" sz="1300" i="1">
                                  <a:latin typeface="Cambria Math" panose="02040503050406030204" pitchFamily="18" charset="0"/>
                                </a:rPr>
                              </m:ctrlPr>
                            </m:mPr>
                            <m:mr>
                              <m:e>
                                <m:r>
                                  <a:rPr lang="en-GB" sz="1300" i="1">
                                    <a:latin typeface="Cambria Math" panose="02040503050406030204" pitchFamily="18" charset="0"/>
                                  </a:rPr>
                                  <m:t>𝑎</m:t>
                                </m:r>
                              </m:e>
                            </m:mr>
                            <m:mr>
                              <m:e>
                                <m:r>
                                  <a:rPr lang="en-GB" sz="1300" i="1">
                                    <a:latin typeface="Cambria Math" panose="02040503050406030204" pitchFamily="18" charset="0"/>
                                  </a:rPr>
                                  <m:t>𝑏</m:t>
                                </m:r>
                              </m:e>
                            </m:mr>
                          </m:m>
                        </m:e>
                      </m:d>
                      <m:r>
                        <a:rPr lang="en-GB" sz="1300" i="1">
                          <a:latin typeface="Cambria Math" panose="02040503050406030204" pitchFamily="18" charset="0"/>
                        </a:rPr>
                        <m:t>⋅</m:t>
                      </m:r>
                      <m:d>
                        <m:dPr>
                          <m:ctrlPr>
                            <a:rPr lang="en-GB" sz="1300" i="1">
                              <a:latin typeface="Cambria Math" panose="02040503050406030204" pitchFamily="18" charset="0"/>
                            </a:rPr>
                          </m:ctrlPr>
                        </m:dPr>
                        <m:e>
                          <m:m>
                            <m:mPr>
                              <m:plcHide m:val="on"/>
                              <m:mcs>
                                <m:mc>
                                  <m:mcPr>
                                    <m:count m:val="1"/>
                                    <m:mcJc m:val="center"/>
                                  </m:mcPr>
                                </m:mc>
                              </m:mcs>
                              <m:ctrlPr>
                                <a:rPr lang="en-GB" sz="1300" i="1">
                                  <a:latin typeface="Cambria Math" panose="02040503050406030204" pitchFamily="18" charset="0"/>
                                </a:rPr>
                              </m:ctrlPr>
                            </m:mPr>
                            <m:mr>
                              <m:e>
                                <m:r>
                                  <a:rPr lang="en-GB" sz="1300" i="1">
                                    <a:latin typeface="Cambria Math" panose="02040503050406030204" pitchFamily="18" charset="0"/>
                                  </a:rPr>
                                  <m:t>𝑥</m:t>
                                </m:r>
                              </m:e>
                            </m:mr>
                            <m:mr>
                              <m:e>
                                <m:r>
                                  <a:rPr lang="en-GB" sz="1300" i="1">
                                    <a:latin typeface="Cambria Math" panose="02040503050406030204" pitchFamily="18" charset="0"/>
                                  </a:rPr>
                                  <m:t>𝑦</m:t>
                                </m:r>
                              </m:e>
                            </m:mr>
                          </m:m>
                        </m:e>
                      </m:d>
                      <m:r>
                        <a:rPr lang="en-GB" sz="1300" b="0" i="1" smtClean="0">
                          <a:latin typeface="Cambria Math" panose="02040503050406030204" pitchFamily="18" charset="0"/>
                        </a:rPr>
                        <m:t>+</m:t>
                      </m:r>
                      <m:r>
                        <a:rPr lang="en-GB" sz="1300" b="0" i="1" smtClean="0">
                          <a:latin typeface="Cambria Math" panose="02040503050406030204" pitchFamily="18" charset="0"/>
                        </a:rPr>
                        <m:t>𝑐</m:t>
                      </m:r>
                      <m:r>
                        <a:rPr lang="en-GB" sz="1300" b="0" i="1" smtClean="0">
                          <a:latin typeface="Cambria Math" panose="02040503050406030204" pitchFamily="18" charset="0"/>
                        </a:rPr>
                        <m:t>=0       (1)</m:t>
                      </m:r>
                    </m:oMath>
                  </m:oMathPara>
                </a14:m>
                <a:endParaRPr lang="en-GB" sz="1300" b="1" dirty="0"/>
              </a:p>
            </p:txBody>
          </p:sp>
        </mc:Choice>
        <mc:Fallback xmlns="">
          <p:sp>
            <p:nvSpPr>
              <p:cNvPr id="17" name="TextBox 16"/>
              <p:cNvSpPr txBox="1">
                <a:spLocks noRot="1" noChangeAspect="1" noMove="1" noResize="1" noEditPoints="1" noAdjustHandles="1" noChangeArrowheads="1" noChangeShapeType="1" noTextEdit="1"/>
              </p:cNvSpPr>
              <p:nvPr/>
            </p:nvSpPr>
            <p:spPr>
              <a:xfrm>
                <a:off x="4500773" y="3101977"/>
                <a:ext cx="2234637" cy="2961067"/>
              </a:xfrm>
              <a:prstGeom prst="rect">
                <a:avLst/>
              </a:prstGeom>
              <a:blipFill>
                <a:blip r:embed="rId9"/>
                <a:stretch>
                  <a:fillRect l="-4087" t="-1646"/>
                </a:stretch>
              </a:blipFill>
              <a:effectLst/>
            </p:spPr>
            <p:txBody>
              <a:bodyPr/>
              <a:lstStyle/>
              <a:p>
                <a:r>
                  <a:rPr lang="en-GB">
                    <a:noFill/>
                  </a:rPr>
                  <a:t> </a:t>
                </a:r>
              </a:p>
            </p:txBody>
          </p:sp>
        </mc:Fallback>
      </mc:AlternateContent>
      <p:sp>
        <p:nvSpPr>
          <p:cNvPr id="18" name="Arrow: Down 17"/>
          <p:cNvSpPr/>
          <p:nvPr/>
        </p:nvSpPr>
        <p:spPr>
          <a:xfrm rot="19791647">
            <a:off x="6236031" y="2586666"/>
            <a:ext cx="348982" cy="68992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9" name="Rectangle 18"/>
              <p:cNvSpPr/>
              <p:nvPr/>
            </p:nvSpPr>
            <p:spPr>
              <a:xfrm>
                <a:off x="6666614" y="3439379"/>
                <a:ext cx="2371059" cy="2533899"/>
              </a:xfrm>
              <a:prstGeom prst="rect">
                <a:avLst/>
              </a:prstGeom>
              <a:noFill/>
              <a:effectLst/>
            </p:spPr>
            <p:txBody>
              <a:bodyPr wrap="square">
                <a:spAutoFit/>
              </a:bodyPr>
              <a:lstStyle/>
              <a:p>
                <a:r>
                  <a:rPr lang="en-GB" sz="1300" dirty="0"/>
                  <a:t>We can extend to 3D points to get the equation of a </a:t>
                </a:r>
                <a:r>
                  <a:rPr lang="en-GB" sz="1300" b="1" dirty="0"/>
                  <a:t>plane</a:t>
                </a:r>
                <a:r>
                  <a:rPr lang="en-GB" sz="1300" dirty="0"/>
                  <a:t>:</a:t>
                </a:r>
              </a:p>
              <a:p>
                <a:pPr/>
                <a14:m>
                  <m:oMathPara xmlns:m="http://schemas.openxmlformats.org/officeDocument/2006/math">
                    <m:oMathParaPr>
                      <m:jc m:val="centerGroup"/>
                    </m:oMathParaPr>
                    <m:oMath xmlns:m="http://schemas.openxmlformats.org/officeDocument/2006/math">
                      <m:d>
                        <m:dPr>
                          <m:ctrlPr>
                            <a:rPr lang="en-GB" sz="1300" i="1">
                              <a:latin typeface="Cambria Math" panose="02040503050406030204" pitchFamily="18" charset="0"/>
                            </a:rPr>
                          </m:ctrlPr>
                        </m:dPr>
                        <m:e>
                          <m:m>
                            <m:mPr>
                              <m:plcHide m:val="on"/>
                              <m:mcs>
                                <m:mc>
                                  <m:mcPr>
                                    <m:count m:val="1"/>
                                    <m:mcJc m:val="center"/>
                                  </m:mcPr>
                                </m:mc>
                              </m:mcs>
                              <m:ctrlPr>
                                <a:rPr lang="en-GB" sz="1300" i="1">
                                  <a:latin typeface="Cambria Math" panose="02040503050406030204" pitchFamily="18" charset="0"/>
                                </a:rPr>
                              </m:ctrlPr>
                            </m:mPr>
                            <m:mr>
                              <m:e>
                                <m:r>
                                  <a:rPr lang="en-GB" sz="1300" i="1">
                                    <a:latin typeface="Cambria Math" panose="02040503050406030204" pitchFamily="18" charset="0"/>
                                  </a:rPr>
                                  <m:t>𝑎</m:t>
                                </m:r>
                              </m:e>
                            </m:mr>
                            <m:mr>
                              <m:e>
                                <m:r>
                                  <a:rPr lang="en-GB" sz="1300" i="1">
                                    <a:latin typeface="Cambria Math" panose="02040503050406030204" pitchFamily="18" charset="0"/>
                                  </a:rPr>
                                  <m:t>𝑏</m:t>
                                </m:r>
                              </m:e>
                            </m:mr>
                            <m:mr>
                              <m:e>
                                <m:r>
                                  <a:rPr lang="en-GB" sz="1300" i="1">
                                    <a:latin typeface="Cambria Math" panose="02040503050406030204" pitchFamily="18" charset="0"/>
                                  </a:rPr>
                                  <m:t>𝑐</m:t>
                                </m:r>
                              </m:e>
                            </m:mr>
                          </m:m>
                        </m:e>
                      </m:d>
                      <m:r>
                        <a:rPr lang="en-GB" sz="1300" i="1">
                          <a:latin typeface="Cambria Math" panose="02040503050406030204" pitchFamily="18" charset="0"/>
                        </a:rPr>
                        <m:t>⋅</m:t>
                      </m:r>
                      <m:d>
                        <m:dPr>
                          <m:ctrlPr>
                            <a:rPr lang="en-GB" sz="1300" i="1">
                              <a:latin typeface="Cambria Math" panose="02040503050406030204" pitchFamily="18" charset="0"/>
                            </a:rPr>
                          </m:ctrlPr>
                        </m:dPr>
                        <m:e>
                          <m:m>
                            <m:mPr>
                              <m:plcHide m:val="on"/>
                              <m:mcs>
                                <m:mc>
                                  <m:mcPr>
                                    <m:count m:val="1"/>
                                    <m:mcJc m:val="center"/>
                                  </m:mcPr>
                                </m:mc>
                              </m:mcs>
                              <m:ctrlPr>
                                <a:rPr lang="en-GB" sz="1300" i="1">
                                  <a:latin typeface="Cambria Math" panose="02040503050406030204" pitchFamily="18" charset="0"/>
                                </a:rPr>
                              </m:ctrlPr>
                            </m:mPr>
                            <m:mr>
                              <m:e>
                                <m:r>
                                  <a:rPr lang="en-GB" sz="1300" i="1">
                                    <a:latin typeface="Cambria Math" panose="02040503050406030204" pitchFamily="18" charset="0"/>
                                  </a:rPr>
                                  <m:t>𝑥</m:t>
                                </m:r>
                              </m:e>
                            </m:mr>
                            <m:mr>
                              <m:e>
                                <m:r>
                                  <a:rPr lang="en-GB" sz="1300" i="1">
                                    <a:latin typeface="Cambria Math" panose="02040503050406030204" pitchFamily="18" charset="0"/>
                                  </a:rPr>
                                  <m:t>𝑦</m:t>
                                </m:r>
                              </m:e>
                            </m:mr>
                            <m:mr>
                              <m:e>
                                <m:r>
                                  <a:rPr lang="en-GB" sz="1300" b="0" i="1" smtClean="0">
                                    <a:latin typeface="Cambria Math" panose="02040503050406030204" pitchFamily="18" charset="0"/>
                                  </a:rPr>
                                  <m:t>𝑧</m:t>
                                </m:r>
                              </m:e>
                            </m:mr>
                          </m:m>
                        </m:e>
                      </m:d>
                      <m:r>
                        <a:rPr lang="en-GB" sz="1300" i="1">
                          <a:latin typeface="Cambria Math" panose="02040503050406030204" pitchFamily="18" charset="0"/>
                        </a:rPr>
                        <m:t>+</m:t>
                      </m:r>
                      <m:r>
                        <a:rPr lang="en-GB" sz="1300" i="1">
                          <a:latin typeface="Cambria Math" panose="02040503050406030204" pitchFamily="18" charset="0"/>
                        </a:rPr>
                        <m:t>𝑑</m:t>
                      </m:r>
                      <m:r>
                        <a:rPr lang="en-GB" sz="1300" i="1">
                          <a:latin typeface="Cambria Math" panose="02040503050406030204" pitchFamily="18" charset="0"/>
                        </a:rPr>
                        <m:t>=0        (2)</m:t>
                      </m:r>
                    </m:oMath>
                  </m:oMathPara>
                </a14:m>
                <a:endParaRPr lang="en-GB" sz="1300" b="1" dirty="0"/>
              </a:p>
              <a:p>
                <a:r>
                  <a:rPr lang="en-GB" sz="1300" dirty="0"/>
                  <a:t>Conveniently, in equation </a:t>
                </a:r>
                <a14:m>
                  <m:oMath xmlns:m="http://schemas.openxmlformats.org/officeDocument/2006/math">
                    <m:r>
                      <a:rPr lang="en-GB" sz="1300" b="0" i="1" smtClean="0">
                        <a:latin typeface="Cambria Math" panose="02040503050406030204" pitchFamily="18" charset="0"/>
                      </a:rPr>
                      <m:t>(1)</m:t>
                    </m:r>
                  </m:oMath>
                </a14:m>
                <a:r>
                  <a:rPr lang="en-GB" sz="1300" dirty="0"/>
                  <a:t>, the vector </a:t>
                </a:r>
                <a14:m>
                  <m:oMath xmlns:m="http://schemas.openxmlformats.org/officeDocument/2006/math">
                    <m:d>
                      <m:dPr>
                        <m:ctrlPr>
                          <a:rPr lang="en-GB" sz="1300" i="1">
                            <a:latin typeface="Cambria Math" panose="02040503050406030204" pitchFamily="18" charset="0"/>
                          </a:rPr>
                        </m:ctrlPr>
                      </m:dPr>
                      <m:e>
                        <m:m>
                          <m:mPr>
                            <m:plcHide m:val="on"/>
                            <m:mcs>
                              <m:mc>
                                <m:mcPr>
                                  <m:count m:val="1"/>
                                  <m:mcJc m:val="center"/>
                                </m:mcPr>
                              </m:mc>
                            </m:mcs>
                            <m:ctrlPr>
                              <a:rPr lang="en-GB" sz="1300" i="1">
                                <a:latin typeface="Cambria Math" panose="02040503050406030204" pitchFamily="18" charset="0"/>
                              </a:rPr>
                            </m:ctrlPr>
                          </m:mPr>
                          <m:mr>
                            <m:e/>
                          </m:mr>
                          <m:mr>
                            <m:e/>
                          </m:mr>
                          <m:mr>
                            <m:e/>
                          </m:mr>
                        </m:m>
                        <m:m>
                          <m:mPr>
                            <m:plcHide m:val="on"/>
                            <m:mcs>
                              <m:mc>
                                <m:mcPr>
                                  <m:count m:val="1"/>
                                  <m:mcJc m:val="center"/>
                                </m:mcPr>
                              </m:mc>
                            </m:mcs>
                            <m:ctrlPr>
                              <a:rPr lang="en-GB" sz="1300" i="1">
                                <a:latin typeface="Cambria Math" panose="02040503050406030204" pitchFamily="18" charset="0"/>
                              </a:rPr>
                            </m:ctrlPr>
                          </m:mPr>
                          <m:mr>
                            <m:e>
                              <m:r>
                                <a:rPr lang="en-GB" sz="1300" i="1">
                                  <a:latin typeface="Cambria Math" panose="02040503050406030204" pitchFamily="18" charset="0"/>
                                </a:rPr>
                                <m:t>𝑎</m:t>
                              </m:r>
                            </m:e>
                          </m:mr>
                          <m:mr>
                            <m:e>
                              <m:r>
                                <a:rPr lang="en-GB" sz="1300" i="1">
                                  <a:latin typeface="Cambria Math" panose="02040503050406030204" pitchFamily="18" charset="0"/>
                                </a:rPr>
                                <m:t>𝑏</m:t>
                              </m:r>
                            </m:e>
                          </m:mr>
                        </m:m>
                      </m:e>
                    </m:d>
                  </m:oMath>
                </a14:m>
                <a:r>
                  <a:rPr lang="en-GB" sz="1300" dirty="0"/>
                  <a:t> is </a:t>
                </a:r>
                <a:r>
                  <a:rPr lang="en-GB" sz="1300" b="1" dirty="0"/>
                  <a:t>perpendicular to the line</a:t>
                </a:r>
                <a:r>
                  <a:rPr lang="en-GB" sz="1300" dirty="0"/>
                  <a:t>. And in equation </a:t>
                </a:r>
                <a14:m>
                  <m:oMath xmlns:m="http://schemas.openxmlformats.org/officeDocument/2006/math">
                    <m:r>
                      <a:rPr lang="en-GB" sz="1300" b="0" i="1" smtClean="0">
                        <a:latin typeface="Cambria Math" panose="02040503050406030204" pitchFamily="18" charset="0"/>
                      </a:rPr>
                      <m:t>(2)</m:t>
                    </m:r>
                  </m:oMath>
                </a14:m>
                <a:r>
                  <a:rPr lang="en-GB" sz="1300" dirty="0"/>
                  <a:t>, the vector </a:t>
                </a:r>
                <a14:m>
                  <m:oMath xmlns:m="http://schemas.openxmlformats.org/officeDocument/2006/math">
                    <m:d>
                      <m:dPr>
                        <m:ctrlPr>
                          <a:rPr lang="en-GB" sz="1300" i="1">
                            <a:latin typeface="Cambria Math" panose="02040503050406030204" pitchFamily="18" charset="0"/>
                          </a:rPr>
                        </m:ctrlPr>
                      </m:dPr>
                      <m:e>
                        <m:m>
                          <m:mPr>
                            <m:plcHide m:val="on"/>
                            <m:mcs>
                              <m:mc>
                                <m:mcPr>
                                  <m:count m:val="1"/>
                                  <m:mcJc m:val="center"/>
                                </m:mcPr>
                              </m:mc>
                            </m:mcs>
                            <m:ctrlPr>
                              <a:rPr lang="en-GB" sz="1300" i="1">
                                <a:latin typeface="Cambria Math" panose="02040503050406030204" pitchFamily="18" charset="0"/>
                              </a:rPr>
                            </m:ctrlPr>
                          </m:mPr>
                          <m:mr>
                            <m:e>
                              <m:r>
                                <a:rPr lang="en-GB" sz="1300" i="1">
                                  <a:latin typeface="Cambria Math" panose="02040503050406030204" pitchFamily="18" charset="0"/>
                                </a:rPr>
                                <m:t>𝑎</m:t>
                              </m:r>
                            </m:e>
                          </m:mr>
                          <m:mr>
                            <m:e>
                              <m:r>
                                <a:rPr lang="en-GB" sz="1300" i="1">
                                  <a:latin typeface="Cambria Math" panose="02040503050406030204" pitchFamily="18" charset="0"/>
                                </a:rPr>
                                <m:t>𝑏</m:t>
                              </m:r>
                            </m:e>
                          </m:mr>
                          <m:mr>
                            <m:e>
                              <m:r>
                                <a:rPr lang="en-GB" sz="1300" i="1">
                                  <a:latin typeface="Cambria Math" panose="02040503050406030204" pitchFamily="18" charset="0"/>
                                </a:rPr>
                                <m:t>𝑐</m:t>
                              </m:r>
                            </m:e>
                          </m:mr>
                        </m:m>
                      </m:e>
                    </m:d>
                  </m:oMath>
                </a14:m>
                <a:r>
                  <a:rPr lang="en-GB" sz="1300" dirty="0"/>
                  <a:t> is perpendicular to the plane. Nice!</a:t>
                </a:r>
                <a:endParaRPr lang="en-GB" sz="1500" dirty="0"/>
              </a:p>
            </p:txBody>
          </p:sp>
        </mc:Choice>
        <mc:Fallback xmlns="">
          <p:sp>
            <p:nvSpPr>
              <p:cNvPr id="19" name="Rectangle 18"/>
              <p:cNvSpPr>
                <a:spLocks noRot="1" noChangeAspect="1" noMove="1" noResize="1" noEditPoints="1" noAdjustHandles="1" noChangeArrowheads="1" noChangeShapeType="1" noTextEdit="1"/>
              </p:cNvSpPr>
              <p:nvPr/>
            </p:nvSpPr>
            <p:spPr>
              <a:xfrm>
                <a:off x="6666614" y="3439379"/>
                <a:ext cx="2371059" cy="2533899"/>
              </a:xfrm>
              <a:prstGeom prst="rect">
                <a:avLst/>
              </a:prstGeom>
              <a:blipFill>
                <a:blip r:embed="rId10"/>
                <a:stretch>
                  <a:fillRect l="-514" t="-240" r="-1799" b="-1202"/>
                </a:stretch>
              </a:blipFill>
              <a:effectLst/>
            </p:spPr>
            <p:txBody>
              <a:bodyPr/>
              <a:lstStyle/>
              <a:p>
                <a:r>
                  <a:rPr lang="en-GB">
                    <a:noFill/>
                  </a:rPr>
                  <a:t> </a:t>
                </a:r>
              </a:p>
            </p:txBody>
          </p:sp>
        </mc:Fallback>
      </mc:AlternateContent>
      <p:sp>
        <p:nvSpPr>
          <p:cNvPr id="20" name="Rectangle 19"/>
          <p:cNvSpPr/>
          <p:nvPr/>
        </p:nvSpPr>
        <p:spPr>
          <a:xfrm>
            <a:off x="6648646" y="3109770"/>
            <a:ext cx="85984" cy="27339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2" name="Straight Connector 21"/>
          <p:cNvCxnSpPr/>
          <p:nvPr/>
        </p:nvCxnSpPr>
        <p:spPr>
          <a:xfrm>
            <a:off x="6635393" y="3432311"/>
            <a:ext cx="0" cy="249738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5" name="TextBox 24"/>
              <p:cNvSpPr txBox="1"/>
              <p:nvPr/>
            </p:nvSpPr>
            <p:spPr>
              <a:xfrm>
                <a:off x="4285317" y="6178963"/>
                <a:ext cx="139280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𝑦</m:t>
                      </m:r>
                      <m:r>
                        <a:rPr lang="en-GB" b="0" i="1" smtClean="0">
                          <a:latin typeface="Cambria Math" panose="02040503050406030204" pitchFamily="18" charset="0"/>
                        </a:rPr>
                        <m:t>=4</m:t>
                      </m:r>
                    </m:oMath>
                  </m:oMathPara>
                </a14:m>
                <a:endParaRPr lang="en-GB" dirty="0"/>
              </a:p>
            </p:txBody>
          </p:sp>
        </mc:Choice>
        <mc:Fallback xmlns="">
          <p:sp>
            <p:nvSpPr>
              <p:cNvPr id="25" name="TextBox 24"/>
              <p:cNvSpPr txBox="1">
                <a:spLocks noRot="1" noChangeAspect="1" noMove="1" noResize="1" noEditPoints="1" noAdjustHandles="1" noChangeArrowheads="1" noChangeShapeType="1" noTextEdit="1"/>
              </p:cNvSpPr>
              <p:nvPr/>
            </p:nvSpPr>
            <p:spPr>
              <a:xfrm>
                <a:off x="4285317" y="6178963"/>
                <a:ext cx="1392807" cy="369332"/>
              </a:xfrm>
              <a:prstGeom prst="rect">
                <a:avLst/>
              </a:prstGeom>
              <a:blipFill>
                <a:blip r:embed="rId11"/>
                <a:stretch>
                  <a:fillRect b="-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5986195" y="6097495"/>
                <a:ext cx="1488493" cy="5555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b="0" i="1" smtClean="0">
                              <a:latin typeface="Cambria Math" panose="02040503050406030204" pitchFamily="18" charset="0"/>
                            </a:rPr>
                          </m:ctrlPr>
                        </m:dPr>
                        <m:e>
                          <m:m>
                            <m:mPr>
                              <m:plcHide m:val="on"/>
                              <m:mcs>
                                <m:mc>
                                  <m:mcPr>
                                    <m:count m:val="1"/>
                                    <m:mcJc m:val="center"/>
                                  </m:mcPr>
                                </m:mc>
                              </m:mcs>
                              <m:ctrlPr>
                                <a:rPr lang="en-GB" b="0" i="1" smtClean="0">
                                  <a:latin typeface="Cambria Math" panose="02040503050406030204" pitchFamily="18" charset="0"/>
                                </a:rPr>
                              </m:ctrlPr>
                            </m:mPr>
                            <m:mr>
                              <m:e>
                                <m:r>
                                  <a:rPr lang="en-GB" b="0" i="1" smtClean="0">
                                    <a:latin typeface="Cambria Math" panose="02040503050406030204" pitchFamily="18" charset="0"/>
                                  </a:rPr>
                                  <m:t>2</m:t>
                                </m:r>
                              </m:e>
                            </m:mr>
                            <m:mr>
                              <m:e>
                                <m:r>
                                  <a:rPr lang="en-GB" b="0" i="1" smtClean="0">
                                    <a:latin typeface="Cambria Math" panose="02040503050406030204" pitchFamily="18" charset="0"/>
                                  </a:rPr>
                                  <m:t>1</m:t>
                                </m:r>
                              </m:e>
                            </m:mr>
                          </m:m>
                        </m:e>
                      </m:d>
                      <m:r>
                        <a:rPr lang="en-GB" b="0" i="1" smtClean="0">
                          <a:latin typeface="Cambria Math" panose="02040503050406030204" pitchFamily="18" charset="0"/>
                        </a:rPr>
                        <m:t>⋅</m:t>
                      </m:r>
                      <m:d>
                        <m:dPr>
                          <m:ctrlPr>
                            <a:rPr lang="en-GB" b="0" i="1" smtClean="0">
                              <a:latin typeface="Cambria Math" panose="02040503050406030204" pitchFamily="18" charset="0"/>
                            </a:rPr>
                          </m:ctrlPr>
                        </m:dPr>
                        <m:e>
                          <m:m>
                            <m:mPr>
                              <m:plcHide m:val="on"/>
                              <m:mcs>
                                <m:mc>
                                  <m:mcPr>
                                    <m:count m:val="1"/>
                                    <m:mcJc m:val="center"/>
                                  </m:mcPr>
                                </m:mc>
                              </m:mcs>
                              <m:ctrlPr>
                                <a:rPr lang="en-GB" b="0" i="1" smtClean="0">
                                  <a:latin typeface="Cambria Math" panose="02040503050406030204" pitchFamily="18" charset="0"/>
                                </a:rPr>
                              </m:ctrlPr>
                            </m:mPr>
                            <m:mr>
                              <m:e>
                                <m:r>
                                  <a:rPr lang="en-GB" b="0" i="1" smtClean="0">
                                    <a:latin typeface="Cambria Math" panose="02040503050406030204" pitchFamily="18" charset="0"/>
                                  </a:rPr>
                                  <m:t>𝑥</m:t>
                                </m:r>
                              </m:e>
                            </m:mr>
                            <m:mr>
                              <m:e>
                                <m:r>
                                  <a:rPr lang="en-GB" b="0" i="1" smtClean="0">
                                    <a:latin typeface="Cambria Math" panose="02040503050406030204" pitchFamily="18" charset="0"/>
                                  </a:rPr>
                                  <m:t>𝑦</m:t>
                                </m:r>
                              </m:e>
                            </m:mr>
                          </m:m>
                        </m:e>
                      </m:d>
                      <m:r>
                        <a:rPr lang="en-GB" b="0" i="1" smtClean="0">
                          <a:latin typeface="Cambria Math" panose="02040503050406030204" pitchFamily="18" charset="0"/>
                        </a:rPr>
                        <m:t>=4</m:t>
                      </m:r>
                    </m:oMath>
                  </m:oMathPara>
                </a14:m>
                <a:endParaRPr lang="en-GB" dirty="0"/>
              </a:p>
            </p:txBody>
          </p:sp>
        </mc:Choice>
        <mc:Fallback xmlns="">
          <p:sp>
            <p:nvSpPr>
              <p:cNvPr id="26" name="TextBox 25"/>
              <p:cNvSpPr txBox="1">
                <a:spLocks noRot="1" noChangeAspect="1" noMove="1" noResize="1" noEditPoints="1" noAdjustHandles="1" noChangeArrowheads="1" noChangeShapeType="1" noTextEdit="1"/>
              </p:cNvSpPr>
              <p:nvPr/>
            </p:nvSpPr>
            <p:spPr>
              <a:xfrm>
                <a:off x="5986195" y="6097495"/>
                <a:ext cx="1488493" cy="555537"/>
              </a:xfrm>
              <a:prstGeom prst="rect">
                <a:avLst/>
              </a:prstGeom>
              <a:blipFill>
                <a:blip r:embed="rId12"/>
                <a:stretch>
                  <a:fillRect/>
                </a:stretch>
              </a:blipFill>
            </p:spPr>
            <p:txBody>
              <a:bodyPr/>
              <a:lstStyle/>
              <a:p>
                <a:r>
                  <a:rPr lang="en-GB">
                    <a:noFill/>
                  </a:rPr>
                  <a:t> </a:t>
                </a:r>
              </a:p>
            </p:txBody>
          </p:sp>
        </mc:Fallback>
      </mc:AlternateContent>
      <p:sp>
        <p:nvSpPr>
          <p:cNvPr id="27" name="Arrow: Right 26"/>
          <p:cNvSpPr/>
          <p:nvPr/>
        </p:nvSpPr>
        <p:spPr>
          <a:xfrm>
            <a:off x="5703271" y="6261491"/>
            <a:ext cx="280699" cy="18520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8" name="Arrow: Right 27"/>
          <p:cNvSpPr/>
          <p:nvPr/>
        </p:nvSpPr>
        <p:spPr>
          <a:xfrm>
            <a:off x="7528121" y="6272124"/>
            <a:ext cx="280699" cy="18520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9" name="Rectangle 28"/>
              <p:cNvSpPr/>
              <p:nvPr/>
            </p:nvSpPr>
            <p:spPr>
              <a:xfrm>
                <a:off x="8373685" y="6322864"/>
                <a:ext cx="455830" cy="3990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GB" sz="1200" i="1">
                              <a:latin typeface="Cambria Math" panose="02040503050406030204" pitchFamily="18" charset="0"/>
                            </a:rPr>
                          </m:ctrlPr>
                        </m:dPr>
                        <m:e>
                          <m:m>
                            <m:mPr>
                              <m:plcHide m:val="on"/>
                              <m:mcs>
                                <m:mc>
                                  <m:mcPr>
                                    <m:count m:val="1"/>
                                    <m:mcJc m:val="center"/>
                                  </m:mcPr>
                                </m:mc>
                              </m:mcs>
                              <m:ctrlPr>
                                <a:rPr lang="en-GB" sz="1200" i="1">
                                  <a:latin typeface="Cambria Math" panose="02040503050406030204" pitchFamily="18" charset="0"/>
                                </a:rPr>
                              </m:ctrlPr>
                            </m:mPr>
                            <m:mr>
                              <m:e>
                                <m:r>
                                  <a:rPr lang="en-GB" sz="1200" i="1">
                                    <a:latin typeface="Cambria Math" panose="02040503050406030204" pitchFamily="18" charset="0"/>
                                  </a:rPr>
                                  <m:t>2</m:t>
                                </m:r>
                              </m:e>
                            </m:mr>
                            <m:mr>
                              <m:e>
                                <m:r>
                                  <a:rPr lang="en-GB" sz="1200" i="1">
                                    <a:latin typeface="Cambria Math" panose="02040503050406030204" pitchFamily="18" charset="0"/>
                                  </a:rPr>
                                  <m:t>1</m:t>
                                </m:r>
                              </m:e>
                            </m:mr>
                          </m:m>
                        </m:e>
                      </m:d>
                    </m:oMath>
                  </m:oMathPara>
                </a14:m>
                <a:endParaRPr lang="en-GB" dirty="0"/>
              </a:p>
            </p:txBody>
          </p:sp>
        </mc:Choice>
        <mc:Fallback xmlns="">
          <p:sp>
            <p:nvSpPr>
              <p:cNvPr id="29" name="Rectangle 28"/>
              <p:cNvSpPr>
                <a:spLocks noRot="1" noChangeAspect="1" noMove="1" noResize="1" noEditPoints="1" noAdjustHandles="1" noChangeArrowheads="1" noChangeShapeType="1" noTextEdit="1"/>
              </p:cNvSpPr>
              <p:nvPr/>
            </p:nvSpPr>
            <p:spPr>
              <a:xfrm>
                <a:off x="8373685" y="6322864"/>
                <a:ext cx="455830" cy="399084"/>
              </a:xfrm>
              <a:prstGeom prst="rect">
                <a:avLst/>
              </a:prstGeom>
              <a:blipFill>
                <a:blip r:embed="rId13"/>
                <a:stretch>
                  <a:fillRect b="-1515"/>
                </a:stretch>
              </a:blipFill>
            </p:spPr>
            <p:txBody>
              <a:bodyPr/>
              <a:lstStyle/>
              <a:p>
                <a:r>
                  <a:rPr lang="en-GB">
                    <a:noFill/>
                  </a:rPr>
                  <a:t> </a:t>
                </a:r>
              </a:p>
            </p:txBody>
          </p:sp>
        </mc:Fallback>
      </mc:AlternateContent>
      <p:cxnSp>
        <p:nvCxnSpPr>
          <p:cNvPr id="31" name="Straight Connector 30"/>
          <p:cNvCxnSpPr/>
          <p:nvPr/>
        </p:nvCxnSpPr>
        <p:spPr>
          <a:xfrm>
            <a:off x="8041388" y="6177673"/>
            <a:ext cx="277112" cy="558090"/>
          </a:xfrm>
          <a:prstGeom prst="line">
            <a:avLst/>
          </a:prstGeom>
          <a:ln w="190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2" name="TextBox 31"/>
              <p:cNvSpPr txBox="1"/>
              <p:nvPr/>
            </p:nvSpPr>
            <p:spPr>
              <a:xfrm rot="3786957">
                <a:off x="7651294" y="6348274"/>
                <a:ext cx="837637"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050" b="0" i="1" smtClean="0">
                          <a:latin typeface="Cambria Math" panose="02040503050406030204" pitchFamily="18" charset="0"/>
                        </a:rPr>
                        <m:t>2</m:t>
                      </m:r>
                      <m:r>
                        <a:rPr lang="en-GB" sz="1050" b="0" i="1" smtClean="0">
                          <a:latin typeface="Cambria Math" panose="02040503050406030204" pitchFamily="18" charset="0"/>
                        </a:rPr>
                        <m:t>𝑥</m:t>
                      </m:r>
                      <m:r>
                        <a:rPr lang="en-GB" sz="1050" b="0" i="1" smtClean="0">
                          <a:latin typeface="Cambria Math" panose="02040503050406030204" pitchFamily="18" charset="0"/>
                        </a:rPr>
                        <m:t>+</m:t>
                      </m:r>
                      <m:r>
                        <a:rPr lang="en-GB" sz="1050" b="0" i="1" smtClean="0">
                          <a:latin typeface="Cambria Math" panose="02040503050406030204" pitchFamily="18" charset="0"/>
                        </a:rPr>
                        <m:t>𝑦</m:t>
                      </m:r>
                      <m:r>
                        <a:rPr lang="en-GB" sz="1050" b="0" i="1" smtClean="0">
                          <a:latin typeface="Cambria Math" panose="02040503050406030204" pitchFamily="18" charset="0"/>
                        </a:rPr>
                        <m:t>=4</m:t>
                      </m:r>
                    </m:oMath>
                  </m:oMathPara>
                </a14:m>
                <a:endParaRPr lang="en-GB" sz="1050" dirty="0"/>
              </a:p>
            </p:txBody>
          </p:sp>
        </mc:Choice>
        <mc:Fallback xmlns="">
          <p:sp>
            <p:nvSpPr>
              <p:cNvPr id="32" name="TextBox 31"/>
              <p:cNvSpPr txBox="1">
                <a:spLocks noRot="1" noChangeAspect="1" noMove="1" noResize="1" noEditPoints="1" noAdjustHandles="1" noChangeArrowheads="1" noChangeShapeType="1" noTextEdit="1"/>
              </p:cNvSpPr>
              <p:nvPr/>
            </p:nvSpPr>
            <p:spPr>
              <a:xfrm rot="3786957">
                <a:off x="7651294" y="6348274"/>
                <a:ext cx="837637" cy="261610"/>
              </a:xfrm>
              <a:prstGeom prst="rect">
                <a:avLst/>
              </a:prstGeom>
              <a:blipFill>
                <a:blip r:embed="rId14"/>
                <a:stretch>
                  <a:fillRect/>
                </a:stretch>
              </a:blipFill>
            </p:spPr>
            <p:txBody>
              <a:bodyPr/>
              <a:lstStyle/>
              <a:p>
                <a:r>
                  <a:rPr lang="en-GB">
                    <a:noFill/>
                  </a:rPr>
                  <a:t> </a:t>
                </a:r>
              </a:p>
            </p:txBody>
          </p:sp>
        </mc:Fallback>
      </mc:AlternateContent>
      <p:cxnSp>
        <p:nvCxnSpPr>
          <p:cNvPr id="34" name="Straight Arrow Connector 33"/>
          <p:cNvCxnSpPr/>
          <p:nvPr/>
        </p:nvCxnSpPr>
        <p:spPr>
          <a:xfrm flipV="1">
            <a:off x="8205344" y="6326626"/>
            <a:ext cx="352496" cy="191620"/>
          </a:xfrm>
          <a:prstGeom prst="straightConnector1">
            <a:avLst/>
          </a:prstGeom>
          <a:ln>
            <a:prstDash val="lgDash"/>
            <a:tailEnd type="triangle"/>
          </a:ln>
        </p:spPr>
        <p:style>
          <a:lnRef idx="1">
            <a:schemeClr val="dk1"/>
          </a:lnRef>
          <a:fillRef idx="0">
            <a:schemeClr val="dk1"/>
          </a:fillRef>
          <a:effectRef idx="0">
            <a:schemeClr val="dk1"/>
          </a:effectRef>
          <a:fontRef idx="minor">
            <a:schemeClr val="tx1"/>
          </a:fontRef>
        </p:style>
      </p:cxnSp>
      <p:cxnSp>
        <p:nvCxnSpPr>
          <p:cNvPr id="36" name="Straight Connector 35"/>
          <p:cNvCxnSpPr/>
          <p:nvPr/>
        </p:nvCxnSpPr>
        <p:spPr>
          <a:xfrm flipH="1" flipV="1">
            <a:off x="8265319" y="6372225"/>
            <a:ext cx="46037" cy="91637"/>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39" name="Straight Connector 38"/>
          <p:cNvCxnSpPr/>
          <p:nvPr/>
        </p:nvCxnSpPr>
        <p:spPr>
          <a:xfrm flipH="1">
            <a:off x="8174831" y="6369844"/>
            <a:ext cx="88107" cy="45244"/>
          </a:xfrm>
          <a:prstGeom prst="line">
            <a:avLst/>
          </a:prstGeom>
          <a:ln>
            <a:prstDash val="lg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20434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right)">
                                      <p:cBhvr>
                                        <p:cTn id="15" dur="500"/>
                                        <p:tgtEl>
                                          <p:spTgt spid="10"/>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right)">
                                      <p:cBhvr>
                                        <p:cTn id="30" dur="500"/>
                                        <p:tgtEl>
                                          <p:spTgt spid="15"/>
                                        </p:tgtEl>
                                      </p:cBhvr>
                                    </p:animEffect>
                                  </p:childTnLst>
                                </p:cTn>
                              </p:par>
                            </p:childTnLst>
                          </p:cTn>
                        </p:par>
                        <p:par>
                          <p:cTn id="31" fill="hold">
                            <p:stCondLst>
                              <p:cond delay="500"/>
                            </p:stCondLst>
                            <p:childTnLst>
                              <p:par>
                                <p:cTn id="32" presetID="10" presetClass="entr" presetSubtype="0" fill="hold" grpId="0"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up)">
                                      <p:cBhvr>
                                        <p:cTn id="39" dur="500"/>
                                        <p:tgtEl>
                                          <p:spTgt spid="18"/>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nodePh="1">
                                  <p:stCondLst>
                                    <p:cond delay="0"/>
                                  </p:stCondLst>
                                  <p:endCondLst>
                                    <p:cond evt="begin" delay="0">
                                      <p:tn val="50"/>
                                    </p:cond>
                                  </p:end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childTnLst>
                          </p:cTn>
                        </p:par>
                        <p:par>
                          <p:cTn id="56" fill="hold">
                            <p:stCondLst>
                              <p:cond delay="1000"/>
                            </p:stCondLst>
                            <p:childTnLst>
                              <p:par>
                                <p:cTn id="57" presetID="10" presetClass="entr" presetSubtype="0" fill="hold" grpId="0" nodeType="afterEffect">
                                  <p:stCondLst>
                                    <p:cond delay="75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500"/>
                                        <p:tgtEl>
                                          <p:spTgt spid="25"/>
                                        </p:tgtEl>
                                      </p:cBhvr>
                                    </p:animEffect>
                                  </p:childTnLst>
                                </p:cTn>
                              </p:par>
                              <p:par>
                                <p:cTn id="60" presetID="10" presetClass="entr" presetSubtype="0" fill="hold" grpId="0" nodeType="withEffect">
                                  <p:stCondLst>
                                    <p:cond delay="75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par>
                                <p:cTn id="63" presetID="10" presetClass="entr" presetSubtype="0" fill="hold" grpId="0" nodeType="withEffect">
                                  <p:stCondLst>
                                    <p:cond delay="75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500"/>
                                        <p:tgtEl>
                                          <p:spTgt spid="27"/>
                                        </p:tgtEl>
                                      </p:cBhvr>
                                    </p:animEffect>
                                  </p:childTnLst>
                                </p:cTn>
                              </p:par>
                              <p:par>
                                <p:cTn id="66" presetID="10" presetClass="entr" presetSubtype="0" fill="hold" grpId="0" nodeType="withEffect">
                                  <p:stCondLst>
                                    <p:cond delay="75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500"/>
                                        <p:tgtEl>
                                          <p:spTgt spid="28"/>
                                        </p:tgtEl>
                                      </p:cBhvr>
                                    </p:animEffect>
                                  </p:childTnLst>
                                </p:cTn>
                              </p:par>
                              <p:par>
                                <p:cTn id="69" presetID="10" presetClass="entr" presetSubtype="0" fill="hold" grpId="0" nodeType="withEffect">
                                  <p:stCondLst>
                                    <p:cond delay="75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500"/>
                                        <p:tgtEl>
                                          <p:spTgt spid="29"/>
                                        </p:tgtEl>
                                      </p:cBhvr>
                                    </p:animEffect>
                                  </p:childTnLst>
                                </p:cTn>
                              </p:par>
                              <p:par>
                                <p:cTn id="72" presetID="10" presetClass="entr" presetSubtype="0" fill="hold" nodeType="withEffect">
                                  <p:stCondLst>
                                    <p:cond delay="75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500"/>
                                        <p:tgtEl>
                                          <p:spTgt spid="31"/>
                                        </p:tgtEl>
                                      </p:cBhvr>
                                    </p:animEffect>
                                  </p:childTnLst>
                                </p:cTn>
                              </p:par>
                              <p:par>
                                <p:cTn id="75" presetID="10" presetClass="entr" presetSubtype="0" fill="hold" grpId="0" nodeType="withEffect">
                                  <p:stCondLst>
                                    <p:cond delay="75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500"/>
                                        <p:tgtEl>
                                          <p:spTgt spid="32"/>
                                        </p:tgtEl>
                                      </p:cBhvr>
                                    </p:animEffect>
                                  </p:childTnLst>
                                </p:cTn>
                              </p:par>
                              <p:par>
                                <p:cTn id="78" presetID="10" presetClass="entr" presetSubtype="0" fill="hold" nodeType="withEffect">
                                  <p:stCondLst>
                                    <p:cond delay="750"/>
                                  </p:stCondLst>
                                  <p:childTnLst>
                                    <p:set>
                                      <p:cBhvr>
                                        <p:cTn id="79" dur="1" fill="hold">
                                          <p:stCondLst>
                                            <p:cond delay="0"/>
                                          </p:stCondLst>
                                        </p:cTn>
                                        <p:tgtEl>
                                          <p:spTgt spid="34"/>
                                        </p:tgtEl>
                                        <p:attrNameLst>
                                          <p:attrName>style.visibility</p:attrName>
                                        </p:attrNameLst>
                                      </p:cBhvr>
                                      <p:to>
                                        <p:strVal val="visible"/>
                                      </p:to>
                                    </p:set>
                                    <p:animEffect transition="in" filter="fade">
                                      <p:cBhvr>
                                        <p:cTn id="80" dur="500"/>
                                        <p:tgtEl>
                                          <p:spTgt spid="34"/>
                                        </p:tgtEl>
                                      </p:cBhvr>
                                    </p:animEffect>
                                  </p:childTnLst>
                                </p:cTn>
                              </p:par>
                              <p:par>
                                <p:cTn id="81" presetID="10" presetClass="entr" presetSubtype="0" fill="hold" nodeType="withEffect">
                                  <p:stCondLst>
                                    <p:cond delay="750"/>
                                  </p:stCondLst>
                                  <p:childTnLst>
                                    <p:set>
                                      <p:cBhvr>
                                        <p:cTn id="82" dur="1" fill="hold">
                                          <p:stCondLst>
                                            <p:cond delay="0"/>
                                          </p:stCondLst>
                                        </p:cTn>
                                        <p:tgtEl>
                                          <p:spTgt spid="36"/>
                                        </p:tgtEl>
                                        <p:attrNameLst>
                                          <p:attrName>style.visibility</p:attrName>
                                        </p:attrNameLst>
                                      </p:cBhvr>
                                      <p:to>
                                        <p:strVal val="visible"/>
                                      </p:to>
                                    </p:set>
                                    <p:animEffect transition="in" filter="fade">
                                      <p:cBhvr>
                                        <p:cTn id="83" dur="500"/>
                                        <p:tgtEl>
                                          <p:spTgt spid="36"/>
                                        </p:tgtEl>
                                      </p:cBhvr>
                                    </p:animEffect>
                                  </p:childTnLst>
                                </p:cTn>
                              </p:par>
                              <p:par>
                                <p:cTn id="84" presetID="10" presetClass="entr" presetSubtype="0" fill="hold" nodeType="withEffect">
                                  <p:stCondLst>
                                    <p:cond delay="750"/>
                                  </p:stCondLst>
                                  <p:childTnLst>
                                    <p:set>
                                      <p:cBhvr>
                                        <p:cTn id="85" dur="1" fill="hold">
                                          <p:stCondLst>
                                            <p:cond delay="0"/>
                                          </p:stCondLst>
                                        </p:cTn>
                                        <p:tgtEl>
                                          <p:spTgt spid="39"/>
                                        </p:tgtEl>
                                        <p:attrNameLst>
                                          <p:attrName>style.visibility</p:attrName>
                                        </p:attrNameLst>
                                      </p:cBhvr>
                                      <p:to>
                                        <p:strVal val="visible"/>
                                      </p:to>
                                    </p:set>
                                    <p:animEffect transition="in" filter="fade">
                                      <p:cBhvr>
                                        <p:cTn id="8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5" grpId="0" animBg="1"/>
      <p:bldP spid="10" grpId="0" animBg="1"/>
      <p:bldP spid="8" grpId="0" animBg="1"/>
      <p:bldP spid="9" grpId="0" animBg="1"/>
      <p:bldP spid="11" grpId="0" animBg="1"/>
      <p:bldP spid="14" grpId="0"/>
      <p:bldP spid="16" grpId="0" animBg="1"/>
      <p:bldP spid="17" grpId="0"/>
      <p:bldP spid="18" grpId="0" animBg="1"/>
      <p:bldP spid="19" grpId="0"/>
      <p:bldP spid="20" grpId="0"/>
      <p:bldP spid="25" grpId="0"/>
      <p:bldP spid="26" grpId="0"/>
      <p:bldP spid="27" grpId="0" animBg="1"/>
      <p:bldP spid="28" grpId="0" animBg="1"/>
      <p:bldP spid="29" grpId="0"/>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 </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6" name="TextBox 5"/>
              <p:cNvSpPr txBox="1"/>
              <p:nvPr/>
            </p:nvSpPr>
            <p:spPr>
              <a:xfrm>
                <a:off x="383083" y="939986"/>
                <a:ext cx="8316415" cy="529504"/>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000" dirty="0"/>
                  <a:t>Express </a:t>
                </a:r>
                <a14:m>
                  <m:oMath xmlns:m="http://schemas.openxmlformats.org/officeDocument/2006/math">
                    <m:r>
                      <a:rPr lang="en-GB" sz="2000" b="0" i="1" smtClean="0">
                        <a:latin typeface="Cambria Math" panose="02040503050406030204" pitchFamily="18" charset="0"/>
                      </a:rPr>
                      <m:t>𝑦</m:t>
                    </m:r>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2</m:t>
                        </m:r>
                      </m:num>
                      <m:den>
                        <m:r>
                          <a:rPr lang="en-GB" sz="2000" b="0" i="1" smtClean="0">
                            <a:latin typeface="Cambria Math" panose="02040503050406030204" pitchFamily="18" charset="0"/>
                          </a:rPr>
                          <m:t>5</m:t>
                        </m:r>
                      </m:den>
                    </m:f>
                    <m:r>
                      <a:rPr lang="en-GB" sz="2000" b="0" i="1" smtClean="0">
                        <a:latin typeface="Cambria Math" panose="02040503050406030204" pitchFamily="18" charset="0"/>
                      </a:rPr>
                      <m:t>𝑥</m:t>
                    </m:r>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3</m:t>
                        </m:r>
                      </m:num>
                      <m:den>
                        <m:r>
                          <a:rPr lang="en-GB" sz="2000" b="0" i="1" smtClean="0">
                            <a:latin typeface="Cambria Math" panose="02040503050406030204" pitchFamily="18" charset="0"/>
                          </a:rPr>
                          <m:t>5</m:t>
                        </m:r>
                      </m:den>
                    </m:f>
                  </m:oMath>
                </a14:m>
                <a:r>
                  <a:rPr lang="en-GB" sz="2000" dirty="0"/>
                  <a:t> in the form </a:t>
                </a:r>
                <a14:m>
                  <m:oMath xmlns:m="http://schemas.openxmlformats.org/officeDocument/2006/math">
                    <m:r>
                      <a:rPr lang="en-GB" sz="2000" b="0" i="1" smtClean="0">
                        <a:latin typeface="Cambria Math" panose="02040503050406030204" pitchFamily="18" charset="0"/>
                      </a:rPr>
                      <m:t>𝑎𝑥</m:t>
                    </m:r>
                    <m:r>
                      <a:rPr lang="en-GB" sz="2000" b="0" i="1" smtClean="0">
                        <a:latin typeface="Cambria Math" panose="02040503050406030204" pitchFamily="18" charset="0"/>
                      </a:rPr>
                      <m:t>+</m:t>
                    </m:r>
                    <m:r>
                      <a:rPr lang="en-GB" sz="2000" b="0" i="1" smtClean="0">
                        <a:latin typeface="Cambria Math" panose="02040503050406030204" pitchFamily="18" charset="0"/>
                      </a:rPr>
                      <m:t>𝑏𝑦</m:t>
                    </m:r>
                    <m:r>
                      <a:rPr lang="en-GB" sz="2000" b="0" i="1" smtClean="0">
                        <a:latin typeface="Cambria Math" panose="02040503050406030204" pitchFamily="18" charset="0"/>
                      </a:rPr>
                      <m:t>+</m:t>
                    </m:r>
                    <m:r>
                      <a:rPr lang="en-GB" sz="2000" b="0" i="1" smtClean="0">
                        <a:latin typeface="Cambria Math" panose="02040503050406030204" pitchFamily="18" charset="0"/>
                      </a:rPr>
                      <m:t>𝑐</m:t>
                    </m:r>
                    <m:r>
                      <a:rPr lang="en-GB" sz="2000" b="0" i="1" smtClean="0">
                        <a:latin typeface="Cambria Math" panose="02040503050406030204" pitchFamily="18" charset="0"/>
                      </a:rPr>
                      <m:t>=0</m:t>
                    </m:r>
                  </m:oMath>
                </a14:m>
                <a:r>
                  <a:rPr lang="en-GB" sz="2000" dirty="0"/>
                  <a:t>, where </a:t>
                </a:r>
                <a14:m>
                  <m:oMath xmlns:m="http://schemas.openxmlformats.org/officeDocument/2006/math">
                    <m:r>
                      <a:rPr lang="en-GB" sz="2000" b="0" i="1" smtClean="0">
                        <a:latin typeface="Cambria Math" panose="02040503050406030204" pitchFamily="18" charset="0"/>
                      </a:rPr>
                      <m:t>𝑎</m:t>
                    </m:r>
                    <m:r>
                      <a:rPr lang="en-GB" sz="2000" b="0" i="1" smtClean="0">
                        <a:latin typeface="Cambria Math" panose="02040503050406030204" pitchFamily="18" charset="0"/>
                      </a:rPr>
                      <m:t>,</m:t>
                    </m:r>
                    <m:r>
                      <a:rPr lang="en-GB" sz="2000" b="0" i="1" smtClean="0">
                        <a:latin typeface="Cambria Math" panose="02040503050406030204" pitchFamily="18" charset="0"/>
                      </a:rPr>
                      <m:t>𝑏</m:t>
                    </m:r>
                    <m:r>
                      <a:rPr lang="en-GB" sz="2000" b="0" i="1" smtClean="0">
                        <a:latin typeface="Cambria Math" panose="02040503050406030204" pitchFamily="18" charset="0"/>
                      </a:rPr>
                      <m:t>,</m:t>
                    </m:r>
                    <m:r>
                      <a:rPr lang="en-GB" sz="2000" b="0" i="1" smtClean="0">
                        <a:latin typeface="Cambria Math" panose="02040503050406030204" pitchFamily="18" charset="0"/>
                      </a:rPr>
                      <m:t>𝑐</m:t>
                    </m:r>
                  </m:oMath>
                </a14:m>
                <a:r>
                  <a:rPr lang="en-GB" sz="2000" dirty="0"/>
                  <a:t> are integers.</a:t>
                </a:r>
              </a:p>
            </p:txBody>
          </p:sp>
        </mc:Choice>
        <mc:Fallback xmlns="">
          <p:sp>
            <p:nvSpPr>
              <p:cNvPr id="6" name="TextBox 5"/>
              <p:cNvSpPr txBox="1">
                <a:spLocks noRot="1" noChangeAspect="1" noMove="1" noResize="1" noEditPoints="1" noAdjustHandles="1" noChangeArrowheads="1" noChangeShapeType="1" noTextEdit="1"/>
              </p:cNvSpPr>
              <p:nvPr/>
            </p:nvSpPr>
            <p:spPr>
              <a:xfrm>
                <a:off x="383083" y="939986"/>
                <a:ext cx="8316415" cy="529504"/>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979712" y="1988840"/>
                <a:ext cx="4608512"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5</m:t>
                      </m:r>
                      <m:r>
                        <a:rPr lang="en-GB" sz="2400" b="0" i="1" smtClean="0">
                          <a:latin typeface="Cambria Math" panose="02040503050406030204" pitchFamily="18" charset="0"/>
                        </a:rPr>
                        <m:t>𝑦</m:t>
                      </m:r>
                      <m:r>
                        <a:rPr lang="en-GB" sz="2400" b="0" i="1" smtClean="0">
                          <a:latin typeface="Cambria Math" panose="02040503050406030204" pitchFamily="18" charset="0"/>
                        </a:rPr>
                        <m:t>=2</m:t>
                      </m:r>
                      <m:r>
                        <a:rPr lang="en-GB" sz="2400" b="0" i="1" smtClean="0">
                          <a:latin typeface="Cambria Math" panose="02040503050406030204" pitchFamily="18" charset="0"/>
                        </a:rPr>
                        <m:t>𝑥</m:t>
                      </m:r>
                      <m:r>
                        <a:rPr lang="en-GB" sz="2400" b="0" i="1" smtClean="0">
                          <a:latin typeface="Cambria Math" panose="02040503050406030204" pitchFamily="18" charset="0"/>
                        </a:rPr>
                        <m:t>+3</m:t>
                      </m:r>
                    </m:oMath>
                    <m:oMath xmlns:m="http://schemas.openxmlformats.org/officeDocument/2006/math">
                      <m:r>
                        <a:rPr lang="en-GB" sz="2400" b="0" i="1" smtClean="0">
                          <a:latin typeface="Cambria Math" panose="02040503050406030204" pitchFamily="18" charset="0"/>
                        </a:rPr>
                        <m:t>2</m:t>
                      </m:r>
                      <m:r>
                        <a:rPr lang="en-GB" sz="2400" b="0" i="1" smtClean="0">
                          <a:latin typeface="Cambria Math" panose="02040503050406030204" pitchFamily="18" charset="0"/>
                        </a:rPr>
                        <m:t>𝑥</m:t>
                      </m:r>
                      <m:r>
                        <a:rPr lang="en-GB" sz="2400" b="0" i="1" smtClean="0">
                          <a:latin typeface="Cambria Math" panose="02040503050406030204" pitchFamily="18" charset="0"/>
                        </a:rPr>
                        <m:t>−5</m:t>
                      </m:r>
                      <m:r>
                        <a:rPr lang="en-GB" sz="2400" b="0" i="1" smtClean="0">
                          <a:latin typeface="Cambria Math" panose="02040503050406030204" pitchFamily="18" charset="0"/>
                        </a:rPr>
                        <m:t>𝑦</m:t>
                      </m:r>
                      <m:r>
                        <a:rPr lang="en-GB" sz="2400" b="0" i="1" smtClean="0">
                          <a:latin typeface="Cambria Math" panose="02040503050406030204" pitchFamily="18" charset="0"/>
                        </a:rPr>
                        <m:t>+3=0</m:t>
                      </m:r>
                    </m:oMath>
                  </m:oMathPara>
                </a14:m>
                <a:endParaRPr lang="en-GB"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1979712" y="1988840"/>
                <a:ext cx="4608512" cy="830997"/>
              </a:xfrm>
              <a:prstGeom prst="rect">
                <a:avLst/>
              </a:prstGeom>
              <a:blipFill>
                <a:blip r:embed="rId3"/>
                <a:stretch>
                  <a:fillRect b="-9489"/>
                </a:stretch>
              </a:blipFill>
            </p:spPr>
            <p:txBody>
              <a:bodyPr/>
              <a:lstStyle/>
              <a:p>
                <a:r>
                  <a:rPr lang="en-GB">
                    <a:noFill/>
                  </a:rPr>
                  <a:t> </a:t>
                </a:r>
              </a:p>
            </p:txBody>
          </p:sp>
        </mc:Fallback>
      </mc:AlternateContent>
      <p:sp>
        <p:nvSpPr>
          <p:cNvPr id="8" name="Rectangle 7"/>
          <p:cNvSpPr/>
          <p:nvPr/>
        </p:nvSpPr>
        <p:spPr>
          <a:xfrm>
            <a:off x="2333273" y="1820168"/>
            <a:ext cx="4762208" cy="122413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298530991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5A – Pure Y1 Page 91</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15" name="Picture 14">
            <a:extLst>
              <a:ext uri="{FF2B5EF4-FFF2-40B4-BE49-F238E27FC236}">
                <a16:creationId xmlns:a16="http://schemas.microsoft.com/office/drawing/2014/main" id="{D70487DB-E65F-F494-E151-018EF7ADC6F6}"/>
              </a:ext>
            </a:extLst>
          </p:cNvPr>
          <p:cNvPicPr>
            <a:picLocks noChangeAspect="1"/>
          </p:cNvPicPr>
          <p:nvPr/>
        </p:nvPicPr>
        <p:blipFill>
          <a:blip r:embed="rId2"/>
          <a:stretch>
            <a:fillRect/>
          </a:stretch>
        </p:blipFill>
        <p:spPr>
          <a:xfrm>
            <a:off x="611560" y="1916832"/>
            <a:ext cx="3888432" cy="3566007"/>
          </a:xfrm>
          <a:prstGeom prst="rect">
            <a:avLst/>
          </a:prstGeom>
        </p:spPr>
      </p:pic>
      <p:pic>
        <p:nvPicPr>
          <p:cNvPr id="17" name="Picture 16">
            <a:extLst>
              <a:ext uri="{FF2B5EF4-FFF2-40B4-BE49-F238E27FC236}">
                <a16:creationId xmlns:a16="http://schemas.microsoft.com/office/drawing/2014/main" id="{7881C268-7854-B515-73F3-06DF0BC8F5E9}"/>
              </a:ext>
            </a:extLst>
          </p:cNvPr>
          <p:cNvPicPr>
            <a:picLocks noChangeAspect="1"/>
          </p:cNvPicPr>
          <p:nvPr/>
        </p:nvPicPr>
        <p:blipFill rotWithShape="1">
          <a:blip r:embed="rId3"/>
          <a:srcRect t="7060"/>
          <a:stretch/>
        </p:blipFill>
        <p:spPr>
          <a:xfrm>
            <a:off x="216024" y="787012"/>
            <a:ext cx="4283968" cy="663588"/>
          </a:xfrm>
          <a:prstGeom prst="rect">
            <a:avLst/>
          </a:prstGeom>
        </p:spPr>
      </p:pic>
      <p:pic>
        <p:nvPicPr>
          <p:cNvPr id="21" name="Picture 20">
            <a:extLst>
              <a:ext uri="{FF2B5EF4-FFF2-40B4-BE49-F238E27FC236}">
                <a16:creationId xmlns:a16="http://schemas.microsoft.com/office/drawing/2014/main" id="{B3C771D4-840F-4C88-96F8-9A78345E6677}"/>
              </a:ext>
            </a:extLst>
          </p:cNvPr>
          <p:cNvPicPr>
            <a:picLocks noChangeAspect="1"/>
          </p:cNvPicPr>
          <p:nvPr/>
        </p:nvPicPr>
        <p:blipFill>
          <a:blip r:embed="rId4"/>
          <a:stretch>
            <a:fillRect/>
          </a:stretch>
        </p:blipFill>
        <p:spPr>
          <a:xfrm>
            <a:off x="5103789" y="1553663"/>
            <a:ext cx="3653931" cy="5036070"/>
          </a:xfrm>
          <a:prstGeom prst="rect">
            <a:avLst/>
          </a:prstGeom>
        </p:spPr>
      </p:pic>
      <p:sp>
        <p:nvSpPr>
          <p:cNvPr id="23" name="Rectangle 22">
            <a:extLst>
              <a:ext uri="{FF2B5EF4-FFF2-40B4-BE49-F238E27FC236}">
                <a16:creationId xmlns:a16="http://schemas.microsoft.com/office/drawing/2014/main" id="{AA15D0E1-381D-F519-B135-9D14C0F18CC2}"/>
              </a:ext>
            </a:extLst>
          </p:cNvPr>
          <p:cNvSpPr/>
          <p:nvPr/>
        </p:nvSpPr>
        <p:spPr>
          <a:xfrm>
            <a:off x="4860032" y="1618615"/>
            <a:ext cx="4145931" cy="503607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24" name="Rectangle 23">
            <a:extLst>
              <a:ext uri="{FF2B5EF4-FFF2-40B4-BE49-F238E27FC236}">
                <a16:creationId xmlns:a16="http://schemas.microsoft.com/office/drawing/2014/main" id="{CBAFA0CC-6BD0-7926-1510-B36AD7C16D68}"/>
              </a:ext>
            </a:extLst>
          </p:cNvPr>
          <p:cNvSpPr/>
          <p:nvPr/>
        </p:nvSpPr>
        <p:spPr>
          <a:xfrm>
            <a:off x="216025" y="1618615"/>
            <a:ext cx="4283968" cy="503607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grpSp>
        <p:nvGrpSpPr>
          <p:cNvPr id="26" name="Group 25">
            <a:extLst>
              <a:ext uri="{FF2B5EF4-FFF2-40B4-BE49-F238E27FC236}">
                <a16:creationId xmlns:a16="http://schemas.microsoft.com/office/drawing/2014/main" id="{DB4B131F-4217-C7DD-7548-B0C962879E8E}"/>
              </a:ext>
            </a:extLst>
          </p:cNvPr>
          <p:cNvGrpSpPr/>
          <p:nvPr/>
        </p:nvGrpSpPr>
        <p:grpSpPr>
          <a:xfrm>
            <a:off x="4905262" y="764704"/>
            <a:ext cx="3987218" cy="685896"/>
            <a:chOff x="4905262" y="832541"/>
            <a:chExt cx="3987218" cy="685896"/>
          </a:xfrm>
        </p:grpSpPr>
        <p:pic>
          <p:nvPicPr>
            <p:cNvPr id="19" name="Picture 18">
              <a:extLst>
                <a:ext uri="{FF2B5EF4-FFF2-40B4-BE49-F238E27FC236}">
                  <a16:creationId xmlns:a16="http://schemas.microsoft.com/office/drawing/2014/main" id="{92F62A9E-A128-F13A-81ED-217A3953FF6F}"/>
                </a:ext>
              </a:extLst>
            </p:cNvPr>
            <p:cNvPicPr>
              <a:picLocks noChangeAspect="1"/>
            </p:cNvPicPr>
            <p:nvPr/>
          </p:nvPicPr>
          <p:blipFill>
            <a:blip r:embed="rId5"/>
            <a:stretch>
              <a:fillRect/>
            </a:stretch>
          </p:blipFill>
          <p:spPr>
            <a:xfrm>
              <a:off x="4905262" y="832541"/>
              <a:ext cx="3896269" cy="685896"/>
            </a:xfrm>
            <a:prstGeom prst="rect">
              <a:avLst/>
            </a:prstGeom>
          </p:spPr>
        </p:pic>
        <p:sp>
          <p:nvSpPr>
            <p:cNvPr id="25" name="Rectangle 24">
              <a:extLst>
                <a:ext uri="{FF2B5EF4-FFF2-40B4-BE49-F238E27FC236}">
                  <a16:creationId xmlns:a16="http://schemas.microsoft.com/office/drawing/2014/main" id="{14A96E30-8E5E-A8DB-4ADE-D7B49442E165}"/>
                </a:ext>
              </a:extLst>
            </p:cNvPr>
            <p:cNvSpPr/>
            <p:nvPr/>
          </p:nvSpPr>
          <p:spPr>
            <a:xfrm>
              <a:off x="8316416" y="1124744"/>
              <a:ext cx="576064" cy="36396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46996148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3"/>
                                        </p:tgtEl>
                                      </p:cBhvr>
                                    </p:animEffect>
                                    <p:set>
                                      <p:cBhvr>
                                        <p:cTn id="7"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seq concurrent="1" nextAc="seek">
              <p:cTn id="8" restart="whenNotActive" fill="hold" evtFilter="cancelBubble" nodeType="interactiveSeq">
                <p:stCondLst>
                  <p:cond evt="onClick" delay="0">
                    <p:tgtEl>
                      <p:spTgt spid="2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4"/>
                                        </p:tgtEl>
                                      </p:cBhvr>
                                    </p:animEffect>
                                    <p:set>
                                      <p:cBhvr>
                                        <p:cTn id="13"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childTnLst>
        </p:cTn>
      </p:par>
    </p:tnLst>
    <p:bldLst>
      <p:bldP spid="23" grpId="0" animBg="1"/>
      <p:bldP spid="2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5B – Pure Y1 Page 92-93</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BDD1B2DA-B12E-0FE3-6612-BC9CDE8CDAB5}"/>
              </a:ext>
            </a:extLst>
          </p:cNvPr>
          <p:cNvPicPr>
            <a:picLocks noChangeAspect="1"/>
          </p:cNvPicPr>
          <p:nvPr/>
        </p:nvPicPr>
        <p:blipFill>
          <a:blip r:embed="rId2"/>
          <a:stretch>
            <a:fillRect/>
          </a:stretch>
        </p:blipFill>
        <p:spPr>
          <a:xfrm>
            <a:off x="5962" y="627114"/>
            <a:ext cx="4289331" cy="763133"/>
          </a:xfrm>
          <a:prstGeom prst="rect">
            <a:avLst/>
          </a:prstGeom>
        </p:spPr>
      </p:pic>
      <p:pic>
        <p:nvPicPr>
          <p:cNvPr id="8" name="Picture 7">
            <a:extLst>
              <a:ext uri="{FF2B5EF4-FFF2-40B4-BE49-F238E27FC236}">
                <a16:creationId xmlns:a16="http://schemas.microsoft.com/office/drawing/2014/main" id="{5057E23E-8506-E9D1-700A-6A2B8240BF08}"/>
              </a:ext>
            </a:extLst>
          </p:cNvPr>
          <p:cNvPicPr>
            <a:picLocks noChangeAspect="1"/>
          </p:cNvPicPr>
          <p:nvPr/>
        </p:nvPicPr>
        <p:blipFill>
          <a:blip r:embed="rId3"/>
          <a:stretch>
            <a:fillRect/>
          </a:stretch>
        </p:blipFill>
        <p:spPr>
          <a:xfrm>
            <a:off x="4786839" y="599127"/>
            <a:ext cx="3822948" cy="637158"/>
          </a:xfrm>
          <a:prstGeom prst="rect">
            <a:avLst/>
          </a:prstGeom>
        </p:spPr>
      </p:pic>
      <p:pic>
        <p:nvPicPr>
          <p:cNvPr id="9" name="Picture 8">
            <a:extLst>
              <a:ext uri="{FF2B5EF4-FFF2-40B4-BE49-F238E27FC236}">
                <a16:creationId xmlns:a16="http://schemas.microsoft.com/office/drawing/2014/main" id="{8ADEA9AD-ADDE-9A92-1442-37F48CE4386C}"/>
              </a:ext>
            </a:extLst>
          </p:cNvPr>
          <p:cNvPicPr>
            <a:picLocks noChangeAspect="1"/>
          </p:cNvPicPr>
          <p:nvPr/>
        </p:nvPicPr>
        <p:blipFill>
          <a:blip r:embed="rId4"/>
          <a:stretch>
            <a:fillRect/>
          </a:stretch>
        </p:blipFill>
        <p:spPr>
          <a:xfrm>
            <a:off x="467544" y="1509512"/>
            <a:ext cx="2304256" cy="2516490"/>
          </a:xfrm>
          <a:prstGeom prst="rect">
            <a:avLst/>
          </a:prstGeom>
        </p:spPr>
      </p:pic>
      <p:sp>
        <p:nvSpPr>
          <p:cNvPr id="10" name="Rectangle 9">
            <a:extLst>
              <a:ext uri="{FF2B5EF4-FFF2-40B4-BE49-F238E27FC236}">
                <a16:creationId xmlns:a16="http://schemas.microsoft.com/office/drawing/2014/main" id="{37CF2C1F-1916-5093-A6E7-2066CD21D6FD}"/>
              </a:ext>
            </a:extLst>
          </p:cNvPr>
          <p:cNvSpPr/>
          <p:nvPr/>
        </p:nvSpPr>
        <p:spPr>
          <a:xfrm>
            <a:off x="467544" y="1490242"/>
            <a:ext cx="2947090" cy="129068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 </a:t>
            </a:r>
          </a:p>
        </p:txBody>
      </p:sp>
      <p:sp>
        <p:nvSpPr>
          <p:cNvPr id="11" name="Rectangle 10">
            <a:extLst>
              <a:ext uri="{FF2B5EF4-FFF2-40B4-BE49-F238E27FC236}">
                <a16:creationId xmlns:a16="http://schemas.microsoft.com/office/drawing/2014/main" id="{0E270B40-9572-4CB8-878B-CC10AD11915F}"/>
              </a:ext>
            </a:extLst>
          </p:cNvPr>
          <p:cNvSpPr/>
          <p:nvPr/>
        </p:nvSpPr>
        <p:spPr>
          <a:xfrm>
            <a:off x="467544" y="2767757"/>
            <a:ext cx="2947090" cy="129068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 </a:t>
            </a:r>
          </a:p>
        </p:txBody>
      </p:sp>
      <p:pic>
        <p:nvPicPr>
          <p:cNvPr id="12" name="Picture 11">
            <a:extLst>
              <a:ext uri="{FF2B5EF4-FFF2-40B4-BE49-F238E27FC236}">
                <a16:creationId xmlns:a16="http://schemas.microsoft.com/office/drawing/2014/main" id="{855624B4-BFB5-1A53-D3CD-180971E42CED}"/>
              </a:ext>
            </a:extLst>
          </p:cNvPr>
          <p:cNvPicPr>
            <a:picLocks noChangeAspect="1"/>
          </p:cNvPicPr>
          <p:nvPr/>
        </p:nvPicPr>
        <p:blipFill>
          <a:blip r:embed="rId5"/>
          <a:stretch>
            <a:fillRect/>
          </a:stretch>
        </p:blipFill>
        <p:spPr>
          <a:xfrm>
            <a:off x="5076056" y="1445299"/>
            <a:ext cx="1854200" cy="1447800"/>
          </a:xfrm>
          <a:prstGeom prst="rect">
            <a:avLst/>
          </a:prstGeom>
        </p:spPr>
      </p:pic>
      <p:sp>
        <p:nvSpPr>
          <p:cNvPr id="13" name="Rectangle 12">
            <a:extLst>
              <a:ext uri="{FF2B5EF4-FFF2-40B4-BE49-F238E27FC236}">
                <a16:creationId xmlns:a16="http://schemas.microsoft.com/office/drawing/2014/main" id="{CCA98044-8C92-BB3A-7915-A606DD0E7470}"/>
              </a:ext>
            </a:extLst>
          </p:cNvPr>
          <p:cNvSpPr/>
          <p:nvPr/>
        </p:nvSpPr>
        <p:spPr>
          <a:xfrm>
            <a:off x="4932040" y="1390246"/>
            <a:ext cx="2304256" cy="144779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grpSp>
        <p:nvGrpSpPr>
          <p:cNvPr id="16" name="Group 15">
            <a:extLst>
              <a:ext uri="{FF2B5EF4-FFF2-40B4-BE49-F238E27FC236}">
                <a16:creationId xmlns:a16="http://schemas.microsoft.com/office/drawing/2014/main" id="{C6C269C6-3A7C-D42A-98E0-F6532099D075}"/>
              </a:ext>
            </a:extLst>
          </p:cNvPr>
          <p:cNvGrpSpPr/>
          <p:nvPr/>
        </p:nvGrpSpPr>
        <p:grpSpPr>
          <a:xfrm>
            <a:off x="282096" y="4221088"/>
            <a:ext cx="4289332" cy="864096"/>
            <a:chOff x="282096" y="4221088"/>
            <a:chExt cx="4289332" cy="864096"/>
          </a:xfrm>
        </p:grpSpPr>
        <p:pic>
          <p:nvPicPr>
            <p:cNvPr id="14" name="Picture 13">
              <a:extLst>
                <a:ext uri="{FF2B5EF4-FFF2-40B4-BE49-F238E27FC236}">
                  <a16:creationId xmlns:a16="http://schemas.microsoft.com/office/drawing/2014/main" id="{C628B34D-7891-E9B7-F9FB-255DD764F5CA}"/>
                </a:ext>
              </a:extLst>
            </p:cNvPr>
            <p:cNvPicPr>
              <a:picLocks noChangeAspect="1"/>
            </p:cNvPicPr>
            <p:nvPr/>
          </p:nvPicPr>
          <p:blipFill>
            <a:blip r:embed="rId6"/>
            <a:stretch>
              <a:fillRect/>
            </a:stretch>
          </p:blipFill>
          <p:spPr>
            <a:xfrm>
              <a:off x="282096" y="4221088"/>
              <a:ext cx="4289332" cy="822721"/>
            </a:xfrm>
            <a:prstGeom prst="rect">
              <a:avLst/>
            </a:prstGeom>
          </p:spPr>
        </p:pic>
        <p:sp>
          <p:nvSpPr>
            <p:cNvPr id="15" name="Rectangle 14">
              <a:extLst>
                <a:ext uri="{FF2B5EF4-FFF2-40B4-BE49-F238E27FC236}">
                  <a16:creationId xmlns:a16="http://schemas.microsoft.com/office/drawing/2014/main" id="{B44DFC17-654E-E2A4-A0B4-23FF4338F1DC}"/>
                </a:ext>
              </a:extLst>
            </p:cNvPr>
            <p:cNvSpPr/>
            <p:nvPr/>
          </p:nvSpPr>
          <p:spPr>
            <a:xfrm>
              <a:off x="3707904" y="4653136"/>
              <a:ext cx="863524" cy="4320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7" name="Picture 16">
            <a:extLst>
              <a:ext uri="{FF2B5EF4-FFF2-40B4-BE49-F238E27FC236}">
                <a16:creationId xmlns:a16="http://schemas.microsoft.com/office/drawing/2014/main" id="{4A5DD8AF-D03F-6EF5-345D-73EB8FAF996E}"/>
              </a:ext>
            </a:extLst>
          </p:cNvPr>
          <p:cNvPicPr>
            <a:picLocks noChangeAspect="1"/>
          </p:cNvPicPr>
          <p:nvPr/>
        </p:nvPicPr>
        <p:blipFill>
          <a:blip r:embed="rId7"/>
          <a:stretch>
            <a:fillRect/>
          </a:stretch>
        </p:blipFill>
        <p:spPr>
          <a:xfrm>
            <a:off x="480934" y="5071958"/>
            <a:ext cx="2933700" cy="1727200"/>
          </a:xfrm>
          <a:prstGeom prst="rect">
            <a:avLst/>
          </a:prstGeom>
        </p:spPr>
      </p:pic>
      <p:sp>
        <p:nvSpPr>
          <p:cNvPr id="18" name="Rectangle 17">
            <a:extLst>
              <a:ext uri="{FF2B5EF4-FFF2-40B4-BE49-F238E27FC236}">
                <a16:creationId xmlns:a16="http://schemas.microsoft.com/office/drawing/2014/main" id="{236A4D4E-2CFF-7015-7191-DBD06C2685AC}"/>
              </a:ext>
            </a:extLst>
          </p:cNvPr>
          <p:cNvSpPr/>
          <p:nvPr/>
        </p:nvSpPr>
        <p:spPr>
          <a:xfrm>
            <a:off x="467544" y="5063357"/>
            <a:ext cx="2947090" cy="173580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49768299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4" restart="whenNotActive" fill="hold" evtFilter="cancelBubble" nodeType="interactiveSeq">
                <p:stCondLst>
                  <p:cond evt="onClick" delay="0">
                    <p:tgtEl>
                      <p:spTgt spid="13"/>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3"/>
                                        </p:tgtEl>
                                      </p:cBhvr>
                                    </p:animEffect>
                                    <p:set>
                                      <p:cBhvr>
                                        <p:cTn id="19"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20" restart="whenNotActive" fill="hold" evtFilter="cancelBubble" nodeType="interactiveSeq">
                <p:stCondLst>
                  <p:cond evt="onClick" delay="0">
                    <p:tgtEl>
                      <p:spTgt spid="18"/>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8"/>
                                        </p:tgtEl>
                                      </p:cBhvr>
                                    </p:animEffect>
                                    <p:set>
                                      <p:cBhvr>
                                        <p:cTn id="25"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childTnLst>
        </p:cTn>
      </p:par>
    </p:tnLst>
    <p:bldLst>
      <p:bldP spid="10" grpId="0" animBg="1"/>
      <p:bldP spid="11" grpId="0" animBg="1"/>
      <p:bldP spid="13" grpId="0" animBg="1"/>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5B – Pure Y1 Page 92-93</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20C97F4D-8F4B-9DC5-B723-3A85F6DB1F72}"/>
              </a:ext>
            </a:extLst>
          </p:cNvPr>
          <p:cNvPicPr>
            <a:picLocks noChangeAspect="1"/>
          </p:cNvPicPr>
          <p:nvPr/>
        </p:nvPicPr>
        <p:blipFill>
          <a:blip r:embed="rId2"/>
          <a:stretch>
            <a:fillRect/>
          </a:stretch>
        </p:blipFill>
        <p:spPr>
          <a:xfrm>
            <a:off x="147978" y="613064"/>
            <a:ext cx="7772400" cy="636236"/>
          </a:xfrm>
          <a:prstGeom prst="rect">
            <a:avLst/>
          </a:prstGeom>
        </p:spPr>
      </p:pic>
      <p:pic>
        <p:nvPicPr>
          <p:cNvPr id="20" name="Picture 19">
            <a:extLst>
              <a:ext uri="{FF2B5EF4-FFF2-40B4-BE49-F238E27FC236}">
                <a16:creationId xmlns:a16="http://schemas.microsoft.com/office/drawing/2014/main" id="{B4BBB547-D892-1624-52F1-7DA7AA52B7DE}"/>
              </a:ext>
            </a:extLst>
          </p:cNvPr>
          <p:cNvPicPr>
            <a:picLocks noChangeAspect="1"/>
          </p:cNvPicPr>
          <p:nvPr/>
        </p:nvPicPr>
        <p:blipFill>
          <a:blip r:embed="rId3"/>
          <a:stretch>
            <a:fillRect/>
          </a:stretch>
        </p:blipFill>
        <p:spPr>
          <a:xfrm>
            <a:off x="395536" y="1340768"/>
            <a:ext cx="2480643" cy="1811948"/>
          </a:xfrm>
          <a:prstGeom prst="rect">
            <a:avLst/>
          </a:prstGeom>
        </p:spPr>
      </p:pic>
      <p:pic>
        <p:nvPicPr>
          <p:cNvPr id="21" name="Picture 20">
            <a:extLst>
              <a:ext uri="{FF2B5EF4-FFF2-40B4-BE49-F238E27FC236}">
                <a16:creationId xmlns:a16="http://schemas.microsoft.com/office/drawing/2014/main" id="{4EAE9566-F96D-7B37-C1C0-5A82BA985643}"/>
              </a:ext>
            </a:extLst>
          </p:cNvPr>
          <p:cNvPicPr>
            <a:picLocks noChangeAspect="1"/>
          </p:cNvPicPr>
          <p:nvPr/>
        </p:nvPicPr>
        <p:blipFill>
          <a:blip r:embed="rId4"/>
          <a:stretch>
            <a:fillRect/>
          </a:stretch>
        </p:blipFill>
        <p:spPr>
          <a:xfrm>
            <a:off x="4571428" y="1390530"/>
            <a:ext cx="2637647" cy="1811949"/>
          </a:xfrm>
          <a:prstGeom prst="rect">
            <a:avLst/>
          </a:prstGeom>
        </p:spPr>
      </p:pic>
      <p:cxnSp>
        <p:nvCxnSpPr>
          <p:cNvPr id="23" name="Straight Connector 22">
            <a:extLst>
              <a:ext uri="{FF2B5EF4-FFF2-40B4-BE49-F238E27FC236}">
                <a16:creationId xmlns:a16="http://schemas.microsoft.com/office/drawing/2014/main" id="{C1225977-1466-26DA-3467-F6C02F18D383}"/>
              </a:ext>
            </a:extLst>
          </p:cNvPr>
          <p:cNvCxnSpPr/>
          <p:nvPr/>
        </p:nvCxnSpPr>
        <p:spPr>
          <a:xfrm>
            <a:off x="3851920" y="1365649"/>
            <a:ext cx="0" cy="1762186"/>
          </a:xfrm>
          <a:prstGeom prst="line">
            <a:avLst/>
          </a:prstGeom>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AF732187-2C5D-64FB-5D83-E2464AB6CEFC}"/>
              </a:ext>
            </a:extLst>
          </p:cNvPr>
          <p:cNvPicPr>
            <a:picLocks noChangeAspect="1"/>
          </p:cNvPicPr>
          <p:nvPr/>
        </p:nvPicPr>
        <p:blipFill>
          <a:blip r:embed="rId5"/>
          <a:stretch>
            <a:fillRect/>
          </a:stretch>
        </p:blipFill>
        <p:spPr>
          <a:xfrm>
            <a:off x="558430" y="4940713"/>
            <a:ext cx="3454400" cy="1308100"/>
          </a:xfrm>
          <a:prstGeom prst="rect">
            <a:avLst/>
          </a:prstGeom>
        </p:spPr>
      </p:pic>
      <p:pic>
        <p:nvPicPr>
          <p:cNvPr id="25" name="Picture 24">
            <a:extLst>
              <a:ext uri="{FF2B5EF4-FFF2-40B4-BE49-F238E27FC236}">
                <a16:creationId xmlns:a16="http://schemas.microsoft.com/office/drawing/2014/main" id="{75B56524-13DC-9016-6077-C864BE697182}"/>
              </a:ext>
            </a:extLst>
          </p:cNvPr>
          <p:cNvPicPr>
            <a:picLocks noChangeAspect="1"/>
          </p:cNvPicPr>
          <p:nvPr/>
        </p:nvPicPr>
        <p:blipFill>
          <a:blip r:embed="rId6"/>
          <a:stretch>
            <a:fillRect/>
          </a:stretch>
        </p:blipFill>
        <p:spPr>
          <a:xfrm>
            <a:off x="4389137" y="4940713"/>
            <a:ext cx="3517900" cy="1460500"/>
          </a:xfrm>
          <a:prstGeom prst="rect">
            <a:avLst/>
          </a:prstGeom>
        </p:spPr>
      </p:pic>
      <p:sp>
        <p:nvSpPr>
          <p:cNvPr id="26" name="Rectangle 25">
            <a:extLst>
              <a:ext uri="{FF2B5EF4-FFF2-40B4-BE49-F238E27FC236}">
                <a16:creationId xmlns:a16="http://schemas.microsoft.com/office/drawing/2014/main" id="{13040B23-E194-1D3B-F624-51A61BE0F483}"/>
              </a:ext>
            </a:extLst>
          </p:cNvPr>
          <p:cNvSpPr/>
          <p:nvPr/>
        </p:nvSpPr>
        <p:spPr>
          <a:xfrm>
            <a:off x="460275" y="1314773"/>
            <a:ext cx="7425642" cy="191400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27" name="Rectangle 26">
            <a:extLst>
              <a:ext uri="{FF2B5EF4-FFF2-40B4-BE49-F238E27FC236}">
                <a16:creationId xmlns:a16="http://schemas.microsoft.com/office/drawing/2014/main" id="{502A0800-9A53-E29F-20AC-CB78B9E3B61E}"/>
              </a:ext>
            </a:extLst>
          </p:cNvPr>
          <p:cNvSpPr/>
          <p:nvPr/>
        </p:nvSpPr>
        <p:spPr>
          <a:xfrm>
            <a:off x="460275" y="4915475"/>
            <a:ext cx="3517900" cy="146049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 </a:t>
            </a:r>
          </a:p>
        </p:txBody>
      </p:sp>
      <p:sp>
        <p:nvSpPr>
          <p:cNvPr id="28" name="Rectangle 27">
            <a:extLst>
              <a:ext uri="{FF2B5EF4-FFF2-40B4-BE49-F238E27FC236}">
                <a16:creationId xmlns:a16="http://schemas.microsoft.com/office/drawing/2014/main" id="{330F78D3-8039-3DE3-D787-869170224444}"/>
              </a:ext>
            </a:extLst>
          </p:cNvPr>
          <p:cNvSpPr/>
          <p:nvPr/>
        </p:nvSpPr>
        <p:spPr>
          <a:xfrm>
            <a:off x="4371700" y="4915474"/>
            <a:ext cx="3517900" cy="146049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 </a:t>
            </a:r>
          </a:p>
        </p:txBody>
      </p:sp>
      <p:grpSp>
        <p:nvGrpSpPr>
          <p:cNvPr id="30" name="Group 29">
            <a:extLst>
              <a:ext uri="{FF2B5EF4-FFF2-40B4-BE49-F238E27FC236}">
                <a16:creationId xmlns:a16="http://schemas.microsoft.com/office/drawing/2014/main" id="{073B0594-9B72-73BD-EAC8-1C54B4B0D54F}"/>
              </a:ext>
            </a:extLst>
          </p:cNvPr>
          <p:cNvGrpSpPr/>
          <p:nvPr/>
        </p:nvGrpSpPr>
        <p:grpSpPr>
          <a:xfrm>
            <a:off x="147978" y="3415055"/>
            <a:ext cx="8024422" cy="1238081"/>
            <a:chOff x="147978" y="3415055"/>
            <a:chExt cx="8024422" cy="1238081"/>
          </a:xfrm>
        </p:grpSpPr>
        <p:pic>
          <p:nvPicPr>
            <p:cNvPr id="19" name="Picture 18">
              <a:extLst>
                <a:ext uri="{FF2B5EF4-FFF2-40B4-BE49-F238E27FC236}">
                  <a16:creationId xmlns:a16="http://schemas.microsoft.com/office/drawing/2014/main" id="{2B1224DC-B3C2-1547-8BFA-16E94A9E5661}"/>
                </a:ext>
              </a:extLst>
            </p:cNvPr>
            <p:cNvPicPr>
              <a:picLocks noChangeAspect="1"/>
            </p:cNvPicPr>
            <p:nvPr/>
          </p:nvPicPr>
          <p:blipFill>
            <a:blip r:embed="rId7"/>
            <a:stretch>
              <a:fillRect/>
            </a:stretch>
          </p:blipFill>
          <p:spPr>
            <a:xfrm>
              <a:off x="147978" y="3415055"/>
              <a:ext cx="7772400" cy="1238081"/>
            </a:xfrm>
            <a:prstGeom prst="rect">
              <a:avLst/>
            </a:prstGeom>
          </p:spPr>
        </p:pic>
        <p:sp>
          <p:nvSpPr>
            <p:cNvPr id="29" name="Rectangle 28">
              <a:extLst>
                <a:ext uri="{FF2B5EF4-FFF2-40B4-BE49-F238E27FC236}">
                  <a16:creationId xmlns:a16="http://schemas.microsoft.com/office/drawing/2014/main" id="{43A354F8-5305-33B3-EBAB-145AC856F4BD}"/>
                </a:ext>
              </a:extLst>
            </p:cNvPr>
            <p:cNvSpPr/>
            <p:nvPr/>
          </p:nvSpPr>
          <p:spPr>
            <a:xfrm>
              <a:off x="7740352" y="4221088"/>
              <a:ext cx="432048" cy="4320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56559785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6"/>
                                        </p:tgtEl>
                                      </p:cBhvr>
                                    </p:animEffect>
                                    <p:set>
                                      <p:cBhvr>
                                        <p:cTn id="7" dur="1" fill="hold">
                                          <p:stCondLst>
                                            <p:cond delay="499"/>
                                          </p:stCondLst>
                                        </p:cTn>
                                        <p:tgtEl>
                                          <p:spTgt spid="26"/>
                                        </p:tgtEl>
                                        <p:attrNameLst>
                                          <p:attrName>style.visibility</p:attrName>
                                        </p:attrNameLst>
                                      </p:cBhvr>
                                      <p:to>
                                        <p:strVal val="hidden"/>
                                      </p:to>
                                    </p:set>
                                  </p:childTnLst>
                                </p:cTn>
                              </p:par>
                            </p:childTnLst>
                          </p:cTn>
                        </p:par>
                      </p:childTnLst>
                    </p:cTn>
                  </p:par>
                </p:childTnLst>
              </p:cTn>
              <p:nextCondLst>
                <p:cond evt="onClick" delay="0">
                  <p:tgtEl>
                    <p:spTgt spid="26"/>
                  </p:tgtEl>
                </p:cond>
              </p:nextCondLst>
            </p:seq>
            <p:seq concurrent="1" nextAc="seek">
              <p:cTn id="8" restart="whenNotActive" fill="hold" evtFilter="cancelBubble" nodeType="interactiveSeq">
                <p:stCondLst>
                  <p:cond evt="onClick" delay="0">
                    <p:tgtEl>
                      <p:spTgt spid="2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7"/>
                                        </p:tgtEl>
                                      </p:cBhvr>
                                    </p:animEffect>
                                    <p:set>
                                      <p:cBhvr>
                                        <p:cTn id="13" dur="1" fill="hold">
                                          <p:stCondLst>
                                            <p:cond delay="499"/>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27"/>
                  </p:tgtEl>
                </p:cond>
              </p:nextCondLst>
            </p:seq>
            <p:seq concurrent="1" nextAc="seek">
              <p:cTn id="14" restart="whenNotActive" fill="hold" evtFilter="cancelBubble" nodeType="interactiveSeq">
                <p:stCondLst>
                  <p:cond evt="onClick" delay="0">
                    <p:tgtEl>
                      <p:spTgt spid="28"/>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8"/>
                                        </p:tgtEl>
                                      </p:cBhvr>
                                    </p:animEffect>
                                    <p:set>
                                      <p:cBhvr>
                                        <p:cTn id="19" dur="1" fill="hold">
                                          <p:stCondLst>
                                            <p:cond delay="4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28"/>
                  </p:tgtEl>
                </p:cond>
              </p:nextCondLst>
            </p:seq>
          </p:childTnLst>
        </p:cTn>
      </p:par>
    </p:tnLst>
    <p:bldLst>
      <p:bldP spid="26" grpId="0" animBg="1"/>
      <p:bldP spid="27" grpId="0" animBg="1"/>
      <p:bldP spid="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Equations using two points/point + gradient</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383083" y="939986"/>
                <a:ext cx="8316415"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000" dirty="0"/>
                  <a:t>Find the equation of the line that goes through </a:t>
                </a:r>
                <a14:m>
                  <m:oMath xmlns:m="http://schemas.openxmlformats.org/officeDocument/2006/math">
                    <m:d>
                      <m:dPr>
                        <m:ctrlPr>
                          <a:rPr lang="en-GB" sz="2000" b="0" i="1" smtClean="0">
                            <a:latin typeface="Cambria Math" panose="02040503050406030204" pitchFamily="18" charset="0"/>
                          </a:rPr>
                        </m:ctrlPr>
                      </m:dPr>
                      <m:e>
                        <m:r>
                          <a:rPr lang="en-GB" sz="2000" b="0" i="1" smtClean="0">
                            <a:latin typeface="Cambria Math" panose="02040503050406030204" pitchFamily="18" charset="0"/>
                          </a:rPr>
                          <m:t>3,5</m:t>
                        </m:r>
                      </m:e>
                    </m:d>
                  </m:oMath>
                </a14:m>
                <a:r>
                  <a:rPr lang="en-GB" sz="2000" dirty="0"/>
                  <a:t> and has gradient 2.</a:t>
                </a:r>
              </a:p>
            </p:txBody>
          </p:sp>
        </mc:Choice>
        <mc:Fallback xmlns="">
          <p:sp>
            <p:nvSpPr>
              <p:cNvPr id="5" name="TextBox 4"/>
              <p:cNvSpPr txBox="1">
                <a:spLocks noRot="1" noChangeAspect="1" noMove="1" noResize="1" noEditPoints="1" noAdjustHandles="1" noChangeArrowheads="1" noChangeShapeType="1" noTextEdit="1"/>
              </p:cNvSpPr>
              <p:nvPr/>
            </p:nvSpPr>
            <p:spPr>
              <a:xfrm>
                <a:off x="383083" y="939986"/>
                <a:ext cx="8316415" cy="400110"/>
              </a:xfrm>
              <a:prstGeom prst="rect">
                <a:avLst/>
              </a:prstGeom>
              <a:blipFill>
                <a:blip r:embed="rId2"/>
                <a:stretch>
                  <a:fillRect b="-5556"/>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6" name="TextBox 5"/>
          <p:cNvSpPr txBox="1"/>
          <p:nvPr/>
        </p:nvSpPr>
        <p:spPr>
          <a:xfrm>
            <a:off x="383083" y="1628800"/>
            <a:ext cx="6349157" cy="461665"/>
          </a:xfrm>
          <a:prstGeom prst="rect">
            <a:avLst/>
          </a:prstGeom>
          <a:noFill/>
        </p:spPr>
        <p:txBody>
          <a:bodyPr wrap="square" rtlCol="0">
            <a:spAutoFit/>
          </a:bodyPr>
          <a:lstStyle/>
          <a:p>
            <a:r>
              <a:rPr lang="en-GB" sz="2400" dirty="0"/>
              <a:t>How would you have done this at </a:t>
            </a:r>
            <a:r>
              <a:rPr lang="en-GB" sz="2400" b="1" u="sng" dirty="0"/>
              <a:t>GCSE</a:t>
            </a:r>
            <a:r>
              <a:rPr lang="en-GB" sz="2400" dirty="0"/>
              <a:t>?</a:t>
            </a:r>
          </a:p>
        </p:txBody>
      </p:sp>
      <mc:AlternateContent xmlns:mc="http://schemas.openxmlformats.org/markup-compatibility/2006" xmlns:a14="http://schemas.microsoft.com/office/drawing/2010/main">
        <mc:Choice Requires="a14">
          <p:sp>
            <p:nvSpPr>
              <p:cNvPr id="7" name="TextBox 6"/>
              <p:cNvSpPr txBox="1"/>
              <p:nvPr/>
            </p:nvSpPr>
            <p:spPr>
              <a:xfrm>
                <a:off x="887499" y="2636912"/>
                <a:ext cx="7367858" cy="2677656"/>
              </a:xfrm>
              <a:prstGeom prst="rect">
                <a:avLst/>
              </a:prstGeom>
              <a:noFill/>
            </p:spPr>
            <p:txBody>
              <a:bodyPr wrap="square" rtlCol="0">
                <a:spAutoFit/>
              </a:bodyPr>
              <a:lstStyle/>
              <a:p>
                <a:r>
                  <a:rPr lang="en-GB" sz="2400" b="1" dirty="0"/>
                  <a:t>If gradient is 2, then equation of the line is of the form:</a:t>
                </a:r>
              </a:p>
              <a:p>
                <a:pPr/>
                <a14:m>
                  <m:oMathPara xmlns:m="http://schemas.openxmlformats.org/officeDocument/2006/math">
                    <m:oMathParaPr>
                      <m:jc m:val="centerGroup"/>
                    </m:oMathParaPr>
                    <m:oMath xmlns:m="http://schemas.openxmlformats.org/officeDocument/2006/math">
                      <m:r>
                        <a:rPr lang="en-GB" sz="2400" b="1" i="1" smtClean="0">
                          <a:latin typeface="Cambria Math" panose="02040503050406030204" pitchFamily="18" charset="0"/>
                        </a:rPr>
                        <m:t>𝒚</m:t>
                      </m:r>
                      <m:r>
                        <a:rPr lang="en-GB" sz="2400" b="1" i="1" smtClean="0">
                          <a:latin typeface="Cambria Math" panose="02040503050406030204" pitchFamily="18" charset="0"/>
                        </a:rPr>
                        <m:t>=</m:t>
                      </m:r>
                      <m:r>
                        <a:rPr lang="en-GB" sz="2400" b="1" i="1" smtClean="0">
                          <a:latin typeface="Cambria Math" panose="02040503050406030204" pitchFamily="18" charset="0"/>
                        </a:rPr>
                        <m:t>𝟐</m:t>
                      </m:r>
                      <m:r>
                        <a:rPr lang="en-GB" sz="2400" b="1" i="1" smtClean="0">
                          <a:latin typeface="Cambria Math" panose="02040503050406030204" pitchFamily="18" charset="0"/>
                        </a:rPr>
                        <m:t>𝒙</m:t>
                      </m:r>
                      <m:r>
                        <a:rPr lang="en-GB" sz="2400" b="1" i="1" smtClean="0">
                          <a:latin typeface="Cambria Math" panose="02040503050406030204" pitchFamily="18" charset="0"/>
                        </a:rPr>
                        <m:t>+</m:t>
                      </m:r>
                      <m:r>
                        <a:rPr lang="en-GB" sz="2400" b="1" i="1" smtClean="0">
                          <a:latin typeface="Cambria Math" panose="02040503050406030204" pitchFamily="18" charset="0"/>
                        </a:rPr>
                        <m:t>𝒄</m:t>
                      </m:r>
                    </m:oMath>
                  </m:oMathPara>
                </a14:m>
                <a:endParaRPr lang="en-GB" sz="2400" b="1" dirty="0"/>
              </a:p>
              <a:p>
                <a:r>
                  <a:rPr lang="en-GB" sz="2400" b="1" dirty="0"/>
                  <a:t>Since </a:t>
                </a:r>
                <a14:m>
                  <m:oMath xmlns:m="http://schemas.openxmlformats.org/officeDocument/2006/math">
                    <m:d>
                      <m:dPr>
                        <m:ctrlPr>
                          <a:rPr lang="en-GB" sz="2400" b="1" i="1" smtClean="0">
                            <a:latin typeface="Cambria Math" panose="02040503050406030204" pitchFamily="18" charset="0"/>
                          </a:rPr>
                        </m:ctrlPr>
                      </m:dPr>
                      <m:e>
                        <m:r>
                          <a:rPr lang="en-GB" sz="2400" b="1" i="1" smtClean="0">
                            <a:latin typeface="Cambria Math" panose="02040503050406030204" pitchFamily="18" charset="0"/>
                          </a:rPr>
                          <m:t>𝟑</m:t>
                        </m:r>
                        <m:r>
                          <a:rPr lang="en-GB" sz="2400" b="1" i="1" smtClean="0">
                            <a:latin typeface="Cambria Math" panose="02040503050406030204" pitchFamily="18" charset="0"/>
                          </a:rPr>
                          <m:t>,</m:t>
                        </m:r>
                        <m:r>
                          <a:rPr lang="en-GB" sz="2400" b="1" i="1" smtClean="0">
                            <a:latin typeface="Cambria Math" panose="02040503050406030204" pitchFamily="18" charset="0"/>
                          </a:rPr>
                          <m:t>𝟓</m:t>
                        </m:r>
                      </m:e>
                    </m:d>
                  </m:oMath>
                </a14:m>
                <a:r>
                  <a:rPr lang="en-GB" sz="2400" b="1" dirty="0"/>
                  <a:t> is on the line, it must satisfy this equation. Therefore:</a:t>
                </a:r>
              </a:p>
              <a:p>
                <a:pPr/>
                <a14:m>
                  <m:oMathPara xmlns:m="http://schemas.openxmlformats.org/officeDocument/2006/math">
                    <m:oMathParaPr>
                      <m:jc m:val="centerGroup"/>
                    </m:oMathParaPr>
                    <m:oMath xmlns:m="http://schemas.openxmlformats.org/officeDocument/2006/math">
                      <m:r>
                        <a:rPr lang="en-GB" sz="2400" b="1" i="1" smtClean="0">
                          <a:latin typeface="Cambria Math" panose="02040503050406030204" pitchFamily="18" charset="0"/>
                        </a:rPr>
                        <m:t>𝟓</m:t>
                      </m:r>
                      <m:r>
                        <a:rPr lang="en-GB" sz="2400" b="1" i="1" smtClean="0">
                          <a:latin typeface="Cambria Math" panose="02040503050406030204" pitchFamily="18" charset="0"/>
                        </a:rPr>
                        <m:t>=</m:t>
                      </m:r>
                      <m:r>
                        <a:rPr lang="en-GB" sz="2400" b="1" i="1" smtClean="0">
                          <a:latin typeface="Cambria Math" panose="02040503050406030204" pitchFamily="18" charset="0"/>
                        </a:rPr>
                        <m:t>𝟐</m:t>
                      </m:r>
                      <m:d>
                        <m:dPr>
                          <m:ctrlPr>
                            <a:rPr lang="en-GB" sz="2400" b="1" i="1" smtClean="0">
                              <a:latin typeface="Cambria Math" panose="02040503050406030204" pitchFamily="18" charset="0"/>
                            </a:rPr>
                          </m:ctrlPr>
                        </m:dPr>
                        <m:e>
                          <m:r>
                            <a:rPr lang="en-GB" sz="2400" b="1" i="1" smtClean="0">
                              <a:latin typeface="Cambria Math" panose="02040503050406030204" pitchFamily="18" charset="0"/>
                            </a:rPr>
                            <m:t>𝟑</m:t>
                          </m:r>
                        </m:e>
                      </m:d>
                      <m:r>
                        <a:rPr lang="en-GB" sz="2400" b="1" i="1" smtClean="0">
                          <a:latin typeface="Cambria Math" panose="02040503050406030204" pitchFamily="18" charset="0"/>
                        </a:rPr>
                        <m:t>+</m:t>
                      </m:r>
                      <m:r>
                        <a:rPr lang="en-GB" sz="2400" b="1" i="1" smtClean="0">
                          <a:latin typeface="Cambria Math" panose="02040503050406030204" pitchFamily="18" charset="0"/>
                        </a:rPr>
                        <m:t>𝒄</m:t>
                      </m:r>
                    </m:oMath>
                    <m:oMath xmlns:m="http://schemas.openxmlformats.org/officeDocument/2006/math">
                      <m:r>
                        <a:rPr lang="en-GB" sz="2400" b="1" i="1" smtClean="0">
                          <a:latin typeface="Cambria Math" panose="02040503050406030204" pitchFamily="18" charset="0"/>
                        </a:rPr>
                        <m:t>𝒄</m:t>
                      </m:r>
                      <m:r>
                        <a:rPr lang="en-GB" sz="2400" b="1" i="1" smtClean="0">
                          <a:latin typeface="Cambria Math" panose="02040503050406030204" pitchFamily="18" charset="0"/>
                        </a:rPr>
                        <m:t>=−</m:t>
                      </m:r>
                      <m:r>
                        <a:rPr lang="en-GB" sz="2400" b="1" i="1" smtClean="0">
                          <a:latin typeface="Cambria Math" panose="02040503050406030204" pitchFamily="18" charset="0"/>
                        </a:rPr>
                        <m:t>𝟏</m:t>
                      </m:r>
                    </m:oMath>
                    <m:oMath xmlns:m="http://schemas.openxmlformats.org/officeDocument/2006/math">
                      <m:r>
                        <a:rPr lang="en-GB" sz="2400" b="1" i="1" smtClean="0">
                          <a:latin typeface="Cambria Math" panose="02040503050406030204" pitchFamily="18" charset="0"/>
                        </a:rPr>
                        <m:t>∴</m:t>
                      </m:r>
                      <m:r>
                        <a:rPr lang="en-GB" sz="2400" b="1" i="1" smtClean="0">
                          <a:latin typeface="Cambria Math" panose="02040503050406030204" pitchFamily="18" charset="0"/>
                        </a:rPr>
                        <m:t>𝒚</m:t>
                      </m:r>
                      <m:r>
                        <a:rPr lang="en-GB" sz="2400" b="1" i="1" smtClean="0">
                          <a:latin typeface="Cambria Math" panose="02040503050406030204" pitchFamily="18" charset="0"/>
                        </a:rPr>
                        <m:t>=</m:t>
                      </m:r>
                      <m:r>
                        <a:rPr lang="en-GB" sz="2400" b="1" i="1" smtClean="0">
                          <a:latin typeface="Cambria Math" panose="02040503050406030204" pitchFamily="18" charset="0"/>
                        </a:rPr>
                        <m:t>𝟐</m:t>
                      </m:r>
                      <m:r>
                        <a:rPr lang="en-GB" sz="2400" b="1" i="1" smtClean="0">
                          <a:latin typeface="Cambria Math" panose="02040503050406030204" pitchFamily="18" charset="0"/>
                        </a:rPr>
                        <m:t>𝒙</m:t>
                      </m:r>
                      <m:r>
                        <a:rPr lang="en-GB" sz="2400" b="1" i="1" smtClean="0">
                          <a:latin typeface="Cambria Math" panose="02040503050406030204" pitchFamily="18" charset="0"/>
                        </a:rPr>
                        <m:t>−</m:t>
                      </m:r>
                      <m:r>
                        <a:rPr lang="en-GB" sz="2400" b="1" i="1" smtClean="0">
                          <a:latin typeface="Cambria Math" panose="02040503050406030204" pitchFamily="18" charset="0"/>
                        </a:rPr>
                        <m:t>𝟏</m:t>
                      </m:r>
                    </m:oMath>
                  </m:oMathPara>
                </a14:m>
                <a:endParaRPr lang="en-GB" sz="2400" b="1" dirty="0"/>
              </a:p>
            </p:txBody>
          </p:sp>
        </mc:Choice>
        <mc:Fallback xmlns="">
          <p:sp>
            <p:nvSpPr>
              <p:cNvPr id="7" name="TextBox 6"/>
              <p:cNvSpPr txBox="1">
                <a:spLocks noRot="1" noChangeAspect="1" noMove="1" noResize="1" noEditPoints="1" noAdjustHandles="1" noChangeArrowheads="1" noChangeShapeType="1" noTextEdit="1"/>
              </p:cNvSpPr>
              <p:nvPr/>
            </p:nvSpPr>
            <p:spPr>
              <a:xfrm>
                <a:off x="887499" y="2636912"/>
                <a:ext cx="7367858" cy="2677656"/>
              </a:xfrm>
              <a:prstGeom prst="rect">
                <a:avLst/>
              </a:prstGeom>
              <a:blipFill>
                <a:blip r:embed="rId3"/>
                <a:stretch>
                  <a:fillRect l="-1325" t="-1822" b="-1139"/>
                </a:stretch>
              </a:blipFill>
            </p:spPr>
            <p:txBody>
              <a:bodyPr/>
              <a:lstStyle/>
              <a:p>
                <a:r>
                  <a:rPr lang="en-GB">
                    <a:noFill/>
                  </a:rPr>
                  <a:t> </a:t>
                </a:r>
              </a:p>
            </p:txBody>
          </p:sp>
        </mc:Fallback>
      </mc:AlternateContent>
      <p:sp>
        <p:nvSpPr>
          <p:cNvPr id="8" name="Rectangle 7"/>
          <p:cNvSpPr/>
          <p:nvPr/>
        </p:nvSpPr>
        <p:spPr>
          <a:xfrm>
            <a:off x="694973" y="2531368"/>
            <a:ext cx="7560384" cy="312988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360039384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A new way…</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6" name="Straight Arrow Connector 5"/>
          <p:cNvCxnSpPr/>
          <p:nvPr/>
        </p:nvCxnSpPr>
        <p:spPr>
          <a:xfrm flipV="1">
            <a:off x="984300" y="1078012"/>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984300" y="2950220"/>
            <a:ext cx="26642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3572396" y="2747020"/>
                <a:ext cx="41934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𝑥</m:t>
                      </m:r>
                    </m:oMath>
                  </m:oMathPara>
                </a14:m>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3572396" y="2747020"/>
                <a:ext cx="419348" cy="369332"/>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774626" y="742647"/>
                <a:ext cx="41934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oMath>
                  </m:oMathPara>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774626" y="742647"/>
                <a:ext cx="419348" cy="369332"/>
              </a:xfrm>
              <a:prstGeom prst="rect">
                <a:avLst/>
              </a:prstGeom>
              <a:blipFill>
                <a:blip r:embed="rId3"/>
                <a:stretch>
                  <a:fillRect b="-6667"/>
                </a:stretch>
              </a:blipFill>
            </p:spPr>
            <p:txBody>
              <a:bodyPr/>
              <a:lstStyle/>
              <a:p>
                <a:r>
                  <a:rPr lang="en-GB">
                    <a:noFill/>
                  </a:rPr>
                  <a:t> </a:t>
                </a:r>
              </a:p>
            </p:txBody>
          </p:sp>
        </mc:Fallback>
      </mc:AlternateContent>
      <p:cxnSp>
        <p:nvCxnSpPr>
          <p:cNvPr id="13" name="Straight Connector 12"/>
          <p:cNvCxnSpPr/>
          <p:nvPr/>
        </p:nvCxnSpPr>
        <p:spPr>
          <a:xfrm flipV="1">
            <a:off x="984300" y="1255499"/>
            <a:ext cx="2219548" cy="949365"/>
          </a:xfrm>
          <a:prstGeom prst="line">
            <a:avLst/>
          </a:prstGeom>
          <a:ln w="19050"/>
        </p:spPr>
        <p:style>
          <a:lnRef idx="1">
            <a:schemeClr val="dk1"/>
          </a:lnRef>
          <a:fillRef idx="0">
            <a:schemeClr val="dk1"/>
          </a:fillRef>
          <a:effectRef idx="0">
            <a:schemeClr val="dk1"/>
          </a:effectRef>
          <a:fontRef idx="minor">
            <a:schemeClr val="tx1"/>
          </a:fontRef>
        </p:style>
      </p:cxnSp>
      <p:sp>
        <p:nvSpPr>
          <p:cNvPr id="16" name="Oval 15"/>
          <p:cNvSpPr/>
          <p:nvPr/>
        </p:nvSpPr>
        <p:spPr>
          <a:xfrm>
            <a:off x="1339231" y="1959347"/>
            <a:ext cx="122857" cy="12900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7" name="Oval 16"/>
          <p:cNvSpPr/>
          <p:nvPr/>
        </p:nvSpPr>
        <p:spPr>
          <a:xfrm>
            <a:off x="2689126" y="1365151"/>
            <a:ext cx="122857" cy="12900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18" name="TextBox 17"/>
              <p:cNvSpPr txBox="1"/>
              <p:nvPr/>
            </p:nvSpPr>
            <p:spPr>
              <a:xfrm>
                <a:off x="1445171" y="1959347"/>
                <a:ext cx="5040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m:t>
                              </m:r>
                            </m:sub>
                          </m:sSub>
                        </m:e>
                      </m:d>
                    </m:oMath>
                  </m:oMathPara>
                </a14:m>
                <a:endParaRPr lang="en-GB" dirty="0"/>
              </a:p>
            </p:txBody>
          </p:sp>
        </mc:Choice>
        <mc:Fallback xmlns="">
          <p:sp>
            <p:nvSpPr>
              <p:cNvPr id="18" name="TextBox 17"/>
              <p:cNvSpPr txBox="1">
                <a:spLocks noRot="1" noChangeAspect="1" noMove="1" noResize="1" noEditPoints="1" noAdjustHandles="1" noChangeArrowheads="1" noChangeShapeType="1" noTextEdit="1"/>
              </p:cNvSpPr>
              <p:nvPr/>
            </p:nvSpPr>
            <p:spPr>
              <a:xfrm>
                <a:off x="1445171" y="1959347"/>
                <a:ext cx="504056" cy="369332"/>
              </a:xfrm>
              <a:prstGeom prst="rect">
                <a:avLst/>
              </a:prstGeom>
              <a:blipFill>
                <a:blip r:embed="rId4"/>
                <a:stretch>
                  <a:fillRect r="-57831"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2748297" y="1460229"/>
                <a:ext cx="5040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𝑦</m:t>
                          </m:r>
                        </m:e>
                      </m:d>
                    </m:oMath>
                  </m:oMathPara>
                </a14:m>
                <a:endParaRPr lang="en-GB" dirty="0"/>
              </a:p>
            </p:txBody>
          </p:sp>
        </mc:Choice>
        <mc:Fallback xmlns="">
          <p:sp>
            <p:nvSpPr>
              <p:cNvPr id="19" name="TextBox 18"/>
              <p:cNvSpPr txBox="1">
                <a:spLocks noRot="1" noChangeAspect="1" noMove="1" noResize="1" noEditPoints="1" noAdjustHandles="1" noChangeArrowheads="1" noChangeShapeType="1" noTextEdit="1"/>
              </p:cNvSpPr>
              <p:nvPr/>
            </p:nvSpPr>
            <p:spPr>
              <a:xfrm>
                <a:off x="2748297" y="1460229"/>
                <a:ext cx="504056" cy="369332"/>
              </a:xfrm>
              <a:prstGeom prst="rect">
                <a:avLst/>
              </a:prstGeom>
              <a:blipFill>
                <a:blip r:embed="rId5"/>
                <a:stretch>
                  <a:fillRect r="-21687" b="-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4283968" y="927313"/>
                <a:ext cx="4176464" cy="3104953"/>
              </a:xfrm>
              <a:prstGeom prst="rect">
                <a:avLst/>
              </a:prstGeom>
              <a:noFill/>
            </p:spPr>
            <p:txBody>
              <a:bodyPr wrap="square" rtlCol="0">
                <a:spAutoFit/>
              </a:bodyPr>
              <a:lstStyle/>
              <a:p>
                <a:r>
                  <a:rPr lang="en-GB" dirty="0"/>
                  <a:t>Suppose that </a:t>
                </a:r>
                <a14:m>
                  <m:oMath xmlns:m="http://schemas.openxmlformats.org/officeDocument/2006/math">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m:t>
                            </m:r>
                          </m:sub>
                        </m:sSub>
                      </m:e>
                    </m:d>
                  </m:oMath>
                </a14:m>
                <a:r>
                  <a:rPr lang="en-GB" dirty="0"/>
                  <a:t> is some fixed point on the line that we specify (e.g. </a:t>
                </a:r>
                <a14:m>
                  <m:oMath xmlns:m="http://schemas.openxmlformats.org/officeDocument/2006/math">
                    <m:r>
                      <a:rPr lang="en-GB" i="1" dirty="0" smtClean="0">
                        <a:latin typeface="Cambria Math" panose="02040503050406030204" pitchFamily="18" charset="0"/>
                      </a:rPr>
                      <m:t>(3,5)</m:t>
                    </m:r>
                  </m:oMath>
                </a14:m>
                <a:r>
                  <a:rPr lang="en-GB" dirty="0"/>
                  <a:t>).</a:t>
                </a:r>
              </a:p>
              <a:p>
                <a:r>
                  <a:rPr lang="en-GB" dirty="0"/>
                  <a:t>Suppose that </a:t>
                </a:r>
                <a14:m>
                  <m:oMath xmlns:m="http://schemas.openxmlformats.org/officeDocument/2006/math">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𝑦</m:t>
                    </m:r>
                    <m:r>
                      <a:rPr lang="en-GB" b="0" i="1" smtClean="0">
                        <a:latin typeface="Cambria Math" panose="02040503050406030204" pitchFamily="18" charset="0"/>
                      </a:rPr>
                      <m:t>)</m:t>
                    </m:r>
                  </m:oMath>
                </a14:m>
                <a:r>
                  <a:rPr lang="en-GB" dirty="0"/>
                  <a:t> represents a generic point on the line, which is allowed to change as we consider different points on this line.</a:t>
                </a:r>
              </a:p>
              <a:p>
                <a:r>
                  <a:rPr lang="en-GB" dirty="0"/>
                  <a:t>Then:</a:t>
                </a:r>
              </a:p>
              <a:p>
                <a:endParaRPr lang="en-GB" dirty="0"/>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𝑚</m:t>
                      </m:r>
                      <m:r>
                        <a:rPr lang="en-GB" b="0" i="1" smtClean="0">
                          <a:latin typeface="Cambria Math" panose="02040503050406030204" pitchFamily="18" charset="0"/>
                        </a:rPr>
                        <m:t>=</m:t>
                      </m:r>
                      <m:f>
                        <m:fPr>
                          <m:ctrlPr>
                            <a:rPr lang="en-GB" i="1" smtClean="0">
                              <a:latin typeface="Cambria Math" panose="02040503050406030204" pitchFamily="18" charset="0"/>
                            </a:rPr>
                          </m:ctrlPr>
                        </m:fPr>
                        <m:num>
                          <m:r>
                            <a:rPr lang="en-GB" b="0" i="1" smtClean="0">
                              <a:latin typeface="Cambria Math" panose="02040503050406030204" pitchFamily="18" charset="0"/>
                            </a:rPr>
                            <m:t>𝑦</m:t>
                          </m:r>
                          <m:r>
                            <a:rPr lang="en-GB" b="0" i="1" smtClean="0">
                              <a:latin typeface="Cambria Math" panose="02040503050406030204" pitchFamily="18" charset="0"/>
                            </a:rPr>
                            <m:t>−</m:t>
                          </m:r>
                          <m:sSub>
                            <m:sSubPr>
                              <m:ctrlPr>
                                <a:rPr lang="en-GB"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m:t>
                              </m:r>
                            </m:sub>
                          </m:sSub>
                        </m:num>
                        <m:den>
                          <m:r>
                            <a:rPr lang="en-GB" b="0" i="1" smtClean="0">
                              <a:latin typeface="Cambria Math" panose="02040503050406030204" pitchFamily="18" charset="0"/>
                            </a:rPr>
                            <m:t>𝑥</m:t>
                          </m:r>
                          <m:r>
                            <a:rPr lang="en-GB" b="0" i="1" smtClean="0">
                              <a:latin typeface="Cambria Math" panose="02040503050406030204" pitchFamily="18" charset="0"/>
                            </a:rPr>
                            <m:t>−</m:t>
                          </m:r>
                          <m:sSub>
                            <m:sSubPr>
                              <m:ctrlPr>
                                <a:rPr lang="en-GB"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den>
                      </m:f>
                    </m:oMath>
                  </m:oMathPara>
                </a14:m>
                <a:br>
                  <a:rPr lang="en-GB" b="0" dirty="0"/>
                </a:br>
                <a:endParaRPr lang="en-GB" b="0" dirty="0"/>
              </a:p>
              <a:p>
                <a:r>
                  <a:rPr lang="en-GB" dirty="0"/>
                  <a:t>Thus:</a:t>
                </a:r>
              </a:p>
            </p:txBody>
          </p:sp>
        </mc:Choice>
        <mc:Fallback xmlns="">
          <p:sp>
            <p:nvSpPr>
              <p:cNvPr id="20" name="TextBox 19"/>
              <p:cNvSpPr txBox="1">
                <a:spLocks noRot="1" noChangeAspect="1" noMove="1" noResize="1" noEditPoints="1" noAdjustHandles="1" noChangeArrowheads="1" noChangeShapeType="1" noTextEdit="1"/>
              </p:cNvSpPr>
              <p:nvPr/>
            </p:nvSpPr>
            <p:spPr>
              <a:xfrm>
                <a:off x="4283968" y="927313"/>
                <a:ext cx="4176464" cy="3104953"/>
              </a:xfrm>
              <a:prstGeom prst="rect">
                <a:avLst/>
              </a:prstGeom>
              <a:blipFill>
                <a:blip r:embed="rId6"/>
                <a:stretch>
                  <a:fillRect l="-1314" t="-982" b="-235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4499992" y="4077072"/>
                <a:ext cx="4176464" cy="92333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latin typeface="Wingdings" panose="05000000000000000000" pitchFamily="2" charset="2"/>
                  </a:rPr>
                  <a:t>!</a:t>
                </a:r>
                <a:r>
                  <a:rPr lang="en-GB" dirty="0">
                    <a:latin typeface="+mj-lt"/>
                  </a:rPr>
                  <a:t> The equation of a line that has gradient </a:t>
                </a:r>
                <a14:m>
                  <m:oMath xmlns:m="http://schemas.openxmlformats.org/officeDocument/2006/math">
                    <m:r>
                      <a:rPr lang="en-GB" b="0" i="1" smtClean="0">
                        <a:latin typeface="Cambria Math" panose="02040503050406030204" pitchFamily="18" charset="0"/>
                      </a:rPr>
                      <m:t>𝑚</m:t>
                    </m:r>
                  </m:oMath>
                </a14:m>
                <a:r>
                  <a:rPr lang="en-GB" b="0" dirty="0">
                    <a:latin typeface="+mj-lt"/>
                  </a:rPr>
                  <a:t> and passes through a point </a:t>
                </a:r>
                <a14:m>
                  <m:oMath xmlns:m="http://schemas.openxmlformats.org/officeDocument/2006/math">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m:t>
                            </m:r>
                          </m:sub>
                        </m:sSub>
                      </m:e>
                    </m:d>
                  </m:oMath>
                </a14:m>
                <a:r>
                  <a:rPr lang="en-GB" b="0" dirty="0">
                    <a:latin typeface="+mj-lt"/>
                  </a:rPr>
                  <a:t> is:</a:t>
                </a: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m:t>
                          </m:r>
                        </m:sub>
                      </m:sSub>
                      <m:r>
                        <a:rPr lang="en-GB" b="0" i="1" smtClean="0">
                          <a:latin typeface="Cambria Math" panose="02040503050406030204" pitchFamily="18" charset="0"/>
                        </a:rPr>
                        <m:t>=</m:t>
                      </m:r>
                      <m:r>
                        <a:rPr lang="en-GB" b="0" i="1" smtClean="0">
                          <a:latin typeface="Cambria Math" panose="02040503050406030204" pitchFamily="18" charset="0"/>
                        </a:rPr>
                        <m:t>𝑚</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e>
                      </m:d>
                    </m:oMath>
                  </m:oMathPara>
                </a14:m>
                <a:endParaRPr lang="en-GB" dirty="0"/>
              </a:p>
            </p:txBody>
          </p:sp>
        </mc:Choice>
        <mc:Fallback xmlns="">
          <p:sp>
            <p:nvSpPr>
              <p:cNvPr id="21" name="TextBox 20"/>
              <p:cNvSpPr txBox="1">
                <a:spLocks noRot="1" noChangeAspect="1" noMove="1" noResize="1" noEditPoints="1" noAdjustHandles="1" noChangeArrowheads="1" noChangeShapeType="1" noTextEdit="1"/>
              </p:cNvSpPr>
              <p:nvPr/>
            </p:nvSpPr>
            <p:spPr>
              <a:xfrm>
                <a:off x="4499992" y="4077072"/>
                <a:ext cx="4176464" cy="923330"/>
              </a:xfrm>
              <a:prstGeom prst="rect">
                <a:avLst/>
              </a:prstGeom>
              <a:blipFill>
                <a:blip r:embed="rId7"/>
                <a:stretch>
                  <a:fillRect l="-871" t="-3226" r="-1161" b="-64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215793" y="2973567"/>
                <a:ext cx="3308176" cy="954107"/>
              </a:xfrm>
              <a:prstGeom prst="rect">
                <a:avLst/>
              </a:prstGeom>
              <a:noFill/>
            </p:spPr>
            <p:txBody>
              <a:bodyPr wrap="square" rtlCol="0">
                <a:spAutoFit/>
              </a:bodyPr>
              <a:lstStyle/>
              <a:p>
                <a:r>
                  <a:rPr lang="en-GB" sz="1400" b="1" dirty="0"/>
                  <a:t>Notes</a:t>
                </a:r>
                <a:r>
                  <a:rPr lang="en-GB" sz="1400" dirty="0"/>
                  <a:t>: Note that </a:t>
                </a:r>
                <a14:m>
                  <m:oMath xmlns:m="http://schemas.openxmlformats.org/officeDocument/2006/math">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𝑥</m:t>
                        </m:r>
                      </m:e>
                      <m:sub>
                        <m:r>
                          <a:rPr lang="en-GB" sz="1400" b="0" i="1" smtClean="0">
                            <a:latin typeface="Cambria Math" panose="02040503050406030204" pitchFamily="18" charset="0"/>
                          </a:rPr>
                          <m:t>1</m:t>
                        </m:r>
                      </m:sub>
                    </m:sSub>
                  </m:oMath>
                </a14:m>
                <a:r>
                  <a:rPr lang="en-GB" sz="1400" dirty="0"/>
                  <a:t> and </a:t>
                </a:r>
                <a14:m>
                  <m:oMath xmlns:m="http://schemas.openxmlformats.org/officeDocument/2006/math">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𝑦</m:t>
                        </m:r>
                      </m:e>
                      <m:sub>
                        <m:r>
                          <a:rPr lang="en-GB" sz="1400" b="0" i="1" smtClean="0">
                            <a:latin typeface="Cambria Math" panose="02040503050406030204" pitchFamily="18" charset="0"/>
                          </a:rPr>
                          <m:t>1</m:t>
                        </m:r>
                      </m:sub>
                    </m:sSub>
                  </m:oMath>
                </a14:m>
                <a:r>
                  <a:rPr lang="en-GB" sz="1400" dirty="0"/>
                  <a:t> are </a:t>
                </a:r>
                <a:r>
                  <a:rPr lang="en-GB" sz="1400" u="sng" dirty="0"/>
                  <a:t>constants</a:t>
                </a:r>
                <a:r>
                  <a:rPr lang="en-GB" sz="1400" dirty="0"/>
                  <a:t> while </a:t>
                </a:r>
                <a14:m>
                  <m:oMath xmlns:m="http://schemas.openxmlformats.org/officeDocument/2006/math">
                    <m:r>
                      <a:rPr lang="en-GB" sz="1400" b="0" i="1" smtClean="0">
                        <a:latin typeface="Cambria Math" panose="02040503050406030204" pitchFamily="18" charset="0"/>
                      </a:rPr>
                      <m:t>𝑥</m:t>
                    </m:r>
                  </m:oMath>
                </a14:m>
                <a:r>
                  <a:rPr lang="en-GB" sz="1400" dirty="0"/>
                  <a:t> and </a:t>
                </a:r>
                <a14:m>
                  <m:oMath xmlns:m="http://schemas.openxmlformats.org/officeDocument/2006/math">
                    <m:r>
                      <a:rPr lang="en-GB" sz="1400" b="0" i="1" smtClean="0">
                        <a:latin typeface="Cambria Math" panose="02040503050406030204" pitchFamily="18" charset="0"/>
                      </a:rPr>
                      <m:t>𝑦</m:t>
                    </m:r>
                  </m:oMath>
                </a14:m>
                <a:r>
                  <a:rPr lang="en-GB" sz="1400" dirty="0"/>
                  <a:t> are </a:t>
                </a:r>
                <a:r>
                  <a:rPr lang="en-GB" sz="1400" u="sng" dirty="0"/>
                  <a:t>variables</a:t>
                </a:r>
                <a:r>
                  <a:rPr lang="en-GB" sz="1400" dirty="0"/>
                  <a:t>. The latter are variables because as these ‘vary’, we get different points on the line.</a:t>
                </a:r>
              </a:p>
            </p:txBody>
          </p:sp>
        </mc:Choice>
        <mc:Fallback xmlns="">
          <p:sp>
            <p:nvSpPr>
              <p:cNvPr id="22" name="TextBox 21"/>
              <p:cNvSpPr txBox="1">
                <a:spLocks noRot="1" noChangeAspect="1" noMove="1" noResize="1" noEditPoints="1" noAdjustHandles="1" noChangeArrowheads="1" noChangeShapeType="1" noTextEdit="1"/>
              </p:cNvSpPr>
              <p:nvPr/>
            </p:nvSpPr>
            <p:spPr>
              <a:xfrm>
                <a:off x="215793" y="2973567"/>
                <a:ext cx="3308176" cy="954107"/>
              </a:xfrm>
              <a:prstGeom prst="rect">
                <a:avLst/>
              </a:prstGeom>
              <a:blipFill>
                <a:blip r:embed="rId8"/>
                <a:stretch>
                  <a:fillRect l="-552" t="-1282" b="-576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539552" y="5521033"/>
                <a:ext cx="8316415"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000" dirty="0"/>
                  <a:t>Find the equation of the line that goes through </a:t>
                </a:r>
                <a14:m>
                  <m:oMath xmlns:m="http://schemas.openxmlformats.org/officeDocument/2006/math">
                    <m:d>
                      <m:dPr>
                        <m:ctrlPr>
                          <a:rPr lang="en-GB" sz="2000" b="0" i="1" smtClean="0">
                            <a:latin typeface="Cambria Math" panose="02040503050406030204" pitchFamily="18" charset="0"/>
                          </a:rPr>
                        </m:ctrlPr>
                      </m:dPr>
                      <m:e>
                        <m:r>
                          <a:rPr lang="en-GB" sz="2000" b="0" i="1" smtClean="0">
                            <a:latin typeface="Cambria Math" panose="02040503050406030204" pitchFamily="18" charset="0"/>
                          </a:rPr>
                          <m:t>3,5</m:t>
                        </m:r>
                      </m:e>
                    </m:d>
                  </m:oMath>
                </a14:m>
                <a:r>
                  <a:rPr lang="en-GB" sz="2000" dirty="0"/>
                  <a:t> and has gradient 2.</a:t>
                </a:r>
              </a:p>
            </p:txBody>
          </p:sp>
        </mc:Choice>
        <mc:Fallback xmlns="">
          <p:sp>
            <p:nvSpPr>
              <p:cNvPr id="23" name="TextBox 22"/>
              <p:cNvSpPr txBox="1">
                <a:spLocks noRot="1" noChangeAspect="1" noMove="1" noResize="1" noEditPoints="1" noAdjustHandles="1" noChangeArrowheads="1" noChangeShapeType="1" noTextEdit="1"/>
              </p:cNvSpPr>
              <p:nvPr/>
            </p:nvSpPr>
            <p:spPr>
              <a:xfrm>
                <a:off x="539552" y="5521033"/>
                <a:ext cx="8316415" cy="400110"/>
              </a:xfrm>
              <a:prstGeom prst="rect">
                <a:avLst/>
              </a:prstGeom>
              <a:blipFill>
                <a:blip r:embed="rId9"/>
                <a:stretch>
                  <a:fillRect b="-6742"/>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24" name="TextBox 23"/>
          <p:cNvSpPr txBox="1"/>
          <p:nvPr/>
        </p:nvSpPr>
        <p:spPr>
          <a:xfrm>
            <a:off x="584502" y="5130010"/>
            <a:ext cx="1648335" cy="369332"/>
          </a:xfrm>
          <a:prstGeom prst="rect">
            <a:avLst/>
          </a:prstGeom>
          <a:noFill/>
        </p:spPr>
        <p:txBody>
          <a:bodyPr wrap="square" rtlCol="0">
            <a:spAutoFit/>
          </a:bodyPr>
          <a:lstStyle/>
          <a:p>
            <a:r>
              <a:rPr lang="en-GB" dirty="0"/>
              <a:t>Let’s revisit:</a:t>
            </a:r>
          </a:p>
        </p:txBody>
      </p:sp>
      <mc:AlternateContent xmlns:mc="http://schemas.openxmlformats.org/markup-compatibility/2006" xmlns:a14="http://schemas.microsoft.com/office/drawing/2010/main">
        <mc:Choice Requires="a14">
          <p:sp>
            <p:nvSpPr>
              <p:cNvPr id="25" name="TextBox 24"/>
              <p:cNvSpPr txBox="1"/>
              <p:nvPr/>
            </p:nvSpPr>
            <p:spPr>
              <a:xfrm>
                <a:off x="3184122" y="6023253"/>
                <a:ext cx="204804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−5=2</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−3</m:t>
                          </m:r>
                        </m:e>
                      </m:d>
                    </m:oMath>
                  </m:oMathPara>
                </a14:m>
                <a:endParaRPr lang="en-GB" dirty="0"/>
              </a:p>
            </p:txBody>
          </p:sp>
        </mc:Choice>
        <mc:Fallback xmlns="">
          <p:sp>
            <p:nvSpPr>
              <p:cNvPr id="25" name="TextBox 24"/>
              <p:cNvSpPr txBox="1">
                <a:spLocks noRot="1" noChangeAspect="1" noMove="1" noResize="1" noEditPoints="1" noAdjustHandles="1" noChangeArrowheads="1" noChangeShapeType="1" noTextEdit="1"/>
              </p:cNvSpPr>
              <p:nvPr/>
            </p:nvSpPr>
            <p:spPr>
              <a:xfrm>
                <a:off x="3184122" y="6023253"/>
                <a:ext cx="2048049" cy="369332"/>
              </a:xfrm>
              <a:prstGeom prst="rect">
                <a:avLst/>
              </a:prstGeom>
              <a:blipFill>
                <a:blip r:embed="rId10"/>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5296404" y="5963370"/>
                <a:ext cx="2858767" cy="830997"/>
              </a:xfrm>
              <a:prstGeom prst="rect">
                <a:avLst/>
              </a:prstGeom>
              <a:noFill/>
            </p:spPr>
            <p:txBody>
              <a:bodyPr wrap="square" rtlCol="0">
                <a:spAutoFit/>
              </a:bodyPr>
              <a:lstStyle/>
              <a:p>
                <a:r>
                  <a:rPr lang="en-GB" sz="1200" dirty="0"/>
                  <a:t>No manipulation required! Just plug in numbers and we’re done.</a:t>
                </a:r>
              </a:p>
              <a:p>
                <a:r>
                  <a:rPr lang="en-GB" sz="1200" dirty="0"/>
                  <a:t>Again, note that </a:t>
                </a:r>
                <a14:m>
                  <m:oMath xmlns:m="http://schemas.openxmlformats.org/officeDocument/2006/math">
                    <m:r>
                      <a:rPr lang="en-GB" sz="1200" b="0" i="1" smtClean="0">
                        <a:latin typeface="Cambria Math" panose="02040503050406030204" pitchFamily="18" charset="0"/>
                      </a:rPr>
                      <m:t>𝑥</m:t>
                    </m:r>
                  </m:oMath>
                </a14:m>
                <a:r>
                  <a:rPr lang="en-GB" sz="1200" dirty="0"/>
                  <a:t> and </a:t>
                </a:r>
                <a14:m>
                  <m:oMath xmlns:m="http://schemas.openxmlformats.org/officeDocument/2006/math">
                    <m:r>
                      <a:rPr lang="en-GB" sz="1200" b="0" i="1" dirty="0" smtClean="0">
                        <a:latin typeface="Cambria Math" panose="02040503050406030204" pitchFamily="18" charset="0"/>
                      </a:rPr>
                      <m:t>𝑦</m:t>
                    </m:r>
                  </m:oMath>
                </a14:m>
                <a:r>
                  <a:rPr lang="en-GB" sz="1200" dirty="0"/>
                  <a:t> are variables so need to remain as such.</a:t>
                </a:r>
              </a:p>
            </p:txBody>
          </p:sp>
        </mc:Choice>
        <mc:Fallback xmlns="">
          <p:sp>
            <p:nvSpPr>
              <p:cNvPr id="26" name="TextBox 25"/>
              <p:cNvSpPr txBox="1">
                <a:spLocks noRot="1" noChangeAspect="1" noMove="1" noResize="1" noEditPoints="1" noAdjustHandles="1" noChangeArrowheads="1" noChangeShapeType="1" noTextEdit="1"/>
              </p:cNvSpPr>
              <p:nvPr/>
            </p:nvSpPr>
            <p:spPr>
              <a:xfrm>
                <a:off x="5296404" y="5963370"/>
                <a:ext cx="2858767" cy="830997"/>
              </a:xfrm>
              <a:prstGeom prst="rect">
                <a:avLst/>
              </a:prstGeom>
              <a:blipFill>
                <a:blip r:embed="rId11"/>
                <a:stretch>
                  <a:fillRect l="-213" b="-4380"/>
                </a:stretch>
              </a:blipFill>
            </p:spPr>
            <p:txBody>
              <a:bodyPr/>
              <a:lstStyle/>
              <a:p>
                <a:r>
                  <a:rPr lang="en-GB">
                    <a:noFill/>
                  </a:rPr>
                  <a:t> </a:t>
                </a:r>
              </a:p>
            </p:txBody>
          </p:sp>
        </mc:Fallback>
      </mc:AlternateContent>
      <p:sp>
        <p:nvSpPr>
          <p:cNvPr id="27" name="Rectangle 26"/>
          <p:cNvSpPr/>
          <p:nvPr/>
        </p:nvSpPr>
        <p:spPr>
          <a:xfrm>
            <a:off x="6277066" y="2786550"/>
            <a:ext cx="1428755" cy="102338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28" name="Rectangle 27"/>
          <p:cNvSpPr/>
          <p:nvPr/>
        </p:nvSpPr>
        <p:spPr>
          <a:xfrm>
            <a:off x="584503" y="5942835"/>
            <a:ext cx="8271464" cy="76631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3730742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8" restart="whenNotActive" fill="hold" evtFilter="cancelBubble" nodeType="interactiveSeq">
                <p:stCondLst>
                  <p:cond evt="onClick" delay="0">
                    <p:tgtEl>
                      <p:spTgt spid="2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7"/>
                                        </p:tgtEl>
                                      </p:cBhvr>
                                    </p:animEffect>
                                    <p:set>
                                      <p:cBhvr>
                                        <p:cTn id="13" dur="1" fill="hold">
                                          <p:stCondLst>
                                            <p:cond delay="499"/>
                                          </p:stCondLst>
                                        </p:cTn>
                                        <p:tgtEl>
                                          <p:spTgt spid="27"/>
                                        </p:tgtEl>
                                        <p:attrNameLst>
                                          <p:attrName>style.visibility</p:attrName>
                                        </p:attrNameLst>
                                      </p:cBhvr>
                                      <p:to>
                                        <p:strVal val="hidden"/>
                                      </p:to>
                                    </p:se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par>
                          <p:cTn id="18" fill="hold">
                            <p:stCondLst>
                              <p:cond delay="1000"/>
                            </p:stCondLst>
                            <p:childTnLst>
                              <p:par>
                                <p:cTn id="19" presetID="1" presetClass="entr" presetSubtype="0" fill="hold" grpId="1" nodeType="afterEffect">
                                  <p:stCondLst>
                                    <p:cond delay="50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50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50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50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50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childTnLst>
              </p:cTn>
              <p:nextCondLst>
                <p:cond evt="onClick" delay="0">
                  <p:tgtEl>
                    <p:spTgt spid="27"/>
                  </p:tgtEl>
                </p:cond>
              </p:nextCondLst>
            </p:seq>
            <p:seq concurrent="1" nextAc="seek">
              <p:cTn id="29" restart="whenNotActive" fill="hold" evtFilter="cancelBubble" nodeType="interactiveSeq">
                <p:stCondLst>
                  <p:cond evt="onClick" delay="0">
                    <p:tgtEl>
                      <p:spTgt spid="28"/>
                    </p:tgtEl>
                  </p:cond>
                </p:stCondLst>
                <p:endSync evt="end" delay="0">
                  <p:rtn val="all"/>
                </p:endSync>
                <p:childTnLst>
                  <p:par>
                    <p:cTn id="30" fill="hold">
                      <p:stCondLst>
                        <p:cond delay="0"/>
                      </p:stCondLst>
                      <p:childTnLst>
                        <p:par>
                          <p:cTn id="31" fill="hold">
                            <p:stCondLst>
                              <p:cond delay="0"/>
                            </p:stCondLst>
                            <p:childTnLst>
                              <p:par>
                                <p:cTn id="32" presetID="10" presetClass="exit" presetSubtype="0" fill="hold" grpId="0" nodeType="clickEffect">
                                  <p:stCondLst>
                                    <p:cond delay="0"/>
                                  </p:stCondLst>
                                  <p:childTnLst>
                                    <p:animEffect transition="out" filter="fade">
                                      <p:cBhvr>
                                        <p:cTn id="33" dur="500"/>
                                        <p:tgtEl>
                                          <p:spTgt spid="28"/>
                                        </p:tgtEl>
                                      </p:cBhvr>
                                    </p:animEffect>
                                    <p:set>
                                      <p:cBhvr>
                                        <p:cTn id="34" dur="1" fill="hold">
                                          <p:stCondLst>
                                            <p:cond delay="4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28"/>
                  </p:tgtEl>
                </p:cond>
              </p:nextCondLst>
            </p:seq>
          </p:childTnLst>
        </p:cTn>
      </p:par>
    </p:tnLst>
    <p:bldLst>
      <p:bldP spid="21" grpId="0" animBg="1"/>
      <p:bldP spid="22" grpId="0"/>
      <p:bldP spid="23" grpId="0" animBg="1"/>
      <p:bldP spid="24" grpId="0"/>
      <p:bldP spid="25" grpId="0"/>
      <p:bldP spid="26" grpId="0"/>
      <p:bldP spid="27" grpId="0" animBg="1"/>
      <p:bldP spid="28" grpId="0" animBg="1"/>
      <p:bldP spid="28"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err="1"/>
                <a:t>Quickfire</a:t>
              </a:r>
              <a:r>
                <a:rPr lang="en-GB" dirty="0"/>
                <a:t> Questions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827584" y="764704"/>
            <a:ext cx="6984776" cy="646331"/>
          </a:xfrm>
          <a:prstGeom prst="rect">
            <a:avLst/>
          </a:prstGeom>
          <a:noFill/>
        </p:spPr>
        <p:txBody>
          <a:bodyPr wrap="square" rtlCol="0">
            <a:spAutoFit/>
          </a:bodyPr>
          <a:lstStyle/>
          <a:p>
            <a:r>
              <a:rPr lang="en-GB" dirty="0"/>
              <a:t>In a nutshell: You can use this formula whenever you have (a) a gradient and (b) any point on the line.</a:t>
            </a: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nvGraphicFramePr>
            <p:xfrm>
              <a:off x="1403648" y="1844824"/>
              <a:ext cx="6538532" cy="2459228"/>
            </p:xfrm>
            <a:graphic>
              <a:graphicData uri="http://schemas.openxmlformats.org/drawingml/2006/table">
                <a:tbl>
                  <a:tblPr firstRow="1" bandRow="1">
                    <a:tableStyleId>{073A0DAA-6AF3-43AB-8588-CEC1D06C72B9}</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474532">
                      <a:extLst>
                        <a:ext uri="{9D8B030D-6E8A-4147-A177-3AD203B41FA5}">
                          <a16:colId xmlns:a16="http://schemas.microsoft.com/office/drawing/2014/main" val="20002"/>
                        </a:ext>
                      </a:extLst>
                    </a:gridCol>
                  </a:tblGrid>
                  <a:tr h="370840">
                    <a:tc>
                      <a:txBody>
                        <a:bodyPr/>
                        <a:lstStyle/>
                        <a:p>
                          <a:r>
                            <a:rPr lang="en-GB" dirty="0"/>
                            <a:t>Gradient</a:t>
                          </a:r>
                        </a:p>
                      </a:txBody>
                      <a:tcPr/>
                    </a:tc>
                    <a:tc>
                      <a:txBody>
                        <a:bodyPr/>
                        <a:lstStyle/>
                        <a:p>
                          <a:r>
                            <a:rPr lang="en-GB" dirty="0"/>
                            <a:t>Point</a:t>
                          </a:r>
                        </a:p>
                      </a:txBody>
                      <a:tcPr/>
                    </a:tc>
                    <a:tc>
                      <a:txBody>
                        <a:bodyPr/>
                        <a:lstStyle/>
                        <a:p>
                          <a:r>
                            <a:rPr lang="en-GB" dirty="0"/>
                            <a:t>(</a:t>
                          </a:r>
                          <a:r>
                            <a:rPr lang="en-GB" dirty="0" err="1"/>
                            <a:t>Unsimplified</a:t>
                          </a:r>
                          <a:r>
                            <a:rPr lang="en-GB" dirty="0"/>
                            <a:t>) Equation</a:t>
                          </a:r>
                        </a:p>
                      </a:txBody>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centerGroup"/>
                              </m:oMathParaPr>
                              <m:oMath xmlns:m="http://schemas.openxmlformats.org/officeDocument/2006/math">
                                <m:r>
                                  <a:rPr lang="en-GB" smtClean="0">
                                    <a:latin typeface="Cambria Math" panose="02040503050406030204" pitchFamily="18" charset="0"/>
                                  </a:rPr>
                                  <m:t>3</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r>
                                      <a:rPr lang="en-GB" smtClean="0">
                                        <a:latin typeface="Cambria Math" panose="02040503050406030204" pitchFamily="18" charset="0"/>
                                      </a:rPr>
                                      <m:t>1,2</m:t>
                                    </m:r>
                                  </m:e>
                                </m:d>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m:t>
                                </m:r>
                                <m:r>
                                  <a:rPr lang="en-GB" b="1" i="1" smtClean="0">
                                    <a:latin typeface="Cambria Math" panose="02040503050406030204" pitchFamily="18" charset="0"/>
                                  </a:rPr>
                                  <m:t>𝟑</m:t>
                                </m:r>
                                <m:r>
                                  <a:rPr lang="en-GB" b="1" i="1" smtClean="0">
                                    <a:latin typeface="Cambria Math" panose="02040503050406030204" pitchFamily="18" charset="0"/>
                                  </a:rPr>
                                  <m:t>(</m:t>
                                </m:r>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𝟏</m:t>
                                </m:r>
                                <m:r>
                                  <a:rPr lang="en-GB" b="1" i="1" smtClean="0">
                                    <a:latin typeface="Cambria Math" panose="02040503050406030204" pitchFamily="18" charset="0"/>
                                  </a:rPr>
                                  <m:t>)</m:t>
                                </m:r>
                              </m:oMath>
                            </m:oMathPara>
                          </a14:m>
                          <a:endParaRPr lang="en-GB" b="1" i="1" dirty="0"/>
                        </a:p>
                      </a:txBody>
                      <a:tcPr/>
                    </a:tc>
                    <a:extLst>
                      <a:ext uri="{0D108BD9-81ED-4DB2-BD59-A6C34878D82A}">
                        <a16:rowId xmlns:a16="http://schemas.microsoft.com/office/drawing/2014/main" val="10001"/>
                      </a:ext>
                    </a:extLst>
                  </a:tr>
                  <a:tr h="370840">
                    <a:tc>
                      <a:txBody>
                        <a:bodyPr/>
                        <a:lstStyle/>
                        <a:p>
                          <a:pPr/>
                          <a14:m>
                            <m:oMathPara xmlns:m="http://schemas.openxmlformats.org/officeDocument/2006/math">
                              <m:oMathParaPr>
                                <m:jc m:val="centerGroup"/>
                              </m:oMathParaPr>
                              <m:oMath xmlns:m="http://schemas.openxmlformats.org/officeDocument/2006/math">
                                <m:r>
                                  <a:rPr lang="en-GB" smtClean="0">
                                    <a:latin typeface="Cambria Math" panose="02040503050406030204" pitchFamily="18" charset="0"/>
                                  </a:rPr>
                                  <m:t>5</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r>
                                      <a:rPr lang="en-GB" smtClean="0">
                                        <a:latin typeface="Cambria Math" panose="02040503050406030204" pitchFamily="18" charset="0"/>
                                      </a:rPr>
                                      <m:t>3,0</m:t>
                                    </m:r>
                                  </m:e>
                                </m:d>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𝟓</m:t>
                                </m:r>
                                <m:d>
                                  <m:dPr>
                                    <m:ctrlPr>
                                      <a:rPr lang="en-GB" b="1" i="1" smtClean="0">
                                        <a:latin typeface="Cambria Math" panose="02040503050406030204" pitchFamily="18" charset="0"/>
                                      </a:rPr>
                                    </m:ctrlPr>
                                  </m:dPr>
                                  <m:e>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𝟑</m:t>
                                    </m:r>
                                  </m:e>
                                </m:d>
                              </m:oMath>
                            </m:oMathPara>
                          </a14:m>
                          <a:endParaRPr lang="en-GB" b="1" i="1" dirty="0"/>
                        </a:p>
                      </a:txBody>
                      <a:tcPr/>
                    </a:tc>
                    <a:extLst>
                      <a:ext uri="{0D108BD9-81ED-4DB2-BD59-A6C34878D82A}">
                        <a16:rowId xmlns:a16="http://schemas.microsoft.com/office/drawing/2014/main" val="10002"/>
                      </a:ext>
                    </a:extLst>
                  </a:tr>
                  <a:tr h="370840">
                    <a:tc>
                      <a:txBody>
                        <a:bodyPr/>
                        <a:lstStyle/>
                        <a:p>
                          <a:pPr/>
                          <a14:m>
                            <m:oMathPara xmlns:m="http://schemas.openxmlformats.org/officeDocument/2006/math">
                              <m:oMathParaPr>
                                <m:jc m:val="centerGroup"/>
                              </m:oMathParaPr>
                              <m:oMath xmlns:m="http://schemas.openxmlformats.org/officeDocument/2006/math">
                                <m:r>
                                  <a:rPr lang="en-GB" smtClean="0">
                                    <a:latin typeface="Cambria Math" panose="02040503050406030204" pitchFamily="18" charset="0"/>
                                  </a:rPr>
                                  <m:t>2</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r>
                                      <a:rPr lang="en-GB" smtClean="0">
                                        <a:latin typeface="Cambria Math" panose="02040503050406030204" pitchFamily="18" charset="0"/>
                                      </a:rPr>
                                      <m:t>−3,4</m:t>
                                    </m:r>
                                  </m:e>
                                </m:d>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𝟒</m:t>
                                </m:r>
                                <m:r>
                                  <a:rPr lang="en-GB" b="1"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m:t>
                                </m:r>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𝟑</m:t>
                                </m:r>
                                <m:r>
                                  <a:rPr lang="en-GB" b="1" i="1" smtClean="0">
                                    <a:latin typeface="Cambria Math" panose="02040503050406030204" pitchFamily="18" charset="0"/>
                                  </a:rPr>
                                  <m:t>)</m:t>
                                </m:r>
                              </m:oMath>
                            </m:oMathPara>
                          </a14:m>
                          <a:endParaRPr lang="en-GB" b="1" i="1" dirty="0"/>
                        </a:p>
                      </a:txBody>
                      <a:tcPr/>
                    </a:tc>
                    <a:extLst>
                      <a:ext uri="{0D108BD9-81ED-4DB2-BD59-A6C34878D82A}">
                        <a16:rowId xmlns:a16="http://schemas.microsoft.com/office/drawing/2014/main" val="10003"/>
                      </a:ext>
                    </a:extLst>
                  </a:tr>
                  <a:tr h="370840">
                    <a:tc>
                      <a:txBody>
                        <a:bodyPr/>
                        <a:lstStyle/>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smtClean="0">
                                        <a:latin typeface="Cambria Math" panose="02040503050406030204" pitchFamily="18" charset="0"/>
                                      </a:rPr>
                                      <m:t>1</m:t>
                                    </m:r>
                                  </m:num>
                                  <m:den>
                                    <m:r>
                                      <a:rPr lang="en-GB" smtClean="0">
                                        <a:latin typeface="Cambria Math" panose="02040503050406030204" pitchFamily="18" charset="0"/>
                                      </a:rPr>
                                      <m:t>2</m:t>
                                    </m:r>
                                  </m:den>
                                </m:f>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r>
                                      <a:rPr lang="en-GB" smtClean="0">
                                        <a:latin typeface="Cambria Math" panose="02040503050406030204" pitchFamily="18" charset="0"/>
                                      </a:rPr>
                                      <m:t>1,−5</m:t>
                                    </m:r>
                                  </m:e>
                                </m:d>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𝟓</m:t>
                                </m:r>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𝟐</m:t>
                                    </m:r>
                                  </m:den>
                                </m:f>
                                <m:d>
                                  <m:dPr>
                                    <m:ctrlPr>
                                      <a:rPr lang="en-GB" b="1" i="1" smtClean="0">
                                        <a:latin typeface="Cambria Math" panose="02040503050406030204" pitchFamily="18" charset="0"/>
                                      </a:rPr>
                                    </m:ctrlPr>
                                  </m:dPr>
                                  <m:e>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𝟏</m:t>
                                    </m:r>
                                  </m:e>
                                </m:d>
                              </m:oMath>
                            </m:oMathPara>
                          </a14:m>
                          <a:endParaRPr lang="en-GB" b="1" i="1" dirty="0"/>
                        </a:p>
                      </a:txBody>
                      <a:tcPr/>
                    </a:tc>
                    <a:extLst>
                      <a:ext uri="{0D108BD9-81ED-4DB2-BD59-A6C34878D82A}">
                        <a16:rowId xmlns:a16="http://schemas.microsoft.com/office/drawing/2014/main" val="10004"/>
                      </a:ext>
                    </a:extLst>
                  </a:tr>
                  <a:tr h="370840">
                    <a:tc>
                      <a:txBody>
                        <a:bodyPr/>
                        <a:lstStyle/>
                        <a:p>
                          <a:pPr/>
                          <a14:m>
                            <m:oMathPara xmlns:m="http://schemas.openxmlformats.org/officeDocument/2006/math">
                              <m:oMathParaPr>
                                <m:jc m:val="centerGroup"/>
                              </m:oMathParaPr>
                              <m:oMath xmlns:m="http://schemas.openxmlformats.org/officeDocument/2006/math">
                                <m:r>
                                  <a:rPr lang="en-GB" smtClean="0">
                                    <a:latin typeface="Cambria Math" panose="02040503050406030204" pitchFamily="18" charset="0"/>
                                  </a:rPr>
                                  <m:t>9</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d>
                                  <m:dPr>
                                    <m:ctrlPr>
                                      <a:rPr lang="en-GB" i="1" smtClean="0">
                                        <a:latin typeface="Cambria Math" panose="02040503050406030204" pitchFamily="18" charset="0"/>
                                      </a:rPr>
                                    </m:ctrlPr>
                                  </m:dPr>
                                  <m:e>
                                    <m:r>
                                      <a:rPr lang="en-GB" smtClean="0">
                                        <a:latin typeface="Cambria Math" panose="02040503050406030204" pitchFamily="18" charset="0"/>
                                      </a:rPr>
                                      <m:t>−4,−4</m:t>
                                    </m:r>
                                  </m:e>
                                </m:d>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𝟒</m:t>
                                </m:r>
                                <m:r>
                                  <a:rPr lang="en-GB" b="1" i="1" smtClean="0">
                                    <a:latin typeface="Cambria Math" panose="02040503050406030204" pitchFamily="18" charset="0"/>
                                  </a:rPr>
                                  <m:t>=</m:t>
                                </m:r>
                                <m:r>
                                  <a:rPr lang="en-GB" b="1" i="1" smtClean="0">
                                    <a:latin typeface="Cambria Math" panose="02040503050406030204" pitchFamily="18" charset="0"/>
                                  </a:rPr>
                                  <m:t>𝟗</m:t>
                                </m:r>
                                <m:d>
                                  <m:dPr>
                                    <m:ctrlPr>
                                      <a:rPr lang="en-GB" b="1" i="1" smtClean="0">
                                        <a:latin typeface="Cambria Math" panose="02040503050406030204" pitchFamily="18" charset="0"/>
                                      </a:rPr>
                                    </m:ctrlPr>
                                  </m:dPr>
                                  <m:e>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𝟒</m:t>
                                    </m:r>
                                  </m:e>
                                </m:d>
                              </m:oMath>
                            </m:oMathPara>
                          </a14:m>
                          <a:endParaRPr lang="en-GB" b="1" i="1" dirty="0"/>
                        </a:p>
                      </a:txBody>
                      <a:tcPr/>
                    </a:tc>
                    <a:extLst>
                      <a:ext uri="{0D108BD9-81ED-4DB2-BD59-A6C34878D82A}">
                        <a16:rowId xmlns:a16="http://schemas.microsoft.com/office/drawing/2014/main" val="10005"/>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3621235302"/>
                  </p:ext>
                </p:extLst>
              </p:nvPr>
            </p:nvGraphicFramePr>
            <p:xfrm>
              <a:off x="1403648" y="1844824"/>
              <a:ext cx="6538532" cy="2459228"/>
            </p:xfrm>
            <a:graphic>
              <a:graphicData uri="http://schemas.openxmlformats.org/drawingml/2006/table">
                <a:tbl>
                  <a:tblPr firstRow="1" bandRow="1">
                    <a:tableStyleId>{073A0DAA-6AF3-43AB-8588-CEC1D06C72B9}</a:tableStyleId>
                  </a:tblPr>
                  <a:tblGrid>
                    <a:gridCol w="2032000"/>
                    <a:gridCol w="2032000"/>
                    <a:gridCol w="2474532"/>
                  </a:tblGrid>
                  <a:tr h="370840">
                    <a:tc>
                      <a:txBody>
                        <a:bodyPr/>
                        <a:lstStyle/>
                        <a:p>
                          <a:r>
                            <a:rPr lang="en-GB" dirty="0" smtClean="0"/>
                            <a:t>Gradient</a:t>
                          </a:r>
                          <a:endParaRPr lang="en-GB" dirty="0"/>
                        </a:p>
                      </a:txBody>
                      <a:tcPr/>
                    </a:tc>
                    <a:tc>
                      <a:txBody>
                        <a:bodyPr/>
                        <a:lstStyle/>
                        <a:p>
                          <a:r>
                            <a:rPr lang="en-GB" dirty="0" smtClean="0"/>
                            <a:t>Point</a:t>
                          </a:r>
                          <a:endParaRPr lang="en-GB" dirty="0"/>
                        </a:p>
                      </a:txBody>
                      <a:tcPr/>
                    </a:tc>
                    <a:tc>
                      <a:txBody>
                        <a:bodyPr/>
                        <a:lstStyle/>
                        <a:p>
                          <a:r>
                            <a:rPr lang="en-GB" dirty="0" smtClean="0"/>
                            <a:t>(</a:t>
                          </a:r>
                          <a:r>
                            <a:rPr lang="en-GB" dirty="0" err="1" smtClean="0"/>
                            <a:t>Unsimplified</a:t>
                          </a:r>
                          <a:r>
                            <a:rPr lang="en-GB" dirty="0" smtClean="0"/>
                            <a:t>) Equation</a:t>
                          </a:r>
                          <a:endParaRPr lang="en-GB" dirty="0"/>
                        </a:p>
                      </a:txBody>
                      <a:tcPr/>
                    </a:tc>
                  </a:tr>
                  <a:tr h="370840">
                    <a:tc>
                      <a:txBody>
                        <a:bodyPr/>
                        <a:lstStyle/>
                        <a:p>
                          <a:endParaRPr lang="en-US"/>
                        </a:p>
                      </a:txBody>
                      <a:tcPr>
                        <a:blipFill rotWithShape="0">
                          <a:blip r:embed="rId2"/>
                          <a:stretch>
                            <a:fillRect l="-300" t="-108197" r="-223724" b="-468852"/>
                          </a:stretch>
                        </a:blipFill>
                      </a:tcPr>
                    </a:tc>
                    <a:tc>
                      <a:txBody>
                        <a:bodyPr/>
                        <a:lstStyle/>
                        <a:p>
                          <a:endParaRPr lang="en-US"/>
                        </a:p>
                      </a:txBody>
                      <a:tcPr>
                        <a:blipFill rotWithShape="0">
                          <a:blip r:embed="rId2"/>
                          <a:stretch>
                            <a:fillRect l="-100000" t="-108197" r="-123054" b="-468852"/>
                          </a:stretch>
                        </a:blipFill>
                      </a:tcPr>
                    </a:tc>
                    <a:tc>
                      <a:txBody>
                        <a:bodyPr/>
                        <a:lstStyle/>
                        <a:p>
                          <a:endParaRPr lang="en-US"/>
                        </a:p>
                      </a:txBody>
                      <a:tcPr>
                        <a:blipFill rotWithShape="0">
                          <a:blip r:embed="rId2"/>
                          <a:stretch>
                            <a:fillRect l="-164532" t="-108197" r="-1232" b="-468852"/>
                          </a:stretch>
                        </a:blipFill>
                      </a:tcPr>
                    </a:tc>
                  </a:tr>
                  <a:tr h="370840">
                    <a:tc>
                      <a:txBody>
                        <a:bodyPr/>
                        <a:lstStyle/>
                        <a:p>
                          <a:endParaRPr lang="en-US"/>
                        </a:p>
                      </a:txBody>
                      <a:tcPr>
                        <a:blipFill rotWithShape="0">
                          <a:blip r:embed="rId2"/>
                          <a:stretch>
                            <a:fillRect l="-300" t="-208197" r="-223724" b="-368852"/>
                          </a:stretch>
                        </a:blipFill>
                      </a:tcPr>
                    </a:tc>
                    <a:tc>
                      <a:txBody>
                        <a:bodyPr/>
                        <a:lstStyle/>
                        <a:p>
                          <a:endParaRPr lang="en-US"/>
                        </a:p>
                      </a:txBody>
                      <a:tcPr>
                        <a:blipFill rotWithShape="0">
                          <a:blip r:embed="rId2"/>
                          <a:stretch>
                            <a:fillRect l="-100000" t="-208197" r="-123054" b="-368852"/>
                          </a:stretch>
                        </a:blipFill>
                      </a:tcPr>
                    </a:tc>
                    <a:tc>
                      <a:txBody>
                        <a:bodyPr/>
                        <a:lstStyle/>
                        <a:p>
                          <a:endParaRPr lang="en-US"/>
                        </a:p>
                      </a:txBody>
                      <a:tcPr>
                        <a:blipFill rotWithShape="0">
                          <a:blip r:embed="rId2"/>
                          <a:stretch>
                            <a:fillRect l="-164532" t="-208197" r="-1232" b="-368852"/>
                          </a:stretch>
                        </a:blipFill>
                      </a:tcPr>
                    </a:tc>
                  </a:tr>
                  <a:tr h="370840">
                    <a:tc>
                      <a:txBody>
                        <a:bodyPr/>
                        <a:lstStyle/>
                        <a:p>
                          <a:endParaRPr lang="en-US"/>
                        </a:p>
                      </a:txBody>
                      <a:tcPr>
                        <a:blipFill rotWithShape="0">
                          <a:blip r:embed="rId2"/>
                          <a:stretch>
                            <a:fillRect l="-300" t="-308197" r="-223724" b="-268852"/>
                          </a:stretch>
                        </a:blipFill>
                      </a:tcPr>
                    </a:tc>
                    <a:tc>
                      <a:txBody>
                        <a:bodyPr/>
                        <a:lstStyle/>
                        <a:p>
                          <a:endParaRPr lang="en-US"/>
                        </a:p>
                      </a:txBody>
                      <a:tcPr>
                        <a:blipFill rotWithShape="0">
                          <a:blip r:embed="rId2"/>
                          <a:stretch>
                            <a:fillRect l="-100000" t="-308197" r="-123054" b="-268852"/>
                          </a:stretch>
                        </a:blipFill>
                      </a:tcPr>
                    </a:tc>
                    <a:tc>
                      <a:txBody>
                        <a:bodyPr/>
                        <a:lstStyle/>
                        <a:p>
                          <a:endParaRPr lang="en-US"/>
                        </a:p>
                      </a:txBody>
                      <a:tcPr>
                        <a:blipFill rotWithShape="0">
                          <a:blip r:embed="rId2"/>
                          <a:stretch>
                            <a:fillRect l="-164532" t="-308197" r="-1232" b="-268852"/>
                          </a:stretch>
                        </a:blipFill>
                      </a:tcPr>
                    </a:tc>
                  </a:tr>
                  <a:tr h="605028">
                    <a:tc>
                      <a:txBody>
                        <a:bodyPr/>
                        <a:lstStyle/>
                        <a:p>
                          <a:endParaRPr lang="en-US"/>
                        </a:p>
                      </a:txBody>
                      <a:tcPr>
                        <a:blipFill rotWithShape="0">
                          <a:blip r:embed="rId2"/>
                          <a:stretch>
                            <a:fillRect l="-300" t="-249000" r="-223724" b="-64000"/>
                          </a:stretch>
                        </a:blipFill>
                      </a:tcPr>
                    </a:tc>
                    <a:tc>
                      <a:txBody>
                        <a:bodyPr/>
                        <a:lstStyle/>
                        <a:p>
                          <a:endParaRPr lang="en-US"/>
                        </a:p>
                      </a:txBody>
                      <a:tcPr>
                        <a:blipFill rotWithShape="0">
                          <a:blip r:embed="rId2"/>
                          <a:stretch>
                            <a:fillRect l="-100000" t="-249000" r="-123054" b="-64000"/>
                          </a:stretch>
                        </a:blipFill>
                      </a:tcPr>
                    </a:tc>
                    <a:tc>
                      <a:txBody>
                        <a:bodyPr/>
                        <a:lstStyle/>
                        <a:p>
                          <a:endParaRPr lang="en-US"/>
                        </a:p>
                      </a:txBody>
                      <a:tcPr>
                        <a:blipFill rotWithShape="0">
                          <a:blip r:embed="rId2"/>
                          <a:stretch>
                            <a:fillRect l="-164532" t="-249000" r="-1232" b="-64000"/>
                          </a:stretch>
                        </a:blipFill>
                      </a:tcPr>
                    </a:tc>
                  </a:tr>
                  <a:tr h="370840">
                    <a:tc>
                      <a:txBody>
                        <a:bodyPr/>
                        <a:lstStyle/>
                        <a:p>
                          <a:endParaRPr lang="en-US"/>
                        </a:p>
                      </a:txBody>
                      <a:tcPr>
                        <a:blipFill rotWithShape="0">
                          <a:blip r:embed="rId2"/>
                          <a:stretch>
                            <a:fillRect l="-300" t="-572131" r="-223724" b="-4918"/>
                          </a:stretch>
                        </a:blipFill>
                      </a:tcPr>
                    </a:tc>
                    <a:tc>
                      <a:txBody>
                        <a:bodyPr/>
                        <a:lstStyle/>
                        <a:p>
                          <a:endParaRPr lang="en-US"/>
                        </a:p>
                      </a:txBody>
                      <a:tcPr>
                        <a:blipFill rotWithShape="0">
                          <a:blip r:embed="rId2"/>
                          <a:stretch>
                            <a:fillRect l="-100000" t="-572131" r="-123054" b="-4918"/>
                          </a:stretch>
                        </a:blipFill>
                      </a:tcPr>
                    </a:tc>
                    <a:tc>
                      <a:txBody>
                        <a:bodyPr/>
                        <a:lstStyle/>
                        <a:p>
                          <a:endParaRPr lang="en-US"/>
                        </a:p>
                      </a:txBody>
                      <a:tcPr>
                        <a:blipFill rotWithShape="0">
                          <a:blip r:embed="rId2"/>
                          <a:stretch>
                            <a:fillRect l="-164532" t="-572131" r="-1232" b="-4918"/>
                          </a:stretch>
                        </a:blipFill>
                      </a:tcPr>
                    </a:tc>
                  </a:tr>
                </a:tbl>
              </a:graphicData>
            </a:graphic>
          </p:graphicFrame>
        </mc:Fallback>
      </mc:AlternateContent>
      <p:sp>
        <p:nvSpPr>
          <p:cNvPr id="7" name="Rectangle 6"/>
          <p:cNvSpPr/>
          <p:nvPr/>
        </p:nvSpPr>
        <p:spPr>
          <a:xfrm>
            <a:off x="5478544" y="2201358"/>
            <a:ext cx="2449841" cy="36972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8" name="Rectangle 7"/>
          <p:cNvSpPr/>
          <p:nvPr/>
        </p:nvSpPr>
        <p:spPr>
          <a:xfrm>
            <a:off x="5478543" y="2571078"/>
            <a:ext cx="2449841" cy="36972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9" name="Rectangle 8"/>
          <p:cNvSpPr/>
          <p:nvPr/>
        </p:nvSpPr>
        <p:spPr>
          <a:xfrm>
            <a:off x="5478543" y="2940798"/>
            <a:ext cx="2449841" cy="36972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10" name="Rectangle 9"/>
          <p:cNvSpPr/>
          <p:nvPr/>
        </p:nvSpPr>
        <p:spPr>
          <a:xfrm>
            <a:off x="5478543" y="3315355"/>
            <a:ext cx="2449841" cy="58734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11" name="Rectangle 10"/>
          <p:cNvSpPr/>
          <p:nvPr/>
        </p:nvSpPr>
        <p:spPr>
          <a:xfrm>
            <a:off x="5478542" y="3902699"/>
            <a:ext cx="2449841" cy="42165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12" name="TextBox 11"/>
          <p:cNvSpPr txBox="1"/>
          <p:nvPr/>
        </p:nvSpPr>
        <p:spPr>
          <a:xfrm>
            <a:off x="790274" y="5135413"/>
            <a:ext cx="7670157" cy="1077218"/>
          </a:xfrm>
          <a:prstGeom prst="rect">
            <a:avLst/>
          </a:prstGeom>
          <a:noFill/>
        </p:spPr>
        <p:txBody>
          <a:bodyPr wrap="square" rtlCol="0">
            <a:spAutoFit/>
          </a:bodyPr>
          <a:lstStyle/>
          <a:p>
            <a:r>
              <a:rPr lang="en-GB" sz="1600" b="1" dirty="0"/>
              <a:t>Important Side Note</a:t>
            </a:r>
            <a:r>
              <a:rPr lang="en-GB" sz="1600" dirty="0"/>
              <a:t>: I’ve found that many students shun this formula and just use the GCSE method. Please persist with it – it’ll be much easier when fractions are involved.</a:t>
            </a:r>
          </a:p>
          <a:p>
            <a:r>
              <a:rPr lang="en-GB" sz="1600" dirty="0"/>
              <a:t>Further Mathematicians, </a:t>
            </a:r>
            <a:r>
              <a:rPr lang="en-GB" sz="1600" u="sng" dirty="0"/>
              <a:t>don’t even think</a:t>
            </a:r>
            <a:r>
              <a:rPr lang="en-GB" sz="1600" dirty="0"/>
              <a:t> about using the GCSE method, because you’ll encounter massive headaches when you consider algebraic points. Trust me on this one!</a:t>
            </a:r>
          </a:p>
        </p:txBody>
      </p:sp>
    </p:spTree>
    <p:extLst>
      <p:ext uri="{BB962C8B-B14F-4D97-AF65-F5344CB8AC3E}">
        <p14:creationId xmlns:p14="http://schemas.microsoft.com/office/powerpoint/2010/main" val="365801470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8"/>
                                        </p:tgtEl>
                                      </p:cBhvr>
                                    </p:animEffect>
                                    <p:set>
                                      <p:cBhvr>
                                        <p:cTn id="13"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14" restart="whenNotActive" fill="hold" evtFilter="cancelBubble" nodeType="interactiveSeq">
                <p:stCondLst>
                  <p:cond evt="onClick" delay="0">
                    <p:tgtEl>
                      <p:spTgt spid="9"/>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9"/>
                                        </p:tgtEl>
                                      </p:cBhvr>
                                    </p:animEffect>
                                    <p:set>
                                      <p:cBhvr>
                                        <p:cTn id="19"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20" restart="whenNotActive" fill="hold" evtFilter="cancelBubble" nodeType="interactiveSeq">
                <p:stCondLst>
                  <p:cond evt="onClick" delay="0">
                    <p:tgtEl>
                      <p:spTgt spid="10"/>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0"/>
                                        </p:tgtEl>
                                      </p:cBhvr>
                                    </p:animEffect>
                                    <p:set>
                                      <p:cBhvr>
                                        <p:cTn id="25"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26" restart="whenNotActive" fill="hold" evtFilter="cancelBubble" nodeType="interactiveSeq">
                <p:stCondLst>
                  <p:cond evt="onClick" delay="0">
                    <p:tgtEl>
                      <p:spTgt spid="11"/>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11"/>
                                        </p:tgtEl>
                                      </p:cBhvr>
                                    </p:animEffect>
                                    <p:set>
                                      <p:cBhvr>
                                        <p:cTn id="31" dur="1" fill="hold">
                                          <p:stCondLst>
                                            <p:cond delay="499"/>
                                          </p:stCondLst>
                                        </p:cTn>
                                        <p:tgtEl>
                                          <p:spTgt spid="11"/>
                                        </p:tgtEl>
                                        <p:attrNameLst>
                                          <p:attrName>style.visibility</p:attrName>
                                        </p:attrNameLst>
                                      </p:cBhvr>
                                      <p:to>
                                        <p:strVal val="hidden"/>
                                      </p:to>
                                    </p:set>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childTnLst>
              </p:cTn>
              <p:nextCondLst>
                <p:cond evt="onClick" delay="0">
                  <p:tgtEl>
                    <p:spTgt spid="11"/>
                  </p:tgtEl>
                </p:cond>
              </p:nextCondLst>
            </p:seq>
          </p:childTnLst>
        </p:cTn>
      </p:par>
    </p:tnLst>
    <p:bldLst>
      <p:bldP spid="7" grpId="0" animBg="1"/>
      <p:bldP spid="8" grpId="0" animBg="1"/>
      <p:bldP spid="9" grpId="0" animBg="1"/>
      <p:bldP spid="10" grpId="0" animBg="1"/>
      <p:bldP spid="11" grpId="0" animBg="1"/>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Using 2 points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323529" y="832928"/>
                <a:ext cx="3888431" cy="120032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Find the equation of the line that goes through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4,5</m:t>
                        </m:r>
                      </m:e>
                    </m:d>
                  </m:oMath>
                </a14:m>
                <a:r>
                  <a:rPr lang="en-GB" dirty="0"/>
                  <a:t> and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6,2</m:t>
                        </m:r>
                      </m:e>
                    </m:d>
                  </m:oMath>
                </a14:m>
                <a:r>
                  <a:rPr lang="en-GB" dirty="0"/>
                  <a:t>, giving your equation in the form </a:t>
                </a:r>
                <a:br>
                  <a:rPr lang="en-GB" b="0" i="1" dirty="0">
                    <a:latin typeface="Cambria Math" panose="02040503050406030204" pitchFamily="18" charset="0"/>
                  </a:rPr>
                </a:br>
                <a14:m>
                  <m:oMath xmlns:m="http://schemas.openxmlformats.org/officeDocument/2006/math">
                    <m:r>
                      <a:rPr lang="en-GB" b="0" i="1" smtClean="0">
                        <a:latin typeface="Cambria Math" panose="02040503050406030204" pitchFamily="18" charset="0"/>
                      </a:rPr>
                      <m:t>𝑎𝑥</m:t>
                    </m:r>
                    <m:r>
                      <a:rPr lang="en-GB" b="0" i="1" smtClean="0">
                        <a:latin typeface="Cambria Math" panose="02040503050406030204" pitchFamily="18" charset="0"/>
                      </a:rPr>
                      <m:t>+</m:t>
                    </m:r>
                    <m:r>
                      <a:rPr lang="en-GB" b="0" i="1" smtClean="0">
                        <a:latin typeface="Cambria Math" panose="02040503050406030204" pitchFamily="18" charset="0"/>
                      </a:rPr>
                      <m:t>𝑏𝑦</m:t>
                    </m:r>
                    <m:r>
                      <a:rPr lang="en-GB" b="0" i="1" smtClean="0">
                        <a:latin typeface="Cambria Math" panose="02040503050406030204" pitchFamily="18" charset="0"/>
                      </a:rPr>
                      <m:t>+</m:t>
                    </m:r>
                    <m:r>
                      <a:rPr lang="en-GB" b="0" i="1" smtClean="0">
                        <a:latin typeface="Cambria Math" panose="02040503050406030204" pitchFamily="18" charset="0"/>
                      </a:rPr>
                      <m:t>𝑐</m:t>
                    </m:r>
                    <m:r>
                      <a:rPr lang="en-GB" b="0" i="1" smtClean="0">
                        <a:latin typeface="Cambria Math" panose="02040503050406030204" pitchFamily="18" charset="0"/>
                      </a:rPr>
                      <m:t>=0</m:t>
                    </m:r>
                  </m:oMath>
                </a14:m>
                <a:r>
                  <a:rPr lang="en-GB"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323529" y="832928"/>
                <a:ext cx="3888431" cy="1200329"/>
              </a:xfrm>
              <a:prstGeom prst="rect">
                <a:avLst/>
              </a:prstGeom>
              <a:blipFill>
                <a:blip r:embed="rId2"/>
                <a:stretch>
                  <a:fillRect b="-44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23529" y="2480357"/>
                <a:ext cx="3934334" cy="3899529"/>
              </a:xfrm>
              <a:prstGeom prst="rect">
                <a:avLst/>
              </a:prstGeom>
              <a:noFill/>
            </p:spPr>
            <p:txBody>
              <a:bodyPr wrap="square" rtlCol="0">
                <a:spAutoFit/>
              </a:bodyPr>
              <a:lstStyle/>
              <a:p>
                <a:r>
                  <a:rPr lang="en-GB" dirty="0"/>
                  <a:t>We need to work out the gradient first before we can use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m:t>
                        </m:r>
                      </m:sub>
                    </m:sSub>
                    <m:r>
                      <a:rPr lang="en-GB" b="0" i="1" smtClean="0">
                        <a:latin typeface="Cambria Math" panose="02040503050406030204" pitchFamily="18" charset="0"/>
                      </a:rPr>
                      <m:t>=</m:t>
                    </m:r>
                    <m:r>
                      <a:rPr lang="en-GB" b="0" i="1" smtClean="0">
                        <a:latin typeface="Cambria Math" panose="02040503050406030204" pitchFamily="18" charset="0"/>
                      </a:rPr>
                      <m:t>𝑚</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e>
                    </m:d>
                  </m:oMath>
                </a14:m>
                <a:r>
                  <a:rPr lang="en-GB" dirty="0"/>
                  <a:t>:</a:t>
                </a:r>
              </a:p>
              <a:p>
                <a:endParaRPr lang="en-GB" dirty="0"/>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𝑚</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2</m:t>
                          </m:r>
                        </m:den>
                      </m:f>
                    </m:oMath>
                  </m:oMathPara>
                </a14:m>
                <a:endParaRPr lang="en-GB" b="0" dirty="0"/>
              </a:p>
              <a:p>
                <a:endParaRPr lang="en-GB" dirty="0"/>
              </a:p>
              <a:p>
                <a:r>
                  <a:rPr lang="en-GB" dirty="0"/>
                  <a:t>Using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4,5</m:t>
                        </m:r>
                      </m:e>
                    </m:d>
                  </m:oMath>
                </a14:m>
                <a:r>
                  <a:rPr lang="en-GB" dirty="0"/>
                  <a:t> (we could have also used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6,2</m:t>
                        </m:r>
                      </m:e>
                    </m:d>
                  </m:oMath>
                </a14:m>
                <a:r>
                  <a:rPr lang="en-GB" dirty="0"/>
                  <a:t>):</a:t>
                </a: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−5=−</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2</m:t>
                          </m:r>
                        </m:den>
                      </m:f>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−4</m:t>
                          </m:r>
                        </m:e>
                      </m:d>
                    </m:oMath>
                  </m:oMathPara>
                </a14:m>
                <a:endParaRPr lang="en-GB" b="0" dirty="0"/>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2</m:t>
                      </m:r>
                      <m:r>
                        <a:rPr lang="en-GB" b="0" i="1" smtClean="0">
                          <a:latin typeface="Cambria Math" panose="02040503050406030204" pitchFamily="18" charset="0"/>
                        </a:rPr>
                        <m:t>𝑦</m:t>
                      </m:r>
                      <m:r>
                        <a:rPr lang="en-GB" b="0" i="1" smtClean="0">
                          <a:latin typeface="Cambria Math" panose="02040503050406030204" pitchFamily="18" charset="0"/>
                        </a:rPr>
                        <m:t>−10=−3</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−4</m:t>
                          </m:r>
                        </m:e>
                      </m:d>
                    </m:oMath>
                    <m:oMath xmlns:m="http://schemas.openxmlformats.org/officeDocument/2006/math">
                      <m:r>
                        <a:rPr lang="en-GB" b="0" i="1" smtClean="0">
                          <a:latin typeface="Cambria Math" panose="02040503050406030204" pitchFamily="18" charset="0"/>
                        </a:rPr>
                        <m:t>2</m:t>
                      </m:r>
                      <m:r>
                        <a:rPr lang="en-GB" b="0" i="1" smtClean="0">
                          <a:latin typeface="Cambria Math" panose="02040503050406030204" pitchFamily="18" charset="0"/>
                        </a:rPr>
                        <m:t>𝑦</m:t>
                      </m:r>
                      <m:r>
                        <a:rPr lang="en-GB" b="0" i="1" smtClean="0">
                          <a:latin typeface="Cambria Math" panose="02040503050406030204" pitchFamily="18" charset="0"/>
                        </a:rPr>
                        <m:t>−10=−3</m:t>
                      </m:r>
                      <m:r>
                        <a:rPr lang="en-GB" b="0" i="1" smtClean="0">
                          <a:latin typeface="Cambria Math" panose="02040503050406030204" pitchFamily="18" charset="0"/>
                        </a:rPr>
                        <m:t>𝑥</m:t>
                      </m:r>
                      <m:r>
                        <a:rPr lang="en-GB" b="0" i="1" smtClean="0">
                          <a:latin typeface="Cambria Math" panose="02040503050406030204" pitchFamily="18" charset="0"/>
                        </a:rPr>
                        <m:t>+12</m:t>
                      </m:r>
                    </m:oMath>
                    <m:oMath xmlns:m="http://schemas.openxmlformats.org/officeDocument/2006/math">
                      <m:r>
                        <a:rPr lang="en-GB" b="0" i="1" smtClean="0">
                          <a:latin typeface="Cambria Math" panose="02040503050406030204" pitchFamily="18" charset="0"/>
                        </a:rPr>
                        <m:t>3</m:t>
                      </m:r>
                      <m:r>
                        <a:rPr lang="en-GB" b="0" i="1" smtClean="0">
                          <a:latin typeface="Cambria Math" panose="02040503050406030204" pitchFamily="18" charset="0"/>
                        </a:rPr>
                        <m:t>𝑥</m:t>
                      </m:r>
                      <m:r>
                        <a:rPr lang="en-GB" b="0" i="1" smtClean="0">
                          <a:latin typeface="Cambria Math" panose="02040503050406030204" pitchFamily="18" charset="0"/>
                        </a:rPr>
                        <m:t>+2</m:t>
                      </m:r>
                      <m:r>
                        <a:rPr lang="en-GB" b="0" i="1" smtClean="0">
                          <a:latin typeface="Cambria Math" panose="02040503050406030204" pitchFamily="18" charset="0"/>
                        </a:rPr>
                        <m:t>𝑦</m:t>
                      </m:r>
                      <m:r>
                        <a:rPr lang="en-GB" b="0" i="1" smtClean="0">
                          <a:latin typeface="Cambria Math" panose="02040503050406030204" pitchFamily="18" charset="0"/>
                        </a:rPr>
                        <m:t>−22=0</m:t>
                      </m:r>
                    </m:oMath>
                  </m:oMathPara>
                </a14:m>
                <a:endParaRPr lang="en-GB" dirty="0"/>
              </a:p>
              <a:p>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323529" y="2480357"/>
                <a:ext cx="3934334" cy="3899529"/>
              </a:xfrm>
              <a:prstGeom prst="rect">
                <a:avLst/>
              </a:prstGeom>
              <a:blipFill>
                <a:blip r:embed="rId3"/>
                <a:stretch>
                  <a:fillRect l="-1240" t="-938" r="-124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399020" y="817054"/>
                <a:ext cx="3744415" cy="1477328"/>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b="1" dirty="0"/>
                  <a:t>Test Your Understanding:</a:t>
                </a:r>
              </a:p>
              <a:p>
                <a:r>
                  <a:rPr lang="en-GB" dirty="0"/>
                  <a:t>Find the equation of the line that goes through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−1,9</m:t>
                        </m:r>
                      </m:e>
                    </m:d>
                  </m:oMath>
                </a14:m>
                <a:r>
                  <a:rPr lang="en-GB" dirty="0"/>
                  <a:t> and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4,5</m:t>
                        </m:r>
                      </m:e>
                    </m:d>
                  </m:oMath>
                </a14:m>
                <a:r>
                  <a:rPr lang="en-GB" dirty="0"/>
                  <a:t>, giving your equation in the form </a:t>
                </a:r>
                <a:br>
                  <a:rPr lang="en-GB" b="0" i="1" dirty="0">
                    <a:latin typeface="Cambria Math" panose="02040503050406030204" pitchFamily="18" charset="0"/>
                  </a:rPr>
                </a:br>
                <a14:m>
                  <m:oMath xmlns:m="http://schemas.openxmlformats.org/officeDocument/2006/math">
                    <m:r>
                      <a:rPr lang="en-GB" b="0" i="1" smtClean="0">
                        <a:latin typeface="Cambria Math" panose="02040503050406030204" pitchFamily="18" charset="0"/>
                      </a:rPr>
                      <m:t>𝑎𝑥</m:t>
                    </m:r>
                    <m:r>
                      <a:rPr lang="en-GB" b="0" i="1" smtClean="0">
                        <a:latin typeface="Cambria Math" panose="02040503050406030204" pitchFamily="18" charset="0"/>
                      </a:rPr>
                      <m:t>+</m:t>
                    </m:r>
                    <m:r>
                      <a:rPr lang="en-GB" b="0" i="1" smtClean="0">
                        <a:latin typeface="Cambria Math" panose="02040503050406030204" pitchFamily="18" charset="0"/>
                      </a:rPr>
                      <m:t>𝑏𝑦</m:t>
                    </m:r>
                    <m:r>
                      <a:rPr lang="en-GB" b="0" i="1" smtClean="0">
                        <a:latin typeface="Cambria Math" panose="02040503050406030204" pitchFamily="18" charset="0"/>
                      </a:rPr>
                      <m:t>+</m:t>
                    </m:r>
                    <m:r>
                      <a:rPr lang="en-GB" b="0" i="1" smtClean="0">
                        <a:latin typeface="Cambria Math" panose="02040503050406030204" pitchFamily="18" charset="0"/>
                      </a:rPr>
                      <m:t>𝑐</m:t>
                    </m:r>
                    <m:r>
                      <a:rPr lang="en-GB" b="0" i="1" smtClean="0">
                        <a:latin typeface="Cambria Math" panose="02040503050406030204" pitchFamily="18" charset="0"/>
                      </a:rPr>
                      <m:t>=0</m:t>
                    </m:r>
                  </m:oMath>
                </a14:m>
                <a:r>
                  <a:rPr lang="en-GB" dirty="0"/>
                  <a:t>.</a:t>
                </a:r>
              </a:p>
            </p:txBody>
          </p:sp>
        </mc:Choice>
        <mc:Fallback xmlns="">
          <p:sp>
            <p:nvSpPr>
              <p:cNvPr id="7" name="TextBox 6"/>
              <p:cNvSpPr txBox="1">
                <a:spLocks noRot="1" noChangeAspect="1" noMove="1" noResize="1" noEditPoints="1" noAdjustHandles="1" noChangeArrowheads="1" noChangeShapeType="1" noTextEdit="1"/>
              </p:cNvSpPr>
              <p:nvPr/>
            </p:nvSpPr>
            <p:spPr>
              <a:xfrm>
                <a:off x="4399020" y="817054"/>
                <a:ext cx="3744415" cy="1477328"/>
              </a:xfrm>
              <a:prstGeom prst="rect">
                <a:avLst/>
              </a:prstGeom>
              <a:blipFill>
                <a:blip r:embed="rId4"/>
                <a:stretch>
                  <a:fillRect b="-373"/>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399020" y="2480357"/>
                <a:ext cx="4087592" cy="2793201"/>
              </a:xfrm>
              <a:prstGeom prst="rect">
                <a:avLst/>
              </a:prstGeom>
              <a:noFill/>
            </p:spPr>
            <p:txBody>
              <a:bodyPr wrap="square" rtlCol="0">
                <a:spAutoFit/>
              </a:bodyPr>
              <a:lstStyle/>
              <a:p>
                <a:endParaRPr lang="en-GB" dirty="0"/>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𝑚</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5</m:t>
                          </m:r>
                        </m:den>
                      </m:f>
                    </m:oMath>
                  </m:oMathPara>
                </a14:m>
                <a:endParaRPr lang="en-GB" b="0" dirty="0"/>
              </a:p>
              <a:p>
                <a:endParaRPr lang="en-GB" dirty="0"/>
              </a:p>
              <a:p>
                <a:r>
                  <a:rPr lang="en-GB" dirty="0"/>
                  <a:t>Using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−1,9</m:t>
                        </m:r>
                      </m:e>
                    </m:d>
                  </m:oMath>
                </a14:m>
                <a:r>
                  <a:rPr lang="en-GB" b="0" i="1" dirty="0">
                    <a:latin typeface="Cambria Math" panose="02040503050406030204" pitchFamily="18" charset="0"/>
                  </a:rPr>
                  <a:t>:</a:t>
                </a: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−9=−</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5</m:t>
                          </m:r>
                        </m:den>
                      </m:f>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oMath>
                    <m:oMath xmlns:m="http://schemas.openxmlformats.org/officeDocument/2006/math">
                      <m:r>
                        <a:rPr lang="en-GB" b="0" i="1" smtClean="0">
                          <a:latin typeface="Cambria Math" panose="02040503050406030204" pitchFamily="18" charset="0"/>
                        </a:rPr>
                        <m:t>5</m:t>
                      </m:r>
                      <m:r>
                        <a:rPr lang="en-GB" b="0" i="1" smtClean="0">
                          <a:latin typeface="Cambria Math" panose="02040503050406030204" pitchFamily="18" charset="0"/>
                        </a:rPr>
                        <m:t>𝑦</m:t>
                      </m:r>
                      <m:r>
                        <a:rPr lang="en-GB" b="0" i="1" smtClean="0">
                          <a:latin typeface="Cambria Math" panose="02040503050406030204" pitchFamily="18" charset="0"/>
                        </a:rPr>
                        <m:t>−45=−4</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oMath>
                    <m:oMath xmlns:m="http://schemas.openxmlformats.org/officeDocument/2006/math">
                      <m:r>
                        <a:rPr lang="en-GB" b="0" i="1" smtClean="0">
                          <a:latin typeface="Cambria Math" panose="02040503050406030204" pitchFamily="18" charset="0"/>
                        </a:rPr>
                        <m:t>5</m:t>
                      </m:r>
                      <m:r>
                        <a:rPr lang="en-GB" b="0" i="1" smtClean="0">
                          <a:latin typeface="Cambria Math" panose="02040503050406030204" pitchFamily="18" charset="0"/>
                        </a:rPr>
                        <m:t>𝑦</m:t>
                      </m:r>
                      <m:r>
                        <a:rPr lang="en-GB" b="0" i="1" smtClean="0">
                          <a:latin typeface="Cambria Math" panose="02040503050406030204" pitchFamily="18" charset="0"/>
                        </a:rPr>
                        <m:t>−45=−4</m:t>
                      </m:r>
                      <m:r>
                        <a:rPr lang="en-GB" b="0" i="1" smtClean="0">
                          <a:latin typeface="Cambria Math" panose="02040503050406030204" pitchFamily="18" charset="0"/>
                        </a:rPr>
                        <m:t>𝑥</m:t>
                      </m:r>
                      <m:r>
                        <a:rPr lang="en-GB" b="0" i="1" smtClean="0">
                          <a:latin typeface="Cambria Math" panose="02040503050406030204" pitchFamily="18" charset="0"/>
                        </a:rPr>
                        <m:t>−4</m:t>
                      </m:r>
                    </m:oMath>
                    <m:oMath xmlns:m="http://schemas.openxmlformats.org/officeDocument/2006/math">
                      <m:r>
                        <a:rPr lang="en-GB" b="0" i="1" smtClean="0">
                          <a:latin typeface="Cambria Math" panose="02040503050406030204" pitchFamily="18" charset="0"/>
                        </a:rPr>
                        <m:t>4</m:t>
                      </m:r>
                      <m:r>
                        <a:rPr lang="en-GB" b="0" i="1" smtClean="0">
                          <a:latin typeface="Cambria Math" panose="02040503050406030204" pitchFamily="18" charset="0"/>
                        </a:rPr>
                        <m:t>𝑥</m:t>
                      </m:r>
                      <m:r>
                        <a:rPr lang="en-GB" b="0" i="1" smtClean="0">
                          <a:latin typeface="Cambria Math" panose="02040503050406030204" pitchFamily="18" charset="0"/>
                        </a:rPr>
                        <m:t>+5</m:t>
                      </m:r>
                      <m:r>
                        <a:rPr lang="en-GB" b="0" i="1" smtClean="0">
                          <a:latin typeface="Cambria Math" panose="02040503050406030204" pitchFamily="18" charset="0"/>
                        </a:rPr>
                        <m:t>𝑦</m:t>
                      </m:r>
                      <m:r>
                        <a:rPr lang="en-GB" b="0" i="1" smtClean="0">
                          <a:latin typeface="Cambria Math" panose="02040503050406030204" pitchFamily="18" charset="0"/>
                        </a:rPr>
                        <m:t>−41=0</m:t>
                      </m:r>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4399020" y="2480357"/>
                <a:ext cx="4087592" cy="2793201"/>
              </a:xfrm>
              <a:prstGeom prst="rect">
                <a:avLst/>
              </a:prstGeom>
              <a:blipFill>
                <a:blip r:embed="rId5"/>
                <a:stretch>
                  <a:fillRect l="-1343" b="-873"/>
                </a:stretch>
              </a:blipFill>
            </p:spPr>
            <p:txBody>
              <a:bodyPr/>
              <a:lstStyle/>
              <a:p>
                <a:r>
                  <a:rPr lang="en-GB">
                    <a:noFill/>
                  </a:rPr>
                  <a:t> </a:t>
                </a:r>
              </a:p>
            </p:txBody>
          </p:sp>
        </mc:Fallback>
      </mc:AlternateContent>
      <p:sp>
        <p:nvSpPr>
          <p:cNvPr id="9" name="Rectangle 8"/>
          <p:cNvSpPr/>
          <p:nvPr/>
        </p:nvSpPr>
        <p:spPr>
          <a:xfrm>
            <a:off x="323529" y="2033256"/>
            <a:ext cx="3888431" cy="427606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10" name="Rectangle 9"/>
          <p:cNvSpPr/>
          <p:nvPr/>
        </p:nvSpPr>
        <p:spPr>
          <a:xfrm>
            <a:off x="4399020" y="2325804"/>
            <a:ext cx="3744415" cy="398351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361776828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9"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87744"/>
            <a:chOff x="0" y="13335"/>
            <a:chExt cx="9144218" cy="587744"/>
          </a:xfrm>
        </p:grpSpPr>
        <p:sp>
          <p:nvSpPr>
            <p:cNvPr id="3" name="TextBox 32"/>
            <p:cNvSpPr txBox="1"/>
            <p:nvPr/>
          </p:nvSpPr>
          <p:spPr>
            <a:xfrm>
              <a:off x="0" y="13335"/>
              <a:ext cx="9144000" cy="584775"/>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5C – Pure Y1 Page 94-95</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30E4E4B5-096C-0F0B-555B-46E931806289}"/>
              </a:ext>
            </a:extLst>
          </p:cNvPr>
          <p:cNvPicPr>
            <a:picLocks noChangeAspect="1"/>
          </p:cNvPicPr>
          <p:nvPr/>
        </p:nvPicPr>
        <p:blipFill>
          <a:blip r:embed="rId2"/>
          <a:stretch>
            <a:fillRect/>
          </a:stretch>
        </p:blipFill>
        <p:spPr>
          <a:xfrm>
            <a:off x="179512" y="627569"/>
            <a:ext cx="7772400" cy="604026"/>
          </a:xfrm>
          <a:prstGeom prst="rect">
            <a:avLst/>
          </a:prstGeom>
        </p:spPr>
      </p:pic>
      <p:pic>
        <p:nvPicPr>
          <p:cNvPr id="6" name="Picture 5">
            <a:extLst>
              <a:ext uri="{FF2B5EF4-FFF2-40B4-BE49-F238E27FC236}">
                <a16:creationId xmlns:a16="http://schemas.microsoft.com/office/drawing/2014/main" id="{BC6BDB83-64F1-98C5-6330-BEF80C90DC46}"/>
              </a:ext>
            </a:extLst>
          </p:cNvPr>
          <p:cNvPicPr>
            <a:picLocks noChangeAspect="1"/>
          </p:cNvPicPr>
          <p:nvPr/>
        </p:nvPicPr>
        <p:blipFill>
          <a:blip r:embed="rId3"/>
          <a:stretch>
            <a:fillRect/>
          </a:stretch>
        </p:blipFill>
        <p:spPr>
          <a:xfrm>
            <a:off x="124141" y="2852936"/>
            <a:ext cx="4139952" cy="900743"/>
          </a:xfrm>
          <a:prstGeom prst="rect">
            <a:avLst/>
          </a:prstGeom>
        </p:spPr>
      </p:pic>
      <p:pic>
        <p:nvPicPr>
          <p:cNvPr id="8" name="Picture 7">
            <a:extLst>
              <a:ext uri="{FF2B5EF4-FFF2-40B4-BE49-F238E27FC236}">
                <a16:creationId xmlns:a16="http://schemas.microsoft.com/office/drawing/2014/main" id="{0D9BED98-C0A3-1D0D-E4F7-0A652E544199}"/>
              </a:ext>
            </a:extLst>
          </p:cNvPr>
          <p:cNvPicPr>
            <a:picLocks noChangeAspect="1"/>
          </p:cNvPicPr>
          <p:nvPr/>
        </p:nvPicPr>
        <p:blipFill>
          <a:blip r:embed="rId4"/>
          <a:stretch>
            <a:fillRect/>
          </a:stretch>
        </p:blipFill>
        <p:spPr>
          <a:xfrm>
            <a:off x="4458376" y="2899232"/>
            <a:ext cx="4538712" cy="808152"/>
          </a:xfrm>
          <a:prstGeom prst="rect">
            <a:avLst/>
          </a:prstGeom>
        </p:spPr>
      </p:pic>
      <p:grpSp>
        <p:nvGrpSpPr>
          <p:cNvPr id="11" name="Group 10">
            <a:extLst>
              <a:ext uri="{FF2B5EF4-FFF2-40B4-BE49-F238E27FC236}">
                <a16:creationId xmlns:a16="http://schemas.microsoft.com/office/drawing/2014/main" id="{015B2410-2775-0359-EBEA-5FA006826465}"/>
              </a:ext>
            </a:extLst>
          </p:cNvPr>
          <p:cNvGrpSpPr/>
          <p:nvPr/>
        </p:nvGrpSpPr>
        <p:grpSpPr>
          <a:xfrm>
            <a:off x="356133" y="1289310"/>
            <a:ext cx="3657600" cy="1651000"/>
            <a:chOff x="356133" y="1289310"/>
            <a:chExt cx="3657600" cy="1651000"/>
          </a:xfrm>
        </p:grpSpPr>
        <p:pic>
          <p:nvPicPr>
            <p:cNvPr id="9" name="Picture 8">
              <a:extLst>
                <a:ext uri="{FF2B5EF4-FFF2-40B4-BE49-F238E27FC236}">
                  <a16:creationId xmlns:a16="http://schemas.microsoft.com/office/drawing/2014/main" id="{D36ECC6A-64B0-92BF-B381-7954174438CF}"/>
                </a:ext>
              </a:extLst>
            </p:cNvPr>
            <p:cNvPicPr>
              <a:picLocks noChangeAspect="1"/>
            </p:cNvPicPr>
            <p:nvPr/>
          </p:nvPicPr>
          <p:blipFill>
            <a:blip r:embed="rId5"/>
            <a:stretch>
              <a:fillRect/>
            </a:stretch>
          </p:blipFill>
          <p:spPr>
            <a:xfrm>
              <a:off x="356133" y="1289310"/>
              <a:ext cx="3657600" cy="1651000"/>
            </a:xfrm>
            <a:prstGeom prst="rect">
              <a:avLst/>
            </a:prstGeom>
          </p:spPr>
        </p:pic>
        <p:pic>
          <p:nvPicPr>
            <p:cNvPr id="10" name="Picture 9">
              <a:extLst>
                <a:ext uri="{FF2B5EF4-FFF2-40B4-BE49-F238E27FC236}">
                  <a16:creationId xmlns:a16="http://schemas.microsoft.com/office/drawing/2014/main" id="{24275831-1B54-8496-C184-A4FDFCD3C53B}"/>
                </a:ext>
              </a:extLst>
            </p:cNvPr>
            <p:cNvPicPr>
              <a:picLocks noChangeAspect="1"/>
            </p:cNvPicPr>
            <p:nvPr/>
          </p:nvPicPr>
          <p:blipFill>
            <a:blip r:embed="rId6"/>
            <a:stretch>
              <a:fillRect/>
            </a:stretch>
          </p:blipFill>
          <p:spPr>
            <a:xfrm>
              <a:off x="1475656" y="2450728"/>
              <a:ext cx="558800" cy="330200"/>
            </a:xfrm>
            <a:prstGeom prst="rect">
              <a:avLst/>
            </a:prstGeom>
          </p:spPr>
        </p:pic>
      </p:grpSp>
      <p:pic>
        <p:nvPicPr>
          <p:cNvPr id="12" name="Picture 11">
            <a:extLst>
              <a:ext uri="{FF2B5EF4-FFF2-40B4-BE49-F238E27FC236}">
                <a16:creationId xmlns:a16="http://schemas.microsoft.com/office/drawing/2014/main" id="{734EACCE-3BC8-8EA4-9698-22F66C2181AB}"/>
              </a:ext>
            </a:extLst>
          </p:cNvPr>
          <p:cNvPicPr>
            <a:picLocks noChangeAspect="1"/>
          </p:cNvPicPr>
          <p:nvPr/>
        </p:nvPicPr>
        <p:blipFill>
          <a:blip r:embed="rId7"/>
          <a:stretch>
            <a:fillRect/>
          </a:stretch>
        </p:blipFill>
        <p:spPr>
          <a:xfrm>
            <a:off x="4716016" y="1395740"/>
            <a:ext cx="2971800" cy="1003300"/>
          </a:xfrm>
          <a:prstGeom prst="rect">
            <a:avLst/>
          </a:prstGeom>
        </p:spPr>
      </p:pic>
      <p:grpSp>
        <p:nvGrpSpPr>
          <p:cNvPr id="16" name="Group 15">
            <a:extLst>
              <a:ext uri="{FF2B5EF4-FFF2-40B4-BE49-F238E27FC236}">
                <a16:creationId xmlns:a16="http://schemas.microsoft.com/office/drawing/2014/main" id="{F62AD76B-EBD5-53D3-582E-A81F4DCD5EA0}"/>
              </a:ext>
            </a:extLst>
          </p:cNvPr>
          <p:cNvGrpSpPr/>
          <p:nvPr/>
        </p:nvGrpSpPr>
        <p:grpSpPr>
          <a:xfrm>
            <a:off x="112654" y="3988011"/>
            <a:ext cx="4345722" cy="2285869"/>
            <a:chOff x="226278" y="3954337"/>
            <a:chExt cx="5161598" cy="2715023"/>
          </a:xfrm>
        </p:grpSpPr>
        <p:pic>
          <p:nvPicPr>
            <p:cNvPr id="14" name="Picture 13">
              <a:extLst>
                <a:ext uri="{FF2B5EF4-FFF2-40B4-BE49-F238E27FC236}">
                  <a16:creationId xmlns:a16="http://schemas.microsoft.com/office/drawing/2014/main" id="{A52A993F-DE80-8E67-CF11-2BF4F4273A65}"/>
                </a:ext>
              </a:extLst>
            </p:cNvPr>
            <p:cNvPicPr>
              <a:picLocks noChangeAspect="1"/>
            </p:cNvPicPr>
            <p:nvPr/>
          </p:nvPicPr>
          <p:blipFill rotWithShape="1">
            <a:blip r:embed="rId8"/>
            <a:srcRect b="47215"/>
            <a:stretch/>
          </p:blipFill>
          <p:spPr>
            <a:xfrm>
              <a:off x="226278" y="3954337"/>
              <a:ext cx="2832100" cy="2715023"/>
            </a:xfrm>
            <a:prstGeom prst="rect">
              <a:avLst/>
            </a:prstGeom>
          </p:spPr>
        </p:pic>
        <p:pic>
          <p:nvPicPr>
            <p:cNvPr id="15" name="Picture 14">
              <a:extLst>
                <a:ext uri="{FF2B5EF4-FFF2-40B4-BE49-F238E27FC236}">
                  <a16:creationId xmlns:a16="http://schemas.microsoft.com/office/drawing/2014/main" id="{812B8743-E361-0D44-BF05-C5994FAC6B93}"/>
                </a:ext>
              </a:extLst>
            </p:cNvPr>
            <p:cNvPicPr>
              <a:picLocks noChangeAspect="1"/>
            </p:cNvPicPr>
            <p:nvPr/>
          </p:nvPicPr>
          <p:blipFill rotWithShape="1">
            <a:blip r:embed="rId8"/>
            <a:srcRect t="53023"/>
            <a:stretch/>
          </p:blipFill>
          <p:spPr>
            <a:xfrm>
              <a:off x="2555776" y="4230629"/>
              <a:ext cx="2832100" cy="2416232"/>
            </a:xfrm>
            <a:prstGeom prst="rect">
              <a:avLst/>
            </a:prstGeom>
          </p:spPr>
        </p:pic>
      </p:grpSp>
      <p:grpSp>
        <p:nvGrpSpPr>
          <p:cNvPr id="23" name="Group 22">
            <a:extLst>
              <a:ext uri="{FF2B5EF4-FFF2-40B4-BE49-F238E27FC236}">
                <a16:creationId xmlns:a16="http://schemas.microsoft.com/office/drawing/2014/main" id="{8B17017E-324F-80AE-61EB-EEA20D4DB288}"/>
              </a:ext>
            </a:extLst>
          </p:cNvPr>
          <p:cNvGrpSpPr/>
          <p:nvPr/>
        </p:nvGrpSpPr>
        <p:grpSpPr>
          <a:xfrm>
            <a:off x="4686159" y="3645024"/>
            <a:ext cx="2383905" cy="1920850"/>
            <a:chOff x="4686159" y="3902043"/>
            <a:chExt cx="2832100" cy="2281987"/>
          </a:xfrm>
        </p:grpSpPr>
        <p:grpSp>
          <p:nvGrpSpPr>
            <p:cNvPr id="22" name="Group 21">
              <a:extLst>
                <a:ext uri="{FF2B5EF4-FFF2-40B4-BE49-F238E27FC236}">
                  <a16:creationId xmlns:a16="http://schemas.microsoft.com/office/drawing/2014/main" id="{611DA5EF-BCC1-B1E0-0A9A-EC0FE7D4A1B1}"/>
                </a:ext>
              </a:extLst>
            </p:cNvPr>
            <p:cNvGrpSpPr/>
            <p:nvPr/>
          </p:nvGrpSpPr>
          <p:grpSpPr>
            <a:xfrm>
              <a:off x="4686159" y="3902043"/>
              <a:ext cx="2832100" cy="952500"/>
              <a:chOff x="4686159" y="3902043"/>
              <a:chExt cx="2832100" cy="952500"/>
            </a:xfrm>
          </p:grpSpPr>
          <p:pic>
            <p:nvPicPr>
              <p:cNvPr id="17" name="Picture 16">
                <a:extLst>
                  <a:ext uri="{FF2B5EF4-FFF2-40B4-BE49-F238E27FC236}">
                    <a16:creationId xmlns:a16="http://schemas.microsoft.com/office/drawing/2014/main" id="{EFFDFE34-EA40-A46A-869C-A18BBF8F35F1}"/>
                  </a:ext>
                </a:extLst>
              </p:cNvPr>
              <p:cNvPicPr>
                <a:picLocks noChangeAspect="1"/>
              </p:cNvPicPr>
              <p:nvPr/>
            </p:nvPicPr>
            <p:blipFill>
              <a:blip r:embed="rId9"/>
              <a:stretch>
                <a:fillRect/>
              </a:stretch>
            </p:blipFill>
            <p:spPr>
              <a:xfrm>
                <a:off x="4686159" y="3902043"/>
                <a:ext cx="2832100" cy="952500"/>
              </a:xfrm>
              <a:prstGeom prst="rect">
                <a:avLst/>
              </a:prstGeom>
            </p:spPr>
          </p:pic>
          <p:pic>
            <p:nvPicPr>
              <p:cNvPr id="18" name="Picture 17">
                <a:extLst>
                  <a:ext uri="{FF2B5EF4-FFF2-40B4-BE49-F238E27FC236}">
                    <a16:creationId xmlns:a16="http://schemas.microsoft.com/office/drawing/2014/main" id="{BCDD0B8E-1687-83B9-3A7C-3CC1725660EC}"/>
                  </a:ext>
                </a:extLst>
              </p:cNvPr>
              <p:cNvPicPr>
                <a:picLocks noChangeAspect="1"/>
              </p:cNvPicPr>
              <p:nvPr/>
            </p:nvPicPr>
            <p:blipFill>
              <a:blip r:embed="rId10"/>
              <a:stretch>
                <a:fillRect/>
              </a:stretch>
            </p:blipFill>
            <p:spPr>
              <a:xfrm>
                <a:off x="5770116" y="4203508"/>
                <a:ext cx="863600" cy="584200"/>
              </a:xfrm>
              <a:prstGeom prst="rect">
                <a:avLst/>
              </a:prstGeom>
            </p:spPr>
          </p:pic>
          <p:pic>
            <p:nvPicPr>
              <p:cNvPr id="19" name="Picture 18">
                <a:extLst>
                  <a:ext uri="{FF2B5EF4-FFF2-40B4-BE49-F238E27FC236}">
                    <a16:creationId xmlns:a16="http://schemas.microsoft.com/office/drawing/2014/main" id="{9256FBFB-DC17-3B06-26A8-7BA5DA6E95A8}"/>
                  </a:ext>
                </a:extLst>
              </p:cNvPr>
              <p:cNvPicPr>
                <a:picLocks noChangeAspect="1"/>
              </p:cNvPicPr>
              <p:nvPr/>
            </p:nvPicPr>
            <p:blipFill>
              <a:blip r:embed="rId11"/>
              <a:stretch>
                <a:fillRect/>
              </a:stretch>
            </p:blipFill>
            <p:spPr>
              <a:xfrm>
                <a:off x="6575749" y="4183379"/>
                <a:ext cx="571500" cy="584200"/>
              </a:xfrm>
              <a:prstGeom prst="rect">
                <a:avLst/>
              </a:prstGeom>
            </p:spPr>
          </p:pic>
        </p:grpSp>
        <p:pic>
          <p:nvPicPr>
            <p:cNvPr id="20" name="Picture 19">
              <a:extLst>
                <a:ext uri="{FF2B5EF4-FFF2-40B4-BE49-F238E27FC236}">
                  <a16:creationId xmlns:a16="http://schemas.microsoft.com/office/drawing/2014/main" id="{266E45D6-5597-DC0E-99E4-39926207CC2E}"/>
                </a:ext>
              </a:extLst>
            </p:cNvPr>
            <p:cNvPicPr>
              <a:picLocks noChangeAspect="1"/>
            </p:cNvPicPr>
            <p:nvPr/>
          </p:nvPicPr>
          <p:blipFill>
            <a:blip r:embed="rId12"/>
            <a:stretch>
              <a:fillRect/>
            </a:stretch>
          </p:blipFill>
          <p:spPr>
            <a:xfrm>
              <a:off x="4696966" y="4799730"/>
              <a:ext cx="2146300" cy="1384300"/>
            </a:xfrm>
            <a:prstGeom prst="rect">
              <a:avLst/>
            </a:prstGeom>
          </p:spPr>
        </p:pic>
      </p:grpSp>
      <p:pic>
        <p:nvPicPr>
          <p:cNvPr id="21" name="Picture 20">
            <a:extLst>
              <a:ext uri="{FF2B5EF4-FFF2-40B4-BE49-F238E27FC236}">
                <a16:creationId xmlns:a16="http://schemas.microsoft.com/office/drawing/2014/main" id="{FB3FB012-5452-5129-87FE-EDA33A15E619}"/>
              </a:ext>
            </a:extLst>
          </p:cNvPr>
          <p:cNvPicPr>
            <a:picLocks noChangeAspect="1"/>
          </p:cNvPicPr>
          <p:nvPr/>
        </p:nvPicPr>
        <p:blipFill>
          <a:blip r:embed="rId13"/>
          <a:stretch>
            <a:fillRect/>
          </a:stretch>
        </p:blipFill>
        <p:spPr>
          <a:xfrm>
            <a:off x="4716016" y="5565875"/>
            <a:ext cx="2064491" cy="1148110"/>
          </a:xfrm>
          <a:prstGeom prst="rect">
            <a:avLst/>
          </a:prstGeom>
        </p:spPr>
      </p:pic>
      <p:sp>
        <p:nvSpPr>
          <p:cNvPr id="24" name="Rectangle 23">
            <a:extLst>
              <a:ext uri="{FF2B5EF4-FFF2-40B4-BE49-F238E27FC236}">
                <a16:creationId xmlns:a16="http://schemas.microsoft.com/office/drawing/2014/main" id="{072D22AC-13A1-B070-235A-5A5A0D29E0C0}"/>
              </a:ext>
            </a:extLst>
          </p:cNvPr>
          <p:cNvSpPr/>
          <p:nvPr/>
        </p:nvSpPr>
        <p:spPr>
          <a:xfrm>
            <a:off x="395322" y="1179959"/>
            <a:ext cx="7556590" cy="171630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25" name="Rectangle 24">
            <a:extLst>
              <a:ext uri="{FF2B5EF4-FFF2-40B4-BE49-F238E27FC236}">
                <a16:creationId xmlns:a16="http://schemas.microsoft.com/office/drawing/2014/main" id="{3E1E5B78-C4DC-E907-B562-EB129C3DACE3}"/>
              </a:ext>
            </a:extLst>
          </p:cNvPr>
          <p:cNvSpPr/>
          <p:nvPr/>
        </p:nvSpPr>
        <p:spPr>
          <a:xfrm>
            <a:off x="112654" y="3753679"/>
            <a:ext cx="4345188" cy="296029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26" name="Rectangle 25">
            <a:extLst>
              <a:ext uri="{FF2B5EF4-FFF2-40B4-BE49-F238E27FC236}">
                <a16:creationId xmlns:a16="http://schemas.microsoft.com/office/drawing/2014/main" id="{ECAC0D8B-19B5-8FAA-D40D-6580D62F2886}"/>
              </a:ext>
            </a:extLst>
          </p:cNvPr>
          <p:cNvSpPr/>
          <p:nvPr/>
        </p:nvSpPr>
        <p:spPr>
          <a:xfrm>
            <a:off x="4651900" y="3733520"/>
            <a:ext cx="4345188" cy="298046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294709706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4"/>
                                        </p:tgtEl>
                                      </p:cBhvr>
                                    </p:animEffect>
                                    <p:set>
                                      <p:cBhvr>
                                        <p:cTn id="7"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seq concurrent="1" nextAc="seek">
              <p:cTn id="8" restart="whenNotActive" fill="hold" evtFilter="cancelBubble" nodeType="interactiveSeq">
                <p:stCondLst>
                  <p:cond evt="onClick" delay="0">
                    <p:tgtEl>
                      <p:spTgt spid="2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5"/>
                                        </p:tgtEl>
                                      </p:cBhvr>
                                    </p:animEffect>
                                    <p:set>
                                      <p:cBhvr>
                                        <p:cTn id="13" dur="1" fill="hold">
                                          <p:stCondLst>
                                            <p:cond delay="499"/>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seq concurrent="1" nextAc="seek">
              <p:cTn id="14" restart="whenNotActive" fill="hold" evtFilter="cancelBubble" nodeType="interactiveSeq">
                <p:stCondLst>
                  <p:cond evt="onClick" delay="0">
                    <p:tgtEl>
                      <p:spTgt spid="26"/>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6"/>
                                        </p:tgtEl>
                                      </p:cBhvr>
                                    </p:animEffect>
                                    <p:set>
                                      <p:cBhvr>
                                        <p:cTn id="19" dur="1" fill="hold">
                                          <p:stCondLst>
                                            <p:cond delay="499"/>
                                          </p:stCondLst>
                                        </p:cTn>
                                        <p:tgtEl>
                                          <p:spTgt spid="26"/>
                                        </p:tgtEl>
                                        <p:attrNameLst>
                                          <p:attrName>style.visibility</p:attrName>
                                        </p:attrNameLst>
                                      </p:cBhvr>
                                      <p:to>
                                        <p:strVal val="hidden"/>
                                      </p:to>
                                    </p:set>
                                  </p:childTnLst>
                                </p:cTn>
                              </p:par>
                            </p:childTnLst>
                          </p:cTn>
                        </p:par>
                      </p:childTnLst>
                    </p:cTn>
                  </p:par>
                </p:childTnLst>
              </p:cTn>
              <p:nextCondLst>
                <p:cond evt="onClick" delay="0">
                  <p:tgtEl>
                    <p:spTgt spid="26"/>
                  </p:tgtEl>
                </p:cond>
              </p:nextCondLst>
            </p:seq>
          </p:childTnLst>
        </p:cTn>
      </p:par>
    </p:tnLst>
    <p:bldLst>
      <p:bldP spid="24" grpId="0" animBg="1"/>
      <p:bldP spid="25" grpId="0" animBg="1"/>
      <p:bldP spid="2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Intersection of lines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6" name="Straight Arrow Connector 5"/>
          <p:cNvCxnSpPr/>
          <p:nvPr/>
        </p:nvCxnSpPr>
        <p:spPr>
          <a:xfrm flipV="1">
            <a:off x="1043608" y="1340768"/>
            <a:ext cx="0" cy="309634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p:cNvCxnSpPr/>
          <p:nvPr/>
        </p:nvCxnSpPr>
        <p:spPr>
          <a:xfrm>
            <a:off x="1043608" y="4437112"/>
            <a:ext cx="367240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4699889" y="4238012"/>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𝑥</m:t>
                      </m:r>
                    </m:oMath>
                  </m:oMathPara>
                </a14:m>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4699889" y="4238012"/>
                <a:ext cx="360040" cy="369332"/>
              </a:xfrm>
              <a:prstGeom prst="rect">
                <a:avLst/>
              </a:prstGeom>
              <a:blipFill rotWithShape="0">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863588" y="958529"/>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oMath>
                  </m:oMathPara>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863588" y="958529"/>
                <a:ext cx="360040" cy="369332"/>
              </a:xfrm>
              <a:prstGeom prst="rect">
                <a:avLst/>
              </a:prstGeom>
              <a:blipFill rotWithShape="0">
                <a:blip r:embed="rId3"/>
                <a:stretch>
                  <a:fillRect b="-6557"/>
                </a:stretch>
              </a:blipFill>
            </p:spPr>
            <p:txBody>
              <a:bodyPr/>
              <a:lstStyle/>
              <a:p>
                <a:r>
                  <a:rPr lang="en-GB">
                    <a:noFill/>
                  </a:rPr>
                  <a:t> </a:t>
                </a:r>
              </a:p>
            </p:txBody>
          </p:sp>
        </mc:Fallback>
      </mc:AlternateContent>
      <p:cxnSp>
        <p:nvCxnSpPr>
          <p:cNvPr id="13" name="Straight Connector 12"/>
          <p:cNvCxnSpPr/>
          <p:nvPr/>
        </p:nvCxnSpPr>
        <p:spPr>
          <a:xfrm flipV="1">
            <a:off x="1043608" y="1327861"/>
            <a:ext cx="1152128" cy="3094817"/>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flipH="1" flipV="1">
            <a:off x="725053" y="1761434"/>
            <a:ext cx="3630923" cy="284591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2520006" y="3109044"/>
                <a:ext cx="200009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+2</m:t>
                      </m:r>
                      <m:r>
                        <a:rPr lang="en-GB" b="0" i="1" smtClean="0">
                          <a:latin typeface="Cambria Math" panose="02040503050406030204" pitchFamily="18" charset="0"/>
                        </a:rPr>
                        <m:t>𝑦</m:t>
                      </m:r>
                      <m:r>
                        <a:rPr lang="en-GB" b="0" i="1" smtClean="0">
                          <a:latin typeface="Cambria Math" panose="02040503050406030204" pitchFamily="18" charset="0"/>
                        </a:rPr>
                        <m:t>=4</m:t>
                      </m:r>
                    </m:oMath>
                  </m:oMathPara>
                </a14:m>
                <a:endParaRPr lang="en-GB" dirty="0"/>
              </a:p>
            </p:txBody>
          </p:sp>
        </mc:Choice>
        <mc:Fallback xmlns="">
          <p:sp>
            <p:nvSpPr>
              <p:cNvPr id="17" name="TextBox 16"/>
              <p:cNvSpPr txBox="1">
                <a:spLocks noRot="1" noChangeAspect="1" noMove="1" noResize="1" noEditPoints="1" noAdjustHandles="1" noChangeArrowheads="1" noChangeShapeType="1" noTextEdit="1"/>
              </p:cNvSpPr>
              <p:nvPr/>
            </p:nvSpPr>
            <p:spPr>
              <a:xfrm>
                <a:off x="2520006" y="3109044"/>
                <a:ext cx="2000097" cy="369332"/>
              </a:xfrm>
              <a:prstGeom prst="rect">
                <a:avLst/>
              </a:prstGeom>
              <a:blipFill rotWithShape="0">
                <a:blip r:embed="rId4"/>
                <a:stretch>
                  <a:fillRect b="-1147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1699745" y="1594602"/>
                <a:ext cx="164812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=3</m:t>
                      </m:r>
                      <m:r>
                        <a:rPr lang="en-GB" b="0" i="1" smtClean="0">
                          <a:latin typeface="Cambria Math" panose="02040503050406030204" pitchFamily="18" charset="0"/>
                        </a:rPr>
                        <m:t>𝑥</m:t>
                      </m:r>
                    </m:oMath>
                  </m:oMathPara>
                </a14:m>
                <a:endParaRPr lang="en-GB" dirty="0"/>
              </a:p>
            </p:txBody>
          </p:sp>
        </mc:Choice>
        <mc:Fallback xmlns="">
          <p:sp>
            <p:nvSpPr>
              <p:cNvPr id="18" name="TextBox 17"/>
              <p:cNvSpPr txBox="1">
                <a:spLocks noRot="1" noChangeAspect="1" noMove="1" noResize="1" noEditPoints="1" noAdjustHandles="1" noChangeArrowheads="1" noChangeShapeType="1" noTextEdit="1"/>
              </p:cNvSpPr>
              <p:nvPr/>
            </p:nvSpPr>
            <p:spPr>
              <a:xfrm>
                <a:off x="1699745" y="1594602"/>
                <a:ext cx="1648120" cy="369332"/>
              </a:xfrm>
              <a:prstGeom prst="rect">
                <a:avLst/>
              </a:prstGeom>
              <a:blipFill rotWithShape="0">
                <a:blip r:embed="rId5"/>
                <a:stretch>
                  <a:fillRect b="-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5195863" y="620347"/>
                <a:ext cx="3616527" cy="6244530"/>
              </a:xfrm>
              <a:prstGeom prst="rect">
                <a:avLst/>
              </a:prstGeom>
              <a:noFill/>
            </p:spPr>
            <p:txBody>
              <a:bodyPr wrap="square" rtlCol="0">
                <a:spAutoFit/>
              </a:bodyPr>
              <a:lstStyle/>
              <a:p>
                <a:r>
                  <a:rPr lang="en-GB" dirty="0"/>
                  <a:t>The diagram shows two lines with equations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=3</m:t>
                    </m:r>
                    <m:r>
                      <a:rPr lang="en-GB" b="0" i="1" smtClean="0">
                        <a:latin typeface="Cambria Math" panose="02040503050406030204" pitchFamily="18" charset="0"/>
                      </a:rPr>
                      <m:t>𝑥</m:t>
                    </m:r>
                  </m:oMath>
                </a14:m>
                <a:r>
                  <a:rPr lang="en-GB" dirty="0"/>
                  <a:t> and </a:t>
                </a:r>
                <a14:m>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+2</m:t>
                    </m:r>
                    <m:r>
                      <a:rPr lang="en-GB" b="0" i="1" smtClean="0">
                        <a:latin typeface="Cambria Math" panose="02040503050406030204" pitchFamily="18" charset="0"/>
                      </a:rPr>
                      <m:t>𝑦</m:t>
                    </m:r>
                    <m:r>
                      <a:rPr lang="en-GB" b="0" i="1" smtClean="0">
                        <a:latin typeface="Cambria Math" panose="02040503050406030204" pitchFamily="18" charset="0"/>
                      </a:rPr>
                      <m:t>=4</m:t>
                    </m:r>
                  </m:oMath>
                </a14:m>
                <a:r>
                  <a:rPr lang="en-GB" dirty="0"/>
                  <a:t>, which intersect at the point </a:t>
                </a:r>
                <a14:m>
                  <m:oMath xmlns:m="http://schemas.openxmlformats.org/officeDocument/2006/math">
                    <m:r>
                      <a:rPr lang="en-GB" b="0" i="1" smtClean="0">
                        <a:latin typeface="Cambria Math" panose="02040503050406030204" pitchFamily="18" charset="0"/>
                      </a:rPr>
                      <m:t>𝑃</m:t>
                    </m:r>
                  </m:oMath>
                </a14:m>
                <a:r>
                  <a:rPr lang="en-GB" dirty="0"/>
                  <a:t>.</a:t>
                </a:r>
              </a:p>
              <a:p>
                <a:endParaRPr lang="en-GB" dirty="0"/>
              </a:p>
              <a:p>
                <a:pPr marL="342900" indent="-342900">
                  <a:buAutoNum type="alphaLcParenR"/>
                </a:pPr>
                <a:r>
                  <a:rPr lang="en-GB" dirty="0"/>
                  <a:t>Determine the coordinates of </a:t>
                </a:r>
                <a14:m>
                  <m:oMath xmlns:m="http://schemas.openxmlformats.org/officeDocument/2006/math">
                    <m:r>
                      <a:rPr lang="en-GB" b="0" i="1" smtClean="0">
                        <a:latin typeface="Cambria Math" panose="02040503050406030204" pitchFamily="18" charset="0"/>
                      </a:rPr>
                      <m:t>𝑃</m:t>
                    </m:r>
                  </m:oMath>
                </a14:m>
                <a:r>
                  <a:rPr lang="en-GB" dirty="0"/>
                  <a:t>.</a:t>
                </a:r>
                <a:br>
                  <a:rPr lang="en-GB" dirty="0"/>
                </a:br>
                <a:br>
                  <a:rPr lang="en-GB" dirty="0"/>
                </a:br>
                <a:r>
                  <a:rPr lang="en-GB" b="1" dirty="0"/>
                  <a:t>We know from Chapter 4 we can just solve two equations simultaneously.</a:t>
                </a:r>
                <a:br>
                  <a:rPr lang="en-GB" b="1" dirty="0"/>
                </a:br>
                <a14:m>
                  <m:oMath xmlns:m="http://schemas.openxmlformats.org/officeDocument/2006/math">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𝟐</m:t>
                    </m:r>
                    <m:d>
                      <m:dPr>
                        <m:ctrlPr>
                          <a:rPr lang="en-GB" b="1" i="1" smtClean="0">
                            <a:latin typeface="Cambria Math" panose="02040503050406030204" pitchFamily="18" charset="0"/>
                          </a:rPr>
                        </m:ctrlPr>
                      </m:dPr>
                      <m:e>
                        <m:r>
                          <a:rPr lang="en-GB" b="1" i="1" smtClean="0">
                            <a:latin typeface="Cambria Math" panose="02040503050406030204" pitchFamily="18" charset="0"/>
                          </a:rPr>
                          <m:t>𝟑</m:t>
                        </m:r>
                        <m:r>
                          <a:rPr lang="en-GB" b="1" i="1" smtClean="0">
                            <a:latin typeface="Cambria Math" panose="02040503050406030204" pitchFamily="18" charset="0"/>
                          </a:rPr>
                          <m:t>𝒙</m:t>
                        </m:r>
                      </m:e>
                    </m:d>
                    <m:r>
                      <a:rPr lang="en-GB" b="1" i="1" smtClean="0">
                        <a:latin typeface="Cambria Math" panose="02040503050406030204" pitchFamily="18" charset="0"/>
                      </a:rPr>
                      <m:t>=</m:t>
                    </m:r>
                    <m:r>
                      <a:rPr lang="en-GB" b="1" i="1" smtClean="0">
                        <a:latin typeface="Cambria Math" panose="02040503050406030204" pitchFamily="18" charset="0"/>
                      </a:rPr>
                      <m:t>𝟒</m:t>
                    </m:r>
                  </m:oMath>
                </a14:m>
                <a:br>
                  <a:rPr lang="en-GB" b="1" dirty="0"/>
                </a:br>
                <a14:m>
                  <m:oMath xmlns:m="http://schemas.openxmlformats.org/officeDocument/2006/math">
                    <m:r>
                      <a:rPr lang="en-GB" b="1" i="1" smtClean="0">
                        <a:latin typeface="Cambria Math" panose="02040503050406030204" pitchFamily="18" charset="0"/>
                      </a:rPr>
                      <m:t>𝟕</m:t>
                    </m:r>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𝟒</m:t>
                    </m:r>
                  </m:oMath>
                </a14:m>
                <a:br>
                  <a:rPr lang="en-GB" b="1" dirty="0"/>
                </a:br>
                <a14:m>
                  <m:oMath xmlns:m="http://schemas.openxmlformats.org/officeDocument/2006/math">
                    <m:r>
                      <a:rPr lang="en-GB" b="1" i="1" smtClean="0">
                        <a:latin typeface="Cambria Math" panose="02040503050406030204" pitchFamily="18" charset="0"/>
                      </a:rPr>
                      <m:t>𝒙</m:t>
                    </m:r>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𝟒</m:t>
                        </m:r>
                      </m:num>
                      <m:den>
                        <m:r>
                          <a:rPr lang="en-GB" b="1" i="1" smtClean="0">
                            <a:latin typeface="Cambria Math" panose="02040503050406030204" pitchFamily="18" charset="0"/>
                          </a:rPr>
                          <m:t>𝟕</m:t>
                        </m:r>
                      </m:den>
                    </m:f>
                  </m:oMath>
                </a14:m>
                <a:br>
                  <a:rPr lang="en-GB" b="1" dirty="0"/>
                </a:br>
                <a14:m>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𝟑</m:t>
                    </m:r>
                    <m:d>
                      <m:dPr>
                        <m:ctrlPr>
                          <a:rPr lang="en-GB" b="1" i="1" smtClean="0">
                            <a:latin typeface="Cambria Math" panose="02040503050406030204" pitchFamily="18" charset="0"/>
                          </a:rPr>
                        </m:ctrlPr>
                      </m:dPr>
                      <m:e>
                        <m:f>
                          <m:fPr>
                            <m:ctrlPr>
                              <a:rPr lang="en-GB" b="1" i="1" smtClean="0">
                                <a:latin typeface="Cambria Math" panose="02040503050406030204" pitchFamily="18" charset="0"/>
                              </a:rPr>
                            </m:ctrlPr>
                          </m:fPr>
                          <m:num>
                            <m:r>
                              <a:rPr lang="en-GB" b="1" i="1" smtClean="0">
                                <a:latin typeface="Cambria Math" panose="02040503050406030204" pitchFamily="18" charset="0"/>
                              </a:rPr>
                              <m:t>𝟒</m:t>
                            </m:r>
                          </m:num>
                          <m:den>
                            <m:r>
                              <a:rPr lang="en-GB" b="1" i="1" smtClean="0">
                                <a:latin typeface="Cambria Math" panose="02040503050406030204" pitchFamily="18" charset="0"/>
                              </a:rPr>
                              <m:t>𝟕</m:t>
                            </m:r>
                          </m:den>
                        </m:f>
                      </m:e>
                    </m:d>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𝟏𝟐</m:t>
                        </m:r>
                      </m:num>
                      <m:den>
                        <m:r>
                          <a:rPr lang="en-GB" b="1" i="1" smtClean="0">
                            <a:latin typeface="Cambria Math" panose="02040503050406030204" pitchFamily="18" charset="0"/>
                          </a:rPr>
                          <m:t>𝟕</m:t>
                        </m:r>
                      </m:den>
                    </m:f>
                  </m:oMath>
                </a14:m>
                <a:endParaRPr lang="en-GB" b="1" dirty="0"/>
              </a:p>
              <a:p>
                <a:endParaRPr lang="en-GB" dirty="0"/>
              </a:p>
              <a:p>
                <a:pPr marL="342900" indent="-342900">
                  <a:buFont typeface="+mj-lt"/>
                  <a:buAutoNum type="alphaLcParenR" startAt="2"/>
                </a:pPr>
                <a:r>
                  <a:rPr lang="en-GB" dirty="0"/>
                  <a:t>The line </a:t>
                </a:r>
                <a14:m>
                  <m:oMath xmlns:m="http://schemas.openxmlformats.org/officeDocument/2006/math">
                    <m:r>
                      <a:rPr lang="en-GB">
                        <a:latin typeface="Cambria Math" panose="02040503050406030204" pitchFamily="18" charset="0"/>
                      </a:rPr>
                      <m:t>𝑥</m:t>
                    </m:r>
                    <m:r>
                      <a:rPr lang="en-GB">
                        <a:latin typeface="Cambria Math" panose="02040503050406030204" pitchFamily="18" charset="0"/>
                      </a:rPr>
                      <m:t>+2</m:t>
                    </m:r>
                    <m:r>
                      <a:rPr lang="en-GB">
                        <a:latin typeface="Cambria Math" panose="02040503050406030204" pitchFamily="18" charset="0"/>
                      </a:rPr>
                      <m:t>𝑦</m:t>
                    </m:r>
                    <m:r>
                      <a:rPr lang="en-GB">
                        <a:latin typeface="Cambria Math" panose="02040503050406030204" pitchFamily="18" charset="0"/>
                      </a:rPr>
                      <m:t>=4</m:t>
                    </m:r>
                  </m:oMath>
                </a14:m>
                <a:r>
                  <a:rPr lang="en-GB" dirty="0"/>
                  <a:t> intersects the </a:t>
                </a:r>
                <a14:m>
                  <m:oMath xmlns:m="http://schemas.openxmlformats.org/officeDocument/2006/math">
                    <m:r>
                      <a:rPr lang="en-GB">
                        <a:latin typeface="Cambria Math" panose="02040503050406030204" pitchFamily="18" charset="0"/>
                      </a:rPr>
                      <m:t>𝑥</m:t>
                    </m:r>
                  </m:oMath>
                </a14:m>
                <a:r>
                  <a:rPr lang="en-GB" dirty="0"/>
                  <a:t>-axis at the point </a:t>
                </a:r>
                <a14:m>
                  <m:oMath xmlns:m="http://schemas.openxmlformats.org/officeDocument/2006/math">
                    <m:r>
                      <a:rPr lang="en-GB">
                        <a:latin typeface="Cambria Math" panose="02040503050406030204" pitchFamily="18" charset="0"/>
                      </a:rPr>
                      <m:t>𝑄</m:t>
                    </m:r>
                  </m:oMath>
                </a14:m>
                <a:r>
                  <a:rPr lang="en-GB" dirty="0"/>
                  <a:t>. Determine the coordinate of </a:t>
                </a:r>
                <a14:m>
                  <m:oMath xmlns:m="http://schemas.openxmlformats.org/officeDocument/2006/math">
                    <m:r>
                      <a:rPr lang="en-GB">
                        <a:latin typeface="Cambria Math" panose="02040503050406030204" pitchFamily="18" charset="0"/>
                      </a:rPr>
                      <m:t>𝑄</m:t>
                    </m:r>
                  </m:oMath>
                </a14:m>
                <a:r>
                  <a:rPr lang="en-GB" dirty="0"/>
                  <a:t>.</a:t>
                </a:r>
              </a:p>
              <a:p>
                <a:pPr marL="342900" indent="-342900">
                  <a:buFont typeface="+mj-lt"/>
                  <a:buAutoNum type="alphaLcParenR" startAt="2"/>
                </a:pPr>
                <a:endParaRPr lang="en-GB" dirty="0"/>
              </a:p>
              <a:p>
                <a:pPr>
                  <a:tabLst>
                    <a:tab pos="717550" algn="l"/>
                  </a:tabLst>
                </a:pPr>
                <a:r>
                  <a:rPr lang="en-GB" b="1" dirty="0"/>
                  <a:t>	When </a:t>
                </a:r>
                <a14:m>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𝟎</m:t>
                    </m:r>
                    <m:r>
                      <a:rPr lang="en-GB" b="1" i="1" smtClean="0">
                        <a:latin typeface="Cambria Math" panose="02040503050406030204" pitchFamily="18" charset="0"/>
                      </a:rPr>
                      <m:t>, </m:t>
                    </m:r>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𝟒</m:t>
                    </m:r>
                  </m:oMath>
                </a14:m>
                <a:endParaRPr lang="en-GB" b="1" dirty="0"/>
              </a:p>
              <a:p>
                <a:pPr>
                  <a:tabLst>
                    <a:tab pos="717550" algn="l"/>
                  </a:tabLst>
                </a:pPr>
                <a:r>
                  <a:rPr lang="en-GB" b="1" dirty="0"/>
                  <a:t>	Area </a:t>
                </a:r>
                <a14:m>
                  <m:oMath xmlns:m="http://schemas.openxmlformats.org/officeDocument/2006/math">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𝟐</m:t>
                        </m:r>
                      </m:den>
                    </m:f>
                    <m:r>
                      <a:rPr lang="en-GB" b="1" i="1" smtClean="0">
                        <a:latin typeface="Cambria Math" panose="02040503050406030204" pitchFamily="18" charset="0"/>
                      </a:rPr>
                      <m:t>×</m:t>
                    </m:r>
                    <m:r>
                      <a:rPr lang="en-GB" b="1" i="1" smtClean="0">
                        <a:latin typeface="Cambria Math" panose="02040503050406030204" pitchFamily="18" charset="0"/>
                      </a:rPr>
                      <m:t>𝟒</m:t>
                    </m:r>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𝟏𝟐</m:t>
                        </m:r>
                      </m:num>
                      <m:den>
                        <m:r>
                          <a:rPr lang="en-GB" b="1" i="1" smtClean="0">
                            <a:latin typeface="Cambria Math" panose="02040503050406030204" pitchFamily="18" charset="0"/>
                          </a:rPr>
                          <m:t>𝟕</m:t>
                        </m:r>
                      </m:den>
                    </m:f>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𝟐𝟒</m:t>
                        </m:r>
                      </m:num>
                      <m:den>
                        <m:r>
                          <a:rPr lang="en-GB" b="1" i="1" smtClean="0">
                            <a:latin typeface="Cambria Math" panose="02040503050406030204" pitchFamily="18" charset="0"/>
                          </a:rPr>
                          <m:t>𝟕</m:t>
                        </m:r>
                      </m:den>
                    </m:f>
                  </m:oMath>
                </a14:m>
                <a:endParaRPr lang="en-GB" dirty="0"/>
              </a:p>
            </p:txBody>
          </p:sp>
        </mc:Choice>
        <mc:Fallback xmlns="">
          <p:sp>
            <p:nvSpPr>
              <p:cNvPr id="19" name="TextBox 18"/>
              <p:cNvSpPr txBox="1">
                <a:spLocks noRot="1" noChangeAspect="1" noMove="1" noResize="1" noEditPoints="1" noAdjustHandles="1" noChangeArrowheads="1" noChangeShapeType="1" noTextEdit="1"/>
              </p:cNvSpPr>
              <p:nvPr/>
            </p:nvSpPr>
            <p:spPr>
              <a:xfrm>
                <a:off x="5195863" y="620347"/>
                <a:ext cx="3616527" cy="6244530"/>
              </a:xfrm>
              <a:prstGeom prst="rect">
                <a:avLst/>
              </a:prstGeom>
              <a:blipFill>
                <a:blip r:embed="rId6"/>
                <a:stretch>
                  <a:fillRect l="-1347" t="-586" r="-269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1625064" y="2321965"/>
                <a:ext cx="60803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oMath>
                  </m:oMathPara>
                </a14:m>
                <a:endParaRPr lang="en-GB" dirty="0"/>
              </a:p>
            </p:txBody>
          </p:sp>
        </mc:Choice>
        <mc:Fallback xmlns="">
          <p:sp>
            <p:nvSpPr>
              <p:cNvPr id="20" name="TextBox 19"/>
              <p:cNvSpPr txBox="1">
                <a:spLocks noRot="1" noChangeAspect="1" noMove="1" noResize="1" noEditPoints="1" noAdjustHandles="1" noChangeArrowheads="1" noChangeShapeType="1" noTextEdit="1"/>
              </p:cNvSpPr>
              <p:nvPr/>
            </p:nvSpPr>
            <p:spPr>
              <a:xfrm>
                <a:off x="1625064" y="2321965"/>
                <a:ext cx="608037" cy="369332"/>
              </a:xfrm>
              <a:prstGeom prst="rect">
                <a:avLst/>
              </a:prstGeom>
              <a:blipFill rotWithShape="0">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3726214" y="4437112"/>
                <a:ext cx="60803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𝑄</m:t>
                      </m:r>
                    </m:oMath>
                  </m:oMathPara>
                </a14:m>
                <a:endParaRPr lang="en-GB" dirty="0"/>
              </a:p>
            </p:txBody>
          </p:sp>
        </mc:Choice>
        <mc:Fallback xmlns="">
          <p:sp>
            <p:nvSpPr>
              <p:cNvPr id="21" name="TextBox 20"/>
              <p:cNvSpPr txBox="1">
                <a:spLocks noRot="1" noChangeAspect="1" noMove="1" noResize="1" noEditPoints="1" noAdjustHandles="1" noChangeArrowheads="1" noChangeShapeType="1" noTextEdit="1"/>
              </p:cNvSpPr>
              <p:nvPr/>
            </p:nvSpPr>
            <p:spPr>
              <a:xfrm>
                <a:off x="3726214" y="4437112"/>
                <a:ext cx="608037" cy="369332"/>
              </a:xfrm>
              <a:prstGeom prst="rect">
                <a:avLst/>
              </a:prstGeom>
              <a:blipFill rotWithShape="0">
                <a:blip r:embed="rId8"/>
                <a:stretch>
                  <a:fillRect b="-1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702391" y="4437112"/>
                <a:ext cx="60803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𝑂</m:t>
                      </m:r>
                    </m:oMath>
                  </m:oMathPara>
                </a14:m>
                <a:endParaRPr lang="en-GB" dirty="0"/>
              </a:p>
            </p:txBody>
          </p:sp>
        </mc:Choice>
        <mc:Fallback xmlns="">
          <p:sp>
            <p:nvSpPr>
              <p:cNvPr id="22" name="TextBox 21"/>
              <p:cNvSpPr txBox="1">
                <a:spLocks noRot="1" noChangeAspect="1" noMove="1" noResize="1" noEditPoints="1" noAdjustHandles="1" noChangeArrowheads="1" noChangeShapeType="1" noTextEdit="1"/>
              </p:cNvSpPr>
              <p:nvPr/>
            </p:nvSpPr>
            <p:spPr>
              <a:xfrm>
                <a:off x="702391" y="4437112"/>
                <a:ext cx="608037" cy="369332"/>
              </a:xfrm>
              <a:prstGeom prst="rect">
                <a:avLst/>
              </a:prstGeom>
              <a:blipFill rotWithShape="0">
                <a:blip r:embed="rId9"/>
                <a:stretch>
                  <a:fillRect/>
                </a:stretch>
              </a:blipFill>
            </p:spPr>
            <p:txBody>
              <a:bodyPr/>
              <a:lstStyle/>
              <a:p>
                <a:r>
                  <a:rPr lang="en-GB">
                    <a:noFill/>
                  </a:rPr>
                  <a:t> </a:t>
                </a:r>
              </a:p>
            </p:txBody>
          </p:sp>
        </mc:Fallback>
      </mc:AlternateContent>
      <p:sp>
        <p:nvSpPr>
          <p:cNvPr id="23" name="Rectangle 22"/>
          <p:cNvSpPr/>
          <p:nvPr/>
        </p:nvSpPr>
        <p:spPr>
          <a:xfrm>
            <a:off x="5435041" y="2264911"/>
            <a:ext cx="3276710" cy="251929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24" name="Rectangle 23"/>
          <p:cNvSpPr/>
          <p:nvPr/>
        </p:nvSpPr>
        <p:spPr>
          <a:xfrm>
            <a:off x="5495215" y="5949280"/>
            <a:ext cx="3274942" cy="86409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232840545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3"/>
                                        </p:tgtEl>
                                      </p:cBhvr>
                                    </p:animEffect>
                                    <p:set>
                                      <p:cBhvr>
                                        <p:cTn id="7"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seq concurrent="1" nextAc="seek">
              <p:cTn id="8" restart="whenNotActive" fill="hold" evtFilter="cancelBubble" nodeType="interactiveSeq">
                <p:stCondLst>
                  <p:cond evt="onClick" delay="0">
                    <p:tgtEl>
                      <p:spTgt spid="2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4"/>
                                        </p:tgtEl>
                                      </p:cBhvr>
                                    </p:animEffect>
                                    <p:set>
                                      <p:cBhvr>
                                        <p:cTn id="13"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childTnLst>
        </p:cTn>
      </p:par>
    </p:tnLst>
    <p:bldLst>
      <p:bldP spid="23" grpId="0" animBg="1"/>
      <p:bldP spid="2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p:cNvPicPr>
            <a:picLocks noChangeAspect="1"/>
          </p:cNvPicPr>
          <p:nvPr/>
        </p:nvPicPr>
        <p:blipFill>
          <a:blip r:embed="rId2"/>
          <a:stretch>
            <a:fillRect/>
          </a:stretch>
        </p:blipFill>
        <p:spPr>
          <a:xfrm>
            <a:off x="395536" y="1296262"/>
            <a:ext cx="6762750" cy="1866900"/>
          </a:xfrm>
          <a:prstGeom prst="rect">
            <a:avLst/>
          </a:prstGeom>
          <a:effectLst>
            <a:outerShdw blurRad="63500" sx="102000" sy="102000" algn="ctr" rotWithShape="0">
              <a:prstClr val="black">
                <a:alpha val="40000"/>
              </a:prstClr>
            </a:outerShdw>
          </a:effectLst>
        </p:spPr>
      </p:pic>
      <p:sp>
        <p:nvSpPr>
          <p:cNvPr id="6" name="TextBox 5"/>
          <p:cNvSpPr txBox="1"/>
          <p:nvPr/>
        </p:nvSpPr>
        <p:spPr>
          <a:xfrm>
            <a:off x="395536" y="926930"/>
            <a:ext cx="2592288"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C1 Edexcel May 2013 Q6</a:t>
            </a:r>
          </a:p>
        </p:txBody>
      </p:sp>
      <p:pic>
        <p:nvPicPr>
          <p:cNvPr id="7" name="Picture 6"/>
          <p:cNvPicPr>
            <a:picLocks noChangeAspect="1"/>
          </p:cNvPicPr>
          <p:nvPr/>
        </p:nvPicPr>
        <p:blipFill>
          <a:blip r:embed="rId3"/>
          <a:stretch>
            <a:fillRect/>
          </a:stretch>
        </p:blipFill>
        <p:spPr>
          <a:xfrm>
            <a:off x="1122310" y="3217592"/>
            <a:ext cx="5692147" cy="1854648"/>
          </a:xfrm>
          <a:prstGeom prst="rect">
            <a:avLst/>
          </a:prstGeom>
        </p:spPr>
      </p:pic>
      <p:pic>
        <p:nvPicPr>
          <p:cNvPr id="8" name="Picture 7"/>
          <p:cNvPicPr>
            <a:picLocks noChangeAspect="1"/>
          </p:cNvPicPr>
          <p:nvPr/>
        </p:nvPicPr>
        <p:blipFill>
          <a:blip r:embed="rId4"/>
          <a:stretch>
            <a:fillRect/>
          </a:stretch>
        </p:blipFill>
        <p:spPr>
          <a:xfrm>
            <a:off x="806223" y="4943475"/>
            <a:ext cx="6638925" cy="1847850"/>
          </a:xfrm>
          <a:prstGeom prst="rect">
            <a:avLst/>
          </a:prstGeom>
        </p:spPr>
      </p:pic>
      <p:sp>
        <p:nvSpPr>
          <p:cNvPr id="9" name="Rectangle 8"/>
          <p:cNvSpPr/>
          <p:nvPr/>
        </p:nvSpPr>
        <p:spPr>
          <a:xfrm>
            <a:off x="1541905" y="3222171"/>
            <a:ext cx="5882152" cy="170811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10" name="Rectangle 9"/>
          <p:cNvSpPr/>
          <p:nvPr/>
        </p:nvSpPr>
        <p:spPr>
          <a:xfrm>
            <a:off x="1541905" y="4930282"/>
            <a:ext cx="5882152" cy="187328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296225082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9"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5D – Pure Y1 Page 96</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987C0E29-2AB1-63CC-197C-8365DF3858EA}"/>
              </a:ext>
            </a:extLst>
          </p:cNvPr>
          <p:cNvPicPr>
            <a:picLocks noChangeAspect="1"/>
          </p:cNvPicPr>
          <p:nvPr/>
        </p:nvPicPr>
        <p:blipFill>
          <a:blip r:embed="rId2"/>
          <a:stretch>
            <a:fillRect/>
          </a:stretch>
        </p:blipFill>
        <p:spPr>
          <a:xfrm>
            <a:off x="323528" y="673920"/>
            <a:ext cx="7772400" cy="541116"/>
          </a:xfrm>
          <a:prstGeom prst="rect">
            <a:avLst/>
          </a:prstGeom>
        </p:spPr>
      </p:pic>
      <p:pic>
        <p:nvPicPr>
          <p:cNvPr id="6" name="Picture 5">
            <a:extLst>
              <a:ext uri="{FF2B5EF4-FFF2-40B4-BE49-F238E27FC236}">
                <a16:creationId xmlns:a16="http://schemas.microsoft.com/office/drawing/2014/main" id="{0CB3BE93-4C27-816A-A86B-B881999E93EF}"/>
              </a:ext>
            </a:extLst>
          </p:cNvPr>
          <p:cNvPicPr>
            <a:picLocks noChangeAspect="1"/>
          </p:cNvPicPr>
          <p:nvPr/>
        </p:nvPicPr>
        <p:blipFill>
          <a:blip r:embed="rId3"/>
          <a:stretch>
            <a:fillRect/>
          </a:stretch>
        </p:blipFill>
        <p:spPr>
          <a:xfrm>
            <a:off x="683568" y="1277075"/>
            <a:ext cx="2298700" cy="1193800"/>
          </a:xfrm>
          <a:prstGeom prst="rect">
            <a:avLst/>
          </a:prstGeom>
        </p:spPr>
      </p:pic>
      <p:pic>
        <p:nvPicPr>
          <p:cNvPr id="8" name="Picture 7">
            <a:extLst>
              <a:ext uri="{FF2B5EF4-FFF2-40B4-BE49-F238E27FC236}">
                <a16:creationId xmlns:a16="http://schemas.microsoft.com/office/drawing/2014/main" id="{FB2ACBA0-9D49-440D-D81E-61F51E9AA445}"/>
              </a:ext>
            </a:extLst>
          </p:cNvPr>
          <p:cNvPicPr>
            <a:picLocks noChangeAspect="1"/>
          </p:cNvPicPr>
          <p:nvPr/>
        </p:nvPicPr>
        <p:blipFill>
          <a:blip r:embed="rId4"/>
          <a:stretch>
            <a:fillRect/>
          </a:stretch>
        </p:blipFill>
        <p:spPr>
          <a:xfrm>
            <a:off x="2798118" y="1988840"/>
            <a:ext cx="368300" cy="292100"/>
          </a:xfrm>
          <a:prstGeom prst="rect">
            <a:avLst/>
          </a:prstGeom>
        </p:spPr>
      </p:pic>
      <p:pic>
        <p:nvPicPr>
          <p:cNvPr id="9" name="Picture 8">
            <a:extLst>
              <a:ext uri="{FF2B5EF4-FFF2-40B4-BE49-F238E27FC236}">
                <a16:creationId xmlns:a16="http://schemas.microsoft.com/office/drawing/2014/main" id="{D937B62F-BBC6-32E6-6EDA-CE2A506EC16B}"/>
              </a:ext>
            </a:extLst>
          </p:cNvPr>
          <p:cNvPicPr>
            <a:picLocks noChangeAspect="1"/>
          </p:cNvPicPr>
          <p:nvPr/>
        </p:nvPicPr>
        <p:blipFill>
          <a:blip r:embed="rId5"/>
          <a:stretch>
            <a:fillRect/>
          </a:stretch>
        </p:blipFill>
        <p:spPr>
          <a:xfrm>
            <a:off x="4148212" y="1277075"/>
            <a:ext cx="2396187" cy="1668773"/>
          </a:xfrm>
          <a:prstGeom prst="rect">
            <a:avLst/>
          </a:prstGeom>
        </p:spPr>
      </p:pic>
      <p:pic>
        <p:nvPicPr>
          <p:cNvPr id="10" name="Picture 9">
            <a:extLst>
              <a:ext uri="{FF2B5EF4-FFF2-40B4-BE49-F238E27FC236}">
                <a16:creationId xmlns:a16="http://schemas.microsoft.com/office/drawing/2014/main" id="{F969075F-3221-419F-FDFA-0A1DC8AC9EC1}"/>
              </a:ext>
            </a:extLst>
          </p:cNvPr>
          <p:cNvPicPr>
            <a:picLocks noChangeAspect="1"/>
          </p:cNvPicPr>
          <p:nvPr/>
        </p:nvPicPr>
        <p:blipFill>
          <a:blip r:embed="rId6"/>
          <a:stretch>
            <a:fillRect/>
          </a:stretch>
        </p:blipFill>
        <p:spPr>
          <a:xfrm>
            <a:off x="323528" y="3079281"/>
            <a:ext cx="7772400" cy="699437"/>
          </a:xfrm>
          <a:prstGeom prst="rect">
            <a:avLst/>
          </a:prstGeom>
        </p:spPr>
      </p:pic>
      <p:pic>
        <p:nvPicPr>
          <p:cNvPr id="11" name="Picture 10">
            <a:extLst>
              <a:ext uri="{FF2B5EF4-FFF2-40B4-BE49-F238E27FC236}">
                <a16:creationId xmlns:a16="http://schemas.microsoft.com/office/drawing/2014/main" id="{12492BCF-2605-2CDA-E507-550663619776}"/>
              </a:ext>
            </a:extLst>
          </p:cNvPr>
          <p:cNvPicPr>
            <a:picLocks noChangeAspect="1"/>
          </p:cNvPicPr>
          <p:nvPr/>
        </p:nvPicPr>
        <p:blipFill>
          <a:blip r:embed="rId7"/>
          <a:stretch>
            <a:fillRect/>
          </a:stretch>
        </p:blipFill>
        <p:spPr>
          <a:xfrm>
            <a:off x="467544" y="3912151"/>
            <a:ext cx="3454400" cy="1981200"/>
          </a:xfrm>
          <a:prstGeom prst="rect">
            <a:avLst/>
          </a:prstGeom>
        </p:spPr>
      </p:pic>
      <p:pic>
        <p:nvPicPr>
          <p:cNvPr id="12" name="Picture 11">
            <a:extLst>
              <a:ext uri="{FF2B5EF4-FFF2-40B4-BE49-F238E27FC236}">
                <a16:creationId xmlns:a16="http://schemas.microsoft.com/office/drawing/2014/main" id="{64AAD8A5-788B-F695-9A6D-73E494EF7A07}"/>
              </a:ext>
            </a:extLst>
          </p:cNvPr>
          <p:cNvPicPr>
            <a:picLocks noChangeAspect="1"/>
          </p:cNvPicPr>
          <p:nvPr/>
        </p:nvPicPr>
        <p:blipFill>
          <a:blip r:embed="rId8"/>
          <a:stretch>
            <a:fillRect/>
          </a:stretch>
        </p:blipFill>
        <p:spPr>
          <a:xfrm>
            <a:off x="1832918" y="5619230"/>
            <a:ext cx="558800" cy="292100"/>
          </a:xfrm>
          <a:prstGeom prst="rect">
            <a:avLst/>
          </a:prstGeom>
        </p:spPr>
      </p:pic>
      <p:pic>
        <p:nvPicPr>
          <p:cNvPr id="14" name="Picture 13">
            <a:extLst>
              <a:ext uri="{FF2B5EF4-FFF2-40B4-BE49-F238E27FC236}">
                <a16:creationId xmlns:a16="http://schemas.microsoft.com/office/drawing/2014/main" id="{7F733DE8-EB3A-28E2-5F4A-AFD79F95A39B}"/>
              </a:ext>
            </a:extLst>
          </p:cNvPr>
          <p:cNvPicPr>
            <a:picLocks noChangeAspect="1"/>
          </p:cNvPicPr>
          <p:nvPr/>
        </p:nvPicPr>
        <p:blipFill>
          <a:blip r:embed="rId9"/>
          <a:stretch>
            <a:fillRect/>
          </a:stretch>
        </p:blipFill>
        <p:spPr>
          <a:xfrm>
            <a:off x="4708109" y="3811984"/>
            <a:ext cx="2743200" cy="3073400"/>
          </a:xfrm>
          <a:prstGeom prst="rect">
            <a:avLst/>
          </a:prstGeom>
        </p:spPr>
      </p:pic>
      <p:sp>
        <p:nvSpPr>
          <p:cNvPr id="15" name="Rectangle 14">
            <a:extLst>
              <a:ext uri="{FF2B5EF4-FFF2-40B4-BE49-F238E27FC236}">
                <a16:creationId xmlns:a16="http://schemas.microsoft.com/office/drawing/2014/main" id="{E5188CDD-F19A-1A50-839A-093A771E2233}"/>
              </a:ext>
            </a:extLst>
          </p:cNvPr>
          <p:cNvSpPr/>
          <p:nvPr/>
        </p:nvSpPr>
        <p:spPr>
          <a:xfrm>
            <a:off x="323529" y="1225541"/>
            <a:ext cx="7127780" cy="170811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16" name="Rectangle 15">
            <a:extLst>
              <a:ext uri="{FF2B5EF4-FFF2-40B4-BE49-F238E27FC236}">
                <a16:creationId xmlns:a16="http://schemas.microsoft.com/office/drawing/2014/main" id="{2AA39075-C91A-B025-38C9-BEE3A264BE84}"/>
              </a:ext>
            </a:extLst>
          </p:cNvPr>
          <p:cNvSpPr/>
          <p:nvPr/>
        </p:nvSpPr>
        <p:spPr>
          <a:xfrm>
            <a:off x="323528" y="3777686"/>
            <a:ext cx="7127780" cy="307340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173365131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childTnLst>
        </p:cTn>
      </p:par>
    </p:tnLst>
    <p:bldLst>
      <p:bldP spid="15" grpId="0" animBg="1"/>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5D – Pure Y1 Page 96</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D42B6420-D296-5DAF-8EAF-B1C5439825E8}"/>
              </a:ext>
            </a:extLst>
          </p:cNvPr>
          <p:cNvPicPr>
            <a:picLocks noChangeAspect="1"/>
          </p:cNvPicPr>
          <p:nvPr/>
        </p:nvPicPr>
        <p:blipFill>
          <a:blip r:embed="rId2"/>
          <a:stretch>
            <a:fillRect/>
          </a:stretch>
        </p:blipFill>
        <p:spPr>
          <a:xfrm>
            <a:off x="395561" y="599127"/>
            <a:ext cx="7772400" cy="729875"/>
          </a:xfrm>
          <a:prstGeom prst="rect">
            <a:avLst/>
          </a:prstGeom>
        </p:spPr>
      </p:pic>
      <p:pic>
        <p:nvPicPr>
          <p:cNvPr id="6" name="Picture 5">
            <a:extLst>
              <a:ext uri="{FF2B5EF4-FFF2-40B4-BE49-F238E27FC236}">
                <a16:creationId xmlns:a16="http://schemas.microsoft.com/office/drawing/2014/main" id="{637C1AE4-42CE-1DFB-9CEF-95C56630A651}"/>
              </a:ext>
            </a:extLst>
          </p:cNvPr>
          <p:cNvPicPr>
            <a:picLocks noChangeAspect="1"/>
          </p:cNvPicPr>
          <p:nvPr/>
        </p:nvPicPr>
        <p:blipFill>
          <a:blip r:embed="rId3"/>
          <a:stretch>
            <a:fillRect/>
          </a:stretch>
        </p:blipFill>
        <p:spPr>
          <a:xfrm>
            <a:off x="323528" y="3717032"/>
            <a:ext cx="7772400" cy="551288"/>
          </a:xfrm>
          <a:prstGeom prst="rect">
            <a:avLst/>
          </a:prstGeom>
        </p:spPr>
      </p:pic>
      <p:pic>
        <p:nvPicPr>
          <p:cNvPr id="9" name="Picture 8">
            <a:extLst>
              <a:ext uri="{FF2B5EF4-FFF2-40B4-BE49-F238E27FC236}">
                <a16:creationId xmlns:a16="http://schemas.microsoft.com/office/drawing/2014/main" id="{5EC5FAB0-4314-BEB9-D7CA-DE203D1FF031}"/>
              </a:ext>
            </a:extLst>
          </p:cNvPr>
          <p:cNvPicPr>
            <a:picLocks noChangeAspect="1"/>
          </p:cNvPicPr>
          <p:nvPr/>
        </p:nvPicPr>
        <p:blipFill>
          <a:blip r:embed="rId4"/>
          <a:stretch>
            <a:fillRect/>
          </a:stretch>
        </p:blipFill>
        <p:spPr>
          <a:xfrm>
            <a:off x="827584" y="1340384"/>
            <a:ext cx="2895600" cy="2222500"/>
          </a:xfrm>
          <a:prstGeom prst="rect">
            <a:avLst/>
          </a:prstGeom>
        </p:spPr>
      </p:pic>
      <p:pic>
        <p:nvPicPr>
          <p:cNvPr id="10" name="Picture 9">
            <a:extLst>
              <a:ext uri="{FF2B5EF4-FFF2-40B4-BE49-F238E27FC236}">
                <a16:creationId xmlns:a16="http://schemas.microsoft.com/office/drawing/2014/main" id="{32185597-AF3A-DADA-03AF-D3C17B12A513}"/>
              </a:ext>
            </a:extLst>
          </p:cNvPr>
          <p:cNvPicPr>
            <a:picLocks noChangeAspect="1"/>
          </p:cNvPicPr>
          <p:nvPr/>
        </p:nvPicPr>
        <p:blipFill>
          <a:blip r:embed="rId5"/>
          <a:stretch>
            <a:fillRect/>
          </a:stretch>
        </p:blipFill>
        <p:spPr>
          <a:xfrm>
            <a:off x="4281761" y="1372134"/>
            <a:ext cx="2895600" cy="1079500"/>
          </a:xfrm>
          <a:prstGeom prst="rect">
            <a:avLst/>
          </a:prstGeom>
        </p:spPr>
      </p:pic>
      <p:pic>
        <p:nvPicPr>
          <p:cNvPr id="11" name="Picture 10">
            <a:extLst>
              <a:ext uri="{FF2B5EF4-FFF2-40B4-BE49-F238E27FC236}">
                <a16:creationId xmlns:a16="http://schemas.microsoft.com/office/drawing/2014/main" id="{756362EC-CA6D-F7E4-0BA4-B4A137FD0FA4}"/>
              </a:ext>
            </a:extLst>
          </p:cNvPr>
          <p:cNvPicPr>
            <a:picLocks noChangeAspect="1"/>
          </p:cNvPicPr>
          <p:nvPr/>
        </p:nvPicPr>
        <p:blipFill>
          <a:blip r:embed="rId6"/>
          <a:stretch>
            <a:fillRect/>
          </a:stretch>
        </p:blipFill>
        <p:spPr>
          <a:xfrm>
            <a:off x="6444208" y="2037429"/>
            <a:ext cx="368300" cy="241300"/>
          </a:xfrm>
          <a:prstGeom prst="rect">
            <a:avLst/>
          </a:prstGeom>
        </p:spPr>
      </p:pic>
      <p:pic>
        <p:nvPicPr>
          <p:cNvPr id="12" name="Picture 11">
            <a:extLst>
              <a:ext uri="{FF2B5EF4-FFF2-40B4-BE49-F238E27FC236}">
                <a16:creationId xmlns:a16="http://schemas.microsoft.com/office/drawing/2014/main" id="{4616E12E-4944-9C07-7E40-9A2EB712C025}"/>
              </a:ext>
            </a:extLst>
          </p:cNvPr>
          <p:cNvPicPr>
            <a:picLocks noChangeAspect="1"/>
          </p:cNvPicPr>
          <p:nvPr/>
        </p:nvPicPr>
        <p:blipFill>
          <a:blip r:embed="rId7"/>
          <a:stretch>
            <a:fillRect/>
          </a:stretch>
        </p:blipFill>
        <p:spPr>
          <a:xfrm>
            <a:off x="4355976" y="2494766"/>
            <a:ext cx="2921000" cy="1003300"/>
          </a:xfrm>
          <a:prstGeom prst="rect">
            <a:avLst/>
          </a:prstGeom>
        </p:spPr>
      </p:pic>
      <p:pic>
        <p:nvPicPr>
          <p:cNvPr id="14" name="Picture 13">
            <a:extLst>
              <a:ext uri="{FF2B5EF4-FFF2-40B4-BE49-F238E27FC236}">
                <a16:creationId xmlns:a16="http://schemas.microsoft.com/office/drawing/2014/main" id="{DDA1BCED-06FB-4EEE-F1E6-CEF7810AF023}"/>
              </a:ext>
            </a:extLst>
          </p:cNvPr>
          <p:cNvPicPr>
            <a:picLocks noChangeAspect="1"/>
          </p:cNvPicPr>
          <p:nvPr/>
        </p:nvPicPr>
        <p:blipFill>
          <a:blip r:embed="rId8"/>
          <a:stretch>
            <a:fillRect/>
          </a:stretch>
        </p:blipFill>
        <p:spPr>
          <a:xfrm>
            <a:off x="683568" y="4379273"/>
            <a:ext cx="2857500" cy="1879600"/>
          </a:xfrm>
          <a:prstGeom prst="rect">
            <a:avLst/>
          </a:prstGeom>
        </p:spPr>
      </p:pic>
      <p:pic>
        <p:nvPicPr>
          <p:cNvPr id="15" name="Picture 14">
            <a:extLst>
              <a:ext uri="{FF2B5EF4-FFF2-40B4-BE49-F238E27FC236}">
                <a16:creationId xmlns:a16="http://schemas.microsoft.com/office/drawing/2014/main" id="{7589B630-5B83-4C5B-A571-D87DDA294310}"/>
              </a:ext>
            </a:extLst>
          </p:cNvPr>
          <p:cNvPicPr>
            <a:picLocks noChangeAspect="1"/>
          </p:cNvPicPr>
          <p:nvPr/>
        </p:nvPicPr>
        <p:blipFill>
          <a:blip r:embed="rId9"/>
          <a:stretch>
            <a:fillRect/>
          </a:stretch>
        </p:blipFill>
        <p:spPr>
          <a:xfrm>
            <a:off x="3723184" y="4268320"/>
            <a:ext cx="2374900" cy="812800"/>
          </a:xfrm>
          <a:prstGeom prst="rect">
            <a:avLst/>
          </a:prstGeom>
        </p:spPr>
      </p:pic>
      <p:pic>
        <p:nvPicPr>
          <p:cNvPr id="16" name="Picture 15">
            <a:extLst>
              <a:ext uri="{FF2B5EF4-FFF2-40B4-BE49-F238E27FC236}">
                <a16:creationId xmlns:a16="http://schemas.microsoft.com/office/drawing/2014/main" id="{80750674-81AF-DF46-4DA6-F88DD423DAAA}"/>
              </a:ext>
            </a:extLst>
          </p:cNvPr>
          <p:cNvPicPr>
            <a:picLocks noChangeAspect="1"/>
          </p:cNvPicPr>
          <p:nvPr/>
        </p:nvPicPr>
        <p:blipFill>
          <a:blip r:embed="rId10"/>
          <a:stretch>
            <a:fillRect/>
          </a:stretch>
        </p:blipFill>
        <p:spPr>
          <a:xfrm>
            <a:off x="5831610" y="4458820"/>
            <a:ext cx="990600" cy="622300"/>
          </a:xfrm>
          <a:prstGeom prst="rect">
            <a:avLst/>
          </a:prstGeom>
        </p:spPr>
      </p:pic>
      <p:pic>
        <p:nvPicPr>
          <p:cNvPr id="17" name="Picture 16">
            <a:extLst>
              <a:ext uri="{FF2B5EF4-FFF2-40B4-BE49-F238E27FC236}">
                <a16:creationId xmlns:a16="http://schemas.microsoft.com/office/drawing/2014/main" id="{E6BF187C-1809-D04B-48F5-E743B972B7CA}"/>
              </a:ext>
            </a:extLst>
          </p:cNvPr>
          <p:cNvPicPr>
            <a:picLocks noChangeAspect="1"/>
          </p:cNvPicPr>
          <p:nvPr/>
        </p:nvPicPr>
        <p:blipFill>
          <a:blip r:embed="rId11"/>
          <a:stretch>
            <a:fillRect/>
          </a:stretch>
        </p:blipFill>
        <p:spPr>
          <a:xfrm>
            <a:off x="6822210" y="4623764"/>
            <a:ext cx="419100" cy="279400"/>
          </a:xfrm>
          <a:prstGeom prst="rect">
            <a:avLst/>
          </a:prstGeom>
        </p:spPr>
      </p:pic>
      <p:pic>
        <p:nvPicPr>
          <p:cNvPr id="18" name="Picture 17">
            <a:extLst>
              <a:ext uri="{FF2B5EF4-FFF2-40B4-BE49-F238E27FC236}">
                <a16:creationId xmlns:a16="http://schemas.microsoft.com/office/drawing/2014/main" id="{AA93DCCF-98C6-E004-F052-FDA59DC37807}"/>
              </a:ext>
            </a:extLst>
          </p:cNvPr>
          <p:cNvPicPr>
            <a:picLocks noChangeAspect="1"/>
          </p:cNvPicPr>
          <p:nvPr/>
        </p:nvPicPr>
        <p:blipFill>
          <a:blip r:embed="rId12"/>
          <a:stretch>
            <a:fillRect/>
          </a:stretch>
        </p:blipFill>
        <p:spPr>
          <a:xfrm>
            <a:off x="3732758" y="5145050"/>
            <a:ext cx="2895600" cy="1511300"/>
          </a:xfrm>
          <a:prstGeom prst="rect">
            <a:avLst/>
          </a:prstGeom>
        </p:spPr>
      </p:pic>
      <p:sp>
        <p:nvSpPr>
          <p:cNvPr id="19" name="Rectangle 18">
            <a:extLst>
              <a:ext uri="{FF2B5EF4-FFF2-40B4-BE49-F238E27FC236}">
                <a16:creationId xmlns:a16="http://schemas.microsoft.com/office/drawing/2014/main" id="{DC8995C3-CA1C-300F-061F-5F8F9878E596}"/>
              </a:ext>
            </a:extLst>
          </p:cNvPr>
          <p:cNvSpPr/>
          <p:nvPr/>
        </p:nvSpPr>
        <p:spPr>
          <a:xfrm>
            <a:off x="323529" y="1430602"/>
            <a:ext cx="7127780" cy="222250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20" name="Rectangle 19">
            <a:extLst>
              <a:ext uri="{FF2B5EF4-FFF2-40B4-BE49-F238E27FC236}">
                <a16:creationId xmlns:a16="http://schemas.microsoft.com/office/drawing/2014/main" id="{3E426908-A4E4-3CB6-2B04-1A4495E36A72}"/>
              </a:ext>
            </a:extLst>
          </p:cNvPr>
          <p:cNvSpPr/>
          <p:nvPr/>
        </p:nvSpPr>
        <p:spPr>
          <a:xfrm>
            <a:off x="357354" y="4285383"/>
            <a:ext cx="7127780" cy="248562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284105071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9"/>
                                        </p:tgtEl>
                                      </p:cBhvr>
                                    </p:animEffect>
                                    <p:set>
                                      <p:cBhvr>
                                        <p:cTn id="7"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0"/>
                                        </p:tgtEl>
                                      </p:cBhvr>
                                    </p:animEffect>
                                    <p:set>
                                      <p:cBhvr>
                                        <p:cTn id="13"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childTnLst>
        </p:cTn>
      </p:par>
    </p:tnLst>
    <p:bldLst>
      <p:bldP spid="19" grpId="0" animBg="1"/>
      <p:bldP spid="2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4572000" y="0"/>
            <a:ext cx="0" cy="6858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43" name="Line 3"/>
          <p:cNvSpPr>
            <a:spLocks noChangeShapeType="1"/>
          </p:cNvSpPr>
          <p:nvPr/>
        </p:nvSpPr>
        <p:spPr bwMode="auto">
          <a:xfrm>
            <a:off x="0" y="3429000"/>
            <a:ext cx="91440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44" name="Text Box 4"/>
          <p:cNvSpPr txBox="1">
            <a:spLocks noChangeArrowheads="1"/>
          </p:cNvSpPr>
          <p:nvPr/>
        </p:nvSpPr>
        <p:spPr bwMode="auto">
          <a:xfrm>
            <a:off x="85148" y="3429000"/>
            <a:ext cx="9144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715963" algn="l"/>
                <a:tab pos="1431925" algn="l"/>
                <a:tab pos="2149475" algn="l"/>
                <a:tab pos="2865438" algn="l"/>
                <a:tab pos="3581400" algn="l"/>
                <a:tab pos="4313238" algn="l"/>
                <a:tab pos="5029200" algn="l"/>
                <a:tab pos="5745163" algn="l"/>
                <a:tab pos="6461125" algn="l"/>
                <a:tab pos="7178675" algn="l"/>
                <a:tab pos="7894638" algn="l"/>
                <a:tab pos="8610600" algn="l"/>
              </a:tabLst>
              <a:defRPr>
                <a:solidFill>
                  <a:schemeClr val="tx1"/>
                </a:solidFill>
                <a:latin typeface="Arial" charset="0"/>
              </a:defRPr>
            </a:lvl1pPr>
            <a:lvl2pPr>
              <a:tabLst>
                <a:tab pos="715963" algn="l"/>
                <a:tab pos="1431925" algn="l"/>
                <a:tab pos="2149475" algn="l"/>
                <a:tab pos="2865438" algn="l"/>
                <a:tab pos="3581400" algn="l"/>
                <a:tab pos="4313238" algn="l"/>
                <a:tab pos="5029200" algn="l"/>
                <a:tab pos="5745163" algn="l"/>
                <a:tab pos="6461125" algn="l"/>
                <a:tab pos="7178675" algn="l"/>
                <a:tab pos="7894638" algn="l"/>
                <a:tab pos="8610600" algn="l"/>
              </a:tabLst>
              <a:defRPr>
                <a:solidFill>
                  <a:schemeClr val="tx1"/>
                </a:solidFill>
                <a:latin typeface="Arial" charset="0"/>
              </a:defRPr>
            </a:lvl2pPr>
            <a:lvl3pPr>
              <a:tabLst>
                <a:tab pos="715963" algn="l"/>
                <a:tab pos="1431925" algn="l"/>
                <a:tab pos="2149475" algn="l"/>
                <a:tab pos="2865438" algn="l"/>
                <a:tab pos="3581400" algn="l"/>
                <a:tab pos="4313238" algn="l"/>
                <a:tab pos="5029200" algn="l"/>
                <a:tab pos="5745163" algn="l"/>
                <a:tab pos="6461125" algn="l"/>
                <a:tab pos="7178675" algn="l"/>
                <a:tab pos="7894638" algn="l"/>
                <a:tab pos="8610600" algn="l"/>
              </a:tabLst>
              <a:defRPr>
                <a:solidFill>
                  <a:schemeClr val="tx1"/>
                </a:solidFill>
                <a:latin typeface="Arial" charset="0"/>
              </a:defRPr>
            </a:lvl3pPr>
            <a:lvl4pPr>
              <a:tabLst>
                <a:tab pos="715963" algn="l"/>
                <a:tab pos="1431925" algn="l"/>
                <a:tab pos="2149475" algn="l"/>
                <a:tab pos="2865438" algn="l"/>
                <a:tab pos="3581400" algn="l"/>
                <a:tab pos="4313238" algn="l"/>
                <a:tab pos="5029200" algn="l"/>
                <a:tab pos="5745163" algn="l"/>
                <a:tab pos="6461125" algn="l"/>
                <a:tab pos="7178675" algn="l"/>
                <a:tab pos="7894638" algn="l"/>
                <a:tab pos="8610600" algn="l"/>
              </a:tabLst>
              <a:defRPr>
                <a:solidFill>
                  <a:schemeClr val="tx1"/>
                </a:solidFill>
                <a:latin typeface="Arial" charset="0"/>
              </a:defRPr>
            </a:lvl4pPr>
            <a:lvl5pPr>
              <a:tabLst>
                <a:tab pos="715963" algn="l"/>
                <a:tab pos="1431925" algn="l"/>
                <a:tab pos="2149475" algn="l"/>
                <a:tab pos="2865438" algn="l"/>
                <a:tab pos="3581400" algn="l"/>
                <a:tab pos="4313238" algn="l"/>
                <a:tab pos="5029200" algn="l"/>
                <a:tab pos="5745163" algn="l"/>
                <a:tab pos="6461125" algn="l"/>
                <a:tab pos="7178675" algn="l"/>
                <a:tab pos="7894638" algn="l"/>
                <a:tab pos="8610600" algn="l"/>
              </a:tabLst>
              <a:defRPr>
                <a:solidFill>
                  <a:schemeClr val="tx1"/>
                </a:solidFill>
                <a:latin typeface="Arial" charset="0"/>
              </a:defRPr>
            </a:lvl5pPr>
            <a:lvl6pPr fontAlgn="base">
              <a:spcBef>
                <a:spcPct val="0"/>
              </a:spcBef>
              <a:spcAft>
                <a:spcPct val="0"/>
              </a:spcAft>
              <a:tabLst>
                <a:tab pos="715963" algn="l"/>
                <a:tab pos="1431925" algn="l"/>
                <a:tab pos="2149475" algn="l"/>
                <a:tab pos="2865438" algn="l"/>
                <a:tab pos="3581400" algn="l"/>
                <a:tab pos="4313238" algn="l"/>
                <a:tab pos="5029200" algn="l"/>
                <a:tab pos="5745163" algn="l"/>
                <a:tab pos="6461125" algn="l"/>
                <a:tab pos="7178675" algn="l"/>
                <a:tab pos="7894638" algn="l"/>
                <a:tab pos="8610600" algn="l"/>
              </a:tabLst>
              <a:defRPr>
                <a:solidFill>
                  <a:schemeClr val="tx1"/>
                </a:solidFill>
                <a:latin typeface="Arial" charset="0"/>
              </a:defRPr>
            </a:lvl6pPr>
            <a:lvl7pPr fontAlgn="base">
              <a:spcBef>
                <a:spcPct val="0"/>
              </a:spcBef>
              <a:spcAft>
                <a:spcPct val="0"/>
              </a:spcAft>
              <a:tabLst>
                <a:tab pos="715963" algn="l"/>
                <a:tab pos="1431925" algn="l"/>
                <a:tab pos="2149475" algn="l"/>
                <a:tab pos="2865438" algn="l"/>
                <a:tab pos="3581400" algn="l"/>
                <a:tab pos="4313238" algn="l"/>
                <a:tab pos="5029200" algn="l"/>
                <a:tab pos="5745163" algn="l"/>
                <a:tab pos="6461125" algn="l"/>
                <a:tab pos="7178675" algn="l"/>
                <a:tab pos="7894638" algn="l"/>
                <a:tab pos="8610600" algn="l"/>
              </a:tabLst>
              <a:defRPr>
                <a:solidFill>
                  <a:schemeClr val="tx1"/>
                </a:solidFill>
                <a:latin typeface="Arial" charset="0"/>
              </a:defRPr>
            </a:lvl7pPr>
            <a:lvl8pPr fontAlgn="base">
              <a:spcBef>
                <a:spcPct val="0"/>
              </a:spcBef>
              <a:spcAft>
                <a:spcPct val="0"/>
              </a:spcAft>
              <a:tabLst>
                <a:tab pos="715963" algn="l"/>
                <a:tab pos="1431925" algn="l"/>
                <a:tab pos="2149475" algn="l"/>
                <a:tab pos="2865438" algn="l"/>
                <a:tab pos="3581400" algn="l"/>
                <a:tab pos="4313238" algn="l"/>
                <a:tab pos="5029200" algn="l"/>
                <a:tab pos="5745163" algn="l"/>
                <a:tab pos="6461125" algn="l"/>
                <a:tab pos="7178675" algn="l"/>
                <a:tab pos="7894638" algn="l"/>
                <a:tab pos="8610600" algn="l"/>
              </a:tabLst>
              <a:defRPr>
                <a:solidFill>
                  <a:schemeClr val="tx1"/>
                </a:solidFill>
                <a:latin typeface="Arial" charset="0"/>
              </a:defRPr>
            </a:lvl8pPr>
            <a:lvl9pPr fontAlgn="base">
              <a:spcBef>
                <a:spcPct val="0"/>
              </a:spcBef>
              <a:spcAft>
                <a:spcPct val="0"/>
              </a:spcAft>
              <a:tabLst>
                <a:tab pos="715963" algn="l"/>
                <a:tab pos="1431925" algn="l"/>
                <a:tab pos="2149475" algn="l"/>
                <a:tab pos="2865438" algn="l"/>
                <a:tab pos="3581400" algn="l"/>
                <a:tab pos="4313238" algn="l"/>
                <a:tab pos="5029200" algn="l"/>
                <a:tab pos="5745163" algn="l"/>
                <a:tab pos="6461125" algn="l"/>
                <a:tab pos="7178675" algn="l"/>
                <a:tab pos="7894638" algn="l"/>
                <a:tab pos="8610600" algn="l"/>
              </a:tabLst>
              <a:defRPr>
                <a:solidFill>
                  <a:schemeClr val="tx1"/>
                </a:solidFill>
                <a:latin typeface="Arial" charset="0"/>
              </a:defRPr>
            </a:lvl9pPr>
          </a:lstStyle>
          <a:p>
            <a:pPr>
              <a:spcBef>
                <a:spcPct val="50000"/>
              </a:spcBef>
            </a:pPr>
            <a:r>
              <a:rPr lang="en-GB" sz="1400" dirty="0"/>
              <a:t>x	-5	-4	-3	-2	-1	0	1	2	3	4	5	6</a:t>
            </a:r>
            <a:endParaRPr lang="en-US" sz="1400" dirty="0"/>
          </a:p>
        </p:txBody>
      </p:sp>
      <p:sp>
        <p:nvSpPr>
          <p:cNvPr id="10245" name="Line 5"/>
          <p:cNvSpPr>
            <a:spLocks noChangeShapeType="1"/>
          </p:cNvSpPr>
          <p:nvPr/>
        </p:nvSpPr>
        <p:spPr bwMode="auto">
          <a:xfrm flipH="1">
            <a:off x="250825"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46" name="Line 6"/>
          <p:cNvSpPr>
            <a:spLocks noChangeShapeType="1"/>
          </p:cNvSpPr>
          <p:nvPr/>
        </p:nvSpPr>
        <p:spPr bwMode="auto">
          <a:xfrm>
            <a:off x="971550"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47" name="Line 7"/>
          <p:cNvSpPr>
            <a:spLocks noChangeShapeType="1"/>
          </p:cNvSpPr>
          <p:nvPr/>
        </p:nvSpPr>
        <p:spPr bwMode="auto">
          <a:xfrm>
            <a:off x="1692275"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48" name="Line 8"/>
          <p:cNvSpPr>
            <a:spLocks noChangeShapeType="1"/>
          </p:cNvSpPr>
          <p:nvPr/>
        </p:nvSpPr>
        <p:spPr bwMode="auto">
          <a:xfrm>
            <a:off x="2411413"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49" name="Line 9"/>
          <p:cNvSpPr>
            <a:spLocks noChangeShapeType="1"/>
          </p:cNvSpPr>
          <p:nvPr/>
        </p:nvSpPr>
        <p:spPr bwMode="auto">
          <a:xfrm>
            <a:off x="3132138"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0" name="Line 10"/>
          <p:cNvSpPr>
            <a:spLocks noChangeShapeType="1"/>
          </p:cNvSpPr>
          <p:nvPr/>
        </p:nvSpPr>
        <p:spPr bwMode="auto">
          <a:xfrm>
            <a:off x="0" y="2708275"/>
            <a:ext cx="914400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1" name="Line 11"/>
          <p:cNvSpPr>
            <a:spLocks noChangeShapeType="1"/>
          </p:cNvSpPr>
          <p:nvPr/>
        </p:nvSpPr>
        <p:spPr bwMode="auto">
          <a:xfrm>
            <a:off x="5292725"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2" name="Line 12"/>
          <p:cNvSpPr>
            <a:spLocks noChangeShapeType="1"/>
          </p:cNvSpPr>
          <p:nvPr/>
        </p:nvSpPr>
        <p:spPr bwMode="auto">
          <a:xfrm>
            <a:off x="6011863"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3" name="Line 13"/>
          <p:cNvSpPr>
            <a:spLocks noChangeShapeType="1"/>
          </p:cNvSpPr>
          <p:nvPr/>
        </p:nvSpPr>
        <p:spPr bwMode="auto">
          <a:xfrm>
            <a:off x="6732588"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4" name="Line 14"/>
          <p:cNvSpPr>
            <a:spLocks noChangeShapeType="1"/>
          </p:cNvSpPr>
          <p:nvPr/>
        </p:nvSpPr>
        <p:spPr bwMode="auto">
          <a:xfrm>
            <a:off x="7451725"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5" name="Line 15"/>
          <p:cNvSpPr>
            <a:spLocks noChangeShapeType="1"/>
          </p:cNvSpPr>
          <p:nvPr/>
        </p:nvSpPr>
        <p:spPr bwMode="auto">
          <a:xfrm>
            <a:off x="8172450"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6" name="Line 16"/>
          <p:cNvSpPr>
            <a:spLocks noChangeShapeType="1"/>
          </p:cNvSpPr>
          <p:nvPr/>
        </p:nvSpPr>
        <p:spPr bwMode="auto">
          <a:xfrm>
            <a:off x="8893175"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7" name="Line 17"/>
          <p:cNvSpPr>
            <a:spLocks noChangeShapeType="1"/>
          </p:cNvSpPr>
          <p:nvPr/>
        </p:nvSpPr>
        <p:spPr bwMode="auto">
          <a:xfrm>
            <a:off x="0" y="549275"/>
            <a:ext cx="914400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8" name="Line 18"/>
          <p:cNvSpPr>
            <a:spLocks noChangeShapeType="1"/>
          </p:cNvSpPr>
          <p:nvPr/>
        </p:nvSpPr>
        <p:spPr bwMode="auto">
          <a:xfrm>
            <a:off x="0" y="1268413"/>
            <a:ext cx="914400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9" name="Line 19"/>
          <p:cNvSpPr>
            <a:spLocks noChangeShapeType="1"/>
          </p:cNvSpPr>
          <p:nvPr/>
        </p:nvSpPr>
        <p:spPr bwMode="auto">
          <a:xfrm>
            <a:off x="0" y="1989138"/>
            <a:ext cx="914400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61" name="Line 21"/>
          <p:cNvSpPr>
            <a:spLocks noChangeShapeType="1"/>
          </p:cNvSpPr>
          <p:nvPr/>
        </p:nvSpPr>
        <p:spPr bwMode="auto">
          <a:xfrm>
            <a:off x="0" y="4149725"/>
            <a:ext cx="914400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62" name="Line 22"/>
          <p:cNvSpPr>
            <a:spLocks noChangeShapeType="1"/>
          </p:cNvSpPr>
          <p:nvPr/>
        </p:nvSpPr>
        <p:spPr bwMode="auto">
          <a:xfrm flipV="1">
            <a:off x="0" y="4868863"/>
            <a:ext cx="914400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63" name="Line 23"/>
          <p:cNvSpPr>
            <a:spLocks noChangeShapeType="1"/>
          </p:cNvSpPr>
          <p:nvPr/>
        </p:nvSpPr>
        <p:spPr bwMode="auto">
          <a:xfrm>
            <a:off x="0" y="5589588"/>
            <a:ext cx="914400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64" name="Line 24"/>
          <p:cNvSpPr>
            <a:spLocks noChangeShapeType="1"/>
          </p:cNvSpPr>
          <p:nvPr/>
        </p:nvSpPr>
        <p:spPr bwMode="auto">
          <a:xfrm>
            <a:off x="0" y="6308725"/>
            <a:ext cx="914400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65" name="Text Box 25"/>
          <p:cNvSpPr txBox="1">
            <a:spLocks noChangeArrowheads="1"/>
          </p:cNvSpPr>
          <p:nvPr/>
        </p:nvSpPr>
        <p:spPr bwMode="auto">
          <a:xfrm>
            <a:off x="4283968" y="0"/>
            <a:ext cx="28803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1400" dirty="0"/>
              <a:t>y</a:t>
            </a:r>
          </a:p>
          <a:p>
            <a:endParaRPr lang="en-GB" sz="1400" dirty="0"/>
          </a:p>
          <a:p>
            <a:endParaRPr lang="en-US" sz="1400" dirty="0"/>
          </a:p>
        </p:txBody>
      </p:sp>
      <p:sp>
        <p:nvSpPr>
          <p:cNvPr id="10269" name="Text Box 29"/>
          <p:cNvSpPr txBox="1">
            <a:spLocks noChangeArrowheads="1"/>
          </p:cNvSpPr>
          <p:nvPr/>
        </p:nvSpPr>
        <p:spPr bwMode="auto">
          <a:xfrm>
            <a:off x="4264025" y="396875"/>
            <a:ext cx="334130"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GB" sz="1400" dirty="0"/>
              <a:t>4</a:t>
            </a:r>
          </a:p>
          <a:p>
            <a:pPr algn="r"/>
            <a:endParaRPr lang="en-GB" sz="3300" dirty="0"/>
          </a:p>
          <a:p>
            <a:pPr algn="r"/>
            <a:r>
              <a:rPr lang="en-GB" sz="1400" dirty="0"/>
              <a:t>3</a:t>
            </a:r>
          </a:p>
          <a:p>
            <a:pPr algn="r"/>
            <a:endParaRPr lang="en-GB" sz="3300" dirty="0"/>
          </a:p>
          <a:p>
            <a:pPr algn="r"/>
            <a:r>
              <a:rPr lang="en-GB" sz="1400" dirty="0"/>
              <a:t>2</a:t>
            </a:r>
          </a:p>
          <a:p>
            <a:pPr algn="r"/>
            <a:endParaRPr lang="en-GB" sz="3300" dirty="0"/>
          </a:p>
          <a:p>
            <a:pPr algn="r"/>
            <a:r>
              <a:rPr lang="en-GB" sz="1400" dirty="0"/>
              <a:t>1</a:t>
            </a:r>
          </a:p>
          <a:p>
            <a:pPr algn="r"/>
            <a:endParaRPr lang="en-GB" sz="3300" dirty="0"/>
          </a:p>
          <a:p>
            <a:pPr algn="r"/>
            <a:endParaRPr lang="en-GB" sz="1400" dirty="0"/>
          </a:p>
          <a:p>
            <a:pPr algn="r"/>
            <a:endParaRPr lang="en-GB" sz="3300" dirty="0"/>
          </a:p>
          <a:p>
            <a:pPr algn="r"/>
            <a:r>
              <a:rPr lang="en-GB" sz="1400" dirty="0"/>
              <a:t>-1</a:t>
            </a:r>
          </a:p>
          <a:p>
            <a:pPr algn="r"/>
            <a:endParaRPr lang="en-GB" sz="3300" dirty="0"/>
          </a:p>
          <a:p>
            <a:pPr algn="r"/>
            <a:r>
              <a:rPr lang="en-GB" sz="1400" dirty="0"/>
              <a:t>-2</a:t>
            </a:r>
          </a:p>
          <a:p>
            <a:pPr algn="r"/>
            <a:endParaRPr lang="en-GB" sz="3300" dirty="0"/>
          </a:p>
          <a:p>
            <a:pPr algn="r"/>
            <a:r>
              <a:rPr lang="en-GB" sz="1400" dirty="0"/>
              <a:t>-3</a:t>
            </a:r>
          </a:p>
          <a:p>
            <a:pPr algn="r"/>
            <a:endParaRPr lang="en-GB" sz="3300" dirty="0"/>
          </a:p>
          <a:p>
            <a:pPr algn="r"/>
            <a:r>
              <a:rPr lang="en-GB" sz="1400" dirty="0"/>
              <a:t>-4</a:t>
            </a:r>
          </a:p>
        </p:txBody>
      </p:sp>
      <p:sp>
        <p:nvSpPr>
          <p:cNvPr id="10288" name="Line 48"/>
          <p:cNvSpPr>
            <a:spLocks noChangeShapeType="1"/>
          </p:cNvSpPr>
          <p:nvPr/>
        </p:nvSpPr>
        <p:spPr bwMode="auto">
          <a:xfrm>
            <a:off x="3851275" y="0"/>
            <a:ext cx="0" cy="6858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 name="Line 20"/>
          <p:cNvSpPr>
            <a:spLocks noChangeShapeType="1"/>
          </p:cNvSpPr>
          <p:nvPr/>
        </p:nvSpPr>
        <p:spPr bwMode="auto">
          <a:xfrm flipV="1">
            <a:off x="-103366" y="-71563"/>
            <a:ext cx="7386762" cy="3673503"/>
          </a:xfrm>
          <a:prstGeom prst="line">
            <a:avLst/>
          </a:prstGeom>
          <a:ln w="76200">
            <a:headEnd/>
            <a:tailEnd/>
          </a:ln>
        </p:spPr>
        <p:style>
          <a:lnRef idx="3">
            <a:schemeClr val="accent4"/>
          </a:lnRef>
          <a:fillRef idx="0">
            <a:schemeClr val="accent4"/>
          </a:fillRef>
          <a:effectRef idx="2">
            <a:schemeClr val="accent4"/>
          </a:effectRef>
          <a:fontRef idx="minor">
            <a:schemeClr val="tx1"/>
          </a:fontRef>
        </p:style>
        <p:txBody>
          <a:bodyPr/>
          <a:lstStyle/>
          <a:p>
            <a:endParaRPr lang="en-GB"/>
          </a:p>
        </p:txBody>
      </p:sp>
      <p:sp>
        <p:nvSpPr>
          <p:cNvPr id="2" name="TextBox 1"/>
          <p:cNvSpPr txBox="1"/>
          <p:nvPr/>
        </p:nvSpPr>
        <p:spPr>
          <a:xfrm>
            <a:off x="5796136" y="4941168"/>
            <a:ext cx="3148410" cy="1569660"/>
          </a:xfrm>
          <a:prstGeom prst="rect">
            <a:avLst/>
          </a:prstGeom>
          <a:solidFill>
            <a:schemeClr val="bg1">
              <a:alpha val="87000"/>
            </a:schemeClr>
          </a:solidFill>
        </p:spPr>
        <p:txBody>
          <a:bodyPr wrap="square" rtlCol="0">
            <a:spAutoFit/>
          </a:bodyPr>
          <a:lstStyle/>
          <a:p>
            <a:r>
              <a:rPr lang="en-GB" sz="2400" dirty="0"/>
              <a:t>Find the gradients of each pair of </a:t>
            </a:r>
            <a:r>
              <a:rPr lang="en-GB" sz="2400" b="1" dirty="0"/>
              <a:t>perpendicular</a:t>
            </a:r>
            <a:r>
              <a:rPr lang="en-GB" sz="2400" dirty="0"/>
              <a:t> lines. What do you notice?</a:t>
            </a:r>
          </a:p>
        </p:txBody>
      </p:sp>
      <p:sp>
        <p:nvSpPr>
          <p:cNvPr id="31" name="Line 20"/>
          <p:cNvSpPr>
            <a:spLocks noChangeShapeType="1"/>
          </p:cNvSpPr>
          <p:nvPr/>
        </p:nvSpPr>
        <p:spPr bwMode="auto">
          <a:xfrm>
            <a:off x="142241" y="-396240"/>
            <a:ext cx="3722094" cy="7464949"/>
          </a:xfrm>
          <a:prstGeom prst="line">
            <a:avLst/>
          </a:prstGeom>
          <a:ln w="76200">
            <a:headEnd/>
            <a:tailEnd/>
          </a:ln>
        </p:spPr>
        <p:style>
          <a:lnRef idx="3">
            <a:schemeClr val="accent4"/>
          </a:lnRef>
          <a:fillRef idx="0">
            <a:schemeClr val="accent4"/>
          </a:fillRef>
          <a:effectRef idx="2">
            <a:schemeClr val="accent4"/>
          </a:effectRef>
          <a:fontRef idx="minor">
            <a:schemeClr val="tx1"/>
          </a:fontRef>
        </p:style>
        <p:txBody>
          <a:bodyPr/>
          <a:lstStyle/>
          <a:p>
            <a:endParaRPr lang="en-GB"/>
          </a:p>
        </p:txBody>
      </p:sp>
      <p:sp>
        <p:nvSpPr>
          <p:cNvPr id="32" name="Line 20"/>
          <p:cNvSpPr>
            <a:spLocks noChangeShapeType="1"/>
          </p:cNvSpPr>
          <p:nvPr/>
        </p:nvSpPr>
        <p:spPr bwMode="auto">
          <a:xfrm>
            <a:off x="2339752" y="-171400"/>
            <a:ext cx="7176482" cy="2380526"/>
          </a:xfrm>
          <a:prstGeom prst="line">
            <a:avLst/>
          </a:prstGeom>
          <a:ln w="76200">
            <a:solidFill>
              <a:schemeClr val="accent2"/>
            </a:solidFill>
            <a:headEnd/>
            <a:tailEnd/>
          </a:ln>
        </p:spPr>
        <p:style>
          <a:lnRef idx="3">
            <a:schemeClr val="accent5"/>
          </a:lnRef>
          <a:fillRef idx="0">
            <a:schemeClr val="accent5"/>
          </a:fillRef>
          <a:effectRef idx="2">
            <a:schemeClr val="accent5"/>
          </a:effectRef>
          <a:fontRef idx="minor">
            <a:schemeClr val="tx1"/>
          </a:fontRef>
        </p:style>
        <p:txBody>
          <a:bodyPr/>
          <a:lstStyle/>
          <a:p>
            <a:endParaRPr lang="en-GB"/>
          </a:p>
        </p:txBody>
      </p:sp>
      <p:sp>
        <p:nvSpPr>
          <p:cNvPr id="33" name="Line 20"/>
          <p:cNvSpPr>
            <a:spLocks noChangeShapeType="1"/>
          </p:cNvSpPr>
          <p:nvPr/>
        </p:nvSpPr>
        <p:spPr bwMode="auto">
          <a:xfrm flipV="1">
            <a:off x="4822852" y="-210394"/>
            <a:ext cx="2411428" cy="7201911"/>
          </a:xfrm>
          <a:prstGeom prst="line">
            <a:avLst/>
          </a:prstGeom>
          <a:ln w="76200">
            <a:solidFill>
              <a:schemeClr val="accent2"/>
            </a:solidFill>
            <a:headEnd/>
            <a:tailEnd/>
          </a:ln>
        </p:spPr>
        <p:style>
          <a:lnRef idx="3">
            <a:schemeClr val="accent5"/>
          </a:lnRef>
          <a:fillRef idx="0">
            <a:schemeClr val="accent5"/>
          </a:fillRef>
          <a:effectRef idx="2">
            <a:schemeClr val="accent5"/>
          </a:effectRef>
          <a:fontRef idx="minor">
            <a:schemeClr val="tx1"/>
          </a:fontRef>
        </p:style>
        <p:txBody>
          <a:bodyPr/>
          <a:lstStyle/>
          <a:p>
            <a:endParaRPr lang="en-GB"/>
          </a:p>
        </p:txBody>
      </p:sp>
      <mc:AlternateContent xmlns:mc="http://schemas.openxmlformats.org/markup-compatibility/2006" xmlns:a14="http://schemas.microsoft.com/office/drawing/2010/main">
        <mc:Choice Requires="a14">
          <p:sp>
            <p:nvSpPr>
              <p:cNvPr id="34" name="TextBox 33"/>
              <p:cNvSpPr txBox="1"/>
              <p:nvPr/>
            </p:nvSpPr>
            <p:spPr>
              <a:xfrm>
                <a:off x="2713743" y="4249553"/>
                <a:ext cx="1296144" cy="461665"/>
              </a:xfrm>
              <a:prstGeom prst="rect">
                <a:avLst/>
              </a:prstGeom>
              <a:solidFill>
                <a:schemeClr val="bg1">
                  <a:alpha val="65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𝑚</m:t>
                      </m:r>
                      <m:r>
                        <a:rPr lang="en-GB" sz="2400" b="0" i="1" smtClean="0">
                          <a:latin typeface="Cambria Math" panose="02040503050406030204" pitchFamily="18" charset="0"/>
                        </a:rPr>
                        <m:t>=−2</m:t>
                      </m:r>
                    </m:oMath>
                  </m:oMathPara>
                </a14:m>
                <a:endParaRPr lang="en-GB" sz="2400" dirty="0"/>
              </a:p>
            </p:txBody>
          </p:sp>
        </mc:Choice>
        <mc:Fallback xmlns="">
          <p:sp>
            <p:nvSpPr>
              <p:cNvPr id="34" name="TextBox 33"/>
              <p:cNvSpPr txBox="1">
                <a:spLocks noRot="1" noChangeAspect="1" noMove="1" noResize="1" noEditPoints="1" noAdjustHandles="1" noChangeArrowheads="1" noChangeShapeType="1" noTextEdit="1"/>
              </p:cNvSpPr>
              <p:nvPr/>
            </p:nvSpPr>
            <p:spPr>
              <a:xfrm>
                <a:off x="2713743" y="4249553"/>
                <a:ext cx="1296144" cy="461665"/>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2570290" y="921544"/>
                <a:ext cx="1152128" cy="783804"/>
              </a:xfrm>
              <a:prstGeom prst="rect">
                <a:avLst/>
              </a:prstGeom>
              <a:solidFill>
                <a:schemeClr val="bg1">
                  <a:alpha val="65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𝑚</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1</m:t>
                          </m:r>
                        </m:num>
                        <m:den>
                          <m:r>
                            <a:rPr lang="en-GB" sz="2400" b="0" i="1" smtClean="0">
                              <a:latin typeface="Cambria Math" panose="02040503050406030204" pitchFamily="18" charset="0"/>
                            </a:rPr>
                            <m:t>2</m:t>
                          </m:r>
                        </m:den>
                      </m:f>
                    </m:oMath>
                  </m:oMathPara>
                </a14:m>
                <a:endParaRPr lang="en-GB" sz="2400" dirty="0"/>
              </a:p>
            </p:txBody>
          </p:sp>
        </mc:Choice>
        <mc:Fallback xmlns="">
          <p:sp>
            <p:nvSpPr>
              <p:cNvPr id="35" name="TextBox 34"/>
              <p:cNvSpPr txBox="1">
                <a:spLocks noRot="1" noChangeAspect="1" noMove="1" noResize="1" noEditPoints="1" noAdjustHandles="1" noChangeArrowheads="1" noChangeShapeType="1" noTextEdit="1"/>
              </p:cNvSpPr>
              <p:nvPr/>
            </p:nvSpPr>
            <p:spPr>
              <a:xfrm>
                <a:off x="2570290" y="921544"/>
                <a:ext cx="1152128" cy="783804"/>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7596336" y="849536"/>
                <a:ext cx="1368152" cy="786177"/>
              </a:xfrm>
              <a:prstGeom prst="rect">
                <a:avLst/>
              </a:prstGeom>
              <a:solidFill>
                <a:schemeClr val="bg1">
                  <a:alpha val="65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𝑚</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1</m:t>
                          </m:r>
                        </m:num>
                        <m:den>
                          <m:r>
                            <a:rPr lang="en-GB" sz="2400" b="0" i="1" smtClean="0">
                              <a:latin typeface="Cambria Math" panose="02040503050406030204" pitchFamily="18" charset="0"/>
                            </a:rPr>
                            <m:t>3</m:t>
                          </m:r>
                        </m:den>
                      </m:f>
                    </m:oMath>
                  </m:oMathPara>
                </a14:m>
                <a:endParaRPr lang="en-GB" sz="2400" dirty="0"/>
              </a:p>
            </p:txBody>
          </p:sp>
        </mc:Choice>
        <mc:Fallback xmlns="">
          <p:sp>
            <p:nvSpPr>
              <p:cNvPr id="36" name="TextBox 35"/>
              <p:cNvSpPr txBox="1">
                <a:spLocks noRot="1" noChangeAspect="1" noMove="1" noResize="1" noEditPoints="1" noAdjustHandles="1" noChangeArrowheads="1" noChangeShapeType="1" noTextEdit="1"/>
              </p:cNvSpPr>
              <p:nvPr/>
            </p:nvSpPr>
            <p:spPr>
              <a:xfrm>
                <a:off x="7596336" y="849536"/>
                <a:ext cx="1368152" cy="786177"/>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6299629" y="2751899"/>
                <a:ext cx="1296144" cy="461665"/>
              </a:xfrm>
              <a:prstGeom prst="rect">
                <a:avLst/>
              </a:prstGeom>
              <a:solidFill>
                <a:schemeClr val="bg1">
                  <a:alpha val="65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𝑚</m:t>
                      </m:r>
                      <m:r>
                        <a:rPr lang="en-GB" sz="2400" b="0" i="1" smtClean="0">
                          <a:latin typeface="Cambria Math" panose="02040503050406030204" pitchFamily="18" charset="0"/>
                        </a:rPr>
                        <m:t>=3</m:t>
                      </m:r>
                    </m:oMath>
                  </m:oMathPara>
                </a14:m>
                <a:endParaRPr lang="en-GB" sz="2400" dirty="0"/>
              </a:p>
            </p:txBody>
          </p:sp>
        </mc:Choice>
        <mc:Fallback xmlns="">
          <p:sp>
            <p:nvSpPr>
              <p:cNvPr id="37" name="TextBox 36"/>
              <p:cNvSpPr txBox="1">
                <a:spLocks noRot="1" noChangeAspect="1" noMove="1" noResize="1" noEditPoints="1" noAdjustHandles="1" noChangeArrowheads="1" noChangeShapeType="1" noTextEdit="1"/>
              </p:cNvSpPr>
              <p:nvPr/>
            </p:nvSpPr>
            <p:spPr>
              <a:xfrm>
                <a:off x="6299629" y="2751899"/>
                <a:ext cx="1296144" cy="461665"/>
              </a:xfrm>
              <a:prstGeom prst="rect">
                <a:avLst/>
              </a:prstGeom>
              <a:blipFill>
                <a:blip r:embed="rId5"/>
                <a:stretch>
                  <a:fillRect/>
                </a:stretch>
              </a:blipFill>
            </p:spPr>
            <p:txBody>
              <a:bodyPr/>
              <a:lstStyle/>
              <a:p>
                <a:r>
                  <a:rPr lang="en-GB">
                    <a:noFill/>
                  </a:rPr>
                  <a:t> </a:t>
                </a:r>
              </a:p>
            </p:txBody>
          </p:sp>
        </mc:Fallback>
      </mc:AlternateContent>
      <p:sp>
        <p:nvSpPr>
          <p:cNvPr id="49" name="Rectangle 48"/>
          <p:cNvSpPr/>
          <p:nvPr/>
        </p:nvSpPr>
        <p:spPr>
          <a:xfrm>
            <a:off x="3477629" y="4104580"/>
            <a:ext cx="687971" cy="65610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38" name="Rectangle 37"/>
          <p:cNvSpPr/>
          <p:nvPr/>
        </p:nvSpPr>
        <p:spPr>
          <a:xfrm>
            <a:off x="3322590" y="921247"/>
            <a:ext cx="552724" cy="7624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39" name="Rectangle 38"/>
          <p:cNvSpPr/>
          <p:nvPr/>
        </p:nvSpPr>
        <p:spPr>
          <a:xfrm>
            <a:off x="8389239" y="804619"/>
            <a:ext cx="682190" cy="85000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40" name="Rectangle 39"/>
          <p:cNvSpPr/>
          <p:nvPr/>
        </p:nvSpPr>
        <p:spPr>
          <a:xfrm>
            <a:off x="7155138" y="2607344"/>
            <a:ext cx="711605" cy="62934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cxnSp>
        <p:nvCxnSpPr>
          <p:cNvPr id="4" name="Straight Connector 3"/>
          <p:cNvCxnSpPr/>
          <p:nvPr/>
        </p:nvCxnSpPr>
        <p:spPr>
          <a:xfrm>
            <a:off x="1692275" y="2708275"/>
            <a:ext cx="2172060" cy="0"/>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3860800" y="1611086"/>
            <a:ext cx="14514" cy="1132114"/>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p:cNvSpPr txBox="1"/>
              <p:nvPr/>
            </p:nvSpPr>
            <p:spPr>
              <a:xfrm>
                <a:off x="2803698" y="2644480"/>
                <a:ext cx="28803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𝒂</m:t>
                      </m:r>
                    </m:oMath>
                  </m:oMathPara>
                </a14:m>
                <a:endParaRPr lang="en-GB" b="1" dirty="0"/>
              </a:p>
            </p:txBody>
          </p:sp>
        </mc:Choice>
        <mc:Fallback xmlns="">
          <p:sp>
            <p:nvSpPr>
              <p:cNvPr id="7" name="TextBox 6"/>
              <p:cNvSpPr txBox="1">
                <a:spLocks noRot="1" noChangeAspect="1" noMove="1" noResize="1" noEditPoints="1" noAdjustHandles="1" noChangeArrowheads="1" noChangeShapeType="1" noTextEdit="1"/>
              </p:cNvSpPr>
              <p:nvPr/>
            </p:nvSpPr>
            <p:spPr>
              <a:xfrm>
                <a:off x="2803698" y="2644480"/>
                <a:ext cx="288032" cy="369332"/>
              </a:xfrm>
              <a:prstGeom prst="rect">
                <a:avLst/>
              </a:prstGeom>
              <a:blipFill>
                <a:blip r:embed="rId6"/>
                <a:stretch>
                  <a:fillRect r="-425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3899284" y="1974335"/>
                <a:ext cx="28803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𝒃</m:t>
                      </m:r>
                    </m:oMath>
                  </m:oMathPara>
                </a14:m>
                <a:endParaRPr lang="en-GB" b="1" dirty="0"/>
              </a:p>
            </p:txBody>
          </p:sp>
        </mc:Choice>
        <mc:Fallback xmlns="">
          <p:sp>
            <p:nvSpPr>
              <p:cNvPr id="46" name="TextBox 45"/>
              <p:cNvSpPr txBox="1">
                <a:spLocks noRot="1" noChangeAspect="1" noMove="1" noResize="1" noEditPoints="1" noAdjustHandles="1" noChangeArrowheads="1" noChangeShapeType="1" noTextEdit="1"/>
              </p:cNvSpPr>
              <p:nvPr/>
            </p:nvSpPr>
            <p:spPr>
              <a:xfrm>
                <a:off x="3899284" y="1974335"/>
                <a:ext cx="288032" cy="369332"/>
              </a:xfrm>
              <a:prstGeom prst="rect">
                <a:avLst/>
              </a:prstGeom>
              <a:blipFill>
                <a:blip r:embed="rId7"/>
                <a:stretch>
                  <a:fillRect r="-10638"/>
                </a:stretch>
              </a:blipFill>
            </p:spPr>
            <p:txBody>
              <a:bodyPr/>
              <a:lstStyle/>
              <a:p>
                <a:r>
                  <a:rPr lang="en-GB">
                    <a:noFill/>
                  </a:rPr>
                  <a:t> </a:t>
                </a:r>
              </a:p>
            </p:txBody>
          </p:sp>
        </mc:Fallback>
      </mc:AlternateContent>
      <p:cxnSp>
        <p:nvCxnSpPr>
          <p:cNvPr id="47" name="Straight Connector 46"/>
          <p:cNvCxnSpPr/>
          <p:nvPr/>
        </p:nvCxnSpPr>
        <p:spPr>
          <a:xfrm flipV="1">
            <a:off x="1690577" y="2732568"/>
            <a:ext cx="0" cy="2158409"/>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1717668" y="4868863"/>
            <a:ext cx="1068062" cy="849"/>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p:cNvSpPr txBox="1"/>
              <p:nvPr/>
            </p:nvSpPr>
            <p:spPr>
              <a:xfrm>
                <a:off x="1368437" y="3689737"/>
                <a:ext cx="28803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𝒂</m:t>
                      </m:r>
                    </m:oMath>
                  </m:oMathPara>
                </a14:m>
                <a:endParaRPr lang="en-GB" b="1" dirty="0"/>
              </a:p>
            </p:txBody>
          </p:sp>
        </mc:Choice>
        <mc:Fallback xmlns="">
          <p:sp>
            <p:nvSpPr>
              <p:cNvPr id="53" name="TextBox 52"/>
              <p:cNvSpPr txBox="1">
                <a:spLocks noRot="1" noChangeAspect="1" noMove="1" noResize="1" noEditPoints="1" noAdjustHandles="1" noChangeArrowheads="1" noChangeShapeType="1" noTextEdit="1"/>
              </p:cNvSpPr>
              <p:nvPr/>
            </p:nvSpPr>
            <p:spPr>
              <a:xfrm>
                <a:off x="1368437" y="3689737"/>
                <a:ext cx="288032" cy="369332"/>
              </a:xfrm>
              <a:prstGeom prst="rect">
                <a:avLst/>
              </a:prstGeom>
              <a:blipFill>
                <a:blip r:embed="rId8"/>
                <a:stretch>
                  <a:fillRect r="-208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2072011" y="4890977"/>
                <a:ext cx="28803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𝒃</m:t>
                      </m:r>
                    </m:oMath>
                  </m:oMathPara>
                </a14:m>
                <a:endParaRPr lang="en-GB" b="1" dirty="0"/>
              </a:p>
            </p:txBody>
          </p:sp>
        </mc:Choice>
        <mc:Fallback xmlns="">
          <p:sp>
            <p:nvSpPr>
              <p:cNvPr id="54" name="TextBox 53"/>
              <p:cNvSpPr txBox="1">
                <a:spLocks noRot="1" noChangeAspect="1" noMove="1" noResize="1" noEditPoints="1" noAdjustHandles="1" noChangeArrowheads="1" noChangeShapeType="1" noTextEdit="1"/>
              </p:cNvSpPr>
              <p:nvPr/>
            </p:nvSpPr>
            <p:spPr>
              <a:xfrm>
                <a:off x="2072011" y="4890977"/>
                <a:ext cx="288032" cy="369332"/>
              </a:xfrm>
              <a:prstGeom prst="rect">
                <a:avLst/>
              </a:prstGeom>
              <a:blipFill>
                <a:blip r:embed="rId9"/>
                <a:stretch>
                  <a:fillRect r="-1063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264906" y="5458959"/>
                <a:ext cx="4883209" cy="1050672"/>
              </a:xfrm>
              <a:prstGeom prst="rect">
                <a:avLst/>
              </a:prstGeom>
              <a:solidFill>
                <a:schemeClr val="bg1"/>
              </a:solidFill>
            </p:spPr>
            <p:txBody>
              <a:bodyPr wrap="square" rtlCol="0">
                <a:spAutoFit/>
              </a:bodyPr>
              <a:lstStyle/>
              <a:p>
                <a:r>
                  <a:rPr lang="en-GB" b="1" dirty="0"/>
                  <a:t>Using the changes above, we can see the gradient of one line is </a:t>
                </a:r>
                <a14:m>
                  <m:oMath xmlns:m="http://schemas.openxmlformats.org/officeDocument/2006/math">
                    <m:r>
                      <a:rPr lang="en-GB" b="1" i="1" smtClean="0">
                        <a:latin typeface="Cambria Math" panose="02040503050406030204" pitchFamily="18" charset="0"/>
                      </a:rPr>
                      <m:t>𝒎</m:t>
                    </m:r>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𝒃</m:t>
                        </m:r>
                      </m:num>
                      <m:den>
                        <m:r>
                          <a:rPr lang="en-GB" b="1" i="1" smtClean="0">
                            <a:latin typeface="Cambria Math" panose="02040503050406030204" pitchFamily="18" charset="0"/>
                          </a:rPr>
                          <m:t>𝒂</m:t>
                        </m:r>
                      </m:den>
                    </m:f>
                  </m:oMath>
                </a14:m>
                <a:r>
                  <a:rPr lang="en-GB" b="1" dirty="0"/>
                  <a:t>  and the other </a:t>
                </a:r>
                <a14:m>
                  <m:oMath xmlns:m="http://schemas.openxmlformats.org/officeDocument/2006/math">
                    <m:r>
                      <a:rPr lang="en-GB" b="1" i="1" smtClean="0">
                        <a:latin typeface="Cambria Math" panose="02040503050406030204" pitchFamily="18" charset="0"/>
                      </a:rPr>
                      <m:t>𝒎</m:t>
                    </m:r>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𝒂</m:t>
                        </m:r>
                      </m:num>
                      <m:den>
                        <m:r>
                          <a:rPr lang="en-GB" b="1" i="1" smtClean="0">
                            <a:latin typeface="Cambria Math" panose="02040503050406030204" pitchFamily="18" charset="0"/>
                          </a:rPr>
                          <m:t>𝒃</m:t>
                        </m:r>
                      </m:den>
                    </m:f>
                  </m:oMath>
                </a14:m>
                <a:r>
                  <a:rPr lang="en-GB" b="1" dirty="0"/>
                  <a:t>. One is the ‘negative reciprocal’ of the other.</a:t>
                </a:r>
              </a:p>
            </p:txBody>
          </p:sp>
        </mc:Choice>
        <mc:Fallback xmlns="">
          <p:sp>
            <p:nvSpPr>
              <p:cNvPr id="11" name="TextBox 10"/>
              <p:cNvSpPr txBox="1">
                <a:spLocks noRot="1" noChangeAspect="1" noMove="1" noResize="1" noEditPoints="1" noAdjustHandles="1" noChangeArrowheads="1" noChangeShapeType="1" noTextEdit="1"/>
              </p:cNvSpPr>
              <p:nvPr/>
            </p:nvSpPr>
            <p:spPr>
              <a:xfrm>
                <a:off x="264906" y="5458959"/>
                <a:ext cx="4883209" cy="1050672"/>
              </a:xfrm>
              <a:prstGeom prst="rect">
                <a:avLst/>
              </a:prstGeom>
              <a:blipFill>
                <a:blip r:embed="rId10"/>
                <a:stretch>
                  <a:fillRect l="-998" t="-2890" r="-1746" b="-8092"/>
                </a:stretch>
              </a:blipFill>
            </p:spPr>
            <p:txBody>
              <a:bodyPr/>
              <a:lstStyle/>
              <a:p>
                <a:r>
                  <a:rPr lang="en-GB">
                    <a:noFill/>
                  </a:rPr>
                  <a:t> </a:t>
                </a:r>
              </a:p>
            </p:txBody>
          </p:sp>
        </mc:Fallback>
      </mc:AlternateContent>
    </p:spTree>
    <p:extLst>
      <p:ext uri="{BB962C8B-B14F-4D97-AF65-F5344CB8AC3E}">
        <p14:creationId xmlns:p14="http://schemas.microsoft.com/office/powerpoint/2010/main" val="37135962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9"/>
                                        </p:tgtEl>
                                      </p:cBhvr>
                                    </p:animEffect>
                                    <p:set>
                                      <p:cBhvr>
                                        <p:cTn id="7" dur="1" fill="hold">
                                          <p:stCondLst>
                                            <p:cond delay="499"/>
                                          </p:stCondLst>
                                        </p:cTn>
                                        <p:tgtEl>
                                          <p:spTgt spid="49"/>
                                        </p:tgtEl>
                                        <p:attrNameLst>
                                          <p:attrName>style.visibility</p:attrName>
                                        </p:attrNameLst>
                                      </p:cBhvr>
                                      <p:to>
                                        <p:strVal val="hidden"/>
                                      </p:to>
                                    </p:set>
                                  </p:childTnLst>
                                </p:cTn>
                              </p:par>
                              <p:par>
                                <p:cTn id="8" presetID="2" presetClass="entr" presetSubtype="4"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500" fill="hold"/>
                                        <p:tgtEl>
                                          <p:spTgt spid="11"/>
                                        </p:tgtEl>
                                        <p:attrNameLst>
                                          <p:attrName>ppt_x</p:attrName>
                                        </p:attrNameLst>
                                      </p:cBhvr>
                                      <p:tavLst>
                                        <p:tav tm="0">
                                          <p:val>
                                            <p:strVal val="#ppt_x"/>
                                          </p:val>
                                        </p:tav>
                                        <p:tav tm="100000">
                                          <p:val>
                                            <p:strVal val="#ppt_x"/>
                                          </p:val>
                                        </p:tav>
                                      </p:tavLst>
                                    </p:anim>
                                    <p:anim calcmode="lin" valueType="num">
                                      <p:cBhvr additive="base">
                                        <p:cTn id="11" dur="500" fill="hold"/>
                                        <p:tgtEl>
                                          <p:spTgt spid="11"/>
                                        </p:tgtEl>
                                        <p:attrNameLst>
                                          <p:attrName>ppt_y</p:attrName>
                                        </p:attrNameLst>
                                      </p:cBhvr>
                                      <p:tavLst>
                                        <p:tav tm="0">
                                          <p:val>
                                            <p:strVal val="1+#ppt_h/2"/>
                                          </p:val>
                                        </p:tav>
                                        <p:tav tm="100000">
                                          <p:val>
                                            <p:strVal val="#ppt_y"/>
                                          </p:val>
                                        </p:tav>
                                      </p:tavLst>
                                    </p:anim>
                                  </p:childTnLst>
                                </p:cTn>
                              </p:par>
                              <p:par>
                                <p:cTn id="12" presetID="10" presetClass="entr" presetSubtype="0" fill="hold" nodeType="withEffect">
                                  <p:stCondLst>
                                    <p:cond delay="0"/>
                                  </p:stCondLst>
                                  <p:childTnLst>
                                    <p:set>
                                      <p:cBhvr>
                                        <p:cTn id="13" dur="1" fill="hold">
                                          <p:stCondLst>
                                            <p:cond delay="0"/>
                                          </p:stCondLst>
                                        </p:cTn>
                                        <p:tgtEl>
                                          <p:spTgt spid="47"/>
                                        </p:tgtEl>
                                        <p:attrNameLst>
                                          <p:attrName>style.visibility</p:attrName>
                                        </p:attrNameLst>
                                      </p:cBhvr>
                                      <p:to>
                                        <p:strVal val="visible"/>
                                      </p:to>
                                    </p:set>
                                    <p:animEffect transition="in" filter="fade">
                                      <p:cBhvr>
                                        <p:cTn id="14" dur="500"/>
                                        <p:tgtEl>
                                          <p:spTgt spid="47"/>
                                        </p:tgtEl>
                                      </p:cBhvr>
                                    </p:animEffect>
                                  </p:childTnLst>
                                </p:cTn>
                              </p:par>
                              <p:par>
                                <p:cTn id="15" presetID="10" presetClass="entr" presetSubtype="0" fill="hold" nodeType="with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fade">
                                      <p:cBhvr>
                                        <p:cTn id="17" dur="500"/>
                                        <p:tgtEl>
                                          <p:spTgt spid="51"/>
                                        </p:tgtEl>
                                      </p:cBhvr>
                                    </p:animEffect>
                                  </p:childTnLst>
                                </p:cTn>
                              </p:par>
                              <p:par>
                                <p:cTn id="18" presetID="10" presetClass="entr" presetSubtype="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par>
                                <p:cTn id="21" presetID="10" presetClass="entr" presetSubtype="0" fill="hold" nodeType="with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fade">
                                      <p:cBhvr>
                                        <p:cTn id="23" dur="500"/>
                                        <p:tgtEl>
                                          <p:spTgt spid="4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fade">
                                      <p:cBhvr>
                                        <p:cTn id="26" dur="500"/>
                                        <p:tgtEl>
                                          <p:spTgt spid="4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4"/>
                                        </p:tgtEl>
                                        <p:attrNameLst>
                                          <p:attrName>style.visibility</p:attrName>
                                        </p:attrNameLst>
                                      </p:cBhvr>
                                      <p:to>
                                        <p:strVal val="visible"/>
                                      </p:to>
                                    </p:set>
                                    <p:animEffect transition="in" filter="fade">
                                      <p:cBhvr>
                                        <p:cTn id="32" dur="500"/>
                                        <p:tgtEl>
                                          <p:spTgt spid="5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animEffect transition="in" filter="fade">
                                      <p:cBhvr>
                                        <p:cTn id="35" dur="500"/>
                                        <p:tgtEl>
                                          <p:spTgt spid="53"/>
                                        </p:tgtEl>
                                      </p:cBhvr>
                                    </p:animEffect>
                                  </p:childTnLst>
                                </p:cTn>
                              </p:par>
                            </p:childTnLst>
                          </p:cTn>
                        </p:par>
                      </p:childTnLst>
                    </p:cTn>
                  </p:par>
                </p:childTnLst>
              </p:cTn>
              <p:nextCondLst>
                <p:cond evt="onClick" delay="0">
                  <p:tgtEl>
                    <p:spTgt spid="49"/>
                  </p:tgtEl>
                </p:cond>
              </p:nextCondLst>
            </p:seq>
            <p:seq concurrent="1" nextAc="seek">
              <p:cTn id="36" restart="whenNotActive" fill="hold" evtFilter="cancelBubble" nodeType="interactiveSeq">
                <p:stCondLst>
                  <p:cond evt="onClick" delay="0">
                    <p:tgtEl>
                      <p:spTgt spid="38"/>
                    </p:tgtEl>
                  </p:cond>
                </p:stCondLst>
                <p:endSync evt="end" delay="0">
                  <p:rtn val="all"/>
                </p:endSync>
                <p:childTnLst>
                  <p:par>
                    <p:cTn id="37" fill="hold">
                      <p:stCondLst>
                        <p:cond delay="0"/>
                      </p:stCondLst>
                      <p:childTnLst>
                        <p:par>
                          <p:cTn id="38" fill="hold">
                            <p:stCondLst>
                              <p:cond delay="0"/>
                            </p:stCondLst>
                            <p:childTnLst>
                              <p:par>
                                <p:cTn id="39" presetID="10" presetClass="exit" presetSubtype="0" fill="hold" grpId="0" nodeType="clickEffect">
                                  <p:stCondLst>
                                    <p:cond delay="0"/>
                                  </p:stCondLst>
                                  <p:childTnLst>
                                    <p:animEffect transition="out" filter="fade">
                                      <p:cBhvr>
                                        <p:cTn id="40" dur="500"/>
                                        <p:tgtEl>
                                          <p:spTgt spid="38"/>
                                        </p:tgtEl>
                                      </p:cBhvr>
                                    </p:animEffect>
                                    <p:set>
                                      <p:cBhvr>
                                        <p:cTn id="41" dur="1" fill="hold">
                                          <p:stCondLst>
                                            <p:cond delay="499"/>
                                          </p:stCondLst>
                                        </p:cTn>
                                        <p:tgtEl>
                                          <p:spTgt spid="38"/>
                                        </p:tgtEl>
                                        <p:attrNameLst>
                                          <p:attrName>style.visibility</p:attrName>
                                        </p:attrNameLst>
                                      </p:cBhvr>
                                      <p:to>
                                        <p:strVal val="hidden"/>
                                      </p:to>
                                    </p:set>
                                  </p:childTnLst>
                                </p:cTn>
                              </p:par>
                            </p:childTnLst>
                          </p:cTn>
                        </p:par>
                      </p:childTnLst>
                    </p:cTn>
                  </p:par>
                </p:childTnLst>
              </p:cTn>
              <p:nextCondLst>
                <p:cond evt="onClick" delay="0">
                  <p:tgtEl>
                    <p:spTgt spid="38"/>
                  </p:tgtEl>
                </p:cond>
              </p:nextCondLst>
            </p:seq>
            <p:seq concurrent="1" nextAc="seek">
              <p:cTn id="42" restart="whenNotActive" fill="hold" evtFilter="cancelBubble" nodeType="interactiveSeq">
                <p:stCondLst>
                  <p:cond evt="onClick" delay="0">
                    <p:tgtEl>
                      <p:spTgt spid="39"/>
                    </p:tgtEl>
                  </p:cond>
                </p:stCondLst>
                <p:endSync evt="end" delay="0">
                  <p:rtn val="all"/>
                </p:endSync>
                <p:childTnLst>
                  <p:par>
                    <p:cTn id="43" fill="hold">
                      <p:stCondLst>
                        <p:cond delay="0"/>
                      </p:stCondLst>
                      <p:childTnLst>
                        <p:par>
                          <p:cTn id="44" fill="hold">
                            <p:stCondLst>
                              <p:cond delay="0"/>
                            </p:stCondLst>
                            <p:childTnLst>
                              <p:par>
                                <p:cTn id="45" presetID="10" presetClass="exit" presetSubtype="0" fill="hold" grpId="0" nodeType="clickEffect">
                                  <p:stCondLst>
                                    <p:cond delay="0"/>
                                  </p:stCondLst>
                                  <p:childTnLst>
                                    <p:animEffect transition="out" filter="fade">
                                      <p:cBhvr>
                                        <p:cTn id="46" dur="500"/>
                                        <p:tgtEl>
                                          <p:spTgt spid="39"/>
                                        </p:tgtEl>
                                      </p:cBhvr>
                                    </p:animEffect>
                                    <p:set>
                                      <p:cBhvr>
                                        <p:cTn id="47" dur="1" fill="hold">
                                          <p:stCondLst>
                                            <p:cond delay="499"/>
                                          </p:stCondLst>
                                        </p:cTn>
                                        <p:tgtEl>
                                          <p:spTgt spid="39"/>
                                        </p:tgtEl>
                                        <p:attrNameLst>
                                          <p:attrName>style.visibility</p:attrName>
                                        </p:attrNameLst>
                                      </p:cBhvr>
                                      <p:to>
                                        <p:strVal val="hidden"/>
                                      </p:to>
                                    </p:set>
                                  </p:childTnLst>
                                </p:cTn>
                              </p:par>
                            </p:childTnLst>
                          </p:cTn>
                        </p:par>
                      </p:childTnLst>
                    </p:cTn>
                  </p:par>
                </p:childTnLst>
              </p:cTn>
              <p:nextCondLst>
                <p:cond evt="onClick" delay="0">
                  <p:tgtEl>
                    <p:spTgt spid="39"/>
                  </p:tgtEl>
                </p:cond>
              </p:nextCondLst>
            </p:seq>
            <p:seq concurrent="1" nextAc="seek">
              <p:cTn id="48" restart="whenNotActive" fill="hold" evtFilter="cancelBubble" nodeType="interactiveSeq">
                <p:stCondLst>
                  <p:cond evt="onClick" delay="0">
                    <p:tgtEl>
                      <p:spTgt spid="40"/>
                    </p:tgtEl>
                  </p:cond>
                </p:stCondLst>
                <p:endSync evt="end" delay="0">
                  <p:rtn val="all"/>
                </p:endSync>
                <p:childTnLst>
                  <p:par>
                    <p:cTn id="49" fill="hold">
                      <p:stCondLst>
                        <p:cond delay="0"/>
                      </p:stCondLst>
                      <p:childTnLst>
                        <p:par>
                          <p:cTn id="50" fill="hold">
                            <p:stCondLst>
                              <p:cond delay="0"/>
                            </p:stCondLst>
                            <p:childTnLst>
                              <p:par>
                                <p:cTn id="51" presetID="10" presetClass="exit" presetSubtype="0" fill="hold" grpId="0" nodeType="clickEffect">
                                  <p:stCondLst>
                                    <p:cond delay="0"/>
                                  </p:stCondLst>
                                  <p:childTnLst>
                                    <p:animEffect transition="out" filter="fade">
                                      <p:cBhvr>
                                        <p:cTn id="52" dur="500"/>
                                        <p:tgtEl>
                                          <p:spTgt spid="40"/>
                                        </p:tgtEl>
                                      </p:cBhvr>
                                    </p:animEffect>
                                    <p:set>
                                      <p:cBhvr>
                                        <p:cTn id="53" dur="1" fill="hold">
                                          <p:stCondLst>
                                            <p:cond delay="499"/>
                                          </p:stCondLst>
                                        </p:cTn>
                                        <p:tgtEl>
                                          <p:spTgt spid="40"/>
                                        </p:tgtEl>
                                        <p:attrNameLst>
                                          <p:attrName>style.visibility</p:attrName>
                                        </p:attrNameLst>
                                      </p:cBhvr>
                                      <p:to>
                                        <p:strVal val="hidden"/>
                                      </p:to>
                                    </p:set>
                                  </p:childTnLst>
                                </p:cTn>
                              </p:par>
                            </p:childTnLst>
                          </p:cTn>
                        </p:par>
                      </p:childTnLst>
                    </p:cTn>
                  </p:par>
                </p:childTnLst>
              </p:cTn>
              <p:nextCondLst>
                <p:cond evt="onClick" delay="0">
                  <p:tgtEl>
                    <p:spTgt spid="40"/>
                  </p:tgtEl>
                </p:cond>
              </p:nextCondLst>
            </p:seq>
          </p:childTnLst>
        </p:cTn>
      </p:par>
    </p:tnLst>
    <p:bldLst>
      <p:bldP spid="49" grpId="0" animBg="1"/>
      <p:bldP spid="38" grpId="0" animBg="1"/>
      <p:bldP spid="39" grpId="0" animBg="1"/>
      <p:bldP spid="40" grpId="0" animBg="1"/>
      <p:bldP spid="7" grpId="0"/>
      <p:bldP spid="46" grpId="0"/>
      <p:bldP spid="53" grpId="0"/>
      <p:bldP spid="54" grpId="0"/>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Perpendicular Lines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6" name="Group 14"/>
          <p:cNvGrpSpPr/>
          <p:nvPr/>
        </p:nvGrpSpPr>
        <p:grpSpPr>
          <a:xfrm rot="1761958">
            <a:off x="7071858" y="1037475"/>
            <a:ext cx="1584176" cy="1800200"/>
            <a:chOff x="6588224" y="1916832"/>
            <a:chExt cx="1584176" cy="1800200"/>
          </a:xfrm>
        </p:grpSpPr>
        <p:cxnSp>
          <p:nvCxnSpPr>
            <p:cNvPr id="7" name="Straight Connector 6"/>
            <p:cNvCxnSpPr/>
            <p:nvPr/>
          </p:nvCxnSpPr>
          <p:spPr>
            <a:xfrm>
              <a:off x="6588224" y="2780928"/>
              <a:ext cx="1584176" cy="0"/>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p:cNvCxnSpPr/>
            <p:nvPr/>
          </p:nvCxnSpPr>
          <p:spPr>
            <a:xfrm flipV="1">
              <a:off x="7380312" y="1916832"/>
              <a:ext cx="0" cy="1800200"/>
            </a:xfrm>
            <a:prstGeom prst="line">
              <a:avLst/>
            </a:prstGeom>
          </p:spPr>
          <p:style>
            <a:lnRef idx="2">
              <a:schemeClr val="dk1"/>
            </a:lnRef>
            <a:fillRef idx="0">
              <a:schemeClr val="dk1"/>
            </a:fillRef>
            <a:effectRef idx="1">
              <a:schemeClr val="dk1"/>
            </a:effectRef>
            <a:fontRef idx="minor">
              <a:schemeClr val="tx1"/>
            </a:fontRef>
          </p:style>
        </p:cxnSp>
        <p:sp>
          <p:nvSpPr>
            <p:cNvPr id="14" name="Rectangle 13"/>
            <p:cNvSpPr/>
            <p:nvPr/>
          </p:nvSpPr>
          <p:spPr>
            <a:xfrm>
              <a:off x="7380312" y="2564904"/>
              <a:ext cx="216024" cy="2160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grpSp>
      <mc:AlternateContent xmlns:mc="http://schemas.openxmlformats.org/markup-compatibility/2006" xmlns:a14="http://schemas.microsoft.com/office/drawing/2010/main">
        <mc:Choice Requires="a14">
          <p:graphicFrame>
            <p:nvGraphicFramePr>
              <p:cNvPr id="20" name="Table 19"/>
              <p:cNvGraphicFramePr>
                <a:graphicFrameLocks noGrp="1"/>
              </p:cNvGraphicFramePr>
              <p:nvPr/>
            </p:nvGraphicFramePr>
            <p:xfrm>
              <a:off x="1096243" y="2791250"/>
              <a:ext cx="6096000" cy="4011804"/>
            </p:xfrm>
            <a:graphic>
              <a:graphicData uri="http://schemas.openxmlformats.org/drawingml/2006/table">
                <a:tbl>
                  <a:tblPr firstRow="1" bandRow="1">
                    <a:tableStyleId>{073A0DAA-6AF3-43AB-8588-CEC1D06C72B9}</a:tableStyleId>
                  </a:tblPr>
                  <a:tblGrid>
                    <a:gridCol w="2088232">
                      <a:extLst>
                        <a:ext uri="{9D8B030D-6E8A-4147-A177-3AD203B41FA5}">
                          <a16:colId xmlns:a16="http://schemas.microsoft.com/office/drawing/2014/main" val="20000"/>
                        </a:ext>
                      </a:extLst>
                    </a:gridCol>
                    <a:gridCol w="4007768">
                      <a:extLst>
                        <a:ext uri="{9D8B030D-6E8A-4147-A177-3AD203B41FA5}">
                          <a16:colId xmlns:a16="http://schemas.microsoft.com/office/drawing/2014/main" val="20001"/>
                        </a:ext>
                      </a:extLst>
                    </a:gridCol>
                  </a:tblGrid>
                  <a:tr h="370840">
                    <a:tc>
                      <a:txBody>
                        <a:bodyPr/>
                        <a:lstStyle/>
                        <a:p>
                          <a:r>
                            <a:rPr lang="en-GB" dirty="0"/>
                            <a:t>Gradient</a:t>
                          </a:r>
                        </a:p>
                      </a:txBody>
                      <a:tcPr/>
                    </a:tc>
                    <a:tc>
                      <a:txBody>
                        <a:bodyPr/>
                        <a:lstStyle/>
                        <a:p>
                          <a:r>
                            <a:rPr lang="en-GB" dirty="0"/>
                            <a:t>Gradient of Perpendicular Line</a:t>
                          </a:r>
                        </a:p>
                      </a:txBody>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a:rPr>
                                  <m:t>2</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a:rPr>
                                  <m:t>−</m:t>
                                </m:r>
                                <m:f>
                                  <m:fPr>
                                    <m:ctrlPr>
                                      <a:rPr lang="en-GB" b="0" i="1" smtClean="0">
                                        <a:latin typeface="Cambria Math" panose="02040503050406030204" pitchFamily="18" charset="0"/>
                                      </a:rPr>
                                    </m:ctrlPr>
                                  </m:fPr>
                                  <m:num>
                                    <m:r>
                                      <a:rPr lang="en-GB" b="0" i="1" smtClean="0">
                                        <a:latin typeface="Cambria Math"/>
                                      </a:rPr>
                                      <m:t>1</m:t>
                                    </m:r>
                                  </m:num>
                                  <m:den>
                                    <m:r>
                                      <a:rPr lang="en-GB" b="0" i="1" smtClean="0">
                                        <a:latin typeface="Cambria Math"/>
                                      </a:rPr>
                                      <m:t>2</m:t>
                                    </m:r>
                                  </m:den>
                                </m:f>
                              </m:oMath>
                            </m:oMathPara>
                          </a14:m>
                          <a:endParaRPr lang="en-GB" dirty="0"/>
                        </a:p>
                      </a:txBody>
                      <a:tcPr/>
                    </a:tc>
                    <a:extLst>
                      <a:ext uri="{0D108BD9-81ED-4DB2-BD59-A6C34878D82A}">
                        <a16:rowId xmlns:a16="http://schemas.microsoft.com/office/drawing/2014/main" val="10001"/>
                      </a:ext>
                    </a:extLst>
                  </a:tr>
                  <a:tr h="370840">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a:rPr>
                                  <m:t>−3</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a:rPr>
                                      <m:t>1</m:t>
                                    </m:r>
                                  </m:num>
                                  <m:den>
                                    <m:r>
                                      <a:rPr lang="en-GB" b="0" i="1" smtClean="0">
                                        <a:latin typeface="Cambria Math"/>
                                      </a:rPr>
                                      <m:t>3</m:t>
                                    </m:r>
                                  </m:den>
                                </m:f>
                              </m:oMath>
                            </m:oMathPara>
                          </a14:m>
                          <a:endParaRPr lang="en-GB" dirty="0"/>
                        </a:p>
                      </a:txBody>
                      <a:tcPr/>
                    </a:tc>
                    <a:extLst>
                      <a:ext uri="{0D108BD9-81ED-4DB2-BD59-A6C34878D82A}">
                        <a16:rowId xmlns:a16="http://schemas.microsoft.com/office/drawing/2014/main" val="10002"/>
                      </a:ext>
                    </a:extLst>
                  </a:tr>
                  <a:tr h="370840">
                    <a:tc>
                      <a:txBody>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a:rPr>
                                      <m:t>1</m:t>
                                    </m:r>
                                  </m:num>
                                  <m:den>
                                    <m:r>
                                      <a:rPr lang="en-GB" b="0" i="1" smtClean="0">
                                        <a:latin typeface="Cambria Math"/>
                                      </a:rPr>
                                      <m:t>4</m:t>
                                    </m:r>
                                  </m:den>
                                </m:f>
                              </m:oMath>
                            </m:oMathPara>
                          </a14:m>
                          <a:endParaRPr lang="en-GB" dirty="0"/>
                        </a:p>
                      </a:txBody>
                      <a:tcPr/>
                    </a:tc>
                    <a:tc>
                      <a:txBody>
                        <a:bodyPr/>
                        <a:lstStyle/>
                        <a:p>
                          <a:r>
                            <a:rPr lang="en-GB" dirty="0"/>
                            <a:t>-4</a:t>
                          </a:r>
                        </a:p>
                      </a:txBody>
                      <a:tcPr/>
                    </a:tc>
                    <a:extLst>
                      <a:ext uri="{0D108BD9-81ED-4DB2-BD59-A6C34878D82A}">
                        <a16:rowId xmlns:a16="http://schemas.microsoft.com/office/drawing/2014/main" val="10003"/>
                      </a:ext>
                    </a:extLst>
                  </a:tr>
                  <a:tr h="370840">
                    <a:tc>
                      <a:txBody>
                        <a:bodyPr/>
                        <a:lstStyle/>
                        <a:p>
                          <a:pPr/>
                          <a14:m>
                            <m:oMathPara xmlns:m="http://schemas.openxmlformats.org/officeDocument/2006/math">
                              <m:oMathParaPr>
                                <m:jc m:val="centerGroup"/>
                              </m:oMathParaPr>
                              <m:oMath xmlns:m="http://schemas.openxmlformats.org/officeDocument/2006/math">
                                <m:r>
                                  <a:rPr lang="en-GB" i="1" dirty="0" smtClean="0">
                                    <a:latin typeface="Cambria Math"/>
                                  </a:rPr>
                                  <m:t>5</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a:rPr>
                                  <m:t>−</m:t>
                                </m:r>
                                <m:f>
                                  <m:fPr>
                                    <m:ctrlPr>
                                      <a:rPr lang="en-GB" b="0" i="1" smtClean="0">
                                        <a:latin typeface="Cambria Math" panose="02040503050406030204" pitchFamily="18" charset="0"/>
                                      </a:rPr>
                                    </m:ctrlPr>
                                  </m:fPr>
                                  <m:num>
                                    <m:r>
                                      <a:rPr lang="en-GB" b="0" i="1" smtClean="0">
                                        <a:latin typeface="Cambria Math"/>
                                      </a:rPr>
                                      <m:t>1</m:t>
                                    </m:r>
                                  </m:num>
                                  <m:den>
                                    <m:r>
                                      <a:rPr lang="en-GB" b="0" i="1" smtClean="0">
                                        <a:latin typeface="Cambria Math"/>
                                      </a:rPr>
                                      <m:t>5</m:t>
                                    </m:r>
                                  </m:den>
                                </m:f>
                              </m:oMath>
                            </m:oMathPara>
                          </a14:m>
                          <a:endParaRPr lang="en-GB" dirty="0"/>
                        </a:p>
                      </a:txBody>
                      <a:tcPr/>
                    </a:tc>
                    <a:extLst>
                      <a:ext uri="{0D108BD9-81ED-4DB2-BD59-A6C34878D82A}">
                        <a16:rowId xmlns:a16="http://schemas.microsoft.com/office/drawing/2014/main" val="10004"/>
                      </a:ext>
                    </a:extLst>
                  </a:tr>
                  <a:tr h="370840">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a:rPr>
                                  <m:t>−</m:t>
                                </m:r>
                                <m:f>
                                  <m:fPr>
                                    <m:ctrlPr>
                                      <a:rPr lang="en-GB" b="0" i="1" smtClean="0">
                                        <a:latin typeface="Cambria Math" panose="02040503050406030204" pitchFamily="18" charset="0"/>
                                      </a:rPr>
                                    </m:ctrlPr>
                                  </m:fPr>
                                  <m:num>
                                    <m:r>
                                      <a:rPr lang="en-GB" b="0" i="1" smtClean="0">
                                        <a:latin typeface="Cambria Math"/>
                                      </a:rPr>
                                      <m:t>2</m:t>
                                    </m:r>
                                  </m:num>
                                  <m:den>
                                    <m:r>
                                      <a:rPr lang="en-GB" b="0" i="1" smtClean="0">
                                        <a:latin typeface="Cambria Math"/>
                                      </a:rPr>
                                      <m:t>7</m:t>
                                    </m:r>
                                  </m:den>
                                </m:f>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a:rPr>
                                      <m:t>7</m:t>
                                    </m:r>
                                  </m:num>
                                  <m:den>
                                    <m:r>
                                      <a:rPr lang="en-GB" b="0" i="1" smtClean="0">
                                        <a:latin typeface="Cambria Math"/>
                                      </a:rPr>
                                      <m:t>2</m:t>
                                    </m:r>
                                  </m:den>
                                </m:f>
                              </m:oMath>
                            </m:oMathPara>
                          </a14:m>
                          <a:endParaRPr lang="en-GB" dirty="0"/>
                        </a:p>
                      </a:txBody>
                      <a:tcPr/>
                    </a:tc>
                    <a:extLst>
                      <a:ext uri="{0D108BD9-81ED-4DB2-BD59-A6C34878D82A}">
                        <a16:rowId xmlns:a16="http://schemas.microsoft.com/office/drawing/2014/main" val="10005"/>
                      </a:ext>
                    </a:extLst>
                  </a:tr>
                  <a:tr h="370840">
                    <a:tc>
                      <a:txBody>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a:rPr>
                                      <m:t>7</m:t>
                                    </m:r>
                                  </m:num>
                                  <m:den>
                                    <m:r>
                                      <a:rPr lang="en-GB" b="0" i="1" smtClean="0">
                                        <a:latin typeface="Cambria Math"/>
                                      </a:rPr>
                                      <m:t>5</m:t>
                                    </m:r>
                                  </m:den>
                                </m:f>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a:rPr>
                                  <m:t>−</m:t>
                                </m:r>
                                <m:f>
                                  <m:fPr>
                                    <m:ctrlPr>
                                      <a:rPr lang="en-GB" b="0" i="1" smtClean="0">
                                        <a:latin typeface="Cambria Math" panose="02040503050406030204" pitchFamily="18" charset="0"/>
                                      </a:rPr>
                                    </m:ctrlPr>
                                  </m:fPr>
                                  <m:num>
                                    <m:r>
                                      <a:rPr lang="en-GB" b="0" i="1" smtClean="0">
                                        <a:latin typeface="Cambria Math"/>
                                      </a:rPr>
                                      <m:t>5</m:t>
                                    </m:r>
                                  </m:num>
                                  <m:den>
                                    <m:r>
                                      <a:rPr lang="en-GB" b="0" i="1" smtClean="0">
                                        <a:latin typeface="Cambria Math"/>
                                      </a:rPr>
                                      <m:t>7</m:t>
                                    </m:r>
                                  </m:den>
                                </m:f>
                              </m:oMath>
                            </m:oMathPara>
                          </a14:m>
                          <a:endParaRPr lang="en-GB" dirty="0"/>
                        </a:p>
                      </a:txBody>
                      <a:tcPr/>
                    </a:tc>
                    <a:extLst>
                      <a:ext uri="{0D108BD9-81ED-4DB2-BD59-A6C34878D82A}">
                        <a16:rowId xmlns:a16="http://schemas.microsoft.com/office/drawing/2014/main" val="10006"/>
                      </a:ext>
                    </a:extLst>
                  </a:tr>
                </a:tbl>
              </a:graphicData>
            </a:graphic>
          </p:graphicFrame>
        </mc:Choice>
        <mc:Fallback xmlns="">
          <p:graphicFrame>
            <p:nvGraphicFramePr>
              <p:cNvPr id="20" name="Table 19"/>
              <p:cNvGraphicFramePr>
                <a:graphicFrameLocks noGrp="1"/>
              </p:cNvGraphicFramePr>
              <p:nvPr>
                <p:extLst>
                  <p:ext uri="{D42A27DB-BD31-4B8C-83A1-F6EECF244321}">
                    <p14:modId xmlns:p14="http://schemas.microsoft.com/office/powerpoint/2010/main" val="1974005115"/>
                  </p:ext>
                </p:extLst>
              </p:nvPr>
            </p:nvGraphicFramePr>
            <p:xfrm>
              <a:off x="1096243" y="2791250"/>
              <a:ext cx="6096000" cy="4011804"/>
            </p:xfrm>
            <a:graphic>
              <a:graphicData uri="http://schemas.openxmlformats.org/drawingml/2006/table">
                <a:tbl>
                  <a:tblPr firstRow="1" bandRow="1">
                    <a:tableStyleId>{073A0DAA-6AF3-43AB-8588-CEC1D06C72B9}</a:tableStyleId>
                  </a:tblPr>
                  <a:tblGrid>
                    <a:gridCol w="2088232"/>
                    <a:gridCol w="4007768"/>
                  </a:tblGrid>
                  <a:tr h="370840">
                    <a:tc>
                      <a:txBody>
                        <a:bodyPr/>
                        <a:lstStyle/>
                        <a:p>
                          <a:r>
                            <a:rPr lang="en-GB" dirty="0" smtClean="0"/>
                            <a:t>Gradient</a:t>
                          </a:r>
                          <a:endParaRPr lang="en-GB" dirty="0"/>
                        </a:p>
                      </a:txBody>
                      <a:tcPr/>
                    </a:tc>
                    <a:tc>
                      <a:txBody>
                        <a:bodyPr/>
                        <a:lstStyle/>
                        <a:p>
                          <a:r>
                            <a:rPr lang="en-GB" dirty="0" smtClean="0"/>
                            <a:t>Gradient of Perpendicular Line</a:t>
                          </a:r>
                          <a:endParaRPr lang="en-GB" dirty="0"/>
                        </a:p>
                      </a:txBody>
                      <a:tcPr/>
                    </a:tc>
                  </a:tr>
                  <a:tr h="605028">
                    <a:tc>
                      <a:txBody>
                        <a:bodyPr/>
                        <a:lstStyle/>
                        <a:p>
                          <a:endParaRPr lang="en-US"/>
                        </a:p>
                      </a:txBody>
                      <a:tcPr>
                        <a:blipFill rotWithShape="1">
                          <a:blip r:embed="rId2"/>
                          <a:stretch>
                            <a:fillRect l="-292" t="-66667" r="-191545" b="-503030"/>
                          </a:stretch>
                        </a:blipFill>
                      </a:tcPr>
                    </a:tc>
                    <a:tc>
                      <a:txBody>
                        <a:bodyPr/>
                        <a:lstStyle/>
                        <a:p>
                          <a:endParaRPr lang="en-US"/>
                        </a:p>
                      </a:txBody>
                      <a:tcPr>
                        <a:blipFill rotWithShape="1">
                          <a:blip r:embed="rId2"/>
                          <a:stretch>
                            <a:fillRect l="-52359" t="-66667" b="-503030"/>
                          </a:stretch>
                        </a:blipFill>
                      </a:tcPr>
                    </a:tc>
                  </a:tr>
                  <a:tr h="606806">
                    <a:tc>
                      <a:txBody>
                        <a:bodyPr/>
                        <a:lstStyle/>
                        <a:p>
                          <a:endParaRPr lang="en-US"/>
                        </a:p>
                      </a:txBody>
                      <a:tcPr>
                        <a:blipFill rotWithShape="1">
                          <a:blip r:embed="rId2"/>
                          <a:stretch>
                            <a:fillRect l="-292" t="-165000" r="-191545" b="-398000"/>
                          </a:stretch>
                        </a:blipFill>
                      </a:tcPr>
                    </a:tc>
                    <a:tc>
                      <a:txBody>
                        <a:bodyPr/>
                        <a:lstStyle/>
                        <a:p>
                          <a:endParaRPr lang="en-US"/>
                        </a:p>
                      </a:txBody>
                      <a:tcPr>
                        <a:blipFill rotWithShape="1">
                          <a:blip r:embed="rId2"/>
                          <a:stretch>
                            <a:fillRect l="-52359" t="-165000" b="-398000"/>
                          </a:stretch>
                        </a:blipFill>
                      </a:tcPr>
                    </a:tc>
                  </a:tr>
                  <a:tr h="605028">
                    <a:tc>
                      <a:txBody>
                        <a:bodyPr/>
                        <a:lstStyle/>
                        <a:p>
                          <a:endParaRPr lang="en-US"/>
                        </a:p>
                      </a:txBody>
                      <a:tcPr>
                        <a:blipFill rotWithShape="1">
                          <a:blip r:embed="rId2"/>
                          <a:stretch>
                            <a:fillRect l="-292" t="-267677" r="-191545" b="-302020"/>
                          </a:stretch>
                        </a:blipFill>
                      </a:tcPr>
                    </a:tc>
                    <a:tc>
                      <a:txBody>
                        <a:bodyPr/>
                        <a:lstStyle/>
                        <a:p>
                          <a:r>
                            <a:rPr lang="en-GB" dirty="0" smtClean="0"/>
                            <a:t>-4</a:t>
                          </a:r>
                          <a:endParaRPr lang="en-GB" dirty="0"/>
                        </a:p>
                      </a:txBody>
                      <a:tcPr/>
                    </a:tc>
                  </a:tr>
                  <a:tr h="606870">
                    <a:tc>
                      <a:txBody>
                        <a:bodyPr/>
                        <a:lstStyle/>
                        <a:p>
                          <a:endParaRPr lang="en-US"/>
                        </a:p>
                      </a:txBody>
                      <a:tcPr>
                        <a:blipFill rotWithShape="1">
                          <a:blip r:embed="rId2"/>
                          <a:stretch>
                            <a:fillRect l="-292" t="-367677" r="-191545" b="-202020"/>
                          </a:stretch>
                        </a:blipFill>
                      </a:tcPr>
                    </a:tc>
                    <a:tc>
                      <a:txBody>
                        <a:bodyPr/>
                        <a:lstStyle/>
                        <a:p>
                          <a:endParaRPr lang="en-US"/>
                        </a:p>
                      </a:txBody>
                      <a:tcPr>
                        <a:blipFill rotWithShape="1">
                          <a:blip r:embed="rId2"/>
                          <a:stretch>
                            <a:fillRect l="-52359" t="-367677" b="-202020"/>
                          </a:stretch>
                        </a:blipFill>
                      </a:tcPr>
                    </a:tc>
                  </a:tr>
                  <a:tr h="605854">
                    <a:tc>
                      <a:txBody>
                        <a:bodyPr/>
                        <a:lstStyle/>
                        <a:p>
                          <a:endParaRPr lang="en-US"/>
                        </a:p>
                      </a:txBody>
                      <a:tcPr>
                        <a:blipFill rotWithShape="1">
                          <a:blip r:embed="rId2"/>
                          <a:stretch>
                            <a:fillRect l="-292" t="-463000" r="-191545" b="-100000"/>
                          </a:stretch>
                        </a:blipFill>
                      </a:tcPr>
                    </a:tc>
                    <a:tc>
                      <a:txBody>
                        <a:bodyPr/>
                        <a:lstStyle/>
                        <a:p>
                          <a:endParaRPr lang="en-US"/>
                        </a:p>
                      </a:txBody>
                      <a:tcPr>
                        <a:blipFill rotWithShape="1">
                          <a:blip r:embed="rId2"/>
                          <a:stretch>
                            <a:fillRect l="-52359" t="-463000" b="-100000"/>
                          </a:stretch>
                        </a:blipFill>
                      </a:tcPr>
                    </a:tc>
                  </a:tr>
                  <a:tr h="611378">
                    <a:tc>
                      <a:txBody>
                        <a:bodyPr/>
                        <a:lstStyle/>
                        <a:p>
                          <a:endParaRPr lang="en-US"/>
                        </a:p>
                      </a:txBody>
                      <a:tcPr>
                        <a:blipFill rotWithShape="1">
                          <a:blip r:embed="rId2"/>
                          <a:stretch>
                            <a:fillRect l="-292" t="-563000" r="-191545"/>
                          </a:stretch>
                        </a:blipFill>
                      </a:tcPr>
                    </a:tc>
                    <a:tc>
                      <a:txBody>
                        <a:bodyPr/>
                        <a:lstStyle/>
                        <a:p>
                          <a:endParaRPr lang="en-US"/>
                        </a:p>
                      </a:txBody>
                      <a:tcPr>
                        <a:blipFill rotWithShape="1">
                          <a:blip r:embed="rId2"/>
                          <a:stretch>
                            <a:fillRect l="-52359" t="-563000"/>
                          </a:stretch>
                        </a:blipFill>
                      </a:tcPr>
                    </a:tc>
                  </a:tr>
                </a:tbl>
              </a:graphicData>
            </a:graphic>
          </p:graphicFrame>
        </mc:Fallback>
      </mc:AlternateContent>
      <p:sp>
        <p:nvSpPr>
          <p:cNvPr id="21" name="Rectangle 20"/>
          <p:cNvSpPr/>
          <p:nvPr/>
        </p:nvSpPr>
        <p:spPr>
          <a:xfrm>
            <a:off x="3201442" y="3140968"/>
            <a:ext cx="3989851" cy="64807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22" name="Rectangle 21"/>
          <p:cNvSpPr/>
          <p:nvPr/>
        </p:nvSpPr>
        <p:spPr>
          <a:xfrm>
            <a:off x="3201441" y="3781318"/>
            <a:ext cx="3989851" cy="58378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23" name="Rectangle 22"/>
          <p:cNvSpPr/>
          <p:nvPr/>
        </p:nvSpPr>
        <p:spPr>
          <a:xfrm>
            <a:off x="3201440" y="4344782"/>
            <a:ext cx="3989851" cy="61751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24" name="Rectangle 23"/>
          <p:cNvSpPr/>
          <p:nvPr/>
        </p:nvSpPr>
        <p:spPr>
          <a:xfrm>
            <a:off x="3201442" y="4962293"/>
            <a:ext cx="3989851" cy="62694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25" name="Rectangle 24"/>
          <p:cNvSpPr/>
          <p:nvPr/>
        </p:nvSpPr>
        <p:spPr>
          <a:xfrm>
            <a:off x="3201439" y="5589240"/>
            <a:ext cx="3989851" cy="57606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26" name="Rectangle 25"/>
          <p:cNvSpPr/>
          <p:nvPr/>
        </p:nvSpPr>
        <p:spPr>
          <a:xfrm>
            <a:off x="3201438" y="6171687"/>
            <a:ext cx="3989851" cy="63055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mc:AlternateContent xmlns:mc="http://schemas.openxmlformats.org/markup-compatibility/2006" xmlns:a14="http://schemas.microsoft.com/office/drawing/2010/main">
        <mc:Choice Requires="a14">
          <p:sp>
            <p:nvSpPr>
              <p:cNvPr id="18" name="TextBox 17"/>
              <p:cNvSpPr txBox="1"/>
              <p:nvPr/>
            </p:nvSpPr>
            <p:spPr>
              <a:xfrm>
                <a:off x="899592" y="834900"/>
                <a:ext cx="5976664" cy="185711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dirty="0"/>
                  <a:t>The gradients of parallel lines are equal.</a:t>
                </a:r>
              </a:p>
              <a:p>
                <a:r>
                  <a:rPr lang="en-GB" sz="1600" dirty="0"/>
                  <a:t>If two lines are perpendicular, then the gradient of one is the </a:t>
                </a:r>
                <a:r>
                  <a:rPr lang="en-GB" sz="1600" b="1" dirty="0"/>
                  <a:t>negative reciprocal </a:t>
                </a:r>
                <a:r>
                  <a:rPr lang="en-GB" sz="1600" dirty="0"/>
                  <a:t>of the other.</a:t>
                </a:r>
              </a:p>
              <a:p>
                <a:pPr/>
                <a14:m>
                  <m:oMathPara xmlns:m="http://schemas.openxmlformats.org/officeDocument/2006/math">
                    <m:oMathParaPr>
                      <m:jc m:val="centerGroup"/>
                    </m:oMathParaPr>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a:rPr>
                            <m:t>𝑚</m:t>
                          </m:r>
                        </m:e>
                        <m:sub>
                          <m:r>
                            <a:rPr lang="en-GB" sz="1600" b="0" i="1" smtClean="0">
                              <a:latin typeface="Cambria Math"/>
                            </a:rPr>
                            <m:t>1</m:t>
                          </m:r>
                        </m:sub>
                      </m:sSub>
                      <m:r>
                        <a:rPr lang="en-GB" sz="1600" b="0" i="1" smtClean="0">
                          <a:latin typeface="Cambria Math"/>
                        </a:rPr>
                        <m:t>=−</m:t>
                      </m:r>
                      <m:f>
                        <m:fPr>
                          <m:ctrlPr>
                            <a:rPr lang="en-GB" sz="1600" b="0" i="1" smtClean="0">
                              <a:latin typeface="Cambria Math" panose="02040503050406030204" pitchFamily="18" charset="0"/>
                            </a:rPr>
                          </m:ctrlPr>
                        </m:fPr>
                        <m:num>
                          <m:r>
                            <a:rPr lang="en-GB" sz="1600" b="0" i="1" smtClean="0">
                              <a:latin typeface="Cambria Math"/>
                            </a:rPr>
                            <m:t>1</m:t>
                          </m:r>
                        </m:num>
                        <m:den>
                          <m:sSub>
                            <m:sSubPr>
                              <m:ctrlPr>
                                <a:rPr lang="en-GB" sz="1600" b="0" i="1" smtClean="0">
                                  <a:latin typeface="Cambria Math" panose="02040503050406030204" pitchFamily="18" charset="0"/>
                                </a:rPr>
                              </m:ctrlPr>
                            </m:sSubPr>
                            <m:e>
                              <m:r>
                                <a:rPr lang="en-GB" sz="1600" b="0" i="1" smtClean="0">
                                  <a:latin typeface="Cambria Math"/>
                                </a:rPr>
                                <m:t>𝑚</m:t>
                              </m:r>
                            </m:e>
                            <m:sub>
                              <m:r>
                                <a:rPr lang="en-GB" sz="1600" b="0" i="1" smtClean="0">
                                  <a:latin typeface="Cambria Math"/>
                                </a:rPr>
                                <m:t>2</m:t>
                              </m:r>
                            </m:sub>
                          </m:sSub>
                        </m:den>
                      </m:f>
                    </m:oMath>
                  </m:oMathPara>
                </a14:m>
                <a:endParaRPr lang="en-GB" sz="1600" dirty="0"/>
              </a:p>
              <a:p>
                <a:r>
                  <a:rPr lang="en-GB" sz="1600" dirty="0"/>
                  <a:t>To </a:t>
                </a:r>
                <a:r>
                  <a:rPr lang="en-GB" sz="1600" b="1" u="sng" dirty="0"/>
                  <a:t>show</a:t>
                </a:r>
                <a:r>
                  <a:rPr lang="en-GB" sz="1600" dirty="0"/>
                  <a:t> that two lines are perpendicular:</a:t>
                </a:r>
              </a:p>
              <a:p>
                <a:pPr/>
                <a14:m>
                  <m:oMathPara xmlns:m="http://schemas.openxmlformats.org/officeDocument/2006/math">
                    <m:oMathParaPr>
                      <m:jc m:val="centerGroup"/>
                    </m:oMathParaPr>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a:rPr>
                            <m:t>𝑚</m:t>
                          </m:r>
                        </m:e>
                        <m:sub>
                          <m:r>
                            <a:rPr lang="en-GB" sz="1600" b="0" i="1" smtClean="0">
                              <a:latin typeface="Cambria Math"/>
                            </a:rPr>
                            <m:t>1</m:t>
                          </m:r>
                        </m:sub>
                      </m:sSub>
                      <m:sSub>
                        <m:sSubPr>
                          <m:ctrlPr>
                            <a:rPr lang="en-GB" sz="1600" b="0" i="1" smtClean="0">
                              <a:latin typeface="Cambria Math" panose="02040503050406030204" pitchFamily="18" charset="0"/>
                            </a:rPr>
                          </m:ctrlPr>
                        </m:sSubPr>
                        <m:e>
                          <m:r>
                            <a:rPr lang="en-GB" sz="1600" b="0" i="1" smtClean="0">
                              <a:latin typeface="Cambria Math"/>
                            </a:rPr>
                            <m:t>𝑚</m:t>
                          </m:r>
                        </m:e>
                        <m:sub>
                          <m:r>
                            <a:rPr lang="en-GB" sz="1600" b="0" i="1" smtClean="0">
                              <a:latin typeface="Cambria Math"/>
                            </a:rPr>
                            <m:t>2</m:t>
                          </m:r>
                        </m:sub>
                      </m:sSub>
                      <m:r>
                        <a:rPr lang="en-GB" sz="1600" b="0" i="1" smtClean="0">
                          <a:latin typeface="Cambria Math"/>
                        </a:rPr>
                        <m:t>=−1</m:t>
                      </m:r>
                    </m:oMath>
                  </m:oMathPara>
                </a14:m>
                <a:endParaRPr lang="en-GB" sz="1600" dirty="0"/>
              </a:p>
            </p:txBody>
          </p:sp>
        </mc:Choice>
        <mc:Fallback xmlns="">
          <p:sp>
            <p:nvSpPr>
              <p:cNvPr id="18" name="TextBox 17"/>
              <p:cNvSpPr txBox="1">
                <a:spLocks noRot="1" noChangeAspect="1" noMove="1" noResize="1" noEditPoints="1" noAdjustHandles="1" noChangeArrowheads="1" noChangeShapeType="1" noTextEdit="1"/>
              </p:cNvSpPr>
              <p:nvPr/>
            </p:nvSpPr>
            <p:spPr>
              <a:xfrm>
                <a:off x="899592" y="834900"/>
                <a:ext cx="5976664" cy="1857111"/>
              </a:xfrm>
              <a:prstGeom prst="rect">
                <a:avLst/>
              </a:prstGeom>
              <a:blipFill rotWithShape="0">
                <a:blip r:embed="rId3"/>
                <a:stretch>
                  <a:fillRect l="-407" t="-324" r="-711"/>
                </a:stretch>
              </a:blipFill>
            </p:spPr>
            <p:txBody>
              <a:bodyPr/>
              <a:lstStyle/>
              <a:p>
                <a:r>
                  <a:rPr lang="en-GB">
                    <a:noFill/>
                  </a:rPr>
                  <a:t> </a:t>
                </a:r>
              </a:p>
            </p:txBody>
          </p:sp>
        </mc:Fallback>
      </mc:AlternateContent>
      <p:sp>
        <p:nvSpPr>
          <p:cNvPr id="19" name="TextBox 18"/>
          <p:cNvSpPr txBox="1"/>
          <p:nvPr/>
        </p:nvSpPr>
        <p:spPr>
          <a:xfrm>
            <a:off x="395536" y="834900"/>
            <a:ext cx="648072" cy="461665"/>
          </a:xfrm>
          <a:prstGeom prst="rect">
            <a:avLst/>
          </a:prstGeom>
          <a:noFill/>
        </p:spPr>
        <p:txBody>
          <a:bodyPr wrap="square" rtlCol="0">
            <a:spAutoFit/>
          </a:bodyPr>
          <a:lstStyle/>
          <a:p>
            <a:r>
              <a:rPr lang="en-GB" sz="2400" dirty="0">
                <a:latin typeface="Wingdings" pitchFamily="2" charset="2"/>
              </a:rPr>
              <a:t>!</a:t>
            </a:r>
            <a:endParaRPr lang="en-GB" dirty="0">
              <a:latin typeface="Wingdings" pitchFamily="2" charset="2"/>
            </a:endParaRPr>
          </a:p>
        </p:txBody>
      </p:sp>
    </p:spTree>
    <p:extLst>
      <p:ext uri="{BB962C8B-B14F-4D97-AF65-F5344CB8AC3E}">
        <p14:creationId xmlns:p14="http://schemas.microsoft.com/office/powerpoint/2010/main" val="348546906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1"/>
                                        </p:tgtEl>
                                      </p:cBhvr>
                                    </p:animEffect>
                                    <p:set>
                                      <p:cBhvr>
                                        <p:cTn id="7"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8" restart="whenNotActive" fill="hold" evtFilter="cancelBubble" nodeType="interactiveSeq">
                <p:stCondLst>
                  <p:cond evt="onClick" delay="0">
                    <p:tgtEl>
                      <p:spTgt spid="2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2"/>
                                        </p:tgtEl>
                                      </p:cBhvr>
                                    </p:animEffect>
                                    <p:set>
                                      <p:cBhvr>
                                        <p:cTn id="13"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14" restart="whenNotActive" fill="hold" evtFilter="cancelBubble" nodeType="interactiveSeq">
                <p:stCondLst>
                  <p:cond evt="onClick" delay="0">
                    <p:tgtEl>
                      <p:spTgt spid="23"/>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3"/>
                                        </p:tgtEl>
                                      </p:cBhvr>
                                    </p:animEffect>
                                    <p:set>
                                      <p:cBhvr>
                                        <p:cTn id="19"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seq concurrent="1" nextAc="seek">
              <p:cTn id="20" restart="whenNotActive" fill="hold" evtFilter="cancelBubble" nodeType="interactiveSeq">
                <p:stCondLst>
                  <p:cond evt="onClick" delay="0">
                    <p:tgtEl>
                      <p:spTgt spid="24"/>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24"/>
                                        </p:tgtEl>
                                      </p:cBhvr>
                                    </p:animEffect>
                                    <p:set>
                                      <p:cBhvr>
                                        <p:cTn id="25"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seq concurrent="1" nextAc="seek">
              <p:cTn id="26" restart="whenNotActive" fill="hold" evtFilter="cancelBubble" nodeType="interactiveSeq">
                <p:stCondLst>
                  <p:cond evt="onClick" delay="0">
                    <p:tgtEl>
                      <p:spTgt spid="25"/>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25"/>
                                        </p:tgtEl>
                                      </p:cBhvr>
                                    </p:animEffect>
                                    <p:set>
                                      <p:cBhvr>
                                        <p:cTn id="31" dur="1" fill="hold">
                                          <p:stCondLst>
                                            <p:cond delay="499"/>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seq concurrent="1" nextAc="seek">
              <p:cTn id="32" restart="whenNotActive" fill="hold" evtFilter="cancelBubble" nodeType="interactiveSeq">
                <p:stCondLst>
                  <p:cond evt="onClick" delay="0">
                    <p:tgtEl>
                      <p:spTgt spid="26"/>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26"/>
                                        </p:tgtEl>
                                      </p:cBhvr>
                                    </p:animEffect>
                                    <p:set>
                                      <p:cBhvr>
                                        <p:cTn id="37" dur="1" fill="hold">
                                          <p:stCondLst>
                                            <p:cond delay="499"/>
                                          </p:stCondLst>
                                        </p:cTn>
                                        <p:tgtEl>
                                          <p:spTgt spid="26"/>
                                        </p:tgtEl>
                                        <p:attrNameLst>
                                          <p:attrName>style.visibility</p:attrName>
                                        </p:attrNameLst>
                                      </p:cBhvr>
                                      <p:to>
                                        <p:strVal val="hidden"/>
                                      </p:to>
                                    </p:set>
                                  </p:childTnLst>
                                </p:cTn>
                              </p:par>
                            </p:childTnLst>
                          </p:cTn>
                        </p:par>
                      </p:childTnLst>
                    </p:cTn>
                  </p:par>
                </p:childTnLst>
              </p:cTn>
              <p:nextCondLst>
                <p:cond evt="onClick" delay="0">
                  <p:tgtEl>
                    <p:spTgt spid="26"/>
                  </p:tgtEl>
                </p:cond>
              </p:nextCondLst>
            </p:seq>
          </p:childTnLst>
        </p:cTn>
      </p:par>
    </p:tnLst>
    <p:bldLst>
      <p:bldP spid="21" grpId="0" animBg="1"/>
      <p:bldP spid="22" grpId="0" animBg="1"/>
      <p:bldP spid="23" grpId="0" animBg="1"/>
      <p:bldP spid="24" grpId="0" animBg="1"/>
      <p:bldP spid="25" grpId="0" animBg="1"/>
      <p:bldP spid="2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Example Problems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043608" y="908720"/>
                <a:ext cx="7704856" cy="4015458"/>
              </a:xfrm>
              <a:prstGeom prst="rect">
                <a:avLst/>
              </a:prstGeom>
              <a:noFill/>
            </p:spPr>
            <p:txBody>
              <a:bodyPr wrap="square" rtlCol="0">
                <a:spAutoFit/>
              </a:bodyPr>
              <a:lstStyle/>
              <a:p>
                <a:r>
                  <a:rPr lang="en-GB" dirty="0"/>
                  <a:t>A line is goes through the point (9,10) and is perpendicular to another line with equation </a:t>
                </a:r>
                <a14:m>
                  <m:oMath xmlns:m="http://schemas.openxmlformats.org/officeDocument/2006/math">
                    <m:r>
                      <a:rPr lang="en-GB" b="0" i="1" smtClean="0">
                        <a:latin typeface="Cambria Math"/>
                      </a:rPr>
                      <m:t>𝑦</m:t>
                    </m:r>
                    <m:r>
                      <a:rPr lang="en-GB" b="0" i="1" smtClean="0">
                        <a:latin typeface="Cambria Math"/>
                      </a:rPr>
                      <m:t>=3</m:t>
                    </m:r>
                    <m:r>
                      <a:rPr lang="en-GB" b="0" i="1" smtClean="0">
                        <a:latin typeface="Cambria Math"/>
                      </a:rPr>
                      <m:t>𝑥</m:t>
                    </m:r>
                    <m:r>
                      <a:rPr lang="en-GB" b="0" i="1" smtClean="0">
                        <a:latin typeface="Cambria Math"/>
                      </a:rPr>
                      <m:t>+2</m:t>
                    </m:r>
                  </m:oMath>
                </a14:m>
                <a:r>
                  <a:rPr lang="en-GB" dirty="0"/>
                  <a:t>. What is the equation of the line?</a:t>
                </a:r>
              </a:p>
              <a:p>
                <a:pPr/>
                <a14:m>
                  <m:oMathPara xmlns:m="http://schemas.openxmlformats.org/officeDocument/2006/math">
                    <m:oMathParaPr>
                      <m:jc m:val="centerGroup"/>
                    </m:oMathParaPr>
                    <m:oMath xmlns:m="http://schemas.openxmlformats.org/officeDocument/2006/math">
                      <m:r>
                        <a:rPr lang="en-GB" b="1" i="1" smtClean="0">
                          <a:latin typeface="Cambria Math"/>
                        </a:rPr>
                        <m:t>𝒚</m:t>
                      </m:r>
                      <m:r>
                        <a:rPr lang="en-GB" b="1" i="1" smtClean="0">
                          <a:latin typeface="Cambria Math"/>
                        </a:rPr>
                        <m:t>−</m:t>
                      </m:r>
                      <m:r>
                        <a:rPr lang="en-GB" b="1" i="1" smtClean="0">
                          <a:latin typeface="Cambria Math"/>
                        </a:rPr>
                        <m:t>𝟏𝟎</m:t>
                      </m:r>
                      <m:r>
                        <a:rPr lang="en-GB" b="1" i="1" smtClean="0">
                          <a:latin typeface="Cambria Math"/>
                        </a:rPr>
                        <m:t>=−</m:t>
                      </m:r>
                      <m:f>
                        <m:fPr>
                          <m:ctrlPr>
                            <a:rPr lang="en-GB" b="1" i="1" smtClean="0">
                              <a:latin typeface="Cambria Math" panose="02040503050406030204" pitchFamily="18" charset="0"/>
                            </a:rPr>
                          </m:ctrlPr>
                        </m:fPr>
                        <m:num>
                          <m:r>
                            <a:rPr lang="en-GB" b="1" i="1" smtClean="0">
                              <a:latin typeface="Cambria Math"/>
                            </a:rPr>
                            <m:t>𝟏</m:t>
                          </m:r>
                        </m:num>
                        <m:den>
                          <m:r>
                            <a:rPr lang="en-GB" b="1" i="1" smtClean="0">
                              <a:latin typeface="Cambria Math"/>
                            </a:rPr>
                            <m:t>𝟑</m:t>
                          </m:r>
                        </m:den>
                      </m:f>
                      <m:d>
                        <m:dPr>
                          <m:ctrlPr>
                            <a:rPr lang="en-GB" b="1" i="1" smtClean="0">
                              <a:latin typeface="Cambria Math" panose="02040503050406030204" pitchFamily="18" charset="0"/>
                            </a:rPr>
                          </m:ctrlPr>
                        </m:dPr>
                        <m:e>
                          <m:r>
                            <a:rPr lang="en-GB" b="1" i="1" smtClean="0">
                              <a:latin typeface="Cambria Math"/>
                            </a:rPr>
                            <m:t>𝒙</m:t>
                          </m:r>
                          <m:r>
                            <a:rPr lang="en-GB" b="1" i="1" smtClean="0">
                              <a:latin typeface="Cambria Math"/>
                            </a:rPr>
                            <m:t>−</m:t>
                          </m:r>
                          <m:r>
                            <a:rPr lang="en-GB" b="1" i="1" smtClean="0">
                              <a:latin typeface="Cambria Math"/>
                            </a:rPr>
                            <m:t>𝟗</m:t>
                          </m:r>
                        </m:e>
                      </m:d>
                    </m:oMath>
                  </m:oMathPara>
                </a14:m>
                <a:endParaRPr lang="en-GB" b="1" dirty="0"/>
              </a:p>
              <a:p>
                <a:endParaRPr lang="en-GB" dirty="0"/>
              </a:p>
              <a:p>
                <a:r>
                  <a:rPr lang="en-GB" dirty="0"/>
                  <a:t>A line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a:rPr>
                          <m:t>𝐿</m:t>
                        </m:r>
                      </m:e>
                      <m:sub>
                        <m:r>
                          <a:rPr lang="en-GB" b="0" i="1" smtClean="0">
                            <a:latin typeface="Cambria Math"/>
                          </a:rPr>
                          <m:t>1</m:t>
                        </m:r>
                      </m:sub>
                    </m:sSub>
                  </m:oMath>
                </a14:m>
                <a:r>
                  <a:rPr lang="en-GB" dirty="0"/>
                  <a:t> goes through the points </a:t>
                </a:r>
                <a14:m>
                  <m:oMath xmlns:m="http://schemas.openxmlformats.org/officeDocument/2006/math">
                    <m:r>
                      <a:rPr lang="en-GB" b="0" i="1" smtClean="0">
                        <a:latin typeface="Cambria Math"/>
                      </a:rPr>
                      <m:t>𝐴</m:t>
                    </m:r>
                    <m:d>
                      <m:dPr>
                        <m:ctrlPr>
                          <a:rPr lang="en-GB" b="0" i="1" smtClean="0">
                            <a:latin typeface="Cambria Math" panose="02040503050406030204" pitchFamily="18" charset="0"/>
                          </a:rPr>
                        </m:ctrlPr>
                      </m:dPr>
                      <m:e>
                        <m:r>
                          <a:rPr lang="en-GB" b="0" i="1" smtClean="0">
                            <a:latin typeface="Cambria Math"/>
                          </a:rPr>
                          <m:t>1,3</m:t>
                        </m:r>
                      </m:e>
                    </m:d>
                  </m:oMath>
                </a14:m>
                <a:r>
                  <a:rPr lang="en-GB" dirty="0"/>
                  <a:t> and </a:t>
                </a:r>
                <a14:m>
                  <m:oMath xmlns:m="http://schemas.openxmlformats.org/officeDocument/2006/math">
                    <m:r>
                      <a:rPr lang="en-GB" b="0" i="1" smtClean="0">
                        <a:latin typeface="Cambria Math"/>
                      </a:rPr>
                      <m:t>𝐵</m:t>
                    </m:r>
                    <m:d>
                      <m:dPr>
                        <m:ctrlPr>
                          <a:rPr lang="en-GB" b="0" i="1" smtClean="0">
                            <a:latin typeface="Cambria Math" panose="02040503050406030204" pitchFamily="18" charset="0"/>
                          </a:rPr>
                        </m:ctrlPr>
                      </m:dPr>
                      <m:e>
                        <m:r>
                          <a:rPr lang="en-GB" b="0" i="1" smtClean="0">
                            <a:latin typeface="Cambria Math"/>
                          </a:rPr>
                          <m:t>3,−1</m:t>
                        </m:r>
                      </m:e>
                    </m:d>
                  </m:oMath>
                </a14:m>
                <a:r>
                  <a:rPr lang="en-GB" dirty="0"/>
                  <a:t>. A second line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a:rPr>
                          <m:t>𝐿</m:t>
                        </m:r>
                      </m:e>
                      <m:sub>
                        <m:r>
                          <a:rPr lang="en-GB" b="0" i="1" smtClean="0">
                            <a:latin typeface="Cambria Math"/>
                          </a:rPr>
                          <m:t>2</m:t>
                        </m:r>
                      </m:sub>
                    </m:sSub>
                  </m:oMath>
                </a14:m>
                <a:r>
                  <a:rPr lang="en-GB" dirty="0"/>
                  <a:t> is perpendicular to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a:rPr>
                          <m:t>𝐿</m:t>
                        </m:r>
                      </m:e>
                      <m:sub>
                        <m:r>
                          <a:rPr lang="en-GB" b="0" i="1" smtClean="0">
                            <a:latin typeface="Cambria Math"/>
                          </a:rPr>
                          <m:t>1</m:t>
                        </m:r>
                      </m:sub>
                    </m:sSub>
                  </m:oMath>
                </a14:m>
                <a:r>
                  <a:rPr lang="en-GB" dirty="0"/>
                  <a:t> and passes through point B. Where does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a:rPr>
                          <m:t>𝐿</m:t>
                        </m:r>
                      </m:e>
                      <m:sub>
                        <m:r>
                          <a:rPr lang="en-GB" b="0" i="1" smtClean="0">
                            <a:latin typeface="Cambria Math"/>
                          </a:rPr>
                          <m:t>2</m:t>
                        </m:r>
                      </m:sub>
                    </m:sSub>
                  </m:oMath>
                </a14:m>
                <a:r>
                  <a:rPr lang="en-GB" dirty="0"/>
                  <a:t> cross the x-axis?</a:t>
                </a:r>
              </a:p>
              <a:p>
                <a:pPr/>
                <a14:m>
                  <m:oMathPara xmlns:m="http://schemas.openxmlformats.org/officeDocument/2006/math">
                    <m:oMathParaPr>
                      <m:jc m:val="centerGroup"/>
                    </m:oMathParaPr>
                    <m:oMath xmlns:m="http://schemas.openxmlformats.org/officeDocument/2006/math">
                      <m:d>
                        <m:dPr>
                          <m:ctrlPr>
                            <a:rPr lang="en-GB" b="1" i="1" smtClean="0">
                              <a:latin typeface="Cambria Math" panose="02040503050406030204" pitchFamily="18" charset="0"/>
                            </a:rPr>
                          </m:ctrlPr>
                        </m:dPr>
                        <m:e>
                          <m:r>
                            <a:rPr lang="en-GB" b="1" i="1" smtClean="0">
                              <a:latin typeface="Cambria Math"/>
                            </a:rPr>
                            <m:t>𝟓</m:t>
                          </m:r>
                          <m:r>
                            <a:rPr lang="en-GB" b="1" i="1" smtClean="0">
                              <a:latin typeface="Cambria Math"/>
                            </a:rPr>
                            <m:t>,</m:t>
                          </m:r>
                          <m:r>
                            <a:rPr lang="en-GB" b="1" i="1" smtClean="0">
                              <a:latin typeface="Cambria Math"/>
                            </a:rPr>
                            <m:t>𝟎</m:t>
                          </m:r>
                        </m:e>
                      </m:d>
                    </m:oMath>
                  </m:oMathPara>
                </a14:m>
                <a:endParaRPr lang="en-GB" b="1" dirty="0"/>
              </a:p>
              <a:p>
                <a:endParaRPr lang="en-GB" b="1" dirty="0"/>
              </a:p>
              <a:p>
                <a:r>
                  <a:rPr lang="en-GB" dirty="0"/>
                  <a:t>Are the following lines parallel, perpendicular, or neither?</a:t>
                </a:r>
              </a:p>
              <a:p>
                <a:pPr/>
                <a14:m>
                  <m:oMathPara xmlns:m="http://schemas.openxmlformats.org/officeDocument/2006/math">
                    <m:oMathParaPr>
                      <m:jc m:val="centerGroup"/>
                    </m:oMathParaPr>
                    <m:oMath xmlns:m="http://schemas.openxmlformats.org/officeDocument/2006/math">
                      <m:r>
                        <a:rPr lang="en-GB" b="0" i="1" smtClean="0">
                          <a:latin typeface="Cambria Math"/>
                        </a:rPr>
                        <m:t>𝑦</m:t>
                      </m:r>
                      <m:r>
                        <a:rPr lang="en-GB" b="0" i="1" smtClean="0">
                          <a:latin typeface="Cambria Math"/>
                        </a:rPr>
                        <m:t>=</m:t>
                      </m:r>
                      <m:f>
                        <m:fPr>
                          <m:ctrlPr>
                            <a:rPr lang="en-GB" b="0" i="1" smtClean="0">
                              <a:latin typeface="Cambria Math" panose="02040503050406030204" pitchFamily="18" charset="0"/>
                            </a:rPr>
                          </m:ctrlPr>
                        </m:fPr>
                        <m:num>
                          <m:r>
                            <a:rPr lang="en-GB" b="0" i="1" smtClean="0">
                              <a:latin typeface="Cambria Math"/>
                            </a:rPr>
                            <m:t>1</m:t>
                          </m:r>
                        </m:num>
                        <m:den>
                          <m:r>
                            <a:rPr lang="en-GB" b="0" i="1" smtClean="0">
                              <a:latin typeface="Cambria Math"/>
                            </a:rPr>
                            <m:t>2</m:t>
                          </m:r>
                        </m:den>
                      </m:f>
                      <m:r>
                        <a:rPr lang="en-GB" b="0" i="1" smtClean="0">
                          <a:latin typeface="Cambria Math"/>
                        </a:rPr>
                        <m:t>𝑥</m:t>
                      </m:r>
                    </m:oMath>
                  </m:oMathPara>
                </a14:m>
                <a:endParaRPr lang="en-GB" dirty="0"/>
              </a:p>
              <a:p>
                <a:pPr/>
                <a14:m>
                  <m:oMathPara xmlns:m="http://schemas.openxmlformats.org/officeDocument/2006/math">
                    <m:oMathParaPr>
                      <m:jc m:val="centerGroup"/>
                    </m:oMathParaPr>
                    <m:oMath xmlns:m="http://schemas.openxmlformats.org/officeDocument/2006/math">
                      <m:r>
                        <a:rPr lang="en-GB" b="0" i="1" smtClean="0">
                          <a:latin typeface="Cambria Math"/>
                        </a:rPr>
                        <m:t>2</m:t>
                      </m:r>
                      <m:r>
                        <a:rPr lang="en-GB" b="0" i="1" smtClean="0">
                          <a:latin typeface="Cambria Math"/>
                        </a:rPr>
                        <m:t>𝑥</m:t>
                      </m:r>
                      <m:r>
                        <a:rPr lang="en-GB" b="0" i="1" smtClean="0">
                          <a:latin typeface="Cambria Math"/>
                        </a:rPr>
                        <m:t>−</m:t>
                      </m:r>
                      <m:r>
                        <a:rPr lang="en-GB" b="0" i="1" smtClean="0">
                          <a:latin typeface="Cambria Math"/>
                        </a:rPr>
                        <m:t>𝑦</m:t>
                      </m:r>
                      <m:r>
                        <a:rPr lang="en-GB" b="0" i="1" smtClean="0">
                          <a:latin typeface="Cambria Math"/>
                        </a:rPr>
                        <m:t>+4=0</m:t>
                      </m:r>
                    </m:oMath>
                  </m:oMathPara>
                </a14:m>
                <a:endParaRPr lang="en-GB" dirty="0"/>
              </a:p>
              <a:p>
                <a:r>
                  <a:rPr lang="en-GB" b="1" dirty="0"/>
                  <a:t>Neither. Gradients are </a:t>
                </a:r>
                <a14:m>
                  <m:oMath xmlns:m="http://schemas.openxmlformats.org/officeDocument/2006/math">
                    <m:f>
                      <m:fPr>
                        <m:ctrlPr>
                          <a:rPr lang="en-GB" b="1" i="1" smtClean="0">
                            <a:latin typeface="Cambria Math" panose="02040503050406030204" pitchFamily="18" charset="0"/>
                          </a:rPr>
                        </m:ctrlPr>
                      </m:fPr>
                      <m:num>
                        <m:r>
                          <a:rPr lang="en-GB" b="1" i="1" smtClean="0">
                            <a:latin typeface="Cambria Math"/>
                          </a:rPr>
                          <m:t>𝟏</m:t>
                        </m:r>
                      </m:num>
                      <m:den>
                        <m:r>
                          <a:rPr lang="en-GB" b="1" i="1" smtClean="0">
                            <a:latin typeface="Cambria Math"/>
                          </a:rPr>
                          <m:t>𝟐</m:t>
                        </m:r>
                      </m:den>
                    </m:f>
                  </m:oMath>
                </a14:m>
                <a:r>
                  <a:rPr lang="en-GB" b="1" dirty="0"/>
                  <a:t> and </a:t>
                </a:r>
                <a14:m>
                  <m:oMath xmlns:m="http://schemas.openxmlformats.org/officeDocument/2006/math">
                    <m:r>
                      <a:rPr lang="en-GB" b="1" i="1" smtClean="0">
                        <a:latin typeface="Cambria Math"/>
                      </a:rPr>
                      <m:t>𝟐</m:t>
                    </m:r>
                  </m:oMath>
                </a14:m>
                <a:r>
                  <a:rPr lang="en-GB" b="1" dirty="0"/>
                  <a:t>. But </a:t>
                </a:r>
                <a14:m>
                  <m:oMath xmlns:m="http://schemas.openxmlformats.org/officeDocument/2006/math">
                    <m:f>
                      <m:fPr>
                        <m:ctrlPr>
                          <a:rPr lang="en-GB" b="1" i="1" smtClean="0">
                            <a:latin typeface="Cambria Math" panose="02040503050406030204" pitchFamily="18" charset="0"/>
                          </a:rPr>
                        </m:ctrlPr>
                      </m:fPr>
                      <m:num>
                        <m:r>
                          <a:rPr lang="en-GB" b="1" i="1" smtClean="0">
                            <a:latin typeface="Cambria Math"/>
                          </a:rPr>
                          <m:t>𝟏</m:t>
                        </m:r>
                      </m:num>
                      <m:den>
                        <m:r>
                          <a:rPr lang="en-GB" b="1" i="1" smtClean="0">
                            <a:latin typeface="Cambria Math"/>
                          </a:rPr>
                          <m:t>𝟐</m:t>
                        </m:r>
                      </m:den>
                    </m:f>
                    <m:r>
                      <a:rPr lang="en-GB" b="1" i="1" smtClean="0">
                        <a:latin typeface="Cambria Math"/>
                      </a:rPr>
                      <m:t>×</m:t>
                    </m:r>
                    <m:r>
                      <a:rPr lang="en-GB" b="1" i="1" smtClean="0">
                        <a:latin typeface="Cambria Math"/>
                      </a:rPr>
                      <m:t>𝟐</m:t>
                    </m:r>
                    <m:r>
                      <a:rPr lang="en-GB" b="1" i="1" smtClean="0">
                        <a:latin typeface="Cambria Math"/>
                      </a:rPr>
                      <m:t>=</m:t>
                    </m:r>
                    <m:r>
                      <a:rPr lang="en-GB" b="1" i="1" smtClean="0">
                        <a:latin typeface="Cambria Math"/>
                      </a:rPr>
                      <m:t>𝟏</m:t>
                    </m:r>
                  </m:oMath>
                </a14:m>
                <a:r>
                  <a:rPr lang="en-GB" b="1" dirty="0"/>
                  <a:t>, not -1, so not perpendicular.</a:t>
                </a:r>
              </a:p>
            </p:txBody>
          </p:sp>
        </mc:Choice>
        <mc:Fallback xmlns="">
          <p:sp>
            <p:nvSpPr>
              <p:cNvPr id="5" name="TextBox 4"/>
              <p:cNvSpPr txBox="1">
                <a:spLocks noRot="1" noChangeAspect="1" noMove="1" noResize="1" noEditPoints="1" noAdjustHandles="1" noChangeArrowheads="1" noChangeShapeType="1" noTextEdit="1"/>
              </p:cNvSpPr>
              <p:nvPr/>
            </p:nvSpPr>
            <p:spPr>
              <a:xfrm>
                <a:off x="1043608" y="908720"/>
                <a:ext cx="7704856" cy="4015458"/>
              </a:xfrm>
              <a:prstGeom prst="rect">
                <a:avLst/>
              </a:prstGeom>
              <a:blipFill rotWithShape="1">
                <a:blip r:embed="rId2" cstate="print"/>
                <a:stretch>
                  <a:fillRect l="-633" t="-759" r="-316" b="-303"/>
                </a:stretch>
              </a:blipFill>
            </p:spPr>
            <p:txBody>
              <a:bodyPr/>
              <a:lstStyle/>
              <a:p>
                <a:r>
                  <a:rPr lang="en-GB">
                    <a:noFill/>
                  </a:rPr>
                  <a:t> </a:t>
                </a:r>
              </a:p>
            </p:txBody>
          </p:sp>
        </mc:Fallback>
      </mc:AlternateContent>
      <p:sp>
        <p:nvSpPr>
          <p:cNvPr id="6" name="Rectangle 5"/>
          <p:cNvSpPr/>
          <p:nvPr/>
        </p:nvSpPr>
        <p:spPr>
          <a:xfrm>
            <a:off x="3635897" y="1484784"/>
            <a:ext cx="2736304" cy="57606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7" name="Rectangle 6"/>
          <p:cNvSpPr/>
          <p:nvPr/>
        </p:nvSpPr>
        <p:spPr>
          <a:xfrm>
            <a:off x="3657779" y="2852936"/>
            <a:ext cx="2736304" cy="36004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8" name="Rectangle 7"/>
          <p:cNvSpPr/>
          <p:nvPr/>
        </p:nvSpPr>
        <p:spPr>
          <a:xfrm>
            <a:off x="1043608" y="4437112"/>
            <a:ext cx="7632848" cy="48706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9" name="TextBox 8"/>
          <p:cNvSpPr txBox="1"/>
          <p:nvPr/>
        </p:nvSpPr>
        <p:spPr>
          <a:xfrm>
            <a:off x="533400" y="908720"/>
            <a:ext cx="366192"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GB" dirty="0"/>
              <a:t>1</a:t>
            </a:r>
          </a:p>
        </p:txBody>
      </p:sp>
      <p:sp>
        <p:nvSpPr>
          <p:cNvPr id="10" name="TextBox 9"/>
          <p:cNvSpPr txBox="1"/>
          <p:nvPr/>
        </p:nvSpPr>
        <p:spPr>
          <a:xfrm>
            <a:off x="523874" y="2277180"/>
            <a:ext cx="375717"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GB" dirty="0"/>
              <a:t>2</a:t>
            </a:r>
          </a:p>
        </p:txBody>
      </p:sp>
      <p:sp>
        <p:nvSpPr>
          <p:cNvPr id="11" name="TextBox 10"/>
          <p:cNvSpPr txBox="1"/>
          <p:nvPr/>
        </p:nvSpPr>
        <p:spPr>
          <a:xfrm>
            <a:off x="523874" y="3429000"/>
            <a:ext cx="375717"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GB" dirty="0"/>
              <a:t>3</a:t>
            </a:r>
          </a:p>
        </p:txBody>
      </p:sp>
    </p:spTree>
    <p:extLst>
      <p:ext uri="{BB962C8B-B14F-4D97-AF65-F5344CB8AC3E}">
        <p14:creationId xmlns:p14="http://schemas.microsoft.com/office/powerpoint/2010/main" val="349733839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6"/>
                  </p:tgtEl>
                </p:cond>
              </p:nextCondLst>
            </p:seq>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7"/>
                                        </p:tgtEl>
                                      </p:cBhvr>
                                    </p:animEffect>
                                    <p:set>
                                      <p:cBhvr>
                                        <p:cTn id="13"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14" restart="whenNotActive" fill="hold" evtFilter="cancelBubble" nodeType="interactiveSeq">
                <p:stCondLst>
                  <p:cond evt="onClick" delay="0">
                    <p:tgtEl>
                      <p:spTgt spid="8"/>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8"/>
                                        </p:tgtEl>
                                      </p:cBhvr>
                                    </p:animEffect>
                                    <p:set>
                                      <p:cBhvr>
                                        <p:cTn id="19"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6" grpId="0" animBg="1"/>
      <p:bldP spid="7" grpId="0" animBg="1"/>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4480404" y="886259"/>
                <a:ext cx="2664296" cy="369332"/>
              </a:xfrm>
              <a:prstGeom prst="rect">
                <a:avLst/>
              </a:prstGeom>
              <a:noFill/>
            </p:spPr>
            <p:txBody>
              <a:bodyPr wrap="square" rtlCol="0">
                <a:spAutoFit/>
              </a:bodyPr>
              <a:lstStyle/>
              <a:p>
                <a:r>
                  <a:rPr lang="en-GB" dirty="0"/>
                  <a:t>Determine the point </a:t>
                </a:r>
                <a14:m>
                  <m:oMath xmlns:m="http://schemas.openxmlformats.org/officeDocument/2006/math">
                    <m:r>
                      <a:rPr lang="en-GB" b="0" i="1" smtClean="0">
                        <a:latin typeface="Cambria Math" panose="02040503050406030204" pitchFamily="18" charset="0"/>
                      </a:rPr>
                      <m:t>𝐴</m:t>
                    </m:r>
                  </m:oMath>
                </a14:m>
                <a:r>
                  <a:rPr lang="en-GB"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4480404" y="886259"/>
                <a:ext cx="2664296" cy="369332"/>
              </a:xfrm>
              <a:prstGeom prst="rect">
                <a:avLst/>
              </a:prstGeom>
              <a:blipFill rotWithShape="0">
                <a:blip r:embed="rId2"/>
                <a:stretch>
                  <a:fillRect l="-2059" t="-8197" b="-24590"/>
                </a:stretch>
              </a:blipFill>
            </p:spPr>
            <p:txBody>
              <a:bodyPr/>
              <a:lstStyle/>
              <a:p>
                <a:r>
                  <a:rPr lang="en-GB">
                    <a:noFill/>
                  </a:rPr>
                  <a:t> </a:t>
                </a:r>
              </a:p>
            </p:txBody>
          </p:sp>
        </mc:Fallback>
      </mc:AlternateContent>
      <p:cxnSp>
        <p:nvCxnSpPr>
          <p:cNvPr id="6" name="Straight Arrow Connector 5"/>
          <p:cNvCxnSpPr/>
          <p:nvPr/>
        </p:nvCxnSpPr>
        <p:spPr>
          <a:xfrm flipV="1">
            <a:off x="4928406" y="1572130"/>
            <a:ext cx="3634" cy="261598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p:cNvCxnSpPr/>
          <p:nvPr/>
        </p:nvCxnSpPr>
        <p:spPr>
          <a:xfrm>
            <a:off x="4915222" y="4188119"/>
            <a:ext cx="367240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8" name="TextBox 7"/>
              <p:cNvSpPr txBox="1"/>
              <p:nvPr/>
            </p:nvSpPr>
            <p:spPr>
              <a:xfrm>
                <a:off x="8571503" y="3989019"/>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𝑥</m:t>
                      </m:r>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8571503" y="3989019"/>
                <a:ext cx="360040" cy="369332"/>
              </a:xfrm>
              <a:prstGeom prst="rect">
                <a:avLst/>
              </a:prstGeom>
              <a:blipFill rotWithShape="0">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752020" y="1189891"/>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oMath>
                  </m:oMathPara>
                </a14:m>
                <a:endParaRPr lang="en-GB" dirty="0"/>
              </a:p>
            </p:txBody>
          </p:sp>
        </mc:Choice>
        <mc:Fallback xmlns="">
          <p:sp>
            <p:nvSpPr>
              <p:cNvPr id="9" name="TextBox 8"/>
              <p:cNvSpPr txBox="1">
                <a:spLocks noRot="1" noChangeAspect="1" noMove="1" noResize="1" noEditPoints="1" noAdjustHandles="1" noChangeArrowheads="1" noChangeShapeType="1" noTextEdit="1"/>
              </p:cNvSpPr>
              <p:nvPr/>
            </p:nvSpPr>
            <p:spPr>
              <a:xfrm>
                <a:off x="4752020" y="1189891"/>
                <a:ext cx="360040" cy="369332"/>
              </a:xfrm>
              <a:prstGeom prst="rect">
                <a:avLst/>
              </a:prstGeom>
              <a:blipFill rotWithShape="0">
                <a:blip r:embed="rId4"/>
                <a:stretch>
                  <a:fillRect b="-6557"/>
                </a:stretch>
              </a:blipFill>
            </p:spPr>
            <p:txBody>
              <a:bodyPr/>
              <a:lstStyle/>
              <a:p>
                <a:r>
                  <a:rPr lang="en-GB">
                    <a:noFill/>
                  </a:rPr>
                  <a:t> </a:t>
                </a:r>
              </a:p>
            </p:txBody>
          </p:sp>
        </mc:Fallback>
      </mc:AlternateContent>
      <p:cxnSp>
        <p:nvCxnSpPr>
          <p:cNvPr id="11" name="Straight Connector 10"/>
          <p:cNvCxnSpPr/>
          <p:nvPr/>
        </p:nvCxnSpPr>
        <p:spPr>
          <a:xfrm flipV="1">
            <a:off x="4915222" y="2580086"/>
            <a:ext cx="964907" cy="1608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flipV="1">
            <a:off x="4928406" y="1964265"/>
            <a:ext cx="3443200" cy="22238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778456" y="2753075"/>
            <a:ext cx="192776" cy="12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971233" y="2700995"/>
            <a:ext cx="101599" cy="1778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p:cNvSpPr txBox="1"/>
              <p:nvPr/>
            </p:nvSpPr>
            <p:spPr>
              <a:xfrm rot="1915941">
                <a:off x="6366716" y="2750317"/>
                <a:ext cx="1366293" cy="49564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𝑦</m:t>
                      </m:r>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1</m:t>
                          </m:r>
                        </m:num>
                        <m:den>
                          <m:r>
                            <a:rPr lang="en-GB" sz="1400" b="0" i="1" smtClean="0">
                              <a:latin typeface="Cambria Math" panose="02040503050406030204" pitchFamily="18" charset="0"/>
                            </a:rPr>
                            <m:t>2</m:t>
                          </m:r>
                        </m:den>
                      </m:f>
                      <m:r>
                        <a:rPr lang="en-GB" sz="1400" b="0" i="1" smtClean="0">
                          <a:latin typeface="Cambria Math" panose="02040503050406030204" pitchFamily="18" charset="0"/>
                        </a:rPr>
                        <m:t>𝑥</m:t>
                      </m:r>
                      <m:r>
                        <a:rPr lang="en-GB" sz="1400" b="0" i="1" smtClean="0">
                          <a:latin typeface="Cambria Math" panose="02040503050406030204" pitchFamily="18" charset="0"/>
                        </a:rPr>
                        <m:t>+4</m:t>
                      </m:r>
                    </m:oMath>
                  </m:oMathPara>
                </a14:m>
                <a:endParaRPr lang="en-GB" sz="1400" dirty="0"/>
              </a:p>
            </p:txBody>
          </p:sp>
        </mc:Choice>
        <mc:Fallback xmlns="">
          <p:sp>
            <p:nvSpPr>
              <p:cNvPr id="25" name="TextBox 24"/>
              <p:cNvSpPr txBox="1">
                <a:spLocks noRot="1" noChangeAspect="1" noMove="1" noResize="1" noEditPoints="1" noAdjustHandles="1" noChangeArrowheads="1" noChangeShapeType="1" noTextEdit="1"/>
              </p:cNvSpPr>
              <p:nvPr/>
            </p:nvSpPr>
            <p:spPr>
              <a:xfrm rot="1915941">
                <a:off x="6366716" y="2750317"/>
                <a:ext cx="1366293" cy="495649"/>
              </a:xfrm>
              <a:prstGeom prst="rect">
                <a:avLst/>
              </a:prstGeom>
              <a:blipFill rotWithShape="0">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5824227" y="2264880"/>
                <a:ext cx="30292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𝐴</m:t>
                      </m:r>
                    </m:oMath>
                  </m:oMathPara>
                </a14:m>
                <a:endParaRPr lang="en-GB" sz="1400" dirty="0"/>
              </a:p>
            </p:txBody>
          </p:sp>
        </mc:Choice>
        <mc:Fallback xmlns="">
          <p:sp>
            <p:nvSpPr>
              <p:cNvPr id="26" name="TextBox 25"/>
              <p:cNvSpPr txBox="1">
                <a:spLocks noRot="1" noChangeAspect="1" noMove="1" noResize="1" noEditPoints="1" noAdjustHandles="1" noChangeArrowheads="1" noChangeShapeType="1" noTextEdit="1"/>
              </p:cNvSpPr>
              <p:nvPr/>
            </p:nvSpPr>
            <p:spPr>
              <a:xfrm>
                <a:off x="5824227" y="2264880"/>
                <a:ext cx="302928" cy="307777"/>
              </a:xfrm>
              <a:prstGeom prst="rect">
                <a:avLst/>
              </a:prstGeom>
              <a:blipFill rotWithShape="0">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5130975" y="4440994"/>
                <a:ext cx="3333971" cy="2205860"/>
              </a:xfrm>
              <a:prstGeom prst="rect">
                <a:avLst/>
              </a:prstGeom>
              <a:noFill/>
            </p:spPr>
            <p:txBody>
              <a:bodyPr wrap="square" rtlCol="0">
                <a:spAutoFit/>
              </a:bodyPr>
              <a:lstStyle/>
              <a:p>
                <a:r>
                  <a:rPr lang="en-GB" b="1" dirty="0"/>
                  <a:t>Equation of other line: </a:t>
                </a:r>
                <a14:m>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𝒙</m:t>
                    </m:r>
                  </m:oMath>
                </a14:m>
                <a:endParaRPr lang="en-GB" b="1" dirty="0"/>
              </a:p>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𝟐</m:t>
                      </m:r>
                      <m:r>
                        <a:rPr lang="en-GB" b="1" i="1" smtClean="0">
                          <a:latin typeface="Cambria Math" panose="02040503050406030204" pitchFamily="18" charset="0"/>
                        </a:rPr>
                        <m:t>𝒙</m:t>
                      </m:r>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𝟐</m:t>
                          </m:r>
                        </m:den>
                      </m:f>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𝟒</m:t>
                      </m:r>
                    </m:oMath>
                    <m:oMath xmlns:m="http://schemas.openxmlformats.org/officeDocument/2006/math">
                      <m:r>
                        <a:rPr lang="en-GB" b="1" i="1" smtClean="0">
                          <a:latin typeface="Cambria Math" panose="02040503050406030204" pitchFamily="18" charset="0"/>
                        </a:rPr>
                        <m:t>𝟒</m:t>
                      </m:r>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𝟖</m:t>
                      </m:r>
                    </m:oMath>
                    <m:oMath xmlns:m="http://schemas.openxmlformats.org/officeDocument/2006/math">
                      <m:r>
                        <a:rPr lang="en-GB" b="1" i="1" smtClean="0">
                          <a:latin typeface="Cambria Math" panose="02040503050406030204" pitchFamily="18" charset="0"/>
                        </a:rPr>
                        <m:t>𝟓</m:t>
                      </m:r>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𝟖</m:t>
                      </m:r>
                      <m:r>
                        <a:rPr lang="en-GB" b="1" i="1" smtClean="0">
                          <a:latin typeface="Cambria Math" panose="02040503050406030204" pitchFamily="18" charset="0"/>
                        </a:rPr>
                        <m:t>  →</m:t>
                      </m:r>
                      <m:r>
                        <a:rPr lang="en-GB" b="1" i="1" smtClean="0">
                          <a:latin typeface="Cambria Math" panose="02040503050406030204" pitchFamily="18" charset="0"/>
                        </a:rPr>
                        <m:t>𝒙</m:t>
                      </m:r>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𝟖</m:t>
                          </m:r>
                        </m:num>
                        <m:den>
                          <m:r>
                            <a:rPr lang="en-GB" b="1" i="1" smtClean="0">
                              <a:latin typeface="Cambria Math" panose="02040503050406030204" pitchFamily="18" charset="0"/>
                            </a:rPr>
                            <m:t>𝟓</m:t>
                          </m:r>
                        </m:den>
                      </m:f>
                    </m:oMath>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𝟖</m:t>
                          </m:r>
                        </m:num>
                        <m:den>
                          <m:r>
                            <a:rPr lang="en-GB" b="1" i="1" smtClean="0">
                              <a:latin typeface="Cambria Math" panose="02040503050406030204" pitchFamily="18" charset="0"/>
                            </a:rPr>
                            <m:t>𝟓</m:t>
                          </m:r>
                        </m:den>
                      </m:f>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𝟏𝟔</m:t>
                          </m:r>
                        </m:num>
                        <m:den>
                          <m:r>
                            <a:rPr lang="en-GB" b="1" i="1" smtClean="0">
                              <a:latin typeface="Cambria Math" panose="02040503050406030204" pitchFamily="18" charset="0"/>
                            </a:rPr>
                            <m:t>𝟓</m:t>
                          </m:r>
                        </m:den>
                      </m:f>
                    </m:oMath>
                  </m:oMathPara>
                </a14:m>
                <a:endParaRPr lang="en-GB" b="1" dirty="0"/>
              </a:p>
            </p:txBody>
          </p:sp>
        </mc:Choice>
        <mc:Fallback xmlns="">
          <p:sp>
            <p:nvSpPr>
              <p:cNvPr id="27" name="TextBox 26"/>
              <p:cNvSpPr txBox="1">
                <a:spLocks noRot="1" noChangeAspect="1" noMove="1" noResize="1" noEditPoints="1" noAdjustHandles="1" noChangeArrowheads="1" noChangeShapeType="1" noTextEdit="1"/>
              </p:cNvSpPr>
              <p:nvPr/>
            </p:nvSpPr>
            <p:spPr>
              <a:xfrm>
                <a:off x="5130975" y="4440994"/>
                <a:ext cx="3333971" cy="2205860"/>
              </a:xfrm>
              <a:prstGeom prst="rect">
                <a:avLst/>
              </a:prstGeom>
              <a:blipFill rotWithShape="0">
                <a:blip r:embed="rId7"/>
                <a:stretch>
                  <a:fillRect l="-1645" t="-16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829139" y="891535"/>
                <a:ext cx="3058913" cy="3380926"/>
              </a:xfrm>
              <a:prstGeom prst="rect">
                <a:avLst/>
              </a:prstGeom>
            </p:spPr>
            <p:txBody>
              <a:bodyPr wrap="square">
                <a:spAutoFit/>
              </a:bodyPr>
              <a:lstStyle/>
              <a:p>
                <a:r>
                  <a:rPr lang="en-GB" dirty="0"/>
                  <a:t>A line goes through the point (4,7) and is perpendicular to another line with equation </a:t>
                </a:r>
                <a14:m>
                  <m:oMath xmlns:m="http://schemas.openxmlformats.org/officeDocument/2006/math">
                    <m:r>
                      <a:rPr lang="en-GB" i="1">
                        <a:latin typeface="Cambria Math"/>
                      </a:rPr>
                      <m:t>𝑦</m:t>
                    </m:r>
                    <m:r>
                      <a:rPr lang="en-GB" i="1">
                        <a:latin typeface="Cambria Math"/>
                      </a:rPr>
                      <m:t>=2</m:t>
                    </m:r>
                    <m:r>
                      <a:rPr lang="en-GB" i="1">
                        <a:latin typeface="Cambria Math"/>
                      </a:rPr>
                      <m:t>𝑥</m:t>
                    </m:r>
                    <m:r>
                      <a:rPr lang="en-GB" i="1">
                        <a:latin typeface="Cambria Math"/>
                      </a:rPr>
                      <m:t>+2</m:t>
                    </m:r>
                  </m:oMath>
                </a14:m>
                <a:r>
                  <a:rPr lang="en-GB" dirty="0"/>
                  <a:t>. What is the equation of the line? Put your answer in the form </a:t>
                </a:r>
                <a14:m>
                  <m:oMath xmlns:m="http://schemas.openxmlformats.org/officeDocument/2006/math">
                    <m:r>
                      <a:rPr lang="en-GB" b="0" i="1" smtClean="0">
                        <a:latin typeface="Cambria Math" panose="02040503050406030204" pitchFamily="18" charset="0"/>
                      </a:rPr>
                      <m:t>𝑎𝑥</m:t>
                    </m:r>
                    <m:r>
                      <a:rPr lang="en-GB" b="0" i="1" smtClean="0">
                        <a:latin typeface="Cambria Math" panose="02040503050406030204" pitchFamily="18" charset="0"/>
                      </a:rPr>
                      <m:t>+</m:t>
                    </m:r>
                    <m:r>
                      <a:rPr lang="en-GB" b="0" i="1" smtClean="0">
                        <a:latin typeface="Cambria Math" panose="02040503050406030204" pitchFamily="18" charset="0"/>
                      </a:rPr>
                      <m:t>𝑏𝑦</m:t>
                    </m:r>
                    <m:r>
                      <a:rPr lang="en-GB" b="0" i="1" smtClean="0">
                        <a:latin typeface="Cambria Math" panose="02040503050406030204" pitchFamily="18" charset="0"/>
                      </a:rPr>
                      <m:t>+</m:t>
                    </m:r>
                    <m:r>
                      <a:rPr lang="en-GB" b="0" i="1" smtClean="0">
                        <a:latin typeface="Cambria Math" panose="02040503050406030204" pitchFamily="18" charset="0"/>
                      </a:rPr>
                      <m:t>𝑐</m:t>
                    </m:r>
                    <m:r>
                      <a:rPr lang="en-GB" b="0" i="1" smtClean="0">
                        <a:latin typeface="Cambria Math" panose="02040503050406030204" pitchFamily="18" charset="0"/>
                      </a:rPr>
                      <m:t>=0</m:t>
                    </m:r>
                  </m:oMath>
                </a14:m>
                <a:r>
                  <a:rPr lang="en-GB" dirty="0"/>
                  <a:t>, where </a:t>
                </a:r>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𝑐</m:t>
                    </m:r>
                  </m:oMath>
                </a14:m>
                <a:r>
                  <a:rPr lang="en-GB" dirty="0"/>
                  <a:t> are integers.</a:t>
                </a:r>
              </a:p>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𝟐</m:t>
                          </m:r>
                        </m:den>
                      </m:f>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𝟗</m:t>
                      </m:r>
                    </m:oMath>
                    <m:oMath xmlns:m="http://schemas.openxmlformats.org/officeDocument/2006/math">
                      <m:r>
                        <a:rPr lang="en-GB" b="1" i="1" smtClean="0">
                          <a:latin typeface="Cambria Math" panose="02040503050406030204" pitchFamily="18" charset="0"/>
                        </a:rPr>
                        <m:t>𝟐</m:t>
                      </m:r>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𝟏𝟖</m:t>
                      </m:r>
                    </m:oMath>
                    <m:oMath xmlns:m="http://schemas.openxmlformats.org/officeDocument/2006/math">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𝟏𝟖</m:t>
                      </m:r>
                      <m:r>
                        <a:rPr lang="en-GB" b="1" i="1" smtClean="0">
                          <a:latin typeface="Cambria Math" panose="02040503050406030204" pitchFamily="18" charset="0"/>
                        </a:rPr>
                        <m:t>=</m:t>
                      </m:r>
                      <m:r>
                        <a:rPr lang="en-GB" b="1" i="1" smtClean="0">
                          <a:latin typeface="Cambria Math" panose="02040503050406030204" pitchFamily="18" charset="0"/>
                        </a:rPr>
                        <m:t>𝟎</m:t>
                      </m:r>
                    </m:oMath>
                  </m:oMathPara>
                </a14:m>
                <a:endParaRPr lang="en-GB" b="1" dirty="0"/>
              </a:p>
            </p:txBody>
          </p:sp>
        </mc:Choice>
        <mc:Fallback xmlns="">
          <p:sp>
            <p:nvSpPr>
              <p:cNvPr id="29" name="Rectangle 28"/>
              <p:cNvSpPr>
                <a:spLocks noRot="1" noChangeAspect="1" noMove="1" noResize="1" noEditPoints="1" noAdjustHandles="1" noChangeArrowheads="1" noChangeShapeType="1" noTextEdit="1"/>
              </p:cNvSpPr>
              <p:nvPr/>
            </p:nvSpPr>
            <p:spPr>
              <a:xfrm>
                <a:off x="829139" y="891535"/>
                <a:ext cx="3058913" cy="3380926"/>
              </a:xfrm>
              <a:prstGeom prst="rect">
                <a:avLst/>
              </a:prstGeom>
              <a:blipFill rotWithShape="0">
                <a:blip r:embed="rId8"/>
                <a:stretch>
                  <a:fillRect l="-1594" t="-901" r="-199" b="-360"/>
                </a:stretch>
              </a:blipFill>
            </p:spPr>
            <p:txBody>
              <a:bodyPr/>
              <a:lstStyle/>
              <a:p>
                <a:r>
                  <a:rPr lang="en-GB">
                    <a:noFill/>
                  </a:rPr>
                  <a:t> </a:t>
                </a:r>
              </a:p>
            </p:txBody>
          </p:sp>
        </mc:Fallback>
      </mc:AlternateContent>
      <p:sp>
        <p:nvSpPr>
          <p:cNvPr id="30" name="TextBox 29"/>
          <p:cNvSpPr txBox="1"/>
          <p:nvPr/>
        </p:nvSpPr>
        <p:spPr>
          <a:xfrm>
            <a:off x="421035" y="990823"/>
            <a:ext cx="300871"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GB" dirty="0"/>
              <a:t>1</a:t>
            </a:r>
          </a:p>
        </p:txBody>
      </p:sp>
      <p:sp>
        <p:nvSpPr>
          <p:cNvPr id="31" name="TextBox 30"/>
          <p:cNvSpPr txBox="1"/>
          <p:nvPr/>
        </p:nvSpPr>
        <p:spPr>
          <a:xfrm>
            <a:off x="4098235" y="990823"/>
            <a:ext cx="300871"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GB" dirty="0"/>
              <a:t>2</a:t>
            </a:r>
          </a:p>
        </p:txBody>
      </p:sp>
      <p:sp>
        <p:nvSpPr>
          <p:cNvPr id="32" name="Rectangle 31"/>
          <p:cNvSpPr/>
          <p:nvPr/>
        </p:nvSpPr>
        <p:spPr>
          <a:xfrm>
            <a:off x="968897" y="3142134"/>
            <a:ext cx="2583928" cy="112506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33" name="Rectangle 32"/>
          <p:cNvSpPr/>
          <p:nvPr/>
        </p:nvSpPr>
        <p:spPr>
          <a:xfrm>
            <a:off x="5082369" y="4381175"/>
            <a:ext cx="3385356" cy="233394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26795999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2"/>
                                        </p:tgtEl>
                                      </p:cBhvr>
                                    </p:animEffect>
                                    <p:set>
                                      <p:cBhvr>
                                        <p:cTn id="7" dur="1" fill="hold">
                                          <p:stCondLst>
                                            <p:cond delay="499"/>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2"/>
                  </p:tgtEl>
                </p:cond>
              </p:nextCondLst>
            </p:seq>
            <p:seq concurrent="1" nextAc="seek">
              <p:cTn id="8" restart="whenNotActive" fill="hold" evtFilter="cancelBubble" nodeType="interactiveSeq">
                <p:stCondLst>
                  <p:cond evt="onClick" delay="0">
                    <p:tgtEl>
                      <p:spTgt spid="3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3"/>
                                        </p:tgtEl>
                                      </p:cBhvr>
                                    </p:animEffect>
                                    <p:set>
                                      <p:cBhvr>
                                        <p:cTn id="13" dur="1" fill="hold">
                                          <p:stCondLst>
                                            <p:cond delay="499"/>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3"/>
                  </p:tgtEl>
                </p:cond>
              </p:nextCondLst>
            </p:seq>
          </p:childTnLst>
        </p:cTn>
      </p:par>
    </p:tnLst>
    <p:bldLst>
      <p:bldP spid="32" grpId="0" animBg="1"/>
      <p:bldP spid="3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5E/5F – Pure Y1 Page 96</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DE12083D-888B-FC07-304A-6BAC05D6E765}"/>
              </a:ext>
            </a:extLst>
          </p:cNvPr>
          <p:cNvPicPr>
            <a:picLocks noChangeAspect="1"/>
          </p:cNvPicPr>
          <p:nvPr/>
        </p:nvPicPr>
        <p:blipFill>
          <a:blip r:embed="rId2"/>
          <a:stretch>
            <a:fillRect/>
          </a:stretch>
        </p:blipFill>
        <p:spPr>
          <a:xfrm>
            <a:off x="107504" y="692696"/>
            <a:ext cx="6552728" cy="643909"/>
          </a:xfrm>
          <a:prstGeom prst="rect">
            <a:avLst/>
          </a:prstGeom>
        </p:spPr>
      </p:pic>
      <p:pic>
        <p:nvPicPr>
          <p:cNvPr id="6" name="Picture 5">
            <a:extLst>
              <a:ext uri="{FF2B5EF4-FFF2-40B4-BE49-F238E27FC236}">
                <a16:creationId xmlns:a16="http://schemas.microsoft.com/office/drawing/2014/main" id="{C814AEF3-C9BF-4D56-51AF-3D1897D4E574}"/>
              </a:ext>
            </a:extLst>
          </p:cNvPr>
          <p:cNvPicPr>
            <a:picLocks noChangeAspect="1"/>
          </p:cNvPicPr>
          <p:nvPr/>
        </p:nvPicPr>
        <p:blipFill>
          <a:blip r:embed="rId3"/>
          <a:stretch>
            <a:fillRect/>
          </a:stretch>
        </p:blipFill>
        <p:spPr>
          <a:xfrm>
            <a:off x="126216" y="3549953"/>
            <a:ext cx="8845943" cy="599127"/>
          </a:xfrm>
          <a:prstGeom prst="rect">
            <a:avLst/>
          </a:prstGeom>
        </p:spPr>
      </p:pic>
      <p:grpSp>
        <p:nvGrpSpPr>
          <p:cNvPr id="10" name="Group 9">
            <a:extLst>
              <a:ext uri="{FF2B5EF4-FFF2-40B4-BE49-F238E27FC236}">
                <a16:creationId xmlns:a16="http://schemas.microsoft.com/office/drawing/2014/main" id="{10BEF3F6-2B94-D676-6566-D812BB52C142}"/>
              </a:ext>
            </a:extLst>
          </p:cNvPr>
          <p:cNvGrpSpPr/>
          <p:nvPr/>
        </p:nvGrpSpPr>
        <p:grpSpPr>
          <a:xfrm>
            <a:off x="395536" y="1244561"/>
            <a:ext cx="3403600" cy="1828800"/>
            <a:chOff x="395536" y="1244561"/>
            <a:chExt cx="3403600" cy="1828800"/>
          </a:xfrm>
        </p:grpSpPr>
        <p:pic>
          <p:nvPicPr>
            <p:cNvPr id="7" name="Picture 6">
              <a:extLst>
                <a:ext uri="{FF2B5EF4-FFF2-40B4-BE49-F238E27FC236}">
                  <a16:creationId xmlns:a16="http://schemas.microsoft.com/office/drawing/2014/main" id="{5E2ED832-240D-8904-12C0-A97A38ACFC41}"/>
                </a:ext>
              </a:extLst>
            </p:cNvPr>
            <p:cNvPicPr>
              <a:picLocks noChangeAspect="1"/>
            </p:cNvPicPr>
            <p:nvPr/>
          </p:nvPicPr>
          <p:blipFill>
            <a:blip r:embed="rId4"/>
            <a:stretch>
              <a:fillRect/>
            </a:stretch>
          </p:blipFill>
          <p:spPr>
            <a:xfrm>
              <a:off x="395536" y="1244561"/>
              <a:ext cx="3403600" cy="1828800"/>
            </a:xfrm>
            <a:prstGeom prst="rect">
              <a:avLst/>
            </a:prstGeom>
          </p:spPr>
        </p:pic>
        <p:pic>
          <p:nvPicPr>
            <p:cNvPr id="8" name="Picture 7">
              <a:extLst>
                <a:ext uri="{FF2B5EF4-FFF2-40B4-BE49-F238E27FC236}">
                  <a16:creationId xmlns:a16="http://schemas.microsoft.com/office/drawing/2014/main" id="{5AEE5B08-911C-EC68-6094-79682168DD19}"/>
                </a:ext>
              </a:extLst>
            </p:cNvPr>
            <p:cNvPicPr>
              <a:picLocks noChangeAspect="1"/>
            </p:cNvPicPr>
            <p:nvPr/>
          </p:nvPicPr>
          <p:blipFill>
            <a:blip r:embed="rId5"/>
            <a:stretch>
              <a:fillRect/>
            </a:stretch>
          </p:blipFill>
          <p:spPr>
            <a:xfrm>
              <a:off x="2901268" y="2450852"/>
              <a:ext cx="482600" cy="546100"/>
            </a:xfrm>
            <a:prstGeom prst="rect">
              <a:avLst/>
            </a:prstGeom>
          </p:spPr>
        </p:pic>
      </p:grpSp>
      <p:pic>
        <p:nvPicPr>
          <p:cNvPr id="11" name="Picture 10">
            <a:extLst>
              <a:ext uri="{FF2B5EF4-FFF2-40B4-BE49-F238E27FC236}">
                <a16:creationId xmlns:a16="http://schemas.microsoft.com/office/drawing/2014/main" id="{7FCEDF00-D500-97FE-D61E-A6D40E4AF253}"/>
              </a:ext>
            </a:extLst>
          </p:cNvPr>
          <p:cNvPicPr>
            <a:picLocks noChangeAspect="1"/>
          </p:cNvPicPr>
          <p:nvPr/>
        </p:nvPicPr>
        <p:blipFill>
          <a:blip r:embed="rId6"/>
          <a:stretch>
            <a:fillRect/>
          </a:stretch>
        </p:blipFill>
        <p:spPr>
          <a:xfrm>
            <a:off x="4145632" y="1290079"/>
            <a:ext cx="2514600" cy="495300"/>
          </a:xfrm>
          <a:prstGeom prst="rect">
            <a:avLst/>
          </a:prstGeom>
        </p:spPr>
      </p:pic>
      <p:pic>
        <p:nvPicPr>
          <p:cNvPr id="12" name="Picture 11">
            <a:extLst>
              <a:ext uri="{FF2B5EF4-FFF2-40B4-BE49-F238E27FC236}">
                <a16:creationId xmlns:a16="http://schemas.microsoft.com/office/drawing/2014/main" id="{4DA6045C-61BB-3D48-2D14-90840931BDD6}"/>
              </a:ext>
            </a:extLst>
          </p:cNvPr>
          <p:cNvPicPr>
            <a:picLocks noChangeAspect="1"/>
          </p:cNvPicPr>
          <p:nvPr/>
        </p:nvPicPr>
        <p:blipFill>
          <a:blip r:embed="rId7"/>
          <a:stretch>
            <a:fillRect/>
          </a:stretch>
        </p:blipFill>
        <p:spPr>
          <a:xfrm>
            <a:off x="6726014" y="1244561"/>
            <a:ext cx="444500" cy="495300"/>
          </a:xfrm>
          <a:prstGeom prst="rect">
            <a:avLst/>
          </a:prstGeom>
        </p:spPr>
      </p:pic>
      <p:pic>
        <p:nvPicPr>
          <p:cNvPr id="13" name="Picture 12">
            <a:extLst>
              <a:ext uri="{FF2B5EF4-FFF2-40B4-BE49-F238E27FC236}">
                <a16:creationId xmlns:a16="http://schemas.microsoft.com/office/drawing/2014/main" id="{50F8338E-A5E9-2BA2-0B39-86966A95E1F3}"/>
              </a:ext>
            </a:extLst>
          </p:cNvPr>
          <p:cNvPicPr>
            <a:picLocks noChangeAspect="1"/>
          </p:cNvPicPr>
          <p:nvPr/>
        </p:nvPicPr>
        <p:blipFill>
          <a:blip r:embed="rId8"/>
          <a:stretch>
            <a:fillRect/>
          </a:stretch>
        </p:blipFill>
        <p:spPr>
          <a:xfrm>
            <a:off x="4145632" y="1981232"/>
            <a:ext cx="3429000" cy="698500"/>
          </a:xfrm>
          <a:prstGeom prst="rect">
            <a:avLst/>
          </a:prstGeom>
        </p:spPr>
      </p:pic>
      <p:pic>
        <p:nvPicPr>
          <p:cNvPr id="14" name="Picture 13">
            <a:extLst>
              <a:ext uri="{FF2B5EF4-FFF2-40B4-BE49-F238E27FC236}">
                <a16:creationId xmlns:a16="http://schemas.microsoft.com/office/drawing/2014/main" id="{563753B6-FC69-3E60-3F1B-E3011E3C7AFA}"/>
              </a:ext>
            </a:extLst>
          </p:cNvPr>
          <p:cNvPicPr>
            <a:picLocks noChangeAspect="1"/>
          </p:cNvPicPr>
          <p:nvPr/>
        </p:nvPicPr>
        <p:blipFill>
          <a:blip r:embed="rId9"/>
          <a:stretch>
            <a:fillRect/>
          </a:stretch>
        </p:blipFill>
        <p:spPr>
          <a:xfrm>
            <a:off x="372336" y="4397321"/>
            <a:ext cx="3086100" cy="1816100"/>
          </a:xfrm>
          <a:prstGeom prst="rect">
            <a:avLst/>
          </a:prstGeom>
        </p:spPr>
      </p:pic>
      <p:pic>
        <p:nvPicPr>
          <p:cNvPr id="15" name="Picture 14">
            <a:extLst>
              <a:ext uri="{FF2B5EF4-FFF2-40B4-BE49-F238E27FC236}">
                <a16:creationId xmlns:a16="http://schemas.microsoft.com/office/drawing/2014/main" id="{54F56A7E-6724-2DB9-9D82-52CAED9E5215}"/>
              </a:ext>
            </a:extLst>
          </p:cNvPr>
          <p:cNvPicPr>
            <a:picLocks noChangeAspect="1"/>
          </p:cNvPicPr>
          <p:nvPr/>
        </p:nvPicPr>
        <p:blipFill>
          <a:blip r:embed="rId10"/>
          <a:stretch>
            <a:fillRect/>
          </a:stretch>
        </p:blipFill>
        <p:spPr>
          <a:xfrm>
            <a:off x="4123545" y="4354974"/>
            <a:ext cx="3238500" cy="1435100"/>
          </a:xfrm>
          <a:prstGeom prst="rect">
            <a:avLst/>
          </a:prstGeom>
        </p:spPr>
      </p:pic>
      <p:sp>
        <p:nvSpPr>
          <p:cNvPr id="16" name="Rectangle 15">
            <a:extLst>
              <a:ext uri="{FF2B5EF4-FFF2-40B4-BE49-F238E27FC236}">
                <a16:creationId xmlns:a16="http://schemas.microsoft.com/office/drawing/2014/main" id="{981FE26B-9A23-069A-28F5-7851A43667F9}"/>
              </a:ext>
            </a:extLst>
          </p:cNvPr>
          <p:cNvSpPr/>
          <p:nvPr/>
        </p:nvSpPr>
        <p:spPr>
          <a:xfrm>
            <a:off x="372336" y="1297338"/>
            <a:ext cx="7410598" cy="177602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17" name="Rectangle 16">
            <a:extLst>
              <a:ext uri="{FF2B5EF4-FFF2-40B4-BE49-F238E27FC236}">
                <a16:creationId xmlns:a16="http://schemas.microsoft.com/office/drawing/2014/main" id="{7DE76539-AF77-B49F-D6D0-AB4258DEF70A}"/>
              </a:ext>
            </a:extLst>
          </p:cNvPr>
          <p:cNvSpPr/>
          <p:nvPr/>
        </p:nvSpPr>
        <p:spPr>
          <a:xfrm>
            <a:off x="372336" y="4288695"/>
            <a:ext cx="7410598" cy="209263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131727230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6" grpId="0" animBg="1"/>
      <p:bldP spid="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5F – Pure Y1 Page 100</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18" name="Picture 17">
            <a:extLst>
              <a:ext uri="{FF2B5EF4-FFF2-40B4-BE49-F238E27FC236}">
                <a16:creationId xmlns:a16="http://schemas.microsoft.com/office/drawing/2014/main" id="{9674A3D6-4AE5-F61A-ABF5-17D0331A8DF4}"/>
              </a:ext>
            </a:extLst>
          </p:cNvPr>
          <p:cNvPicPr>
            <a:picLocks noChangeAspect="1"/>
          </p:cNvPicPr>
          <p:nvPr/>
        </p:nvPicPr>
        <p:blipFill>
          <a:blip r:embed="rId2"/>
          <a:stretch>
            <a:fillRect/>
          </a:stretch>
        </p:blipFill>
        <p:spPr>
          <a:xfrm>
            <a:off x="179511" y="643813"/>
            <a:ext cx="4298920" cy="711789"/>
          </a:xfrm>
          <a:prstGeom prst="rect">
            <a:avLst/>
          </a:prstGeom>
        </p:spPr>
      </p:pic>
      <p:pic>
        <p:nvPicPr>
          <p:cNvPr id="19" name="Picture 18">
            <a:extLst>
              <a:ext uri="{FF2B5EF4-FFF2-40B4-BE49-F238E27FC236}">
                <a16:creationId xmlns:a16="http://schemas.microsoft.com/office/drawing/2014/main" id="{7DE9F179-8BB0-1EA9-6050-CC3FE938284F}"/>
              </a:ext>
            </a:extLst>
          </p:cNvPr>
          <p:cNvPicPr>
            <a:picLocks noChangeAspect="1"/>
          </p:cNvPicPr>
          <p:nvPr/>
        </p:nvPicPr>
        <p:blipFill>
          <a:blip r:embed="rId3"/>
          <a:stretch>
            <a:fillRect/>
          </a:stretch>
        </p:blipFill>
        <p:spPr>
          <a:xfrm>
            <a:off x="4665570" y="687356"/>
            <a:ext cx="4477286" cy="741321"/>
          </a:xfrm>
          <a:prstGeom prst="rect">
            <a:avLst/>
          </a:prstGeom>
        </p:spPr>
      </p:pic>
      <p:grpSp>
        <p:nvGrpSpPr>
          <p:cNvPr id="22" name="Group 21">
            <a:extLst>
              <a:ext uri="{FF2B5EF4-FFF2-40B4-BE49-F238E27FC236}">
                <a16:creationId xmlns:a16="http://schemas.microsoft.com/office/drawing/2014/main" id="{EA84AB01-4AC8-C6DD-DA07-653903DAAADC}"/>
              </a:ext>
            </a:extLst>
          </p:cNvPr>
          <p:cNvGrpSpPr/>
          <p:nvPr/>
        </p:nvGrpSpPr>
        <p:grpSpPr>
          <a:xfrm>
            <a:off x="323528" y="1586460"/>
            <a:ext cx="2984500" cy="1193800"/>
            <a:chOff x="323528" y="1355602"/>
            <a:chExt cx="2984500" cy="1193800"/>
          </a:xfrm>
        </p:grpSpPr>
        <p:pic>
          <p:nvPicPr>
            <p:cNvPr id="20" name="Picture 19">
              <a:extLst>
                <a:ext uri="{FF2B5EF4-FFF2-40B4-BE49-F238E27FC236}">
                  <a16:creationId xmlns:a16="http://schemas.microsoft.com/office/drawing/2014/main" id="{3D5AA112-4048-3491-2696-993F87E55A0F}"/>
                </a:ext>
              </a:extLst>
            </p:cNvPr>
            <p:cNvPicPr>
              <a:picLocks noChangeAspect="1"/>
            </p:cNvPicPr>
            <p:nvPr/>
          </p:nvPicPr>
          <p:blipFill>
            <a:blip r:embed="rId4"/>
            <a:stretch>
              <a:fillRect/>
            </a:stretch>
          </p:blipFill>
          <p:spPr>
            <a:xfrm>
              <a:off x="323528" y="1355602"/>
              <a:ext cx="2984500" cy="1193800"/>
            </a:xfrm>
            <a:prstGeom prst="rect">
              <a:avLst/>
            </a:prstGeom>
          </p:spPr>
        </p:pic>
        <p:pic>
          <p:nvPicPr>
            <p:cNvPr id="21" name="Picture 20">
              <a:extLst>
                <a:ext uri="{FF2B5EF4-FFF2-40B4-BE49-F238E27FC236}">
                  <a16:creationId xmlns:a16="http://schemas.microsoft.com/office/drawing/2014/main" id="{F77FE439-02A9-820A-6581-FB991B3E6FDD}"/>
                </a:ext>
              </a:extLst>
            </p:cNvPr>
            <p:cNvPicPr>
              <a:picLocks noChangeAspect="1"/>
            </p:cNvPicPr>
            <p:nvPr/>
          </p:nvPicPr>
          <p:blipFill>
            <a:blip r:embed="rId5"/>
            <a:stretch>
              <a:fillRect/>
            </a:stretch>
          </p:blipFill>
          <p:spPr>
            <a:xfrm>
              <a:off x="2055921" y="1785888"/>
              <a:ext cx="546100" cy="635000"/>
            </a:xfrm>
            <a:prstGeom prst="rect">
              <a:avLst/>
            </a:prstGeom>
          </p:spPr>
        </p:pic>
      </p:grpSp>
      <p:pic>
        <p:nvPicPr>
          <p:cNvPr id="23" name="Picture 22">
            <a:extLst>
              <a:ext uri="{FF2B5EF4-FFF2-40B4-BE49-F238E27FC236}">
                <a16:creationId xmlns:a16="http://schemas.microsoft.com/office/drawing/2014/main" id="{27FD249F-03B3-23EF-19CC-1B10C37F1059}"/>
              </a:ext>
            </a:extLst>
          </p:cNvPr>
          <p:cNvPicPr>
            <a:picLocks noChangeAspect="1"/>
          </p:cNvPicPr>
          <p:nvPr/>
        </p:nvPicPr>
        <p:blipFill>
          <a:blip r:embed="rId6"/>
          <a:stretch>
            <a:fillRect/>
          </a:stretch>
        </p:blipFill>
        <p:spPr>
          <a:xfrm>
            <a:off x="437828" y="2780260"/>
            <a:ext cx="2755900" cy="1676400"/>
          </a:xfrm>
          <a:prstGeom prst="rect">
            <a:avLst/>
          </a:prstGeom>
        </p:spPr>
      </p:pic>
      <p:pic>
        <p:nvPicPr>
          <p:cNvPr id="24" name="Picture 23">
            <a:extLst>
              <a:ext uri="{FF2B5EF4-FFF2-40B4-BE49-F238E27FC236}">
                <a16:creationId xmlns:a16="http://schemas.microsoft.com/office/drawing/2014/main" id="{8F94F77C-CAE2-CC24-DFC8-3FEC8E698653}"/>
              </a:ext>
            </a:extLst>
          </p:cNvPr>
          <p:cNvPicPr>
            <a:picLocks noChangeAspect="1"/>
          </p:cNvPicPr>
          <p:nvPr/>
        </p:nvPicPr>
        <p:blipFill>
          <a:blip r:embed="rId7"/>
          <a:stretch>
            <a:fillRect/>
          </a:stretch>
        </p:blipFill>
        <p:spPr>
          <a:xfrm>
            <a:off x="1815778" y="3976572"/>
            <a:ext cx="444500" cy="254000"/>
          </a:xfrm>
          <a:prstGeom prst="rect">
            <a:avLst/>
          </a:prstGeom>
        </p:spPr>
      </p:pic>
      <p:pic>
        <p:nvPicPr>
          <p:cNvPr id="25" name="Picture 24">
            <a:extLst>
              <a:ext uri="{FF2B5EF4-FFF2-40B4-BE49-F238E27FC236}">
                <a16:creationId xmlns:a16="http://schemas.microsoft.com/office/drawing/2014/main" id="{D9910176-D705-CCBA-7994-97A766335642}"/>
              </a:ext>
            </a:extLst>
          </p:cNvPr>
          <p:cNvPicPr>
            <a:picLocks noChangeAspect="1"/>
          </p:cNvPicPr>
          <p:nvPr/>
        </p:nvPicPr>
        <p:blipFill>
          <a:blip r:embed="rId8"/>
          <a:stretch>
            <a:fillRect/>
          </a:stretch>
        </p:blipFill>
        <p:spPr>
          <a:xfrm>
            <a:off x="464603" y="4462511"/>
            <a:ext cx="2552700" cy="838200"/>
          </a:xfrm>
          <a:prstGeom prst="rect">
            <a:avLst/>
          </a:prstGeom>
        </p:spPr>
      </p:pic>
      <p:pic>
        <p:nvPicPr>
          <p:cNvPr id="26" name="Picture 25">
            <a:extLst>
              <a:ext uri="{FF2B5EF4-FFF2-40B4-BE49-F238E27FC236}">
                <a16:creationId xmlns:a16="http://schemas.microsoft.com/office/drawing/2014/main" id="{85C59628-DEFD-0513-6777-E231F54BC9C2}"/>
              </a:ext>
            </a:extLst>
          </p:cNvPr>
          <p:cNvPicPr>
            <a:picLocks noChangeAspect="1"/>
          </p:cNvPicPr>
          <p:nvPr/>
        </p:nvPicPr>
        <p:blipFill>
          <a:blip r:embed="rId9"/>
          <a:stretch>
            <a:fillRect/>
          </a:stretch>
        </p:blipFill>
        <p:spPr>
          <a:xfrm>
            <a:off x="4788024" y="1516906"/>
            <a:ext cx="3352800" cy="2120900"/>
          </a:xfrm>
          <a:prstGeom prst="rect">
            <a:avLst/>
          </a:prstGeom>
        </p:spPr>
      </p:pic>
      <p:pic>
        <p:nvPicPr>
          <p:cNvPr id="27" name="Picture 26">
            <a:extLst>
              <a:ext uri="{FF2B5EF4-FFF2-40B4-BE49-F238E27FC236}">
                <a16:creationId xmlns:a16="http://schemas.microsoft.com/office/drawing/2014/main" id="{5BA4FD20-A5DD-5C6F-FC9D-95ED58BA87A9}"/>
              </a:ext>
            </a:extLst>
          </p:cNvPr>
          <p:cNvPicPr>
            <a:picLocks noChangeAspect="1"/>
          </p:cNvPicPr>
          <p:nvPr/>
        </p:nvPicPr>
        <p:blipFill>
          <a:blip r:embed="rId10"/>
          <a:stretch>
            <a:fillRect/>
          </a:stretch>
        </p:blipFill>
        <p:spPr>
          <a:xfrm>
            <a:off x="4946974" y="3542514"/>
            <a:ext cx="2006600" cy="914400"/>
          </a:xfrm>
          <a:prstGeom prst="rect">
            <a:avLst/>
          </a:prstGeom>
        </p:spPr>
      </p:pic>
      <p:pic>
        <p:nvPicPr>
          <p:cNvPr id="28" name="Picture 27">
            <a:extLst>
              <a:ext uri="{FF2B5EF4-FFF2-40B4-BE49-F238E27FC236}">
                <a16:creationId xmlns:a16="http://schemas.microsoft.com/office/drawing/2014/main" id="{C11C1A5F-0373-140B-87BF-8F3F075483EC}"/>
              </a:ext>
            </a:extLst>
          </p:cNvPr>
          <p:cNvPicPr>
            <a:picLocks noChangeAspect="1"/>
          </p:cNvPicPr>
          <p:nvPr/>
        </p:nvPicPr>
        <p:blipFill>
          <a:blip r:embed="rId11"/>
          <a:stretch>
            <a:fillRect/>
          </a:stretch>
        </p:blipFill>
        <p:spPr>
          <a:xfrm>
            <a:off x="6445568" y="3845081"/>
            <a:ext cx="622300" cy="571500"/>
          </a:xfrm>
          <a:prstGeom prst="rect">
            <a:avLst/>
          </a:prstGeom>
        </p:spPr>
      </p:pic>
      <p:pic>
        <p:nvPicPr>
          <p:cNvPr id="29" name="Picture 28">
            <a:extLst>
              <a:ext uri="{FF2B5EF4-FFF2-40B4-BE49-F238E27FC236}">
                <a16:creationId xmlns:a16="http://schemas.microsoft.com/office/drawing/2014/main" id="{C541CC9D-05E7-3D4B-9C37-BAEE9E1E5819}"/>
              </a:ext>
            </a:extLst>
          </p:cNvPr>
          <p:cNvPicPr>
            <a:picLocks noChangeAspect="1"/>
          </p:cNvPicPr>
          <p:nvPr/>
        </p:nvPicPr>
        <p:blipFill>
          <a:blip r:embed="rId12"/>
          <a:stretch>
            <a:fillRect/>
          </a:stretch>
        </p:blipFill>
        <p:spPr>
          <a:xfrm>
            <a:off x="5080321" y="4461878"/>
            <a:ext cx="1930400" cy="762000"/>
          </a:xfrm>
          <a:prstGeom prst="rect">
            <a:avLst/>
          </a:prstGeom>
        </p:spPr>
      </p:pic>
      <p:pic>
        <p:nvPicPr>
          <p:cNvPr id="30" name="Picture 29">
            <a:extLst>
              <a:ext uri="{FF2B5EF4-FFF2-40B4-BE49-F238E27FC236}">
                <a16:creationId xmlns:a16="http://schemas.microsoft.com/office/drawing/2014/main" id="{B4139959-D914-5241-690F-A036F55C050E}"/>
              </a:ext>
            </a:extLst>
          </p:cNvPr>
          <p:cNvPicPr>
            <a:picLocks noChangeAspect="1"/>
          </p:cNvPicPr>
          <p:nvPr/>
        </p:nvPicPr>
        <p:blipFill>
          <a:blip r:embed="rId13"/>
          <a:stretch>
            <a:fillRect/>
          </a:stretch>
        </p:blipFill>
        <p:spPr>
          <a:xfrm>
            <a:off x="6680524" y="4739734"/>
            <a:ext cx="546100" cy="520700"/>
          </a:xfrm>
          <a:prstGeom prst="rect">
            <a:avLst/>
          </a:prstGeom>
        </p:spPr>
      </p:pic>
      <p:pic>
        <p:nvPicPr>
          <p:cNvPr id="31" name="Picture 30">
            <a:extLst>
              <a:ext uri="{FF2B5EF4-FFF2-40B4-BE49-F238E27FC236}">
                <a16:creationId xmlns:a16="http://schemas.microsoft.com/office/drawing/2014/main" id="{F5E4576C-21D8-ADBC-A8A0-63627ECF99AB}"/>
              </a:ext>
            </a:extLst>
          </p:cNvPr>
          <p:cNvPicPr>
            <a:picLocks noChangeAspect="1"/>
          </p:cNvPicPr>
          <p:nvPr/>
        </p:nvPicPr>
        <p:blipFill>
          <a:blip r:embed="rId14"/>
          <a:stretch>
            <a:fillRect/>
          </a:stretch>
        </p:blipFill>
        <p:spPr>
          <a:xfrm>
            <a:off x="5080321" y="5310339"/>
            <a:ext cx="3213100" cy="787400"/>
          </a:xfrm>
          <a:prstGeom prst="rect">
            <a:avLst/>
          </a:prstGeom>
        </p:spPr>
      </p:pic>
      <p:sp>
        <p:nvSpPr>
          <p:cNvPr id="32" name="Rectangle 31">
            <a:extLst>
              <a:ext uri="{FF2B5EF4-FFF2-40B4-BE49-F238E27FC236}">
                <a16:creationId xmlns:a16="http://schemas.microsoft.com/office/drawing/2014/main" id="{C5C63ED8-5E0F-5F02-2A0F-8ED8738CEDD3}"/>
              </a:ext>
            </a:extLst>
          </p:cNvPr>
          <p:cNvSpPr/>
          <p:nvPr/>
        </p:nvSpPr>
        <p:spPr>
          <a:xfrm>
            <a:off x="426884" y="1530392"/>
            <a:ext cx="3497044" cy="464025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33" name="Rectangle 32">
            <a:extLst>
              <a:ext uri="{FF2B5EF4-FFF2-40B4-BE49-F238E27FC236}">
                <a16:creationId xmlns:a16="http://schemas.microsoft.com/office/drawing/2014/main" id="{CE5A8A4F-3AB7-3FE1-12AD-E650FF5ACBBE}"/>
              </a:ext>
            </a:extLst>
          </p:cNvPr>
          <p:cNvSpPr/>
          <p:nvPr/>
        </p:nvSpPr>
        <p:spPr>
          <a:xfrm>
            <a:off x="4886321" y="1530392"/>
            <a:ext cx="3497044" cy="464025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9633431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2"/>
                                        </p:tgtEl>
                                      </p:cBhvr>
                                    </p:animEffect>
                                    <p:set>
                                      <p:cBhvr>
                                        <p:cTn id="7" dur="1" fill="hold">
                                          <p:stCondLst>
                                            <p:cond delay="499"/>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2"/>
                  </p:tgtEl>
                </p:cond>
              </p:nextCondLst>
            </p:seq>
            <p:seq concurrent="1" nextAc="seek">
              <p:cTn id="8" restart="whenNotActive" fill="hold" evtFilter="cancelBubble" nodeType="interactiveSeq">
                <p:stCondLst>
                  <p:cond evt="onClick" delay="0">
                    <p:tgtEl>
                      <p:spTgt spid="3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3"/>
                                        </p:tgtEl>
                                      </p:cBhvr>
                                    </p:animEffect>
                                    <p:set>
                                      <p:cBhvr>
                                        <p:cTn id="13" dur="1" fill="hold">
                                          <p:stCondLst>
                                            <p:cond delay="499"/>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3"/>
                  </p:tgtEl>
                </p:cond>
              </p:nextCondLst>
            </p:seq>
          </p:childTnLst>
        </p:cTn>
      </p:par>
    </p:tnLst>
    <p:bldLst>
      <p:bldP spid="32" grpId="0" animBg="1"/>
      <p:bldP spid="3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5E/5F – Pure Y1 Page 96</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7" name="TextBox 6"/>
          <p:cNvSpPr txBox="1"/>
          <p:nvPr/>
        </p:nvSpPr>
        <p:spPr>
          <a:xfrm>
            <a:off x="381022" y="1829746"/>
            <a:ext cx="2952328" cy="369332"/>
          </a:xfrm>
          <a:prstGeom prst="rect">
            <a:avLst/>
          </a:prstGeom>
          <a:noFill/>
        </p:spPr>
        <p:txBody>
          <a:bodyPr wrap="square" rtlCol="0">
            <a:spAutoFit/>
          </a:bodyPr>
          <a:lstStyle/>
          <a:p>
            <a:r>
              <a:rPr lang="en-GB" b="1" dirty="0"/>
              <a:t>Extension Problems</a:t>
            </a:r>
          </a:p>
        </p:txBody>
      </p:sp>
      <mc:AlternateContent xmlns:mc="http://schemas.openxmlformats.org/markup-compatibility/2006" xmlns:a14="http://schemas.microsoft.com/office/drawing/2010/main">
        <mc:Choice Requires="a14">
          <p:sp>
            <p:nvSpPr>
              <p:cNvPr id="8" name="TextBox 7"/>
              <p:cNvSpPr txBox="1"/>
              <p:nvPr/>
            </p:nvSpPr>
            <p:spPr>
              <a:xfrm>
                <a:off x="381021" y="2141021"/>
                <a:ext cx="3362843" cy="3370731"/>
              </a:xfrm>
              <a:prstGeom prst="rect">
                <a:avLst/>
              </a:prstGeom>
              <a:noFill/>
            </p:spPr>
            <p:txBody>
              <a:bodyPr wrap="square" rtlCol="0">
                <a:spAutoFit/>
              </a:bodyPr>
              <a:lstStyle/>
              <a:p>
                <a:r>
                  <a:rPr lang="en-GB" sz="1600" i="1" dirty="0"/>
                  <a:t>[MAT 2004 1D]</a:t>
                </a:r>
              </a:p>
              <a:p>
                <a:r>
                  <a:rPr lang="en-GB" sz="1600" dirty="0"/>
                  <a:t>What is the reflection of the point </a:t>
                </a:r>
                <a14:m>
                  <m:oMath xmlns:m="http://schemas.openxmlformats.org/officeDocument/2006/math">
                    <m:d>
                      <m:dPr>
                        <m:ctrlPr>
                          <a:rPr lang="en-GB" sz="1600" b="0" i="1" smtClean="0">
                            <a:latin typeface="Cambria Math" panose="02040503050406030204" pitchFamily="18" charset="0"/>
                          </a:rPr>
                        </m:ctrlPr>
                      </m:dPr>
                      <m:e>
                        <m:r>
                          <a:rPr lang="en-GB" sz="1600" b="0" i="1" smtClean="0">
                            <a:latin typeface="Cambria Math" panose="02040503050406030204" pitchFamily="18" charset="0"/>
                          </a:rPr>
                          <m:t>3,4</m:t>
                        </m:r>
                      </m:e>
                    </m:d>
                  </m:oMath>
                </a14:m>
                <a:r>
                  <a:rPr lang="en-GB" sz="1600" dirty="0"/>
                  <a:t> in the line </a:t>
                </a:r>
                <a:br>
                  <a:rPr lang="en-GB" sz="1600" b="0" i="1" dirty="0">
                    <a:latin typeface="Cambria Math" panose="02040503050406030204" pitchFamily="18" charset="0"/>
                  </a:rPr>
                </a:br>
                <a14:m>
                  <m:oMath xmlns:m="http://schemas.openxmlformats.org/officeDocument/2006/math">
                    <m:r>
                      <a:rPr lang="en-GB" sz="1600" b="0" i="1" smtClean="0">
                        <a:latin typeface="Cambria Math" panose="02040503050406030204" pitchFamily="18" charset="0"/>
                      </a:rPr>
                      <m:t>3</m:t>
                    </m:r>
                    <m:r>
                      <a:rPr lang="en-GB" sz="1600" b="0" i="1" smtClean="0">
                        <a:latin typeface="Cambria Math" panose="02040503050406030204" pitchFamily="18" charset="0"/>
                      </a:rPr>
                      <m:t>𝑥</m:t>
                    </m:r>
                    <m:r>
                      <a:rPr lang="en-GB" sz="1600" b="0" i="1" smtClean="0">
                        <a:latin typeface="Cambria Math" panose="02040503050406030204" pitchFamily="18" charset="0"/>
                      </a:rPr>
                      <m:t>+4</m:t>
                    </m:r>
                    <m:r>
                      <a:rPr lang="en-GB" sz="1600" b="0" i="1" smtClean="0">
                        <a:latin typeface="Cambria Math" panose="02040503050406030204" pitchFamily="18" charset="0"/>
                      </a:rPr>
                      <m:t>𝑦</m:t>
                    </m:r>
                    <m:r>
                      <a:rPr lang="en-GB" sz="1600" b="0" i="1" smtClean="0">
                        <a:latin typeface="Cambria Math" panose="02040503050406030204" pitchFamily="18" charset="0"/>
                      </a:rPr>
                      <m:t>=50</m:t>
                    </m:r>
                  </m:oMath>
                </a14:m>
                <a:r>
                  <a:rPr lang="en-GB" sz="1600" dirty="0"/>
                  <a:t>?</a:t>
                </a:r>
              </a:p>
              <a:p>
                <a:r>
                  <a:rPr lang="en-GB" sz="1600" b="1" dirty="0"/>
                  <a:t>Gradient of </a:t>
                </a:r>
                <a14:m>
                  <m:oMath xmlns:m="http://schemas.openxmlformats.org/officeDocument/2006/math">
                    <m:r>
                      <a:rPr lang="en-GB" sz="1600" b="1" i="1" smtClean="0">
                        <a:latin typeface="Cambria Math" panose="02040503050406030204" pitchFamily="18" charset="0"/>
                      </a:rPr>
                      <m:t>𝟑</m:t>
                    </m:r>
                    <m:r>
                      <a:rPr lang="en-GB" sz="1600" b="1" i="1" smtClean="0">
                        <a:latin typeface="Cambria Math" panose="02040503050406030204" pitchFamily="18" charset="0"/>
                      </a:rPr>
                      <m:t>𝒙</m:t>
                    </m:r>
                    <m:r>
                      <a:rPr lang="en-GB" sz="1600" b="1" i="1" smtClean="0">
                        <a:latin typeface="Cambria Math" panose="02040503050406030204" pitchFamily="18" charset="0"/>
                      </a:rPr>
                      <m:t>+</m:t>
                    </m:r>
                    <m:r>
                      <a:rPr lang="en-GB" sz="1600" b="1" i="1" smtClean="0">
                        <a:latin typeface="Cambria Math" panose="02040503050406030204" pitchFamily="18" charset="0"/>
                      </a:rPr>
                      <m:t>𝟒</m:t>
                    </m:r>
                    <m:r>
                      <a:rPr lang="en-GB" sz="1600" b="1" i="1" smtClean="0">
                        <a:latin typeface="Cambria Math" panose="02040503050406030204" pitchFamily="18" charset="0"/>
                      </a:rPr>
                      <m:t>𝒚</m:t>
                    </m:r>
                    <m:r>
                      <a:rPr lang="en-GB" sz="1600" b="1" i="1" smtClean="0">
                        <a:latin typeface="Cambria Math" panose="02040503050406030204" pitchFamily="18" charset="0"/>
                      </a:rPr>
                      <m:t>=</m:t>
                    </m:r>
                    <m:r>
                      <a:rPr lang="en-GB" sz="1600" b="1" i="1" smtClean="0">
                        <a:latin typeface="Cambria Math" panose="02040503050406030204" pitchFamily="18" charset="0"/>
                      </a:rPr>
                      <m:t>𝟓𝟎</m:t>
                    </m:r>
                  </m:oMath>
                </a14:m>
                <a:r>
                  <a:rPr lang="en-GB" sz="1600" b="1" dirty="0"/>
                  <a:t> is </a:t>
                </a:r>
                <a14:m>
                  <m:oMath xmlns:m="http://schemas.openxmlformats.org/officeDocument/2006/math">
                    <m:r>
                      <a:rPr lang="en-GB" sz="1600" b="1" i="1" smtClean="0">
                        <a:latin typeface="Cambria Math" panose="02040503050406030204" pitchFamily="18" charset="0"/>
                      </a:rPr>
                      <m:t>−</m:t>
                    </m:r>
                    <m:f>
                      <m:fPr>
                        <m:ctrlPr>
                          <a:rPr lang="en-GB" sz="1600" b="1" i="1" smtClean="0">
                            <a:latin typeface="Cambria Math" panose="02040503050406030204" pitchFamily="18" charset="0"/>
                          </a:rPr>
                        </m:ctrlPr>
                      </m:fPr>
                      <m:num>
                        <m:r>
                          <a:rPr lang="en-GB" sz="1600" b="1" i="1" smtClean="0">
                            <a:latin typeface="Cambria Math" panose="02040503050406030204" pitchFamily="18" charset="0"/>
                          </a:rPr>
                          <m:t>𝟑</m:t>
                        </m:r>
                      </m:num>
                      <m:den>
                        <m:r>
                          <a:rPr lang="en-GB" sz="1600" b="1" i="1" smtClean="0">
                            <a:latin typeface="Cambria Math" panose="02040503050406030204" pitchFamily="18" charset="0"/>
                          </a:rPr>
                          <m:t>𝟒</m:t>
                        </m:r>
                      </m:den>
                    </m:f>
                  </m:oMath>
                </a14:m>
                <a:r>
                  <a:rPr lang="en-GB" sz="1600" b="1" dirty="0"/>
                  <a:t>.</a:t>
                </a:r>
              </a:p>
              <a:p>
                <a14:m>
                  <m:oMath xmlns:m="http://schemas.openxmlformats.org/officeDocument/2006/math">
                    <m:r>
                      <a:rPr lang="en-GB" sz="1600" b="1" i="1" smtClean="0">
                        <a:latin typeface="Cambria Math" panose="02040503050406030204" pitchFamily="18" charset="0"/>
                      </a:rPr>
                      <m:t>∴</m:t>
                    </m:r>
                  </m:oMath>
                </a14:m>
                <a:r>
                  <a:rPr lang="en-GB" sz="1600" b="1" dirty="0"/>
                  <a:t> Equation of line passing through </a:t>
                </a:r>
                <a14:m>
                  <m:oMath xmlns:m="http://schemas.openxmlformats.org/officeDocument/2006/math">
                    <m:r>
                      <a:rPr lang="en-GB" sz="1600" b="1" i="1" smtClean="0">
                        <a:latin typeface="Cambria Math" panose="02040503050406030204" pitchFamily="18" charset="0"/>
                      </a:rPr>
                      <m:t>(</m:t>
                    </m:r>
                    <m:r>
                      <a:rPr lang="en-GB" sz="1600" b="1" i="1" smtClean="0">
                        <a:latin typeface="Cambria Math" panose="02040503050406030204" pitchFamily="18" charset="0"/>
                      </a:rPr>
                      <m:t>𝟑</m:t>
                    </m:r>
                    <m:r>
                      <a:rPr lang="en-GB" sz="1600" b="1" i="1" smtClean="0">
                        <a:latin typeface="Cambria Math" panose="02040503050406030204" pitchFamily="18" charset="0"/>
                      </a:rPr>
                      <m:t>,</m:t>
                    </m:r>
                    <m:r>
                      <a:rPr lang="en-GB" sz="1600" b="1" i="1" smtClean="0">
                        <a:latin typeface="Cambria Math" panose="02040503050406030204" pitchFamily="18" charset="0"/>
                      </a:rPr>
                      <m:t>𝟒</m:t>
                    </m:r>
                    <m:r>
                      <a:rPr lang="en-GB" sz="1600" b="1" i="1" smtClean="0">
                        <a:latin typeface="Cambria Math" panose="02040503050406030204" pitchFamily="18" charset="0"/>
                      </a:rPr>
                      <m:t>)</m:t>
                    </m:r>
                  </m:oMath>
                </a14:m>
                <a:r>
                  <a:rPr lang="en-GB" sz="1600" b="1" dirty="0"/>
                  <a:t> perpendicular to </a:t>
                </a:r>
                <a:r>
                  <a:rPr lang="en-GB" sz="1600" b="1" dirty="0" err="1"/>
                  <a:t>ths</a:t>
                </a:r>
                <a:r>
                  <a:rPr lang="en-GB" sz="1600" b="1" dirty="0"/>
                  <a:t> line:</a:t>
                </a:r>
              </a:p>
              <a:p>
                <a:pPr/>
                <a14:m>
                  <m:oMathPara xmlns:m="http://schemas.openxmlformats.org/officeDocument/2006/math">
                    <m:oMathParaPr>
                      <m:jc m:val="centerGroup"/>
                    </m:oMathParaPr>
                    <m:oMath xmlns:m="http://schemas.openxmlformats.org/officeDocument/2006/math">
                      <m:r>
                        <a:rPr lang="en-GB" sz="1600" b="1" i="1" smtClean="0">
                          <a:latin typeface="Cambria Math" panose="02040503050406030204" pitchFamily="18" charset="0"/>
                        </a:rPr>
                        <m:t>𝒚</m:t>
                      </m:r>
                      <m:r>
                        <a:rPr lang="en-GB" sz="1600" b="1" i="1" smtClean="0">
                          <a:latin typeface="Cambria Math" panose="02040503050406030204" pitchFamily="18" charset="0"/>
                        </a:rPr>
                        <m:t>−</m:t>
                      </m:r>
                      <m:r>
                        <a:rPr lang="en-GB" sz="1600" b="1" i="1" smtClean="0">
                          <a:latin typeface="Cambria Math" panose="02040503050406030204" pitchFamily="18" charset="0"/>
                        </a:rPr>
                        <m:t>𝟒</m:t>
                      </m:r>
                      <m:r>
                        <a:rPr lang="en-GB" sz="1600" b="1" i="1" smtClean="0">
                          <a:latin typeface="Cambria Math" panose="02040503050406030204" pitchFamily="18" charset="0"/>
                        </a:rPr>
                        <m:t>=</m:t>
                      </m:r>
                      <m:f>
                        <m:fPr>
                          <m:ctrlPr>
                            <a:rPr lang="en-GB" sz="1600" b="1" i="1" smtClean="0">
                              <a:latin typeface="Cambria Math" panose="02040503050406030204" pitchFamily="18" charset="0"/>
                            </a:rPr>
                          </m:ctrlPr>
                        </m:fPr>
                        <m:num>
                          <m:r>
                            <a:rPr lang="en-GB" sz="1600" b="1" i="1" smtClean="0">
                              <a:latin typeface="Cambria Math" panose="02040503050406030204" pitchFamily="18" charset="0"/>
                            </a:rPr>
                            <m:t>𝟒</m:t>
                          </m:r>
                        </m:num>
                        <m:den>
                          <m:r>
                            <a:rPr lang="en-GB" sz="1600" b="1" i="1" smtClean="0">
                              <a:latin typeface="Cambria Math" panose="02040503050406030204" pitchFamily="18" charset="0"/>
                            </a:rPr>
                            <m:t>𝟑</m:t>
                          </m:r>
                        </m:den>
                      </m:f>
                      <m:d>
                        <m:dPr>
                          <m:ctrlPr>
                            <a:rPr lang="en-GB" sz="1600" b="1" i="1" smtClean="0">
                              <a:latin typeface="Cambria Math" panose="02040503050406030204" pitchFamily="18" charset="0"/>
                            </a:rPr>
                          </m:ctrlPr>
                        </m:dPr>
                        <m:e>
                          <m:r>
                            <a:rPr lang="en-GB" sz="1600" b="1" i="1" smtClean="0">
                              <a:latin typeface="Cambria Math" panose="02040503050406030204" pitchFamily="18" charset="0"/>
                            </a:rPr>
                            <m:t>𝒙</m:t>
                          </m:r>
                          <m:r>
                            <a:rPr lang="en-GB" sz="1600" b="1" i="1" smtClean="0">
                              <a:latin typeface="Cambria Math" panose="02040503050406030204" pitchFamily="18" charset="0"/>
                            </a:rPr>
                            <m:t>−</m:t>
                          </m:r>
                          <m:r>
                            <a:rPr lang="en-GB" sz="1600" b="1" i="1" smtClean="0">
                              <a:latin typeface="Cambria Math" panose="02040503050406030204" pitchFamily="18" charset="0"/>
                            </a:rPr>
                            <m:t>𝟑</m:t>
                          </m:r>
                        </m:e>
                      </m:d>
                    </m:oMath>
                  </m:oMathPara>
                </a14:m>
                <a:endParaRPr lang="en-GB" sz="1600" b="1" dirty="0"/>
              </a:p>
              <a:p>
                <a:r>
                  <a:rPr lang="en-GB" sz="1600" b="1" dirty="0"/>
                  <a:t>Find intersection of two lines to get closest point of </a:t>
                </a:r>
                <a14:m>
                  <m:oMath xmlns:m="http://schemas.openxmlformats.org/officeDocument/2006/math">
                    <m:d>
                      <m:dPr>
                        <m:ctrlPr>
                          <a:rPr lang="en-GB" sz="1600" b="1" i="1" smtClean="0">
                            <a:latin typeface="Cambria Math" panose="02040503050406030204" pitchFamily="18" charset="0"/>
                          </a:rPr>
                        </m:ctrlPr>
                      </m:dPr>
                      <m:e>
                        <m:r>
                          <a:rPr lang="en-GB" sz="1600" b="1" i="1" smtClean="0">
                            <a:latin typeface="Cambria Math" panose="02040503050406030204" pitchFamily="18" charset="0"/>
                          </a:rPr>
                          <m:t>𝟑</m:t>
                        </m:r>
                        <m:r>
                          <a:rPr lang="en-GB" sz="1600" b="1" i="1" smtClean="0">
                            <a:latin typeface="Cambria Math" panose="02040503050406030204" pitchFamily="18" charset="0"/>
                          </a:rPr>
                          <m:t>,</m:t>
                        </m:r>
                        <m:r>
                          <a:rPr lang="en-GB" sz="1600" b="1" i="1" smtClean="0">
                            <a:latin typeface="Cambria Math" panose="02040503050406030204" pitchFamily="18" charset="0"/>
                          </a:rPr>
                          <m:t>𝟒</m:t>
                        </m:r>
                      </m:e>
                    </m:d>
                  </m:oMath>
                </a14:m>
                <a:r>
                  <a:rPr lang="en-GB" sz="1600" b="1" dirty="0"/>
                  <a:t> to original line:</a:t>
                </a:r>
              </a:p>
              <a:p>
                <a:pPr/>
                <a14:m>
                  <m:oMathPara xmlns:m="http://schemas.openxmlformats.org/officeDocument/2006/math">
                    <m:oMathParaPr>
                      <m:jc m:val="centerGroup"/>
                    </m:oMathParaPr>
                    <m:oMath xmlns:m="http://schemas.openxmlformats.org/officeDocument/2006/math">
                      <m:d>
                        <m:dPr>
                          <m:ctrlPr>
                            <a:rPr lang="en-GB" sz="1600" b="1" i="1" smtClean="0">
                              <a:latin typeface="Cambria Math" panose="02040503050406030204" pitchFamily="18" charset="0"/>
                            </a:rPr>
                          </m:ctrlPr>
                        </m:dPr>
                        <m:e>
                          <m:r>
                            <a:rPr lang="en-GB" sz="1600" b="1" i="1" smtClean="0">
                              <a:latin typeface="Cambria Math" panose="02040503050406030204" pitchFamily="18" charset="0"/>
                            </a:rPr>
                            <m:t>𝟔</m:t>
                          </m:r>
                          <m:r>
                            <a:rPr lang="en-GB" sz="1600" b="1" i="1" smtClean="0">
                              <a:latin typeface="Cambria Math" panose="02040503050406030204" pitchFamily="18" charset="0"/>
                            </a:rPr>
                            <m:t>,</m:t>
                          </m:r>
                          <m:r>
                            <a:rPr lang="en-GB" sz="1600" b="1" i="1" smtClean="0">
                              <a:latin typeface="Cambria Math" panose="02040503050406030204" pitchFamily="18" charset="0"/>
                            </a:rPr>
                            <m:t>𝟖</m:t>
                          </m:r>
                        </m:e>
                      </m:d>
                    </m:oMath>
                  </m:oMathPara>
                </a14:m>
                <a:endParaRPr lang="en-GB" sz="1600" b="1" dirty="0"/>
              </a:p>
              <a:p>
                <a:r>
                  <a:rPr lang="en-GB" sz="1600" b="1" dirty="0"/>
                  <a:t>Thus reflected point is </a:t>
                </a:r>
                <a14:m>
                  <m:oMath xmlns:m="http://schemas.openxmlformats.org/officeDocument/2006/math">
                    <m:d>
                      <m:dPr>
                        <m:ctrlPr>
                          <a:rPr lang="en-GB" sz="1600" b="1" i="1" smtClean="0">
                            <a:latin typeface="Cambria Math" panose="02040503050406030204" pitchFamily="18" charset="0"/>
                          </a:rPr>
                        </m:ctrlPr>
                      </m:dPr>
                      <m:e>
                        <m:r>
                          <a:rPr lang="en-GB" sz="1600" b="1" i="1" smtClean="0">
                            <a:latin typeface="Cambria Math" panose="02040503050406030204" pitchFamily="18" charset="0"/>
                          </a:rPr>
                          <m:t>𝟗</m:t>
                        </m:r>
                        <m:r>
                          <a:rPr lang="en-GB" sz="1600" b="1" i="1" smtClean="0">
                            <a:latin typeface="Cambria Math" panose="02040503050406030204" pitchFamily="18" charset="0"/>
                          </a:rPr>
                          <m:t>,</m:t>
                        </m:r>
                        <m:r>
                          <a:rPr lang="en-GB" sz="1600" b="1" i="1" smtClean="0">
                            <a:latin typeface="Cambria Math" panose="02040503050406030204" pitchFamily="18" charset="0"/>
                          </a:rPr>
                          <m:t>𝟏𝟐</m:t>
                        </m:r>
                      </m:e>
                    </m:d>
                  </m:oMath>
                </a14:m>
                <a:endParaRPr lang="en-GB" b="1" dirty="0"/>
              </a:p>
            </p:txBody>
          </p:sp>
        </mc:Choice>
        <mc:Fallback xmlns="">
          <p:sp>
            <p:nvSpPr>
              <p:cNvPr id="8" name="TextBox 7"/>
              <p:cNvSpPr txBox="1">
                <a:spLocks noRot="1" noChangeAspect="1" noMove="1" noResize="1" noEditPoints="1" noAdjustHandles="1" noChangeArrowheads="1" noChangeShapeType="1" noTextEdit="1"/>
              </p:cNvSpPr>
              <p:nvPr/>
            </p:nvSpPr>
            <p:spPr>
              <a:xfrm>
                <a:off x="381021" y="2141021"/>
                <a:ext cx="3362843" cy="3370731"/>
              </a:xfrm>
              <a:prstGeom prst="rect">
                <a:avLst/>
              </a:prstGeom>
              <a:blipFill>
                <a:blip r:embed="rId2"/>
                <a:stretch>
                  <a:fillRect l="-1089" t="-542" b="-1447"/>
                </a:stretch>
              </a:blipFill>
            </p:spPr>
            <p:txBody>
              <a:bodyPr/>
              <a:lstStyle/>
              <a:p>
                <a:r>
                  <a:rPr lang="en-GB">
                    <a:noFill/>
                  </a:rPr>
                  <a:t> </a:t>
                </a:r>
              </a:p>
            </p:txBody>
          </p:sp>
        </mc:Fallback>
      </mc:AlternateContent>
      <p:cxnSp>
        <p:nvCxnSpPr>
          <p:cNvPr id="10" name="Straight Connector 9"/>
          <p:cNvCxnSpPr/>
          <p:nvPr/>
        </p:nvCxnSpPr>
        <p:spPr>
          <a:xfrm>
            <a:off x="899592" y="5567023"/>
            <a:ext cx="1512168" cy="1290977"/>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rot="2574543">
                <a:off x="1226096" y="6209974"/>
                <a:ext cx="1807390"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3</m:t>
                      </m:r>
                      <m:r>
                        <a:rPr lang="en-GB" sz="1400" b="0" i="1" smtClean="0">
                          <a:latin typeface="Cambria Math" panose="02040503050406030204" pitchFamily="18" charset="0"/>
                        </a:rPr>
                        <m:t>𝑥</m:t>
                      </m:r>
                      <m:r>
                        <a:rPr lang="en-GB" sz="1400" b="0" i="1" smtClean="0">
                          <a:latin typeface="Cambria Math" panose="02040503050406030204" pitchFamily="18" charset="0"/>
                        </a:rPr>
                        <m:t>+4</m:t>
                      </m:r>
                      <m:r>
                        <a:rPr lang="en-GB" sz="1400" b="0" i="1" smtClean="0">
                          <a:latin typeface="Cambria Math" panose="02040503050406030204" pitchFamily="18" charset="0"/>
                        </a:rPr>
                        <m:t>𝑦</m:t>
                      </m:r>
                      <m:r>
                        <a:rPr lang="en-GB" sz="1400" b="0" i="1" smtClean="0">
                          <a:latin typeface="Cambria Math" panose="02040503050406030204" pitchFamily="18" charset="0"/>
                        </a:rPr>
                        <m:t>=50 </m:t>
                      </m:r>
                    </m:oMath>
                  </m:oMathPara>
                </a14:m>
                <a:endParaRPr lang="en-GB" sz="1400" dirty="0"/>
              </a:p>
            </p:txBody>
          </p:sp>
        </mc:Choice>
        <mc:Fallback xmlns="">
          <p:sp>
            <p:nvSpPr>
              <p:cNvPr id="11" name="TextBox 10"/>
              <p:cNvSpPr txBox="1">
                <a:spLocks noRot="1" noChangeAspect="1" noMove="1" noResize="1" noEditPoints="1" noAdjustHandles="1" noChangeArrowheads="1" noChangeShapeType="1" noTextEdit="1"/>
              </p:cNvSpPr>
              <p:nvPr/>
            </p:nvSpPr>
            <p:spPr>
              <a:xfrm rot="2574543">
                <a:off x="1226096" y="6209974"/>
                <a:ext cx="1807390" cy="307777"/>
              </a:xfrm>
              <a:prstGeom prst="rect">
                <a:avLst/>
              </a:prstGeom>
              <a:blipFill>
                <a:blip r:embed="rId3"/>
                <a:stretch>
                  <a:fillRect/>
                </a:stretch>
              </a:blipFill>
            </p:spPr>
            <p:txBody>
              <a:bodyPr/>
              <a:lstStyle/>
              <a:p>
                <a:r>
                  <a:rPr lang="en-GB">
                    <a:noFill/>
                  </a:rPr>
                  <a:t> </a:t>
                </a:r>
              </a:p>
            </p:txBody>
          </p:sp>
        </mc:Fallback>
      </mc:AlternateContent>
      <p:sp>
        <p:nvSpPr>
          <p:cNvPr id="12" name="Oval 11"/>
          <p:cNvSpPr/>
          <p:nvPr/>
        </p:nvSpPr>
        <p:spPr>
          <a:xfrm>
            <a:off x="1280569" y="5905500"/>
            <a:ext cx="129131" cy="1221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p:cNvSpPr/>
          <p:nvPr/>
        </p:nvSpPr>
        <p:spPr>
          <a:xfrm>
            <a:off x="974702" y="6241724"/>
            <a:ext cx="129131" cy="1221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p:cNvSpPr/>
          <p:nvPr/>
        </p:nvSpPr>
        <p:spPr>
          <a:xfrm>
            <a:off x="1591110" y="5556647"/>
            <a:ext cx="129131" cy="1221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p:cNvCxnSpPr/>
          <p:nvPr/>
        </p:nvCxnSpPr>
        <p:spPr>
          <a:xfrm flipV="1">
            <a:off x="1047750" y="5600700"/>
            <a:ext cx="622300" cy="704850"/>
          </a:xfrm>
          <a:prstGeom prst="line">
            <a:avLst/>
          </a:prstGeom>
          <a:ln>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560760" y="6302793"/>
                <a:ext cx="52509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sz="1200" b="0" i="1" smtClean="0">
                              <a:latin typeface="Cambria Math" panose="02040503050406030204" pitchFamily="18" charset="0"/>
                            </a:rPr>
                          </m:ctrlPr>
                        </m:dPr>
                        <m:e>
                          <m:r>
                            <a:rPr lang="en-GB" sz="1200" b="0" i="1" smtClean="0">
                              <a:latin typeface="Cambria Math" panose="02040503050406030204" pitchFamily="18" charset="0"/>
                            </a:rPr>
                            <m:t>3,4</m:t>
                          </m:r>
                        </m:e>
                      </m:d>
                    </m:oMath>
                  </m:oMathPara>
                </a14:m>
                <a:endParaRPr lang="en-GB" dirty="0"/>
              </a:p>
            </p:txBody>
          </p:sp>
        </mc:Choice>
        <mc:Fallback xmlns="">
          <p:sp>
            <p:nvSpPr>
              <p:cNvPr id="18" name="TextBox 17"/>
              <p:cNvSpPr txBox="1">
                <a:spLocks noRot="1" noChangeAspect="1" noMove="1" noResize="1" noEditPoints="1" noAdjustHandles="1" noChangeArrowheads="1" noChangeShapeType="1" noTextEdit="1"/>
              </p:cNvSpPr>
              <p:nvPr/>
            </p:nvSpPr>
            <p:spPr>
              <a:xfrm>
                <a:off x="560760" y="6302793"/>
                <a:ext cx="525090" cy="276999"/>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820044" y="5825016"/>
                <a:ext cx="52509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sz="1200" b="0" i="1" smtClean="0">
                              <a:latin typeface="Cambria Math" panose="02040503050406030204" pitchFamily="18" charset="0"/>
                            </a:rPr>
                          </m:ctrlPr>
                        </m:dPr>
                        <m:e>
                          <m:r>
                            <a:rPr lang="en-GB" sz="1200" b="0" i="1" smtClean="0">
                              <a:latin typeface="Cambria Math" panose="02040503050406030204" pitchFamily="18" charset="0"/>
                            </a:rPr>
                            <m:t>6,8</m:t>
                          </m:r>
                        </m:e>
                      </m:d>
                    </m:oMath>
                  </m:oMathPara>
                </a14:m>
                <a:endParaRPr lang="en-GB" dirty="0"/>
              </a:p>
            </p:txBody>
          </p:sp>
        </mc:Choice>
        <mc:Fallback xmlns="">
          <p:sp>
            <p:nvSpPr>
              <p:cNvPr id="19" name="TextBox 18"/>
              <p:cNvSpPr txBox="1">
                <a:spLocks noRot="1" noChangeAspect="1" noMove="1" noResize="1" noEditPoints="1" noAdjustHandles="1" noChangeArrowheads="1" noChangeShapeType="1" noTextEdit="1"/>
              </p:cNvSpPr>
              <p:nvPr/>
            </p:nvSpPr>
            <p:spPr>
              <a:xfrm>
                <a:off x="820044" y="5825016"/>
                <a:ext cx="525090" cy="27699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3875405" y="1795152"/>
                <a:ext cx="4854612" cy="1558375"/>
              </a:xfrm>
              <a:prstGeom prst="rect">
                <a:avLst/>
              </a:prstGeom>
              <a:noFill/>
            </p:spPr>
            <p:txBody>
              <a:bodyPr wrap="square" rtlCol="0">
                <a:spAutoFit/>
              </a:bodyPr>
              <a:lstStyle/>
              <a:p>
                <a:r>
                  <a:rPr lang="en-GB" i="1" dirty="0"/>
                  <a:t>[MAT 2014 1D] </a:t>
                </a:r>
                <a:r>
                  <a:rPr lang="en-GB" dirty="0"/>
                  <a:t>The reflection of the point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1,0</m:t>
                        </m:r>
                      </m:e>
                    </m:d>
                  </m:oMath>
                </a14:m>
                <a:r>
                  <a:rPr lang="en-GB" dirty="0"/>
                  <a:t> in the line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𝑚𝑥</m:t>
                    </m:r>
                  </m:oMath>
                </a14:m>
                <a:r>
                  <a:rPr lang="en-GB" dirty="0"/>
                  <a:t> has coordinates: (in terms of </a:t>
                </a:r>
                <a14:m>
                  <m:oMath xmlns:m="http://schemas.openxmlformats.org/officeDocument/2006/math">
                    <m:r>
                      <a:rPr lang="en-GB" b="0" i="1" smtClean="0">
                        <a:latin typeface="Cambria Math" panose="02040503050406030204" pitchFamily="18" charset="0"/>
                      </a:rPr>
                      <m:t>𝑚</m:t>
                    </m:r>
                  </m:oMath>
                </a14:m>
                <a:r>
                  <a:rPr lang="en-GB" dirty="0"/>
                  <a:t>)</a:t>
                </a:r>
              </a:p>
              <a:p>
                <a:r>
                  <a:rPr lang="en-GB" b="1" dirty="0"/>
                  <a:t>Using a similar method:</a:t>
                </a:r>
              </a:p>
              <a:p>
                <a:pPr/>
                <a14:m>
                  <m:oMathPara xmlns:m="http://schemas.openxmlformats.org/officeDocument/2006/math">
                    <m:oMathParaPr>
                      <m:jc m:val="centerGroup"/>
                    </m:oMathParaPr>
                    <m:oMath xmlns:m="http://schemas.openxmlformats.org/officeDocument/2006/math">
                      <m:d>
                        <m:dPr>
                          <m:ctrlPr>
                            <a:rPr lang="en-GB" b="1" i="1">
                              <a:latin typeface="Cambria Math" panose="02040503050406030204" pitchFamily="18" charset="0"/>
                            </a:rPr>
                          </m:ctrlPr>
                        </m:dPr>
                        <m:e>
                          <m:f>
                            <m:fPr>
                              <m:ctrlPr>
                                <a:rPr lang="en-GB" b="1" i="1">
                                  <a:latin typeface="Cambria Math" panose="02040503050406030204" pitchFamily="18" charset="0"/>
                                </a:rPr>
                              </m:ctrlPr>
                            </m:fPr>
                            <m:num>
                              <m:r>
                                <a:rPr lang="en-GB" b="1" i="1">
                                  <a:latin typeface="Cambria Math" panose="02040503050406030204" pitchFamily="18" charset="0"/>
                                </a:rPr>
                                <m:t>𝟏</m:t>
                              </m:r>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𝒎</m:t>
                                  </m:r>
                                </m:e>
                                <m:sup>
                                  <m:r>
                                    <a:rPr lang="en-GB" b="1" i="1">
                                      <a:latin typeface="Cambria Math" panose="02040503050406030204" pitchFamily="18" charset="0"/>
                                    </a:rPr>
                                    <m:t>𝟐</m:t>
                                  </m:r>
                                </m:sup>
                              </m:sSup>
                            </m:num>
                            <m:den>
                              <m:r>
                                <a:rPr lang="en-GB" b="1" i="1">
                                  <a:latin typeface="Cambria Math" panose="02040503050406030204" pitchFamily="18" charset="0"/>
                                </a:rPr>
                                <m:t>𝟏</m:t>
                              </m:r>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𝒎</m:t>
                                  </m:r>
                                </m:e>
                                <m:sup>
                                  <m:r>
                                    <a:rPr lang="en-GB" b="1" i="1">
                                      <a:latin typeface="Cambria Math" panose="02040503050406030204" pitchFamily="18" charset="0"/>
                                    </a:rPr>
                                    <m:t>𝟐</m:t>
                                  </m:r>
                                </m:sup>
                              </m:sSup>
                            </m:den>
                          </m:f>
                          <m:r>
                            <a:rPr lang="en-GB" b="1" i="1">
                              <a:latin typeface="Cambria Math" panose="02040503050406030204" pitchFamily="18" charset="0"/>
                            </a:rPr>
                            <m:t>,</m:t>
                          </m:r>
                          <m:f>
                            <m:fPr>
                              <m:ctrlPr>
                                <a:rPr lang="en-GB" b="1" i="1">
                                  <a:latin typeface="Cambria Math" panose="02040503050406030204" pitchFamily="18" charset="0"/>
                                </a:rPr>
                              </m:ctrlPr>
                            </m:fPr>
                            <m:num>
                              <m:r>
                                <a:rPr lang="en-GB" b="1" i="1">
                                  <a:latin typeface="Cambria Math" panose="02040503050406030204" pitchFamily="18" charset="0"/>
                                </a:rPr>
                                <m:t>𝟐</m:t>
                              </m:r>
                              <m:r>
                                <a:rPr lang="en-GB" b="1" i="1">
                                  <a:latin typeface="Cambria Math" panose="02040503050406030204" pitchFamily="18" charset="0"/>
                                </a:rPr>
                                <m:t>𝒎</m:t>
                              </m:r>
                            </m:num>
                            <m:den>
                              <m:r>
                                <a:rPr lang="en-GB" b="1" i="1">
                                  <a:latin typeface="Cambria Math" panose="02040503050406030204" pitchFamily="18" charset="0"/>
                                </a:rPr>
                                <m:t>𝟏</m:t>
                              </m:r>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𝒎</m:t>
                                  </m:r>
                                </m:e>
                                <m:sup>
                                  <m:r>
                                    <a:rPr lang="en-GB" b="1" i="1">
                                      <a:latin typeface="Cambria Math" panose="02040503050406030204" pitchFamily="18" charset="0"/>
                                    </a:rPr>
                                    <m:t>𝟐</m:t>
                                  </m:r>
                                </m:sup>
                              </m:sSup>
                            </m:den>
                          </m:f>
                        </m:e>
                      </m:d>
                    </m:oMath>
                  </m:oMathPara>
                </a14:m>
                <a:endParaRPr lang="en-GB" b="1" dirty="0"/>
              </a:p>
            </p:txBody>
          </p:sp>
        </mc:Choice>
        <mc:Fallback xmlns="">
          <p:sp>
            <p:nvSpPr>
              <p:cNvPr id="20" name="TextBox 19"/>
              <p:cNvSpPr txBox="1">
                <a:spLocks noRot="1" noChangeAspect="1" noMove="1" noResize="1" noEditPoints="1" noAdjustHandles="1" noChangeArrowheads="1" noChangeShapeType="1" noTextEdit="1"/>
              </p:cNvSpPr>
              <p:nvPr/>
            </p:nvSpPr>
            <p:spPr>
              <a:xfrm>
                <a:off x="3875405" y="1795152"/>
                <a:ext cx="4854612" cy="1558375"/>
              </a:xfrm>
              <a:prstGeom prst="rect">
                <a:avLst/>
              </a:prstGeom>
              <a:blipFill>
                <a:blip r:embed="rId6"/>
                <a:stretch>
                  <a:fillRect l="-1131" t="-1953" r="-16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3830129" y="3597425"/>
                <a:ext cx="5312728" cy="3236463"/>
              </a:xfrm>
              <a:prstGeom prst="rect">
                <a:avLst/>
              </a:prstGeom>
              <a:noFill/>
            </p:spPr>
            <p:txBody>
              <a:bodyPr wrap="square" rtlCol="0">
                <a:spAutoFit/>
              </a:bodyPr>
              <a:lstStyle/>
              <a:p>
                <a:r>
                  <a:rPr lang="en-GB" sz="1700" i="1" dirty="0"/>
                  <a:t>[STEP I 2004 Q6] </a:t>
                </a:r>
                <a:r>
                  <a:rPr lang="en-GB" sz="1700" dirty="0"/>
                  <a:t>The three points </a:t>
                </a:r>
                <a14:m>
                  <m:oMath xmlns:m="http://schemas.openxmlformats.org/officeDocument/2006/math">
                    <m:r>
                      <a:rPr lang="en-GB" sz="1700" b="0" i="1" smtClean="0">
                        <a:latin typeface="Cambria Math" panose="02040503050406030204" pitchFamily="18" charset="0"/>
                      </a:rPr>
                      <m:t>𝐴</m:t>
                    </m:r>
                    <m:r>
                      <a:rPr lang="en-GB" sz="1700" b="0" i="1" smtClean="0">
                        <a:latin typeface="Cambria Math" panose="02040503050406030204" pitchFamily="18" charset="0"/>
                      </a:rPr>
                      <m:t>,</m:t>
                    </m:r>
                    <m:r>
                      <a:rPr lang="en-GB" sz="1700" b="0" i="1" smtClean="0">
                        <a:latin typeface="Cambria Math" panose="02040503050406030204" pitchFamily="18" charset="0"/>
                      </a:rPr>
                      <m:t>𝐵</m:t>
                    </m:r>
                    <m:r>
                      <a:rPr lang="en-GB" sz="1700" b="0" i="1" smtClean="0">
                        <a:latin typeface="Cambria Math" panose="02040503050406030204" pitchFamily="18" charset="0"/>
                      </a:rPr>
                      <m:t>,</m:t>
                    </m:r>
                    <m:r>
                      <a:rPr lang="en-GB" sz="1700" b="0" i="1" smtClean="0">
                        <a:latin typeface="Cambria Math" panose="02040503050406030204" pitchFamily="18" charset="0"/>
                      </a:rPr>
                      <m:t>𝐶</m:t>
                    </m:r>
                  </m:oMath>
                </a14:m>
                <a:r>
                  <a:rPr lang="en-GB" sz="1700" dirty="0"/>
                  <a:t> have coordinates </a:t>
                </a:r>
                <a14:m>
                  <m:oMath xmlns:m="http://schemas.openxmlformats.org/officeDocument/2006/math">
                    <m:d>
                      <m:dPr>
                        <m:ctrlPr>
                          <a:rPr lang="en-GB" sz="1700" i="1" smtClean="0">
                            <a:latin typeface="Cambria Math" panose="02040503050406030204" pitchFamily="18" charset="0"/>
                          </a:rPr>
                        </m:ctrlPr>
                      </m:dPr>
                      <m:e>
                        <m:sSub>
                          <m:sSubPr>
                            <m:ctrlPr>
                              <a:rPr lang="en-GB" sz="1700" i="1" smtClean="0">
                                <a:latin typeface="Cambria Math" panose="02040503050406030204" pitchFamily="18" charset="0"/>
                              </a:rPr>
                            </m:ctrlPr>
                          </m:sSubPr>
                          <m:e>
                            <m:r>
                              <a:rPr lang="en-GB" sz="1700" b="0" i="1" smtClean="0">
                                <a:latin typeface="Cambria Math" panose="02040503050406030204" pitchFamily="18" charset="0"/>
                              </a:rPr>
                              <m:t>𝑝</m:t>
                            </m:r>
                          </m:e>
                          <m:sub>
                            <m:r>
                              <a:rPr lang="en-GB" sz="1700" b="0" i="1" smtClean="0">
                                <a:latin typeface="Cambria Math" panose="02040503050406030204" pitchFamily="18" charset="0"/>
                              </a:rPr>
                              <m:t>1</m:t>
                            </m:r>
                          </m:sub>
                        </m:sSub>
                        <m:r>
                          <a:rPr lang="en-GB" sz="1700" b="0" i="1" smtClean="0">
                            <a:latin typeface="Cambria Math" panose="02040503050406030204" pitchFamily="18" charset="0"/>
                          </a:rPr>
                          <m:t>,</m:t>
                        </m:r>
                        <m:sSub>
                          <m:sSubPr>
                            <m:ctrlPr>
                              <a:rPr lang="en-GB" sz="1700" i="1" smtClean="0">
                                <a:latin typeface="Cambria Math" panose="02040503050406030204" pitchFamily="18" charset="0"/>
                              </a:rPr>
                            </m:ctrlPr>
                          </m:sSubPr>
                          <m:e>
                            <m:r>
                              <a:rPr lang="en-GB" sz="1700" b="0" i="1" smtClean="0">
                                <a:latin typeface="Cambria Math" panose="02040503050406030204" pitchFamily="18" charset="0"/>
                              </a:rPr>
                              <m:t>𝑞</m:t>
                            </m:r>
                          </m:e>
                          <m:sub>
                            <m:r>
                              <a:rPr lang="en-GB" sz="1700" b="0" i="1" smtClean="0">
                                <a:latin typeface="Cambria Math" panose="02040503050406030204" pitchFamily="18" charset="0"/>
                              </a:rPr>
                              <m:t>1</m:t>
                            </m:r>
                          </m:sub>
                        </m:sSub>
                      </m:e>
                    </m:d>
                    <m:r>
                      <a:rPr lang="en-GB" sz="1700" b="0" i="1" smtClean="0">
                        <a:latin typeface="Cambria Math" panose="02040503050406030204" pitchFamily="18" charset="0"/>
                      </a:rPr>
                      <m:t>,</m:t>
                    </m:r>
                    <m:d>
                      <m:dPr>
                        <m:ctrlPr>
                          <a:rPr lang="en-GB" sz="1700" i="1" smtClean="0">
                            <a:latin typeface="Cambria Math" panose="02040503050406030204" pitchFamily="18" charset="0"/>
                          </a:rPr>
                        </m:ctrlPr>
                      </m:dPr>
                      <m:e>
                        <m:sSub>
                          <m:sSubPr>
                            <m:ctrlPr>
                              <a:rPr lang="en-GB" sz="1700" i="1" smtClean="0">
                                <a:latin typeface="Cambria Math" panose="02040503050406030204" pitchFamily="18" charset="0"/>
                              </a:rPr>
                            </m:ctrlPr>
                          </m:sSubPr>
                          <m:e>
                            <m:r>
                              <a:rPr lang="en-GB" sz="1700" b="0" i="1" smtClean="0">
                                <a:latin typeface="Cambria Math" panose="02040503050406030204" pitchFamily="18" charset="0"/>
                              </a:rPr>
                              <m:t>𝑝</m:t>
                            </m:r>
                          </m:e>
                          <m:sub>
                            <m:r>
                              <a:rPr lang="en-GB" sz="1700" b="0" i="1" smtClean="0">
                                <a:latin typeface="Cambria Math" panose="02040503050406030204" pitchFamily="18" charset="0"/>
                              </a:rPr>
                              <m:t>2</m:t>
                            </m:r>
                          </m:sub>
                        </m:sSub>
                        <m:r>
                          <a:rPr lang="en-GB" sz="1700" b="0" i="1" smtClean="0">
                            <a:latin typeface="Cambria Math" panose="02040503050406030204" pitchFamily="18" charset="0"/>
                          </a:rPr>
                          <m:t>,</m:t>
                        </m:r>
                        <m:sSub>
                          <m:sSubPr>
                            <m:ctrlPr>
                              <a:rPr lang="en-GB" sz="1700" i="1" smtClean="0">
                                <a:latin typeface="Cambria Math" panose="02040503050406030204" pitchFamily="18" charset="0"/>
                              </a:rPr>
                            </m:ctrlPr>
                          </m:sSubPr>
                          <m:e>
                            <m:r>
                              <a:rPr lang="en-GB" sz="1700" b="0" i="1" smtClean="0">
                                <a:latin typeface="Cambria Math" panose="02040503050406030204" pitchFamily="18" charset="0"/>
                              </a:rPr>
                              <m:t>𝑞</m:t>
                            </m:r>
                          </m:e>
                          <m:sub>
                            <m:r>
                              <a:rPr lang="en-GB" sz="1700" b="0" i="1" smtClean="0">
                                <a:latin typeface="Cambria Math" panose="02040503050406030204" pitchFamily="18" charset="0"/>
                              </a:rPr>
                              <m:t>2</m:t>
                            </m:r>
                          </m:sub>
                        </m:sSub>
                      </m:e>
                    </m:d>
                  </m:oMath>
                </a14:m>
                <a:r>
                  <a:rPr lang="en-GB" sz="1700" dirty="0"/>
                  <a:t> and </a:t>
                </a:r>
                <a14:m>
                  <m:oMath xmlns:m="http://schemas.openxmlformats.org/officeDocument/2006/math">
                    <m:d>
                      <m:dPr>
                        <m:ctrlPr>
                          <a:rPr lang="en-GB" sz="1700" i="1" smtClean="0">
                            <a:latin typeface="Cambria Math" panose="02040503050406030204" pitchFamily="18" charset="0"/>
                          </a:rPr>
                        </m:ctrlPr>
                      </m:dPr>
                      <m:e>
                        <m:sSub>
                          <m:sSubPr>
                            <m:ctrlPr>
                              <a:rPr lang="en-GB" sz="1700" i="1" smtClean="0">
                                <a:latin typeface="Cambria Math" panose="02040503050406030204" pitchFamily="18" charset="0"/>
                              </a:rPr>
                            </m:ctrlPr>
                          </m:sSubPr>
                          <m:e>
                            <m:r>
                              <a:rPr lang="en-GB" sz="1700" b="0" i="1" smtClean="0">
                                <a:latin typeface="Cambria Math" panose="02040503050406030204" pitchFamily="18" charset="0"/>
                              </a:rPr>
                              <m:t>𝑝</m:t>
                            </m:r>
                          </m:e>
                          <m:sub>
                            <m:r>
                              <a:rPr lang="en-GB" sz="1700" b="0" i="1" smtClean="0">
                                <a:latin typeface="Cambria Math" panose="02040503050406030204" pitchFamily="18" charset="0"/>
                              </a:rPr>
                              <m:t>3</m:t>
                            </m:r>
                          </m:sub>
                        </m:sSub>
                        <m:r>
                          <a:rPr lang="en-GB" sz="1700" b="0" i="1" smtClean="0">
                            <a:latin typeface="Cambria Math" panose="02040503050406030204" pitchFamily="18" charset="0"/>
                          </a:rPr>
                          <m:t>,</m:t>
                        </m:r>
                        <m:sSub>
                          <m:sSubPr>
                            <m:ctrlPr>
                              <a:rPr lang="en-GB" sz="1700" i="1" smtClean="0">
                                <a:latin typeface="Cambria Math" panose="02040503050406030204" pitchFamily="18" charset="0"/>
                              </a:rPr>
                            </m:ctrlPr>
                          </m:sSubPr>
                          <m:e>
                            <m:r>
                              <a:rPr lang="en-GB" sz="1700" b="0" i="1" smtClean="0">
                                <a:latin typeface="Cambria Math" panose="02040503050406030204" pitchFamily="18" charset="0"/>
                              </a:rPr>
                              <m:t>𝑞</m:t>
                            </m:r>
                          </m:e>
                          <m:sub>
                            <m:r>
                              <a:rPr lang="en-GB" sz="1700" b="0" i="1" smtClean="0">
                                <a:latin typeface="Cambria Math" panose="02040503050406030204" pitchFamily="18" charset="0"/>
                              </a:rPr>
                              <m:t>3</m:t>
                            </m:r>
                          </m:sub>
                        </m:sSub>
                      </m:e>
                    </m:d>
                  </m:oMath>
                </a14:m>
                <a:r>
                  <a:rPr lang="en-GB" sz="1700" dirty="0"/>
                  <a:t>, respectively. Find the point of intersection of the line joining </a:t>
                </a:r>
                <a14:m>
                  <m:oMath xmlns:m="http://schemas.openxmlformats.org/officeDocument/2006/math">
                    <m:r>
                      <a:rPr lang="en-GB" sz="1700" b="0" i="1" smtClean="0">
                        <a:latin typeface="Cambria Math" panose="02040503050406030204" pitchFamily="18" charset="0"/>
                      </a:rPr>
                      <m:t>𝐴</m:t>
                    </m:r>
                  </m:oMath>
                </a14:m>
                <a:r>
                  <a:rPr lang="en-GB" sz="1700" dirty="0"/>
                  <a:t> to the midpoint of </a:t>
                </a:r>
                <a14:m>
                  <m:oMath xmlns:m="http://schemas.openxmlformats.org/officeDocument/2006/math">
                    <m:r>
                      <a:rPr lang="en-GB" sz="1700" b="0" i="1" smtClean="0">
                        <a:latin typeface="Cambria Math" panose="02040503050406030204" pitchFamily="18" charset="0"/>
                      </a:rPr>
                      <m:t>𝐵𝐶</m:t>
                    </m:r>
                  </m:oMath>
                </a14:m>
                <a:r>
                  <a:rPr lang="en-GB" sz="1700" dirty="0"/>
                  <a:t>, and the line joining </a:t>
                </a:r>
                <a14:m>
                  <m:oMath xmlns:m="http://schemas.openxmlformats.org/officeDocument/2006/math">
                    <m:r>
                      <a:rPr lang="en-GB" sz="1700" b="0" i="1" smtClean="0">
                        <a:latin typeface="Cambria Math" panose="02040503050406030204" pitchFamily="18" charset="0"/>
                      </a:rPr>
                      <m:t>𝐵</m:t>
                    </m:r>
                  </m:oMath>
                </a14:m>
                <a:r>
                  <a:rPr lang="en-GB" sz="1700" dirty="0"/>
                  <a:t> to the midpoint of </a:t>
                </a:r>
                <a14:m>
                  <m:oMath xmlns:m="http://schemas.openxmlformats.org/officeDocument/2006/math">
                    <m:r>
                      <a:rPr lang="en-GB" sz="1700" b="0" i="1" smtClean="0">
                        <a:latin typeface="Cambria Math" panose="02040503050406030204" pitchFamily="18" charset="0"/>
                      </a:rPr>
                      <m:t>𝐴𝐶</m:t>
                    </m:r>
                  </m:oMath>
                </a14:m>
                <a:r>
                  <a:rPr lang="en-GB" sz="1700" dirty="0"/>
                  <a:t>. Verify that this point lies on the line joining </a:t>
                </a:r>
                <a14:m>
                  <m:oMath xmlns:m="http://schemas.openxmlformats.org/officeDocument/2006/math">
                    <m:r>
                      <a:rPr lang="en-GB" sz="1700" b="0" i="1" smtClean="0">
                        <a:latin typeface="Cambria Math" panose="02040503050406030204" pitchFamily="18" charset="0"/>
                      </a:rPr>
                      <m:t>𝐶</m:t>
                    </m:r>
                  </m:oMath>
                </a14:m>
                <a:r>
                  <a:rPr lang="en-GB" sz="1700" dirty="0"/>
                  <a:t> to the midpoint of </a:t>
                </a:r>
                <a14:m>
                  <m:oMath xmlns:m="http://schemas.openxmlformats.org/officeDocument/2006/math">
                    <m:r>
                      <a:rPr lang="en-GB" sz="1700" b="0" i="1" smtClean="0">
                        <a:latin typeface="Cambria Math" panose="02040503050406030204" pitchFamily="18" charset="0"/>
                      </a:rPr>
                      <m:t>𝐴𝐵</m:t>
                    </m:r>
                  </m:oMath>
                </a14:m>
                <a:r>
                  <a:rPr lang="en-GB" sz="1700" dirty="0"/>
                  <a:t>.</a:t>
                </a:r>
              </a:p>
              <a:p>
                <a:r>
                  <a:rPr lang="en-GB" sz="1700" dirty="0"/>
                  <a:t>The point </a:t>
                </a:r>
                <a14:m>
                  <m:oMath xmlns:m="http://schemas.openxmlformats.org/officeDocument/2006/math">
                    <m:r>
                      <a:rPr lang="en-GB" sz="1700" b="0" i="1" smtClean="0">
                        <a:latin typeface="Cambria Math" panose="02040503050406030204" pitchFamily="18" charset="0"/>
                      </a:rPr>
                      <m:t>𝐻</m:t>
                    </m:r>
                  </m:oMath>
                </a14:m>
                <a:r>
                  <a:rPr lang="en-GB" sz="1700" dirty="0"/>
                  <a:t> has coordinates </a:t>
                </a:r>
                <a14:m>
                  <m:oMath xmlns:m="http://schemas.openxmlformats.org/officeDocument/2006/math">
                    <m:d>
                      <m:dPr>
                        <m:ctrlPr>
                          <a:rPr lang="en-GB" sz="1700" i="1" smtClean="0">
                            <a:latin typeface="Cambria Math" panose="02040503050406030204" pitchFamily="18" charset="0"/>
                          </a:rPr>
                        </m:ctrlPr>
                      </m:dPr>
                      <m:e>
                        <m:sSub>
                          <m:sSubPr>
                            <m:ctrlPr>
                              <a:rPr lang="en-GB" sz="1700" i="1" smtClean="0">
                                <a:latin typeface="Cambria Math" panose="02040503050406030204" pitchFamily="18" charset="0"/>
                              </a:rPr>
                            </m:ctrlPr>
                          </m:sSubPr>
                          <m:e>
                            <m:r>
                              <a:rPr lang="en-GB" sz="1700" b="0" i="1" smtClean="0">
                                <a:latin typeface="Cambria Math" panose="02040503050406030204" pitchFamily="18" charset="0"/>
                              </a:rPr>
                              <m:t>𝑝</m:t>
                            </m:r>
                          </m:e>
                          <m:sub>
                            <m:r>
                              <a:rPr lang="en-GB" sz="1700" b="0" i="1" smtClean="0">
                                <a:latin typeface="Cambria Math" panose="02040503050406030204" pitchFamily="18" charset="0"/>
                              </a:rPr>
                              <m:t>1</m:t>
                            </m:r>
                          </m:sub>
                        </m:sSub>
                        <m:r>
                          <a:rPr lang="en-GB" sz="1700" b="0" i="1" smtClean="0">
                            <a:latin typeface="Cambria Math" panose="02040503050406030204" pitchFamily="18" charset="0"/>
                          </a:rPr>
                          <m:t>+</m:t>
                        </m:r>
                        <m:sSub>
                          <m:sSubPr>
                            <m:ctrlPr>
                              <a:rPr lang="en-GB" sz="1700" i="1" smtClean="0">
                                <a:latin typeface="Cambria Math" panose="02040503050406030204" pitchFamily="18" charset="0"/>
                              </a:rPr>
                            </m:ctrlPr>
                          </m:sSubPr>
                          <m:e>
                            <m:r>
                              <a:rPr lang="en-GB" sz="1700" b="0" i="1" smtClean="0">
                                <a:latin typeface="Cambria Math" panose="02040503050406030204" pitchFamily="18" charset="0"/>
                              </a:rPr>
                              <m:t>𝑝</m:t>
                            </m:r>
                          </m:e>
                          <m:sub>
                            <m:r>
                              <a:rPr lang="en-GB" sz="1700" b="0" i="1" smtClean="0">
                                <a:latin typeface="Cambria Math" panose="02040503050406030204" pitchFamily="18" charset="0"/>
                              </a:rPr>
                              <m:t>2</m:t>
                            </m:r>
                          </m:sub>
                        </m:sSub>
                        <m:r>
                          <a:rPr lang="en-GB" sz="1700" b="0" i="1" smtClean="0">
                            <a:latin typeface="Cambria Math" panose="02040503050406030204" pitchFamily="18" charset="0"/>
                          </a:rPr>
                          <m:t>+</m:t>
                        </m:r>
                        <m:sSub>
                          <m:sSubPr>
                            <m:ctrlPr>
                              <a:rPr lang="en-GB" sz="1700" i="1" smtClean="0">
                                <a:latin typeface="Cambria Math" panose="02040503050406030204" pitchFamily="18" charset="0"/>
                              </a:rPr>
                            </m:ctrlPr>
                          </m:sSubPr>
                          <m:e>
                            <m:r>
                              <a:rPr lang="en-GB" sz="1700" b="0" i="1" smtClean="0">
                                <a:latin typeface="Cambria Math" panose="02040503050406030204" pitchFamily="18" charset="0"/>
                              </a:rPr>
                              <m:t>𝑝</m:t>
                            </m:r>
                          </m:e>
                          <m:sub>
                            <m:r>
                              <a:rPr lang="en-GB" sz="1700" b="0" i="1" smtClean="0">
                                <a:latin typeface="Cambria Math" panose="02040503050406030204" pitchFamily="18" charset="0"/>
                              </a:rPr>
                              <m:t>3</m:t>
                            </m:r>
                          </m:sub>
                        </m:sSub>
                        <m:r>
                          <a:rPr lang="en-GB" sz="1700" b="0" i="1" smtClean="0">
                            <a:latin typeface="Cambria Math" panose="02040503050406030204" pitchFamily="18" charset="0"/>
                          </a:rPr>
                          <m:t>,</m:t>
                        </m:r>
                        <m:sSub>
                          <m:sSubPr>
                            <m:ctrlPr>
                              <a:rPr lang="en-GB" sz="1700" i="1" smtClean="0">
                                <a:latin typeface="Cambria Math" panose="02040503050406030204" pitchFamily="18" charset="0"/>
                              </a:rPr>
                            </m:ctrlPr>
                          </m:sSubPr>
                          <m:e>
                            <m:r>
                              <a:rPr lang="en-GB" sz="1700" b="0" i="1" smtClean="0">
                                <a:latin typeface="Cambria Math" panose="02040503050406030204" pitchFamily="18" charset="0"/>
                              </a:rPr>
                              <m:t>𝑞</m:t>
                            </m:r>
                          </m:e>
                          <m:sub>
                            <m:r>
                              <a:rPr lang="en-GB" sz="1700" b="0" i="1" smtClean="0">
                                <a:latin typeface="Cambria Math" panose="02040503050406030204" pitchFamily="18" charset="0"/>
                              </a:rPr>
                              <m:t>1</m:t>
                            </m:r>
                          </m:sub>
                        </m:sSub>
                        <m:r>
                          <a:rPr lang="en-GB" sz="1700" b="0" i="1" smtClean="0">
                            <a:latin typeface="Cambria Math" panose="02040503050406030204" pitchFamily="18" charset="0"/>
                          </a:rPr>
                          <m:t>+</m:t>
                        </m:r>
                        <m:sSub>
                          <m:sSubPr>
                            <m:ctrlPr>
                              <a:rPr lang="en-GB" sz="1700" i="1" smtClean="0">
                                <a:latin typeface="Cambria Math" panose="02040503050406030204" pitchFamily="18" charset="0"/>
                              </a:rPr>
                            </m:ctrlPr>
                          </m:sSubPr>
                          <m:e>
                            <m:r>
                              <a:rPr lang="en-GB" sz="1700" b="0" i="1" smtClean="0">
                                <a:latin typeface="Cambria Math" panose="02040503050406030204" pitchFamily="18" charset="0"/>
                              </a:rPr>
                              <m:t>𝑞</m:t>
                            </m:r>
                          </m:e>
                          <m:sub>
                            <m:r>
                              <a:rPr lang="en-GB" sz="1700" b="0" i="1" smtClean="0">
                                <a:latin typeface="Cambria Math" panose="02040503050406030204" pitchFamily="18" charset="0"/>
                              </a:rPr>
                              <m:t>2</m:t>
                            </m:r>
                          </m:sub>
                        </m:sSub>
                        <m:r>
                          <a:rPr lang="en-GB" sz="1700" b="0" i="1" smtClean="0">
                            <a:latin typeface="Cambria Math" panose="02040503050406030204" pitchFamily="18" charset="0"/>
                          </a:rPr>
                          <m:t>+</m:t>
                        </m:r>
                        <m:sSub>
                          <m:sSubPr>
                            <m:ctrlPr>
                              <a:rPr lang="en-GB" sz="1700" i="1" smtClean="0">
                                <a:latin typeface="Cambria Math" panose="02040503050406030204" pitchFamily="18" charset="0"/>
                              </a:rPr>
                            </m:ctrlPr>
                          </m:sSubPr>
                          <m:e>
                            <m:r>
                              <a:rPr lang="en-GB" sz="1700" b="0" i="1" smtClean="0">
                                <a:latin typeface="Cambria Math" panose="02040503050406030204" pitchFamily="18" charset="0"/>
                              </a:rPr>
                              <m:t>𝑞</m:t>
                            </m:r>
                          </m:e>
                          <m:sub>
                            <m:r>
                              <a:rPr lang="en-GB" sz="1700" b="0" i="1" smtClean="0">
                                <a:latin typeface="Cambria Math" panose="02040503050406030204" pitchFamily="18" charset="0"/>
                              </a:rPr>
                              <m:t>3</m:t>
                            </m:r>
                          </m:sub>
                        </m:sSub>
                      </m:e>
                    </m:d>
                  </m:oMath>
                </a14:m>
                <a:r>
                  <a:rPr lang="en-GB" sz="1700" dirty="0"/>
                  <a:t>. Show that if the line </a:t>
                </a:r>
                <a14:m>
                  <m:oMath xmlns:m="http://schemas.openxmlformats.org/officeDocument/2006/math">
                    <m:r>
                      <a:rPr lang="en-GB" sz="1700" b="0" i="1" smtClean="0">
                        <a:latin typeface="Cambria Math" panose="02040503050406030204" pitchFamily="18" charset="0"/>
                      </a:rPr>
                      <m:t>𝐴𝐻</m:t>
                    </m:r>
                  </m:oMath>
                </a14:m>
                <a:r>
                  <a:rPr lang="en-GB" sz="1700" dirty="0"/>
                  <a:t> intersects the line </a:t>
                </a:r>
                <a14:m>
                  <m:oMath xmlns:m="http://schemas.openxmlformats.org/officeDocument/2006/math">
                    <m:r>
                      <a:rPr lang="en-GB" sz="1700" b="0" i="1" smtClean="0">
                        <a:latin typeface="Cambria Math" panose="02040503050406030204" pitchFamily="18" charset="0"/>
                      </a:rPr>
                      <m:t>𝐵𝐶</m:t>
                    </m:r>
                  </m:oMath>
                </a14:m>
                <a:r>
                  <a:rPr lang="en-GB" sz="1700" dirty="0"/>
                  <a:t> at right angles, then </a:t>
                </a:r>
                <a14:m>
                  <m:oMath xmlns:m="http://schemas.openxmlformats.org/officeDocument/2006/math">
                    <m:sSubSup>
                      <m:sSubSupPr>
                        <m:ctrlPr>
                          <a:rPr lang="en-GB" sz="1700" i="1" smtClean="0">
                            <a:latin typeface="Cambria Math" panose="02040503050406030204" pitchFamily="18" charset="0"/>
                          </a:rPr>
                        </m:ctrlPr>
                      </m:sSubSupPr>
                      <m:e>
                        <m:r>
                          <a:rPr lang="en-GB" sz="1700" b="0" i="1" smtClean="0">
                            <a:latin typeface="Cambria Math" panose="02040503050406030204" pitchFamily="18" charset="0"/>
                          </a:rPr>
                          <m:t>𝑝</m:t>
                        </m:r>
                      </m:e>
                      <m:sub>
                        <m:r>
                          <a:rPr lang="en-GB" sz="1700" b="0" i="1" smtClean="0">
                            <a:latin typeface="Cambria Math" panose="02040503050406030204" pitchFamily="18" charset="0"/>
                          </a:rPr>
                          <m:t>2</m:t>
                        </m:r>
                      </m:sub>
                      <m:sup>
                        <m:r>
                          <a:rPr lang="en-GB" sz="1700" b="0" i="1" smtClean="0">
                            <a:latin typeface="Cambria Math" panose="02040503050406030204" pitchFamily="18" charset="0"/>
                          </a:rPr>
                          <m:t>2</m:t>
                        </m:r>
                      </m:sup>
                    </m:sSubSup>
                    <m:r>
                      <a:rPr lang="en-GB" sz="1700" b="0" i="1" smtClean="0">
                        <a:latin typeface="Cambria Math" panose="02040503050406030204" pitchFamily="18" charset="0"/>
                      </a:rPr>
                      <m:t>+</m:t>
                    </m:r>
                    <m:sSubSup>
                      <m:sSubSupPr>
                        <m:ctrlPr>
                          <a:rPr lang="en-GB" sz="1700" i="1" smtClean="0">
                            <a:latin typeface="Cambria Math" panose="02040503050406030204" pitchFamily="18" charset="0"/>
                          </a:rPr>
                        </m:ctrlPr>
                      </m:sSubSupPr>
                      <m:e>
                        <m:r>
                          <a:rPr lang="en-GB" sz="1700" b="0" i="1" smtClean="0">
                            <a:latin typeface="Cambria Math" panose="02040503050406030204" pitchFamily="18" charset="0"/>
                          </a:rPr>
                          <m:t>𝑞</m:t>
                        </m:r>
                      </m:e>
                      <m:sub>
                        <m:r>
                          <a:rPr lang="en-GB" sz="1700" b="0" i="1" smtClean="0">
                            <a:latin typeface="Cambria Math" panose="02040503050406030204" pitchFamily="18" charset="0"/>
                          </a:rPr>
                          <m:t>2</m:t>
                        </m:r>
                      </m:sub>
                      <m:sup>
                        <m:r>
                          <a:rPr lang="en-GB" sz="1700" b="0" i="1" smtClean="0">
                            <a:latin typeface="Cambria Math" panose="02040503050406030204" pitchFamily="18" charset="0"/>
                          </a:rPr>
                          <m:t>2</m:t>
                        </m:r>
                      </m:sup>
                    </m:sSubSup>
                    <m:r>
                      <a:rPr lang="en-GB" sz="1700" b="0" i="1" smtClean="0">
                        <a:latin typeface="Cambria Math" panose="02040503050406030204" pitchFamily="18" charset="0"/>
                      </a:rPr>
                      <m:t>=</m:t>
                    </m:r>
                    <m:sSubSup>
                      <m:sSubSupPr>
                        <m:ctrlPr>
                          <a:rPr lang="en-GB" sz="1700" i="1" smtClean="0">
                            <a:latin typeface="Cambria Math" panose="02040503050406030204" pitchFamily="18" charset="0"/>
                          </a:rPr>
                        </m:ctrlPr>
                      </m:sSubSupPr>
                      <m:e>
                        <m:r>
                          <a:rPr lang="en-GB" sz="1700" b="0" i="1" smtClean="0">
                            <a:latin typeface="Cambria Math" panose="02040503050406030204" pitchFamily="18" charset="0"/>
                          </a:rPr>
                          <m:t>𝑝</m:t>
                        </m:r>
                      </m:e>
                      <m:sub>
                        <m:r>
                          <a:rPr lang="en-GB" sz="1700" b="0" i="1" smtClean="0">
                            <a:latin typeface="Cambria Math" panose="02040503050406030204" pitchFamily="18" charset="0"/>
                          </a:rPr>
                          <m:t>3</m:t>
                        </m:r>
                      </m:sub>
                      <m:sup>
                        <m:r>
                          <a:rPr lang="en-GB" sz="1700" b="0" i="1" smtClean="0">
                            <a:latin typeface="Cambria Math" panose="02040503050406030204" pitchFamily="18" charset="0"/>
                          </a:rPr>
                          <m:t>2</m:t>
                        </m:r>
                      </m:sup>
                    </m:sSubSup>
                    <m:r>
                      <a:rPr lang="en-GB" sz="1700" b="0" i="1" smtClean="0">
                        <a:latin typeface="Cambria Math" panose="02040503050406030204" pitchFamily="18" charset="0"/>
                      </a:rPr>
                      <m:t>+</m:t>
                    </m:r>
                    <m:sSubSup>
                      <m:sSubSupPr>
                        <m:ctrlPr>
                          <a:rPr lang="en-GB" sz="1700" i="1" smtClean="0">
                            <a:latin typeface="Cambria Math" panose="02040503050406030204" pitchFamily="18" charset="0"/>
                          </a:rPr>
                        </m:ctrlPr>
                      </m:sSubSupPr>
                      <m:e>
                        <m:r>
                          <a:rPr lang="en-GB" sz="1700" b="0" i="1" smtClean="0">
                            <a:latin typeface="Cambria Math" panose="02040503050406030204" pitchFamily="18" charset="0"/>
                          </a:rPr>
                          <m:t>𝑞</m:t>
                        </m:r>
                      </m:e>
                      <m:sub>
                        <m:r>
                          <a:rPr lang="en-GB" sz="1700" b="0" i="1" smtClean="0">
                            <a:latin typeface="Cambria Math" panose="02040503050406030204" pitchFamily="18" charset="0"/>
                          </a:rPr>
                          <m:t>3</m:t>
                        </m:r>
                      </m:sub>
                      <m:sup>
                        <m:r>
                          <a:rPr lang="en-GB" sz="1700" b="0" i="1" smtClean="0">
                            <a:latin typeface="Cambria Math" panose="02040503050406030204" pitchFamily="18" charset="0"/>
                          </a:rPr>
                          <m:t>2</m:t>
                        </m:r>
                      </m:sup>
                    </m:sSubSup>
                  </m:oMath>
                </a14:m>
                <a:r>
                  <a:rPr lang="en-GB" sz="1700" dirty="0"/>
                  <a:t>, and write down a similar result if the line </a:t>
                </a:r>
                <a14:m>
                  <m:oMath xmlns:m="http://schemas.openxmlformats.org/officeDocument/2006/math">
                    <m:r>
                      <a:rPr lang="en-GB" sz="1700" b="0" i="1" smtClean="0">
                        <a:latin typeface="Cambria Math" panose="02040503050406030204" pitchFamily="18" charset="0"/>
                      </a:rPr>
                      <m:t>𝐵𝐻</m:t>
                    </m:r>
                  </m:oMath>
                </a14:m>
                <a:r>
                  <a:rPr lang="en-GB" sz="1700" dirty="0"/>
                  <a:t> intersects the line </a:t>
                </a:r>
                <a14:m>
                  <m:oMath xmlns:m="http://schemas.openxmlformats.org/officeDocument/2006/math">
                    <m:r>
                      <a:rPr lang="en-GB" sz="1700" b="0" i="1" smtClean="0">
                        <a:latin typeface="Cambria Math" panose="02040503050406030204" pitchFamily="18" charset="0"/>
                      </a:rPr>
                      <m:t>𝐴𝐶</m:t>
                    </m:r>
                  </m:oMath>
                </a14:m>
                <a:r>
                  <a:rPr lang="en-GB" sz="1700" dirty="0"/>
                  <a:t> at right angles.</a:t>
                </a:r>
              </a:p>
              <a:p>
                <a:r>
                  <a:rPr lang="en-GB" sz="1700" dirty="0"/>
                  <a:t>Deduce that if </a:t>
                </a:r>
                <a14:m>
                  <m:oMath xmlns:m="http://schemas.openxmlformats.org/officeDocument/2006/math">
                    <m:r>
                      <a:rPr lang="en-GB" sz="1700" b="0" i="1" smtClean="0">
                        <a:latin typeface="Cambria Math" panose="02040503050406030204" pitchFamily="18" charset="0"/>
                      </a:rPr>
                      <m:t>𝐴𝐻</m:t>
                    </m:r>
                  </m:oMath>
                </a14:m>
                <a:r>
                  <a:rPr lang="en-GB" sz="1700" dirty="0"/>
                  <a:t> is perpendicular to </a:t>
                </a:r>
                <a14:m>
                  <m:oMath xmlns:m="http://schemas.openxmlformats.org/officeDocument/2006/math">
                    <m:r>
                      <a:rPr lang="en-GB" sz="1700" b="0" i="1" smtClean="0">
                        <a:latin typeface="Cambria Math" panose="02040503050406030204" pitchFamily="18" charset="0"/>
                      </a:rPr>
                      <m:t>𝐵𝐶</m:t>
                    </m:r>
                  </m:oMath>
                </a14:m>
                <a:r>
                  <a:rPr lang="en-GB" sz="1700" dirty="0"/>
                  <a:t> and also </a:t>
                </a:r>
                <a14:m>
                  <m:oMath xmlns:m="http://schemas.openxmlformats.org/officeDocument/2006/math">
                    <m:r>
                      <a:rPr lang="en-GB" sz="1700" b="0" i="1" smtClean="0">
                        <a:latin typeface="Cambria Math" panose="02040503050406030204" pitchFamily="18" charset="0"/>
                      </a:rPr>
                      <m:t>𝐵𝐻</m:t>
                    </m:r>
                  </m:oMath>
                </a14:m>
                <a:r>
                  <a:rPr lang="en-GB" sz="1700" dirty="0"/>
                  <a:t> is perpendicular to </a:t>
                </a:r>
                <a14:m>
                  <m:oMath xmlns:m="http://schemas.openxmlformats.org/officeDocument/2006/math">
                    <m:r>
                      <a:rPr lang="en-GB" sz="1700" b="0" i="1" smtClean="0">
                        <a:latin typeface="Cambria Math" panose="02040503050406030204" pitchFamily="18" charset="0"/>
                      </a:rPr>
                      <m:t>𝐴𝐶</m:t>
                    </m:r>
                  </m:oMath>
                </a14:m>
                <a:r>
                  <a:rPr lang="en-GB" sz="1700" dirty="0"/>
                  <a:t>, then </a:t>
                </a:r>
                <a14:m>
                  <m:oMath xmlns:m="http://schemas.openxmlformats.org/officeDocument/2006/math">
                    <m:r>
                      <a:rPr lang="en-GB" sz="1700" b="0" i="1" smtClean="0">
                        <a:latin typeface="Cambria Math" panose="02040503050406030204" pitchFamily="18" charset="0"/>
                      </a:rPr>
                      <m:t>𝐶𝐻</m:t>
                    </m:r>
                  </m:oMath>
                </a14:m>
                <a:r>
                  <a:rPr lang="en-GB" sz="1700" dirty="0"/>
                  <a:t> is perpendicular to </a:t>
                </a:r>
                <a14:m>
                  <m:oMath xmlns:m="http://schemas.openxmlformats.org/officeDocument/2006/math">
                    <m:r>
                      <a:rPr lang="en-GB" sz="1700" b="0" i="1" smtClean="0">
                        <a:latin typeface="Cambria Math" panose="02040503050406030204" pitchFamily="18" charset="0"/>
                      </a:rPr>
                      <m:t>𝐴𝐵</m:t>
                    </m:r>
                  </m:oMath>
                </a14:m>
                <a:r>
                  <a:rPr lang="en-GB" sz="1700" dirty="0"/>
                  <a:t>.</a:t>
                </a:r>
              </a:p>
            </p:txBody>
          </p:sp>
        </mc:Choice>
        <mc:Fallback xmlns="">
          <p:sp>
            <p:nvSpPr>
              <p:cNvPr id="21" name="TextBox 20"/>
              <p:cNvSpPr txBox="1">
                <a:spLocks noRot="1" noChangeAspect="1" noMove="1" noResize="1" noEditPoints="1" noAdjustHandles="1" noChangeArrowheads="1" noChangeShapeType="1" noTextEdit="1"/>
              </p:cNvSpPr>
              <p:nvPr/>
            </p:nvSpPr>
            <p:spPr>
              <a:xfrm>
                <a:off x="3830129" y="3597425"/>
                <a:ext cx="5312728" cy="3236463"/>
              </a:xfrm>
              <a:prstGeom prst="rect">
                <a:avLst/>
              </a:prstGeom>
              <a:blipFill>
                <a:blip r:embed="rId7"/>
                <a:stretch>
                  <a:fillRect l="-1835" t="-565" r="-1261" b="-1695"/>
                </a:stretch>
              </a:blipFill>
            </p:spPr>
            <p:txBody>
              <a:bodyPr/>
              <a:lstStyle/>
              <a:p>
                <a:r>
                  <a:rPr lang="en-GB">
                    <a:noFill/>
                  </a:rPr>
                  <a:t> </a:t>
                </a:r>
              </a:p>
            </p:txBody>
          </p:sp>
        </mc:Fallback>
      </mc:AlternateContent>
      <p:sp>
        <p:nvSpPr>
          <p:cNvPr id="22" name="Rectangle 21"/>
          <p:cNvSpPr/>
          <p:nvPr/>
        </p:nvSpPr>
        <p:spPr>
          <a:xfrm>
            <a:off x="165225" y="2213365"/>
            <a:ext cx="201509" cy="22181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23" name="Rectangle 22"/>
          <p:cNvSpPr/>
          <p:nvPr/>
        </p:nvSpPr>
        <p:spPr>
          <a:xfrm>
            <a:off x="3628620" y="1897009"/>
            <a:ext cx="201509" cy="22181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p:sp>
        <p:nvSpPr>
          <p:cNvPr id="24" name="Rectangle 23"/>
          <p:cNvSpPr/>
          <p:nvPr/>
        </p:nvSpPr>
        <p:spPr>
          <a:xfrm>
            <a:off x="3630409" y="3664681"/>
            <a:ext cx="201509" cy="22181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3</a:t>
            </a:r>
          </a:p>
        </p:txBody>
      </p:sp>
      <p:sp>
        <p:nvSpPr>
          <p:cNvPr id="25" name="Rectangle 24"/>
          <p:cNvSpPr/>
          <p:nvPr/>
        </p:nvSpPr>
        <p:spPr>
          <a:xfrm>
            <a:off x="422796" y="3187700"/>
            <a:ext cx="3171303" cy="363220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26" name="Rectangle 25"/>
          <p:cNvSpPr/>
          <p:nvPr/>
        </p:nvSpPr>
        <p:spPr>
          <a:xfrm>
            <a:off x="3978953" y="2446444"/>
            <a:ext cx="3831547" cy="86825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258700105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5"/>
                                        </p:tgtEl>
                                      </p:cBhvr>
                                    </p:animEffect>
                                    <p:set>
                                      <p:cBhvr>
                                        <p:cTn id="7" dur="1" fill="hold">
                                          <p:stCondLst>
                                            <p:cond delay="499"/>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seq concurrent="1" nextAc="seek">
              <p:cTn id="8" restart="whenNotActive" fill="hold" evtFilter="cancelBubble" nodeType="interactiveSeq">
                <p:stCondLst>
                  <p:cond evt="onClick" delay="0">
                    <p:tgtEl>
                      <p:spTgt spid="26"/>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6"/>
                                        </p:tgtEl>
                                      </p:cBhvr>
                                    </p:animEffect>
                                    <p:set>
                                      <p:cBhvr>
                                        <p:cTn id="13" dur="1" fill="hold">
                                          <p:stCondLst>
                                            <p:cond delay="499"/>
                                          </p:stCondLst>
                                        </p:cTn>
                                        <p:tgtEl>
                                          <p:spTgt spid="26"/>
                                        </p:tgtEl>
                                        <p:attrNameLst>
                                          <p:attrName>style.visibility</p:attrName>
                                        </p:attrNameLst>
                                      </p:cBhvr>
                                      <p:to>
                                        <p:strVal val="hidden"/>
                                      </p:to>
                                    </p:set>
                                  </p:childTnLst>
                                </p:cTn>
                              </p:par>
                            </p:childTnLst>
                          </p:cTn>
                        </p:par>
                      </p:childTnLst>
                    </p:cTn>
                  </p:par>
                </p:childTnLst>
              </p:cTn>
              <p:nextCondLst>
                <p:cond evt="onClick" delay="0">
                  <p:tgtEl>
                    <p:spTgt spid="26"/>
                  </p:tgtEl>
                </p:cond>
              </p:nextCondLst>
            </p:seq>
          </p:childTnLst>
        </p:cTn>
      </p:par>
    </p:tnLst>
    <p:bldLst>
      <p:bldP spid="25" grpId="0" animBg="1"/>
      <p:bldP spid="2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Distances between points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Oval 4"/>
          <p:cNvSpPr/>
          <p:nvPr/>
        </p:nvSpPr>
        <p:spPr>
          <a:xfrm>
            <a:off x="401383" y="3286075"/>
            <a:ext cx="216024" cy="2160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6" name="Oval 5"/>
          <p:cNvSpPr/>
          <p:nvPr/>
        </p:nvSpPr>
        <p:spPr>
          <a:xfrm>
            <a:off x="3641743" y="1655114"/>
            <a:ext cx="216024" cy="2160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7" name="TextBox 6"/>
              <p:cNvSpPr txBox="1"/>
              <p:nvPr/>
            </p:nvSpPr>
            <p:spPr>
              <a:xfrm>
                <a:off x="329375" y="3502099"/>
                <a:ext cx="6480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(1,6)</m:t>
                      </m:r>
                    </m:oMath>
                  </m:oMathPara>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329375" y="3502099"/>
                <a:ext cx="648072" cy="369332"/>
              </a:xfrm>
              <a:prstGeom prst="rect">
                <a:avLst/>
              </a:prstGeom>
              <a:blipFill rotWithShape="0">
                <a:blip r:embed="rId2"/>
                <a:stretch>
                  <a:fillRect l="-2830" r="-8491" b="-1311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822638" y="1498739"/>
                <a:ext cx="6480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(5,9)</m:t>
                      </m:r>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3822638" y="1498739"/>
                <a:ext cx="648072" cy="369332"/>
              </a:xfrm>
              <a:prstGeom prst="rect">
                <a:avLst/>
              </a:prstGeom>
              <a:blipFill rotWithShape="0">
                <a:blip r:embed="rId3"/>
                <a:stretch>
                  <a:fillRect l="-2830" r="-8491" b="-13333"/>
                </a:stretch>
              </a:blipFill>
            </p:spPr>
            <p:txBody>
              <a:bodyPr/>
              <a:lstStyle/>
              <a:p>
                <a:r>
                  <a:rPr lang="en-GB">
                    <a:noFill/>
                  </a:rPr>
                  <a:t> </a:t>
                </a:r>
              </a:p>
            </p:txBody>
          </p:sp>
        </mc:Fallback>
      </mc:AlternateContent>
      <p:cxnSp>
        <p:nvCxnSpPr>
          <p:cNvPr id="10" name="Straight Connector 9"/>
          <p:cNvCxnSpPr/>
          <p:nvPr/>
        </p:nvCxnSpPr>
        <p:spPr>
          <a:xfrm flipV="1">
            <a:off x="502803" y="1769851"/>
            <a:ext cx="3256384" cy="1632857"/>
          </a:xfrm>
          <a:prstGeom prst="line">
            <a:avLst/>
          </a:prstGeom>
          <a:ln w="76200"/>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5292080" y="1124744"/>
                <a:ext cx="3024336" cy="2585323"/>
              </a:xfrm>
              <a:prstGeom prst="rect">
                <a:avLst/>
              </a:prstGeom>
              <a:noFill/>
            </p:spPr>
            <p:txBody>
              <a:bodyPr wrap="square" rtlCol="0">
                <a:spAutoFit/>
              </a:bodyPr>
              <a:lstStyle/>
              <a:p>
                <a:r>
                  <a:rPr lang="en-GB" dirty="0"/>
                  <a:t>How could we find the </a:t>
                </a:r>
                <a:r>
                  <a:rPr lang="en-GB" b="1" dirty="0"/>
                  <a:t>distance</a:t>
                </a:r>
                <a:r>
                  <a:rPr lang="en-GB" dirty="0"/>
                  <a:t> between these two points?</a:t>
                </a:r>
              </a:p>
              <a:p>
                <a:r>
                  <a:rPr lang="en-GB" sz="1400" dirty="0"/>
                  <a:t>Hint: Pythagoras</a:t>
                </a:r>
              </a:p>
              <a:p>
                <a:endParaRPr lang="en-GB" dirty="0"/>
              </a:p>
              <a:p>
                <a:r>
                  <a:rPr lang="en-GB" dirty="0"/>
                  <a:t>Form a right-angled triangle using the change in </a:t>
                </a:r>
                <a14:m>
                  <m:oMath xmlns:m="http://schemas.openxmlformats.org/officeDocument/2006/math">
                    <m:r>
                      <a:rPr lang="en-GB" b="0" i="1" smtClean="0">
                        <a:latin typeface="Cambria Math" panose="02040503050406030204" pitchFamily="18" charset="0"/>
                      </a:rPr>
                      <m:t>𝑥</m:t>
                    </m:r>
                  </m:oMath>
                </a14:m>
                <a:r>
                  <a:rPr lang="en-GB" dirty="0"/>
                  <a:t> and change in </a:t>
                </a:r>
                <a14:m>
                  <m:oMath xmlns:m="http://schemas.openxmlformats.org/officeDocument/2006/math">
                    <m:r>
                      <a:rPr lang="en-GB" b="0" i="1" smtClean="0">
                        <a:latin typeface="Cambria Math" panose="02040503050406030204" pitchFamily="18" charset="0"/>
                      </a:rPr>
                      <m:t>𝑦</m:t>
                    </m:r>
                  </m:oMath>
                </a14:m>
                <a:r>
                  <a:rPr lang="en-GB" dirty="0"/>
                  <a:t>, then use Pythagoras.</a:t>
                </a:r>
              </a:p>
            </p:txBody>
          </p:sp>
        </mc:Choice>
        <mc:Fallback xmlns="">
          <p:sp>
            <p:nvSpPr>
              <p:cNvPr id="13" name="TextBox 12"/>
              <p:cNvSpPr txBox="1">
                <a:spLocks noRot="1" noChangeAspect="1" noMove="1" noResize="1" noEditPoints="1" noAdjustHandles="1" noChangeArrowheads="1" noChangeShapeType="1" noTextEdit="1"/>
              </p:cNvSpPr>
              <p:nvPr/>
            </p:nvSpPr>
            <p:spPr>
              <a:xfrm>
                <a:off x="5292080" y="1124744"/>
                <a:ext cx="3024336" cy="2585323"/>
              </a:xfrm>
              <a:prstGeom prst="rect">
                <a:avLst/>
              </a:prstGeom>
              <a:blipFill rotWithShape="0">
                <a:blip r:embed="rId4"/>
                <a:stretch>
                  <a:fillRect l="-1613" t="-1415" b="-472"/>
                </a:stretch>
              </a:blipFill>
            </p:spPr>
            <p:txBody>
              <a:bodyPr/>
              <a:lstStyle/>
              <a:p>
                <a:r>
                  <a:rPr lang="en-GB">
                    <a:noFill/>
                  </a:rPr>
                  <a:t> </a:t>
                </a:r>
              </a:p>
            </p:txBody>
          </p:sp>
        </mc:Fallback>
      </mc:AlternateContent>
      <p:sp>
        <p:nvSpPr>
          <p:cNvPr id="14" name="Rectangle 13"/>
          <p:cNvSpPr/>
          <p:nvPr/>
        </p:nvSpPr>
        <p:spPr>
          <a:xfrm>
            <a:off x="5764993" y="2015413"/>
            <a:ext cx="897064" cy="25192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15" name="Rectangle 14"/>
          <p:cNvSpPr/>
          <p:nvPr/>
        </p:nvSpPr>
        <p:spPr>
          <a:xfrm>
            <a:off x="5316460" y="2445431"/>
            <a:ext cx="2855939" cy="126463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grpSp>
        <p:nvGrpSpPr>
          <p:cNvPr id="9" name="Group 8"/>
          <p:cNvGrpSpPr/>
          <p:nvPr/>
        </p:nvGrpSpPr>
        <p:grpSpPr>
          <a:xfrm>
            <a:off x="598042" y="1872521"/>
            <a:ext cx="3166160" cy="1540900"/>
            <a:chOff x="617407" y="1871138"/>
            <a:chExt cx="3166160" cy="1540900"/>
          </a:xfrm>
        </p:grpSpPr>
        <p:cxnSp>
          <p:nvCxnSpPr>
            <p:cNvPr id="16" name="Straight Connector 15"/>
            <p:cNvCxnSpPr>
              <a:stCxn id="5" idx="6"/>
            </p:cNvCxnSpPr>
            <p:nvPr/>
          </p:nvCxnSpPr>
          <p:spPr>
            <a:xfrm>
              <a:off x="617407" y="3394087"/>
              <a:ext cx="3166160" cy="8621"/>
            </a:xfrm>
            <a:prstGeom prst="line">
              <a:avLst/>
            </a:prstGeom>
            <a:ln w="76200">
              <a:prstDash val="sysDot"/>
            </a:ln>
          </p:spPr>
          <p:style>
            <a:lnRef idx="3">
              <a:schemeClr val="dk1"/>
            </a:lnRef>
            <a:fillRef idx="0">
              <a:schemeClr val="dk1"/>
            </a:fillRef>
            <a:effectRef idx="2">
              <a:schemeClr val="dk1"/>
            </a:effectRef>
            <a:fontRef idx="minor">
              <a:schemeClr val="tx1"/>
            </a:fontRef>
          </p:style>
        </p:cxnSp>
        <p:cxnSp>
          <p:nvCxnSpPr>
            <p:cNvPr id="19" name="Straight Connector 18"/>
            <p:cNvCxnSpPr>
              <a:stCxn id="6" idx="4"/>
            </p:cNvCxnSpPr>
            <p:nvPr/>
          </p:nvCxnSpPr>
          <p:spPr>
            <a:xfrm flipH="1">
              <a:off x="3740526" y="1871138"/>
              <a:ext cx="9229" cy="1540900"/>
            </a:xfrm>
            <a:prstGeom prst="line">
              <a:avLst/>
            </a:prstGeom>
            <a:ln w="76200">
              <a:prstDash val="sysDot"/>
            </a:ln>
          </p:spPr>
          <p:style>
            <a:lnRef idx="3">
              <a:schemeClr val="dk1"/>
            </a:lnRef>
            <a:fillRef idx="0">
              <a:schemeClr val="dk1"/>
            </a:fillRef>
            <a:effectRef idx="2">
              <a:schemeClr val="dk1"/>
            </a:effectRef>
            <a:fontRef idx="minor">
              <a:schemeClr val="tx1"/>
            </a:fontRef>
          </p:style>
        </p:cxnSp>
        <p:cxnSp>
          <p:nvCxnSpPr>
            <p:cNvPr id="23" name="Straight Connector 22"/>
            <p:cNvCxnSpPr/>
            <p:nvPr/>
          </p:nvCxnSpPr>
          <p:spPr>
            <a:xfrm>
              <a:off x="3398582" y="3028100"/>
              <a:ext cx="2434" cy="373226"/>
            </a:xfrm>
            <a:prstGeom prst="line">
              <a:avLst/>
            </a:prstGeom>
            <a:ln w="76200">
              <a:prstDash val="sysDot"/>
            </a:ln>
          </p:spPr>
          <p:style>
            <a:lnRef idx="3">
              <a:schemeClr val="dk1"/>
            </a:lnRef>
            <a:fillRef idx="0">
              <a:schemeClr val="dk1"/>
            </a:fillRef>
            <a:effectRef idx="2">
              <a:schemeClr val="dk1"/>
            </a:effectRef>
            <a:fontRef idx="minor">
              <a:schemeClr val="tx1"/>
            </a:fontRef>
          </p:style>
        </p:cxnSp>
        <p:cxnSp>
          <p:nvCxnSpPr>
            <p:cNvPr id="26" name="Straight Connector 25"/>
            <p:cNvCxnSpPr/>
            <p:nvPr/>
          </p:nvCxnSpPr>
          <p:spPr>
            <a:xfrm>
              <a:off x="3398583" y="3046761"/>
              <a:ext cx="345232" cy="0"/>
            </a:xfrm>
            <a:prstGeom prst="line">
              <a:avLst/>
            </a:prstGeom>
            <a:ln w="76200">
              <a:prstDash val="sysDot"/>
            </a:ln>
          </p:spPr>
          <p:style>
            <a:lnRef idx="3">
              <a:schemeClr val="dk1"/>
            </a:lnRef>
            <a:fillRef idx="0">
              <a:schemeClr val="dk1"/>
            </a:fillRef>
            <a:effectRef idx="2">
              <a:schemeClr val="dk1"/>
            </a:effectRef>
            <a:fontRef idx="minor">
              <a:schemeClr val="tx1"/>
            </a:fontRef>
          </p:style>
        </p:cxnSp>
      </p:grpSp>
      <mc:AlternateContent xmlns:mc="http://schemas.openxmlformats.org/markup-compatibility/2006" xmlns:a14="http://schemas.microsoft.com/office/drawing/2010/main">
        <mc:Choice Requires="a14">
          <p:sp>
            <p:nvSpPr>
              <p:cNvPr id="17" name="TextBox 16"/>
              <p:cNvSpPr txBox="1"/>
              <p:nvPr/>
            </p:nvSpPr>
            <p:spPr>
              <a:xfrm>
                <a:off x="1679139" y="3560340"/>
                <a:ext cx="104269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GB" b="0" i="0" smtClean="0">
                          <a:latin typeface="Cambria Math" panose="02040503050406030204" pitchFamily="18" charset="0"/>
                        </a:rPr>
                        <m:t>Δ</m:t>
                      </m:r>
                      <m:r>
                        <a:rPr lang="en-GB" b="0" i="1" smtClean="0">
                          <a:latin typeface="Cambria Math" panose="02040503050406030204" pitchFamily="18" charset="0"/>
                        </a:rPr>
                        <m:t>𝑥</m:t>
                      </m:r>
                      <m:r>
                        <a:rPr lang="en-GB" b="0" i="1" smtClean="0">
                          <a:latin typeface="Cambria Math" panose="02040503050406030204" pitchFamily="18" charset="0"/>
                        </a:rPr>
                        <m:t>=4</m:t>
                      </m:r>
                    </m:oMath>
                  </m:oMathPara>
                </a14:m>
                <a:endParaRPr lang="en-GB" dirty="0"/>
              </a:p>
            </p:txBody>
          </p:sp>
        </mc:Choice>
        <mc:Fallback xmlns="">
          <p:sp>
            <p:nvSpPr>
              <p:cNvPr id="17" name="TextBox 16"/>
              <p:cNvSpPr txBox="1">
                <a:spLocks noRot="1" noChangeAspect="1" noMove="1" noResize="1" noEditPoints="1" noAdjustHandles="1" noChangeArrowheads="1" noChangeShapeType="1" noTextEdit="1"/>
              </p:cNvSpPr>
              <p:nvPr/>
            </p:nvSpPr>
            <p:spPr>
              <a:xfrm>
                <a:off x="1679139" y="3560340"/>
                <a:ext cx="1042696" cy="369332"/>
              </a:xfrm>
              <a:prstGeom prst="rect">
                <a:avLst/>
              </a:prstGeom>
              <a:blipFill rotWithShape="0">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753220" y="2541554"/>
                <a:ext cx="91088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GB" b="0" i="0" smtClean="0">
                          <a:latin typeface="Cambria Math" panose="02040503050406030204" pitchFamily="18" charset="0"/>
                        </a:rPr>
                        <m:t>Δ</m:t>
                      </m:r>
                      <m:r>
                        <a:rPr lang="en-GB" b="0" i="1" smtClean="0">
                          <a:latin typeface="Cambria Math" panose="02040503050406030204" pitchFamily="18" charset="0"/>
                        </a:rPr>
                        <m:t>𝑦</m:t>
                      </m:r>
                      <m:r>
                        <a:rPr lang="en-GB" b="0" i="0" smtClean="0">
                          <a:latin typeface="Cambria Math" panose="02040503050406030204" pitchFamily="18" charset="0"/>
                        </a:rPr>
                        <m:t>=3</m:t>
                      </m:r>
                    </m:oMath>
                  </m:oMathPara>
                </a14:m>
                <a:endParaRPr lang="en-GB" dirty="0"/>
              </a:p>
            </p:txBody>
          </p:sp>
        </mc:Choice>
        <mc:Fallback xmlns="">
          <p:sp>
            <p:nvSpPr>
              <p:cNvPr id="18" name="TextBox 17"/>
              <p:cNvSpPr txBox="1">
                <a:spLocks noRot="1" noChangeAspect="1" noMove="1" noResize="1" noEditPoints="1" noAdjustHandles="1" noChangeArrowheads="1" noChangeShapeType="1" noTextEdit="1"/>
              </p:cNvSpPr>
              <p:nvPr/>
            </p:nvSpPr>
            <p:spPr>
              <a:xfrm>
                <a:off x="3753220" y="2541554"/>
                <a:ext cx="910883" cy="369332"/>
              </a:xfrm>
              <a:prstGeom prst="rect">
                <a:avLst/>
              </a:prstGeom>
              <a:blipFill rotWithShape="0">
                <a:blip r:embed="rId6"/>
                <a:stretch>
                  <a:fillRect b="-491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1644231" y="2124899"/>
                <a:ext cx="6480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5</m:t>
                      </m:r>
                    </m:oMath>
                  </m:oMathPara>
                </a14:m>
                <a:endParaRPr lang="en-GB" dirty="0"/>
              </a:p>
            </p:txBody>
          </p:sp>
        </mc:Choice>
        <mc:Fallback xmlns="">
          <p:sp>
            <p:nvSpPr>
              <p:cNvPr id="20" name="TextBox 19"/>
              <p:cNvSpPr txBox="1">
                <a:spLocks noRot="1" noChangeAspect="1" noMove="1" noResize="1" noEditPoints="1" noAdjustHandles="1" noChangeArrowheads="1" noChangeShapeType="1" noTextEdit="1"/>
              </p:cNvSpPr>
              <p:nvPr/>
            </p:nvSpPr>
            <p:spPr>
              <a:xfrm>
                <a:off x="1644231" y="2124899"/>
                <a:ext cx="648072" cy="369332"/>
              </a:xfrm>
              <a:prstGeom prst="rect">
                <a:avLst/>
              </a:prstGeom>
              <a:blipFill rotWithShape="0">
                <a:blip r:embed="rId7"/>
                <a:stretch>
                  <a:fillRect/>
                </a:stretch>
              </a:blipFill>
            </p:spPr>
            <p:txBody>
              <a:bodyPr/>
              <a:lstStyle/>
              <a:p>
                <a:r>
                  <a:rPr lang="en-GB">
                    <a:noFill/>
                  </a:rPr>
                  <a:t> </a:t>
                </a:r>
              </a:p>
            </p:txBody>
          </p:sp>
        </mc:Fallback>
      </mc:AlternateContent>
      <p:sp>
        <p:nvSpPr>
          <p:cNvPr id="21" name="Rectangle 20"/>
          <p:cNvSpPr/>
          <p:nvPr/>
        </p:nvSpPr>
        <p:spPr>
          <a:xfrm>
            <a:off x="2383002" y="3553979"/>
            <a:ext cx="616255" cy="45754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22" name="Rectangle 21"/>
          <p:cNvSpPr/>
          <p:nvPr/>
        </p:nvSpPr>
        <p:spPr>
          <a:xfrm>
            <a:off x="4355976" y="2445431"/>
            <a:ext cx="571234" cy="45754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24" name="Rectangle 23"/>
          <p:cNvSpPr/>
          <p:nvPr/>
        </p:nvSpPr>
        <p:spPr>
          <a:xfrm>
            <a:off x="1634798" y="1929335"/>
            <a:ext cx="692429" cy="53842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mc:AlternateContent xmlns:mc="http://schemas.openxmlformats.org/markup-compatibility/2006" xmlns:a14="http://schemas.microsoft.com/office/drawing/2010/main">
        <mc:Choice Requires="a14">
          <p:sp>
            <p:nvSpPr>
              <p:cNvPr id="11" name="TextBox 10"/>
              <p:cNvSpPr txBox="1"/>
              <p:nvPr/>
            </p:nvSpPr>
            <p:spPr>
              <a:xfrm>
                <a:off x="202991" y="823733"/>
                <a:ext cx="4248472" cy="369332"/>
              </a:xfrm>
              <a:prstGeom prst="rect">
                <a:avLst/>
              </a:prstGeom>
              <a:noFill/>
            </p:spPr>
            <p:txBody>
              <a:bodyPr wrap="square" rtlCol="0">
                <a:spAutoFit/>
              </a:bodyPr>
              <a:lstStyle/>
              <a:p>
                <a:r>
                  <a:rPr lang="en-GB" b="0" dirty="0"/>
                  <a:t>Recall: </a:t>
                </a:r>
                <a14:m>
                  <m:oMath xmlns:m="http://schemas.openxmlformats.org/officeDocument/2006/math">
                    <m:r>
                      <m:rPr>
                        <m:sty m:val="p"/>
                      </m:rPr>
                      <a:rPr lang="en-GB" b="0" i="0" smtClean="0">
                        <a:latin typeface="Cambria Math" panose="02040503050406030204" pitchFamily="18" charset="0"/>
                      </a:rPr>
                      <m:t>Δ</m:t>
                    </m:r>
                  </m:oMath>
                </a14:m>
                <a:r>
                  <a:rPr lang="en-GB" dirty="0"/>
                  <a:t> (said ‘delta’) means “change in”.</a:t>
                </a:r>
              </a:p>
            </p:txBody>
          </p:sp>
        </mc:Choice>
        <mc:Fallback xmlns="">
          <p:sp>
            <p:nvSpPr>
              <p:cNvPr id="11" name="TextBox 10"/>
              <p:cNvSpPr txBox="1">
                <a:spLocks noRot="1" noChangeAspect="1" noMove="1" noResize="1" noEditPoints="1" noAdjustHandles="1" noChangeArrowheads="1" noChangeShapeType="1" noTextEdit="1"/>
              </p:cNvSpPr>
              <p:nvPr/>
            </p:nvSpPr>
            <p:spPr>
              <a:xfrm>
                <a:off x="202991" y="823733"/>
                <a:ext cx="4248472" cy="369332"/>
              </a:xfrm>
              <a:prstGeom prst="rect">
                <a:avLst/>
              </a:prstGeom>
              <a:blipFill>
                <a:blip r:embed="rId8"/>
                <a:stretch>
                  <a:fillRect l="-1148" t="-8197" b="-2459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473215" y="4571094"/>
                <a:ext cx="4907989" cy="908903"/>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2400" dirty="0">
                    <a:latin typeface="Wingdings" panose="05000000000000000000" pitchFamily="2" charset="2"/>
                  </a:rPr>
                  <a:t>!</a:t>
                </a:r>
                <a:r>
                  <a:rPr lang="en-GB" sz="2400" dirty="0"/>
                  <a:t> Distance between two points:</a:t>
                </a:r>
              </a:p>
              <a:p>
                <a:pPr/>
                <a14:m>
                  <m:oMathPara xmlns:m="http://schemas.openxmlformats.org/officeDocument/2006/math">
                    <m:oMathParaPr>
                      <m:jc m:val="centerGroup"/>
                    </m:oMathParaPr>
                    <m:oMath xmlns:m="http://schemas.openxmlformats.org/officeDocument/2006/math">
                      <m:rad>
                        <m:radPr>
                          <m:degHide m:val="on"/>
                          <m:ctrlPr>
                            <a:rPr lang="en-GB" sz="2400" b="0" i="1" smtClean="0">
                              <a:latin typeface="Cambria Math" panose="02040503050406030204" pitchFamily="18" charset="0"/>
                            </a:rPr>
                          </m:ctrlPr>
                        </m:radPr>
                        <m:deg/>
                        <m:e>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m:rPr>
                                      <m:sty m:val="p"/>
                                    </m:rPr>
                                    <a:rPr lang="en-GB" sz="2400">
                                      <a:latin typeface="Cambria Math" panose="02040503050406030204" pitchFamily="18" charset="0"/>
                                    </a:rPr>
                                    <m:t>Δ</m:t>
                                  </m:r>
                                  <m:r>
                                    <a:rPr lang="en-GB" sz="2400" i="1">
                                      <a:latin typeface="Cambria Math" panose="02040503050406030204" pitchFamily="18" charset="0"/>
                                    </a:rPr>
                                    <m:t>𝑥</m:t>
                                  </m:r>
                                </m:e>
                              </m:d>
                            </m:e>
                            <m:sup>
                              <m:r>
                                <a:rPr lang="en-GB" sz="2400" i="1">
                                  <a:latin typeface="Cambria Math" panose="02040503050406030204" pitchFamily="18" charset="0"/>
                                </a:rPr>
                                <m:t>2</m:t>
                              </m:r>
                            </m:sup>
                          </m:sSup>
                          <m:r>
                            <a:rPr lang="en-GB" sz="2400" b="0" i="1" smtClean="0">
                              <a:latin typeface="Cambria Math" panose="02040503050406030204" pitchFamily="18" charset="0"/>
                            </a:rPr>
                            <m:t>+</m:t>
                          </m:r>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m:rPr>
                                      <m:sty m:val="p"/>
                                    </m:rPr>
                                    <a:rPr lang="en-GB" sz="2400">
                                      <a:latin typeface="Cambria Math" panose="02040503050406030204" pitchFamily="18" charset="0"/>
                                    </a:rPr>
                                    <m:t>Δ</m:t>
                                  </m:r>
                                  <m:r>
                                    <a:rPr lang="en-GB" sz="2400" b="0" i="1" smtClean="0">
                                      <a:latin typeface="Cambria Math" panose="02040503050406030204" pitchFamily="18" charset="0"/>
                                    </a:rPr>
                                    <m:t>𝑦</m:t>
                                  </m:r>
                                </m:e>
                              </m:d>
                            </m:e>
                            <m:sup>
                              <m:r>
                                <a:rPr lang="en-GB" sz="2400" i="1">
                                  <a:latin typeface="Cambria Math" panose="02040503050406030204" pitchFamily="18" charset="0"/>
                                </a:rPr>
                                <m:t>2</m:t>
                              </m:r>
                            </m:sup>
                          </m:sSup>
                        </m:e>
                      </m:rad>
                    </m:oMath>
                  </m:oMathPara>
                </a14:m>
                <a:endParaRPr lang="en-GB" sz="2400" dirty="0"/>
              </a:p>
            </p:txBody>
          </p:sp>
        </mc:Choice>
        <mc:Fallback xmlns="">
          <p:sp>
            <p:nvSpPr>
              <p:cNvPr id="12" name="TextBox 11"/>
              <p:cNvSpPr txBox="1">
                <a:spLocks noRot="1" noChangeAspect="1" noMove="1" noResize="1" noEditPoints="1" noAdjustHandles="1" noChangeArrowheads="1" noChangeShapeType="1" noTextEdit="1"/>
              </p:cNvSpPr>
              <p:nvPr/>
            </p:nvSpPr>
            <p:spPr>
              <a:xfrm>
                <a:off x="2473215" y="4571094"/>
                <a:ext cx="4907989" cy="908903"/>
              </a:xfrm>
              <a:prstGeom prst="rect">
                <a:avLst/>
              </a:prstGeom>
              <a:blipFill rotWithShape="0">
                <a:blip r:embed="rId9"/>
                <a:stretch>
                  <a:fillRect l="-1731" t="-4575"/>
                </a:stretch>
              </a:blipFill>
            </p:spPr>
            <p:txBody>
              <a:bodyPr/>
              <a:lstStyle/>
              <a:p>
                <a:r>
                  <a:rPr lang="en-GB">
                    <a:noFill/>
                  </a:rPr>
                  <a:t> </a:t>
                </a:r>
              </a:p>
            </p:txBody>
          </p:sp>
        </mc:Fallback>
      </mc:AlternateContent>
    </p:spTree>
    <p:extLst>
      <p:ext uri="{BB962C8B-B14F-4D97-AF65-F5344CB8AC3E}">
        <p14:creationId xmlns:p14="http://schemas.microsoft.com/office/powerpoint/2010/main" val="98949367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 presetClass="entr" presetSubtype="0" fill="hold" grpId="1" nodeType="withEffect">
                                  <p:stCondLst>
                                    <p:cond delay="0"/>
                                  </p:stCondLst>
                                  <p:childTnLst>
                                    <p:set>
                                      <p:cBhvr>
                                        <p:cTn id="21" dur="1" fill="hold">
                                          <p:stCondLst>
                                            <p:cond delay="0"/>
                                          </p:stCondLst>
                                        </p:cTn>
                                        <p:tgtEl>
                                          <p:spTgt spid="21"/>
                                        </p:tgtEl>
                                        <p:attrNameLst>
                                          <p:attrName>style.visibility</p:attrName>
                                        </p:attrNameLst>
                                      </p:cBhvr>
                                      <p:to>
                                        <p:strVal val="visible"/>
                                      </p:to>
                                    </p:set>
                                  </p:childTnLst>
                                </p:cTn>
                              </p:par>
                              <p:par>
                                <p:cTn id="22" presetID="1" presetClass="entr" presetSubtype="0" fill="hold" grpId="1" nodeType="withEffect">
                                  <p:stCondLst>
                                    <p:cond delay="0"/>
                                  </p:stCondLst>
                                  <p:childTnLst>
                                    <p:set>
                                      <p:cBhvr>
                                        <p:cTn id="23" dur="1" fill="hold">
                                          <p:stCondLst>
                                            <p:cond delay="0"/>
                                          </p:stCondLst>
                                        </p:cTn>
                                        <p:tgtEl>
                                          <p:spTgt spid="22"/>
                                        </p:tgtEl>
                                        <p:attrNameLst>
                                          <p:attrName>style.visibility</p:attrName>
                                        </p:attrNameLst>
                                      </p:cBhvr>
                                      <p:to>
                                        <p:strVal val="visible"/>
                                      </p:to>
                                    </p:set>
                                  </p:childTnLst>
                                </p:cTn>
                              </p:par>
                              <p:par>
                                <p:cTn id="24" presetID="1" presetClass="entr" presetSubtype="0" fill="hold" grpId="1" nodeType="with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childTnLst>
                    </p:cTn>
                  </p:par>
                </p:childTnLst>
              </p:cTn>
              <p:nextCondLst>
                <p:cond evt="onClick" delay="0">
                  <p:tgtEl>
                    <p:spTgt spid="15"/>
                  </p:tgtEl>
                </p:cond>
              </p:nextCondLst>
            </p:seq>
            <p:seq concurrent="1" nextAc="seek">
              <p:cTn id="32" restart="whenNotActive" fill="hold" evtFilter="cancelBubble" nodeType="interactiveSeq">
                <p:stCondLst>
                  <p:cond evt="onClick" delay="0">
                    <p:tgtEl>
                      <p:spTgt spid="21"/>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21"/>
                                        </p:tgtEl>
                                      </p:cBhvr>
                                    </p:animEffect>
                                    <p:set>
                                      <p:cBhvr>
                                        <p:cTn id="37"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38" restart="whenNotActive" fill="hold" evtFilter="cancelBubble" nodeType="interactiveSeq">
                <p:stCondLst>
                  <p:cond evt="onClick" delay="0">
                    <p:tgtEl>
                      <p:spTgt spid="22"/>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22"/>
                                        </p:tgtEl>
                                      </p:cBhvr>
                                    </p:animEffect>
                                    <p:set>
                                      <p:cBhvr>
                                        <p:cTn id="43"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44" restart="whenNotActive" fill="hold" evtFilter="cancelBubble" nodeType="interactiveSeq">
                <p:stCondLst>
                  <p:cond evt="onClick" delay="0">
                    <p:tgtEl>
                      <p:spTgt spid="24"/>
                    </p:tgtEl>
                  </p:cond>
                </p:stCondLst>
                <p:endSync evt="end" delay="0">
                  <p:rtn val="all"/>
                </p:endSync>
                <p:childTnLst>
                  <p:par>
                    <p:cTn id="45" fill="hold">
                      <p:stCondLst>
                        <p:cond delay="0"/>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24"/>
                                        </p:tgtEl>
                                      </p:cBhvr>
                                    </p:animEffect>
                                    <p:set>
                                      <p:cBhvr>
                                        <p:cTn id="49" dur="1" fill="hold">
                                          <p:stCondLst>
                                            <p:cond delay="499"/>
                                          </p:stCondLst>
                                        </p:cTn>
                                        <p:tgtEl>
                                          <p:spTgt spid="24"/>
                                        </p:tgtEl>
                                        <p:attrNameLst>
                                          <p:attrName>style.visibility</p:attrName>
                                        </p:attrNameLst>
                                      </p:cBhvr>
                                      <p:to>
                                        <p:strVal val="hidden"/>
                                      </p:to>
                                    </p:set>
                                  </p:childTnLst>
                                </p:cTn>
                              </p:par>
                            </p:childTnLst>
                          </p:cTn>
                        </p:par>
                        <p:par>
                          <p:cTn id="50" fill="hold">
                            <p:stCondLst>
                              <p:cond delay="500"/>
                            </p:stCondLst>
                            <p:childTnLst>
                              <p:par>
                                <p:cTn id="51" presetID="6" presetClass="entr" presetSubtype="16" fill="hold" grpId="0" nodeType="after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circle(in)">
                                      <p:cBhvr>
                                        <p:cTn id="53" dur="1000"/>
                                        <p:tgtEl>
                                          <p:spTgt spid="12"/>
                                        </p:tgtEl>
                                      </p:cBhvr>
                                    </p:animEffect>
                                  </p:childTnLst>
                                </p:cTn>
                              </p:par>
                            </p:childTnLst>
                          </p:cTn>
                        </p:par>
                      </p:childTnLst>
                    </p:cTn>
                  </p:par>
                </p:childTnLst>
              </p:cTn>
              <p:nextCondLst>
                <p:cond evt="onClick" delay="0">
                  <p:tgtEl>
                    <p:spTgt spid="24"/>
                  </p:tgtEl>
                </p:cond>
              </p:nextCondLst>
            </p:seq>
          </p:childTnLst>
        </p:cTn>
      </p:par>
    </p:tnLst>
    <p:bldLst>
      <p:bldP spid="14" grpId="0" animBg="1"/>
      <p:bldP spid="15" grpId="0" animBg="1"/>
      <p:bldP spid="17" grpId="0"/>
      <p:bldP spid="18" grpId="0"/>
      <p:bldP spid="20" grpId="0"/>
      <p:bldP spid="21" grpId="0" animBg="1"/>
      <p:bldP spid="21" grpId="1" animBg="1"/>
      <p:bldP spid="22" grpId="0" animBg="1"/>
      <p:bldP spid="22" grpId="1" animBg="1"/>
      <p:bldP spid="24" grpId="0" animBg="1"/>
      <p:bldP spid="24" grpId="1" animBg="1"/>
      <p:bldP spid="11" grpId="0"/>
      <p:bldP spid="1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Examples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323528" y="836712"/>
                <a:ext cx="5472608" cy="1640449"/>
              </a:xfrm>
              <a:prstGeom prst="rect">
                <a:avLst/>
              </a:prstGeom>
              <a:noFill/>
            </p:spPr>
            <p:txBody>
              <a:bodyPr wrap="square" rtlCol="0">
                <a:spAutoFit/>
              </a:bodyPr>
              <a:lstStyle/>
              <a:p>
                <a:r>
                  <a:rPr lang="en-GB" b="1" dirty="0"/>
                  <a:t>Distance between:</a:t>
                </a:r>
              </a:p>
              <a:p>
                <a:endParaRPr lang="en-GB" dirty="0"/>
              </a:p>
              <a:p>
                <a14:m>
                  <m:oMath xmlns:m="http://schemas.openxmlformats.org/officeDocument/2006/math">
                    <m:r>
                      <a:rPr lang="en-GB" b="0" i="1" smtClean="0">
                        <a:latin typeface="Cambria Math" panose="02040503050406030204" pitchFamily="18" charset="0"/>
                      </a:rPr>
                      <m:t>(3,4)</m:t>
                    </m:r>
                  </m:oMath>
                </a14:m>
                <a:r>
                  <a:rPr lang="en-GB" dirty="0"/>
                  <a:t> and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5,7</m:t>
                        </m:r>
                      </m:e>
                    </m:d>
                  </m:oMath>
                </a14:m>
                <a:r>
                  <a:rPr lang="en-GB" dirty="0"/>
                  <a:t>   		</a:t>
                </a:r>
                <a14:m>
                  <m:oMath xmlns:m="http://schemas.openxmlformats.org/officeDocument/2006/math">
                    <m:rad>
                      <m:radPr>
                        <m:degHide m:val="on"/>
                        <m:ctrlPr>
                          <a:rPr lang="en-GB" b="0" i="1" dirty="0" smtClean="0">
                            <a:latin typeface="Cambria Math" panose="02040503050406030204" pitchFamily="18" charset="0"/>
                          </a:rPr>
                        </m:ctrlPr>
                      </m:radPr>
                      <m:deg/>
                      <m:e>
                        <m:sSup>
                          <m:sSupPr>
                            <m:ctrlPr>
                              <a:rPr lang="en-GB" b="0" i="1" dirty="0" smtClean="0">
                                <a:latin typeface="Cambria Math" panose="02040503050406030204" pitchFamily="18" charset="0"/>
                              </a:rPr>
                            </m:ctrlPr>
                          </m:sSupPr>
                          <m:e>
                            <m:r>
                              <a:rPr lang="en-GB" b="0" i="1" dirty="0" smtClean="0">
                                <a:latin typeface="Cambria Math" panose="02040503050406030204" pitchFamily="18" charset="0"/>
                              </a:rPr>
                              <m:t>2</m:t>
                            </m:r>
                          </m:e>
                          <m:sup>
                            <m:r>
                              <a:rPr lang="en-GB" b="0" i="1" dirty="0" smtClean="0">
                                <a:latin typeface="Cambria Math" panose="02040503050406030204" pitchFamily="18" charset="0"/>
                              </a:rPr>
                              <m:t>2</m:t>
                            </m:r>
                          </m:sup>
                        </m:sSup>
                        <m:r>
                          <a:rPr lang="en-GB" b="0" i="1" dirty="0" smtClean="0">
                            <a:latin typeface="Cambria Math" panose="02040503050406030204" pitchFamily="18" charset="0"/>
                          </a:rPr>
                          <m:t>+</m:t>
                        </m:r>
                        <m:sSup>
                          <m:sSupPr>
                            <m:ctrlPr>
                              <a:rPr lang="en-GB" b="0" i="1" dirty="0" smtClean="0">
                                <a:latin typeface="Cambria Math" panose="02040503050406030204" pitchFamily="18" charset="0"/>
                              </a:rPr>
                            </m:ctrlPr>
                          </m:sSupPr>
                          <m:e>
                            <m:r>
                              <a:rPr lang="en-GB" b="0" i="1" dirty="0" smtClean="0">
                                <a:latin typeface="Cambria Math" panose="02040503050406030204" pitchFamily="18" charset="0"/>
                              </a:rPr>
                              <m:t>3</m:t>
                            </m:r>
                          </m:e>
                          <m:sup>
                            <m:r>
                              <a:rPr lang="en-GB" b="0" i="1" dirty="0" smtClean="0">
                                <a:latin typeface="Cambria Math" panose="02040503050406030204" pitchFamily="18" charset="0"/>
                              </a:rPr>
                              <m:t>2</m:t>
                            </m:r>
                          </m:sup>
                        </m:sSup>
                      </m:e>
                    </m:rad>
                    <m:r>
                      <a:rPr lang="en-GB" b="0" i="1" dirty="0" smtClean="0">
                        <a:latin typeface="Cambria Math" panose="02040503050406030204" pitchFamily="18" charset="0"/>
                      </a:rPr>
                      <m:t>=</m:t>
                    </m:r>
                    <m:rad>
                      <m:radPr>
                        <m:degHide m:val="on"/>
                        <m:ctrlPr>
                          <a:rPr lang="en-GB" b="0" i="1" dirty="0" smtClean="0">
                            <a:latin typeface="Cambria Math" panose="02040503050406030204" pitchFamily="18" charset="0"/>
                          </a:rPr>
                        </m:ctrlPr>
                      </m:radPr>
                      <m:deg/>
                      <m:e>
                        <m:r>
                          <a:rPr lang="en-GB" b="0" i="1" dirty="0" smtClean="0">
                            <a:latin typeface="Cambria Math" panose="02040503050406030204" pitchFamily="18" charset="0"/>
                          </a:rPr>
                          <m:t>13</m:t>
                        </m:r>
                      </m:e>
                    </m:rad>
                  </m:oMath>
                </a14:m>
                <a:endParaRPr lang="en-GB" dirty="0"/>
              </a:p>
              <a:p>
                <a14:m>
                  <m:oMath xmlns:m="http://schemas.openxmlformats.org/officeDocument/2006/math">
                    <m:r>
                      <a:rPr lang="en-GB" i="1">
                        <a:latin typeface="Cambria Math" panose="02040503050406030204" pitchFamily="18" charset="0"/>
                      </a:rPr>
                      <m:t>(</m:t>
                    </m:r>
                    <m:r>
                      <a:rPr lang="en-GB" b="0" i="1" smtClean="0">
                        <a:latin typeface="Cambria Math" panose="02040503050406030204" pitchFamily="18" charset="0"/>
                      </a:rPr>
                      <m:t>5</m:t>
                    </m:r>
                    <m:r>
                      <a:rPr lang="en-GB" i="1">
                        <a:latin typeface="Cambria Math" panose="02040503050406030204" pitchFamily="18" charset="0"/>
                      </a:rPr>
                      <m:t>,</m:t>
                    </m:r>
                    <m:r>
                      <a:rPr lang="en-GB" b="0" i="1" smtClean="0">
                        <a:latin typeface="Cambria Math" panose="02040503050406030204" pitchFamily="18" charset="0"/>
                      </a:rPr>
                      <m:t>1</m:t>
                    </m:r>
                    <m:r>
                      <a:rPr lang="en-GB" i="1">
                        <a:latin typeface="Cambria Math" panose="02040503050406030204" pitchFamily="18" charset="0"/>
                      </a:rPr>
                      <m:t>)</m:t>
                    </m:r>
                  </m:oMath>
                </a14:m>
                <a:r>
                  <a:rPr lang="en-GB" dirty="0"/>
                  <a:t> and </a:t>
                </a:r>
                <a14:m>
                  <m:oMath xmlns:m="http://schemas.openxmlformats.org/officeDocument/2006/math">
                    <m:d>
                      <m:dPr>
                        <m:ctrlPr>
                          <a:rPr lang="en-GB" i="1">
                            <a:latin typeface="Cambria Math" panose="02040503050406030204" pitchFamily="18" charset="0"/>
                          </a:rPr>
                        </m:ctrlPr>
                      </m:dPr>
                      <m:e>
                        <m:r>
                          <a:rPr lang="en-GB" b="0" i="1" smtClean="0">
                            <a:latin typeface="Cambria Math" panose="02040503050406030204" pitchFamily="18" charset="0"/>
                          </a:rPr>
                          <m:t>6</m:t>
                        </m:r>
                        <m:r>
                          <a:rPr lang="en-GB" i="1">
                            <a:latin typeface="Cambria Math" panose="02040503050406030204" pitchFamily="18" charset="0"/>
                          </a:rPr>
                          <m:t>,</m:t>
                        </m:r>
                        <m:r>
                          <a:rPr lang="en-GB" b="0" i="1" smtClean="0">
                            <a:latin typeface="Cambria Math" panose="02040503050406030204" pitchFamily="18" charset="0"/>
                          </a:rPr>
                          <m:t>−3</m:t>
                        </m:r>
                      </m:e>
                    </m:d>
                  </m:oMath>
                </a14:m>
                <a:r>
                  <a:rPr lang="en-GB" dirty="0"/>
                  <a:t>   		</a:t>
                </a:r>
                <a14:m>
                  <m:oMath xmlns:m="http://schemas.openxmlformats.org/officeDocument/2006/math">
                    <m:rad>
                      <m:radPr>
                        <m:degHide m:val="on"/>
                        <m:ctrlPr>
                          <a:rPr lang="en-GB" i="1" dirty="0">
                            <a:latin typeface="Cambria Math" panose="02040503050406030204" pitchFamily="18" charset="0"/>
                          </a:rPr>
                        </m:ctrlPr>
                      </m:radPr>
                      <m:deg/>
                      <m:e>
                        <m:sSup>
                          <m:sSupPr>
                            <m:ctrlPr>
                              <a:rPr lang="en-GB" i="1" dirty="0">
                                <a:latin typeface="Cambria Math" panose="02040503050406030204" pitchFamily="18" charset="0"/>
                              </a:rPr>
                            </m:ctrlPr>
                          </m:sSupPr>
                          <m:e>
                            <m:r>
                              <a:rPr lang="en-GB" b="0" i="1" dirty="0" smtClean="0">
                                <a:latin typeface="Cambria Math" panose="02040503050406030204" pitchFamily="18" charset="0"/>
                              </a:rPr>
                              <m:t>1</m:t>
                            </m:r>
                          </m:e>
                          <m:sup>
                            <m:r>
                              <a:rPr lang="en-GB" i="1" dirty="0">
                                <a:latin typeface="Cambria Math" panose="02040503050406030204" pitchFamily="18" charset="0"/>
                              </a:rPr>
                              <m:t>2</m:t>
                            </m:r>
                          </m:sup>
                        </m:sSup>
                        <m:r>
                          <a:rPr lang="en-GB" i="1" dirty="0">
                            <a:latin typeface="Cambria Math" panose="02040503050406030204" pitchFamily="18" charset="0"/>
                          </a:rPr>
                          <m:t>+</m:t>
                        </m:r>
                        <m:sSup>
                          <m:sSupPr>
                            <m:ctrlPr>
                              <a:rPr lang="en-GB" i="1" dirty="0">
                                <a:latin typeface="Cambria Math" panose="02040503050406030204" pitchFamily="18" charset="0"/>
                              </a:rPr>
                            </m:ctrlPr>
                          </m:sSupPr>
                          <m:e>
                            <m:r>
                              <a:rPr lang="en-GB" b="0" i="1" dirty="0" smtClean="0">
                                <a:latin typeface="Cambria Math" panose="02040503050406030204" pitchFamily="18" charset="0"/>
                              </a:rPr>
                              <m:t>4</m:t>
                            </m:r>
                          </m:e>
                          <m:sup>
                            <m:r>
                              <a:rPr lang="en-GB" i="1" dirty="0">
                                <a:latin typeface="Cambria Math" panose="02040503050406030204" pitchFamily="18" charset="0"/>
                              </a:rPr>
                              <m:t>2</m:t>
                            </m:r>
                          </m:sup>
                        </m:sSup>
                      </m:e>
                    </m:rad>
                    <m:r>
                      <a:rPr lang="en-GB" i="1" dirty="0">
                        <a:latin typeface="Cambria Math" panose="02040503050406030204" pitchFamily="18" charset="0"/>
                      </a:rPr>
                      <m:t>=</m:t>
                    </m:r>
                    <m:rad>
                      <m:radPr>
                        <m:degHide m:val="on"/>
                        <m:ctrlPr>
                          <a:rPr lang="en-GB" i="1" dirty="0">
                            <a:latin typeface="Cambria Math" panose="02040503050406030204" pitchFamily="18" charset="0"/>
                          </a:rPr>
                        </m:ctrlPr>
                      </m:radPr>
                      <m:deg/>
                      <m:e>
                        <m:r>
                          <a:rPr lang="en-GB" i="1" dirty="0">
                            <a:latin typeface="Cambria Math" panose="02040503050406030204" pitchFamily="18" charset="0"/>
                          </a:rPr>
                          <m:t>1</m:t>
                        </m:r>
                        <m:r>
                          <a:rPr lang="en-GB" b="0" i="1" dirty="0" smtClean="0">
                            <a:latin typeface="Cambria Math" panose="02040503050406030204" pitchFamily="18" charset="0"/>
                          </a:rPr>
                          <m:t>7</m:t>
                        </m:r>
                      </m:e>
                    </m:rad>
                  </m:oMath>
                </a14:m>
                <a:endParaRPr lang="en-GB" dirty="0"/>
              </a:p>
              <a:p>
                <a14:m>
                  <m:oMath xmlns:m="http://schemas.openxmlformats.org/officeDocument/2006/math">
                    <m:r>
                      <a:rPr lang="en-GB" i="1">
                        <a:latin typeface="Cambria Math" panose="02040503050406030204" pitchFamily="18" charset="0"/>
                      </a:rPr>
                      <m:t>(</m:t>
                    </m:r>
                    <m:r>
                      <a:rPr lang="en-GB" b="0" i="1" smtClean="0">
                        <a:latin typeface="Cambria Math" panose="02040503050406030204" pitchFamily="18" charset="0"/>
                      </a:rPr>
                      <m:t>0</m:t>
                    </m:r>
                    <m:r>
                      <a:rPr lang="en-GB" i="1">
                        <a:latin typeface="Cambria Math" panose="02040503050406030204" pitchFamily="18" charset="0"/>
                      </a:rPr>
                      <m:t>,</m:t>
                    </m:r>
                    <m:r>
                      <a:rPr lang="en-GB" b="0" i="1" smtClean="0">
                        <a:latin typeface="Cambria Math" panose="02040503050406030204" pitchFamily="18" charset="0"/>
                      </a:rPr>
                      <m:t>−2</m:t>
                    </m:r>
                    <m:r>
                      <a:rPr lang="en-GB" i="1">
                        <a:latin typeface="Cambria Math" panose="02040503050406030204" pitchFamily="18" charset="0"/>
                      </a:rPr>
                      <m:t>)</m:t>
                    </m:r>
                  </m:oMath>
                </a14:m>
                <a:r>
                  <a:rPr lang="en-GB" dirty="0"/>
                  <a:t> and </a:t>
                </a:r>
                <a14:m>
                  <m:oMath xmlns:m="http://schemas.openxmlformats.org/officeDocument/2006/math">
                    <m:d>
                      <m:dPr>
                        <m:ctrlPr>
                          <a:rPr lang="en-GB" i="1">
                            <a:latin typeface="Cambria Math" panose="02040503050406030204" pitchFamily="18" charset="0"/>
                          </a:rPr>
                        </m:ctrlPr>
                      </m:dPr>
                      <m:e>
                        <m:r>
                          <a:rPr lang="en-GB" b="0" i="1" smtClean="0">
                            <a:latin typeface="Cambria Math" panose="02040503050406030204" pitchFamily="18" charset="0"/>
                          </a:rPr>
                          <m:t>−1</m:t>
                        </m:r>
                        <m:r>
                          <a:rPr lang="en-GB" i="1">
                            <a:latin typeface="Cambria Math" panose="02040503050406030204" pitchFamily="18" charset="0"/>
                          </a:rPr>
                          <m:t>,</m:t>
                        </m:r>
                        <m:r>
                          <a:rPr lang="en-GB" b="0" i="1" smtClean="0">
                            <a:latin typeface="Cambria Math" panose="02040503050406030204" pitchFamily="18" charset="0"/>
                          </a:rPr>
                          <m:t>3</m:t>
                        </m:r>
                      </m:e>
                    </m:d>
                  </m:oMath>
                </a14:m>
                <a:r>
                  <a:rPr lang="en-GB" dirty="0"/>
                  <a:t>   	</a:t>
                </a:r>
                <a14:m>
                  <m:oMath xmlns:m="http://schemas.openxmlformats.org/officeDocument/2006/math">
                    <m:rad>
                      <m:radPr>
                        <m:degHide m:val="on"/>
                        <m:ctrlPr>
                          <a:rPr lang="en-GB" i="1" dirty="0">
                            <a:latin typeface="Cambria Math" panose="02040503050406030204" pitchFamily="18" charset="0"/>
                          </a:rPr>
                        </m:ctrlPr>
                      </m:radPr>
                      <m:deg/>
                      <m:e>
                        <m:sSup>
                          <m:sSupPr>
                            <m:ctrlPr>
                              <a:rPr lang="en-GB" i="1" dirty="0">
                                <a:latin typeface="Cambria Math" panose="02040503050406030204" pitchFamily="18" charset="0"/>
                              </a:rPr>
                            </m:ctrlPr>
                          </m:sSupPr>
                          <m:e>
                            <m:r>
                              <a:rPr lang="en-GB" i="1" dirty="0">
                                <a:latin typeface="Cambria Math" panose="02040503050406030204" pitchFamily="18" charset="0"/>
                              </a:rPr>
                              <m:t>1</m:t>
                            </m:r>
                          </m:e>
                          <m:sup>
                            <m:r>
                              <a:rPr lang="en-GB" i="1" dirty="0">
                                <a:latin typeface="Cambria Math" panose="02040503050406030204" pitchFamily="18" charset="0"/>
                              </a:rPr>
                              <m:t>2</m:t>
                            </m:r>
                          </m:sup>
                        </m:sSup>
                        <m:r>
                          <a:rPr lang="en-GB" i="1" dirty="0">
                            <a:latin typeface="Cambria Math" panose="02040503050406030204" pitchFamily="18" charset="0"/>
                          </a:rPr>
                          <m:t>+</m:t>
                        </m:r>
                        <m:sSup>
                          <m:sSupPr>
                            <m:ctrlPr>
                              <a:rPr lang="en-GB" i="1" dirty="0">
                                <a:latin typeface="Cambria Math" panose="02040503050406030204" pitchFamily="18" charset="0"/>
                              </a:rPr>
                            </m:ctrlPr>
                          </m:sSupPr>
                          <m:e>
                            <m:r>
                              <a:rPr lang="en-GB" b="0" i="1" dirty="0" smtClean="0">
                                <a:latin typeface="Cambria Math" panose="02040503050406030204" pitchFamily="18" charset="0"/>
                              </a:rPr>
                              <m:t>5</m:t>
                            </m:r>
                          </m:e>
                          <m:sup>
                            <m:r>
                              <a:rPr lang="en-GB" i="1" dirty="0">
                                <a:latin typeface="Cambria Math" panose="02040503050406030204" pitchFamily="18" charset="0"/>
                              </a:rPr>
                              <m:t>2</m:t>
                            </m:r>
                          </m:sup>
                        </m:sSup>
                      </m:e>
                    </m:rad>
                    <m:r>
                      <a:rPr lang="en-GB" i="1" dirty="0">
                        <a:latin typeface="Cambria Math" panose="02040503050406030204" pitchFamily="18" charset="0"/>
                      </a:rPr>
                      <m:t>=</m:t>
                    </m:r>
                    <m:rad>
                      <m:radPr>
                        <m:degHide m:val="on"/>
                        <m:ctrlPr>
                          <a:rPr lang="en-GB" i="1" dirty="0">
                            <a:latin typeface="Cambria Math" panose="02040503050406030204" pitchFamily="18" charset="0"/>
                          </a:rPr>
                        </m:ctrlPr>
                      </m:radPr>
                      <m:deg/>
                      <m:e>
                        <m:r>
                          <a:rPr lang="en-GB" b="0" i="1" dirty="0" smtClean="0">
                            <a:latin typeface="Cambria Math" panose="02040503050406030204" pitchFamily="18" charset="0"/>
                          </a:rPr>
                          <m:t>26</m:t>
                        </m:r>
                      </m:e>
                    </m:rad>
                  </m:oMath>
                </a14:m>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323528" y="836712"/>
                <a:ext cx="5472608" cy="1640449"/>
              </a:xfrm>
              <a:prstGeom prst="rect">
                <a:avLst/>
              </a:prstGeom>
              <a:blipFill rotWithShape="0">
                <a:blip r:embed="rId2"/>
                <a:stretch>
                  <a:fillRect l="-891" t="-1859" b="-1487"/>
                </a:stretch>
              </a:blipFill>
            </p:spPr>
            <p:txBody>
              <a:bodyPr/>
              <a:lstStyle/>
              <a:p>
                <a:r>
                  <a:rPr lang="en-GB">
                    <a:noFill/>
                  </a:rPr>
                  <a:t> </a:t>
                </a:r>
              </a:p>
            </p:txBody>
          </p:sp>
        </mc:Fallback>
      </mc:AlternateContent>
      <p:sp>
        <p:nvSpPr>
          <p:cNvPr id="6" name="TextBox 5"/>
          <p:cNvSpPr txBox="1"/>
          <p:nvPr/>
        </p:nvSpPr>
        <p:spPr>
          <a:xfrm>
            <a:off x="5864957" y="1872435"/>
            <a:ext cx="3024336" cy="132343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dirty="0"/>
              <a:t>Note</a:t>
            </a:r>
            <a:r>
              <a:rPr lang="en-GB" sz="1600" dirty="0"/>
              <a:t>: Unlike with gradient, we don’t care if the difference is positive or negative (it’s being squared to make it positive anyway!)</a:t>
            </a:r>
          </a:p>
        </p:txBody>
      </p:sp>
      <p:cxnSp>
        <p:nvCxnSpPr>
          <p:cNvPr id="8" name="Straight Arrow Connector 7"/>
          <p:cNvCxnSpPr>
            <a:stCxn id="6" idx="1"/>
          </p:cNvCxnSpPr>
          <p:nvPr/>
        </p:nvCxnSpPr>
        <p:spPr>
          <a:xfrm flipH="1" flipV="1">
            <a:off x="5004048" y="1916832"/>
            <a:ext cx="860909" cy="6173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 name="Rectangle 8"/>
          <p:cNvSpPr/>
          <p:nvPr/>
        </p:nvSpPr>
        <p:spPr>
          <a:xfrm>
            <a:off x="3029803" y="1286724"/>
            <a:ext cx="2015922" cy="40987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10" name="Rectangle 9"/>
          <p:cNvSpPr/>
          <p:nvPr/>
        </p:nvSpPr>
        <p:spPr>
          <a:xfrm>
            <a:off x="3029803" y="1711895"/>
            <a:ext cx="2015922" cy="37029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11" name="Rectangle 10"/>
          <p:cNvSpPr/>
          <p:nvPr/>
        </p:nvSpPr>
        <p:spPr>
          <a:xfrm>
            <a:off x="3038499" y="2094528"/>
            <a:ext cx="2015922" cy="37029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mc:AlternateContent xmlns:mc="http://schemas.openxmlformats.org/markup-compatibility/2006" xmlns:a14="http://schemas.microsoft.com/office/drawing/2010/main">
        <mc:Choice Requires="a14">
          <p:sp>
            <p:nvSpPr>
              <p:cNvPr id="12" name="TextBox 11"/>
              <p:cNvSpPr txBox="1"/>
              <p:nvPr/>
            </p:nvSpPr>
            <p:spPr>
              <a:xfrm>
                <a:off x="367595" y="4162487"/>
                <a:ext cx="5472608" cy="1640449"/>
              </a:xfrm>
              <a:prstGeom prst="rect">
                <a:avLst/>
              </a:prstGeom>
              <a:noFill/>
            </p:spPr>
            <p:txBody>
              <a:bodyPr wrap="square" rtlCol="0">
                <a:spAutoFit/>
              </a:bodyPr>
              <a:lstStyle/>
              <a:p>
                <a:r>
                  <a:rPr lang="en-GB" b="1" dirty="0"/>
                  <a:t>Distance between:</a:t>
                </a:r>
              </a:p>
              <a:p>
                <a:endParaRPr lang="en-GB" dirty="0"/>
              </a:p>
              <a:p>
                <a14:m>
                  <m:oMath xmlns:m="http://schemas.openxmlformats.org/officeDocument/2006/math">
                    <m:r>
                      <a:rPr lang="en-GB" b="0" i="1" smtClean="0">
                        <a:latin typeface="Cambria Math" panose="02040503050406030204" pitchFamily="18" charset="0"/>
                      </a:rPr>
                      <m:t>(1,10)</m:t>
                    </m:r>
                  </m:oMath>
                </a14:m>
                <a:r>
                  <a:rPr lang="en-GB" dirty="0"/>
                  <a:t> and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4,14</m:t>
                        </m:r>
                      </m:e>
                    </m:d>
                  </m:oMath>
                </a14:m>
                <a:r>
                  <a:rPr lang="en-GB" dirty="0"/>
                  <a:t>   	</a:t>
                </a:r>
                <a14:m>
                  <m:oMath xmlns:m="http://schemas.openxmlformats.org/officeDocument/2006/math">
                    <m:rad>
                      <m:radPr>
                        <m:degHide m:val="on"/>
                        <m:ctrlPr>
                          <a:rPr lang="en-GB" b="0" i="1" dirty="0" smtClean="0">
                            <a:latin typeface="Cambria Math" panose="02040503050406030204" pitchFamily="18" charset="0"/>
                          </a:rPr>
                        </m:ctrlPr>
                      </m:radPr>
                      <m:deg/>
                      <m:e>
                        <m:sSup>
                          <m:sSupPr>
                            <m:ctrlPr>
                              <a:rPr lang="en-GB" b="0" i="1" dirty="0" smtClean="0">
                                <a:latin typeface="Cambria Math" panose="02040503050406030204" pitchFamily="18" charset="0"/>
                              </a:rPr>
                            </m:ctrlPr>
                          </m:sSupPr>
                          <m:e>
                            <m:r>
                              <a:rPr lang="en-GB" b="0" i="1" dirty="0" smtClean="0">
                                <a:latin typeface="Cambria Math" panose="02040503050406030204" pitchFamily="18" charset="0"/>
                              </a:rPr>
                              <m:t>3</m:t>
                            </m:r>
                          </m:e>
                          <m:sup>
                            <m:r>
                              <a:rPr lang="en-GB" b="0" i="1" dirty="0" smtClean="0">
                                <a:latin typeface="Cambria Math" panose="02040503050406030204" pitchFamily="18" charset="0"/>
                              </a:rPr>
                              <m:t>2</m:t>
                            </m:r>
                          </m:sup>
                        </m:sSup>
                        <m:r>
                          <a:rPr lang="en-GB" b="0" i="1" dirty="0" smtClean="0">
                            <a:latin typeface="Cambria Math" panose="02040503050406030204" pitchFamily="18" charset="0"/>
                          </a:rPr>
                          <m:t>+</m:t>
                        </m:r>
                        <m:sSup>
                          <m:sSupPr>
                            <m:ctrlPr>
                              <a:rPr lang="en-GB" b="0" i="1" dirty="0" smtClean="0">
                                <a:latin typeface="Cambria Math" panose="02040503050406030204" pitchFamily="18" charset="0"/>
                              </a:rPr>
                            </m:ctrlPr>
                          </m:sSupPr>
                          <m:e>
                            <m:r>
                              <a:rPr lang="en-GB" b="0" i="1" dirty="0" smtClean="0">
                                <a:latin typeface="Cambria Math" panose="02040503050406030204" pitchFamily="18" charset="0"/>
                              </a:rPr>
                              <m:t>4</m:t>
                            </m:r>
                          </m:e>
                          <m:sup>
                            <m:r>
                              <a:rPr lang="en-GB" b="0" i="1" dirty="0" smtClean="0">
                                <a:latin typeface="Cambria Math" panose="02040503050406030204" pitchFamily="18" charset="0"/>
                              </a:rPr>
                              <m:t>2</m:t>
                            </m:r>
                          </m:sup>
                        </m:sSup>
                      </m:e>
                    </m:rad>
                    <m:r>
                      <a:rPr lang="en-GB" b="0" i="1" dirty="0" smtClean="0">
                        <a:latin typeface="Cambria Math" panose="02040503050406030204" pitchFamily="18" charset="0"/>
                      </a:rPr>
                      <m:t>=5</m:t>
                    </m:r>
                  </m:oMath>
                </a14:m>
                <a:endParaRPr lang="en-GB" dirty="0"/>
              </a:p>
              <a:p>
                <a14:m>
                  <m:oMath xmlns:m="http://schemas.openxmlformats.org/officeDocument/2006/math">
                    <m:r>
                      <a:rPr lang="en-GB" i="1">
                        <a:latin typeface="Cambria Math" panose="02040503050406030204" pitchFamily="18" charset="0"/>
                      </a:rPr>
                      <m:t>(</m:t>
                    </m:r>
                    <m:r>
                      <a:rPr lang="en-GB" b="0" i="1" smtClean="0">
                        <a:latin typeface="Cambria Math" panose="02040503050406030204" pitchFamily="18" charset="0"/>
                      </a:rPr>
                      <m:t>3</m:t>
                    </m:r>
                    <m:r>
                      <a:rPr lang="en-GB" i="1">
                        <a:latin typeface="Cambria Math" panose="02040503050406030204" pitchFamily="18" charset="0"/>
                      </a:rPr>
                      <m:t>,</m:t>
                    </m:r>
                    <m:r>
                      <a:rPr lang="en-GB" b="0" i="1" smtClean="0">
                        <a:latin typeface="Cambria Math" panose="02040503050406030204" pitchFamily="18" charset="0"/>
                      </a:rPr>
                      <m:t>−1</m:t>
                    </m:r>
                    <m:r>
                      <a:rPr lang="en-GB" i="1">
                        <a:latin typeface="Cambria Math" panose="02040503050406030204" pitchFamily="18" charset="0"/>
                      </a:rPr>
                      <m:t>)</m:t>
                    </m:r>
                  </m:oMath>
                </a14:m>
                <a:r>
                  <a:rPr lang="en-GB" dirty="0"/>
                  <a:t> and </a:t>
                </a:r>
                <a14:m>
                  <m:oMath xmlns:m="http://schemas.openxmlformats.org/officeDocument/2006/math">
                    <m:d>
                      <m:dPr>
                        <m:ctrlPr>
                          <a:rPr lang="en-GB" i="1">
                            <a:latin typeface="Cambria Math" panose="02040503050406030204" pitchFamily="18" charset="0"/>
                          </a:rPr>
                        </m:ctrlPr>
                      </m:dPr>
                      <m:e>
                        <m:r>
                          <a:rPr lang="en-GB" b="0" i="1" smtClean="0">
                            <a:latin typeface="Cambria Math" panose="02040503050406030204" pitchFamily="18" charset="0"/>
                          </a:rPr>
                          <m:t>0</m:t>
                        </m:r>
                        <m:r>
                          <a:rPr lang="en-GB" i="1">
                            <a:latin typeface="Cambria Math" panose="02040503050406030204" pitchFamily="18" charset="0"/>
                          </a:rPr>
                          <m:t>,</m:t>
                        </m:r>
                        <m:r>
                          <a:rPr lang="en-GB" b="0" i="1" smtClean="0">
                            <a:latin typeface="Cambria Math" panose="02040503050406030204" pitchFamily="18" charset="0"/>
                          </a:rPr>
                          <m:t>1</m:t>
                        </m:r>
                      </m:e>
                    </m:d>
                  </m:oMath>
                </a14:m>
                <a:r>
                  <a:rPr lang="en-GB" dirty="0"/>
                  <a:t>   		</a:t>
                </a:r>
                <a14:m>
                  <m:oMath xmlns:m="http://schemas.openxmlformats.org/officeDocument/2006/math">
                    <m:rad>
                      <m:radPr>
                        <m:degHide m:val="on"/>
                        <m:ctrlPr>
                          <a:rPr lang="en-GB" i="1" dirty="0">
                            <a:latin typeface="Cambria Math" panose="02040503050406030204" pitchFamily="18" charset="0"/>
                          </a:rPr>
                        </m:ctrlPr>
                      </m:radPr>
                      <m:deg/>
                      <m:e>
                        <m:sSup>
                          <m:sSupPr>
                            <m:ctrlPr>
                              <a:rPr lang="en-GB" i="1" dirty="0">
                                <a:latin typeface="Cambria Math" panose="02040503050406030204" pitchFamily="18" charset="0"/>
                              </a:rPr>
                            </m:ctrlPr>
                          </m:sSupPr>
                          <m:e>
                            <m:r>
                              <a:rPr lang="en-GB" b="0" i="1" dirty="0" smtClean="0">
                                <a:latin typeface="Cambria Math" panose="02040503050406030204" pitchFamily="18" charset="0"/>
                              </a:rPr>
                              <m:t>3</m:t>
                            </m:r>
                          </m:e>
                          <m:sup>
                            <m:r>
                              <a:rPr lang="en-GB" i="1" dirty="0">
                                <a:latin typeface="Cambria Math" panose="02040503050406030204" pitchFamily="18" charset="0"/>
                              </a:rPr>
                              <m:t>2</m:t>
                            </m:r>
                          </m:sup>
                        </m:sSup>
                        <m:r>
                          <a:rPr lang="en-GB" i="1" dirty="0">
                            <a:latin typeface="Cambria Math" panose="02040503050406030204" pitchFamily="18" charset="0"/>
                          </a:rPr>
                          <m:t>+</m:t>
                        </m:r>
                        <m:sSup>
                          <m:sSupPr>
                            <m:ctrlPr>
                              <a:rPr lang="en-GB" i="1" dirty="0">
                                <a:latin typeface="Cambria Math" panose="02040503050406030204" pitchFamily="18" charset="0"/>
                              </a:rPr>
                            </m:ctrlPr>
                          </m:sSupPr>
                          <m:e>
                            <m:r>
                              <a:rPr lang="en-GB" b="0" i="1" dirty="0" smtClean="0">
                                <a:latin typeface="Cambria Math" panose="02040503050406030204" pitchFamily="18" charset="0"/>
                              </a:rPr>
                              <m:t>2</m:t>
                            </m:r>
                          </m:e>
                          <m:sup>
                            <m:r>
                              <a:rPr lang="en-GB" i="1" dirty="0">
                                <a:latin typeface="Cambria Math" panose="02040503050406030204" pitchFamily="18" charset="0"/>
                              </a:rPr>
                              <m:t>2</m:t>
                            </m:r>
                          </m:sup>
                        </m:sSup>
                      </m:e>
                    </m:rad>
                    <m:r>
                      <a:rPr lang="en-GB" i="1" dirty="0">
                        <a:latin typeface="Cambria Math" panose="02040503050406030204" pitchFamily="18" charset="0"/>
                      </a:rPr>
                      <m:t>=</m:t>
                    </m:r>
                    <m:rad>
                      <m:radPr>
                        <m:degHide m:val="on"/>
                        <m:ctrlPr>
                          <a:rPr lang="en-GB" i="1" dirty="0">
                            <a:latin typeface="Cambria Math" panose="02040503050406030204" pitchFamily="18" charset="0"/>
                          </a:rPr>
                        </m:ctrlPr>
                      </m:radPr>
                      <m:deg/>
                      <m:e>
                        <m:r>
                          <a:rPr lang="en-GB" i="1" dirty="0" smtClean="0">
                            <a:latin typeface="Cambria Math" panose="02040503050406030204" pitchFamily="18" charset="0"/>
                          </a:rPr>
                          <m:t>1</m:t>
                        </m:r>
                        <m:r>
                          <a:rPr lang="en-GB" b="0" i="1" dirty="0" smtClean="0">
                            <a:latin typeface="Cambria Math" panose="02040503050406030204" pitchFamily="18" charset="0"/>
                          </a:rPr>
                          <m:t>3</m:t>
                        </m:r>
                      </m:e>
                    </m:rad>
                  </m:oMath>
                </a14:m>
                <a:endParaRPr lang="en-GB" dirty="0"/>
              </a:p>
              <a:p>
                <a14:m>
                  <m:oMath xmlns:m="http://schemas.openxmlformats.org/officeDocument/2006/math">
                    <m:r>
                      <a:rPr lang="en-GB" i="1">
                        <a:latin typeface="Cambria Math" panose="02040503050406030204" pitchFamily="18" charset="0"/>
                      </a:rPr>
                      <m:t>(</m:t>
                    </m:r>
                    <m:r>
                      <a:rPr lang="en-GB" b="0" i="1" smtClean="0">
                        <a:latin typeface="Cambria Math" panose="02040503050406030204" pitchFamily="18" charset="0"/>
                      </a:rPr>
                      <m:t>−4</m:t>
                    </m:r>
                    <m:r>
                      <a:rPr lang="en-GB" i="1">
                        <a:latin typeface="Cambria Math" panose="02040503050406030204" pitchFamily="18" charset="0"/>
                      </a:rPr>
                      <m:t>,</m:t>
                    </m:r>
                    <m:r>
                      <a:rPr lang="en-GB" b="0" i="1" smtClean="0">
                        <a:latin typeface="Cambria Math" panose="02040503050406030204" pitchFamily="18" charset="0"/>
                      </a:rPr>
                      <m:t>−2</m:t>
                    </m:r>
                    <m:r>
                      <a:rPr lang="en-GB" i="1">
                        <a:latin typeface="Cambria Math" panose="02040503050406030204" pitchFamily="18" charset="0"/>
                      </a:rPr>
                      <m:t>)</m:t>
                    </m:r>
                  </m:oMath>
                </a14:m>
                <a:r>
                  <a:rPr lang="en-GB" dirty="0"/>
                  <a:t> and </a:t>
                </a:r>
                <a14:m>
                  <m:oMath xmlns:m="http://schemas.openxmlformats.org/officeDocument/2006/math">
                    <m:d>
                      <m:dPr>
                        <m:ctrlPr>
                          <a:rPr lang="en-GB" i="1">
                            <a:latin typeface="Cambria Math" panose="02040503050406030204" pitchFamily="18" charset="0"/>
                          </a:rPr>
                        </m:ctrlPr>
                      </m:dPr>
                      <m:e>
                        <m:r>
                          <a:rPr lang="en-GB" b="0" i="1" smtClean="0">
                            <a:latin typeface="Cambria Math" panose="02040503050406030204" pitchFamily="18" charset="0"/>
                          </a:rPr>
                          <m:t>−12</m:t>
                        </m:r>
                        <m:r>
                          <a:rPr lang="en-GB" i="1">
                            <a:latin typeface="Cambria Math" panose="02040503050406030204" pitchFamily="18" charset="0"/>
                          </a:rPr>
                          <m:t>,</m:t>
                        </m:r>
                        <m:r>
                          <a:rPr lang="en-GB" b="0" i="1" smtClean="0">
                            <a:latin typeface="Cambria Math" panose="02040503050406030204" pitchFamily="18" charset="0"/>
                          </a:rPr>
                          <m:t>4</m:t>
                        </m:r>
                      </m:e>
                    </m:d>
                  </m:oMath>
                </a14:m>
                <a:r>
                  <a:rPr lang="en-GB" dirty="0"/>
                  <a:t>   	</a:t>
                </a:r>
                <a14:m>
                  <m:oMath xmlns:m="http://schemas.openxmlformats.org/officeDocument/2006/math">
                    <m:rad>
                      <m:radPr>
                        <m:degHide m:val="on"/>
                        <m:ctrlPr>
                          <a:rPr lang="en-GB" i="1" dirty="0">
                            <a:latin typeface="Cambria Math" panose="02040503050406030204" pitchFamily="18" charset="0"/>
                          </a:rPr>
                        </m:ctrlPr>
                      </m:radPr>
                      <m:deg/>
                      <m:e>
                        <m:sSup>
                          <m:sSupPr>
                            <m:ctrlPr>
                              <a:rPr lang="en-GB" i="1" dirty="0">
                                <a:latin typeface="Cambria Math" panose="02040503050406030204" pitchFamily="18" charset="0"/>
                              </a:rPr>
                            </m:ctrlPr>
                          </m:sSupPr>
                          <m:e>
                            <m:r>
                              <a:rPr lang="en-GB" b="0" i="1" dirty="0" smtClean="0">
                                <a:latin typeface="Cambria Math" panose="02040503050406030204" pitchFamily="18" charset="0"/>
                              </a:rPr>
                              <m:t>8</m:t>
                            </m:r>
                          </m:e>
                          <m:sup>
                            <m:r>
                              <a:rPr lang="en-GB" i="1" dirty="0">
                                <a:latin typeface="Cambria Math" panose="02040503050406030204" pitchFamily="18" charset="0"/>
                              </a:rPr>
                              <m:t>2</m:t>
                            </m:r>
                          </m:sup>
                        </m:sSup>
                        <m:r>
                          <a:rPr lang="en-GB" i="1" dirty="0">
                            <a:latin typeface="Cambria Math" panose="02040503050406030204" pitchFamily="18" charset="0"/>
                          </a:rPr>
                          <m:t>+</m:t>
                        </m:r>
                        <m:sSup>
                          <m:sSupPr>
                            <m:ctrlPr>
                              <a:rPr lang="en-GB" b="0" i="1" dirty="0" smtClean="0">
                                <a:latin typeface="Cambria Math" panose="02040503050406030204" pitchFamily="18" charset="0"/>
                              </a:rPr>
                            </m:ctrlPr>
                          </m:sSupPr>
                          <m:e>
                            <m:r>
                              <a:rPr lang="en-GB" i="1" dirty="0" smtClean="0">
                                <a:latin typeface="Cambria Math" panose="02040503050406030204" pitchFamily="18" charset="0"/>
                              </a:rPr>
                              <m:t>6</m:t>
                            </m:r>
                          </m:e>
                          <m:sup>
                            <m:r>
                              <a:rPr lang="en-GB" b="0" i="1" dirty="0" smtClean="0">
                                <a:latin typeface="Cambria Math" panose="02040503050406030204" pitchFamily="18" charset="0"/>
                              </a:rPr>
                              <m:t>2</m:t>
                            </m:r>
                          </m:sup>
                        </m:sSup>
                      </m:e>
                    </m:rad>
                    <m:r>
                      <a:rPr lang="en-GB" i="1" dirty="0">
                        <a:latin typeface="Cambria Math" panose="02040503050406030204" pitchFamily="18" charset="0"/>
                      </a:rPr>
                      <m:t>=</m:t>
                    </m:r>
                    <m:r>
                      <a:rPr lang="en-GB" i="1" dirty="0" smtClean="0">
                        <a:latin typeface="Cambria Math" panose="02040503050406030204" pitchFamily="18" charset="0"/>
                      </a:rPr>
                      <m:t>1</m:t>
                    </m:r>
                    <m:r>
                      <a:rPr lang="en-GB" b="0" i="1" dirty="0" smtClean="0">
                        <a:latin typeface="Cambria Math" panose="02040503050406030204" pitchFamily="18" charset="0"/>
                      </a:rPr>
                      <m:t>0</m:t>
                    </m:r>
                  </m:oMath>
                </a14:m>
                <a:endParaRPr lang="en-GB" dirty="0"/>
              </a:p>
            </p:txBody>
          </p:sp>
        </mc:Choice>
        <mc:Fallback xmlns="">
          <p:sp>
            <p:nvSpPr>
              <p:cNvPr id="12" name="TextBox 11"/>
              <p:cNvSpPr txBox="1">
                <a:spLocks noRot="1" noChangeAspect="1" noMove="1" noResize="1" noEditPoints="1" noAdjustHandles="1" noChangeArrowheads="1" noChangeShapeType="1" noTextEdit="1"/>
              </p:cNvSpPr>
              <p:nvPr/>
            </p:nvSpPr>
            <p:spPr>
              <a:xfrm>
                <a:off x="367595" y="4162487"/>
                <a:ext cx="5472608" cy="1640449"/>
              </a:xfrm>
              <a:prstGeom prst="rect">
                <a:avLst/>
              </a:prstGeom>
              <a:blipFill rotWithShape="0">
                <a:blip r:embed="rId3"/>
                <a:stretch>
                  <a:fillRect l="-891" t="-2230" b="-1487"/>
                </a:stretch>
              </a:blipFill>
            </p:spPr>
            <p:txBody>
              <a:bodyPr/>
              <a:lstStyle/>
              <a:p>
                <a:r>
                  <a:rPr lang="en-GB">
                    <a:noFill/>
                  </a:rPr>
                  <a:t> </a:t>
                </a:r>
              </a:p>
            </p:txBody>
          </p:sp>
        </mc:Fallback>
      </mc:AlternateContent>
      <p:sp>
        <p:nvSpPr>
          <p:cNvPr id="13" name="TextBox 12"/>
          <p:cNvSpPr txBox="1"/>
          <p:nvPr/>
        </p:nvSpPr>
        <p:spPr>
          <a:xfrm>
            <a:off x="323528" y="3573016"/>
            <a:ext cx="2520280"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err="1"/>
              <a:t>Quickfire</a:t>
            </a:r>
            <a:r>
              <a:rPr lang="en-GB" dirty="0"/>
              <a:t> Questions:</a:t>
            </a:r>
          </a:p>
        </p:txBody>
      </p:sp>
      <p:sp>
        <p:nvSpPr>
          <p:cNvPr id="14" name="Rectangle 13"/>
          <p:cNvSpPr/>
          <p:nvPr/>
        </p:nvSpPr>
        <p:spPr>
          <a:xfrm>
            <a:off x="3111690" y="4612551"/>
            <a:ext cx="1960780" cy="40987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15" name="Rectangle 14"/>
          <p:cNvSpPr/>
          <p:nvPr/>
        </p:nvSpPr>
        <p:spPr>
          <a:xfrm>
            <a:off x="3111690" y="5037722"/>
            <a:ext cx="1960780" cy="37029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16" name="Rectangle 15"/>
          <p:cNvSpPr/>
          <p:nvPr/>
        </p:nvSpPr>
        <p:spPr>
          <a:xfrm>
            <a:off x="3120386" y="5420355"/>
            <a:ext cx="1960780" cy="370293"/>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2937257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9"/>
                    </p:tgtEl>
                  </p:cond>
                </p:stCondLst>
                <p:endSync evt="end" delay="0">
                  <p:rtn val="all"/>
                </p:endSync>
                <p:childTnLst>
                  <p:par>
                    <p:cTn id="12" fill="hold">
                      <p:stCondLst>
                        <p:cond delay="0"/>
                      </p:stCondLst>
                      <p:childTnLst>
                        <p:par>
                          <p:cTn id="13" fill="hold">
                            <p:stCondLst>
                              <p:cond delay="0"/>
                            </p:stCondLst>
                            <p:childTnLst>
                              <p:par>
                                <p:cTn id="14" presetID="10" presetClass="exit" presetSubtype="0" fill="hold" grpId="0" nodeType="clickEffect">
                                  <p:stCondLst>
                                    <p:cond delay="0"/>
                                  </p:stCondLst>
                                  <p:childTnLst>
                                    <p:animEffect transition="out" filter="fade">
                                      <p:cBhvr>
                                        <p:cTn id="15" dur="500"/>
                                        <p:tgtEl>
                                          <p:spTgt spid="9"/>
                                        </p:tgtEl>
                                      </p:cBhvr>
                                    </p:animEffect>
                                    <p:set>
                                      <p:cBhvr>
                                        <p:cTn id="16"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17" restart="whenNotActive" fill="hold" evtFilter="cancelBubble" nodeType="interactiveSeq">
                <p:stCondLst>
                  <p:cond evt="onClick" delay="0">
                    <p:tgtEl>
                      <p:spTgt spid="10"/>
                    </p:tgtEl>
                  </p:cond>
                </p:stCondLst>
                <p:endSync evt="end" delay="0">
                  <p:rtn val="all"/>
                </p:endSync>
                <p:childTnLst>
                  <p:par>
                    <p:cTn id="18" fill="hold">
                      <p:stCondLst>
                        <p:cond delay="0"/>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23" restart="whenNotActive" fill="hold" evtFilter="cancelBubble" nodeType="interactiveSeq">
                <p:stCondLst>
                  <p:cond evt="onClick" delay="0">
                    <p:tgtEl>
                      <p:spTgt spid="11"/>
                    </p:tgtEl>
                  </p:cond>
                </p:stCondLst>
                <p:endSync evt="end" delay="0">
                  <p:rtn val="all"/>
                </p:endSync>
                <p:childTnLst>
                  <p:par>
                    <p:cTn id="24" fill="hold">
                      <p:stCondLst>
                        <p:cond delay="0"/>
                      </p:stCondLst>
                      <p:childTnLst>
                        <p:par>
                          <p:cTn id="25" fill="hold">
                            <p:stCondLst>
                              <p:cond delay="0"/>
                            </p:stCondLst>
                            <p:childTnLst>
                              <p:par>
                                <p:cTn id="26" presetID="10" presetClass="exit" presetSubtype="0" fill="hold" grpId="0" nodeType="clickEffect">
                                  <p:stCondLst>
                                    <p:cond delay="0"/>
                                  </p:stCondLst>
                                  <p:childTnLst>
                                    <p:animEffect transition="out" filter="fade">
                                      <p:cBhvr>
                                        <p:cTn id="27" dur="500"/>
                                        <p:tgtEl>
                                          <p:spTgt spid="11"/>
                                        </p:tgtEl>
                                      </p:cBhvr>
                                    </p:animEffect>
                                    <p:set>
                                      <p:cBhvr>
                                        <p:cTn id="28"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29" restart="whenNotActive" fill="hold" evtFilter="cancelBubble" nodeType="interactiveSeq">
                <p:stCondLst>
                  <p:cond evt="onClick" delay="0">
                    <p:tgtEl>
                      <p:spTgt spid="14"/>
                    </p:tgtEl>
                  </p:cond>
                </p:stCondLst>
                <p:endSync evt="end" delay="0">
                  <p:rtn val="all"/>
                </p:endSync>
                <p:childTnLst>
                  <p:par>
                    <p:cTn id="30" fill="hold">
                      <p:stCondLst>
                        <p:cond delay="0"/>
                      </p:stCondLst>
                      <p:childTnLst>
                        <p:par>
                          <p:cTn id="31" fill="hold">
                            <p:stCondLst>
                              <p:cond delay="0"/>
                            </p:stCondLst>
                            <p:childTnLst>
                              <p:par>
                                <p:cTn id="32" presetID="10" presetClass="exit" presetSubtype="0" fill="hold" grpId="0" nodeType="clickEffect">
                                  <p:stCondLst>
                                    <p:cond delay="0"/>
                                  </p:stCondLst>
                                  <p:childTnLst>
                                    <p:animEffect transition="out" filter="fade">
                                      <p:cBhvr>
                                        <p:cTn id="33" dur="500"/>
                                        <p:tgtEl>
                                          <p:spTgt spid="14"/>
                                        </p:tgtEl>
                                      </p:cBhvr>
                                    </p:animEffect>
                                    <p:set>
                                      <p:cBhvr>
                                        <p:cTn id="34"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35" restart="whenNotActive" fill="hold" evtFilter="cancelBubble" nodeType="interactiveSeq">
                <p:stCondLst>
                  <p:cond evt="onClick" delay="0">
                    <p:tgtEl>
                      <p:spTgt spid="15"/>
                    </p:tgtEl>
                  </p:cond>
                </p:stCondLst>
                <p:endSync evt="end" delay="0">
                  <p:rtn val="all"/>
                </p:endSync>
                <p:childTnLst>
                  <p:par>
                    <p:cTn id="36" fill="hold">
                      <p:stCondLst>
                        <p:cond delay="0"/>
                      </p:stCondLst>
                      <p:childTnLst>
                        <p:par>
                          <p:cTn id="37" fill="hold">
                            <p:stCondLst>
                              <p:cond delay="0"/>
                            </p:stCondLst>
                            <p:childTnLst>
                              <p:par>
                                <p:cTn id="38" presetID="10" presetClass="exit" presetSubtype="0" fill="hold" grpId="0" nodeType="clickEffect">
                                  <p:stCondLst>
                                    <p:cond delay="0"/>
                                  </p:stCondLst>
                                  <p:childTnLst>
                                    <p:animEffect transition="out" filter="fade">
                                      <p:cBhvr>
                                        <p:cTn id="39" dur="500"/>
                                        <p:tgtEl>
                                          <p:spTgt spid="15"/>
                                        </p:tgtEl>
                                      </p:cBhvr>
                                    </p:animEffect>
                                    <p:set>
                                      <p:cBhvr>
                                        <p:cTn id="40"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41" restart="whenNotActive" fill="hold" evtFilter="cancelBubble" nodeType="interactiveSeq">
                <p:stCondLst>
                  <p:cond evt="onClick" delay="0">
                    <p:tgtEl>
                      <p:spTgt spid="16"/>
                    </p:tgtEl>
                  </p:cond>
                </p:stCondLst>
                <p:endSync evt="end" delay="0">
                  <p:rtn val="all"/>
                </p:endSync>
                <p:childTnLst>
                  <p:par>
                    <p:cTn id="42" fill="hold">
                      <p:stCondLst>
                        <p:cond delay="0"/>
                      </p:stCondLst>
                      <p:childTnLst>
                        <p:par>
                          <p:cTn id="43" fill="hold">
                            <p:stCondLst>
                              <p:cond delay="0"/>
                            </p:stCondLst>
                            <p:childTnLst>
                              <p:par>
                                <p:cTn id="44" presetID="10" presetClass="exit" presetSubtype="0" fill="hold" grpId="0" nodeType="clickEffect">
                                  <p:stCondLst>
                                    <p:cond delay="0"/>
                                  </p:stCondLst>
                                  <p:childTnLst>
                                    <p:animEffect transition="out" filter="fade">
                                      <p:cBhvr>
                                        <p:cTn id="45" dur="500"/>
                                        <p:tgtEl>
                                          <p:spTgt spid="16"/>
                                        </p:tgtEl>
                                      </p:cBhvr>
                                    </p:animEffect>
                                    <p:set>
                                      <p:cBhvr>
                                        <p:cTn id="46"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childTnLst>
        </p:cTn>
      </p:par>
    </p:tnLst>
    <p:bldLst>
      <p:bldP spid="6" grpId="0" animBg="1"/>
      <p:bldP spid="9" grpId="0" animBg="1"/>
      <p:bldP spid="10" grpId="0" animBg="1"/>
      <p:bldP spid="11" grpId="0" animBg="1"/>
      <p:bldP spid="14" grpId="0" animBg="1"/>
      <p:bldP spid="15" grpId="0" animBg="1"/>
      <p:bldP spid="1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Area of Shapes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6" name="Straight Arrow Connector 5"/>
          <p:cNvCxnSpPr/>
          <p:nvPr/>
        </p:nvCxnSpPr>
        <p:spPr>
          <a:xfrm flipV="1">
            <a:off x="1043608" y="1340768"/>
            <a:ext cx="0" cy="309634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p:cNvCxnSpPr/>
          <p:nvPr/>
        </p:nvCxnSpPr>
        <p:spPr>
          <a:xfrm>
            <a:off x="1043608" y="4437112"/>
            <a:ext cx="367240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4699889" y="4238012"/>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𝑥</m:t>
                      </m:r>
                    </m:oMath>
                  </m:oMathPara>
                </a14:m>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4699889" y="4238012"/>
                <a:ext cx="360040" cy="369332"/>
              </a:xfrm>
              <a:prstGeom prst="rect">
                <a:avLst/>
              </a:prstGeom>
              <a:blipFill rotWithShape="0">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863588" y="958529"/>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oMath>
                  </m:oMathPara>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863588" y="958529"/>
                <a:ext cx="360040" cy="369332"/>
              </a:xfrm>
              <a:prstGeom prst="rect">
                <a:avLst/>
              </a:prstGeom>
              <a:blipFill rotWithShape="0">
                <a:blip r:embed="rId3"/>
                <a:stretch>
                  <a:fillRect b="-6557"/>
                </a:stretch>
              </a:blipFill>
            </p:spPr>
            <p:txBody>
              <a:bodyPr/>
              <a:lstStyle/>
              <a:p>
                <a:r>
                  <a:rPr lang="en-GB">
                    <a:noFill/>
                  </a:rPr>
                  <a:t> </a:t>
                </a:r>
              </a:p>
            </p:txBody>
          </p:sp>
        </mc:Fallback>
      </mc:AlternateContent>
      <p:cxnSp>
        <p:nvCxnSpPr>
          <p:cNvPr id="13" name="Straight Connector 12"/>
          <p:cNvCxnSpPr/>
          <p:nvPr/>
        </p:nvCxnSpPr>
        <p:spPr>
          <a:xfrm flipV="1">
            <a:off x="1043608" y="1327861"/>
            <a:ext cx="1152128" cy="3094817"/>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flipH="1" flipV="1">
            <a:off x="725053" y="1761434"/>
            <a:ext cx="3630923" cy="284591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2520006" y="3109044"/>
                <a:ext cx="200009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+2</m:t>
                      </m:r>
                      <m:r>
                        <a:rPr lang="en-GB" b="0" i="1" smtClean="0">
                          <a:latin typeface="Cambria Math" panose="02040503050406030204" pitchFamily="18" charset="0"/>
                        </a:rPr>
                        <m:t>𝑦</m:t>
                      </m:r>
                      <m:r>
                        <a:rPr lang="en-GB" b="0" i="1" smtClean="0">
                          <a:latin typeface="Cambria Math" panose="02040503050406030204" pitchFamily="18" charset="0"/>
                        </a:rPr>
                        <m:t>=4</m:t>
                      </m:r>
                    </m:oMath>
                  </m:oMathPara>
                </a14:m>
                <a:endParaRPr lang="en-GB" dirty="0"/>
              </a:p>
            </p:txBody>
          </p:sp>
        </mc:Choice>
        <mc:Fallback xmlns="">
          <p:sp>
            <p:nvSpPr>
              <p:cNvPr id="17" name="TextBox 16"/>
              <p:cNvSpPr txBox="1">
                <a:spLocks noRot="1" noChangeAspect="1" noMove="1" noResize="1" noEditPoints="1" noAdjustHandles="1" noChangeArrowheads="1" noChangeShapeType="1" noTextEdit="1"/>
              </p:cNvSpPr>
              <p:nvPr/>
            </p:nvSpPr>
            <p:spPr>
              <a:xfrm>
                <a:off x="2520006" y="3109044"/>
                <a:ext cx="2000097" cy="369332"/>
              </a:xfrm>
              <a:prstGeom prst="rect">
                <a:avLst/>
              </a:prstGeom>
              <a:blipFill rotWithShape="0">
                <a:blip r:embed="rId4"/>
                <a:stretch>
                  <a:fillRect b="-1147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1699745" y="1594602"/>
                <a:ext cx="164812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=3</m:t>
                      </m:r>
                      <m:r>
                        <a:rPr lang="en-GB" b="0" i="1" smtClean="0">
                          <a:latin typeface="Cambria Math" panose="02040503050406030204" pitchFamily="18" charset="0"/>
                        </a:rPr>
                        <m:t>𝑥</m:t>
                      </m:r>
                    </m:oMath>
                  </m:oMathPara>
                </a14:m>
                <a:endParaRPr lang="en-GB" dirty="0"/>
              </a:p>
            </p:txBody>
          </p:sp>
        </mc:Choice>
        <mc:Fallback xmlns="">
          <p:sp>
            <p:nvSpPr>
              <p:cNvPr id="18" name="TextBox 17"/>
              <p:cNvSpPr txBox="1">
                <a:spLocks noRot="1" noChangeAspect="1" noMove="1" noResize="1" noEditPoints="1" noAdjustHandles="1" noChangeArrowheads="1" noChangeShapeType="1" noTextEdit="1"/>
              </p:cNvSpPr>
              <p:nvPr/>
            </p:nvSpPr>
            <p:spPr>
              <a:xfrm>
                <a:off x="1699745" y="1594602"/>
                <a:ext cx="1648120" cy="369332"/>
              </a:xfrm>
              <a:prstGeom prst="rect">
                <a:avLst/>
              </a:prstGeom>
              <a:blipFill rotWithShape="0">
                <a:blip r:embed="rId5"/>
                <a:stretch>
                  <a:fillRect b="-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5281447" y="691884"/>
                <a:ext cx="3616527" cy="5967531"/>
              </a:xfrm>
              <a:prstGeom prst="rect">
                <a:avLst/>
              </a:prstGeom>
              <a:noFill/>
            </p:spPr>
            <p:txBody>
              <a:bodyPr wrap="square" rtlCol="0">
                <a:spAutoFit/>
              </a:bodyPr>
              <a:lstStyle/>
              <a:p>
                <a:r>
                  <a:rPr lang="en-GB" dirty="0"/>
                  <a:t>The diagram shows two lines with equations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=3</m:t>
                    </m:r>
                    <m:r>
                      <a:rPr lang="en-GB" b="0" i="1" smtClean="0">
                        <a:latin typeface="Cambria Math" panose="02040503050406030204" pitchFamily="18" charset="0"/>
                      </a:rPr>
                      <m:t>𝑥</m:t>
                    </m:r>
                  </m:oMath>
                </a14:m>
                <a:r>
                  <a:rPr lang="en-GB" dirty="0"/>
                  <a:t> and </a:t>
                </a:r>
                <a14:m>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+2</m:t>
                    </m:r>
                    <m:r>
                      <a:rPr lang="en-GB" b="0" i="1" smtClean="0">
                        <a:latin typeface="Cambria Math" panose="02040503050406030204" pitchFamily="18" charset="0"/>
                      </a:rPr>
                      <m:t>𝑦</m:t>
                    </m:r>
                    <m:r>
                      <a:rPr lang="en-GB" b="0" i="1" smtClean="0">
                        <a:latin typeface="Cambria Math" panose="02040503050406030204" pitchFamily="18" charset="0"/>
                      </a:rPr>
                      <m:t>=4</m:t>
                    </m:r>
                  </m:oMath>
                </a14:m>
                <a:r>
                  <a:rPr lang="en-GB" dirty="0"/>
                  <a:t>, which intersect at the point </a:t>
                </a:r>
                <a14:m>
                  <m:oMath xmlns:m="http://schemas.openxmlformats.org/officeDocument/2006/math">
                    <m:r>
                      <a:rPr lang="en-GB" b="0" i="1" smtClean="0">
                        <a:latin typeface="Cambria Math" panose="02040503050406030204" pitchFamily="18" charset="0"/>
                      </a:rPr>
                      <m:t>𝑃</m:t>
                    </m:r>
                  </m:oMath>
                </a14:m>
                <a:r>
                  <a:rPr lang="en-GB" dirty="0"/>
                  <a:t>.</a:t>
                </a:r>
              </a:p>
              <a:p>
                <a:endParaRPr lang="en-GB" dirty="0"/>
              </a:p>
              <a:p>
                <a:pPr marL="342900" indent="-342900">
                  <a:buAutoNum type="alphaLcParenR"/>
                </a:pPr>
                <a:r>
                  <a:rPr lang="en-GB" dirty="0"/>
                  <a:t>Determine the coordinates of </a:t>
                </a:r>
                <a14:m>
                  <m:oMath xmlns:m="http://schemas.openxmlformats.org/officeDocument/2006/math">
                    <m:r>
                      <a:rPr lang="en-GB" b="0" i="1" smtClean="0">
                        <a:latin typeface="Cambria Math" panose="02040503050406030204" pitchFamily="18" charset="0"/>
                      </a:rPr>
                      <m:t>𝑃</m:t>
                    </m:r>
                  </m:oMath>
                </a14:m>
                <a:r>
                  <a:rPr lang="en-GB" dirty="0"/>
                  <a:t>.</a:t>
                </a:r>
                <a:br>
                  <a:rPr lang="en-GB" dirty="0"/>
                </a:br>
                <a:br>
                  <a:rPr lang="en-GB" dirty="0"/>
                </a:br>
                <a:r>
                  <a:rPr lang="en-GB" i="1" dirty="0"/>
                  <a:t>(We did this in a previous lesson)</a:t>
                </a:r>
              </a:p>
              <a:p>
                <a:pPr/>
                <a:r>
                  <a:rPr lang="en-GB" b="1" dirty="0"/>
                  <a:t>     Just solve two equations</a:t>
                </a:r>
                <a:br>
                  <a:rPr lang="en-GB" b="1" dirty="0"/>
                </a:br>
                <a:r>
                  <a:rPr lang="en-GB" b="1" dirty="0"/>
                  <a:t>     simultaneously.</a:t>
                </a:r>
                <a:br>
                  <a:rPr lang="en-GB" b="1" dirty="0"/>
                </a:b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𝟐</m:t>
                      </m:r>
                      <m:d>
                        <m:dPr>
                          <m:ctrlPr>
                            <a:rPr lang="en-GB" b="1" i="1" smtClean="0">
                              <a:latin typeface="Cambria Math" panose="02040503050406030204" pitchFamily="18" charset="0"/>
                            </a:rPr>
                          </m:ctrlPr>
                        </m:dPr>
                        <m:e>
                          <m:r>
                            <a:rPr lang="en-GB" b="1" i="1" smtClean="0">
                              <a:latin typeface="Cambria Math" panose="02040503050406030204" pitchFamily="18" charset="0"/>
                            </a:rPr>
                            <m:t>𝟑</m:t>
                          </m:r>
                          <m:r>
                            <a:rPr lang="en-GB" b="1" i="1" smtClean="0">
                              <a:latin typeface="Cambria Math" panose="02040503050406030204" pitchFamily="18" charset="0"/>
                            </a:rPr>
                            <m:t>𝒙</m:t>
                          </m:r>
                        </m:e>
                      </m:d>
                      <m:r>
                        <a:rPr lang="en-GB" b="1" i="1" smtClean="0">
                          <a:latin typeface="Cambria Math" panose="02040503050406030204" pitchFamily="18" charset="0"/>
                        </a:rPr>
                        <m:t>=</m:t>
                      </m:r>
                      <m:r>
                        <a:rPr lang="en-GB" b="1" i="1" smtClean="0">
                          <a:latin typeface="Cambria Math" panose="02040503050406030204" pitchFamily="18" charset="0"/>
                        </a:rPr>
                        <m:t>𝟒</m:t>
                      </m:r>
                    </m:oMath>
                    <m:oMath xmlns:m="http://schemas.openxmlformats.org/officeDocument/2006/math">
                      <m:r>
                        <a:rPr lang="en-GB" b="1" i="1" smtClean="0">
                          <a:latin typeface="Cambria Math" panose="02040503050406030204" pitchFamily="18" charset="0"/>
                        </a:rPr>
                        <m:t>𝟕</m:t>
                      </m:r>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𝟒</m:t>
                      </m:r>
                    </m:oMath>
                    <m:oMath xmlns:m="http://schemas.openxmlformats.org/officeDocument/2006/math">
                      <m:r>
                        <a:rPr lang="en-GB" b="1" i="1" smtClean="0">
                          <a:latin typeface="Cambria Math" panose="02040503050406030204" pitchFamily="18" charset="0"/>
                        </a:rPr>
                        <m:t>𝒙</m:t>
                      </m:r>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𝟒</m:t>
                          </m:r>
                        </m:num>
                        <m:den>
                          <m:r>
                            <a:rPr lang="en-GB" b="1" i="1" smtClean="0">
                              <a:latin typeface="Cambria Math" panose="02040503050406030204" pitchFamily="18" charset="0"/>
                            </a:rPr>
                            <m:t>𝟕</m:t>
                          </m:r>
                        </m:den>
                      </m:f>
                    </m:oMath>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𝟑</m:t>
                      </m:r>
                      <m:d>
                        <m:dPr>
                          <m:ctrlPr>
                            <a:rPr lang="en-GB" b="1" i="1" smtClean="0">
                              <a:latin typeface="Cambria Math" panose="02040503050406030204" pitchFamily="18" charset="0"/>
                            </a:rPr>
                          </m:ctrlPr>
                        </m:dPr>
                        <m:e>
                          <m:f>
                            <m:fPr>
                              <m:ctrlPr>
                                <a:rPr lang="en-GB" b="1" i="1" smtClean="0">
                                  <a:latin typeface="Cambria Math" panose="02040503050406030204" pitchFamily="18" charset="0"/>
                                </a:rPr>
                              </m:ctrlPr>
                            </m:fPr>
                            <m:num>
                              <m:r>
                                <a:rPr lang="en-GB" b="1" i="1" smtClean="0">
                                  <a:latin typeface="Cambria Math" panose="02040503050406030204" pitchFamily="18" charset="0"/>
                                </a:rPr>
                                <m:t>𝟒</m:t>
                              </m:r>
                            </m:num>
                            <m:den>
                              <m:r>
                                <a:rPr lang="en-GB" b="1" i="1" smtClean="0">
                                  <a:latin typeface="Cambria Math" panose="02040503050406030204" pitchFamily="18" charset="0"/>
                                </a:rPr>
                                <m:t>𝟕</m:t>
                              </m:r>
                            </m:den>
                          </m:f>
                        </m:e>
                      </m:d>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𝟏𝟐</m:t>
                          </m:r>
                        </m:num>
                        <m:den>
                          <m:r>
                            <a:rPr lang="en-GB" b="1" i="1" smtClean="0">
                              <a:latin typeface="Cambria Math" panose="02040503050406030204" pitchFamily="18" charset="0"/>
                            </a:rPr>
                            <m:t>𝟕</m:t>
                          </m:r>
                        </m:den>
                      </m:f>
                    </m:oMath>
                  </m:oMathPara>
                </a14:m>
                <a:endParaRPr lang="en-GB" b="1" dirty="0"/>
              </a:p>
              <a:p>
                <a:endParaRPr lang="en-GB" dirty="0"/>
              </a:p>
              <a:p>
                <a:r>
                  <a:rPr lang="en-GB" dirty="0"/>
                  <a:t>b) The line </a:t>
                </a:r>
                <a14:m>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+2</m:t>
                    </m:r>
                    <m:r>
                      <a:rPr lang="en-GB" b="0" i="1" smtClean="0">
                        <a:latin typeface="Cambria Math" panose="02040503050406030204" pitchFamily="18" charset="0"/>
                      </a:rPr>
                      <m:t>𝑦</m:t>
                    </m:r>
                    <m:r>
                      <a:rPr lang="en-GB" b="0" i="1" smtClean="0">
                        <a:latin typeface="Cambria Math" panose="02040503050406030204" pitchFamily="18" charset="0"/>
                      </a:rPr>
                      <m:t>=4</m:t>
                    </m:r>
                  </m:oMath>
                </a14:m>
                <a:r>
                  <a:rPr lang="en-GB" dirty="0"/>
                  <a:t> intersects the </a:t>
                </a:r>
                <a14:m>
                  <m:oMath xmlns:m="http://schemas.openxmlformats.org/officeDocument/2006/math">
                    <m:r>
                      <a:rPr lang="en-GB" b="0" i="1" smtClean="0">
                        <a:latin typeface="Cambria Math" panose="02040503050406030204" pitchFamily="18" charset="0"/>
                      </a:rPr>
                      <m:t>𝑥</m:t>
                    </m:r>
                  </m:oMath>
                </a14:m>
                <a:r>
                  <a:rPr lang="en-GB" dirty="0"/>
                  <a:t>-axis at the point </a:t>
                </a:r>
                <a14:m>
                  <m:oMath xmlns:m="http://schemas.openxmlformats.org/officeDocument/2006/math">
                    <m:r>
                      <a:rPr lang="en-GB" b="0" i="1" smtClean="0">
                        <a:latin typeface="Cambria Math" panose="02040503050406030204" pitchFamily="18" charset="0"/>
                      </a:rPr>
                      <m:t>𝑄</m:t>
                    </m:r>
                  </m:oMath>
                </a14:m>
                <a:r>
                  <a:rPr lang="en-GB" dirty="0"/>
                  <a:t>. Determine the area of the triangle </a:t>
                </a:r>
                <a14:m>
                  <m:oMath xmlns:m="http://schemas.openxmlformats.org/officeDocument/2006/math">
                    <m:r>
                      <a:rPr lang="en-GB" b="0" i="1" smtClean="0">
                        <a:latin typeface="Cambria Math" panose="02040503050406030204" pitchFamily="18" charset="0"/>
                      </a:rPr>
                      <m:t>𝑂𝑃𝑄</m:t>
                    </m:r>
                  </m:oMath>
                </a14:m>
                <a:r>
                  <a:rPr lang="en-GB" dirty="0"/>
                  <a:t>.</a:t>
                </a:r>
              </a:p>
              <a:p>
                <a:r>
                  <a:rPr lang="en-GB" b="1" dirty="0"/>
                  <a:t>When </a:t>
                </a:r>
                <a14:m>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𝟎</m:t>
                    </m:r>
                    <m:r>
                      <a:rPr lang="en-GB" b="1" i="1" smtClean="0">
                        <a:latin typeface="Cambria Math" panose="02040503050406030204" pitchFamily="18" charset="0"/>
                      </a:rPr>
                      <m:t>, </m:t>
                    </m:r>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𝟒</m:t>
                    </m:r>
                  </m:oMath>
                </a14:m>
                <a:endParaRPr lang="en-GB" b="1" dirty="0"/>
              </a:p>
              <a:p>
                <a:r>
                  <a:rPr lang="en-GB" b="1" dirty="0"/>
                  <a:t>Area </a:t>
                </a:r>
                <a14:m>
                  <m:oMath xmlns:m="http://schemas.openxmlformats.org/officeDocument/2006/math">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𝟐</m:t>
                        </m:r>
                      </m:den>
                    </m:f>
                    <m:r>
                      <a:rPr lang="en-GB" b="1" i="1" smtClean="0">
                        <a:latin typeface="Cambria Math" panose="02040503050406030204" pitchFamily="18" charset="0"/>
                      </a:rPr>
                      <m:t>×</m:t>
                    </m:r>
                    <m:r>
                      <a:rPr lang="en-GB" b="1" i="1" smtClean="0">
                        <a:latin typeface="Cambria Math" panose="02040503050406030204" pitchFamily="18" charset="0"/>
                      </a:rPr>
                      <m:t>𝟒</m:t>
                    </m:r>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𝟏𝟐</m:t>
                        </m:r>
                      </m:num>
                      <m:den>
                        <m:r>
                          <a:rPr lang="en-GB" b="1" i="1" smtClean="0">
                            <a:latin typeface="Cambria Math" panose="02040503050406030204" pitchFamily="18" charset="0"/>
                          </a:rPr>
                          <m:t>𝟕</m:t>
                        </m:r>
                      </m:den>
                    </m:f>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𝟐𝟒</m:t>
                        </m:r>
                      </m:num>
                      <m:den>
                        <m:r>
                          <a:rPr lang="en-GB" b="1" i="1" smtClean="0">
                            <a:latin typeface="Cambria Math" panose="02040503050406030204" pitchFamily="18" charset="0"/>
                          </a:rPr>
                          <m:t>𝟕</m:t>
                        </m:r>
                      </m:den>
                    </m:f>
                  </m:oMath>
                </a14:m>
                <a:endParaRPr lang="en-GB" dirty="0"/>
              </a:p>
            </p:txBody>
          </p:sp>
        </mc:Choice>
        <mc:Fallback xmlns="">
          <p:sp>
            <p:nvSpPr>
              <p:cNvPr id="19" name="TextBox 18"/>
              <p:cNvSpPr txBox="1">
                <a:spLocks noRot="1" noChangeAspect="1" noMove="1" noResize="1" noEditPoints="1" noAdjustHandles="1" noChangeArrowheads="1" noChangeShapeType="1" noTextEdit="1"/>
              </p:cNvSpPr>
              <p:nvPr/>
            </p:nvSpPr>
            <p:spPr>
              <a:xfrm>
                <a:off x="5281447" y="691884"/>
                <a:ext cx="3616527" cy="5967531"/>
              </a:xfrm>
              <a:prstGeom prst="rect">
                <a:avLst/>
              </a:prstGeom>
              <a:blipFill>
                <a:blip r:embed="rId6"/>
                <a:stretch>
                  <a:fillRect l="-1347" t="-511" r="-84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1625064" y="2321965"/>
                <a:ext cx="60803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oMath>
                  </m:oMathPara>
                </a14:m>
                <a:endParaRPr lang="en-GB" dirty="0"/>
              </a:p>
            </p:txBody>
          </p:sp>
        </mc:Choice>
        <mc:Fallback xmlns="">
          <p:sp>
            <p:nvSpPr>
              <p:cNvPr id="20" name="TextBox 19"/>
              <p:cNvSpPr txBox="1">
                <a:spLocks noRot="1" noChangeAspect="1" noMove="1" noResize="1" noEditPoints="1" noAdjustHandles="1" noChangeArrowheads="1" noChangeShapeType="1" noTextEdit="1"/>
              </p:cNvSpPr>
              <p:nvPr/>
            </p:nvSpPr>
            <p:spPr>
              <a:xfrm>
                <a:off x="1625064" y="2321965"/>
                <a:ext cx="608037" cy="369332"/>
              </a:xfrm>
              <a:prstGeom prst="rect">
                <a:avLst/>
              </a:prstGeom>
              <a:blipFill rotWithShape="0">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3726214" y="4437112"/>
                <a:ext cx="60803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𝑄</m:t>
                      </m:r>
                    </m:oMath>
                  </m:oMathPara>
                </a14:m>
                <a:endParaRPr lang="en-GB" dirty="0"/>
              </a:p>
            </p:txBody>
          </p:sp>
        </mc:Choice>
        <mc:Fallback xmlns="">
          <p:sp>
            <p:nvSpPr>
              <p:cNvPr id="21" name="TextBox 20"/>
              <p:cNvSpPr txBox="1">
                <a:spLocks noRot="1" noChangeAspect="1" noMove="1" noResize="1" noEditPoints="1" noAdjustHandles="1" noChangeArrowheads="1" noChangeShapeType="1" noTextEdit="1"/>
              </p:cNvSpPr>
              <p:nvPr/>
            </p:nvSpPr>
            <p:spPr>
              <a:xfrm>
                <a:off x="3726214" y="4437112"/>
                <a:ext cx="608037" cy="369332"/>
              </a:xfrm>
              <a:prstGeom prst="rect">
                <a:avLst/>
              </a:prstGeom>
              <a:blipFill rotWithShape="0">
                <a:blip r:embed="rId8"/>
                <a:stretch>
                  <a:fillRect b="-1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702391" y="4437112"/>
                <a:ext cx="60803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𝑂</m:t>
                      </m:r>
                    </m:oMath>
                  </m:oMathPara>
                </a14:m>
                <a:endParaRPr lang="en-GB" dirty="0"/>
              </a:p>
            </p:txBody>
          </p:sp>
        </mc:Choice>
        <mc:Fallback xmlns="">
          <p:sp>
            <p:nvSpPr>
              <p:cNvPr id="22" name="TextBox 21"/>
              <p:cNvSpPr txBox="1">
                <a:spLocks noRot="1" noChangeAspect="1" noMove="1" noResize="1" noEditPoints="1" noAdjustHandles="1" noChangeArrowheads="1" noChangeShapeType="1" noTextEdit="1"/>
              </p:cNvSpPr>
              <p:nvPr/>
            </p:nvSpPr>
            <p:spPr>
              <a:xfrm>
                <a:off x="702391" y="4437112"/>
                <a:ext cx="608037" cy="369332"/>
              </a:xfrm>
              <a:prstGeom prst="rect">
                <a:avLst/>
              </a:prstGeom>
              <a:blipFill rotWithShape="0">
                <a:blip r:embed="rId9"/>
                <a:stretch>
                  <a:fillRect/>
                </a:stretch>
              </a:blipFill>
            </p:spPr>
            <p:txBody>
              <a:bodyPr/>
              <a:lstStyle/>
              <a:p>
                <a:r>
                  <a:rPr lang="en-GB">
                    <a:noFill/>
                  </a:rPr>
                  <a:t> </a:t>
                </a:r>
              </a:p>
            </p:txBody>
          </p:sp>
        </mc:Fallback>
      </mc:AlternateContent>
      <p:sp>
        <p:nvSpPr>
          <p:cNvPr id="24" name="Rectangle 23"/>
          <p:cNvSpPr/>
          <p:nvPr/>
        </p:nvSpPr>
        <p:spPr>
          <a:xfrm>
            <a:off x="5333766" y="5897099"/>
            <a:ext cx="3458847" cy="78413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224770271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4"/>
                                        </p:tgtEl>
                                      </p:cBhvr>
                                    </p:animEffect>
                                    <p:set>
                                      <p:cBhvr>
                                        <p:cTn id="7"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childTnLst>
        </p:cTn>
      </p:par>
    </p:tnLst>
    <p:bldLst>
      <p:bldP spid="2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Further Example</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5" name="Straight Arrow Connector 4"/>
          <p:cNvCxnSpPr/>
          <p:nvPr/>
        </p:nvCxnSpPr>
        <p:spPr>
          <a:xfrm flipV="1">
            <a:off x="1043608" y="1340768"/>
            <a:ext cx="0" cy="309634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 name="Straight Arrow Connector 5"/>
          <p:cNvCxnSpPr/>
          <p:nvPr/>
        </p:nvCxnSpPr>
        <p:spPr>
          <a:xfrm>
            <a:off x="1043608" y="4437112"/>
            <a:ext cx="367240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 name="TextBox 6"/>
              <p:cNvSpPr txBox="1"/>
              <p:nvPr/>
            </p:nvSpPr>
            <p:spPr>
              <a:xfrm>
                <a:off x="4699889" y="4238012"/>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𝑥</m:t>
                      </m:r>
                    </m:oMath>
                  </m:oMathPara>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4699889" y="4238012"/>
                <a:ext cx="360040" cy="369332"/>
              </a:xfrm>
              <a:prstGeom prst="rect">
                <a:avLst/>
              </a:prstGeom>
              <a:blipFill rotWithShape="0">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863588" y="958529"/>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863588" y="958529"/>
                <a:ext cx="360040" cy="369332"/>
              </a:xfrm>
              <a:prstGeom prst="rect">
                <a:avLst/>
              </a:prstGeom>
              <a:blipFill rotWithShape="0">
                <a:blip r:embed="rId3"/>
                <a:stretch>
                  <a:fillRect b="-6557"/>
                </a:stretch>
              </a:blipFill>
            </p:spPr>
            <p:txBody>
              <a:bodyPr/>
              <a:lstStyle/>
              <a:p>
                <a:r>
                  <a:rPr lang="en-GB">
                    <a:noFill/>
                  </a:rPr>
                  <a:t> </a:t>
                </a:r>
              </a:p>
            </p:txBody>
          </p:sp>
        </mc:Fallback>
      </mc:AlternateContent>
      <p:cxnSp>
        <p:nvCxnSpPr>
          <p:cNvPr id="9" name="Straight Connector 8"/>
          <p:cNvCxnSpPr/>
          <p:nvPr/>
        </p:nvCxnSpPr>
        <p:spPr>
          <a:xfrm flipH="1" flipV="1">
            <a:off x="539552" y="1594603"/>
            <a:ext cx="3186662" cy="3274557"/>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flipH="1">
            <a:off x="666044" y="1844824"/>
            <a:ext cx="3854060" cy="1846643"/>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2993155" y="1499428"/>
                <a:ext cx="200009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2</m:t>
                      </m:r>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+4</m:t>
                      </m:r>
                    </m:oMath>
                  </m:oMathPara>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2993155" y="1499428"/>
                <a:ext cx="2000097" cy="369332"/>
              </a:xfrm>
              <a:prstGeom prst="rect">
                <a:avLst/>
              </a:prstGeom>
              <a:blipFill rotWithShape="0">
                <a:blip r:embed="rId4"/>
                <a:stretch>
                  <a:fillRect b="-1147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452461" y="3537003"/>
                <a:ext cx="164812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𝑦</m:t>
                      </m:r>
                      <m:r>
                        <a:rPr lang="en-GB" b="0" i="1" smtClean="0">
                          <a:latin typeface="Cambria Math" panose="02040503050406030204" pitchFamily="18" charset="0"/>
                        </a:rPr>
                        <m:t>=8</m:t>
                      </m:r>
                    </m:oMath>
                  </m:oMathPara>
                </a14:m>
                <a:endParaRPr lang="en-GB" dirty="0"/>
              </a:p>
            </p:txBody>
          </p:sp>
        </mc:Choice>
        <mc:Fallback xmlns="">
          <p:sp>
            <p:nvSpPr>
              <p:cNvPr id="12" name="TextBox 11"/>
              <p:cNvSpPr txBox="1">
                <a:spLocks noRot="1" noChangeAspect="1" noMove="1" noResize="1" noEditPoints="1" noAdjustHandles="1" noChangeArrowheads="1" noChangeShapeType="1" noTextEdit="1"/>
              </p:cNvSpPr>
              <p:nvPr/>
            </p:nvSpPr>
            <p:spPr>
              <a:xfrm>
                <a:off x="2452461" y="3537003"/>
                <a:ext cx="1648120" cy="369332"/>
              </a:xfrm>
              <a:prstGeom prst="rect">
                <a:avLst/>
              </a:prstGeom>
              <a:blipFill rotWithShape="0">
                <a:blip r:embed="rId5"/>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718100" y="2710404"/>
                <a:ext cx="60803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oMath>
                  </m:oMathPara>
                </a14:m>
                <a:endParaRPr lang="en-GB" dirty="0"/>
              </a:p>
            </p:txBody>
          </p:sp>
        </mc:Choice>
        <mc:Fallback xmlns="">
          <p:sp>
            <p:nvSpPr>
              <p:cNvPr id="13" name="TextBox 12"/>
              <p:cNvSpPr txBox="1">
                <a:spLocks noRot="1" noChangeAspect="1" noMove="1" noResize="1" noEditPoints="1" noAdjustHandles="1" noChangeArrowheads="1" noChangeShapeType="1" noTextEdit="1"/>
              </p:cNvSpPr>
              <p:nvPr/>
            </p:nvSpPr>
            <p:spPr>
              <a:xfrm>
                <a:off x="1718100" y="2710404"/>
                <a:ext cx="608037" cy="369332"/>
              </a:xfrm>
              <a:prstGeom prst="rect">
                <a:avLst/>
              </a:prstGeom>
              <a:blipFill rotWithShape="0">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702391" y="4437112"/>
                <a:ext cx="60803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𝑂</m:t>
                      </m:r>
                    </m:oMath>
                  </m:oMathPara>
                </a14:m>
                <a:endParaRPr lang="en-GB" dirty="0"/>
              </a:p>
            </p:txBody>
          </p:sp>
        </mc:Choice>
        <mc:Fallback xmlns="">
          <p:sp>
            <p:nvSpPr>
              <p:cNvPr id="15" name="TextBox 14"/>
              <p:cNvSpPr txBox="1">
                <a:spLocks noRot="1" noChangeAspect="1" noMove="1" noResize="1" noEditPoints="1" noAdjustHandles="1" noChangeArrowheads="1" noChangeShapeType="1" noTextEdit="1"/>
              </p:cNvSpPr>
              <p:nvPr/>
            </p:nvSpPr>
            <p:spPr>
              <a:xfrm>
                <a:off x="702391" y="4437112"/>
                <a:ext cx="608037" cy="369332"/>
              </a:xfrm>
              <a:prstGeom prst="rect">
                <a:avLst/>
              </a:prstGeom>
              <a:blipFill rotWithShape="0">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577386" y="3219962"/>
                <a:ext cx="60803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𝑄</m:t>
                      </m:r>
                    </m:oMath>
                  </m:oMathPara>
                </a14:m>
                <a:endParaRPr lang="en-GB" dirty="0"/>
              </a:p>
            </p:txBody>
          </p:sp>
        </mc:Choice>
        <mc:Fallback xmlns="">
          <p:sp>
            <p:nvSpPr>
              <p:cNvPr id="22" name="TextBox 21"/>
              <p:cNvSpPr txBox="1">
                <a:spLocks noRot="1" noChangeAspect="1" noMove="1" noResize="1" noEditPoints="1" noAdjustHandles="1" noChangeArrowheads="1" noChangeShapeType="1" noTextEdit="1"/>
              </p:cNvSpPr>
              <p:nvPr/>
            </p:nvSpPr>
            <p:spPr>
              <a:xfrm>
                <a:off x="577386" y="3219962"/>
                <a:ext cx="608037" cy="369332"/>
              </a:xfrm>
              <a:prstGeom prst="rect">
                <a:avLst/>
              </a:prstGeom>
              <a:blipFill rotWithShape="0">
                <a:blip r:embed="rId8"/>
                <a:stretch>
                  <a:fillRect b="-983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5483466" y="771055"/>
                <a:ext cx="3168352" cy="4313425"/>
              </a:xfrm>
              <a:prstGeom prst="rect">
                <a:avLst/>
              </a:prstGeom>
              <a:noFill/>
            </p:spPr>
            <p:txBody>
              <a:bodyPr wrap="square" rtlCol="0">
                <a:spAutoFit/>
              </a:bodyPr>
              <a:lstStyle/>
              <a:p>
                <a:r>
                  <a:rPr lang="en-GB" dirty="0"/>
                  <a:t>Determine the length of </a:t>
                </a:r>
                <a14:m>
                  <m:oMath xmlns:m="http://schemas.openxmlformats.org/officeDocument/2006/math">
                    <m:r>
                      <a:rPr lang="en-GB" b="0" i="1" smtClean="0">
                        <a:latin typeface="Cambria Math" panose="02040503050406030204" pitchFamily="18" charset="0"/>
                      </a:rPr>
                      <m:t>𝑃𝑄</m:t>
                    </m:r>
                  </m:oMath>
                </a14:m>
                <a:r>
                  <a:rPr lang="en-GB" dirty="0"/>
                  <a:t>.</a:t>
                </a:r>
              </a:p>
              <a:p>
                <a:endParaRPr lang="en-GB" dirty="0"/>
              </a:p>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𝟖</m:t>
                      </m:r>
                      <m:r>
                        <a:rPr lang="en-GB" b="1" i="1" smtClean="0">
                          <a:latin typeface="Cambria Math" panose="02040503050406030204" pitchFamily="18" charset="0"/>
                        </a:rPr>
                        <m:t>−</m:t>
                      </m:r>
                      <m:r>
                        <a:rPr lang="en-GB" b="1" i="1" smtClean="0">
                          <a:latin typeface="Cambria Math" panose="02040503050406030204" pitchFamily="18" charset="0"/>
                        </a:rPr>
                        <m:t>𝒚</m:t>
                      </m:r>
                    </m:oMath>
                    <m:oMath xmlns:m="http://schemas.openxmlformats.org/officeDocument/2006/math">
                      <m:r>
                        <a:rPr lang="en-GB" b="1" i="1" smtClean="0">
                          <a:latin typeface="Cambria Math" panose="02040503050406030204" pitchFamily="18" charset="0"/>
                        </a:rPr>
                        <m:t>𝟐</m:t>
                      </m:r>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𝟖</m:t>
                      </m:r>
                      <m:r>
                        <a:rPr lang="en-GB" b="1" i="1" smtClean="0">
                          <a:latin typeface="Cambria Math" panose="02040503050406030204" pitchFamily="18" charset="0"/>
                        </a:rPr>
                        <m:t>−</m:t>
                      </m:r>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𝟒</m:t>
                      </m:r>
                    </m:oMath>
                    <m:oMath xmlns:m="http://schemas.openxmlformats.org/officeDocument/2006/math">
                      <m:r>
                        <a:rPr lang="en-GB" b="1" i="1" smtClean="0">
                          <a:latin typeface="Cambria Math" panose="02040503050406030204" pitchFamily="18" charset="0"/>
                        </a:rPr>
                        <m:t>𝟑</m:t>
                      </m:r>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𝟏𝟐</m:t>
                      </m:r>
                    </m:oMath>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𝟒</m:t>
                      </m:r>
                      <m:r>
                        <a:rPr lang="en-GB" b="1" i="1" smtClean="0">
                          <a:latin typeface="Cambria Math" panose="02040503050406030204" pitchFamily="18" charset="0"/>
                        </a:rPr>
                        <m:t>  →  </m:t>
                      </m:r>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𝟒</m:t>
                      </m:r>
                    </m:oMath>
                    <m:oMath xmlns:m="http://schemas.openxmlformats.org/officeDocument/2006/math">
                      <m:r>
                        <a:rPr lang="en-GB" b="1" i="1" smtClean="0">
                          <a:latin typeface="Cambria Math" panose="02040503050406030204" pitchFamily="18" charset="0"/>
                        </a:rPr>
                        <m:t>𝑷</m:t>
                      </m:r>
                      <m:r>
                        <a:rPr lang="en-GB" b="1" i="1" smtClean="0">
                          <a:latin typeface="Cambria Math" panose="02040503050406030204" pitchFamily="18" charset="0"/>
                        </a:rPr>
                        <m:t>(</m:t>
                      </m:r>
                      <m:r>
                        <a:rPr lang="en-GB" b="1" i="1" smtClean="0">
                          <a:latin typeface="Cambria Math" panose="02040503050406030204" pitchFamily="18" charset="0"/>
                        </a:rPr>
                        <m:t>𝟒</m:t>
                      </m:r>
                      <m:r>
                        <a:rPr lang="en-GB" b="1" i="1" smtClean="0">
                          <a:latin typeface="Cambria Math" panose="02040503050406030204" pitchFamily="18" charset="0"/>
                        </a:rPr>
                        <m:t>,</m:t>
                      </m:r>
                      <m:r>
                        <a:rPr lang="en-GB" b="1" i="1" smtClean="0">
                          <a:latin typeface="Cambria Math" panose="02040503050406030204" pitchFamily="18" charset="0"/>
                        </a:rPr>
                        <m:t>𝟒</m:t>
                      </m:r>
                      <m:r>
                        <a:rPr lang="en-GB" b="1" i="1" smtClean="0">
                          <a:latin typeface="Cambria Math" panose="02040503050406030204" pitchFamily="18" charset="0"/>
                        </a:rPr>
                        <m:t>)</m:t>
                      </m:r>
                    </m:oMath>
                  </m:oMathPara>
                </a14:m>
                <a:endParaRPr lang="en-GB" b="1" dirty="0"/>
              </a:p>
              <a:p>
                <a:endParaRPr lang="en-GB" b="1" dirty="0"/>
              </a:p>
              <a:p>
                <a:r>
                  <a:rPr lang="en-GB" b="1" dirty="0"/>
                  <a:t>When </a:t>
                </a:r>
                <a14:m>
                  <m:oMath xmlns:m="http://schemas.openxmlformats.org/officeDocument/2006/math">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𝟎</m:t>
                    </m:r>
                  </m:oMath>
                </a14:m>
                <a:endParaRPr lang="en-GB" b="1" dirty="0"/>
              </a:p>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𝟐</m:t>
                      </m:r>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𝟒</m:t>
                      </m:r>
                    </m:oMath>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𝟐</m:t>
                      </m:r>
                    </m:oMath>
                    <m:oMath xmlns:m="http://schemas.openxmlformats.org/officeDocument/2006/math">
                      <m:r>
                        <a:rPr lang="en-GB" b="1" i="1" smtClean="0">
                          <a:latin typeface="Cambria Math" panose="02040503050406030204" pitchFamily="18" charset="0"/>
                        </a:rPr>
                        <m:t>𝑸</m:t>
                      </m:r>
                      <m:r>
                        <a:rPr lang="en-GB" b="1" i="1" smtClean="0">
                          <a:latin typeface="Cambria Math" panose="02040503050406030204" pitchFamily="18" charset="0"/>
                        </a:rPr>
                        <m:t>(</m:t>
                      </m:r>
                      <m:r>
                        <a:rPr lang="en-GB" b="1" i="1" smtClean="0">
                          <a:latin typeface="Cambria Math" panose="02040503050406030204" pitchFamily="18" charset="0"/>
                        </a:rPr>
                        <m:t>𝟎</m:t>
                      </m:r>
                      <m:r>
                        <a:rPr lang="en-GB" b="1"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m:t>
                      </m:r>
                    </m:oMath>
                  </m:oMathPara>
                </a14:m>
                <a:endParaRPr lang="en-GB" b="1" dirty="0"/>
              </a:p>
              <a:p>
                <a:endParaRPr lang="en-GB" b="1" dirty="0"/>
              </a:p>
              <a:p>
                <a:r>
                  <a:rPr lang="en-GB" b="1" dirty="0"/>
                  <a:t>Distance </a:t>
                </a:r>
                <a14:m>
                  <m:oMath xmlns:m="http://schemas.openxmlformats.org/officeDocument/2006/math">
                    <m:r>
                      <a:rPr lang="en-GB" b="1" i="1" smtClean="0">
                        <a:latin typeface="Cambria Math" panose="02040503050406030204" pitchFamily="18" charset="0"/>
                      </a:rPr>
                      <m:t>𝑷𝑸</m:t>
                    </m:r>
                  </m:oMath>
                </a14:m>
                <a:r>
                  <a:rPr lang="en-GB" b="1" dirty="0"/>
                  <a:t>:</a:t>
                </a:r>
              </a:p>
              <a:p>
                <a:pPr/>
                <a14:m>
                  <m:oMathPara xmlns:m="http://schemas.openxmlformats.org/officeDocument/2006/math">
                    <m:oMathParaPr>
                      <m:jc m:val="centerGroup"/>
                    </m:oMathParaPr>
                    <m:oMath xmlns:m="http://schemas.openxmlformats.org/officeDocument/2006/math">
                      <m:rad>
                        <m:radPr>
                          <m:degHide m:val="on"/>
                          <m:ctrlPr>
                            <a:rPr lang="en-GB" b="1" i="1" smtClean="0">
                              <a:latin typeface="Cambria Math" panose="02040503050406030204" pitchFamily="18" charset="0"/>
                            </a:rPr>
                          </m:ctrlPr>
                        </m:radPr>
                        <m:deg/>
                        <m:e>
                          <m:sSup>
                            <m:sSupPr>
                              <m:ctrlPr>
                                <a:rPr lang="en-GB" b="1" i="1" smtClean="0">
                                  <a:latin typeface="Cambria Math" panose="02040503050406030204" pitchFamily="18" charset="0"/>
                                </a:rPr>
                              </m:ctrlPr>
                            </m:sSupPr>
                            <m:e>
                              <m:r>
                                <a:rPr lang="en-GB" b="1" i="1" smtClean="0">
                                  <a:latin typeface="Cambria Math" panose="02040503050406030204" pitchFamily="18" charset="0"/>
                                </a:rPr>
                                <m:t>𝟒</m:t>
                              </m:r>
                            </m:e>
                            <m:sup>
                              <m:r>
                                <a:rPr lang="en-GB" b="1" i="1" smtClean="0">
                                  <a:latin typeface="Cambria Math" panose="02040503050406030204" pitchFamily="18" charset="0"/>
                                </a:rPr>
                                <m:t>𝟐</m:t>
                              </m:r>
                            </m:sup>
                          </m:sSup>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𝟐</m:t>
                              </m:r>
                            </m:e>
                            <m:sup>
                              <m:r>
                                <a:rPr lang="en-GB" b="1" i="1" smtClean="0">
                                  <a:latin typeface="Cambria Math" panose="02040503050406030204" pitchFamily="18" charset="0"/>
                                </a:rPr>
                                <m:t>𝟐</m:t>
                              </m:r>
                            </m:sup>
                          </m:sSup>
                        </m:e>
                      </m:rad>
                      <m:r>
                        <a:rPr lang="en-GB" b="1" i="1" smtClean="0">
                          <a:latin typeface="Cambria Math" panose="02040503050406030204" pitchFamily="18" charset="0"/>
                        </a:rPr>
                        <m:t>=</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𝟐𝟎</m:t>
                          </m:r>
                        </m:e>
                      </m:rad>
                    </m:oMath>
                  </m:oMathPara>
                </a14:m>
                <a:endParaRPr lang="en-GB" b="1" dirty="0"/>
              </a:p>
            </p:txBody>
          </p:sp>
        </mc:Choice>
        <mc:Fallback xmlns="">
          <p:sp>
            <p:nvSpPr>
              <p:cNvPr id="23" name="TextBox 22"/>
              <p:cNvSpPr txBox="1">
                <a:spLocks noRot="1" noChangeAspect="1" noMove="1" noResize="1" noEditPoints="1" noAdjustHandles="1" noChangeArrowheads="1" noChangeShapeType="1" noTextEdit="1"/>
              </p:cNvSpPr>
              <p:nvPr/>
            </p:nvSpPr>
            <p:spPr>
              <a:xfrm>
                <a:off x="5483466" y="771055"/>
                <a:ext cx="3168352" cy="4313425"/>
              </a:xfrm>
              <a:prstGeom prst="rect">
                <a:avLst/>
              </a:prstGeom>
              <a:blipFill>
                <a:blip r:embed="rId9"/>
                <a:stretch>
                  <a:fillRect l="-1734" t="-706"/>
                </a:stretch>
              </a:blipFill>
            </p:spPr>
            <p:txBody>
              <a:bodyPr/>
              <a:lstStyle/>
              <a:p>
                <a:r>
                  <a:rPr lang="en-GB">
                    <a:noFill/>
                  </a:rPr>
                  <a:t> </a:t>
                </a:r>
              </a:p>
            </p:txBody>
          </p:sp>
        </mc:Fallback>
      </mc:AlternateContent>
      <p:sp>
        <p:nvSpPr>
          <p:cNvPr id="24" name="Rectangle 23"/>
          <p:cNvSpPr/>
          <p:nvPr/>
        </p:nvSpPr>
        <p:spPr>
          <a:xfrm>
            <a:off x="5575627" y="1257711"/>
            <a:ext cx="3279062" cy="377148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mc:AlternateContent xmlns:mc="http://schemas.openxmlformats.org/markup-compatibility/2006" xmlns:a14="http://schemas.microsoft.com/office/drawing/2010/main">
        <mc:Choice Requires="a14">
          <p:sp>
            <p:nvSpPr>
              <p:cNvPr id="18" name="TextBox 17"/>
              <p:cNvSpPr txBox="1"/>
              <p:nvPr/>
            </p:nvSpPr>
            <p:spPr>
              <a:xfrm>
                <a:off x="619917" y="2006732"/>
                <a:ext cx="60803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𝑅</m:t>
                      </m:r>
                    </m:oMath>
                  </m:oMathPara>
                </a14:m>
                <a:endParaRPr lang="en-GB" dirty="0"/>
              </a:p>
            </p:txBody>
          </p:sp>
        </mc:Choice>
        <mc:Fallback xmlns="">
          <p:sp>
            <p:nvSpPr>
              <p:cNvPr id="18" name="TextBox 17"/>
              <p:cNvSpPr txBox="1">
                <a:spLocks noRot="1" noChangeAspect="1" noMove="1" noResize="1" noEditPoints="1" noAdjustHandles="1" noChangeArrowheads="1" noChangeShapeType="1" noTextEdit="1"/>
              </p:cNvSpPr>
              <p:nvPr/>
            </p:nvSpPr>
            <p:spPr>
              <a:xfrm>
                <a:off x="619917" y="2006732"/>
                <a:ext cx="608037" cy="369332"/>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5525996" y="5205515"/>
                <a:ext cx="3168352" cy="1441933"/>
              </a:xfrm>
              <a:prstGeom prst="rect">
                <a:avLst/>
              </a:prstGeom>
              <a:noFill/>
            </p:spPr>
            <p:txBody>
              <a:bodyPr wrap="square" rtlCol="0">
                <a:spAutoFit/>
              </a:bodyPr>
              <a:lstStyle/>
              <a:p>
                <a:r>
                  <a:rPr lang="en-GB" dirty="0"/>
                  <a:t>Determine the area </a:t>
                </a:r>
                <a14:m>
                  <m:oMath xmlns:m="http://schemas.openxmlformats.org/officeDocument/2006/math">
                    <m:r>
                      <a:rPr lang="en-GB" b="0" i="1" smtClean="0">
                        <a:latin typeface="Cambria Math" panose="02040503050406030204" pitchFamily="18" charset="0"/>
                      </a:rPr>
                      <m:t>𝑃𝑄𝑅</m:t>
                    </m:r>
                  </m:oMath>
                </a14:m>
                <a:r>
                  <a:rPr lang="en-GB" dirty="0"/>
                  <a:t>.</a:t>
                </a:r>
              </a:p>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𝑹</m:t>
                      </m:r>
                      <m:d>
                        <m:dPr>
                          <m:ctrlPr>
                            <a:rPr lang="en-GB" b="1" i="1" smtClean="0">
                              <a:latin typeface="Cambria Math" panose="02040503050406030204" pitchFamily="18" charset="0"/>
                            </a:rPr>
                          </m:ctrlPr>
                        </m:dPr>
                        <m:e>
                          <m:r>
                            <a:rPr lang="en-GB" b="1" i="1" smtClean="0">
                              <a:latin typeface="Cambria Math" panose="02040503050406030204" pitchFamily="18" charset="0"/>
                            </a:rPr>
                            <m:t>𝟎</m:t>
                          </m:r>
                          <m:r>
                            <a:rPr lang="en-GB" b="1" i="1" smtClean="0">
                              <a:latin typeface="Cambria Math" panose="02040503050406030204" pitchFamily="18" charset="0"/>
                            </a:rPr>
                            <m:t>,</m:t>
                          </m:r>
                          <m:r>
                            <a:rPr lang="en-GB" b="1" i="1" smtClean="0">
                              <a:latin typeface="Cambria Math" panose="02040503050406030204" pitchFamily="18" charset="0"/>
                            </a:rPr>
                            <m:t>𝟖</m:t>
                          </m:r>
                        </m:e>
                      </m:d>
                    </m:oMath>
                  </m:oMathPara>
                </a14:m>
                <a:endParaRPr lang="en-GB" b="1" dirty="0"/>
              </a:p>
              <a:p>
                <a:pPr/>
                <a:r>
                  <a:rPr lang="en-GB" b="1" dirty="0"/>
                  <a:t>Use </a:t>
                </a:r>
                <a14:m>
                  <m:oMath xmlns:m="http://schemas.openxmlformats.org/officeDocument/2006/math">
                    <m:r>
                      <a:rPr lang="en-GB" b="1" i="1" smtClean="0">
                        <a:latin typeface="Cambria Math" panose="02040503050406030204" pitchFamily="18" charset="0"/>
                      </a:rPr>
                      <m:t>𝑹𝑸</m:t>
                    </m:r>
                  </m:oMath>
                </a14:m>
                <a:r>
                  <a:rPr lang="en-GB" b="1" dirty="0"/>
                  <a:t> as the base:</a:t>
                </a:r>
                <a:br>
                  <a:rPr lang="en-GB" b="1" dirty="0"/>
                </a:b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m:t>
                      </m:r>
                      <m:r>
                        <a:rPr lang="en-GB" b="1" i="1" smtClean="0">
                          <a:latin typeface="Cambria Math" panose="02040503050406030204" pitchFamily="18" charset="0"/>
                        </a:rPr>
                        <m:t>𝑨𝒓𝒆𝒂</m:t>
                      </m:r>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𝟐</m:t>
                          </m:r>
                        </m:den>
                      </m:f>
                      <m:r>
                        <a:rPr lang="en-GB" b="1" i="1" smtClean="0">
                          <a:latin typeface="Cambria Math" panose="02040503050406030204" pitchFamily="18" charset="0"/>
                        </a:rPr>
                        <m:t>×</m:t>
                      </m:r>
                      <m:r>
                        <a:rPr lang="en-GB" b="1" i="1" smtClean="0">
                          <a:latin typeface="Cambria Math" panose="02040503050406030204" pitchFamily="18" charset="0"/>
                        </a:rPr>
                        <m:t>𝟔</m:t>
                      </m:r>
                      <m:r>
                        <a:rPr lang="en-GB" b="1" i="1" smtClean="0">
                          <a:latin typeface="Cambria Math" panose="02040503050406030204" pitchFamily="18" charset="0"/>
                        </a:rPr>
                        <m:t>×</m:t>
                      </m:r>
                      <m:r>
                        <a:rPr lang="en-GB" b="1" i="1" smtClean="0">
                          <a:latin typeface="Cambria Math" panose="02040503050406030204" pitchFamily="18" charset="0"/>
                        </a:rPr>
                        <m:t>𝟒</m:t>
                      </m:r>
                      <m:r>
                        <a:rPr lang="en-GB" b="1" i="1" smtClean="0">
                          <a:latin typeface="Cambria Math" panose="02040503050406030204" pitchFamily="18" charset="0"/>
                        </a:rPr>
                        <m:t>=</m:t>
                      </m:r>
                      <m:r>
                        <a:rPr lang="en-GB" b="1" i="1" smtClean="0">
                          <a:latin typeface="Cambria Math" panose="02040503050406030204" pitchFamily="18" charset="0"/>
                        </a:rPr>
                        <m:t>𝟏𝟐</m:t>
                      </m:r>
                    </m:oMath>
                  </m:oMathPara>
                </a14:m>
                <a:endParaRPr lang="en-GB" b="1" dirty="0"/>
              </a:p>
            </p:txBody>
          </p:sp>
        </mc:Choice>
        <mc:Fallback xmlns="">
          <p:sp>
            <p:nvSpPr>
              <p:cNvPr id="14" name="TextBox 13"/>
              <p:cNvSpPr txBox="1">
                <a:spLocks noRot="1" noChangeAspect="1" noMove="1" noResize="1" noEditPoints="1" noAdjustHandles="1" noChangeArrowheads="1" noChangeShapeType="1" noTextEdit="1"/>
              </p:cNvSpPr>
              <p:nvPr/>
            </p:nvSpPr>
            <p:spPr>
              <a:xfrm>
                <a:off x="5525996" y="5205515"/>
                <a:ext cx="3168352" cy="1441933"/>
              </a:xfrm>
              <a:prstGeom prst="rect">
                <a:avLst/>
              </a:prstGeom>
              <a:blipFill>
                <a:blip r:embed="rId11"/>
                <a:stretch>
                  <a:fillRect l="-1538" t="-2542"/>
                </a:stretch>
              </a:blipFill>
            </p:spPr>
            <p:txBody>
              <a:bodyPr/>
              <a:lstStyle/>
              <a:p>
                <a:r>
                  <a:rPr lang="en-GB">
                    <a:noFill/>
                  </a:rPr>
                  <a:t> </a:t>
                </a:r>
              </a:p>
            </p:txBody>
          </p:sp>
        </mc:Fallback>
      </mc:AlternateContent>
      <p:sp>
        <p:nvSpPr>
          <p:cNvPr id="20" name="Rectangle 19"/>
          <p:cNvSpPr/>
          <p:nvPr/>
        </p:nvSpPr>
        <p:spPr>
          <a:xfrm>
            <a:off x="5599593" y="5507665"/>
            <a:ext cx="3279062" cy="1225698"/>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16" name="Rectangle 15"/>
          <p:cNvSpPr/>
          <p:nvPr/>
        </p:nvSpPr>
        <p:spPr>
          <a:xfrm>
            <a:off x="5148064" y="813585"/>
            <a:ext cx="288032" cy="30334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a</a:t>
            </a:r>
          </a:p>
        </p:txBody>
      </p:sp>
      <p:sp>
        <p:nvSpPr>
          <p:cNvPr id="25" name="Rectangle 24"/>
          <p:cNvSpPr/>
          <p:nvPr/>
        </p:nvSpPr>
        <p:spPr>
          <a:xfrm>
            <a:off x="5148064" y="5215064"/>
            <a:ext cx="288032" cy="30334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b</a:t>
            </a:r>
          </a:p>
        </p:txBody>
      </p:sp>
      <p:sp>
        <p:nvSpPr>
          <p:cNvPr id="26" name="TextBox 25"/>
          <p:cNvSpPr txBox="1"/>
          <p:nvPr/>
        </p:nvSpPr>
        <p:spPr>
          <a:xfrm>
            <a:off x="937282" y="5169422"/>
            <a:ext cx="3023823" cy="132343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dirty="0"/>
              <a:t>Tip</a:t>
            </a:r>
            <a:r>
              <a:rPr lang="en-GB" sz="1600" dirty="0"/>
              <a:t>: When finding areas of triangles in exam questions, one line is often vertical or horizontal. You should generally choose this to be the ‘base’ of your triangle.</a:t>
            </a:r>
          </a:p>
        </p:txBody>
      </p:sp>
    </p:spTree>
    <p:extLst>
      <p:ext uri="{BB962C8B-B14F-4D97-AF65-F5344CB8AC3E}">
        <p14:creationId xmlns:p14="http://schemas.microsoft.com/office/powerpoint/2010/main" val="25329609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4"/>
                                        </p:tgtEl>
                                      </p:cBhvr>
                                    </p:animEffect>
                                    <p:set>
                                      <p:cBhvr>
                                        <p:cTn id="7"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0"/>
                                        </p:tgtEl>
                                      </p:cBhvr>
                                    </p:animEffect>
                                    <p:set>
                                      <p:cBhvr>
                                        <p:cTn id="13"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childTnLst>
        </p:cTn>
      </p:par>
    </p:tnLst>
    <p:bldLst>
      <p:bldP spid="24" grpId="0" animBg="1"/>
      <p:bldP spid="2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5" name="Straight Arrow Connector 4"/>
          <p:cNvCxnSpPr/>
          <p:nvPr/>
        </p:nvCxnSpPr>
        <p:spPr>
          <a:xfrm flipV="1">
            <a:off x="1043608" y="1340768"/>
            <a:ext cx="0" cy="43204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 name="Straight Arrow Connector 5"/>
          <p:cNvCxnSpPr/>
          <p:nvPr/>
        </p:nvCxnSpPr>
        <p:spPr>
          <a:xfrm>
            <a:off x="1043608" y="4437112"/>
            <a:ext cx="367240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 name="TextBox 6"/>
              <p:cNvSpPr txBox="1"/>
              <p:nvPr/>
            </p:nvSpPr>
            <p:spPr>
              <a:xfrm>
                <a:off x="4699889" y="4238012"/>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𝑥</m:t>
                      </m:r>
                    </m:oMath>
                  </m:oMathPara>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4699889" y="4238012"/>
                <a:ext cx="360040" cy="369332"/>
              </a:xfrm>
              <a:prstGeom prst="rect">
                <a:avLst/>
              </a:prstGeom>
              <a:blipFill rotWithShape="0">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863588" y="958529"/>
                <a:ext cx="3600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863588" y="958529"/>
                <a:ext cx="360040" cy="369332"/>
              </a:xfrm>
              <a:prstGeom prst="rect">
                <a:avLst/>
              </a:prstGeom>
              <a:blipFill rotWithShape="0">
                <a:blip r:embed="rId3"/>
                <a:stretch>
                  <a:fillRect b="-6557"/>
                </a:stretch>
              </a:blipFill>
            </p:spPr>
            <p:txBody>
              <a:bodyPr/>
              <a:lstStyle/>
              <a:p>
                <a:r>
                  <a:rPr lang="en-GB">
                    <a:noFill/>
                  </a:rPr>
                  <a:t> </a:t>
                </a:r>
              </a:p>
            </p:txBody>
          </p:sp>
        </mc:Fallback>
      </mc:AlternateContent>
      <p:cxnSp>
        <p:nvCxnSpPr>
          <p:cNvPr id="9" name="Straight Connector 8"/>
          <p:cNvCxnSpPr/>
          <p:nvPr/>
        </p:nvCxnSpPr>
        <p:spPr>
          <a:xfrm flipH="1" flipV="1">
            <a:off x="539552" y="1594604"/>
            <a:ext cx="4321026" cy="1906404"/>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flipH="1">
            <a:off x="755576" y="1868760"/>
            <a:ext cx="3960440" cy="3703288"/>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3102852" y="1684094"/>
                <a:ext cx="200009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−3</m:t>
                      </m:r>
                    </m:oMath>
                  </m:oMathPara>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3102852" y="1684094"/>
                <a:ext cx="2000097" cy="369332"/>
              </a:xfrm>
              <a:prstGeom prst="rect">
                <a:avLst/>
              </a:prstGeom>
              <a:blipFill rotWithShape="0">
                <a:blip r:embed="rId4"/>
                <a:stretch>
                  <a:fillRect b="-655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121056" y="1665471"/>
                <a:ext cx="164812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2</m:t>
                      </m:r>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=12</m:t>
                      </m:r>
                    </m:oMath>
                  </m:oMathPara>
                </a14:m>
                <a:endParaRPr lang="en-GB" dirty="0"/>
              </a:p>
            </p:txBody>
          </p:sp>
        </mc:Choice>
        <mc:Fallback xmlns="">
          <p:sp>
            <p:nvSpPr>
              <p:cNvPr id="12" name="TextBox 11"/>
              <p:cNvSpPr txBox="1">
                <a:spLocks noRot="1" noChangeAspect="1" noMove="1" noResize="1" noEditPoints="1" noAdjustHandles="1" noChangeArrowheads="1" noChangeShapeType="1" noTextEdit="1"/>
              </p:cNvSpPr>
              <p:nvPr/>
            </p:nvSpPr>
            <p:spPr>
              <a:xfrm>
                <a:off x="1121056" y="1665471"/>
                <a:ext cx="1648120" cy="369332"/>
              </a:xfrm>
              <a:prstGeom prst="rect">
                <a:avLst/>
              </a:prstGeom>
              <a:blipFill rotWithShape="0">
                <a:blip r:embed="rId5"/>
                <a:stretch>
                  <a:fillRect b="-1147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3275856" y="2547806"/>
                <a:ext cx="60803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oMath>
                  </m:oMathPara>
                </a14:m>
                <a:endParaRPr lang="en-GB" dirty="0"/>
              </a:p>
            </p:txBody>
          </p:sp>
        </mc:Choice>
        <mc:Fallback xmlns="">
          <p:sp>
            <p:nvSpPr>
              <p:cNvPr id="13" name="TextBox 12"/>
              <p:cNvSpPr txBox="1">
                <a:spLocks noRot="1" noChangeAspect="1" noMove="1" noResize="1" noEditPoints="1" noAdjustHandles="1" noChangeArrowheads="1" noChangeShapeType="1" noTextEdit="1"/>
              </p:cNvSpPr>
              <p:nvPr/>
            </p:nvSpPr>
            <p:spPr>
              <a:xfrm>
                <a:off x="3275856" y="2547806"/>
                <a:ext cx="608037" cy="369332"/>
              </a:xfrm>
              <a:prstGeom prst="rect">
                <a:avLst/>
              </a:prstGeom>
              <a:blipFill rotWithShape="0">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611014" y="4306185"/>
                <a:ext cx="60803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𝑂</m:t>
                      </m:r>
                    </m:oMath>
                  </m:oMathPara>
                </a14:m>
                <a:endParaRPr lang="en-GB" dirty="0"/>
              </a:p>
            </p:txBody>
          </p:sp>
        </mc:Choice>
        <mc:Fallback xmlns="">
          <p:sp>
            <p:nvSpPr>
              <p:cNvPr id="14" name="TextBox 13"/>
              <p:cNvSpPr txBox="1">
                <a:spLocks noRot="1" noChangeAspect="1" noMove="1" noResize="1" noEditPoints="1" noAdjustHandles="1" noChangeArrowheads="1" noChangeShapeType="1" noTextEdit="1"/>
              </p:cNvSpPr>
              <p:nvPr/>
            </p:nvSpPr>
            <p:spPr>
              <a:xfrm>
                <a:off x="611014" y="4306185"/>
                <a:ext cx="608037" cy="369332"/>
              </a:xfrm>
              <a:prstGeom prst="rect">
                <a:avLst/>
              </a:prstGeom>
              <a:blipFill rotWithShape="0">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606426" y="1736338"/>
                <a:ext cx="60803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𝑄</m:t>
                      </m:r>
                    </m:oMath>
                  </m:oMathPara>
                </a14:m>
                <a:endParaRPr lang="en-GB" dirty="0"/>
              </a:p>
            </p:txBody>
          </p:sp>
        </mc:Choice>
        <mc:Fallback xmlns="">
          <p:sp>
            <p:nvSpPr>
              <p:cNvPr id="15" name="TextBox 14"/>
              <p:cNvSpPr txBox="1">
                <a:spLocks noRot="1" noChangeAspect="1" noMove="1" noResize="1" noEditPoints="1" noAdjustHandles="1" noChangeArrowheads="1" noChangeShapeType="1" noTextEdit="1"/>
              </p:cNvSpPr>
              <p:nvPr/>
            </p:nvSpPr>
            <p:spPr>
              <a:xfrm>
                <a:off x="606426" y="1736338"/>
                <a:ext cx="608037" cy="369332"/>
              </a:xfrm>
              <a:prstGeom prst="rect">
                <a:avLst/>
              </a:prstGeom>
              <a:blipFill rotWithShape="0">
                <a:blip r:embed="rId8"/>
                <a:stretch>
                  <a:fillRect b="-1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5292080" y="1340768"/>
                <a:ext cx="3672408" cy="3724033"/>
              </a:xfrm>
              <a:prstGeom prst="rect">
                <a:avLst/>
              </a:prstGeom>
              <a:noFill/>
            </p:spPr>
            <p:txBody>
              <a:bodyPr wrap="square" rtlCol="0">
                <a:spAutoFit/>
              </a:bodyPr>
              <a:lstStyle/>
              <a:p>
                <a:r>
                  <a:rPr lang="en-GB" dirty="0"/>
                  <a:t>a) Determine the coordinate of </a:t>
                </a:r>
                <a14:m>
                  <m:oMath xmlns:m="http://schemas.openxmlformats.org/officeDocument/2006/math">
                    <m:r>
                      <a:rPr lang="en-GB" b="0" i="1" smtClean="0">
                        <a:latin typeface="Cambria Math" panose="02040503050406030204" pitchFamily="18" charset="0"/>
                      </a:rPr>
                      <m:t>𝑃</m:t>
                    </m:r>
                  </m:oMath>
                </a14:m>
                <a:r>
                  <a:rPr lang="en-GB" dirty="0"/>
                  <a:t>.</a:t>
                </a:r>
              </a:p>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𝟐</m:t>
                      </m:r>
                      <m:d>
                        <m:dPr>
                          <m:ctrlPr>
                            <a:rPr lang="en-GB" b="1" i="1" smtClean="0">
                              <a:latin typeface="Cambria Math" panose="02040503050406030204" pitchFamily="18" charset="0"/>
                            </a:rPr>
                          </m:ctrlPr>
                        </m:dPr>
                        <m:e>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𝟑</m:t>
                          </m:r>
                        </m:e>
                      </m:d>
                      <m:r>
                        <a:rPr lang="en-GB" b="1" i="1" smtClean="0">
                          <a:latin typeface="Cambria Math" panose="02040503050406030204" pitchFamily="18" charset="0"/>
                        </a:rPr>
                        <m:t>+</m:t>
                      </m:r>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𝟏𝟐</m:t>
                      </m:r>
                    </m:oMath>
                    <m:oMath xmlns:m="http://schemas.openxmlformats.org/officeDocument/2006/math">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𝟔</m:t>
                      </m:r>
                      <m:r>
                        <a:rPr lang="en-GB" b="1" i="1" smtClean="0">
                          <a:latin typeface="Cambria Math" panose="02040503050406030204" pitchFamily="18" charset="0"/>
                        </a:rPr>
                        <m:t>   →  </m:t>
                      </m:r>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𝟑</m:t>
                      </m:r>
                    </m:oMath>
                  </m:oMathPara>
                </a14:m>
                <a:endParaRPr lang="en-GB" b="1" dirty="0"/>
              </a:p>
              <a:p>
                <a:endParaRPr lang="en-GB" dirty="0"/>
              </a:p>
              <a:p>
                <a:r>
                  <a:rPr lang="en-GB" dirty="0"/>
                  <a:t>b) Determine the area of </a:t>
                </a:r>
                <a14:m>
                  <m:oMath xmlns:m="http://schemas.openxmlformats.org/officeDocument/2006/math">
                    <m:r>
                      <a:rPr lang="en-GB" b="0" i="1" smtClean="0">
                        <a:latin typeface="Cambria Math" panose="02040503050406030204" pitchFamily="18" charset="0"/>
                      </a:rPr>
                      <m:t>𝑃𝑄𝑅</m:t>
                    </m:r>
                  </m:oMath>
                </a14:m>
                <a:r>
                  <a:rPr lang="en-GB" dirty="0"/>
                  <a:t>.</a:t>
                </a:r>
              </a:p>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𝑹</m:t>
                      </m:r>
                      <m:d>
                        <m:dPr>
                          <m:ctrlPr>
                            <a:rPr lang="en-GB" b="1" i="1" smtClean="0">
                              <a:latin typeface="Cambria Math" panose="02040503050406030204" pitchFamily="18" charset="0"/>
                            </a:rPr>
                          </m:ctrlPr>
                        </m:dPr>
                        <m:e>
                          <m:r>
                            <a:rPr lang="en-GB" b="1" i="1" smtClean="0">
                              <a:latin typeface="Cambria Math" panose="02040503050406030204" pitchFamily="18" charset="0"/>
                            </a:rPr>
                            <m:t>𝟎</m:t>
                          </m:r>
                          <m:r>
                            <a:rPr lang="en-GB" b="1" i="1" smtClean="0">
                              <a:latin typeface="Cambria Math" panose="02040503050406030204" pitchFamily="18" charset="0"/>
                            </a:rPr>
                            <m:t>,−</m:t>
                          </m:r>
                          <m:r>
                            <a:rPr lang="en-GB" b="1" i="1" smtClean="0">
                              <a:latin typeface="Cambria Math" panose="02040503050406030204" pitchFamily="18" charset="0"/>
                            </a:rPr>
                            <m:t>𝟑</m:t>
                          </m:r>
                        </m:e>
                      </m:d>
                    </m:oMath>
                    <m:oMath xmlns:m="http://schemas.openxmlformats.org/officeDocument/2006/math">
                      <m:r>
                        <a:rPr lang="en-GB" b="1" i="1" smtClean="0">
                          <a:latin typeface="Cambria Math" panose="02040503050406030204" pitchFamily="18" charset="0"/>
                        </a:rPr>
                        <m:t>𝑸</m:t>
                      </m:r>
                      <m:d>
                        <m:dPr>
                          <m:ctrlPr>
                            <a:rPr lang="en-GB" b="1" i="1" smtClean="0">
                              <a:latin typeface="Cambria Math" panose="02040503050406030204" pitchFamily="18" charset="0"/>
                            </a:rPr>
                          </m:ctrlPr>
                        </m:dPr>
                        <m:e>
                          <m:r>
                            <a:rPr lang="en-GB" b="1" i="1" smtClean="0">
                              <a:latin typeface="Cambria Math" panose="02040503050406030204" pitchFamily="18" charset="0"/>
                            </a:rPr>
                            <m:t>𝟎</m:t>
                          </m:r>
                          <m:r>
                            <a:rPr lang="en-GB" b="1" i="1" smtClean="0">
                              <a:latin typeface="Cambria Math" panose="02040503050406030204" pitchFamily="18" charset="0"/>
                            </a:rPr>
                            <m:t>,</m:t>
                          </m:r>
                          <m:r>
                            <a:rPr lang="en-GB" b="1" i="1" smtClean="0">
                              <a:latin typeface="Cambria Math" panose="02040503050406030204" pitchFamily="18" charset="0"/>
                            </a:rPr>
                            <m:t>𝟔</m:t>
                          </m:r>
                        </m:e>
                      </m:d>
                    </m:oMath>
                    <m:oMath xmlns:m="http://schemas.openxmlformats.org/officeDocument/2006/math">
                      <m:r>
                        <a:rPr lang="en-GB" b="1" i="1" smtClean="0">
                          <a:latin typeface="Cambria Math" panose="02040503050406030204" pitchFamily="18" charset="0"/>
                        </a:rPr>
                        <m:t>𝑨𝒓𝒆𝒂</m:t>
                      </m:r>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𝟐</m:t>
                          </m:r>
                        </m:den>
                      </m:f>
                      <m:r>
                        <a:rPr lang="en-GB" b="1" i="1" smtClean="0">
                          <a:latin typeface="Cambria Math" panose="02040503050406030204" pitchFamily="18" charset="0"/>
                        </a:rPr>
                        <m:t>×</m:t>
                      </m:r>
                      <m:r>
                        <a:rPr lang="en-GB" b="1" i="1" smtClean="0">
                          <a:latin typeface="Cambria Math" panose="02040503050406030204" pitchFamily="18" charset="0"/>
                        </a:rPr>
                        <m:t>𝟗</m:t>
                      </m:r>
                      <m:r>
                        <a:rPr lang="en-GB" b="1" i="1" smtClean="0">
                          <a:latin typeface="Cambria Math" panose="02040503050406030204" pitchFamily="18" charset="0"/>
                        </a:rPr>
                        <m:t>×</m:t>
                      </m:r>
                      <m:r>
                        <a:rPr lang="en-GB" b="1" i="1" smtClean="0">
                          <a:latin typeface="Cambria Math" panose="02040503050406030204" pitchFamily="18" charset="0"/>
                        </a:rPr>
                        <m:t>𝟔</m:t>
                      </m:r>
                      <m:r>
                        <a:rPr lang="en-GB" b="1" i="1" smtClean="0">
                          <a:latin typeface="Cambria Math" panose="02040503050406030204" pitchFamily="18" charset="0"/>
                        </a:rPr>
                        <m:t>=</m:t>
                      </m:r>
                      <m:r>
                        <a:rPr lang="en-GB" b="1" i="1" smtClean="0">
                          <a:latin typeface="Cambria Math" panose="02040503050406030204" pitchFamily="18" charset="0"/>
                        </a:rPr>
                        <m:t>𝟐𝟕</m:t>
                      </m:r>
                    </m:oMath>
                  </m:oMathPara>
                </a14:m>
                <a:endParaRPr lang="en-GB" b="1" dirty="0"/>
              </a:p>
              <a:p>
                <a:endParaRPr lang="en-GB" dirty="0"/>
              </a:p>
              <a:p>
                <a:r>
                  <a:rPr lang="en-GB" dirty="0"/>
                  <a:t>c) Determine the length </a:t>
                </a:r>
                <a14:m>
                  <m:oMath xmlns:m="http://schemas.openxmlformats.org/officeDocument/2006/math">
                    <m:r>
                      <a:rPr lang="en-GB" b="0" i="1" smtClean="0">
                        <a:latin typeface="Cambria Math" panose="02040503050406030204" pitchFamily="18" charset="0"/>
                      </a:rPr>
                      <m:t>𝑃𝑄</m:t>
                    </m:r>
                  </m:oMath>
                </a14:m>
                <a:r>
                  <a:rPr lang="en-GB" dirty="0"/>
                  <a:t>.</a:t>
                </a:r>
              </a:p>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𝑷</m:t>
                      </m:r>
                      <m:d>
                        <m:dPr>
                          <m:ctrlPr>
                            <a:rPr lang="en-GB" b="1" i="1" smtClean="0">
                              <a:latin typeface="Cambria Math" panose="02040503050406030204" pitchFamily="18" charset="0"/>
                            </a:rPr>
                          </m:ctrlPr>
                        </m:dPr>
                        <m:e>
                          <m:r>
                            <a:rPr lang="en-GB" b="1" i="1" smtClean="0">
                              <a:latin typeface="Cambria Math" panose="02040503050406030204" pitchFamily="18" charset="0"/>
                            </a:rPr>
                            <m:t>𝟔</m:t>
                          </m:r>
                          <m:r>
                            <a:rPr lang="en-GB" b="1" i="1" smtClean="0">
                              <a:latin typeface="Cambria Math" panose="02040503050406030204" pitchFamily="18" charset="0"/>
                            </a:rPr>
                            <m:t>,</m:t>
                          </m:r>
                          <m:r>
                            <a:rPr lang="en-GB" b="1" i="1" smtClean="0">
                              <a:latin typeface="Cambria Math" panose="02040503050406030204" pitchFamily="18" charset="0"/>
                            </a:rPr>
                            <m:t>𝟑</m:t>
                          </m:r>
                        </m:e>
                      </m:d>
                      <m:r>
                        <a:rPr lang="en-GB" b="1" i="1" smtClean="0">
                          <a:latin typeface="Cambria Math" panose="02040503050406030204" pitchFamily="18" charset="0"/>
                        </a:rPr>
                        <m:t>,   </m:t>
                      </m:r>
                      <m:r>
                        <a:rPr lang="en-GB" b="1" i="1" smtClean="0">
                          <a:latin typeface="Cambria Math" panose="02040503050406030204" pitchFamily="18" charset="0"/>
                        </a:rPr>
                        <m:t>𝑸</m:t>
                      </m:r>
                      <m:d>
                        <m:dPr>
                          <m:ctrlPr>
                            <a:rPr lang="en-GB" b="1" i="1" smtClean="0">
                              <a:latin typeface="Cambria Math" panose="02040503050406030204" pitchFamily="18" charset="0"/>
                            </a:rPr>
                          </m:ctrlPr>
                        </m:dPr>
                        <m:e>
                          <m:r>
                            <a:rPr lang="en-GB" b="1" i="1" smtClean="0">
                              <a:latin typeface="Cambria Math" panose="02040503050406030204" pitchFamily="18" charset="0"/>
                            </a:rPr>
                            <m:t>𝟎</m:t>
                          </m:r>
                          <m:r>
                            <a:rPr lang="en-GB" b="1" i="1" smtClean="0">
                              <a:latin typeface="Cambria Math" panose="02040503050406030204" pitchFamily="18" charset="0"/>
                            </a:rPr>
                            <m:t>,</m:t>
                          </m:r>
                          <m:r>
                            <a:rPr lang="en-GB" b="1" i="1" smtClean="0">
                              <a:latin typeface="Cambria Math" panose="02040503050406030204" pitchFamily="18" charset="0"/>
                            </a:rPr>
                            <m:t>𝟔</m:t>
                          </m:r>
                        </m:e>
                      </m:d>
                    </m:oMath>
                    <m:oMath xmlns:m="http://schemas.openxmlformats.org/officeDocument/2006/math">
                      <m:r>
                        <a:rPr lang="en-GB" b="1" i="1" smtClean="0">
                          <a:latin typeface="Cambria Math" panose="02040503050406030204" pitchFamily="18" charset="0"/>
                        </a:rPr>
                        <m:t>𝑫𝒊𝒔𝒕</m:t>
                      </m:r>
                      <m:r>
                        <a:rPr lang="en-GB" b="1" i="1" smtClean="0">
                          <a:latin typeface="Cambria Math" panose="02040503050406030204" pitchFamily="18" charset="0"/>
                        </a:rPr>
                        <m:t>=</m:t>
                      </m:r>
                      <m:rad>
                        <m:radPr>
                          <m:degHide m:val="on"/>
                          <m:ctrlPr>
                            <a:rPr lang="en-GB" b="1" i="1" smtClean="0">
                              <a:latin typeface="Cambria Math" panose="02040503050406030204" pitchFamily="18" charset="0"/>
                            </a:rPr>
                          </m:ctrlPr>
                        </m:radPr>
                        <m:deg/>
                        <m:e>
                          <m:sSup>
                            <m:sSupPr>
                              <m:ctrlPr>
                                <a:rPr lang="en-GB" b="1" i="1" smtClean="0">
                                  <a:latin typeface="Cambria Math" panose="02040503050406030204" pitchFamily="18" charset="0"/>
                                </a:rPr>
                              </m:ctrlPr>
                            </m:sSupPr>
                            <m:e>
                              <m:r>
                                <a:rPr lang="en-GB" b="1" i="1" smtClean="0">
                                  <a:latin typeface="Cambria Math" panose="02040503050406030204" pitchFamily="18" charset="0"/>
                                </a:rPr>
                                <m:t>𝟔</m:t>
                              </m:r>
                            </m:e>
                            <m:sup>
                              <m:r>
                                <a:rPr lang="en-GB" b="1" i="1" smtClean="0">
                                  <a:latin typeface="Cambria Math" panose="02040503050406030204" pitchFamily="18" charset="0"/>
                                </a:rPr>
                                <m:t>𝟐</m:t>
                              </m:r>
                            </m:sup>
                          </m:sSup>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𝟑</m:t>
                              </m:r>
                            </m:e>
                            <m:sup>
                              <m:r>
                                <a:rPr lang="en-GB" b="1" i="1" smtClean="0">
                                  <a:latin typeface="Cambria Math" panose="02040503050406030204" pitchFamily="18" charset="0"/>
                                </a:rPr>
                                <m:t>𝟐</m:t>
                              </m:r>
                            </m:sup>
                          </m:sSup>
                        </m:e>
                      </m:rad>
                      <m:r>
                        <a:rPr lang="en-GB" b="1" i="1" smtClean="0">
                          <a:latin typeface="Cambria Math" panose="02040503050406030204" pitchFamily="18" charset="0"/>
                        </a:rPr>
                        <m:t>=</m:t>
                      </m:r>
                      <m:rad>
                        <m:radPr>
                          <m:degHide m:val="on"/>
                          <m:ctrlPr>
                            <a:rPr lang="en-GB" b="1" i="1" smtClean="0">
                              <a:latin typeface="Cambria Math" panose="02040503050406030204" pitchFamily="18" charset="0"/>
                            </a:rPr>
                          </m:ctrlPr>
                        </m:radPr>
                        <m:deg/>
                        <m:e>
                          <m:r>
                            <a:rPr lang="en-GB" b="1" i="1" smtClean="0">
                              <a:latin typeface="Cambria Math" panose="02040503050406030204" pitchFamily="18" charset="0"/>
                            </a:rPr>
                            <m:t>𝟒𝟓</m:t>
                          </m:r>
                        </m:e>
                      </m:rad>
                    </m:oMath>
                  </m:oMathPara>
                </a14:m>
                <a:endParaRPr lang="en-GB" b="1" dirty="0"/>
              </a:p>
            </p:txBody>
          </p:sp>
        </mc:Choice>
        <mc:Fallback xmlns="">
          <p:sp>
            <p:nvSpPr>
              <p:cNvPr id="20" name="TextBox 19"/>
              <p:cNvSpPr txBox="1">
                <a:spLocks noRot="1" noChangeAspect="1" noMove="1" noResize="1" noEditPoints="1" noAdjustHandles="1" noChangeArrowheads="1" noChangeShapeType="1" noTextEdit="1"/>
              </p:cNvSpPr>
              <p:nvPr/>
            </p:nvSpPr>
            <p:spPr>
              <a:xfrm>
                <a:off x="5292080" y="1340768"/>
                <a:ext cx="3672408" cy="3724033"/>
              </a:xfrm>
              <a:prstGeom prst="rect">
                <a:avLst/>
              </a:prstGeom>
              <a:blipFill rotWithShape="0">
                <a:blip r:embed="rId9"/>
                <a:stretch>
                  <a:fillRect l="-1327" t="-9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615591" y="5075965"/>
                <a:ext cx="60803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𝑅</m:t>
                      </m:r>
                    </m:oMath>
                  </m:oMathPara>
                </a14:m>
                <a:endParaRPr lang="en-GB" dirty="0"/>
              </a:p>
            </p:txBody>
          </p:sp>
        </mc:Choice>
        <mc:Fallback xmlns="">
          <p:sp>
            <p:nvSpPr>
              <p:cNvPr id="17" name="TextBox 16"/>
              <p:cNvSpPr txBox="1">
                <a:spLocks noRot="1" noChangeAspect="1" noMove="1" noResize="1" noEditPoints="1" noAdjustHandles="1" noChangeArrowheads="1" noChangeShapeType="1" noTextEdit="1"/>
              </p:cNvSpPr>
              <p:nvPr/>
            </p:nvSpPr>
            <p:spPr>
              <a:xfrm>
                <a:off x="615591" y="5075965"/>
                <a:ext cx="608037" cy="369332"/>
              </a:xfrm>
              <a:prstGeom prst="rect">
                <a:avLst/>
              </a:prstGeom>
              <a:blipFill rotWithShape="0">
                <a:blip r:embed="rId10"/>
                <a:stretch>
                  <a:fillRect/>
                </a:stretch>
              </a:blipFill>
            </p:spPr>
            <p:txBody>
              <a:bodyPr/>
              <a:lstStyle/>
              <a:p>
                <a:r>
                  <a:rPr lang="en-GB">
                    <a:noFill/>
                  </a:rPr>
                  <a:t> </a:t>
                </a:r>
              </a:p>
            </p:txBody>
          </p:sp>
        </mc:Fallback>
      </mc:AlternateContent>
      <p:sp>
        <p:nvSpPr>
          <p:cNvPr id="18" name="Rectangle 17"/>
          <p:cNvSpPr/>
          <p:nvPr/>
        </p:nvSpPr>
        <p:spPr>
          <a:xfrm>
            <a:off x="5613818" y="1691043"/>
            <a:ext cx="2942353" cy="62295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19" name="Rectangle 18"/>
          <p:cNvSpPr/>
          <p:nvPr/>
        </p:nvSpPr>
        <p:spPr>
          <a:xfrm>
            <a:off x="5621648" y="2754971"/>
            <a:ext cx="2942353" cy="109857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21" name="Rectangle 20"/>
          <p:cNvSpPr/>
          <p:nvPr/>
        </p:nvSpPr>
        <p:spPr>
          <a:xfrm>
            <a:off x="5621648" y="4393572"/>
            <a:ext cx="2942353" cy="840901"/>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165864028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9"/>
                                        </p:tgtEl>
                                      </p:cBhvr>
                                    </p:animEffect>
                                    <p:set>
                                      <p:cBhvr>
                                        <p:cTn id="13"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14" restart="whenNotActive" fill="hold" evtFilter="cancelBubble" nodeType="interactiveSeq">
                <p:stCondLst>
                  <p:cond evt="onClick" delay="0">
                    <p:tgtEl>
                      <p:spTgt spid="2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1"/>
                                        </p:tgtEl>
                                      </p:cBhvr>
                                    </p:animEffect>
                                    <p:set>
                                      <p:cBhvr>
                                        <p:cTn id="19"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childTnLst>
        </p:cTn>
      </p:par>
    </p:tnLst>
    <p:bldLst>
      <p:bldP spid="18" grpId="0" animBg="1"/>
      <p:bldP spid="19" grpId="0" animBg="1"/>
      <p:bldP spid="2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5G – Pure Y1 Page 102</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7" name="Group 6">
            <a:extLst>
              <a:ext uri="{FF2B5EF4-FFF2-40B4-BE49-F238E27FC236}">
                <a16:creationId xmlns:a16="http://schemas.microsoft.com/office/drawing/2014/main" id="{12BB3A46-CCF8-BAB1-873E-F420CA561C15}"/>
              </a:ext>
            </a:extLst>
          </p:cNvPr>
          <p:cNvGrpSpPr/>
          <p:nvPr/>
        </p:nvGrpSpPr>
        <p:grpSpPr>
          <a:xfrm>
            <a:off x="179512" y="676192"/>
            <a:ext cx="7812360" cy="648072"/>
            <a:chOff x="0" y="692696"/>
            <a:chExt cx="7812360" cy="648072"/>
          </a:xfrm>
        </p:grpSpPr>
        <p:pic>
          <p:nvPicPr>
            <p:cNvPr id="5" name="Picture 4">
              <a:extLst>
                <a:ext uri="{FF2B5EF4-FFF2-40B4-BE49-F238E27FC236}">
                  <a16:creationId xmlns:a16="http://schemas.microsoft.com/office/drawing/2014/main" id="{FDACEDE3-E08A-A62F-D29D-8753A47C325F}"/>
                </a:ext>
              </a:extLst>
            </p:cNvPr>
            <p:cNvPicPr>
              <a:picLocks noChangeAspect="1"/>
            </p:cNvPicPr>
            <p:nvPr/>
          </p:nvPicPr>
          <p:blipFill>
            <a:blip r:embed="rId2"/>
            <a:stretch>
              <a:fillRect/>
            </a:stretch>
          </p:blipFill>
          <p:spPr>
            <a:xfrm>
              <a:off x="0" y="692696"/>
              <a:ext cx="7772400" cy="554007"/>
            </a:xfrm>
            <a:prstGeom prst="rect">
              <a:avLst/>
            </a:prstGeom>
          </p:spPr>
        </p:pic>
        <p:sp>
          <p:nvSpPr>
            <p:cNvPr id="6" name="Rectangle 5">
              <a:extLst>
                <a:ext uri="{FF2B5EF4-FFF2-40B4-BE49-F238E27FC236}">
                  <a16:creationId xmlns:a16="http://schemas.microsoft.com/office/drawing/2014/main" id="{4D67F32F-9DF9-C810-3F34-94BA72173F89}"/>
                </a:ext>
              </a:extLst>
            </p:cNvPr>
            <p:cNvSpPr/>
            <p:nvPr/>
          </p:nvSpPr>
          <p:spPr>
            <a:xfrm>
              <a:off x="7236296" y="908720"/>
              <a:ext cx="576064" cy="4320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2" name="Group 11">
            <a:extLst>
              <a:ext uri="{FF2B5EF4-FFF2-40B4-BE49-F238E27FC236}">
                <a16:creationId xmlns:a16="http://schemas.microsoft.com/office/drawing/2014/main" id="{44FB6BBA-CD8F-1174-1571-FAB0991B153D}"/>
              </a:ext>
            </a:extLst>
          </p:cNvPr>
          <p:cNvGrpSpPr/>
          <p:nvPr/>
        </p:nvGrpSpPr>
        <p:grpSpPr>
          <a:xfrm>
            <a:off x="179511" y="3212976"/>
            <a:ext cx="5400581" cy="1080120"/>
            <a:chOff x="179512" y="3284984"/>
            <a:chExt cx="4896544" cy="936104"/>
          </a:xfrm>
        </p:grpSpPr>
        <p:pic>
          <p:nvPicPr>
            <p:cNvPr id="10" name="Picture 9">
              <a:extLst>
                <a:ext uri="{FF2B5EF4-FFF2-40B4-BE49-F238E27FC236}">
                  <a16:creationId xmlns:a16="http://schemas.microsoft.com/office/drawing/2014/main" id="{C4869357-93BC-512E-DB7E-73330DB2A10B}"/>
                </a:ext>
              </a:extLst>
            </p:cNvPr>
            <p:cNvPicPr>
              <a:picLocks noChangeAspect="1"/>
            </p:cNvPicPr>
            <p:nvPr/>
          </p:nvPicPr>
          <p:blipFill>
            <a:blip r:embed="rId3"/>
            <a:stretch>
              <a:fillRect/>
            </a:stretch>
          </p:blipFill>
          <p:spPr>
            <a:xfrm>
              <a:off x="179512" y="3284984"/>
              <a:ext cx="4822304" cy="812577"/>
            </a:xfrm>
            <a:prstGeom prst="rect">
              <a:avLst/>
            </a:prstGeom>
          </p:spPr>
        </p:pic>
        <p:sp>
          <p:nvSpPr>
            <p:cNvPr id="11" name="Rectangle 10">
              <a:extLst>
                <a:ext uri="{FF2B5EF4-FFF2-40B4-BE49-F238E27FC236}">
                  <a16:creationId xmlns:a16="http://schemas.microsoft.com/office/drawing/2014/main" id="{B6E9151F-B8B3-808C-1497-EFE96DE121E5}"/>
                </a:ext>
              </a:extLst>
            </p:cNvPr>
            <p:cNvSpPr/>
            <p:nvPr/>
          </p:nvSpPr>
          <p:spPr>
            <a:xfrm>
              <a:off x="3995936" y="4005064"/>
              <a:ext cx="1080120"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3" name="Picture 12">
            <a:extLst>
              <a:ext uri="{FF2B5EF4-FFF2-40B4-BE49-F238E27FC236}">
                <a16:creationId xmlns:a16="http://schemas.microsoft.com/office/drawing/2014/main" id="{D4A43C4B-E2B6-974D-F83E-03C92C8B327F}"/>
              </a:ext>
            </a:extLst>
          </p:cNvPr>
          <p:cNvPicPr>
            <a:picLocks noChangeAspect="1"/>
          </p:cNvPicPr>
          <p:nvPr/>
        </p:nvPicPr>
        <p:blipFill>
          <a:blip r:embed="rId4"/>
          <a:stretch>
            <a:fillRect/>
          </a:stretch>
        </p:blipFill>
        <p:spPr>
          <a:xfrm>
            <a:off x="467544" y="1307264"/>
            <a:ext cx="2808302" cy="1421776"/>
          </a:xfrm>
          <a:prstGeom prst="rect">
            <a:avLst/>
          </a:prstGeom>
        </p:spPr>
      </p:pic>
      <p:cxnSp>
        <p:nvCxnSpPr>
          <p:cNvPr id="15" name="Straight Connector 14">
            <a:extLst>
              <a:ext uri="{FF2B5EF4-FFF2-40B4-BE49-F238E27FC236}">
                <a16:creationId xmlns:a16="http://schemas.microsoft.com/office/drawing/2014/main" id="{648E0ECD-E03A-FBF5-A395-8071D5011E99}"/>
              </a:ext>
            </a:extLst>
          </p:cNvPr>
          <p:cNvCxnSpPr>
            <a:cxnSpLocks/>
          </p:cNvCxnSpPr>
          <p:nvPr/>
        </p:nvCxnSpPr>
        <p:spPr>
          <a:xfrm>
            <a:off x="3275846" y="1307264"/>
            <a:ext cx="0" cy="1734636"/>
          </a:xfrm>
          <a:prstGeom prst="line">
            <a:avLst/>
          </a:prstGeom>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56E52B28-5D21-94C5-73F5-D39B9BC7BC73}"/>
              </a:ext>
            </a:extLst>
          </p:cNvPr>
          <p:cNvPicPr>
            <a:picLocks noChangeAspect="1"/>
          </p:cNvPicPr>
          <p:nvPr/>
        </p:nvPicPr>
        <p:blipFill>
          <a:blip r:embed="rId5"/>
          <a:stretch>
            <a:fillRect/>
          </a:stretch>
        </p:blipFill>
        <p:spPr>
          <a:xfrm>
            <a:off x="3419872" y="1257910"/>
            <a:ext cx="2787485" cy="1783990"/>
          </a:xfrm>
          <a:prstGeom prst="rect">
            <a:avLst/>
          </a:prstGeom>
        </p:spPr>
      </p:pic>
      <p:pic>
        <p:nvPicPr>
          <p:cNvPr id="19" name="Picture 18">
            <a:extLst>
              <a:ext uri="{FF2B5EF4-FFF2-40B4-BE49-F238E27FC236}">
                <a16:creationId xmlns:a16="http://schemas.microsoft.com/office/drawing/2014/main" id="{12770EDD-84C3-6F23-DCA3-EC1AA53C8D66}"/>
              </a:ext>
            </a:extLst>
          </p:cNvPr>
          <p:cNvPicPr>
            <a:picLocks noChangeAspect="1"/>
          </p:cNvPicPr>
          <p:nvPr/>
        </p:nvPicPr>
        <p:blipFill>
          <a:blip r:embed="rId6"/>
          <a:stretch>
            <a:fillRect/>
          </a:stretch>
        </p:blipFill>
        <p:spPr>
          <a:xfrm>
            <a:off x="6526095" y="1230199"/>
            <a:ext cx="2451594" cy="1569020"/>
          </a:xfrm>
          <a:prstGeom prst="rect">
            <a:avLst/>
          </a:prstGeom>
        </p:spPr>
      </p:pic>
      <p:cxnSp>
        <p:nvCxnSpPr>
          <p:cNvPr id="20" name="Straight Connector 19">
            <a:extLst>
              <a:ext uri="{FF2B5EF4-FFF2-40B4-BE49-F238E27FC236}">
                <a16:creationId xmlns:a16="http://schemas.microsoft.com/office/drawing/2014/main" id="{8033576B-A014-79D2-C022-50611A86DBE2}"/>
              </a:ext>
            </a:extLst>
          </p:cNvPr>
          <p:cNvCxnSpPr>
            <a:cxnSpLocks/>
          </p:cNvCxnSpPr>
          <p:nvPr/>
        </p:nvCxnSpPr>
        <p:spPr>
          <a:xfrm>
            <a:off x="6300192" y="1257910"/>
            <a:ext cx="0" cy="1734636"/>
          </a:xfrm>
          <a:prstGeom prst="line">
            <a:avLst/>
          </a:prstGeom>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1726CA1E-BD63-2A35-F7F7-9638540F6455}"/>
              </a:ext>
            </a:extLst>
          </p:cNvPr>
          <p:cNvGrpSpPr/>
          <p:nvPr/>
        </p:nvGrpSpPr>
        <p:grpSpPr>
          <a:xfrm>
            <a:off x="396078" y="4274400"/>
            <a:ext cx="3581400" cy="2394960"/>
            <a:chOff x="396078" y="4221088"/>
            <a:chExt cx="3581400" cy="2394960"/>
          </a:xfrm>
        </p:grpSpPr>
        <p:pic>
          <p:nvPicPr>
            <p:cNvPr id="21" name="Picture 20">
              <a:extLst>
                <a:ext uri="{FF2B5EF4-FFF2-40B4-BE49-F238E27FC236}">
                  <a16:creationId xmlns:a16="http://schemas.microsoft.com/office/drawing/2014/main" id="{54145D70-ED04-08DF-4618-AB8E99D89249}"/>
                </a:ext>
              </a:extLst>
            </p:cNvPr>
            <p:cNvPicPr>
              <a:picLocks noChangeAspect="1"/>
            </p:cNvPicPr>
            <p:nvPr/>
          </p:nvPicPr>
          <p:blipFill rotWithShape="1">
            <a:blip r:embed="rId7"/>
            <a:srcRect b="65916"/>
            <a:stretch/>
          </p:blipFill>
          <p:spPr>
            <a:xfrm>
              <a:off x="396078" y="4221088"/>
              <a:ext cx="3581400" cy="562737"/>
            </a:xfrm>
            <a:prstGeom prst="rect">
              <a:avLst/>
            </a:prstGeom>
          </p:spPr>
        </p:pic>
        <p:pic>
          <p:nvPicPr>
            <p:cNvPr id="22" name="Picture 21">
              <a:extLst>
                <a:ext uri="{FF2B5EF4-FFF2-40B4-BE49-F238E27FC236}">
                  <a16:creationId xmlns:a16="http://schemas.microsoft.com/office/drawing/2014/main" id="{C91CE21D-A553-9CDF-3EA5-74B163DED636}"/>
                </a:ext>
              </a:extLst>
            </p:cNvPr>
            <p:cNvPicPr>
              <a:picLocks noChangeAspect="1"/>
            </p:cNvPicPr>
            <p:nvPr/>
          </p:nvPicPr>
          <p:blipFill>
            <a:blip r:embed="rId8"/>
            <a:stretch>
              <a:fillRect/>
            </a:stretch>
          </p:blipFill>
          <p:spPr>
            <a:xfrm>
              <a:off x="640567" y="4761302"/>
              <a:ext cx="2755900" cy="292100"/>
            </a:xfrm>
            <a:prstGeom prst="rect">
              <a:avLst/>
            </a:prstGeom>
          </p:spPr>
        </p:pic>
        <p:pic>
          <p:nvPicPr>
            <p:cNvPr id="23" name="Picture 22">
              <a:extLst>
                <a:ext uri="{FF2B5EF4-FFF2-40B4-BE49-F238E27FC236}">
                  <a16:creationId xmlns:a16="http://schemas.microsoft.com/office/drawing/2014/main" id="{2A63B03F-226E-A0F1-AEA8-8D22558DB8D8}"/>
                </a:ext>
              </a:extLst>
            </p:cNvPr>
            <p:cNvPicPr>
              <a:picLocks noChangeAspect="1"/>
            </p:cNvPicPr>
            <p:nvPr/>
          </p:nvPicPr>
          <p:blipFill>
            <a:blip r:embed="rId9"/>
            <a:stretch>
              <a:fillRect/>
            </a:stretch>
          </p:blipFill>
          <p:spPr>
            <a:xfrm>
              <a:off x="646145" y="5076011"/>
              <a:ext cx="2451100" cy="317500"/>
            </a:xfrm>
            <a:prstGeom prst="rect">
              <a:avLst/>
            </a:prstGeom>
          </p:spPr>
        </p:pic>
        <p:pic>
          <p:nvPicPr>
            <p:cNvPr id="24" name="Picture 23">
              <a:extLst>
                <a:ext uri="{FF2B5EF4-FFF2-40B4-BE49-F238E27FC236}">
                  <a16:creationId xmlns:a16="http://schemas.microsoft.com/office/drawing/2014/main" id="{6A20F39E-C113-3DC0-04A4-C66D72C43EE5}"/>
                </a:ext>
              </a:extLst>
            </p:cNvPr>
            <p:cNvPicPr>
              <a:picLocks noChangeAspect="1"/>
            </p:cNvPicPr>
            <p:nvPr/>
          </p:nvPicPr>
          <p:blipFill>
            <a:blip r:embed="rId10"/>
            <a:stretch>
              <a:fillRect/>
            </a:stretch>
          </p:blipFill>
          <p:spPr>
            <a:xfrm>
              <a:off x="2932946" y="5076011"/>
              <a:ext cx="685800" cy="317500"/>
            </a:xfrm>
            <a:prstGeom prst="rect">
              <a:avLst/>
            </a:prstGeom>
          </p:spPr>
        </p:pic>
        <p:pic>
          <p:nvPicPr>
            <p:cNvPr id="25" name="Picture 24">
              <a:extLst>
                <a:ext uri="{FF2B5EF4-FFF2-40B4-BE49-F238E27FC236}">
                  <a16:creationId xmlns:a16="http://schemas.microsoft.com/office/drawing/2014/main" id="{B0093D6B-E2EB-B127-3AA1-3DF6318F43F3}"/>
                </a:ext>
              </a:extLst>
            </p:cNvPr>
            <p:cNvPicPr>
              <a:picLocks noChangeAspect="1"/>
            </p:cNvPicPr>
            <p:nvPr/>
          </p:nvPicPr>
          <p:blipFill>
            <a:blip r:embed="rId11"/>
            <a:stretch>
              <a:fillRect/>
            </a:stretch>
          </p:blipFill>
          <p:spPr>
            <a:xfrm>
              <a:off x="685046" y="5511085"/>
              <a:ext cx="2590800" cy="355600"/>
            </a:xfrm>
            <a:prstGeom prst="rect">
              <a:avLst/>
            </a:prstGeom>
          </p:spPr>
        </p:pic>
        <p:pic>
          <p:nvPicPr>
            <p:cNvPr id="26" name="Picture 25">
              <a:extLst>
                <a:ext uri="{FF2B5EF4-FFF2-40B4-BE49-F238E27FC236}">
                  <a16:creationId xmlns:a16="http://schemas.microsoft.com/office/drawing/2014/main" id="{E78FE66F-DE3F-5585-DCDC-53D11B5CA32C}"/>
                </a:ext>
              </a:extLst>
            </p:cNvPr>
            <p:cNvPicPr>
              <a:picLocks noChangeAspect="1"/>
            </p:cNvPicPr>
            <p:nvPr/>
          </p:nvPicPr>
          <p:blipFill>
            <a:blip r:embed="rId12"/>
            <a:stretch>
              <a:fillRect/>
            </a:stretch>
          </p:blipFill>
          <p:spPr>
            <a:xfrm>
              <a:off x="3212317" y="5513597"/>
              <a:ext cx="368300" cy="355600"/>
            </a:xfrm>
            <a:prstGeom prst="rect">
              <a:avLst/>
            </a:prstGeom>
          </p:spPr>
        </p:pic>
        <p:pic>
          <p:nvPicPr>
            <p:cNvPr id="27" name="Picture 26">
              <a:extLst>
                <a:ext uri="{FF2B5EF4-FFF2-40B4-BE49-F238E27FC236}">
                  <a16:creationId xmlns:a16="http://schemas.microsoft.com/office/drawing/2014/main" id="{849B41C5-CEB4-D864-A1B4-BCFE456756C4}"/>
                </a:ext>
              </a:extLst>
            </p:cNvPr>
            <p:cNvPicPr>
              <a:picLocks noChangeAspect="1"/>
            </p:cNvPicPr>
            <p:nvPr/>
          </p:nvPicPr>
          <p:blipFill>
            <a:blip r:embed="rId13"/>
            <a:stretch>
              <a:fillRect/>
            </a:stretch>
          </p:blipFill>
          <p:spPr>
            <a:xfrm>
              <a:off x="678337" y="5925247"/>
              <a:ext cx="2336800" cy="355600"/>
            </a:xfrm>
            <a:prstGeom prst="rect">
              <a:avLst/>
            </a:prstGeom>
          </p:spPr>
        </p:pic>
        <p:pic>
          <p:nvPicPr>
            <p:cNvPr id="28" name="Picture 27">
              <a:extLst>
                <a:ext uri="{FF2B5EF4-FFF2-40B4-BE49-F238E27FC236}">
                  <a16:creationId xmlns:a16="http://schemas.microsoft.com/office/drawing/2014/main" id="{5E34B532-A0F5-1A93-7EE2-D233E478AA0C}"/>
                </a:ext>
              </a:extLst>
            </p:cNvPr>
            <p:cNvPicPr>
              <a:picLocks noChangeAspect="1"/>
            </p:cNvPicPr>
            <p:nvPr/>
          </p:nvPicPr>
          <p:blipFill>
            <a:blip r:embed="rId14"/>
            <a:stretch>
              <a:fillRect/>
            </a:stretch>
          </p:blipFill>
          <p:spPr>
            <a:xfrm>
              <a:off x="2994798" y="5914237"/>
              <a:ext cx="673100" cy="355600"/>
            </a:xfrm>
            <a:prstGeom prst="rect">
              <a:avLst/>
            </a:prstGeom>
          </p:spPr>
        </p:pic>
        <p:pic>
          <p:nvPicPr>
            <p:cNvPr id="30" name="Picture 29">
              <a:extLst>
                <a:ext uri="{FF2B5EF4-FFF2-40B4-BE49-F238E27FC236}">
                  <a16:creationId xmlns:a16="http://schemas.microsoft.com/office/drawing/2014/main" id="{7A70EE1C-4F0C-9095-923A-9F34F21A0335}"/>
                </a:ext>
              </a:extLst>
            </p:cNvPr>
            <p:cNvPicPr>
              <a:picLocks noChangeAspect="1"/>
            </p:cNvPicPr>
            <p:nvPr/>
          </p:nvPicPr>
          <p:blipFill>
            <a:blip r:embed="rId15"/>
            <a:stretch>
              <a:fillRect/>
            </a:stretch>
          </p:blipFill>
          <p:spPr>
            <a:xfrm>
              <a:off x="672317" y="6339409"/>
              <a:ext cx="2692400" cy="266700"/>
            </a:xfrm>
            <a:prstGeom prst="rect">
              <a:avLst/>
            </a:prstGeom>
          </p:spPr>
        </p:pic>
        <p:pic>
          <p:nvPicPr>
            <p:cNvPr id="31" name="Picture 30">
              <a:extLst>
                <a:ext uri="{FF2B5EF4-FFF2-40B4-BE49-F238E27FC236}">
                  <a16:creationId xmlns:a16="http://schemas.microsoft.com/office/drawing/2014/main" id="{4568D862-B6F5-A5E2-C180-1B45DB0A18DB}"/>
                </a:ext>
              </a:extLst>
            </p:cNvPr>
            <p:cNvPicPr>
              <a:picLocks noChangeAspect="1"/>
            </p:cNvPicPr>
            <p:nvPr/>
          </p:nvPicPr>
          <p:blipFill>
            <a:blip r:embed="rId16"/>
            <a:stretch>
              <a:fillRect/>
            </a:stretch>
          </p:blipFill>
          <p:spPr>
            <a:xfrm>
              <a:off x="3329778" y="6362048"/>
              <a:ext cx="647700" cy="254000"/>
            </a:xfrm>
            <a:prstGeom prst="rect">
              <a:avLst/>
            </a:prstGeom>
          </p:spPr>
        </p:pic>
      </p:grpSp>
      <p:pic>
        <p:nvPicPr>
          <p:cNvPr id="33" name="Picture 32">
            <a:extLst>
              <a:ext uri="{FF2B5EF4-FFF2-40B4-BE49-F238E27FC236}">
                <a16:creationId xmlns:a16="http://schemas.microsoft.com/office/drawing/2014/main" id="{4BEC3703-E820-EBD8-766B-44289CE1B821}"/>
              </a:ext>
            </a:extLst>
          </p:cNvPr>
          <p:cNvPicPr>
            <a:picLocks noChangeAspect="1"/>
          </p:cNvPicPr>
          <p:nvPr/>
        </p:nvPicPr>
        <p:blipFill>
          <a:blip r:embed="rId17"/>
          <a:stretch>
            <a:fillRect/>
          </a:stretch>
        </p:blipFill>
        <p:spPr>
          <a:xfrm>
            <a:off x="4194985" y="4321641"/>
            <a:ext cx="3225800" cy="520700"/>
          </a:xfrm>
          <a:prstGeom prst="rect">
            <a:avLst/>
          </a:prstGeom>
        </p:spPr>
      </p:pic>
      <p:pic>
        <p:nvPicPr>
          <p:cNvPr id="34" name="Picture 33">
            <a:extLst>
              <a:ext uri="{FF2B5EF4-FFF2-40B4-BE49-F238E27FC236}">
                <a16:creationId xmlns:a16="http://schemas.microsoft.com/office/drawing/2014/main" id="{DC4B0972-069D-D07E-B957-1684D2E88BD2}"/>
              </a:ext>
            </a:extLst>
          </p:cNvPr>
          <p:cNvPicPr>
            <a:picLocks noChangeAspect="1"/>
          </p:cNvPicPr>
          <p:nvPr/>
        </p:nvPicPr>
        <p:blipFill>
          <a:blip r:embed="rId18"/>
          <a:stretch>
            <a:fillRect/>
          </a:stretch>
        </p:blipFill>
        <p:spPr>
          <a:xfrm>
            <a:off x="4388787" y="4796846"/>
            <a:ext cx="2019300" cy="2019300"/>
          </a:xfrm>
          <a:prstGeom prst="rect">
            <a:avLst/>
          </a:prstGeom>
        </p:spPr>
      </p:pic>
      <p:pic>
        <p:nvPicPr>
          <p:cNvPr id="36" name="Picture 35">
            <a:extLst>
              <a:ext uri="{FF2B5EF4-FFF2-40B4-BE49-F238E27FC236}">
                <a16:creationId xmlns:a16="http://schemas.microsoft.com/office/drawing/2014/main" id="{47DA25B7-A8B1-CD09-13ED-ACD521AE61EB}"/>
              </a:ext>
            </a:extLst>
          </p:cNvPr>
          <p:cNvPicPr>
            <a:picLocks noChangeAspect="1"/>
          </p:cNvPicPr>
          <p:nvPr/>
        </p:nvPicPr>
        <p:blipFill>
          <a:blip r:embed="rId19"/>
          <a:stretch>
            <a:fillRect/>
          </a:stretch>
        </p:blipFill>
        <p:spPr>
          <a:xfrm>
            <a:off x="6410579" y="5013284"/>
            <a:ext cx="2578100" cy="952500"/>
          </a:xfrm>
          <a:prstGeom prst="rect">
            <a:avLst/>
          </a:prstGeom>
        </p:spPr>
      </p:pic>
      <p:sp>
        <p:nvSpPr>
          <p:cNvPr id="37" name="Rectangle 36">
            <a:extLst>
              <a:ext uri="{FF2B5EF4-FFF2-40B4-BE49-F238E27FC236}">
                <a16:creationId xmlns:a16="http://schemas.microsoft.com/office/drawing/2014/main" id="{80EF5CFE-1858-1D56-0EA4-D07C512A4E93}"/>
              </a:ext>
            </a:extLst>
          </p:cNvPr>
          <p:cNvSpPr/>
          <p:nvPr/>
        </p:nvSpPr>
        <p:spPr>
          <a:xfrm>
            <a:off x="396078" y="1199348"/>
            <a:ext cx="8424394" cy="192141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38" name="Rectangle 37">
            <a:extLst>
              <a:ext uri="{FF2B5EF4-FFF2-40B4-BE49-F238E27FC236}">
                <a16:creationId xmlns:a16="http://schemas.microsoft.com/office/drawing/2014/main" id="{6F2C30D9-B64C-097E-8C26-8E9230AB9FE1}"/>
              </a:ext>
            </a:extLst>
          </p:cNvPr>
          <p:cNvSpPr/>
          <p:nvPr/>
        </p:nvSpPr>
        <p:spPr>
          <a:xfrm>
            <a:off x="361895" y="4251176"/>
            <a:ext cx="3830597" cy="251323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 </a:t>
            </a:r>
          </a:p>
        </p:txBody>
      </p:sp>
      <p:sp>
        <p:nvSpPr>
          <p:cNvPr id="39" name="Rectangle 38">
            <a:extLst>
              <a:ext uri="{FF2B5EF4-FFF2-40B4-BE49-F238E27FC236}">
                <a16:creationId xmlns:a16="http://schemas.microsoft.com/office/drawing/2014/main" id="{7FD6447B-9149-4113-39CA-90D237366177}"/>
              </a:ext>
            </a:extLst>
          </p:cNvPr>
          <p:cNvSpPr/>
          <p:nvPr/>
        </p:nvSpPr>
        <p:spPr>
          <a:xfrm>
            <a:off x="4263043" y="4251176"/>
            <a:ext cx="4725636" cy="251323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 </a:t>
            </a:r>
          </a:p>
        </p:txBody>
      </p:sp>
    </p:spTree>
    <p:extLst>
      <p:ext uri="{BB962C8B-B14F-4D97-AF65-F5344CB8AC3E}">
        <p14:creationId xmlns:p14="http://schemas.microsoft.com/office/powerpoint/2010/main" val="264706368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7"/>
                                        </p:tgtEl>
                                      </p:cBhvr>
                                    </p:animEffect>
                                    <p:set>
                                      <p:cBhvr>
                                        <p:cTn id="7" dur="1" fill="hold">
                                          <p:stCondLst>
                                            <p:cond delay="499"/>
                                          </p:stCondLst>
                                        </p:cTn>
                                        <p:tgtEl>
                                          <p:spTgt spid="37"/>
                                        </p:tgtEl>
                                        <p:attrNameLst>
                                          <p:attrName>style.visibility</p:attrName>
                                        </p:attrNameLst>
                                      </p:cBhvr>
                                      <p:to>
                                        <p:strVal val="hidden"/>
                                      </p:to>
                                    </p:set>
                                  </p:childTnLst>
                                </p:cTn>
                              </p:par>
                            </p:childTnLst>
                          </p:cTn>
                        </p:par>
                      </p:childTnLst>
                    </p:cTn>
                  </p:par>
                </p:childTnLst>
              </p:cTn>
              <p:nextCondLst>
                <p:cond evt="onClick" delay="0">
                  <p:tgtEl>
                    <p:spTgt spid="37"/>
                  </p:tgtEl>
                </p:cond>
              </p:nextCondLst>
            </p:seq>
            <p:seq concurrent="1" nextAc="seek">
              <p:cTn id="8" restart="whenNotActive" fill="hold" evtFilter="cancelBubble" nodeType="interactiveSeq">
                <p:stCondLst>
                  <p:cond evt="onClick" delay="0">
                    <p:tgtEl>
                      <p:spTgt spid="3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8"/>
                                        </p:tgtEl>
                                      </p:cBhvr>
                                    </p:animEffect>
                                    <p:set>
                                      <p:cBhvr>
                                        <p:cTn id="13" dur="1" fill="hold">
                                          <p:stCondLst>
                                            <p:cond delay="499"/>
                                          </p:stCondLst>
                                        </p:cTn>
                                        <p:tgtEl>
                                          <p:spTgt spid="38"/>
                                        </p:tgtEl>
                                        <p:attrNameLst>
                                          <p:attrName>style.visibility</p:attrName>
                                        </p:attrNameLst>
                                      </p:cBhvr>
                                      <p:to>
                                        <p:strVal val="hidden"/>
                                      </p:to>
                                    </p:set>
                                  </p:childTnLst>
                                </p:cTn>
                              </p:par>
                            </p:childTnLst>
                          </p:cTn>
                        </p:par>
                      </p:childTnLst>
                    </p:cTn>
                  </p:par>
                </p:childTnLst>
              </p:cTn>
              <p:nextCondLst>
                <p:cond evt="onClick" delay="0">
                  <p:tgtEl>
                    <p:spTgt spid="38"/>
                  </p:tgtEl>
                </p:cond>
              </p:nextCondLst>
            </p:seq>
            <p:seq concurrent="1" nextAc="seek">
              <p:cTn id="14" restart="whenNotActive" fill="hold" evtFilter="cancelBubble" nodeType="interactiveSeq">
                <p:stCondLst>
                  <p:cond evt="onClick" delay="0">
                    <p:tgtEl>
                      <p:spTgt spid="39"/>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9"/>
                                        </p:tgtEl>
                                      </p:cBhvr>
                                    </p:animEffect>
                                    <p:set>
                                      <p:cBhvr>
                                        <p:cTn id="19" dur="1" fill="hold">
                                          <p:stCondLst>
                                            <p:cond delay="499"/>
                                          </p:stCondLst>
                                        </p:cTn>
                                        <p:tgtEl>
                                          <p:spTgt spid="39"/>
                                        </p:tgtEl>
                                        <p:attrNameLst>
                                          <p:attrName>style.visibility</p:attrName>
                                        </p:attrNameLst>
                                      </p:cBhvr>
                                      <p:to>
                                        <p:strVal val="hidden"/>
                                      </p:to>
                                    </p:set>
                                  </p:childTnLst>
                                </p:cTn>
                              </p:par>
                            </p:childTnLst>
                          </p:cTn>
                        </p:par>
                      </p:childTnLst>
                    </p:cTn>
                  </p:par>
                </p:childTnLst>
              </p:cTn>
              <p:nextCondLst>
                <p:cond evt="onClick" delay="0">
                  <p:tgtEl>
                    <p:spTgt spid="39"/>
                  </p:tgtEl>
                </p:cond>
              </p:nextCondLst>
            </p:seq>
          </p:childTnLst>
        </p:cTn>
      </p:par>
    </p:tnLst>
    <p:bldLst>
      <p:bldP spid="37" grpId="0" animBg="1"/>
      <p:bldP spid="38" grpId="0" animBg="1"/>
      <p:bldP spid="3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5G – Pure Y1 Page 103</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8" name="Picture 7">
            <a:extLst>
              <a:ext uri="{FF2B5EF4-FFF2-40B4-BE49-F238E27FC236}">
                <a16:creationId xmlns:a16="http://schemas.microsoft.com/office/drawing/2014/main" id="{37C90A17-A445-C176-10CE-C95C47CEF462}"/>
              </a:ext>
            </a:extLst>
          </p:cNvPr>
          <p:cNvPicPr>
            <a:picLocks noChangeAspect="1"/>
          </p:cNvPicPr>
          <p:nvPr/>
        </p:nvPicPr>
        <p:blipFill>
          <a:blip r:embed="rId2"/>
          <a:stretch>
            <a:fillRect/>
          </a:stretch>
        </p:blipFill>
        <p:spPr>
          <a:xfrm>
            <a:off x="251520" y="621674"/>
            <a:ext cx="7772400" cy="2203471"/>
          </a:xfrm>
          <a:prstGeom prst="rect">
            <a:avLst/>
          </a:prstGeom>
        </p:spPr>
      </p:pic>
      <p:pic>
        <p:nvPicPr>
          <p:cNvPr id="11" name="Picture 10">
            <a:extLst>
              <a:ext uri="{FF2B5EF4-FFF2-40B4-BE49-F238E27FC236}">
                <a16:creationId xmlns:a16="http://schemas.microsoft.com/office/drawing/2014/main" id="{CDFF71B2-D70E-5926-C393-5D54D0C96931}"/>
              </a:ext>
            </a:extLst>
          </p:cNvPr>
          <p:cNvPicPr>
            <a:picLocks noChangeAspect="1"/>
          </p:cNvPicPr>
          <p:nvPr/>
        </p:nvPicPr>
        <p:blipFill>
          <a:blip r:embed="rId3"/>
          <a:stretch>
            <a:fillRect/>
          </a:stretch>
        </p:blipFill>
        <p:spPr>
          <a:xfrm>
            <a:off x="539552" y="2852936"/>
            <a:ext cx="3048000" cy="1993900"/>
          </a:xfrm>
          <a:prstGeom prst="rect">
            <a:avLst/>
          </a:prstGeom>
        </p:spPr>
      </p:pic>
      <p:pic>
        <p:nvPicPr>
          <p:cNvPr id="12" name="Picture 11">
            <a:extLst>
              <a:ext uri="{FF2B5EF4-FFF2-40B4-BE49-F238E27FC236}">
                <a16:creationId xmlns:a16="http://schemas.microsoft.com/office/drawing/2014/main" id="{311A90A0-611D-A449-9F14-817835C2BA6B}"/>
              </a:ext>
            </a:extLst>
          </p:cNvPr>
          <p:cNvPicPr>
            <a:picLocks noChangeAspect="1"/>
          </p:cNvPicPr>
          <p:nvPr/>
        </p:nvPicPr>
        <p:blipFill>
          <a:blip r:embed="rId4"/>
          <a:stretch>
            <a:fillRect/>
          </a:stretch>
        </p:blipFill>
        <p:spPr>
          <a:xfrm>
            <a:off x="539552" y="5543252"/>
            <a:ext cx="3048000" cy="1054100"/>
          </a:xfrm>
          <a:prstGeom prst="rect">
            <a:avLst/>
          </a:prstGeom>
        </p:spPr>
      </p:pic>
      <p:pic>
        <p:nvPicPr>
          <p:cNvPr id="13" name="Picture 12">
            <a:extLst>
              <a:ext uri="{FF2B5EF4-FFF2-40B4-BE49-F238E27FC236}">
                <a16:creationId xmlns:a16="http://schemas.microsoft.com/office/drawing/2014/main" id="{FBE6E87C-46C8-1830-9527-85C970CC34C4}"/>
              </a:ext>
            </a:extLst>
          </p:cNvPr>
          <p:cNvPicPr>
            <a:picLocks noChangeAspect="1"/>
          </p:cNvPicPr>
          <p:nvPr/>
        </p:nvPicPr>
        <p:blipFill>
          <a:blip r:embed="rId5"/>
          <a:stretch>
            <a:fillRect/>
          </a:stretch>
        </p:blipFill>
        <p:spPr>
          <a:xfrm>
            <a:off x="4572000" y="2793574"/>
            <a:ext cx="3187700" cy="2006600"/>
          </a:xfrm>
          <a:prstGeom prst="rect">
            <a:avLst/>
          </a:prstGeom>
        </p:spPr>
      </p:pic>
      <p:pic>
        <p:nvPicPr>
          <p:cNvPr id="14" name="Picture 13">
            <a:extLst>
              <a:ext uri="{FF2B5EF4-FFF2-40B4-BE49-F238E27FC236}">
                <a16:creationId xmlns:a16="http://schemas.microsoft.com/office/drawing/2014/main" id="{88832EE2-38C2-03E0-5502-B80F8C934B17}"/>
              </a:ext>
            </a:extLst>
          </p:cNvPr>
          <p:cNvPicPr>
            <a:picLocks noChangeAspect="1"/>
          </p:cNvPicPr>
          <p:nvPr/>
        </p:nvPicPr>
        <p:blipFill>
          <a:blip r:embed="rId6"/>
          <a:stretch>
            <a:fillRect/>
          </a:stretch>
        </p:blipFill>
        <p:spPr>
          <a:xfrm>
            <a:off x="4812275" y="4725144"/>
            <a:ext cx="2425700" cy="774700"/>
          </a:xfrm>
          <a:prstGeom prst="rect">
            <a:avLst/>
          </a:prstGeom>
        </p:spPr>
      </p:pic>
      <p:pic>
        <p:nvPicPr>
          <p:cNvPr id="15" name="Picture 14">
            <a:extLst>
              <a:ext uri="{FF2B5EF4-FFF2-40B4-BE49-F238E27FC236}">
                <a16:creationId xmlns:a16="http://schemas.microsoft.com/office/drawing/2014/main" id="{A4CCB3EC-A788-FEA7-8CA8-41A63EBA03B6}"/>
              </a:ext>
            </a:extLst>
          </p:cNvPr>
          <p:cNvPicPr>
            <a:picLocks noChangeAspect="1"/>
          </p:cNvPicPr>
          <p:nvPr/>
        </p:nvPicPr>
        <p:blipFill>
          <a:blip r:embed="rId7"/>
          <a:stretch>
            <a:fillRect/>
          </a:stretch>
        </p:blipFill>
        <p:spPr>
          <a:xfrm>
            <a:off x="4572000" y="5610870"/>
            <a:ext cx="3492500" cy="1016000"/>
          </a:xfrm>
          <a:prstGeom prst="rect">
            <a:avLst/>
          </a:prstGeom>
        </p:spPr>
      </p:pic>
      <p:sp>
        <p:nvSpPr>
          <p:cNvPr id="16" name="Rectangle 15">
            <a:extLst>
              <a:ext uri="{FF2B5EF4-FFF2-40B4-BE49-F238E27FC236}">
                <a16:creationId xmlns:a16="http://schemas.microsoft.com/office/drawing/2014/main" id="{E79C9B07-0E14-3FF8-8679-28B947DDFF8D}"/>
              </a:ext>
            </a:extLst>
          </p:cNvPr>
          <p:cNvSpPr/>
          <p:nvPr/>
        </p:nvSpPr>
        <p:spPr>
          <a:xfrm>
            <a:off x="443351" y="2825145"/>
            <a:ext cx="3830597" cy="267469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 </a:t>
            </a:r>
          </a:p>
        </p:txBody>
      </p:sp>
      <p:sp>
        <p:nvSpPr>
          <p:cNvPr id="17" name="Rectangle 16">
            <a:extLst>
              <a:ext uri="{FF2B5EF4-FFF2-40B4-BE49-F238E27FC236}">
                <a16:creationId xmlns:a16="http://schemas.microsoft.com/office/drawing/2014/main" id="{7C8E0E5B-CE5A-B069-09CB-D6010BEAD477}"/>
              </a:ext>
            </a:extLst>
          </p:cNvPr>
          <p:cNvSpPr/>
          <p:nvPr/>
        </p:nvSpPr>
        <p:spPr>
          <a:xfrm>
            <a:off x="4465779" y="2825145"/>
            <a:ext cx="3830597" cy="267469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c? </a:t>
            </a:r>
          </a:p>
        </p:txBody>
      </p:sp>
      <p:sp>
        <p:nvSpPr>
          <p:cNvPr id="18" name="Rectangle 17">
            <a:extLst>
              <a:ext uri="{FF2B5EF4-FFF2-40B4-BE49-F238E27FC236}">
                <a16:creationId xmlns:a16="http://schemas.microsoft.com/office/drawing/2014/main" id="{42F27BB8-D7FB-20D5-AD05-DB6F477DD750}"/>
              </a:ext>
            </a:extLst>
          </p:cNvPr>
          <p:cNvSpPr/>
          <p:nvPr/>
        </p:nvSpPr>
        <p:spPr>
          <a:xfrm>
            <a:off x="443351" y="5610870"/>
            <a:ext cx="3830597" cy="105410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 </a:t>
            </a:r>
          </a:p>
        </p:txBody>
      </p:sp>
      <p:sp>
        <p:nvSpPr>
          <p:cNvPr id="19" name="Rectangle 18">
            <a:extLst>
              <a:ext uri="{FF2B5EF4-FFF2-40B4-BE49-F238E27FC236}">
                <a16:creationId xmlns:a16="http://schemas.microsoft.com/office/drawing/2014/main" id="{51D796FA-549F-8AEE-BD89-E538B562072B}"/>
              </a:ext>
            </a:extLst>
          </p:cNvPr>
          <p:cNvSpPr/>
          <p:nvPr/>
        </p:nvSpPr>
        <p:spPr>
          <a:xfrm>
            <a:off x="4465779" y="5610870"/>
            <a:ext cx="3830597" cy="105410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d? </a:t>
            </a:r>
          </a:p>
        </p:txBody>
      </p:sp>
    </p:spTree>
    <p:extLst>
      <p:ext uri="{BB962C8B-B14F-4D97-AF65-F5344CB8AC3E}">
        <p14:creationId xmlns:p14="http://schemas.microsoft.com/office/powerpoint/2010/main" val="69500366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14" restart="whenNotActive" fill="hold" evtFilter="cancelBubble" nodeType="interactiveSeq">
                <p:stCondLst>
                  <p:cond evt="onClick" delay="0">
                    <p:tgtEl>
                      <p:spTgt spid="18"/>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8"/>
                                        </p:tgtEl>
                                      </p:cBhvr>
                                    </p:animEffect>
                                    <p:set>
                                      <p:cBhvr>
                                        <p:cTn id="19"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20" restart="whenNotActive" fill="hold" evtFilter="cancelBubble" nodeType="interactiveSeq">
                <p:stCondLst>
                  <p:cond evt="onClick" delay="0">
                    <p:tgtEl>
                      <p:spTgt spid="19"/>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9"/>
                                        </p:tgtEl>
                                      </p:cBhvr>
                                    </p:animEffect>
                                    <p:set>
                                      <p:cBhvr>
                                        <p:cTn id="25"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childTnLst>
        </p:cTn>
      </p:par>
    </p:tnLst>
    <p:bldLst>
      <p:bldP spid="16" grpId="0" animBg="1"/>
      <p:bldP spid="17" grpId="0" animBg="1"/>
      <p:bldP spid="18" grpId="0" animBg="1"/>
      <p:bldP spid="1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5G – Pure Y1 Page 102-103</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7" name="TextBox 6"/>
          <p:cNvSpPr txBox="1"/>
          <p:nvPr/>
        </p:nvSpPr>
        <p:spPr>
          <a:xfrm>
            <a:off x="381022" y="1829746"/>
            <a:ext cx="2952328" cy="369332"/>
          </a:xfrm>
          <a:prstGeom prst="rect">
            <a:avLst/>
          </a:prstGeom>
          <a:noFill/>
        </p:spPr>
        <p:txBody>
          <a:bodyPr wrap="square" rtlCol="0">
            <a:spAutoFit/>
          </a:bodyPr>
          <a:lstStyle/>
          <a:p>
            <a:r>
              <a:rPr lang="en-GB" b="1" dirty="0"/>
              <a:t>Extension Problems</a:t>
            </a:r>
          </a:p>
        </p:txBody>
      </p:sp>
      <mc:AlternateContent xmlns:mc="http://schemas.openxmlformats.org/markup-compatibility/2006" xmlns:a14="http://schemas.microsoft.com/office/drawing/2010/main">
        <mc:Choice Requires="a14">
          <p:sp>
            <p:nvSpPr>
              <p:cNvPr id="8" name="TextBox 7"/>
              <p:cNvSpPr txBox="1"/>
              <p:nvPr/>
            </p:nvSpPr>
            <p:spPr>
              <a:xfrm>
                <a:off x="381021" y="2141021"/>
                <a:ext cx="6639251" cy="2990755"/>
              </a:xfrm>
              <a:prstGeom prst="rect">
                <a:avLst/>
              </a:prstGeom>
              <a:noFill/>
            </p:spPr>
            <p:txBody>
              <a:bodyPr wrap="square" rtlCol="0">
                <a:spAutoFit/>
              </a:bodyPr>
              <a:lstStyle/>
              <a:p>
                <a:r>
                  <a:rPr lang="en-GB" sz="1600" i="1" dirty="0"/>
                  <a:t>[MAT 2001 1C]</a:t>
                </a:r>
              </a:p>
              <a:p>
                <a:r>
                  <a:rPr lang="en-GB" sz="1600" dirty="0"/>
                  <a:t>The shortest distance from the origin to the line </a:t>
                </a:r>
                <a14:m>
                  <m:oMath xmlns:m="http://schemas.openxmlformats.org/officeDocument/2006/math">
                    <m:r>
                      <a:rPr lang="en-GB" sz="1600" b="0" i="1" smtClean="0">
                        <a:latin typeface="Cambria Math" panose="02040503050406030204" pitchFamily="18" charset="0"/>
                      </a:rPr>
                      <m:t>3</m:t>
                    </m:r>
                    <m:r>
                      <a:rPr lang="en-GB" sz="1600" b="0" i="1" smtClean="0">
                        <a:latin typeface="Cambria Math" panose="02040503050406030204" pitchFamily="18" charset="0"/>
                      </a:rPr>
                      <m:t>𝑥</m:t>
                    </m:r>
                    <m:r>
                      <a:rPr lang="en-GB" sz="1600" b="0" i="1" smtClean="0">
                        <a:latin typeface="Cambria Math" panose="02040503050406030204" pitchFamily="18" charset="0"/>
                      </a:rPr>
                      <m:t>+4</m:t>
                    </m:r>
                    <m:r>
                      <a:rPr lang="en-GB" sz="1600" b="0" i="1" smtClean="0">
                        <a:latin typeface="Cambria Math" panose="02040503050406030204" pitchFamily="18" charset="0"/>
                      </a:rPr>
                      <m:t>𝑦</m:t>
                    </m:r>
                    <m:r>
                      <a:rPr lang="en-GB" sz="1600" b="0" i="1" smtClean="0">
                        <a:latin typeface="Cambria Math" panose="02040503050406030204" pitchFamily="18" charset="0"/>
                      </a:rPr>
                      <m:t>=25</m:t>
                    </m:r>
                  </m:oMath>
                </a14:m>
                <a:r>
                  <a:rPr lang="en-GB" dirty="0"/>
                  <a:t> is what?</a:t>
                </a:r>
              </a:p>
              <a:p>
                <a:endParaRPr lang="en-GB" b="1" dirty="0"/>
              </a:p>
              <a:p>
                <a:r>
                  <a:rPr lang="en-GB" b="1" dirty="0"/>
                  <a:t>Gradient of </a:t>
                </a:r>
                <a14:m>
                  <m:oMath xmlns:m="http://schemas.openxmlformats.org/officeDocument/2006/math">
                    <m:r>
                      <a:rPr lang="en-GB" b="1" i="1" smtClean="0">
                        <a:latin typeface="Cambria Math" panose="02040503050406030204" pitchFamily="18" charset="0"/>
                      </a:rPr>
                      <m:t>𝟑</m:t>
                    </m:r>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𝟒</m:t>
                    </m:r>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𝟐𝟓</m:t>
                    </m:r>
                  </m:oMath>
                </a14:m>
                <a:r>
                  <a:rPr lang="en-GB" b="1" dirty="0"/>
                  <a:t> is </a:t>
                </a:r>
                <a14:m>
                  <m:oMath xmlns:m="http://schemas.openxmlformats.org/officeDocument/2006/math">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𝟑</m:t>
                        </m:r>
                      </m:num>
                      <m:den>
                        <m:r>
                          <a:rPr lang="en-GB" b="1" i="1" smtClean="0">
                            <a:latin typeface="Cambria Math" panose="02040503050406030204" pitchFamily="18" charset="0"/>
                          </a:rPr>
                          <m:t>𝟒</m:t>
                        </m:r>
                      </m:den>
                    </m:f>
                  </m:oMath>
                </a14:m>
                <a:r>
                  <a:rPr lang="en-GB" b="1" dirty="0"/>
                  <a:t>. Therefore gradient of line going through origin and closest point is </a:t>
                </a:r>
                <a14:m>
                  <m:oMath xmlns:m="http://schemas.openxmlformats.org/officeDocument/2006/math">
                    <m:f>
                      <m:fPr>
                        <m:ctrlPr>
                          <a:rPr lang="en-GB" b="1" i="1" smtClean="0">
                            <a:latin typeface="Cambria Math" panose="02040503050406030204" pitchFamily="18" charset="0"/>
                          </a:rPr>
                        </m:ctrlPr>
                      </m:fPr>
                      <m:num>
                        <m:r>
                          <a:rPr lang="en-GB" b="1" i="1" smtClean="0">
                            <a:latin typeface="Cambria Math" panose="02040503050406030204" pitchFamily="18" charset="0"/>
                          </a:rPr>
                          <m:t>𝟒</m:t>
                        </m:r>
                      </m:num>
                      <m:den>
                        <m:r>
                          <a:rPr lang="en-GB" b="1" i="1" smtClean="0">
                            <a:latin typeface="Cambria Math" panose="02040503050406030204" pitchFamily="18" charset="0"/>
                          </a:rPr>
                          <m:t>𝟑</m:t>
                        </m:r>
                      </m:den>
                    </m:f>
                  </m:oMath>
                </a14:m>
                <a:r>
                  <a:rPr lang="en-GB" b="1" dirty="0"/>
                  <a:t> (see diagram). This line therefore has equation </a:t>
                </a:r>
                <a14:m>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𝟒</m:t>
                        </m:r>
                      </m:num>
                      <m:den>
                        <m:r>
                          <a:rPr lang="en-GB" b="1" i="1" smtClean="0">
                            <a:latin typeface="Cambria Math" panose="02040503050406030204" pitchFamily="18" charset="0"/>
                          </a:rPr>
                          <m:t>𝟑</m:t>
                        </m:r>
                      </m:den>
                    </m:f>
                    <m:r>
                      <a:rPr lang="en-GB" b="1" i="1" smtClean="0">
                        <a:latin typeface="Cambria Math" panose="02040503050406030204" pitchFamily="18" charset="0"/>
                      </a:rPr>
                      <m:t>𝒙</m:t>
                    </m:r>
                  </m:oMath>
                </a14:m>
                <a:endParaRPr lang="en-GB" b="1" dirty="0"/>
              </a:p>
              <a:p>
                <a:r>
                  <a:rPr lang="en-GB" b="1" dirty="0"/>
                  <a:t>Solving two equations simultaneously, we get point of intersection </a:t>
                </a:r>
                <a14:m>
                  <m:oMath xmlns:m="http://schemas.openxmlformats.org/officeDocument/2006/math">
                    <m:r>
                      <a:rPr lang="en-GB" b="1" i="1" smtClean="0">
                        <a:latin typeface="Cambria Math" panose="02040503050406030204" pitchFamily="18" charset="0"/>
                      </a:rPr>
                      <m:t>𝑨</m:t>
                    </m:r>
                    <m:r>
                      <a:rPr lang="en-GB" b="1" i="1" smtClean="0">
                        <a:latin typeface="Cambria Math" panose="02040503050406030204" pitchFamily="18" charset="0"/>
                      </a:rPr>
                      <m:t>(</m:t>
                    </m:r>
                    <m:r>
                      <a:rPr lang="en-GB" b="1" i="1" smtClean="0">
                        <a:latin typeface="Cambria Math" panose="02040503050406030204" pitchFamily="18" charset="0"/>
                      </a:rPr>
                      <m:t>𝟑</m:t>
                    </m:r>
                    <m:r>
                      <a:rPr lang="en-GB" b="1" i="1" smtClean="0">
                        <a:latin typeface="Cambria Math" panose="02040503050406030204" pitchFamily="18" charset="0"/>
                      </a:rPr>
                      <m:t>,</m:t>
                    </m:r>
                    <m:r>
                      <a:rPr lang="en-GB" b="1" i="1" smtClean="0">
                        <a:latin typeface="Cambria Math" panose="02040503050406030204" pitchFamily="18" charset="0"/>
                      </a:rPr>
                      <m:t>𝟒</m:t>
                    </m:r>
                    <m:r>
                      <a:rPr lang="en-GB" b="1" i="1" smtClean="0">
                        <a:latin typeface="Cambria Math" panose="02040503050406030204" pitchFamily="18" charset="0"/>
                      </a:rPr>
                      <m:t>)</m:t>
                    </m:r>
                  </m:oMath>
                </a14:m>
                <a:r>
                  <a:rPr lang="en-GB" b="1" dirty="0"/>
                  <a:t>.</a:t>
                </a:r>
              </a:p>
              <a:p>
                <a:r>
                  <a:rPr lang="en-GB" b="1" dirty="0"/>
                  <a:t>Therefore distance </a:t>
                </a:r>
                <a14:m>
                  <m:oMath xmlns:m="http://schemas.openxmlformats.org/officeDocument/2006/math">
                    <m:r>
                      <a:rPr lang="en-GB" b="1" i="1" smtClean="0">
                        <a:latin typeface="Cambria Math" panose="02040503050406030204" pitchFamily="18" charset="0"/>
                      </a:rPr>
                      <m:t>𝑶𝑨</m:t>
                    </m:r>
                    <m:r>
                      <a:rPr lang="en-GB" b="1" i="1" smtClean="0">
                        <a:latin typeface="Cambria Math" panose="02040503050406030204" pitchFamily="18" charset="0"/>
                      </a:rPr>
                      <m:t>=</m:t>
                    </m:r>
                    <m:rad>
                      <m:radPr>
                        <m:degHide m:val="on"/>
                        <m:ctrlPr>
                          <a:rPr lang="en-GB" b="1" i="1" smtClean="0">
                            <a:latin typeface="Cambria Math" panose="02040503050406030204" pitchFamily="18" charset="0"/>
                          </a:rPr>
                        </m:ctrlPr>
                      </m:radPr>
                      <m:deg/>
                      <m:e>
                        <m:sSup>
                          <m:sSupPr>
                            <m:ctrlPr>
                              <a:rPr lang="en-GB" b="1" i="1" smtClean="0">
                                <a:latin typeface="Cambria Math" panose="02040503050406030204" pitchFamily="18" charset="0"/>
                              </a:rPr>
                            </m:ctrlPr>
                          </m:sSupPr>
                          <m:e>
                            <m:r>
                              <a:rPr lang="en-GB" b="1" i="1" smtClean="0">
                                <a:latin typeface="Cambria Math" panose="02040503050406030204" pitchFamily="18" charset="0"/>
                              </a:rPr>
                              <m:t>𝟑</m:t>
                            </m:r>
                          </m:e>
                          <m:sup>
                            <m:r>
                              <a:rPr lang="en-GB" b="1" i="1" smtClean="0">
                                <a:latin typeface="Cambria Math" panose="02040503050406030204" pitchFamily="18" charset="0"/>
                              </a:rPr>
                              <m:t>𝟐</m:t>
                            </m:r>
                          </m:sup>
                        </m:sSup>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𝟒</m:t>
                            </m:r>
                          </m:e>
                          <m:sup>
                            <m:r>
                              <a:rPr lang="en-GB" b="1" i="1" smtClean="0">
                                <a:latin typeface="Cambria Math" panose="02040503050406030204" pitchFamily="18" charset="0"/>
                              </a:rPr>
                              <m:t>𝟐</m:t>
                            </m:r>
                          </m:sup>
                        </m:sSup>
                      </m:e>
                    </m:rad>
                    <m:r>
                      <a:rPr lang="en-GB" b="1" i="1" smtClean="0">
                        <a:latin typeface="Cambria Math" panose="02040503050406030204" pitchFamily="18" charset="0"/>
                      </a:rPr>
                      <m:t>=</m:t>
                    </m:r>
                    <m:r>
                      <a:rPr lang="en-GB" b="1" i="1" smtClean="0">
                        <a:latin typeface="Cambria Math" panose="02040503050406030204" pitchFamily="18" charset="0"/>
                      </a:rPr>
                      <m:t>𝟓</m:t>
                    </m:r>
                  </m:oMath>
                </a14:m>
                <a:r>
                  <a:rPr lang="en-GB" b="1" dirty="0"/>
                  <a:t>. </a:t>
                </a:r>
              </a:p>
            </p:txBody>
          </p:sp>
        </mc:Choice>
        <mc:Fallback xmlns="">
          <p:sp>
            <p:nvSpPr>
              <p:cNvPr id="8" name="TextBox 7"/>
              <p:cNvSpPr txBox="1">
                <a:spLocks noRot="1" noChangeAspect="1" noMove="1" noResize="1" noEditPoints="1" noAdjustHandles="1" noChangeArrowheads="1" noChangeShapeType="1" noTextEdit="1"/>
              </p:cNvSpPr>
              <p:nvPr/>
            </p:nvSpPr>
            <p:spPr>
              <a:xfrm>
                <a:off x="381021" y="2141021"/>
                <a:ext cx="6639251" cy="2990755"/>
              </a:xfrm>
              <a:prstGeom prst="rect">
                <a:avLst/>
              </a:prstGeom>
              <a:blipFill>
                <a:blip r:embed="rId2"/>
                <a:stretch>
                  <a:fillRect l="-826" t="-611" b="-2240"/>
                </a:stretch>
              </a:blipFill>
            </p:spPr>
            <p:txBody>
              <a:bodyPr/>
              <a:lstStyle/>
              <a:p>
                <a:r>
                  <a:rPr lang="en-GB">
                    <a:noFill/>
                  </a:rPr>
                  <a:t> </a:t>
                </a:r>
              </a:p>
            </p:txBody>
          </p:sp>
        </mc:Fallback>
      </mc:AlternateContent>
      <p:cxnSp>
        <p:nvCxnSpPr>
          <p:cNvPr id="10" name="Straight Connector 9"/>
          <p:cNvCxnSpPr/>
          <p:nvPr/>
        </p:nvCxnSpPr>
        <p:spPr>
          <a:xfrm>
            <a:off x="1257745" y="5427512"/>
            <a:ext cx="1512168" cy="1290977"/>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rot="2574543">
                <a:off x="1482648" y="5968862"/>
                <a:ext cx="1807390"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3</m:t>
                      </m:r>
                      <m:r>
                        <a:rPr lang="en-GB" sz="1400" b="0" i="1" smtClean="0">
                          <a:latin typeface="Cambria Math" panose="02040503050406030204" pitchFamily="18" charset="0"/>
                        </a:rPr>
                        <m:t>𝑥</m:t>
                      </m:r>
                      <m:r>
                        <a:rPr lang="en-GB" sz="1400" b="0" i="1" smtClean="0">
                          <a:latin typeface="Cambria Math" panose="02040503050406030204" pitchFamily="18" charset="0"/>
                        </a:rPr>
                        <m:t>+4</m:t>
                      </m:r>
                      <m:r>
                        <a:rPr lang="en-GB" sz="1400" b="0" i="1" smtClean="0">
                          <a:latin typeface="Cambria Math" panose="02040503050406030204" pitchFamily="18" charset="0"/>
                        </a:rPr>
                        <m:t>𝑦</m:t>
                      </m:r>
                      <m:r>
                        <a:rPr lang="en-GB" sz="1400" b="0" i="1" smtClean="0">
                          <a:latin typeface="Cambria Math" panose="02040503050406030204" pitchFamily="18" charset="0"/>
                        </a:rPr>
                        <m:t>=25</m:t>
                      </m:r>
                    </m:oMath>
                  </m:oMathPara>
                </a14:m>
                <a:endParaRPr lang="en-GB" sz="1400" dirty="0"/>
              </a:p>
            </p:txBody>
          </p:sp>
        </mc:Choice>
        <mc:Fallback xmlns="">
          <p:sp>
            <p:nvSpPr>
              <p:cNvPr id="11" name="TextBox 10"/>
              <p:cNvSpPr txBox="1">
                <a:spLocks noRot="1" noChangeAspect="1" noMove="1" noResize="1" noEditPoints="1" noAdjustHandles="1" noChangeArrowheads="1" noChangeShapeType="1" noTextEdit="1"/>
              </p:cNvSpPr>
              <p:nvPr/>
            </p:nvSpPr>
            <p:spPr>
              <a:xfrm rot="2574543">
                <a:off x="1482648" y="5968862"/>
                <a:ext cx="1807390" cy="307777"/>
              </a:xfrm>
              <a:prstGeom prst="rect">
                <a:avLst/>
              </a:prstGeom>
              <a:blipFill>
                <a:blip r:embed="rId3"/>
                <a:stretch>
                  <a:fillRect/>
                </a:stretch>
              </a:blipFill>
            </p:spPr>
            <p:txBody>
              <a:bodyPr/>
              <a:lstStyle/>
              <a:p>
                <a:r>
                  <a:rPr lang="en-GB">
                    <a:noFill/>
                  </a:rPr>
                  <a:t> </a:t>
                </a:r>
              </a:p>
            </p:txBody>
          </p:sp>
        </mc:Fallback>
      </mc:AlternateContent>
      <p:sp>
        <p:nvSpPr>
          <p:cNvPr id="12" name="Oval 11"/>
          <p:cNvSpPr/>
          <p:nvPr/>
        </p:nvSpPr>
        <p:spPr>
          <a:xfrm>
            <a:off x="940222" y="6375589"/>
            <a:ext cx="129131" cy="1221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p:cNvSpPr/>
          <p:nvPr/>
        </p:nvSpPr>
        <p:spPr>
          <a:xfrm>
            <a:off x="1593663" y="5671136"/>
            <a:ext cx="129131" cy="1221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p:cNvCxnSpPr/>
          <p:nvPr/>
        </p:nvCxnSpPr>
        <p:spPr>
          <a:xfrm flipV="1">
            <a:off x="1024903" y="5715189"/>
            <a:ext cx="622300" cy="704850"/>
          </a:xfrm>
          <a:prstGeom prst="line">
            <a:avLst/>
          </a:prstGeom>
          <a:ln>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p:cNvSpPr txBox="1"/>
              <p:nvPr/>
            </p:nvSpPr>
            <p:spPr>
              <a:xfrm>
                <a:off x="517797" y="6142705"/>
                <a:ext cx="52509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sz="1200" b="0" i="1" smtClean="0">
                              <a:latin typeface="Cambria Math" panose="02040503050406030204" pitchFamily="18" charset="0"/>
                            </a:rPr>
                          </m:ctrlPr>
                        </m:dPr>
                        <m:e>
                          <m:r>
                            <a:rPr lang="en-GB" sz="1200" b="0" i="1" smtClean="0">
                              <a:latin typeface="Cambria Math" panose="02040503050406030204" pitchFamily="18" charset="0"/>
                            </a:rPr>
                            <m:t>0,0</m:t>
                          </m:r>
                        </m:e>
                      </m:d>
                    </m:oMath>
                  </m:oMathPara>
                </a14:m>
                <a:endParaRPr lang="en-GB" dirty="0"/>
              </a:p>
            </p:txBody>
          </p:sp>
        </mc:Choice>
        <mc:Fallback xmlns="">
          <p:sp>
            <p:nvSpPr>
              <p:cNvPr id="19" name="TextBox 18"/>
              <p:cNvSpPr txBox="1">
                <a:spLocks noRot="1" noChangeAspect="1" noMove="1" noResize="1" noEditPoints="1" noAdjustHandles="1" noChangeArrowheads="1" noChangeShapeType="1" noTextEdit="1"/>
              </p:cNvSpPr>
              <p:nvPr/>
            </p:nvSpPr>
            <p:spPr>
              <a:xfrm>
                <a:off x="517797" y="6142705"/>
                <a:ext cx="525090" cy="276999"/>
              </a:xfrm>
              <a:prstGeom prst="rect">
                <a:avLst/>
              </a:prstGeom>
              <a:blipFill>
                <a:blip r:embed="rId4"/>
                <a:stretch>
                  <a:fillRect/>
                </a:stretch>
              </a:blipFill>
            </p:spPr>
            <p:txBody>
              <a:bodyPr/>
              <a:lstStyle/>
              <a:p>
                <a:r>
                  <a:rPr lang="en-GB">
                    <a:noFill/>
                  </a:rPr>
                  <a:t> </a:t>
                </a:r>
              </a:p>
            </p:txBody>
          </p:sp>
        </mc:Fallback>
      </mc:AlternateContent>
      <p:sp>
        <p:nvSpPr>
          <p:cNvPr id="22" name="Rectangle 21"/>
          <p:cNvSpPr/>
          <p:nvPr/>
        </p:nvSpPr>
        <p:spPr>
          <a:xfrm>
            <a:off x="165225" y="2213365"/>
            <a:ext cx="201509" cy="22181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25" name="Rectangle 24"/>
          <p:cNvSpPr/>
          <p:nvPr/>
        </p:nvSpPr>
        <p:spPr>
          <a:xfrm>
            <a:off x="353380" y="2950350"/>
            <a:ext cx="6448286" cy="379566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333536968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5"/>
                                        </p:tgtEl>
                                      </p:cBhvr>
                                    </p:animEffect>
                                    <p:set>
                                      <p:cBhvr>
                                        <p:cTn id="7" dur="1" fill="hold">
                                          <p:stCondLst>
                                            <p:cond delay="499"/>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childTnLst>
        </p:cTn>
      </p:par>
    </p:tnLst>
    <p:bldLst>
      <p:bldP spid="2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What’s the point of straight line equations?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425014" y="823660"/>
            <a:ext cx="8179434" cy="1200329"/>
          </a:xfrm>
          <a:prstGeom prst="rect">
            <a:avLst/>
          </a:prstGeom>
          <a:noFill/>
        </p:spPr>
        <p:txBody>
          <a:bodyPr wrap="square" rtlCol="0">
            <a:spAutoFit/>
          </a:bodyPr>
          <a:lstStyle/>
          <a:p>
            <a:r>
              <a:rPr lang="en-GB" dirty="0"/>
              <a:t>We saw in Chapter 2 that lots of things in real life have a ‘quadratic’ relationship, e.g. vertical height with time. Lots of real life variables have a ‘linear’ relationship, i.e. </a:t>
            </a:r>
            <a:r>
              <a:rPr lang="en-GB" b="1" dirty="0"/>
              <a:t>there is a fixed increase/decrease in one variable each time the other variable goes up by 1 unit.</a:t>
            </a:r>
          </a:p>
        </p:txBody>
      </p:sp>
      <p:sp>
        <p:nvSpPr>
          <p:cNvPr id="6" name="TextBox 5"/>
          <p:cNvSpPr txBox="1"/>
          <p:nvPr/>
        </p:nvSpPr>
        <p:spPr>
          <a:xfrm>
            <a:off x="433226" y="2206944"/>
            <a:ext cx="1512168"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Examples</a:t>
            </a:r>
          </a:p>
        </p:txBody>
      </p:sp>
      <p:sp>
        <p:nvSpPr>
          <p:cNvPr id="7" name="TextBox 6"/>
          <p:cNvSpPr txBox="1"/>
          <p:nvPr/>
        </p:nvSpPr>
        <p:spPr>
          <a:xfrm>
            <a:off x="683568" y="2632192"/>
            <a:ext cx="2520280" cy="646331"/>
          </a:xfrm>
          <a:prstGeom prst="rect">
            <a:avLst/>
          </a:prstGeom>
          <a:noFill/>
        </p:spPr>
        <p:txBody>
          <a:bodyPr wrap="square" rtlCol="0">
            <a:spAutoFit/>
          </a:bodyPr>
          <a:lstStyle/>
          <a:p>
            <a:r>
              <a:rPr lang="en-GB" dirty="0"/>
              <a:t>Car sales made and take home pay.</a:t>
            </a:r>
          </a:p>
        </p:txBody>
      </p:sp>
      <p:sp>
        <p:nvSpPr>
          <p:cNvPr id="8" name="TextBox 7"/>
          <p:cNvSpPr txBox="1"/>
          <p:nvPr/>
        </p:nvSpPr>
        <p:spPr>
          <a:xfrm>
            <a:off x="5472394" y="2210086"/>
            <a:ext cx="2520280" cy="923330"/>
          </a:xfrm>
          <a:prstGeom prst="rect">
            <a:avLst/>
          </a:prstGeom>
          <a:noFill/>
        </p:spPr>
        <p:txBody>
          <a:bodyPr wrap="square" rtlCol="0">
            <a:spAutoFit/>
          </a:bodyPr>
          <a:lstStyle/>
          <a:p>
            <a:r>
              <a:rPr lang="en-GB" dirty="0"/>
              <a:t>The relationship between Celsius and Fahrenheit.</a:t>
            </a:r>
          </a:p>
        </p:txBody>
      </p:sp>
      <p:sp>
        <p:nvSpPr>
          <p:cNvPr id="9" name="TextBox 8"/>
          <p:cNvSpPr txBox="1"/>
          <p:nvPr/>
        </p:nvSpPr>
        <p:spPr>
          <a:xfrm>
            <a:off x="2915816" y="4293096"/>
            <a:ext cx="2520280" cy="923330"/>
          </a:xfrm>
          <a:prstGeom prst="rect">
            <a:avLst/>
          </a:prstGeom>
          <a:noFill/>
        </p:spPr>
        <p:txBody>
          <a:bodyPr wrap="square" rtlCol="0">
            <a:spAutoFit/>
          </a:bodyPr>
          <a:lstStyle/>
          <a:p>
            <a:r>
              <a:rPr lang="en-GB" dirty="0"/>
              <a:t>Temperature and altitude (in a particular location)</a:t>
            </a:r>
          </a:p>
        </p:txBody>
      </p:sp>
      <p:pic>
        <p:nvPicPr>
          <p:cNvPr id="10" name="Picture 9"/>
          <p:cNvPicPr>
            <a:picLocks noChangeAspect="1"/>
          </p:cNvPicPr>
          <p:nvPr/>
        </p:nvPicPr>
        <p:blipFill>
          <a:blip r:embed="rId2"/>
          <a:stretch>
            <a:fillRect/>
          </a:stretch>
        </p:blipFill>
        <p:spPr>
          <a:xfrm>
            <a:off x="3203848" y="5281704"/>
            <a:ext cx="1543050" cy="1085850"/>
          </a:xfrm>
          <a:prstGeom prst="rect">
            <a:avLst/>
          </a:prstGeom>
        </p:spPr>
      </p:pic>
      <p:pic>
        <p:nvPicPr>
          <p:cNvPr id="11" name="Picture 10"/>
          <p:cNvPicPr>
            <a:picLocks noChangeAspect="1"/>
          </p:cNvPicPr>
          <p:nvPr/>
        </p:nvPicPr>
        <p:blipFill>
          <a:blip r:embed="rId3"/>
          <a:stretch>
            <a:fillRect/>
          </a:stretch>
        </p:blipFill>
        <p:spPr>
          <a:xfrm>
            <a:off x="5796136" y="3182045"/>
            <a:ext cx="1174742" cy="1111051"/>
          </a:xfrm>
          <a:prstGeom prst="rect">
            <a:avLst/>
          </a:prstGeom>
        </p:spPr>
      </p:pic>
      <p:pic>
        <p:nvPicPr>
          <p:cNvPr id="12" name="Picture 11"/>
          <p:cNvPicPr>
            <a:picLocks noChangeAspect="1"/>
          </p:cNvPicPr>
          <p:nvPr/>
        </p:nvPicPr>
        <p:blipFill>
          <a:blip r:embed="rId4"/>
          <a:stretch>
            <a:fillRect/>
          </a:stretch>
        </p:blipFill>
        <p:spPr>
          <a:xfrm>
            <a:off x="830115" y="3301741"/>
            <a:ext cx="1933575" cy="828675"/>
          </a:xfrm>
          <a:prstGeom prst="rect">
            <a:avLst/>
          </a:prstGeom>
        </p:spPr>
      </p:pic>
      <mc:AlternateContent xmlns:mc="http://schemas.openxmlformats.org/markup-compatibility/2006" xmlns:a14="http://schemas.microsoft.com/office/drawing/2010/main">
        <mc:Choice Requires="a14">
          <p:sp>
            <p:nvSpPr>
              <p:cNvPr id="13" name="TextBox 12"/>
              <p:cNvSpPr txBox="1"/>
              <p:nvPr/>
            </p:nvSpPr>
            <p:spPr>
              <a:xfrm>
                <a:off x="5768210" y="4941168"/>
                <a:ext cx="2520280" cy="1569660"/>
              </a:xfrm>
              <a:prstGeom prst="rect">
                <a:avLst/>
              </a:prstGeom>
              <a:noFill/>
            </p:spPr>
            <p:txBody>
              <a:bodyPr wrap="square" rtlCol="0">
                <a:spAutoFit/>
              </a:bodyPr>
              <a:lstStyle/>
              <a:p>
                <a:r>
                  <a:rPr lang="en-GB" i="1" dirty="0"/>
                  <a:t>(And a pure maths one:)</a:t>
                </a:r>
              </a:p>
              <a:p>
                <a:r>
                  <a:rPr lang="en-GB" dirty="0"/>
                  <a:t>The </a:t>
                </a:r>
                <a14:m>
                  <m:oMath xmlns:m="http://schemas.openxmlformats.org/officeDocument/2006/math">
                    <m:r>
                      <a:rPr lang="en-GB" i="1" dirty="0" smtClean="0">
                        <a:latin typeface="Cambria Math" panose="02040503050406030204" pitchFamily="18" charset="0"/>
                      </a:rPr>
                      <m:t>𝑛</m:t>
                    </m:r>
                  </m:oMath>
                </a14:m>
                <a:r>
                  <a:rPr lang="en-GB" dirty="0"/>
                  <a:t>th term of an arithmetic series.</a:t>
                </a:r>
              </a:p>
              <a:p>
                <a:endParaRPr lang="en-GB" dirty="0"/>
              </a:p>
              <a:p>
                <a:r>
                  <a:rPr lang="en-GB" sz="2400" dirty="0"/>
                  <a:t>3, 5, 8, 11, 14, …</a:t>
                </a:r>
              </a:p>
            </p:txBody>
          </p:sp>
        </mc:Choice>
        <mc:Fallback xmlns="">
          <p:sp>
            <p:nvSpPr>
              <p:cNvPr id="13" name="TextBox 12"/>
              <p:cNvSpPr txBox="1">
                <a:spLocks noRot="1" noChangeAspect="1" noMove="1" noResize="1" noEditPoints="1" noAdjustHandles="1" noChangeArrowheads="1" noChangeShapeType="1" noTextEdit="1"/>
              </p:cNvSpPr>
              <p:nvPr/>
            </p:nvSpPr>
            <p:spPr>
              <a:xfrm>
                <a:off x="5768210" y="4941168"/>
                <a:ext cx="2520280" cy="1569660"/>
              </a:xfrm>
              <a:prstGeom prst="rect">
                <a:avLst/>
              </a:prstGeom>
              <a:blipFill>
                <a:blip r:embed="rId5"/>
                <a:stretch>
                  <a:fillRect l="-3623" t="-2335" b="-8171"/>
                </a:stretch>
              </a:blipFill>
            </p:spPr>
            <p:txBody>
              <a:bodyPr/>
              <a:lstStyle/>
              <a:p>
                <a:r>
                  <a:rPr lang="en-GB">
                    <a:noFill/>
                  </a:rPr>
                  <a:t> </a:t>
                </a:r>
              </a:p>
            </p:txBody>
          </p:sp>
        </mc:Fallback>
      </mc:AlternateContent>
    </p:spTree>
    <p:extLst>
      <p:ext uri="{BB962C8B-B14F-4D97-AF65-F5344CB8AC3E}">
        <p14:creationId xmlns:p14="http://schemas.microsoft.com/office/powerpoint/2010/main" val="25640138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Modelling</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6" name="Straight Arrow Connector 5"/>
          <p:cNvCxnSpPr/>
          <p:nvPr/>
        </p:nvCxnSpPr>
        <p:spPr>
          <a:xfrm flipV="1">
            <a:off x="1691680" y="1268760"/>
            <a:ext cx="0" cy="23762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1691680" y="3645024"/>
            <a:ext cx="30243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Oval 9"/>
          <p:cNvSpPr/>
          <p:nvPr/>
        </p:nvSpPr>
        <p:spPr>
          <a:xfrm>
            <a:off x="2153245" y="217323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p:cNvSpPr/>
          <p:nvPr/>
        </p:nvSpPr>
        <p:spPr>
          <a:xfrm>
            <a:off x="2483768" y="23439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2699792" y="191421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p:cNvSpPr/>
          <p:nvPr/>
        </p:nvSpPr>
        <p:spPr>
          <a:xfrm>
            <a:off x="2843808" y="210123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p:cNvSpPr/>
          <p:nvPr/>
        </p:nvSpPr>
        <p:spPr>
          <a:xfrm>
            <a:off x="2987824" y="217323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3064235" y="179219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p:cNvSpPr/>
          <p:nvPr/>
        </p:nvSpPr>
        <p:spPr>
          <a:xfrm>
            <a:off x="3275856" y="195021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p:cNvSpPr/>
          <p:nvPr/>
        </p:nvSpPr>
        <p:spPr>
          <a:xfrm>
            <a:off x="3491880" y="173949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3697249" y="1878209"/>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3923928" y="15567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p:cNvSpPr/>
          <p:nvPr/>
        </p:nvSpPr>
        <p:spPr>
          <a:xfrm>
            <a:off x="4201305" y="192689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2051720" y="284058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p:cNvSpPr/>
          <p:nvPr/>
        </p:nvSpPr>
        <p:spPr>
          <a:xfrm>
            <a:off x="2305950" y="262025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p:cNvSpPr/>
          <p:nvPr/>
        </p:nvSpPr>
        <p:spPr>
          <a:xfrm>
            <a:off x="2575732" y="262379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3701825" y="15281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p:cNvSpPr/>
          <p:nvPr/>
        </p:nvSpPr>
        <p:spPr>
          <a:xfrm>
            <a:off x="3450566" y="1613939"/>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p:cNvSpPr/>
          <p:nvPr/>
        </p:nvSpPr>
        <p:spPr>
          <a:xfrm>
            <a:off x="3728910" y="170349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3381097" y="207091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p:cNvSpPr/>
          <p:nvPr/>
        </p:nvSpPr>
        <p:spPr>
          <a:xfrm>
            <a:off x="3162516" y="197420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p:cNvSpPr/>
          <p:nvPr/>
        </p:nvSpPr>
        <p:spPr>
          <a:xfrm>
            <a:off x="3052852" y="202222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3136049" y="209822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p:cNvSpPr/>
          <p:nvPr/>
        </p:nvSpPr>
        <p:spPr>
          <a:xfrm>
            <a:off x="2844577" y="222192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p:cNvSpPr/>
          <p:nvPr/>
        </p:nvSpPr>
        <p:spPr>
          <a:xfrm>
            <a:off x="2671248" y="22465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p:cNvSpPr/>
          <p:nvPr/>
        </p:nvSpPr>
        <p:spPr>
          <a:xfrm>
            <a:off x="3671900" y="320680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p:cNvSpPr txBox="1"/>
          <p:nvPr/>
        </p:nvSpPr>
        <p:spPr>
          <a:xfrm>
            <a:off x="1835696" y="3645024"/>
            <a:ext cx="2735732" cy="369332"/>
          </a:xfrm>
          <a:prstGeom prst="rect">
            <a:avLst/>
          </a:prstGeom>
          <a:noFill/>
        </p:spPr>
        <p:txBody>
          <a:bodyPr wrap="square" rtlCol="0">
            <a:spAutoFit/>
          </a:bodyPr>
          <a:lstStyle/>
          <a:p>
            <a:r>
              <a:rPr lang="en-GB" dirty="0"/>
              <a:t>    20       40      60    80   100</a:t>
            </a:r>
          </a:p>
        </p:txBody>
      </p:sp>
      <p:sp>
        <p:nvSpPr>
          <p:cNvPr id="36" name="TextBox 35"/>
          <p:cNvSpPr txBox="1"/>
          <p:nvPr/>
        </p:nvSpPr>
        <p:spPr>
          <a:xfrm>
            <a:off x="2359943" y="4004831"/>
            <a:ext cx="2031082" cy="369332"/>
          </a:xfrm>
          <a:prstGeom prst="rect">
            <a:avLst/>
          </a:prstGeom>
          <a:noFill/>
        </p:spPr>
        <p:txBody>
          <a:bodyPr wrap="square" rtlCol="0">
            <a:spAutoFit/>
          </a:bodyPr>
          <a:lstStyle/>
          <a:p>
            <a:r>
              <a:rPr lang="en-GB" dirty="0"/>
              <a:t>GCSE Maths mark</a:t>
            </a:r>
          </a:p>
        </p:txBody>
      </p:sp>
      <p:sp>
        <p:nvSpPr>
          <p:cNvPr id="37" name="TextBox 36"/>
          <p:cNvSpPr txBox="1"/>
          <p:nvPr/>
        </p:nvSpPr>
        <p:spPr>
          <a:xfrm rot="16200000">
            <a:off x="103312" y="2291431"/>
            <a:ext cx="2031082" cy="369332"/>
          </a:xfrm>
          <a:prstGeom prst="rect">
            <a:avLst/>
          </a:prstGeom>
          <a:noFill/>
        </p:spPr>
        <p:txBody>
          <a:bodyPr wrap="square" rtlCol="0">
            <a:spAutoFit/>
          </a:bodyPr>
          <a:lstStyle/>
          <a:p>
            <a:r>
              <a:rPr lang="en-GB" dirty="0"/>
              <a:t>A Level Maths Mark</a:t>
            </a:r>
          </a:p>
        </p:txBody>
      </p:sp>
      <p:sp>
        <p:nvSpPr>
          <p:cNvPr id="38" name="TextBox 37"/>
          <p:cNvSpPr txBox="1"/>
          <p:nvPr/>
        </p:nvSpPr>
        <p:spPr>
          <a:xfrm>
            <a:off x="1107438" y="1261604"/>
            <a:ext cx="605295" cy="2169825"/>
          </a:xfrm>
          <a:prstGeom prst="rect">
            <a:avLst/>
          </a:prstGeom>
          <a:noFill/>
        </p:spPr>
        <p:txBody>
          <a:bodyPr wrap="square" rtlCol="0">
            <a:spAutoFit/>
          </a:bodyPr>
          <a:lstStyle/>
          <a:p>
            <a:pPr algn="r"/>
            <a:r>
              <a:rPr lang="en-GB" dirty="0"/>
              <a:t>100</a:t>
            </a:r>
          </a:p>
          <a:p>
            <a:pPr algn="r"/>
            <a:endParaRPr lang="en-GB" sz="1100" dirty="0"/>
          </a:p>
          <a:p>
            <a:pPr algn="r"/>
            <a:r>
              <a:rPr lang="en-GB" dirty="0"/>
              <a:t>80</a:t>
            </a:r>
          </a:p>
          <a:p>
            <a:pPr algn="r"/>
            <a:endParaRPr lang="en-GB" sz="1100" dirty="0"/>
          </a:p>
          <a:p>
            <a:pPr algn="r"/>
            <a:r>
              <a:rPr lang="en-GB" dirty="0"/>
              <a:t>60</a:t>
            </a:r>
          </a:p>
          <a:p>
            <a:pPr algn="r"/>
            <a:endParaRPr lang="en-GB" sz="1100" dirty="0"/>
          </a:p>
          <a:p>
            <a:pPr algn="r"/>
            <a:r>
              <a:rPr lang="en-GB" dirty="0"/>
              <a:t>40</a:t>
            </a:r>
          </a:p>
          <a:p>
            <a:pPr algn="r"/>
            <a:endParaRPr lang="en-GB" sz="1100" dirty="0"/>
          </a:p>
          <a:p>
            <a:pPr algn="r"/>
            <a:r>
              <a:rPr lang="en-GB" dirty="0"/>
              <a:t>20</a:t>
            </a:r>
          </a:p>
        </p:txBody>
      </p:sp>
      <mc:AlternateContent xmlns:mc="http://schemas.openxmlformats.org/markup-compatibility/2006" xmlns:a14="http://schemas.microsoft.com/office/drawing/2010/main">
        <mc:Choice Requires="a14">
          <p:sp>
            <p:nvSpPr>
              <p:cNvPr id="39" name="TextBox 38"/>
              <p:cNvSpPr txBox="1"/>
              <p:nvPr/>
            </p:nvSpPr>
            <p:spPr>
              <a:xfrm>
                <a:off x="4617715" y="3444925"/>
                <a:ext cx="5448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𝑥</m:t>
                      </m:r>
                    </m:oMath>
                  </m:oMathPara>
                </a14:m>
                <a:endParaRPr lang="en-GB" dirty="0"/>
              </a:p>
            </p:txBody>
          </p:sp>
        </mc:Choice>
        <mc:Fallback xmlns="">
          <p:sp>
            <p:nvSpPr>
              <p:cNvPr id="39" name="TextBox 38"/>
              <p:cNvSpPr txBox="1">
                <a:spLocks noRot="1" noChangeAspect="1" noMove="1" noResize="1" noEditPoints="1" noAdjustHandles="1" noChangeArrowheads="1" noChangeShapeType="1" noTextEdit="1"/>
              </p:cNvSpPr>
              <p:nvPr/>
            </p:nvSpPr>
            <p:spPr>
              <a:xfrm>
                <a:off x="4617715" y="3444925"/>
                <a:ext cx="544835" cy="369332"/>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1440315" y="863343"/>
                <a:ext cx="5448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oMath>
                  </m:oMathPara>
                </a14:m>
                <a:endParaRPr lang="en-GB" dirty="0"/>
              </a:p>
            </p:txBody>
          </p:sp>
        </mc:Choice>
        <mc:Fallback xmlns="">
          <p:sp>
            <p:nvSpPr>
              <p:cNvPr id="40" name="TextBox 39"/>
              <p:cNvSpPr txBox="1">
                <a:spLocks noRot="1" noChangeAspect="1" noMove="1" noResize="1" noEditPoints="1" noAdjustHandles="1" noChangeArrowheads="1" noChangeShapeType="1" noTextEdit="1"/>
              </p:cNvSpPr>
              <p:nvPr/>
            </p:nvSpPr>
            <p:spPr>
              <a:xfrm>
                <a:off x="1440315" y="863343"/>
                <a:ext cx="544835" cy="369332"/>
              </a:xfrm>
              <a:prstGeom prst="rect">
                <a:avLst/>
              </a:prstGeom>
              <a:blipFill>
                <a:blip r:embed="rId3"/>
                <a:stretch>
                  <a:fillRect b="-6667"/>
                </a:stretch>
              </a:blipFill>
            </p:spPr>
            <p:txBody>
              <a:bodyPr/>
              <a:lstStyle/>
              <a:p>
                <a:r>
                  <a:rPr lang="en-GB">
                    <a:noFill/>
                  </a:rPr>
                  <a:t> </a:t>
                </a:r>
              </a:p>
            </p:txBody>
          </p:sp>
        </mc:Fallback>
      </mc:AlternateContent>
      <p:sp>
        <p:nvSpPr>
          <p:cNvPr id="41" name="TextBox 40"/>
          <p:cNvSpPr txBox="1"/>
          <p:nvPr/>
        </p:nvSpPr>
        <p:spPr>
          <a:xfrm>
            <a:off x="5403850" y="1181875"/>
            <a:ext cx="2721818" cy="120032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t>A mathematical model is an attempt to model a real-life situation based on mathematical concepts.</a:t>
            </a:r>
          </a:p>
        </p:txBody>
      </p:sp>
      <mc:AlternateContent xmlns:mc="http://schemas.openxmlformats.org/markup-compatibility/2006" xmlns:a14="http://schemas.microsoft.com/office/drawing/2010/main">
        <mc:Choice Requires="a14">
          <p:sp>
            <p:nvSpPr>
              <p:cNvPr id="42" name="TextBox 41"/>
              <p:cNvSpPr txBox="1"/>
              <p:nvPr/>
            </p:nvSpPr>
            <p:spPr>
              <a:xfrm>
                <a:off x="5317604" y="2582391"/>
                <a:ext cx="3419996" cy="1477328"/>
              </a:xfrm>
              <a:prstGeom prst="rect">
                <a:avLst/>
              </a:prstGeom>
              <a:noFill/>
            </p:spPr>
            <p:txBody>
              <a:bodyPr wrap="square" rtlCol="0">
                <a:spAutoFit/>
              </a:bodyPr>
              <a:lstStyle/>
              <a:p>
                <a:r>
                  <a:rPr lang="en-GB" dirty="0"/>
                  <a:t>For this example, </a:t>
                </a:r>
                <a:r>
                  <a:rPr lang="en-GB" b="1" dirty="0"/>
                  <a:t>our model might be a linear model with equation </a:t>
                </a:r>
                <a14:m>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𝒎𝒙</m:t>
                    </m:r>
                    <m:r>
                      <a:rPr lang="en-GB" b="1" i="1" smtClean="0">
                        <a:latin typeface="Cambria Math" panose="02040503050406030204" pitchFamily="18" charset="0"/>
                      </a:rPr>
                      <m:t>+</m:t>
                    </m:r>
                    <m:r>
                      <a:rPr lang="en-GB" b="1" i="1" smtClean="0">
                        <a:latin typeface="Cambria Math" panose="02040503050406030204" pitchFamily="18" charset="0"/>
                      </a:rPr>
                      <m:t>𝒄</m:t>
                    </m:r>
                  </m:oMath>
                </a14:m>
                <a:r>
                  <a:rPr lang="en-GB" b="1" dirty="0"/>
                  <a:t> </a:t>
                </a:r>
                <a:r>
                  <a:rPr lang="en-GB" dirty="0"/>
                  <a:t>where </a:t>
                </a:r>
                <a14:m>
                  <m:oMath xmlns:m="http://schemas.openxmlformats.org/officeDocument/2006/math">
                    <m:r>
                      <a:rPr lang="en-GB" b="0" i="1" smtClean="0">
                        <a:latin typeface="Cambria Math" panose="02040503050406030204" pitchFamily="18" charset="0"/>
                      </a:rPr>
                      <m:t>𝑥</m:t>
                    </m:r>
                  </m:oMath>
                </a14:m>
                <a:r>
                  <a:rPr lang="en-GB" dirty="0"/>
                  <a:t> is a student’s GCSE mark and </a:t>
                </a:r>
                <a14:m>
                  <m:oMath xmlns:m="http://schemas.openxmlformats.org/officeDocument/2006/math">
                    <m:r>
                      <a:rPr lang="en-GB" b="0" i="1" smtClean="0">
                        <a:latin typeface="Cambria Math" panose="02040503050406030204" pitchFamily="18" charset="0"/>
                      </a:rPr>
                      <m:t>𝑦</m:t>
                    </m:r>
                  </m:oMath>
                </a14:m>
                <a:r>
                  <a:rPr lang="en-GB" dirty="0"/>
                  <a:t> is the predicted A Level mark.</a:t>
                </a:r>
              </a:p>
            </p:txBody>
          </p:sp>
        </mc:Choice>
        <mc:Fallback xmlns="">
          <p:sp>
            <p:nvSpPr>
              <p:cNvPr id="42" name="TextBox 41"/>
              <p:cNvSpPr txBox="1">
                <a:spLocks noRot="1" noChangeAspect="1" noMove="1" noResize="1" noEditPoints="1" noAdjustHandles="1" noChangeArrowheads="1" noChangeShapeType="1" noTextEdit="1"/>
              </p:cNvSpPr>
              <p:nvPr/>
            </p:nvSpPr>
            <p:spPr>
              <a:xfrm>
                <a:off x="5317604" y="2582391"/>
                <a:ext cx="3419996" cy="1477328"/>
              </a:xfrm>
              <a:prstGeom prst="rect">
                <a:avLst/>
              </a:prstGeom>
              <a:blipFill>
                <a:blip r:embed="rId4"/>
                <a:stretch>
                  <a:fillRect l="-1426" t="-2479" r="-2496" b="-578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322783" y="4526489"/>
                <a:ext cx="3754140" cy="2308324"/>
              </a:xfrm>
              <a:prstGeom prst="rect">
                <a:avLst/>
              </a:prstGeom>
              <a:noFill/>
            </p:spPr>
            <p:txBody>
              <a:bodyPr wrap="square" rtlCol="0">
                <a:spAutoFit/>
              </a:bodyPr>
              <a:lstStyle/>
              <a:p>
                <a:r>
                  <a:rPr lang="en-GB" sz="1600" b="1" dirty="0"/>
                  <a:t>Such a linear model can be drawn as a line of best fit.</a:t>
                </a:r>
              </a:p>
              <a:p>
                <a:r>
                  <a:rPr lang="en-GB" sz="1600" dirty="0"/>
                  <a:t>The data obviously doesn’t fit this line exactly. This chosen model may only partially fit the data (and the further the points are away from the line, the less suitable this model is).</a:t>
                </a:r>
              </a:p>
              <a:p>
                <a:r>
                  <a:rPr lang="en-GB" sz="1600" dirty="0"/>
                  <a:t>We might decide another model, e.g. </a:t>
                </a:r>
              </a:p>
              <a:p>
                <a14:m>
                  <m:oMath xmlns:m="http://schemas.openxmlformats.org/officeDocument/2006/math">
                    <m:r>
                      <a:rPr lang="en-GB" sz="1600" b="0" i="1" smtClean="0">
                        <a:latin typeface="Cambria Math" panose="02040503050406030204" pitchFamily="18" charset="0"/>
                      </a:rPr>
                      <m:t>𝑦</m:t>
                    </m:r>
                    <m:r>
                      <a:rPr lang="en-GB" sz="1600" b="0" i="1" smtClean="0">
                        <a:latin typeface="Cambria Math" panose="02040503050406030204" pitchFamily="18" charset="0"/>
                      </a:rPr>
                      <m:t>=</m:t>
                    </m:r>
                    <m:r>
                      <a:rPr lang="en-GB" sz="1600" b="0" i="1" smtClean="0">
                        <a:latin typeface="Cambria Math" panose="02040503050406030204" pitchFamily="18" charset="0"/>
                      </a:rPr>
                      <m:t>𝑎</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m:t>
                    </m:r>
                    <m:r>
                      <a:rPr lang="en-GB" sz="1600" b="0" i="1" smtClean="0">
                        <a:latin typeface="Cambria Math" panose="02040503050406030204" pitchFamily="18" charset="0"/>
                      </a:rPr>
                      <m:t>𝑏𝑥</m:t>
                    </m:r>
                    <m:r>
                      <a:rPr lang="en-GB" sz="1600" b="0" i="1" smtClean="0">
                        <a:latin typeface="Cambria Math" panose="02040503050406030204" pitchFamily="18" charset="0"/>
                      </a:rPr>
                      <m:t>+</m:t>
                    </m:r>
                    <m:r>
                      <a:rPr lang="en-GB" sz="1600" b="0" i="1" smtClean="0">
                        <a:latin typeface="Cambria Math" panose="02040503050406030204" pitchFamily="18" charset="0"/>
                      </a:rPr>
                      <m:t>𝑐</m:t>
                    </m:r>
                  </m:oMath>
                </a14:m>
                <a:r>
                  <a:rPr lang="en-GB" sz="1600" dirty="0"/>
                  <a:t>, is more appropriate.</a:t>
                </a:r>
              </a:p>
            </p:txBody>
          </p:sp>
        </mc:Choice>
        <mc:Fallback xmlns="">
          <p:sp>
            <p:nvSpPr>
              <p:cNvPr id="43" name="TextBox 42"/>
              <p:cNvSpPr txBox="1">
                <a:spLocks noRot="1" noChangeAspect="1" noMove="1" noResize="1" noEditPoints="1" noAdjustHandles="1" noChangeArrowheads="1" noChangeShapeType="1" noTextEdit="1"/>
              </p:cNvSpPr>
              <p:nvPr/>
            </p:nvSpPr>
            <p:spPr>
              <a:xfrm>
                <a:off x="322783" y="4526489"/>
                <a:ext cx="3754140" cy="2308324"/>
              </a:xfrm>
              <a:prstGeom prst="rect">
                <a:avLst/>
              </a:prstGeom>
              <a:blipFill>
                <a:blip r:embed="rId5"/>
                <a:stretch>
                  <a:fillRect l="-974" t="-794" r="-1948" b="-264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a:off x="4525516" y="4541242"/>
                <a:ext cx="4248472" cy="2308324"/>
              </a:xfrm>
              <a:prstGeom prst="rect">
                <a:avLst/>
              </a:prstGeom>
              <a:noFill/>
            </p:spPr>
            <p:txBody>
              <a:bodyPr wrap="square" rtlCol="0">
                <a:spAutoFit/>
              </a:bodyPr>
              <a:lstStyle/>
              <a:p>
                <a:r>
                  <a:rPr lang="en-GB" sz="1600" dirty="0"/>
                  <a:t>But if we choose a well-known model such as a linear one, then we can use </a:t>
                </a:r>
                <a:r>
                  <a:rPr lang="en-GB" sz="1600" b="1" dirty="0"/>
                  <a:t>established mathematical theory </a:t>
                </a:r>
                <a:r>
                  <a:rPr lang="en-GB" sz="1600" dirty="0"/>
                  <a:t>in useful ways:</a:t>
                </a:r>
              </a:p>
              <a:p>
                <a:pPr marL="285750" indent="-285750">
                  <a:buFont typeface="Arial" panose="020B0604020202020204" pitchFamily="34" charset="0"/>
                  <a:buChar char="•"/>
                </a:pPr>
                <a:r>
                  <a:rPr lang="en-GB" sz="1600" dirty="0"/>
                  <a:t>We need to choose the most appropriate ‘parameters’ </a:t>
                </a:r>
                <a14:m>
                  <m:oMath xmlns:m="http://schemas.openxmlformats.org/officeDocument/2006/math">
                    <m:r>
                      <a:rPr lang="en-GB" sz="1600" b="0" i="1" smtClean="0">
                        <a:latin typeface="Cambria Math" panose="02040503050406030204" pitchFamily="18" charset="0"/>
                      </a:rPr>
                      <m:t>𝑚</m:t>
                    </m:r>
                  </m:oMath>
                </a14:m>
                <a:r>
                  <a:rPr lang="en-GB" sz="1600" dirty="0"/>
                  <a:t> and </a:t>
                </a:r>
                <a14:m>
                  <m:oMath xmlns:m="http://schemas.openxmlformats.org/officeDocument/2006/math">
                    <m:r>
                      <a:rPr lang="en-GB" sz="1600" b="0" i="1" smtClean="0">
                        <a:latin typeface="Cambria Math" panose="02040503050406030204" pitchFamily="18" charset="0"/>
                      </a:rPr>
                      <m:t>𝑐</m:t>
                    </m:r>
                  </m:oMath>
                </a14:m>
                <a:r>
                  <a:rPr lang="en-GB" sz="1600" dirty="0"/>
                  <a:t> so the model best matches the data. You will learn in S1 there are existing techniques to do this.</a:t>
                </a:r>
              </a:p>
              <a:p>
                <a:pPr marL="285750" indent="-285750">
                  <a:buFont typeface="Arial" panose="020B0604020202020204" pitchFamily="34" charset="0"/>
                  <a:buChar char="•"/>
                </a:pPr>
                <a:r>
                  <a:rPr lang="en-GB" sz="1600" dirty="0"/>
                  <a:t>We can then predict a student’s A Level mark based on their maths mark.</a:t>
                </a:r>
              </a:p>
            </p:txBody>
          </p:sp>
        </mc:Choice>
        <mc:Fallback xmlns="">
          <p:sp>
            <p:nvSpPr>
              <p:cNvPr id="44" name="TextBox 43"/>
              <p:cNvSpPr txBox="1">
                <a:spLocks noRot="1" noChangeAspect="1" noMove="1" noResize="1" noEditPoints="1" noAdjustHandles="1" noChangeArrowheads="1" noChangeShapeType="1" noTextEdit="1"/>
              </p:cNvSpPr>
              <p:nvPr/>
            </p:nvSpPr>
            <p:spPr>
              <a:xfrm>
                <a:off x="4525516" y="4541242"/>
                <a:ext cx="4248472" cy="2308324"/>
              </a:xfrm>
              <a:prstGeom prst="rect">
                <a:avLst/>
              </a:prstGeom>
              <a:blipFill>
                <a:blip r:embed="rId6"/>
                <a:stretch>
                  <a:fillRect l="-717" t="-792" r="-430" b="-2375"/>
                </a:stretch>
              </a:blipFill>
            </p:spPr>
            <p:txBody>
              <a:bodyPr/>
              <a:lstStyle/>
              <a:p>
                <a:r>
                  <a:rPr lang="en-GB">
                    <a:noFill/>
                  </a:rPr>
                  <a:t> </a:t>
                </a:r>
              </a:p>
            </p:txBody>
          </p:sp>
        </mc:Fallback>
      </mc:AlternateContent>
      <p:cxnSp>
        <p:nvCxnSpPr>
          <p:cNvPr id="46" name="Straight Connector 45"/>
          <p:cNvCxnSpPr/>
          <p:nvPr/>
        </p:nvCxnSpPr>
        <p:spPr>
          <a:xfrm flipV="1">
            <a:off x="1835696" y="1460556"/>
            <a:ext cx="2555329" cy="1231704"/>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6574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par>
                                <p:cTn id="13" presetID="22" presetClass="entr" presetSubtype="8" fill="hold" nodeType="with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left)">
                                      <p:cBhvr>
                                        <p:cTn id="15" dur="2000"/>
                                        <p:tgtEl>
                                          <p:spTgt spid="4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4"/>
                                        </p:tgtEl>
                                        <p:attrNameLst>
                                          <p:attrName>style.visibility</p:attrName>
                                        </p:attrNameLst>
                                      </p:cBhvr>
                                      <p:to>
                                        <p:strVal val="visible"/>
                                      </p:to>
                                    </p:set>
                                    <p:animEffect transition="in" filter="fade">
                                      <p:cBhvr>
                                        <p:cTn id="20"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Example</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6" name="Straight Arrow Connector 5"/>
          <p:cNvCxnSpPr/>
          <p:nvPr/>
        </p:nvCxnSpPr>
        <p:spPr>
          <a:xfrm flipV="1">
            <a:off x="3190280" y="1090960"/>
            <a:ext cx="0" cy="23762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3190280" y="3467224"/>
            <a:ext cx="30243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Oval 7"/>
          <p:cNvSpPr/>
          <p:nvPr/>
        </p:nvSpPr>
        <p:spPr>
          <a:xfrm>
            <a:off x="3704232" y="17858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3982368" y="21661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p:cNvSpPr/>
          <p:nvPr/>
        </p:nvSpPr>
        <p:spPr>
          <a:xfrm>
            <a:off x="4007892" y="19173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p:cNvSpPr/>
          <p:nvPr/>
        </p:nvSpPr>
        <p:spPr>
          <a:xfrm>
            <a:off x="4342408" y="192343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4643586" y="238120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p:cNvSpPr/>
          <p:nvPr/>
        </p:nvSpPr>
        <p:spPr>
          <a:xfrm>
            <a:off x="4377700" y="236322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p:cNvSpPr/>
          <p:nvPr/>
        </p:nvSpPr>
        <p:spPr>
          <a:xfrm>
            <a:off x="4417268" y="245821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4833317" y="274279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p:cNvSpPr/>
          <p:nvPr/>
        </p:nvSpPr>
        <p:spPr>
          <a:xfrm>
            <a:off x="5038686" y="2881509"/>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p:cNvSpPr/>
          <p:nvPr/>
        </p:nvSpPr>
        <p:spPr>
          <a:xfrm>
            <a:off x="5265365" y="25600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5542742" y="293019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3269332" y="150549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p:cNvSpPr/>
          <p:nvPr/>
        </p:nvSpPr>
        <p:spPr>
          <a:xfrm>
            <a:off x="3804550" y="244245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4074332" y="244599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p:cNvSpPr/>
          <p:nvPr/>
        </p:nvSpPr>
        <p:spPr>
          <a:xfrm>
            <a:off x="5043262" y="25314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p:cNvSpPr/>
          <p:nvPr/>
        </p:nvSpPr>
        <p:spPr>
          <a:xfrm>
            <a:off x="4792003" y="2617239"/>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5070347" y="270679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p:cNvSpPr/>
          <p:nvPr/>
        </p:nvSpPr>
        <p:spPr>
          <a:xfrm>
            <a:off x="4951134" y="24931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p:cNvSpPr/>
          <p:nvPr/>
        </p:nvSpPr>
        <p:spPr>
          <a:xfrm>
            <a:off x="4475981" y="254523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366317" y="259325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p:cNvSpPr/>
          <p:nvPr/>
        </p:nvSpPr>
        <p:spPr>
          <a:xfrm>
            <a:off x="4625124" y="217759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p:cNvSpPr/>
          <p:nvPr/>
        </p:nvSpPr>
        <p:spPr>
          <a:xfrm>
            <a:off x="4228877" y="212032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3741223" y="212113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p:cNvSpPr/>
          <p:nvPr/>
        </p:nvSpPr>
        <p:spPr>
          <a:xfrm>
            <a:off x="5170500" y="302900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p:cNvSpPr txBox="1"/>
          <p:nvPr/>
        </p:nvSpPr>
        <p:spPr>
          <a:xfrm>
            <a:off x="3334296" y="3467224"/>
            <a:ext cx="2738844" cy="369332"/>
          </a:xfrm>
          <a:prstGeom prst="rect">
            <a:avLst/>
          </a:prstGeom>
          <a:noFill/>
        </p:spPr>
        <p:txBody>
          <a:bodyPr wrap="square" rtlCol="0">
            <a:spAutoFit/>
          </a:bodyPr>
          <a:lstStyle/>
          <a:p>
            <a:r>
              <a:rPr lang="en-GB" dirty="0"/>
              <a:t>   50     100   150   200   250</a:t>
            </a:r>
          </a:p>
        </p:txBody>
      </p:sp>
      <p:sp>
        <p:nvSpPr>
          <p:cNvPr id="33" name="TextBox 32"/>
          <p:cNvSpPr txBox="1"/>
          <p:nvPr/>
        </p:nvSpPr>
        <p:spPr>
          <a:xfrm>
            <a:off x="3720319" y="3763235"/>
            <a:ext cx="2031082" cy="307777"/>
          </a:xfrm>
          <a:prstGeom prst="rect">
            <a:avLst/>
          </a:prstGeom>
          <a:noFill/>
        </p:spPr>
        <p:txBody>
          <a:bodyPr wrap="square" rtlCol="0">
            <a:spAutoFit/>
          </a:bodyPr>
          <a:lstStyle/>
          <a:p>
            <a:pPr algn="ctr"/>
            <a:r>
              <a:rPr lang="en-GB" sz="1400" dirty="0"/>
              <a:t>Altitude (m)</a:t>
            </a:r>
          </a:p>
        </p:txBody>
      </p:sp>
      <mc:AlternateContent xmlns:mc="http://schemas.openxmlformats.org/markup-compatibility/2006" xmlns:a14="http://schemas.microsoft.com/office/drawing/2010/main">
        <mc:Choice Requires="a14">
          <p:sp>
            <p:nvSpPr>
              <p:cNvPr id="34" name="TextBox 33"/>
              <p:cNvSpPr txBox="1"/>
              <p:nvPr/>
            </p:nvSpPr>
            <p:spPr>
              <a:xfrm rot="16200000">
                <a:off x="1633811" y="1921123"/>
                <a:ext cx="2031082" cy="307777"/>
              </a:xfrm>
              <a:prstGeom prst="rect">
                <a:avLst/>
              </a:prstGeom>
              <a:noFill/>
            </p:spPr>
            <p:txBody>
              <a:bodyPr wrap="square" rtlCol="0">
                <a:spAutoFit/>
              </a:bodyPr>
              <a:lstStyle/>
              <a:p>
                <a:pPr algn="ctr"/>
                <a:r>
                  <a:rPr lang="en-GB" sz="1400" dirty="0"/>
                  <a:t>Temperature </a:t>
                </a:r>
                <a14:m>
                  <m:oMath xmlns:m="http://schemas.openxmlformats.org/officeDocument/2006/math">
                    <m:r>
                      <a:rPr lang="en-GB" sz="1400" b="0" i="1" smtClean="0">
                        <a:latin typeface="Cambria Math" panose="02040503050406030204" pitchFamily="18" charset="0"/>
                      </a:rPr>
                      <m:t>°</m:t>
                    </m:r>
                    <m:r>
                      <a:rPr lang="en-GB" sz="1400" b="0" i="1" smtClean="0">
                        <a:latin typeface="Cambria Math" panose="02040503050406030204" pitchFamily="18" charset="0"/>
                      </a:rPr>
                      <m:t>𝐹</m:t>
                    </m:r>
                  </m:oMath>
                </a14:m>
                <a:endParaRPr lang="en-GB" sz="1400" dirty="0"/>
              </a:p>
            </p:txBody>
          </p:sp>
        </mc:Choice>
        <mc:Fallback xmlns="">
          <p:sp>
            <p:nvSpPr>
              <p:cNvPr id="34" name="TextBox 33"/>
              <p:cNvSpPr txBox="1">
                <a:spLocks noRot="1" noChangeAspect="1" noMove="1" noResize="1" noEditPoints="1" noAdjustHandles="1" noChangeArrowheads="1" noChangeShapeType="1" noTextEdit="1"/>
              </p:cNvSpPr>
              <p:nvPr/>
            </p:nvSpPr>
            <p:spPr>
              <a:xfrm rot="16200000">
                <a:off x="1633811" y="1921123"/>
                <a:ext cx="2031082" cy="307777"/>
              </a:xfrm>
              <a:prstGeom prst="rect">
                <a:avLst/>
              </a:prstGeom>
              <a:blipFill>
                <a:blip r:embed="rId2"/>
                <a:stretch>
                  <a:fillRect l="-1961" r="-19608"/>
                </a:stretch>
              </a:blipFill>
            </p:spPr>
            <p:txBody>
              <a:bodyPr/>
              <a:lstStyle/>
              <a:p>
                <a:r>
                  <a:rPr lang="en-GB">
                    <a:noFill/>
                  </a:rPr>
                  <a:t> </a:t>
                </a:r>
              </a:p>
            </p:txBody>
          </p:sp>
        </mc:Fallback>
      </mc:AlternateContent>
      <p:sp>
        <p:nvSpPr>
          <p:cNvPr id="35" name="TextBox 34"/>
          <p:cNvSpPr txBox="1"/>
          <p:nvPr/>
        </p:nvSpPr>
        <p:spPr>
          <a:xfrm>
            <a:off x="2574140" y="998744"/>
            <a:ext cx="605295" cy="2169825"/>
          </a:xfrm>
          <a:prstGeom prst="rect">
            <a:avLst/>
          </a:prstGeom>
          <a:noFill/>
        </p:spPr>
        <p:txBody>
          <a:bodyPr wrap="square" rtlCol="0">
            <a:spAutoFit/>
          </a:bodyPr>
          <a:lstStyle/>
          <a:p>
            <a:pPr algn="r"/>
            <a:r>
              <a:rPr lang="en-GB" dirty="0"/>
              <a:t>100</a:t>
            </a:r>
          </a:p>
          <a:p>
            <a:pPr algn="r"/>
            <a:endParaRPr lang="en-GB" sz="1100" dirty="0"/>
          </a:p>
          <a:p>
            <a:pPr algn="r"/>
            <a:r>
              <a:rPr lang="en-GB" dirty="0"/>
              <a:t>80</a:t>
            </a:r>
          </a:p>
          <a:p>
            <a:pPr algn="r"/>
            <a:endParaRPr lang="en-GB" sz="1100" dirty="0"/>
          </a:p>
          <a:p>
            <a:pPr algn="r"/>
            <a:r>
              <a:rPr lang="en-GB" dirty="0"/>
              <a:t>60</a:t>
            </a:r>
          </a:p>
          <a:p>
            <a:pPr algn="r"/>
            <a:endParaRPr lang="en-GB" sz="1100" dirty="0"/>
          </a:p>
          <a:p>
            <a:pPr algn="r"/>
            <a:r>
              <a:rPr lang="en-GB" dirty="0"/>
              <a:t>40</a:t>
            </a:r>
          </a:p>
          <a:p>
            <a:pPr algn="r"/>
            <a:endParaRPr lang="en-GB" sz="1100" dirty="0"/>
          </a:p>
          <a:p>
            <a:pPr algn="r"/>
            <a:r>
              <a:rPr lang="en-GB" dirty="0"/>
              <a:t>20</a:t>
            </a:r>
          </a:p>
        </p:txBody>
      </p:sp>
      <mc:AlternateContent xmlns:mc="http://schemas.openxmlformats.org/markup-compatibility/2006" xmlns:a14="http://schemas.microsoft.com/office/drawing/2010/main">
        <mc:Choice Requires="a14">
          <p:sp>
            <p:nvSpPr>
              <p:cNvPr id="36" name="TextBox 35"/>
              <p:cNvSpPr txBox="1"/>
              <p:nvPr/>
            </p:nvSpPr>
            <p:spPr>
              <a:xfrm>
                <a:off x="6116315" y="3267125"/>
                <a:ext cx="5448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𝑥</m:t>
                      </m:r>
                    </m:oMath>
                  </m:oMathPara>
                </a14:m>
                <a:endParaRPr lang="en-GB" dirty="0"/>
              </a:p>
            </p:txBody>
          </p:sp>
        </mc:Choice>
        <mc:Fallback xmlns="">
          <p:sp>
            <p:nvSpPr>
              <p:cNvPr id="36" name="TextBox 35"/>
              <p:cNvSpPr txBox="1">
                <a:spLocks noRot="1" noChangeAspect="1" noMove="1" noResize="1" noEditPoints="1" noAdjustHandles="1" noChangeArrowheads="1" noChangeShapeType="1" noTextEdit="1"/>
              </p:cNvSpPr>
              <p:nvPr/>
            </p:nvSpPr>
            <p:spPr>
              <a:xfrm>
                <a:off x="6116315" y="3267125"/>
                <a:ext cx="544835" cy="369332"/>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938915" y="685543"/>
                <a:ext cx="5448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oMath>
                  </m:oMathPara>
                </a14:m>
                <a:endParaRPr lang="en-GB" dirty="0"/>
              </a:p>
            </p:txBody>
          </p:sp>
        </mc:Choice>
        <mc:Fallback xmlns="">
          <p:sp>
            <p:nvSpPr>
              <p:cNvPr id="37" name="TextBox 36"/>
              <p:cNvSpPr txBox="1">
                <a:spLocks noRot="1" noChangeAspect="1" noMove="1" noResize="1" noEditPoints="1" noAdjustHandles="1" noChangeArrowheads="1" noChangeShapeType="1" noTextEdit="1"/>
              </p:cNvSpPr>
              <p:nvPr/>
            </p:nvSpPr>
            <p:spPr>
              <a:xfrm>
                <a:off x="2938915" y="685543"/>
                <a:ext cx="544835" cy="369332"/>
              </a:xfrm>
              <a:prstGeom prst="rect">
                <a:avLst/>
              </a:prstGeom>
              <a:blipFill>
                <a:blip r:embed="rId4"/>
                <a:stretch>
                  <a:fillRect b="-6557"/>
                </a:stretch>
              </a:blipFill>
            </p:spPr>
            <p:txBody>
              <a:bodyPr/>
              <a:lstStyle/>
              <a:p>
                <a:r>
                  <a:rPr lang="en-GB">
                    <a:noFill/>
                  </a:rPr>
                  <a:t> </a:t>
                </a:r>
              </a:p>
            </p:txBody>
          </p:sp>
        </mc:Fallback>
      </mc:AlternateContent>
      <p:cxnSp>
        <p:nvCxnSpPr>
          <p:cNvPr id="38" name="Straight Connector 37"/>
          <p:cNvCxnSpPr/>
          <p:nvPr/>
        </p:nvCxnSpPr>
        <p:spPr>
          <a:xfrm>
            <a:off x="3195638" y="1800225"/>
            <a:ext cx="2562225" cy="1276350"/>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9" name="TextBox 38"/>
              <p:cNvSpPr txBox="1"/>
              <p:nvPr/>
            </p:nvSpPr>
            <p:spPr>
              <a:xfrm>
                <a:off x="512987" y="4154275"/>
                <a:ext cx="7884740" cy="2770951"/>
              </a:xfrm>
              <a:prstGeom prst="rect">
                <a:avLst/>
              </a:prstGeom>
              <a:noFill/>
            </p:spPr>
            <p:txBody>
              <a:bodyPr wrap="square" rtlCol="0">
                <a:spAutoFit/>
              </a:bodyPr>
              <a:lstStyle/>
              <a:p>
                <a:r>
                  <a:rPr lang="en-GB" sz="1600" dirty="0"/>
                  <a:t>The temperature </a:t>
                </a:r>
                <a14:m>
                  <m:oMath xmlns:m="http://schemas.openxmlformats.org/officeDocument/2006/math">
                    <m:r>
                      <a:rPr lang="en-GB" sz="1600" b="0" i="1" smtClean="0">
                        <a:latin typeface="Cambria Math" panose="02040503050406030204" pitchFamily="18" charset="0"/>
                      </a:rPr>
                      <m:t>𝑦</m:t>
                    </m:r>
                  </m:oMath>
                </a14:m>
                <a:r>
                  <a:rPr lang="en-GB" sz="1600" dirty="0"/>
                  <a:t> at different points on a mountain is recorded at different altitudes </a:t>
                </a:r>
                <a14:m>
                  <m:oMath xmlns:m="http://schemas.openxmlformats.org/officeDocument/2006/math">
                    <m:r>
                      <a:rPr lang="en-GB" sz="1600" b="0" i="1" smtClean="0">
                        <a:latin typeface="Cambria Math" panose="02040503050406030204" pitchFamily="18" charset="0"/>
                      </a:rPr>
                      <m:t>𝑥</m:t>
                    </m:r>
                  </m:oMath>
                </a14:m>
                <a:r>
                  <a:rPr lang="en-GB" sz="1600" dirty="0"/>
                  <a:t>.</a:t>
                </a:r>
              </a:p>
              <a:p>
                <a:r>
                  <a:rPr lang="en-GB" sz="1600" dirty="0"/>
                  <a:t>Suppose we were to use a linear model </a:t>
                </a:r>
                <a14:m>
                  <m:oMath xmlns:m="http://schemas.openxmlformats.org/officeDocument/2006/math">
                    <m:r>
                      <a:rPr lang="en-GB" sz="1600" b="0" i="1" smtClean="0">
                        <a:latin typeface="Cambria Math" panose="02040503050406030204" pitchFamily="18" charset="0"/>
                      </a:rPr>
                      <m:t>𝑦</m:t>
                    </m:r>
                    <m:r>
                      <a:rPr lang="en-GB" sz="1600" b="0" i="1" smtClean="0">
                        <a:latin typeface="Cambria Math" panose="02040503050406030204" pitchFamily="18" charset="0"/>
                      </a:rPr>
                      <m:t>=</m:t>
                    </m:r>
                    <m:r>
                      <a:rPr lang="en-GB" sz="1600" b="0" i="1" smtClean="0">
                        <a:latin typeface="Cambria Math" panose="02040503050406030204" pitchFamily="18" charset="0"/>
                      </a:rPr>
                      <m:t>𝑚𝑥</m:t>
                    </m:r>
                    <m:r>
                      <a:rPr lang="en-GB" sz="1600" b="0" i="1" smtClean="0">
                        <a:latin typeface="Cambria Math" panose="02040503050406030204" pitchFamily="18" charset="0"/>
                      </a:rPr>
                      <m:t>+</m:t>
                    </m:r>
                    <m:r>
                      <a:rPr lang="en-GB" sz="1600" b="0" i="1" smtClean="0">
                        <a:latin typeface="Cambria Math" panose="02040503050406030204" pitchFamily="18" charset="0"/>
                      </a:rPr>
                      <m:t>𝑐</m:t>
                    </m:r>
                  </m:oMath>
                </a14:m>
                <a:r>
                  <a:rPr lang="en-GB" sz="1600" dirty="0"/>
                  <a:t>.</a:t>
                </a:r>
              </a:p>
              <a:p>
                <a:endParaRPr lang="en-GB" sz="1600" dirty="0"/>
              </a:p>
              <a:p>
                <a:r>
                  <a:rPr lang="en-GB" sz="1600" dirty="0"/>
                  <a:t>Determine </a:t>
                </a:r>
                <a14:m>
                  <m:oMath xmlns:m="http://schemas.openxmlformats.org/officeDocument/2006/math">
                    <m:r>
                      <a:rPr lang="en-GB" sz="1600" b="0" i="1" smtClean="0">
                        <a:latin typeface="Cambria Math" panose="02040503050406030204" pitchFamily="18" charset="0"/>
                      </a:rPr>
                      <m:t>𝑚</m:t>
                    </m:r>
                  </m:oMath>
                </a14:m>
                <a:r>
                  <a:rPr lang="en-GB" sz="1600" dirty="0"/>
                  <a:t> and </a:t>
                </a:r>
                <a14:m>
                  <m:oMath xmlns:m="http://schemas.openxmlformats.org/officeDocument/2006/math">
                    <m:r>
                      <a:rPr lang="en-GB" sz="1600" b="0" i="1" smtClean="0">
                        <a:latin typeface="Cambria Math" panose="02040503050406030204" pitchFamily="18" charset="0"/>
                      </a:rPr>
                      <m:t>𝑐</m:t>
                    </m:r>
                  </m:oMath>
                </a14:m>
                <a:r>
                  <a:rPr lang="en-GB" sz="1600" dirty="0"/>
                  <a:t> (you can assume the line goes through </a:t>
                </a:r>
                <a14:m>
                  <m:oMath xmlns:m="http://schemas.openxmlformats.org/officeDocument/2006/math">
                    <m:d>
                      <m:dPr>
                        <m:ctrlPr>
                          <a:rPr lang="en-GB" sz="1600" b="0" i="1" smtClean="0">
                            <a:latin typeface="Cambria Math" panose="02040503050406030204" pitchFamily="18" charset="0"/>
                          </a:rPr>
                        </m:ctrlPr>
                      </m:dPr>
                      <m:e>
                        <m:r>
                          <a:rPr lang="en-GB" sz="1600" b="0" i="1" smtClean="0">
                            <a:latin typeface="Cambria Math" panose="02040503050406030204" pitchFamily="18" charset="0"/>
                          </a:rPr>
                          <m:t>0,70</m:t>
                        </m:r>
                      </m:e>
                    </m:d>
                  </m:oMath>
                </a14:m>
                <a:r>
                  <a:rPr lang="en-GB" sz="1600" dirty="0"/>
                  <a:t> and </a:t>
                </a:r>
                <a14:m>
                  <m:oMath xmlns:m="http://schemas.openxmlformats.org/officeDocument/2006/math">
                    <m:d>
                      <m:dPr>
                        <m:ctrlPr>
                          <a:rPr lang="en-GB" sz="1600" b="0" i="1" smtClean="0">
                            <a:latin typeface="Cambria Math" panose="02040503050406030204" pitchFamily="18" charset="0"/>
                          </a:rPr>
                        </m:ctrlPr>
                      </m:dPr>
                      <m:e>
                        <m:r>
                          <a:rPr lang="en-GB" sz="1600" b="0" i="1" smtClean="0">
                            <a:latin typeface="Cambria Math" panose="02040503050406030204" pitchFamily="18" charset="0"/>
                          </a:rPr>
                          <m:t>250,20</m:t>
                        </m:r>
                      </m:e>
                    </m:d>
                  </m:oMath>
                </a14:m>
                <a:r>
                  <a:rPr lang="en-GB" sz="1600" dirty="0"/>
                  <a:t>.</a:t>
                </a:r>
              </a:p>
              <a:p>
                <a:pPr/>
                <a14:m>
                  <m:oMathPara xmlns:m="http://schemas.openxmlformats.org/officeDocument/2006/math">
                    <m:oMathParaPr>
                      <m:jc m:val="centerGroup"/>
                    </m:oMathParaPr>
                    <m:oMath xmlns:m="http://schemas.openxmlformats.org/officeDocument/2006/math">
                      <m:r>
                        <a:rPr lang="en-GB" sz="1600" b="1" i="1" smtClean="0">
                          <a:latin typeface="Cambria Math" panose="02040503050406030204" pitchFamily="18" charset="0"/>
                        </a:rPr>
                        <m:t>𝒎</m:t>
                      </m:r>
                      <m:r>
                        <a:rPr lang="en-GB" sz="1600" b="1" i="1" smtClean="0">
                          <a:latin typeface="Cambria Math" panose="02040503050406030204" pitchFamily="18" charset="0"/>
                        </a:rPr>
                        <m:t>=</m:t>
                      </m:r>
                      <m:f>
                        <m:fPr>
                          <m:ctrlPr>
                            <a:rPr lang="en-GB" sz="1600" b="1" i="1" smtClean="0">
                              <a:latin typeface="Cambria Math" panose="02040503050406030204" pitchFamily="18" charset="0"/>
                            </a:rPr>
                          </m:ctrlPr>
                        </m:fPr>
                        <m:num>
                          <m:r>
                            <a:rPr lang="en-GB" sz="1600" b="1" i="1" smtClean="0">
                              <a:latin typeface="Cambria Math" panose="02040503050406030204" pitchFamily="18" charset="0"/>
                            </a:rPr>
                            <m:t>−</m:t>
                          </m:r>
                          <m:r>
                            <a:rPr lang="en-GB" sz="1600" b="1" i="1" smtClean="0">
                              <a:latin typeface="Cambria Math" panose="02040503050406030204" pitchFamily="18" charset="0"/>
                            </a:rPr>
                            <m:t>𝟓𝟎</m:t>
                          </m:r>
                        </m:num>
                        <m:den>
                          <m:r>
                            <a:rPr lang="en-GB" sz="1600" b="1" i="1" smtClean="0">
                              <a:latin typeface="Cambria Math" panose="02040503050406030204" pitchFamily="18" charset="0"/>
                            </a:rPr>
                            <m:t>𝟐𝟓𝟎</m:t>
                          </m:r>
                        </m:den>
                      </m:f>
                      <m:r>
                        <a:rPr lang="en-GB" sz="1600" b="1" i="1" smtClean="0">
                          <a:latin typeface="Cambria Math" panose="02040503050406030204" pitchFamily="18" charset="0"/>
                        </a:rPr>
                        <m:t>=−</m:t>
                      </m:r>
                      <m:r>
                        <a:rPr lang="en-GB" sz="1600" b="1" i="1" smtClean="0">
                          <a:latin typeface="Cambria Math" panose="02040503050406030204" pitchFamily="18" charset="0"/>
                        </a:rPr>
                        <m:t>𝟎</m:t>
                      </m:r>
                      <m:r>
                        <a:rPr lang="en-GB" sz="1600" b="1" i="1" smtClean="0">
                          <a:latin typeface="Cambria Math" panose="02040503050406030204" pitchFamily="18" charset="0"/>
                        </a:rPr>
                        <m:t>.</m:t>
                      </m:r>
                      <m:r>
                        <a:rPr lang="en-GB" sz="1600" b="1" i="1" smtClean="0">
                          <a:latin typeface="Cambria Math" panose="02040503050406030204" pitchFamily="18" charset="0"/>
                        </a:rPr>
                        <m:t>𝟐</m:t>
                      </m:r>
                      <m:r>
                        <a:rPr lang="en-GB" sz="1600" b="1" i="1" smtClean="0">
                          <a:latin typeface="Cambria Math" panose="02040503050406030204" pitchFamily="18" charset="0"/>
                        </a:rPr>
                        <m:t>         </m:t>
                      </m:r>
                      <m:r>
                        <a:rPr lang="en-GB" sz="1600" b="1" i="1" smtClean="0">
                          <a:latin typeface="Cambria Math" panose="02040503050406030204" pitchFamily="18" charset="0"/>
                        </a:rPr>
                        <m:t>𝒄</m:t>
                      </m:r>
                      <m:r>
                        <a:rPr lang="en-GB" sz="1600" b="1" i="1" smtClean="0">
                          <a:latin typeface="Cambria Math" panose="02040503050406030204" pitchFamily="18" charset="0"/>
                        </a:rPr>
                        <m:t>=</m:t>
                      </m:r>
                      <m:r>
                        <a:rPr lang="en-GB" sz="1600" b="1" i="1" smtClean="0">
                          <a:latin typeface="Cambria Math" panose="02040503050406030204" pitchFamily="18" charset="0"/>
                        </a:rPr>
                        <m:t>𝟕𝟎</m:t>
                      </m:r>
                    </m:oMath>
                  </m:oMathPara>
                </a14:m>
                <a:endParaRPr lang="en-GB" sz="1600" b="1" dirty="0"/>
              </a:p>
              <a:p>
                <a:r>
                  <a:rPr lang="en-GB" sz="1600" b="1" u="sng" dirty="0"/>
                  <a:t>Interpret</a:t>
                </a:r>
                <a:r>
                  <a:rPr lang="en-GB" sz="1600" dirty="0"/>
                  <a:t> the meaning of </a:t>
                </a:r>
                <a14:m>
                  <m:oMath xmlns:m="http://schemas.openxmlformats.org/officeDocument/2006/math">
                    <m:r>
                      <a:rPr lang="en-GB" sz="1600" b="0" i="1" smtClean="0">
                        <a:latin typeface="Cambria Math" panose="02040503050406030204" pitchFamily="18" charset="0"/>
                      </a:rPr>
                      <m:t>𝑚</m:t>
                    </m:r>
                  </m:oMath>
                </a14:m>
                <a:r>
                  <a:rPr lang="en-GB" sz="1600" dirty="0"/>
                  <a:t> and </a:t>
                </a:r>
                <a14:m>
                  <m:oMath xmlns:m="http://schemas.openxmlformats.org/officeDocument/2006/math">
                    <m:r>
                      <a:rPr lang="en-GB" sz="1600" b="0" i="1" smtClean="0">
                        <a:latin typeface="Cambria Math" panose="02040503050406030204" pitchFamily="18" charset="0"/>
                      </a:rPr>
                      <m:t>𝑐</m:t>
                    </m:r>
                  </m:oMath>
                </a14:m>
                <a:r>
                  <a:rPr lang="en-GB" sz="1600" dirty="0"/>
                  <a:t> </a:t>
                </a:r>
                <a:r>
                  <a:rPr lang="en-GB" sz="1600" b="1" u="sng" dirty="0"/>
                  <a:t>in this context</a:t>
                </a:r>
                <a:r>
                  <a:rPr lang="en-GB" sz="1600" dirty="0"/>
                  <a:t>.</a:t>
                </a:r>
              </a:p>
              <a:p>
                <a:r>
                  <a:rPr lang="en-GB" sz="1600" b="1" dirty="0"/>
                  <a:t>The temperature at sea level is </a:t>
                </a:r>
                <a14:m>
                  <m:oMath xmlns:m="http://schemas.openxmlformats.org/officeDocument/2006/math">
                    <m:r>
                      <a:rPr lang="en-GB" sz="1600" b="1" i="1" smtClean="0">
                        <a:latin typeface="Cambria Math" panose="02040503050406030204" pitchFamily="18" charset="0"/>
                      </a:rPr>
                      <m:t>𝟕𝟎</m:t>
                    </m:r>
                    <m:r>
                      <a:rPr lang="en-GB" sz="1600" b="1" i="1" smtClean="0">
                        <a:latin typeface="Cambria Math" panose="02040503050406030204" pitchFamily="18" charset="0"/>
                      </a:rPr>
                      <m:t>°</m:t>
                    </m:r>
                    <m:r>
                      <a:rPr lang="en-GB" sz="1600" b="1" i="1" smtClean="0">
                        <a:latin typeface="Cambria Math" panose="02040503050406030204" pitchFamily="18" charset="0"/>
                      </a:rPr>
                      <m:t>𝑭</m:t>
                    </m:r>
                  </m:oMath>
                </a14:m>
                <a:r>
                  <a:rPr lang="en-GB" sz="1600" b="1" dirty="0"/>
                  <a:t>. The temperature goes down </a:t>
                </a:r>
                <a14:m>
                  <m:oMath xmlns:m="http://schemas.openxmlformats.org/officeDocument/2006/math">
                    <m:r>
                      <a:rPr lang="en-GB" sz="1600" b="1" i="1" smtClean="0">
                        <a:latin typeface="Cambria Math" panose="02040503050406030204" pitchFamily="18" charset="0"/>
                      </a:rPr>
                      <m:t>𝟎</m:t>
                    </m:r>
                    <m:r>
                      <a:rPr lang="en-GB" sz="1600" b="1" i="1" smtClean="0">
                        <a:latin typeface="Cambria Math" panose="02040503050406030204" pitchFamily="18" charset="0"/>
                      </a:rPr>
                      <m:t>.</m:t>
                    </m:r>
                    <m:r>
                      <a:rPr lang="en-GB" sz="1600" b="1" i="1" smtClean="0">
                        <a:latin typeface="Cambria Math" panose="02040503050406030204" pitchFamily="18" charset="0"/>
                      </a:rPr>
                      <m:t>𝟐</m:t>
                    </m:r>
                    <m:r>
                      <a:rPr lang="en-GB" sz="1600" b="1" i="1" smtClean="0">
                        <a:latin typeface="Cambria Math" panose="02040503050406030204" pitchFamily="18" charset="0"/>
                      </a:rPr>
                      <m:t>°</m:t>
                    </m:r>
                    <m:r>
                      <a:rPr lang="en-GB" sz="1600" b="1" i="1" smtClean="0">
                        <a:latin typeface="Cambria Math" panose="02040503050406030204" pitchFamily="18" charset="0"/>
                      </a:rPr>
                      <m:t>𝑭</m:t>
                    </m:r>
                  </m:oMath>
                </a14:m>
                <a:r>
                  <a:rPr lang="en-GB" sz="1600" b="1" dirty="0"/>
                  <a:t> for each extra metre in altitude.</a:t>
                </a:r>
              </a:p>
              <a:p>
                <a:r>
                  <a:rPr lang="en-GB" sz="1600" dirty="0"/>
                  <a:t>Predict at what altitude the temperature reaches </a:t>
                </a:r>
                <a14:m>
                  <m:oMath xmlns:m="http://schemas.openxmlformats.org/officeDocument/2006/math">
                    <m:r>
                      <a:rPr lang="en-GB" sz="1600" b="0" i="1" smtClean="0">
                        <a:latin typeface="Cambria Math" panose="02040503050406030204" pitchFamily="18" charset="0"/>
                      </a:rPr>
                      <m:t>0°</m:t>
                    </m:r>
                    <m:r>
                      <a:rPr lang="en-GB" sz="1600" b="0" i="1" smtClean="0">
                        <a:latin typeface="Cambria Math" panose="02040503050406030204" pitchFamily="18" charset="0"/>
                      </a:rPr>
                      <m:t>𝐹</m:t>
                    </m:r>
                  </m:oMath>
                </a14:m>
                <a:r>
                  <a:rPr lang="en-GB" sz="1600" dirty="0"/>
                  <a:t>.</a:t>
                </a:r>
              </a:p>
              <a:p>
                <a:pPr/>
                <a14:m>
                  <m:oMathPara xmlns:m="http://schemas.openxmlformats.org/officeDocument/2006/math">
                    <m:oMathParaPr>
                      <m:jc m:val="centerGroup"/>
                    </m:oMathParaPr>
                    <m:oMath xmlns:m="http://schemas.openxmlformats.org/officeDocument/2006/math">
                      <m:r>
                        <a:rPr lang="en-GB" sz="1600" b="1" i="1" smtClean="0">
                          <a:latin typeface="Cambria Math" panose="02040503050406030204" pitchFamily="18" charset="0"/>
                        </a:rPr>
                        <m:t>𝟎</m:t>
                      </m:r>
                      <m:r>
                        <a:rPr lang="en-GB" sz="1600" b="1" i="1" smtClean="0">
                          <a:latin typeface="Cambria Math" panose="02040503050406030204" pitchFamily="18" charset="0"/>
                        </a:rPr>
                        <m:t>=−</m:t>
                      </m:r>
                      <m:r>
                        <a:rPr lang="en-GB" sz="1600" b="1" i="1" smtClean="0">
                          <a:latin typeface="Cambria Math" panose="02040503050406030204" pitchFamily="18" charset="0"/>
                        </a:rPr>
                        <m:t>𝟎</m:t>
                      </m:r>
                      <m:r>
                        <a:rPr lang="en-GB" sz="1600" b="1" i="1" smtClean="0">
                          <a:latin typeface="Cambria Math" panose="02040503050406030204" pitchFamily="18" charset="0"/>
                        </a:rPr>
                        <m:t>.</m:t>
                      </m:r>
                      <m:r>
                        <a:rPr lang="en-GB" sz="1600" b="1" i="1" smtClean="0">
                          <a:latin typeface="Cambria Math" panose="02040503050406030204" pitchFamily="18" charset="0"/>
                        </a:rPr>
                        <m:t>𝟐</m:t>
                      </m:r>
                      <m:r>
                        <a:rPr lang="en-GB" sz="1600" b="1" i="1" smtClean="0">
                          <a:latin typeface="Cambria Math" panose="02040503050406030204" pitchFamily="18" charset="0"/>
                        </a:rPr>
                        <m:t>𝒙</m:t>
                      </m:r>
                      <m:r>
                        <a:rPr lang="en-GB" sz="1600" b="1" i="1" smtClean="0">
                          <a:latin typeface="Cambria Math" panose="02040503050406030204" pitchFamily="18" charset="0"/>
                        </a:rPr>
                        <m:t>+</m:t>
                      </m:r>
                      <m:r>
                        <a:rPr lang="en-GB" sz="1600" b="1" i="1" smtClean="0">
                          <a:latin typeface="Cambria Math" panose="02040503050406030204" pitchFamily="18" charset="0"/>
                        </a:rPr>
                        <m:t>𝟕𝟎</m:t>
                      </m:r>
                      <m:r>
                        <a:rPr lang="en-GB" sz="1600" b="1" i="1" smtClean="0">
                          <a:latin typeface="Cambria Math" panose="02040503050406030204" pitchFamily="18" charset="0"/>
                        </a:rPr>
                        <m:t>    →   </m:t>
                      </m:r>
                      <m:r>
                        <a:rPr lang="en-GB" sz="1600" b="1" i="1" smtClean="0">
                          <a:latin typeface="Cambria Math" panose="02040503050406030204" pitchFamily="18" charset="0"/>
                        </a:rPr>
                        <m:t>𝒙</m:t>
                      </m:r>
                      <m:r>
                        <a:rPr lang="en-GB" sz="1600" b="1" i="1" smtClean="0">
                          <a:latin typeface="Cambria Math" panose="02040503050406030204" pitchFamily="18" charset="0"/>
                        </a:rPr>
                        <m:t>=</m:t>
                      </m:r>
                      <m:r>
                        <a:rPr lang="en-GB" sz="1600" b="1" i="1" smtClean="0">
                          <a:latin typeface="Cambria Math" panose="02040503050406030204" pitchFamily="18" charset="0"/>
                        </a:rPr>
                        <m:t>𝟑𝟓𝟎</m:t>
                      </m:r>
                      <m:r>
                        <a:rPr lang="en-GB" sz="1600" b="1" i="1" smtClean="0">
                          <a:latin typeface="Cambria Math" panose="02040503050406030204" pitchFamily="18" charset="0"/>
                        </a:rPr>
                        <m:t>𝒎</m:t>
                      </m:r>
                    </m:oMath>
                  </m:oMathPara>
                </a14:m>
                <a:endParaRPr lang="en-GB" sz="1600" b="1" dirty="0"/>
              </a:p>
            </p:txBody>
          </p:sp>
        </mc:Choice>
        <mc:Fallback xmlns="">
          <p:sp>
            <p:nvSpPr>
              <p:cNvPr id="39" name="TextBox 38"/>
              <p:cNvSpPr txBox="1">
                <a:spLocks noRot="1" noChangeAspect="1" noMove="1" noResize="1" noEditPoints="1" noAdjustHandles="1" noChangeArrowheads="1" noChangeShapeType="1" noTextEdit="1"/>
              </p:cNvSpPr>
              <p:nvPr/>
            </p:nvSpPr>
            <p:spPr>
              <a:xfrm>
                <a:off x="512987" y="4154275"/>
                <a:ext cx="7884740" cy="2770951"/>
              </a:xfrm>
              <a:prstGeom prst="rect">
                <a:avLst/>
              </a:prstGeom>
              <a:blipFill>
                <a:blip r:embed="rId5"/>
                <a:stretch>
                  <a:fillRect l="-386" t="-659"/>
                </a:stretch>
              </a:blipFill>
            </p:spPr>
            <p:txBody>
              <a:bodyPr/>
              <a:lstStyle/>
              <a:p>
                <a:r>
                  <a:rPr lang="en-GB">
                    <a:noFill/>
                  </a:rPr>
                  <a:t> </a:t>
                </a:r>
              </a:p>
            </p:txBody>
          </p:sp>
        </mc:Fallback>
      </mc:AlternateContent>
      <p:cxnSp>
        <p:nvCxnSpPr>
          <p:cNvPr id="50" name="Straight Connector 49"/>
          <p:cNvCxnSpPr/>
          <p:nvPr/>
        </p:nvCxnSpPr>
        <p:spPr>
          <a:xfrm>
            <a:off x="3706031" y="3400425"/>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4224920" y="3395216"/>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4723599" y="3395216"/>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5236944" y="3395216"/>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5749595" y="3395216"/>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3131071" y="3002856"/>
            <a:ext cx="1403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3130228" y="2514460"/>
            <a:ext cx="1403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3128988" y="2053578"/>
            <a:ext cx="1403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3128988" y="1577503"/>
            <a:ext cx="140344" cy="0"/>
          </a:xfrm>
          <a:prstGeom prst="line">
            <a:avLst/>
          </a:prstGeom>
        </p:spPr>
        <p:style>
          <a:lnRef idx="1">
            <a:schemeClr val="accent1"/>
          </a:lnRef>
          <a:fillRef idx="0">
            <a:schemeClr val="accent1"/>
          </a:fillRef>
          <a:effectRef idx="0">
            <a:schemeClr val="accent1"/>
          </a:effectRef>
          <a:fontRef idx="minor">
            <a:schemeClr val="tx1"/>
          </a:fontRef>
        </p:style>
      </p:cxnSp>
      <p:sp>
        <p:nvSpPr>
          <p:cNvPr id="63" name="Rectangle 62"/>
          <p:cNvSpPr/>
          <p:nvPr/>
        </p:nvSpPr>
        <p:spPr>
          <a:xfrm>
            <a:off x="2663579" y="5175679"/>
            <a:ext cx="3144570" cy="49844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64" name="Rectangle 63"/>
          <p:cNvSpPr/>
          <p:nvPr/>
        </p:nvSpPr>
        <p:spPr>
          <a:xfrm>
            <a:off x="589309" y="5922565"/>
            <a:ext cx="7440441" cy="41227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65" name="Rectangle 64"/>
          <p:cNvSpPr/>
          <p:nvPr/>
        </p:nvSpPr>
        <p:spPr>
          <a:xfrm>
            <a:off x="2827688" y="6617666"/>
            <a:ext cx="3487480" cy="21210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66" name="Rectangle 65"/>
          <p:cNvSpPr/>
          <p:nvPr/>
        </p:nvSpPr>
        <p:spPr>
          <a:xfrm>
            <a:off x="198358" y="4928135"/>
            <a:ext cx="261467" cy="25135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a</a:t>
            </a:r>
          </a:p>
        </p:txBody>
      </p:sp>
      <p:sp>
        <p:nvSpPr>
          <p:cNvPr id="67" name="Rectangle 66"/>
          <p:cNvSpPr/>
          <p:nvPr/>
        </p:nvSpPr>
        <p:spPr>
          <a:xfrm>
            <a:off x="213652" y="5655233"/>
            <a:ext cx="261467" cy="25135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b</a:t>
            </a:r>
          </a:p>
        </p:txBody>
      </p:sp>
      <p:sp>
        <p:nvSpPr>
          <p:cNvPr id="68" name="Rectangle 67"/>
          <p:cNvSpPr/>
          <p:nvPr/>
        </p:nvSpPr>
        <p:spPr>
          <a:xfrm>
            <a:off x="224939" y="6382331"/>
            <a:ext cx="261467" cy="25135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c</a:t>
            </a:r>
          </a:p>
        </p:txBody>
      </p:sp>
      <p:cxnSp>
        <p:nvCxnSpPr>
          <p:cNvPr id="70" name="Straight Connector 69"/>
          <p:cNvCxnSpPr/>
          <p:nvPr/>
        </p:nvCxnSpPr>
        <p:spPr>
          <a:xfrm>
            <a:off x="0" y="4797152"/>
            <a:ext cx="9144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5756326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3"/>
                                        </p:tgtEl>
                                      </p:cBhvr>
                                    </p:animEffect>
                                    <p:set>
                                      <p:cBhvr>
                                        <p:cTn id="7" dur="1" fill="hold">
                                          <p:stCondLst>
                                            <p:cond delay="499"/>
                                          </p:stCondLst>
                                        </p:cTn>
                                        <p:tgtEl>
                                          <p:spTgt spid="63"/>
                                        </p:tgtEl>
                                        <p:attrNameLst>
                                          <p:attrName>style.visibility</p:attrName>
                                        </p:attrNameLst>
                                      </p:cBhvr>
                                      <p:to>
                                        <p:strVal val="hidden"/>
                                      </p:to>
                                    </p:set>
                                  </p:childTnLst>
                                </p:cTn>
                              </p:par>
                            </p:childTnLst>
                          </p:cTn>
                        </p:par>
                      </p:childTnLst>
                    </p:cTn>
                  </p:par>
                </p:childTnLst>
              </p:cTn>
              <p:nextCondLst>
                <p:cond evt="onClick" delay="0">
                  <p:tgtEl>
                    <p:spTgt spid="63"/>
                  </p:tgtEl>
                </p:cond>
              </p:nextCondLst>
            </p:seq>
            <p:seq concurrent="1" nextAc="seek">
              <p:cTn id="8" restart="whenNotActive" fill="hold" evtFilter="cancelBubble" nodeType="interactiveSeq">
                <p:stCondLst>
                  <p:cond evt="onClick" delay="0">
                    <p:tgtEl>
                      <p:spTgt spid="6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64"/>
                                        </p:tgtEl>
                                      </p:cBhvr>
                                    </p:animEffect>
                                    <p:set>
                                      <p:cBhvr>
                                        <p:cTn id="13" dur="1" fill="hold">
                                          <p:stCondLst>
                                            <p:cond delay="499"/>
                                          </p:stCondLst>
                                        </p:cTn>
                                        <p:tgtEl>
                                          <p:spTgt spid="64"/>
                                        </p:tgtEl>
                                        <p:attrNameLst>
                                          <p:attrName>style.visibility</p:attrName>
                                        </p:attrNameLst>
                                      </p:cBhvr>
                                      <p:to>
                                        <p:strVal val="hidden"/>
                                      </p:to>
                                    </p:set>
                                  </p:childTnLst>
                                </p:cTn>
                              </p:par>
                            </p:childTnLst>
                          </p:cTn>
                        </p:par>
                      </p:childTnLst>
                    </p:cTn>
                  </p:par>
                </p:childTnLst>
              </p:cTn>
              <p:nextCondLst>
                <p:cond evt="onClick" delay="0">
                  <p:tgtEl>
                    <p:spTgt spid="64"/>
                  </p:tgtEl>
                </p:cond>
              </p:nextCondLst>
            </p:seq>
            <p:seq concurrent="1" nextAc="seek">
              <p:cTn id="14" restart="whenNotActive" fill="hold" evtFilter="cancelBubble" nodeType="interactiveSeq">
                <p:stCondLst>
                  <p:cond evt="onClick" delay="0">
                    <p:tgtEl>
                      <p:spTgt spid="65"/>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65"/>
                                        </p:tgtEl>
                                      </p:cBhvr>
                                    </p:animEffect>
                                    <p:set>
                                      <p:cBhvr>
                                        <p:cTn id="19" dur="1" fill="hold">
                                          <p:stCondLst>
                                            <p:cond delay="499"/>
                                          </p:stCondLst>
                                        </p:cTn>
                                        <p:tgtEl>
                                          <p:spTgt spid="65"/>
                                        </p:tgtEl>
                                        <p:attrNameLst>
                                          <p:attrName>style.visibility</p:attrName>
                                        </p:attrNameLst>
                                      </p:cBhvr>
                                      <p:to>
                                        <p:strVal val="hidden"/>
                                      </p:to>
                                    </p:set>
                                  </p:childTnLst>
                                </p:cTn>
                              </p:par>
                            </p:childTnLst>
                          </p:cTn>
                        </p:par>
                      </p:childTnLst>
                    </p:cTn>
                  </p:par>
                </p:childTnLst>
              </p:cTn>
              <p:nextCondLst>
                <p:cond evt="onClick" delay="0">
                  <p:tgtEl>
                    <p:spTgt spid="65"/>
                  </p:tgtEl>
                </p:cond>
              </p:nextCondLst>
            </p:seq>
          </p:childTnLst>
        </p:cTn>
      </p:par>
    </p:tnLst>
    <p:bldLst>
      <p:bldP spid="63" grpId="0" animBg="1"/>
      <p:bldP spid="64" grpId="0" animBg="1"/>
      <p:bldP spid="6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Evaluating if a linear model is most suitable</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467544" y="980728"/>
                <a:ext cx="7056784" cy="1200329"/>
              </a:xfrm>
              <a:prstGeom prst="rect">
                <a:avLst/>
              </a:prstGeom>
              <a:noFill/>
            </p:spPr>
            <p:txBody>
              <a:bodyPr wrap="square" rtlCol="0">
                <a:spAutoFit/>
              </a:bodyPr>
              <a:lstStyle/>
              <a:p>
                <a:r>
                  <a:rPr lang="en-GB" dirty="0"/>
                  <a:t>Choosing a model for our data usually involves making </a:t>
                </a:r>
                <a:r>
                  <a:rPr lang="en-GB" b="1" dirty="0"/>
                  <a:t>simplifying assumptions</a:t>
                </a:r>
                <a:r>
                  <a:rPr lang="en-GB" dirty="0"/>
                  <a:t>. For a linear model we are assuming:</a:t>
                </a:r>
              </a:p>
              <a:p>
                <a:endParaRPr lang="en-GB" dirty="0"/>
              </a:p>
              <a:p>
                <a:r>
                  <a:rPr lang="en-GB" dirty="0"/>
                  <a:t>The </a:t>
                </a:r>
                <a14:m>
                  <m:oMath xmlns:m="http://schemas.openxmlformats.org/officeDocument/2006/math">
                    <m:r>
                      <a:rPr lang="en-GB" b="0" i="1" smtClean="0">
                        <a:latin typeface="Cambria Math" panose="02040503050406030204" pitchFamily="18" charset="0"/>
                      </a:rPr>
                      <m:t>𝑦</m:t>
                    </m:r>
                  </m:oMath>
                </a14:m>
                <a:r>
                  <a:rPr lang="en-GB" dirty="0"/>
                  <a:t> value goes up the same amount for each unit increase in </a:t>
                </a:r>
                <a14:m>
                  <m:oMath xmlns:m="http://schemas.openxmlformats.org/officeDocument/2006/math">
                    <m:r>
                      <a:rPr lang="en-GB" b="0" i="1" smtClean="0">
                        <a:latin typeface="Cambria Math" panose="02040503050406030204" pitchFamily="18" charset="0"/>
                      </a:rPr>
                      <m:t>𝑥</m:t>
                    </m:r>
                  </m:oMath>
                </a14:m>
                <a:r>
                  <a:rPr lang="en-GB"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467544" y="980728"/>
                <a:ext cx="7056784" cy="1200329"/>
              </a:xfrm>
              <a:prstGeom prst="rect">
                <a:avLst/>
              </a:prstGeom>
              <a:blipFill>
                <a:blip r:embed="rId2"/>
                <a:stretch>
                  <a:fillRect l="-778" t="-3046" b="-7107"/>
                </a:stretch>
              </a:blipFill>
            </p:spPr>
            <p:txBody>
              <a:bodyPr/>
              <a:lstStyle/>
              <a:p>
                <a:r>
                  <a:rPr lang="en-GB">
                    <a:noFill/>
                  </a:rPr>
                  <a:t> </a:t>
                </a:r>
              </a:p>
            </p:txBody>
          </p:sp>
        </mc:Fallback>
      </mc:AlternateContent>
      <p:sp>
        <p:nvSpPr>
          <p:cNvPr id="6" name="TextBox 5"/>
          <p:cNvSpPr txBox="1"/>
          <p:nvPr/>
        </p:nvSpPr>
        <p:spPr>
          <a:xfrm>
            <a:off x="600927" y="4690827"/>
            <a:ext cx="7056784" cy="369332"/>
          </a:xfrm>
          <a:prstGeom prst="rect">
            <a:avLst/>
          </a:prstGeom>
          <a:noFill/>
        </p:spPr>
        <p:txBody>
          <a:bodyPr wrap="square" rtlCol="0">
            <a:spAutoFit/>
          </a:bodyPr>
          <a:lstStyle/>
          <a:p>
            <a:r>
              <a:rPr lang="en-GB" dirty="0"/>
              <a:t>The population is unlikely to increase by the same amount each year. </a:t>
            </a:r>
          </a:p>
        </p:txBody>
      </p:sp>
      <mc:AlternateContent xmlns:mc="http://schemas.openxmlformats.org/markup-compatibility/2006" xmlns:a14="http://schemas.microsoft.com/office/drawing/2010/main">
        <mc:Choice Requires="a14">
          <p:sp>
            <p:nvSpPr>
              <p:cNvPr id="7" name="Rectangle 6"/>
              <p:cNvSpPr/>
              <p:nvPr/>
            </p:nvSpPr>
            <p:spPr>
              <a:xfrm>
                <a:off x="596089" y="2785201"/>
                <a:ext cx="7632848" cy="1754326"/>
              </a:xfrm>
              <a:prstGeom prst="rect">
                <a:avLst/>
              </a:prstGeom>
              <a:solidFill>
                <a:schemeClr val="bg1"/>
              </a:solidFill>
              <a:effectLst>
                <a:outerShdw blurRad="63500" sx="102000" sy="102000" algn="ctr" rotWithShape="0">
                  <a:prstClr val="black">
                    <a:alpha val="40000"/>
                  </a:prstClr>
                </a:outerShdw>
              </a:effectLst>
            </p:spPr>
            <p:txBody>
              <a:bodyPr wrap="square">
                <a:spAutoFit/>
              </a:bodyPr>
              <a:lstStyle/>
              <a:p>
                <a:r>
                  <a:rPr lang="en-GB" dirty="0"/>
                  <a:t>The current population of Bickerstonia is 26000. This year (2017) the population increased by 150. Matt decides to model the population </a:t>
                </a:r>
                <a14:m>
                  <m:oMath xmlns:m="http://schemas.openxmlformats.org/officeDocument/2006/math">
                    <m:r>
                      <a:rPr lang="en-GB" i="1">
                        <a:latin typeface="Cambria Math" panose="02040503050406030204" pitchFamily="18" charset="0"/>
                      </a:rPr>
                      <m:t>𝑃</m:t>
                    </m:r>
                  </m:oMath>
                </a14:m>
                <a:r>
                  <a:rPr lang="en-GB" dirty="0"/>
                  <a:t> based on the years </a:t>
                </a:r>
                <a14:m>
                  <m:oMath xmlns:m="http://schemas.openxmlformats.org/officeDocument/2006/math">
                    <m:r>
                      <a:rPr lang="en-GB" i="1">
                        <a:latin typeface="Cambria Math" panose="02040503050406030204" pitchFamily="18" charset="0"/>
                      </a:rPr>
                      <m:t>𝑡</m:t>
                    </m:r>
                  </m:oMath>
                </a14:m>
                <a:r>
                  <a:rPr lang="en-GB" dirty="0"/>
                  <a:t> after 2017 by the linear model:</a:t>
                </a:r>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𝑃</m:t>
                      </m:r>
                      <m:r>
                        <a:rPr lang="en-GB" i="1">
                          <a:latin typeface="Cambria Math" panose="02040503050406030204" pitchFamily="18" charset="0"/>
                        </a:rPr>
                        <m:t>=</m:t>
                      </m:r>
                      <m:r>
                        <a:rPr lang="en-GB" i="1">
                          <a:latin typeface="Cambria Math" panose="02040503050406030204" pitchFamily="18" charset="0"/>
                        </a:rPr>
                        <m:t>𝑚𝑡</m:t>
                      </m:r>
                      <m:r>
                        <a:rPr lang="en-GB" i="1">
                          <a:latin typeface="Cambria Math" panose="02040503050406030204" pitchFamily="18" charset="0"/>
                        </a:rPr>
                        <m:t>+</m:t>
                      </m:r>
                      <m:r>
                        <a:rPr lang="en-GB" i="1">
                          <a:latin typeface="Cambria Math" panose="02040503050406030204" pitchFamily="18" charset="0"/>
                        </a:rPr>
                        <m:t>𝑐</m:t>
                      </m:r>
                    </m:oMath>
                  </m:oMathPara>
                </a14:m>
                <a:endParaRPr lang="en-GB" dirty="0"/>
              </a:p>
              <a:p>
                <a:endParaRPr lang="en-GB" dirty="0"/>
              </a:p>
              <a:p>
                <a:r>
                  <a:rPr lang="en-GB" dirty="0"/>
                  <a:t>Why might this not be a suitable model?</a:t>
                </a:r>
              </a:p>
            </p:txBody>
          </p:sp>
        </mc:Choice>
        <mc:Fallback xmlns="">
          <p:sp>
            <p:nvSpPr>
              <p:cNvPr id="7" name="Rectangle 6"/>
              <p:cNvSpPr>
                <a:spLocks noRot="1" noChangeAspect="1" noMove="1" noResize="1" noEditPoints="1" noAdjustHandles="1" noChangeArrowheads="1" noChangeShapeType="1" noTextEdit="1"/>
              </p:cNvSpPr>
              <p:nvPr/>
            </p:nvSpPr>
            <p:spPr>
              <a:xfrm>
                <a:off x="596089" y="2785201"/>
                <a:ext cx="7632848" cy="1754326"/>
              </a:xfrm>
              <a:prstGeom prst="rect">
                <a:avLst/>
              </a:prstGeom>
              <a:blipFill>
                <a:blip r:embed="rId3"/>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8" name="TextBox 7"/>
          <p:cNvSpPr txBox="1"/>
          <p:nvPr/>
        </p:nvSpPr>
        <p:spPr>
          <a:xfrm>
            <a:off x="6768244" y="5283445"/>
            <a:ext cx="1512168" cy="646331"/>
          </a:xfrm>
          <a:prstGeom prst="rect">
            <a:avLst/>
          </a:prstGeom>
          <a:noFill/>
        </p:spPr>
        <p:txBody>
          <a:bodyPr wrap="square" rtlCol="0">
            <a:spAutoFit/>
          </a:bodyPr>
          <a:lstStyle/>
          <a:p>
            <a:r>
              <a:rPr lang="en-GB" sz="1200" dirty="0"/>
              <a:t>i.e. the assumption of a linear model is violated.</a:t>
            </a:r>
          </a:p>
        </p:txBody>
      </p:sp>
      <p:cxnSp>
        <p:nvCxnSpPr>
          <p:cNvPr id="10" name="Straight Arrow Connector 9"/>
          <p:cNvCxnSpPr>
            <a:stCxn id="8" idx="1"/>
          </p:cNvCxnSpPr>
          <p:nvPr/>
        </p:nvCxnSpPr>
        <p:spPr>
          <a:xfrm flipH="1" flipV="1">
            <a:off x="6157863" y="5116824"/>
            <a:ext cx="610381" cy="4897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2220888" y="5437587"/>
                <a:ext cx="4318136" cy="1015663"/>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200" b="1" dirty="0"/>
                  <a:t>Note:</a:t>
                </a:r>
                <a:r>
                  <a:rPr lang="en-GB" sz="1200" dirty="0"/>
                  <a:t> Population tends to grow/decline by a percentage each year. Therefore a better model would be an </a:t>
                </a:r>
                <a:r>
                  <a:rPr lang="en-GB" sz="1200" b="1" dirty="0"/>
                  <a:t>exponential</a:t>
                </a:r>
                <a:r>
                  <a:rPr lang="en-GB" sz="1200" dirty="0"/>
                  <a:t> function </a:t>
                </a:r>
                <a14:m>
                  <m:oMath xmlns:m="http://schemas.openxmlformats.org/officeDocument/2006/math">
                    <m:r>
                      <a:rPr lang="en-GB" sz="1200" b="0" i="1" smtClean="0">
                        <a:latin typeface="Cambria Math" panose="02040503050406030204" pitchFamily="18" charset="0"/>
                      </a:rPr>
                      <m:t>𝑃</m:t>
                    </m:r>
                    <m:r>
                      <a:rPr lang="en-GB" sz="1200" b="0" i="1" smtClean="0">
                        <a:latin typeface="Cambria Math" panose="02040503050406030204" pitchFamily="18" charset="0"/>
                      </a:rPr>
                      <m:t>=</m:t>
                    </m:r>
                    <m:r>
                      <a:rPr lang="en-GB" sz="1200" b="0" i="1" smtClean="0">
                        <a:latin typeface="Cambria Math" panose="02040503050406030204" pitchFamily="18" charset="0"/>
                      </a:rPr>
                      <m:t>𝑎</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𝑏</m:t>
                        </m:r>
                      </m:e>
                      <m:sup>
                        <m:r>
                          <a:rPr lang="en-GB" sz="1200" b="0" i="1" smtClean="0">
                            <a:latin typeface="Cambria Math" panose="02040503050406030204" pitchFamily="18" charset="0"/>
                          </a:rPr>
                          <m:t>𝑡</m:t>
                        </m:r>
                      </m:sup>
                    </m:sSup>
                  </m:oMath>
                </a14:m>
                <a:r>
                  <a:rPr lang="en-GB" sz="1200" dirty="0"/>
                  <a:t> where </a:t>
                </a:r>
                <a14:m>
                  <m:oMath xmlns:m="http://schemas.openxmlformats.org/officeDocument/2006/math">
                    <m:r>
                      <a:rPr lang="en-GB" sz="1200" b="0" i="1" smtClean="0">
                        <a:latin typeface="Cambria Math" panose="02040503050406030204" pitchFamily="18" charset="0"/>
                      </a:rPr>
                      <m:t>𝑎</m:t>
                    </m:r>
                    <m:r>
                      <a:rPr lang="en-GB" sz="1200" b="0" i="1" smtClean="0">
                        <a:latin typeface="Cambria Math" panose="02040503050406030204" pitchFamily="18" charset="0"/>
                      </a:rPr>
                      <m:t>,</m:t>
                    </m:r>
                    <m:r>
                      <a:rPr lang="en-GB" sz="1200" b="0" i="1" smtClean="0">
                        <a:latin typeface="Cambria Math" panose="02040503050406030204" pitchFamily="18" charset="0"/>
                      </a:rPr>
                      <m:t>𝑏</m:t>
                    </m:r>
                  </m:oMath>
                </a14:m>
                <a:r>
                  <a:rPr lang="en-GB" sz="1200" dirty="0"/>
                  <a:t> are constants. The </a:t>
                </a:r>
                <a14:m>
                  <m:oMath xmlns:m="http://schemas.openxmlformats.org/officeDocument/2006/math">
                    <m:r>
                      <a:rPr lang="en-GB" sz="1200" b="0" i="1" smtClean="0">
                        <a:latin typeface="Cambria Math" panose="02040503050406030204" pitchFamily="18" charset="0"/>
                      </a:rPr>
                      <m:t>𝑎</m:t>
                    </m:r>
                  </m:oMath>
                </a14:m>
                <a:r>
                  <a:rPr lang="en-GB" sz="1200" dirty="0"/>
                  <a:t> would be the initial population and the </a:t>
                </a:r>
                <a14:m>
                  <m:oMath xmlns:m="http://schemas.openxmlformats.org/officeDocument/2006/math">
                    <m:r>
                      <a:rPr lang="en-GB" sz="1200" b="0" i="1" smtClean="0">
                        <a:latin typeface="Cambria Math" panose="02040503050406030204" pitchFamily="18" charset="0"/>
                      </a:rPr>
                      <m:t>𝑏</m:t>
                    </m:r>
                  </m:oMath>
                </a14:m>
                <a:r>
                  <a:rPr lang="en-GB" sz="1200" dirty="0"/>
                  <a:t> the factor increase each year, e.g. </a:t>
                </a:r>
                <a14:m>
                  <m:oMath xmlns:m="http://schemas.openxmlformats.org/officeDocument/2006/math">
                    <m:r>
                      <a:rPr lang="en-GB" sz="1200" b="0" i="1" smtClean="0">
                        <a:latin typeface="Cambria Math" panose="02040503050406030204" pitchFamily="18" charset="0"/>
                      </a:rPr>
                      <m:t>𝑏</m:t>
                    </m:r>
                    <m:r>
                      <a:rPr lang="en-GB" sz="1200" b="0" i="1" smtClean="0">
                        <a:latin typeface="Cambria Math" panose="02040503050406030204" pitchFamily="18" charset="0"/>
                      </a:rPr>
                      <m:t>=1.1</m:t>
                    </m:r>
                  </m:oMath>
                </a14:m>
                <a:r>
                  <a:rPr lang="en-GB" sz="1200" dirty="0"/>
                  <a:t> would be a 10% annual growth.</a:t>
                </a:r>
              </a:p>
            </p:txBody>
          </p:sp>
        </mc:Choice>
        <mc:Fallback xmlns="">
          <p:sp>
            <p:nvSpPr>
              <p:cNvPr id="11" name="TextBox 10"/>
              <p:cNvSpPr txBox="1">
                <a:spLocks noRot="1" noChangeAspect="1" noMove="1" noResize="1" noEditPoints="1" noAdjustHandles="1" noChangeArrowheads="1" noChangeShapeType="1" noTextEdit="1"/>
              </p:cNvSpPr>
              <p:nvPr/>
            </p:nvSpPr>
            <p:spPr>
              <a:xfrm>
                <a:off x="2220888" y="5437587"/>
                <a:ext cx="4318136" cy="1015663"/>
              </a:xfrm>
              <a:prstGeom prst="rect">
                <a:avLst/>
              </a:prstGeom>
              <a:blipFill>
                <a:blip r:embed="rId4"/>
                <a:stretch>
                  <a:fillRect r="-281" b="-2339"/>
                </a:stretch>
              </a:blipFill>
            </p:spPr>
            <p:txBody>
              <a:bodyPr/>
              <a:lstStyle/>
              <a:p>
                <a:r>
                  <a:rPr lang="en-GB">
                    <a:noFill/>
                  </a:rPr>
                  <a:t> </a:t>
                </a:r>
              </a:p>
            </p:txBody>
          </p:sp>
        </mc:Fallback>
      </mc:AlternateContent>
      <p:sp>
        <p:nvSpPr>
          <p:cNvPr id="12" name="Rectangle 11"/>
          <p:cNvSpPr/>
          <p:nvPr/>
        </p:nvSpPr>
        <p:spPr>
          <a:xfrm>
            <a:off x="596090" y="4690827"/>
            <a:ext cx="7684322" cy="202401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285210831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5H – Pure Y1 Page 106-108</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0E31FA83-5AA4-E4F1-768B-B8EA3D67E3E7}"/>
              </a:ext>
            </a:extLst>
          </p:cNvPr>
          <p:cNvPicPr>
            <a:picLocks noChangeAspect="1"/>
          </p:cNvPicPr>
          <p:nvPr/>
        </p:nvPicPr>
        <p:blipFill>
          <a:blip r:embed="rId2"/>
          <a:stretch>
            <a:fillRect/>
          </a:stretch>
        </p:blipFill>
        <p:spPr>
          <a:xfrm>
            <a:off x="107504" y="599127"/>
            <a:ext cx="7772400" cy="850824"/>
          </a:xfrm>
          <a:prstGeom prst="rect">
            <a:avLst/>
          </a:prstGeom>
        </p:spPr>
      </p:pic>
      <p:pic>
        <p:nvPicPr>
          <p:cNvPr id="6" name="Picture 5">
            <a:extLst>
              <a:ext uri="{FF2B5EF4-FFF2-40B4-BE49-F238E27FC236}">
                <a16:creationId xmlns:a16="http://schemas.microsoft.com/office/drawing/2014/main" id="{F95AAB4B-01ED-94D3-5F6E-E209FFDCD905}"/>
              </a:ext>
            </a:extLst>
          </p:cNvPr>
          <p:cNvPicPr>
            <a:picLocks noChangeAspect="1"/>
          </p:cNvPicPr>
          <p:nvPr/>
        </p:nvPicPr>
        <p:blipFill>
          <a:blip r:embed="rId3"/>
          <a:stretch>
            <a:fillRect/>
          </a:stretch>
        </p:blipFill>
        <p:spPr>
          <a:xfrm>
            <a:off x="323528" y="1437406"/>
            <a:ext cx="4824536" cy="1269614"/>
          </a:xfrm>
          <a:prstGeom prst="rect">
            <a:avLst/>
          </a:prstGeom>
        </p:spPr>
      </p:pic>
      <p:pic>
        <p:nvPicPr>
          <p:cNvPr id="8" name="Picture 7">
            <a:extLst>
              <a:ext uri="{FF2B5EF4-FFF2-40B4-BE49-F238E27FC236}">
                <a16:creationId xmlns:a16="http://schemas.microsoft.com/office/drawing/2014/main" id="{7BF6F5B2-7691-ACB8-DA06-8EEBCA4BD99A}"/>
              </a:ext>
            </a:extLst>
          </p:cNvPr>
          <p:cNvPicPr>
            <a:picLocks noChangeAspect="1"/>
          </p:cNvPicPr>
          <p:nvPr/>
        </p:nvPicPr>
        <p:blipFill>
          <a:blip r:embed="rId4"/>
          <a:stretch>
            <a:fillRect/>
          </a:stretch>
        </p:blipFill>
        <p:spPr>
          <a:xfrm>
            <a:off x="323527" y="2852936"/>
            <a:ext cx="3957031" cy="2664296"/>
          </a:xfrm>
          <a:prstGeom prst="rect">
            <a:avLst/>
          </a:prstGeom>
        </p:spPr>
      </p:pic>
      <p:pic>
        <p:nvPicPr>
          <p:cNvPr id="9" name="Picture 8">
            <a:extLst>
              <a:ext uri="{FF2B5EF4-FFF2-40B4-BE49-F238E27FC236}">
                <a16:creationId xmlns:a16="http://schemas.microsoft.com/office/drawing/2014/main" id="{64547C09-0221-BFCE-3A83-D08B277E195A}"/>
              </a:ext>
            </a:extLst>
          </p:cNvPr>
          <p:cNvPicPr>
            <a:picLocks noChangeAspect="1"/>
          </p:cNvPicPr>
          <p:nvPr/>
        </p:nvPicPr>
        <p:blipFill>
          <a:blip r:embed="rId5"/>
          <a:stretch>
            <a:fillRect/>
          </a:stretch>
        </p:blipFill>
        <p:spPr>
          <a:xfrm>
            <a:off x="467544" y="5724156"/>
            <a:ext cx="3302000" cy="546100"/>
          </a:xfrm>
          <a:prstGeom prst="rect">
            <a:avLst/>
          </a:prstGeom>
        </p:spPr>
      </p:pic>
      <p:grpSp>
        <p:nvGrpSpPr>
          <p:cNvPr id="16" name="Group 15">
            <a:extLst>
              <a:ext uri="{FF2B5EF4-FFF2-40B4-BE49-F238E27FC236}">
                <a16:creationId xmlns:a16="http://schemas.microsoft.com/office/drawing/2014/main" id="{3E7EA334-A29F-B7CB-5F04-442268E8B3C8}"/>
              </a:ext>
            </a:extLst>
          </p:cNvPr>
          <p:cNvGrpSpPr/>
          <p:nvPr/>
        </p:nvGrpSpPr>
        <p:grpSpPr>
          <a:xfrm>
            <a:off x="4613853" y="2850899"/>
            <a:ext cx="3558547" cy="1587876"/>
            <a:chOff x="3924620" y="2850899"/>
            <a:chExt cx="3558547" cy="1587876"/>
          </a:xfrm>
        </p:grpSpPr>
        <p:grpSp>
          <p:nvGrpSpPr>
            <p:cNvPr id="15" name="Group 14">
              <a:extLst>
                <a:ext uri="{FF2B5EF4-FFF2-40B4-BE49-F238E27FC236}">
                  <a16:creationId xmlns:a16="http://schemas.microsoft.com/office/drawing/2014/main" id="{5119E222-B3CA-9B06-D9BE-7B5D2C9E8A92}"/>
                </a:ext>
              </a:extLst>
            </p:cNvPr>
            <p:cNvGrpSpPr/>
            <p:nvPr/>
          </p:nvGrpSpPr>
          <p:grpSpPr>
            <a:xfrm>
              <a:off x="3924620" y="2850899"/>
              <a:ext cx="3558547" cy="588805"/>
              <a:chOff x="3924620" y="2850899"/>
              <a:chExt cx="3558547" cy="588805"/>
            </a:xfrm>
          </p:grpSpPr>
          <p:pic>
            <p:nvPicPr>
              <p:cNvPr id="10" name="Picture 9">
                <a:extLst>
                  <a:ext uri="{FF2B5EF4-FFF2-40B4-BE49-F238E27FC236}">
                    <a16:creationId xmlns:a16="http://schemas.microsoft.com/office/drawing/2014/main" id="{8867C671-AD9E-592C-D2DF-BF7354666AB5}"/>
                  </a:ext>
                </a:extLst>
              </p:cNvPr>
              <p:cNvPicPr>
                <a:picLocks noChangeAspect="1"/>
              </p:cNvPicPr>
              <p:nvPr/>
            </p:nvPicPr>
            <p:blipFill>
              <a:blip r:embed="rId6"/>
              <a:stretch>
                <a:fillRect/>
              </a:stretch>
            </p:blipFill>
            <p:spPr>
              <a:xfrm>
                <a:off x="3924620" y="2893604"/>
                <a:ext cx="1905000" cy="546100"/>
              </a:xfrm>
              <a:prstGeom prst="rect">
                <a:avLst/>
              </a:prstGeom>
            </p:spPr>
          </p:pic>
          <p:pic>
            <p:nvPicPr>
              <p:cNvPr id="11" name="Picture 10">
                <a:extLst>
                  <a:ext uri="{FF2B5EF4-FFF2-40B4-BE49-F238E27FC236}">
                    <a16:creationId xmlns:a16="http://schemas.microsoft.com/office/drawing/2014/main" id="{6C34F0A2-28EE-2A4B-FA3E-D0C765D45A87}"/>
                  </a:ext>
                </a:extLst>
              </p:cNvPr>
              <p:cNvPicPr>
                <a:picLocks noChangeAspect="1"/>
              </p:cNvPicPr>
              <p:nvPr/>
            </p:nvPicPr>
            <p:blipFill>
              <a:blip r:embed="rId7"/>
              <a:stretch>
                <a:fillRect/>
              </a:stretch>
            </p:blipFill>
            <p:spPr>
              <a:xfrm>
                <a:off x="5796136" y="2850899"/>
                <a:ext cx="1079500" cy="546100"/>
              </a:xfrm>
              <a:prstGeom prst="rect">
                <a:avLst/>
              </a:prstGeom>
            </p:spPr>
          </p:pic>
          <p:pic>
            <p:nvPicPr>
              <p:cNvPr id="12" name="Picture 11">
                <a:extLst>
                  <a:ext uri="{FF2B5EF4-FFF2-40B4-BE49-F238E27FC236}">
                    <a16:creationId xmlns:a16="http://schemas.microsoft.com/office/drawing/2014/main" id="{8D20CE11-E6BF-BF4E-755B-94770D323979}"/>
                  </a:ext>
                </a:extLst>
              </p:cNvPr>
              <p:cNvPicPr>
                <a:picLocks noChangeAspect="1"/>
              </p:cNvPicPr>
              <p:nvPr/>
            </p:nvPicPr>
            <p:blipFill>
              <a:blip r:embed="rId8"/>
              <a:stretch>
                <a:fillRect/>
              </a:stretch>
            </p:blipFill>
            <p:spPr>
              <a:xfrm>
                <a:off x="6860867" y="2983063"/>
                <a:ext cx="622300" cy="266700"/>
              </a:xfrm>
              <a:prstGeom prst="rect">
                <a:avLst/>
              </a:prstGeom>
            </p:spPr>
          </p:pic>
        </p:grpSp>
        <p:pic>
          <p:nvPicPr>
            <p:cNvPr id="13" name="Picture 12">
              <a:extLst>
                <a:ext uri="{FF2B5EF4-FFF2-40B4-BE49-F238E27FC236}">
                  <a16:creationId xmlns:a16="http://schemas.microsoft.com/office/drawing/2014/main" id="{B2C0A94A-FD1E-6A36-DFD5-F7834A6F1520}"/>
                </a:ext>
              </a:extLst>
            </p:cNvPr>
            <p:cNvPicPr>
              <a:picLocks noChangeAspect="1"/>
            </p:cNvPicPr>
            <p:nvPr/>
          </p:nvPicPr>
          <p:blipFill>
            <a:blip r:embed="rId9"/>
            <a:stretch>
              <a:fillRect/>
            </a:stretch>
          </p:blipFill>
          <p:spPr>
            <a:xfrm>
              <a:off x="4125714" y="3422775"/>
              <a:ext cx="2044700" cy="1016000"/>
            </a:xfrm>
            <a:prstGeom prst="rect">
              <a:avLst/>
            </a:prstGeom>
          </p:spPr>
        </p:pic>
      </p:grpSp>
      <p:pic>
        <p:nvPicPr>
          <p:cNvPr id="14" name="Picture 13">
            <a:extLst>
              <a:ext uri="{FF2B5EF4-FFF2-40B4-BE49-F238E27FC236}">
                <a16:creationId xmlns:a16="http://schemas.microsoft.com/office/drawing/2014/main" id="{75CB0386-B001-12C0-B39B-09E5C9ABB979}"/>
              </a:ext>
            </a:extLst>
          </p:cNvPr>
          <p:cNvPicPr>
            <a:picLocks noChangeAspect="1"/>
          </p:cNvPicPr>
          <p:nvPr/>
        </p:nvPicPr>
        <p:blipFill>
          <a:blip r:embed="rId10"/>
          <a:stretch>
            <a:fillRect/>
          </a:stretch>
        </p:blipFill>
        <p:spPr>
          <a:xfrm>
            <a:off x="4641800" y="4520158"/>
            <a:ext cx="3530600" cy="2108200"/>
          </a:xfrm>
          <a:prstGeom prst="rect">
            <a:avLst/>
          </a:prstGeom>
        </p:spPr>
      </p:pic>
      <p:sp>
        <p:nvSpPr>
          <p:cNvPr id="17" name="Rectangle 16">
            <a:extLst>
              <a:ext uri="{FF2B5EF4-FFF2-40B4-BE49-F238E27FC236}">
                <a16:creationId xmlns:a16="http://schemas.microsoft.com/office/drawing/2014/main" id="{E95412AF-0606-FA4D-1033-7E247340764E}"/>
              </a:ext>
            </a:extLst>
          </p:cNvPr>
          <p:cNvSpPr/>
          <p:nvPr/>
        </p:nvSpPr>
        <p:spPr>
          <a:xfrm>
            <a:off x="395536" y="2825145"/>
            <a:ext cx="3830597" cy="267469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 </a:t>
            </a:r>
          </a:p>
        </p:txBody>
      </p:sp>
      <p:sp>
        <p:nvSpPr>
          <p:cNvPr id="18" name="Rectangle 17">
            <a:extLst>
              <a:ext uri="{FF2B5EF4-FFF2-40B4-BE49-F238E27FC236}">
                <a16:creationId xmlns:a16="http://schemas.microsoft.com/office/drawing/2014/main" id="{B40FD7C6-1ACA-56A5-5ECB-D10FD97DD2F9}"/>
              </a:ext>
            </a:extLst>
          </p:cNvPr>
          <p:cNvSpPr/>
          <p:nvPr/>
        </p:nvSpPr>
        <p:spPr>
          <a:xfrm>
            <a:off x="395536" y="5610870"/>
            <a:ext cx="3830597" cy="105410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 </a:t>
            </a:r>
          </a:p>
        </p:txBody>
      </p:sp>
      <p:sp>
        <p:nvSpPr>
          <p:cNvPr id="19" name="Rectangle 18">
            <a:extLst>
              <a:ext uri="{FF2B5EF4-FFF2-40B4-BE49-F238E27FC236}">
                <a16:creationId xmlns:a16="http://schemas.microsoft.com/office/drawing/2014/main" id="{1C80516B-FADE-EE95-AE0E-BBE43B61C216}"/>
              </a:ext>
            </a:extLst>
          </p:cNvPr>
          <p:cNvSpPr/>
          <p:nvPr/>
        </p:nvSpPr>
        <p:spPr>
          <a:xfrm>
            <a:off x="4641800" y="2813632"/>
            <a:ext cx="3830597" cy="162514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c? </a:t>
            </a:r>
          </a:p>
        </p:txBody>
      </p:sp>
      <p:sp>
        <p:nvSpPr>
          <p:cNvPr id="20" name="Rectangle 19">
            <a:extLst>
              <a:ext uri="{FF2B5EF4-FFF2-40B4-BE49-F238E27FC236}">
                <a16:creationId xmlns:a16="http://schemas.microsoft.com/office/drawing/2014/main" id="{5A6733E0-833F-A623-F9C5-D0DF83642D10}"/>
              </a:ext>
            </a:extLst>
          </p:cNvPr>
          <p:cNvSpPr/>
          <p:nvPr/>
        </p:nvSpPr>
        <p:spPr>
          <a:xfrm>
            <a:off x="4641800" y="4512776"/>
            <a:ext cx="3830597" cy="121138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d? </a:t>
            </a:r>
          </a:p>
        </p:txBody>
      </p:sp>
      <p:sp>
        <p:nvSpPr>
          <p:cNvPr id="21" name="Rectangle 20">
            <a:extLst>
              <a:ext uri="{FF2B5EF4-FFF2-40B4-BE49-F238E27FC236}">
                <a16:creationId xmlns:a16="http://schemas.microsoft.com/office/drawing/2014/main" id="{6FA12B9A-42B2-A234-685B-E9C62EF9096F}"/>
              </a:ext>
            </a:extLst>
          </p:cNvPr>
          <p:cNvSpPr/>
          <p:nvPr/>
        </p:nvSpPr>
        <p:spPr>
          <a:xfrm>
            <a:off x="4641799" y="5820640"/>
            <a:ext cx="3830597" cy="84433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e? </a:t>
            </a:r>
          </a:p>
        </p:txBody>
      </p:sp>
    </p:spTree>
    <p:extLst>
      <p:ext uri="{BB962C8B-B14F-4D97-AF65-F5344CB8AC3E}">
        <p14:creationId xmlns:p14="http://schemas.microsoft.com/office/powerpoint/2010/main" val="338028364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7"/>
                                        </p:tgtEl>
                                      </p:cBhvr>
                                    </p:animEffect>
                                    <p:set>
                                      <p:cBhvr>
                                        <p:cTn id="7"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8"/>
                                        </p:tgtEl>
                                      </p:cBhvr>
                                    </p:animEffect>
                                    <p:set>
                                      <p:cBhvr>
                                        <p:cTn id="13"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14" restart="whenNotActive" fill="hold" evtFilter="cancelBubble" nodeType="interactiveSeq">
                <p:stCondLst>
                  <p:cond evt="onClick" delay="0">
                    <p:tgtEl>
                      <p:spTgt spid="19"/>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9"/>
                                        </p:tgtEl>
                                      </p:cBhvr>
                                    </p:animEffect>
                                    <p:set>
                                      <p:cBhvr>
                                        <p:cTn id="19"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20" restart="whenNotActive" fill="hold" evtFilter="cancelBubble" nodeType="interactiveSeq">
                <p:stCondLst>
                  <p:cond evt="onClick" delay="0">
                    <p:tgtEl>
                      <p:spTgt spid="20"/>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20"/>
                                        </p:tgtEl>
                                      </p:cBhvr>
                                    </p:animEffect>
                                    <p:set>
                                      <p:cBhvr>
                                        <p:cTn id="25"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26" restart="whenNotActive" fill="hold" evtFilter="cancelBubble" nodeType="interactiveSeq">
                <p:stCondLst>
                  <p:cond evt="onClick" delay="0">
                    <p:tgtEl>
                      <p:spTgt spid="21"/>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21"/>
                                        </p:tgtEl>
                                      </p:cBhvr>
                                    </p:animEffect>
                                    <p:set>
                                      <p:cBhvr>
                                        <p:cTn id="31"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childTnLst>
        </p:cTn>
      </p:par>
    </p:tnLst>
    <p:bldLst>
      <p:bldP spid="17" grpId="0" animBg="1"/>
      <p:bldP spid="18" grpId="0" animBg="1"/>
      <p:bldP spid="19" grpId="0" animBg="1"/>
      <p:bldP spid="20" grpId="0" animBg="1"/>
      <p:bldP spid="2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5H – Pure Y1 Page 106-108</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9" name="Group 8">
            <a:extLst>
              <a:ext uri="{FF2B5EF4-FFF2-40B4-BE49-F238E27FC236}">
                <a16:creationId xmlns:a16="http://schemas.microsoft.com/office/drawing/2014/main" id="{D0891136-0588-0C87-AC4C-220138958480}"/>
              </a:ext>
            </a:extLst>
          </p:cNvPr>
          <p:cNvGrpSpPr/>
          <p:nvPr/>
        </p:nvGrpSpPr>
        <p:grpSpPr>
          <a:xfrm>
            <a:off x="179512" y="661929"/>
            <a:ext cx="7827168" cy="1470928"/>
            <a:chOff x="179512" y="661929"/>
            <a:chExt cx="7827168" cy="1470928"/>
          </a:xfrm>
        </p:grpSpPr>
        <p:pic>
          <p:nvPicPr>
            <p:cNvPr id="5" name="Picture 4">
              <a:extLst>
                <a:ext uri="{FF2B5EF4-FFF2-40B4-BE49-F238E27FC236}">
                  <a16:creationId xmlns:a16="http://schemas.microsoft.com/office/drawing/2014/main" id="{7993284C-4E63-BCFC-7A4C-284118C63118}"/>
                </a:ext>
              </a:extLst>
            </p:cNvPr>
            <p:cNvPicPr>
              <a:picLocks noChangeAspect="1"/>
            </p:cNvPicPr>
            <p:nvPr/>
          </p:nvPicPr>
          <p:blipFill>
            <a:blip r:embed="rId2"/>
            <a:stretch>
              <a:fillRect/>
            </a:stretch>
          </p:blipFill>
          <p:spPr>
            <a:xfrm>
              <a:off x="179512" y="661929"/>
              <a:ext cx="7772400" cy="1257870"/>
            </a:xfrm>
            <a:prstGeom prst="rect">
              <a:avLst/>
            </a:prstGeom>
          </p:spPr>
        </p:pic>
        <p:pic>
          <p:nvPicPr>
            <p:cNvPr id="6" name="Picture 5">
              <a:extLst>
                <a:ext uri="{FF2B5EF4-FFF2-40B4-BE49-F238E27FC236}">
                  <a16:creationId xmlns:a16="http://schemas.microsoft.com/office/drawing/2014/main" id="{06C3D296-98C6-6F1C-1BD9-4422DA4A83C2}"/>
                </a:ext>
              </a:extLst>
            </p:cNvPr>
            <p:cNvPicPr>
              <a:picLocks noChangeAspect="1"/>
            </p:cNvPicPr>
            <p:nvPr/>
          </p:nvPicPr>
          <p:blipFill>
            <a:blip r:embed="rId3"/>
            <a:stretch>
              <a:fillRect/>
            </a:stretch>
          </p:blipFill>
          <p:spPr>
            <a:xfrm>
              <a:off x="360000" y="1916833"/>
              <a:ext cx="7272808" cy="216024"/>
            </a:xfrm>
            <a:prstGeom prst="rect">
              <a:avLst/>
            </a:prstGeom>
          </p:spPr>
        </p:pic>
        <p:sp>
          <p:nvSpPr>
            <p:cNvPr id="8" name="Rectangle 7">
              <a:extLst>
                <a:ext uri="{FF2B5EF4-FFF2-40B4-BE49-F238E27FC236}">
                  <a16:creationId xmlns:a16="http://schemas.microsoft.com/office/drawing/2014/main" id="{07F40010-58D8-C889-94CC-4B958EFE622E}"/>
                </a:ext>
              </a:extLst>
            </p:cNvPr>
            <p:cNvSpPr/>
            <p:nvPr/>
          </p:nvSpPr>
          <p:spPr>
            <a:xfrm>
              <a:off x="7092280" y="1196752"/>
              <a:ext cx="914400" cy="4320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 name="Group 14">
            <a:extLst>
              <a:ext uri="{FF2B5EF4-FFF2-40B4-BE49-F238E27FC236}">
                <a16:creationId xmlns:a16="http://schemas.microsoft.com/office/drawing/2014/main" id="{EE9B8B6A-8F10-D481-CBF6-31EE55B481E9}"/>
              </a:ext>
            </a:extLst>
          </p:cNvPr>
          <p:cNvGrpSpPr/>
          <p:nvPr/>
        </p:nvGrpSpPr>
        <p:grpSpPr>
          <a:xfrm>
            <a:off x="411556" y="2276872"/>
            <a:ext cx="3227840" cy="2695266"/>
            <a:chOff x="251520" y="2389918"/>
            <a:chExt cx="3375512" cy="2818573"/>
          </a:xfrm>
        </p:grpSpPr>
        <p:pic>
          <p:nvPicPr>
            <p:cNvPr id="10" name="Picture 9">
              <a:extLst>
                <a:ext uri="{FF2B5EF4-FFF2-40B4-BE49-F238E27FC236}">
                  <a16:creationId xmlns:a16="http://schemas.microsoft.com/office/drawing/2014/main" id="{262C0F19-6433-28CD-C66D-7BAC33A24571}"/>
                </a:ext>
              </a:extLst>
            </p:cNvPr>
            <p:cNvPicPr>
              <a:picLocks noChangeAspect="1"/>
            </p:cNvPicPr>
            <p:nvPr/>
          </p:nvPicPr>
          <p:blipFill rotWithShape="1">
            <a:blip r:embed="rId4"/>
            <a:srcRect l="5075"/>
            <a:stretch/>
          </p:blipFill>
          <p:spPr>
            <a:xfrm>
              <a:off x="251520" y="2389918"/>
              <a:ext cx="3375512" cy="1384300"/>
            </a:xfrm>
            <a:prstGeom prst="rect">
              <a:avLst/>
            </a:prstGeom>
          </p:spPr>
        </p:pic>
        <p:pic>
          <p:nvPicPr>
            <p:cNvPr id="11" name="Picture 10">
              <a:extLst>
                <a:ext uri="{FF2B5EF4-FFF2-40B4-BE49-F238E27FC236}">
                  <a16:creationId xmlns:a16="http://schemas.microsoft.com/office/drawing/2014/main" id="{8B92AFA4-D4B2-1ACD-D6B1-C2FC9E71AFAC}"/>
                </a:ext>
              </a:extLst>
            </p:cNvPr>
            <p:cNvPicPr>
              <a:picLocks noChangeAspect="1"/>
            </p:cNvPicPr>
            <p:nvPr/>
          </p:nvPicPr>
          <p:blipFill>
            <a:blip r:embed="rId5"/>
            <a:stretch>
              <a:fillRect/>
            </a:stretch>
          </p:blipFill>
          <p:spPr>
            <a:xfrm>
              <a:off x="2339752" y="3379179"/>
              <a:ext cx="482600" cy="279400"/>
            </a:xfrm>
            <a:prstGeom prst="rect">
              <a:avLst/>
            </a:prstGeom>
          </p:spPr>
        </p:pic>
        <p:pic>
          <p:nvPicPr>
            <p:cNvPr id="12" name="Picture 11">
              <a:extLst>
                <a:ext uri="{FF2B5EF4-FFF2-40B4-BE49-F238E27FC236}">
                  <a16:creationId xmlns:a16="http://schemas.microsoft.com/office/drawing/2014/main" id="{781E1C10-BBAB-C168-ACFD-AC5D5C6D12F0}"/>
                </a:ext>
              </a:extLst>
            </p:cNvPr>
            <p:cNvPicPr>
              <a:picLocks noChangeAspect="1"/>
            </p:cNvPicPr>
            <p:nvPr/>
          </p:nvPicPr>
          <p:blipFill>
            <a:blip r:embed="rId6"/>
            <a:stretch>
              <a:fillRect/>
            </a:stretch>
          </p:blipFill>
          <p:spPr>
            <a:xfrm>
              <a:off x="616382" y="3773391"/>
              <a:ext cx="2997200" cy="1435100"/>
            </a:xfrm>
            <a:prstGeom prst="rect">
              <a:avLst/>
            </a:prstGeom>
          </p:spPr>
        </p:pic>
      </p:grpSp>
      <p:pic>
        <p:nvPicPr>
          <p:cNvPr id="14" name="Picture 13">
            <a:extLst>
              <a:ext uri="{FF2B5EF4-FFF2-40B4-BE49-F238E27FC236}">
                <a16:creationId xmlns:a16="http://schemas.microsoft.com/office/drawing/2014/main" id="{96C7F5A9-A67F-1725-FA24-4E9FB51D5B6E}"/>
              </a:ext>
            </a:extLst>
          </p:cNvPr>
          <p:cNvPicPr>
            <a:picLocks noChangeAspect="1"/>
          </p:cNvPicPr>
          <p:nvPr/>
        </p:nvPicPr>
        <p:blipFill>
          <a:blip r:embed="rId7"/>
          <a:stretch>
            <a:fillRect/>
          </a:stretch>
        </p:blipFill>
        <p:spPr>
          <a:xfrm>
            <a:off x="411556" y="5006425"/>
            <a:ext cx="3024336" cy="1594865"/>
          </a:xfrm>
          <a:prstGeom prst="rect">
            <a:avLst/>
          </a:prstGeom>
        </p:spPr>
      </p:pic>
      <p:pic>
        <p:nvPicPr>
          <p:cNvPr id="16" name="Picture 15">
            <a:extLst>
              <a:ext uri="{FF2B5EF4-FFF2-40B4-BE49-F238E27FC236}">
                <a16:creationId xmlns:a16="http://schemas.microsoft.com/office/drawing/2014/main" id="{1C8AB0B5-B318-A068-02B4-57D65A8050A8}"/>
              </a:ext>
            </a:extLst>
          </p:cNvPr>
          <p:cNvPicPr>
            <a:picLocks noChangeAspect="1"/>
          </p:cNvPicPr>
          <p:nvPr/>
        </p:nvPicPr>
        <p:blipFill rotWithShape="1">
          <a:blip r:embed="rId8"/>
          <a:srcRect b="56749"/>
          <a:stretch/>
        </p:blipFill>
        <p:spPr>
          <a:xfrm>
            <a:off x="4387130" y="2458991"/>
            <a:ext cx="3467100" cy="1257870"/>
          </a:xfrm>
          <a:prstGeom prst="rect">
            <a:avLst/>
          </a:prstGeom>
        </p:spPr>
      </p:pic>
      <p:pic>
        <p:nvPicPr>
          <p:cNvPr id="17" name="Picture 16">
            <a:extLst>
              <a:ext uri="{FF2B5EF4-FFF2-40B4-BE49-F238E27FC236}">
                <a16:creationId xmlns:a16="http://schemas.microsoft.com/office/drawing/2014/main" id="{3B90CE60-7E01-9DDC-393C-4FAF32565513}"/>
              </a:ext>
            </a:extLst>
          </p:cNvPr>
          <p:cNvPicPr>
            <a:picLocks noChangeAspect="1"/>
          </p:cNvPicPr>
          <p:nvPr/>
        </p:nvPicPr>
        <p:blipFill rotWithShape="1">
          <a:blip r:embed="rId8"/>
          <a:srcRect t="47773"/>
          <a:stretch/>
        </p:blipFill>
        <p:spPr>
          <a:xfrm>
            <a:off x="4429119" y="5039775"/>
            <a:ext cx="3467100" cy="1518920"/>
          </a:xfrm>
          <a:prstGeom prst="rect">
            <a:avLst/>
          </a:prstGeom>
        </p:spPr>
      </p:pic>
      <p:sp>
        <p:nvSpPr>
          <p:cNvPr id="18" name="Rectangle 17">
            <a:extLst>
              <a:ext uri="{FF2B5EF4-FFF2-40B4-BE49-F238E27FC236}">
                <a16:creationId xmlns:a16="http://schemas.microsoft.com/office/drawing/2014/main" id="{0D1F02AB-EB47-8F36-D949-6786252E8C04}"/>
              </a:ext>
            </a:extLst>
          </p:cNvPr>
          <p:cNvSpPr/>
          <p:nvPr/>
        </p:nvSpPr>
        <p:spPr>
          <a:xfrm>
            <a:off x="411556" y="2281493"/>
            <a:ext cx="3830597" cy="267469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 </a:t>
            </a:r>
          </a:p>
        </p:txBody>
      </p:sp>
      <p:sp>
        <p:nvSpPr>
          <p:cNvPr id="19" name="Rectangle 18">
            <a:extLst>
              <a:ext uri="{FF2B5EF4-FFF2-40B4-BE49-F238E27FC236}">
                <a16:creationId xmlns:a16="http://schemas.microsoft.com/office/drawing/2014/main" id="{BF949E57-0DAA-8B68-B3CA-52361DE90FDE}"/>
              </a:ext>
            </a:extLst>
          </p:cNvPr>
          <p:cNvSpPr/>
          <p:nvPr/>
        </p:nvSpPr>
        <p:spPr>
          <a:xfrm>
            <a:off x="426457" y="5022370"/>
            <a:ext cx="3830597" cy="159486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 </a:t>
            </a:r>
          </a:p>
        </p:txBody>
      </p:sp>
      <p:sp>
        <p:nvSpPr>
          <p:cNvPr id="22" name="Rectangle 21">
            <a:extLst>
              <a:ext uri="{FF2B5EF4-FFF2-40B4-BE49-F238E27FC236}">
                <a16:creationId xmlns:a16="http://schemas.microsoft.com/office/drawing/2014/main" id="{CE32336A-B22C-16C4-5364-42765C810C7C}"/>
              </a:ext>
            </a:extLst>
          </p:cNvPr>
          <p:cNvSpPr/>
          <p:nvPr/>
        </p:nvSpPr>
        <p:spPr>
          <a:xfrm>
            <a:off x="4413811" y="2276872"/>
            <a:ext cx="3830597" cy="267469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c? </a:t>
            </a:r>
          </a:p>
        </p:txBody>
      </p:sp>
      <p:sp>
        <p:nvSpPr>
          <p:cNvPr id="23" name="Rectangle 22">
            <a:extLst>
              <a:ext uri="{FF2B5EF4-FFF2-40B4-BE49-F238E27FC236}">
                <a16:creationId xmlns:a16="http://schemas.microsoft.com/office/drawing/2014/main" id="{16C05079-481B-4C2A-7E36-DD4367757D2B}"/>
              </a:ext>
            </a:extLst>
          </p:cNvPr>
          <p:cNvSpPr/>
          <p:nvPr/>
        </p:nvSpPr>
        <p:spPr>
          <a:xfrm>
            <a:off x="4413811" y="5034451"/>
            <a:ext cx="3830597" cy="159486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d? </a:t>
            </a:r>
          </a:p>
        </p:txBody>
      </p:sp>
    </p:spTree>
    <p:extLst>
      <p:ext uri="{BB962C8B-B14F-4D97-AF65-F5344CB8AC3E}">
        <p14:creationId xmlns:p14="http://schemas.microsoft.com/office/powerpoint/2010/main" val="250796219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9"/>
                                        </p:tgtEl>
                                      </p:cBhvr>
                                    </p:animEffect>
                                    <p:set>
                                      <p:cBhvr>
                                        <p:cTn id="13"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14" restart="whenNotActive" fill="hold" evtFilter="cancelBubble" nodeType="interactiveSeq">
                <p:stCondLst>
                  <p:cond evt="onClick" delay="0">
                    <p:tgtEl>
                      <p:spTgt spid="22"/>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2"/>
                                        </p:tgtEl>
                                      </p:cBhvr>
                                    </p:animEffect>
                                    <p:set>
                                      <p:cBhvr>
                                        <p:cTn id="19"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20" restart="whenNotActive" fill="hold" evtFilter="cancelBubble" nodeType="interactiveSeq">
                <p:stCondLst>
                  <p:cond evt="onClick" delay="0">
                    <p:tgtEl>
                      <p:spTgt spid="23"/>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23"/>
                                        </p:tgtEl>
                                      </p:cBhvr>
                                    </p:animEffect>
                                    <p:set>
                                      <p:cBhvr>
                                        <p:cTn id="25"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bldLst>
      <p:bldP spid="18" grpId="0" animBg="1"/>
      <p:bldP spid="19" grpId="0" animBg="1"/>
      <p:bldP spid="22" grpId="0" animBg="1"/>
      <p:bldP spid="2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5H – Pure Y1 Page 106-108</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25" name="Group 24">
            <a:extLst>
              <a:ext uri="{FF2B5EF4-FFF2-40B4-BE49-F238E27FC236}">
                <a16:creationId xmlns:a16="http://schemas.microsoft.com/office/drawing/2014/main" id="{145B7D75-7D4E-29BD-33DA-F6F35DC0E29C}"/>
              </a:ext>
            </a:extLst>
          </p:cNvPr>
          <p:cNvGrpSpPr/>
          <p:nvPr/>
        </p:nvGrpSpPr>
        <p:grpSpPr>
          <a:xfrm>
            <a:off x="179512" y="610748"/>
            <a:ext cx="4104456" cy="2002006"/>
            <a:chOff x="323528" y="633485"/>
            <a:chExt cx="4464497" cy="2203300"/>
          </a:xfrm>
        </p:grpSpPr>
        <p:pic>
          <p:nvPicPr>
            <p:cNvPr id="13" name="Picture 12">
              <a:extLst>
                <a:ext uri="{FF2B5EF4-FFF2-40B4-BE49-F238E27FC236}">
                  <a16:creationId xmlns:a16="http://schemas.microsoft.com/office/drawing/2014/main" id="{55A0E0D3-AA86-592D-030B-F4AF1C5BABCD}"/>
                </a:ext>
              </a:extLst>
            </p:cNvPr>
            <p:cNvPicPr>
              <a:picLocks noChangeAspect="1"/>
            </p:cNvPicPr>
            <p:nvPr/>
          </p:nvPicPr>
          <p:blipFill rotWithShape="1">
            <a:blip r:embed="rId2"/>
            <a:srcRect r="42560"/>
            <a:stretch/>
          </p:blipFill>
          <p:spPr>
            <a:xfrm>
              <a:off x="323528" y="633485"/>
              <a:ext cx="4464497" cy="2191437"/>
            </a:xfrm>
            <a:prstGeom prst="rect">
              <a:avLst/>
            </a:prstGeom>
          </p:spPr>
        </p:pic>
        <p:sp>
          <p:nvSpPr>
            <p:cNvPr id="20" name="Rectangle 19">
              <a:extLst>
                <a:ext uri="{FF2B5EF4-FFF2-40B4-BE49-F238E27FC236}">
                  <a16:creationId xmlns:a16="http://schemas.microsoft.com/office/drawing/2014/main" id="{9B0B2083-2AB2-349B-5204-CDD3E3CC8387}"/>
                </a:ext>
              </a:extLst>
            </p:cNvPr>
            <p:cNvSpPr/>
            <p:nvPr/>
          </p:nvSpPr>
          <p:spPr>
            <a:xfrm>
              <a:off x="4067944" y="1628800"/>
              <a:ext cx="720080"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5F050165-86F8-3406-BDFC-1F2B45A9ABB8}"/>
                </a:ext>
              </a:extLst>
            </p:cNvPr>
            <p:cNvSpPr/>
            <p:nvPr/>
          </p:nvSpPr>
          <p:spPr>
            <a:xfrm>
              <a:off x="4059565" y="2084708"/>
              <a:ext cx="720080"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EC902639-53E5-7270-31CE-0D579ECDB976}"/>
                </a:ext>
              </a:extLst>
            </p:cNvPr>
            <p:cNvSpPr/>
            <p:nvPr/>
          </p:nvSpPr>
          <p:spPr>
            <a:xfrm>
              <a:off x="4067944" y="2620761"/>
              <a:ext cx="720080"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6" name="Picture 25">
            <a:extLst>
              <a:ext uri="{FF2B5EF4-FFF2-40B4-BE49-F238E27FC236}">
                <a16:creationId xmlns:a16="http://schemas.microsoft.com/office/drawing/2014/main" id="{2F538FB0-FEBE-801D-7E7D-C29A25927CE0}"/>
              </a:ext>
            </a:extLst>
          </p:cNvPr>
          <p:cNvPicPr>
            <a:picLocks noChangeAspect="1"/>
          </p:cNvPicPr>
          <p:nvPr/>
        </p:nvPicPr>
        <p:blipFill>
          <a:blip r:embed="rId3"/>
          <a:stretch>
            <a:fillRect/>
          </a:stretch>
        </p:blipFill>
        <p:spPr>
          <a:xfrm>
            <a:off x="378081" y="2704203"/>
            <a:ext cx="2589306" cy="603132"/>
          </a:xfrm>
          <a:prstGeom prst="rect">
            <a:avLst/>
          </a:prstGeom>
        </p:spPr>
      </p:pic>
      <p:grpSp>
        <p:nvGrpSpPr>
          <p:cNvPr id="34" name="Group 33">
            <a:extLst>
              <a:ext uri="{FF2B5EF4-FFF2-40B4-BE49-F238E27FC236}">
                <a16:creationId xmlns:a16="http://schemas.microsoft.com/office/drawing/2014/main" id="{A4DEE298-A519-3167-B47E-572323830CF4}"/>
              </a:ext>
            </a:extLst>
          </p:cNvPr>
          <p:cNvGrpSpPr/>
          <p:nvPr/>
        </p:nvGrpSpPr>
        <p:grpSpPr>
          <a:xfrm>
            <a:off x="3109696" y="2637188"/>
            <a:ext cx="2542424" cy="1499378"/>
            <a:chOff x="3015449" y="2780928"/>
            <a:chExt cx="2808312" cy="1656184"/>
          </a:xfrm>
        </p:grpSpPr>
        <p:pic>
          <p:nvPicPr>
            <p:cNvPr id="31" name="Picture 30">
              <a:extLst>
                <a:ext uri="{FF2B5EF4-FFF2-40B4-BE49-F238E27FC236}">
                  <a16:creationId xmlns:a16="http://schemas.microsoft.com/office/drawing/2014/main" id="{FCB2B88F-AC14-EDDB-17C7-7DE68BF2EBCD}"/>
                </a:ext>
              </a:extLst>
            </p:cNvPr>
            <p:cNvPicPr>
              <a:picLocks noChangeAspect="1"/>
            </p:cNvPicPr>
            <p:nvPr/>
          </p:nvPicPr>
          <p:blipFill>
            <a:blip r:embed="rId4"/>
            <a:stretch>
              <a:fillRect/>
            </a:stretch>
          </p:blipFill>
          <p:spPr>
            <a:xfrm>
              <a:off x="3261667" y="3193295"/>
              <a:ext cx="2562094" cy="1243817"/>
            </a:xfrm>
            <a:prstGeom prst="rect">
              <a:avLst/>
            </a:prstGeom>
          </p:spPr>
        </p:pic>
        <p:pic>
          <p:nvPicPr>
            <p:cNvPr id="28" name="Picture 27">
              <a:extLst>
                <a:ext uri="{FF2B5EF4-FFF2-40B4-BE49-F238E27FC236}">
                  <a16:creationId xmlns:a16="http://schemas.microsoft.com/office/drawing/2014/main" id="{28B5AD10-EBCB-61F4-7FE7-3825078542E7}"/>
                </a:ext>
              </a:extLst>
            </p:cNvPr>
            <p:cNvPicPr>
              <a:picLocks noChangeAspect="1"/>
            </p:cNvPicPr>
            <p:nvPr/>
          </p:nvPicPr>
          <p:blipFill>
            <a:blip r:embed="rId5"/>
            <a:stretch>
              <a:fillRect/>
            </a:stretch>
          </p:blipFill>
          <p:spPr>
            <a:xfrm>
              <a:off x="3015449" y="2780928"/>
              <a:ext cx="1628449" cy="454263"/>
            </a:xfrm>
            <a:prstGeom prst="rect">
              <a:avLst/>
            </a:prstGeom>
          </p:spPr>
        </p:pic>
        <p:pic>
          <p:nvPicPr>
            <p:cNvPr id="29" name="Picture 28">
              <a:extLst>
                <a:ext uri="{FF2B5EF4-FFF2-40B4-BE49-F238E27FC236}">
                  <a16:creationId xmlns:a16="http://schemas.microsoft.com/office/drawing/2014/main" id="{C981F97B-3029-B3F8-972C-0EE2DF8D11D4}"/>
                </a:ext>
              </a:extLst>
            </p:cNvPr>
            <p:cNvPicPr>
              <a:picLocks noChangeAspect="1"/>
            </p:cNvPicPr>
            <p:nvPr/>
          </p:nvPicPr>
          <p:blipFill>
            <a:blip r:embed="rId6"/>
            <a:stretch>
              <a:fillRect/>
            </a:stretch>
          </p:blipFill>
          <p:spPr>
            <a:xfrm>
              <a:off x="4622517" y="2806588"/>
              <a:ext cx="710623" cy="396463"/>
            </a:xfrm>
            <a:prstGeom prst="rect">
              <a:avLst/>
            </a:prstGeom>
          </p:spPr>
        </p:pic>
        <p:pic>
          <p:nvPicPr>
            <p:cNvPr id="30" name="Picture 29">
              <a:extLst>
                <a:ext uri="{FF2B5EF4-FFF2-40B4-BE49-F238E27FC236}">
                  <a16:creationId xmlns:a16="http://schemas.microsoft.com/office/drawing/2014/main" id="{EE13EB58-27C8-83A0-0330-D1981D1E5838}"/>
                </a:ext>
              </a:extLst>
            </p:cNvPr>
            <p:cNvPicPr>
              <a:picLocks noChangeAspect="1"/>
            </p:cNvPicPr>
            <p:nvPr/>
          </p:nvPicPr>
          <p:blipFill>
            <a:blip r:embed="rId7"/>
            <a:stretch>
              <a:fillRect/>
            </a:stretch>
          </p:blipFill>
          <p:spPr>
            <a:xfrm>
              <a:off x="5371273" y="2902069"/>
              <a:ext cx="347403" cy="205500"/>
            </a:xfrm>
            <a:prstGeom prst="rect">
              <a:avLst/>
            </a:prstGeom>
          </p:spPr>
        </p:pic>
      </p:grpSp>
      <p:pic>
        <p:nvPicPr>
          <p:cNvPr id="32" name="Picture 31">
            <a:extLst>
              <a:ext uri="{FF2B5EF4-FFF2-40B4-BE49-F238E27FC236}">
                <a16:creationId xmlns:a16="http://schemas.microsoft.com/office/drawing/2014/main" id="{143ED759-E267-7496-696B-53EA5206DC5F}"/>
              </a:ext>
            </a:extLst>
          </p:cNvPr>
          <p:cNvPicPr>
            <a:picLocks noChangeAspect="1"/>
          </p:cNvPicPr>
          <p:nvPr/>
        </p:nvPicPr>
        <p:blipFill>
          <a:blip r:embed="rId8"/>
          <a:stretch>
            <a:fillRect/>
          </a:stretch>
        </p:blipFill>
        <p:spPr>
          <a:xfrm>
            <a:off x="6300192" y="2690552"/>
            <a:ext cx="2232248" cy="906851"/>
          </a:xfrm>
          <a:prstGeom prst="rect">
            <a:avLst/>
          </a:prstGeom>
        </p:spPr>
      </p:pic>
      <p:pic>
        <p:nvPicPr>
          <p:cNvPr id="35" name="Picture 34">
            <a:extLst>
              <a:ext uri="{FF2B5EF4-FFF2-40B4-BE49-F238E27FC236}">
                <a16:creationId xmlns:a16="http://schemas.microsoft.com/office/drawing/2014/main" id="{9219FCDF-62C7-1B3C-49D8-F5A20D9BA513}"/>
              </a:ext>
            </a:extLst>
          </p:cNvPr>
          <p:cNvPicPr>
            <a:picLocks noChangeAspect="1"/>
          </p:cNvPicPr>
          <p:nvPr/>
        </p:nvPicPr>
        <p:blipFill>
          <a:blip r:embed="rId9"/>
          <a:stretch>
            <a:fillRect/>
          </a:stretch>
        </p:blipFill>
        <p:spPr>
          <a:xfrm>
            <a:off x="299689" y="4158763"/>
            <a:ext cx="5899978" cy="1286461"/>
          </a:xfrm>
          <a:prstGeom prst="rect">
            <a:avLst/>
          </a:prstGeom>
        </p:spPr>
      </p:pic>
      <p:pic>
        <p:nvPicPr>
          <p:cNvPr id="36" name="Picture 35">
            <a:extLst>
              <a:ext uri="{FF2B5EF4-FFF2-40B4-BE49-F238E27FC236}">
                <a16:creationId xmlns:a16="http://schemas.microsoft.com/office/drawing/2014/main" id="{A1FAB9D3-7838-964E-A44B-9D14961258D7}"/>
              </a:ext>
            </a:extLst>
          </p:cNvPr>
          <p:cNvPicPr>
            <a:picLocks noChangeAspect="1"/>
          </p:cNvPicPr>
          <p:nvPr/>
        </p:nvPicPr>
        <p:blipFill>
          <a:blip r:embed="rId10"/>
          <a:stretch>
            <a:fillRect/>
          </a:stretch>
        </p:blipFill>
        <p:spPr>
          <a:xfrm>
            <a:off x="4400283" y="633414"/>
            <a:ext cx="2966098" cy="2015517"/>
          </a:xfrm>
          <a:prstGeom prst="rect">
            <a:avLst/>
          </a:prstGeom>
        </p:spPr>
      </p:pic>
      <p:pic>
        <p:nvPicPr>
          <p:cNvPr id="37" name="Picture 36">
            <a:extLst>
              <a:ext uri="{FF2B5EF4-FFF2-40B4-BE49-F238E27FC236}">
                <a16:creationId xmlns:a16="http://schemas.microsoft.com/office/drawing/2014/main" id="{40195A2B-CF2E-CA29-9CC8-8FF330DF9F58}"/>
              </a:ext>
            </a:extLst>
          </p:cNvPr>
          <p:cNvPicPr>
            <a:picLocks noChangeAspect="1"/>
          </p:cNvPicPr>
          <p:nvPr/>
        </p:nvPicPr>
        <p:blipFill rotWithShape="1">
          <a:blip r:embed="rId11"/>
          <a:srcRect t="13646"/>
          <a:stretch/>
        </p:blipFill>
        <p:spPr>
          <a:xfrm>
            <a:off x="536553" y="5526914"/>
            <a:ext cx="1875207" cy="1286462"/>
          </a:xfrm>
          <a:prstGeom prst="rect">
            <a:avLst/>
          </a:prstGeom>
        </p:spPr>
      </p:pic>
      <p:pic>
        <p:nvPicPr>
          <p:cNvPr id="38" name="Picture 37">
            <a:extLst>
              <a:ext uri="{FF2B5EF4-FFF2-40B4-BE49-F238E27FC236}">
                <a16:creationId xmlns:a16="http://schemas.microsoft.com/office/drawing/2014/main" id="{48354D81-FAD4-B567-523B-1C45BEFECB04}"/>
              </a:ext>
            </a:extLst>
          </p:cNvPr>
          <p:cNvPicPr>
            <a:picLocks noChangeAspect="1"/>
          </p:cNvPicPr>
          <p:nvPr/>
        </p:nvPicPr>
        <p:blipFill>
          <a:blip r:embed="rId12"/>
          <a:stretch>
            <a:fillRect/>
          </a:stretch>
        </p:blipFill>
        <p:spPr>
          <a:xfrm>
            <a:off x="2549904" y="5513721"/>
            <a:ext cx="2790709" cy="1155129"/>
          </a:xfrm>
          <a:prstGeom prst="rect">
            <a:avLst/>
          </a:prstGeom>
        </p:spPr>
      </p:pic>
      <p:pic>
        <p:nvPicPr>
          <p:cNvPr id="39" name="Picture 38">
            <a:extLst>
              <a:ext uri="{FF2B5EF4-FFF2-40B4-BE49-F238E27FC236}">
                <a16:creationId xmlns:a16="http://schemas.microsoft.com/office/drawing/2014/main" id="{BE11F373-2794-6F8E-1014-5EEAD8D45880}"/>
              </a:ext>
            </a:extLst>
          </p:cNvPr>
          <p:cNvPicPr>
            <a:picLocks noChangeAspect="1"/>
          </p:cNvPicPr>
          <p:nvPr/>
        </p:nvPicPr>
        <p:blipFill>
          <a:blip r:embed="rId13"/>
          <a:stretch>
            <a:fillRect/>
          </a:stretch>
        </p:blipFill>
        <p:spPr>
          <a:xfrm>
            <a:off x="5705914" y="5525381"/>
            <a:ext cx="2394478" cy="1117423"/>
          </a:xfrm>
          <a:prstGeom prst="rect">
            <a:avLst/>
          </a:prstGeom>
        </p:spPr>
      </p:pic>
      <p:pic>
        <p:nvPicPr>
          <p:cNvPr id="40" name="Picture 39">
            <a:extLst>
              <a:ext uri="{FF2B5EF4-FFF2-40B4-BE49-F238E27FC236}">
                <a16:creationId xmlns:a16="http://schemas.microsoft.com/office/drawing/2014/main" id="{8DA45B08-8D75-8C04-251D-FCCC2215C82D}"/>
              </a:ext>
            </a:extLst>
          </p:cNvPr>
          <p:cNvPicPr>
            <a:picLocks noChangeAspect="1"/>
          </p:cNvPicPr>
          <p:nvPr/>
        </p:nvPicPr>
        <p:blipFill>
          <a:blip r:embed="rId14"/>
          <a:stretch>
            <a:fillRect/>
          </a:stretch>
        </p:blipFill>
        <p:spPr>
          <a:xfrm>
            <a:off x="467544" y="5597389"/>
            <a:ext cx="135867" cy="135867"/>
          </a:xfrm>
          <a:prstGeom prst="rect">
            <a:avLst/>
          </a:prstGeom>
        </p:spPr>
      </p:pic>
      <p:sp>
        <p:nvSpPr>
          <p:cNvPr id="41" name="Rectangle 40">
            <a:extLst>
              <a:ext uri="{FF2B5EF4-FFF2-40B4-BE49-F238E27FC236}">
                <a16:creationId xmlns:a16="http://schemas.microsoft.com/office/drawing/2014/main" id="{CF56F314-A830-989A-5180-97F0CFDFEBD4}"/>
              </a:ext>
            </a:extLst>
          </p:cNvPr>
          <p:cNvSpPr/>
          <p:nvPr/>
        </p:nvSpPr>
        <p:spPr>
          <a:xfrm>
            <a:off x="395536" y="2657661"/>
            <a:ext cx="2606373" cy="145414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 </a:t>
            </a:r>
          </a:p>
        </p:txBody>
      </p:sp>
      <p:sp>
        <p:nvSpPr>
          <p:cNvPr id="42" name="Rectangle 41">
            <a:extLst>
              <a:ext uri="{FF2B5EF4-FFF2-40B4-BE49-F238E27FC236}">
                <a16:creationId xmlns:a16="http://schemas.microsoft.com/office/drawing/2014/main" id="{44936FF2-8F88-5F05-C226-4B09B0CC6095}"/>
              </a:ext>
            </a:extLst>
          </p:cNvPr>
          <p:cNvSpPr/>
          <p:nvPr/>
        </p:nvSpPr>
        <p:spPr>
          <a:xfrm>
            <a:off x="3147698" y="2662065"/>
            <a:ext cx="2606373" cy="145414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 </a:t>
            </a:r>
          </a:p>
        </p:txBody>
      </p:sp>
      <p:sp>
        <p:nvSpPr>
          <p:cNvPr id="43" name="Rectangle 42">
            <a:extLst>
              <a:ext uri="{FF2B5EF4-FFF2-40B4-BE49-F238E27FC236}">
                <a16:creationId xmlns:a16="http://schemas.microsoft.com/office/drawing/2014/main" id="{3C2E35B0-8DDB-5E45-6B9F-B2A64D5596AD}"/>
              </a:ext>
            </a:extLst>
          </p:cNvPr>
          <p:cNvSpPr/>
          <p:nvPr/>
        </p:nvSpPr>
        <p:spPr>
          <a:xfrm>
            <a:off x="5883332" y="2679328"/>
            <a:ext cx="2606373" cy="145414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c? </a:t>
            </a:r>
          </a:p>
        </p:txBody>
      </p:sp>
      <p:sp>
        <p:nvSpPr>
          <p:cNvPr id="44" name="Rectangle 43">
            <a:extLst>
              <a:ext uri="{FF2B5EF4-FFF2-40B4-BE49-F238E27FC236}">
                <a16:creationId xmlns:a16="http://schemas.microsoft.com/office/drawing/2014/main" id="{D5A22727-7A08-33F7-C174-F215710DCDAD}"/>
              </a:ext>
            </a:extLst>
          </p:cNvPr>
          <p:cNvSpPr/>
          <p:nvPr/>
        </p:nvSpPr>
        <p:spPr>
          <a:xfrm>
            <a:off x="468943" y="5445224"/>
            <a:ext cx="1942818" cy="133261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 </a:t>
            </a:r>
          </a:p>
        </p:txBody>
      </p:sp>
      <p:sp>
        <p:nvSpPr>
          <p:cNvPr id="45" name="Rectangle 44">
            <a:extLst>
              <a:ext uri="{FF2B5EF4-FFF2-40B4-BE49-F238E27FC236}">
                <a16:creationId xmlns:a16="http://schemas.microsoft.com/office/drawing/2014/main" id="{91333695-D3E4-0A5E-EFC5-F81A72CEBD37}"/>
              </a:ext>
            </a:extLst>
          </p:cNvPr>
          <p:cNvSpPr/>
          <p:nvPr/>
        </p:nvSpPr>
        <p:spPr>
          <a:xfrm>
            <a:off x="2549903" y="5449628"/>
            <a:ext cx="5838521" cy="133261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 </a:t>
            </a:r>
          </a:p>
        </p:txBody>
      </p:sp>
    </p:spTree>
    <p:extLst>
      <p:ext uri="{BB962C8B-B14F-4D97-AF65-F5344CB8AC3E}">
        <p14:creationId xmlns:p14="http://schemas.microsoft.com/office/powerpoint/2010/main" val="281696765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1"/>
                                        </p:tgtEl>
                                      </p:cBhvr>
                                    </p:animEffect>
                                    <p:set>
                                      <p:cBhvr>
                                        <p:cTn id="7" dur="1" fill="hold">
                                          <p:stCondLst>
                                            <p:cond delay="499"/>
                                          </p:stCondLst>
                                        </p:cTn>
                                        <p:tgtEl>
                                          <p:spTgt spid="41"/>
                                        </p:tgtEl>
                                        <p:attrNameLst>
                                          <p:attrName>style.visibility</p:attrName>
                                        </p:attrNameLst>
                                      </p:cBhvr>
                                      <p:to>
                                        <p:strVal val="hidden"/>
                                      </p:to>
                                    </p:set>
                                  </p:childTnLst>
                                </p:cTn>
                              </p:par>
                            </p:childTnLst>
                          </p:cTn>
                        </p:par>
                      </p:childTnLst>
                    </p:cTn>
                  </p:par>
                </p:childTnLst>
              </p:cTn>
              <p:nextCondLst>
                <p:cond evt="onClick" delay="0">
                  <p:tgtEl>
                    <p:spTgt spid="41"/>
                  </p:tgtEl>
                </p:cond>
              </p:nextCondLst>
            </p:seq>
            <p:seq concurrent="1" nextAc="seek">
              <p:cTn id="8" restart="whenNotActive" fill="hold" evtFilter="cancelBubble" nodeType="interactiveSeq">
                <p:stCondLst>
                  <p:cond evt="onClick" delay="0">
                    <p:tgtEl>
                      <p:spTgt spid="4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42"/>
                                        </p:tgtEl>
                                      </p:cBhvr>
                                    </p:animEffect>
                                    <p:set>
                                      <p:cBhvr>
                                        <p:cTn id="13" dur="1" fill="hold">
                                          <p:stCondLst>
                                            <p:cond delay="499"/>
                                          </p:stCondLst>
                                        </p:cTn>
                                        <p:tgtEl>
                                          <p:spTgt spid="42"/>
                                        </p:tgtEl>
                                        <p:attrNameLst>
                                          <p:attrName>style.visibility</p:attrName>
                                        </p:attrNameLst>
                                      </p:cBhvr>
                                      <p:to>
                                        <p:strVal val="hidden"/>
                                      </p:to>
                                    </p:set>
                                  </p:childTnLst>
                                </p:cTn>
                              </p:par>
                            </p:childTnLst>
                          </p:cTn>
                        </p:par>
                      </p:childTnLst>
                    </p:cTn>
                  </p:par>
                </p:childTnLst>
              </p:cTn>
              <p:nextCondLst>
                <p:cond evt="onClick" delay="0">
                  <p:tgtEl>
                    <p:spTgt spid="42"/>
                  </p:tgtEl>
                </p:cond>
              </p:nextCondLst>
            </p:seq>
            <p:seq concurrent="1" nextAc="seek">
              <p:cTn id="14" restart="whenNotActive" fill="hold" evtFilter="cancelBubble" nodeType="interactiveSeq">
                <p:stCondLst>
                  <p:cond evt="onClick" delay="0">
                    <p:tgtEl>
                      <p:spTgt spid="43"/>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43"/>
                                        </p:tgtEl>
                                      </p:cBhvr>
                                    </p:animEffect>
                                    <p:set>
                                      <p:cBhvr>
                                        <p:cTn id="19" dur="1" fill="hold">
                                          <p:stCondLst>
                                            <p:cond delay="499"/>
                                          </p:stCondLst>
                                        </p:cTn>
                                        <p:tgtEl>
                                          <p:spTgt spid="43"/>
                                        </p:tgtEl>
                                        <p:attrNameLst>
                                          <p:attrName>style.visibility</p:attrName>
                                        </p:attrNameLst>
                                      </p:cBhvr>
                                      <p:to>
                                        <p:strVal val="hidden"/>
                                      </p:to>
                                    </p:set>
                                  </p:childTnLst>
                                </p:cTn>
                              </p:par>
                            </p:childTnLst>
                          </p:cTn>
                        </p:par>
                      </p:childTnLst>
                    </p:cTn>
                  </p:par>
                </p:childTnLst>
              </p:cTn>
              <p:nextCondLst>
                <p:cond evt="onClick" delay="0">
                  <p:tgtEl>
                    <p:spTgt spid="43"/>
                  </p:tgtEl>
                </p:cond>
              </p:nextCondLst>
            </p:seq>
            <p:seq concurrent="1" nextAc="seek">
              <p:cTn id="20" restart="whenNotActive" fill="hold" evtFilter="cancelBubble" nodeType="interactiveSeq">
                <p:stCondLst>
                  <p:cond evt="onClick" delay="0">
                    <p:tgtEl>
                      <p:spTgt spid="44"/>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44"/>
                                        </p:tgtEl>
                                      </p:cBhvr>
                                    </p:animEffect>
                                    <p:set>
                                      <p:cBhvr>
                                        <p:cTn id="25" dur="1" fill="hold">
                                          <p:stCondLst>
                                            <p:cond delay="499"/>
                                          </p:stCondLst>
                                        </p:cTn>
                                        <p:tgtEl>
                                          <p:spTgt spid="44"/>
                                        </p:tgtEl>
                                        <p:attrNameLst>
                                          <p:attrName>style.visibility</p:attrName>
                                        </p:attrNameLst>
                                      </p:cBhvr>
                                      <p:to>
                                        <p:strVal val="hidden"/>
                                      </p:to>
                                    </p:set>
                                  </p:childTnLst>
                                </p:cTn>
                              </p:par>
                            </p:childTnLst>
                          </p:cTn>
                        </p:par>
                      </p:childTnLst>
                    </p:cTn>
                  </p:par>
                </p:childTnLst>
              </p:cTn>
              <p:nextCondLst>
                <p:cond evt="onClick" delay="0">
                  <p:tgtEl>
                    <p:spTgt spid="44"/>
                  </p:tgtEl>
                </p:cond>
              </p:nextCondLst>
            </p:seq>
            <p:seq concurrent="1" nextAc="seek">
              <p:cTn id="26" restart="whenNotActive" fill="hold" evtFilter="cancelBubble" nodeType="interactiveSeq">
                <p:stCondLst>
                  <p:cond evt="onClick" delay="0">
                    <p:tgtEl>
                      <p:spTgt spid="45"/>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45"/>
                                        </p:tgtEl>
                                      </p:cBhvr>
                                    </p:animEffect>
                                    <p:set>
                                      <p:cBhvr>
                                        <p:cTn id="31" dur="1" fill="hold">
                                          <p:stCondLst>
                                            <p:cond delay="499"/>
                                          </p:stCondLst>
                                        </p:cTn>
                                        <p:tgtEl>
                                          <p:spTgt spid="45"/>
                                        </p:tgtEl>
                                        <p:attrNameLst>
                                          <p:attrName>style.visibility</p:attrName>
                                        </p:attrNameLst>
                                      </p:cBhvr>
                                      <p:to>
                                        <p:strVal val="hidden"/>
                                      </p:to>
                                    </p:set>
                                  </p:childTnLst>
                                </p:cTn>
                              </p:par>
                            </p:childTnLst>
                          </p:cTn>
                        </p:par>
                      </p:childTnLst>
                    </p:cTn>
                  </p:par>
                </p:childTnLst>
              </p:cTn>
              <p:nextCondLst>
                <p:cond evt="onClick" delay="0">
                  <p:tgtEl>
                    <p:spTgt spid="45"/>
                  </p:tgtEl>
                </p:cond>
              </p:nextCondLst>
            </p:seq>
          </p:childTnLst>
        </p:cTn>
      </p:par>
    </p:tnLst>
    <p:bldLst>
      <p:bldP spid="41" grpId="0" animBg="1"/>
      <p:bldP spid="42" grpId="0" animBg="1"/>
      <p:bldP spid="43" grpId="0" animBg="1"/>
      <p:bldP spid="44" grpId="0" animBg="1"/>
      <p:bldP spid="4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bg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22819</TotalTime>
  <Words>4711</Words>
  <Application>Microsoft Macintosh PowerPoint</Application>
  <PresentationFormat>On-screen Show (4:3)</PresentationFormat>
  <Paragraphs>657</Paragraphs>
  <Slides>49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Cambria Math</vt:lpstr>
      <vt:lpstr>Wingdings</vt:lpstr>
      <vt:lpstr>Office Theme</vt:lpstr>
      <vt:lpstr>Pure Y1 Ch 5 Straight Line Graphs</vt:lpstr>
      <vt:lpstr>Straight Line Graphs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Frost J</dc:creator>
  <cp:lastModifiedBy>Armando Lamagna</cp:lastModifiedBy>
  <cp:revision>883</cp:revision>
  <dcterms:created xsi:type="dcterms:W3CDTF">2013-02-28T07:36:55Z</dcterms:created>
  <dcterms:modified xsi:type="dcterms:W3CDTF">2026-04-16T13:51:07Z</dcterms:modified>
</cp:coreProperties>
</file>