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7" r:id="rId2"/>
    <p:sldId id="261" r:id="rId3"/>
    <p:sldId id="483" r:id="rId4"/>
    <p:sldId id="656" r:id="rId5"/>
    <p:sldId id="653" r:id="rId6"/>
    <p:sldId id="654" r:id="rId7"/>
    <p:sldId id="624" r:id="rId8"/>
    <p:sldId id="657" r:id="rId9"/>
    <p:sldId id="658" r:id="rId10"/>
    <p:sldId id="655" r:id="rId11"/>
    <p:sldId id="659" r:id="rId12"/>
    <p:sldId id="660" r:id="rId13"/>
    <p:sldId id="661" r:id="rId14"/>
    <p:sldId id="696" r:id="rId15"/>
    <p:sldId id="697" r:id="rId16"/>
    <p:sldId id="625" r:id="rId17"/>
    <p:sldId id="662" r:id="rId18"/>
    <p:sldId id="664" r:id="rId19"/>
    <p:sldId id="665" r:id="rId20"/>
    <p:sldId id="698" r:id="rId21"/>
    <p:sldId id="666" r:id="rId22"/>
    <p:sldId id="667" r:id="rId23"/>
    <p:sldId id="668" r:id="rId24"/>
    <p:sldId id="669" r:id="rId25"/>
    <p:sldId id="699" r:id="rId26"/>
    <p:sldId id="671" r:id="rId27"/>
    <p:sldId id="684" r:id="rId28"/>
    <p:sldId id="672" r:id="rId29"/>
    <p:sldId id="673" r:id="rId30"/>
    <p:sldId id="670" r:id="rId31"/>
    <p:sldId id="674" r:id="rId32"/>
    <p:sldId id="675" r:id="rId33"/>
    <p:sldId id="700" r:id="rId34"/>
    <p:sldId id="676" r:id="rId35"/>
    <p:sldId id="677" r:id="rId36"/>
    <p:sldId id="679" r:id="rId37"/>
    <p:sldId id="680" r:id="rId38"/>
    <p:sldId id="681" r:id="rId39"/>
    <p:sldId id="682" r:id="rId40"/>
    <p:sldId id="678" r:id="rId41"/>
    <p:sldId id="683" r:id="rId42"/>
    <p:sldId id="685" r:id="rId43"/>
    <p:sldId id="686" r:id="rId44"/>
    <p:sldId id="687" r:id="rId45"/>
    <p:sldId id="701" r:id="rId46"/>
    <p:sldId id="688" r:id="rId47"/>
    <p:sldId id="689" r:id="rId48"/>
    <p:sldId id="691" r:id="rId49"/>
    <p:sldId id="690" r:id="rId50"/>
    <p:sldId id="692" r:id="rId51"/>
    <p:sldId id="694" r:id="rId52"/>
    <p:sldId id="693" r:id="rId53"/>
    <p:sldId id="695" r:id="rId54"/>
    <p:sldId id="70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65E"/>
    <a:srgbClr val="233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2" autoAdjust="0"/>
    <p:restoredTop sz="88534" autoAdjust="0"/>
  </p:normalViewPr>
  <p:slideViewPr>
    <p:cSldViewPr>
      <p:cViewPr varScale="1">
        <p:scale>
          <a:sx n="122" d="100"/>
          <a:sy n="122" d="100"/>
        </p:scale>
        <p:origin x="126" y="156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Last modified: 5</a:t>
            </a:r>
            <a:r>
              <a:rPr lang="en-GB" baseline="30000"/>
              <a:t>th</a:t>
            </a:r>
            <a:r>
              <a:rPr lang="en-GB"/>
              <a:t> November 2019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758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868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7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60" r:id="rId3"/>
    <p:sldLayoutId id="2147483661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60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9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246.png"/><Relationship Id="rId18" Type="http://schemas.openxmlformats.org/officeDocument/2006/relationships/image" Target="../media/image450.png"/><Relationship Id="rId3" Type="http://schemas.openxmlformats.org/officeDocument/2006/relationships/image" Target="../media/image40.png"/><Relationship Id="rId7" Type="http://schemas.openxmlformats.org/officeDocument/2006/relationships/image" Target="../media/image58.png"/><Relationship Id="rId12" Type="http://schemas.openxmlformats.org/officeDocument/2006/relationships/image" Target="../media/image49.png"/><Relationship Id="rId17" Type="http://schemas.openxmlformats.org/officeDocument/2006/relationships/image" Target="../media/image440.png"/><Relationship Id="rId2" Type="http://schemas.openxmlformats.org/officeDocument/2006/relationships/image" Target="../media/image360.png"/><Relationship Id="rId16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2510.png"/><Relationship Id="rId10" Type="http://schemas.openxmlformats.org/officeDocument/2006/relationships/image" Target="../media/image47.png"/><Relationship Id="rId19" Type="http://schemas.openxmlformats.org/officeDocument/2006/relationships/image" Target="../media/image460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14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5.png"/><Relationship Id="rId18" Type="http://schemas.openxmlformats.org/officeDocument/2006/relationships/image" Target="../media/image15.png"/><Relationship Id="rId3" Type="http://schemas.openxmlformats.org/officeDocument/2006/relationships/image" Target="../media/image24.png"/><Relationship Id="rId21" Type="http://schemas.openxmlformats.org/officeDocument/2006/relationships/image" Target="../media/image82.png"/><Relationship Id="rId7" Type="http://schemas.openxmlformats.org/officeDocument/2006/relationships/image" Target="../media/image70.png"/><Relationship Id="rId12" Type="http://schemas.openxmlformats.org/officeDocument/2006/relationships/image" Target="../media/image29.png"/><Relationship Id="rId17" Type="http://schemas.openxmlformats.org/officeDocument/2006/relationships/image" Target="../media/image79.png"/><Relationship Id="rId25" Type="http://schemas.openxmlformats.org/officeDocument/2006/relationships/image" Target="../media/image86.png"/><Relationship Id="rId2" Type="http://schemas.openxmlformats.org/officeDocument/2006/relationships/image" Target="../media/image67.png"/><Relationship Id="rId16" Type="http://schemas.openxmlformats.org/officeDocument/2006/relationships/image" Target="../media/image78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5.png"/><Relationship Id="rId5" Type="http://schemas.openxmlformats.org/officeDocument/2006/relationships/image" Target="../media/image68.png"/><Relationship Id="rId15" Type="http://schemas.openxmlformats.org/officeDocument/2006/relationships/image" Target="../media/image77.png"/><Relationship Id="rId23" Type="http://schemas.openxmlformats.org/officeDocument/2006/relationships/image" Target="../media/image84.png"/><Relationship Id="rId10" Type="http://schemas.openxmlformats.org/officeDocument/2006/relationships/image" Target="../media/image73.png"/><Relationship Id="rId19" Type="http://schemas.openxmlformats.org/officeDocument/2006/relationships/image" Target="../media/image80.png"/><Relationship Id="rId4" Type="http://schemas.openxmlformats.org/officeDocument/2006/relationships/image" Target="../media/image16.png"/><Relationship Id="rId9" Type="http://schemas.openxmlformats.org/officeDocument/2006/relationships/image" Target="../media/image72.png"/><Relationship Id="rId14" Type="http://schemas.openxmlformats.org/officeDocument/2006/relationships/image" Target="../media/image76.png"/><Relationship Id="rId22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" Type="http://schemas.openxmlformats.org/officeDocument/2006/relationships/image" Target="../media/image151.png"/><Relationship Id="rId16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58.png"/><Relationship Id="rId5" Type="http://schemas.openxmlformats.org/officeDocument/2006/relationships/image" Target="../media/image154.png"/><Relationship Id="rId15" Type="http://schemas.openxmlformats.org/officeDocument/2006/relationships/image" Target="../media/image162.png"/><Relationship Id="rId10" Type="http://schemas.openxmlformats.org/officeDocument/2006/relationships/image" Target="../media/image1300.png"/><Relationship Id="rId4" Type="http://schemas.openxmlformats.org/officeDocument/2006/relationships/image" Target="../media/image153.png"/><Relationship Id="rId9" Type="http://schemas.openxmlformats.org/officeDocument/2006/relationships/image" Target="../media/image1290.png"/><Relationship Id="rId14" Type="http://schemas.openxmlformats.org/officeDocument/2006/relationships/image" Target="../media/image1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7.png"/><Relationship Id="rId3" Type="http://schemas.openxmlformats.org/officeDocument/2006/relationships/image" Target="../media/image187.png"/><Relationship Id="rId7" Type="http://schemas.openxmlformats.org/officeDocument/2006/relationships/image" Target="../media/image191.png"/><Relationship Id="rId12" Type="http://schemas.openxmlformats.org/officeDocument/2006/relationships/image" Target="../media/image196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95.png"/><Relationship Id="rId5" Type="http://schemas.openxmlformats.org/officeDocument/2006/relationships/image" Target="../media/image189.png"/><Relationship Id="rId10" Type="http://schemas.openxmlformats.org/officeDocument/2006/relationships/image" Target="../media/image194.png"/><Relationship Id="rId4" Type="http://schemas.openxmlformats.org/officeDocument/2006/relationships/image" Target="../media/image188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0.png"/><Relationship Id="rId5" Type="http://schemas.openxmlformats.org/officeDocument/2006/relationships/image" Target="../media/image1660.png"/><Relationship Id="rId4" Type="http://schemas.openxmlformats.org/officeDocument/2006/relationships/image" Target="../media/image20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5.png"/><Relationship Id="rId4" Type="http://schemas.openxmlformats.org/officeDocument/2006/relationships/image" Target="../media/image2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2.png"/><Relationship Id="rId4" Type="http://schemas.openxmlformats.org/officeDocument/2006/relationships/image" Target="../media/image2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3" Type="http://schemas.openxmlformats.org/officeDocument/2006/relationships/image" Target="../media/image238.png"/><Relationship Id="rId7" Type="http://schemas.openxmlformats.org/officeDocument/2006/relationships/image" Target="../media/image242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245.png"/><Relationship Id="rId7" Type="http://schemas.openxmlformats.org/officeDocument/2006/relationships/image" Target="../media/image250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png"/><Relationship Id="rId18" Type="http://schemas.openxmlformats.org/officeDocument/2006/relationships/image" Target="../media/image268.pn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12" Type="http://schemas.openxmlformats.org/officeDocument/2006/relationships/image" Target="../media/image262.png"/><Relationship Id="rId17" Type="http://schemas.openxmlformats.org/officeDocument/2006/relationships/image" Target="../media/image267.png"/><Relationship Id="rId2" Type="http://schemas.openxmlformats.org/officeDocument/2006/relationships/image" Target="../media/image252.png"/><Relationship Id="rId16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5" Type="http://schemas.openxmlformats.org/officeDocument/2006/relationships/image" Target="../media/image26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270.png"/><Relationship Id="rId7" Type="http://schemas.openxmlformats.org/officeDocument/2006/relationships/image" Target="../media/image274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11" Type="http://schemas.openxmlformats.org/officeDocument/2006/relationships/image" Target="../media/image278.png"/><Relationship Id="rId5" Type="http://schemas.openxmlformats.org/officeDocument/2006/relationships/image" Target="../media/image272.png"/><Relationship Id="rId10" Type="http://schemas.openxmlformats.org/officeDocument/2006/relationships/image" Target="../media/image277.png"/><Relationship Id="rId4" Type="http://schemas.openxmlformats.org/officeDocument/2006/relationships/image" Target="../media/image271.png"/><Relationship Id="rId9" Type="http://schemas.openxmlformats.org/officeDocument/2006/relationships/image" Target="../media/image2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2.png"/><Relationship Id="rId5" Type="http://schemas.openxmlformats.org/officeDocument/2006/relationships/image" Target="../media/image281.png"/><Relationship Id="rId4" Type="http://schemas.openxmlformats.org/officeDocument/2006/relationships/image" Target="../media/image2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7" Type="http://schemas.openxmlformats.org/officeDocument/2006/relationships/image" Target="../media/image288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Relationship Id="rId5" Type="http://schemas.openxmlformats.org/officeDocument/2006/relationships/image" Target="../media/image286.png"/><Relationship Id="rId4" Type="http://schemas.openxmlformats.org/officeDocument/2006/relationships/image" Target="../media/image2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3.png"/><Relationship Id="rId5" Type="http://schemas.openxmlformats.org/officeDocument/2006/relationships/image" Target="../media/image292.png"/><Relationship Id="rId4" Type="http://schemas.openxmlformats.org/officeDocument/2006/relationships/image" Target="../media/image29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7" Type="http://schemas.openxmlformats.org/officeDocument/2006/relationships/image" Target="../media/image299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5" Type="http://schemas.openxmlformats.org/officeDocument/2006/relationships/image" Target="../media/image297.png"/><Relationship Id="rId4" Type="http://schemas.openxmlformats.org/officeDocument/2006/relationships/image" Target="../media/image29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16.png"/><Relationship Id="rId3" Type="http://schemas.openxmlformats.org/officeDocument/2006/relationships/image" Target="../media/image306.png"/><Relationship Id="rId7" Type="http://schemas.openxmlformats.org/officeDocument/2006/relationships/image" Target="../media/image310.png"/><Relationship Id="rId12" Type="http://schemas.openxmlformats.org/officeDocument/2006/relationships/image" Target="../media/image315.png"/><Relationship Id="rId2" Type="http://schemas.openxmlformats.org/officeDocument/2006/relationships/image" Target="../media/image305.png"/><Relationship Id="rId16" Type="http://schemas.openxmlformats.org/officeDocument/2006/relationships/image" Target="../media/image3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9.png"/><Relationship Id="rId11" Type="http://schemas.openxmlformats.org/officeDocument/2006/relationships/image" Target="../media/image314.png"/><Relationship Id="rId5" Type="http://schemas.openxmlformats.org/officeDocument/2006/relationships/image" Target="../media/image308.png"/><Relationship Id="rId15" Type="http://schemas.openxmlformats.org/officeDocument/2006/relationships/image" Target="../media/image318.png"/><Relationship Id="rId10" Type="http://schemas.openxmlformats.org/officeDocument/2006/relationships/image" Target="../media/image313.png"/><Relationship Id="rId4" Type="http://schemas.openxmlformats.org/officeDocument/2006/relationships/image" Target="../media/image307.png"/><Relationship Id="rId9" Type="http://schemas.openxmlformats.org/officeDocument/2006/relationships/image" Target="../media/image312.png"/><Relationship Id="rId14" Type="http://schemas.openxmlformats.org/officeDocument/2006/relationships/image" Target="../media/image31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3" Type="http://schemas.openxmlformats.org/officeDocument/2006/relationships/image" Target="../media/image321.png"/><Relationship Id="rId7" Type="http://schemas.openxmlformats.org/officeDocument/2006/relationships/image" Target="../media/image32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10" Type="http://schemas.openxmlformats.org/officeDocument/2006/relationships/image" Target="../media/image328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3" Type="http://schemas.openxmlformats.org/officeDocument/2006/relationships/image" Target="../media/image330.png"/><Relationship Id="rId7" Type="http://schemas.openxmlformats.org/officeDocument/2006/relationships/image" Target="../media/image334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3.png"/><Relationship Id="rId5" Type="http://schemas.openxmlformats.org/officeDocument/2006/relationships/image" Target="../media/image332.png"/><Relationship Id="rId4" Type="http://schemas.openxmlformats.org/officeDocument/2006/relationships/image" Target="../media/image331.png"/><Relationship Id="rId9" Type="http://schemas.openxmlformats.org/officeDocument/2006/relationships/image" Target="../media/image33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7" Type="http://schemas.openxmlformats.org/officeDocument/2006/relationships/image" Target="../media/image342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1.png"/><Relationship Id="rId5" Type="http://schemas.openxmlformats.org/officeDocument/2006/relationships/image" Target="../media/image340.png"/><Relationship Id="rId4" Type="http://schemas.openxmlformats.org/officeDocument/2006/relationships/image" Target="../media/image3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.png"/><Relationship Id="rId5" Type="http://schemas.openxmlformats.org/officeDocument/2006/relationships/image" Target="../media/image345.png"/><Relationship Id="rId4" Type="http://schemas.openxmlformats.org/officeDocument/2006/relationships/image" Target="../media/image3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png"/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1.png"/><Relationship Id="rId5" Type="http://schemas.openxmlformats.org/officeDocument/2006/relationships/image" Target="../media/image350.png"/><Relationship Id="rId4" Type="http://schemas.openxmlformats.org/officeDocument/2006/relationships/image" Target="../media/image3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93989"/>
            <a:ext cx="9036496" cy="1470025"/>
          </a:xfrm>
        </p:spPr>
        <p:txBody>
          <a:bodyPr/>
          <a:lstStyle/>
          <a:p>
            <a:r>
              <a:rPr lang="en-GB" b="1" dirty="0">
                <a:solidFill>
                  <a:srgbClr val="FFFF00"/>
                </a:solidFill>
              </a:rPr>
              <a:t>Pure Y1 Ch 14</a:t>
            </a:r>
            <a:br>
              <a:rPr lang="en-GB" b="1" dirty="0">
                <a:solidFill>
                  <a:srgbClr val="FFFF00"/>
                </a:solidFill>
              </a:rPr>
            </a:br>
            <a:r>
              <a:rPr lang="en-GB" b="1" dirty="0">
                <a:solidFill>
                  <a:srgbClr val="FFFF00"/>
                </a:solidFill>
              </a:rPr>
              <a:t>Exponentials and Logarithms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25757" y="1216679"/>
                <a:ext cx="7776000" cy="3608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=3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=−1</m:t>
                    </m:r>
                  </m:oMath>
                </a14:m>
                <a:r>
                  <a:rPr lang="en-GB" dirty="0"/>
                  <a:t>, evaluate these expressions without a calculator.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		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			e)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11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+3</m:t>
                        </m:r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sup>
                    </m:sSup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GB" dirty="0"/>
                  <a:t>		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1−</m:t>
                        </m:r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sup>
                    </m:sSup>
                  </m:oMath>
                </a14:m>
                <a:endParaRPr lang="en-GB" dirty="0"/>
              </a:p>
              <a:p>
                <a:pPr marL="800100" lvl="1" indent="-342900">
                  <a:buAutoNum type="alphaL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Simplify these expressions, writing each answer as a single power.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8</m:t>
                        </m:r>
                      </m:sup>
                    </m:sSup>
                    <m:r>
                      <a:rPr lang="en-GB" i="1">
                        <a:latin typeface="Cambria Math"/>
                        <a:ea typeface="Cambria Math"/>
                      </a:rPr>
                      <m:t>÷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a typeface="Cambria Math"/>
                  </a:rPr>
                  <a:t>			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5</m:t>
                            </m:r>
                          </m:sup>
                        </m:sSup>
                        <m:r>
                          <a:rPr lang="en-GB" i="1">
                            <a:latin typeface="Cambria Math"/>
                            <a:ea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  <a:ea typeface="Cambria Math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endParaRPr lang="en-GB" dirty="0">
                  <a:ea typeface="Cambria Math"/>
                </a:endParaRP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GB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/>
                                    <a:ea typeface="Cambria Math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/>
                                    <a:ea typeface="Cambria Math"/>
                                  </a:rPr>
                                  <m:t>9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ea typeface="Cambria Math"/>
                  </a:rPr>
                  <a:t>			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8</m:t>
                            </m:r>
                          </m:sup>
                        </m:sSup>
                      </m:e>
                    </m:rad>
                  </m:oMath>
                </a14:m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Plot the following data on a scatter graph and draw a line of best fit. Determine the gradient and intercept of the line of best fit, giving the answers to one decimal place.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757" y="1216679"/>
                <a:ext cx="7776000" cy="3608937"/>
              </a:xfrm>
              <a:prstGeom prst="rect">
                <a:avLst/>
              </a:prstGeom>
              <a:blipFill>
                <a:blip r:embed="rId2"/>
                <a:stretch>
                  <a:fillRect l="-706" t="-1014" r="-1255" b="-16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07568" y="1196753"/>
                <a:ext cx="7776000" cy="380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    125			32			1</a:t>
                </a: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			49</a:t>
                </a: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21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gradient 1.5, intercept 4.1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196753"/>
                <a:ext cx="7776000" cy="3808863"/>
              </a:xfrm>
              <a:prstGeom prst="rect">
                <a:avLst/>
              </a:prstGeom>
              <a:blipFill>
                <a:blip r:embed="rId3"/>
                <a:stretch>
                  <a:fillRect b="-1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1496"/>
            <a:ext cx="9144000" cy="6912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bg1"/>
                </a:solidFill>
              </a:rPr>
              <a:t>Starter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25841"/>
              </p:ext>
            </p:extLst>
          </p:nvPr>
        </p:nvGraphicFramePr>
        <p:xfrm>
          <a:off x="2965757" y="513883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50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2063553" y="1785479"/>
            <a:ext cx="3045295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Sketch exponential graphs.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3613" y="1794827"/>
            <a:ext cx="424847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Use an interpret models that use exponential functions.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23843" y="772918"/>
                <a:ext cx="83529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You have encountered exponential expressions like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before, but probably not ‘the’ exponential function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. Similarly, you will learn that the inverse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843" y="772918"/>
                <a:ext cx="8352928" cy="584775"/>
              </a:xfrm>
              <a:prstGeom prst="rect">
                <a:avLst/>
              </a:prstGeom>
              <a:blipFill>
                <a:blip r:embed="rId2"/>
                <a:stretch>
                  <a:fillRect l="-365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723613" y="2475568"/>
                <a:ext cx="4248472" cy="92826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population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of </a:t>
                </a:r>
                <a:r>
                  <a:rPr lang="en-GB" dirty="0" err="1"/>
                  <a:t>Davetown</a:t>
                </a:r>
                <a:r>
                  <a:rPr lang="en-GB" dirty="0"/>
                  <a:t> after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years is modelled using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are constants…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613" y="2475568"/>
                <a:ext cx="4248472" cy="928267"/>
              </a:xfrm>
              <a:prstGeom prst="rect">
                <a:avLst/>
              </a:prstGeom>
              <a:blipFill>
                <a:blip r:embed="rId3"/>
                <a:stretch>
                  <a:fillRect b="-170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62675" y="2174156"/>
                <a:ext cx="3046173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on the same axes.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675" y="2174156"/>
                <a:ext cx="3046173" cy="646331"/>
              </a:xfrm>
              <a:prstGeom prst="rect">
                <a:avLst/>
              </a:prstGeom>
              <a:blipFill>
                <a:blip r:embed="rId4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021347" y="4141892"/>
            <a:ext cx="3624085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r>
              <a:rPr lang="en-GB" dirty="0"/>
              <a:t>: Understand the log function and use laws of logs.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21347" y="4790012"/>
                <a:ext cx="3624085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47" y="4790012"/>
                <a:ext cx="3624085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973298" y="5775537"/>
            <a:ext cx="424847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5</a:t>
            </a:r>
            <a:r>
              <a:rPr lang="en-GB" dirty="0"/>
              <a:t>: Use logarithms to estimate values of constants in non-linear models.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3297" y="6425999"/>
            <a:ext cx="4248472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(This is a continuation of (2))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898555" y="4141890"/>
                <a:ext cx="3540567" cy="37427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3</a:t>
                </a:r>
                <a:r>
                  <a:rPr lang="en-GB" dirty="0"/>
                  <a:t>: Be able to differentiate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55" y="4141890"/>
                <a:ext cx="3540567" cy="374270"/>
              </a:xfrm>
              <a:prstGeom prst="rect">
                <a:avLst/>
              </a:prstGeom>
              <a:blipFill>
                <a:blip r:embed="rId6"/>
                <a:stretch>
                  <a:fillRect l="-1026" t="-3030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898555" y="4521155"/>
                <a:ext cx="3540567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, determine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55" y="4521155"/>
                <a:ext cx="3540567" cy="491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4632" cy="6907803"/>
            <a:chOff x="0" y="0"/>
            <a:chExt cx="9154632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0" y="53781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53650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20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16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12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8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-4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1259"/>
                  </p:ext>
                </p:extLst>
              </p:nvPr>
            </p:nvGraphicFramePr>
            <p:xfrm>
              <a:off x="1612901" y="129332"/>
              <a:ext cx="453601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4429986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1259"/>
                  </p:ext>
                </p:extLst>
              </p:nvPr>
            </p:nvGraphicFramePr>
            <p:xfrm>
              <a:off x="1612901" y="129332"/>
              <a:ext cx="453601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4429986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47022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47022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Rectangle 48"/>
          <p:cNvSpPr/>
          <p:nvPr/>
        </p:nvSpPr>
        <p:spPr>
          <a:xfrm>
            <a:off x="2412004" y="495536"/>
            <a:ext cx="62647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2" name="Oval 51"/>
          <p:cNvSpPr/>
          <p:nvPr/>
        </p:nvSpPr>
        <p:spPr>
          <a:xfrm>
            <a:off x="1829561" y="522392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3035551" y="495536"/>
            <a:ext cx="536324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2685959" y="51533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569597" y="495536"/>
            <a:ext cx="478529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550569" y="5050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4043772" y="495537"/>
            <a:ext cx="46805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07919" y="48740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511825" y="495536"/>
            <a:ext cx="43204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93280" y="4442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943871" y="495536"/>
            <a:ext cx="609204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6149602" y="358467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70166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: Shape 3"/>
          <p:cNvSpPr/>
          <p:nvPr/>
        </p:nvSpPr>
        <p:spPr>
          <a:xfrm>
            <a:off x="1498600" y="0"/>
            <a:ext cx="6273800" cy="5334000"/>
          </a:xfrm>
          <a:custGeom>
            <a:avLst/>
            <a:gdLst>
              <a:gd name="connsiteX0" fmla="*/ 0 w 6273800"/>
              <a:gd name="connsiteY0" fmla="*/ 5334000 h 5334000"/>
              <a:gd name="connsiteX1" fmla="*/ 1270000 w 6273800"/>
              <a:gd name="connsiteY1" fmla="*/ 5257800 h 5334000"/>
              <a:gd name="connsiteX2" fmla="*/ 2159000 w 6273800"/>
              <a:gd name="connsiteY2" fmla="*/ 5143500 h 5334000"/>
              <a:gd name="connsiteX3" fmla="*/ 3009900 w 6273800"/>
              <a:gd name="connsiteY3" fmla="*/ 4953000 h 5334000"/>
              <a:gd name="connsiteX4" fmla="*/ 3873500 w 6273800"/>
              <a:gd name="connsiteY4" fmla="*/ 4521200 h 5334000"/>
              <a:gd name="connsiteX5" fmla="*/ 4737100 w 6273800"/>
              <a:gd name="connsiteY5" fmla="*/ 3657600 h 5334000"/>
              <a:gd name="connsiteX6" fmla="*/ 5600700 w 6273800"/>
              <a:gd name="connsiteY6" fmla="*/ 1917700 h 5334000"/>
              <a:gd name="connsiteX7" fmla="*/ 6273800 w 6273800"/>
              <a:gd name="connsiteY7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5334000">
                <a:moveTo>
                  <a:pt x="0" y="5334000"/>
                </a:moveTo>
                <a:cubicBezTo>
                  <a:pt x="455083" y="5311775"/>
                  <a:pt x="910167" y="5289550"/>
                  <a:pt x="1270000" y="5257800"/>
                </a:cubicBezTo>
                <a:cubicBezTo>
                  <a:pt x="1629833" y="5226050"/>
                  <a:pt x="1869017" y="5194300"/>
                  <a:pt x="2159000" y="5143500"/>
                </a:cubicBezTo>
                <a:cubicBezTo>
                  <a:pt x="2448983" y="5092700"/>
                  <a:pt x="2724150" y="5056717"/>
                  <a:pt x="3009900" y="4953000"/>
                </a:cubicBezTo>
                <a:cubicBezTo>
                  <a:pt x="3295650" y="4849283"/>
                  <a:pt x="3585633" y="4737100"/>
                  <a:pt x="3873500" y="4521200"/>
                </a:cubicBezTo>
                <a:cubicBezTo>
                  <a:pt x="4161367" y="4305300"/>
                  <a:pt x="4449233" y="4091517"/>
                  <a:pt x="4737100" y="3657600"/>
                </a:cubicBezTo>
                <a:cubicBezTo>
                  <a:pt x="5024967" y="3223683"/>
                  <a:pt x="5344583" y="2527300"/>
                  <a:pt x="5600700" y="1917700"/>
                </a:cubicBezTo>
                <a:cubicBezTo>
                  <a:pt x="5856817" y="1308100"/>
                  <a:pt x="6065308" y="654050"/>
                  <a:pt x="62738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5562702" y="495536"/>
            <a:ext cx="571398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669273" y="3171512"/>
                <a:ext cx="3873500" cy="3603487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Why are exponential functions important?</a:t>
                </a:r>
              </a:p>
              <a:p>
                <a:r>
                  <a:rPr lang="en-GB" sz="1400" dirty="0"/>
                  <a:t>Each of the common graphs have a </a:t>
                </a:r>
                <a:r>
                  <a:rPr lang="en-GB" sz="1400" b="1" dirty="0"/>
                  <a:t>key property </a:t>
                </a:r>
                <a:r>
                  <a:rPr lang="en-GB" sz="1400" dirty="0"/>
                  <a:t>that makes them </a:t>
                </a:r>
                <a:r>
                  <a:rPr lang="en-GB" sz="1400" b="1" dirty="0"/>
                  <a:t>useful for modelling</a:t>
                </a:r>
                <a:r>
                  <a:rPr lang="en-GB" sz="1400" dirty="0"/>
                  <a:t>.</a:t>
                </a:r>
              </a:p>
              <a:p>
                <a:endParaRPr lang="en-GB" sz="900" dirty="0"/>
              </a:p>
              <a:p>
                <a:r>
                  <a:rPr lang="en-GB" sz="1400" dirty="0"/>
                  <a:t>For reciprocal graphs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400" dirty="0"/>
                  <a:t>, 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doubles,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halves. This means we’d use it to represent variables which are inversely proportional.</a:t>
                </a:r>
              </a:p>
              <a:p>
                <a:endParaRPr lang="en-GB" sz="900" dirty="0"/>
              </a:p>
              <a:p>
                <a:r>
                  <a:rPr lang="en-GB" sz="1400" dirty="0"/>
                  <a:t>Linear graphs are used when we’re </a:t>
                </a:r>
                <a:r>
                  <a:rPr lang="en-GB" sz="1400" b="1" dirty="0"/>
                  <a:t>adding the same amount </a:t>
                </a:r>
                <a:r>
                  <a:rPr lang="en-GB" sz="1400" dirty="0"/>
                  <a:t>each time.</a:t>
                </a:r>
              </a:p>
              <a:p>
                <a:r>
                  <a:rPr lang="en-GB" sz="1400" dirty="0"/>
                  <a:t>In contrast, exponential graphs are used when we’re </a:t>
                </a:r>
                <a:r>
                  <a:rPr lang="en-GB" sz="1400" b="1" dirty="0"/>
                  <a:t>multiplying by the same amount</a:t>
                </a:r>
                <a:r>
                  <a:rPr lang="en-GB" sz="1400" dirty="0"/>
                  <a:t> each time. For example, we might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1000(1.05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400" dirty="0"/>
                  <a:t> to model our savings with interest, where each year we have 1.05 times as much, i.e. with 5% added interest.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273" y="3171512"/>
                <a:ext cx="3873500" cy="3603487"/>
              </a:xfrm>
              <a:prstGeom prst="rect">
                <a:avLst/>
              </a:prstGeom>
              <a:blipFill>
                <a:blip r:embed="rId5"/>
                <a:stretch>
                  <a:fillRect l="-1260" t="-846" r="-1575" b="-1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79243" y="1149711"/>
                <a:ext cx="3757586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Note</a:t>
                </a:r>
                <a:r>
                  <a:rPr lang="en-GB" sz="1600" dirty="0"/>
                  <a:t>: Ensure that you can distinguish between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GB" sz="1600" dirty="0"/>
                  <a:t> (e.g. polynomial) term and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exponential term. In the former the variable is in the </a:t>
                </a:r>
                <a:r>
                  <a:rPr lang="en-GB" sz="1600" b="1" dirty="0"/>
                  <a:t>base</a:t>
                </a:r>
                <a:r>
                  <a:rPr lang="en-GB" sz="1600" dirty="0"/>
                  <a:t>, and in the letter the variable is in the </a:t>
                </a:r>
                <a:r>
                  <a:rPr lang="en-GB" sz="1600" b="1" dirty="0"/>
                  <a:t>power</a:t>
                </a:r>
                <a:r>
                  <a:rPr lang="en-GB" sz="1600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behaves very differently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, both in its rate of growth (i.e. exponential terms grow much faster!) and how it differentiates.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243" y="1149711"/>
                <a:ext cx="3757586" cy="2062103"/>
              </a:xfrm>
              <a:prstGeom prst="rect">
                <a:avLst/>
              </a:prstGeom>
              <a:blipFill>
                <a:blip r:embed="rId6"/>
                <a:stretch>
                  <a:fillRect l="-645" t="-292" r="-645" b="-23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63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4" grpId="0" animBg="1"/>
      <p:bldP spid="70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Contrasting exponential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70336" y="845891"/>
                <a:ext cx="851986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same axes 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336" y="845891"/>
                <a:ext cx="8519864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57636" y="3331716"/>
                <a:ext cx="8550876" cy="53899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same axes 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636" y="3331716"/>
                <a:ext cx="8550876" cy="5389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5375920" y="162880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86820" y="3102869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5660" y="2941837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660" y="2941837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51450" y="1321014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50" y="1321014"/>
                <a:ext cx="448940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>
            <a:off x="3483960" y="2044701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3495676" y="2324101"/>
            <a:ext cx="3724275" cy="638175"/>
          </a:xfrm>
          <a:custGeom>
            <a:avLst/>
            <a:gdLst>
              <a:gd name="connsiteX0" fmla="*/ 0 w 3724275"/>
              <a:gd name="connsiteY0" fmla="*/ 638175 h 638175"/>
              <a:gd name="connsiteX1" fmla="*/ 1885950 w 3724275"/>
              <a:gd name="connsiteY1" fmla="*/ 466725 h 638175"/>
              <a:gd name="connsiteX2" fmla="*/ 3724275 w 3724275"/>
              <a:gd name="connsiteY2" fmla="*/ 0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4275" h="638175">
                <a:moveTo>
                  <a:pt x="0" y="638175"/>
                </a:moveTo>
                <a:cubicBezTo>
                  <a:pt x="632619" y="605631"/>
                  <a:pt x="1265238" y="573087"/>
                  <a:pt x="1885950" y="466725"/>
                </a:cubicBezTo>
                <a:cubicBezTo>
                  <a:pt x="2506663" y="360362"/>
                  <a:pt x="3115469" y="180181"/>
                  <a:pt x="3724275" y="0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/>
          <p:cNvSpPr/>
          <p:nvPr/>
        </p:nvSpPr>
        <p:spPr>
          <a:xfrm>
            <a:off x="3486151" y="1600200"/>
            <a:ext cx="3667125" cy="1485900"/>
          </a:xfrm>
          <a:custGeom>
            <a:avLst/>
            <a:gdLst>
              <a:gd name="connsiteX0" fmla="*/ 0 w 3667125"/>
              <a:gd name="connsiteY0" fmla="*/ 1485900 h 1485900"/>
              <a:gd name="connsiteX1" fmla="*/ 1905000 w 3667125"/>
              <a:gd name="connsiteY1" fmla="*/ 1200150 h 1485900"/>
              <a:gd name="connsiteX2" fmla="*/ 3667125 w 3667125"/>
              <a:gd name="connsiteY2" fmla="*/ 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5" h="1485900">
                <a:moveTo>
                  <a:pt x="0" y="1485900"/>
                </a:moveTo>
                <a:cubicBezTo>
                  <a:pt x="646906" y="1466850"/>
                  <a:pt x="1293813" y="1447800"/>
                  <a:pt x="1905000" y="1200150"/>
                </a:cubicBezTo>
                <a:cubicBezTo>
                  <a:pt x="2516187" y="952500"/>
                  <a:pt x="3091656" y="476250"/>
                  <a:pt x="3667125" y="0"/>
                </a:cubicBez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84016" y="1427277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016" y="1427277"/>
                <a:ext cx="115985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74466" y="1856983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466" y="1856983"/>
                <a:ext cx="1159859" cy="307777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079266" y="2190494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266" y="2190494"/>
                <a:ext cx="115985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63938" y="1447815"/>
                <a:ext cx="120811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is always 1.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938" y="1447815"/>
                <a:ext cx="1208113" cy="461665"/>
              </a:xfrm>
              <a:prstGeom prst="rect">
                <a:avLst/>
              </a:prstGeom>
              <a:blipFill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90726" y="1769161"/>
                <a:ext cx="1541489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200" dirty="0"/>
                  <a:t>, the larger the base, the smaller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26" y="1769161"/>
                <a:ext cx="154148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472265" y="1844571"/>
                <a:ext cx="1541489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200" dirty="0"/>
                  <a:t>, the larger the base, the larger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265" y="1844571"/>
                <a:ext cx="154148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>
            <a:off x="6815756" y="2544703"/>
            <a:ext cx="1637458" cy="554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276726" y="1905000"/>
            <a:ext cx="904874" cy="685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57499" y="2567791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499" y="2567791"/>
                <a:ext cx="44894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>
            <a:off x="2639148" y="2614021"/>
            <a:ext cx="1189902" cy="2339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904296" y="454000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015196" y="6014069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874036" y="5853037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036" y="5853037"/>
                <a:ext cx="44894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679826" y="4232214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826" y="4232214"/>
                <a:ext cx="44894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: Shape 36"/>
          <p:cNvSpPr/>
          <p:nvPr/>
        </p:nvSpPr>
        <p:spPr>
          <a:xfrm>
            <a:off x="2045826" y="4951935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532142" y="4647019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42" y="4647019"/>
                <a:ext cx="115985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reeform: Shape 38"/>
          <p:cNvSpPr/>
          <p:nvPr/>
        </p:nvSpPr>
        <p:spPr>
          <a:xfrm flipH="1">
            <a:off x="2027549" y="4962123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54167" y="4534134"/>
                <a:ext cx="1159859" cy="600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167" y="4534134"/>
                <a:ext cx="1159859" cy="60054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36490" y="4007437"/>
                <a:ext cx="3872023" cy="257634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Three important notes: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said to be “</a:t>
                </a:r>
                <a:r>
                  <a:rPr lang="en-GB" sz="1200" b="1" dirty="0"/>
                  <a:t>exponential growing</a:t>
                </a:r>
                <a:r>
                  <a:rPr lang="en-GB" sz="1200" dirty="0"/>
                  <a:t>” whereas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said to be “</a:t>
                </a:r>
                <a:r>
                  <a:rPr lang="en-GB" sz="1200" b="1" dirty="0"/>
                  <a:t>exponentially decaying</a:t>
                </a:r>
                <a:r>
                  <a:rPr lang="en-GB" sz="1200" dirty="0"/>
                  <a:t>”, because it’s getting smaller (halving) each time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increases by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a reflection of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in the line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Proof:</a:t>
                </a:r>
                <a:br>
                  <a:rPr lang="en-GB" sz="1200" dirty="0"/>
                </a:br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,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would usually be written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.</a:t>
                </a:r>
                <a:br>
                  <a:rPr lang="en-GB" sz="1200" dirty="0"/>
                </a:br>
                <a:r>
                  <a:rPr lang="en-GB" sz="1200" b="1" u="sng" dirty="0"/>
                  <a:t>You should therefore in general be able to recognise and sketch the graph </a:t>
                </a:r>
                <a14:m>
                  <m:oMath xmlns:m="http://schemas.openxmlformats.org/officeDocument/2006/math">
                    <m:r>
                      <a:rPr lang="en-GB" sz="1200" b="1" i="1" u="sng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200" b="1" i="1" u="sng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1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200" b="1" u="sng" dirty="0"/>
                  <a:t>.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490" y="4007437"/>
                <a:ext cx="3872023" cy="2576346"/>
              </a:xfrm>
              <a:prstGeom prst="rect">
                <a:avLst/>
              </a:prstGeom>
              <a:blipFill>
                <a:blip r:embed="rId17"/>
                <a:stretch>
                  <a:fillRect b="-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550296" y="545193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296" y="5451938"/>
                <a:ext cx="44894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1954166" y="1226499"/>
            <a:ext cx="8536034" cy="1942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4166" y="3879115"/>
            <a:ext cx="8554346" cy="28567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130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 Transformations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1175489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175489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5253112" y="19583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487712" y="3457867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21152" y="32714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152" y="32714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8642" y="16506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642" y="16506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2611852" y="2361599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242058" y="218658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058" y="2186580"/>
                <a:ext cx="1159859" cy="312586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72732" y="264087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732" y="2640873"/>
                <a:ext cx="44894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88076" y="1709921"/>
                <a:ext cx="283961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‘change’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is ‘inside the function’ (i.e. input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is replaced with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1600" dirty="0"/>
                  <a:t>).</a:t>
                </a:r>
              </a:p>
              <a:p>
                <a:r>
                  <a:rPr lang="en-GB" sz="1600" dirty="0"/>
                  <a:t>So a translation to the left by 3.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Ensure you work out the new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-intercept.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76" y="1709921"/>
                <a:ext cx="2839616" cy="1815882"/>
              </a:xfrm>
              <a:prstGeom prst="rect">
                <a:avLst/>
              </a:prstGeom>
              <a:blipFill>
                <a:blip r:embed="rId7"/>
                <a:stretch>
                  <a:fillRect l="-1288" t="-1007" r="-644" b="-33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1847528" y="1559348"/>
            <a:ext cx="8380164" cy="241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734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14A (Pages 313-314)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F1D51F1-4DBE-E9A8-4B3A-CC78BD89A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82" y="584775"/>
            <a:ext cx="3403600" cy="252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58EDE-DA52-571F-D79C-F08A01BDD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3" y="597364"/>
            <a:ext cx="4320471" cy="993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57CDEC-84B8-E1E5-992D-2177A58D5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3058255"/>
            <a:ext cx="5904656" cy="86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C092B-E089-E036-1EF7-BCCF644F3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544" y="3927987"/>
            <a:ext cx="2832100" cy="2755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DC358-4F5E-9B45-96AE-428512678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882" y="3925815"/>
            <a:ext cx="3276476" cy="27284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4EADE4-D53B-360E-60F8-F01E94EB20DA}"/>
              </a:ext>
            </a:extLst>
          </p:cNvPr>
          <p:cNvSpPr/>
          <p:nvPr/>
        </p:nvSpPr>
        <p:spPr>
          <a:xfrm>
            <a:off x="6456041" y="692700"/>
            <a:ext cx="3666222" cy="2304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8269D-81FF-72C7-45E2-BC62E5C6437D}"/>
              </a:ext>
            </a:extLst>
          </p:cNvPr>
          <p:cNvSpPr/>
          <p:nvPr/>
        </p:nvSpPr>
        <p:spPr>
          <a:xfrm>
            <a:off x="1967800" y="3956386"/>
            <a:ext cx="3552136" cy="272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7E941-BDBB-A8F3-DB47-77108CEE541B}"/>
              </a:ext>
            </a:extLst>
          </p:cNvPr>
          <p:cNvSpPr/>
          <p:nvPr/>
        </p:nvSpPr>
        <p:spPr>
          <a:xfrm>
            <a:off x="6456040" y="3973656"/>
            <a:ext cx="3666222" cy="272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303694" y="599128"/>
                <a:ext cx="5364088" cy="6258873"/>
              </a:xfrm>
              <a:prstGeom prst="rect">
                <a:avLst/>
              </a:prstGeom>
              <a:gradFill>
                <a:gsLst>
                  <a:gs pos="0">
                    <a:schemeClr val="bg2">
                      <a:alpha val="33000"/>
                    </a:schemeClr>
                  </a:gs>
                  <a:gs pos="74000">
                    <a:schemeClr val="bg1">
                      <a:lumMod val="85000"/>
                      <a:alpha val="40000"/>
                    </a:schemeClr>
                  </a:gs>
                  <a:gs pos="83000">
                    <a:schemeClr val="bg1">
                      <a:lumMod val="75000"/>
                      <a:alpha val="10000"/>
                    </a:schemeClr>
                  </a:gs>
                  <a:gs pos="100000">
                    <a:schemeClr val="bg1">
                      <a:lumMod val="65000"/>
                      <a:alpha val="43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</a:rPr>
                  <a:t>You won’t yet be able to differentiate general exponential functions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</a:rPr>
                  <a:t> until Year 2.</a:t>
                </a:r>
              </a:p>
              <a:p>
                <a:pPr algn="ctr"/>
                <a:r>
                  <a:rPr lang="en-GB" dirty="0">
                    <a:solidFill>
                      <a:schemeClr val="bg1">
                        <a:lumMod val="50000"/>
                      </a:schemeClr>
                    </a:solidFill>
                  </a:rPr>
                  <a:t>But I’ve calculated the gradient functions for you – click the black arrow to reveal the graph and gradient function.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694" y="599128"/>
                <a:ext cx="5364088" cy="6258873"/>
              </a:xfrm>
              <a:prstGeom prst="rect">
                <a:avLst/>
              </a:prstGeom>
              <a:blipFill>
                <a:blip r:embed="rId2"/>
                <a:stretch>
                  <a:fillRect l="-568" r="-14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0" y="1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75520" y="993479"/>
            <a:ext cx="14401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5680" y="990823"/>
            <a:ext cx="162302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775520" y="3816955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816955"/>
                <a:ext cx="1440160" cy="4947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3215680" y="13601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/>
          <p:cNvSpPr/>
          <p:nvPr/>
        </p:nvSpPr>
        <p:spPr>
          <a:xfrm>
            <a:off x="3215680" y="1843211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/>
        </p:nvSpPr>
        <p:spPr>
          <a:xfrm>
            <a:off x="3215680" y="2335319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/>
          <p:cNvSpPr/>
          <p:nvPr/>
        </p:nvSpPr>
        <p:spPr>
          <a:xfrm>
            <a:off x="3215680" y="28287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/>
          <p:cNvSpPr/>
          <p:nvPr/>
        </p:nvSpPr>
        <p:spPr>
          <a:xfrm>
            <a:off x="3215680" y="3322191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/>
        </p:nvSpPr>
        <p:spPr>
          <a:xfrm>
            <a:off x="3215680" y="38169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=0.41×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blipFill>
                <a:blip r:embed="rId11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4838700" y="1348447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38700" y="1856223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=0.69×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4838700" y="235019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=0.92×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blipFill>
                <a:blip r:embed="rId1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4838700" y="284504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333180" y="3322053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=1.10×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3322053"/>
                <a:ext cx="1505520" cy="501356"/>
              </a:xfrm>
              <a:prstGeom prst="rect">
                <a:avLst/>
              </a:prstGeom>
              <a:blipFill>
                <a:blip r:embed="rId1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4838700" y="3339025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333180" y="3806403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=1.25×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3806403"/>
                <a:ext cx="1505520" cy="501356"/>
              </a:xfrm>
              <a:prstGeom prst="rect">
                <a:avLst/>
              </a:prstGeom>
              <a:blipFill>
                <a:blip r:embed="rId15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4838700" y="3823375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0924" y="4653136"/>
            <a:ext cx="3026866" cy="16312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000" dirty="0"/>
              <a:t>Compare each exponential function against its respective gradient function. What do you notice?</a:t>
            </a:r>
          </a:p>
        </p:txBody>
      </p:sp>
      <p:pic>
        <p:nvPicPr>
          <p:cNvPr id="1028" name="Picture 4" descr="Graph Plot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721" y="1970340"/>
            <a:ext cx="5178470" cy="319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aph Plot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422" y="1970339"/>
            <a:ext cx="5163914" cy="318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raph Plot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422" y="1983870"/>
            <a:ext cx="5182756" cy="320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raph Plot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688" y="1983870"/>
            <a:ext cx="5180204" cy="31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ph Plot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665" y="1961348"/>
            <a:ext cx="5163194" cy="318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raph Plot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512" y="1986288"/>
            <a:ext cx="5171748" cy="319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54C8D7-F131-41DB-B99D-CBC284862A8C}"/>
              </a:ext>
            </a:extLst>
          </p:cNvPr>
          <p:cNvSpPr txBox="1"/>
          <p:nvPr/>
        </p:nvSpPr>
        <p:spPr>
          <a:xfrm>
            <a:off x="4693692" y="61182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6DB90-A4E8-4A20-86BE-9E136788E21C}"/>
              </a:ext>
            </a:extLst>
          </p:cNvPr>
          <p:cNvCxnSpPr>
            <a:stCxn id="6" idx="2"/>
          </p:cNvCxnSpPr>
          <p:nvPr/>
        </p:nvCxnSpPr>
        <p:spPr>
          <a:xfrm flipH="1">
            <a:off x="5003800" y="981160"/>
            <a:ext cx="85936" cy="263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62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5" grpId="0"/>
      <p:bldP spid="29" grpId="0"/>
      <p:bldP spid="40" grpId="0"/>
      <p:bldP spid="42" grpId="0"/>
      <p:bldP spid="44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75520" y="993479"/>
            <a:ext cx="144016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5680" y="990823"/>
            <a:ext cx="162302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360155"/>
                <a:ext cx="1440160" cy="494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843211"/>
                <a:ext cx="1440160" cy="494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335319"/>
                <a:ext cx="1440160" cy="4947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830083"/>
                <a:ext cx="1440160" cy="494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322191"/>
                <a:ext cx="1440160" cy="494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215680" y="13601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3215680" y="1843211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215680" y="2335319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3215680" y="2828755"/>
            <a:ext cx="1623020" cy="4947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215680" y="3322191"/>
                <a:ext cx="1623020" cy="494764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3322191"/>
                <a:ext cx="1623020" cy="494764"/>
              </a:xfrm>
              <a:prstGeom prst="rect">
                <a:avLst/>
              </a:prstGeom>
              <a:blipFill>
                <a:blip r:embed="rId8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348447"/>
                <a:ext cx="1008112" cy="501356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=0.41×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1839251"/>
                <a:ext cx="1505520" cy="501356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838700" y="1348447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38700" y="1856223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=0.69×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333227"/>
                <a:ext cx="1505520" cy="501356"/>
              </a:xfrm>
              <a:prstGeom prst="rect">
                <a:avLst/>
              </a:prstGeom>
              <a:blipFill>
                <a:blip r:embed="rId11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4838700" y="235019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=0.92×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0" y="2828077"/>
                <a:ext cx="1505520" cy="501356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4838700" y="2845049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38700" y="3339025"/>
            <a:ext cx="321196" cy="4908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&gt;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775520" y="3314118"/>
            <a:ext cx="3384376" cy="1000363"/>
            <a:chOff x="251520" y="3806403"/>
            <a:chExt cx="3384376" cy="1000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251520" y="3816955"/>
                  <a:ext cx="1440160" cy="494764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3816955"/>
                  <a:ext cx="1440160" cy="494764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/>
            <p:cNvSpPr/>
            <p:nvPr/>
          </p:nvSpPr>
          <p:spPr>
            <a:xfrm>
              <a:off x="1691680" y="3816955"/>
              <a:ext cx="1623020" cy="4947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809180" y="3806403"/>
                  <a:ext cx="150552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=1.10×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180" y="3806403"/>
                  <a:ext cx="1505520" cy="501356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/>
            <p:cNvSpPr/>
            <p:nvPr/>
          </p:nvSpPr>
          <p:spPr>
            <a:xfrm>
              <a:off x="3314700" y="3823375"/>
              <a:ext cx="321196" cy="490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&gt;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251520" y="4309542"/>
                  <a:ext cx="1440160" cy="494764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3.5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4309542"/>
                  <a:ext cx="1440160" cy="494764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/>
            <p:cNvSpPr/>
            <p:nvPr/>
          </p:nvSpPr>
          <p:spPr>
            <a:xfrm>
              <a:off x="1691680" y="4309542"/>
              <a:ext cx="1623020" cy="49476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1809180" y="4298990"/>
                  <a:ext cx="1505520" cy="501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=1.25×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3.5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9180" y="4298990"/>
                  <a:ext cx="1505520" cy="501356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b="-120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/>
            <p:cNvSpPr/>
            <p:nvPr/>
          </p:nvSpPr>
          <p:spPr>
            <a:xfrm>
              <a:off x="3314700" y="4315962"/>
              <a:ext cx="321196" cy="490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&gt;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591944" y="990824"/>
            <a:ext cx="4824536" cy="5365537"/>
            <a:chOff x="4067944" y="990823"/>
            <a:chExt cx="4824536" cy="536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4067944" y="990823"/>
                  <a:ext cx="4824536" cy="27853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>
                      <a:latin typeface="+mj-lt"/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>
                      <a:latin typeface="+mj-lt"/>
                    </a:rPr>
                    <a:t> seem to be similar to their respective gradient functions. So is there a base between 2.5 and 3 where the </a:t>
                  </a:r>
                  <a:r>
                    <a:rPr lang="en-GB" b="1" dirty="0">
                      <a:latin typeface="+mj-lt"/>
                    </a:rPr>
                    <a:t>function</a:t>
                  </a:r>
                  <a:r>
                    <a:rPr lang="en-GB" dirty="0">
                      <a:latin typeface="+mj-lt"/>
                    </a:rPr>
                    <a:t> </a:t>
                  </a:r>
                  <a:r>
                    <a:rPr lang="en-GB" b="1" dirty="0">
                      <a:latin typeface="+mj-lt"/>
                    </a:rPr>
                    <a:t>is equal to its gradient function</a:t>
                  </a:r>
                  <a:r>
                    <a:rPr lang="en-GB" dirty="0">
                      <a:latin typeface="+mj-lt"/>
                    </a:rPr>
                    <a:t>?</a:t>
                  </a:r>
                </a:p>
                <a:p>
                  <a:endParaRPr lang="en-GB" sz="1100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GB" sz="19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1900" i="1">
                          <a:latin typeface="Cambria Math" panose="02040503050406030204" pitchFamily="18" charset="0"/>
                        </a:rPr>
                        <m:t>=2.71828…</m:t>
                      </m:r>
                    </m:oMath>
                  </a14:m>
                  <a:r>
                    <a:rPr lang="en-GB" sz="1900" dirty="0"/>
                    <a:t> is known as </a:t>
                  </a:r>
                  <a:r>
                    <a:rPr lang="en-GB" sz="1900" b="1" dirty="0"/>
                    <a:t>Euler’s Number.</a:t>
                  </a:r>
                </a:p>
                <a:p>
                  <a:endParaRPr lang="en-GB" sz="800" dirty="0"/>
                </a:p>
                <a:p>
                  <a:r>
                    <a:rPr lang="en-GB" dirty="0"/>
                    <a:t>It is one of the five most fundamental constants in mathematics (0, 1,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GB" dirty="0"/>
                    <a:t>,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en-GB" dirty="0"/>
                    <a:t>,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GB" dirty="0"/>
                    <a:t>).</a:t>
                  </a:r>
                </a:p>
                <a:p>
                  <a:endParaRPr lang="en-GB" sz="1100" dirty="0"/>
                </a:p>
                <a:p>
                  <a:r>
                    <a:rPr lang="en-GB" dirty="0"/>
                    <a:t>It has the property that: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7944" y="990823"/>
                  <a:ext cx="4824536" cy="2785378"/>
                </a:xfrm>
                <a:prstGeom prst="rect">
                  <a:avLst/>
                </a:prstGeom>
                <a:blipFill>
                  <a:blip r:embed="rId17"/>
                  <a:stretch>
                    <a:fillRect l="-1010" t="-1316" r="-1515" b="-285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828356" y="3919622"/>
                  <a:ext cx="3168352" cy="618246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       →     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356" y="3919622"/>
                  <a:ext cx="3168352" cy="61824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4139952" y="4725144"/>
                  <a:ext cx="4680520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Although any function of the form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is known as </a:t>
                  </a:r>
                  <a:r>
                    <a:rPr lang="en-GB" b="1" dirty="0"/>
                    <a:t>an</a:t>
                  </a:r>
                  <a:r>
                    <a:rPr lang="en-GB" dirty="0"/>
                    <a:t> exponential function,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r>
                    <a:rPr lang="en-GB" dirty="0"/>
                    <a:t> is known as “</a:t>
                  </a:r>
                  <a:r>
                    <a:rPr lang="en-GB" b="1" dirty="0"/>
                    <a:t>the</a:t>
                  </a:r>
                  <a:r>
                    <a:rPr lang="en-GB" dirty="0"/>
                    <a:t>” exponential function.</a:t>
                  </a:r>
                </a:p>
                <a:p>
                  <a:endParaRPr lang="en-GB" dirty="0"/>
                </a:p>
                <a:p>
                  <a:r>
                    <a:rPr lang="en-GB" sz="1400" dirty="0"/>
                    <a:t>You can find the exponential function on your calculator, to the right (above the “ln” key)</a:t>
                  </a: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952" y="4725144"/>
                  <a:ext cx="4680520" cy="1631216"/>
                </a:xfrm>
                <a:prstGeom prst="rect">
                  <a:avLst/>
                </a:prstGeom>
                <a:blipFill>
                  <a:blip r:embed="rId19"/>
                  <a:stretch>
                    <a:fillRect l="-1042" t="-1866" b="-298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465413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 L 0.00017 0.07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Differentiating </a:t>
                  </a:r>
                  <a14:m>
                    <m:oMath xmlns:m="http://schemas.openxmlformats.org/officeDocument/2006/math">
                      <m:r>
                        <a:rPr lang="en-GB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𝑘𝑥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0417" b="-31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907660"/>
                <a:ext cx="5883448" cy="53565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Wingdings" panose="05000000000000000000" pitchFamily="2" charset="2"/>
                  </a:rPr>
                  <a:t>!</a:t>
                </a:r>
                <a:r>
                  <a:rPr lang="en-GB" sz="2000" dirty="0"/>
                  <a:t> If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r>
                  <a:rPr lang="en-GB" sz="2000" dirty="0"/>
                  <a:t>, where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 is a constant,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907660"/>
                <a:ext cx="5883448" cy="535659"/>
              </a:xfrm>
              <a:prstGeom prst="rect">
                <a:avLst/>
              </a:prstGeom>
              <a:blipFill>
                <a:blip r:embed="rId3"/>
                <a:stretch>
                  <a:fillRect l="-826" b="-5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91544" y="1776630"/>
                <a:ext cx="35652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1776630"/>
                <a:ext cx="3565252" cy="369332"/>
              </a:xfrm>
              <a:prstGeom prst="rect">
                <a:avLst/>
              </a:prstGeom>
              <a:blipFill>
                <a:blip r:embed="rId4"/>
                <a:stretch>
                  <a:fillRect b="-4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51584" y="2276872"/>
                <a:ext cx="2016224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2276872"/>
                <a:ext cx="2016224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7781652" y="1663363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Note: </a:t>
            </a:r>
            <a:r>
              <a:rPr lang="en-GB" sz="1400" dirty="0"/>
              <a:t>This is not a standalone rule but an application of something called the ‘</a:t>
            </a:r>
            <a:r>
              <a:rPr lang="en-GB" sz="1400" i="1" dirty="0"/>
              <a:t>chain rule</a:t>
            </a:r>
            <a:r>
              <a:rPr lang="en-GB" sz="1400" dirty="0"/>
              <a:t>’, which you will encounter in Year 2.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7968208" y="1268760"/>
            <a:ext cx="864096" cy="394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91544" y="3140968"/>
                <a:ext cx="35652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3140968"/>
                <a:ext cx="3565252" cy="369332"/>
              </a:xfrm>
              <a:prstGeom prst="rect">
                <a:avLst/>
              </a:prstGeom>
              <a:blipFill>
                <a:blip r:embed="rId6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51584" y="3756150"/>
                <a:ext cx="3096344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  ∴ 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3756150"/>
                <a:ext cx="3096344" cy="6182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91544" y="4620246"/>
                <a:ext cx="35652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620246"/>
                <a:ext cx="3565252" cy="369332"/>
              </a:xfrm>
              <a:prstGeom prst="rect">
                <a:avLst/>
              </a:prstGeom>
              <a:blipFill>
                <a:blip r:embed="rId8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346772" y="5235428"/>
                <a:ext cx="3096344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772" y="5235428"/>
                <a:ext cx="3096344" cy="6182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176120" y="5058861"/>
            <a:ext cx="266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Note: </a:t>
            </a:r>
            <a:r>
              <a:rPr lang="en-GB" sz="1400" dirty="0"/>
              <a:t>In general, when you scale the function, you scale the derivative/integral.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295900" y="5295900"/>
            <a:ext cx="18415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91544" y="2136694"/>
            <a:ext cx="3565252" cy="7584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1544" y="3510300"/>
            <a:ext cx="3565252" cy="9414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1544" y="4989579"/>
            <a:ext cx="3565252" cy="9414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3816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5" grpId="0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Graph Transformations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2572" y="819326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572" y="819326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3475112" y="16027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1776512" y="3105920"/>
            <a:ext cx="3383384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63852" y="29285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852" y="29285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99842" y="13077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842" y="13077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1839319" y="1625600"/>
            <a:ext cx="2415181" cy="1456308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  <a:gd name="connsiteX0" fmla="*/ 1469650 w 5139950"/>
              <a:gd name="connsiteY0" fmla="*/ 990600 h 1000007"/>
              <a:gd name="connsiteX1" fmla="*/ 0 w 5139950"/>
              <a:gd name="connsiteY1" fmla="*/ 990600 h 1000007"/>
              <a:gd name="connsiteX2" fmla="*/ 3323850 w 5139950"/>
              <a:gd name="connsiteY2" fmla="*/ 736600 h 1000007"/>
              <a:gd name="connsiteX3" fmla="*/ 5139950 w 5139950"/>
              <a:gd name="connsiteY3" fmla="*/ 0 h 1000007"/>
              <a:gd name="connsiteX0" fmla="*/ 32614 w 5983587"/>
              <a:gd name="connsiteY0" fmla="*/ 1023679 h 1035178"/>
              <a:gd name="connsiteX1" fmla="*/ 843637 w 5983587"/>
              <a:gd name="connsiteY1" fmla="*/ 990600 h 1035178"/>
              <a:gd name="connsiteX2" fmla="*/ 4167487 w 5983587"/>
              <a:gd name="connsiteY2" fmla="*/ 736600 h 1035178"/>
              <a:gd name="connsiteX3" fmla="*/ 5983587 w 5983587"/>
              <a:gd name="connsiteY3" fmla="*/ 0 h 1035178"/>
              <a:gd name="connsiteX0" fmla="*/ 5649 w 5956622"/>
              <a:gd name="connsiteY0" fmla="*/ 1023679 h 1026719"/>
              <a:gd name="connsiteX1" fmla="*/ 2685557 w 5956622"/>
              <a:gd name="connsiteY1" fmla="*/ 902390 h 1026719"/>
              <a:gd name="connsiteX2" fmla="*/ 4140522 w 5956622"/>
              <a:gd name="connsiteY2" fmla="*/ 736600 h 1026719"/>
              <a:gd name="connsiteX3" fmla="*/ 5956622 w 5956622"/>
              <a:gd name="connsiteY3" fmla="*/ 0 h 1026719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7290 w 6021615"/>
              <a:gd name="connsiteY0" fmla="*/ 1255230 h 1258006"/>
              <a:gd name="connsiteX1" fmla="*/ 2687198 w 6021615"/>
              <a:gd name="connsiteY1" fmla="*/ 1133941 h 1258006"/>
              <a:gd name="connsiteX2" fmla="*/ 4142163 w 6021615"/>
              <a:gd name="connsiteY2" fmla="*/ 968151 h 1258006"/>
              <a:gd name="connsiteX3" fmla="*/ 6021615 w 6021615"/>
              <a:gd name="connsiteY3" fmla="*/ 0 h 1258006"/>
              <a:gd name="connsiteX0" fmla="*/ 9557 w 6023882"/>
              <a:gd name="connsiteY0" fmla="*/ 1255230 h 1264379"/>
              <a:gd name="connsiteX1" fmla="*/ 2277677 w 6023882"/>
              <a:gd name="connsiteY1" fmla="*/ 1222151 h 1264379"/>
              <a:gd name="connsiteX2" fmla="*/ 4144430 w 6023882"/>
              <a:gd name="connsiteY2" fmla="*/ 968151 h 1264379"/>
              <a:gd name="connsiteX3" fmla="*/ 6023882 w 6023882"/>
              <a:gd name="connsiteY3" fmla="*/ 0 h 126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3882" h="1264379">
                <a:moveTo>
                  <a:pt x="9557" y="1255230"/>
                </a:moveTo>
                <a:cubicBezTo>
                  <a:pt x="-119560" y="1276396"/>
                  <a:pt x="1081716" y="1258972"/>
                  <a:pt x="2277677" y="1222151"/>
                </a:cubicBezTo>
                <a:cubicBezTo>
                  <a:pt x="2968155" y="1200893"/>
                  <a:pt x="3520062" y="1171843"/>
                  <a:pt x="4144430" y="968151"/>
                </a:cubicBezTo>
                <a:cubicBezTo>
                  <a:pt x="4768798" y="764459"/>
                  <a:pt x="5544162" y="373960"/>
                  <a:pt x="602388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58232" y="255197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232" y="2551973"/>
                <a:ext cx="44894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49277" y="1443221"/>
                <a:ext cx="1644577" cy="104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Input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being replaced with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so stretch of scale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/>
                  <a:t> 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-axis.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77" y="1443221"/>
                <a:ext cx="1644577" cy="1043940"/>
              </a:xfrm>
              <a:prstGeom prst="rect">
                <a:avLst/>
              </a:prstGeom>
              <a:blipFill>
                <a:blip r:embed="rId6"/>
                <a:stretch>
                  <a:fillRect l="-1111" t="-1170" b="-1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995123" y="844453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123" y="844453"/>
                <a:ext cx="2181448" cy="369332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78258" y="134838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258" y="1348380"/>
                <a:ext cx="1159859" cy="312586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/>
          <p:cNvSpPr/>
          <p:nvPr/>
        </p:nvSpPr>
        <p:spPr>
          <a:xfrm>
            <a:off x="1905000" y="1778000"/>
            <a:ext cx="3238500" cy="1257300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257300">
                <a:moveTo>
                  <a:pt x="0" y="1257300"/>
                </a:moveTo>
                <a:lnTo>
                  <a:pt x="50800" y="1257300"/>
                </a:lnTo>
                <a:cubicBezTo>
                  <a:pt x="311150" y="1212850"/>
                  <a:pt x="1030817" y="1200150"/>
                  <a:pt x="1562100" y="990600"/>
                </a:cubicBezTo>
                <a:cubicBezTo>
                  <a:pt x="2093383" y="781050"/>
                  <a:pt x="2665941" y="390525"/>
                  <a:pt x="32385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89948" y="157589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948" y="1575890"/>
                <a:ext cx="1159859" cy="3125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7727918" y="16027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029318" y="3105920"/>
            <a:ext cx="3383384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316658" y="29285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658" y="2928535"/>
                <a:ext cx="44894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452648" y="13077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648" y="1307712"/>
                <a:ext cx="448940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20563" y="279962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563" y="2799623"/>
                <a:ext cx="44894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49982" y="1300347"/>
                <a:ext cx="2132268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Note: </a:t>
                </a:r>
                <a:r>
                  <a:rPr lang="en-GB" sz="1400" dirty="0"/>
                  <a:t>Recall the shape of a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graph.</a:t>
                </a:r>
              </a:p>
              <a:p>
                <a:endParaRPr lang="en-GB" sz="600" dirty="0"/>
              </a:p>
              <a:p>
                <a:r>
                  <a:rPr lang="en-GB" sz="1400" dirty="0"/>
                  <a:t>5 is ‘outside’ function, so stretch of scale factor 5 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-axis.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982" y="1300347"/>
                <a:ext cx="2132268" cy="1277273"/>
              </a:xfrm>
              <a:prstGeom prst="rect">
                <a:avLst/>
              </a:prstGeom>
              <a:blipFill>
                <a:blip r:embed="rId13"/>
                <a:stretch>
                  <a:fillRect l="-857" t="-476" r="-2286" b="-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488014" y="144363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014" y="1443630"/>
                <a:ext cx="1159859" cy="3125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/>
          <p:cNvSpPr/>
          <p:nvPr/>
        </p:nvSpPr>
        <p:spPr>
          <a:xfrm flipH="1">
            <a:off x="6157806" y="2369558"/>
            <a:ext cx="3238500" cy="665742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257300">
                <a:moveTo>
                  <a:pt x="0" y="1257300"/>
                </a:moveTo>
                <a:lnTo>
                  <a:pt x="50800" y="1257300"/>
                </a:lnTo>
                <a:cubicBezTo>
                  <a:pt x="311150" y="1212850"/>
                  <a:pt x="1030817" y="1200150"/>
                  <a:pt x="1562100" y="990600"/>
                </a:cubicBezTo>
                <a:cubicBezTo>
                  <a:pt x="2093383" y="781050"/>
                  <a:pt x="2665941" y="390525"/>
                  <a:pt x="32385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123329" y="2195015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329" y="2195015"/>
                <a:ext cx="1159859" cy="3125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 flipH="1">
            <a:off x="6296030" y="1339862"/>
            <a:ext cx="3100276" cy="1674614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  <a:gd name="connsiteX0" fmla="*/ 0 w 3100276"/>
              <a:gd name="connsiteY0" fmla="*/ 1161435 h 1161435"/>
              <a:gd name="connsiteX1" fmla="*/ 50800 w 3100276"/>
              <a:gd name="connsiteY1" fmla="*/ 1161435 h 1161435"/>
              <a:gd name="connsiteX2" fmla="*/ 1562100 w 3100276"/>
              <a:gd name="connsiteY2" fmla="*/ 894735 h 1161435"/>
              <a:gd name="connsiteX3" fmla="*/ 3100276 w 3100276"/>
              <a:gd name="connsiteY3" fmla="*/ 0 h 116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276" h="1161435">
                <a:moveTo>
                  <a:pt x="0" y="1161435"/>
                </a:moveTo>
                <a:lnTo>
                  <a:pt x="50800" y="1161435"/>
                </a:lnTo>
                <a:cubicBezTo>
                  <a:pt x="311150" y="1116985"/>
                  <a:pt x="1053854" y="1088307"/>
                  <a:pt x="1562100" y="894735"/>
                </a:cubicBezTo>
                <a:cubicBezTo>
                  <a:pt x="2070346" y="701163"/>
                  <a:pt x="2527717" y="390525"/>
                  <a:pt x="3100276" y="0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422877" y="24541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77" y="2454112"/>
                <a:ext cx="448940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809601" y="3930734"/>
                <a:ext cx="2181448" cy="4716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=2+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601" y="3930734"/>
                <a:ext cx="2181448" cy="471668"/>
              </a:xfrm>
              <a:prstGeom prst="rect">
                <a:avLst/>
              </a:prstGeom>
              <a:blipFill>
                <a:blip r:embed="rId17"/>
                <a:stretch>
                  <a:fillRect b="-396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/>
          <p:nvPr/>
        </p:nvCxnSpPr>
        <p:spPr>
          <a:xfrm flipV="1">
            <a:off x="3537918" y="4950214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1839318" y="6453336"/>
            <a:ext cx="3383384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126658" y="6275951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58" y="6275951"/>
                <a:ext cx="44894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262648" y="465512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648" y="4655128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: Shape 36"/>
          <p:cNvSpPr/>
          <p:nvPr/>
        </p:nvSpPr>
        <p:spPr>
          <a:xfrm>
            <a:off x="1864025" y="4439616"/>
            <a:ext cx="3593801" cy="1456308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  <a:gd name="connsiteX0" fmla="*/ 1469650 w 5139950"/>
              <a:gd name="connsiteY0" fmla="*/ 990600 h 1000007"/>
              <a:gd name="connsiteX1" fmla="*/ 0 w 5139950"/>
              <a:gd name="connsiteY1" fmla="*/ 990600 h 1000007"/>
              <a:gd name="connsiteX2" fmla="*/ 3323850 w 5139950"/>
              <a:gd name="connsiteY2" fmla="*/ 736600 h 1000007"/>
              <a:gd name="connsiteX3" fmla="*/ 5139950 w 5139950"/>
              <a:gd name="connsiteY3" fmla="*/ 0 h 1000007"/>
              <a:gd name="connsiteX0" fmla="*/ 32614 w 5983587"/>
              <a:gd name="connsiteY0" fmla="*/ 1023679 h 1035178"/>
              <a:gd name="connsiteX1" fmla="*/ 843637 w 5983587"/>
              <a:gd name="connsiteY1" fmla="*/ 990600 h 1035178"/>
              <a:gd name="connsiteX2" fmla="*/ 4167487 w 5983587"/>
              <a:gd name="connsiteY2" fmla="*/ 736600 h 1035178"/>
              <a:gd name="connsiteX3" fmla="*/ 5983587 w 5983587"/>
              <a:gd name="connsiteY3" fmla="*/ 0 h 1035178"/>
              <a:gd name="connsiteX0" fmla="*/ 5649 w 5956622"/>
              <a:gd name="connsiteY0" fmla="*/ 1023679 h 1026719"/>
              <a:gd name="connsiteX1" fmla="*/ 2685557 w 5956622"/>
              <a:gd name="connsiteY1" fmla="*/ 902390 h 1026719"/>
              <a:gd name="connsiteX2" fmla="*/ 4140522 w 5956622"/>
              <a:gd name="connsiteY2" fmla="*/ 736600 h 1026719"/>
              <a:gd name="connsiteX3" fmla="*/ 5956622 w 5956622"/>
              <a:gd name="connsiteY3" fmla="*/ 0 h 1026719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5649 w 6019974"/>
              <a:gd name="connsiteY0" fmla="*/ 1255230 h 1258270"/>
              <a:gd name="connsiteX1" fmla="*/ 2685557 w 6019974"/>
              <a:gd name="connsiteY1" fmla="*/ 1133941 h 1258270"/>
              <a:gd name="connsiteX2" fmla="*/ 4140522 w 6019974"/>
              <a:gd name="connsiteY2" fmla="*/ 968151 h 1258270"/>
              <a:gd name="connsiteX3" fmla="*/ 6019974 w 6019974"/>
              <a:gd name="connsiteY3" fmla="*/ 0 h 1258270"/>
              <a:gd name="connsiteX0" fmla="*/ 7290 w 6021615"/>
              <a:gd name="connsiteY0" fmla="*/ 1255230 h 1258006"/>
              <a:gd name="connsiteX1" fmla="*/ 2687198 w 6021615"/>
              <a:gd name="connsiteY1" fmla="*/ 1133941 h 1258006"/>
              <a:gd name="connsiteX2" fmla="*/ 4142163 w 6021615"/>
              <a:gd name="connsiteY2" fmla="*/ 968151 h 1258006"/>
              <a:gd name="connsiteX3" fmla="*/ 6021615 w 6021615"/>
              <a:gd name="connsiteY3" fmla="*/ 0 h 1258006"/>
              <a:gd name="connsiteX0" fmla="*/ 9557 w 6023882"/>
              <a:gd name="connsiteY0" fmla="*/ 1255230 h 1264379"/>
              <a:gd name="connsiteX1" fmla="*/ 2277677 w 6023882"/>
              <a:gd name="connsiteY1" fmla="*/ 1222151 h 1264379"/>
              <a:gd name="connsiteX2" fmla="*/ 4144430 w 6023882"/>
              <a:gd name="connsiteY2" fmla="*/ 968151 h 1264379"/>
              <a:gd name="connsiteX3" fmla="*/ 6023882 w 6023882"/>
              <a:gd name="connsiteY3" fmla="*/ 0 h 1264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3882" h="1264379">
                <a:moveTo>
                  <a:pt x="9557" y="1255230"/>
                </a:moveTo>
                <a:cubicBezTo>
                  <a:pt x="-119560" y="1276396"/>
                  <a:pt x="1081716" y="1258972"/>
                  <a:pt x="2277677" y="1222151"/>
                </a:cubicBezTo>
                <a:cubicBezTo>
                  <a:pt x="2968155" y="1200893"/>
                  <a:pt x="3520062" y="1171843"/>
                  <a:pt x="4144430" y="968151"/>
                </a:cubicBezTo>
                <a:cubicBezTo>
                  <a:pt x="4768798" y="764459"/>
                  <a:pt x="5544162" y="373960"/>
                  <a:pt x="602388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249613" y="6089889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13" y="6089889"/>
                <a:ext cx="448940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124860" y="4588571"/>
                <a:ext cx="29158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We have a stretch 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-axis by scale factor 3, and a translation up by 2.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60" y="4588571"/>
                <a:ext cx="2915849" cy="523220"/>
              </a:xfrm>
              <a:prstGeom prst="rect">
                <a:avLst/>
              </a:prstGeom>
              <a:blipFill>
                <a:blip r:embed="rId20"/>
                <a:stretch>
                  <a:fillRect l="-628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174439" y="4448146"/>
                <a:ext cx="1159859" cy="411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f>
                            <m:fPr>
                              <m:ctrlP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439" y="4448146"/>
                <a:ext cx="1159859" cy="411266"/>
              </a:xfrm>
              <a:prstGeom prst="rect">
                <a:avLst/>
              </a:prstGeom>
              <a:blipFill>
                <a:blip r:embed="rId21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reeform: Shape 40"/>
          <p:cNvSpPr/>
          <p:nvPr/>
        </p:nvSpPr>
        <p:spPr>
          <a:xfrm>
            <a:off x="2596457" y="5134941"/>
            <a:ext cx="1870769" cy="1257300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257300">
                <a:moveTo>
                  <a:pt x="0" y="1257300"/>
                </a:moveTo>
                <a:lnTo>
                  <a:pt x="50800" y="1257300"/>
                </a:lnTo>
                <a:cubicBezTo>
                  <a:pt x="311150" y="1212850"/>
                  <a:pt x="1030817" y="1200150"/>
                  <a:pt x="1562100" y="990600"/>
                </a:cubicBezTo>
                <a:cubicBezTo>
                  <a:pt x="2093383" y="781050"/>
                  <a:pt x="2665941" y="390525"/>
                  <a:pt x="323850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576971" y="4943698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971" y="4943698"/>
                <a:ext cx="1159859" cy="31258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222664" y="557741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64" y="5577418"/>
                <a:ext cx="448940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211532" y="5202150"/>
                <a:ext cx="2286006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b="1" dirty="0"/>
                  <a:t>Important Note</a:t>
                </a:r>
                <a:r>
                  <a:rPr lang="en-GB" sz="1400" dirty="0"/>
                  <a:t>: Because the original </a:t>
                </a:r>
                <a:r>
                  <a:rPr lang="en-GB" sz="1400" b="1" dirty="0"/>
                  <a:t>asymptote</a:t>
                </a:r>
                <a:r>
                  <a:rPr lang="en-GB" sz="1400" dirty="0"/>
                  <a:t> was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it is now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 and you must indicate this along with its equation.</a:t>
                </a: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532" y="5202150"/>
                <a:ext cx="2286006" cy="1169551"/>
              </a:xfrm>
              <a:prstGeom prst="rect">
                <a:avLst/>
              </a:prstGeom>
              <a:blipFill>
                <a:blip r:embed="rId24"/>
                <a:stretch>
                  <a:fillRect l="-264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/>
          <p:cNvCxnSpPr/>
          <p:nvPr/>
        </p:nvCxnSpPr>
        <p:spPr>
          <a:xfrm flipV="1">
            <a:off x="1864025" y="5932819"/>
            <a:ext cx="347027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297795" y="5628318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795" y="5628318"/>
                <a:ext cx="115985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731331" y="1223968"/>
            <a:ext cx="4042636" cy="214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98280" y="1223968"/>
            <a:ext cx="4383970" cy="2147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00608" y="4411475"/>
            <a:ext cx="7240100" cy="22396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364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14" grpId="0" animBg="1"/>
      <p:bldP spid="48" grpId="0" animBg="1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63601" y="1111334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01" y="1111334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5835618" y="2237798"/>
            <a:ext cx="0" cy="360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346318" y="5010920"/>
            <a:ext cx="7200000" cy="9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418258" y="48335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258" y="48335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98448" y="19554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448" y="19554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87242" y="2877859"/>
                <a:ext cx="151298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242" y="2877859"/>
                <a:ext cx="1512987" cy="375552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 flipH="1">
            <a:off x="2755901" y="2946401"/>
            <a:ext cx="6483701" cy="2496137"/>
          </a:xfrm>
          <a:custGeom>
            <a:avLst/>
            <a:gdLst>
              <a:gd name="connsiteX0" fmla="*/ 0 w 3238500"/>
              <a:gd name="connsiteY0" fmla="*/ 1257300 h 1257300"/>
              <a:gd name="connsiteX1" fmla="*/ 50800 w 3238500"/>
              <a:gd name="connsiteY1" fmla="*/ 1257300 h 1257300"/>
              <a:gd name="connsiteX2" fmla="*/ 1562100 w 3238500"/>
              <a:gd name="connsiteY2" fmla="*/ 990600 h 1257300"/>
              <a:gd name="connsiteX3" fmla="*/ 3238500 w 3238500"/>
              <a:gd name="connsiteY3" fmla="*/ 0 h 1257300"/>
              <a:gd name="connsiteX0" fmla="*/ 0 w 3100276"/>
              <a:gd name="connsiteY0" fmla="*/ 1161435 h 1161435"/>
              <a:gd name="connsiteX1" fmla="*/ 50800 w 3100276"/>
              <a:gd name="connsiteY1" fmla="*/ 1161435 h 1161435"/>
              <a:gd name="connsiteX2" fmla="*/ 1562100 w 3100276"/>
              <a:gd name="connsiteY2" fmla="*/ 894735 h 1161435"/>
              <a:gd name="connsiteX3" fmla="*/ 3100276 w 3100276"/>
              <a:gd name="connsiteY3" fmla="*/ 0 h 1161435"/>
              <a:gd name="connsiteX0" fmla="*/ 0 w 3739617"/>
              <a:gd name="connsiteY0" fmla="*/ 1167375 h 1182799"/>
              <a:gd name="connsiteX1" fmla="*/ 690141 w 3739617"/>
              <a:gd name="connsiteY1" fmla="*/ 1161435 h 1182799"/>
              <a:gd name="connsiteX2" fmla="*/ 2201441 w 3739617"/>
              <a:gd name="connsiteY2" fmla="*/ 894735 h 1182799"/>
              <a:gd name="connsiteX3" fmla="*/ 3739617 w 3739617"/>
              <a:gd name="connsiteY3" fmla="*/ 0 h 1182799"/>
              <a:gd name="connsiteX0" fmla="*/ 0 w 3739617"/>
              <a:gd name="connsiteY0" fmla="*/ 1167375 h 1177815"/>
              <a:gd name="connsiteX1" fmla="*/ 690141 w 3739617"/>
              <a:gd name="connsiteY1" fmla="*/ 1161435 h 1177815"/>
              <a:gd name="connsiteX2" fmla="*/ 2201441 w 3739617"/>
              <a:gd name="connsiteY2" fmla="*/ 894735 h 1177815"/>
              <a:gd name="connsiteX3" fmla="*/ 3739617 w 3739617"/>
              <a:gd name="connsiteY3" fmla="*/ 0 h 1177815"/>
              <a:gd name="connsiteX0" fmla="*/ 0 w 3739617"/>
              <a:gd name="connsiteY0" fmla="*/ 1167375 h 1167375"/>
              <a:gd name="connsiteX1" fmla="*/ 720655 w 3739617"/>
              <a:gd name="connsiteY1" fmla="*/ 1132922 h 1167375"/>
              <a:gd name="connsiteX2" fmla="*/ 2201441 w 3739617"/>
              <a:gd name="connsiteY2" fmla="*/ 894735 h 1167375"/>
              <a:gd name="connsiteX3" fmla="*/ 3739617 w 3739617"/>
              <a:gd name="connsiteY3" fmla="*/ 0 h 1167375"/>
              <a:gd name="connsiteX0" fmla="*/ 0 w 3739617"/>
              <a:gd name="connsiteY0" fmla="*/ 1167375 h 1167375"/>
              <a:gd name="connsiteX1" fmla="*/ 720655 w 3739617"/>
              <a:gd name="connsiteY1" fmla="*/ 1132922 h 1167375"/>
              <a:gd name="connsiteX2" fmla="*/ 2201441 w 3739617"/>
              <a:gd name="connsiteY2" fmla="*/ 894735 h 1167375"/>
              <a:gd name="connsiteX3" fmla="*/ 3739617 w 3739617"/>
              <a:gd name="connsiteY3" fmla="*/ 0 h 1167375"/>
              <a:gd name="connsiteX0" fmla="*/ 0 w 3739617"/>
              <a:gd name="connsiteY0" fmla="*/ 1167375 h 1167375"/>
              <a:gd name="connsiteX1" fmla="*/ 720655 w 3739617"/>
              <a:gd name="connsiteY1" fmla="*/ 1132922 h 1167375"/>
              <a:gd name="connsiteX2" fmla="*/ 2201441 w 3739617"/>
              <a:gd name="connsiteY2" fmla="*/ 894735 h 1167375"/>
              <a:gd name="connsiteX3" fmla="*/ 3739617 w 3739617"/>
              <a:gd name="connsiteY3" fmla="*/ 0 h 1167375"/>
              <a:gd name="connsiteX0" fmla="*/ 0 w 3709103"/>
              <a:gd name="connsiteY0" fmla="*/ 1167375 h 1167375"/>
              <a:gd name="connsiteX1" fmla="*/ 690141 w 3709103"/>
              <a:gd name="connsiteY1" fmla="*/ 1132922 h 1167375"/>
              <a:gd name="connsiteX2" fmla="*/ 2170927 w 3709103"/>
              <a:gd name="connsiteY2" fmla="*/ 894735 h 1167375"/>
              <a:gd name="connsiteX3" fmla="*/ 3709103 w 3709103"/>
              <a:gd name="connsiteY3" fmla="*/ 0 h 1167375"/>
              <a:gd name="connsiteX0" fmla="*/ 0 w 3709103"/>
              <a:gd name="connsiteY0" fmla="*/ 1167375 h 1170092"/>
              <a:gd name="connsiteX1" fmla="*/ 690141 w 3709103"/>
              <a:gd name="connsiteY1" fmla="*/ 1132922 h 1170092"/>
              <a:gd name="connsiteX2" fmla="*/ 2170927 w 3709103"/>
              <a:gd name="connsiteY2" fmla="*/ 894735 h 1170092"/>
              <a:gd name="connsiteX3" fmla="*/ 3709103 w 3709103"/>
              <a:gd name="connsiteY3" fmla="*/ 0 h 1170092"/>
              <a:gd name="connsiteX0" fmla="*/ 0 w 3709103"/>
              <a:gd name="connsiteY0" fmla="*/ 1167375 h 1167514"/>
              <a:gd name="connsiteX1" fmla="*/ 690141 w 3709103"/>
              <a:gd name="connsiteY1" fmla="*/ 1132922 h 1167514"/>
              <a:gd name="connsiteX2" fmla="*/ 2170927 w 3709103"/>
              <a:gd name="connsiteY2" fmla="*/ 894735 h 1167514"/>
              <a:gd name="connsiteX3" fmla="*/ 3709103 w 3709103"/>
              <a:gd name="connsiteY3" fmla="*/ 0 h 1167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103" h="1167514">
                <a:moveTo>
                  <a:pt x="0" y="1167375"/>
                </a:moveTo>
                <a:cubicBezTo>
                  <a:pt x="299793" y="1168959"/>
                  <a:pt x="366826" y="1156977"/>
                  <a:pt x="690141" y="1132922"/>
                </a:cubicBezTo>
                <a:cubicBezTo>
                  <a:pt x="1057048" y="1087482"/>
                  <a:pt x="1667767" y="1083555"/>
                  <a:pt x="2170927" y="894735"/>
                </a:cubicBezTo>
                <a:cubicBezTo>
                  <a:pt x="2674087" y="705915"/>
                  <a:pt x="3136544" y="390525"/>
                  <a:pt x="3709103" y="0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/>
          <p:cNvCxnSpPr/>
          <p:nvPr/>
        </p:nvCxnSpPr>
        <p:spPr>
          <a:xfrm>
            <a:off x="2460618" y="5479132"/>
            <a:ext cx="691803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396732" y="3293741"/>
                <a:ext cx="2061468" cy="3879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732" y="3293741"/>
                <a:ext cx="2061468" cy="387927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900041" y="5127347"/>
                <a:ext cx="1512987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041" y="5127347"/>
                <a:ext cx="1512987" cy="375552"/>
              </a:xfrm>
              <a:prstGeom prst="rect">
                <a:avLst/>
              </a:prstGeom>
              <a:blipFill>
                <a:blip r:embed="rId7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0" idx="2"/>
          </p:cNvCxnSpPr>
          <p:nvPr/>
        </p:nvCxnSpPr>
        <p:spPr>
          <a:xfrm flipH="1">
            <a:off x="5946318" y="3681668"/>
            <a:ext cx="1481148" cy="1151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063601" y="1509538"/>
            <a:ext cx="7992839" cy="4511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it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21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14B (Pages 316-317)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EEB1C4B-D14E-C3C2-AE22-03717E66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7529"/>
            <a:ext cx="7772400" cy="544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B4396-D6F4-0CAA-7950-597AC34A7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273822"/>
            <a:ext cx="8291716" cy="2299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F3BDF6-6634-2946-5617-460F5650E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1" y="3660072"/>
            <a:ext cx="3125681" cy="115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BEA5C6-F235-0B8A-29B2-854207DB7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3660073"/>
            <a:ext cx="2710464" cy="1201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37FDE-D8C7-0A02-2E31-66B05B02D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686" y="3660072"/>
            <a:ext cx="3032970" cy="1159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F7DE56C-21EC-9F8A-EE3A-0F47B6173166}"/>
              </a:ext>
            </a:extLst>
          </p:cNvPr>
          <p:cNvSpPr/>
          <p:nvPr/>
        </p:nvSpPr>
        <p:spPr>
          <a:xfrm>
            <a:off x="1775520" y="3610859"/>
            <a:ext cx="303297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A848B8-1576-B82F-CB5B-52AE82913BC6}"/>
              </a:ext>
            </a:extLst>
          </p:cNvPr>
          <p:cNvSpPr/>
          <p:nvPr/>
        </p:nvSpPr>
        <p:spPr>
          <a:xfrm>
            <a:off x="4864858" y="3613452"/>
            <a:ext cx="2609119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352EF8-31C1-8710-5264-8AD0522C88E0}"/>
              </a:ext>
            </a:extLst>
          </p:cNvPr>
          <p:cNvSpPr/>
          <p:nvPr/>
        </p:nvSpPr>
        <p:spPr>
          <a:xfrm>
            <a:off x="7516016" y="3610859"/>
            <a:ext cx="301864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94114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14B (Pages 316-317)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999FB83-F0D0-7802-FCC4-CEAB348FF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55" y="621287"/>
            <a:ext cx="8361357" cy="14383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EC47C5-1BF9-76B1-B69D-9BEBC3F8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311400"/>
            <a:ext cx="1701800" cy="1117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F178A0-0FFE-E40C-A77B-63476E0AF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787" y="2293545"/>
            <a:ext cx="1701800" cy="111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DB06D3-76C0-65AE-6571-EB0BF76BA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92" y="2212992"/>
            <a:ext cx="2743200" cy="1117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35A38C-46B8-1628-6A56-6F4231348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9536" y="3441487"/>
            <a:ext cx="2668252" cy="9783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D3B8A6-CFF6-8CFE-4FC6-AC058332F0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543" y="3495291"/>
            <a:ext cx="2260600" cy="1117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BAEF3C-973D-690B-C8B1-D5560727972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3603"/>
          <a:stretch/>
        </p:blipFill>
        <p:spPr>
          <a:xfrm>
            <a:off x="7824193" y="3506308"/>
            <a:ext cx="2754533" cy="11176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168C6D8-64E7-769B-2392-B2693EAF2DC2}"/>
              </a:ext>
            </a:extLst>
          </p:cNvPr>
          <p:cNvSpPr/>
          <p:nvPr/>
        </p:nvSpPr>
        <p:spPr>
          <a:xfrm>
            <a:off x="1784206" y="2108585"/>
            <a:ext cx="303297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DE7BFD-BA71-0ECF-65D6-63A9AA8FB792}"/>
              </a:ext>
            </a:extLst>
          </p:cNvPr>
          <p:cNvSpPr/>
          <p:nvPr/>
        </p:nvSpPr>
        <p:spPr>
          <a:xfrm>
            <a:off x="4873544" y="2111178"/>
            <a:ext cx="2609119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43ED57-72FC-42E5-C649-555F3489C1C6}"/>
              </a:ext>
            </a:extLst>
          </p:cNvPr>
          <p:cNvSpPr/>
          <p:nvPr/>
        </p:nvSpPr>
        <p:spPr>
          <a:xfrm>
            <a:off x="7524702" y="2108585"/>
            <a:ext cx="301864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51492F-15FF-6DA7-F75F-9C3718C9BBBD}"/>
              </a:ext>
            </a:extLst>
          </p:cNvPr>
          <p:cNvSpPr/>
          <p:nvPr/>
        </p:nvSpPr>
        <p:spPr>
          <a:xfrm>
            <a:off x="1784206" y="3502819"/>
            <a:ext cx="303297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d?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668D1E-205A-6065-B259-EAF5CB66ADB6}"/>
              </a:ext>
            </a:extLst>
          </p:cNvPr>
          <p:cNvSpPr/>
          <p:nvPr/>
        </p:nvSpPr>
        <p:spPr>
          <a:xfrm>
            <a:off x="4873544" y="3505412"/>
            <a:ext cx="2609119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e?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906872-F0C7-2AEF-48AD-BAD488A22A2C}"/>
              </a:ext>
            </a:extLst>
          </p:cNvPr>
          <p:cNvSpPr/>
          <p:nvPr/>
        </p:nvSpPr>
        <p:spPr>
          <a:xfrm>
            <a:off x="7524702" y="3502819"/>
            <a:ext cx="3018640" cy="13303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f?</a:t>
            </a:r>
          </a:p>
        </p:txBody>
      </p:sp>
    </p:spTree>
    <p:extLst>
      <p:ext uri="{BB962C8B-B14F-4D97-AF65-F5344CB8AC3E}">
        <p14:creationId xmlns:p14="http://schemas.microsoft.com/office/powerpoint/2010/main" val="415837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14B (Pages 316-317)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EC13E62-430A-D965-CD77-F9001BAC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599128"/>
            <a:ext cx="7772400" cy="819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9FC23D-5B21-1FAA-446F-DFA85C67D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7" y="3429001"/>
            <a:ext cx="9041207" cy="738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A8BF15-ECE9-C24D-1D8B-4BE84C6B6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430382"/>
            <a:ext cx="2273300" cy="209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BC4F22-DDD4-890E-A529-450A3590A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6" y="1516012"/>
            <a:ext cx="2197100" cy="101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5A91D-E747-2DEB-64E0-334C2E6E4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112" y="1538142"/>
            <a:ext cx="2654300" cy="101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B34343-78C5-10D8-C32F-DF6CF6056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3009" y="4557831"/>
            <a:ext cx="4483100" cy="1625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F87B969-E4BF-8A1A-E8D0-25385BBD0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304" y="4183181"/>
            <a:ext cx="4140200" cy="23749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04BAE9B-3B74-AB8A-5EC4-5902444F98C7}"/>
              </a:ext>
            </a:extLst>
          </p:cNvPr>
          <p:cNvSpPr/>
          <p:nvPr/>
        </p:nvSpPr>
        <p:spPr>
          <a:xfrm>
            <a:off x="1906646" y="1411012"/>
            <a:ext cx="2358198" cy="20063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1A3F3A-3AEF-18F7-E4D0-4A53CA99AC90}"/>
              </a:ext>
            </a:extLst>
          </p:cNvPr>
          <p:cNvSpPr/>
          <p:nvPr/>
        </p:nvSpPr>
        <p:spPr>
          <a:xfrm>
            <a:off x="4345486" y="1408262"/>
            <a:ext cx="2542602" cy="20063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335878-0A22-4EED-1FB6-E9F54CB43EEB}"/>
              </a:ext>
            </a:extLst>
          </p:cNvPr>
          <p:cNvSpPr/>
          <p:nvPr/>
        </p:nvSpPr>
        <p:spPr>
          <a:xfrm>
            <a:off x="6987460" y="1416813"/>
            <a:ext cx="2770952" cy="20063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D9ADBE-0036-0D30-57C5-83B56AA99494}"/>
              </a:ext>
            </a:extLst>
          </p:cNvPr>
          <p:cNvSpPr/>
          <p:nvPr/>
        </p:nvSpPr>
        <p:spPr>
          <a:xfrm>
            <a:off x="1833442" y="4164730"/>
            <a:ext cx="4140198" cy="25141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D94E23-3CA2-1D81-8AE6-8551F7EF9B96}"/>
              </a:ext>
            </a:extLst>
          </p:cNvPr>
          <p:cNvSpPr/>
          <p:nvPr/>
        </p:nvSpPr>
        <p:spPr>
          <a:xfrm>
            <a:off x="6300708" y="4167593"/>
            <a:ext cx="4140199" cy="25302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9175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Right 11"/>
          <p:cNvSpPr/>
          <p:nvPr/>
        </p:nvSpPr>
        <p:spPr>
          <a:xfrm>
            <a:off x="5303913" y="2276872"/>
            <a:ext cx="56620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94358" y="711485"/>
                <a:ext cx="505214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600" dirty="0"/>
                  <a:t>Where does </a:t>
                </a:r>
                <a14:m>
                  <m:oMath xmlns:m="http://schemas.openxmlformats.org/officeDocument/2006/math">
                    <m:r>
                      <a:rPr lang="en-GB" sz="2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2600" dirty="0"/>
                  <a:t> come from, and why is it so important?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358" y="711485"/>
                <a:ext cx="5052146" cy="892552"/>
              </a:xfrm>
              <a:prstGeom prst="rect">
                <a:avLst/>
              </a:prstGeom>
              <a:blipFill>
                <a:blip r:embed="rId2"/>
                <a:stretch>
                  <a:fillRect l="-362" t="-6164" r="-1930" b="-171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47528" y="1754605"/>
                <a:ext cx="3456384" cy="15696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=2.71828…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r>
                  <a:rPr lang="en-GB" dirty="0"/>
                  <a:t>is known as </a:t>
                </a:r>
                <a:r>
                  <a:rPr lang="en-GB" b="1" dirty="0"/>
                  <a:t>Euler’s Number</a:t>
                </a:r>
                <a:r>
                  <a:rPr lang="en-GB" dirty="0"/>
                  <a:t>, and is considered one of the five fundamental constants in maths: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0,  1,  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754605"/>
                <a:ext cx="3456384" cy="1569660"/>
              </a:xfrm>
              <a:prstGeom prst="rect">
                <a:avLst/>
              </a:prstGeom>
              <a:blipFill>
                <a:blip r:embed="rId3"/>
                <a:stretch>
                  <a:fillRect l="-1051" r="-1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971716" y="1777950"/>
            <a:ext cx="4572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Its value was originally encountered by Bernoulli who was solving the following problem:</a:t>
            </a:r>
          </a:p>
          <a:p>
            <a:r>
              <a:rPr lang="en-GB" sz="1400" i="1" dirty="0"/>
              <a:t>You have £1. If you put it in a bank account with 100% interest, how much do you have a year later? If the interest is split into 2 instalments of 50% interest, how much will I have? What about 3 instalments of 33.3%? And so on…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4223758"/>
                  </p:ext>
                </p:extLst>
              </p:nvPr>
            </p:nvGraphicFramePr>
            <p:xfrm>
              <a:off x="6532240" y="3455117"/>
              <a:ext cx="3400724" cy="24372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437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570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No. Instalments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Money after a year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=£2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1×</m:t>
                                    </m:r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1.5</m:t>
                                    </m:r>
                                  </m:e>
                                  <m:sup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=£2.25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1.</m:t>
                                </m:r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GB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60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=£2.37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1×</m:t>
                                    </m:r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1.25</m:t>
                                    </m:r>
                                  </m:e>
                                  <m:sup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=£2.44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600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f>
                                          <m:fPr>
                                            <m:ctrlPr>
                                              <a:rPr lang="en-GB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GB" sz="160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GB" sz="1600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GB" sz="16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4223758"/>
                  </p:ext>
                </p:extLst>
              </p:nvPr>
            </p:nvGraphicFramePr>
            <p:xfrm>
              <a:off x="6532240" y="3455117"/>
              <a:ext cx="3400724" cy="252183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437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570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No. Instalments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Money after a year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103279" r="-121654" b="-4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607" t="-103279" r="-1311" b="-4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203279" r="-121654" b="-3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607" t="-203279" r="-1311" b="-3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303279" r="-121654" b="-2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607" t="-303279" r="-1311" b="-2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403279" r="-121654" b="-183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607" t="-403279" r="-1311" b="-183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676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4" t="-279091" r="-121654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607" t="-279091" r="-1311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28916" y="6063581"/>
                <a:ext cx="403588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As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becomes larger, the amount after a year approaches £2.71…, i.e.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600" dirty="0"/>
                  <a:t>!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916" y="6063581"/>
                <a:ext cx="4035884" cy="584775"/>
              </a:xfrm>
              <a:prstGeom prst="rect">
                <a:avLst/>
              </a:prstGeom>
              <a:blipFill>
                <a:blip r:embed="rId5"/>
                <a:stretch>
                  <a:fillRect l="-906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75880" y="3539108"/>
                <a:ext cx="2376264" cy="8327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>
                    <a:solidFill>
                      <a:schemeClr val="tx1"/>
                    </a:solidFill>
                  </a:rPr>
                  <a:t>Thus:</a:t>
                </a:r>
              </a:p>
              <a:p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GB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80" y="3539108"/>
                <a:ext cx="2376264" cy="8327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rrow: Right 38"/>
          <p:cNvSpPr/>
          <p:nvPr/>
        </p:nvSpPr>
        <p:spPr>
          <a:xfrm rot="10800000">
            <a:off x="4800600" y="3559696"/>
            <a:ext cx="1324378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25601" y="4436636"/>
                <a:ext cx="4546600" cy="1787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But we have seen that differentiation by first principles uses ‘limits’. It is therefore possible to prove from the definition above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 , and </a:t>
                </a:r>
                <a:r>
                  <a:rPr lang="en-GB" sz="1400" b="1" dirty="0"/>
                  <a:t>these two definitions of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1400" b="1" dirty="0"/>
                  <a:t> are considered to be equivalent*</a:t>
                </a:r>
                <a:r>
                  <a:rPr lang="en-GB" sz="1400" dirty="0"/>
                  <a:t>.</a:t>
                </a:r>
              </a:p>
              <a:p>
                <a:endParaRPr lang="en-GB" sz="600" dirty="0"/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therefore tends to arise in problems involving limits, and also therefore crops up all the time in anything involving differentiation and integration. Let’s see some applications…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601" y="4436636"/>
                <a:ext cx="4546600" cy="1787605"/>
              </a:xfrm>
              <a:prstGeom prst="rect">
                <a:avLst/>
              </a:prstGeom>
              <a:blipFill>
                <a:blip r:embed="rId7"/>
                <a:stretch>
                  <a:fillRect l="-402" t="-683" r="-402" b="-2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6239278" y="4170289"/>
            <a:ext cx="0" cy="2236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07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/>
      <p:bldP spid="9" grpId="0"/>
      <p:bldP spid="10" grpId="0" animBg="1"/>
      <p:bldP spid="39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Exponential Modelling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39900" y="730920"/>
                <a:ext cx="8813800" cy="2591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There are two key features of exponential functions which make them suitable for </a:t>
                </a:r>
                <a:r>
                  <a:rPr lang="en-GB" sz="1600" b="1" dirty="0"/>
                  <a:t>population growth</a:t>
                </a:r>
                <a:r>
                  <a:rPr lang="en-GB" sz="1600" dirty="0"/>
                  <a:t>:</a:t>
                </a:r>
              </a:p>
              <a:p>
                <a:endParaRPr lang="en-GB" sz="900" dirty="0"/>
              </a:p>
              <a:p>
                <a:pPr marL="342900" indent="-342900">
                  <a:buAutoNum type="arabicPeriod"/>
                </a:pPr>
                <a:r>
                  <a:rPr lang="en-GB" sz="17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700" b="1" dirty="0"/>
                  <a:t> gets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700" b="1" dirty="0"/>
                  <a:t> times bigger each time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700" b="1" dirty="0"/>
                  <a:t> increases by 1. (Because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GB" sz="17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700" b="1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700" b="1" dirty="0"/>
                  <a:t>)</a:t>
                </a:r>
                <a:br>
                  <a:rPr lang="en-GB" sz="1700" b="1" dirty="0"/>
                </a:br>
                <a:r>
                  <a:rPr lang="en-GB" sz="1700" dirty="0"/>
                  <a:t>With population growth, we typically have a fixed percentage increase each year. So suppose the growth was 10% a year, and we used the equivalent decimal multiplier, 1.1, as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700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i="1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GB" sz="17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700" dirty="0"/>
                  <a:t>, where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700" dirty="0"/>
                  <a:t> is the number of years, would get 1.1 times bigger each year.</a:t>
                </a:r>
              </a:p>
              <a:p>
                <a:pPr marL="342900" indent="-342900">
                  <a:buAutoNum type="arabicPeriod"/>
                </a:pPr>
                <a:r>
                  <a:rPr lang="en-GB" sz="1700" b="1" dirty="0"/>
                  <a:t>The rate of increase is proportional to the size of the population at a given moment.</a:t>
                </a:r>
                <a:br>
                  <a:rPr lang="en-GB" sz="1700" dirty="0"/>
                </a:br>
                <a:r>
                  <a:rPr lang="en-GB" sz="1700" dirty="0"/>
                  <a:t>This makes sense: The 10% increase of a population will be twice as large if the population itself is twice as large.</a:t>
                </a:r>
              </a:p>
              <a:p>
                <a:pPr marL="342900" indent="-342900"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730920"/>
                <a:ext cx="8813800" cy="2591222"/>
              </a:xfrm>
              <a:prstGeom prst="rect">
                <a:avLst/>
              </a:prstGeom>
              <a:blipFill>
                <a:blip r:embed="rId2"/>
                <a:stretch>
                  <a:fillRect l="-415" t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/>
          <p:cNvSpPr/>
          <p:nvPr/>
        </p:nvSpPr>
        <p:spPr>
          <a:xfrm>
            <a:off x="2103048" y="4737100"/>
            <a:ext cx="2583252" cy="1094968"/>
          </a:xfrm>
          <a:custGeom>
            <a:avLst/>
            <a:gdLst>
              <a:gd name="connsiteX0" fmla="*/ 0 w 1968500"/>
              <a:gd name="connsiteY0" fmla="*/ 609600 h 609600"/>
              <a:gd name="connsiteX1" fmla="*/ 1117600 w 1968500"/>
              <a:gd name="connsiteY1" fmla="*/ 355600 h 609600"/>
              <a:gd name="connsiteX2" fmla="*/ 1968500 w 1968500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8500" h="609600">
                <a:moveTo>
                  <a:pt x="0" y="609600"/>
                </a:moveTo>
                <a:cubicBezTo>
                  <a:pt x="394758" y="533400"/>
                  <a:pt x="789517" y="457200"/>
                  <a:pt x="1117600" y="355600"/>
                </a:cubicBezTo>
                <a:cubicBezTo>
                  <a:pt x="1445683" y="254000"/>
                  <a:pt x="1707091" y="127000"/>
                  <a:pt x="19685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2077616" y="4441120"/>
            <a:ext cx="5008" cy="183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859208" y="4062628"/>
                <a:ext cx="4489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208" y="4062628"/>
                <a:ext cx="44894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V="1">
            <a:off x="2090316" y="6278084"/>
            <a:ext cx="2791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848297" y="6007329"/>
                <a:ext cx="4489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297" y="6007329"/>
                <a:ext cx="4489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184401" y="3327253"/>
                <a:ext cx="7931347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the population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in </a:t>
                </a:r>
                <a:r>
                  <a:rPr lang="en-GB" i="1" dirty="0"/>
                  <a:t>The Republic of </a:t>
                </a:r>
                <a:r>
                  <a:rPr lang="en-GB" i="1" dirty="0" err="1"/>
                  <a:t>Nqmir</a:t>
                </a:r>
                <a:r>
                  <a:rPr lang="en-GB" i="1" dirty="0"/>
                  <a:t> </a:t>
                </a:r>
                <a:r>
                  <a:rPr lang="en-GB" dirty="0"/>
                  <a:t>is modelled by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=100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the numbers years since </a:t>
                </a:r>
                <a:r>
                  <a:rPr lang="en-GB" i="1" dirty="0"/>
                  <a:t>The Republic</a:t>
                </a:r>
                <a:r>
                  <a:rPr lang="en-GB" dirty="0"/>
                  <a:t> was established.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1" y="3327253"/>
                <a:ext cx="7931347" cy="646331"/>
              </a:xfrm>
              <a:prstGeom prst="rect">
                <a:avLst/>
              </a:prstGeom>
              <a:blipFill>
                <a:blip r:embed="rId5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105400" y="4022576"/>
            <a:ext cx="315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initial population?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88424" y="4098777"/>
                <a:ext cx="23652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GB" b="1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𝟏𝟎𝟎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424" y="4098777"/>
                <a:ext cx="2365276" cy="646331"/>
              </a:xfrm>
              <a:prstGeom prst="rect">
                <a:avLst/>
              </a:prstGeom>
              <a:blipFill>
                <a:blip r:embed="rId6"/>
                <a:stretch>
                  <a:fillRect l="-2062" t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165204" y="4781263"/>
            <a:ext cx="3159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initial rate of population growth?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942262" y="4840915"/>
                <a:ext cx="2365276" cy="1017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𝒅𝑷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𝟑𝟎𝟎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𝟑𝟎𝟎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262" y="4840915"/>
                <a:ext cx="2365276" cy="1017202"/>
              </a:xfrm>
              <a:prstGeom prst="rect">
                <a:avLst/>
              </a:prstGeom>
              <a:blipFill>
                <a:blip r:embed="rId7"/>
                <a:stretch>
                  <a:fillRect l="-2320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8185001" y="4049539"/>
            <a:ext cx="2241699" cy="7256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2262" y="4834854"/>
            <a:ext cx="2484438" cy="9817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629992" y="6088402"/>
                <a:ext cx="3911009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“Use of Technology” </a:t>
                </a:r>
                <a:r>
                  <a:rPr lang="en-GB" sz="1200" dirty="0"/>
                  <a:t>I use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□</m:t>
                        </m:r>
                      </m:sup>
                    </m:sSup>
                  </m:oMath>
                </a14:m>
                <a:r>
                  <a:rPr lang="en-GB" sz="1200" dirty="0"/>
                  <a:t> key. I can also use [ALPHA] [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200" dirty="0"/>
                  <a:t>] to get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200" dirty="0"/>
                  <a:t> without a power.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992" y="6088402"/>
                <a:ext cx="3911009" cy="461665"/>
              </a:xfrm>
              <a:prstGeom prst="rect">
                <a:avLst/>
              </a:prstGeom>
              <a:blipFill>
                <a:blip r:embed="rId8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77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2" grpId="0" animBg="1"/>
      <p:bldP spid="25" grpId="0"/>
      <p:bldP spid="27" grpId="0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29644" y="893069"/>
                <a:ext cx="7327924" cy="24302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density of a pesticide in a given section of field,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mg/m</a:t>
                </a:r>
                <a:r>
                  <a:rPr lang="en-GB" baseline="30000" dirty="0"/>
                  <a:t>2</a:t>
                </a:r>
                <a:r>
                  <a:rPr lang="en-GB" dirty="0"/>
                  <a:t>, can be modelled by the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=160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−0.006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the time in days since the pesticide was first applied.</a:t>
                </a:r>
              </a:p>
              <a:p>
                <a:r>
                  <a:rPr lang="en-GB" dirty="0"/>
                  <a:t>a. Use this model to estimate the density of pesticide after 15 days.</a:t>
                </a:r>
              </a:p>
              <a:p>
                <a:r>
                  <a:rPr lang="en-GB" dirty="0"/>
                  <a:t>b. Interpret the meaning of the value 160 in this model.</a:t>
                </a:r>
              </a:p>
              <a:p>
                <a:r>
                  <a:rPr lang="en-GB" dirty="0"/>
                  <a:t>c. Show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𝑘𝑃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a constant, and state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d. Interpret the significance of the sign of your answer in part (c).</a:t>
                </a:r>
              </a:p>
              <a:p>
                <a:r>
                  <a:rPr lang="en-GB" dirty="0"/>
                  <a:t>e. Sketch the graph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against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44" y="893069"/>
                <a:ext cx="7327924" cy="2430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Another Example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2029644" y="3573016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06700" y="3547617"/>
                <a:ext cx="3714700" cy="3032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=15,  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=160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−0.006(15)</m:t>
                        </m:r>
                      </m:sup>
                    </m:sSup>
                  </m:oMath>
                </a14:m>
                <a:br>
                  <a:rPr lang="en-GB" sz="16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=145.2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, then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=160</m:t>
                    </m:r>
                  </m:oMath>
                </a14:m>
                <a:r>
                  <a:rPr lang="en-GB" sz="1600" dirty="0"/>
                  <a:t>. Thus 160 is the initial density of pesticide in the field.</a:t>
                </a:r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160×−0.006</m:t>
                          </m:r>
                        </m:e>
                      </m:d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−0.006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=−0.96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−0.006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16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=−0.96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The rate is negative, thus the density of pesticide is decreasing.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700" y="3547617"/>
                <a:ext cx="3714700" cy="3032305"/>
              </a:xfrm>
              <a:prstGeom prst="rect">
                <a:avLst/>
              </a:prstGeom>
              <a:blipFill>
                <a:blip r:embed="rId3"/>
                <a:stretch>
                  <a:fillRect l="-985" t="-201" b="-1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16476" y="3619996"/>
                <a:ext cx="2311772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In general, the ‘initial value’, 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is the coefficient of the exponential term.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76" y="3619996"/>
                <a:ext cx="2311772" cy="738664"/>
              </a:xfrm>
              <a:prstGeom prst="rect">
                <a:avLst/>
              </a:prstGeom>
              <a:blipFill>
                <a:blip r:embed="rId4"/>
                <a:stretch>
                  <a:fillRect l="-261" r="-1828" b="-5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6" idx="1"/>
          </p:cNvCxnSpPr>
          <p:nvPr/>
        </p:nvCxnSpPr>
        <p:spPr>
          <a:xfrm flipH="1">
            <a:off x="5727700" y="3989328"/>
            <a:ext cx="288776" cy="201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29644" y="4354592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9632" y="5100876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9632" y="6021288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25" name="Freeform: Shape 24"/>
          <p:cNvSpPr/>
          <p:nvPr/>
        </p:nvSpPr>
        <p:spPr>
          <a:xfrm flipH="1">
            <a:off x="7019437" y="5483932"/>
            <a:ext cx="2621351" cy="1094968"/>
          </a:xfrm>
          <a:custGeom>
            <a:avLst/>
            <a:gdLst>
              <a:gd name="connsiteX0" fmla="*/ 0 w 1968500"/>
              <a:gd name="connsiteY0" fmla="*/ 609600 h 609600"/>
              <a:gd name="connsiteX1" fmla="*/ 1117600 w 1968500"/>
              <a:gd name="connsiteY1" fmla="*/ 355600 h 609600"/>
              <a:gd name="connsiteX2" fmla="*/ 1968500 w 1968500"/>
              <a:gd name="connsiteY2" fmla="*/ 0 h 609600"/>
              <a:gd name="connsiteX0" fmla="*/ 0 w 1978178"/>
              <a:gd name="connsiteY0" fmla="*/ 581318 h 581318"/>
              <a:gd name="connsiteX1" fmla="*/ 1127278 w 1978178"/>
              <a:gd name="connsiteY1" fmla="*/ 355600 h 581318"/>
              <a:gd name="connsiteX2" fmla="*/ 1978178 w 1978178"/>
              <a:gd name="connsiteY2" fmla="*/ 0 h 581318"/>
              <a:gd name="connsiteX0" fmla="*/ 0 w 1978178"/>
              <a:gd name="connsiteY0" fmla="*/ 581318 h 581318"/>
              <a:gd name="connsiteX1" fmla="*/ 1127278 w 1978178"/>
              <a:gd name="connsiteY1" fmla="*/ 355600 h 581318"/>
              <a:gd name="connsiteX2" fmla="*/ 1978178 w 1978178"/>
              <a:gd name="connsiteY2" fmla="*/ 0 h 581318"/>
              <a:gd name="connsiteX0" fmla="*/ 0 w 1997533"/>
              <a:gd name="connsiteY0" fmla="*/ 609600 h 609600"/>
              <a:gd name="connsiteX1" fmla="*/ 1146633 w 1997533"/>
              <a:gd name="connsiteY1" fmla="*/ 355600 h 609600"/>
              <a:gd name="connsiteX2" fmla="*/ 1997533 w 1997533"/>
              <a:gd name="connsiteY2" fmla="*/ 0 h 609600"/>
              <a:gd name="connsiteX0" fmla="*/ 0 w 1997533"/>
              <a:gd name="connsiteY0" fmla="*/ 609600 h 609600"/>
              <a:gd name="connsiteX1" fmla="*/ 1146633 w 1997533"/>
              <a:gd name="connsiteY1" fmla="*/ 355600 h 609600"/>
              <a:gd name="connsiteX2" fmla="*/ 1997533 w 1997533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7533" h="609600">
                <a:moveTo>
                  <a:pt x="0" y="609600"/>
                </a:moveTo>
                <a:cubicBezTo>
                  <a:pt x="597990" y="526330"/>
                  <a:pt x="813711" y="457200"/>
                  <a:pt x="1146633" y="355600"/>
                </a:cubicBezTo>
                <a:cubicBezTo>
                  <a:pt x="1479555" y="254000"/>
                  <a:pt x="1736124" y="127000"/>
                  <a:pt x="1997533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7019404" y="4819652"/>
            <a:ext cx="5008" cy="183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00996" y="4441160"/>
                <a:ext cx="4489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996" y="4441160"/>
                <a:ext cx="44894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7032104" y="6656616"/>
            <a:ext cx="2791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726585" y="6423960"/>
                <a:ext cx="4489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585" y="6423960"/>
                <a:ext cx="44894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6502400" y="5312708"/>
            <a:ext cx="552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648252" y="4440985"/>
                <a:ext cx="294354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Recall that if the power in the exponential term is negative, we have an </a:t>
                </a:r>
                <a:r>
                  <a:rPr lang="en-GB" sz="1400" b="1" dirty="0"/>
                  <a:t>exponential decay graph</a:t>
                </a:r>
                <a:r>
                  <a:rPr lang="en-GB" sz="1400" dirty="0"/>
                  <a:t>, which gradually decreases towards 0.</a:t>
                </a:r>
              </a:p>
              <a:p>
                <a:r>
                  <a:rPr lang="en-GB" sz="1400" dirty="0"/>
                  <a:t>If in doubt, just try a large value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Don’t forget to put in the 160!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252" y="4440985"/>
                <a:ext cx="2943548" cy="1384995"/>
              </a:xfrm>
              <a:prstGeom prst="rect">
                <a:avLst/>
              </a:prstGeom>
              <a:blipFill>
                <a:blip r:embed="rId7"/>
                <a:stretch>
                  <a:fillRect l="-205" r="-616" b="-25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H="1">
            <a:off x="8975638" y="5829744"/>
            <a:ext cx="288776" cy="201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368400" y="3554240"/>
            <a:ext cx="3092600" cy="5859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68400" y="4354593"/>
            <a:ext cx="3562500" cy="5222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8400" y="5100876"/>
            <a:ext cx="3549800" cy="7157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8888" y="6021288"/>
            <a:ext cx="3549800" cy="620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16516" y="4440984"/>
            <a:ext cx="4275284" cy="22335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199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16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14C (Pages 318-319)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9A85C1D-1030-9BF0-FEBC-A15684E7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780928"/>
            <a:ext cx="1854200" cy="106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5709A7-1E22-99B4-1259-BA979501B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4167134"/>
            <a:ext cx="1854200" cy="162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EC12FA-6353-C48F-0F1B-8C993C00A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897" y="2780927"/>
            <a:ext cx="3670300" cy="609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F8BAA2-90AF-2BAD-0C80-D8A2685AB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378" y="3730255"/>
            <a:ext cx="2832100" cy="25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77FB8D-A7EF-558F-ECF1-DFECC3053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892" y="4809755"/>
            <a:ext cx="2413000" cy="1460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A76D87-41F6-823B-3355-2C23C43D797B}"/>
              </a:ext>
            </a:extLst>
          </p:cNvPr>
          <p:cNvSpPr/>
          <p:nvPr/>
        </p:nvSpPr>
        <p:spPr>
          <a:xfrm>
            <a:off x="1860164" y="2685746"/>
            <a:ext cx="2075596" cy="11619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7214C0-D389-303D-CECE-AB17CE4DA492}"/>
              </a:ext>
            </a:extLst>
          </p:cNvPr>
          <p:cNvSpPr/>
          <p:nvPr/>
        </p:nvSpPr>
        <p:spPr>
          <a:xfrm>
            <a:off x="1860164" y="3942911"/>
            <a:ext cx="2075596" cy="24125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530D28-5C7A-7508-9E8C-398783035916}"/>
              </a:ext>
            </a:extLst>
          </p:cNvPr>
          <p:cNvSpPr/>
          <p:nvPr/>
        </p:nvSpPr>
        <p:spPr>
          <a:xfrm>
            <a:off x="4295801" y="2685746"/>
            <a:ext cx="5722107" cy="959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A92E62-B9DA-8D30-A2EC-21D49391A2FD}"/>
              </a:ext>
            </a:extLst>
          </p:cNvPr>
          <p:cNvSpPr/>
          <p:nvPr/>
        </p:nvSpPr>
        <p:spPr>
          <a:xfrm>
            <a:off x="4295801" y="3740200"/>
            <a:ext cx="5722107" cy="26152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d?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F17C68-BC82-5EED-BC52-68C14448CCBE}"/>
              </a:ext>
            </a:extLst>
          </p:cNvPr>
          <p:cNvGrpSpPr/>
          <p:nvPr/>
        </p:nvGrpSpPr>
        <p:grpSpPr>
          <a:xfrm>
            <a:off x="1540428" y="599128"/>
            <a:ext cx="9943744" cy="1965777"/>
            <a:chOff x="1540428" y="599128"/>
            <a:chExt cx="9943744" cy="19657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57505E-4A26-377F-5A39-18D407138094}"/>
                </a:ext>
              </a:extLst>
            </p:cNvPr>
            <p:cNvGrpSpPr/>
            <p:nvPr/>
          </p:nvGrpSpPr>
          <p:grpSpPr>
            <a:xfrm>
              <a:off x="1540428" y="599128"/>
              <a:ext cx="8083964" cy="1965777"/>
              <a:chOff x="16428" y="599127"/>
              <a:chExt cx="8083964" cy="19657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D8F7DF8-8C0F-D7CD-E762-01C8F3FE4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28" y="599127"/>
                <a:ext cx="7772400" cy="1862395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C94A0B2-3BF6-4FF0-2BBF-E9BCC6AAB97F}"/>
                  </a:ext>
                </a:extLst>
              </p:cNvPr>
              <p:cNvSpPr/>
              <p:nvPr/>
            </p:nvSpPr>
            <p:spPr>
              <a:xfrm>
                <a:off x="7020272" y="1340768"/>
                <a:ext cx="1080120" cy="12241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ACBAAD-3B42-07FD-B116-E6D90AA3609B}"/>
                </a:ext>
              </a:extLst>
            </p:cNvPr>
            <p:cNvSpPr txBox="1"/>
            <p:nvPr/>
          </p:nvSpPr>
          <p:spPr>
            <a:xfrm>
              <a:off x="8040216" y="2167931"/>
              <a:ext cx="3443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Km gained in height. Calculate the value of 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72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14C (Pages 318-319)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DDDA69-37E3-A8EA-6214-C905B3569B22}"/>
              </a:ext>
            </a:extLst>
          </p:cNvPr>
          <p:cNvGrpSpPr/>
          <p:nvPr/>
        </p:nvGrpSpPr>
        <p:grpSpPr>
          <a:xfrm>
            <a:off x="1542946" y="599127"/>
            <a:ext cx="7145342" cy="2548070"/>
            <a:chOff x="107504" y="657318"/>
            <a:chExt cx="7772400" cy="277168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D2B924A-FFD0-6434-9D76-FD93B37B6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57318"/>
              <a:ext cx="7772400" cy="2771682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B42DAA-92B6-7DA1-8DF2-CD09C6A1A953}"/>
                </a:ext>
              </a:extLst>
            </p:cNvPr>
            <p:cNvSpPr/>
            <p:nvPr/>
          </p:nvSpPr>
          <p:spPr>
            <a:xfrm>
              <a:off x="7015808" y="1484784"/>
              <a:ext cx="864096" cy="19442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2D4EEC3-8957-037D-C9B7-50F55C3D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500641"/>
            <a:ext cx="2657944" cy="9526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D48551-FD59-344F-AD18-7C51EE914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1" y="4509120"/>
            <a:ext cx="2837547" cy="8806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6C1F99-4B97-3B50-9D3F-64DEBE132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041" y="3482204"/>
            <a:ext cx="2750572" cy="8806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8FCA472-778D-012D-3DA8-4F44BD617A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95"/>
          <a:stretch/>
        </p:blipFill>
        <p:spPr>
          <a:xfrm>
            <a:off x="4772093" y="4453267"/>
            <a:ext cx="2547540" cy="13156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CED0D4E-1DE4-F1F9-BEFC-D299CDB129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8613" y="3500642"/>
            <a:ext cx="3159634" cy="302470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C65AA50-4F68-2D15-A1E0-1241F28E46C3}"/>
              </a:ext>
            </a:extLst>
          </p:cNvPr>
          <p:cNvSpPr/>
          <p:nvPr/>
        </p:nvSpPr>
        <p:spPr>
          <a:xfrm>
            <a:off x="1726540" y="3337143"/>
            <a:ext cx="2837546" cy="32750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89B55E-AF78-D328-F349-DD9D6FD2C4B8}"/>
              </a:ext>
            </a:extLst>
          </p:cNvPr>
          <p:cNvSpPr/>
          <p:nvPr/>
        </p:nvSpPr>
        <p:spPr>
          <a:xfrm>
            <a:off x="4606850" y="3337142"/>
            <a:ext cx="2696426" cy="32750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D01E46-8766-201E-FD44-B80A4096DCF1}"/>
              </a:ext>
            </a:extLst>
          </p:cNvPr>
          <p:cNvSpPr/>
          <p:nvPr/>
        </p:nvSpPr>
        <p:spPr>
          <a:xfrm>
            <a:off x="7368613" y="3351127"/>
            <a:ext cx="3159635" cy="23101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EA8458-FCA1-8CC8-A990-3635DAE9FEF8}"/>
              </a:ext>
            </a:extLst>
          </p:cNvPr>
          <p:cNvSpPr/>
          <p:nvPr/>
        </p:nvSpPr>
        <p:spPr>
          <a:xfrm>
            <a:off x="7377305" y="5733256"/>
            <a:ext cx="3159635" cy="878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330228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Logarithms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237284" y="19465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893468" y="20185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2018556"/>
                <a:ext cx="1440160" cy="576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57764" y="20185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2018556"/>
                <a:ext cx="1440160" cy="576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862020" y="19465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>
            <a:off x="3245396" y="230658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>
            <a:off x="5333628" y="230658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3"/>
          </p:cNvCxnSpPr>
          <p:nvPr/>
        </p:nvCxnSpPr>
        <p:spPr>
          <a:xfrm>
            <a:off x="7997924" y="230658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69668" y="149329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772" y="144249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7284" y="28106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93468" y="28826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2882652"/>
                <a:ext cx="1440160" cy="576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557764" y="28826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2882652"/>
                <a:ext cx="1440160" cy="5760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8862020" y="28106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8" name="Straight Arrow Connector 17"/>
          <p:cNvCxnSpPr>
            <a:endCxn id="15" idx="1"/>
          </p:cNvCxnSpPr>
          <p:nvPr/>
        </p:nvCxnSpPr>
        <p:spPr>
          <a:xfrm>
            <a:off x="3245396" y="317068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3"/>
            <a:endCxn id="16" idx="1"/>
          </p:cNvCxnSpPr>
          <p:nvPr/>
        </p:nvCxnSpPr>
        <p:spPr>
          <a:xfrm>
            <a:off x="5333628" y="3170684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</p:cNvCxnSpPr>
          <p:nvPr/>
        </p:nvCxnSpPr>
        <p:spPr>
          <a:xfrm>
            <a:off x="7997924" y="317068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37284" y="37467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893468" y="38187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3818756"/>
                <a:ext cx="1440160" cy="5760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557764" y="38187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3818756"/>
                <a:ext cx="1440160" cy="5760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862020" y="37467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5" name="Straight Arrow Connector 24"/>
          <p:cNvCxnSpPr>
            <a:endCxn id="22" idx="1"/>
          </p:cNvCxnSpPr>
          <p:nvPr/>
        </p:nvCxnSpPr>
        <p:spPr>
          <a:xfrm>
            <a:off x="3245396" y="410678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3"/>
            <a:endCxn id="23" idx="1"/>
          </p:cNvCxnSpPr>
          <p:nvPr/>
        </p:nvCxnSpPr>
        <p:spPr>
          <a:xfrm>
            <a:off x="5333628" y="410678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" idx="3"/>
          </p:cNvCxnSpPr>
          <p:nvPr/>
        </p:nvCxnSpPr>
        <p:spPr>
          <a:xfrm>
            <a:off x="7997924" y="410678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37284" y="46108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893468" y="46828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4682852"/>
                <a:ext cx="1440160" cy="5760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557764" y="46828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GB" sz="3200">
                              <a:latin typeface="Cambria Math" panose="020405030504060302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4682852"/>
                <a:ext cx="1440160" cy="5760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862020" y="46108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2" name="Straight Arrow Connector 31"/>
          <p:cNvCxnSpPr>
            <a:endCxn id="29" idx="1"/>
          </p:cNvCxnSpPr>
          <p:nvPr/>
        </p:nvCxnSpPr>
        <p:spPr>
          <a:xfrm>
            <a:off x="3245396" y="497088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3"/>
            <a:endCxn id="30" idx="1"/>
          </p:cNvCxnSpPr>
          <p:nvPr/>
        </p:nvCxnSpPr>
        <p:spPr>
          <a:xfrm>
            <a:off x="5333628" y="4970884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0" idx="3"/>
          </p:cNvCxnSpPr>
          <p:nvPr/>
        </p:nvCxnSpPr>
        <p:spPr>
          <a:xfrm>
            <a:off x="7997924" y="497088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93668" y="180253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3668" y="2666628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1660" y="35307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5636" y="446682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7284" y="5402933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893468" y="5474940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5474940"/>
                <a:ext cx="1440160" cy="5760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6557764" y="5474940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5474940"/>
                <a:ext cx="1440160" cy="5760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8862020" y="5402933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43" name="Straight Arrow Connector 42"/>
          <p:cNvCxnSpPr>
            <a:endCxn id="40" idx="1"/>
          </p:cNvCxnSpPr>
          <p:nvPr/>
        </p:nvCxnSpPr>
        <p:spPr>
          <a:xfrm>
            <a:off x="3245396" y="5762972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0" idx="3"/>
            <a:endCxn id="41" idx="1"/>
          </p:cNvCxnSpPr>
          <p:nvPr/>
        </p:nvCxnSpPr>
        <p:spPr>
          <a:xfrm>
            <a:off x="5333628" y="5762972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3"/>
          </p:cNvCxnSpPr>
          <p:nvPr/>
        </p:nvCxnSpPr>
        <p:spPr>
          <a:xfrm>
            <a:off x="7997924" y="576297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21660" y="5258916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65552" y="2025020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65552" y="2889116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5552" y="3825220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5552" y="4689316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552" y="5481404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0244" y="747813"/>
            <a:ext cx="8587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know the inverse of many mathematical operations; we can undo an addition by 2 for example by subtracting 2. But is there an inverse function for an exponential function?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7796" y="6134274"/>
            <a:ext cx="520566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Such functions are known as </a:t>
            </a:r>
            <a:r>
              <a:rPr lang="en-GB" b="1" dirty="0"/>
              <a:t>logarithms</a:t>
            </a:r>
            <a:r>
              <a:rPr lang="en-GB" dirty="0"/>
              <a:t>, and exist in order to provide an inverse to exponential functions.</a:t>
            </a:r>
          </a:p>
        </p:txBody>
      </p:sp>
    </p:spTree>
    <p:extLst>
      <p:ext uri="{BB962C8B-B14F-4D97-AF65-F5344CB8AC3E}">
        <p14:creationId xmlns:p14="http://schemas.microsoft.com/office/powerpoint/2010/main" val="41848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Interchanging between exponential and log form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71008" y="1981077"/>
                <a:ext cx="2448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008" y="1981077"/>
                <a:ext cx="244827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50000" y="1955677"/>
                <a:ext cx="2448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1955677"/>
                <a:ext cx="244827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29520" y="883321"/>
                <a:ext cx="7685980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GB" sz="2400" dirty="0"/>
                  <a:t> (“said log base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”) is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.</a:t>
                </a:r>
                <a:br>
                  <a:rPr lang="en-GB" sz="2400" dirty="0"/>
                </a:br>
                <a:r>
                  <a:rPr lang="en-GB" sz="2400" dirty="0"/>
                  <a:t>      The log function outputs the </a:t>
                </a:r>
                <a:r>
                  <a:rPr lang="en-GB" sz="2400" b="1" dirty="0"/>
                  <a:t>missing power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520" y="883321"/>
                <a:ext cx="7685980" cy="830997"/>
              </a:xfrm>
              <a:prstGeom prst="rect">
                <a:avLst/>
              </a:prstGeom>
              <a:blipFill>
                <a:blip r:embed="rId4"/>
                <a:stretch>
                  <a:fillRect l="-1107" t="-5000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Left-Right 14"/>
          <p:cNvSpPr/>
          <p:nvPr/>
        </p:nvSpPr>
        <p:spPr>
          <a:xfrm>
            <a:off x="5355780" y="2099321"/>
            <a:ext cx="828548" cy="41378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762119" y="2677100"/>
            <a:ext cx="6551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Here are two methods of interchanging between these forms.</a:t>
            </a:r>
          </a:p>
          <a:p>
            <a:pPr algn="ctr"/>
            <a:r>
              <a:rPr lang="en-GB" dirty="0"/>
              <a:t>Pick your favourite!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9536" y="3513832"/>
            <a:ext cx="320238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‘Missing Power’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09986" y="3987155"/>
                <a:ext cx="350971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Note first the base of the log must match the base of the exponential.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func>
                  </m:oMath>
                </a14:m>
                <a:r>
                  <a:rPr lang="en-GB" sz="1600" dirty="0"/>
                  <a:t> for example asks the question “2 to </a:t>
                </a:r>
                <a:r>
                  <a:rPr lang="en-GB" sz="1600" b="1" dirty="0"/>
                  <a:t>what power </a:t>
                </a:r>
                <a:r>
                  <a:rPr lang="en-GB" sz="1600" dirty="0"/>
                  <a:t>gives 8?”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986" y="3987155"/>
                <a:ext cx="3509714" cy="1077218"/>
              </a:xfrm>
              <a:prstGeom prst="rect">
                <a:avLst/>
              </a:prstGeom>
              <a:blipFill>
                <a:blip r:embed="rId5"/>
                <a:stretch>
                  <a:fillRect l="-696" t="-1695" r="-1565" b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103678" y="5827163"/>
            <a:ext cx="1691680" cy="64633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Click to start Animation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89375" y="5853598"/>
                <a:ext cx="7107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𝑙𝑜𝑔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375" y="5853598"/>
                <a:ext cx="7107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678477" y="5875020"/>
                <a:ext cx="783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477" y="5875020"/>
                <a:ext cx="78360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83101" y="6111274"/>
                <a:ext cx="5065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101" y="6111274"/>
                <a:ext cx="50656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429964" y="5807091"/>
            <a:ext cx="542199" cy="349187"/>
            <a:chOff x="6175526" y="5728158"/>
            <a:chExt cx="542199" cy="349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175526" y="5738791"/>
                  <a:ext cx="4126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5526" y="5738791"/>
                  <a:ext cx="412698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6305027" y="5728158"/>
                  <a:ext cx="4126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5027" y="5728158"/>
                  <a:ext cx="41269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69979" y="5870858"/>
                <a:ext cx="7424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979" y="5870858"/>
                <a:ext cx="74242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3716859" y="5118323"/>
            <a:ext cx="18341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We can imagine inserting the output of the log just after the base. Click the button!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3462079" y="5301208"/>
            <a:ext cx="25478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13311" y="3396875"/>
            <a:ext cx="3141494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Method 2</a:t>
            </a:r>
            <a:r>
              <a:rPr lang="en-GB" dirty="0"/>
              <a:t>: Do same operation to each side of equation.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1572" y="4112342"/>
            <a:ext cx="4029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Since KS3 you’re used to the idea of doing the same thing to each side of the equation that ‘undoes’ whatever you want to get rid of.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028689" y="4877921"/>
                <a:ext cx="23223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+2=11</m:t>
                      </m:r>
                    </m:oMath>
                  </m:oMathPara>
                </a14:m>
                <a:endParaRPr lang="en-GB" sz="1600" dirty="0"/>
              </a:p>
              <a:p>
                <a:endParaRPr lang="en-GB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689" y="4877921"/>
                <a:ext cx="2322302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430150" y="5122288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150" y="5122288"/>
                <a:ext cx="576064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573750" y="5084051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50" y="5084051"/>
                <a:ext cx="576064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392046" y="5548366"/>
                <a:ext cx="40293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“log base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” undoes “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to the power of” and vice versa, as they are inverse functions.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046" y="5548366"/>
                <a:ext cx="4029351" cy="523220"/>
              </a:xfrm>
              <a:prstGeom prst="rect">
                <a:avLst/>
              </a:prstGeom>
              <a:blipFill>
                <a:blip r:embed="rId15"/>
                <a:stretch>
                  <a:fillRect l="-454" t="-2326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269332" y="6049952"/>
                <a:ext cx="1737933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600" dirty="0"/>
              </a:p>
              <a:p>
                <a:endParaRPr lang="en-GB" sz="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  8=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332" y="6049952"/>
                <a:ext cx="1737933" cy="67710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257362" y="6237400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box>
                                <m:boxPr>
                                  <m:ctrlP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  <m:t>□</m:t>
                                  </m:r>
                                </m:e>
                              </m:box>
                            </m:sup>
                          </m:sSup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362" y="6237400"/>
                <a:ext cx="576064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540070" y="6207479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box>
                                <m:boxPr>
                                  <m:ctrlP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  <m:t>□</m:t>
                                  </m:r>
                                </m:e>
                              </m:box>
                            </m:sup>
                          </m:sSup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070" y="6207479"/>
                <a:ext cx="576064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row: Right 40"/>
          <p:cNvSpPr/>
          <p:nvPr/>
        </p:nvSpPr>
        <p:spPr>
          <a:xfrm rot="5400000">
            <a:off x="8328368" y="5132731"/>
            <a:ext cx="69979" cy="1992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row: Right 41"/>
          <p:cNvSpPr/>
          <p:nvPr/>
        </p:nvSpPr>
        <p:spPr>
          <a:xfrm rot="5400000">
            <a:off x="8276609" y="6309451"/>
            <a:ext cx="69979" cy="1992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7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069 L -0.03142 -0.04328 L -0.08351 -0.03912 L -0.09687 0.03125 " pathEditMode="relative" rAng="0" ptsTypes="AAAA">
                                      <p:cBhvr>
                                        <p:cTn id="7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44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50"/>
                            </p:stCondLst>
                            <p:childTnLst>
                              <p:par>
                                <p:cTn id="7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1" grpId="0" animBg="1"/>
      <p:bldP spid="22" grpId="0"/>
      <p:bldP spid="22" grpId="1"/>
      <p:bldP spid="23" grpId="0"/>
      <p:bldP spid="24" grpId="0"/>
      <p:bldP spid="28" grpId="0"/>
      <p:bldP spid="28" grpId="1"/>
      <p:bldP spid="29" grpId="0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27384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8411" y="733986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1" y="733986"/>
                <a:ext cx="307450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157643" y="719470"/>
            <a:ext cx="1431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Think: “5 to the power of what gives you 25?”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8410" y="1598409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81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0" y="1598409"/>
                <a:ext cx="307450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58752" y="3754605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52" y="3754605"/>
                <a:ext cx="307450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18410" y="2393478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32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0" y="2393478"/>
                <a:ext cx="3074505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0014" y="4419046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14" y="4419046"/>
                <a:ext cx="3074505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81627" y="5155949"/>
                <a:ext cx="3074505" cy="13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627" y="5155949"/>
                <a:ext cx="3074505" cy="13371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45508" y="556308"/>
                <a:ext cx="3556437" cy="13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27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08" y="556308"/>
                <a:ext cx="3556437" cy="13371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01829" y="1866824"/>
                <a:ext cx="3745258" cy="13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829" y="1866824"/>
                <a:ext cx="3745258" cy="13371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58287" y="4136204"/>
                <a:ext cx="28853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287" y="4136204"/>
                <a:ext cx="2885319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35784" y="3112668"/>
                <a:ext cx="34506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1000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84" y="3112668"/>
                <a:ext cx="345061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4847774" y="957944"/>
            <a:ext cx="333827" cy="101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356822" y="3264426"/>
                <a:ext cx="37452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22" y="3264426"/>
                <a:ext cx="3745258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15544" y="3857128"/>
                <a:ext cx="155133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544" y="3857128"/>
                <a:ext cx="1551338" cy="646331"/>
              </a:xfrm>
              <a:prstGeom prst="rect">
                <a:avLst/>
              </a:prstGeom>
              <a:blipFill>
                <a:blip r:embed="rId13"/>
                <a:stretch>
                  <a:fillRect l="-2317" t="-4545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4228753" y="646163"/>
            <a:ext cx="575477" cy="892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7779" y="1548994"/>
            <a:ext cx="589992" cy="773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7779" y="2334658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2866" y="3018279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11985" y="3749287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41011" y="4431127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2776" y="5333479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14578" y="761409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4578" y="1989445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2747" y="3078531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3950" y="4223549"/>
            <a:ext cx="940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8521" y="4011335"/>
            <a:ext cx="1172109" cy="8944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?!!??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486400" y="5517232"/>
            <a:ext cx="50498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90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With Your Calculator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34050" y="820508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There are three buttons on your calculator for computing logs: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38760" y="1961501"/>
                <a:ext cx="1440160" cy="7920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□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□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760" y="1961501"/>
                <a:ext cx="1440160" cy="7920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35016" y="1874417"/>
                <a:ext cx="43924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𝟕𝟕𝟏𝟐𝟒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0.3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𝟕𝟒𝟖𝟎𝟕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16" y="1874417"/>
                <a:ext cx="4392488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30578" y="3428230"/>
                <a:ext cx="1440160" cy="7920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𝑙𝑛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578" y="3428230"/>
                <a:ext cx="1440160" cy="792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57644" y="3295241"/>
                <a:ext cx="43924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𝟑𝟎𝟐𝟓𝟖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44" y="3295241"/>
                <a:ext cx="4392488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536160" y="3964428"/>
                <a:ext cx="2902396" cy="17543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dirty="0"/>
                  <a:t> is the “</a:t>
                </a:r>
                <a:r>
                  <a:rPr lang="en-GB" b="1" dirty="0"/>
                  <a:t>natural log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”, meaning “log to the base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”, i.e. it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will use it more extensively later this chapter.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3964428"/>
                <a:ext cx="2902396" cy="1754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 flipV="1">
            <a:off x="6642100" y="4178301"/>
            <a:ext cx="643936" cy="38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79752" y="1828801"/>
            <a:ext cx="2045048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2104" y="2310067"/>
            <a:ext cx="2045048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5694" y="3303108"/>
            <a:ext cx="2045048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9716" y="3760278"/>
            <a:ext cx="743285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790700" y="5667063"/>
                <a:ext cx="4584700" cy="10956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Just like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GB" sz="1600" dirty="0"/>
                  <a:t> symbol without a number is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□</m:t>
                        </m:r>
                      </m:e>
                    </m:rad>
                  </m:oMath>
                </a14:m>
                <a:r>
                  <a:rPr lang="en-GB" sz="1600" dirty="0"/>
                  <a:t> by default, </a:t>
                </a:r>
                <a14:m>
                  <m:oMath xmlns:m="http://schemas.openxmlformats.org/officeDocument/2006/math">
                    <m:r>
                      <a:rPr lang="en-GB" sz="1600" i="1" dirty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sz="1600" dirty="0"/>
                  <a:t> without a base is </a:t>
                </a:r>
                <a:r>
                  <a:rPr lang="en-GB" sz="1600" b="1" dirty="0"/>
                  <a:t>base 10 </a:t>
                </a:r>
                <a:r>
                  <a:rPr lang="en-GB" sz="1600" dirty="0"/>
                  <a:t>by default when used on your calculator (although confusingly “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sz="1600" dirty="0"/>
                  <a:t>” can mean “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sz="1600" dirty="0"/>
                  <a:t>” in mathematical papers)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5667063"/>
                <a:ext cx="4584700" cy="10956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342884" y="4597071"/>
                <a:ext cx="1440160" cy="7920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𝑙𝑜𝑔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884" y="4597071"/>
                <a:ext cx="1440160" cy="7920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 flipV="1">
            <a:off x="3886200" y="5410200"/>
            <a:ext cx="261324" cy="238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76496" y="4630569"/>
                <a:ext cx="3030704" cy="523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br>
                  <a:rPr lang="en-GB" sz="2800" b="1" i="1" dirty="0">
                    <a:latin typeface="Cambria Math" panose="02040503050406030204" pitchFamily="18" charset="0"/>
                  </a:rPr>
                </a:br>
                <a:endParaRPr lang="en-GB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496" y="4630569"/>
                <a:ext cx="3030704" cy="5232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5957036" y="4632107"/>
            <a:ext cx="743285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7668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14D – Y1 Page 321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62B19AD-A753-F18D-1F72-56551195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642132"/>
            <a:ext cx="5291388" cy="1234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38D924-1D1C-3716-7E86-7624555F0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034" y="4690818"/>
            <a:ext cx="6552728" cy="8474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FB1CAC-72BD-984D-8FD4-CC3324B36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112" y="655883"/>
            <a:ext cx="2273300" cy="1511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56975D-4115-53C7-9A32-EEFEE9F3A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824" y="2206615"/>
            <a:ext cx="1676400" cy="342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74748CA-169A-6C41-05B8-1F90648303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44" y="5638279"/>
            <a:ext cx="1447800" cy="330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F5657B-3BBB-E4E6-CB0C-88C1B1F617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5912" y="5968480"/>
            <a:ext cx="1447800" cy="330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DEE0D50-AAD1-C8CF-97CC-E1A2C125C0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1544" y="6270256"/>
            <a:ext cx="1447800" cy="330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8D06FDD-0BB1-9669-2B64-8B494D978F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9856" y="5626542"/>
            <a:ext cx="1447800" cy="1092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7E335E-C2A3-77A3-ECA7-F9545AB75A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6533" y="2603090"/>
            <a:ext cx="6552728" cy="8766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A302FF6-64E3-4DC7-9E1A-7AAB59950C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7528" y="3477475"/>
            <a:ext cx="1346200" cy="2667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8403F97-7447-C9EE-088D-F843F99184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1544" y="3776564"/>
            <a:ext cx="1193800" cy="2667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532DF91-6BFC-0DC7-2D4A-36399D6B89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8544" y="4087424"/>
            <a:ext cx="1193800" cy="2667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D171F5A-3914-E73D-4BF4-E4E9898F2C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6356" y="3510380"/>
            <a:ext cx="1574800" cy="1092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AAB2A7-6D82-6CDF-0D36-7DE7ED592C26}"/>
              </a:ext>
            </a:extLst>
          </p:cNvPr>
          <p:cNvSpPr/>
          <p:nvPr/>
        </p:nvSpPr>
        <p:spPr>
          <a:xfrm>
            <a:off x="7104112" y="658091"/>
            <a:ext cx="2273300" cy="1548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942914-45ED-1158-A46B-6D2D5904087B}"/>
              </a:ext>
            </a:extLst>
          </p:cNvPr>
          <p:cNvSpPr/>
          <p:nvPr/>
        </p:nvSpPr>
        <p:spPr>
          <a:xfrm>
            <a:off x="7113824" y="2262557"/>
            <a:ext cx="2273300" cy="3917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02A418-5002-FCD8-5329-25BEC314473F}"/>
              </a:ext>
            </a:extLst>
          </p:cNvPr>
          <p:cNvSpPr/>
          <p:nvPr/>
        </p:nvSpPr>
        <p:spPr>
          <a:xfrm>
            <a:off x="1823784" y="3485765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DB0422-1F4C-74CE-3E0A-CF09D147468B}"/>
              </a:ext>
            </a:extLst>
          </p:cNvPr>
          <p:cNvSpPr/>
          <p:nvPr/>
        </p:nvSpPr>
        <p:spPr>
          <a:xfrm>
            <a:off x="1827742" y="5623665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8138CA-E41E-02A7-71F9-32D35D4475A3}"/>
              </a:ext>
            </a:extLst>
          </p:cNvPr>
          <p:cNvSpPr/>
          <p:nvPr/>
        </p:nvSpPr>
        <p:spPr>
          <a:xfrm>
            <a:off x="4727848" y="3497502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9298F9-04EE-359E-0EB6-1A12EE049FCA}"/>
              </a:ext>
            </a:extLst>
          </p:cNvPr>
          <p:cNvSpPr/>
          <p:nvPr/>
        </p:nvSpPr>
        <p:spPr>
          <a:xfrm>
            <a:off x="4731806" y="5635402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155738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926867" y="837802"/>
                <a:ext cx="3993791" cy="5212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[MAT 2015 1J] Which is the largest of the following numbers?</a:t>
                </a:r>
              </a:p>
              <a:p>
                <a:r>
                  <a:rPr lang="en-GB" sz="1600" dirty="0"/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     B)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600" dirty="0"/>
                  <a:t>    C)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10!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6!</m:t>
                            </m:r>
                          </m:e>
                        </m:d>
                      </m:den>
                    </m:f>
                  </m:oMath>
                </a14:m>
                <a:endParaRPr lang="en-GB" sz="1600" dirty="0"/>
              </a:p>
              <a:p>
                <a:r>
                  <a:rPr lang="en-GB" sz="1600" dirty="0"/>
                  <a:t>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fName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85</m:t>
                            </m:r>
                          </m:e>
                        </m:func>
                      </m:den>
                    </m:f>
                  </m:oMath>
                </a14:m>
                <a:r>
                  <a:rPr lang="en-GB" sz="1600" dirty="0"/>
                  <a:t>    E)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b="1" dirty="0"/>
                  <a:t>(Official solution) Squaring all answers results in (A)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 which is larger than (B)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</m:oMath>
                </a14:m>
                <a:r>
                  <a:rPr lang="en-GB" sz="1600" b="1" dirty="0"/>
                  <a:t>. After squaring (C) it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GB" sz="1600" b="1" dirty="0"/>
                  <a:t> which further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GB" sz="1600" b="1" dirty="0"/>
                  <a:t> which is smaller than (A).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</m:func>
                    <m:r>
                      <a:rPr lang="en-GB" sz="1600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fName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𝟖𝟓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sz="1600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600" b="1" dirty="0"/>
                  <a:t>, hence (D) is smaller than (A) after squaring. Comparing (A) with (E) after squaring results in a comparison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GB" sz="1600" b="1" dirty="0"/>
                  <a:t>. As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1600" b="1" dirty="0"/>
                  <a:t>, (E) squared must be less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𝟏𝟑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GB" sz="1600" b="1" dirty="0"/>
                  <a:t> and hence less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. The answer is (A).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867" y="837802"/>
                <a:ext cx="3993791" cy="5212068"/>
              </a:xfrm>
              <a:prstGeom prst="rect">
                <a:avLst/>
              </a:prstGeom>
              <a:blipFill>
                <a:blip r:embed="rId2"/>
                <a:stretch>
                  <a:fillRect l="-763" t="-351" r="-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613660" y="937924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6235" y="2339808"/>
            <a:ext cx="3933328" cy="37100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2846" y="1641597"/>
            <a:ext cx="165618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Non-calculator!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451883" y="794658"/>
                <a:ext cx="4119563" cy="5285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i="1" dirty="0"/>
                  <a:t>[MAT 2013 1F] </a:t>
                </a:r>
                <a:r>
                  <a:rPr lang="en-GB" sz="1600" dirty="0"/>
                  <a:t>Three </a:t>
                </a:r>
                <a:r>
                  <a:rPr lang="en-GB" sz="1600" i="1" dirty="0"/>
                  <a:t>positive</a:t>
                </a:r>
                <a:r>
                  <a:rPr lang="en-GB" sz="1600" dirty="0"/>
                  <a:t> numbers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 satisfy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This information: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specifies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uniquely;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is satisfied by two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;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is satisfied by infinitely many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;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is contradictory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600" b="1" dirty="0"/>
                  <a:t>If we take exponents of the three equations: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Hence eliminating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1600" b="1" dirty="0"/>
                  <a:t> we get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 ⇒  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We are only interested in positive solutions to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.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d>
                      <m:d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1600" b="1" dirty="0"/>
                  <a:t> is negative for </a:t>
                </a:r>
                <a:br>
                  <a:rPr lang="en-GB" sz="1600" b="1" dirty="0"/>
                </a:b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 and then both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 are positive and increasing for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. So there is only one positive solution to the equation (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, so that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r>
                  <a:rPr lang="en-GB" sz="1600" b="1" dirty="0"/>
                  <a:t>). Answer is (a).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883" y="794658"/>
                <a:ext cx="4119563" cy="5285293"/>
              </a:xfrm>
              <a:prstGeom prst="rect">
                <a:avLst/>
              </a:prstGeom>
              <a:blipFill>
                <a:blip r:embed="rId3"/>
                <a:stretch>
                  <a:fillRect l="-740" t="-346" r="-148" b="-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912379" y="873522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1020" y="3450790"/>
            <a:ext cx="4035600" cy="25607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907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6700" cy="6907803"/>
            <a:chOff x="0" y="0"/>
            <a:chExt cx="9156700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12700" y="45145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44887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3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1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 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-1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-2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39618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39618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Rectangle 52"/>
          <p:cNvSpPr/>
          <p:nvPr/>
        </p:nvSpPr>
        <p:spPr>
          <a:xfrm>
            <a:off x="2418863" y="509703"/>
            <a:ext cx="625593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3790859" y="61312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031039" y="509703"/>
            <a:ext cx="544681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995069" y="5304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3583204" y="509704"/>
            <a:ext cx="45841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20619" y="44168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041619" y="509703"/>
            <a:ext cx="462720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80580" y="3553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504339" y="509703"/>
            <a:ext cx="46461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7021767" y="269124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104710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4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4968950" y="509703"/>
            <a:ext cx="54846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8" name="Freeform: Shape 27"/>
          <p:cNvSpPr/>
          <p:nvPr/>
        </p:nvSpPr>
        <p:spPr>
          <a:xfrm>
            <a:off x="3773714" y="1901371"/>
            <a:ext cx="6807200" cy="4963886"/>
          </a:xfrm>
          <a:custGeom>
            <a:avLst/>
            <a:gdLst>
              <a:gd name="connsiteX0" fmla="*/ 0 w 6807200"/>
              <a:gd name="connsiteY0" fmla="*/ 4963886 h 4963886"/>
              <a:gd name="connsiteX1" fmla="*/ 101600 w 6807200"/>
              <a:gd name="connsiteY1" fmla="*/ 4339772 h 4963886"/>
              <a:gd name="connsiteX2" fmla="*/ 319315 w 6807200"/>
              <a:gd name="connsiteY2" fmla="*/ 3483429 h 4963886"/>
              <a:gd name="connsiteX3" fmla="*/ 740229 w 6807200"/>
              <a:gd name="connsiteY3" fmla="*/ 2612572 h 4963886"/>
              <a:gd name="connsiteX4" fmla="*/ 1582057 w 6807200"/>
              <a:gd name="connsiteY4" fmla="*/ 1741715 h 4963886"/>
              <a:gd name="connsiteX5" fmla="*/ 3338286 w 6807200"/>
              <a:gd name="connsiteY5" fmla="*/ 870858 h 4963886"/>
              <a:gd name="connsiteX6" fmla="*/ 6807200 w 6807200"/>
              <a:gd name="connsiteY6" fmla="*/ 0 h 496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07200" h="4963886">
                <a:moveTo>
                  <a:pt x="0" y="4963886"/>
                </a:moveTo>
                <a:cubicBezTo>
                  <a:pt x="24190" y="4775200"/>
                  <a:pt x="48381" y="4586515"/>
                  <a:pt x="101600" y="4339772"/>
                </a:cubicBezTo>
                <a:cubicBezTo>
                  <a:pt x="154819" y="4093029"/>
                  <a:pt x="212877" y="3771296"/>
                  <a:pt x="319315" y="3483429"/>
                </a:cubicBezTo>
                <a:cubicBezTo>
                  <a:pt x="425753" y="3195562"/>
                  <a:pt x="529772" y="2902858"/>
                  <a:pt x="740229" y="2612572"/>
                </a:cubicBezTo>
                <a:cubicBezTo>
                  <a:pt x="950686" y="2322286"/>
                  <a:pt x="1149048" y="2032001"/>
                  <a:pt x="1582057" y="1741715"/>
                </a:cubicBezTo>
                <a:cubicBezTo>
                  <a:pt x="2015066" y="1451429"/>
                  <a:pt x="2467429" y="1161144"/>
                  <a:pt x="3338286" y="870858"/>
                </a:cubicBezTo>
                <a:cubicBezTo>
                  <a:pt x="4209143" y="580572"/>
                  <a:pt x="5508171" y="290286"/>
                  <a:pt x="68072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8" name="Group 57"/>
          <p:cNvGrpSpPr/>
          <p:nvPr/>
        </p:nvGrpSpPr>
        <p:grpSpPr>
          <a:xfrm>
            <a:off x="2609851" y="1517154"/>
            <a:ext cx="3503611" cy="1111746"/>
            <a:chOff x="1085850" y="1517154"/>
            <a:chExt cx="3503611" cy="1111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The log graph isn’t defined for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≤0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877" t="-3636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/>
            <p:cNvCxnSpPr>
              <a:stCxn id="29" idx="1"/>
            </p:cNvCxnSpPr>
            <p:nvPr/>
          </p:nvCxnSpPr>
          <p:spPr>
            <a:xfrm flipH="1">
              <a:off x="1085850" y="1840320"/>
              <a:ext cx="1252786" cy="78858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3933373" y="5304240"/>
            <a:ext cx="3854225" cy="1314275"/>
            <a:chOff x="735236" y="1517154"/>
            <a:chExt cx="3854225" cy="1314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We have a vertical asymptote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609" t="-2727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Arrow Connector 72"/>
            <p:cNvCxnSpPr>
              <a:stCxn id="72" idx="1"/>
            </p:cNvCxnSpPr>
            <p:nvPr/>
          </p:nvCxnSpPr>
          <p:spPr>
            <a:xfrm flipH="1">
              <a:off x="735236" y="1840320"/>
              <a:ext cx="1603400" cy="9911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4746172" y="3484920"/>
            <a:ext cx="2786743" cy="869367"/>
            <a:chOff x="721118" y="1517154"/>
            <a:chExt cx="2786743" cy="869367"/>
          </a:xfrm>
        </p:grpSpPr>
        <p:sp>
          <p:nvSpPr>
            <p:cNvPr id="75" name="TextBox 74"/>
            <p:cNvSpPr txBox="1"/>
            <p:nvPr/>
          </p:nvSpPr>
          <p:spPr>
            <a:xfrm>
              <a:off x="2338636" y="1517154"/>
              <a:ext cx="1169225" cy="3693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Root is 1.</a:t>
              </a:r>
            </a:p>
          </p:txBody>
        </p:sp>
        <p:cxnSp>
          <p:nvCxnSpPr>
            <p:cNvPr id="76" name="Straight Arrow Connector 75"/>
            <p:cNvCxnSpPr>
              <a:stCxn id="75" idx="1"/>
            </p:cNvCxnSpPr>
            <p:nvPr/>
          </p:nvCxnSpPr>
          <p:spPr>
            <a:xfrm flipH="1">
              <a:off x="721118" y="1701820"/>
              <a:ext cx="1617518" cy="68470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8026400" y="2336800"/>
            <a:ext cx="2365828" cy="1780408"/>
            <a:chOff x="1457916" y="937075"/>
            <a:chExt cx="2365828" cy="1780408"/>
          </a:xfrm>
        </p:grpSpPr>
        <p:sp>
          <p:nvSpPr>
            <p:cNvPr id="80" name="TextBox 79"/>
            <p:cNvSpPr txBox="1"/>
            <p:nvPr/>
          </p:nvSpPr>
          <p:spPr>
            <a:xfrm>
              <a:off x="1457916" y="1517154"/>
              <a:ext cx="2365828" cy="120032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The gradient gradually decreases but remains positive (log is an “increasing function”)</a:t>
              </a: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 flipV="1">
              <a:off x="2691630" y="937075"/>
              <a:ext cx="232229" cy="58057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176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Laws of Logs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97100" y="739429"/>
                <a:ext cx="4897116" cy="539724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 </a:t>
                </a:r>
                <a:r>
                  <a:rPr lang="en-GB" sz="2400" dirty="0">
                    <a:latin typeface="+mj-lt"/>
                  </a:rPr>
                  <a:t>Three main laws:</a:t>
                </a:r>
                <a:endParaRPr lang="en-GB" sz="2400" dirty="0">
                  <a:latin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  <a:p>
                <a:endParaRPr lang="en-GB" sz="1000" dirty="0"/>
              </a:p>
              <a:p>
                <a:r>
                  <a:rPr lang="en-GB" sz="2400" dirty="0"/>
                  <a:t>Special cases: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=1   (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&gt;0,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≠1)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=0   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&gt;0,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≠1</m:t>
                          </m:r>
                        </m:e>
                      </m:d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  <a:p>
                <a:endParaRPr lang="en-GB" sz="600" dirty="0"/>
              </a:p>
              <a:p>
                <a:r>
                  <a:rPr lang="en-GB" sz="2400" dirty="0"/>
                  <a:t>Not in syllabus (but in MAT/PAT):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100" y="739429"/>
                <a:ext cx="4897116" cy="5397247"/>
              </a:xfrm>
              <a:prstGeom prst="rect">
                <a:avLst/>
              </a:prstGeom>
              <a:blipFill>
                <a:blip r:embed="rId2"/>
                <a:stretch>
                  <a:fillRect l="-1735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6819900" y="1346204"/>
            <a:ext cx="482600" cy="47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0" y="2271857"/>
            <a:ext cx="2242468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i.e. You can move the power to the front.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769100" y="2540000"/>
            <a:ext cx="546100" cy="11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756400" y="3962400"/>
            <a:ext cx="46990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239658" y="3084595"/>
                <a:ext cx="2539342" cy="2430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often try to avoid leaving fractions inside logs.</a:t>
                </a:r>
              </a:p>
              <a:p>
                <a:r>
                  <a:rPr lang="en-GB" sz="1600" dirty="0"/>
                  <a:t>So if the answer was: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You should write your answer as: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</m:oMath>
                </a14:m>
                <a:endParaRPr lang="en-GB" dirty="0"/>
              </a:p>
              <a:p>
                <a:r>
                  <a:rPr lang="en-GB" sz="1600" b="1" dirty="0"/>
                  <a:t>Reciprocating the input negates the output.</a:t>
                </a:r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658" y="3084595"/>
                <a:ext cx="2539342" cy="2430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7302500" y="1443194"/>
            <a:ext cx="2242468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The logs must have a consistent base.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30716" y="5674674"/>
                <a:ext cx="3407220" cy="109549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This is known as </a:t>
                </a:r>
                <a:r>
                  <a:rPr lang="en-GB" sz="1600" b="1" dirty="0"/>
                  <a:t>changing the base</a:t>
                </a:r>
                <a:r>
                  <a:rPr lang="en-GB" sz="1600" dirty="0"/>
                  <a:t>. So to get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func>
                  </m:oMath>
                </a14:m>
                <a:r>
                  <a:rPr lang="en-GB" sz="1600" dirty="0"/>
                  <a:t> in terms of log base 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9=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16" y="5674674"/>
                <a:ext cx="3407220" cy="10954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 flipV="1">
            <a:off x="6756400" y="6019800"/>
            <a:ext cx="261616" cy="2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582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7700" y="897093"/>
                <a:ext cx="3602236" cy="178407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Write as a single logarithm:</a:t>
                </a:r>
              </a:p>
              <a:p>
                <a:pPr marL="342900" indent="-3429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342900" indent="-3429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342900" indent="-3429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00" y="897093"/>
                <a:ext cx="3602236" cy="17840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07968" y="897093"/>
                <a:ext cx="4572572" cy="21251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Write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897093"/>
                <a:ext cx="4572572" cy="21251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43944" y="3166245"/>
                <a:ext cx="3528392" cy="2071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:br>
                  <a:rPr lang="en-GB" sz="11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:br>
                  <a:rPr lang="en-GB" sz="11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:br>
                  <a:rPr lang="en-GB" sz="11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GB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944" y="3166245"/>
                <a:ext cx="3528392" cy="2071977"/>
              </a:xfrm>
              <a:prstGeom prst="rect">
                <a:avLst/>
              </a:prstGeom>
              <a:blipFill>
                <a:blip r:embed="rId4"/>
                <a:stretch>
                  <a:fillRect l="-5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827337" y="3260601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7337" y="3717032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3688" y="4154413"/>
            <a:ext cx="211013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3212" y="4752893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57778" y="3176656"/>
                <a:ext cx="4529469" cy="3602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            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−3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func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           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−4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778" y="3176656"/>
                <a:ext cx="4529469" cy="3602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710890" y="3279489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0874" y="3947060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3953" y="4803911"/>
            <a:ext cx="211013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3952" y="5959851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8070" y="3168878"/>
            <a:ext cx="3191753" cy="3266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8541" y="3658612"/>
            <a:ext cx="3191753" cy="3266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18540" y="4099107"/>
            <a:ext cx="3201282" cy="3266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6246" y="4584180"/>
            <a:ext cx="3223577" cy="583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3633" y="3203892"/>
            <a:ext cx="4394681" cy="5706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3633" y="3933057"/>
            <a:ext cx="4394681" cy="7316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39886" y="4797153"/>
            <a:ext cx="4427240" cy="10591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2291" y="5960908"/>
            <a:ext cx="4427240" cy="6578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623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Anti Laws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3460" y="913036"/>
            <a:ext cx="756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These are </a:t>
            </a:r>
            <a:r>
              <a:rPr lang="en-GB" sz="2000" b="1" dirty="0"/>
              <a:t>NOT LAWS OF LOGS</a:t>
            </a:r>
            <a:r>
              <a:rPr lang="en-GB" sz="2000" dirty="0"/>
              <a:t>, but are mistakes students often make: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04368" y="1984649"/>
                <a:ext cx="4967932" cy="523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func>
                    </m:oMath>
                  </m:oMathPara>
                </a14:m>
                <a:br>
                  <a:rPr lang="en-GB" sz="2800" dirty="0"/>
                </a:br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368" y="1984649"/>
                <a:ext cx="4967932" cy="523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697068" y="1928302"/>
            <a:ext cx="2589932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There is </a:t>
            </a:r>
            <a:r>
              <a:rPr lang="en-GB" sz="1600" b="1" dirty="0"/>
              <a:t>no method </a:t>
            </a:r>
            <a:r>
              <a:rPr lang="en-GB" sz="1600" dirty="0"/>
              <a:t>to simplify the </a:t>
            </a:r>
            <a:r>
              <a:rPr lang="en-GB" sz="1600" b="1" dirty="0"/>
              <a:t>log of a sum</a:t>
            </a:r>
            <a:r>
              <a:rPr lang="en-GB" sz="1600" dirty="0"/>
              <a:t>, only the sum of two logs!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073900" y="2159000"/>
            <a:ext cx="609600" cy="10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05868" y="3378076"/>
                <a:ext cx="49679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68" y="3378076"/>
                <a:ext cx="49679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9800" y="3442297"/>
                <a:ext cx="298363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power must be on the input (here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), but here the power is around the entire log.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00" y="3442297"/>
                <a:ext cx="298363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5562600" y="3695700"/>
            <a:ext cx="1714500" cy="162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8334" y="2491846"/>
            <a:ext cx="1673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</a:t>
            </a:r>
            <a:r>
              <a:rPr lang="en-GB" sz="40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 FAIL</a:t>
            </a:r>
            <a:endParaRPr lang="en-GB" sz="4000" dirty="0">
              <a:solidFill>
                <a:srgbClr val="FF0000"/>
              </a:solidFill>
              <a:latin typeface="Wingdings" panose="05000000000000000000" pitchFamily="2" charset="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1" y="4215526"/>
            <a:ext cx="1673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</a:t>
            </a:r>
            <a:r>
              <a:rPr lang="en-GB" sz="40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 FAIL</a:t>
            </a:r>
            <a:endParaRPr lang="en-GB" sz="4000" dirty="0">
              <a:solidFill>
                <a:srgbClr val="FF0000"/>
              </a:solidFill>
              <a:latin typeface="Wingdings" panose="05000000000000000000" pitchFamily="2" charset="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3501" y="1928302"/>
            <a:ext cx="2589932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7100" y="3442296"/>
            <a:ext cx="2996332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4501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Equations with Logs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7700" y="897093"/>
                <a:ext cx="518641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the equation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00" y="897093"/>
                <a:ext cx="5186412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359696" y="1412777"/>
            <a:ext cx="590465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is a very common type of exam question.</a:t>
            </a:r>
          </a:p>
          <a:p>
            <a:r>
              <a:rPr lang="en-GB" sz="1600" dirty="0"/>
              <a:t>The strategy is to </a:t>
            </a:r>
            <a:r>
              <a:rPr lang="en-GB" sz="1600" b="1" u="sng" dirty="0"/>
              <a:t>combine the logs into one</a:t>
            </a:r>
            <a:r>
              <a:rPr lang="en-GB" sz="1600" dirty="0"/>
              <a:t> and isolate on one side.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78912" y="2460998"/>
                <a:ext cx="432048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=25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912" y="2460998"/>
                <a:ext cx="4320480" cy="1938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601009" y="2493849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We’ve used the laws of logs to combine them into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605034" y="3139520"/>
                <a:ext cx="331236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Use your favourite method of rearranging. Either do “10 the power of each side” to “undo” the log, or the “insert the 2 between the 10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” method.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034" y="3139520"/>
                <a:ext cx="3312368" cy="954107"/>
              </a:xfrm>
              <a:prstGeom prst="rect">
                <a:avLst/>
              </a:prstGeom>
              <a:blipFill>
                <a:blip r:embed="rId4"/>
                <a:stretch>
                  <a:fillRect l="-552" t="-1274" b="-63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8" idx="1"/>
          </p:cNvCxnSpPr>
          <p:nvPr/>
        </p:nvCxnSpPr>
        <p:spPr>
          <a:xfrm flipH="1">
            <a:off x="5436781" y="2755459"/>
            <a:ext cx="1164228" cy="2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4671237" y="3264196"/>
            <a:ext cx="1884032" cy="34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92627" y="4176798"/>
                <a:ext cx="407564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u="sng" dirty="0"/>
                  <a:t>The subtle bit</a:t>
                </a:r>
                <a:r>
                  <a:rPr lang="en-GB" sz="1400" b="1" dirty="0"/>
                  <a:t>: You must check each value in the original equation</a:t>
                </a:r>
                <a:r>
                  <a:rPr lang="en-GB" sz="1400" dirty="0"/>
                  <a:t>. 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GB" sz="1400" dirty="0"/>
                  <a:t>, then we’d have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−5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 but we’re not allowed to log a negative number.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627" y="4176798"/>
                <a:ext cx="4075643" cy="954107"/>
              </a:xfrm>
              <a:prstGeom prst="rect">
                <a:avLst/>
              </a:prstGeom>
              <a:blipFill>
                <a:blip r:embed="rId5"/>
                <a:stretch>
                  <a:fillRect l="-448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 flipV="1">
            <a:off x="4309730" y="4136066"/>
            <a:ext cx="1782896" cy="396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096321" y="2291930"/>
            <a:ext cx="7817056" cy="3009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033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905" y="1186871"/>
            <a:ext cx="6952292" cy="17380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847528" y="841560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2013 Q6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94671" y="3139502"/>
                <a:ext cx="4968552" cy="32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+15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+15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+30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+225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−34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+225=0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71" y="3139502"/>
                <a:ext cx="4968552" cy="3215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326868" y="3542071"/>
            <a:ext cx="319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Those who feel confident with their laws could always skip straight to this line.</a:t>
            </a: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5239489" y="3753293"/>
            <a:ext cx="1087378" cy="5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85273" y="5606277"/>
            <a:ext cx="319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These are both valid solutions when substituted into the original equation.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430874" y="5883744"/>
            <a:ext cx="754398" cy="14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16790" y="3175239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6790" y="5610219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3881" y="3175240"/>
            <a:ext cx="6794204" cy="22898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3881" y="5606277"/>
            <a:ext cx="6794204" cy="8374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7338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14E (323-324)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B8B33C3-F203-30AB-EA35-642E72FB1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4025"/>
            <a:ext cx="7236296" cy="729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F9731-8220-C9DD-BEEF-82687E92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628800"/>
            <a:ext cx="2717800" cy="3365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E3EBE1-CA9C-8F0D-76CB-0CCFDD4AF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96" y="1573636"/>
            <a:ext cx="3289300" cy="13589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EF2FBD-909F-BBD3-EED2-2BFDE54F23BA}"/>
              </a:ext>
            </a:extLst>
          </p:cNvPr>
          <p:cNvSpPr/>
          <p:nvPr/>
        </p:nvSpPr>
        <p:spPr>
          <a:xfrm>
            <a:off x="1869593" y="1567595"/>
            <a:ext cx="3218295" cy="3733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FF4B48-8B53-C908-96D6-E0057F7C8F7A}"/>
              </a:ext>
            </a:extLst>
          </p:cNvPr>
          <p:cNvSpPr/>
          <p:nvPr/>
        </p:nvSpPr>
        <p:spPr>
          <a:xfrm>
            <a:off x="5472872" y="1567595"/>
            <a:ext cx="3218295" cy="3733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1373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14E (323-324)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DF2BD31-3D8C-19F0-2035-CB5496F2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52" y="787910"/>
            <a:ext cx="4155029" cy="10854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6EC054-8079-BEEC-48A1-679BBDD06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617" y="2132856"/>
            <a:ext cx="2197100" cy="4432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211364-8B53-CFBA-A748-BF1EE38B4BF8}"/>
                  </a:ext>
                </a:extLst>
              </p:cNvPr>
              <p:cNvSpPr txBox="1"/>
              <p:nvPr/>
            </p:nvSpPr>
            <p:spPr>
              <a:xfrm>
                <a:off x="6383122" y="644383"/>
                <a:ext cx="3364767" cy="1005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Challenge:</a:t>
                </a:r>
              </a:p>
              <a:p>
                <a:r>
                  <a:rPr lang="en-GB" sz="1600" dirty="0"/>
                  <a:t>By Writing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Prove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211364-8B53-CFBA-A748-BF1EE38B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122" y="644383"/>
                <a:ext cx="3364767" cy="1005403"/>
              </a:xfrm>
              <a:prstGeom prst="rect">
                <a:avLst/>
              </a:prstGeom>
              <a:blipFill>
                <a:blip r:embed="rId4"/>
                <a:stretch>
                  <a:fillRect l="-1449" t="-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92BE9C80-28EA-121F-D4FA-40A375C24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50" y="2060848"/>
            <a:ext cx="3022600" cy="1816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41AE0B7-F3FE-DECD-BEFF-FEE275998E37}"/>
              </a:ext>
            </a:extLst>
          </p:cNvPr>
          <p:cNvSpPr/>
          <p:nvPr/>
        </p:nvSpPr>
        <p:spPr>
          <a:xfrm>
            <a:off x="1869594" y="1873378"/>
            <a:ext cx="3218295" cy="4701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1446B9-0965-A945-66F6-2D6B423F9A31}"/>
              </a:ext>
            </a:extLst>
          </p:cNvPr>
          <p:cNvSpPr/>
          <p:nvPr/>
        </p:nvSpPr>
        <p:spPr>
          <a:xfrm>
            <a:off x="6406098" y="1873378"/>
            <a:ext cx="3218295" cy="4701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06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34353" y="1306853"/>
                <a:ext cx="4337124" cy="510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[AEA 2010 Q1b] Solve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b="1" dirty="0"/>
                  <a:t>Solution: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𝟒𝟗</m:t>
                        </m:r>
                      </m:num>
                      <m:den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endParaRPr lang="en-GB" sz="1400" dirty="0"/>
              </a:p>
              <a:p>
                <a:r>
                  <a:rPr lang="en-GB" sz="1400" dirty="0"/>
                  <a:t>[AEA 2008 Q5i] Anna, who is confused about the rules of logarithms, states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However, there is a value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and a value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for which both statements are correct. Find their values.</a:t>
                </a:r>
              </a:p>
              <a:p>
                <a:r>
                  <a:rPr lang="en-GB" sz="1400" b="1" dirty="0"/>
                  <a:t>First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func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 ⇒  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Second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𝒑𝒒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∴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sz="1400" b="1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353" y="1306853"/>
                <a:ext cx="4337124" cy="5101589"/>
              </a:xfrm>
              <a:prstGeom prst="rect">
                <a:avLst/>
              </a:prstGeom>
              <a:blipFill>
                <a:blip r:embed="rId2"/>
                <a:stretch>
                  <a:fillRect l="-422" t="-1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496766" y="797542"/>
                <a:ext cx="3919715" cy="2469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[MAT 2007 1I] Given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are positive 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what is the greatest possible value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?</a:t>
                </a:r>
              </a:p>
              <a:p>
                <a:endParaRPr lang="en-GB" sz="1400" dirty="0"/>
              </a:p>
              <a:p>
                <a:r>
                  <a:rPr lang="en-GB" sz="1400" b="1" dirty="0"/>
                  <a:t>To make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b="1" dirty="0"/>
                  <a:t> as large as possible we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sz="14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1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GB" sz="1400" b="1" i="1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GB" sz="1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400" b="1" dirty="0"/>
                  <a:t> as small as possible. Anything squared is at least 0: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400" b="1" dirty="0"/>
                  <a:t> will achieve this.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  <m:t>𝟏𝟎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766" y="797542"/>
                <a:ext cx="3919715" cy="2469650"/>
              </a:xfrm>
              <a:prstGeom prst="rect">
                <a:avLst/>
              </a:prstGeom>
              <a:blipFill>
                <a:blip r:embed="rId3"/>
                <a:stretch>
                  <a:fillRect l="-467" t="-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083300" y="3238745"/>
                <a:ext cx="4572000" cy="35686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/>
                <a:r>
                  <a:rPr lang="en-GB" sz="1400" dirty="0">
                    <a:solidFill>
                      <a:prstClr val="black"/>
                    </a:solidFill>
                  </a:rPr>
                  <a:t>[MAT 2002 1F] Observe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. From these facts, we can deduce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is:</a:t>
                </a: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1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none of the above</a:t>
                </a: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Suppose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r>
                      <a:rPr lang="en-GB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sz="1400" b="1" dirty="0">
                    <a:solidFill>
                      <a:prstClr val="black"/>
                    </a:solidFill>
                  </a:rPr>
                  <a:t>. Taking 2 to the power of each side: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→   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sz="1400" b="1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This is true, so answer is not (A).</a:t>
                </a: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Next try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r>
                      <a:rPr lang="en-GB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sz="1400" b="1" dirty="0">
                  <a:solidFill>
                    <a:prstClr val="black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→   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→  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GB" sz="1400" b="1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This is not true, so answer is (B).</a:t>
                </a:r>
                <a:endParaRPr lang="en-GB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300" y="3238745"/>
                <a:ext cx="4572000" cy="3568669"/>
              </a:xfrm>
              <a:prstGeom prst="rect">
                <a:avLst/>
              </a:prstGeom>
              <a:blipFill>
                <a:blip r:embed="rId4"/>
                <a:stretch>
                  <a:fillRect l="-533" b="-8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597241" y="1384655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97241" y="2443334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51" y="827231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1780" y="3302891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9302" y="1991220"/>
            <a:ext cx="1363919" cy="337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8714" y="3805035"/>
            <a:ext cx="3668606" cy="23970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0375" y="1609340"/>
            <a:ext cx="3742025" cy="15656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8658" y="4868670"/>
            <a:ext cx="4272643" cy="19004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F94BB-6C78-D5B8-7030-36020FAA56D4}"/>
              </a:ext>
            </a:extLst>
          </p:cNvPr>
          <p:cNvSpPr txBox="1"/>
          <p:nvPr/>
        </p:nvSpPr>
        <p:spPr>
          <a:xfrm>
            <a:off x="1738950" y="731122"/>
            <a:ext cx="404397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These are all strictly </a:t>
            </a:r>
            <a:r>
              <a:rPr lang="en-GB" b="1" dirty="0"/>
              <a:t>non-calculator</a:t>
            </a:r>
            <a:r>
              <a:rPr lang="en-GB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2717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equations with exponential terms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2800" y="922493"/>
                <a:ext cx="245010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0" y="922493"/>
                <a:ext cx="245010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79576" y="1556793"/>
                <a:ext cx="46805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Applying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to each side of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=2.727  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1556793"/>
                <a:ext cx="4680520" cy="646331"/>
              </a:xfrm>
              <a:prstGeom prst="rect">
                <a:avLst/>
              </a:prstGeom>
              <a:blipFill>
                <a:blip r:embed="rId3"/>
                <a:stretch>
                  <a:fillRect l="-1172" t="-4717" b="-7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32484" y="3022104"/>
                <a:ext cx="245010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=61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4" y="3022104"/>
                <a:ext cx="2450108" cy="400110"/>
              </a:xfrm>
              <a:prstGeom prst="rect">
                <a:avLst/>
              </a:prstGeom>
              <a:blipFill>
                <a:blip r:embed="rId4"/>
                <a:stretch>
                  <a:fillRect b="-674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30376" y="3731369"/>
                <a:ext cx="4680520" cy="1170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Applying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dirty="0"/>
                  <a:t> to each side of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61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=0.889 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376" y="3731369"/>
                <a:ext cx="4680520" cy="1170513"/>
              </a:xfrm>
              <a:prstGeom prst="rect">
                <a:avLst/>
              </a:prstGeom>
              <a:blipFill>
                <a:blip r:embed="rId5"/>
                <a:stretch>
                  <a:fillRect l="-1042" t="-2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011020" y="1628801"/>
            <a:ext cx="288032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This is often said “Taking logs of both sides…”</a:t>
            </a: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 flipV="1">
            <a:off x="6489700" y="1803400"/>
            <a:ext cx="521320" cy="148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082800" y="1308518"/>
            <a:ext cx="7808540" cy="14044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2484" y="3422214"/>
            <a:ext cx="7808540" cy="16704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593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equations with exponential terms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22500" y="935193"/>
                <a:ext cx="245010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935193"/>
                <a:ext cx="245010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03400" y="1518693"/>
                <a:ext cx="8698036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Why can we not apply quite the same strategy here?</a:t>
                </a:r>
              </a:p>
              <a:p>
                <a:r>
                  <a:rPr lang="en-GB" b="1" dirty="0"/>
                  <a:t>Because the exponential terms don’t have the same base, so we can’t apply the same log.</a:t>
                </a:r>
                <a:br>
                  <a:rPr lang="en-GB" b="1" dirty="0"/>
                </a:br>
                <a:endParaRPr lang="en-GB" sz="1000" b="1" dirty="0"/>
              </a:p>
              <a:p>
                <a:r>
                  <a:rPr lang="en-GB" dirty="0"/>
                  <a:t>We ‘take logs of’/apply log to both sides, but </a:t>
                </a:r>
                <a:r>
                  <a:rPr lang="en-GB" b="1" dirty="0"/>
                  <a:t>we need not specify a base</a:t>
                </a:r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/>
                  <a:t> on its own may either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 (as per your calculator)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GB" dirty="0"/>
                  <a:t> (in academic circles, as well as on sites like </a:t>
                </a:r>
                <a:r>
                  <a:rPr lang="en-GB" dirty="0" err="1"/>
                  <a:t>WolframAlpha</a:t>
                </a:r>
                <a:r>
                  <a:rPr lang="en-GB" dirty="0"/>
                  <a:t>), but the point is, </a:t>
                </a:r>
                <a:r>
                  <a:rPr lang="en-GB" b="1" dirty="0"/>
                  <a:t>the base does not matter, provided that the base is consistent on both sides</a:t>
                </a:r>
                <a:r>
                  <a:rPr lang="en-GB" dirty="0"/>
                  <a:t>.</a:t>
                </a:r>
              </a:p>
              <a:p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400" y="1518693"/>
                <a:ext cx="8698036" cy="2215991"/>
              </a:xfrm>
              <a:prstGeom prst="rect">
                <a:avLst/>
              </a:prstGeom>
              <a:blipFill>
                <a:blip r:embed="rId3"/>
                <a:stretch>
                  <a:fillRect l="-631" t="-1374" r="-1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22476" y="3814565"/>
                <a:ext cx="2808312" cy="2328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=1.7095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76" y="3814565"/>
                <a:ext cx="2808312" cy="2328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312024" y="3734683"/>
            <a:ext cx="3960440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Logs in general are great for solving equations when the variable is in the power, because laws of logs allow us to move the power down.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5511800" y="4104016"/>
            <a:ext cx="800224" cy="99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06108" y="4669691"/>
                <a:ext cx="3960440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then becomes a GCSE-style ‘changing the subject’ type question. Just isolate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on one side and factorise out.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108" y="4669691"/>
                <a:ext cx="3960440" cy="738664"/>
              </a:xfrm>
              <a:prstGeom prst="rect">
                <a:avLst/>
              </a:prstGeom>
              <a:blipFill>
                <a:blip r:embed="rId5"/>
                <a:stretch>
                  <a:fillRect l="-153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 flipV="1">
            <a:off x="5524500" y="4597401"/>
            <a:ext cx="787524" cy="43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41500" y="1880018"/>
            <a:ext cx="8699500" cy="1498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0292" y="5659316"/>
            <a:ext cx="4191608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It doesn’t matter what base you use to get the final answer as a decimal, provided that it’s consistent. You may as well use the calculator’s ‘log’ (no base) key.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5067300" y="5537200"/>
            <a:ext cx="904106" cy="557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841500" y="3502998"/>
            <a:ext cx="8699500" cy="31663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 Solution</a:t>
            </a:r>
          </a:p>
        </p:txBody>
      </p:sp>
    </p:spTree>
    <p:extLst>
      <p:ext uri="{BB962C8B-B14F-4D97-AF65-F5344CB8AC3E}">
        <p14:creationId xmlns:p14="http://schemas.microsoft.com/office/powerpoint/2010/main" val="319946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22500" y="935194"/>
                <a:ext cx="3454400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2400" dirty="0"/>
                  <a:t>, giving your answer to 3dp.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935194"/>
                <a:ext cx="3454400" cy="830997"/>
              </a:xfrm>
              <a:prstGeom prst="rect">
                <a:avLst/>
              </a:prstGeom>
              <a:blipFill>
                <a:blip r:embed="rId2"/>
                <a:stretch>
                  <a:fillRect b="-559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27316" y="938270"/>
                <a:ext cx="388843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2400" dirty="0"/>
                  <a:t>, giving your answer in exact form.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316" y="938270"/>
                <a:ext cx="3888432" cy="830997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14352" y="2119908"/>
                <a:ext cx="3168352" cy="893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=1.232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352" y="2119908"/>
                <a:ext cx="3168352" cy="893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33976" y="2052465"/>
                <a:ext cx="4051424" cy="2903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which could be simplified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976" y="2052465"/>
                <a:ext cx="4051424" cy="2903487"/>
              </a:xfrm>
              <a:prstGeom prst="rect">
                <a:avLst/>
              </a:prstGeom>
              <a:blipFill>
                <a:blip r:embed="rId5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22500" y="1775221"/>
            <a:ext cx="3454400" cy="30939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3184" y="1732778"/>
            <a:ext cx="3922564" cy="31363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67260" y="5010648"/>
                <a:ext cx="782259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/>
                  <a:t>, giving your answer to 3dp.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60" y="5010648"/>
                <a:ext cx="7822592" cy="461665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67260" y="5589241"/>
                <a:ext cx="35096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60" y="5589241"/>
                <a:ext cx="3509640" cy="1200329"/>
              </a:xfrm>
              <a:prstGeom prst="rect">
                <a:avLst/>
              </a:prstGeom>
              <a:blipFill>
                <a:blip r:embed="rId7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80212" y="5615909"/>
                <a:ext cx="3509640" cy="943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=8.638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212" y="5615909"/>
                <a:ext cx="3509640" cy="9439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571790" y="5877272"/>
            <a:ext cx="90842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167260" y="5472312"/>
            <a:ext cx="7822592" cy="12885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4224" y="943894"/>
            <a:ext cx="266824" cy="3335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1740" y="956469"/>
            <a:ext cx="266824" cy="3335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17676" y="5010648"/>
            <a:ext cx="266824" cy="3335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08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14F – Y1 Page 325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01682" y="2621408"/>
                <a:ext cx="4019624" cy="417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>
                    <a:solidFill>
                      <a:srgbClr val="FF0000"/>
                    </a:solidFill>
                  </a:rPr>
                  <a:t>EXTENSION</a:t>
                </a:r>
                <a:r>
                  <a:rPr lang="en-GB" sz="1600" dirty="0"/>
                  <a:t> [MAT 2011 1H] How many </a:t>
                </a:r>
                <a:r>
                  <a:rPr lang="en-GB" sz="1600" i="1" dirty="0"/>
                  <a:t>positive</a:t>
                </a:r>
                <a:r>
                  <a:rPr lang="en-GB" sz="1600" dirty="0"/>
                  <a:t> values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which satisfy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0.25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endParaRPr lang="en-GB" sz="16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This has 2 positive solutions.</a:t>
                </a:r>
              </a:p>
              <a:p>
                <a:endParaRPr lang="en-GB" sz="1400" dirty="0"/>
              </a:p>
              <a:p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682" y="2621408"/>
                <a:ext cx="4019624" cy="4171783"/>
              </a:xfrm>
              <a:prstGeom prst="rect">
                <a:avLst/>
              </a:prstGeom>
              <a:blipFill>
                <a:blip r:embed="rId2"/>
                <a:stretch>
                  <a:fillRect l="-910" t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6350162" y="2745630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4797" y="3789040"/>
            <a:ext cx="3933395" cy="2455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A8BCAC-6BD1-75A0-2718-9E750CD2975E}"/>
              </a:ext>
            </a:extLst>
          </p:cNvPr>
          <p:cNvGrpSpPr/>
          <p:nvPr/>
        </p:nvGrpSpPr>
        <p:grpSpPr>
          <a:xfrm>
            <a:off x="1703512" y="618321"/>
            <a:ext cx="7920880" cy="984982"/>
            <a:chOff x="179512" y="618321"/>
            <a:chExt cx="7920880" cy="9849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CAF9EC-FB67-10B2-2858-03D60313E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618321"/>
              <a:ext cx="7772400" cy="8607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CC9CAB-B819-0D7A-A0F0-D3B9A5468733}"/>
                </a:ext>
              </a:extLst>
            </p:cNvPr>
            <p:cNvSpPr/>
            <p:nvPr/>
          </p:nvSpPr>
          <p:spPr>
            <a:xfrm>
              <a:off x="7236296" y="908720"/>
              <a:ext cx="864096" cy="694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44B7B2-6F17-6556-B23E-0FC3E9A8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701" y="2619085"/>
            <a:ext cx="4202038" cy="790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45C671-CB10-25D8-4FCC-70F26DD53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732" y="1141749"/>
            <a:ext cx="2476500" cy="1257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B9BE8D-015D-39ED-CF6A-E883E62C5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464" y="1172519"/>
            <a:ext cx="1498600" cy="952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4268865-61EE-E3A9-6425-24C6AC447298}"/>
              </a:ext>
            </a:extLst>
          </p:cNvPr>
          <p:cNvSpPr/>
          <p:nvPr/>
        </p:nvSpPr>
        <p:spPr>
          <a:xfrm>
            <a:off x="4081112" y="1121126"/>
            <a:ext cx="2566121" cy="12779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C2F07F-E601-B8A8-1475-FF447C3B2F6D}"/>
              </a:ext>
            </a:extLst>
          </p:cNvPr>
          <p:cNvSpPr/>
          <p:nvPr/>
        </p:nvSpPr>
        <p:spPr>
          <a:xfrm>
            <a:off x="6816081" y="1121125"/>
            <a:ext cx="2566121" cy="12779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C02A16-C139-24F0-B8E9-8029D8ABC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3512" y="3789040"/>
            <a:ext cx="1839262" cy="18064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C39D52-3200-33BE-5453-EC54CF5AD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9720" y="3846385"/>
            <a:ext cx="2200546" cy="178452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DA8410D-A065-48D7-742D-93D722ABCFC6}"/>
              </a:ext>
            </a:extLst>
          </p:cNvPr>
          <p:cNvSpPr/>
          <p:nvPr/>
        </p:nvSpPr>
        <p:spPr>
          <a:xfrm>
            <a:off x="1631504" y="3789040"/>
            <a:ext cx="1956544" cy="2450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868AD4-A4D1-85A3-FEA9-6A98A075F297}"/>
              </a:ext>
            </a:extLst>
          </p:cNvPr>
          <p:cNvSpPr/>
          <p:nvPr/>
        </p:nvSpPr>
        <p:spPr>
          <a:xfrm>
            <a:off x="3674278" y="3789040"/>
            <a:ext cx="2175989" cy="2450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10184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18" grpId="0" animBg="1"/>
      <p:bldP spid="19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Very Challenging Extension!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10619" y="1073697"/>
                <a:ext cx="3281835" cy="2937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2013 1J] For a real number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we denote by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 the largest integer less than or equal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 Let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be a natural number. The integral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equals:</a:t>
                </a:r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19" y="1073697"/>
                <a:ext cx="3281835" cy="2937151"/>
              </a:xfrm>
              <a:prstGeom prst="rect">
                <a:avLst/>
              </a:prstGeom>
              <a:blipFill>
                <a:blip r:embed="rId2"/>
                <a:stretch>
                  <a:fillRect l="-1115" t="-622" b="-1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6013450" y="952501"/>
            <a:ext cx="3282" cy="2703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016732" y="3655658"/>
            <a:ext cx="32476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168659" y="3479743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659" y="3479743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75308" y="598786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308" y="598786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/>
          <p:cNvSpPr/>
          <p:nvPr/>
        </p:nvSpPr>
        <p:spPr>
          <a:xfrm>
            <a:off x="6021572" y="925033"/>
            <a:ext cx="2711303" cy="2222204"/>
          </a:xfrm>
          <a:custGeom>
            <a:avLst/>
            <a:gdLst>
              <a:gd name="connsiteX0" fmla="*/ 0 w 2934586"/>
              <a:gd name="connsiteY0" fmla="*/ 2009553 h 2009553"/>
              <a:gd name="connsiteX1" fmla="*/ 2934586 w 2934586"/>
              <a:gd name="connsiteY1" fmla="*/ 0 h 2009553"/>
              <a:gd name="connsiteX0" fmla="*/ 0 w 2934586"/>
              <a:gd name="connsiteY0" fmla="*/ 2009553 h 2009553"/>
              <a:gd name="connsiteX1" fmla="*/ 2934586 w 2934586"/>
              <a:gd name="connsiteY1" fmla="*/ 0 h 2009553"/>
              <a:gd name="connsiteX0" fmla="*/ 0 w 2934586"/>
              <a:gd name="connsiteY0" fmla="*/ 2009553 h 2009553"/>
              <a:gd name="connsiteX1" fmla="*/ 2934586 w 2934586"/>
              <a:gd name="connsiteY1" fmla="*/ 0 h 2009553"/>
              <a:gd name="connsiteX0" fmla="*/ 0 w 2711303"/>
              <a:gd name="connsiteY0" fmla="*/ 2222204 h 2222204"/>
              <a:gd name="connsiteX1" fmla="*/ 2711303 w 2711303"/>
              <a:gd name="connsiteY1" fmla="*/ 0 h 222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11303" h="2222204">
                <a:moveTo>
                  <a:pt x="0" y="2222204"/>
                </a:moveTo>
                <a:cubicBezTo>
                  <a:pt x="2105246" y="1265274"/>
                  <a:pt x="2137145" y="850604"/>
                  <a:pt x="2711303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523960" y="79744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960" y="797442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58321" y="2963437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963437"/>
                <a:ext cx="4613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58321" y="2686005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686005"/>
                <a:ext cx="46136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58321" y="2400688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400688"/>
                <a:ext cx="4613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658321" y="2098253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098253"/>
                <a:ext cx="4613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658321" y="1811891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1811891"/>
                <a:ext cx="46136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626709" y="1050501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709" y="1050501"/>
                <a:ext cx="461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668910" y="3621813"/>
                <a:ext cx="4613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910" y="3621813"/>
                <a:ext cx="461364" cy="307777"/>
              </a:xfrm>
              <a:prstGeom prst="rect">
                <a:avLst/>
              </a:prstGeom>
              <a:blipFill>
                <a:blip r:embed="rId12"/>
                <a:stretch>
                  <a:fillRect r="-28947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6014910" y="2875433"/>
            <a:ext cx="571628" cy="5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014911" y="2600421"/>
            <a:ext cx="1057403" cy="14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011560" y="2290346"/>
            <a:ext cx="1546528" cy="14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011561" y="2004732"/>
            <a:ext cx="1918003" cy="9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6577013" y="2881315"/>
            <a:ext cx="4762" cy="781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7067551" y="2628901"/>
            <a:ext cx="4762" cy="1022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7573928" y="2314576"/>
            <a:ext cx="7973" cy="1327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7931150" y="2017712"/>
            <a:ext cx="15914" cy="1620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548030" y="1219200"/>
            <a:ext cx="16850" cy="2461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027420" y="1188720"/>
            <a:ext cx="2537460" cy="1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232993" y="3747601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93" y="3747601"/>
                <a:ext cx="617387" cy="307777"/>
              </a:xfrm>
              <a:prstGeom prst="rect">
                <a:avLst/>
              </a:prstGeom>
              <a:blipFill>
                <a:blip r:embed="rId1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773125" y="3618220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125" y="3618220"/>
                <a:ext cx="617387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249395" y="3768081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95" y="3768081"/>
                <a:ext cx="617387" cy="307777"/>
              </a:xfrm>
              <a:prstGeom prst="rect">
                <a:avLst/>
              </a:prstGeom>
              <a:blipFill>
                <a:blip r:embed="rId1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624201" y="3614192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01" y="3614192"/>
                <a:ext cx="617387" cy="307777"/>
              </a:xfrm>
              <a:prstGeom prst="rect">
                <a:avLst/>
              </a:prstGeom>
              <a:blipFill>
                <a:blip r:embed="rId1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206947" y="3618109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947" y="3618109"/>
                <a:ext cx="617387" cy="307777"/>
              </a:xfrm>
              <a:prstGeom prst="rect">
                <a:avLst/>
              </a:prstGeom>
              <a:blipFill>
                <a:blip r:embed="rId17"/>
                <a:stretch>
                  <a:fillRect r="-5882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6018086" y="3148104"/>
            <a:ext cx="566865" cy="14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6578600" y="2876551"/>
            <a:ext cx="0" cy="2730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578602" y="2876552"/>
            <a:ext cx="501649" cy="126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7073901" y="2605323"/>
            <a:ext cx="0" cy="2730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 flipV="1">
            <a:off x="7073900" y="2616202"/>
            <a:ext cx="501650" cy="126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569201" y="2292351"/>
            <a:ext cx="1" cy="3365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7569200" y="2298700"/>
            <a:ext cx="37465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 flipV="1">
            <a:off x="7940040" y="2019301"/>
            <a:ext cx="7620" cy="266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 flipV="1">
            <a:off x="8564880" y="1203487"/>
            <a:ext cx="7620" cy="266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8404860" y="1455421"/>
            <a:ext cx="17526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412480" y="1463040"/>
            <a:ext cx="0" cy="1219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H="1" flipV="1">
            <a:off x="7940042" y="2011680"/>
            <a:ext cx="137159" cy="76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1853444" y="4153105"/>
                <a:ext cx="8299813" cy="264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This biggest challenge is sketching the graph! Because of the rounding down, the graph jumps up 1 at a time, giving a bunch of rectangles. We can use logs to find the corresponding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values at which these jumps occur, which progressively become closer and closer together. The last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600" dirty="0"/>
                  <a:t>, thus the last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400" b="1" dirty="0"/>
              </a:p>
              <a:p>
                <a:r>
                  <a:rPr lang="en-GB" sz="1400" b="1" dirty="0"/>
                  <a:t>The area, using the rectangles, is thus: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func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 2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+2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+3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−3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−1) 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−…−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=−(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2×3×4×…×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444" y="4153105"/>
                <a:ext cx="8299813" cy="2640723"/>
              </a:xfrm>
              <a:prstGeom prst="rect">
                <a:avLst/>
              </a:prstGeom>
              <a:blipFill>
                <a:blip r:embed="rId18"/>
                <a:stretch>
                  <a:fillRect l="-367" t="-693" r="-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05CD6D0-ACC2-B76D-3DA4-F071BD822EC1}"/>
              </a:ext>
            </a:extLst>
          </p:cNvPr>
          <p:cNvSpPr/>
          <p:nvPr/>
        </p:nvSpPr>
        <p:spPr>
          <a:xfrm>
            <a:off x="1690825" y="1160374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E2098-97B2-104E-2027-1E13A5D8641A}"/>
              </a:ext>
            </a:extLst>
          </p:cNvPr>
          <p:cNvSpPr/>
          <p:nvPr/>
        </p:nvSpPr>
        <p:spPr>
          <a:xfrm>
            <a:off x="1801845" y="4182968"/>
            <a:ext cx="8351412" cy="2605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solution?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C7123-0518-D582-3001-BB63404D0BFF}"/>
              </a:ext>
            </a:extLst>
          </p:cNvPr>
          <p:cNvSpPr/>
          <p:nvPr/>
        </p:nvSpPr>
        <p:spPr>
          <a:xfrm>
            <a:off x="5658322" y="692801"/>
            <a:ext cx="4494935" cy="33625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graph?</a:t>
            </a:r>
          </a:p>
        </p:txBody>
      </p:sp>
    </p:spTree>
    <p:extLst>
      <p:ext uri="{BB962C8B-B14F-4D97-AF65-F5344CB8AC3E}">
        <p14:creationId xmlns:p14="http://schemas.microsoft.com/office/powerpoint/2010/main" val="385120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Natural Logarithms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51674" y="936624"/>
                <a:ext cx="74728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previously seen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is the inverse function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We also saw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is “</a:t>
                </a:r>
                <a:r>
                  <a:rPr lang="en-GB" b="1" dirty="0"/>
                  <a:t>the</a:t>
                </a:r>
                <a:r>
                  <a:rPr lang="en-GB" dirty="0"/>
                  <a:t>” exponential function.</a:t>
                </a:r>
              </a:p>
              <a:p>
                <a:r>
                  <a:rPr lang="en-GB" dirty="0"/>
                  <a:t>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but because of its special importance, it has its own function name!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74" y="936624"/>
                <a:ext cx="7472897" cy="1200329"/>
              </a:xfrm>
              <a:prstGeom prst="rect">
                <a:avLst/>
              </a:prstGeom>
              <a:blipFill>
                <a:blip r:embed="rId2"/>
                <a:stretch>
                  <a:fillRect l="-653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51675" y="2290261"/>
                <a:ext cx="498250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The inverse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2400" dirty="0"/>
                  <a:t> is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675" y="2290261"/>
                <a:ext cx="4982503" cy="461665"/>
              </a:xfrm>
              <a:prstGeom prst="rect">
                <a:avLst/>
              </a:prstGeom>
              <a:blipFill>
                <a:blip r:embed="rId3"/>
                <a:stretch>
                  <a:fillRect l="-1582" t="-8861" b="-26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37182" y="3020910"/>
                <a:ext cx="4248472" cy="1099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182" y="3020910"/>
                <a:ext cx="4248472" cy="1099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428344" y="2900414"/>
            <a:ext cx="1045029" cy="655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28344" y="3570517"/>
            <a:ext cx="1045029" cy="6555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63026" y="2919311"/>
                <a:ext cx="28856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“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 to the power of” and “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dirty="0"/>
                  <a:t> of” are inverse functions, they cancel each other out!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026" y="2919311"/>
                <a:ext cx="2885660" cy="1200329"/>
              </a:xfrm>
              <a:prstGeom prst="rect">
                <a:avLst/>
              </a:prstGeom>
              <a:blipFill>
                <a:blip r:embed="rId5"/>
                <a:stretch>
                  <a:fillRect l="-1688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 flipV="1">
            <a:off x="6744072" y="3284985"/>
            <a:ext cx="718954" cy="234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77357" y="4737936"/>
                <a:ext cx="265049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357" y="4737936"/>
                <a:ext cx="2650492" cy="461665"/>
              </a:xfrm>
              <a:prstGeom prst="rect">
                <a:avLst/>
              </a:prstGeom>
              <a:blipFill>
                <a:blip r:embed="rId6"/>
                <a:stretch>
                  <a:fillRect l="-215"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71817" y="4737682"/>
                <a:ext cx="3728639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+1=5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17" y="4737682"/>
                <a:ext cx="3728639" cy="461665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32215" y="5431273"/>
                <a:ext cx="221844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5" y="5431273"/>
                <a:ext cx="22184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860371" y="5286695"/>
                <a:ext cx="15534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“ln both sides”. </a:t>
                </a:r>
              </a:p>
              <a:p>
                <a:r>
                  <a:rPr lang="en-GB" sz="1400" dirty="0"/>
                  <a:t>On the LHS it cancels out the “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371" y="5286695"/>
                <a:ext cx="1553457" cy="954107"/>
              </a:xfrm>
              <a:prstGeom prst="rect">
                <a:avLst/>
              </a:prstGeom>
              <a:blipFill>
                <a:blip r:embed="rId9"/>
                <a:stretch>
                  <a:fillRect l="-1176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44073" y="5370510"/>
                <a:ext cx="221844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5370510"/>
                <a:ext cx="2218443" cy="9541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773672" y="5663856"/>
                <a:ext cx="155345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Do “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to the power of” each side. On the LHS it cancels out the ln.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672" y="5663856"/>
                <a:ext cx="1553457" cy="954107"/>
              </a:xfrm>
              <a:prstGeom prst="rect">
                <a:avLst/>
              </a:prstGeom>
              <a:blipFill>
                <a:blip r:embed="rId11"/>
                <a:stretch>
                  <a:fillRect l="-1176" t="-1274" r="-392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8" idx="1"/>
          </p:cNvCxnSpPr>
          <p:nvPr/>
        </p:nvCxnSpPr>
        <p:spPr>
          <a:xfrm flipH="1" flipV="1">
            <a:off x="8476343" y="6096001"/>
            <a:ext cx="297328" cy="44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74685" y="5191976"/>
            <a:ext cx="3304774" cy="11326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9674" y="5191974"/>
            <a:ext cx="3730782" cy="1425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00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21" grpId="0" animBg="1"/>
      <p:bldP spid="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Quadratics in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4583" b="-270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18973" y="879129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previous chapters we’ve already dealt with quadratics in disguise, e.g. “quadratic in sin”. We therefore just apply our usual approach: either make a suitable substitution so the equation </a:t>
            </a:r>
            <a:r>
              <a:rPr lang="en-GB" b="1" dirty="0"/>
              <a:t>is</a:t>
            </a:r>
            <a:r>
              <a:rPr lang="en-GB" dirty="0"/>
              <a:t> then quadratic, or (strongly recommended!) </a:t>
            </a:r>
            <a:r>
              <a:rPr lang="en-GB" b="1" dirty="0"/>
              <a:t>go straight for the factorisation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19299" y="2473707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−15=0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99" y="2473707"/>
                <a:ext cx="3626758" cy="461665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89318" y="2452251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8" y="2452251"/>
                <a:ext cx="3626758" cy="46166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05405" y="3169433"/>
                <a:ext cx="329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therefore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=−5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Exponential functions are always positive 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405" y="3169433"/>
                <a:ext cx="3293910" cy="1754326"/>
              </a:xfrm>
              <a:prstGeom prst="rect">
                <a:avLst/>
              </a:prstGeom>
              <a:blipFill>
                <a:blip r:embed="rId5"/>
                <a:stretch>
                  <a:fillRect l="-1479" t="-2083" r="-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95428" y="3169433"/>
                <a:ext cx="3293910" cy="2551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First write negative powers as fractions: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3169433"/>
                <a:ext cx="3293910" cy="2551724"/>
              </a:xfrm>
              <a:prstGeom prst="rect">
                <a:avLst/>
              </a:prstGeom>
              <a:blipFill>
                <a:blip r:embed="rId6"/>
                <a:stretch>
                  <a:fillRect l="-1667" t="-14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019299" y="2935372"/>
            <a:ext cx="3626758" cy="30139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7071" y="2935372"/>
            <a:ext cx="3626758" cy="30139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192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32213" y="1065821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GB" sz="2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3" y="1065821"/>
                <a:ext cx="3626758" cy="461665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1772816"/>
                <a:ext cx="3024336" cy="138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772816"/>
                <a:ext cx="3024336" cy="1387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5428" y="1041673"/>
                <a:ext cx="3626758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1041673"/>
                <a:ext cx="3626758" cy="46166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89074" y="1702613"/>
                <a:ext cx="4195359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+5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=−6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74" y="1702613"/>
                <a:ext cx="4195359" cy="18158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32213" y="4077073"/>
                <a:ext cx="726013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400" dirty="0"/>
                  <a:t> giving your answer as an exact value.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13" y="4077073"/>
                <a:ext cx="7260131" cy="461665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372724" y="4724159"/>
                <a:ext cx="4195359" cy="1913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+1=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724" y="4724159"/>
                <a:ext cx="4195359" cy="19130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938974" y="1527486"/>
            <a:ext cx="3626758" cy="2004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428" y="1527486"/>
            <a:ext cx="3626758" cy="2004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6357" y="4538737"/>
            <a:ext cx="7285986" cy="20985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425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14G – Y1 Page 327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B5A013-0C3C-A04A-D38D-1C8107226ED5}"/>
              </a:ext>
            </a:extLst>
          </p:cNvPr>
          <p:cNvGrpSpPr/>
          <p:nvPr/>
        </p:nvGrpSpPr>
        <p:grpSpPr>
          <a:xfrm>
            <a:off x="1553080" y="679657"/>
            <a:ext cx="3616277" cy="869397"/>
            <a:chOff x="29079" y="679657"/>
            <a:chExt cx="3030753" cy="7286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76505E9-0A10-AFE8-F6A1-E5BA574C5E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6658" r="43018"/>
            <a:stretch/>
          </p:blipFill>
          <p:spPr>
            <a:xfrm>
              <a:off x="29079" y="679657"/>
              <a:ext cx="3030753" cy="49286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28F29C-5FCE-25E6-4EC4-BDE81D0390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313"/>
            <a:stretch/>
          </p:blipFill>
          <p:spPr>
            <a:xfrm>
              <a:off x="323528" y="1074387"/>
              <a:ext cx="2304256" cy="3339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C56E56-C196-8D6F-E28A-CDE6A70D1E4D}"/>
              </a:ext>
            </a:extLst>
          </p:cNvPr>
          <p:cNvGrpSpPr/>
          <p:nvPr/>
        </p:nvGrpSpPr>
        <p:grpSpPr>
          <a:xfrm>
            <a:off x="6023992" y="599128"/>
            <a:ext cx="4509492" cy="1101669"/>
            <a:chOff x="4572002" y="599127"/>
            <a:chExt cx="3888432" cy="9499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504B83-59B9-6BA5-DD50-6950BA044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4" r="32998" b="1"/>
            <a:stretch/>
          </p:blipFill>
          <p:spPr>
            <a:xfrm>
              <a:off x="4572002" y="599127"/>
              <a:ext cx="3888432" cy="49286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68EBA79-45C5-B29A-8AA2-65503CCD43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871" t="-4" b="1"/>
            <a:stretch/>
          </p:blipFill>
          <p:spPr>
            <a:xfrm>
              <a:off x="4860034" y="1056210"/>
              <a:ext cx="1980649" cy="49286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0B1CACB-97C0-D0D8-11DB-69FA87C7F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1798655"/>
            <a:ext cx="2331772" cy="45826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6BBAD3-3EE6-A16E-C5FF-3CDDAE229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096" y="1821083"/>
            <a:ext cx="2953852" cy="24000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BBC2BC3-A3B0-7771-9C09-0409485E5BD7}"/>
              </a:ext>
            </a:extLst>
          </p:cNvPr>
          <p:cNvSpPr/>
          <p:nvPr/>
        </p:nvSpPr>
        <p:spPr>
          <a:xfrm>
            <a:off x="1904414" y="1821082"/>
            <a:ext cx="3626758" cy="45826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C76695-FA85-7DC9-2D52-BF8EA437570E}"/>
              </a:ext>
            </a:extLst>
          </p:cNvPr>
          <p:cNvSpPr/>
          <p:nvPr/>
        </p:nvSpPr>
        <p:spPr>
          <a:xfrm>
            <a:off x="6319911" y="1785658"/>
            <a:ext cx="3626758" cy="46180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78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14G  – Y1 Page 328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0653D43-820F-AF29-077F-6DA57842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30979"/>
            <a:ext cx="4392489" cy="9678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7C6F2D-FD59-FEE7-063D-62A1557F2CB0}"/>
              </a:ext>
            </a:extLst>
          </p:cNvPr>
          <p:cNvSpPr/>
          <p:nvPr/>
        </p:nvSpPr>
        <p:spPr>
          <a:xfrm>
            <a:off x="5519936" y="1052736"/>
            <a:ext cx="576064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BE7F68-6C00-D63E-7094-7BDB7E10D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1523595"/>
            <a:ext cx="3143359" cy="2141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931EB3-1DCA-C3D6-B50F-FE8C5B9444F8}"/>
                  </a:ext>
                </a:extLst>
              </p:cNvPr>
              <p:cNvSpPr txBox="1"/>
              <p:nvPr/>
            </p:nvSpPr>
            <p:spPr>
              <a:xfrm>
                <a:off x="6168008" y="699023"/>
                <a:ext cx="4248472" cy="119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u="sng" dirty="0"/>
                  <a:t>Challenge</a:t>
                </a:r>
                <a:r>
                  <a:rPr lang="en-GB" sz="1600" b="1" dirty="0"/>
                  <a:t>:    </a:t>
                </a:r>
                <a:r>
                  <a:rPr lang="en-GB" sz="1600" dirty="0"/>
                  <a:t>The graph of the function </a:t>
                </a:r>
              </a:p>
              <a:p>
                <a:r>
                  <a:rPr lang="en-GB" sz="1600" dirty="0"/>
                  <a:t> passes through (0,5) and (6,10). Given that the line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 is an asymptote to the graph, show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931EB3-1DCA-C3D6-B50F-FE8C5B944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699023"/>
                <a:ext cx="4248472" cy="1199496"/>
              </a:xfrm>
              <a:prstGeom prst="rect">
                <a:avLst/>
              </a:prstGeom>
              <a:blipFill>
                <a:blip r:embed="rId4"/>
                <a:stretch>
                  <a:fillRect l="-861" t="-1531" b="-15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A9506E8-50B7-9AE7-A345-CA2B72745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393" y="3794135"/>
            <a:ext cx="1991532" cy="12059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F4E77D-5A68-E18F-0F5F-DC4F3EE8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741" y="3722126"/>
            <a:ext cx="2091109" cy="23345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59CD7C-7524-E609-C5FE-6845DFAF5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700" y="2009797"/>
            <a:ext cx="3073160" cy="29496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226B54E-89BD-85F6-CEDA-F4830252FC42}"/>
              </a:ext>
            </a:extLst>
          </p:cNvPr>
          <p:cNvSpPr/>
          <p:nvPr/>
        </p:nvSpPr>
        <p:spPr>
          <a:xfrm>
            <a:off x="1670386" y="3774798"/>
            <a:ext cx="2013347" cy="25698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9020B9-AC3D-1F4C-4379-8FA7F8C27AE0}"/>
              </a:ext>
            </a:extLst>
          </p:cNvPr>
          <p:cNvSpPr/>
          <p:nvPr/>
        </p:nvSpPr>
        <p:spPr>
          <a:xfrm>
            <a:off x="3805933" y="3774798"/>
            <a:ext cx="2074044" cy="25698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F5F1C5-84F5-1C84-1EA2-170D0A000246}"/>
              </a:ext>
            </a:extLst>
          </p:cNvPr>
          <p:cNvSpPr/>
          <p:nvPr/>
        </p:nvSpPr>
        <p:spPr>
          <a:xfrm>
            <a:off x="6277393" y="1999988"/>
            <a:ext cx="3816424" cy="42702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8798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Graphs for Exponential Data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1934050" y="835586"/>
            <a:ext cx="8194398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Science and Economics, </a:t>
            </a:r>
            <a:r>
              <a:rPr lang="en-GB" b="1" dirty="0"/>
              <a:t>experimental data often has exponential growth</a:t>
            </a:r>
            <a:r>
              <a:rPr lang="en-GB" dirty="0"/>
              <a:t>, e.g. bacteria in a sample, rabbit populations, energy produced by earthquakes, my Twitter followers over time, etc.</a:t>
            </a:r>
          </a:p>
          <a:p>
            <a:endParaRPr lang="en-GB" sz="400" dirty="0"/>
          </a:p>
          <a:p>
            <a:r>
              <a:rPr lang="en-GB" dirty="0"/>
              <a:t>Because exponential functions increase rapidly, it tends to look a bit rubbish if we tried to draw a suitable graph: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7950" y="2658545"/>
            <a:ext cx="4054851" cy="95410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1400" dirty="0"/>
              <a:t>Take for example “Moore’s Law”, which hypothesised that the processing power of computers would double every 2 years. Suppose we tried to plot this for computers we sampled over time: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112346" y="3905279"/>
            <a:ext cx="0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112346" y="6209536"/>
            <a:ext cx="26793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15707" y="623271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6570" y="62210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7544" y="62210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8132" y="620953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2000</a:t>
            </a:r>
          </a:p>
        </p:txBody>
      </p:sp>
      <p:sp>
        <p:nvSpPr>
          <p:cNvPr id="17" name="Oval 16"/>
          <p:cNvSpPr/>
          <p:nvPr/>
        </p:nvSpPr>
        <p:spPr>
          <a:xfrm>
            <a:off x="2066210" y="608853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2288165" y="608225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2491773" y="609820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2678645" y="6012057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3065597" y="5881295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3296903" y="559792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3543442" y="475175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3758163" y="396277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/>
          <p:cNvSpPr/>
          <p:nvPr/>
        </p:nvSpPr>
        <p:spPr>
          <a:xfrm>
            <a:off x="2119312" y="3873500"/>
            <a:ext cx="1652588" cy="2308225"/>
          </a:xfrm>
          <a:custGeom>
            <a:avLst/>
            <a:gdLst>
              <a:gd name="connsiteX0" fmla="*/ 0 w 1689100"/>
              <a:gd name="connsiteY0" fmla="*/ 2279650 h 2279650"/>
              <a:gd name="connsiteX1" fmla="*/ 469900 w 1689100"/>
              <a:gd name="connsiteY1" fmla="*/ 2184400 h 2279650"/>
              <a:gd name="connsiteX2" fmla="*/ 882650 w 1689100"/>
              <a:gd name="connsiteY2" fmla="*/ 1943100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882650 w 1689100"/>
              <a:gd name="connsiteY2" fmla="*/ 1943100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882650 w 1689100"/>
              <a:gd name="connsiteY2" fmla="*/ 1943100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982662 w 1689100"/>
              <a:gd name="connsiteY2" fmla="*/ 2033587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282700 w 1689100"/>
              <a:gd name="connsiteY3" fmla="*/ 1333500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392238 w 1689100"/>
              <a:gd name="connsiteY3" fmla="*/ 1343025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392238 w 1689100"/>
              <a:gd name="connsiteY3" fmla="*/ 1343025 h 2279650"/>
              <a:gd name="connsiteX4" fmla="*/ 1689100 w 1689100"/>
              <a:gd name="connsiteY4" fmla="*/ 0 h 2279650"/>
              <a:gd name="connsiteX0" fmla="*/ 0 w 1689100"/>
              <a:gd name="connsiteY0" fmla="*/ 2279650 h 2279650"/>
              <a:gd name="connsiteX1" fmla="*/ 474662 w 1689100"/>
              <a:gd name="connsiteY1" fmla="*/ 2227262 h 2279650"/>
              <a:gd name="connsiteX2" fmla="*/ 1106487 w 1689100"/>
              <a:gd name="connsiteY2" fmla="*/ 2038349 h 2279650"/>
              <a:gd name="connsiteX3" fmla="*/ 1392238 w 1689100"/>
              <a:gd name="connsiteY3" fmla="*/ 1343025 h 2279650"/>
              <a:gd name="connsiteX4" fmla="*/ 1689100 w 1689100"/>
              <a:gd name="connsiteY4" fmla="*/ 0 h 2279650"/>
              <a:gd name="connsiteX0" fmla="*/ 0 w 1684338"/>
              <a:gd name="connsiteY0" fmla="*/ 2232025 h 2238923"/>
              <a:gd name="connsiteX1" fmla="*/ 469900 w 1684338"/>
              <a:gd name="connsiteY1" fmla="*/ 2227262 h 2238923"/>
              <a:gd name="connsiteX2" fmla="*/ 1101725 w 1684338"/>
              <a:gd name="connsiteY2" fmla="*/ 2038349 h 2238923"/>
              <a:gd name="connsiteX3" fmla="*/ 1387476 w 1684338"/>
              <a:gd name="connsiteY3" fmla="*/ 1343025 h 2238923"/>
              <a:gd name="connsiteX4" fmla="*/ 1684338 w 1684338"/>
              <a:gd name="connsiteY4" fmla="*/ 0 h 2238923"/>
              <a:gd name="connsiteX0" fmla="*/ 0 w 1684338"/>
              <a:gd name="connsiteY0" fmla="*/ 2232025 h 2232025"/>
              <a:gd name="connsiteX1" fmla="*/ 508000 w 1684338"/>
              <a:gd name="connsiteY1" fmla="*/ 2198687 h 2232025"/>
              <a:gd name="connsiteX2" fmla="*/ 1101725 w 1684338"/>
              <a:gd name="connsiteY2" fmla="*/ 2038349 h 2232025"/>
              <a:gd name="connsiteX3" fmla="*/ 1387476 w 1684338"/>
              <a:gd name="connsiteY3" fmla="*/ 1343025 h 2232025"/>
              <a:gd name="connsiteX4" fmla="*/ 1684338 w 1684338"/>
              <a:gd name="connsiteY4" fmla="*/ 0 h 2232025"/>
              <a:gd name="connsiteX0" fmla="*/ 0 w 1684338"/>
              <a:gd name="connsiteY0" fmla="*/ 2232025 h 2232025"/>
              <a:gd name="connsiteX1" fmla="*/ 508000 w 1684338"/>
              <a:gd name="connsiteY1" fmla="*/ 2198687 h 2232025"/>
              <a:gd name="connsiteX2" fmla="*/ 1101725 w 1684338"/>
              <a:gd name="connsiteY2" fmla="*/ 2038349 h 2232025"/>
              <a:gd name="connsiteX3" fmla="*/ 1387476 w 1684338"/>
              <a:gd name="connsiteY3" fmla="*/ 1343025 h 2232025"/>
              <a:gd name="connsiteX4" fmla="*/ 1684338 w 1684338"/>
              <a:gd name="connsiteY4" fmla="*/ 0 h 2232025"/>
              <a:gd name="connsiteX0" fmla="*/ 0 w 1684338"/>
              <a:gd name="connsiteY0" fmla="*/ 2232025 h 2232955"/>
              <a:gd name="connsiteX1" fmla="*/ 508000 w 1684338"/>
              <a:gd name="connsiteY1" fmla="*/ 2198687 h 2232955"/>
              <a:gd name="connsiteX2" fmla="*/ 1101725 w 1684338"/>
              <a:gd name="connsiteY2" fmla="*/ 2038349 h 2232955"/>
              <a:gd name="connsiteX3" fmla="*/ 1387476 w 1684338"/>
              <a:gd name="connsiteY3" fmla="*/ 1343025 h 2232955"/>
              <a:gd name="connsiteX4" fmla="*/ 1684338 w 1684338"/>
              <a:gd name="connsiteY4" fmla="*/ 0 h 2232955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387476 w 1684338"/>
              <a:gd name="connsiteY3" fmla="*/ 1343025 h 2232608"/>
              <a:gd name="connsiteX4" fmla="*/ 1684338 w 1684338"/>
              <a:gd name="connsiteY4" fmla="*/ 0 h 2232608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387476 w 1684338"/>
              <a:gd name="connsiteY3" fmla="*/ 1343025 h 2232608"/>
              <a:gd name="connsiteX4" fmla="*/ 1684338 w 1684338"/>
              <a:gd name="connsiteY4" fmla="*/ 0 h 2232608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406526 w 1684338"/>
              <a:gd name="connsiteY3" fmla="*/ 1400175 h 2232608"/>
              <a:gd name="connsiteX4" fmla="*/ 1684338 w 1684338"/>
              <a:gd name="connsiteY4" fmla="*/ 0 h 2232608"/>
              <a:gd name="connsiteX0" fmla="*/ 0 w 1684338"/>
              <a:gd name="connsiteY0" fmla="*/ 2232025 h 2232608"/>
              <a:gd name="connsiteX1" fmla="*/ 508000 w 1684338"/>
              <a:gd name="connsiteY1" fmla="*/ 2198687 h 2232608"/>
              <a:gd name="connsiteX2" fmla="*/ 1101725 w 1684338"/>
              <a:gd name="connsiteY2" fmla="*/ 2038349 h 2232608"/>
              <a:gd name="connsiteX3" fmla="*/ 1406526 w 1684338"/>
              <a:gd name="connsiteY3" fmla="*/ 1400175 h 2232608"/>
              <a:gd name="connsiteX4" fmla="*/ 1684338 w 1684338"/>
              <a:gd name="connsiteY4" fmla="*/ 0 h 2232608"/>
              <a:gd name="connsiteX0" fmla="*/ 0 w 1646238"/>
              <a:gd name="connsiteY0" fmla="*/ 2232025 h 2232608"/>
              <a:gd name="connsiteX1" fmla="*/ 508000 w 1646238"/>
              <a:gd name="connsiteY1" fmla="*/ 2198687 h 2232608"/>
              <a:gd name="connsiteX2" fmla="*/ 1101725 w 1646238"/>
              <a:gd name="connsiteY2" fmla="*/ 2038349 h 2232608"/>
              <a:gd name="connsiteX3" fmla="*/ 1406526 w 1646238"/>
              <a:gd name="connsiteY3" fmla="*/ 1400175 h 2232608"/>
              <a:gd name="connsiteX4" fmla="*/ 1646238 w 1646238"/>
              <a:gd name="connsiteY4" fmla="*/ 0 h 2232608"/>
              <a:gd name="connsiteX0" fmla="*/ 0 w 1646238"/>
              <a:gd name="connsiteY0" fmla="*/ 2232025 h 2232608"/>
              <a:gd name="connsiteX1" fmla="*/ 508000 w 1646238"/>
              <a:gd name="connsiteY1" fmla="*/ 2198687 h 2232608"/>
              <a:gd name="connsiteX2" fmla="*/ 1101725 w 1646238"/>
              <a:gd name="connsiteY2" fmla="*/ 2038349 h 2232608"/>
              <a:gd name="connsiteX3" fmla="*/ 1406526 w 1646238"/>
              <a:gd name="connsiteY3" fmla="*/ 1400175 h 2232608"/>
              <a:gd name="connsiteX4" fmla="*/ 1646238 w 1646238"/>
              <a:gd name="connsiteY4" fmla="*/ 0 h 2232608"/>
              <a:gd name="connsiteX0" fmla="*/ 0 w 1652588"/>
              <a:gd name="connsiteY0" fmla="*/ 2289175 h 2289413"/>
              <a:gd name="connsiteX1" fmla="*/ 514350 w 1652588"/>
              <a:gd name="connsiteY1" fmla="*/ 2198687 h 2289413"/>
              <a:gd name="connsiteX2" fmla="*/ 1108075 w 1652588"/>
              <a:gd name="connsiteY2" fmla="*/ 2038349 h 2289413"/>
              <a:gd name="connsiteX3" fmla="*/ 1412876 w 1652588"/>
              <a:gd name="connsiteY3" fmla="*/ 1400175 h 2289413"/>
              <a:gd name="connsiteX4" fmla="*/ 1652588 w 1652588"/>
              <a:gd name="connsiteY4" fmla="*/ 0 h 2289413"/>
              <a:gd name="connsiteX0" fmla="*/ 0 w 1652588"/>
              <a:gd name="connsiteY0" fmla="*/ 2289175 h 2290153"/>
              <a:gd name="connsiteX1" fmla="*/ 565150 w 1652588"/>
              <a:gd name="connsiteY1" fmla="*/ 2243137 h 2290153"/>
              <a:gd name="connsiteX2" fmla="*/ 1108075 w 1652588"/>
              <a:gd name="connsiteY2" fmla="*/ 2038349 h 2290153"/>
              <a:gd name="connsiteX3" fmla="*/ 1412876 w 1652588"/>
              <a:gd name="connsiteY3" fmla="*/ 1400175 h 2290153"/>
              <a:gd name="connsiteX4" fmla="*/ 1652588 w 1652588"/>
              <a:gd name="connsiteY4" fmla="*/ 0 h 2290153"/>
              <a:gd name="connsiteX0" fmla="*/ 0 w 1652588"/>
              <a:gd name="connsiteY0" fmla="*/ 2308225 h 2308698"/>
              <a:gd name="connsiteX1" fmla="*/ 565150 w 1652588"/>
              <a:gd name="connsiteY1" fmla="*/ 2243137 h 2308698"/>
              <a:gd name="connsiteX2" fmla="*/ 1108075 w 1652588"/>
              <a:gd name="connsiteY2" fmla="*/ 2038349 h 2308698"/>
              <a:gd name="connsiteX3" fmla="*/ 1412876 w 1652588"/>
              <a:gd name="connsiteY3" fmla="*/ 1400175 h 2308698"/>
              <a:gd name="connsiteX4" fmla="*/ 1652588 w 1652588"/>
              <a:gd name="connsiteY4" fmla="*/ 0 h 2308698"/>
              <a:gd name="connsiteX0" fmla="*/ 0 w 1652588"/>
              <a:gd name="connsiteY0" fmla="*/ 2308225 h 2308225"/>
              <a:gd name="connsiteX1" fmla="*/ 565150 w 1652588"/>
              <a:gd name="connsiteY1" fmla="*/ 2243137 h 2308225"/>
              <a:gd name="connsiteX2" fmla="*/ 1108075 w 1652588"/>
              <a:gd name="connsiteY2" fmla="*/ 2038349 h 2308225"/>
              <a:gd name="connsiteX3" fmla="*/ 1412876 w 1652588"/>
              <a:gd name="connsiteY3" fmla="*/ 1400175 h 2308225"/>
              <a:gd name="connsiteX4" fmla="*/ 1652588 w 1652588"/>
              <a:gd name="connsiteY4" fmla="*/ 0 h 2308225"/>
              <a:gd name="connsiteX0" fmla="*/ 0 w 1652588"/>
              <a:gd name="connsiteY0" fmla="*/ 2308225 h 2308225"/>
              <a:gd name="connsiteX1" fmla="*/ 565150 w 1652588"/>
              <a:gd name="connsiteY1" fmla="*/ 2243137 h 2308225"/>
              <a:gd name="connsiteX2" fmla="*/ 1108075 w 1652588"/>
              <a:gd name="connsiteY2" fmla="*/ 2038349 h 2308225"/>
              <a:gd name="connsiteX3" fmla="*/ 1412876 w 1652588"/>
              <a:gd name="connsiteY3" fmla="*/ 1400175 h 2308225"/>
              <a:gd name="connsiteX4" fmla="*/ 1652588 w 1652588"/>
              <a:gd name="connsiteY4" fmla="*/ 0 h 2308225"/>
              <a:gd name="connsiteX0" fmla="*/ 0 w 1652588"/>
              <a:gd name="connsiteY0" fmla="*/ 2308225 h 2308225"/>
              <a:gd name="connsiteX1" fmla="*/ 565150 w 1652588"/>
              <a:gd name="connsiteY1" fmla="*/ 2243137 h 2308225"/>
              <a:gd name="connsiteX2" fmla="*/ 1108075 w 1652588"/>
              <a:gd name="connsiteY2" fmla="*/ 2038349 h 2308225"/>
              <a:gd name="connsiteX3" fmla="*/ 1438276 w 1652588"/>
              <a:gd name="connsiteY3" fmla="*/ 1409700 h 2308225"/>
              <a:gd name="connsiteX4" fmla="*/ 1652588 w 1652588"/>
              <a:gd name="connsiteY4" fmla="*/ 0 h 230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2588" h="2308225">
                <a:moveTo>
                  <a:pt x="0" y="2308225"/>
                </a:moveTo>
                <a:cubicBezTo>
                  <a:pt x="262996" y="2296584"/>
                  <a:pt x="367771" y="2272241"/>
                  <a:pt x="565150" y="2243137"/>
                </a:cubicBezTo>
                <a:cubicBezTo>
                  <a:pt x="762529" y="2214033"/>
                  <a:pt x="962554" y="2177255"/>
                  <a:pt x="1108075" y="2038349"/>
                </a:cubicBezTo>
                <a:cubicBezTo>
                  <a:pt x="1253596" y="1899443"/>
                  <a:pt x="1361018" y="1814512"/>
                  <a:pt x="1438276" y="1409700"/>
                </a:cubicBezTo>
                <a:cubicBezTo>
                  <a:pt x="1572685" y="738188"/>
                  <a:pt x="1549930" y="966787"/>
                  <a:pt x="1652588" y="0"/>
                </a:cubicBezTo>
              </a:path>
            </a:pathLst>
          </a:cu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3597335" y="4036914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3535069" y="518526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2900600" y="604912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3690837" y="452142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3633745" y="420032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 rot="16200000">
            <a:off x="954132" y="4758826"/>
            <a:ext cx="192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Number of transistors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3117" y="607325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9760" y="4378822"/>
            <a:ext cx="1719177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If we tried to force all the data onto the graph, we would end up making most of the data close to the horizontal axis. This is not ideal.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065157" y="2223117"/>
                <a:ext cx="4483100" cy="246221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But suppose we </a:t>
                </a:r>
                <a:r>
                  <a:rPr lang="en-GB" sz="1400" b="1" dirty="0"/>
                  <a:t>took the log </a:t>
                </a:r>
                <a:r>
                  <a:rPr lang="en-GB" sz="1400" dirty="0"/>
                  <a:t>of the number of transistors for each computer. Suppose the number of transistors one year was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, then doubled 2 years later to get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When we log (base 2) these: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→  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  → 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                           =1+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The logged value only increased by 1! Thus </a:t>
                </a:r>
                <a:r>
                  <a:rPr lang="en-GB" sz="1400" b="1" dirty="0"/>
                  <a:t>taking the log of the values turns </a:t>
                </a:r>
                <a:r>
                  <a:rPr lang="en-GB" sz="1400" b="1" u="sng" dirty="0"/>
                  <a:t>exponential growth</a:t>
                </a:r>
                <a:r>
                  <a:rPr lang="en-GB" sz="1400" b="1" dirty="0"/>
                  <a:t> into </a:t>
                </a:r>
                <a:r>
                  <a:rPr lang="en-GB" sz="1400" b="1" u="sng" dirty="0"/>
                  <a:t>linear growth</a:t>
                </a:r>
                <a:r>
                  <a:rPr lang="en-GB" sz="1400" b="1" dirty="0"/>
                  <a:t> (because each time we would have doubled, we’re now just adding 1), and the resulting graph is a straight line.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57" y="2223117"/>
                <a:ext cx="4483100" cy="24622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 flipV="1">
            <a:off x="7064456" y="6257926"/>
            <a:ext cx="26793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67817" y="6281101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680" y="626939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9654" y="626939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1990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0242" y="625792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5227" y="61256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Year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 flipV="1">
            <a:off x="7061200" y="5003801"/>
            <a:ext cx="3256" cy="125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7061200" y="5127971"/>
            <a:ext cx="2347168" cy="80488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16200000">
            <a:off x="6161024" y="5369520"/>
            <a:ext cx="1390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log(transistors)</a:t>
            </a:r>
          </a:p>
        </p:txBody>
      </p:sp>
      <p:sp>
        <p:nvSpPr>
          <p:cNvPr id="46" name="Oval 45"/>
          <p:cNvSpPr/>
          <p:nvPr/>
        </p:nvSpPr>
        <p:spPr>
          <a:xfrm>
            <a:off x="7156439" y="572817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7487897" y="581445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/>
          <p:cNvSpPr/>
          <p:nvPr/>
        </p:nvSpPr>
        <p:spPr>
          <a:xfrm>
            <a:off x="7680176" y="555672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/>
          <p:cNvSpPr/>
          <p:nvPr/>
        </p:nvSpPr>
        <p:spPr>
          <a:xfrm>
            <a:off x="7919199" y="568911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/>
          <p:cNvSpPr/>
          <p:nvPr/>
        </p:nvSpPr>
        <p:spPr>
          <a:xfrm>
            <a:off x="8104370" y="546045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/>
          <p:cNvSpPr/>
          <p:nvPr/>
        </p:nvSpPr>
        <p:spPr>
          <a:xfrm>
            <a:off x="8360129" y="555672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/>
          <p:cNvSpPr/>
          <p:nvPr/>
        </p:nvSpPr>
        <p:spPr>
          <a:xfrm>
            <a:off x="8553094" y="529761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8761927" y="5390516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8879734" y="516504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/>
          <p:cNvSpPr/>
          <p:nvPr/>
        </p:nvSpPr>
        <p:spPr>
          <a:xfrm>
            <a:off x="8504728" y="542993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/>
          <p:cNvSpPr/>
          <p:nvPr/>
        </p:nvSpPr>
        <p:spPr>
          <a:xfrm>
            <a:off x="8289326" y="538576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/>
          <p:cNvSpPr/>
          <p:nvPr/>
        </p:nvSpPr>
        <p:spPr>
          <a:xfrm>
            <a:off x="9264352" y="522975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/>
          <p:cNvSpPr/>
          <p:nvPr/>
        </p:nvSpPr>
        <p:spPr>
          <a:xfrm>
            <a:off x="9264352" y="5027744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89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6" grpId="0"/>
      <p:bldP spid="37" grpId="0"/>
      <p:bldP spid="38" grpId="0"/>
      <p:bldP spid="39" grpId="0"/>
      <p:bldP spid="40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Graphs for Exponential Data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122" name="Picture 2" descr="Image result for graph richter sc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200" y="1378869"/>
            <a:ext cx="3600400" cy="43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80892" y="1358251"/>
            <a:ext cx="43040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the energy involved in </a:t>
            </a:r>
            <a:r>
              <a:rPr lang="en-GB" b="1" dirty="0"/>
              <a:t>earthquakes</a:t>
            </a:r>
            <a:r>
              <a:rPr lang="en-GB" dirty="0"/>
              <a:t> decreases exponentially from the epicentre of the earthquake, such energy values recorded from different earthquakes would </a:t>
            </a:r>
            <a:r>
              <a:rPr lang="en-GB" b="1" dirty="0"/>
              <a:t>vary wildly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dirty="0"/>
              <a:t>Richter Scale </a:t>
            </a:r>
            <a:r>
              <a:rPr lang="en-GB" dirty="0"/>
              <a:t>is a</a:t>
            </a:r>
            <a:r>
              <a:rPr lang="en-GB" b="1" dirty="0"/>
              <a:t> </a:t>
            </a:r>
            <a:r>
              <a:rPr lang="en-GB" b="1" u="sng" dirty="0"/>
              <a:t>logarithmic scale</a:t>
            </a:r>
            <a:r>
              <a:rPr lang="en-GB" dirty="0"/>
              <a:t>, and takes the log (base 10) of the amplitude of the waves, giving a more even spread of values in a more sensible range.</a:t>
            </a:r>
          </a:p>
          <a:p>
            <a:r>
              <a:rPr lang="en-GB" sz="1200" dirty="0"/>
              <a:t>(The largest recorded value on the Richter Scale is 9.5 in Chile in 1960, and 15 would destroy the Earth completely – evil scientists take note)</a:t>
            </a:r>
          </a:p>
          <a:p>
            <a:endParaRPr lang="en-GB" dirty="0"/>
          </a:p>
          <a:p>
            <a:r>
              <a:rPr lang="en-GB" dirty="0"/>
              <a:t>The result is that an earthquake just 1 greater on the Richter scale would in fact be 10 times as powerful.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9980" y="5697899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Richter Scale</a:t>
            </a:r>
          </a:p>
        </p:txBody>
      </p:sp>
    </p:spTree>
    <p:extLst>
      <p:ext uri="{BB962C8B-B14F-4D97-AF65-F5344CB8AC3E}">
        <p14:creationId xmlns:p14="http://schemas.microsoft.com/office/powerpoint/2010/main" val="28399404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Other Non-Linear Growth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823546" y="1936779"/>
            <a:ext cx="0" cy="2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823546" y="4241036"/>
            <a:ext cx="26793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77410" y="4120033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2973686" y="403850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3169742" y="4066085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3414688" y="3964359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3702720" y="3795317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3999675" y="3366740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195845" y="276876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469363" y="1994272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4308535" y="2068414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4220507" y="3159471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3529782" y="3804159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4344945" y="269160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4344945" y="2231828"/>
            <a:ext cx="88028" cy="741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454318" y="4104759"/>
                <a:ext cx="400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318" y="4104759"/>
                <a:ext cx="4003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632914" y="1544272"/>
                <a:ext cx="400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914" y="1544272"/>
                <a:ext cx="400383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/>
          <p:cNvSpPr/>
          <p:nvPr/>
        </p:nvSpPr>
        <p:spPr>
          <a:xfrm>
            <a:off x="2832100" y="1861820"/>
            <a:ext cx="1633220" cy="2379980"/>
          </a:xfrm>
          <a:custGeom>
            <a:avLst/>
            <a:gdLst>
              <a:gd name="connsiteX0" fmla="*/ 0 w 1816100"/>
              <a:gd name="connsiteY0" fmla="*/ 2273300 h 2273300"/>
              <a:gd name="connsiteX1" fmla="*/ 762000 w 1816100"/>
              <a:gd name="connsiteY1" fmla="*/ 1917700 h 2273300"/>
              <a:gd name="connsiteX2" fmla="*/ 1409700 w 1816100"/>
              <a:gd name="connsiteY2" fmla="*/ 1092200 h 2273300"/>
              <a:gd name="connsiteX3" fmla="*/ 1816100 w 1816100"/>
              <a:gd name="connsiteY3" fmla="*/ 0 h 2273300"/>
              <a:gd name="connsiteX0" fmla="*/ 0 w 1633220"/>
              <a:gd name="connsiteY0" fmla="*/ 2379980 h 2379980"/>
              <a:gd name="connsiteX1" fmla="*/ 762000 w 1633220"/>
              <a:gd name="connsiteY1" fmla="*/ 2024380 h 2379980"/>
              <a:gd name="connsiteX2" fmla="*/ 1409700 w 1633220"/>
              <a:gd name="connsiteY2" fmla="*/ 1198880 h 2379980"/>
              <a:gd name="connsiteX3" fmla="*/ 1633220 w 1633220"/>
              <a:gd name="connsiteY3" fmla="*/ 0 h 2379980"/>
              <a:gd name="connsiteX0" fmla="*/ 0 w 1633220"/>
              <a:gd name="connsiteY0" fmla="*/ 2379980 h 2379980"/>
              <a:gd name="connsiteX1" fmla="*/ 762000 w 1633220"/>
              <a:gd name="connsiteY1" fmla="*/ 2024380 h 2379980"/>
              <a:gd name="connsiteX2" fmla="*/ 1409700 w 1633220"/>
              <a:gd name="connsiteY2" fmla="*/ 1198880 h 2379980"/>
              <a:gd name="connsiteX3" fmla="*/ 1633220 w 1633220"/>
              <a:gd name="connsiteY3" fmla="*/ 0 h 2379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3220" h="2379980">
                <a:moveTo>
                  <a:pt x="0" y="2379980"/>
                </a:moveTo>
                <a:cubicBezTo>
                  <a:pt x="263525" y="2300605"/>
                  <a:pt x="527050" y="2221230"/>
                  <a:pt x="762000" y="2024380"/>
                </a:cubicBezTo>
                <a:cubicBezTo>
                  <a:pt x="996950" y="1827530"/>
                  <a:pt x="1234017" y="1518497"/>
                  <a:pt x="1409700" y="1198880"/>
                </a:cubicBezTo>
                <a:cubicBezTo>
                  <a:pt x="1585383" y="879263"/>
                  <a:pt x="1578821" y="470111"/>
                  <a:pt x="163322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6133528" y="1678139"/>
            <a:ext cx="41762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would also have similar graphing problems if we tried to plot data that followed some </a:t>
            </a:r>
            <a:r>
              <a:rPr lang="en-GB" b="1" dirty="0"/>
              <a:t>polynomial function </a:t>
            </a:r>
            <a:r>
              <a:rPr lang="en-GB" dirty="0"/>
              <a:t>such as a quadratic or cubic.</a:t>
            </a:r>
          </a:p>
          <a:p>
            <a:endParaRPr lang="en-GB" dirty="0"/>
          </a:p>
          <a:p>
            <a:r>
              <a:rPr lang="en-GB" dirty="0"/>
              <a:t>We will therefore look at the process to convert a </a:t>
            </a:r>
            <a:r>
              <a:rPr lang="en-GB" b="1" dirty="0"/>
              <a:t>polynomial graph into a linear one</a:t>
            </a:r>
            <a:r>
              <a:rPr lang="en-GB" dirty="0"/>
              <a:t>, as well as a </a:t>
            </a:r>
            <a:r>
              <a:rPr lang="en-GB" b="1" dirty="0"/>
              <a:t>exponential graph into a linear one…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596780" y="1702211"/>
                <a:ext cx="1067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780" y="1702211"/>
                <a:ext cx="106742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68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/>
      <p:bldP spid="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Turning non-linear graphs into linear ones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663228"/>
                <a:ext cx="338437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Case 1</a:t>
                </a:r>
                <a:r>
                  <a:rPr lang="en-GB" dirty="0"/>
                  <a:t>:  Polynomial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Linear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663228"/>
                <a:ext cx="3384376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03259" y="655729"/>
                <a:ext cx="359422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Case 2</a:t>
                </a:r>
                <a:r>
                  <a:rPr lang="en-GB" dirty="0"/>
                  <a:t>:  Exponential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dirty="0"/>
                  <a:t> Linear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259" y="655729"/>
                <a:ext cx="3594224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78000" y="1070001"/>
                <a:ext cx="382245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Suppose our original model was a polynomial one*: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Then taking logs of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We can compare this against a straight line: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0" y="1070001"/>
                <a:ext cx="3822452" cy="2062103"/>
              </a:xfrm>
              <a:prstGeom prst="rect">
                <a:avLst/>
              </a:prstGeom>
              <a:blipFill>
                <a:blip r:embed="rId4"/>
                <a:stretch>
                  <a:fillRect l="-957" t="-888" r="-1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65300" y="5632028"/>
                <a:ext cx="3390404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* We could also allow non-integer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100" dirty="0"/>
                  <a:t>; the term would then not strictly be polynomial, but we’d still say the function had “polynomial growth”.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300" y="5632028"/>
                <a:ext cx="3390404" cy="600164"/>
              </a:xfrm>
              <a:prstGeom prst="rect">
                <a:avLst/>
              </a:prstGeom>
              <a:blipFill>
                <a:blip r:embed="rId5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65164" y="3092927"/>
                <a:ext cx="3502248" cy="25545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600" dirty="0"/>
                  <a:t>, then the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600" dirty="0"/>
                  <a:t> against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 will be a straight line </a:t>
                </a:r>
                <a:r>
                  <a:rPr lang="en-GB" sz="1600" dirty="0" err="1"/>
                  <a:t>wih</a:t>
                </a:r>
                <a:r>
                  <a:rPr lang="en-GB" sz="1600" dirty="0"/>
                  <a:t> gradient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and vertical intercept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64" y="3092927"/>
                <a:ext cx="3502248" cy="2554545"/>
              </a:xfrm>
              <a:prstGeom prst="rect">
                <a:avLst/>
              </a:prstGeom>
              <a:blipFill>
                <a:blip r:embed="rId6"/>
                <a:stretch>
                  <a:fillRect l="-346" t="-236" r="-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2593008" y="4378052"/>
            <a:ext cx="0" cy="10081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593008" y="5386164"/>
            <a:ext cx="19442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30899" y="5265832"/>
                <a:ext cx="6378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899" y="5265832"/>
                <a:ext cx="637878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274069" y="4159277"/>
                <a:ext cx="6378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069" y="4159277"/>
                <a:ext cx="637878" cy="261610"/>
              </a:xfrm>
              <a:prstGeom prst="rect">
                <a:avLst/>
              </a:prstGeom>
              <a:blipFill>
                <a:blip r:embed="rId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 flipV="1">
            <a:off x="2593008" y="4493142"/>
            <a:ext cx="1657062" cy="4609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59877" y="4795817"/>
                <a:ext cx="6378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877" y="4795817"/>
                <a:ext cx="637878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829657" y="1068629"/>
                <a:ext cx="4539487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Suppose our original model was an exponential one: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Then taking logs of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Again we can compare this against a straight line: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𝑚𝑋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657" y="1068629"/>
                <a:ext cx="4539487" cy="1815882"/>
              </a:xfrm>
              <a:prstGeom prst="rect">
                <a:avLst/>
              </a:prstGeom>
              <a:blipFill>
                <a:blip r:embed="rId10"/>
                <a:stretch>
                  <a:fillRect l="-671" t="-10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182023" y="3077484"/>
                <a:ext cx="3502248" cy="255454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!"/>
                </a:pPr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, then the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1600" dirty="0"/>
                  <a:t> against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will be a straight line with gradient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r>
                  <a:rPr lang="en-GB" sz="1600" dirty="0"/>
                  <a:t> and vertical intercept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pPr marL="285750" indent="-285750">
                  <a:buFont typeface="Wingdings" panose="05000000000000000000" pitchFamily="2" charset="2"/>
                  <a:buChar char="!"/>
                </a:pPr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023" y="3077484"/>
                <a:ext cx="3502248" cy="2554545"/>
              </a:xfrm>
              <a:prstGeom prst="rect">
                <a:avLst/>
              </a:prstGeom>
              <a:blipFill>
                <a:blip r:embed="rId11"/>
                <a:stretch>
                  <a:fillRect l="-345" t="-2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6884467" y="4362609"/>
            <a:ext cx="0" cy="10081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4467" y="5370721"/>
            <a:ext cx="19442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722359" y="5250389"/>
                <a:ext cx="44110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359" y="5250389"/>
                <a:ext cx="441107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565528" y="4143834"/>
                <a:ext cx="6378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1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528" y="4143834"/>
                <a:ext cx="637878" cy="261610"/>
              </a:xfrm>
              <a:prstGeom prst="rect">
                <a:avLst/>
              </a:prstGeom>
              <a:blipFill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/>
          <p:cNvCxnSpPr/>
          <p:nvPr/>
        </p:nvCxnSpPr>
        <p:spPr>
          <a:xfrm flipV="1">
            <a:off x="6884467" y="4477699"/>
            <a:ext cx="1657062" cy="4609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351336" y="4780374"/>
                <a:ext cx="6378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336" y="4780374"/>
                <a:ext cx="637878" cy="307777"/>
              </a:xfrm>
              <a:prstGeom prst="rect">
                <a:avLst/>
              </a:prstGeom>
              <a:blipFill>
                <a:blip r:embed="rId1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346204" y="5631732"/>
                <a:ext cx="5319138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The key difference compared to Case 1 is that we’re </a:t>
                </a:r>
                <a:r>
                  <a:rPr lang="en-GB" sz="1100" b="1" dirty="0"/>
                  <a:t>only logging the </a:t>
                </a:r>
                <a14:m>
                  <m:oMath xmlns:m="http://schemas.openxmlformats.org/officeDocument/2006/math">
                    <m:r>
                      <a:rPr lang="en-GB" sz="11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100" b="1" dirty="0"/>
                  <a:t> values </a:t>
                </a:r>
                <a:r>
                  <a:rPr lang="en-GB" sz="1100" dirty="0"/>
                  <a:t>(e.g. number of transistors), not the </a:t>
                </a:r>
                <a14:m>
                  <m:oMath xmlns:m="http://schemas.openxmlformats.org/officeDocument/2006/math">
                    <m:r>
                      <a:rPr lang="en-GB" sz="11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values (e.g. years elapsed). </a:t>
                </a:r>
                <a:r>
                  <a:rPr lang="en-GB" sz="1100" b="1" dirty="0"/>
                  <a:t>Note that you </a:t>
                </a:r>
                <a:r>
                  <a:rPr lang="en-GB" sz="1100" b="1" u="sng" dirty="0"/>
                  <a:t>do not need to memorise</a:t>
                </a:r>
                <a:r>
                  <a:rPr lang="en-GB" sz="1100" b="1" dirty="0"/>
                  <a:t> the contents of these boxes and we will work out from scratch each time…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04" y="5631732"/>
                <a:ext cx="5319138" cy="600164"/>
              </a:xfrm>
              <a:prstGeom prst="rect">
                <a:avLst/>
              </a:prstGeom>
              <a:blipFill>
                <a:blip r:embed="rId15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E73FEC-B1D9-4D57-8CE8-480F59B3F391}"/>
                  </a:ext>
                </a:extLst>
              </p:cNvPr>
              <p:cNvSpPr txBox="1"/>
              <p:nvPr/>
            </p:nvSpPr>
            <p:spPr>
              <a:xfrm>
                <a:off x="2885356" y="6282697"/>
                <a:ext cx="6840760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summary, logging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 </a:t>
                </a:r>
                <a:r>
                  <a:rPr lang="en-GB" sz="1600" b="1" dirty="0"/>
                  <a:t>turns an exponential graph into a linear one</a:t>
                </a:r>
                <a:r>
                  <a:rPr lang="en-GB" sz="1600" dirty="0"/>
                  <a:t>. Logging </a:t>
                </a:r>
                <a:r>
                  <a:rPr lang="en-GB" sz="1600" b="1" dirty="0"/>
                  <a:t>both</a:t>
                </a:r>
                <a:r>
                  <a:rPr lang="en-GB" sz="1600" dirty="0"/>
                  <a:t>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-axis turns a polynomial graph into a linear one.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E73FEC-B1D9-4D57-8CE8-480F59B3F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356" y="6282697"/>
                <a:ext cx="6840760" cy="584775"/>
              </a:xfrm>
              <a:prstGeom prst="rect">
                <a:avLst/>
              </a:prstGeom>
              <a:blipFill>
                <a:blip r:embed="rId16"/>
                <a:stretch>
                  <a:fillRect l="-266" t="-1000"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53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/>
      <p:bldP spid="19" grpId="0"/>
      <p:bldP spid="21" grpId="0" animBg="1"/>
      <p:bldP spid="24" grpId="0"/>
      <p:bldP spid="25" grpId="0"/>
      <p:bldP spid="27" grpId="0"/>
      <p:bldP spid="28" grpId="0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70099" y="873506"/>
                <a:ext cx="5682086" cy="23083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The graph represents the growth of a population of bacteria,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, over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 hours. The graph has a gradient of 0.6 and meets the vertical axis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</m:oMath>
                </a14:m>
                <a:r>
                  <a:rPr lang="en-GB" sz="1600" dirty="0"/>
                  <a:t> as shown.</a:t>
                </a:r>
              </a:p>
              <a:p>
                <a:r>
                  <a:rPr lang="en-GB" sz="1600" dirty="0"/>
                  <a:t>A scientist suggest that this growth can be modelled by the equation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are constants to be found.</a:t>
                </a:r>
              </a:p>
              <a:p>
                <a:pPr marL="457200" indent="-457200">
                  <a:buAutoNum type="alphaLcPeriod"/>
                </a:pPr>
                <a:r>
                  <a:rPr lang="en-GB" sz="1600" dirty="0"/>
                  <a:t>Write down an equation for the line.</a:t>
                </a:r>
              </a:p>
              <a:p>
                <a:pPr marL="457200" indent="-457200">
                  <a:buAutoNum type="alphaLcPeriod"/>
                </a:pPr>
                <a:r>
                  <a:rPr lang="en-GB" sz="1600" dirty="0"/>
                  <a:t>Using your answer to part (a) or otherwise, find the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giving them to 3 sf where necessary.</a:t>
                </a:r>
              </a:p>
              <a:p>
                <a:pPr marL="457200" indent="-457200">
                  <a:buAutoNum type="alphaLcPeriod"/>
                </a:pPr>
                <a:r>
                  <a:rPr lang="en-GB" sz="1600" dirty="0"/>
                  <a:t>Interpret the meaning of the constant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in this model.</a:t>
                </a:r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99" y="873506"/>
                <a:ext cx="568208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V="1">
            <a:off x="8334456" y="2486025"/>
            <a:ext cx="190330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961927" y="2290204"/>
                <a:ext cx="720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927" y="2290204"/>
                <a:ext cx="72008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 flipV="1">
            <a:off x="8331200" y="1231901"/>
            <a:ext cx="3256" cy="125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8331200" y="1549401"/>
            <a:ext cx="1701800" cy="611559"/>
          </a:xfrm>
          <a:prstGeom prst="line">
            <a:avLst/>
          </a:prstGeom>
          <a:ln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875524" y="873720"/>
                <a:ext cx="903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524" y="873720"/>
                <a:ext cx="903433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846569" y="1977008"/>
                <a:ext cx="720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569" y="1977008"/>
                <a:ext cx="72008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97324" y="3420740"/>
                <a:ext cx="24482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=0.6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324" y="3420740"/>
                <a:ext cx="2448272" cy="369332"/>
              </a:xfrm>
              <a:prstGeom prst="rect">
                <a:avLst/>
              </a:prstGeom>
              <a:blipFill>
                <a:blip r:embed="rId6"/>
                <a:stretch>
                  <a:fillRect l="-746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65676" y="3373884"/>
                <a:ext cx="4013324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Equation of straight line is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400" dirty="0"/>
                  <a:t> where here: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=0.6,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676" y="3373884"/>
                <a:ext cx="4013324" cy="523220"/>
              </a:xfrm>
              <a:prstGeom prst="rect">
                <a:avLst/>
              </a:prstGeom>
              <a:blipFill>
                <a:blip r:embed="rId7"/>
                <a:stretch>
                  <a:fillRect l="-151" b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>
            <a:stCxn id="38" idx="1"/>
            <a:endCxn id="37" idx="3"/>
          </p:cNvCxnSpPr>
          <p:nvPr/>
        </p:nvCxnSpPr>
        <p:spPr>
          <a:xfrm flipH="1" flipV="1">
            <a:off x="5045596" y="3605406"/>
            <a:ext cx="720080" cy="30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597324" y="3880004"/>
                <a:ext cx="618163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Just like on previous slide, start with the model then log it: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𝑡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b="1" u="sng" dirty="0"/>
                  <a:t>Comparing with our straight line equation in (a)</a:t>
                </a:r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=2   →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=100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=0.6   →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0.6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=3.98 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324" y="3880004"/>
                <a:ext cx="6181632" cy="1569660"/>
              </a:xfrm>
              <a:prstGeom prst="rect">
                <a:avLst/>
              </a:prstGeom>
              <a:blipFill>
                <a:blip r:embed="rId8"/>
                <a:stretch>
                  <a:fillRect l="-493" t="-1163" b="-1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580432" y="5456572"/>
                <a:ext cx="48075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gives the initial size of the bacteria population.</a:t>
                </a: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32" y="5456572"/>
                <a:ext cx="4807520" cy="338554"/>
              </a:xfrm>
              <a:prstGeom prst="rect">
                <a:avLst/>
              </a:prstGeom>
              <a:blipFill>
                <a:blip r:embed="rId9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5874432" y="5854843"/>
            <a:ext cx="324416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Recall that the coefficient of an exponential term gives the ‘initial value’.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 flipV="1">
            <a:off x="5232400" y="6032501"/>
            <a:ext cx="642032" cy="150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608998" y="3367140"/>
            <a:ext cx="7205026" cy="5823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7787" y="5384992"/>
            <a:ext cx="7205026" cy="9930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8200" y="3381686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88344" y="3938653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88344" y="5478580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087468" y="4386313"/>
                <a:ext cx="1891432" cy="5847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GB" sz="1600" dirty="0"/>
                  <a:t> means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468" y="4386313"/>
                <a:ext cx="1891432" cy="584775"/>
              </a:xfrm>
              <a:prstGeom prst="rect">
                <a:avLst/>
              </a:prstGeom>
              <a:blipFill>
                <a:blip r:embed="rId10"/>
                <a:stretch>
                  <a:fillRect l="-1274" t="-1010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/>
          <p:cNvSpPr/>
          <p:nvPr/>
        </p:nvSpPr>
        <p:spPr>
          <a:xfrm>
            <a:off x="2607787" y="3952391"/>
            <a:ext cx="7205026" cy="14256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260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  <p:bldLst>
      <p:bldP spid="58" grpId="0" animBg="1"/>
      <p:bldP spid="62" grpId="0" animBg="1"/>
      <p:bldP spid="6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44699" y="746506"/>
                <a:ext cx="7770317" cy="25699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[Textbook] The table below gives the rank (by size) and population of the UK’s largest cities and districts (London is number 1 but has been excluded as an outlier).</a:t>
                </a:r>
              </a:p>
              <a:p>
                <a:endParaRPr lang="en-GB" sz="600" dirty="0"/>
              </a:p>
              <a:p>
                <a:r>
                  <a:rPr lang="en-GB" sz="1400" b="1" dirty="0"/>
                  <a:t>City</a:t>
                </a:r>
                <a:r>
                  <a:rPr lang="en-GB" sz="1400" dirty="0"/>
                  <a:t>		</a:t>
                </a:r>
                <a:r>
                  <a:rPr lang="en-GB" sz="1400" dirty="0" err="1"/>
                  <a:t>B’ham</a:t>
                </a:r>
                <a:r>
                  <a:rPr lang="en-GB" sz="1400" dirty="0"/>
                  <a:t>	Leeds	Glasgow	Sheffield	Bradford</a:t>
                </a:r>
              </a:p>
              <a:p>
                <a:r>
                  <a:rPr lang="en-GB" sz="1400" b="1" dirty="0"/>
                  <a:t>Rank,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GB" sz="1400" dirty="0"/>
                  <a:t>		2	3	4	5	6</a:t>
                </a:r>
              </a:p>
              <a:p>
                <a:r>
                  <a:rPr lang="en-GB" sz="1400" b="1" dirty="0"/>
                  <a:t>Population,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1400" dirty="0"/>
                  <a:t>	1 000 000	730 000	620 000	530 000	480 000</a:t>
                </a:r>
              </a:p>
              <a:p>
                <a:endParaRPr lang="en-GB" sz="1000" dirty="0"/>
              </a:p>
              <a:p>
                <a:r>
                  <a:rPr lang="en-GB" sz="1400" dirty="0"/>
                  <a:t>The relationship between the rank and population can be modelled by the formula:</a:t>
                </a:r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  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 are constants.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Draw a table giving values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400" dirty="0"/>
                  <a:t> to 2dp.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Plot a graph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GB" sz="1400" dirty="0"/>
                  <a:t> against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400" dirty="0"/>
                  <a:t> using the values from your table and draw the line of best fit.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Use your graph to estimate the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 to two significant figures.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699" y="746506"/>
                <a:ext cx="7770317" cy="2569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454350"/>
                  </p:ext>
                </p:extLst>
              </p:nvPr>
            </p:nvGraphicFramePr>
            <p:xfrm>
              <a:off x="2205961" y="3537098"/>
              <a:ext cx="3691255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19116592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3610622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454350"/>
                  </p:ext>
                </p:extLst>
              </p:nvPr>
            </p:nvGraphicFramePr>
            <p:xfrm>
              <a:off x="2205961" y="3537098"/>
              <a:ext cx="3691255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4191165922"/>
                        </a:ext>
                      </a:extLst>
                    </a:gridCol>
                    <a:gridCol w="589280">
                      <a:extLst>
                        <a:ext uri="{9D8B030D-6E8A-4147-A177-3AD203B41FA5}">
                          <a16:colId xmlns:a16="http://schemas.microsoft.com/office/drawing/2014/main" val="36106223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" t="-4918" r="-399180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" t="-104918" r="-399180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5.68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2855640" y="6237312"/>
            <a:ext cx="190330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37111" y="6054191"/>
                <a:ext cx="720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111" y="6054191"/>
                <a:ext cx="720080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2852384" y="4983188"/>
            <a:ext cx="3256" cy="1254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54326" y="5238750"/>
            <a:ext cx="1740535" cy="483870"/>
          </a:xfrm>
          <a:prstGeom prst="line">
            <a:avLst/>
          </a:prstGeom>
          <a:ln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96708" y="4625007"/>
                <a:ext cx="903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708" y="4625007"/>
                <a:ext cx="903433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443953" y="4928195"/>
            <a:ext cx="720080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6.4</a:t>
            </a:r>
          </a:p>
          <a:p>
            <a:r>
              <a:rPr lang="en-GB" sz="200" dirty="0"/>
              <a:t> </a:t>
            </a:r>
          </a:p>
          <a:p>
            <a:r>
              <a:rPr lang="en-GB" sz="1600" dirty="0"/>
              <a:t>6.0</a:t>
            </a:r>
          </a:p>
          <a:p>
            <a:r>
              <a:rPr lang="en-GB" sz="200" dirty="0"/>
              <a:t> </a:t>
            </a:r>
          </a:p>
          <a:p>
            <a:r>
              <a:rPr lang="en-GB" sz="1600" dirty="0"/>
              <a:t>5.6</a:t>
            </a:r>
          </a:p>
          <a:p>
            <a:r>
              <a:rPr lang="en-GB" sz="200" dirty="0"/>
              <a:t> </a:t>
            </a:r>
          </a:p>
          <a:p>
            <a:r>
              <a:rPr lang="en-GB" sz="1600" dirty="0"/>
              <a:t>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1703" y="6204123"/>
            <a:ext cx="1800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j-lt"/>
              </a:rPr>
              <a:t>0.2  0.4   0.6   0.8</a:t>
            </a:r>
            <a:endParaRPr lang="en-GB" sz="1600" dirty="0"/>
          </a:p>
        </p:txBody>
      </p:sp>
      <p:sp>
        <p:nvSpPr>
          <p:cNvPr id="19" name="Oval 18"/>
          <p:cNvSpPr/>
          <p:nvPr/>
        </p:nvSpPr>
        <p:spPr>
          <a:xfrm>
            <a:off x="3293790" y="5341466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3622066" y="5425973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3892909" y="5499658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4106031" y="5553657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4317664" y="5605015"/>
            <a:ext cx="90760" cy="8778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829682" y="4996482"/>
                <a:ext cx="9098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0.05, 6.16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682" y="4996482"/>
                <a:ext cx="9098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171896" y="5272819"/>
                <a:ext cx="9098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0.77, 5.68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896" y="5272819"/>
                <a:ext cx="90984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962345" y="4493144"/>
            <a:ext cx="1492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Let’s use these points on the line of best fit to determine the gradient.</a:t>
            </a:r>
          </a:p>
        </p:txBody>
      </p:sp>
      <p:cxnSp>
        <p:nvCxnSpPr>
          <p:cNvPr id="29" name="Straight Arrow Connector 28"/>
          <p:cNvCxnSpPr>
            <a:stCxn id="27" idx="2"/>
            <a:endCxn id="26" idx="0"/>
          </p:cNvCxnSpPr>
          <p:nvPr/>
        </p:nvCxnSpPr>
        <p:spPr>
          <a:xfrm flipH="1">
            <a:off x="4626821" y="5047142"/>
            <a:ext cx="81553" cy="225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676651" y="4810125"/>
            <a:ext cx="295275" cy="17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36080" y="3402372"/>
                <a:ext cx="3985303" cy="2732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First get equation of straight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5.68−6.16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0.77−0.05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=−0.67</m:t>
                      </m:r>
                    </m:oMath>
                  </m:oMathPara>
                </a14:m>
                <a:endParaRPr lang="en-GB" sz="1400" dirty="0"/>
              </a:p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=6.2</m:t>
                    </m:r>
                  </m:oMath>
                </a14:m>
                <a:r>
                  <a:rPr lang="en-GB" sz="1400" dirty="0"/>
                  <a:t>   (reading from the graph)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=−0.67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+6.2</m:t>
                      </m:r>
                    </m:oMath>
                  </m:oMathPara>
                </a14:m>
                <a:endParaRPr lang="en-GB" sz="1400" dirty="0"/>
              </a:p>
              <a:p>
                <a:endParaRPr lang="en-GB" sz="500" dirty="0"/>
              </a:p>
              <a:p>
                <a:r>
                  <a:rPr lang="en-GB" sz="1400" dirty="0"/>
                  <a:t>As with previous example, let’s log the original model so we can compare against our straight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</m:oMath>
                  </m:oMathPara>
                </a14:m>
                <a:br>
                  <a:rPr lang="en-GB" sz="1400" dirty="0"/>
                </a:br>
                <a:r>
                  <a:rPr lang="en-GB" sz="1400" dirty="0"/>
                  <a:t>Comparing this with our straight line: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=6.2   →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6.2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=1600000 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=−0.67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080" y="3402372"/>
                <a:ext cx="3985303" cy="2732799"/>
              </a:xfrm>
              <a:prstGeom prst="rect">
                <a:avLst/>
              </a:prstGeom>
              <a:blipFill>
                <a:blip r:embed="rId8"/>
                <a:stretch>
                  <a:fillRect l="-459" t="-4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1957801" y="3543546"/>
            <a:ext cx="3931502" cy="773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76400" y="3546786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60363" y="4366407"/>
            <a:ext cx="3931502" cy="224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76400" y="4369200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848" y="3493330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76331" y="3452079"/>
            <a:ext cx="3931502" cy="31618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9BA187-94BE-477F-A184-0241B87A0CD3}"/>
                  </a:ext>
                </a:extLst>
              </p:cNvPr>
              <p:cNvSpPr txBox="1"/>
              <p:nvPr/>
            </p:nvSpPr>
            <p:spPr>
              <a:xfrm>
                <a:off x="8606755" y="1983508"/>
                <a:ext cx="1944216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Textbook Error</a:t>
                </a:r>
                <a:r>
                  <a:rPr lang="en-GB" sz="1200" dirty="0"/>
                  <a:t>: They use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200" dirty="0"/>
                  <a:t> but then plot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200" dirty="0"/>
                  <a:t> against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9BA187-94BE-477F-A184-0241B87A0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755" y="1983508"/>
                <a:ext cx="1944216" cy="646331"/>
              </a:xfrm>
              <a:prstGeom prst="rect">
                <a:avLst/>
              </a:prstGeom>
              <a:blipFill>
                <a:blip r:embed="rId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710E23-ED58-4359-9885-63031E158CED}"/>
              </a:ext>
            </a:extLst>
          </p:cNvPr>
          <p:cNvCxnSpPr>
            <a:stCxn id="14" idx="1"/>
          </p:cNvCxnSpPr>
          <p:nvPr/>
        </p:nvCxnSpPr>
        <p:spPr>
          <a:xfrm flipH="1">
            <a:off x="7680177" y="2306674"/>
            <a:ext cx="926579" cy="11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42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35" grpId="0" animBg="1"/>
      <p:bldP spid="37" grpId="0" animBg="1"/>
      <p:bldP spid="4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964016" y="676177"/>
                <a:ext cx="2602384" cy="578619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bIns="0" rtlCol="0">
                <a:spAutoFit/>
              </a:bodyPr>
              <a:lstStyle/>
              <a:p>
                <a:r>
                  <a:rPr lang="en-GB" sz="1200" b="1"/>
                  <a:t>Notes</a:t>
                </a:r>
              </a:p>
              <a:p>
                <a:endParaRPr lang="en-GB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We want to find the </a:t>
                </a:r>
                <a:r>
                  <a:rPr lang="en-GB" sz="1200" b="1" dirty="0"/>
                  <a:t>parameters of a model</a:t>
                </a:r>
                <a:r>
                  <a:rPr lang="en-GB" sz="1200" dirty="0"/>
                  <a:t>, e.g.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200" dirty="0"/>
                  <a:t> that </a:t>
                </a:r>
                <a:r>
                  <a:rPr lang="en-GB" sz="1200" b="1" dirty="0"/>
                  <a:t>best fits the data </a:t>
                </a:r>
                <a:r>
                  <a:rPr lang="en-GB" sz="1200" dirty="0"/>
                  <a:t>(in this case the parameters we want to find are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If the data had a linear trend, then this would be easy! We know from KS3 that we’d just plot the data, find the line of best fit, then use the gradient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to work out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200" dirty="0"/>
                  <a:t> in our linear model.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But the original data wasn’t linear, and it would be harder to draw an ‘exponential curve of best fit’.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We therefore log the model so that the plotted data then roughly forms a straight line, and then we can then draw a (straight) line of best fit.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200" dirty="0"/>
                  <a:t>The gradient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of this line then allows us to estimate the parameters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200" dirty="0"/>
                  <a:t> in the original model that best fit the data.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100" dirty="0"/>
              </a:p>
              <a:p>
                <a:r>
                  <a:rPr lang="en-GB" sz="1200" dirty="0"/>
                  <a:t>The process of finding parameters in a model, that best fits the data, is known as </a:t>
                </a:r>
                <a:r>
                  <a:rPr lang="en-GB" sz="1200" b="1" u="sng" dirty="0"/>
                  <a:t>regression</a:t>
                </a:r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016" y="676177"/>
                <a:ext cx="2602384" cy="5786199"/>
              </a:xfrm>
              <a:prstGeom prst="rect">
                <a:avLst/>
              </a:prstGeom>
              <a:blipFill>
                <a:blip r:embed="rId2"/>
                <a:stretch>
                  <a:fillRect r="-928" b="-5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4501" y="822707"/>
                <a:ext cx="6109692" cy="31393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 website wants to predict his number of Twitter followers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years from the start 2015. He predicts that his followers will increase exponentially according to the model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400" dirty="0"/>
                  <a:t>,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are constants that he wishes to find.</a:t>
                </a:r>
              </a:p>
              <a:p>
                <a:endParaRPr lang="en-GB" sz="400" dirty="0"/>
              </a:p>
              <a:p>
                <a:r>
                  <a:rPr lang="en-GB" sz="1400" dirty="0"/>
                  <a:t>He records his followers at certain times. Here is the data:</a:t>
                </a:r>
              </a:p>
              <a:p>
                <a:endParaRPr lang="en-GB" sz="600" dirty="0"/>
              </a:p>
              <a:p>
                <a:r>
                  <a:rPr lang="en-GB" sz="1400" b="1" dirty="0"/>
                  <a:t>Years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sz="1400" b="1" dirty="0"/>
                  <a:t> after 2015</a:t>
                </a:r>
                <a:r>
                  <a:rPr lang="en-GB" sz="1400" dirty="0"/>
                  <a:t>:	0.7	1.3	2.2</a:t>
                </a:r>
              </a:p>
              <a:p>
                <a:r>
                  <a:rPr lang="en-GB" sz="1400" b="1" dirty="0"/>
                  <a:t>Followers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1400" dirty="0"/>
                  <a:t>:	2353	3673	7162</a:t>
                </a:r>
              </a:p>
              <a:p>
                <a:endParaRPr lang="en-GB" sz="600" dirty="0"/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Draw a table giving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GB" sz="1400" dirty="0"/>
                  <a:t> (to 3dp).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A line of best fit is drawn for the data in your new table, and it happens to go through the first data point above (where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GB" sz="1400" dirty="0"/>
                  <a:t>) and last (where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=2.2</m:t>
                    </m:r>
                  </m:oMath>
                </a14:m>
                <a:r>
                  <a:rPr lang="en-GB" sz="1400" dirty="0"/>
                  <a:t>).</a:t>
                </a:r>
                <a:br>
                  <a:rPr lang="en-GB" sz="1400" dirty="0"/>
                </a:br>
                <a:r>
                  <a:rPr lang="en-GB" sz="1400" dirty="0"/>
                  <a:t>Determine the equation of this line of best fit. (The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-intercept is 3.147)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Hence, determine the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in the model.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Estimate how many followers the website will have at the start of 2020 (when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400" dirty="0"/>
                  <a:t>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1" y="822707"/>
                <a:ext cx="6109692" cy="31393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480942"/>
                  </p:ext>
                </p:extLst>
              </p:nvPr>
            </p:nvGraphicFramePr>
            <p:xfrm>
              <a:off x="1723361" y="4527698"/>
              <a:ext cx="282225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1.3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2.2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3.372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3.565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3.855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480942"/>
                  </p:ext>
                </p:extLst>
              </p:nvPr>
            </p:nvGraphicFramePr>
            <p:xfrm>
              <a:off x="1723361" y="4527698"/>
              <a:ext cx="282225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44855">
                      <a:extLst>
                        <a:ext uri="{9D8B030D-6E8A-4147-A177-3AD203B41FA5}">
                          <a16:colId xmlns:a16="http://schemas.microsoft.com/office/drawing/2014/main" val="1822425987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4006187086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1172211231"/>
                        </a:ext>
                      </a:extLst>
                    </a:gridCol>
                    <a:gridCol w="692468">
                      <a:extLst>
                        <a:ext uri="{9D8B030D-6E8A-4147-A177-3AD203B41FA5}">
                          <a16:colId xmlns:a16="http://schemas.microsoft.com/office/drawing/2014/main" val="293401777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" t="-3226" r="-281967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1.3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2.2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5739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" t="-104918" r="-281967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3.372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3.565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600" dirty="0"/>
                            <a:t>3.855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5708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99000" y="4438799"/>
                <a:ext cx="3060700" cy="932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3.855−3.372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2.2−0.7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=0.322</m:t>
                      </m:r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=3.147</m:t>
                      </m:r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=0.322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+3.147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0" y="4438799"/>
                <a:ext cx="3060700" cy="932307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04139" y="5661249"/>
                <a:ext cx="30607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𝑡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=3.147   →  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=1403</m:t>
                      </m:r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   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=0.322     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=2.099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139" y="5661249"/>
                <a:ext cx="3060700" cy="954107"/>
              </a:xfrm>
              <a:prstGeom prst="rect">
                <a:avLst/>
              </a:prstGeom>
              <a:blipFill>
                <a:blip r:embed="rId6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61616" y="5760023"/>
                <a:ext cx="233028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=1403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2.099</m:t>
                              </m:r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=57164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616" y="5760023"/>
                <a:ext cx="2330281" cy="553998"/>
              </a:xfrm>
              <a:prstGeom prst="rect">
                <a:avLst/>
              </a:prstGeom>
              <a:blipFill>
                <a:blip r:embed="rId7"/>
                <a:stretch>
                  <a:fillRect l="-1305" b="-13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587500" y="4410386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9001" y="4438799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3215" y="5635463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7973" y="5585523"/>
            <a:ext cx="281485" cy="24912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56598" y="4522840"/>
            <a:ext cx="2064602" cy="6968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1615" y="4438798"/>
            <a:ext cx="2304385" cy="8952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85624" y="5633882"/>
            <a:ext cx="2470476" cy="957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1034" y="5597903"/>
            <a:ext cx="2470476" cy="957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270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14H Page 331-333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BE60CD0-E552-1282-FEAF-1D6A0231D3D8}"/>
              </a:ext>
            </a:extLst>
          </p:cNvPr>
          <p:cNvGrpSpPr/>
          <p:nvPr/>
        </p:nvGrpSpPr>
        <p:grpSpPr>
          <a:xfrm>
            <a:off x="1532330" y="584776"/>
            <a:ext cx="6579894" cy="3740960"/>
            <a:chOff x="8330" y="584775"/>
            <a:chExt cx="6795918" cy="38637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B7718B-2C7D-43E8-C7AE-1E8BB7200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30" y="584775"/>
              <a:ext cx="6768752" cy="259643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FEB3FF4-18EA-7F2B-1A67-86186B872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3181214"/>
              <a:ext cx="6336704" cy="126734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1A484B-1B88-A7F2-4C4C-AA6E8D93570E}"/>
                </a:ext>
              </a:extLst>
            </p:cNvPr>
            <p:cNvSpPr/>
            <p:nvPr/>
          </p:nvSpPr>
          <p:spPr>
            <a:xfrm>
              <a:off x="6345034" y="2348880"/>
              <a:ext cx="459214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FA74065-8EE6-52C0-0288-13AEF427E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30" y="4278864"/>
            <a:ext cx="3101785" cy="25814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AC3AC6-CD76-18E6-8F1B-EC702253D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588" y="4257204"/>
            <a:ext cx="2938636" cy="25794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63E16C-7A8F-7FA0-BA42-122C53485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931" y="4296971"/>
            <a:ext cx="1941447" cy="89368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4739373-0E7A-7B9C-E01E-7AF997E1262B}"/>
              </a:ext>
            </a:extLst>
          </p:cNvPr>
          <p:cNvSpPr/>
          <p:nvPr/>
        </p:nvSpPr>
        <p:spPr>
          <a:xfrm>
            <a:off x="1821863" y="4278864"/>
            <a:ext cx="3099152" cy="5738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7E22ED-0A38-707E-F271-1FCEE91CE7A6}"/>
              </a:ext>
            </a:extLst>
          </p:cNvPr>
          <p:cNvSpPr/>
          <p:nvPr/>
        </p:nvSpPr>
        <p:spPr>
          <a:xfrm>
            <a:off x="1821863" y="4908750"/>
            <a:ext cx="3099152" cy="19046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b?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A23F2B-F75E-CBB6-D1E3-635DB75D115C}"/>
              </a:ext>
            </a:extLst>
          </p:cNvPr>
          <p:cNvSpPr/>
          <p:nvPr/>
        </p:nvSpPr>
        <p:spPr>
          <a:xfrm>
            <a:off x="5044807" y="4276742"/>
            <a:ext cx="3041114" cy="2536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c?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993E13-2C91-A7CF-9B36-17D12D5ED94E}"/>
              </a:ext>
            </a:extLst>
          </p:cNvPr>
          <p:cNvSpPr/>
          <p:nvPr/>
        </p:nvSpPr>
        <p:spPr>
          <a:xfrm>
            <a:off x="8208930" y="4263842"/>
            <a:ext cx="2312818" cy="25366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345020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14H Page 331-333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9FE318-EA5B-6ED3-A5F7-B64F66C5A277}"/>
              </a:ext>
            </a:extLst>
          </p:cNvPr>
          <p:cNvGrpSpPr/>
          <p:nvPr/>
        </p:nvGrpSpPr>
        <p:grpSpPr>
          <a:xfrm>
            <a:off x="1524000" y="656784"/>
            <a:ext cx="7772400" cy="2988241"/>
            <a:chOff x="0" y="584775"/>
            <a:chExt cx="7772400" cy="29882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1816A2-3F42-CFED-05CA-B93328184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84775"/>
              <a:ext cx="7772400" cy="39620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2A9BFE-7E6A-DEAC-C837-48B12C2AD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" y="993888"/>
              <a:ext cx="6659993" cy="232621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398053-ACB0-CB5F-7659-ABE964E4AB2D}"/>
                </a:ext>
              </a:extLst>
            </p:cNvPr>
            <p:cNvSpPr/>
            <p:nvPr/>
          </p:nvSpPr>
          <p:spPr>
            <a:xfrm>
              <a:off x="6372200" y="1844824"/>
              <a:ext cx="432048" cy="17281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06570C7-DFEA-EA5C-FFF1-F43056C0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86" y="1642298"/>
            <a:ext cx="3097112" cy="15706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EC27BF-3F63-12C6-100B-F39DDF28D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3429000"/>
            <a:ext cx="3403600" cy="3238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A225D3-0CFE-6499-00E1-1CD905191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498" y="3425002"/>
            <a:ext cx="3606800" cy="1790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EFD2FD-BD8D-CCAB-B53B-DAE1F1F1D8CA}"/>
              </a:ext>
            </a:extLst>
          </p:cNvPr>
          <p:cNvSpPr/>
          <p:nvPr/>
        </p:nvSpPr>
        <p:spPr>
          <a:xfrm>
            <a:off x="1752442" y="3433292"/>
            <a:ext cx="3606800" cy="19399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a?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8F7E4-0FCD-1742-6454-4F8BEDB72256}"/>
              </a:ext>
            </a:extLst>
          </p:cNvPr>
          <p:cNvSpPr/>
          <p:nvPr/>
        </p:nvSpPr>
        <p:spPr>
          <a:xfrm>
            <a:off x="1752442" y="5486402"/>
            <a:ext cx="3606800" cy="11810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b?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20CB1C-04D0-453B-7931-093F8A75AA57}"/>
              </a:ext>
            </a:extLst>
          </p:cNvPr>
          <p:cNvSpPr/>
          <p:nvPr/>
        </p:nvSpPr>
        <p:spPr>
          <a:xfrm>
            <a:off x="6000023" y="3433985"/>
            <a:ext cx="3606800" cy="4410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c?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C8D4A1-0D70-C979-5FFC-8313EEC518BB}"/>
              </a:ext>
            </a:extLst>
          </p:cNvPr>
          <p:cNvSpPr/>
          <p:nvPr/>
        </p:nvSpPr>
        <p:spPr>
          <a:xfrm>
            <a:off x="5990970" y="3993380"/>
            <a:ext cx="3606800" cy="2674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37534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41215</TotalTime>
  <Words>7114</Words>
  <Application>Microsoft Office PowerPoint</Application>
  <PresentationFormat>Widescreen</PresentationFormat>
  <Paragraphs>1010</Paragraphs>
  <Slides>54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Pure Y1 Ch 14 Exponentials and Logarithms</vt:lpstr>
      <vt:lpstr>Starter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1583</cp:revision>
  <dcterms:created xsi:type="dcterms:W3CDTF">2013-02-28T07:36:55Z</dcterms:created>
  <dcterms:modified xsi:type="dcterms:W3CDTF">2024-12-04T16:44:29Z</dcterms:modified>
</cp:coreProperties>
</file>