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6"/>
  </p:notesMasterIdLst>
  <p:sldIdLst>
    <p:sldId id="257" r:id="rId2"/>
    <p:sldId id="261" r:id="rId3"/>
    <p:sldId id="483" r:id="rId4"/>
    <p:sldId id="615" r:id="rId5"/>
    <p:sldId id="639" r:id="rId6"/>
    <p:sldId id="619" r:id="rId7"/>
    <p:sldId id="620" r:id="rId8"/>
    <p:sldId id="650" r:id="rId9"/>
    <p:sldId id="622" r:id="rId10"/>
    <p:sldId id="623" r:id="rId11"/>
    <p:sldId id="616" r:id="rId12"/>
    <p:sldId id="645" r:id="rId13"/>
    <p:sldId id="644" r:id="rId14"/>
    <p:sldId id="646" r:id="rId15"/>
    <p:sldId id="647" r:id="rId16"/>
    <p:sldId id="626" r:id="rId17"/>
    <p:sldId id="625" r:id="rId18"/>
    <p:sldId id="617" r:id="rId19"/>
    <p:sldId id="627" r:id="rId20"/>
    <p:sldId id="641" r:id="rId21"/>
    <p:sldId id="629" r:id="rId22"/>
    <p:sldId id="648" r:id="rId23"/>
    <p:sldId id="637" r:id="rId24"/>
    <p:sldId id="630" r:id="rId25"/>
    <p:sldId id="631" r:id="rId26"/>
    <p:sldId id="635" r:id="rId27"/>
    <p:sldId id="628" r:id="rId28"/>
    <p:sldId id="642" r:id="rId29"/>
    <p:sldId id="632" r:id="rId30"/>
    <p:sldId id="649" r:id="rId31"/>
    <p:sldId id="638" r:id="rId32"/>
    <p:sldId id="633" r:id="rId33"/>
    <p:sldId id="636" r:id="rId34"/>
    <p:sldId id="64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1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 autoAdjust="0"/>
    <p:restoredTop sz="96405" autoAdjust="0"/>
  </p:normalViewPr>
  <p:slideViewPr>
    <p:cSldViewPr>
      <p:cViewPr varScale="1">
        <p:scale>
          <a:sx n="131" d="100"/>
          <a:sy n="131" d="100"/>
        </p:scale>
        <p:origin x="304" y="19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Lamagna" userId="51ffa61b-81bf-4463-bdeb-7e3f3f1f8945" providerId="ADAL" clId="{DED169C2-C392-6D41-B8E4-3B37B1EC76BC}"/>
    <pc:docChg chg="undo custSel addSld delSld modSld modMainMaster modNotesMaster">
      <pc:chgData name="A Lamagna" userId="51ffa61b-81bf-4463-bdeb-7e3f3f1f8945" providerId="ADAL" clId="{DED169C2-C392-6D41-B8E4-3B37B1EC76BC}" dt="2023-10-02T15:57:54.544" v="51"/>
      <pc:docMkLst>
        <pc:docMk/>
      </pc:docMkLst>
      <pc:sldChg chg="modSp modNotes">
        <pc:chgData name="A Lamagna" userId="51ffa61b-81bf-4463-bdeb-7e3f3f1f8945" providerId="ADAL" clId="{DED169C2-C392-6D41-B8E4-3B37B1EC76BC}" dt="2023-10-02T15:57:54.544" v="51"/>
        <pc:sldMkLst>
          <pc:docMk/>
          <pc:sldMk cId="3309097057" sldId="257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09097057" sldId="257"/>
            <ac:spMk id="2" creationId="{00000000-0000-0000-0000-000000000000}"/>
          </ac:spMkLst>
        </pc:sp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4290500086" sldId="261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90500086" sldId="261"/>
            <ac:spMk id="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90500086" sldId="261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90500086" sldId="261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90500086" sldId="261"/>
            <ac:spMk id="9" creationId="{00000000-0000-0000-0000-000000000000}"/>
          </ac:spMkLst>
        </pc:sp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808051470" sldId="483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8" creationId="{B3491EBC-2AC2-F8D4-6F6E-A25FC68913A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1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08051470" sldId="483"/>
            <ac:spMk id="20" creationId="{00000000-0000-0000-0000-000000000000}"/>
          </ac:spMkLst>
        </pc:sp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4122031816" sldId="615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2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122031816" sldId="615"/>
            <ac:spMk id="21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4122031816" sldId="615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122031816" sldId="615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122031816" sldId="615"/>
            <ac:cxnSpMk id="9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726400053" sldId="616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2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2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2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26400053" sldId="616"/>
            <ac:spMk id="27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726400053" sldId="616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7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9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1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17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1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21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26400053" sldId="616"/>
            <ac:cxnSpMk id="23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413010661" sldId="617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13010661" sldId="617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13010661" sldId="617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13010661" sldId="617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13010661" sldId="617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13010661" sldId="617"/>
            <ac:spMk id="10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413010661" sldId="617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413010661" sldId="617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413010661" sldId="617"/>
            <ac:cxnSpMk id="9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519013552" sldId="619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2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2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519013552" sldId="619"/>
            <ac:spMk id="22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519013552" sldId="619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519013552" sldId="619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519013552" sldId="619"/>
            <ac:cxnSpMk id="11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519013552" sldId="619"/>
            <ac:cxnSpMk id="1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519013552" sldId="619"/>
            <ac:cxnSpMk id="1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519013552" sldId="619"/>
            <ac:cxnSpMk id="17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220968725" sldId="620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1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1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2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2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2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3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3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220968725" sldId="620"/>
            <ac:spMk id="38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220968725" sldId="620"/>
            <ac:grpSpMk id="25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220968725" sldId="620"/>
            <ac:grpSpMk id="27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220968725" sldId="620"/>
            <ac:grpSpMk id="30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220968725" sldId="620"/>
            <ac:grpSpMk id="31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220968725" sldId="620"/>
            <ac:grpSpMk id="37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3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7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13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20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2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29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33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3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220968725" sldId="620"/>
            <ac:cxnSpMk id="39" creationId="{00000000-0000-0000-0000-000000000000}"/>
          </ac:cxnSpMkLst>
        </pc:cxnChg>
      </pc:sldChg>
      <pc:sldChg chg="modSp del mod addAnim delAnim">
        <pc:chgData name="A Lamagna" userId="51ffa61b-81bf-4463-bdeb-7e3f3f1f8945" providerId="ADAL" clId="{DED169C2-C392-6D41-B8E4-3B37B1EC76BC}" dt="2023-10-02T15:56:52.790" v="24" actId="2696"/>
        <pc:sldMkLst>
          <pc:docMk/>
          <pc:sldMk cId="1903102545" sldId="621"/>
        </pc:sldMkLst>
        <pc:spChg chg="mod">
          <ac:chgData name="A Lamagna" userId="51ffa61b-81bf-4463-bdeb-7e3f3f1f8945" providerId="ADAL" clId="{DED169C2-C392-6D41-B8E4-3B37B1EC76BC}" dt="2023-10-02T15:56:26.173" v="22" actId="108"/>
          <ac:spMkLst>
            <pc:docMk/>
            <pc:sldMk cId="1903102545" sldId="621"/>
            <ac:spMk id="34" creationId="{00000000-0000-0000-0000-000000000000}"/>
          </ac:spMkLst>
        </pc:sp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345097496" sldId="622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2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2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2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2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2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45097496" sldId="622"/>
            <ac:spMk id="30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345097496" sldId="622"/>
            <ac:grpSpMk id="20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3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10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1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1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2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2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45097496" sldId="622"/>
            <ac:cxnSpMk id="27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163144407" sldId="623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2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2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2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2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3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3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63144407" sldId="623"/>
            <ac:spMk id="32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163144407" sldId="623"/>
            <ac:grpSpMk id="26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3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10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1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1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2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2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63144407" sldId="623"/>
            <ac:cxnSpMk id="29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2644785278" sldId="625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1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2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44785278" sldId="625"/>
            <ac:spMk id="22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644785278" sldId="625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644785278" sldId="625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644785278" sldId="625"/>
            <ac:cxnSpMk id="1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644785278" sldId="625"/>
            <ac:cxnSpMk id="1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644785278" sldId="625"/>
            <ac:cxnSpMk id="19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476198466" sldId="626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76198466" sldId="626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76198466" sldId="626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76198466" sldId="626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76198466" sldId="626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476198466" sldId="626"/>
            <ac:spMk id="13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476198466" sldId="626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476198466" sldId="62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397255040" sldId="627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1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1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397255040" sldId="627"/>
            <ac:spMk id="18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397255040" sldId="627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397255040" sldId="627"/>
            <ac:picMk id="5" creationId="{00000000-0000-0000-0000-000000000000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397255040" sldId="627"/>
            <ac:picMk id="14" creationId="{00000000-0000-0000-0000-000000000000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397255040" sldId="627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397255040" sldId="627"/>
            <ac:cxnSpMk id="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397255040" sldId="627"/>
            <ac:cxnSpMk id="12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434798819" sldId="628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34798819" sldId="628"/>
            <ac:spMk id="16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434798819" sldId="628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34798819" sldId="628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34798819" sldId="628"/>
            <ac:cxnSpMk id="10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34798819" sldId="628"/>
            <ac:cxnSpMk id="11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2139218107" sldId="629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139218107" sldId="629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139218107" sldId="629"/>
            <ac:spMk id="19" creationId="{0D944C78-AF52-FB2B-D087-4D5E2981F0C6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139218107" sldId="629"/>
            <ac:spMk id="20" creationId="{BD6FEE60-E102-2B17-44D8-41BF1243E91E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139218107" sldId="629"/>
            <ac:spMk id="21" creationId="{8515CA8C-E796-26F3-BAF4-1EDDF224EBF4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139218107" sldId="629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139218107" sldId="629"/>
            <ac:picMk id="13" creationId="{CB2F9965-23A2-8A7B-3C2C-F9E444AFAF2B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139218107" sldId="629"/>
            <ac:picMk id="14" creationId="{48B596FF-CAA5-0FA8-7E99-1EBF66E9A54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139218107" sldId="629"/>
            <ac:picMk id="17" creationId="{462DA101-6971-9655-CABF-D03F807E0D38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139218107" sldId="629"/>
            <ac:picMk id="18" creationId="{9FDC1D9F-5E41-73AC-8296-CA239F9547AC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139218107" sldId="629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401251865" sldId="630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401251865" sldId="630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401251865" sldId="630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401251865" sldId="630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401251865" sldId="630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401251865" sldId="630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401251865" sldId="630"/>
            <ac:spMk id="9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401251865" sldId="630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401251865" sldId="630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367555103" sldId="631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367555103" sldId="631"/>
            <ac:spMk id="15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367555103" sldId="631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67555103" sldId="631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367555103" sldId="631"/>
            <ac:cxnSpMk id="12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2763301278" sldId="632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763301278" sldId="632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763301278" sldId="632"/>
            <ac:spMk id="14" creationId="{BEC9A46F-081B-7F2F-7BF4-4291CAA0CEAE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763301278" sldId="632"/>
            <ac:spMk id="19" creationId="{75A50635-3A78-3CD3-C241-19944054F176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763301278" sldId="632"/>
            <ac:spMk id="20" creationId="{B35B7EC9-8873-ACCB-9C06-8462B49AC5A3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763301278" sldId="632"/>
            <ac:grpSpMk id="2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763301278" sldId="632"/>
            <ac:grpSpMk id="15" creationId="{1C04F6F8-A7DC-AED3-25D5-D591AF1CF1CD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763301278" sldId="632"/>
            <ac:picMk id="13" creationId="{7DFF7733-561B-E78F-5725-71A2210B0565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763301278" sldId="632"/>
            <ac:picMk id="16" creationId="{FB65D245-E2F5-BDE7-F638-03A8C71EB838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763301278" sldId="632"/>
            <ac:picMk id="17" creationId="{69AA0D71-62C5-A726-323C-CB5BD379C9B1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763301278" sldId="632"/>
            <ac:picMk id="18" creationId="{052050B2-245A-E760-DB92-A75FE8AD9FA4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763301278" sldId="632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909796608" sldId="633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909796608" sldId="633"/>
            <ac:spMk id="15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909796608" sldId="633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909796608" sldId="633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909796608" sldId="633"/>
            <ac:cxnSpMk id="10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909796608" sldId="633"/>
            <ac:cxnSpMk id="12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425366685" sldId="635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1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425366685" sldId="635"/>
            <ac:spMk id="19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425366685" sldId="635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25366685" sldId="635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25366685" sldId="635"/>
            <ac:cxnSpMk id="11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425366685" sldId="635"/>
            <ac:cxnSpMk id="15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2397496651" sldId="636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97496651" sldId="636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97496651" sldId="636"/>
            <ac:spMk id="14" creationId="{944E07FE-7AAB-B1A4-0770-9BF6D1516A44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97496651" sldId="636"/>
            <ac:spMk id="15" creationId="{EA1955CB-8041-BA59-190D-48C907B537A9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397496651" sldId="636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97496651" sldId="636"/>
            <ac:picMk id="8" creationId="{DEAD0FA9-75AC-0720-939E-A877D2922ED9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97496651" sldId="636"/>
            <ac:picMk id="9" creationId="{A25FC5CA-9A6F-14EC-3F55-CBDC0DEE06F0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97496651" sldId="636"/>
            <ac:picMk id="10" creationId="{16BD08AD-E961-3F35-1919-7B013E081C87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97496651" sldId="636"/>
            <ac:picMk id="11" creationId="{35061977-969C-DBB8-3566-B508C63C399F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97496651" sldId="636"/>
            <ac:picMk id="13" creationId="{EA948062-5565-1C2C-F27C-E26A66AB2ABA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397496651" sldId="63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887615915" sldId="637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1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1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2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2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2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87615915" sldId="637"/>
            <ac:spMk id="28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887615915" sldId="637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887615915" sldId="637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887615915" sldId="637"/>
            <ac:cxnSpMk id="12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122892226" sldId="638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22892226" sldId="638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22892226" sldId="638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22892226" sldId="638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22892226" sldId="638"/>
            <ac:spMk id="1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22892226" sldId="638"/>
            <ac:spMk id="11" creationId="{00000000-0000-0000-0000-000000000000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122892226" sldId="638"/>
            <ac:grpSpMk id="2" creationId="{00000000-0000-0000-0000-000000000000}"/>
          </ac:grpSpMkLst>
        </pc:gr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122892226" sldId="638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826734818" sldId="639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26734818" sldId="639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26734818" sldId="639"/>
            <ac:spMk id="11" creationId="{818E66F1-3BED-5407-932A-A6CEFA40DCB3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26734818" sldId="639"/>
            <ac:spMk id="12" creationId="{6350291A-6B1D-F96C-474D-D9DC9E634A5F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26734818" sldId="639"/>
            <ac:spMk id="13" creationId="{1C5A50F9-165A-3723-EAA3-41EAF45FD0D2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26734818" sldId="639"/>
            <ac:spMk id="23" creationId="{593C1D68-D3E8-B672-D5F4-E45398A0043D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826734818" sldId="639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5" creationId="{FD913C8B-6B9E-C4EB-BAA1-6EF01BFB965D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6" creationId="{AEFCB120-5268-5EF7-A309-8CB8A8BE9645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8" creationId="{AD913BBD-1581-C5BA-C824-8EF77790ADB0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9" creationId="{EBF14E68-29AD-571C-2161-4738C05123F0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10" creationId="{A0E27328-5BB9-A4F9-415E-82B7E0D3A8DE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15" creationId="{735CB189-4CE3-C3A9-5BBD-6C1DC1740066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18" creationId="{973C3119-CE8C-EC18-144E-4AE12BF94DDE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19" creationId="{612581CE-AD23-C6BD-9946-E381893F5291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20" creationId="{6E6164EA-9576-297B-8A64-18ADDF0C37F5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21" creationId="{98465A84-10A3-A926-D901-9478E9E486BE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26734818" sldId="639"/>
            <ac:picMk id="22" creationId="{0B4E5EBA-0758-B967-5504-F3DC2F6B4044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826734818" sldId="639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866857757" sldId="641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66857757" sldId="641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66857757" sldId="641"/>
            <ac:spMk id="9" creationId="{7740E745-E882-7B6E-BDB4-1A1121CC72EB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866857757" sldId="641"/>
            <ac:spMk id="10" creationId="{4DEE4B3B-5187-32CA-C9A5-165FD68BF535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866857757" sldId="641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66857757" sldId="641"/>
            <ac:picMk id="5" creationId="{655CC443-565B-F01D-396E-C80B66417033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66857757" sldId="641"/>
            <ac:picMk id="6" creationId="{1CA7F030-1106-3E6C-3340-3A4DD63E7AE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66857757" sldId="641"/>
            <ac:picMk id="7" creationId="{C62BCD68-42BD-5E4A-D55D-F5F05DE35E1B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866857757" sldId="641"/>
            <ac:picMk id="8" creationId="{D60D379C-51C0-12FE-AC6E-E00178A9DAB4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866857757" sldId="641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184444147" sldId="642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84444147" sldId="642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84444147" sldId="642"/>
            <ac:spMk id="7" creationId="{E962090D-E893-6B8C-FD80-F08A228B797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84444147" sldId="642"/>
            <ac:spMk id="11" creationId="{836E9FF7-D45C-5563-8A6A-F510BFE75FC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84444147" sldId="642"/>
            <ac:spMk id="13" creationId="{CBAC76B9-1E0D-7592-2786-81A81AFF33A9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184444147" sldId="642"/>
            <ac:grpSpMk id="2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184444147" sldId="642"/>
            <ac:grpSpMk id="8" creationId="{B4AC6318-F60B-88F9-B61A-4EACC805A9A2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84444147" sldId="642"/>
            <ac:picMk id="5" creationId="{295BFB53-A4D6-75D5-FD40-3359AB064362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84444147" sldId="642"/>
            <ac:picMk id="6" creationId="{81C7834A-1B19-3772-2F88-5FBDCD1AA4B8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84444147" sldId="642"/>
            <ac:picMk id="9" creationId="{F6C465E0-2199-329C-666E-BD2BB093F277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84444147" sldId="642"/>
            <ac:picMk id="10" creationId="{FD646393-63DB-7AC5-39C1-D044247F5E18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84444147" sldId="642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136503428" sldId="643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36503428" sldId="643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36503428" sldId="643"/>
            <ac:spMk id="8" creationId="{854ED2B2-BD67-B7A1-6FD0-12485267EF9C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36503428" sldId="643"/>
            <ac:spMk id="13" creationId="{211C1F39-4F25-4139-DD40-5370359740EB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36503428" sldId="643"/>
            <ac:spMk id="14" creationId="{C73E2636-1984-2026-871A-BF034C80CBE7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136503428" sldId="643"/>
            <ac:spMk id="15" creationId="{0CC9F0E2-75DF-471A-8928-96C96F594FB7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136503428" sldId="643"/>
            <ac:grpSpMk id="2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136503428" sldId="643"/>
            <ac:grpSpMk id="9" creationId="{42B686B6-01AB-E55C-041B-F0F16218FC71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36503428" sldId="643"/>
            <ac:picMk id="5" creationId="{B2EBF8FD-A564-EDA1-6900-48E82477C40D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36503428" sldId="643"/>
            <ac:picMk id="6" creationId="{FE4DBDDE-077E-D023-0F16-6D70D1B735DF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36503428" sldId="643"/>
            <ac:picMk id="10" creationId="{468E3ABB-C94E-D3A5-0BA6-111E4D324A02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36503428" sldId="643"/>
            <ac:picMk id="11" creationId="{7D040EED-E6EC-F210-D7AE-19E66503D09E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136503428" sldId="643"/>
            <ac:picMk id="12" creationId="{ACBEB5CC-C226-7318-07B1-D7494927A552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136503428" sldId="643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1119446743" sldId="644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19446743" sldId="644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19446743" sldId="644"/>
            <ac:spMk id="10" creationId="{2168E609-214D-CA05-F5EE-56FEA016474E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19446743" sldId="644"/>
            <ac:spMk id="11" creationId="{0F45BF6A-55C4-477B-4B95-65D36BDF99A9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1119446743" sldId="644"/>
            <ac:spMk id="12" creationId="{C21068D8-0C7E-E8D5-E957-FE1BFCED7A12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1119446743" sldId="644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119446743" sldId="644"/>
            <ac:picMk id="5" creationId="{8948E978-F738-BF05-955E-8C59A83490DD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119446743" sldId="644"/>
            <ac:picMk id="6" creationId="{E28C9BBB-3D35-CD1B-65A8-83A90B9A39A3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119446743" sldId="644"/>
            <ac:picMk id="8" creationId="{BBD43423-3D16-68DF-52F0-8FD0AFE738E1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1119446743" sldId="644"/>
            <ac:picMk id="9" creationId="{1229AD3B-2FB1-87D1-FD40-10F7D3F3B01C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1119446743" sldId="644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543956386" sldId="645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543956386" sldId="645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543956386" sldId="645"/>
            <ac:spMk id="12" creationId="{F0B83229-FD9A-58DD-B09A-3663F7D86981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543956386" sldId="645"/>
            <ac:spMk id="13" creationId="{A6E91B31-F557-FAB9-A84E-8A840C21344B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543956386" sldId="645"/>
            <ac:spMk id="14" creationId="{69B15FBF-0BED-7622-3D22-06C48DAD168F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543956386" sldId="645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543956386" sldId="645"/>
            <ac:picMk id="5" creationId="{949015A1-2F95-BC29-39AA-F2AA61CD5826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543956386" sldId="645"/>
            <ac:picMk id="6" creationId="{326EDD55-1120-6CF6-94BC-63CC0B8E5E66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543956386" sldId="645"/>
            <ac:picMk id="8" creationId="{76D43ADF-B78F-2399-E21E-F202D9043BED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543956386" sldId="645"/>
            <ac:picMk id="9" creationId="{BBA1550D-F635-0CC6-E294-B6CDE357CC58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543956386" sldId="645"/>
            <ac:picMk id="10" creationId="{0ED29DEF-E07D-6021-9121-37634342E75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543956386" sldId="645"/>
            <ac:picMk id="11" creationId="{CBAF8817-DAAC-C3B3-58D6-AB95196125F8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543956386" sldId="645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2614787685" sldId="646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14787685" sldId="646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14787685" sldId="646"/>
            <ac:spMk id="10" creationId="{E5DDE41B-B0AD-38B5-8A3E-737770A1E94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14787685" sldId="646"/>
            <ac:spMk id="13" creationId="{9410F750-B4CB-C0A6-B4C2-EF4F41BAECAA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614787685" sldId="646"/>
            <ac:spMk id="14" creationId="{AD171242-285D-D335-49BA-EBA364D6CE27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614787685" sldId="646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614787685" sldId="646"/>
            <ac:picMk id="6" creationId="{5A101F25-5F0E-831E-D268-A93A9934CED5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614787685" sldId="646"/>
            <ac:picMk id="8" creationId="{F1D363DC-C620-587E-92B6-17D59D0475E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614787685" sldId="646"/>
            <ac:picMk id="11" creationId="{F3DB3386-D817-D4A7-A9C7-1E2426909EDA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614787685" sldId="646"/>
            <ac:picMk id="12" creationId="{9F5510A8-7685-0DF6-5BB4-074922AB40A6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614787685" sldId="646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2353208183" sldId="647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53208183" sldId="647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53208183" sldId="647"/>
            <ac:spMk id="8" creationId="{4AAACC64-3382-CB89-D6B4-AD923C37E879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53208183" sldId="647"/>
            <ac:spMk id="9" creationId="{80D679DB-0087-A138-835D-03673799DE7D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53208183" sldId="647"/>
            <ac:spMk id="14" creationId="{9F4B9803-F849-1335-2C70-38BF805B72B4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2353208183" sldId="647"/>
            <ac:spMk id="15" creationId="{A630AF0A-0D98-FD72-512B-4E95B81AC7FA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353208183" sldId="647"/>
            <ac:grpSpMk id="2" creationId="{00000000-0000-0000-0000-000000000000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353208183" sldId="647"/>
            <ac:grpSpMk id="10" creationId="{DE04E514-57A1-65B7-4EC0-266D93D3854B}"/>
          </ac:grpSpMkLst>
        </pc:gr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2353208183" sldId="647"/>
            <ac:grpSpMk id="11" creationId="{2A3F7074-D7E5-1406-B1E8-DE4F5C2A8402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53208183" sldId="647"/>
            <ac:picMk id="5" creationId="{BDD8209A-EE7B-D3A7-8589-0D058C0A18E9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53208183" sldId="647"/>
            <ac:picMk id="12" creationId="{3177F32B-F139-DA52-71B3-1E5998CE854F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2353208183" sldId="647"/>
            <ac:picMk id="13" creationId="{9D5BA783-DEAF-CD54-6ECA-D5E0DAE00403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2353208183" sldId="647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899667003" sldId="648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99667003" sldId="648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99667003" sldId="648"/>
            <ac:spMk id="10" creationId="{0DE127C4-F73C-0205-3DE6-766B8C6C6EB1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99667003" sldId="648"/>
            <ac:spMk id="12" creationId="{A9D32C63-1D99-DDAC-B5D6-AC95D125886D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899667003" sldId="648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99667003" sldId="648"/>
            <ac:picMk id="5" creationId="{653226B5-9EBC-7E96-5C2A-2BD053CC7B4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99667003" sldId="648"/>
            <ac:picMk id="6" creationId="{66228E16-2029-BECE-1772-2ED0A86BBF4C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99667003" sldId="648"/>
            <ac:picMk id="7" creationId="{6FF271D7-67D2-EF01-38D7-F40740BABD9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99667003" sldId="648"/>
            <ac:picMk id="8" creationId="{B306758A-C9A1-2581-2FF1-19E60CCE91BA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899667003" sldId="648"/>
            <ac:cxnSpMk id="4" creationId="{00000000-0000-0000-0000-000000000000}"/>
          </ac:cxnSpMkLst>
        </pc:cxnChg>
      </pc:sldChg>
      <pc:sldChg chg="modSp mod">
        <pc:chgData name="A Lamagna" userId="51ffa61b-81bf-4463-bdeb-7e3f3f1f8945" providerId="ADAL" clId="{DED169C2-C392-6D41-B8E4-3B37B1EC76BC}" dt="2023-10-02T15:57:54.544" v="51"/>
        <pc:sldMkLst>
          <pc:docMk/>
          <pc:sldMk cId="3844128831" sldId="649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44128831" sldId="649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44128831" sldId="649"/>
            <ac:spMk id="11" creationId="{AD280301-80A6-50EA-5A7E-2783BEFDA9F8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3844128831" sldId="649"/>
            <ac:spMk id="17" creationId="{9738E4D0-962A-DB81-0D76-A6C6B3C73CA6}"/>
          </ac:spMkLst>
        </pc:spChg>
        <pc:grpChg chg="mod">
          <ac:chgData name="A Lamagna" userId="51ffa61b-81bf-4463-bdeb-7e3f3f1f8945" providerId="ADAL" clId="{DED169C2-C392-6D41-B8E4-3B37B1EC76BC}" dt="2023-10-02T15:57:54.544" v="51"/>
          <ac:grpSpMkLst>
            <pc:docMk/>
            <pc:sldMk cId="3844128831" sldId="649"/>
            <ac:grpSpMk id="2" creationId="{00000000-0000-0000-0000-000000000000}"/>
          </ac:grpSpMkLst>
        </pc:grp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44128831" sldId="649"/>
            <ac:picMk id="5" creationId="{64AAEC5B-C6CA-3E7B-6C46-AD05F432F68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44128831" sldId="649"/>
            <ac:picMk id="6" creationId="{01ADF37D-5A92-474B-3034-420D0575A674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44128831" sldId="649"/>
            <ac:picMk id="7" creationId="{8FEAE94B-9BAF-DDE0-9B1F-71E673F2D1B8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44128831" sldId="649"/>
            <ac:picMk id="8" creationId="{B00368E3-998F-5D98-7AED-F84022B4E37B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44128831" sldId="649"/>
            <ac:picMk id="9" creationId="{A5EB29FB-ED48-2407-E34D-A4BFFC03C99B}"/>
          </ac:picMkLst>
        </pc:picChg>
        <pc:picChg chg="mod">
          <ac:chgData name="A Lamagna" userId="51ffa61b-81bf-4463-bdeb-7e3f3f1f8945" providerId="ADAL" clId="{DED169C2-C392-6D41-B8E4-3B37B1EC76BC}" dt="2023-10-02T15:57:54.544" v="51"/>
          <ac:picMkLst>
            <pc:docMk/>
            <pc:sldMk cId="3844128831" sldId="649"/>
            <ac:picMk id="10" creationId="{C441C17C-7E68-3AA4-4215-DF5F4D065F8A}"/>
          </ac:picMkLst>
        </pc:pic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3844128831" sldId="649"/>
            <ac:cxnSpMk id="4" creationId="{00000000-0000-0000-0000-000000000000}"/>
          </ac:cxnSpMkLst>
        </pc:cxnChg>
      </pc:sldChg>
      <pc:sldChg chg="modSp add">
        <pc:chgData name="A Lamagna" userId="51ffa61b-81bf-4463-bdeb-7e3f3f1f8945" providerId="ADAL" clId="{DED169C2-C392-6D41-B8E4-3B37B1EC76BC}" dt="2023-10-02T15:57:54.544" v="51"/>
        <pc:sldMkLst>
          <pc:docMk/>
          <pc:sldMk cId="797615609" sldId="650"/>
        </pc:sld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8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1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1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1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1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19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21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23" creationId="{36D1B8FD-8C21-384A-280A-BE1974587F06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2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26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27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29" creationId="{EF5349B5-2B3C-9197-47D8-81A3160511E7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30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3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3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k cId="797615609" sldId="650"/>
            <ac:spMk id="37" creationId="{00000000-0000-0000-0000-000000000000}"/>
          </ac:spMkLst>
        </pc:sp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3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4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10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1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17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1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22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25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28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31" creationId="{00000000-0000-0000-0000-000000000000}"/>
          </ac:cxnSpMkLst>
        </pc:cxnChg>
        <pc:cxnChg chg="mod">
          <ac:chgData name="A Lamagna" userId="51ffa61b-81bf-4463-bdeb-7e3f3f1f8945" providerId="ADAL" clId="{DED169C2-C392-6D41-B8E4-3B37B1EC76BC}" dt="2023-10-02T15:57:54.544" v="51"/>
          <ac:cxnSpMkLst>
            <pc:docMk/>
            <pc:sldMk cId="797615609" sldId="650"/>
            <ac:cxnSpMk id="38" creationId="{00000000-0000-0000-0000-000000000000}"/>
          </ac:cxnSpMkLst>
        </pc:cxnChg>
      </pc:sldChg>
      <pc:sldMasterChg chg="delSldLayout modSldLayout">
        <pc:chgData name="A Lamagna" userId="51ffa61b-81bf-4463-bdeb-7e3f3f1f8945" providerId="ADAL" clId="{DED169C2-C392-6D41-B8E4-3B37B1EC76BC}" dt="2023-10-02T15:55:46.632" v="11" actId="14100"/>
        <pc:sldMasterMkLst>
          <pc:docMk/>
          <pc:sldMasterMk cId="3896745248" sldId="2147483648"/>
        </pc:sldMasterMkLst>
        <pc:sldLayoutChg chg="del">
          <pc:chgData name="A Lamagna" userId="51ffa61b-81bf-4463-bdeb-7e3f3f1f8945" providerId="ADAL" clId="{DED169C2-C392-6D41-B8E4-3B37B1EC76BC}" dt="2023-10-02T15:55:36.613" v="0" actId="2696"/>
          <pc:sldLayoutMkLst>
            <pc:docMk/>
            <pc:sldMasterMk cId="3896745248" sldId="2147483648"/>
            <pc:sldLayoutMk cId="4281611480" sldId="2147483649"/>
          </pc:sldLayoutMkLst>
        </pc:sldLayoutChg>
        <pc:sldLayoutChg chg="del">
          <pc:chgData name="A Lamagna" userId="51ffa61b-81bf-4463-bdeb-7e3f3f1f8945" providerId="ADAL" clId="{DED169C2-C392-6D41-B8E4-3B37B1EC76BC}" dt="2023-10-02T15:55:37.158" v="1" actId="2696"/>
          <pc:sldLayoutMkLst>
            <pc:docMk/>
            <pc:sldMasterMk cId="3896745248" sldId="2147483648"/>
            <pc:sldLayoutMk cId="875171852" sldId="2147483650"/>
          </pc:sldLayoutMkLst>
        </pc:sldLayoutChg>
        <pc:sldLayoutChg chg="del">
          <pc:chgData name="A Lamagna" userId="51ffa61b-81bf-4463-bdeb-7e3f3f1f8945" providerId="ADAL" clId="{DED169C2-C392-6D41-B8E4-3B37B1EC76BC}" dt="2023-10-02T15:55:37.350" v="2" actId="2696"/>
          <pc:sldLayoutMkLst>
            <pc:docMk/>
            <pc:sldMasterMk cId="3896745248" sldId="2147483648"/>
            <pc:sldLayoutMk cId="2932520356" sldId="2147483651"/>
          </pc:sldLayoutMkLst>
        </pc:sldLayoutChg>
        <pc:sldLayoutChg chg="del">
          <pc:chgData name="A Lamagna" userId="51ffa61b-81bf-4463-bdeb-7e3f3f1f8945" providerId="ADAL" clId="{DED169C2-C392-6D41-B8E4-3B37B1EC76BC}" dt="2023-10-02T15:55:37.492" v="3" actId="2696"/>
          <pc:sldLayoutMkLst>
            <pc:docMk/>
            <pc:sldMasterMk cId="3896745248" sldId="2147483648"/>
            <pc:sldLayoutMk cId="566172462" sldId="2147483652"/>
          </pc:sldLayoutMkLst>
        </pc:sldLayoutChg>
        <pc:sldLayoutChg chg="del">
          <pc:chgData name="A Lamagna" userId="51ffa61b-81bf-4463-bdeb-7e3f3f1f8945" providerId="ADAL" clId="{DED169C2-C392-6D41-B8E4-3B37B1EC76BC}" dt="2023-10-02T15:55:37.669" v="4" actId="2696"/>
          <pc:sldLayoutMkLst>
            <pc:docMk/>
            <pc:sldMasterMk cId="3896745248" sldId="2147483648"/>
            <pc:sldLayoutMk cId="4020052510" sldId="2147483653"/>
          </pc:sldLayoutMkLst>
        </pc:sldLayoutChg>
        <pc:sldLayoutChg chg="del">
          <pc:chgData name="A Lamagna" userId="51ffa61b-81bf-4463-bdeb-7e3f3f1f8945" providerId="ADAL" clId="{DED169C2-C392-6D41-B8E4-3B37B1EC76BC}" dt="2023-10-02T15:55:37.829" v="5" actId="2696"/>
          <pc:sldLayoutMkLst>
            <pc:docMk/>
            <pc:sldMasterMk cId="3896745248" sldId="2147483648"/>
            <pc:sldLayoutMk cId="3408912398" sldId="2147483654"/>
          </pc:sldLayoutMkLst>
        </pc:sldLayoutChg>
        <pc:sldLayoutChg chg="del">
          <pc:chgData name="A Lamagna" userId="51ffa61b-81bf-4463-bdeb-7e3f3f1f8945" providerId="ADAL" clId="{DED169C2-C392-6D41-B8E4-3B37B1EC76BC}" dt="2023-10-02T15:55:39.078" v="6" actId="2696"/>
          <pc:sldLayoutMkLst>
            <pc:docMk/>
            <pc:sldMasterMk cId="3896745248" sldId="2147483648"/>
            <pc:sldLayoutMk cId="2997128530" sldId="2147483656"/>
          </pc:sldLayoutMkLst>
        </pc:sldLayoutChg>
        <pc:sldLayoutChg chg="del">
          <pc:chgData name="A Lamagna" userId="51ffa61b-81bf-4463-bdeb-7e3f3f1f8945" providerId="ADAL" clId="{DED169C2-C392-6D41-B8E4-3B37B1EC76BC}" dt="2023-10-02T15:55:39.269" v="7" actId="2696"/>
          <pc:sldLayoutMkLst>
            <pc:docMk/>
            <pc:sldMasterMk cId="3896745248" sldId="2147483648"/>
            <pc:sldLayoutMk cId="4066496644" sldId="2147483657"/>
          </pc:sldLayoutMkLst>
        </pc:sldLayoutChg>
        <pc:sldLayoutChg chg="del">
          <pc:chgData name="A Lamagna" userId="51ffa61b-81bf-4463-bdeb-7e3f3f1f8945" providerId="ADAL" clId="{DED169C2-C392-6D41-B8E4-3B37B1EC76BC}" dt="2023-10-02T15:55:39.428" v="8" actId="2696"/>
          <pc:sldLayoutMkLst>
            <pc:docMk/>
            <pc:sldMasterMk cId="3896745248" sldId="2147483648"/>
            <pc:sldLayoutMk cId="2023399183" sldId="2147483658"/>
          </pc:sldLayoutMkLst>
        </pc:sldLayoutChg>
        <pc:sldLayoutChg chg="del">
          <pc:chgData name="A Lamagna" userId="51ffa61b-81bf-4463-bdeb-7e3f3f1f8945" providerId="ADAL" clId="{DED169C2-C392-6D41-B8E4-3B37B1EC76BC}" dt="2023-10-02T15:55:39.609" v="9" actId="2696"/>
          <pc:sldLayoutMkLst>
            <pc:docMk/>
            <pc:sldMasterMk cId="3896745248" sldId="2147483648"/>
            <pc:sldLayoutMk cId="962211328" sldId="2147483659"/>
          </pc:sldLayoutMkLst>
        </pc:sldLayoutChg>
        <pc:sldLayoutChg chg="delSp modSp mod">
          <pc:chgData name="A Lamagna" userId="51ffa61b-81bf-4463-bdeb-7e3f3f1f8945" providerId="ADAL" clId="{DED169C2-C392-6D41-B8E4-3B37B1EC76BC}" dt="2023-10-02T15:55:46.632" v="11" actId="14100"/>
          <pc:sldLayoutMkLst>
            <pc:docMk/>
            <pc:sldMasterMk cId="2038884804" sldId="2147483662"/>
            <pc:sldLayoutMk cId="3173113420" sldId="2147483660"/>
          </pc:sldLayoutMkLst>
          <pc:spChg chg="mod">
            <ac:chgData name="A Lamagna" userId="51ffa61b-81bf-4463-bdeb-7e3f3f1f8945" providerId="ADAL" clId="{DED169C2-C392-6D41-B8E4-3B37B1EC76BC}" dt="2023-10-02T15:55:46.632" v="11" actId="14100"/>
            <ac:spMkLst>
              <pc:docMk/>
              <pc:sldMasterMk cId="2038884804" sldId="2147483662"/>
              <pc:sldLayoutMk cId="3173113420" sldId="2147483660"/>
              <ac:spMk id="2" creationId="{00000000-0000-0000-0000-000000000000}"/>
            </ac:spMkLst>
          </pc:spChg>
          <pc:picChg chg="del">
            <ac:chgData name="A Lamagna" userId="51ffa61b-81bf-4463-bdeb-7e3f3f1f8945" providerId="ADAL" clId="{DED169C2-C392-6D41-B8E4-3B37B1EC76BC}" dt="2023-10-02T15:55:43.749" v="10" actId="478"/>
            <ac:picMkLst>
              <pc:docMk/>
              <pc:sldMasterMk cId="2038884804" sldId="2147483662"/>
              <pc:sldLayoutMk cId="3173113420" sldId="2147483660"/>
              <ac:picMk id="4" creationId="{EC2B7174-C6C2-574E-A39F-FB2734E7217D}"/>
            </ac:picMkLst>
          </pc:picChg>
        </pc:sldLayoutChg>
      </pc:sldMasterChg>
      <pc:sldMasterChg chg="modSp delSldLayout modSldLayout">
        <pc:chgData name="A Lamagna" userId="51ffa61b-81bf-4463-bdeb-7e3f3f1f8945" providerId="ADAL" clId="{DED169C2-C392-6D41-B8E4-3B37B1EC76BC}" dt="2023-10-02T15:57:54.544" v="51"/>
        <pc:sldMasterMkLst>
          <pc:docMk/>
          <pc:sldMasterMk cId="2038884804" sldId="2147483662"/>
        </pc:sldMasterMkLst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asterMk cId="2038884804" sldId="2147483662"/>
            <ac:spMk id="2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asterMk cId="2038884804" sldId="2147483662"/>
            <ac:spMk id="3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asterMk cId="2038884804" sldId="2147483662"/>
            <ac:spMk id="4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asterMk cId="2038884804" sldId="2147483662"/>
            <ac:spMk id="5" creationId="{00000000-0000-0000-0000-000000000000}"/>
          </ac:spMkLst>
        </pc:spChg>
        <pc:spChg chg="mod">
          <ac:chgData name="A Lamagna" userId="51ffa61b-81bf-4463-bdeb-7e3f3f1f8945" providerId="ADAL" clId="{DED169C2-C392-6D41-B8E4-3B37B1EC76BC}" dt="2023-10-02T15:57:54.544" v="51"/>
          <ac:spMkLst>
            <pc:docMk/>
            <pc:sldMasterMk cId="2038884804" sldId="2147483662"/>
            <ac:spMk id="7" creationId="{341FCD68-8B6E-A7C5-AF86-F245AC0086A7}"/>
          </ac:spMkLst>
        </pc:spChg>
        <pc:sldLayoutChg chg="del">
          <pc:chgData name="A Lamagna" userId="51ffa61b-81bf-4463-bdeb-7e3f3f1f8945" providerId="ADAL" clId="{DED169C2-C392-6D41-B8E4-3B37B1EC76BC}" dt="2023-10-02T15:55:59.013" v="13" actId="2696"/>
          <pc:sldLayoutMkLst>
            <pc:docMk/>
            <pc:sldMasterMk cId="2038884804" sldId="2147483662"/>
            <pc:sldLayoutMk cId="3173113420" sldId="2147483660"/>
          </pc:sldLayoutMkLst>
        </pc:sldLayoutChg>
        <pc:sldLayoutChg chg="del">
          <pc:chgData name="A Lamagna" userId="51ffa61b-81bf-4463-bdeb-7e3f3f1f8945" providerId="ADAL" clId="{DED169C2-C392-6D41-B8E4-3B37B1EC76BC}" dt="2023-10-02T15:55:59.525" v="14" actId="2696"/>
          <pc:sldLayoutMkLst>
            <pc:docMk/>
            <pc:sldMasterMk cId="2038884804" sldId="2147483662"/>
            <pc:sldLayoutMk cId="3348047354" sldId="2147483661"/>
          </pc:sldLayoutMkLst>
        </pc:sldLayoutChg>
        <pc:sldLayoutChg chg="modSp">
          <pc:chgData name="A Lamagna" userId="51ffa61b-81bf-4463-bdeb-7e3f3f1f8945" providerId="ADAL" clId="{DED169C2-C392-6D41-B8E4-3B37B1EC76BC}" dt="2023-10-02T15:57:54.544" v="51"/>
          <pc:sldLayoutMkLst>
            <pc:docMk/>
            <pc:sldMasterMk cId="2038884804" sldId="2147483662"/>
            <pc:sldLayoutMk cId="368767855" sldId="2147483663"/>
          </pc:sldLayoutMkLst>
          <pc:spChg chg="mod">
            <ac:chgData name="A Lamagna" userId="51ffa61b-81bf-4463-bdeb-7e3f3f1f8945" providerId="ADAL" clId="{DED169C2-C392-6D41-B8E4-3B37B1EC76BC}" dt="2023-10-02T15:57:54.544" v="51"/>
            <ac:spMkLst>
              <pc:docMk/>
              <pc:sldMasterMk cId="2038884804" sldId="2147483662"/>
              <pc:sldLayoutMk cId="368767855" sldId="2147483663"/>
              <ac:spMk id="2" creationId="{00000000-0000-0000-0000-000000000000}"/>
            </ac:spMkLst>
          </pc:spChg>
          <pc:spChg chg="mod">
            <ac:chgData name="A Lamagna" userId="51ffa61b-81bf-4463-bdeb-7e3f3f1f8945" providerId="ADAL" clId="{DED169C2-C392-6D41-B8E4-3B37B1EC76BC}" dt="2023-10-02T15:57:54.544" v="51"/>
            <ac:spMkLst>
              <pc:docMk/>
              <pc:sldMasterMk cId="2038884804" sldId="2147483662"/>
              <pc:sldLayoutMk cId="368767855" sldId="2147483663"/>
              <ac:spMk id="3" creationId="{632794FB-C7EC-52E2-E5CC-9239F0172DA3}"/>
            </ac:spMkLst>
          </pc:spChg>
        </pc:sldLayoutChg>
        <pc:sldLayoutChg chg="modSp">
          <pc:chgData name="A Lamagna" userId="51ffa61b-81bf-4463-bdeb-7e3f3f1f8945" providerId="ADAL" clId="{DED169C2-C392-6D41-B8E4-3B37B1EC76BC}" dt="2023-10-02T15:57:54.544" v="51"/>
          <pc:sldLayoutMkLst>
            <pc:docMk/>
            <pc:sldMasterMk cId="2038884804" sldId="2147483662"/>
            <pc:sldLayoutMk cId="2621657312" sldId="2147483665"/>
          </pc:sldLayoutMkLst>
          <pc:spChg chg="mod">
            <ac:chgData name="A Lamagna" userId="51ffa61b-81bf-4463-bdeb-7e3f3f1f8945" providerId="ADAL" clId="{DED169C2-C392-6D41-B8E4-3B37B1EC76BC}" dt="2023-10-02T15:57:54.544" v="51"/>
            <ac:spMkLst>
              <pc:docMk/>
              <pc:sldMasterMk cId="2038884804" sldId="2147483662"/>
              <pc:sldLayoutMk cId="2621657312" sldId="2147483665"/>
              <ac:spMk id="2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02/10/2023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Last modified: 5</a:t>
            </a:r>
            <a:r>
              <a:rPr lang="en-GB" baseline="30000"/>
              <a:t>th</a:t>
            </a:r>
            <a:r>
              <a:rPr lang="en-GB"/>
              <a:t> November 2019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75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11238495" y="188640"/>
            <a:ext cx="864096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6876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0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6"/>
            <a:ext cx="12192000" cy="691200"/>
          </a:xfrm>
          <a:solidFill>
            <a:srgbClr val="23305E"/>
          </a:solidFill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65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20688"/>
            <a:ext cx="109728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88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93989"/>
            <a:ext cx="9036496" cy="1470025"/>
          </a:xfrm>
        </p:spPr>
        <p:txBody>
          <a:bodyPr/>
          <a:lstStyle/>
          <a:p>
            <a:r>
              <a:rPr lang="en-GB" b="1" dirty="0">
                <a:solidFill>
                  <a:srgbClr val="FFFF00"/>
                </a:solidFill>
              </a:rPr>
              <a:t>Pure Y1 Ch 7</a:t>
            </a:r>
            <a:br>
              <a:rPr lang="en-GB" b="1" dirty="0">
                <a:solidFill>
                  <a:srgbClr val="FFFF00"/>
                </a:solidFill>
              </a:rPr>
            </a:br>
            <a:r>
              <a:rPr lang="en-GB" b="1" dirty="0">
                <a:solidFill>
                  <a:srgbClr val="FFFF00"/>
                </a:solidFill>
              </a:rPr>
              <a:t>Algebraic Methods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208000" y="1196752"/>
                <a:ext cx="7776000" cy="4987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GB" dirty="0"/>
                  <a:t>Simplify: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  <a:ea typeface="Cambria Math"/>
                      </a:rPr>
                      <m:t>×5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GB" dirty="0">
                    <a:ea typeface="Cambria Math"/>
                  </a:rPr>
                  <a:t>		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5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i="1">
                            <a:latin typeface="Cambria Math"/>
                          </a:rPr>
                          <m:t>15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GB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GB" dirty="0">
                  <a:ea typeface="Cambria Math"/>
                </a:endParaRPr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Factorise: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−2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−24</m:t>
                    </m:r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−17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+20</m:t>
                    </m:r>
                  </m:oMath>
                </a14:m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Use long division to calculate: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197,041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÷23</m:t>
                    </m:r>
                  </m:oMath>
                </a14:m>
                <a:r>
                  <a:rPr lang="en-GB" dirty="0">
                    <a:ea typeface="Cambria Math"/>
                  </a:rPr>
                  <a:t>			b)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56,168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÷34</m:t>
                    </m:r>
                  </m:oMath>
                </a14:m>
                <a:endParaRPr lang="en-GB" dirty="0">
                  <a:ea typeface="Cambria Math"/>
                </a:endParaRPr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Find the equations of the lines that pass through these pairs of points: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(−1,4)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5,−14</m:t>
                        </m:r>
                      </m:e>
                    </m:d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(2,−6)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8,−3</m:t>
                        </m:r>
                      </m:e>
                    </m:d>
                  </m:oMath>
                </a14:m>
                <a:endParaRPr lang="en-GB" dirty="0"/>
              </a:p>
              <a:p>
                <a:pPr marL="800100" lvl="1" indent="-342900">
                  <a:buAutoNum type="alphaL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Complete the square for the expressions: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−2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−20</m:t>
                    </m:r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+4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  <m:r>
                      <a:rPr lang="en-GB" i="1">
                        <a:latin typeface="Cambria Math"/>
                      </a:rPr>
                      <m:t>+15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000" y="1196752"/>
                <a:ext cx="7776000" cy="4987134"/>
              </a:xfrm>
              <a:prstGeom prst="rect">
                <a:avLst/>
              </a:prstGeom>
              <a:blipFill>
                <a:blip r:embed="rId2"/>
                <a:stretch>
                  <a:fillRect l="-651" t="-509" b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4709"/>
            <a:ext cx="12192000" cy="584775"/>
          </a:xfrm>
          <a:solidFill>
            <a:srgbClr val="17375E">
              <a:alpha val="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324000" tIns="45720" rIns="91440" bIns="45720" rtlCol="0" anchor="ctr">
            <a:spAutoFit/>
          </a:bodyPr>
          <a:lstStyle/>
          <a:p>
            <a:pPr algn="l"/>
            <a:r>
              <a:rPr lang="en-GB" sz="3200" dirty="0">
                <a:solidFill>
                  <a:schemeClr val="lt1"/>
                </a:solidFill>
              </a:rPr>
              <a:t>Algebraic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8016" y="692696"/>
            <a:ext cx="442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u="sng" dirty="0"/>
              <a:t>Starter - Answers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208000" y="1268760"/>
                <a:ext cx="7776000" cy="5040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15</m:t>
                    </m:r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den>
                    </m:f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−6</m:t>
                        </m:r>
                      </m:e>
                    </m:d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+4</m:t>
                        </m:r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−5</m:t>
                        </m:r>
                      </m:e>
                    </m:d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−4</m:t>
                        </m:r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8567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1652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=1−3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−7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−21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+13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000" y="1268760"/>
                <a:ext cx="7776000" cy="50400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50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47528" y="764704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chapter covers a number of algebraic techniques, but also algebraic ‘proofs’.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806841" y="1837430"/>
                <a:ext cx="2560968" cy="5241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−9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+9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841" y="1837430"/>
                <a:ext cx="2560968" cy="5241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828616" y="1446540"/>
            <a:ext cx="253919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Algebraic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063552" y="3471214"/>
                <a:ext cx="3024336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GB" dirty="0"/>
                  <a:t> is a factor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−9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find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3471214"/>
                <a:ext cx="3024336" cy="923330"/>
              </a:xfrm>
              <a:prstGeom prst="rect">
                <a:avLst/>
              </a:prstGeom>
              <a:blipFill>
                <a:blip r:embed="rId3"/>
                <a:stretch>
                  <a:fillRect b="-235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063552" y="3101882"/>
            <a:ext cx="302433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r>
              <a:rPr lang="en-GB" dirty="0"/>
              <a:t>: The Factor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8008" y="3831254"/>
            <a:ext cx="3096344" cy="92333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Prove that all square numbers are either a multiple of 4 or 1 more than a multiple of 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8008" y="3471214"/>
            <a:ext cx="309634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r>
              <a:rPr lang="en-GB" dirty="0"/>
              <a:t>: 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879977" y="1946392"/>
                <a:ext cx="326280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Divide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−17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7" y="1946392"/>
                <a:ext cx="3262802" cy="369332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879977" y="1586352"/>
            <a:ext cx="3262803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Dividing Polynomials</a:t>
            </a: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B3491EBC-2AC2-F8D4-6F6E-A25FC68913A0}"/>
              </a:ext>
            </a:extLst>
          </p:cNvPr>
          <p:cNvSpPr txBox="1"/>
          <p:nvPr/>
        </p:nvSpPr>
        <p:spPr>
          <a:xfrm>
            <a:off x="1524000" y="1"/>
            <a:ext cx="9142856" cy="599127"/>
          </a:xfrm>
          <a:prstGeom prst="rect">
            <a:avLst/>
          </a:prstGeom>
          <a:solidFill>
            <a:srgbClr val="17375E">
              <a:alpha val="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32400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/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Chapter Overview</a:t>
            </a:r>
          </a:p>
        </p:txBody>
      </p:sp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Simplifying Algebraic Fractions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286836" y="797555"/>
            <a:ext cx="7272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Recall that you can simplify fractions by </a:t>
            </a:r>
            <a:r>
              <a:rPr lang="en-GB" sz="2000" b="1" dirty="0"/>
              <a:t>dividing</a:t>
            </a:r>
            <a:r>
              <a:rPr lang="en-GB" sz="2000" dirty="0"/>
              <a:t> the numerator and denominator by a </a:t>
            </a:r>
            <a:r>
              <a:rPr lang="en-GB" sz="2000" b="1" dirty="0"/>
              <a:t>common factor</a:t>
            </a:r>
            <a:r>
              <a:rPr lang="en-GB" sz="20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233673" y="1788728"/>
                <a:ext cx="5537356" cy="1017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673" y="1788728"/>
                <a:ext cx="5537356" cy="1017843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718455" y="1268246"/>
            <a:ext cx="2665174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Hint</a:t>
            </a:r>
            <a:r>
              <a:rPr lang="en-GB" sz="1400" dirty="0"/>
              <a:t>: To identify common factors we need to factorise first.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967331" y="1757329"/>
            <a:ext cx="701675" cy="316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362317" y="3135681"/>
                <a:ext cx="6913357" cy="96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317" y="3135681"/>
                <a:ext cx="6913357" cy="964110"/>
              </a:xfrm>
              <a:prstGeom prst="rect">
                <a:avLst/>
              </a:prstGeom>
              <a:blipFill>
                <a:blip r:embed="rId3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8112224" y="3038094"/>
            <a:ext cx="2352360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Note</a:t>
            </a:r>
            <a:r>
              <a:rPr lang="en-GB" sz="1400" dirty="0"/>
              <a:t>: Do not leave 1 in the denominator!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681293" y="4577830"/>
                <a:ext cx="7321132" cy="1033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+11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+12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+9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+20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293" y="4577830"/>
                <a:ext cx="7321132" cy="103336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949465" y="4093983"/>
            <a:ext cx="367247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</a:t>
            </a:r>
            <a:r>
              <a:rPr lang="en-GB" sz="1400" dirty="0"/>
              <a:t>: Factorise the easier one first because it provides clues to the factorisation of the other.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564260" y="5719824"/>
                <a:ext cx="7321132" cy="1033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4−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−8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800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260" y="5719824"/>
                <a:ext cx="7321132" cy="1033360"/>
              </a:xfrm>
              <a:prstGeom prst="rect">
                <a:avLst/>
              </a:prstGeom>
              <a:blipFill>
                <a:blip r:embed="rId5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8853420" y="5845908"/>
                <a:ext cx="1558002" cy="40261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GB" sz="14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GB" sz="1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420" y="5845908"/>
                <a:ext cx="1558002" cy="402611"/>
              </a:xfrm>
              <a:prstGeom prst="rect">
                <a:avLst/>
              </a:prstGeom>
              <a:blipFill>
                <a:blip r:embed="rId6"/>
                <a:stretch>
                  <a:fillRect l="-800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902003" y="1790327"/>
            <a:ext cx="36293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41637" y="3182817"/>
            <a:ext cx="36293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2368" y="4608665"/>
            <a:ext cx="41518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7808" y="5787621"/>
            <a:ext cx="4151892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203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7A – Y1 Pages 138-139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D913C8B-6B9E-C4EB-BAA1-6EF01BFB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714844"/>
            <a:ext cx="3816424" cy="304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CB120-5268-5EF7-A309-8CB8A8BE9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019809"/>
            <a:ext cx="7772400" cy="616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13BBD-1581-C5BA-C824-8EF77790A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179" y="1666252"/>
            <a:ext cx="2411760" cy="1109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F14E68-29AD-571C-2161-4738C0512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1700808"/>
            <a:ext cx="2411760" cy="11098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E27328-5BB9-A4F9-415E-82B7E0D3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6200" y="1700808"/>
            <a:ext cx="2411760" cy="11098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18E66F1-3BED-5407-932A-A6CEFA40DCB3}"/>
              </a:ext>
            </a:extLst>
          </p:cNvPr>
          <p:cNvSpPr/>
          <p:nvPr/>
        </p:nvSpPr>
        <p:spPr>
          <a:xfrm>
            <a:off x="1775063" y="1700786"/>
            <a:ext cx="2358419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m?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50291A-6B1D-F96C-474D-D9DC9E634A5F}"/>
              </a:ext>
            </a:extLst>
          </p:cNvPr>
          <p:cNvSpPr/>
          <p:nvPr/>
        </p:nvSpPr>
        <p:spPr>
          <a:xfrm>
            <a:off x="4827905" y="1700786"/>
            <a:ext cx="2358419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n?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5A50F9-165A-3723-EAA3-41EAF45FD0D2}"/>
              </a:ext>
            </a:extLst>
          </p:cNvPr>
          <p:cNvSpPr/>
          <p:nvPr/>
        </p:nvSpPr>
        <p:spPr>
          <a:xfrm>
            <a:off x="7915608" y="1700786"/>
            <a:ext cx="2358419" cy="98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o?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5CB189-4CE3-C3A9-5BBD-6C1DC1740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062" y="3053196"/>
            <a:ext cx="5709778" cy="9847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3C3119-CE8C-EC18-144E-4AE12BF94D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7967" y="4192774"/>
            <a:ext cx="3143498" cy="5742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2581CE-AD23-C6BD-9946-E381893F52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5736" y="4161851"/>
            <a:ext cx="3253730" cy="6360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E6164EA-9576-297B-8A64-18ADDF0C37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2071" y="5013177"/>
            <a:ext cx="2995290" cy="5846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465A84-10A3-A926-D901-9478E9E486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7362" y="4985610"/>
            <a:ext cx="1113533" cy="6583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4E5EBA-0758-B967-5504-F3DC2F6B40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3862" y="5872583"/>
            <a:ext cx="1699766" cy="27057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93C1D68-D3E8-B672-D5F4-E45398A0043D}"/>
              </a:ext>
            </a:extLst>
          </p:cNvPr>
          <p:cNvSpPr/>
          <p:nvPr/>
        </p:nvSpPr>
        <p:spPr>
          <a:xfrm>
            <a:off x="1775063" y="4143732"/>
            <a:ext cx="8498964" cy="2126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2673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Terminology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55640" y="1988841"/>
                <a:ext cx="684076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i="1">
                          <a:latin typeface="Cambria Math"/>
                        </a:rPr>
                        <m:t>11÷4=2 </m:t>
                      </m:r>
                      <m:r>
                        <a:rPr lang="en-GB" sz="6000" i="1">
                          <a:latin typeface="Cambria Math"/>
                        </a:rPr>
                        <m:t>𝑟𝑒𝑚</m:t>
                      </m:r>
                      <m:r>
                        <a:rPr lang="en-GB" sz="6000" i="1">
                          <a:latin typeface="Cambria Math"/>
                        </a:rPr>
                        <m:t> 3</m:t>
                      </m:r>
                    </m:oMath>
                  </m:oMathPara>
                </a14:m>
                <a:endParaRPr lang="en-GB" sz="6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1988841"/>
                <a:ext cx="6840760" cy="1015663"/>
              </a:xfrm>
              <a:prstGeom prst="rect">
                <a:avLst/>
              </a:prstGeom>
              <a:blipFill>
                <a:blip r:embed="rId2"/>
                <a:stretch>
                  <a:fillRect t="-2469" b="-28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5560" y="3861048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dividend</a:t>
            </a:r>
          </a:p>
          <a:p>
            <a:pPr algn="ctr"/>
            <a:r>
              <a:rPr lang="en-GB" sz="1600" dirty="0"/>
              <a:t>(the thing we’re dividing)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3812" y="4197226"/>
            <a:ext cx="1872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divisor</a:t>
            </a:r>
          </a:p>
          <a:p>
            <a:pPr algn="ctr"/>
            <a:r>
              <a:rPr lang="en-GB" sz="1600" dirty="0"/>
              <a:t>(the thing we’re dividing by)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8048" y="3904839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quotient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4232" y="4782002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remainder</a:t>
            </a:r>
          </a:p>
        </p:txBody>
      </p:sp>
      <p:cxnSp>
        <p:nvCxnSpPr>
          <p:cNvPr id="11" name="Straight Arrow Connector 10"/>
          <p:cNvCxnSpPr>
            <a:stCxn id="6" idx="0"/>
          </p:cNvCxnSpPr>
          <p:nvPr/>
        </p:nvCxnSpPr>
        <p:spPr>
          <a:xfrm flipV="1">
            <a:off x="3071664" y="2924944"/>
            <a:ext cx="720080" cy="936104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0"/>
          </p:cNvCxnSpPr>
          <p:nvPr/>
        </p:nvCxnSpPr>
        <p:spPr>
          <a:xfrm flipV="1">
            <a:off x="5339916" y="2924944"/>
            <a:ext cx="0" cy="1272282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888088" y="2924944"/>
            <a:ext cx="576064" cy="979894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8940316" y="2924944"/>
            <a:ext cx="288032" cy="1892852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35560" y="3853502"/>
            <a:ext cx="1825882" cy="10158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487" y="4258780"/>
            <a:ext cx="1838243" cy="1015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2014" y="3984159"/>
            <a:ext cx="18382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9227" y="4817797"/>
            <a:ext cx="183824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901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2547892" y="2132911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4348092" y="1484839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348092" y="1484839"/>
            <a:ext cx="41044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84076" y="1393377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4 2 3 . 0  0  0  0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8864" y="1403658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4156" y="675554"/>
            <a:ext cx="50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3518" y="1988896"/>
            <a:ext cx="1212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3 3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600120" y="2781038"/>
            <a:ext cx="7560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84076" y="2781039"/>
            <a:ext cx="159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   9 3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6204" y="665242"/>
            <a:ext cx="1108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8 .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3518" y="3501064"/>
            <a:ext cx="159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   8 8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958446" y="4332060"/>
            <a:ext cx="7560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56204" y="4332061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5   0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958446" y="1988896"/>
            <a:ext cx="5170002" cy="1807805"/>
            <a:chOff x="3434446" y="1988895"/>
            <a:chExt cx="5170002" cy="1807805"/>
          </a:xfrm>
        </p:grpSpPr>
        <p:sp>
          <p:nvSpPr>
            <p:cNvPr id="22" name="TextBox 21"/>
            <p:cNvSpPr txBox="1"/>
            <p:nvPr/>
          </p:nvSpPr>
          <p:spPr>
            <a:xfrm>
              <a:off x="5560396" y="2596371"/>
              <a:ext cx="3044052" cy="120032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23315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1. </a:t>
              </a:r>
              <a:r>
                <a:rPr lang="en-GB" b="0" dirty="0"/>
                <a:t>We found how many whole number of times (i.e. the quotient) the divisor went into the dividend.</a:t>
              </a:r>
            </a:p>
          </p:txBody>
        </p:sp>
        <p:cxnSp>
          <p:nvCxnSpPr>
            <p:cNvPr id="24" name="Straight Arrow Connector 23"/>
            <p:cNvCxnSpPr>
              <a:stCxn id="22" idx="1"/>
            </p:cNvCxnSpPr>
            <p:nvPr/>
          </p:nvCxnSpPr>
          <p:spPr>
            <a:xfrm flipH="1" flipV="1">
              <a:off x="3434446" y="1988895"/>
              <a:ext cx="2125950" cy="1207641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519937" y="2708921"/>
            <a:ext cx="4731147" cy="2341587"/>
            <a:chOff x="3873301" y="901115"/>
            <a:chExt cx="4731147" cy="2341587"/>
          </a:xfrm>
        </p:grpSpPr>
        <p:sp>
          <p:nvSpPr>
            <p:cNvPr id="28" name="TextBox 27"/>
            <p:cNvSpPr txBox="1"/>
            <p:nvPr/>
          </p:nvSpPr>
          <p:spPr>
            <a:xfrm>
              <a:off x="5560396" y="2596371"/>
              <a:ext cx="3044052" cy="6463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23315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2. </a:t>
              </a:r>
              <a:r>
                <a:rPr lang="en-GB" b="0" dirty="0"/>
                <a:t>We multiplied the quotient by the dividend.</a:t>
              </a:r>
            </a:p>
          </p:txBody>
        </p:sp>
        <p:cxnSp>
          <p:nvCxnSpPr>
            <p:cNvPr id="29" name="Straight Arrow Connector 28"/>
            <p:cNvCxnSpPr>
              <a:stCxn id="28" idx="1"/>
            </p:cNvCxnSpPr>
            <p:nvPr/>
          </p:nvCxnSpPr>
          <p:spPr>
            <a:xfrm flipH="1" flipV="1">
              <a:off x="3873301" y="901115"/>
              <a:ext cx="1687095" cy="2018422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1872096" y="3231808"/>
            <a:ext cx="3044052" cy="2621534"/>
            <a:chOff x="5560396" y="621168"/>
            <a:chExt cx="3044052" cy="2621534"/>
          </a:xfrm>
        </p:grpSpPr>
        <p:sp>
          <p:nvSpPr>
            <p:cNvPr id="32" name="TextBox 31"/>
            <p:cNvSpPr txBox="1"/>
            <p:nvPr/>
          </p:nvSpPr>
          <p:spPr>
            <a:xfrm>
              <a:off x="5560396" y="2596371"/>
              <a:ext cx="3044052" cy="6463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23315E"/>
                  </a:solidFill>
                </a:rPr>
                <a:t>3. </a:t>
              </a:r>
              <a:r>
                <a:rPr lang="en-GB" dirty="0">
                  <a:solidFill>
                    <a:srgbClr val="23315E"/>
                  </a:solidFill>
                </a:rPr>
                <a:t>…in order to find the remainder.</a:t>
              </a:r>
            </a:p>
          </p:txBody>
        </p:sp>
        <p:cxnSp>
          <p:nvCxnSpPr>
            <p:cNvPr id="33" name="Straight Arrow Connector 32"/>
            <p:cNvCxnSpPr>
              <a:stCxn id="32" idx="0"/>
            </p:cNvCxnSpPr>
            <p:nvPr/>
          </p:nvCxnSpPr>
          <p:spPr>
            <a:xfrm flipV="1">
              <a:off x="7082422" y="621168"/>
              <a:ext cx="1522026" cy="1975203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5138729" y="3501064"/>
            <a:ext cx="3044052" cy="3169115"/>
            <a:chOff x="5560396" y="73587"/>
            <a:chExt cx="3044052" cy="3169115"/>
          </a:xfrm>
        </p:grpSpPr>
        <p:sp>
          <p:nvSpPr>
            <p:cNvPr id="38" name="TextBox 37"/>
            <p:cNvSpPr txBox="1"/>
            <p:nvPr/>
          </p:nvSpPr>
          <p:spPr>
            <a:xfrm>
              <a:off x="5560396" y="2596371"/>
              <a:ext cx="3044052" cy="6463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23315E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4. </a:t>
              </a:r>
              <a:r>
                <a:rPr lang="en-GB" b="0" dirty="0"/>
                <a:t>Find we ‘brought down’ the next number.</a:t>
              </a:r>
            </a:p>
          </p:txBody>
        </p:sp>
        <p:cxnSp>
          <p:nvCxnSpPr>
            <p:cNvPr id="39" name="Straight Arrow Connector 38"/>
            <p:cNvCxnSpPr>
              <a:stCxn id="38" idx="0"/>
            </p:cNvCxnSpPr>
            <p:nvPr/>
          </p:nvCxnSpPr>
          <p:spPr>
            <a:xfrm flipH="1" flipV="1">
              <a:off x="6137911" y="73587"/>
              <a:ext cx="944511" cy="2522784"/>
            </a:xfrm>
            <a:prstGeom prst="straightConnector1">
              <a:avLst/>
            </a:prstGeom>
            <a:ln>
              <a:solidFill>
                <a:schemeClr val="tx2">
                  <a:lumMod val="20000"/>
                  <a:lumOff val="80000"/>
                </a:schemeClr>
              </a:solidFill>
              <a:tailEnd type="arrow"/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Normal Long Division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22096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8" grpId="0"/>
      <p:bldP spid="19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545412" y="2092629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345612" y="1444557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345612" y="1444557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09144" y="1363375"/>
                <a:ext cx="16353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+ 5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144" y="1363375"/>
                <a:ext cx="1635352" cy="707886"/>
              </a:xfrm>
              <a:prstGeom prst="rect">
                <a:avLst/>
              </a:prstGeom>
              <a:blipFill>
                <a:blip r:embed="rId2"/>
                <a:stretch>
                  <a:fillRect l="-2308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11824" y="1363374"/>
                <a:ext cx="55643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6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3</a:t>
                </a:r>
                <a:r>
                  <a:rPr lang="en-GB" sz="4000" dirty="0"/>
                  <a:t> + 28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r>
                  <a:rPr lang="en-GB" sz="4000" dirty="0"/>
                  <a:t> – 7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+ 15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363374"/>
                <a:ext cx="5564332" cy="707886"/>
              </a:xfrm>
              <a:prstGeom prst="rect">
                <a:avLst/>
              </a:prstGeom>
              <a:blipFill>
                <a:blip r:embed="rId3"/>
                <a:stretch>
                  <a:fillRect l="-3872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511824" y="613560"/>
                <a:ext cx="114964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6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endParaRPr lang="en-GB" sz="4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613560"/>
                <a:ext cx="1149648" cy="707886"/>
              </a:xfrm>
              <a:prstGeom prst="rect">
                <a:avLst/>
              </a:prstGeom>
              <a:blipFill>
                <a:blip r:embed="rId4"/>
                <a:stretch>
                  <a:fillRect l="-18681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519835" y="2194371"/>
                <a:ext cx="284803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6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3</a:t>
                </a:r>
                <a:r>
                  <a:rPr lang="en-GB" sz="4000" dirty="0"/>
                  <a:t> + 30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endParaRPr lang="en-GB" sz="4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835" y="2194371"/>
                <a:ext cx="2848030" cy="707886"/>
              </a:xfrm>
              <a:prstGeom prst="rect">
                <a:avLst/>
              </a:prstGeom>
              <a:blipFill>
                <a:blip r:embed="rId5"/>
                <a:stretch>
                  <a:fillRect l="-7522" t="-1228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4511824" y="3025368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517456" y="3025368"/>
                <a:ext cx="30963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–   2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</a:t>
                </a:r>
                <a:r>
                  <a:rPr lang="en-GB" sz="4000" dirty="0"/>
                  <a:t> – 7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456" y="3025368"/>
                <a:ext cx="3096344" cy="707886"/>
              </a:xfrm>
              <a:prstGeom prst="rect">
                <a:avLst/>
              </a:prstGeom>
              <a:blipFill>
                <a:blip r:embed="rId6"/>
                <a:stretch>
                  <a:fillRect l="-6939" t="-14286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517456" y="613560"/>
                <a:ext cx="16561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-    2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0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456" y="613560"/>
                <a:ext cx="1656184" cy="707886"/>
              </a:xfrm>
              <a:prstGeom prst="rect">
                <a:avLst/>
              </a:prstGeom>
              <a:blipFill>
                <a:blip r:embed="rId7"/>
                <a:stretch>
                  <a:fillRect l="-12977" t="-14035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00812" y="3856365"/>
                <a:ext cx="33290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–   2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baseline="30000" dirty="0"/>
                  <a:t>2 </a:t>
                </a:r>
                <a:r>
                  <a:rPr lang="en-GB" sz="4000" dirty="0"/>
                  <a:t>– 10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812" y="3856365"/>
                <a:ext cx="3329012" cy="707886"/>
              </a:xfrm>
              <a:prstGeom prst="rect">
                <a:avLst/>
              </a:prstGeom>
              <a:blipFill>
                <a:blip r:embed="rId8"/>
                <a:stretch>
                  <a:fillRect l="-6061" t="-1228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517456" y="4679612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749704" y="2194372"/>
            <a:ext cx="0" cy="83099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605688" y="4687362"/>
                <a:ext cx="22289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3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 + 15 </a:t>
                </a: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88" y="4687362"/>
                <a:ext cx="2228931" cy="707886"/>
              </a:xfrm>
              <a:prstGeom prst="rect">
                <a:avLst/>
              </a:prstGeom>
              <a:blipFill>
                <a:blip r:embed="rId9"/>
                <a:stretch>
                  <a:fillRect l="-10227" t="-14286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7269830" y="619702"/>
            <a:ext cx="13439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+ 3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9045848" y="2194372"/>
            <a:ext cx="0" cy="249299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605688" y="5404942"/>
                <a:ext cx="223956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000" dirty="0"/>
                  <a:t>3</a:t>
                </a:r>
                <a14:m>
                  <m:oMath xmlns:m="http://schemas.openxmlformats.org/officeDocument/2006/math">
                    <m:r>
                      <a:rPr lang="en-GB" sz="4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000" dirty="0"/>
                  <a:t>  + 15 </a:t>
                </a: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88" y="5404942"/>
                <a:ext cx="2239563" cy="707886"/>
              </a:xfrm>
              <a:prstGeom prst="rect">
                <a:avLst/>
              </a:prstGeom>
              <a:blipFill>
                <a:blip r:embed="rId10"/>
                <a:stretch>
                  <a:fillRect l="-10169" t="-1228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7631460" y="6193333"/>
            <a:ext cx="2087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71600" y="6235899"/>
            <a:ext cx="597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769013" y="3368021"/>
                <a:ext cx="3067248" cy="1600438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Tip:</a:t>
                </a:r>
              </a:p>
              <a:p>
                <a:r>
                  <a:rPr lang="en-GB" sz="1400" dirty="0"/>
                  <a:t>You can check your solution by expanding: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But if you know you should get no remainder, ending with 0 at the bottom is a good sign!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013" y="3368021"/>
                <a:ext cx="3067248" cy="16004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544688" y="771157"/>
                <a:ext cx="38296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How many times does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go into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400" dirty="0"/>
                  <a:t>?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688" y="771157"/>
                <a:ext cx="3829698" cy="307777"/>
              </a:xfrm>
              <a:prstGeom prst="rect">
                <a:avLst/>
              </a:prstGeom>
              <a:blipFill>
                <a:blip r:embed="rId12"/>
                <a:stretch>
                  <a:fillRect l="-33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3393604" y="1081391"/>
            <a:ext cx="975150" cy="14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670552" y="2402036"/>
                <a:ext cx="26099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Multiply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 by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+5)</m:t>
                    </m:r>
                  </m:oMath>
                </a14:m>
                <a:r>
                  <a:rPr lang="en-GB" sz="1400" dirty="0"/>
                  <a:t>. The first term should match with above.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552" y="2402036"/>
                <a:ext cx="2609991" cy="523220"/>
              </a:xfrm>
              <a:prstGeom prst="rect">
                <a:avLst/>
              </a:prstGeom>
              <a:blipFill>
                <a:blip r:embed="rId13"/>
                <a:stretch>
                  <a:fillRect l="-485" t="-2381" r="-1942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062827" y="2487639"/>
            <a:ext cx="464458" cy="2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16235" y="2097347"/>
            <a:ext cx="1296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Subtract and carry down next term.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8228881" y="2674421"/>
            <a:ext cx="1352088" cy="420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1905642" y="5665315"/>
                <a:ext cx="3468914" cy="738664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Tip:</a:t>
                </a:r>
              </a:p>
              <a:p>
                <a:r>
                  <a:rPr lang="en-GB" sz="1400" dirty="0"/>
                  <a:t>Be </a:t>
                </a:r>
                <a:r>
                  <a:rPr lang="en-GB" sz="1400" b="1" u="sng" dirty="0"/>
                  <a:t>very</a:t>
                </a:r>
                <a:r>
                  <a:rPr lang="en-GB" sz="1400" dirty="0"/>
                  <a:t> careful subtracting negatives.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4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642" y="5665315"/>
                <a:ext cx="3468914" cy="7386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7956825" y="577368"/>
                <a:ext cx="28274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Now repeat! How many times does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go into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825" y="577368"/>
                <a:ext cx="2827450" cy="646331"/>
              </a:xfrm>
              <a:prstGeom prst="rect">
                <a:avLst/>
              </a:prstGeom>
              <a:blipFill>
                <a:blip r:embed="rId15"/>
                <a:stretch>
                  <a:fillRect l="-178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6770211" y="6224737"/>
            <a:ext cx="129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This is the remainder.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8016156" y="6520798"/>
            <a:ext cx="952500" cy="20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D1B8FD-8C21-384A-280A-BE1974587F06}"/>
              </a:ext>
            </a:extLst>
          </p:cNvPr>
          <p:cNvSpPr txBox="1"/>
          <p:nvPr/>
        </p:nvSpPr>
        <p:spPr>
          <a:xfrm>
            <a:off x="3846479" y="3511844"/>
            <a:ext cx="464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Fractions</a:t>
            </a:r>
            <a:endParaRPr lang="en-US" dirty="0"/>
          </a:p>
        </p:txBody>
      </p:sp>
      <p:sp>
        <p:nvSpPr>
          <p:cNvPr id="29" name="TextBox 32">
            <a:extLst>
              <a:ext uri="{FF2B5EF4-FFF2-40B4-BE49-F238E27FC236}">
                <a16:creationId xmlns:a16="http://schemas.microsoft.com/office/drawing/2014/main" id="{EF5349B5-2B3C-9197-47D8-81A3160511E7}"/>
              </a:ext>
            </a:extLst>
          </p:cNvPr>
          <p:cNvSpPr txBox="1"/>
          <p:nvPr/>
        </p:nvSpPr>
        <p:spPr>
          <a:xfrm>
            <a:off x="1524000" y="1"/>
            <a:ext cx="9142856" cy="599127"/>
          </a:xfrm>
          <a:prstGeom prst="rect">
            <a:avLst/>
          </a:prstGeom>
          <a:solidFill>
            <a:srgbClr val="17375E">
              <a:alpha val="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24000" rtlCol="0">
            <a:spAutoFit/>
          </a:bodyPr>
          <a:lstStyle>
            <a:defPPr>
              <a:defRPr lang="en-US"/>
            </a:defPPr>
            <a:lvl1pPr>
              <a:defRPr sz="3200"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97615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2295604" y="2963835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095804" y="2315763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095804" y="2315763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92401" y="2191221"/>
                <a:ext cx="16353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dirty="0"/>
                  <a:t> - 1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01" y="2191221"/>
                <a:ext cx="1635352" cy="830997"/>
              </a:xfrm>
              <a:prstGeom prst="rect">
                <a:avLst/>
              </a:prstGeom>
              <a:blipFill>
                <a:blip r:embed="rId2"/>
                <a:stretch>
                  <a:fillRect l="-3846" t="-16418" b="-37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262016" y="2234581"/>
                <a:ext cx="55643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3</a:t>
                </a:r>
                <a:r>
                  <a:rPr lang="en-GB" sz="4800" dirty="0"/>
                  <a:t>  +   0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2</a:t>
                </a:r>
                <a:r>
                  <a:rPr lang="en-GB" sz="4800" dirty="0"/>
                  <a:t> – 2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dirty="0"/>
                  <a:t>  + 4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16" y="2234581"/>
                <a:ext cx="5564332" cy="830997"/>
              </a:xfrm>
              <a:prstGeom prst="rect">
                <a:avLst/>
              </a:prstGeom>
              <a:blipFill>
                <a:blip r:embed="rId3"/>
                <a:stretch>
                  <a:fillRect l="-5011" t="-18182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262016" y="1484767"/>
                <a:ext cx="11496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2</a:t>
                </a:r>
                <a:endParaRPr lang="en-GB" sz="4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16" y="1484767"/>
                <a:ext cx="1149648" cy="830997"/>
              </a:xfrm>
              <a:prstGeom prst="rect">
                <a:avLst/>
              </a:prstGeom>
              <a:blipFill>
                <a:blip r:embed="rId4"/>
                <a:stretch>
                  <a:fillRect l="-23913" t="-18182" r="-3261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257328" y="2786178"/>
                <a:ext cx="29502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3</a:t>
                </a:r>
                <a:r>
                  <a:rPr lang="en-GB" sz="4800" dirty="0"/>
                  <a:t> –    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4800" baseline="30000" dirty="0"/>
                  <a:t>2</a:t>
                </a:r>
                <a:endParaRPr lang="en-GB" sz="48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328" y="2786178"/>
                <a:ext cx="2950220" cy="830997"/>
              </a:xfrm>
              <a:prstGeom prst="rect">
                <a:avLst/>
              </a:prstGeom>
              <a:blipFill>
                <a:blip r:embed="rId5"/>
                <a:stretch>
                  <a:fillRect l="-9871" t="-16667" r="-3433" b="-3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4262016" y="3553674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127948" y="3604475"/>
                <a:ext cx="37595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948" y="3604475"/>
                <a:ext cx="3759596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67648" y="1484767"/>
                <a:ext cx="1851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+   3</a:t>
                </a:r>
                <a14:m>
                  <m:oMath xmlns:m="http://schemas.openxmlformats.org/officeDocument/2006/math">
                    <m:r>
                      <a:rPr lang="en-GB" sz="4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648" y="1484767"/>
                <a:ext cx="1851000" cy="830997"/>
              </a:xfrm>
              <a:prstGeom prst="rect">
                <a:avLst/>
              </a:prstGeom>
              <a:blipFill>
                <a:blip r:embed="rId7"/>
                <a:stretch>
                  <a:fillRect l="-7483" t="-18182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857032" y="4125592"/>
                <a:ext cx="27112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032" y="4125592"/>
                <a:ext cx="2711276" cy="830997"/>
              </a:xfrm>
              <a:prstGeom prst="rect">
                <a:avLst/>
              </a:prstGeom>
              <a:blipFill>
                <a:blip r:embed="rId8"/>
                <a:stretch>
                  <a:fillRect l="-1869" r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6026548" y="4872638"/>
            <a:ext cx="24260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14196" y="2963978"/>
            <a:ext cx="0" cy="83099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966859" y="1490909"/>
                <a:ext cx="13439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59" y="1490909"/>
                <a:ext cx="1343970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>
            <a:off x="9006840" y="3014636"/>
            <a:ext cx="19314" cy="179358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756230" y="753256"/>
                <a:ext cx="814269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the remainder when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2400" dirty="0"/>
                  <a:t> is divided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30" y="753256"/>
                <a:ext cx="8142691" cy="461665"/>
              </a:xfrm>
              <a:prstGeom prst="rect">
                <a:avLst/>
              </a:prstGeom>
              <a:blipFill>
                <a:blip r:embed="rId10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014188" y="5180772"/>
            <a:ext cx="4012361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Ensure that any missing terms in the polynomial are filled in, so that the powers decrease by 1 each time.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218370" y="4790168"/>
                <a:ext cx="27112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370" y="4790168"/>
                <a:ext cx="2711276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225151" y="5310113"/>
                <a:ext cx="27112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151" y="5310113"/>
                <a:ext cx="2711276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 flipV="1">
            <a:off x="7881251" y="6054997"/>
            <a:ext cx="1368341" cy="22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8635413" y="6027981"/>
                <a:ext cx="89611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413" y="6027981"/>
                <a:ext cx="896118" cy="830997"/>
              </a:xfrm>
              <a:prstGeom prst="rect">
                <a:avLst/>
              </a:prstGeom>
              <a:blipFill>
                <a:blip r:embed="rId1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4648038" y="6246113"/>
            <a:ext cx="288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remainder is 5.</a:t>
            </a:r>
          </a:p>
        </p:txBody>
      </p:sp>
    </p:spTree>
    <p:extLst>
      <p:ext uri="{BB962C8B-B14F-4D97-AF65-F5344CB8AC3E}">
        <p14:creationId xmlns:p14="http://schemas.microsoft.com/office/powerpoint/2010/main" val="134509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2" grpId="0"/>
      <p:bldP spid="13" grpId="0"/>
      <p:bldP spid="14" grpId="0"/>
      <p:bldP spid="21" grpId="0"/>
      <p:bldP spid="25" grpId="0"/>
      <p:bldP spid="26" grpId="0"/>
      <p:bldP spid="28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blipFill>
                <a:blip r:embed="rId2"/>
                <a:stretch>
                  <a:fillRect r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/>
          <p:cNvCxnSpPr/>
          <p:nvPr/>
        </p:nvCxnSpPr>
        <p:spPr>
          <a:xfrm>
            <a:off x="2397813" y="2914247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4198013" y="2266175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198013" y="2266175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459945" y="2146894"/>
                <a:ext cx="16353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945" y="2146894"/>
                <a:ext cx="1635352" cy="830997"/>
              </a:xfrm>
              <a:prstGeom prst="rect">
                <a:avLst/>
              </a:prstGeom>
              <a:blipFill>
                <a:blip r:embed="rId3"/>
                <a:stretch>
                  <a:fillRect l="-1538" r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−16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blipFill>
                <a:blip r:embed="rId4"/>
                <a:stretch>
                  <a:fillRect l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64225" y="1435179"/>
                <a:ext cx="11496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5" y="1435179"/>
                <a:ext cx="1149648" cy="830997"/>
              </a:xfrm>
              <a:prstGeom prst="rect">
                <a:avLst/>
              </a:prstGeom>
              <a:blipFill>
                <a:blip r:embed="rId5"/>
                <a:stretch>
                  <a:fillRect l="-9783" r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−8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blipFill>
                <a:blip r:embed="rId6"/>
                <a:stretch>
                  <a:fillRect l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4402325" y="3516786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−16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413400" y="1420665"/>
                <a:ext cx="16561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400" y="1420665"/>
                <a:ext cx="1656184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938182" y="4799555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21142" y="2927090"/>
            <a:ext cx="5195" cy="57811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blipFill>
                <a:blip r:embed="rId9"/>
                <a:stretch>
                  <a:fillRect r="-3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001323" y="1441321"/>
                <a:ext cx="13439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323" y="1441321"/>
                <a:ext cx="1343970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>
            <a:off x="9439275" y="2977891"/>
            <a:ext cx="11424" cy="154648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blipFill>
                <a:blip r:embed="rId11"/>
                <a:stretch>
                  <a:fillRect r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7925998" y="6020216"/>
            <a:ext cx="2087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blipFill>
                <a:blip r:embed="rId12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28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756230" y="753256"/>
                <a:ext cx="8794813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the remainder when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−16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GB" sz="2400" dirty="0"/>
                  <a:t> is divided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30" y="753256"/>
                <a:ext cx="8794813" cy="461665"/>
              </a:xfrm>
              <a:prstGeom prst="rect">
                <a:avLst/>
              </a:prstGeom>
              <a:blipFill>
                <a:blip r:embed="rId13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648038" y="6246113"/>
            <a:ext cx="288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remainder is -6.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6229" y="1214920"/>
            <a:ext cx="8794814" cy="5492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314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756229" y="753256"/>
                <a:ext cx="8794814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Divide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 by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29" y="753256"/>
                <a:ext cx="8794814" cy="461665"/>
              </a:xfrm>
              <a:prstGeom prst="rect">
                <a:avLst/>
              </a:prstGeom>
              <a:blipFill>
                <a:blip r:embed="rId2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763" y="3998534"/>
                <a:ext cx="353678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2397813" y="2914247"/>
            <a:ext cx="1800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198013" y="2266175"/>
            <a:ext cx="0" cy="6480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198013" y="2266175"/>
            <a:ext cx="527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082801" y="2146894"/>
                <a:ext cx="20124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1" y="2146894"/>
                <a:ext cx="2012497" cy="830997"/>
              </a:xfrm>
              <a:prstGeom prst="rect">
                <a:avLst/>
              </a:prstGeom>
              <a:blipFill>
                <a:blip r:embed="rId4"/>
                <a:stretch>
                  <a:fillRect l="-3774" r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+0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4" y="2223093"/>
                <a:ext cx="6303776" cy="830997"/>
              </a:xfrm>
              <a:prstGeom prst="rect">
                <a:avLst/>
              </a:prstGeom>
              <a:blipFill>
                <a:blip r:embed="rId5"/>
                <a:stretch>
                  <a:fillRect l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364225" y="1435179"/>
                <a:ext cx="410803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  +1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225" y="1435179"/>
                <a:ext cx="4108039" cy="830997"/>
              </a:xfrm>
              <a:prstGeom prst="rect">
                <a:avLst/>
              </a:prstGeom>
              <a:blipFill>
                <a:blip r:embed="rId6"/>
                <a:stretch>
                  <a:fillRect l="-2769" t="-1493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8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563" y="2740879"/>
                <a:ext cx="2985587" cy="830997"/>
              </a:xfrm>
              <a:prstGeom prst="rect">
                <a:avLst/>
              </a:prstGeom>
              <a:blipFill>
                <a:blip r:embed="rId7"/>
                <a:stretch>
                  <a:fillRect l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4402325" y="3516786"/>
            <a:ext cx="26618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4800" dirty="0"/>
                  <a:t>    </a:t>
                </a:r>
                <a14:m>
                  <m:oMath xmlns:m="http://schemas.openxmlformats.org/officeDocument/2006/math">
                    <m:r>
                      <a:rPr lang="en-GB" sz="48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4800" i="1">
                        <a:latin typeface="Cambria Math" panose="02040503050406030204" pitchFamily="18" charset="0"/>
                      </a:rPr>
                      <m:t>+0</m:t>
                    </m:r>
                    <m:r>
                      <a:rPr lang="en-GB" sz="4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48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1" y="3450112"/>
                <a:ext cx="3710051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5938182" y="4799555"/>
            <a:ext cx="28803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21142" y="2927090"/>
            <a:ext cx="5195" cy="57811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88" y="4724756"/>
                <a:ext cx="2778487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>
            <a:off x="9439275" y="2977891"/>
            <a:ext cx="11424" cy="154648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349" y="5251024"/>
                <a:ext cx="2869512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7925998" y="6020216"/>
            <a:ext cx="2087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147" y="5925150"/>
                <a:ext cx="1004556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004052" y="5140319"/>
                <a:ext cx="4444273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 err="1"/>
                  <a:t>Fro</a:t>
                </a:r>
                <a:r>
                  <a:rPr lang="en-GB" b="1" dirty="0"/>
                  <a:t> Fun Fact</a:t>
                </a:r>
                <a:r>
                  <a:rPr lang="en-GB" dirty="0"/>
                  <a:t>: There is a well-known factorisation for the ‘</a:t>
                </a:r>
                <a:r>
                  <a:rPr lang="en-GB" i="1" dirty="0"/>
                  <a:t>difference of two cubes</a:t>
                </a:r>
                <a:r>
                  <a:rPr lang="en-GB" dirty="0"/>
                  <a:t>’: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This is </a:t>
                </a:r>
                <a:r>
                  <a:rPr lang="en-GB" u="sng" dirty="0"/>
                  <a:t>NOT</a:t>
                </a:r>
                <a:r>
                  <a:rPr lang="en-GB" dirty="0"/>
                  <a:t> in the A Level syllabus.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052" y="5140319"/>
                <a:ext cx="4444273" cy="1200329"/>
              </a:xfrm>
              <a:prstGeom prst="rect">
                <a:avLst/>
              </a:prstGeom>
              <a:blipFill>
                <a:blip r:embed="rId12"/>
                <a:stretch>
                  <a:fillRect l="-850" t="-1020" r="-283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1732363" y="1214920"/>
            <a:ext cx="8818680" cy="5382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640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49015A1-2F95-BC29-39AA-F2AA61CD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35655"/>
            <a:ext cx="4536504" cy="608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6EDD55-1120-6CF6-94BC-63CC0B8E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4" y="635655"/>
            <a:ext cx="2068536" cy="2289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D43ADF-B78F-2399-E21E-F202D9043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967" y="2780928"/>
            <a:ext cx="4540870" cy="1149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1550D-F635-0CC6-E294-B6CDE357C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60" y="4003899"/>
            <a:ext cx="2315335" cy="2736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D29DEF-E07D-6021-9121-37634342E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888" y="4003899"/>
            <a:ext cx="2542654" cy="25728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AF8817-DAAC-C3B3-58D6-AB95196125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200" y="5660084"/>
            <a:ext cx="2542654" cy="8475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B83229-FD9A-58DD-B09A-3663F7D86981}"/>
              </a:ext>
            </a:extLst>
          </p:cNvPr>
          <p:cNvSpPr/>
          <p:nvPr/>
        </p:nvSpPr>
        <p:spPr>
          <a:xfrm>
            <a:off x="7320136" y="672301"/>
            <a:ext cx="3118718" cy="22526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E91B31-F557-FAB9-A84E-8A840C21344B}"/>
              </a:ext>
            </a:extLst>
          </p:cNvPr>
          <p:cNvSpPr/>
          <p:nvPr/>
        </p:nvSpPr>
        <p:spPr>
          <a:xfrm>
            <a:off x="1896616" y="4003899"/>
            <a:ext cx="2925615" cy="26642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B15FBF-0BED-7622-3D22-06C48DAD168F}"/>
              </a:ext>
            </a:extLst>
          </p:cNvPr>
          <p:cNvSpPr/>
          <p:nvPr/>
        </p:nvSpPr>
        <p:spPr>
          <a:xfrm>
            <a:off x="4970586" y="4003899"/>
            <a:ext cx="5517903" cy="26642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54395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948E978-F738-BF05-955E-8C59A8349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08760"/>
            <a:ext cx="7772400" cy="1177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C9BBB-3D35-CD1B-65A8-83A90B9A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56" y="2036220"/>
            <a:ext cx="2088232" cy="2668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43423-3D16-68DF-52F0-8FD0AFE73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54" y="1942488"/>
            <a:ext cx="2205980" cy="2818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29AD3B-2FB1-87D1-FD40-10F7D3F3B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886" y="5157192"/>
            <a:ext cx="2592288" cy="1176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68E609-214D-CA05-F5EE-56FEA016474E}"/>
              </a:ext>
            </a:extLst>
          </p:cNvPr>
          <p:cNvSpPr/>
          <p:nvPr/>
        </p:nvSpPr>
        <p:spPr>
          <a:xfrm>
            <a:off x="1910223" y="1942488"/>
            <a:ext cx="2925615" cy="2818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a(</a:t>
            </a:r>
            <a:r>
              <a:rPr lang="en-GB" sz="2800" dirty="0" err="1"/>
              <a:t>i</a:t>
            </a:r>
            <a:r>
              <a:rPr lang="en-GB" sz="2800" dirty="0"/>
              <a:t>)?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45BF6A-55C4-477B-4B95-65D36BDF99A9}"/>
              </a:ext>
            </a:extLst>
          </p:cNvPr>
          <p:cNvSpPr/>
          <p:nvPr/>
        </p:nvSpPr>
        <p:spPr>
          <a:xfrm>
            <a:off x="1910223" y="4917329"/>
            <a:ext cx="6175288" cy="17508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068D8-0C7E-E8D5-E957-FE1BFCED7A12}"/>
              </a:ext>
            </a:extLst>
          </p:cNvPr>
          <p:cNvSpPr/>
          <p:nvPr/>
        </p:nvSpPr>
        <p:spPr>
          <a:xfrm>
            <a:off x="5159897" y="1936924"/>
            <a:ext cx="2925615" cy="2818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a(ii)?</a:t>
            </a:r>
          </a:p>
        </p:txBody>
      </p:sp>
    </p:spTree>
    <p:extLst>
      <p:ext uri="{BB962C8B-B14F-4D97-AF65-F5344CB8AC3E}">
        <p14:creationId xmlns:p14="http://schemas.microsoft.com/office/powerpoint/2010/main" val="111944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101F25-5F0E-831E-D268-A93A9934C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839" y="619198"/>
            <a:ext cx="7772400" cy="128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363DC-C620-587E-92B6-17D59D0475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0"/>
          <a:stretch/>
        </p:blipFill>
        <p:spPr>
          <a:xfrm>
            <a:off x="1991544" y="2132857"/>
            <a:ext cx="2592288" cy="38645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DDE41B-B0AD-38B5-8A3E-737770A1E940}"/>
              </a:ext>
            </a:extLst>
          </p:cNvPr>
          <p:cNvSpPr/>
          <p:nvPr/>
        </p:nvSpPr>
        <p:spPr>
          <a:xfrm>
            <a:off x="1847528" y="2148698"/>
            <a:ext cx="3251200" cy="38824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DB3386-D817-D4A7-A9C7-1E2426909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52" y="2167435"/>
            <a:ext cx="3251200" cy="1155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5510A8-7685-0DF6-5BB4-074922AB4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275" y="4293096"/>
            <a:ext cx="3251200" cy="9017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410F750-B4CB-C0A6-B4C2-EF4F41BAECAA}"/>
              </a:ext>
            </a:extLst>
          </p:cNvPr>
          <p:cNvSpPr/>
          <p:nvPr/>
        </p:nvSpPr>
        <p:spPr>
          <a:xfrm>
            <a:off x="5735960" y="2171184"/>
            <a:ext cx="3251200" cy="176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71242-285D-D335-49BA-EBA364D6CE27}"/>
              </a:ext>
            </a:extLst>
          </p:cNvPr>
          <p:cNvSpPr/>
          <p:nvPr/>
        </p:nvSpPr>
        <p:spPr>
          <a:xfrm>
            <a:off x="5735960" y="4269293"/>
            <a:ext cx="3251200" cy="176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61478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7B – Y1 Pages 142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3F7074-D7E5-1406-B1E8-DE4F5C2A8402}"/>
              </a:ext>
            </a:extLst>
          </p:cNvPr>
          <p:cNvGrpSpPr/>
          <p:nvPr/>
        </p:nvGrpSpPr>
        <p:grpSpPr>
          <a:xfrm>
            <a:off x="1557152" y="599128"/>
            <a:ext cx="7952420" cy="1396155"/>
            <a:chOff x="33152" y="599127"/>
            <a:chExt cx="7952420" cy="13961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D8209A-EE7B-D3A7-8589-0D058C0A1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52" y="599127"/>
              <a:ext cx="7772400" cy="124719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E04E514-57A1-65B7-4EC0-266D93D3854B}"/>
                </a:ext>
              </a:extLst>
            </p:cNvPr>
            <p:cNvGrpSpPr/>
            <p:nvPr/>
          </p:nvGrpSpPr>
          <p:grpSpPr>
            <a:xfrm>
              <a:off x="7596336" y="1186871"/>
              <a:ext cx="389236" cy="808411"/>
              <a:chOff x="7596336" y="1186871"/>
              <a:chExt cx="389236" cy="80841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AACC64-3382-CB89-D6B4-AD923C37E879}"/>
                  </a:ext>
                </a:extLst>
              </p:cNvPr>
              <p:cNvSpPr/>
              <p:nvPr/>
            </p:nvSpPr>
            <p:spPr>
              <a:xfrm>
                <a:off x="7596336" y="1186871"/>
                <a:ext cx="360040" cy="2979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D679DB-0087-A138-835D-03673799DE7D}"/>
                  </a:ext>
                </a:extLst>
              </p:cNvPr>
              <p:cNvSpPr/>
              <p:nvPr/>
            </p:nvSpPr>
            <p:spPr>
              <a:xfrm>
                <a:off x="7625532" y="1697369"/>
                <a:ext cx="360040" cy="2979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177F32B-F139-DA52-71B3-1E5998CE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276872"/>
            <a:ext cx="3251200" cy="3848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5BA783-DEAF-CD54-6ECA-D5E0DAE00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971" y="2431932"/>
            <a:ext cx="4749800" cy="1752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F4B9803-F849-1335-2C70-38BF805B72B4}"/>
              </a:ext>
            </a:extLst>
          </p:cNvPr>
          <p:cNvSpPr/>
          <p:nvPr/>
        </p:nvSpPr>
        <p:spPr>
          <a:xfrm>
            <a:off x="1847528" y="2148698"/>
            <a:ext cx="3459111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0AF0A-0D98-FD72-512B-4E95B81AC7FA}"/>
              </a:ext>
            </a:extLst>
          </p:cNvPr>
          <p:cNvSpPr/>
          <p:nvPr/>
        </p:nvSpPr>
        <p:spPr>
          <a:xfrm>
            <a:off x="5458847" y="2162102"/>
            <a:ext cx="4597593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5320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3: The Factor Theorem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206996" y="1284727"/>
                <a:ext cx="77768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−4=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96" y="1284727"/>
                <a:ext cx="777686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206996" y="2492896"/>
                <a:ext cx="763342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We can see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What would happen if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/>
                  <a:t> is 2?</a:t>
                </a:r>
              </a:p>
              <a:p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2000" b="1" dirty="0"/>
                  <a:t> so the RHS, and hence LHS would be 0.</a:t>
                </a:r>
              </a:p>
              <a:p>
                <a:r>
                  <a:rPr lang="en-GB" sz="2000" b="1" dirty="0"/>
                  <a:t>The converse is also true: if we could find a value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2000" b="1" dirty="0"/>
                  <a:t> such that the LHS is 0 when we substitute in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2000" b="1" dirty="0"/>
                  <a:t> for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b="1" dirty="0"/>
                  <a:t>, then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1" dirty="0"/>
                  <a:t> would be a factor.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96" y="2492896"/>
                <a:ext cx="7633420" cy="2123658"/>
              </a:xfrm>
              <a:prstGeom prst="rect">
                <a:avLst/>
              </a:prstGeom>
              <a:blipFill>
                <a:blip r:embed="rId3"/>
                <a:stretch>
                  <a:fillRect l="-1163" t="-1786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206996" y="5013176"/>
                <a:ext cx="7776864" cy="11079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200" dirty="0">
                    <a:latin typeface="Wingdings" panose="05000000000000000000" pitchFamily="2" charset="2"/>
                  </a:rPr>
                  <a:t>!</a:t>
                </a:r>
                <a:r>
                  <a:rPr lang="en-GB" sz="2200" dirty="0"/>
                  <a:t> The Factor Theorem states that if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a polynomial then: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GB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a factor of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Conversely, if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a factor of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GB" sz="2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996" y="5013176"/>
                <a:ext cx="7776864" cy="1107996"/>
              </a:xfrm>
              <a:prstGeom prst="rect">
                <a:avLst/>
              </a:prstGeom>
              <a:blipFill>
                <a:blip r:embed="rId4"/>
                <a:stretch>
                  <a:fillRect l="-812" t="-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196820" y="3429000"/>
            <a:ext cx="7787040" cy="1317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7619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 (in textbook)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32002" y="956456"/>
                <a:ext cx="686005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Show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956456"/>
                <a:ext cx="6860051" cy="461665"/>
              </a:xfrm>
              <a:prstGeom prst="rect">
                <a:avLst/>
              </a:prstGeom>
              <a:blipFill>
                <a:blip r:embed="rId2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988459" y="1729274"/>
                <a:ext cx="473165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−4=0</m:t>
                      </m:r>
                    </m:oMath>
                  </m:oMathPara>
                </a14:m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GB" sz="2000" dirty="0"/>
                  <a:t> is a factor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59" y="1729274"/>
                <a:ext cx="4731656" cy="1015663"/>
              </a:xfrm>
              <a:prstGeom prst="rect">
                <a:avLst/>
              </a:prstGeom>
              <a:blipFill>
                <a:blip r:embed="rId3"/>
                <a:stretch>
                  <a:fillRect l="-1340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960096" y="1665223"/>
                <a:ext cx="2736304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Writing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GB" sz="1400" dirty="0"/>
                  <a:t> gives us appropriate notation, i.e.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en-GB" sz="1400" dirty="0"/>
                  <a:t>, to show we’re substituting 2 into the polynomial on the next line.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1665223"/>
                <a:ext cx="2736304" cy="954107"/>
              </a:xfrm>
              <a:prstGeom prst="rect">
                <a:avLst/>
              </a:prstGeom>
              <a:blipFill>
                <a:blip r:embed="rId4"/>
                <a:stretch>
                  <a:fillRect l="-459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6240016" y="1916832"/>
            <a:ext cx="72008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032002" y="3101407"/>
                <a:ext cx="686005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Fully factorise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−9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3101407"/>
                <a:ext cx="6860051" cy="461665"/>
              </a:xfrm>
              <a:prstGeom prst="rect">
                <a:avLst/>
              </a:prstGeom>
              <a:blipFill>
                <a:blip r:embed="rId5"/>
                <a:stretch>
                  <a:fillRect b="-1020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958742" y="3714216"/>
                <a:ext cx="325701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Keep on trying values until you find one where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. Recommended order: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=1,−1,2,−2,…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You can use the ‘Table’ mode on your calculator to try lots of values in a range – see my interactive </a:t>
                </a:r>
                <a:r>
                  <a:rPr lang="en-GB" sz="1400" dirty="0" err="1"/>
                  <a:t>Classwiz</a:t>
                </a:r>
                <a:r>
                  <a:rPr lang="en-GB" sz="1400" dirty="0"/>
                  <a:t> </a:t>
                </a:r>
                <a:r>
                  <a:rPr lang="en-GB" sz="1400" dirty="0" err="1"/>
                  <a:t>powerpoint</a:t>
                </a:r>
                <a:r>
                  <a:rPr lang="en-GB" sz="1400" dirty="0"/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742" y="3714216"/>
                <a:ext cx="3257018" cy="1384995"/>
              </a:xfrm>
              <a:prstGeom prst="rect">
                <a:avLst/>
              </a:prstGeom>
              <a:blipFill>
                <a:blip r:embed="rId6"/>
                <a:stretch>
                  <a:fillRect l="-386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727202" y="3988296"/>
                <a:ext cx="494937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−9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−18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−9=−24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+18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−9=24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=0  ∴  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r>
                  <a:rPr lang="en-GB" dirty="0"/>
                  <a:t> is a factor.</a:t>
                </a:r>
              </a:p>
              <a:p>
                <a:r>
                  <a:rPr lang="en-GB" dirty="0"/>
                  <a:t>Using algebraic division we find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−9=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        =(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−3)(2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02" y="3988296"/>
                <a:ext cx="4949370" cy="2308324"/>
              </a:xfrm>
              <a:prstGeom prst="rect">
                <a:avLst/>
              </a:prstGeom>
              <a:blipFill>
                <a:blip r:embed="rId7"/>
                <a:stretch>
                  <a:fillRect l="-767" t="-546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589487" y="5255447"/>
                <a:ext cx="4063999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If you consider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−9=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it’s clear, by considering the expansion of the RHS,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400" dirty="0"/>
                  <a:t>. We can determine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by considering for example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terms in the expansion. This is much faster than algebraic division.</a:t>
                </a: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487" y="5255447"/>
                <a:ext cx="4063999" cy="1384995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4" idx="1"/>
          </p:cNvCxnSpPr>
          <p:nvPr/>
        </p:nvCxnSpPr>
        <p:spPr>
          <a:xfrm flipH="1">
            <a:off x="6444344" y="4406714"/>
            <a:ext cx="514399" cy="78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6081487" y="6052457"/>
            <a:ext cx="580573" cy="165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32001" y="1456744"/>
            <a:ext cx="7952431" cy="1382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5594" y="3676688"/>
            <a:ext cx="8926283" cy="30321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478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30777"/>
            <a:ext cx="9143074" cy="618521"/>
            <a:chOff x="0" y="-17442"/>
            <a:chExt cx="9144218" cy="618521"/>
          </a:xfrm>
        </p:grpSpPr>
        <p:sp>
          <p:nvSpPr>
            <p:cNvPr id="3" name="TextBox 32"/>
            <p:cNvSpPr txBox="1"/>
            <p:nvPr/>
          </p:nvSpPr>
          <p:spPr>
            <a:xfrm>
              <a:off x="0" y="-17442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Factor Theorem to find unknown coefficients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032002" y="956456"/>
                <a:ext cx="6860051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Given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, determine the value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956456"/>
                <a:ext cx="6860051" cy="830997"/>
              </a:xfrm>
              <a:prstGeom prst="rect">
                <a:avLst/>
              </a:prstGeom>
              <a:blipFill>
                <a:blip r:embed="rId2"/>
                <a:stretch>
                  <a:fillRect b="-512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032002" y="2204865"/>
                <a:ext cx="6860051" cy="347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=6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=6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               =−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2" y="2204865"/>
                <a:ext cx="6860051" cy="3471015"/>
              </a:xfrm>
              <a:prstGeom prst="rect">
                <a:avLst/>
              </a:prstGeo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880559" y="2060848"/>
                <a:ext cx="2671327" cy="366946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Notes:</a:t>
                </a:r>
              </a:p>
              <a:p>
                <a:r>
                  <a:rPr lang="en-GB" dirty="0"/>
                  <a:t>Choose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to substitute that </a:t>
                </a:r>
                <a:r>
                  <a:rPr lang="en-GB" b="1" u="sng" dirty="0"/>
                  <a:t>makes the divisor/factor 0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So 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, thus 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This even works when you’re dividing by non-linear factors,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, but at A Level they will always be of the form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559" y="2060848"/>
                <a:ext cx="2671327" cy="3669466"/>
              </a:xfrm>
              <a:prstGeom prst="rect">
                <a:avLst/>
              </a:prstGeom>
              <a:blipFill>
                <a:blip r:embed="rId4"/>
                <a:stretch>
                  <a:fillRect l="-1408" t="-342" r="-939"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>
            <a:off x="7464152" y="2420888"/>
            <a:ext cx="57606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589092" y="1792491"/>
            <a:ext cx="9012672" cy="4991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1301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7" y="1178525"/>
            <a:ext cx="8125723" cy="17281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919536" y="836712"/>
            <a:ext cx="295232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2016 Q2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972699" y="1892596"/>
            <a:ext cx="8036082" cy="242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27026" y="1206044"/>
            <a:ext cx="172401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No long in spec.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8544273" y="1488558"/>
            <a:ext cx="305561" cy="21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5" y="2996953"/>
            <a:ext cx="2638425" cy="14954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967489" y="4507654"/>
                <a:ext cx="7552998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Given that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 is a factor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+11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, determine the value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489" y="4507654"/>
                <a:ext cx="7552998" cy="830997"/>
              </a:xfrm>
              <a:prstGeom prst="rect">
                <a:avLst/>
              </a:prstGeom>
              <a:blipFill>
                <a:blip r:embed="rId4"/>
                <a:stretch>
                  <a:fillRect b="-50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693732" y="5358697"/>
                <a:ext cx="5616624" cy="1200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𝟏𝟏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732" y="5358697"/>
                <a:ext cx="5616624" cy="1200778"/>
              </a:xfrm>
              <a:prstGeom prst="rect">
                <a:avLst/>
              </a:prstGeom>
              <a:blipFill>
                <a:blip r:embed="rId5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3240424" y="2951268"/>
            <a:ext cx="5303849" cy="1461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424" y="5396756"/>
            <a:ext cx="5303849" cy="13549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9725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7C – Y1 Pages 146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5CC443-565B-F01D-396E-C80B6641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19198"/>
            <a:ext cx="7772400" cy="1185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A7F030-1106-3E6C-3340-3A4DD63E7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132856"/>
            <a:ext cx="3238500" cy="1498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BCD68-42BD-5E4A-D55D-F5F05DE3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2132856"/>
            <a:ext cx="3238500" cy="213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D379C-51C0-12FE-AC6E-E00178A9D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456" y="4437112"/>
            <a:ext cx="3987800" cy="1625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40E745-E882-7B6E-BDB4-1A1121CC72EB}"/>
              </a:ext>
            </a:extLst>
          </p:cNvPr>
          <p:cNvSpPr/>
          <p:nvPr/>
        </p:nvSpPr>
        <p:spPr>
          <a:xfrm>
            <a:off x="1847528" y="2148698"/>
            <a:ext cx="3459111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E4B3B-5187-32CA-C9A5-165FD68BF535}"/>
              </a:ext>
            </a:extLst>
          </p:cNvPr>
          <p:cNvSpPr/>
          <p:nvPr/>
        </p:nvSpPr>
        <p:spPr>
          <a:xfrm>
            <a:off x="5458103" y="2148698"/>
            <a:ext cx="4886370" cy="3976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86685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7C – Y1 Pages 145-146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B2F9965-23A2-8A7B-3C2C-F9E444AF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9127"/>
            <a:ext cx="7772400" cy="11852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B596FF-CAA5-0FA8-7E99-1EBF66E9A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988840"/>
            <a:ext cx="3987800" cy="162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2DA101-6971-9655-CABF-D03F807E0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1868190"/>
            <a:ext cx="2971800" cy="3492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DC1D9F-5E41-73AC-8296-CA239F95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986" y="5517232"/>
            <a:ext cx="3644900" cy="10668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D944C78-AF52-FB2B-D087-4D5E2981F0C6}"/>
              </a:ext>
            </a:extLst>
          </p:cNvPr>
          <p:cNvSpPr/>
          <p:nvPr/>
        </p:nvSpPr>
        <p:spPr>
          <a:xfrm>
            <a:off x="1898889" y="1868190"/>
            <a:ext cx="3765063" cy="1818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FEE60-E102-2B17-44D8-41BF1243E91E}"/>
              </a:ext>
            </a:extLst>
          </p:cNvPr>
          <p:cNvSpPr/>
          <p:nvPr/>
        </p:nvSpPr>
        <p:spPr>
          <a:xfrm>
            <a:off x="6096000" y="1868190"/>
            <a:ext cx="4176465" cy="349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5CA8C-E796-26F3-BAF4-1EDDF224EBF4}"/>
              </a:ext>
            </a:extLst>
          </p:cNvPr>
          <p:cNvSpPr/>
          <p:nvPr/>
        </p:nvSpPr>
        <p:spPr>
          <a:xfrm>
            <a:off x="1898889" y="5517233"/>
            <a:ext cx="3765063" cy="1242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213921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7C – Y1 Pages 145-146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53226B5-9EBC-7E96-5C2A-2BD053CC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9128"/>
            <a:ext cx="7772400" cy="809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228E16-2029-BECE-1772-2ED0A86B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628800"/>
            <a:ext cx="3390900" cy="165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271D7-67D2-EF01-38D7-F40740BAB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1520850"/>
            <a:ext cx="3390900" cy="3517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06758A-C9A1-2581-2FF1-19E60CCE9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32" y="5088057"/>
            <a:ext cx="3924300" cy="77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E127C4-F73C-0205-3DE6-766B8C6C6EB1}"/>
              </a:ext>
            </a:extLst>
          </p:cNvPr>
          <p:cNvSpPr/>
          <p:nvPr/>
        </p:nvSpPr>
        <p:spPr>
          <a:xfrm>
            <a:off x="6168008" y="1520850"/>
            <a:ext cx="4140324" cy="4572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D32C63-1D99-DDAC-B5D6-AC95D125886D}"/>
              </a:ext>
            </a:extLst>
          </p:cNvPr>
          <p:cNvSpPr/>
          <p:nvPr/>
        </p:nvSpPr>
        <p:spPr>
          <a:xfrm>
            <a:off x="1700898" y="1520850"/>
            <a:ext cx="4035062" cy="4572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389966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826268" y="1175490"/>
                <a:ext cx="399243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2006 1E] </a:t>
                </a:r>
                <a:r>
                  <a:rPr lang="en-GB" dirty="0"/>
                  <a:t>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both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GB" dirty="0"/>
                  <a:t> as factors. Determine the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GB" sz="1400" b="1" dirty="0"/>
              </a:p>
              <a:p>
                <a:endParaRPr lang="en-GB" b="1" dirty="0"/>
              </a:p>
              <a:p>
                <a:r>
                  <a:rPr lang="en-GB" dirty="0"/>
                  <a:t>[MAT 2009 1I] The polynomial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+150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as a factor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no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;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only;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GB" dirty="0"/>
                  <a:t> only;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GB" dirty="0"/>
                  <a:t> only.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b="1" dirty="0"/>
                  <a:t> so both factors. </a:t>
                </a:r>
                <a:endParaRPr lang="en-GB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If </a:t>
                </a:r>
                <a14:m>
                  <m:oMath xmlns:m="http://schemas.openxmlformats.org/officeDocument/2006/math">
                    <m:r>
                      <a:rPr lang="en-GB" sz="14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400" b="1" dirty="0"/>
                  <a:t> is odd: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1400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𝟏𝟓𝟎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If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sz="1400" b="1" dirty="0"/>
                  <a:t> is even: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1400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𝟏𝟓𝟎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Putting this all together, we get option B.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268" y="1175490"/>
                <a:ext cx="3992438" cy="4708981"/>
              </a:xfrm>
              <a:prstGeom prst="rect">
                <a:avLst/>
              </a:prstGeom>
              <a:blipFill>
                <a:blip r:embed="rId2"/>
                <a:stretch>
                  <a:fillRect l="-1587" t="-538" r="-1587"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963397" y="1013690"/>
                <a:ext cx="4644571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:r>
                  <a:rPr lang="en-GB" b="1" dirty="0"/>
                  <a:t>remainder</a:t>
                </a:r>
                <a:r>
                  <a:rPr lang="en-GB" dirty="0"/>
                  <a:t> </a:t>
                </a:r>
                <a:r>
                  <a:rPr lang="en-GB" b="1" dirty="0"/>
                  <a:t>theorem</a:t>
                </a:r>
                <a:r>
                  <a:rPr lang="en-GB" dirty="0"/>
                  <a:t> states that 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divided by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remainder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 This similarly works whenever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makes the divisor 0.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397" y="1013690"/>
                <a:ext cx="4644571" cy="923330"/>
              </a:xfrm>
              <a:prstGeom prst="rect">
                <a:avLst/>
              </a:prstGeom>
              <a:blipFill>
                <a:blip r:embed="rId3"/>
                <a:stretch>
                  <a:fillRect b="-11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079509" y="1965578"/>
                <a:ext cx="4557486" cy="4058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2013 1G] Let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GB" sz="1600" dirty="0"/>
                  <a:t> be an integer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be the polynomial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+…+(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What is the remainder, in terms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is divided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?</a:t>
                </a:r>
              </a:p>
              <a:p>
                <a:endParaRPr lang="en-GB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𝒏𝒙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GB" sz="1600" b="1" dirty="0"/>
              </a:p>
              <a:p>
                <a:r>
                  <a:rPr lang="en-GB" b="1" dirty="0"/>
                  <a:t>We need to make the divisor 0: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→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br>
                  <a:rPr lang="en-GB" b="1" dirty="0"/>
                </a:br>
                <a:r>
                  <a:rPr lang="en-GB" b="1" dirty="0"/>
                  <a:t>Remainder: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𝒏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509" y="1965578"/>
                <a:ext cx="4557486" cy="4058227"/>
              </a:xfrm>
              <a:prstGeom prst="rect">
                <a:avLst/>
              </a:prstGeom>
              <a:blipFill>
                <a:blip r:embed="rId4"/>
                <a:stretch>
                  <a:fillRect l="-1111" t="-312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5798387" y="1038365"/>
            <a:ext cx="0" cy="4800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94905" y="2327985"/>
            <a:ext cx="1491234" cy="387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87812" y="4721467"/>
            <a:ext cx="3509526" cy="111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5595" y="3366139"/>
            <a:ext cx="4413343" cy="25855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9111" y="1225293"/>
            <a:ext cx="260701" cy="2500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9111" y="2852814"/>
            <a:ext cx="260701" cy="2500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6295" y="2052391"/>
            <a:ext cx="260701" cy="2500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8761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4: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035650" y="152720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conjecture</a:t>
            </a:r>
            <a:r>
              <a:rPr lang="en-GB" sz="2000" dirty="0"/>
              <a:t> is a mathematical statement that has yet to be proven.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4576" y="893597"/>
            <a:ext cx="2112287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Terminology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755730" y="2099249"/>
                <a:ext cx="6264696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One famous conjecture is </a:t>
                </a:r>
                <a:r>
                  <a:rPr lang="en-GB" b="1" dirty="0" err="1"/>
                  <a:t>Goldbach’s</a:t>
                </a:r>
                <a:r>
                  <a:rPr lang="en-GB" b="1" dirty="0"/>
                  <a:t> Conjecture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It states “</a:t>
                </a:r>
                <a:r>
                  <a:rPr lang="en-GB" i="1" dirty="0"/>
                  <a:t>Every even integer greater than 2 can be expressed as the sum of two primes</a:t>
                </a:r>
                <a:r>
                  <a:rPr lang="en-GB" dirty="0"/>
                  <a:t>.”</a:t>
                </a:r>
              </a:p>
              <a:p>
                <a:r>
                  <a:rPr lang="en-GB" dirty="0"/>
                  <a:t>It has been verified up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GB" dirty="0"/>
                  <a:t> (that’s big!); this provides evidence that it is true, but does not prove it is true!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730" y="2099249"/>
                <a:ext cx="6264696" cy="1477328"/>
              </a:xfrm>
              <a:prstGeom prst="rect">
                <a:avLst/>
              </a:prstGeom>
              <a:blipFill>
                <a:blip r:embed="rId2"/>
                <a:stretch>
                  <a:fillRect l="-605" t="-840" b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06193" y="3861048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theorem</a:t>
            </a:r>
            <a:r>
              <a:rPr lang="en-GB" sz="2000" dirty="0"/>
              <a:t> is a mathematical statement that has been proven.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726273" y="4538981"/>
                <a:ext cx="6466071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One famous misnomer was </a:t>
                </a:r>
                <a:r>
                  <a:rPr lang="en-GB" b="1" dirty="0"/>
                  <a:t>Fermat’s Last Theorem</a:t>
                </a:r>
                <a:r>
                  <a:rPr lang="en-GB" dirty="0"/>
                  <a:t>, which states “</a:t>
                </a:r>
                <a:r>
                  <a:rPr lang="en-GB" i="1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an integer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i="1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i="1" dirty="0"/>
                  <a:t> has no non-zero integer solutions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i="1" dirty="0"/>
                  <a:t>.</a:t>
                </a:r>
                <a:r>
                  <a:rPr lang="en-GB" dirty="0"/>
                  <a:t>” It was 300 years until this was proven in 1995. Only then was the ‘Theorem’ in the name then correct!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273" y="4538981"/>
                <a:ext cx="6466071" cy="1200329"/>
              </a:xfrm>
              <a:prstGeom prst="rect">
                <a:avLst/>
              </a:prstGeom>
              <a:blipFill>
                <a:blip r:embed="rId3"/>
                <a:stretch>
                  <a:fillRect l="-586" t="-1031" r="-1172" b="-7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25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Types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91544" y="2276873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a. Proof by Deduction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5429" y="748501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proof must show all </a:t>
            </a:r>
            <a:r>
              <a:rPr lang="en-GB" b="1" dirty="0"/>
              <a:t>assumptions</a:t>
            </a:r>
            <a:r>
              <a:rPr lang="en-GB" dirty="0"/>
              <a:t> you are using, have a clear </a:t>
            </a:r>
            <a:r>
              <a:rPr lang="en-GB" b="1" dirty="0"/>
              <a:t>sequential list of steps</a:t>
            </a:r>
            <a:r>
              <a:rPr lang="en-GB" dirty="0"/>
              <a:t> that logically follow, and must cover </a:t>
            </a:r>
            <a:r>
              <a:rPr lang="en-GB" b="1" dirty="0"/>
              <a:t>all possible cases</a:t>
            </a:r>
            <a:r>
              <a:rPr lang="en-GB" dirty="0"/>
              <a:t>.</a:t>
            </a:r>
          </a:p>
          <a:p>
            <a:r>
              <a:rPr lang="en-GB" dirty="0"/>
              <a:t>You should usually make a </a:t>
            </a:r>
            <a:r>
              <a:rPr lang="en-GB" b="1" dirty="0"/>
              <a:t>concluding statement</a:t>
            </a:r>
            <a:r>
              <a:rPr lang="en-GB" dirty="0"/>
              <a:t>, e.g. restating the original conjecture that you have proven.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544" y="2852936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the simplest type, where you start from known facts and reach the desired conclusion via deductive steps.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991544" y="4221088"/>
                <a:ext cx="403244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“Prove that the product of two odd numbers is odd.”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be integers, 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are odd numbers.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𝑝𝑞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𝑝𝑞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This is one more than a multiple of 2, and is therefore odd.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221088"/>
                <a:ext cx="4032448" cy="2308324"/>
              </a:xfrm>
              <a:prstGeom prst="rect">
                <a:avLst/>
              </a:prstGeom>
              <a:blipFill>
                <a:blip r:embed="rId2"/>
                <a:stretch>
                  <a:fillRect l="-1254" t="-109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384032" y="3933056"/>
                <a:ext cx="4032448" cy="2916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“Prove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d>
                      <m:d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GB" b="1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𝟏𝟎𝟏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𝟕𝟎</m:t>
                    </m:r>
                  </m:oMath>
                </a14:m>
                <a:r>
                  <a:rPr lang="en-GB" b="1" dirty="0"/>
                  <a:t>”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−35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−105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−101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≡3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−101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−70</m:t>
                      </m:r>
                    </m:oMath>
                  </m:oMathPara>
                </a14:m>
                <a:endParaRPr lang="en-GB" dirty="0"/>
              </a:p>
              <a:p>
                <a:endParaRPr lang="en-GB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32" y="3933056"/>
                <a:ext cx="4032448" cy="2916504"/>
              </a:xfrm>
              <a:prstGeom prst="rect">
                <a:avLst/>
              </a:prstGeom>
              <a:blipFill>
                <a:blip r:embed="rId3"/>
                <a:stretch>
                  <a:fillRect l="-1254" t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701092" y="2233330"/>
                <a:ext cx="3676622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An </a:t>
                </a:r>
                <a:r>
                  <a:rPr lang="en-GB" b="1" dirty="0"/>
                  <a:t>identity</a:t>
                </a:r>
                <a:r>
                  <a:rPr lang="en-GB" dirty="0"/>
                  <a:t> is an equation that is true for </a:t>
                </a:r>
                <a:r>
                  <a:rPr lang="en-GB" b="1" dirty="0"/>
                  <a:t>all values</a:t>
                </a:r>
                <a:r>
                  <a:rPr lang="en-GB" dirty="0"/>
                  <a:t> of the variables. 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 is true only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GB" dirty="0"/>
                  <a:t>, 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true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092" y="2233330"/>
                <a:ext cx="3676622" cy="1200329"/>
              </a:xfrm>
              <a:prstGeom prst="rect">
                <a:avLst/>
              </a:prstGeom>
              <a:blipFill>
                <a:blip r:embed="rId4"/>
                <a:stretch>
                  <a:fillRect l="-1027" t="-1020" r="-2055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8400257" y="3439887"/>
            <a:ext cx="105114" cy="37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74542" y="4874795"/>
            <a:ext cx="3977916" cy="175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6413" y="4538768"/>
            <a:ext cx="3977916" cy="20797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6755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0" grpId="0" animBg="1"/>
      <p:bldP spid="14" grpId="0" animBg="1"/>
      <p:bldP spid="14" grpId="1" animBg="1"/>
      <p:bldP spid="15" grpId="0" animBg="1"/>
      <p:bldP spid="1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Be Warned…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91544" y="980728"/>
            <a:ext cx="7558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Proof by Deduction requires you to </a:t>
            </a:r>
            <a:r>
              <a:rPr lang="en-GB" b="1" dirty="0"/>
              <a:t>start from known facts </a:t>
            </a:r>
            <a:r>
              <a:rPr lang="en-GB" dirty="0"/>
              <a:t>and end up at the conclusion. It is </a:t>
            </a:r>
            <a:r>
              <a:rPr lang="en-GB" b="1" u="sng" dirty="0"/>
              <a:t>not</a:t>
            </a:r>
            <a:r>
              <a:rPr lang="en-GB" dirty="0"/>
              <a:t> acceptable to start with to the conclusion, and verify it works, </a:t>
            </a:r>
            <a:r>
              <a:rPr lang="en-GB" b="1" dirty="0"/>
              <a:t>because you are assuming the thing you are trying to prove</a:t>
            </a:r>
            <a:r>
              <a:rPr lang="en-GB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6944" y="2086372"/>
            <a:ext cx="7344816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i="1" dirty="0"/>
              <a:t>Example</a:t>
            </a:r>
            <a:r>
              <a:rPr lang="en-GB" sz="2000" dirty="0"/>
              <a:t>: Prove that if three consecutive integers are the sides of a right-angled triangle, they must be 3, 4 and 5.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915344" y="3166369"/>
                <a:ext cx="312655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Incorrect Proof:</a:t>
                </a:r>
              </a:p>
              <a:p>
                <a:endParaRPr lang="en-GB" dirty="0"/>
              </a:p>
              <a:p>
                <a:r>
                  <a:rPr lang="en-GB" dirty="0"/>
                  <a:t>Let the lengths be 3,4,5.</a:t>
                </a:r>
              </a:p>
              <a:p>
                <a:r>
                  <a:rPr lang="en-GB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25=25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This satisfies Pythagoras’ Theorem, and the numbers are consecutive.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344" y="3166369"/>
                <a:ext cx="3126556" cy="2585323"/>
              </a:xfrm>
              <a:prstGeom prst="rect">
                <a:avLst/>
              </a:prstGeom>
              <a:blipFill>
                <a:blip r:embed="rId2"/>
                <a:stretch>
                  <a:fillRect l="-1619" t="-976" r="-2024" b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951588" y="3090168"/>
                <a:ext cx="344971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Correct Proof:</a:t>
                </a:r>
              </a:p>
              <a:p>
                <a:endParaRPr lang="en-GB" dirty="0"/>
              </a:p>
              <a:p>
                <a:r>
                  <a:rPr lang="en-GB" dirty="0"/>
                  <a:t>If the sides are consecutive, then let the sides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Then by Pythagoras’ Theorem: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−3=0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(as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can’t be negative)</a:t>
                </a:r>
              </a:p>
              <a:p>
                <a:r>
                  <a:rPr lang="en-GB" dirty="0"/>
                  <a:t>Thus the sides are 3, 4, 5.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88" y="3090168"/>
                <a:ext cx="3449712" cy="3416320"/>
              </a:xfrm>
              <a:prstGeom prst="rect">
                <a:avLst/>
              </a:prstGeom>
              <a:blipFill>
                <a:blip r:embed="rId3"/>
                <a:stretch>
                  <a:fillRect l="-1471" t="-1111" b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8704" y="3577209"/>
            <a:ext cx="162609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are assuming the thing we are trying to prove!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419600" y="3924301"/>
            <a:ext cx="609104" cy="6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76512" y="5819002"/>
            <a:ext cx="3751064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The underlying problem is that this technique doesn’t prove there can’t be </a:t>
            </a:r>
            <a:r>
              <a:rPr lang="en-GB" sz="1400" b="1" u="sng" dirty="0"/>
              <a:t>other</a:t>
            </a:r>
            <a:r>
              <a:rPr lang="en-GB" sz="1400" dirty="0"/>
              <a:t> consecutive integers that work – we have only verified 3,4,5 is one such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9282" y="4524749"/>
            <a:ext cx="1626096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are only assuming things in the ‘if’ bit. This is fine!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705602" y="4305300"/>
            <a:ext cx="292099" cy="24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61085" y="3613476"/>
            <a:ext cx="2967358" cy="2046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8392" y="3577208"/>
            <a:ext cx="3334072" cy="2929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536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Types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48002" y="883502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a. Proof by Deduction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48002" y="1629541"/>
                <a:ext cx="5588158" cy="1495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b="1" dirty="0"/>
                  <a:t> is positive for all values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+5=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+1≥1&gt;0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002" y="1629541"/>
                <a:ext cx="5588158" cy="1495987"/>
              </a:xfrm>
              <a:prstGeom prst="rect">
                <a:avLst/>
              </a:prstGeom>
              <a:blipFill>
                <a:blip r:embed="rId2"/>
                <a:stretch>
                  <a:fillRect l="-90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379884" y="863917"/>
            <a:ext cx="273630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Exam Tip</a:t>
            </a:r>
            <a:r>
              <a:rPr lang="en-GB" dirty="0"/>
              <a:t>: This is quite a common last </a:t>
            </a:r>
            <a:r>
              <a:rPr lang="en-GB" dirty="0" err="1"/>
              <a:t>parter</a:t>
            </a:r>
            <a:r>
              <a:rPr lang="en-GB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1353" y="2405247"/>
            <a:ext cx="3156092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Anything squared is at least 0. This is formally known as the ‘</a:t>
            </a:r>
            <a:r>
              <a:rPr lang="en-GB" i="1" dirty="0"/>
              <a:t>trivial inequality</a:t>
            </a:r>
            <a:r>
              <a:rPr lang="en-GB" dirty="0"/>
              <a:t>’.</a:t>
            </a:r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flipH="1">
            <a:off x="6888088" y="1187083"/>
            <a:ext cx="491796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705600" y="2685143"/>
            <a:ext cx="536894" cy="133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87456" y="2059024"/>
            <a:ext cx="4413344" cy="1192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973" y="3925108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Test Your Understanding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052973" y="4653137"/>
                <a:ext cx="558815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Prove that the sum of the squares of two consecutive odd numbers is 2 more than a multiple of 8.</a:t>
                </a:r>
              </a:p>
              <a:p>
                <a:endParaRPr lang="en-GB" b="1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be any two consecutive odd numbers,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an integer.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+1+4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     =8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   which is 2 more than a multiple of 8.</a:t>
                </a: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973" y="4653137"/>
                <a:ext cx="5588158" cy="2031325"/>
              </a:xfrm>
              <a:prstGeom prst="rect">
                <a:avLst/>
              </a:prstGeom>
              <a:blipFill>
                <a:blip r:embed="rId3"/>
                <a:stretch>
                  <a:fillRect l="-907" t="-124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064688" y="5477875"/>
            <a:ext cx="5687721" cy="1192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479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7D  – Y1 Pages 149-150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95BFB53-A4D6-75D5-FD40-3359AB06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30551"/>
            <a:ext cx="4788024" cy="43348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4AC6318-F60B-88F9-B61A-4EACC805A9A2}"/>
              </a:ext>
            </a:extLst>
          </p:cNvPr>
          <p:cNvGrpSpPr/>
          <p:nvPr/>
        </p:nvGrpSpPr>
        <p:grpSpPr>
          <a:xfrm>
            <a:off x="1631504" y="2335022"/>
            <a:ext cx="7848872" cy="728132"/>
            <a:chOff x="251520" y="3573016"/>
            <a:chExt cx="7848872" cy="7281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C7834A-1B19-3772-2F88-5FBDCD1AA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3573016"/>
              <a:ext cx="7772400" cy="72813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62090D-E893-6B8C-FD80-F08A228B7970}"/>
                </a:ext>
              </a:extLst>
            </p:cNvPr>
            <p:cNvSpPr/>
            <p:nvPr/>
          </p:nvSpPr>
          <p:spPr>
            <a:xfrm>
              <a:off x="7452320" y="3933056"/>
              <a:ext cx="648072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6C465E0-2199-329C-666E-BD2BB093F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52" y="1064036"/>
            <a:ext cx="3240360" cy="768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646393-63DB-7AC5-39C1-D044247F5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8371" y="3284984"/>
            <a:ext cx="3219218" cy="28058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6E9FF7-D45C-5563-8A6A-F510BFE75FC0}"/>
              </a:ext>
            </a:extLst>
          </p:cNvPr>
          <p:cNvSpPr/>
          <p:nvPr/>
        </p:nvSpPr>
        <p:spPr>
          <a:xfrm>
            <a:off x="2063552" y="1016298"/>
            <a:ext cx="4413344" cy="955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AC76B9-1E0D-7592-2786-81A81AFF33A9}"/>
              </a:ext>
            </a:extLst>
          </p:cNvPr>
          <p:cNvSpPr/>
          <p:nvPr/>
        </p:nvSpPr>
        <p:spPr>
          <a:xfrm>
            <a:off x="2063552" y="3209699"/>
            <a:ext cx="4413344" cy="30177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8444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7D  – Y1 Pages 149-150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C04F6F8-A7DC-AED3-25D5-D591AF1CF1CD}"/>
              </a:ext>
            </a:extLst>
          </p:cNvPr>
          <p:cNvGrpSpPr/>
          <p:nvPr/>
        </p:nvGrpSpPr>
        <p:grpSpPr>
          <a:xfrm>
            <a:off x="1524000" y="594577"/>
            <a:ext cx="7416824" cy="748487"/>
            <a:chOff x="107504" y="692696"/>
            <a:chExt cx="7848872" cy="79208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DFF7733-561B-E78F-5725-71A2210B0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92696"/>
              <a:ext cx="7772400" cy="72813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C9A46F-081B-7F2F-7BF4-4291CAA0CEAE}"/>
                </a:ext>
              </a:extLst>
            </p:cNvPr>
            <p:cNvSpPr/>
            <p:nvPr/>
          </p:nvSpPr>
          <p:spPr>
            <a:xfrm>
              <a:off x="7308304" y="1052736"/>
              <a:ext cx="648072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B65D245-E2F5-BDE7-F638-03A8C71E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2527720"/>
            <a:ext cx="5227479" cy="8031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AA0D71-62C5-A726-323C-CB5BD379C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60" y="1193703"/>
            <a:ext cx="3024337" cy="11574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2050B2-245A-E760-DB92-A75FE8AD9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311" y="3318202"/>
            <a:ext cx="3091858" cy="33056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5A50635-3A78-3CD3-C241-19944054F176}"/>
              </a:ext>
            </a:extLst>
          </p:cNvPr>
          <p:cNvSpPr/>
          <p:nvPr/>
        </p:nvSpPr>
        <p:spPr>
          <a:xfrm>
            <a:off x="4652312" y="1084259"/>
            <a:ext cx="3315897" cy="12669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B7EC9-8873-ACCB-9C06-8462B49AC5A3}"/>
              </a:ext>
            </a:extLst>
          </p:cNvPr>
          <p:cNvSpPr/>
          <p:nvPr/>
        </p:nvSpPr>
        <p:spPr>
          <a:xfrm>
            <a:off x="4652312" y="3267548"/>
            <a:ext cx="3315897" cy="3356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633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7D  – Y1 Pages 149-150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4AAEC5B-C6CA-3E7B-6C46-AD05F432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08" y="599127"/>
            <a:ext cx="7772400" cy="424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DF37D-5A92-474B-3034-420D0575A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54" y="3616868"/>
            <a:ext cx="5326360" cy="116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EAE94B-9BAF-DDE0-9B1F-71E673F2D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994953"/>
            <a:ext cx="2304256" cy="1728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0368E3-998F-5D98-7AED-F84022B4E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6" y="908720"/>
            <a:ext cx="3063526" cy="2383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EB29FB-ED48-2407-E34D-A4BFFC03C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523" y="2706522"/>
            <a:ext cx="2699792" cy="602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41C17C-7E68-3AA4-4215-DF5F4D065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7033" y="4771152"/>
            <a:ext cx="3530600" cy="1828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280301-80A6-50EA-5A7E-2783BEFDA9F8}"/>
              </a:ext>
            </a:extLst>
          </p:cNvPr>
          <p:cNvSpPr/>
          <p:nvPr/>
        </p:nvSpPr>
        <p:spPr>
          <a:xfrm>
            <a:off x="1775520" y="1002196"/>
            <a:ext cx="8568952" cy="2426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38E4D0-962A-DB81-0D76-A6C6B3C73CA6}"/>
              </a:ext>
            </a:extLst>
          </p:cNvPr>
          <p:cNvSpPr/>
          <p:nvPr/>
        </p:nvSpPr>
        <p:spPr>
          <a:xfrm>
            <a:off x="1775521" y="4670092"/>
            <a:ext cx="3622113" cy="2046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12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631504" y="679248"/>
                <a:ext cx="712879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[STEP I 2005 Q1]</a:t>
                </a:r>
                <a:r>
                  <a:rPr lang="en-GB" dirty="0"/>
                  <a:t> 47231 is a five-digit number whose digits sum to 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4+7+2+3+1=17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400050" indent="-400050">
                  <a:buAutoNum type="romanLcParenBoth"/>
                </a:pPr>
                <a:r>
                  <a:rPr lang="en-GB" dirty="0"/>
                  <a:t>Prove that there are 15 five-digit numbers whose digits sum to 43. You should explain your reasoning clearly.</a:t>
                </a:r>
              </a:p>
              <a:p>
                <a:pPr marL="400050" indent="-400050">
                  <a:buAutoNum type="romanLcParenBoth"/>
                </a:pPr>
                <a:r>
                  <a:rPr lang="en-GB" dirty="0"/>
                  <a:t>How many five-digit numbers are there whose digits sum to 39?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679248"/>
                <a:ext cx="7128792" cy="1477328"/>
              </a:xfrm>
              <a:prstGeom prst="rect">
                <a:avLst/>
              </a:prstGeom>
              <a:blipFill>
                <a:blip r:embed="rId2"/>
                <a:stretch>
                  <a:fillRect l="-712" t="-1709" r="-1246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761564" y="2747905"/>
                <a:ext cx="8746671" cy="2660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i) Since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5×9=45</m:t>
                    </m:r>
                  </m:oMath>
                </a14:m>
                <a:r>
                  <a:rPr lang="en-GB" sz="1600" dirty="0"/>
                  <a:t> then the digits drop by 2 in total from the maximum of 9, 9, 9, 9, 9. This can either be on one number (9,9,9,9,7) or spread across two numbers (9,9,9,8,8).</a:t>
                </a:r>
              </a:p>
              <a:p>
                <a:r>
                  <a:rPr lang="en-GB" sz="1600" dirty="0"/>
                  <a:t>If 9, 9, 9, 9, 7 are used, the 7 can go in 5 positions, giving 5 numbers.</a:t>
                </a:r>
                <a:br>
                  <a:rPr lang="en-GB" sz="1600" dirty="0"/>
                </a:br>
                <a:r>
                  <a:rPr lang="en-GB" sz="1600" dirty="0"/>
                  <a:t>If 9, 9, 9, 8, 8 is used, the two 8s can go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5×4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1600" dirty="0"/>
                  <a:t> positions (as there are 5 choices for the first 8 and 4 for the second, but they can go either way round). Thus there are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5+10=15</m:t>
                    </m:r>
                  </m:oMath>
                </a14:m>
                <a:r>
                  <a:rPr lang="en-GB" sz="1600" dirty="0"/>
                  <a:t> possibilities.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ii) This time we must drop the digit sum by 6 from the maximum of 9,9,9,9,9. This gives the possibilities: (9,9,9,9,3), (9,9,9,8,4), (9,9,9,7,5), (9,9,8,8,5), (9,9,9,6,6), (9,9,8,7,6), (9,8,8,8,6), (9,9,7,7,7), (9,8,8,7,7), (8,8,8,8,7). This give 5, 20, 20, 30, 10, 60, 20, 10, 30, 5 possibilities respectively, giving 210 possibilities in total. (I have omitted the calculation for each for brevity)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564" y="2747905"/>
                <a:ext cx="8746671" cy="2660024"/>
              </a:xfrm>
              <a:prstGeom prst="rect">
                <a:avLst/>
              </a:prstGeom>
              <a:blipFill>
                <a:blip r:embed="rId3"/>
                <a:stretch>
                  <a:fillRect l="-290" t="-476" r="-725" b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838040" y="2793847"/>
            <a:ext cx="8691175" cy="13924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  <a:r>
              <a:rPr lang="en-GB" sz="2800" dirty="0" err="1"/>
              <a:t>i</a:t>
            </a:r>
            <a:endParaRPr lang="en-GB" sz="2800" dirty="0"/>
          </a:p>
        </p:txBody>
      </p:sp>
      <p:sp>
        <p:nvSpPr>
          <p:cNvPr id="11" name="Rectangle 10"/>
          <p:cNvSpPr/>
          <p:nvPr/>
        </p:nvSpPr>
        <p:spPr>
          <a:xfrm>
            <a:off x="1804510" y="4306371"/>
            <a:ext cx="8748038" cy="1063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</a:t>
            </a:r>
          </a:p>
        </p:txBody>
      </p:sp>
    </p:spTree>
    <p:extLst>
      <p:ext uri="{BB962C8B-B14F-4D97-AF65-F5344CB8AC3E}">
        <p14:creationId xmlns:p14="http://schemas.microsoft.com/office/powerpoint/2010/main" val="112289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Other Types of Proof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48002" y="883502"/>
            <a:ext cx="403244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b. Proof by Exhaustion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471" y="1492998"/>
            <a:ext cx="41586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means breaking down the statement into </a:t>
            </a:r>
            <a:r>
              <a:rPr lang="en-GB" b="1" dirty="0"/>
              <a:t>all possible smaller cases</a:t>
            </a:r>
            <a:r>
              <a:rPr lang="en-GB" dirty="0"/>
              <a:t>, where we prove each individual case.</a:t>
            </a:r>
          </a:p>
          <a:p>
            <a:r>
              <a:rPr lang="en-GB" sz="1400" dirty="0"/>
              <a:t>(This technique is sometimes known as ‘case analysis’)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4032" y="883501"/>
            <a:ext cx="414426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c. Disproof by Counter-Example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10389" y="2765457"/>
                <a:ext cx="3672408" cy="3884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 is even for all integers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either even or odd.</a:t>
                </a:r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even:</a:t>
                </a:r>
              </a:p>
              <a:p>
                <a:pPr/>
                <a:r>
                  <a:rPr lang="en-GB" sz="1600" dirty="0"/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𝑒𝑣𝑒𝑛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𝑒𝑣𝑒𝑛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𝑒𝑣𝑒𝑛</m:t>
                    </m:r>
                  </m:oMath>
                </a14:m>
                <a:br>
                  <a:rPr lang="en-GB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odd: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𝑜𝑑𝑑</m:t>
                      </m:r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𝑒𝑣𝑒𝑛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is even for all integers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389" y="2765457"/>
                <a:ext cx="3672408" cy="3884205"/>
              </a:xfrm>
              <a:prstGeom prst="rect">
                <a:avLst/>
              </a:prstGeom>
              <a:blipFill>
                <a:blip r:embed="rId2"/>
                <a:stretch>
                  <a:fillRect l="-1379" t="-651" b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1948002" y="2765456"/>
            <a:ext cx="40324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84033" y="1492997"/>
            <a:ext cx="41586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While to prove a statement is true, we need to prove every possible case (potentially infinitely many!), </a:t>
            </a:r>
            <a:r>
              <a:rPr lang="en-GB" b="1" dirty="0"/>
              <a:t>we only need one example to disprove</a:t>
            </a:r>
            <a:r>
              <a:rPr lang="en-GB" dirty="0"/>
              <a:t> a statement.</a:t>
            </a:r>
          </a:p>
          <a:p>
            <a:r>
              <a:rPr lang="en-GB" dirty="0"/>
              <a:t>This is known as a </a:t>
            </a:r>
            <a:r>
              <a:rPr lang="en-GB" b="1" dirty="0"/>
              <a:t>counterexample</a:t>
            </a:r>
            <a:r>
              <a:rPr lang="en-GB" dirty="0"/>
              <a:t>.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384032" y="3429000"/>
            <a:ext cx="40324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121401" y="3598103"/>
                <a:ext cx="4406899" cy="1914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Disprove the statement: </a:t>
                </a:r>
              </a:p>
              <a:p>
                <a:r>
                  <a:rPr lang="en-GB" b="1" dirty="0"/>
                  <a:t>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𝟒𝟏</m:t>
                    </m:r>
                  </m:oMath>
                </a14:m>
                <a:r>
                  <a:rPr lang="en-GB" b="1" dirty="0"/>
                  <a:t> is prime for all integers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.”</a:t>
                </a:r>
              </a:p>
              <a:p>
                <a:endParaRPr lang="en-GB" dirty="0"/>
              </a:p>
              <a:p>
                <a:pPr/>
                <a:r>
                  <a:rPr lang="en-GB" sz="1600" dirty="0"/>
                  <a:t>If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=41</m:t>
                    </m:r>
                  </m:oMath>
                </a14:m>
                <a:r>
                  <a:rPr lang="en-GB" sz="1600" dirty="0"/>
                  <a:t>, then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−41+41</m:t>
                    </m:r>
                  </m:oMath>
                </a14:m>
                <a:br>
                  <a:rPr lang="en-GB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41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Which is not prime as it has a factor of 41.</a:t>
                </a:r>
              </a:p>
              <a:p>
                <a:r>
                  <a:rPr lang="en-GB" sz="1600" dirty="0"/>
                  <a:t>Thus the statement is not true.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1" y="3598103"/>
                <a:ext cx="4406899" cy="1914435"/>
              </a:xfrm>
              <a:prstGeom prst="rect">
                <a:avLst/>
              </a:prstGeom>
              <a:blipFill>
                <a:blip r:embed="rId3"/>
                <a:stretch>
                  <a:fillRect l="-862" t="-1325" b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012856" y="3570323"/>
            <a:ext cx="3507080" cy="3213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616" y="4318000"/>
            <a:ext cx="4158084" cy="1843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979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7E – Y1 Pages 152-154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EAD0FA9-75AC-0720-939E-A877D292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599127"/>
            <a:ext cx="7772400" cy="296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5FC5CA-9A6F-14EC-3F55-CBDC0DEE0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717032"/>
            <a:ext cx="3386322" cy="720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BD08AD-E961-3F35-1919-7B013E081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560" y="997208"/>
            <a:ext cx="3515096" cy="2359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061977-969C-DBB8-3566-B508C63C3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441" y="1001461"/>
            <a:ext cx="3550666" cy="1725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948062-5565-1C2C-F27C-E26A66AB2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940" y="4653136"/>
            <a:ext cx="3073400" cy="1320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44E07FE-7AAB-B1A4-0770-9BF6D1516A44}"/>
              </a:ext>
            </a:extLst>
          </p:cNvPr>
          <p:cNvSpPr/>
          <p:nvPr/>
        </p:nvSpPr>
        <p:spPr>
          <a:xfrm>
            <a:off x="2010624" y="980728"/>
            <a:ext cx="7901800" cy="2520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1955CB-8041-BA59-190D-48C907B537A9}"/>
              </a:ext>
            </a:extLst>
          </p:cNvPr>
          <p:cNvSpPr/>
          <p:nvPr/>
        </p:nvSpPr>
        <p:spPr>
          <a:xfrm>
            <a:off x="1991542" y="4149080"/>
            <a:ext cx="3744419" cy="2520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9749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7E – Y1 Pages 152-154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2EBF8FD-A564-EDA1-6900-48E82477C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2697"/>
            <a:ext cx="4197516" cy="81321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2B686B6-01AB-E55C-041B-F0F16218FC71}"/>
              </a:ext>
            </a:extLst>
          </p:cNvPr>
          <p:cNvGrpSpPr/>
          <p:nvPr/>
        </p:nvGrpSpPr>
        <p:grpSpPr>
          <a:xfrm>
            <a:off x="6095428" y="692697"/>
            <a:ext cx="4108946" cy="1391091"/>
            <a:chOff x="21730" y="3040039"/>
            <a:chExt cx="4108946" cy="139109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4DBDDE-077E-D023-0F16-6D70D1B7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30" y="3040039"/>
              <a:ext cx="4108946" cy="139109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4ED2B2-BD67-B7A1-6FD0-12485267EF9C}"/>
                </a:ext>
              </a:extLst>
            </p:cNvPr>
            <p:cNvSpPr/>
            <p:nvPr/>
          </p:nvSpPr>
          <p:spPr>
            <a:xfrm>
              <a:off x="3707904" y="4221088"/>
              <a:ext cx="422772" cy="2100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68E3ABB-C94E-D3A5-0BA6-111E4D324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1844796"/>
            <a:ext cx="3632200" cy="157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040EED-E6EC-F210-D7AE-19E66503D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040" y="2247900"/>
            <a:ext cx="3632200" cy="236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BEB5CC-C226-7318-07B1-D7494927A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040" y="4858114"/>
            <a:ext cx="3086100" cy="1384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1C1F39-4F25-4139-DD40-5370359740EB}"/>
              </a:ext>
            </a:extLst>
          </p:cNvPr>
          <p:cNvSpPr/>
          <p:nvPr/>
        </p:nvSpPr>
        <p:spPr>
          <a:xfrm>
            <a:off x="1826850" y="1099304"/>
            <a:ext cx="3744419" cy="2520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E2636-1984-2026-871A-BF034C80CBE7}"/>
              </a:ext>
            </a:extLst>
          </p:cNvPr>
          <p:cNvSpPr/>
          <p:nvPr/>
        </p:nvSpPr>
        <p:spPr>
          <a:xfrm>
            <a:off x="6394077" y="2242463"/>
            <a:ext cx="3744419" cy="2391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C9F0E2-75DF-471A-8928-96C96F594FB7}"/>
              </a:ext>
            </a:extLst>
          </p:cNvPr>
          <p:cNvSpPr/>
          <p:nvPr/>
        </p:nvSpPr>
        <p:spPr>
          <a:xfrm>
            <a:off x="6388837" y="4768776"/>
            <a:ext cx="3744419" cy="1756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13650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26484</TotalTime>
  <Words>3290</Words>
  <Application>Microsoft Macintosh PowerPoint</Application>
  <PresentationFormat>Widescreen</PresentationFormat>
  <Paragraphs>377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 Math</vt:lpstr>
      <vt:lpstr>Wingdings</vt:lpstr>
      <vt:lpstr>1_Office Theme</vt:lpstr>
      <vt:lpstr>Pure Y1 Ch 7 Algebraic Methods</vt:lpstr>
      <vt:lpstr>Algebraic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1007</cp:revision>
  <dcterms:created xsi:type="dcterms:W3CDTF">2013-02-28T07:36:55Z</dcterms:created>
  <dcterms:modified xsi:type="dcterms:W3CDTF">2023-10-02T15:58:02Z</dcterms:modified>
</cp:coreProperties>
</file>