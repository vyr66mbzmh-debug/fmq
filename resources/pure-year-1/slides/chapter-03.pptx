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483" r:id="rId3"/>
    <p:sldId id="484" r:id="rId4"/>
    <p:sldId id="498" r:id="rId5"/>
    <p:sldId id="499" r:id="rId6"/>
    <p:sldId id="485" r:id="rId7"/>
    <p:sldId id="486" r:id="rId8"/>
    <p:sldId id="522" r:id="rId9"/>
    <p:sldId id="523" r:id="rId10"/>
    <p:sldId id="521" r:id="rId11"/>
    <p:sldId id="500" r:id="rId12"/>
    <p:sldId id="501" r:id="rId13"/>
    <p:sldId id="502" r:id="rId14"/>
    <p:sldId id="503" r:id="rId15"/>
    <p:sldId id="504" r:id="rId16"/>
    <p:sldId id="520" r:id="rId17"/>
    <p:sldId id="505" r:id="rId18"/>
    <p:sldId id="506" r:id="rId19"/>
    <p:sldId id="507" r:id="rId20"/>
    <p:sldId id="508" r:id="rId21"/>
    <p:sldId id="510" r:id="rId22"/>
    <p:sldId id="511" r:id="rId23"/>
    <p:sldId id="512" r:id="rId24"/>
    <p:sldId id="509" r:id="rId25"/>
    <p:sldId id="517" r:id="rId26"/>
    <p:sldId id="514" r:id="rId27"/>
    <p:sldId id="518" r:id="rId28"/>
    <p:sldId id="524" r:id="rId29"/>
    <p:sldId id="513" r:id="rId30"/>
    <p:sldId id="515" r:id="rId31"/>
    <p:sldId id="516" r:id="rId32"/>
    <p:sldId id="51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17FAD-2A91-45A2-B8AE-6DCF18A964D4}" v="2" dt="2026-09-28T08:14:35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 autoAdjust="0"/>
    <p:restoredTop sz="96405" autoAdjust="0"/>
  </p:normalViewPr>
  <p:slideViewPr>
    <p:cSldViewPr>
      <p:cViewPr varScale="1">
        <p:scale>
          <a:sx n="129" d="100"/>
          <a:sy n="129" d="100"/>
        </p:scale>
        <p:origin x="295" y="79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Lamagna" userId="51ffa61b-81bf-4463-bdeb-7e3f3f1f8945" providerId="ADAL" clId="{78D49768-8953-4BDD-9016-7C6705BBC596}"/>
    <pc:docChg chg="modSld">
      <pc:chgData name="A Lamagna" userId="51ffa61b-81bf-4463-bdeb-7e3f3f1f8945" providerId="ADAL" clId="{78D49768-8953-4BDD-9016-7C6705BBC596}" dt="2026-09-28T08:14:35.039" v="5"/>
      <pc:docMkLst>
        <pc:docMk/>
      </pc:docMkLst>
      <pc:sldChg chg="addSp delSp modSp mod">
        <pc:chgData name="A Lamagna" userId="51ffa61b-81bf-4463-bdeb-7e3f3f1f8945" providerId="ADAL" clId="{78D49768-8953-4BDD-9016-7C6705BBC596}" dt="2026-09-28T08:14:35.039" v="5"/>
        <pc:sldMkLst>
          <pc:docMk/>
          <pc:sldMk cId="99017587" sldId="516"/>
        </pc:sldMkLst>
        <pc:grpChg chg="del mod">
          <ac:chgData name="A Lamagna" userId="51ffa61b-81bf-4463-bdeb-7e3f3f1f8945" providerId="ADAL" clId="{78D49768-8953-4BDD-9016-7C6705BBC596}" dt="2026-09-28T08:14:35.039" v="5"/>
          <ac:grpSpMkLst>
            <pc:docMk/>
            <pc:sldMk cId="99017587" sldId="516"/>
            <ac:grpSpMk id="12" creationId="{C868DBEB-605F-D8DB-1D2E-B7CD8EBABB9D}"/>
          </ac:grpSpMkLst>
        </pc:grpChg>
        <pc:grpChg chg="mod">
          <ac:chgData name="A Lamagna" userId="51ffa61b-81bf-4463-bdeb-7e3f3f1f8945" providerId="ADAL" clId="{78D49768-8953-4BDD-9016-7C6705BBC596}" dt="2026-09-28T08:14:35.039" v="5"/>
          <ac:grpSpMkLst>
            <pc:docMk/>
            <pc:sldMk cId="99017587" sldId="516"/>
            <ac:grpSpMk id="15" creationId="{43680B75-8786-AECC-E0F9-F102E4010154}"/>
          </ac:grpSpMkLst>
        </pc:grpChg>
        <pc:inkChg chg="add mod">
          <ac:chgData name="A Lamagna" userId="51ffa61b-81bf-4463-bdeb-7e3f3f1f8945" providerId="ADAL" clId="{78D49768-8953-4BDD-9016-7C6705BBC596}" dt="2026-09-28T08:14:35.039" v="5"/>
          <ac:inkMkLst>
            <pc:docMk/>
            <pc:sldMk cId="99017587" sldId="516"/>
            <ac:inkMk id="10" creationId="{C41E95C1-0A0A-0D82-2903-43B31D67279B}"/>
          </ac:inkMkLst>
        </pc:inkChg>
        <pc:inkChg chg="add mod">
          <ac:chgData name="A Lamagna" userId="51ffa61b-81bf-4463-bdeb-7e3f3f1f8945" providerId="ADAL" clId="{78D49768-8953-4BDD-9016-7C6705BBC596}" dt="2026-09-28T08:14:35.039" v="5"/>
          <ac:inkMkLst>
            <pc:docMk/>
            <pc:sldMk cId="99017587" sldId="516"/>
            <ac:inkMk id="11" creationId="{BFEAC9A6-EE4E-BB3C-E2F1-142F4FD9AE92}"/>
          </ac:inkMkLst>
        </pc:inkChg>
        <pc:inkChg chg="add mod">
          <ac:chgData name="A Lamagna" userId="51ffa61b-81bf-4463-bdeb-7e3f3f1f8945" providerId="ADAL" clId="{78D49768-8953-4BDD-9016-7C6705BBC596}" dt="2026-09-28T08:14:35.039" v="5"/>
          <ac:inkMkLst>
            <pc:docMk/>
            <pc:sldMk cId="99017587" sldId="516"/>
            <ac:inkMk id="13" creationId="{C953B847-2A42-48F3-F58A-3D11E27699EE}"/>
          </ac:inkMkLst>
        </pc:inkChg>
        <pc:inkChg chg="add mod">
          <ac:chgData name="A Lamagna" userId="51ffa61b-81bf-4463-bdeb-7e3f3f1f8945" providerId="ADAL" clId="{78D49768-8953-4BDD-9016-7C6705BBC596}" dt="2026-09-28T08:14:35.039" v="5"/>
          <ac:inkMkLst>
            <pc:docMk/>
            <pc:sldMk cId="99017587" sldId="516"/>
            <ac:inkMk id="14" creationId="{ACED0CC3-D527-F1DB-18D6-2EBFADB7E82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18 16388,'-1'0'0,"-1"0"0,1 0 0,1 1 0,1-1 0,1 0 0,0 0 0,0-1 0,2-1 0,28 4 0,-24-2 0,0 0 0,1 0 0,0 0 0,-1-1 0,1 1 0,-1-2 0,1 0 0,0 0 0,0 2 0,-1-2 0,0 0 0,-2 1 0,0 0 0,-1 0 0,-1-1 0,-1 1 0,0 1 0,-1 0 0,0 0 0,0-1 0,-1 1 0,0 0 0,0 0 0,0 1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3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 16388,'1'-1'0,"1"0"0,-1 1 0,0 1 0,0 0 0,1-1 0,-1 1 0,0 1 0,0-1 0,-1 1 0,1 1 0,1 1 0,-1 0 0,0 0 0,0 3 0,-1 1 0,-1-1 0,0 1 0,0 1 0,-1 0 0,-13 83 0,14-79 0,0 0 0,0-2 0,0 0 0,1 1 0,-1-1 0,1 1 0,-2-1 0,1-1 0,-1 1 0,0-1 0,-1-2 0,0 2 0,2-3 0,-2 1 0,2-2 0,-1 0 0,1-2 0,0 0 0,0-1 0,0-1 0,0 2 0,1-3 0,0 0 0,0 1 0,0-1 0,0-2 0,1 0 0,1 0 0,-1 1 0,1-2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16388,'-2'0'0,"1"1"0,0 1 0,1 1 0,-2 0 0,0 2 0,0 1 0,0 0 0,-1 2 0,2 1 0,-1 0 0,1 0 0,1 0 0,0 1 0,-2-1 0,1-1 0,0 0 0,-2 2 0,2-2 0,-2-1 0,2 2 0,-1-3 0,2-1 0,-1 1 0,1-2 0,-1 0 0,0-1 0,1-2 0,0 0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4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16388,'0'1'0,"1"0"0,1-1 0,1-1 0,-1 0 0,2 1 0,1 0 0,0 1 0,0 0 0,-1-1 0,1 0 0,0 1 0,1 1 0,0-2 0,1 1 0,1 0 0,-1 1 0,1 0 0,0-1 0,2 0 0,-1 1 0,-1-2 0,0 1 0,0 0 0,0-1 0,-1 0 0,0 0 0,-2 1 0,-1-1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806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39988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9126"/>
            <a:ext cx="109728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141.png"/><Relationship Id="rId12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80.png"/><Relationship Id="rId5" Type="http://schemas.openxmlformats.org/officeDocument/2006/relationships/image" Target="../media/image122.png"/><Relationship Id="rId10" Type="http://schemas.openxmlformats.org/officeDocument/2006/relationships/image" Target="../media/image79.png"/><Relationship Id="rId4" Type="http://schemas.openxmlformats.org/officeDocument/2006/relationships/image" Target="../media/image110.png"/><Relationship Id="rId9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84.png"/><Relationship Id="rId7" Type="http://schemas.openxmlformats.org/officeDocument/2006/relationships/image" Target="../media/image141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87.png"/><Relationship Id="rId5" Type="http://schemas.openxmlformats.org/officeDocument/2006/relationships/image" Target="../media/image122.png"/><Relationship Id="rId10" Type="http://schemas.openxmlformats.org/officeDocument/2006/relationships/image" Target="../media/image86.png"/><Relationship Id="rId4" Type="http://schemas.openxmlformats.org/officeDocument/2006/relationships/image" Target="../media/image110.png"/><Relationship Id="rId9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38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88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91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90.png"/><Relationship Id="rId14" Type="http://schemas.openxmlformats.org/officeDocument/2006/relationships/image" Target="../media/image3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98.png"/><Relationship Id="rId7" Type="http://schemas.openxmlformats.org/officeDocument/2006/relationships/image" Target="../media/image11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20.png"/><Relationship Id="rId5" Type="http://schemas.openxmlformats.org/officeDocument/2006/relationships/image" Target="../media/image100.png"/><Relationship Id="rId10" Type="http://schemas.openxmlformats.org/officeDocument/2006/relationships/image" Target="../media/image610.png"/><Relationship Id="rId4" Type="http://schemas.openxmlformats.org/officeDocument/2006/relationships/image" Target="../media/image99.png"/><Relationship Id="rId9" Type="http://schemas.openxmlformats.org/officeDocument/2006/relationships/image" Target="../media/image60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590.png"/><Relationship Id="rId18" Type="http://schemas.openxmlformats.org/officeDocument/2006/relationships/image" Target="../media/image120.png"/><Relationship Id="rId7" Type="http://schemas.openxmlformats.org/officeDocument/2006/relationships/image" Target="../media/image141.png"/><Relationship Id="rId12" Type="http://schemas.openxmlformats.org/officeDocument/2006/relationships/image" Target="../media/image580.png"/><Relationship Id="rId17" Type="http://schemas.openxmlformats.org/officeDocument/2006/relationships/image" Target="../media/image119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570.png"/><Relationship Id="rId5" Type="http://schemas.openxmlformats.org/officeDocument/2006/relationships/image" Target="../media/image122.png"/><Relationship Id="rId15" Type="http://schemas.openxmlformats.org/officeDocument/2006/relationships/image" Target="../media/image117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6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7" Type="http://schemas.openxmlformats.org/officeDocument/2006/relationships/image" Target="../media/image680.png"/><Relationship Id="rId12" Type="http://schemas.openxmlformats.org/officeDocument/2006/relationships/image" Target="../media/image125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0.png"/><Relationship Id="rId11" Type="http://schemas.openxmlformats.org/officeDocument/2006/relationships/image" Target="../media/image124.png"/><Relationship Id="rId5" Type="http://schemas.openxmlformats.org/officeDocument/2006/relationships/image" Target="../media/image660.png"/><Relationship Id="rId10" Type="http://schemas.openxmlformats.org/officeDocument/2006/relationships/image" Target="../media/image123.png"/><Relationship Id="rId4" Type="http://schemas.openxmlformats.org/officeDocument/2006/relationships/image" Target="../media/image110.png"/><Relationship Id="rId9" Type="http://schemas.openxmlformats.org/officeDocument/2006/relationships/image" Target="../media/image7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7.png"/><Relationship Id="rId7" Type="http://schemas.openxmlformats.org/officeDocument/2006/relationships/customXml" Target="../ink/ink2.xml"/><Relationship Id="rId12" Type="http://schemas.openxmlformats.org/officeDocument/2006/relationships/image" Target="../media/image132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31.png"/><Relationship Id="rId4" Type="http://schemas.openxmlformats.org/officeDocument/2006/relationships/image" Target="../media/image128.png"/><Relationship Id="rId9" Type="http://schemas.openxmlformats.org/officeDocument/2006/relationships/customXml" Target="../ink/ink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Y1 Chapter 3</a:t>
            </a:r>
            <a:br>
              <a:rPr lang="en-GB" b="1" dirty="0"/>
            </a:br>
            <a:r>
              <a:rPr lang="en-GB" b="1" dirty="0"/>
              <a:t>Equations and Inequalities</a:t>
            </a:r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764704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is little new content in this chapter since GCSE.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47592" y="1890405"/>
                <a:ext cx="2724272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=11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592" y="1890405"/>
                <a:ext cx="272427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147592" y="1542233"/>
            <a:ext cx="272427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Simultaneous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35960" y="1883935"/>
                <a:ext cx="3969877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points of intersection of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1883935"/>
                <a:ext cx="3969877" cy="646331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735960" y="1540018"/>
            <a:ext cx="396987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Simultaneous Equations using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47592" y="3873301"/>
                <a:ext cx="3024336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set of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which: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+24&lt;0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592" y="3873301"/>
                <a:ext cx="302433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147592" y="3513261"/>
            <a:ext cx="302433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r>
              <a:rPr lang="en-GB" dirty="0"/>
              <a:t>: Solving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735959" y="3873302"/>
                <a:ext cx="2664296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the region that satisfies the inequalities: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&lt;14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59" y="3873302"/>
                <a:ext cx="2664296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735959" y="3513261"/>
            <a:ext cx="266429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r>
              <a:rPr lang="en-GB" dirty="0"/>
              <a:t>: Sketching Inequalities</a:t>
            </a:r>
          </a:p>
        </p:txBody>
      </p:sp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sets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2279576" y="1175489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solution(s) to an equation may be: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663952" y="1639148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+1=5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1639148"/>
                <a:ext cx="244827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87689" y="1731480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A single value: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3287688" y="2318249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Multiple values: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023992" y="2287472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2287472"/>
                <a:ext cx="24482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287688" y="2905018"/>
            <a:ext cx="2218765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An infinitely large set of values: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105854" y="3052317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&gt;3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4" y="3052317"/>
                <a:ext cx="24482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3287688" y="3799563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No (real) values!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105854" y="3743455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4" y="3743455"/>
                <a:ext cx="244827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164550" y="4878722"/>
                <a:ext cx="77622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is that you shouldn’t think of the solution to an equation/inequality as an ‘answer’, but a </a:t>
                </a:r>
                <a:r>
                  <a:rPr lang="en-GB" b="1" u="sng" dirty="0"/>
                  <a:t>set</a:t>
                </a:r>
                <a:r>
                  <a:rPr lang="en-GB" dirty="0"/>
                  <a:t> of values, which might just be a set of 1 value (known as a singleton set), a set of no values (i.e. the empty set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dirty="0"/>
                  <a:t>), or an infinite set (in the last example above, this was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550" y="4878722"/>
                <a:ext cx="7762292" cy="1200329"/>
              </a:xfrm>
              <a:prstGeom prst="rect">
                <a:avLst/>
              </a:prstGeom>
              <a:blipFill>
                <a:blip r:embed="rId6"/>
                <a:stretch>
                  <a:fillRect l="-654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3287687" y="4326459"/>
            <a:ext cx="2218765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Every value!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105854" y="4266785"/>
                <a:ext cx="2726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4" y="4266785"/>
                <a:ext cx="27264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886717" y="6164382"/>
            <a:ext cx="6274550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The solutions to an equation are known as the </a:t>
            </a:r>
            <a:r>
              <a:rPr lang="en-GB" b="1" dirty="0"/>
              <a:t>solution set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8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/>
      <p:bldP spid="38" grpId="0" animBg="1"/>
      <p:bldP spid="39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sets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699099"/>
            <a:ext cx="7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simultaneous equations, the same is true, except each ‘solution’ in the solution set is an assignment to </a:t>
            </a:r>
            <a:r>
              <a:rPr lang="en-GB" b="1" dirty="0"/>
              <a:t>multiple</a:t>
            </a:r>
            <a:r>
              <a:rPr lang="en-GB" dirty="0"/>
              <a:t> variables.</a:t>
            </a:r>
          </a:p>
          <a:p>
            <a:r>
              <a:rPr lang="en-GB" dirty="0"/>
              <a:t>All equations have to be satisfied </a:t>
            </a:r>
            <a:r>
              <a:rPr lang="en-GB" b="1" dirty="0"/>
              <a:t>at the same time, i.e. ‘simultaneously’</a:t>
            </a:r>
            <a:r>
              <a:rPr lang="en-GB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1437" y="2444081"/>
            <a:ext cx="221876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A single solution: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15548" y="2405983"/>
                <a:ext cx="18614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548" y="2405983"/>
                <a:ext cx="1861446" cy="830997"/>
              </a:xfrm>
              <a:prstGeom prst="rect">
                <a:avLst/>
              </a:prstGeom>
              <a:blipFill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38900" y="2319853"/>
                <a:ext cx="3241700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Solution 1: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600" b="1" dirty="0"/>
                  <a:t> </a:t>
                </a:r>
              </a:p>
              <a:p>
                <a:r>
                  <a:rPr lang="en-GB" sz="1400" dirty="0"/>
                  <a:t>To be precise here, the solution set is of size 1, but this solution is an assignment to multiple variables, i.e. a pair of values.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900" y="2319853"/>
                <a:ext cx="3241700" cy="984885"/>
              </a:xfrm>
              <a:prstGeom prst="rect">
                <a:avLst/>
              </a:prstGeom>
              <a:blipFill>
                <a:blip r:embed="rId3"/>
                <a:stretch>
                  <a:fillRect l="-778" t="-1266" b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847260" y="3697242"/>
            <a:ext cx="221876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Two solutions: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84599" y="3528235"/>
                <a:ext cx="20641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599" y="3528235"/>
                <a:ext cx="2064169" cy="830997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616498" y="3452035"/>
                <a:ext cx="280831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Solution 1: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Solution 2: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sz="1600" b="1" dirty="0"/>
              </a:p>
              <a:p>
                <a:r>
                  <a:rPr lang="en-GB" sz="1400" dirty="0"/>
                  <a:t>This time we have two solutions, each an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pair.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498" y="3452035"/>
                <a:ext cx="2808312" cy="1015663"/>
              </a:xfrm>
              <a:prstGeom prst="rect">
                <a:avLst/>
              </a:prstGeom>
              <a:blipFill>
                <a:blip r:embed="rId5"/>
                <a:stretch>
                  <a:fillRect l="-897" t="-1235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834560" y="4913058"/>
            <a:ext cx="221876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No solutions: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01479" y="4715887"/>
                <a:ext cx="18962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479" y="4715887"/>
                <a:ext cx="1896272" cy="830997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821859" y="5816097"/>
            <a:ext cx="2218765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2000" dirty="0"/>
              <a:t>Infinitely large set of solutions: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88235" y="5729142"/>
                <a:ext cx="19084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235" y="5729142"/>
                <a:ext cx="1908484" cy="830997"/>
              </a:xfrm>
              <a:prstGeom prst="rect">
                <a:avLst/>
              </a:prstGeom>
              <a:blipFill>
                <a:blip r:embed="rId7"/>
                <a:stretch>
                  <a:fillRect l="-658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91887" y="5686760"/>
                <a:ext cx="280831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Solution 1: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Solution 2: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Solution 3: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Solution 4: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…    </a:t>
                </a:r>
                <a:r>
                  <a:rPr lang="en-GB" sz="1400" dirty="0"/>
                  <a:t>Infinite possibilities!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887" y="5686760"/>
                <a:ext cx="2808312" cy="1169551"/>
              </a:xfrm>
              <a:prstGeom prst="rect">
                <a:avLst/>
              </a:prstGeom>
              <a:blipFill>
                <a:blip r:embed="rId8"/>
                <a:stretch>
                  <a:fillRect l="-448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18171" y="4725436"/>
                <a:ext cx="232103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solution set is empty, i.e.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1400" dirty="0"/>
                  <a:t>, as both equation can’t be satisfied at the same time.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171" y="4725436"/>
                <a:ext cx="2321030" cy="738664"/>
              </a:xfrm>
              <a:prstGeom prst="rect">
                <a:avLst/>
              </a:prstGeom>
              <a:blipFill>
                <a:blip r:embed="rId9"/>
                <a:stretch>
                  <a:fillRect l="-1093" t="-1695" r="-1093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966261" y="183705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Scenario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932236" y="2244484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5800" y="18205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4226" y="1804269"/>
            <a:ext cx="157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Solution Set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1930778" y="1800021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138301" y="1800022"/>
            <a:ext cx="0" cy="4707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919536" y="3352121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966261" y="4581997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966261" y="5635783"/>
            <a:ext cx="81798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372268" y="1800021"/>
            <a:ext cx="0" cy="4707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144628" y="2260140"/>
            <a:ext cx="2227641" cy="10877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8593" y="2260140"/>
            <a:ext cx="3744276" cy="10877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2169" y="3345901"/>
            <a:ext cx="2227641" cy="1230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675" y="3345901"/>
            <a:ext cx="3736935" cy="1231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2169" y="4574169"/>
            <a:ext cx="2227641" cy="10494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8646" y="4587941"/>
            <a:ext cx="3736935" cy="1050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44654" y="5629529"/>
            <a:ext cx="2227641" cy="1208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675" y="5631191"/>
            <a:ext cx="3736935" cy="12094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729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 :: Simultaneous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54996" y="1410522"/>
                <a:ext cx="3425665" cy="12311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=8</m:t>
                      </m:r>
                    </m:oMath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96" y="1410522"/>
                <a:ext cx="3425665" cy="1231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09911" y="2977930"/>
                <a:ext cx="366997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can either use substitution (i.e. making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the subject of one equation, and substituting it into the other) or elimination, but the latter is easier for linear equations.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𝟐𝟒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Adding the two equations to ‘eliminate’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Substituting into first equation: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911" y="2977930"/>
                <a:ext cx="3669976" cy="3539430"/>
              </a:xfrm>
              <a:prstGeom prst="rect">
                <a:avLst/>
              </a:prstGeom>
              <a:blipFill>
                <a:blip r:embed="rId3"/>
                <a:stretch>
                  <a:fillRect l="-1034" t="-357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14572" y="1410522"/>
                <a:ext cx="3425665" cy="12311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572" y="1410522"/>
                <a:ext cx="3425665" cy="1231106"/>
              </a:xfrm>
              <a:prstGeom prst="rect">
                <a:avLst/>
              </a:prstGeom>
              <a:blipFill>
                <a:blip r:embed="rId4"/>
                <a:stretch>
                  <a:fillRect b="-90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01797" y="2794219"/>
                <a:ext cx="4221517" cy="4039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can’t use elimination this time as nothing would cancel.</a:t>
                </a:r>
              </a:p>
              <a:p>
                <a:r>
                  <a:rPr lang="en-GB" sz="1600" dirty="0"/>
                  <a:t>We instead:</a:t>
                </a:r>
              </a:p>
              <a:p>
                <a:pPr marL="342900" indent="-342900">
                  <a:buAutoNum type="arabicParenBoth"/>
                </a:pPr>
                <a:r>
                  <a:rPr lang="en-GB" sz="1600" dirty="0"/>
                  <a:t>Rearrange linear equation to make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the subject.</a:t>
                </a:r>
              </a:p>
              <a:p>
                <a:pPr marL="342900" indent="-342900">
                  <a:buAutoNum type="arabicParenBoth"/>
                </a:pPr>
                <a:r>
                  <a:rPr lang="en-GB" sz="1600" dirty="0"/>
                  <a:t>Substitute into quadratic equation and solve.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Substitute into other equation: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797" y="2794219"/>
                <a:ext cx="4221517" cy="4039696"/>
              </a:xfrm>
              <a:prstGeom prst="rect">
                <a:avLst/>
              </a:prstGeom>
              <a:blipFill>
                <a:blip r:embed="rId5"/>
                <a:stretch>
                  <a:fillRect l="-1201" t="-313" r="-901" b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6095428" y="1410522"/>
            <a:ext cx="0" cy="5106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59370" y="4509120"/>
            <a:ext cx="3216916" cy="20082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1601" y="4509121"/>
            <a:ext cx="3963542" cy="22400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3422" y="67761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Recap!</a:t>
            </a:r>
          </a:p>
        </p:txBody>
      </p:sp>
    </p:spTree>
    <p:extLst>
      <p:ext uri="{BB962C8B-B14F-4D97-AF65-F5344CB8AC3E}">
        <p14:creationId xmlns:p14="http://schemas.microsoft.com/office/powerpoint/2010/main" val="417674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24156" y="963698"/>
                <a:ext cx="7210131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=21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156" y="963698"/>
                <a:ext cx="7210131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73276" y="2515846"/>
                <a:ext cx="3815852" cy="3329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=21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+1=21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−20=0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−10=0</m:t>
                      </m:r>
                    </m:oMath>
                    <m:oMath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276" y="2515846"/>
                <a:ext cx="3815852" cy="3329438"/>
              </a:xfrm>
              <a:prstGeom prst="rect">
                <a:avLst/>
              </a:prstGeom>
              <a:blipFill>
                <a:blip r:embed="rId3"/>
                <a:stretch>
                  <a:fillRect b="-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573276" y="2420888"/>
            <a:ext cx="4178908" cy="3672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523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3A/B – Y1 Pages 40, 41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3C01965-140B-2483-0B68-BEE12E38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12472"/>
            <a:ext cx="4078809" cy="1088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7334EB-67EE-1D8C-B3DB-D365F9FA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228" y="2276872"/>
            <a:ext cx="5740400" cy="3022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9E893A-091E-F18E-821D-81FACE847738}"/>
              </a:ext>
            </a:extLst>
          </p:cNvPr>
          <p:cNvSpPr/>
          <p:nvPr/>
        </p:nvSpPr>
        <p:spPr>
          <a:xfrm>
            <a:off x="3071664" y="2132856"/>
            <a:ext cx="6120680" cy="38884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50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3A/B – Y1 Pages 40, 41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8AF5F8-C9B8-96F6-329B-120B55058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2434"/>
            <a:ext cx="5688632" cy="2122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3E1792-0C63-9B97-3B7F-A66AC6CC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358" y="2980352"/>
            <a:ext cx="2736304" cy="1194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7475A-9190-8C65-65C5-0D0731E25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850" y="2921689"/>
            <a:ext cx="2620640" cy="39015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BE89BE-CE98-3A60-F2CF-0A89B8AF54A3}"/>
              </a:ext>
            </a:extLst>
          </p:cNvPr>
          <p:cNvSpPr/>
          <p:nvPr/>
        </p:nvSpPr>
        <p:spPr>
          <a:xfrm>
            <a:off x="1847528" y="2852936"/>
            <a:ext cx="4248472" cy="39015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91934-44BA-2D6C-2150-DF76BFC09A3F}"/>
              </a:ext>
            </a:extLst>
          </p:cNvPr>
          <p:cNvSpPr/>
          <p:nvPr/>
        </p:nvSpPr>
        <p:spPr>
          <a:xfrm>
            <a:off x="6293069" y="2852936"/>
            <a:ext cx="4248472" cy="39015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11518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3A/B – Y1 Pages 40, 41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D21ADF3-FC58-5C0C-5C6E-682F2A981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614372"/>
            <a:ext cx="5055765" cy="1518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2C5D5C-CE59-16FA-6BED-F7E392003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3832126"/>
            <a:ext cx="7195829" cy="336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061C9-D2E9-6641-996A-C086FFE93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992" y="1137823"/>
            <a:ext cx="3769447" cy="2507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2D0A-E3C1-80EA-CDD4-848240143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584" y="4200930"/>
            <a:ext cx="3672407" cy="21952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7788286-DF9D-5FFF-753C-254E8F34D033}"/>
              </a:ext>
            </a:extLst>
          </p:cNvPr>
          <p:cNvSpPr/>
          <p:nvPr/>
        </p:nvSpPr>
        <p:spPr>
          <a:xfrm>
            <a:off x="5951985" y="999937"/>
            <a:ext cx="4464495" cy="28321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0D26FB-99B3-818E-6B9A-656843F7D7A9}"/>
              </a:ext>
            </a:extLst>
          </p:cNvPr>
          <p:cNvSpPr/>
          <p:nvPr/>
        </p:nvSpPr>
        <p:spPr>
          <a:xfrm>
            <a:off x="2019761" y="4188647"/>
            <a:ext cx="4464495" cy="2552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299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43664" y="916537"/>
                <a:ext cx="5611688" cy="224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[STEP 2010 Q1] </a:t>
                </a:r>
                <a:r>
                  <a:rPr lang="en-GB" dirty="0"/>
                  <a:t>Given that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a) Find the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Solve the simultaneous equations: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=9,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sz="1400" dirty="0"/>
                  <a:t>(Hint: Can we use the same method in (a) to rewrite the second equation?)</a:t>
                </a:r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64" y="916537"/>
                <a:ext cx="5611688" cy="2245936"/>
              </a:xfrm>
              <a:prstGeom prst="rect">
                <a:avLst/>
              </a:prstGeom>
              <a:blipFill>
                <a:blip r:embed="rId2"/>
                <a:stretch>
                  <a:fillRect l="-676" t="-1124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89303" y="936896"/>
                <a:ext cx="2935199" cy="4370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2012 1G] </a:t>
                </a:r>
                <a:r>
                  <a:rPr lang="en-GB" dirty="0"/>
                  <a:t>There are </a:t>
                </a:r>
                <a:r>
                  <a:rPr lang="en-GB" i="1" dirty="0"/>
                  <a:t>positive</a:t>
                </a:r>
                <a:r>
                  <a:rPr lang="en-GB" dirty="0"/>
                  <a:t> real numbers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which solve the equations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=4,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for:</a:t>
                </a:r>
              </a:p>
              <a:p>
                <a:r>
                  <a:rPr lang="en-GB" dirty="0"/>
                  <a:t>A) All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;</a:t>
                </a:r>
              </a:p>
              <a:p>
                <a:r>
                  <a:rPr lang="en-GB" dirty="0"/>
                  <a:t>B) No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;</a:t>
                </a:r>
              </a:p>
              <a:p>
                <a:r>
                  <a:rPr lang="en-GB" dirty="0"/>
                  <a:t>C)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 only;</a:t>
                </a:r>
              </a:p>
              <a:p>
                <a:r>
                  <a:rPr lang="en-GB" dirty="0"/>
                  <a:t>D) Only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&gt;−2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sz="1600" b="1" dirty="0"/>
                  <a:t>If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 then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 which are equivalent. This would give an infinite solution set, thus the answer is C.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303" y="936896"/>
                <a:ext cx="2935199" cy="4370427"/>
              </a:xfrm>
              <a:prstGeom prst="rect">
                <a:avLst/>
              </a:prstGeom>
              <a:blipFill>
                <a:blip r:embed="rId3"/>
                <a:stretch>
                  <a:fillRect l="-1724" t="-578" r="-2155" b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1631504" y="1022520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8501" y="1022519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284838" y="3189211"/>
                <a:ext cx="5485685" cy="2843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a) Expanding RHS: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sSup>
                            <m:sSup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Comparing coefficients: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sz="1600" b="1" dirty="0"/>
              </a:p>
              <a:p>
                <a:endParaRPr lang="en-GB" sz="1600" b="1" dirty="0"/>
              </a:p>
              <a:p>
                <a:r>
                  <a:rPr lang="en-GB" sz="1600" b="1" dirty="0"/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br>
                  <a:rPr lang="en-GB" sz="1600" b="1" dirty="0"/>
                </a:br>
                <a:r>
                  <a:rPr lang="en-GB" sz="1600" b="1" dirty="0"/>
                  <a:t>Using method in (a):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Subtracting yields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We have to consider each of 4 possibilities.</a:t>
                </a:r>
              </a:p>
              <a:p>
                <a:r>
                  <a:rPr lang="en-GB" sz="1600" b="1" dirty="0"/>
                  <a:t>Final solution set: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𝒐𝒓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 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𝒐𝒓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38" y="3189211"/>
                <a:ext cx="5485685" cy="2843664"/>
              </a:xfrm>
              <a:prstGeom prst="rect">
                <a:avLst/>
              </a:prstGeom>
              <a:blipFill>
                <a:blip r:embed="rId4"/>
                <a:stretch>
                  <a:fillRect l="-693" t="-889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902455" y="3903055"/>
            <a:ext cx="3016262" cy="1362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17373" y="3191787"/>
            <a:ext cx="5239370" cy="11248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7373" y="4424884"/>
            <a:ext cx="5239370" cy="15459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107738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Simultaneous Equations and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 flipV="1">
            <a:off x="3253884" y="1063257"/>
            <a:ext cx="1119642" cy="30795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7317874">
                <a:off x="3013007" y="3477590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17874">
                <a:off x="3013007" y="3477590"/>
                <a:ext cx="136815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3191972" y="4004494"/>
            <a:ext cx="173344" cy="1604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600056" y="1125534"/>
                <a:ext cx="345638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 a line with a given equation is </a:t>
                </a:r>
                <a:r>
                  <a:rPr lang="en-GB" b="1" dirty="0"/>
                  <a:t>the set of all points that satisfy the equation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i.e. It is a graphical representation of the solution set where each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point represents each of the solutions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the equation. 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1125534"/>
                <a:ext cx="3456384" cy="2585323"/>
              </a:xfrm>
              <a:prstGeom prst="rect">
                <a:avLst/>
              </a:prstGeom>
              <a:blipFill>
                <a:blip r:embed="rId3"/>
                <a:stretch>
                  <a:fillRect l="-1465" t="-976" r="-1465" b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H="1" flipV="1">
            <a:off x="2823208" y="1318606"/>
            <a:ext cx="2509819" cy="23593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rot="2511400">
                <a:off x="4205224" y="2791632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11400">
                <a:off x="4205224" y="2791632"/>
                <a:ext cx="136815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2736535" y="1238367"/>
            <a:ext cx="173344" cy="1604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720912" y="4522473"/>
                <a:ext cx="6720452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Now suppose we introduced a second simultaneous equation: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  <a:p>
                <a:endParaRPr lang="en-GB" sz="800" dirty="0"/>
              </a:p>
              <a:p>
                <a:r>
                  <a:rPr lang="en-GB" dirty="0"/>
                  <a:t>The second line again consists of all points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which satisfy the equation. So what point must satisfy both equations simultaneously?</a:t>
                </a:r>
              </a:p>
              <a:p>
                <a:r>
                  <a:rPr lang="en-GB" b="1" dirty="0"/>
                  <a:t>The point of intersection!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912" y="4522473"/>
                <a:ext cx="6720452" cy="1877437"/>
              </a:xfrm>
              <a:prstGeom prst="rect">
                <a:avLst/>
              </a:prstGeom>
              <a:blipFill>
                <a:blip r:embed="rId5"/>
                <a:stretch>
                  <a:fillRect l="-755" t="-2013" b="-3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3746881" y="2180274"/>
            <a:ext cx="323544" cy="307745"/>
          </a:xfrm>
          <a:prstGeom prst="ellipse">
            <a:avLst/>
          </a:prstGeom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Freeform: Shape 20"/>
          <p:cNvSpPr/>
          <p:nvPr/>
        </p:nvSpPr>
        <p:spPr>
          <a:xfrm>
            <a:off x="2084670" y="2454558"/>
            <a:ext cx="1268130" cy="3654142"/>
          </a:xfrm>
          <a:custGeom>
            <a:avLst/>
            <a:gdLst>
              <a:gd name="connsiteX0" fmla="*/ 614070 w 1274470"/>
              <a:gd name="connsiteY0" fmla="*/ 3793842 h 3793842"/>
              <a:gd name="connsiteX1" fmla="*/ 29870 w 1274470"/>
              <a:gd name="connsiteY1" fmla="*/ 2638142 h 3793842"/>
              <a:gd name="connsiteX2" fmla="*/ 144170 w 1274470"/>
              <a:gd name="connsiteY2" fmla="*/ 1037942 h 3793842"/>
              <a:gd name="connsiteX3" fmla="*/ 652170 w 1274470"/>
              <a:gd name="connsiteY3" fmla="*/ 148942 h 3793842"/>
              <a:gd name="connsiteX4" fmla="*/ 1274470 w 1274470"/>
              <a:gd name="connsiteY4" fmla="*/ 9242 h 3793842"/>
              <a:gd name="connsiteX0" fmla="*/ 518830 w 1268130"/>
              <a:gd name="connsiteY0" fmla="*/ 3654142 h 3654142"/>
              <a:gd name="connsiteX1" fmla="*/ 23530 w 1268130"/>
              <a:gd name="connsiteY1" fmla="*/ 2638142 h 3654142"/>
              <a:gd name="connsiteX2" fmla="*/ 137830 w 1268130"/>
              <a:gd name="connsiteY2" fmla="*/ 1037942 h 3654142"/>
              <a:gd name="connsiteX3" fmla="*/ 645830 w 1268130"/>
              <a:gd name="connsiteY3" fmla="*/ 148942 h 3654142"/>
              <a:gd name="connsiteX4" fmla="*/ 1268130 w 1268130"/>
              <a:gd name="connsiteY4" fmla="*/ 9242 h 365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8130" h="3654142">
                <a:moveTo>
                  <a:pt x="518830" y="3654142"/>
                </a:moveTo>
                <a:cubicBezTo>
                  <a:pt x="265888" y="3305950"/>
                  <a:pt x="87030" y="3074175"/>
                  <a:pt x="23530" y="2638142"/>
                </a:cubicBezTo>
                <a:cubicBezTo>
                  <a:pt x="-39970" y="2202109"/>
                  <a:pt x="34113" y="1452809"/>
                  <a:pt x="137830" y="1037942"/>
                </a:cubicBezTo>
                <a:cubicBezTo>
                  <a:pt x="241547" y="623075"/>
                  <a:pt x="457447" y="320392"/>
                  <a:pt x="645830" y="148942"/>
                </a:cubicBezTo>
                <a:cubicBezTo>
                  <a:pt x="834213" y="-22508"/>
                  <a:pt x="1051171" y="-6633"/>
                  <a:pt x="1268130" y="9242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2765934" y="6096000"/>
            <a:ext cx="3266566" cy="5999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0515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04167E-6 1.48148E-6 L 0.09102 -0.4511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-2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16667E-7 3.7037E-7 L 0.20938 0.3442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69" y="1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 animBg="1"/>
      <p:bldP spid="15" grpId="1" animBg="1"/>
      <p:bldP spid="17" grpId="0"/>
      <p:bldP spid="18" grpId="0" animBg="1"/>
      <p:bldP spid="18" grpId="1" animBg="1"/>
      <p:bldP spid="21" grpId="0" animBg="1"/>
      <p:bldP spid="22" grpId="0" animBg="1"/>
      <p:bldP spid="22" grpId="1" animBg="1"/>
      <p:bldP spid="22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a) On the same axes, draw the graphs of: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blipFill>
                <a:blip r:embed="rId2"/>
                <a:stretch>
                  <a:fillRect l="-1190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235" y="2190176"/>
            <a:ext cx="3741156" cy="32461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2898" y="2086916"/>
            <a:ext cx="3937830" cy="3599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167780" y="821904"/>
                <a:ext cx="4246221" cy="5956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:r>
                  <a:rPr lang="en-GB" dirty="0"/>
                  <a:t>b) Use your graph to write down the solutions to the simultaneous equations.</a:t>
                </a:r>
                <a:br>
                  <a:rPr lang="en-GB" dirty="0"/>
                </a:br>
                <a:br>
                  <a:rPr lang="en-GB" sz="300" dirty="0"/>
                </a:br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𝒐𝒓</m:t>
                      </m:r>
                    </m:oMath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(We could always substitute into the original equations to check they work)</a:t>
                </a:r>
              </a:p>
              <a:p>
                <a:endParaRPr lang="en-GB" dirty="0"/>
              </a:p>
              <a:p>
                <a:r>
                  <a:rPr lang="en-GB" dirty="0"/>
                  <a:t>c) What algebraic method (perhaps thinking about the previous chapter), could we have used to show the graphs would have intersected twice? </a:t>
                </a:r>
              </a:p>
              <a:p>
                <a:endParaRPr lang="en-GB" sz="1100" b="1" dirty="0"/>
              </a:p>
              <a:p>
                <a:r>
                  <a:rPr lang="en-GB" sz="1600" b="1" dirty="0"/>
                  <a:t>Substituting linear equation into quadratic: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Since there were two points of intersection, the equation must have two distinct solutions. Thus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br>
                  <a:rPr lang="en-GB" sz="1600" b="1" dirty="0"/>
                </a:br>
                <a:r>
                  <a:rPr lang="en-GB" sz="1600" b="1" dirty="0"/>
                  <a:t>Thus the quadratic has two distinct solutions, i.e. we have two points of intersection.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80" y="821904"/>
                <a:ext cx="4246221" cy="5956824"/>
              </a:xfrm>
              <a:prstGeom prst="rect">
                <a:avLst/>
              </a:prstGeom>
              <a:blipFill>
                <a:blip r:embed="rId4"/>
                <a:stretch>
                  <a:fillRect l="-1194" t="-426" r="-1493" b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242248" y="1443804"/>
            <a:ext cx="4197152" cy="1019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8411" y="3909643"/>
            <a:ext cx="4258921" cy="27463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18642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Another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a) On the same axes, draw the graphs of: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52" y="859172"/>
                <a:ext cx="4248472" cy="1477328"/>
              </a:xfrm>
              <a:prstGeom prst="rect">
                <a:avLst/>
              </a:prstGeom>
              <a:blipFill>
                <a:blip r:embed="rId2"/>
                <a:stretch>
                  <a:fillRect l="-1190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461" y="2156767"/>
            <a:ext cx="4536504" cy="3738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32104" y="859172"/>
                <a:ext cx="3468341" cy="4265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b) Prove algebraically that the lines never meet.</a:t>
                </a:r>
              </a:p>
              <a:p>
                <a:endParaRPr lang="en-GB" dirty="0"/>
              </a:p>
              <a:p>
                <a:r>
                  <a:rPr lang="en-GB" b="1" dirty="0"/>
                  <a:t>When we try to solve simultaneously by substitution, the equation must have no solutions.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b="1" dirty="0"/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therefore no solutions, and therefore no points of intersection.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4" y="859172"/>
                <a:ext cx="3468341" cy="4265976"/>
              </a:xfrm>
              <a:prstGeom prst="rect">
                <a:avLst/>
              </a:prstGeom>
              <a:blipFill>
                <a:blip r:embed="rId4"/>
                <a:stretch>
                  <a:fillRect l="-1455" t="-593" r="-1818" b="-1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944936" y="2057547"/>
            <a:ext cx="4646364" cy="38479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p:sp>
        <p:nvSpPr>
          <p:cNvPr id="9" name="Rectangle 8"/>
          <p:cNvSpPr/>
          <p:nvPr/>
        </p:nvSpPr>
        <p:spPr>
          <a:xfrm>
            <a:off x="7031732" y="1772817"/>
            <a:ext cx="3382269" cy="41222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10582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Final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75520" y="859173"/>
                <a:ext cx="8640960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line with equation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/>
                  <a:t> meets the curve with equation </a:t>
                </a:r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 at exactly one point. Given that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 is a positive constant:</a:t>
                </a:r>
              </a:p>
              <a:p>
                <a:r>
                  <a:rPr lang="en-GB" sz="2000" dirty="0"/>
                  <a:t>a) Find the value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r>
                  <a:rPr lang="en-GB" sz="2000" dirty="0"/>
                  <a:t>b) For this value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, find the coordinates of this point of intersection.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859173"/>
                <a:ext cx="8640960" cy="1323439"/>
              </a:xfrm>
              <a:prstGeom prst="rect">
                <a:avLst/>
              </a:prstGeom>
              <a:blipFill>
                <a:blip r:embed="rId2"/>
                <a:stretch>
                  <a:fillRect b="-84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35560" y="2636913"/>
                <a:ext cx="792088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+mj-lt"/>
                  </a:rPr>
                  <a:t>Substituting: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Since one point of intersection, equation has one solution,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=4,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16−4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=±2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positive so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/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,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br>
                  <a:rPr lang="en-GB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=0   →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+1=−1     →   (−1,−1)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636913"/>
                <a:ext cx="7920880" cy="4247317"/>
              </a:xfrm>
              <a:prstGeom prst="rect">
                <a:avLst/>
              </a:prstGeom>
              <a:blipFill>
                <a:blip r:embed="rId3"/>
                <a:stretch>
                  <a:fillRect l="-641" t="-597" b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800920" y="2692400"/>
            <a:ext cx="269180" cy="2537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920" y="5744105"/>
            <a:ext cx="269180" cy="2537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6160" y="5547817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can breathe a sigh of relief as we were expecting one solution only.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7032104" y="5870982"/>
            <a:ext cx="504056" cy="51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88642" y="2676129"/>
            <a:ext cx="7971358" cy="2797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6062" y="5575300"/>
            <a:ext cx="7973938" cy="1231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06342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3C – Y1 Page 45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854C772-4BF3-273E-A3FE-298A60448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63" y="591951"/>
            <a:ext cx="5328592" cy="1961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84EDC9-6C97-4307-0DB4-0C260982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780928"/>
            <a:ext cx="3845766" cy="159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673EE-42DB-69BE-5E7F-3FB1EFF51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7" y="4519446"/>
            <a:ext cx="3845767" cy="22778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FCD06F-9D52-9CC0-E74F-A41159266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3823547"/>
            <a:ext cx="2664296" cy="13917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870E73-F29E-F658-3ABF-AC9D0AA4A31F}"/>
              </a:ext>
            </a:extLst>
          </p:cNvPr>
          <p:cNvSpPr/>
          <p:nvPr/>
        </p:nvSpPr>
        <p:spPr>
          <a:xfrm>
            <a:off x="1779624" y="2695874"/>
            <a:ext cx="4100352" cy="16809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238AC-E9AE-E9D9-89DE-5CF52A3AEBE4}"/>
              </a:ext>
            </a:extLst>
          </p:cNvPr>
          <p:cNvSpPr/>
          <p:nvPr/>
        </p:nvSpPr>
        <p:spPr>
          <a:xfrm>
            <a:off x="1792243" y="4461844"/>
            <a:ext cx="4100352" cy="22778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542ABD-0C08-2C69-A0F0-DDF1011D93DC}"/>
              </a:ext>
            </a:extLst>
          </p:cNvPr>
          <p:cNvSpPr/>
          <p:nvPr/>
        </p:nvSpPr>
        <p:spPr>
          <a:xfrm>
            <a:off x="6441613" y="3338196"/>
            <a:ext cx="4100352" cy="22778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199869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3C – Y1 Page 45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ABEA84C-A904-AF74-E591-D1EF1B847BB2}"/>
              </a:ext>
            </a:extLst>
          </p:cNvPr>
          <p:cNvGrpSpPr/>
          <p:nvPr/>
        </p:nvGrpSpPr>
        <p:grpSpPr>
          <a:xfrm>
            <a:off x="1534927" y="655181"/>
            <a:ext cx="9237637" cy="2269740"/>
            <a:chOff x="10927" y="655181"/>
            <a:chExt cx="7772400" cy="19097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A8E110-E5B2-A3F7-47ED-7453F7087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27" y="655181"/>
              <a:ext cx="7772400" cy="178259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C393CE-0896-5010-C811-D7C12F14E556}"/>
                </a:ext>
              </a:extLst>
            </p:cNvPr>
            <p:cNvSpPr/>
            <p:nvPr/>
          </p:nvSpPr>
          <p:spPr>
            <a:xfrm>
              <a:off x="6804248" y="2060848"/>
              <a:ext cx="936104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1F75E7-FDF7-5B53-3ED7-A76A2759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3140969"/>
            <a:ext cx="4464496" cy="32164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D7F61B-514B-341F-9C72-328AEEC55884}"/>
              </a:ext>
            </a:extLst>
          </p:cNvPr>
          <p:cNvSpPr/>
          <p:nvPr/>
        </p:nvSpPr>
        <p:spPr>
          <a:xfrm>
            <a:off x="2423592" y="2945241"/>
            <a:ext cx="5976664" cy="34121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8264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Set Builder Notation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836713"/>
            <a:ext cx="82089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Recall that a </a:t>
            </a:r>
            <a:r>
              <a:rPr lang="en-GB" sz="2000" b="1" dirty="0"/>
              <a:t>set</a:t>
            </a:r>
            <a:r>
              <a:rPr lang="en-GB" sz="2000" dirty="0"/>
              <a:t> is a </a:t>
            </a:r>
            <a:r>
              <a:rPr lang="en-GB" sz="2000" b="1" dirty="0"/>
              <a:t>collection of values </a:t>
            </a:r>
            <a:r>
              <a:rPr lang="en-GB" sz="2000" dirty="0"/>
              <a:t>such that:</a:t>
            </a:r>
          </a:p>
          <a:p>
            <a:pPr marL="342900" indent="-342900">
              <a:buAutoNum type="alphaLcParenR"/>
            </a:pPr>
            <a:r>
              <a:rPr lang="en-GB" sz="2000" dirty="0"/>
              <a:t>The </a:t>
            </a:r>
            <a:r>
              <a:rPr lang="en-GB" sz="2000" b="1" dirty="0"/>
              <a:t>order of values does not matter</a:t>
            </a:r>
            <a:r>
              <a:rPr lang="en-GB" sz="2000" dirty="0"/>
              <a:t>.</a:t>
            </a:r>
          </a:p>
          <a:p>
            <a:pPr marL="342900" indent="-342900">
              <a:buAutoNum type="alphaLcParenR"/>
            </a:pPr>
            <a:r>
              <a:rPr lang="en-GB" sz="2000" dirty="0"/>
              <a:t>There are </a:t>
            </a:r>
            <a:r>
              <a:rPr lang="en-GB" sz="2000" b="1" dirty="0"/>
              <a:t>no duplicates</a:t>
            </a:r>
            <a:r>
              <a:rPr lang="en-GB" sz="2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87638" y="1975955"/>
                <a:ext cx="7416824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Recap from GCSE: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We use curly braces to list the values in a set, e.g.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i="1">
                            <a:latin typeface="Cambria Math" panose="02040503050406030204" pitchFamily="18" charset="0"/>
                          </a:rPr>
                          <m:t>1,4,6,7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If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are sets then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is the </a:t>
                </a:r>
                <a:r>
                  <a:rPr lang="en-GB" sz="1700" b="1" dirty="0"/>
                  <a:t>intersection</a:t>
                </a:r>
                <a:r>
                  <a:rPr lang="en-GB" sz="1700" dirty="0"/>
                  <a:t> of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, giving a set which has the elements in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</a:t>
                </a:r>
                <a:r>
                  <a:rPr lang="en-GB" sz="1700" b="1" u="sng" dirty="0"/>
                  <a:t>and</a:t>
                </a:r>
                <a:r>
                  <a:rPr lang="en-GB" sz="1700" dirty="0"/>
                  <a:t>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is the </a:t>
                </a:r>
                <a:r>
                  <a:rPr lang="en-GB" sz="1700" b="1" dirty="0"/>
                  <a:t>union</a:t>
                </a:r>
                <a:r>
                  <a:rPr lang="en-GB" sz="1700" dirty="0"/>
                  <a:t> of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, giving a set which has the elements in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</a:t>
                </a:r>
                <a:r>
                  <a:rPr lang="en-GB" sz="1700" b="1" u="sng" dirty="0"/>
                  <a:t>or</a:t>
                </a:r>
                <a:r>
                  <a:rPr lang="en-GB" sz="1700" dirty="0"/>
                  <a:t> in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1700" dirty="0"/>
                  <a:t> is the empty set, i.e. the set with nothing in it.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Sets can also be infinitely large.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sz="1700" dirty="0"/>
                  <a:t> is the set of natural numbers (all positive integers),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1700" dirty="0"/>
                  <a:t> is the set of all integers (including negative numbers and 0)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700" dirty="0"/>
                  <a:t> is the set of all real numbers (including all possible decimals).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We write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to mean “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 </a:t>
                </a:r>
                <a:r>
                  <a:rPr lang="en-GB" sz="1700" u="sng" dirty="0"/>
                  <a:t>is a member of</a:t>
                </a:r>
                <a:r>
                  <a:rPr lang="en-GB" sz="1700" dirty="0"/>
                  <a:t> the set A”. So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700" dirty="0"/>
                  <a:t> would mean “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 is a real number”.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638" y="1975955"/>
                <a:ext cx="7416824" cy="3354765"/>
              </a:xfrm>
              <a:prstGeom prst="rect">
                <a:avLst/>
              </a:prstGeom>
              <a:blipFill>
                <a:blip r:embed="rId2"/>
                <a:stretch>
                  <a:fillRect l="-1197" t="-1509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53048" y="5292825"/>
                <a:ext cx="626469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3,4,5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3,4,5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048" y="5292825"/>
                <a:ext cx="6264696" cy="1384995"/>
              </a:xfrm>
              <a:prstGeom prst="rect">
                <a:avLst/>
              </a:prstGeom>
              <a:blipFill>
                <a:blip r:embed="rId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605836" y="5232400"/>
            <a:ext cx="2258764" cy="500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5836" y="5732782"/>
            <a:ext cx="2258764" cy="500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5836" y="6233164"/>
            <a:ext cx="2258764" cy="500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3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Set Builder Notation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91544" y="771373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It is possible to construct sets without having to explicitly list its values. We use: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23792" y="1844825"/>
                <a:ext cx="345638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𝑒𝑥𝑝𝑟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𝑒𝑥𝑝𝑟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𝑐𝑜𝑛𝑑𝑖𝑡𝑖𝑜𝑛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1844825"/>
                <a:ext cx="3456384" cy="646331"/>
              </a:xfrm>
              <a:prstGeom prst="rect">
                <a:avLst/>
              </a:prstGeom>
              <a:blipFill>
                <a:blip r:embed="rId2"/>
                <a:stretch>
                  <a:fillRect l="-1091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954806" y="2831671"/>
            <a:ext cx="5523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Can you guess what sets the following give?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99280" y="3945509"/>
                <a:ext cx="69253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={0,2,−2,4,−4,6,−6,…}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280" y="3945509"/>
                <a:ext cx="6925382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95193" y="3572376"/>
                <a:ext cx="42074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(In words “All numbers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</a:t>
                </a:r>
                <a:r>
                  <a:rPr lang="en-GB" sz="1400" u="sng" dirty="0"/>
                  <a:t>such that</a:t>
                </a: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an integer)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193" y="3572376"/>
                <a:ext cx="4207409" cy="307777"/>
              </a:xfrm>
              <a:prstGeom prst="rect">
                <a:avLst/>
              </a:prstGeom>
              <a:blipFill>
                <a:blip r:embed="rId4"/>
                <a:stretch>
                  <a:fillRect l="-602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112224" y="1557125"/>
            <a:ext cx="2304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| or : means “such that”.</a:t>
            </a:r>
            <a:endParaRPr lang="en-GB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735321" y="1679945"/>
            <a:ext cx="391499" cy="164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849598" y="3790060"/>
            <a:ext cx="303065" cy="123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44404" y="3943695"/>
            <a:ext cx="1636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i.e. The set of all even numbers!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09912" y="4499290"/>
                <a:ext cx="69253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={2,4,8,16,32,…}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912" y="4499290"/>
                <a:ext cx="6925382" cy="523220"/>
              </a:xfrm>
              <a:prstGeom prst="rect">
                <a:avLst/>
              </a:prstGeom>
              <a:blipFill>
                <a:blip r:embed="rId5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09912" y="5079202"/>
                <a:ext cx="69253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𝑝𝑟𝑖𝑚𝑒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={4,6,10,14,15,…}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912" y="5079202"/>
                <a:ext cx="6925382" cy="523220"/>
              </a:xfrm>
              <a:prstGeom prst="rect">
                <a:avLst/>
              </a:prstGeom>
              <a:blipFill>
                <a:blip r:embed="rId6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544273" y="5112466"/>
            <a:ext cx="1974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i.e. All possible products of two primes.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5018" y="3850167"/>
            <a:ext cx="5380601" cy="6367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5018" y="4488754"/>
            <a:ext cx="5380601" cy="519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3972" y="5064628"/>
            <a:ext cx="4643908" cy="519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735" y="5896195"/>
            <a:ext cx="753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previously talked about ‘solutions sets’, so set builder notation is very useful for specifying the set of solutions!</a:t>
            </a:r>
          </a:p>
        </p:txBody>
      </p:sp>
    </p:spTree>
    <p:extLst>
      <p:ext uri="{BB962C8B-B14F-4D97-AF65-F5344CB8AC3E}">
        <p14:creationId xmlns:p14="http://schemas.microsoft.com/office/powerpoint/2010/main" val="308626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5" grpId="0"/>
      <p:bldP spid="17" grpId="0"/>
      <p:bldP spid="18" grpId="0"/>
      <p:bldP spid="19" grpId="0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8480" y="854016"/>
            <a:ext cx="7127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Can you use set builder notation to specify the following sets?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Set Builder Notation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1962141" y="2035579"/>
            <a:ext cx="2892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odd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6879" y="2030856"/>
                <a:ext cx="3600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{2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  : 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879" y="2030856"/>
                <a:ext cx="3600400" cy="523220"/>
              </a:xfrm>
              <a:prstGeom prst="rect">
                <a:avLst/>
              </a:prstGeom>
              <a:blipFill>
                <a:blip r:embed="rId2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962142" y="2821472"/>
            <a:ext cx="2892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(real) numbers greater than 5.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69652" y="2876329"/>
                <a:ext cx="29253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&gt;5}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52" y="2876329"/>
                <a:ext cx="2925345" cy="523220"/>
              </a:xfrm>
              <a:prstGeom prst="rect">
                <a:avLst/>
              </a:prstGeom>
              <a:blipFill>
                <a:blip r:embed="rId3"/>
                <a:stretch>
                  <a:fillRect l="-25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627595" y="3358484"/>
                <a:ext cx="3600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Technically it should be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&gt;5,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1400" dirty="0"/>
                  <a:t> but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GB" sz="1400" dirty="0"/>
                  <a:t> by default implies </a:t>
                </a:r>
                <a:r>
                  <a:rPr lang="en-GB" sz="1400" b="1" dirty="0"/>
                  <a:t>real numbers</a:t>
                </a:r>
                <a:r>
                  <a:rPr lang="en-GB" sz="1400" dirty="0"/>
                  <a:t> greater than 5.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595" y="3358484"/>
                <a:ext cx="3600400" cy="738664"/>
              </a:xfrm>
              <a:prstGeom prst="rect">
                <a:avLst/>
              </a:prstGeom>
              <a:blipFill>
                <a:blip r:embed="rId4"/>
                <a:stretch>
                  <a:fillRect l="-704" t="-169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991545" y="4032122"/>
            <a:ext cx="3269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(real) numbers less than 5 </a:t>
            </a:r>
            <a:r>
              <a:rPr lang="en-GB" sz="2400" b="1" dirty="0"/>
              <a:t>or</a:t>
            </a:r>
            <a:r>
              <a:rPr lang="en-GB" sz="2400" dirty="0"/>
              <a:t> greater than 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69652" y="4135214"/>
                <a:ext cx="45587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: 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&lt;5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∪{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&gt;7}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52" y="4135214"/>
                <a:ext cx="4558797" cy="523220"/>
              </a:xfrm>
              <a:prstGeom prst="rect">
                <a:avLst/>
              </a:prstGeom>
              <a:blipFill>
                <a:blip r:embed="rId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650766" y="4653746"/>
            <a:ext cx="36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 combine the two sets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3553" y="5400654"/>
            <a:ext cx="3506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(real) numbers between 5 and 7 inclusive.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627596" y="5369234"/>
                <a:ext cx="45587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:  5≤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596" y="5369234"/>
                <a:ext cx="4558797" cy="523220"/>
              </a:xfrm>
              <a:prstGeom prst="rect">
                <a:avLst/>
              </a:prstGeom>
              <a:blipFill>
                <a:blip r:embed="rId6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29940" y="5816151"/>
                <a:ext cx="428248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While we could technically write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≥5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∩{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≤7}</m:t>
                    </m:r>
                  </m:oMath>
                </a14:m>
                <a:r>
                  <a:rPr lang="en-GB" sz="1400" dirty="0"/>
                  <a:t>, we tend to write multiple required conditions within the same set.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940" y="5816151"/>
                <a:ext cx="4282484" cy="738664"/>
              </a:xfrm>
              <a:prstGeom prst="rect">
                <a:avLst/>
              </a:prstGeom>
              <a:blipFill>
                <a:blip r:embed="rId7"/>
                <a:stretch>
                  <a:fillRect l="-592" t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591905" y="1940589"/>
            <a:ext cx="3917147" cy="6643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7110" y="2956698"/>
            <a:ext cx="3917147" cy="10836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91905" y="4198182"/>
            <a:ext cx="3917147" cy="8416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9652" y="5400653"/>
            <a:ext cx="4151063" cy="121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48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 of linear inequalities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135560" y="112474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64558" y="112474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Solution Set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85751" y="1538035"/>
            <a:ext cx="84249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807968" y="1124744"/>
            <a:ext cx="0" cy="2376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35560" y="1772817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+1&gt;5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1772817"/>
                <a:ext cx="3384376" cy="461665"/>
              </a:xfrm>
              <a:prstGeom prst="rect">
                <a:avLst/>
              </a:prstGeom>
              <a:blipFill>
                <a:blip r:embed="rId2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64558" y="1772816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&gt;2}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58" y="1772816"/>
                <a:ext cx="3384376" cy="461665"/>
              </a:xfrm>
              <a:prstGeom prst="rect">
                <a:avLst/>
              </a:prstGeom>
              <a:blipFill>
                <a:blip r:embed="rId3"/>
                <a:stretch>
                  <a:fillRect l="-1498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35560" y="2337884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≥5−2(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−8)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337884"/>
                <a:ext cx="3384376" cy="461665"/>
              </a:xfrm>
              <a:prstGeom prst="rect">
                <a:avLst/>
              </a:prstGeom>
              <a:blipFill>
                <a:blip r:embed="rId4"/>
                <a:stretch>
                  <a:fillRect l="-375" r="-749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73210" y="2292962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≥7.2}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210" y="2292962"/>
                <a:ext cx="3384376" cy="461665"/>
              </a:xfrm>
              <a:prstGeom prst="rect">
                <a:avLst/>
              </a:prstGeom>
              <a:blipFill>
                <a:blip r:embed="rId5"/>
                <a:stretch>
                  <a:fillRect l="-1498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093030" y="3029505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030" y="3029505"/>
                <a:ext cx="338437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73210" y="3012796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≤−2}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210" y="3012796"/>
                <a:ext cx="3384376" cy="461665"/>
              </a:xfrm>
              <a:prstGeom prst="rect">
                <a:avLst/>
              </a:prstGeom>
              <a:blipFill>
                <a:blip r:embed="rId7"/>
                <a:stretch>
                  <a:fillRect l="-1498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963443" y="293454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</a:t>
            </a:r>
            <a:r>
              <a:rPr lang="en-GB" sz="1200" dirty="0"/>
              <a:t>: Multiplying or both sides of an inequality by a negative number reverses the direction.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1002" y="1669312"/>
            <a:ext cx="4321184" cy="520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0531" y="2286493"/>
            <a:ext cx="4321184" cy="520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7315" y="2934548"/>
            <a:ext cx="4321184" cy="8544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09950" y="4149080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Combining Inequalities: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67608" y="4561079"/>
                <a:ext cx="648072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GB" dirty="0"/>
                  <a:t>, what is the combined solution set?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4561079"/>
                <a:ext cx="6480720" cy="369332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041369" y="5570227"/>
                <a:ext cx="25182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2≤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369" y="5570227"/>
                <a:ext cx="251822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3328751" y="50957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8079" y="50957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647" y="50957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40" name="Oval 39"/>
          <p:cNvSpPr/>
          <p:nvPr/>
        </p:nvSpPr>
        <p:spPr>
          <a:xfrm>
            <a:off x="4089893" y="5465041"/>
            <a:ext cx="216024" cy="2091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/>
          <p:cNvCxnSpPr>
            <a:stCxn id="40" idx="2"/>
          </p:cNvCxnSpPr>
          <p:nvPr/>
        </p:nvCxnSpPr>
        <p:spPr>
          <a:xfrm flipH="1">
            <a:off x="2569513" y="5569617"/>
            <a:ext cx="15203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359696" y="5763368"/>
            <a:ext cx="216024" cy="20915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/>
          <p:cNvSpPr/>
          <p:nvPr/>
        </p:nvSpPr>
        <p:spPr>
          <a:xfrm>
            <a:off x="4770526" y="5763368"/>
            <a:ext cx="216024" cy="2091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Arrow Connector 44"/>
          <p:cNvCxnSpPr>
            <a:stCxn id="44" idx="2"/>
            <a:endCxn id="43" idx="6"/>
          </p:cNvCxnSpPr>
          <p:nvPr/>
        </p:nvCxnSpPr>
        <p:spPr>
          <a:xfrm flipH="1">
            <a:off x="3575720" y="5867944"/>
            <a:ext cx="119480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43465" y="6043525"/>
            <a:ext cx="3240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If both inequalities have to be satisfied, we have to be on both lines. Place your finger vertically and scan across.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3466" y="5081225"/>
            <a:ext cx="3364503" cy="17009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Hint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0532" y="5072692"/>
            <a:ext cx="3173821" cy="17094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Solution</a:t>
            </a:r>
          </a:p>
        </p:txBody>
      </p:sp>
    </p:spTree>
    <p:extLst>
      <p:ext uri="{BB962C8B-B14F-4D97-AF65-F5344CB8AC3E}">
        <p14:creationId xmlns:p14="http://schemas.microsoft.com/office/powerpoint/2010/main" val="308974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49" grpId="0" animBg="1"/>
      <p:bldP spid="5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 :: Solving Quadratic Inequalities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−15&gt;0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blipFill>
                <a:blip r:embed="rId2"/>
                <a:stretch>
                  <a:fillRect l="-732" b="-1355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36180" y="2340824"/>
                <a:ext cx="43204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80" y="2340824"/>
                <a:ext cx="432048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142212" y="1756048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1</a:t>
            </a:r>
            <a:r>
              <a:rPr lang="en-GB" dirty="0"/>
              <a:t>: Get 0 on one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2212" y="2539087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</a:t>
            </a:r>
            <a:r>
              <a:rPr lang="en-GB" dirty="0"/>
              <a:t>: Factorise</a:t>
            </a:r>
            <a:endParaRPr lang="en-GB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7142212" y="3174781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</a:t>
            </a:r>
            <a:r>
              <a:rPr lang="en-GB" dirty="0"/>
              <a:t>: Sketch and reason</a:t>
            </a:r>
            <a:endParaRPr lang="en-GB" sz="14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2279576" y="3333651"/>
            <a:ext cx="4323878" cy="2130560"/>
            <a:chOff x="755576" y="3333651"/>
            <a:chExt cx="4323878" cy="213056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: Shape 16"/>
            <p:cNvSpPr/>
            <p:nvPr/>
          </p:nvSpPr>
          <p:spPr>
            <a:xfrm>
              <a:off x="876300" y="39624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612979" y="3819526"/>
                <a:ext cx="38930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we sketched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+5)(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we’re interested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, i.e. the parts of the line where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is positive.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979" y="3819526"/>
                <a:ext cx="3893096" cy="1200329"/>
              </a:xfrm>
              <a:prstGeom prst="rect">
                <a:avLst/>
              </a:prstGeom>
              <a:blipFill>
                <a:blip r:embed="rId9"/>
                <a:stretch>
                  <a:fillRect l="-1299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348165" y="5059228"/>
            <a:ext cx="2340124" cy="47976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bolden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23" name="Freeform: Shape 22"/>
          <p:cNvSpPr/>
          <p:nvPr/>
        </p:nvSpPr>
        <p:spPr>
          <a:xfrm>
            <a:off x="2400301" y="3971925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/>
          <p:cNvSpPr/>
          <p:nvPr/>
        </p:nvSpPr>
        <p:spPr>
          <a:xfrm flipH="1">
            <a:off x="4048395" y="3967963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638164" y="5628334"/>
                <a:ext cx="22861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What can you say about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values of points in this region?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&lt;−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164" y="5628334"/>
                <a:ext cx="2286136" cy="1077218"/>
              </a:xfrm>
              <a:prstGeom prst="rect">
                <a:avLst/>
              </a:prstGeom>
              <a:blipFill>
                <a:blip r:embed="rId10"/>
                <a:stretch>
                  <a:fillRect l="-1657"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2063552" y="4713434"/>
            <a:ext cx="336748" cy="94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960280" y="5614771"/>
                <a:ext cx="22861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What can you say about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values of points in this region?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280" y="5614771"/>
                <a:ext cx="2286136" cy="1077218"/>
              </a:xfrm>
              <a:prstGeom prst="rect">
                <a:avLst/>
              </a:prstGeom>
              <a:blipFill>
                <a:blip r:embed="rId11"/>
                <a:stretch>
                  <a:fillRect l="-165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 flipV="1">
            <a:off x="4533900" y="4622800"/>
            <a:ext cx="592746" cy="1005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992186" y="5726487"/>
                <a:ext cx="30754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&lt;−5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∪{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&gt;3}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186" y="5726487"/>
                <a:ext cx="3075495" cy="400110"/>
              </a:xfrm>
              <a:prstGeom prst="rect">
                <a:avLst/>
              </a:prstGeom>
              <a:blipFill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794500" y="6129943"/>
                <a:ext cx="37465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 err="1"/>
                  <a:t>Fro</a:t>
                </a:r>
                <a:r>
                  <a:rPr lang="en-GB" sz="1400" b="1" dirty="0"/>
                  <a:t> Note</a:t>
                </a:r>
                <a:r>
                  <a:rPr lang="en-GB" sz="1400" dirty="0"/>
                  <a:t>: If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value is ‘strictly’ greater than 0, i.e. &gt; 0, then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value is strictly less than -5. So the &lt; vs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sz="1400" dirty="0"/>
                  <a:t> must match the original question.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00" y="6129943"/>
                <a:ext cx="3746500" cy="738664"/>
              </a:xfrm>
              <a:prstGeom prst="rect">
                <a:avLst/>
              </a:prstGeom>
              <a:blipFill>
                <a:blip r:embed="rId13"/>
                <a:stretch>
                  <a:fillRect l="-678" t="-1695" r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Right 33"/>
          <p:cNvSpPr/>
          <p:nvPr/>
        </p:nvSpPr>
        <p:spPr>
          <a:xfrm>
            <a:off x="6168132" y="5733724"/>
            <a:ext cx="534144" cy="4230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2173118" y="2298159"/>
            <a:ext cx="3694283" cy="775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6045200" y="2743201"/>
            <a:ext cx="939800" cy="6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93573" y="6385822"/>
            <a:ext cx="1337028" cy="4721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8132" y="6361488"/>
            <a:ext cx="1337028" cy="4721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22517" y="5667805"/>
            <a:ext cx="3673624" cy="11425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834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3" grpId="0" animBg="1"/>
      <p:bldP spid="24" grpId="0" animBg="1"/>
      <p:bldP spid="25" grpId="0"/>
      <p:bldP spid="29" grpId="0"/>
      <p:bldP spid="32" grpId="0"/>
      <p:bldP spid="33" grpId="0"/>
      <p:bldP spid="34" grpId="0" animBg="1"/>
      <p:bldP spid="35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Quadratic Inequalities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−15≤0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blipFill>
                <a:blip r:embed="rId2"/>
                <a:stretch>
                  <a:fillRect l="-732" b="-1355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35560" y="2363632"/>
                <a:ext cx="43204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363632"/>
                <a:ext cx="432048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142212" y="1756048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1</a:t>
            </a:r>
            <a:r>
              <a:rPr lang="en-GB" dirty="0"/>
              <a:t>: Get 0 on one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2212" y="2539087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</a:t>
            </a:r>
            <a:r>
              <a:rPr lang="en-GB" dirty="0"/>
              <a:t>: Factorise</a:t>
            </a:r>
            <a:endParaRPr lang="en-GB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7142212" y="3174781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</a:t>
            </a:r>
            <a:r>
              <a:rPr lang="en-GB" dirty="0"/>
              <a:t>: Sketch and reason</a:t>
            </a:r>
            <a:endParaRPr lang="en-GB" sz="14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2279576" y="3333651"/>
            <a:ext cx="4323878" cy="2130560"/>
            <a:chOff x="755576" y="3333651"/>
            <a:chExt cx="4323878" cy="2130560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eform: Shape 15"/>
            <p:cNvSpPr/>
            <p:nvPr/>
          </p:nvSpPr>
          <p:spPr>
            <a:xfrm>
              <a:off x="876300" y="39624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Freeform: Shape 23"/>
          <p:cNvSpPr/>
          <p:nvPr/>
        </p:nvSpPr>
        <p:spPr>
          <a:xfrm>
            <a:off x="2934494" y="4927600"/>
            <a:ext cx="1143000" cy="482614"/>
          </a:xfrm>
          <a:custGeom>
            <a:avLst/>
            <a:gdLst>
              <a:gd name="connsiteX0" fmla="*/ 0 w 1143000"/>
              <a:gd name="connsiteY0" fmla="*/ 0 h 482614"/>
              <a:gd name="connsiteX1" fmla="*/ 546100 w 1143000"/>
              <a:gd name="connsiteY1" fmla="*/ 482600 h 482614"/>
              <a:gd name="connsiteX2" fmla="*/ 1143000 w 1143000"/>
              <a:gd name="connsiteY2" fmla="*/ 12700 h 4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482614">
                <a:moveTo>
                  <a:pt x="0" y="0"/>
                </a:moveTo>
                <a:cubicBezTo>
                  <a:pt x="177800" y="240241"/>
                  <a:pt x="355600" y="480483"/>
                  <a:pt x="546100" y="482600"/>
                </a:cubicBezTo>
                <a:cubicBezTo>
                  <a:pt x="736600" y="484717"/>
                  <a:pt x="939800" y="248708"/>
                  <a:pt x="1143000" y="1270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/>
          <p:cNvSpPr/>
          <p:nvPr/>
        </p:nvSpPr>
        <p:spPr>
          <a:xfrm>
            <a:off x="6585821" y="4696180"/>
            <a:ext cx="1022890" cy="68168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598341" y="4830914"/>
                <a:ext cx="263052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 −5≤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≤3}</m:t>
                      </m:r>
                    </m:oMath>
                  </m:oMathPara>
                </a14:m>
                <a:endParaRPr lang="en-GB" sz="2400" dirty="0"/>
              </a:p>
              <a:p>
                <a:endParaRPr lang="en-GB" sz="3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341" y="4830914"/>
                <a:ext cx="2630523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982274" y="5719390"/>
                <a:ext cx="226873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Note:</a:t>
                </a:r>
                <a:r>
                  <a:rPr lang="en-GB" sz="1400" dirty="0"/>
                  <a:t> we need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sz="1400" dirty="0"/>
                  <a:t> rather than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GB" sz="1400" dirty="0"/>
                  <a:t> to be consistent with the original inequality.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74" y="5719390"/>
                <a:ext cx="2268736" cy="738664"/>
              </a:xfrm>
              <a:prstGeom prst="rect">
                <a:avLst/>
              </a:prstGeom>
              <a:blipFill>
                <a:blip r:embed="rId10"/>
                <a:stretch>
                  <a:fillRect l="-1111" t="-1695" r="-1111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7725632" y="4347027"/>
            <a:ext cx="2473220" cy="1090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Final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63561" y="5579321"/>
                <a:ext cx="2563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Again, what can we say about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value of any point in this region?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561" y="5579321"/>
                <a:ext cx="2563195" cy="461665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971788" y="3402890"/>
            <a:ext cx="4362400" cy="2914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Sketch with</a:t>
            </a:r>
            <a:br>
              <a:rPr lang="en-GB" sz="2800" dirty="0"/>
            </a:br>
            <a:r>
              <a:rPr lang="en-GB" sz="2800" dirty="0"/>
              <a:t>highlighted region</a:t>
            </a:r>
          </a:p>
        </p:txBody>
      </p:sp>
    </p:spTree>
    <p:extLst>
      <p:ext uri="{BB962C8B-B14F-4D97-AF65-F5344CB8AC3E}">
        <p14:creationId xmlns:p14="http://schemas.microsoft.com/office/powerpoint/2010/main" val="282602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35560" y="836713"/>
                <a:ext cx="345638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≥−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+4≥0</m:t>
                      </m:r>
                    </m:oMath>
                    <m:oMath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836713"/>
                <a:ext cx="3456384" cy="1384995"/>
              </a:xfrm>
              <a:prstGeom prst="rect">
                <a:avLst/>
              </a:prstGeom>
              <a:blipFill>
                <a:blip r:embed="rId2"/>
                <a:stretch>
                  <a:fillRect l="-4029" t="-3636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531556" y="2512373"/>
            <a:ext cx="3840173" cy="2122155"/>
            <a:chOff x="151571" y="3378807"/>
            <a:chExt cx="3840173" cy="2122155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2836837" y="3702983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688172" y="3378807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8172" y="3378807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4167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Freeform: Shape 10"/>
            <p:cNvSpPr/>
            <p:nvPr/>
          </p:nvSpPr>
          <p:spPr>
            <a:xfrm>
              <a:off x="1011766" y="3857990"/>
              <a:ext cx="2123805" cy="1483068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388469" y="489523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8469" y="4895230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51571" y="3499698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+4)(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571" y="3499698"/>
                  <a:ext cx="295232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Freeform: Shape 14"/>
          <p:cNvSpPr/>
          <p:nvPr/>
        </p:nvSpPr>
        <p:spPr>
          <a:xfrm>
            <a:off x="2393245" y="2991557"/>
            <a:ext cx="591608" cy="1071385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 flipH="1">
            <a:off x="3946793" y="3048000"/>
            <a:ext cx="568762" cy="1022268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26349" y="4925086"/>
                <a:ext cx="34563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≤−4</m:t>
                    </m:r>
                  </m:oMath>
                </a14:m>
                <a:r>
                  <a:rPr lang="en-GB" sz="2800" dirty="0"/>
                  <a:t> or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≥−1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349" y="4925086"/>
                <a:ext cx="3456384" cy="523220"/>
              </a:xfrm>
              <a:prstGeom prst="rect">
                <a:avLst/>
              </a:prstGeom>
              <a:blipFill>
                <a:blip r:embed="rId8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97622" y="846539"/>
                <a:ext cx="3456384" cy="1394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800" b="1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8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br>
                  <a:rPr lang="en-GB" sz="28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−9&lt;0</m:t>
                      </m:r>
                    </m:oMath>
                    <m:oMath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622" y="846539"/>
                <a:ext cx="3456384" cy="1394741"/>
              </a:xfrm>
              <a:prstGeom prst="rect">
                <a:avLst/>
              </a:prstGeom>
              <a:blipFill>
                <a:blip r:embed="rId9"/>
                <a:stretch>
                  <a:fillRect l="-4029" t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317839" y="2531922"/>
            <a:ext cx="3808294" cy="2099578"/>
            <a:chOff x="755576" y="3412673"/>
            <a:chExt cx="3964216" cy="2099578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103059" y="371427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931816" y="3412673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1816" y="3412673"/>
                  <a:ext cx="288032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1111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/>
            <p:cNvSpPr/>
            <p:nvPr/>
          </p:nvSpPr>
          <p:spPr>
            <a:xfrm>
              <a:off x="1011766" y="3857990"/>
              <a:ext cx="2123805" cy="1483068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399758" y="4872653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758" y="4872653"/>
                  <a:ext cx="486468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330327" y="3567430"/>
                  <a:ext cx="2389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+3)(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327" y="3567430"/>
                  <a:ext cx="2389465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Freeform: Shape 28"/>
          <p:cNvSpPr/>
          <p:nvPr/>
        </p:nvSpPr>
        <p:spPr>
          <a:xfrm>
            <a:off x="7111383" y="4030134"/>
            <a:ext cx="982750" cy="440267"/>
          </a:xfrm>
          <a:custGeom>
            <a:avLst/>
            <a:gdLst>
              <a:gd name="connsiteX0" fmla="*/ 0 w 1143000"/>
              <a:gd name="connsiteY0" fmla="*/ 0 h 482614"/>
              <a:gd name="connsiteX1" fmla="*/ 546100 w 1143000"/>
              <a:gd name="connsiteY1" fmla="*/ 482600 h 482614"/>
              <a:gd name="connsiteX2" fmla="*/ 1143000 w 1143000"/>
              <a:gd name="connsiteY2" fmla="*/ 12700 h 4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482614">
                <a:moveTo>
                  <a:pt x="0" y="0"/>
                </a:moveTo>
                <a:cubicBezTo>
                  <a:pt x="177800" y="240241"/>
                  <a:pt x="355600" y="480483"/>
                  <a:pt x="546100" y="482600"/>
                </a:cubicBezTo>
                <a:cubicBezTo>
                  <a:pt x="736600" y="484717"/>
                  <a:pt x="939800" y="248708"/>
                  <a:pt x="1143000" y="1270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96217" y="4914996"/>
                <a:ext cx="34563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−3&lt;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217" y="4914996"/>
                <a:ext cx="345638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834450" y="1349892"/>
            <a:ext cx="3798706" cy="42381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38834" y="1349892"/>
            <a:ext cx="3964722" cy="42381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2212" y="5696422"/>
            <a:ext cx="3679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Note: </a:t>
            </a:r>
            <a:r>
              <a:rPr lang="en-GB" sz="1200" dirty="0"/>
              <a:t>do not skip the ‘sketch step’.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680792" y="5859802"/>
                <a:ext cx="382916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To use the quadratic inequality solver on </a:t>
                </a:r>
                <a:r>
                  <a:rPr lang="en-GB" sz="1200" dirty="0" err="1"/>
                  <a:t>ClassWiz</a:t>
                </a:r>
                <a:r>
                  <a:rPr lang="en-GB" sz="1200" dirty="0"/>
                  <a:t>, go to Menu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200" dirty="0"/>
                  <a:t> Inequalities, then choose ‘order 2’ (i.e. quadratic)</a:t>
                </a:r>
              </a:p>
              <a:p>
                <a:r>
                  <a:rPr lang="en-GB" sz="1200" dirty="0"/>
                  <a:t>Try the same on a CG50.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792" y="5859802"/>
                <a:ext cx="3829165" cy="646331"/>
              </a:xfrm>
              <a:prstGeom prst="rect">
                <a:avLst/>
              </a:prstGeom>
              <a:blipFill>
                <a:blip r:embed="rId1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99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913" y="5324797"/>
            <a:ext cx="5040560" cy="152897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909857" y="3736265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June 2008 Q8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85" y="1315346"/>
            <a:ext cx="4019983" cy="17536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923938" y="946013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2010 Q3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858" y="4105597"/>
            <a:ext cx="5172075" cy="121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08" y="1221227"/>
            <a:ext cx="4392488" cy="2225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52184" y="3898695"/>
                <a:ext cx="280831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Note:  </a:t>
                </a:r>
                <a:r>
                  <a:rPr lang="en-GB" sz="1400" dirty="0"/>
                  <a:t>the original equation has no solutions, but the inequality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400" dirty="0"/>
                  <a:t> </a:t>
                </a:r>
                <a:r>
                  <a:rPr lang="en-GB" sz="1400" i="1" u="sng" dirty="0"/>
                  <a:t>did</a:t>
                </a:r>
                <a:r>
                  <a:rPr lang="en-GB" sz="1400" dirty="0"/>
                  <a:t> have solutions. But we have found the solutions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that result in the original equation not having any solutions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These are different variables, so have different solutions sets, even if the solution set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influences the solution set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4" y="3898695"/>
                <a:ext cx="2808312" cy="2246769"/>
              </a:xfrm>
              <a:prstGeom prst="rect">
                <a:avLst/>
              </a:prstGeom>
              <a:blipFill>
                <a:blip r:embed="rId6"/>
                <a:stretch>
                  <a:fillRect l="-901" t="-565" b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491511" y="1232934"/>
            <a:ext cx="4112694" cy="6809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1511" y="1913860"/>
            <a:ext cx="4112694" cy="8825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1511" y="2796363"/>
            <a:ext cx="4112694" cy="6698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9093" y="5335429"/>
            <a:ext cx="4851670" cy="6719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9093" y="6007395"/>
            <a:ext cx="4851670" cy="8463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085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vert="horz" wrap="square" lIns="324000" tIns="45720" rIns="91440" bIns="45720" rtlCol="0" anchor="ctr">
                  <a:spAutoFit/>
                </a:bodyPr>
                <a:lstStyle>
                  <a:defPPr>
                    <a:defRPr lang="en-US"/>
                  </a:defPPr>
                  <a:lvl1pPr>
                    <a:spcBef>
                      <a:spcPct val="0"/>
                    </a:spcBef>
                    <a:buNone/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Deal with inequalities with a division by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12766" b="-2978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19536" y="908720"/>
                <a:ext cx="5616624" cy="4855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set of values for which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&gt;2,  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908720"/>
                <a:ext cx="5616624" cy="48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6483" y="1556792"/>
                <a:ext cx="6048672" cy="241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Why can’t we just multiply both sides by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?</a:t>
                </a:r>
              </a:p>
              <a:p>
                <a:r>
                  <a:rPr lang="en-GB" sz="1600" dirty="0"/>
                  <a:t>We earlier saw that multiplying by a negative number would flip the inequality, but multiplying by a positive number would not. Since we don’t know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, we don’t know whether the inequality would flip or not!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Once solution is to sketch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, find the points of intersection and reason about the graph (see next section, “Inequalities on Graphs”), but an easier way is to </a:t>
                </a:r>
                <a:r>
                  <a:rPr lang="en-GB" sz="1600" b="1" dirty="0"/>
                  <a:t>multiply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600" dirty="0"/>
                  <a:t>, because it is </a:t>
                </a:r>
                <a:r>
                  <a:rPr lang="en-GB" sz="1600" b="1" dirty="0"/>
                  <a:t>guaranteed to be positive</a:t>
                </a:r>
                <a:r>
                  <a:rPr lang="en-GB" sz="1600" dirty="0"/>
                  <a:t>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483" y="1556792"/>
                <a:ext cx="6048672" cy="2411558"/>
              </a:xfrm>
              <a:prstGeom prst="rect">
                <a:avLst/>
              </a:prstGeom>
              <a:blipFill>
                <a:blip r:embed="rId4"/>
                <a:stretch>
                  <a:fillRect l="-629" t="-1047"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28301" y="4416113"/>
                <a:ext cx="2592288" cy="1495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301" y="4416113"/>
                <a:ext cx="2592288" cy="14959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4799856" y="4130904"/>
            <a:ext cx="4323878" cy="2130560"/>
            <a:chOff x="755576" y="3333651"/>
            <a:chExt cx="4323878" cy="213056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: Shape 13"/>
            <p:cNvSpPr/>
            <p:nvPr/>
          </p:nvSpPr>
          <p:spPr>
            <a:xfrm>
              <a:off x="1673742" y="3909237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929559" y="4881831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9559" y="4881831"/>
                  <a:ext cx="48646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105281" y="485905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281" y="4859050"/>
                  <a:ext cx="486468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Freeform: Shape 19"/>
          <p:cNvSpPr/>
          <p:nvPr/>
        </p:nvSpPr>
        <p:spPr>
          <a:xfrm>
            <a:off x="6311900" y="5740201"/>
            <a:ext cx="1009650" cy="400233"/>
          </a:xfrm>
          <a:custGeom>
            <a:avLst/>
            <a:gdLst>
              <a:gd name="connsiteX0" fmla="*/ 0 w 1041400"/>
              <a:gd name="connsiteY0" fmla="*/ 0 h 406416"/>
              <a:gd name="connsiteX1" fmla="*/ 482600 w 1041400"/>
              <a:gd name="connsiteY1" fmla="*/ 406400 h 406416"/>
              <a:gd name="connsiteX2" fmla="*/ 1041400 w 1041400"/>
              <a:gd name="connsiteY2" fmla="*/ 12700 h 406416"/>
              <a:gd name="connsiteX0" fmla="*/ 0 w 946186"/>
              <a:gd name="connsiteY0" fmla="*/ 202 h 406602"/>
              <a:gd name="connsiteX1" fmla="*/ 482600 w 946186"/>
              <a:gd name="connsiteY1" fmla="*/ 406602 h 406602"/>
              <a:gd name="connsiteX2" fmla="*/ 946186 w 946186"/>
              <a:gd name="connsiteY2" fmla="*/ 0 h 406602"/>
              <a:gd name="connsiteX0" fmla="*/ 0 w 946186"/>
              <a:gd name="connsiteY0" fmla="*/ 202 h 406602"/>
              <a:gd name="connsiteX1" fmla="*/ 482600 w 946186"/>
              <a:gd name="connsiteY1" fmla="*/ 406602 h 406602"/>
              <a:gd name="connsiteX2" fmla="*/ 946186 w 946186"/>
              <a:gd name="connsiteY2" fmla="*/ 0 h 40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6186" h="406602">
                <a:moveTo>
                  <a:pt x="0" y="202"/>
                </a:moveTo>
                <a:cubicBezTo>
                  <a:pt x="154516" y="202343"/>
                  <a:pt x="324902" y="406636"/>
                  <a:pt x="482600" y="406602"/>
                </a:cubicBezTo>
                <a:cubicBezTo>
                  <a:pt x="640298" y="406568"/>
                  <a:pt x="824980" y="223712"/>
                  <a:pt x="946186" y="0"/>
                </a:cubicBezTo>
              </a:path>
            </a:pathLst>
          </a:cu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875428" y="4190540"/>
            <a:ext cx="7268573" cy="22102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5428" y="1875116"/>
            <a:ext cx="6160597" cy="21634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9071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3D/3E – Y1 Page 47-48, 50-51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7CF39-8CA6-307C-9DF8-F2C2F182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28" y="741780"/>
            <a:ext cx="4995020" cy="274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1E09C-CA8D-FBF4-20F7-37FC16D84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051842"/>
            <a:ext cx="3386225" cy="43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B762A-59B1-25C8-AF7A-9A7C1099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2" y="3589176"/>
            <a:ext cx="4320480" cy="424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436A79-F936-86DE-4BD1-ECF200941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608" y="1576572"/>
            <a:ext cx="1577082" cy="2012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1A28C-C7BD-3199-E47B-EBA9333C5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016" y="1995462"/>
            <a:ext cx="3744416" cy="981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D7634-2332-8FCA-843F-5C71044A7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527" y="4013774"/>
            <a:ext cx="2527300" cy="152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66F470-3A47-BC08-C5A2-E4EB586DC7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903" y="4088662"/>
            <a:ext cx="3894544" cy="25417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05875E-5D86-B11C-5A3C-46991B9EC11F}"/>
              </a:ext>
            </a:extLst>
          </p:cNvPr>
          <p:cNvSpPr/>
          <p:nvPr/>
        </p:nvSpPr>
        <p:spPr>
          <a:xfrm>
            <a:off x="1919536" y="1553509"/>
            <a:ext cx="7632848" cy="2035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CA63B-1C73-10CE-53D2-BAC3688FAD19}"/>
              </a:ext>
            </a:extLst>
          </p:cNvPr>
          <p:cNvSpPr/>
          <p:nvPr/>
        </p:nvSpPr>
        <p:spPr>
          <a:xfrm>
            <a:off x="1919536" y="4126322"/>
            <a:ext cx="7632848" cy="25040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301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3D/3E – Y1 Page 47-48, 50-51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5DF7FAF-97C0-6CFA-D61E-177DEDC6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64705"/>
            <a:ext cx="5616624" cy="583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B297DE-4C89-D91B-D3F6-9FCE8E65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521233"/>
            <a:ext cx="3816424" cy="3175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CFC20-EDC0-816F-D3D1-8E173A1BFD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27"/>
          <a:stretch/>
        </p:blipFill>
        <p:spPr>
          <a:xfrm>
            <a:off x="6795554" y="1628800"/>
            <a:ext cx="3557330" cy="3161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481AD6-B4D3-9D53-9C98-89DC1734DBD9}"/>
              </a:ext>
            </a:extLst>
          </p:cNvPr>
          <p:cNvSpPr/>
          <p:nvPr/>
        </p:nvSpPr>
        <p:spPr>
          <a:xfrm>
            <a:off x="1919536" y="1553508"/>
            <a:ext cx="8424936" cy="36756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972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3D/3E – Y1 Page 47-48, 50-51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F735AB2-B5BB-32EB-9DC3-52532130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14372"/>
            <a:ext cx="7772400" cy="824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78F262-A7AE-B8E2-6C6C-8DDD9801F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844824"/>
            <a:ext cx="5219700" cy="298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E86CE-9BDE-072E-AB7E-6ADEF13AE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6" y="3101369"/>
            <a:ext cx="3928860" cy="34317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F9DC36-20E1-E124-B2D5-9E83B7D15225}"/>
              </a:ext>
            </a:extLst>
          </p:cNvPr>
          <p:cNvSpPr/>
          <p:nvPr/>
        </p:nvSpPr>
        <p:spPr>
          <a:xfrm>
            <a:off x="1919536" y="1553509"/>
            <a:ext cx="8424936" cy="497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3342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Inequalities on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2279576" y="836712"/>
            <a:ext cx="4323878" cy="2130560"/>
            <a:chOff x="755576" y="3333651"/>
            <a:chExt cx="4323878" cy="213056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Freeform: Shape 9"/>
            <p:cNvSpPr/>
            <p:nvPr/>
          </p:nvSpPr>
          <p:spPr>
            <a:xfrm>
              <a:off x="876300" y="39624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Freeform: Shape 13"/>
          <p:cNvSpPr/>
          <p:nvPr/>
        </p:nvSpPr>
        <p:spPr>
          <a:xfrm>
            <a:off x="2400301" y="1474986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/>
          <p:cNvSpPr/>
          <p:nvPr/>
        </p:nvSpPr>
        <p:spPr>
          <a:xfrm flipH="1">
            <a:off x="4048395" y="1471024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85518" y="741962"/>
                <a:ext cx="381302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solved quadratic inequalities, 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plotted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+5)(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r>
                  <a:rPr lang="en-GB" dirty="0"/>
                  <a:t> and observed the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which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Can we use a similar method when we don’t have 0 on one side?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518" y="741962"/>
                <a:ext cx="3813026" cy="2308324"/>
              </a:xfrm>
              <a:prstGeom prst="rect">
                <a:avLst/>
              </a:prstGeom>
              <a:blipFill>
                <a:blip r:embed="rId9"/>
                <a:stretch>
                  <a:fillRect l="-1329" t="-1093" r="-1329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54348" y="3263601"/>
                <a:ext cx="727338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has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12+4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has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diagram shows a sketch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on the same axes.</a:t>
                </a:r>
              </a:p>
              <a:p>
                <a:pPr marL="457200" indent="-457200">
                  <a:buAutoNum type="alphaLcParenR"/>
                </a:pPr>
                <a:r>
                  <a:rPr lang="en-GB" dirty="0"/>
                  <a:t>Find the coordinates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, the points of intersection.</a:t>
                </a:r>
              </a:p>
              <a:p>
                <a:pPr marL="457200" indent="-457200">
                  <a:buAutoNum type="alphaLcParenR"/>
                </a:pPr>
                <a:r>
                  <a:rPr lang="en-GB" dirty="0"/>
                  <a:t>Hence write down the solution to the inequality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12+4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48" y="3263601"/>
                <a:ext cx="7273380" cy="1200329"/>
              </a:xfrm>
              <a:prstGeom prst="rect">
                <a:avLst/>
              </a:prstGeom>
              <a:blipFill>
                <a:blip r:embed="rId10"/>
                <a:stretch>
                  <a:fillRect b="-185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2024260" y="4566465"/>
            <a:ext cx="3236168" cy="2130560"/>
            <a:chOff x="755576" y="3333651"/>
            <a:chExt cx="3236168" cy="2130560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/>
            <p:cNvSpPr/>
            <p:nvPr/>
          </p:nvSpPr>
          <p:spPr>
            <a:xfrm>
              <a:off x="1143000" y="35052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720157" y="44225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57" y="4422564"/>
                  <a:ext cx="486468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 rot="18018905">
                  <a:off x="2304927" y="4111148"/>
                  <a:ext cx="151909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018905">
                  <a:off x="2304927" y="4111148"/>
                  <a:ext cx="1519090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2825553" y="3531666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553" y="3531666"/>
                  <a:ext cx="486468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 rot="19249879">
                  <a:off x="1780059" y="3983488"/>
                  <a:ext cx="151909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=12+4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249879">
                  <a:off x="1780059" y="3983488"/>
                  <a:ext cx="1519090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Straight Connector 31"/>
          <p:cNvCxnSpPr/>
          <p:nvPr/>
        </p:nvCxnSpPr>
        <p:spPr>
          <a:xfrm flipV="1">
            <a:off x="2681288" y="4724401"/>
            <a:ext cx="2157413" cy="1717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718286" y="4568708"/>
                <a:ext cx="454546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Solve simultaneously to find points of intersection: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=12+4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−12=0</m:t>
                      </m:r>
                    </m:oMath>
                    <m:oMath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=−2   →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=36,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−2,4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6,36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286" y="4568708"/>
                <a:ext cx="4545460" cy="1323439"/>
              </a:xfrm>
              <a:prstGeom prst="rect">
                <a:avLst/>
              </a:prstGeom>
              <a:blipFill>
                <a:blip r:embed="rId15"/>
                <a:stretch>
                  <a:fillRect l="-836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00983" y="6165967"/>
                <a:ext cx="486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83" y="6165967"/>
                <a:ext cx="48646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29443" y="6150905"/>
                <a:ext cx="486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43" y="6150905"/>
                <a:ext cx="48646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 flipH="1">
            <a:off x="4451350" y="5025876"/>
            <a:ext cx="4904" cy="114632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3218848" y="6017419"/>
            <a:ext cx="603" cy="14835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695757" y="5886272"/>
                <a:ext cx="45454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12+4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/>
                  <a:t> graph is above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graph. This happens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−2&lt;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&lt;6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757" y="5886272"/>
                <a:ext cx="4545460" cy="584775"/>
              </a:xfrm>
              <a:prstGeom prst="rect">
                <a:avLst/>
              </a:prstGeom>
              <a:blipFill>
                <a:blip r:embed="rId18"/>
                <a:stretch>
                  <a:fillRect l="-836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H="1">
            <a:off x="3219451" y="5016500"/>
            <a:ext cx="1244601" cy="10033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448978" y="4623616"/>
            <a:ext cx="211019" cy="2138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8978" y="5953024"/>
            <a:ext cx="211019" cy="2138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2912" y="4623805"/>
            <a:ext cx="4697485" cy="1215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2912" y="5950105"/>
            <a:ext cx="4697485" cy="8035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8262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51" grpId="0" animBg="1"/>
      <p:bldP spid="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/>
          <p:cNvSpPr/>
          <p:nvPr/>
        </p:nvSpPr>
        <p:spPr>
          <a:xfrm>
            <a:off x="2590800" y="4201886"/>
            <a:ext cx="1970314" cy="1143000"/>
          </a:xfrm>
          <a:custGeom>
            <a:avLst/>
            <a:gdLst>
              <a:gd name="connsiteX0" fmla="*/ 0 w 1970314"/>
              <a:gd name="connsiteY0" fmla="*/ 0 h 1143000"/>
              <a:gd name="connsiteX1" fmla="*/ 348343 w 1970314"/>
              <a:gd name="connsiteY1" fmla="*/ 511628 h 1143000"/>
              <a:gd name="connsiteX2" fmla="*/ 631371 w 1970314"/>
              <a:gd name="connsiteY2" fmla="*/ 849085 h 1143000"/>
              <a:gd name="connsiteX3" fmla="*/ 881743 w 1970314"/>
              <a:gd name="connsiteY3" fmla="*/ 1055914 h 1143000"/>
              <a:gd name="connsiteX4" fmla="*/ 1034143 w 1970314"/>
              <a:gd name="connsiteY4" fmla="*/ 1121228 h 1143000"/>
              <a:gd name="connsiteX5" fmla="*/ 1143000 w 1970314"/>
              <a:gd name="connsiteY5" fmla="*/ 1143000 h 1143000"/>
              <a:gd name="connsiteX6" fmla="*/ 1371600 w 1970314"/>
              <a:gd name="connsiteY6" fmla="*/ 1099457 h 1143000"/>
              <a:gd name="connsiteX7" fmla="*/ 1621971 w 1970314"/>
              <a:gd name="connsiteY7" fmla="*/ 914400 h 1143000"/>
              <a:gd name="connsiteX8" fmla="*/ 1741714 w 1970314"/>
              <a:gd name="connsiteY8" fmla="*/ 762000 h 1143000"/>
              <a:gd name="connsiteX9" fmla="*/ 1970314 w 1970314"/>
              <a:gd name="connsiteY9" fmla="*/ 478971 h 1143000"/>
              <a:gd name="connsiteX10" fmla="*/ 0 w 1970314"/>
              <a:gd name="connsiteY10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0314" h="1143000">
                <a:moveTo>
                  <a:pt x="0" y="0"/>
                </a:moveTo>
                <a:lnTo>
                  <a:pt x="348343" y="511628"/>
                </a:lnTo>
                <a:lnTo>
                  <a:pt x="631371" y="849085"/>
                </a:lnTo>
                <a:lnTo>
                  <a:pt x="881743" y="1055914"/>
                </a:lnTo>
                <a:lnTo>
                  <a:pt x="1034143" y="1121228"/>
                </a:lnTo>
                <a:lnTo>
                  <a:pt x="1143000" y="1143000"/>
                </a:lnTo>
                <a:lnTo>
                  <a:pt x="1371600" y="1099457"/>
                </a:lnTo>
                <a:lnTo>
                  <a:pt x="1621971" y="914400"/>
                </a:lnTo>
                <a:lnTo>
                  <a:pt x="1741714" y="762000"/>
                </a:lnTo>
                <a:lnTo>
                  <a:pt x="1970314" y="47897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Inequality Regions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1777" y="941316"/>
                <a:ext cx="8002092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On graph paper, shade the region that satisfies the inequalities: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&lt;14</m:t>
                      </m:r>
                    </m:oMath>
                    <m:oMath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77" y="941316"/>
                <a:ext cx="8002092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952750" y="2189223"/>
            <a:ext cx="7858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did this at GCSE, the only difference here being that the graphs involved might not be straight lines.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51584" y="3095321"/>
            <a:ext cx="3236168" cy="2363711"/>
            <a:chOff x="755576" y="3068603"/>
            <a:chExt cx="3236168" cy="2363711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1874339" y="3634335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719691" y="3248590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9691" y="3248590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383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/>
            <p:cNvSpPr/>
            <p:nvPr/>
          </p:nvSpPr>
          <p:spPr>
            <a:xfrm>
              <a:off x="801872" y="3877339"/>
              <a:ext cx="2624232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206545" y="4881832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45" y="4881832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541755" y="4880315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755" y="4880315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rot="18101459">
                  <a:off x="2612475" y="3642479"/>
                  <a:ext cx="14555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101459">
                  <a:off x="2612475" y="3642479"/>
                  <a:ext cx="1455530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 rot="821413">
                  <a:off x="1563588" y="4202489"/>
                  <a:ext cx="14555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821413">
                  <a:off x="1563588" y="4202489"/>
                  <a:ext cx="145553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Straight Connector 21"/>
          <p:cNvCxnSpPr/>
          <p:nvPr/>
        </p:nvCxnSpPr>
        <p:spPr>
          <a:xfrm>
            <a:off x="2321442" y="4146698"/>
            <a:ext cx="2753832" cy="64858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422610" y="5598577"/>
                <a:ext cx="236224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To quickly sketch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en-GB" sz="1400" dirty="0"/>
                  <a:t>, consider what happens 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1400" dirty="0"/>
                  <a:t> and 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0.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610" y="5598577"/>
                <a:ext cx="2362242" cy="954107"/>
              </a:xfrm>
              <a:prstGeom prst="rect">
                <a:avLst/>
              </a:prstGeom>
              <a:blipFill>
                <a:blip r:embed="rId10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1871562" y="2879158"/>
            <a:ext cx="3716191" cy="25897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  <a:p>
            <a:pPr algn="ctr"/>
            <a:r>
              <a:rPr lang="en-GB" sz="2800" dirty="0"/>
              <a:t>Step 1: Imagine inequalities as equations and sketch.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218751" y="2995399"/>
                <a:ext cx="345638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2:</a:t>
                </a:r>
              </a:p>
              <a:p>
                <a:r>
                  <a:rPr lang="en-GB" dirty="0"/>
                  <a:t>An inequality involving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represents a 2D region in space.</a:t>
                </a:r>
              </a:p>
              <a:p>
                <a:r>
                  <a:rPr lang="en-GB" dirty="0"/>
                  <a:t>Identify the correct side of each line each inequality represents.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751" y="2995399"/>
                <a:ext cx="3456384" cy="1477328"/>
              </a:xfrm>
              <a:prstGeom prst="rect">
                <a:avLst/>
              </a:prstGeom>
              <a:blipFill>
                <a:blip r:embed="rId11"/>
                <a:stretch>
                  <a:fillRect l="-1465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82824" y="5576099"/>
                <a:ext cx="4304083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Make sure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on the side where it is positive.</a:t>
                </a:r>
              </a:p>
              <a:p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on the smaller side, you’re below the line.</a:t>
                </a:r>
              </a:p>
              <a:p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on the greater side, you’re above the line.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824" y="5576099"/>
                <a:ext cx="4304083" cy="738664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6808820" y="4559864"/>
            <a:ext cx="2189868" cy="55498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sketch &gt;</a:t>
            </a:r>
          </a:p>
        </p:txBody>
      </p:sp>
    </p:spTree>
    <p:extLst>
      <p:ext uri="{BB962C8B-B14F-4D97-AF65-F5344CB8AC3E}">
        <p14:creationId xmlns:p14="http://schemas.microsoft.com/office/powerpoint/2010/main" val="9930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2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3F/3G – Y1 Page 53, 55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189D2B9-445E-64ED-330B-5D193D1D4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64704"/>
            <a:ext cx="7772400" cy="1807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8E2BC6-C79D-46B7-EB26-E72E4F51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2754072"/>
            <a:ext cx="2952328" cy="2424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F872F-F86A-7FE6-2E16-93A989C10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632" y="5298030"/>
            <a:ext cx="4320480" cy="12245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80C11F-1D48-1364-0AE5-DE76B41C5250}"/>
              </a:ext>
            </a:extLst>
          </p:cNvPr>
          <p:cNvSpPr/>
          <p:nvPr/>
        </p:nvSpPr>
        <p:spPr>
          <a:xfrm>
            <a:off x="2406628" y="2572424"/>
            <a:ext cx="5273549" cy="2606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6A4E4-BD57-A243-90D3-8AE8DC8FFB52}"/>
              </a:ext>
            </a:extLst>
          </p:cNvPr>
          <p:cNvSpPr/>
          <p:nvPr/>
        </p:nvSpPr>
        <p:spPr>
          <a:xfrm>
            <a:off x="2406628" y="5298029"/>
            <a:ext cx="5273549" cy="1365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680B75-8786-AECC-E0F9-F102E4010154}"/>
              </a:ext>
            </a:extLst>
          </p:cNvPr>
          <p:cNvGrpSpPr/>
          <p:nvPr/>
        </p:nvGrpSpPr>
        <p:grpSpPr>
          <a:xfrm>
            <a:off x="1894573" y="2228953"/>
            <a:ext cx="224640" cy="128160"/>
            <a:chOff x="1894573" y="2228953"/>
            <a:chExt cx="22464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1E95C1-0A0A-0D82-2903-43B31D67279B}"/>
                    </a:ext>
                  </a:extLst>
                </p14:cNvPr>
                <p14:cNvContentPartPr/>
                <p14:nvPr/>
              </p14:nvContentPartPr>
              <p14:xfrm>
                <a:off x="1894573" y="2296993"/>
                <a:ext cx="65880" cy="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1E95C1-0A0A-0D82-2903-43B31D6727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8453" y="2290873"/>
                  <a:ext cx="781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EAC9A6-EE4E-BB3C-E2F1-142F4FD9AE92}"/>
                    </a:ext>
                  </a:extLst>
                </p14:cNvPr>
                <p14:cNvContentPartPr/>
                <p14:nvPr/>
              </p14:nvContentPartPr>
              <p14:xfrm>
                <a:off x="2020213" y="2228953"/>
                <a:ext cx="18360" cy="128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EAC9A6-EE4E-BB3C-E2F1-142F4FD9AE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14093" y="2222833"/>
                  <a:ext cx="30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53B847-2A42-48F3-F58A-3D11E27699EE}"/>
                    </a:ext>
                  </a:extLst>
                </p14:cNvPr>
                <p14:cNvContentPartPr/>
                <p14:nvPr/>
              </p14:nvContentPartPr>
              <p14:xfrm>
                <a:off x="2076733" y="2281153"/>
                <a:ext cx="13680" cy="6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53B847-2A42-48F3-F58A-3D11E27699E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70613" y="2275033"/>
                  <a:ext cx="25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ED0CC3-D527-F1DB-18D6-2EBFADB7E824}"/>
                    </a:ext>
                  </a:extLst>
                </p14:cNvPr>
                <p14:cNvContentPartPr/>
                <p14:nvPr/>
              </p14:nvContentPartPr>
              <p14:xfrm>
                <a:off x="2058373" y="2299153"/>
                <a:ext cx="60840" cy="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ED0CC3-D527-F1DB-18D6-2EBFADB7E8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52253" y="2293033"/>
                  <a:ext cx="73080" cy="1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01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3F/3G – Y1 Page 53, 55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21318B8-7C98-B42A-6315-F3BE912F7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6"/>
            <a:ext cx="7772400" cy="1173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E59DFC-E968-3683-B6E0-95F986C6E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564905"/>
            <a:ext cx="3162424" cy="3496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B2A429-D876-79AE-8850-7200C9C8C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766" y="2564905"/>
            <a:ext cx="2660419" cy="183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8576AE-F07A-1150-980F-BD181C93C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125" y="4360200"/>
            <a:ext cx="2118651" cy="1708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9EFD2-D30E-99CB-98F1-78AB115BF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209" y="2636912"/>
            <a:ext cx="2582073" cy="30520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C59A09D-B36E-C045-1308-7148D12A474B}"/>
              </a:ext>
            </a:extLst>
          </p:cNvPr>
          <p:cNvSpPr/>
          <p:nvPr/>
        </p:nvSpPr>
        <p:spPr>
          <a:xfrm>
            <a:off x="1847529" y="2386037"/>
            <a:ext cx="3162424" cy="406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A6DD5-5279-906C-42F3-00B6A42877A2}"/>
              </a:ext>
            </a:extLst>
          </p:cNvPr>
          <p:cNvSpPr/>
          <p:nvPr/>
        </p:nvSpPr>
        <p:spPr>
          <a:xfrm>
            <a:off x="5091766" y="2386036"/>
            <a:ext cx="2732427" cy="406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0B2F7B-8023-68AB-9856-BC6A7FCAE44D}"/>
              </a:ext>
            </a:extLst>
          </p:cNvPr>
          <p:cNvSpPr/>
          <p:nvPr/>
        </p:nvSpPr>
        <p:spPr>
          <a:xfrm>
            <a:off x="7906005" y="2386036"/>
            <a:ext cx="2582074" cy="406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14718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5588</TotalTime>
  <Words>3592</Words>
  <Application>Microsoft Office PowerPoint</Application>
  <PresentationFormat>Widescreen</PresentationFormat>
  <Paragraphs>408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 Math</vt:lpstr>
      <vt:lpstr>Courier New</vt:lpstr>
      <vt:lpstr>Wingdings</vt:lpstr>
      <vt:lpstr>Office Theme</vt:lpstr>
      <vt:lpstr>Y1 Chapter 3 Equations and Inequalities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725</cp:revision>
  <dcterms:created xsi:type="dcterms:W3CDTF">2013-02-28T07:36:55Z</dcterms:created>
  <dcterms:modified xsi:type="dcterms:W3CDTF">2026-09-28T08:14:45Z</dcterms:modified>
</cp:coreProperties>
</file>