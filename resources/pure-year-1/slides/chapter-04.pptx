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2" r:id="rId1"/>
  </p:sldMasterIdLst>
  <p:notesMasterIdLst>
    <p:notesMasterId r:id="rId50"/>
  </p:notesMasterIdLst>
  <p:sldIdLst>
    <p:sldId id="257" r:id="rId2"/>
    <p:sldId id="388" r:id="rId3"/>
    <p:sldId id="483" r:id="rId4"/>
    <p:sldId id="517" r:id="rId5"/>
    <p:sldId id="518" r:id="rId6"/>
    <p:sldId id="519" r:id="rId7"/>
    <p:sldId id="520" r:id="rId8"/>
    <p:sldId id="521" r:id="rId9"/>
    <p:sldId id="527" r:id="rId10"/>
    <p:sldId id="547" r:id="rId11"/>
    <p:sldId id="522" r:id="rId12"/>
    <p:sldId id="525" r:id="rId13"/>
    <p:sldId id="551" r:id="rId14"/>
    <p:sldId id="550" r:id="rId15"/>
    <p:sldId id="526" r:id="rId16"/>
    <p:sldId id="524" r:id="rId17"/>
    <p:sldId id="523" r:id="rId18"/>
    <p:sldId id="528" r:id="rId19"/>
    <p:sldId id="553" r:id="rId20"/>
    <p:sldId id="529" r:id="rId21"/>
    <p:sldId id="530" r:id="rId22"/>
    <p:sldId id="531" r:id="rId23"/>
    <p:sldId id="532" r:id="rId24"/>
    <p:sldId id="533" r:id="rId25"/>
    <p:sldId id="554" r:id="rId26"/>
    <p:sldId id="534" r:id="rId27"/>
    <p:sldId id="535" r:id="rId28"/>
    <p:sldId id="536" r:id="rId29"/>
    <p:sldId id="555" r:id="rId30"/>
    <p:sldId id="556" r:id="rId31"/>
    <p:sldId id="557" r:id="rId32"/>
    <p:sldId id="560" r:id="rId33"/>
    <p:sldId id="537" r:id="rId34"/>
    <p:sldId id="539" r:id="rId35"/>
    <p:sldId id="540" r:id="rId36"/>
    <p:sldId id="538" r:id="rId37"/>
    <p:sldId id="541" r:id="rId38"/>
    <p:sldId id="542" r:id="rId39"/>
    <p:sldId id="543" r:id="rId40"/>
    <p:sldId id="545" r:id="rId41"/>
    <p:sldId id="558" r:id="rId42"/>
    <p:sldId id="559" r:id="rId43"/>
    <p:sldId id="563" r:id="rId44"/>
    <p:sldId id="562" r:id="rId45"/>
    <p:sldId id="548" r:id="rId46"/>
    <p:sldId id="546" r:id="rId47"/>
    <p:sldId id="549" r:id="rId48"/>
    <p:sldId id="572" r:id="rId4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66" d="100"/>
          <a:sy n="66" d="100"/>
        </p:scale>
        <p:origin x="0" y="0"/>
      </p:cViewPr>
      <p:guideLst>
        <p:guide orient="horz" pos="2160"/>
        <p:guide pos="2880"/>
      </p:guideLst>
    </p:cSldViewPr>
  </p:slide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 Lamagna" userId="51ffa61b-81bf-4463-bdeb-7e3f3f1f8945" providerId="ADAL" clId="{AB687BF6-7854-5A9D-AA0D-E897E782C02A}"/>
    <pc:docChg chg="modSld">
      <pc:chgData name="A Lamagna" userId="51ffa61b-81bf-4463-bdeb-7e3f3f1f8945" providerId="ADAL" clId="{AB687BF6-7854-5A9D-AA0D-E897E782C02A}" dt="2026-10-12T09:42:49.322" v="2"/>
      <pc:docMkLst>
        <pc:docMk/>
      </pc:docMkLst>
      <pc:sldChg chg="addSp delSp modSp mod">
        <pc:chgData name="A Lamagna" userId="51ffa61b-81bf-4463-bdeb-7e3f3f1f8945" providerId="ADAL" clId="{AB687BF6-7854-5A9D-AA0D-E897E782C02A}" dt="2026-10-12T09:42:49.322" v="2"/>
        <pc:sldMkLst>
          <pc:docMk/>
          <pc:sldMk cId="4145520448" sldId="537"/>
        </pc:sldMkLst>
        <pc:spChg chg="add del mod">
          <ac:chgData name="A Lamagna" userId="51ffa61b-81bf-4463-bdeb-7e3f3f1f8945" providerId="ADAL" clId="{AB687BF6-7854-5A9D-AA0D-E897E782C02A}" dt="2026-10-12T09:42:49.322" v="2"/>
          <ac:spMkLst>
            <pc:docMk/>
            <pc:sldMk cId="4145520448" sldId="537"/>
            <ac:spMk id="5" creationId="{1A454651-FFA1-283D-F6CD-361A9A89FE4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4E87F4A-DD11-41AF-8B76-F2E5B6202836}" type="datetimeFigureOut">
              <a:rPr lang="en-GB" smtClean="0"/>
              <a:pPr/>
              <a:t>13/10/2026</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62F2399-CD51-4C4C-BC34-03B9F40F9CF8}" type="slidenum">
              <a:rPr lang="en-GB" smtClean="0"/>
              <a:pPr/>
              <a:t>‹#›</a:t>
            </a:fld>
            <a:endParaRPr lang="en-GB"/>
          </a:p>
        </p:txBody>
      </p:sp>
    </p:spTree>
    <p:extLst>
      <p:ext uri="{BB962C8B-B14F-4D97-AF65-F5344CB8AC3E}">
        <p14:creationId xmlns:p14="http://schemas.microsoft.com/office/powerpoint/2010/main" val="5474507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a:t>Last modified: 5</a:t>
            </a:r>
            <a:r>
              <a:rPr lang="en-GB" baseline="30000"/>
              <a:t>th</a:t>
            </a:r>
            <a:r>
              <a:rPr lang="en-GB"/>
              <a:t> November 2019</a:t>
            </a:r>
          </a:p>
          <a:p>
            <a:endParaRPr lang="en-US"/>
          </a:p>
        </p:txBody>
      </p:sp>
      <p:sp>
        <p:nvSpPr>
          <p:cNvPr id="4" name="Slide Number Placeholder 3"/>
          <p:cNvSpPr>
            <a:spLocks noGrp="1"/>
          </p:cNvSpPr>
          <p:nvPr>
            <p:ph type="sldNum" sz="quarter" idx="5"/>
          </p:nvPr>
        </p:nvSpPr>
        <p:spPr/>
        <p:txBody>
          <a:bodyPr/>
          <a:lstStyle/>
          <a:p>
            <a:fld id="{462F2399-CD51-4C4C-BC34-03B9F40F9CF8}" type="slidenum">
              <a:rPr lang="en-GB" smtClean="0"/>
              <a:pPr/>
              <a:t>1</a:t>
            </a:fld>
            <a:endParaRPr lang="en-GB"/>
          </a:p>
        </p:txBody>
      </p:sp>
    </p:spTree>
    <p:extLst>
      <p:ext uri="{BB962C8B-B14F-4D97-AF65-F5344CB8AC3E}">
        <p14:creationId xmlns:p14="http://schemas.microsoft.com/office/powerpoint/2010/main" val="13497580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p:bg>
      <p:bgPr>
        <a:solidFill>
          <a:srgbClr val="16365E"/>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693990"/>
            <a:ext cx="7772400" cy="1470025"/>
          </a:xfrm>
          <a:prstGeom prst="rect">
            <a:avLst/>
          </a:prstGeom>
        </p:spPr>
        <p:txBody>
          <a:bodyPr>
            <a:noAutofit/>
          </a:bodyPr>
          <a:lstStyle>
            <a:lvl1pPr>
              <a:defRPr sz="5539" b="0">
                <a:solidFill>
                  <a:schemeClr val="bg1"/>
                </a:solidFill>
              </a:defRPr>
            </a:lvl1pPr>
          </a:lstStyle>
          <a:p>
            <a:r>
              <a:rPr lang="en-US"/>
              <a:t>Click to edit Master title style</a:t>
            </a:r>
            <a:endParaRPr lang="en-GB"/>
          </a:p>
        </p:txBody>
      </p:sp>
      <p:sp>
        <p:nvSpPr>
          <p:cNvPr id="3" name="Rectangle 2">
            <a:extLst>
              <a:ext uri="{FF2B5EF4-FFF2-40B4-BE49-F238E27FC236}">
                <a16:creationId xmlns:a16="http://schemas.microsoft.com/office/drawing/2014/main" id="{7872F630-5B3C-7CD4-714F-EBE8672B649B}"/>
              </a:ext>
            </a:extLst>
          </p:cNvPr>
          <p:cNvSpPr/>
          <p:nvPr userDrawn="1"/>
        </p:nvSpPr>
        <p:spPr>
          <a:xfrm>
            <a:off x="8428871" y="188640"/>
            <a:ext cx="648072" cy="432048"/>
          </a:xfrm>
          <a:prstGeom prst="rect">
            <a:avLst/>
          </a:prstGeom>
          <a:solidFill>
            <a:srgbClr val="1737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62"/>
          </a:p>
        </p:txBody>
      </p:sp>
    </p:spTree>
    <p:extLst>
      <p:ext uri="{BB962C8B-B14F-4D97-AF65-F5344CB8AC3E}">
        <p14:creationId xmlns:p14="http://schemas.microsoft.com/office/powerpoint/2010/main" val="28055438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B9AFE4D-3339-4F90-AB07-DAB31D79E32A}" type="datetimeFigureOut">
              <a:rPr lang="en-GB" smtClean="0"/>
              <a:pPr/>
              <a:t>13/10/2026</a:t>
            </a:fld>
            <a:endParaRPr lang="en-GB"/>
          </a:p>
        </p:txBody>
      </p:sp>
      <p:sp>
        <p:nvSpPr>
          <p:cNvPr id="3" name="Footer Placeholder 2"/>
          <p:cNvSpPr>
            <a:spLocks noGrp="1"/>
          </p:cNvSpPr>
          <p:nvPr>
            <p:ph type="ftr" sz="quarter" idx="11"/>
          </p:nvPr>
        </p:nvSpPr>
        <p:spPr/>
        <p:txBody>
          <a:bodyPr/>
          <a:lstStyle/>
          <a:p>
            <a:endParaRPr lang="en-GB"/>
          </a:p>
        </p:txBody>
      </p:sp>
    </p:spTree>
    <p:extLst>
      <p:ext uri="{BB962C8B-B14F-4D97-AF65-F5344CB8AC3E}">
        <p14:creationId xmlns:p14="http://schemas.microsoft.com/office/powerpoint/2010/main" val="19892366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63061211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600202"/>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457200" y="6356352"/>
            <a:ext cx="2133600" cy="365125"/>
          </a:xfrm>
          <a:prstGeom prst="rect">
            <a:avLst/>
          </a:prstGeom>
        </p:spPr>
        <p:txBody>
          <a:bodyPr vert="horz" lIns="91440" tIns="45720" rIns="91440" bIns="45720" rtlCol="0" anchor="ctr"/>
          <a:lstStyle>
            <a:lvl1pPr algn="l">
              <a:defRPr sz="1108">
                <a:solidFill>
                  <a:schemeClr val="tx1">
                    <a:tint val="75000"/>
                  </a:schemeClr>
                </a:solidFill>
              </a:defRPr>
            </a:lvl1pPr>
          </a:lstStyle>
          <a:p>
            <a:fld id="{0B9AFE4D-3339-4F90-AB07-DAB31D79E32A}" type="datetimeFigureOut">
              <a:rPr lang="en-GB" smtClean="0"/>
              <a:pPr/>
              <a:t>13/10/2026</a:t>
            </a:fld>
            <a:endParaRPr lang="en-GB"/>
          </a:p>
        </p:txBody>
      </p:sp>
      <p:sp>
        <p:nvSpPr>
          <p:cNvPr id="5" name="Footer Placeholder 4"/>
          <p:cNvSpPr>
            <a:spLocks noGrp="1"/>
          </p:cNvSpPr>
          <p:nvPr>
            <p:ph type="ftr" sz="quarter" idx="3"/>
          </p:nvPr>
        </p:nvSpPr>
        <p:spPr>
          <a:xfrm>
            <a:off x="3124200" y="6356352"/>
            <a:ext cx="2895600" cy="365125"/>
          </a:xfrm>
          <a:prstGeom prst="rect">
            <a:avLst/>
          </a:prstGeom>
        </p:spPr>
        <p:txBody>
          <a:bodyPr vert="horz" lIns="91440" tIns="45720" rIns="91440" bIns="45720" rtlCol="0" anchor="ctr"/>
          <a:lstStyle>
            <a:lvl1pPr algn="ctr">
              <a:defRPr sz="1108">
                <a:solidFill>
                  <a:schemeClr val="tx1">
                    <a:tint val="75000"/>
                  </a:schemeClr>
                </a:solidFill>
              </a:defRPr>
            </a:lvl1pPr>
          </a:lstStyle>
          <a:p>
            <a:endParaRPr lang="en-GB"/>
          </a:p>
        </p:txBody>
      </p:sp>
      <p:sp>
        <p:nvSpPr>
          <p:cNvPr id="7" name="Title Placeholder 1">
            <a:extLst>
              <a:ext uri="{FF2B5EF4-FFF2-40B4-BE49-F238E27FC236}">
                <a16:creationId xmlns:a16="http://schemas.microsoft.com/office/drawing/2014/main" id="{92ED294D-B0C8-4542-E684-B53C78608EE0}"/>
              </a:ext>
            </a:extLst>
          </p:cNvPr>
          <p:cNvSpPr>
            <a:spLocks noGrp="1"/>
          </p:cNvSpPr>
          <p:nvPr>
            <p:ph type="title"/>
          </p:nvPr>
        </p:nvSpPr>
        <p:spPr>
          <a:xfrm>
            <a:off x="457200" y="599126"/>
            <a:ext cx="8229600" cy="818512"/>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8" name="Slide Number Placeholder 1">
            <a:extLst>
              <a:ext uri="{FF2B5EF4-FFF2-40B4-BE49-F238E27FC236}">
                <a16:creationId xmlns:a16="http://schemas.microsoft.com/office/drawing/2014/main" id="{75F76BD1-7557-D06F-3AB0-B42B271D5D21}"/>
              </a:ext>
            </a:extLst>
          </p:cNvPr>
          <p:cNvSpPr txBox="1">
            <a:spLocks/>
          </p:cNvSpPr>
          <p:nvPr userDrawn="1"/>
        </p:nvSpPr>
        <p:spPr>
          <a:xfrm>
            <a:off x="0" y="0"/>
            <a:ext cx="9144000" cy="599126"/>
          </a:xfrm>
          <a:prstGeom prst="rect">
            <a:avLst/>
          </a:prstGeom>
          <a:solidFill>
            <a:srgbClr val="17375E"/>
          </a:solidFill>
        </p:spPr>
        <p:txBody>
          <a:bodyPr vert="horz" lIns="0" tIns="0" rIns="132923" bIns="0" rtlCol="0" anchor="ctr"/>
          <a:lstStyle>
            <a:defPPr>
              <a:defRPr lang="en-US"/>
            </a:defPPr>
            <a:lvl1pPr marL="0" algn="r" defTabSz="914400" rtl="0" eaLnBrk="1" latinLnBrk="0" hangingPunct="1">
              <a:defRPr sz="1000" i="1" kern="1200">
                <a:solidFill>
                  <a:srgbClr val="17375E"/>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48177B05-5D28-4021-9BD2-A7A72850B659}" type="slidenum">
              <a:rPr lang="en-GB" sz="1477" i="0" smtClean="0">
                <a:solidFill>
                  <a:schemeClr val="bg1"/>
                </a:solidFill>
              </a:rPr>
              <a:pPr algn="r"/>
              <a:t>‹#›</a:t>
            </a:fld>
            <a:endParaRPr lang="en-GB" sz="1477" i="0">
              <a:solidFill>
                <a:schemeClr val="bg1"/>
              </a:solidFill>
            </a:endParaRPr>
          </a:p>
        </p:txBody>
      </p:sp>
    </p:spTree>
    <p:extLst>
      <p:ext uri="{BB962C8B-B14F-4D97-AF65-F5344CB8AC3E}">
        <p14:creationId xmlns:p14="http://schemas.microsoft.com/office/powerpoint/2010/main" val="923499584"/>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Lst>
  <p:txStyles>
    <p:titleStyle>
      <a:lvl1pPr algn="ctr" defTabSz="844083" rtl="0" eaLnBrk="1" latinLnBrk="0" hangingPunct="1">
        <a:spcBef>
          <a:spcPct val="0"/>
        </a:spcBef>
        <a:buNone/>
        <a:defRPr sz="4062" kern="1200">
          <a:solidFill>
            <a:schemeClr val="tx1"/>
          </a:solidFill>
          <a:latin typeface="+mj-lt"/>
          <a:ea typeface="+mj-ea"/>
          <a:cs typeface="+mj-cs"/>
        </a:defRPr>
      </a:lvl1pPr>
    </p:titleStyle>
    <p:bodyStyle>
      <a:lvl1pPr marL="316531" indent="-316531" algn="l" defTabSz="844083" rtl="0" eaLnBrk="1" latinLnBrk="0" hangingPunct="1">
        <a:spcBef>
          <a:spcPct val="20000"/>
        </a:spcBef>
        <a:buFont typeface="Arial" pitchFamily="34" charset="0"/>
        <a:buChar char="•"/>
        <a:defRPr sz="2954" kern="1200">
          <a:solidFill>
            <a:schemeClr val="tx1"/>
          </a:solidFill>
          <a:latin typeface="+mn-lt"/>
          <a:ea typeface="+mn-ea"/>
          <a:cs typeface="+mn-cs"/>
        </a:defRPr>
      </a:lvl1pPr>
      <a:lvl2pPr marL="685817" indent="-263776" algn="l" defTabSz="844083" rtl="0" eaLnBrk="1" latinLnBrk="0" hangingPunct="1">
        <a:spcBef>
          <a:spcPct val="20000"/>
        </a:spcBef>
        <a:buFont typeface="Arial" pitchFamily="34" charset="0"/>
        <a:buChar char="–"/>
        <a:defRPr sz="2585" kern="1200">
          <a:solidFill>
            <a:schemeClr val="tx1"/>
          </a:solidFill>
          <a:latin typeface="+mn-lt"/>
          <a:ea typeface="+mn-ea"/>
          <a:cs typeface="+mn-cs"/>
        </a:defRPr>
      </a:lvl2pPr>
      <a:lvl3pPr marL="1055103" indent="-211021" algn="l" defTabSz="844083" rtl="0" eaLnBrk="1" latinLnBrk="0" hangingPunct="1">
        <a:spcBef>
          <a:spcPct val="20000"/>
        </a:spcBef>
        <a:buFont typeface="Arial" pitchFamily="34" charset="0"/>
        <a:buChar char="•"/>
        <a:defRPr sz="2215" kern="1200">
          <a:solidFill>
            <a:schemeClr val="tx1"/>
          </a:solidFill>
          <a:latin typeface="+mn-lt"/>
          <a:ea typeface="+mn-ea"/>
          <a:cs typeface="+mn-cs"/>
        </a:defRPr>
      </a:lvl3pPr>
      <a:lvl4pPr marL="1477145" indent="-211021" algn="l" defTabSz="844083" rtl="0" eaLnBrk="1" latinLnBrk="0" hangingPunct="1">
        <a:spcBef>
          <a:spcPct val="20000"/>
        </a:spcBef>
        <a:buFont typeface="Arial" pitchFamily="34" charset="0"/>
        <a:buChar char="–"/>
        <a:defRPr sz="1846" kern="1200">
          <a:solidFill>
            <a:schemeClr val="tx1"/>
          </a:solidFill>
          <a:latin typeface="+mn-lt"/>
          <a:ea typeface="+mn-ea"/>
          <a:cs typeface="+mn-cs"/>
        </a:defRPr>
      </a:lvl4pPr>
      <a:lvl5pPr marL="1899186" indent="-211021" algn="l" defTabSz="844083" rtl="0" eaLnBrk="1" latinLnBrk="0" hangingPunct="1">
        <a:spcBef>
          <a:spcPct val="20000"/>
        </a:spcBef>
        <a:buFont typeface="Arial" pitchFamily="34" charset="0"/>
        <a:buChar char="»"/>
        <a:defRPr sz="1846" kern="1200">
          <a:solidFill>
            <a:schemeClr val="tx1"/>
          </a:solidFill>
          <a:latin typeface="+mn-lt"/>
          <a:ea typeface="+mn-ea"/>
          <a:cs typeface="+mn-cs"/>
        </a:defRPr>
      </a:lvl5pPr>
      <a:lvl6pPr marL="2321227" indent="-211021" algn="l" defTabSz="844083" rtl="0" eaLnBrk="1" latinLnBrk="0" hangingPunct="1">
        <a:spcBef>
          <a:spcPct val="20000"/>
        </a:spcBef>
        <a:buFont typeface="Arial" pitchFamily="34" charset="0"/>
        <a:buChar char="•"/>
        <a:defRPr sz="1846" kern="1200">
          <a:solidFill>
            <a:schemeClr val="tx1"/>
          </a:solidFill>
          <a:latin typeface="+mn-lt"/>
          <a:ea typeface="+mn-ea"/>
          <a:cs typeface="+mn-cs"/>
        </a:defRPr>
      </a:lvl6pPr>
      <a:lvl7pPr marL="2743269" indent="-211021" algn="l" defTabSz="844083" rtl="0" eaLnBrk="1" latinLnBrk="0" hangingPunct="1">
        <a:spcBef>
          <a:spcPct val="20000"/>
        </a:spcBef>
        <a:buFont typeface="Arial" pitchFamily="34" charset="0"/>
        <a:buChar char="•"/>
        <a:defRPr sz="1846" kern="1200">
          <a:solidFill>
            <a:schemeClr val="tx1"/>
          </a:solidFill>
          <a:latin typeface="+mn-lt"/>
          <a:ea typeface="+mn-ea"/>
          <a:cs typeface="+mn-cs"/>
        </a:defRPr>
      </a:lvl7pPr>
      <a:lvl8pPr marL="3165310" indent="-211021" algn="l" defTabSz="844083" rtl="0" eaLnBrk="1" latinLnBrk="0" hangingPunct="1">
        <a:spcBef>
          <a:spcPct val="20000"/>
        </a:spcBef>
        <a:buFont typeface="Arial" pitchFamily="34" charset="0"/>
        <a:buChar char="•"/>
        <a:defRPr sz="1846" kern="1200">
          <a:solidFill>
            <a:schemeClr val="tx1"/>
          </a:solidFill>
          <a:latin typeface="+mn-lt"/>
          <a:ea typeface="+mn-ea"/>
          <a:cs typeface="+mn-cs"/>
        </a:defRPr>
      </a:lvl8pPr>
      <a:lvl9pPr marL="3587351" indent="-211021" algn="l" defTabSz="844083" rtl="0" eaLnBrk="1" latinLnBrk="0" hangingPunct="1">
        <a:spcBef>
          <a:spcPct val="20000"/>
        </a:spcBef>
        <a:buFont typeface="Arial" pitchFamily="34" charset="0"/>
        <a:buChar char="•"/>
        <a:defRPr sz="1846" kern="1200">
          <a:solidFill>
            <a:schemeClr val="tx1"/>
          </a:solidFill>
          <a:latin typeface="+mn-lt"/>
          <a:ea typeface="+mn-ea"/>
          <a:cs typeface="+mn-cs"/>
        </a:defRPr>
      </a:lvl9pPr>
    </p:bodyStyle>
    <p:otherStyle>
      <a:defPPr>
        <a:defRPr lang="en-US"/>
      </a:defPPr>
      <a:lvl1pPr marL="0" algn="l" defTabSz="844083" rtl="0" eaLnBrk="1" latinLnBrk="0" hangingPunct="1">
        <a:defRPr sz="1662" kern="1200">
          <a:solidFill>
            <a:schemeClr val="tx1"/>
          </a:solidFill>
          <a:latin typeface="+mn-lt"/>
          <a:ea typeface="+mn-ea"/>
          <a:cs typeface="+mn-cs"/>
        </a:defRPr>
      </a:lvl1pPr>
      <a:lvl2pPr marL="422041" algn="l" defTabSz="844083" rtl="0" eaLnBrk="1" latinLnBrk="0" hangingPunct="1">
        <a:defRPr sz="1662" kern="1200">
          <a:solidFill>
            <a:schemeClr val="tx1"/>
          </a:solidFill>
          <a:latin typeface="+mn-lt"/>
          <a:ea typeface="+mn-ea"/>
          <a:cs typeface="+mn-cs"/>
        </a:defRPr>
      </a:lvl2pPr>
      <a:lvl3pPr marL="844083" algn="l" defTabSz="844083" rtl="0" eaLnBrk="1" latinLnBrk="0" hangingPunct="1">
        <a:defRPr sz="1662" kern="1200">
          <a:solidFill>
            <a:schemeClr val="tx1"/>
          </a:solidFill>
          <a:latin typeface="+mn-lt"/>
          <a:ea typeface="+mn-ea"/>
          <a:cs typeface="+mn-cs"/>
        </a:defRPr>
      </a:lvl3pPr>
      <a:lvl4pPr marL="1266124" algn="l" defTabSz="844083" rtl="0" eaLnBrk="1" latinLnBrk="0" hangingPunct="1">
        <a:defRPr sz="1662" kern="1200">
          <a:solidFill>
            <a:schemeClr val="tx1"/>
          </a:solidFill>
          <a:latin typeface="+mn-lt"/>
          <a:ea typeface="+mn-ea"/>
          <a:cs typeface="+mn-cs"/>
        </a:defRPr>
      </a:lvl4pPr>
      <a:lvl5pPr marL="1688165" algn="l" defTabSz="844083" rtl="0" eaLnBrk="1" latinLnBrk="0" hangingPunct="1">
        <a:defRPr sz="1662" kern="1200">
          <a:solidFill>
            <a:schemeClr val="tx1"/>
          </a:solidFill>
          <a:latin typeface="+mn-lt"/>
          <a:ea typeface="+mn-ea"/>
          <a:cs typeface="+mn-cs"/>
        </a:defRPr>
      </a:lvl5pPr>
      <a:lvl6pPr marL="2110207" algn="l" defTabSz="844083" rtl="0" eaLnBrk="1" latinLnBrk="0" hangingPunct="1">
        <a:defRPr sz="1662" kern="1200">
          <a:solidFill>
            <a:schemeClr val="tx1"/>
          </a:solidFill>
          <a:latin typeface="+mn-lt"/>
          <a:ea typeface="+mn-ea"/>
          <a:cs typeface="+mn-cs"/>
        </a:defRPr>
      </a:lvl6pPr>
      <a:lvl7pPr marL="2532248" algn="l" defTabSz="844083" rtl="0" eaLnBrk="1" latinLnBrk="0" hangingPunct="1">
        <a:defRPr sz="1662" kern="1200">
          <a:solidFill>
            <a:schemeClr val="tx1"/>
          </a:solidFill>
          <a:latin typeface="+mn-lt"/>
          <a:ea typeface="+mn-ea"/>
          <a:cs typeface="+mn-cs"/>
        </a:defRPr>
      </a:lvl7pPr>
      <a:lvl8pPr marL="2954289" algn="l" defTabSz="844083" rtl="0" eaLnBrk="1" latinLnBrk="0" hangingPunct="1">
        <a:defRPr sz="1662" kern="1200">
          <a:solidFill>
            <a:schemeClr val="tx1"/>
          </a:solidFill>
          <a:latin typeface="+mn-lt"/>
          <a:ea typeface="+mn-ea"/>
          <a:cs typeface="+mn-cs"/>
        </a:defRPr>
      </a:lvl8pPr>
      <a:lvl9pPr marL="3376331" algn="l" defTabSz="844083" rtl="0" eaLnBrk="1" latinLnBrk="0" hangingPunct="1">
        <a:defRPr sz="1662"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7.png"/><Relationship Id="rId18" Type="http://schemas.openxmlformats.org/officeDocument/2006/relationships/image" Target="../media/image32.png"/><Relationship Id="rId3" Type="http://schemas.openxmlformats.org/officeDocument/2006/relationships/image" Target="../media/image17.png"/><Relationship Id="rId7" Type="http://schemas.openxmlformats.org/officeDocument/2006/relationships/image" Target="../media/image21.png"/><Relationship Id="rId12" Type="http://schemas.openxmlformats.org/officeDocument/2006/relationships/image" Target="../media/image26.png"/><Relationship Id="rId17" Type="http://schemas.openxmlformats.org/officeDocument/2006/relationships/image" Target="../media/image31.png"/><Relationship Id="rId2" Type="http://schemas.openxmlformats.org/officeDocument/2006/relationships/image" Target="../media/image16.png"/><Relationship Id="rId16" Type="http://schemas.openxmlformats.org/officeDocument/2006/relationships/image" Target="../media/image30.png"/><Relationship Id="rId1" Type="http://schemas.openxmlformats.org/officeDocument/2006/relationships/slideLayout" Target="../slideLayouts/slideLayout2.xml"/><Relationship Id="rId6" Type="http://schemas.openxmlformats.org/officeDocument/2006/relationships/image" Target="../media/image20.png"/><Relationship Id="rId11" Type="http://schemas.openxmlformats.org/officeDocument/2006/relationships/image" Target="../media/image25.png"/><Relationship Id="rId5" Type="http://schemas.openxmlformats.org/officeDocument/2006/relationships/image" Target="../media/image19.png"/><Relationship Id="rId15" Type="http://schemas.openxmlformats.org/officeDocument/2006/relationships/image" Target="../media/image29.pn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png"/><Relationship Id="rId14" Type="http://schemas.openxmlformats.org/officeDocument/2006/relationships/image" Target="../media/image28.png"/></Relationships>
</file>

<file path=ppt/slides/_rels/slide7.xml.rels><?xml version="1.0" encoding="UTF-8" standalone="yes"?>
<Relationships xmlns="http://schemas.openxmlformats.org/package/2006/relationships"><Relationship Id="rId8" Type="http://schemas.openxmlformats.org/officeDocument/2006/relationships/image" Target="../media/image39.png"/><Relationship Id="rId13" Type="http://schemas.openxmlformats.org/officeDocument/2006/relationships/image" Target="../media/image44.png"/><Relationship Id="rId3" Type="http://schemas.openxmlformats.org/officeDocument/2006/relationships/image" Target="../media/image34.png"/><Relationship Id="rId7" Type="http://schemas.openxmlformats.org/officeDocument/2006/relationships/image" Target="../media/image38.png"/><Relationship Id="rId12" Type="http://schemas.openxmlformats.org/officeDocument/2006/relationships/image" Target="../media/image43.png"/><Relationship Id="rId2" Type="http://schemas.openxmlformats.org/officeDocument/2006/relationships/image" Target="../media/image33.png"/><Relationship Id="rId16" Type="http://schemas.openxmlformats.org/officeDocument/2006/relationships/image" Target="../media/image47.png"/><Relationship Id="rId1" Type="http://schemas.openxmlformats.org/officeDocument/2006/relationships/slideLayout" Target="../slideLayouts/slideLayout2.xml"/><Relationship Id="rId6" Type="http://schemas.openxmlformats.org/officeDocument/2006/relationships/image" Target="../media/image37.png"/><Relationship Id="rId11" Type="http://schemas.openxmlformats.org/officeDocument/2006/relationships/image" Target="../media/image42.png"/><Relationship Id="rId5" Type="http://schemas.openxmlformats.org/officeDocument/2006/relationships/image" Target="../media/image36.png"/><Relationship Id="rId15" Type="http://schemas.openxmlformats.org/officeDocument/2006/relationships/image" Target="../media/image46.png"/><Relationship Id="rId10" Type="http://schemas.openxmlformats.org/officeDocument/2006/relationships/image" Target="../media/image41.png"/><Relationship Id="rId4" Type="http://schemas.openxmlformats.org/officeDocument/2006/relationships/image" Target="../media/image35.png"/><Relationship Id="rId9" Type="http://schemas.openxmlformats.org/officeDocument/2006/relationships/image" Target="../media/image40.png"/><Relationship Id="rId14" Type="http://schemas.openxmlformats.org/officeDocument/2006/relationships/image" Target="../media/image45.png"/></Relationships>
</file>

<file path=ppt/slides/_rels/slide8.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image" Target="../media/image37.png"/><Relationship Id="rId7" Type="http://schemas.openxmlformats.org/officeDocument/2006/relationships/image" Target="../media/image52.png"/><Relationship Id="rId12" Type="http://schemas.openxmlformats.org/officeDocument/2006/relationships/image" Target="../media/image57.png"/><Relationship Id="rId2" Type="http://schemas.openxmlformats.org/officeDocument/2006/relationships/image" Target="../media/image48.png"/><Relationship Id="rId1" Type="http://schemas.openxmlformats.org/officeDocument/2006/relationships/slideLayout" Target="../slideLayouts/slideLayout2.xml"/><Relationship Id="rId6" Type="http://schemas.openxmlformats.org/officeDocument/2006/relationships/image" Target="../media/image51.png"/><Relationship Id="rId11" Type="http://schemas.openxmlformats.org/officeDocument/2006/relationships/image" Target="../media/image56.png"/><Relationship Id="rId5" Type="http://schemas.openxmlformats.org/officeDocument/2006/relationships/image" Target="../media/image50.png"/><Relationship Id="rId10" Type="http://schemas.openxmlformats.org/officeDocument/2006/relationships/image" Target="../media/image55.png"/><Relationship Id="rId4" Type="http://schemas.openxmlformats.org/officeDocument/2006/relationships/image" Target="../media/image49.png"/><Relationship Id="rId9" Type="http://schemas.openxmlformats.org/officeDocument/2006/relationships/image" Target="../media/image54.png"/></Relationships>
</file>

<file path=ppt/slides/_rels/slide9.xml.rels><?xml version="1.0" encoding="UTF-8" standalone="yes"?>
<Relationships xmlns="http://schemas.openxmlformats.org/package/2006/relationships"><Relationship Id="rId8" Type="http://schemas.openxmlformats.org/officeDocument/2006/relationships/image" Target="../media/image63.png"/><Relationship Id="rId3" Type="http://schemas.openxmlformats.org/officeDocument/2006/relationships/image" Target="../media/image37.png"/><Relationship Id="rId7" Type="http://schemas.openxmlformats.org/officeDocument/2006/relationships/image" Target="../media/image62.png"/><Relationship Id="rId2" Type="http://schemas.openxmlformats.org/officeDocument/2006/relationships/image" Target="../media/image58.png"/><Relationship Id="rId1" Type="http://schemas.openxmlformats.org/officeDocument/2006/relationships/slideLayout" Target="../slideLayouts/slideLayout2.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s>
</file>

<file path=ppt/slides/_rels/slide10.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emf"/><Relationship Id="rId1" Type="http://schemas.openxmlformats.org/officeDocument/2006/relationships/slideLayout" Target="../slideLayouts/slideLayout2.xml"/><Relationship Id="rId4" Type="http://schemas.openxmlformats.org/officeDocument/2006/relationships/image" Target="../media/image66.png"/></Relationships>
</file>

<file path=ppt/slides/_rels/slide11.xml.rels><?xml version="1.0" encoding="UTF-8" standalone="yes"?>
<Relationships xmlns="http://schemas.openxmlformats.org/package/2006/relationships"><Relationship Id="rId8" Type="http://schemas.openxmlformats.org/officeDocument/2006/relationships/image" Target="../media/image73.png"/><Relationship Id="rId13" Type="http://schemas.openxmlformats.org/officeDocument/2006/relationships/image" Target="../media/image77.png"/><Relationship Id="rId3" Type="http://schemas.openxmlformats.org/officeDocument/2006/relationships/image" Target="../media/image68.png"/><Relationship Id="rId7" Type="http://schemas.openxmlformats.org/officeDocument/2006/relationships/image" Target="../media/image72.png"/><Relationship Id="rId12" Type="http://schemas.openxmlformats.org/officeDocument/2006/relationships/image" Target="../media/image76.png"/><Relationship Id="rId2" Type="http://schemas.openxmlformats.org/officeDocument/2006/relationships/image" Target="../media/image67.png"/><Relationship Id="rId1" Type="http://schemas.openxmlformats.org/officeDocument/2006/relationships/slideLayout" Target="../slideLayouts/slideLayout2.xml"/><Relationship Id="rId6" Type="http://schemas.openxmlformats.org/officeDocument/2006/relationships/image" Target="../media/image71.png"/><Relationship Id="rId11" Type="http://schemas.openxmlformats.org/officeDocument/2006/relationships/image" Target="../media/image75.png"/><Relationship Id="rId5" Type="http://schemas.openxmlformats.org/officeDocument/2006/relationships/image" Target="../media/image70.png"/><Relationship Id="rId10" Type="http://schemas.openxmlformats.org/officeDocument/2006/relationships/image" Target="../media/image60.png"/><Relationship Id="rId4" Type="http://schemas.openxmlformats.org/officeDocument/2006/relationships/image" Target="../media/image69.png"/><Relationship Id="rId9" Type="http://schemas.openxmlformats.org/officeDocument/2006/relationships/image" Target="../media/image74.png"/></Relationships>
</file>

<file path=ppt/slides/_rels/slide12.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slideLayout" Target="../slideLayouts/slideLayout2.xml"/><Relationship Id="rId6" Type="http://schemas.openxmlformats.org/officeDocument/2006/relationships/image" Target="../media/image82.png"/><Relationship Id="rId5" Type="http://schemas.openxmlformats.org/officeDocument/2006/relationships/image" Target="../media/image81.png"/><Relationship Id="rId4" Type="http://schemas.openxmlformats.org/officeDocument/2006/relationships/image" Target="../media/image80.png"/></Relationships>
</file>

<file path=ppt/slides/_rels/slide13.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slideLayout" Target="../slideLayouts/slideLayout2.xml"/><Relationship Id="rId5" Type="http://schemas.openxmlformats.org/officeDocument/2006/relationships/image" Target="../media/image86.png"/><Relationship Id="rId4" Type="http://schemas.openxmlformats.org/officeDocument/2006/relationships/image" Target="../media/image85.png"/></Relationships>
</file>

<file path=ppt/slides/_rels/slide14.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image" Target="../media/image87.png"/><Relationship Id="rId1" Type="http://schemas.openxmlformats.org/officeDocument/2006/relationships/slideLayout" Target="../slideLayouts/slideLayout2.xml"/><Relationship Id="rId6" Type="http://schemas.openxmlformats.org/officeDocument/2006/relationships/image" Target="../media/image91.png"/><Relationship Id="rId5" Type="http://schemas.openxmlformats.org/officeDocument/2006/relationships/image" Target="../media/image90.png"/><Relationship Id="rId4" Type="http://schemas.openxmlformats.org/officeDocument/2006/relationships/image" Target="../media/image89.png"/></Relationships>
</file>

<file path=ppt/slides/_rels/slide15.xml.rels><?xml version="1.0" encoding="UTF-8" standalone="yes"?>
<Relationships xmlns="http://schemas.openxmlformats.org/package/2006/relationships"><Relationship Id="rId8" Type="http://schemas.openxmlformats.org/officeDocument/2006/relationships/image" Target="../media/image98.png"/><Relationship Id="rId3" Type="http://schemas.openxmlformats.org/officeDocument/2006/relationships/image" Target="../media/image93.png"/><Relationship Id="rId7" Type="http://schemas.openxmlformats.org/officeDocument/2006/relationships/image" Target="../media/image97.png"/><Relationship Id="rId2" Type="http://schemas.openxmlformats.org/officeDocument/2006/relationships/image" Target="../media/image92.png"/><Relationship Id="rId1" Type="http://schemas.openxmlformats.org/officeDocument/2006/relationships/slideLayout" Target="../slideLayouts/slideLayout2.xml"/><Relationship Id="rId6" Type="http://schemas.openxmlformats.org/officeDocument/2006/relationships/image" Target="../media/image96.png"/><Relationship Id="rId5" Type="http://schemas.openxmlformats.org/officeDocument/2006/relationships/image" Target="../media/image95.png"/><Relationship Id="rId4" Type="http://schemas.openxmlformats.org/officeDocument/2006/relationships/image" Target="../media/image94.png"/></Relationships>
</file>

<file path=ppt/slides/_rels/slide16.xml.rels><?xml version="1.0" encoding="UTF-8" standalone="yes"?>
<Relationships xmlns="http://schemas.openxmlformats.org/package/2006/relationships"><Relationship Id="rId8" Type="http://schemas.openxmlformats.org/officeDocument/2006/relationships/image" Target="../media/image103.png"/><Relationship Id="rId3" Type="http://schemas.openxmlformats.org/officeDocument/2006/relationships/image" Target="../media/image100.png"/><Relationship Id="rId7" Type="http://schemas.openxmlformats.org/officeDocument/2006/relationships/image" Target="../media/image102.png"/><Relationship Id="rId2" Type="http://schemas.openxmlformats.org/officeDocument/2006/relationships/image" Target="../media/image99.png"/><Relationship Id="rId1" Type="http://schemas.openxmlformats.org/officeDocument/2006/relationships/slideLayout" Target="../slideLayouts/slideLayout2.xml"/><Relationship Id="rId6" Type="http://schemas.openxmlformats.org/officeDocument/2006/relationships/image" Target="../media/image51.png"/><Relationship Id="rId5" Type="http://schemas.openxmlformats.org/officeDocument/2006/relationships/image" Target="../media/image50.png"/><Relationship Id="rId10" Type="http://schemas.openxmlformats.org/officeDocument/2006/relationships/image" Target="../media/image105.png"/><Relationship Id="rId4" Type="http://schemas.openxmlformats.org/officeDocument/2006/relationships/image" Target="../media/image101.png"/><Relationship Id="rId9" Type="http://schemas.openxmlformats.org/officeDocument/2006/relationships/image" Target="../media/image104.png"/></Relationships>
</file>

<file path=ppt/slides/_rels/slide17.xml.rels><?xml version="1.0" encoding="UTF-8" standalone="yes"?>
<Relationships xmlns="http://schemas.openxmlformats.org/package/2006/relationships"><Relationship Id="rId8" Type="http://schemas.openxmlformats.org/officeDocument/2006/relationships/image" Target="../media/image61.png"/><Relationship Id="rId3" Type="http://schemas.openxmlformats.org/officeDocument/2006/relationships/image" Target="../media/image107.png"/><Relationship Id="rId7" Type="http://schemas.openxmlformats.org/officeDocument/2006/relationships/image" Target="../media/image110.png"/><Relationship Id="rId2" Type="http://schemas.openxmlformats.org/officeDocument/2006/relationships/image" Target="../media/image106.png"/><Relationship Id="rId1" Type="http://schemas.openxmlformats.org/officeDocument/2006/relationships/slideLayout" Target="../slideLayouts/slideLayout2.xml"/><Relationship Id="rId6" Type="http://schemas.openxmlformats.org/officeDocument/2006/relationships/image" Target="../media/image51.png"/><Relationship Id="rId5" Type="http://schemas.openxmlformats.org/officeDocument/2006/relationships/image" Target="../media/image109.png"/><Relationship Id="rId4" Type="http://schemas.openxmlformats.org/officeDocument/2006/relationships/image" Target="../media/image108.png"/></Relationships>
</file>

<file path=ppt/slides/_rels/slide18.xml.rels><?xml version="1.0" encoding="UTF-8" standalone="yes"?>
<Relationships xmlns="http://schemas.openxmlformats.org/package/2006/relationships"><Relationship Id="rId3" Type="http://schemas.openxmlformats.org/officeDocument/2006/relationships/image" Target="../media/image112.png"/><Relationship Id="rId7" Type="http://schemas.openxmlformats.org/officeDocument/2006/relationships/image" Target="../media/image114.png"/><Relationship Id="rId2" Type="http://schemas.openxmlformats.org/officeDocument/2006/relationships/image" Target="../media/image111.png"/><Relationship Id="rId1" Type="http://schemas.openxmlformats.org/officeDocument/2006/relationships/slideLayout" Target="../slideLayouts/slideLayout2.xml"/><Relationship Id="rId6" Type="http://schemas.openxmlformats.org/officeDocument/2006/relationships/image" Target="../media/image109.png"/><Relationship Id="rId5" Type="http://schemas.openxmlformats.org/officeDocument/2006/relationships/image" Target="../media/image113.png"/><Relationship Id="rId4" Type="http://schemas.openxmlformats.org/officeDocument/2006/relationships/image" Target="../media/image45.png"/></Relationships>
</file>

<file path=ppt/slides/_rels/slide19.xml.rels><?xml version="1.0" encoding="UTF-8" standalone="yes"?>
<Relationships xmlns="http://schemas.openxmlformats.org/package/2006/relationships"><Relationship Id="rId3" Type="http://schemas.openxmlformats.org/officeDocument/2006/relationships/image" Target="../media/image116.png"/><Relationship Id="rId7" Type="http://schemas.openxmlformats.org/officeDocument/2006/relationships/image" Target="../media/image120.png"/><Relationship Id="rId2" Type="http://schemas.openxmlformats.org/officeDocument/2006/relationships/image" Target="../media/image115.png"/><Relationship Id="rId1" Type="http://schemas.openxmlformats.org/officeDocument/2006/relationships/slideLayout" Target="../slideLayouts/slideLayout2.xml"/><Relationship Id="rId6" Type="http://schemas.openxmlformats.org/officeDocument/2006/relationships/image" Target="../media/image119.png"/><Relationship Id="rId5" Type="http://schemas.openxmlformats.org/officeDocument/2006/relationships/image" Target="../media/image118.png"/><Relationship Id="rId4" Type="http://schemas.openxmlformats.org/officeDocument/2006/relationships/image" Target="../media/image117.png"/></Relationships>
</file>

<file path=ppt/slides/_rels/slide20.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image" Target="../media/image121.png"/><Relationship Id="rId1" Type="http://schemas.openxmlformats.org/officeDocument/2006/relationships/slideLayout" Target="../slideLayouts/slideLayout2.xml"/><Relationship Id="rId5" Type="http://schemas.openxmlformats.org/officeDocument/2006/relationships/image" Target="../media/image124.png"/><Relationship Id="rId4" Type="http://schemas.openxmlformats.org/officeDocument/2006/relationships/image" Target="../media/image123.png"/></Relationships>
</file>

<file path=ppt/slides/_rels/slide21.xml.rels><?xml version="1.0" encoding="UTF-8" standalone="yes"?>
<Relationships xmlns="http://schemas.openxmlformats.org/package/2006/relationships"><Relationship Id="rId8" Type="http://schemas.openxmlformats.org/officeDocument/2006/relationships/image" Target="../media/image129.png"/><Relationship Id="rId3" Type="http://schemas.openxmlformats.org/officeDocument/2006/relationships/image" Target="../media/image126.png"/><Relationship Id="rId7" Type="http://schemas.openxmlformats.org/officeDocument/2006/relationships/image" Target="../media/image128.png"/><Relationship Id="rId2" Type="http://schemas.openxmlformats.org/officeDocument/2006/relationships/image" Target="../media/image125.png"/><Relationship Id="rId1" Type="http://schemas.openxmlformats.org/officeDocument/2006/relationships/slideLayout" Target="../slideLayouts/slideLayout2.xml"/><Relationship Id="rId6" Type="http://schemas.openxmlformats.org/officeDocument/2006/relationships/image" Target="../media/image127.png"/><Relationship Id="rId5" Type="http://schemas.openxmlformats.org/officeDocument/2006/relationships/image" Target="../media/image113.png"/><Relationship Id="rId4" Type="http://schemas.openxmlformats.org/officeDocument/2006/relationships/image" Target="../media/image45.png"/><Relationship Id="rId9" Type="http://schemas.openxmlformats.org/officeDocument/2006/relationships/image" Target="../media/image130.png"/></Relationships>
</file>

<file path=ppt/slides/_rels/slide22.xml.rels><?xml version="1.0" encoding="UTF-8" standalone="yes"?>
<Relationships xmlns="http://schemas.openxmlformats.org/package/2006/relationships"><Relationship Id="rId3" Type="http://schemas.openxmlformats.org/officeDocument/2006/relationships/image" Target="../media/image132.png"/><Relationship Id="rId7" Type="http://schemas.openxmlformats.org/officeDocument/2006/relationships/image" Target="../media/image134.png"/><Relationship Id="rId2" Type="http://schemas.openxmlformats.org/officeDocument/2006/relationships/image" Target="../media/image131.png"/><Relationship Id="rId1" Type="http://schemas.openxmlformats.org/officeDocument/2006/relationships/slideLayout" Target="../slideLayouts/slideLayout2.xml"/><Relationship Id="rId6" Type="http://schemas.openxmlformats.org/officeDocument/2006/relationships/image" Target="../media/image133.png"/><Relationship Id="rId5" Type="http://schemas.openxmlformats.org/officeDocument/2006/relationships/image" Target="../media/image113.png"/><Relationship Id="rId4" Type="http://schemas.openxmlformats.org/officeDocument/2006/relationships/image" Target="../media/image45.png"/></Relationships>
</file>

<file path=ppt/slides/_rels/slide23.xml.rels><?xml version="1.0" encoding="UTF-8" standalone="yes"?>
<Relationships xmlns="http://schemas.openxmlformats.org/package/2006/relationships"><Relationship Id="rId3" Type="http://schemas.openxmlformats.org/officeDocument/2006/relationships/image" Target="../media/image136.png"/><Relationship Id="rId7" Type="http://schemas.openxmlformats.org/officeDocument/2006/relationships/image" Target="../media/image139.png"/><Relationship Id="rId2" Type="http://schemas.openxmlformats.org/officeDocument/2006/relationships/image" Target="../media/image135.png"/><Relationship Id="rId1" Type="http://schemas.openxmlformats.org/officeDocument/2006/relationships/slideLayout" Target="../slideLayouts/slideLayout2.xml"/><Relationship Id="rId6" Type="http://schemas.openxmlformats.org/officeDocument/2006/relationships/image" Target="../media/image138.png"/><Relationship Id="rId5" Type="http://schemas.openxmlformats.org/officeDocument/2006/relationships/image" Target="../media/image137.png"/><Relationship Id="rId4" Type="http://schemas.openxmlformats.org/officeDocument/2006/relationships/image" Target="../media/image44.png"/></Relationships>
</file>

<file path=ppt/slides/_rels/slide24.xml.rels><?xml version="1.0" encoding="UTF-8" standalone="yes"?>
<Relationships xmlns="http://schemas.openxmlformats.org/package/2006/relationships"><Relationship Id="rId8" Type="http://schemas.openxmlformats.org/officeDocument/2006/relationships/image" Target="../media/image146.png"/><Relationship Id="rId3" Type="http://schemas.openxmlformats.org/officeDocument/2006/relationships/image" Target="../media/image141.png"/><Relationship Id="rId7" Type="http://schemas.openxmlformats.org/officeDocument/2006/relationships/image" Target="../media/image145.png"/><Relationship Id="rId2" Type="http://schemas.openxmlformats.org/officeDocument/2006/relationships/image" Target="../media/image140.png"/><Relationship Id="rId1" Type="http://schemas.openxmlformats.org/officeDocument/2006/relationships/slideLayout" Target="../slideLayouts/slideLayout2.xml"/><Relationship Id="rId6" Type="http://schemas.openxmlformats.org/officeDocument/2006/relationships/image" Target="../media/image144.png"/><Relationship Id="rId5" Type="http://schemas.openxmlformats.org/officeDocument/2006/relationships/image" Target="../media/image143.png"/><Relationship Id="rId4" Type="http://schemas.openxmlformats.org/officeDocument/2006/relationships/image" Target="../media/image142.png"/></Relationships>
</file>

<file path=ppt/slides/_rels/slide25.xml.rels><?xml version="1.0" encoding="UTF-8" standalone="yes"?>
<Relationships xmlns="http://schemas.openxmlformats.org/package/2006/relationships"><Relationship Id="rId3" Type="http://schemas.openxmlformats.org/officeDocument/2006/relationships/image" Target="../media/image148.png"/><Relationship Id="rId2" Type="http://schemas.openxmlformats.org/officeDocument/2006/relationships/image" Target="../media/image147.png"/><Relationship Id="rId1" Type="http://schemas.openxmlformats.org/officeDocument/2006/relationships/slideLayout" Target="../slideLayouts/slideLayout2.xml"/><Relationship Id="rId5" Type="http://schemas.openxmlformats.org/officeDocument/2006/relationships/image" Target="../media/image150.png"/><Relationship Id="rId4" Type="http://schemas.openxmlformats.org/officeDocument/2006/relationships/image" Target="../media/image149.png"/></Relationships>
</file>

<file path=ppt/slides/_rels/slide26.xml.rels><?xml version="1.0" encoding="UTF-8" standalone="yes"?>
<Relationships xmlns="http://schemas.openxmlformats.org/package/2006/relationships"><Relationship Id="rId8" Type="http://schemas.openxmlformats.org/officeDocument/2006/relationships/image" Target="../media/image156.png"/><Relationship Id="rId3" Type="http://schemas.openxmlformats.org/officeDocument/2006/relationships/image" Target="../media/image152.png"/><Relationship Id="rId7" Type="http://schemas.openxmlformats.org/officeDocument/2006/relationships/image" Target="../media/image155.png"/><Relationship Id="rId2" Type="http://schemas.openxmlformats.org/officeDocument/2006/relationships/image" Target="../media/image151.png"/><Relationship Id="rId1" Type="http://schemas.openxmlformats.org/officeDocument/2006/relationships/slideLayout" Target="../slideLayouts/slideLayout2.xml"/><Relationship Id="rId6" Type="http://schemas.openxmlformats.org/officeDocument/2006/relationships/image" Target="../media/image154.png"/><Relationship Id="rId5" Type="http://schemas.openxmlformats.org/officeDocument/2006/relationships/image" Target="../media/image51.png"/><Relationship Id="rId4" Type="http://schemas.openxmlformats.org/officeDocument/2006/relationships/image" Target="../media/image153.png"/><Relationship Id="rId9" Type="http://schemas.openxmlformats.org/officeDocument/2006/relationships/image" Target="../media/image157.png"/></Relationships>
</file>

<file path=ppt/slides/_rels/slide27.xml.rels><?xml version="1.0" encoding="UTF-8" standalone="yes"?>
<Relationships xmlns="http://schemas.openxmlformats.org/package/2006/relationships"><Relationship Id="rId8" Type="http://schemas.openxmlformats.org/officeDocument/2006/relationships/image" Target="../media/image164.png"/><Relationship Id="rId3" Type="http://schemas.openxmlformats.org/officeDocument/2006/relationships/image" Target="../media/image159.png"/><Relationship Id="rId7" Type="http://schemas.openxmlformats.org/officeDocument/2006/relationships/image" Target="../media/image163.png"/><Relationship Id="rId2" Type="http://schemas.openxmlformats.org/officeDocument/2006/relationships/image" Target="../media/image158.png"/><Relationship Id="rId1" Type="http://schemas.openxmlformats.org/officeDocument/2006/relationships/slideLayout" Target="../slideLayouts/slideLayout2.xml"/><Relationship Id="rId6" Type="http://schemas.openxmlformats.org/officeDocument/2006/relationships/image" Target="../media/image162.png"/><Relationship Id="rId5" Type="http://schemas.openxmlformats.org/officeDocument/2006/relationships/image" Target="../media/image161.png"/><Relationship Id="rId10" Type="http://schemas.openxmlformats.org/officeDocument/2006/relationships/image" Target="../media/image166.png"/><Relationship Id="rId4" Type="http://schemas.openxmlformats.org/officeDocument/2006/relationships/image" Target="../media/image160.png"/><Relationship Id="rId9" Type="http://schemas.openxmlformats.org/officeDocument/2006/relationships/image" Target="../media/image165.png"/></Relationships>
</file>

<file path=ppt/slides/_rels/slide28.xml.rels><?xml version="1.0" encoding="UTF-8" standalone="yes"?>
<Relationships xmlns="http://schemas.openxmlformats.org/package/2006/relationships"><Relationship Id="rId3" Type="http://schemas.openxmlformats.org/officeDocument/2006/relationships/image" Target="../media/image109.png"/><Relationship Id="rId7" Type="http://schemas.openxmlformats.org/officeDocument/2006/relationships/image" Target="../media/image170.png"/><Relationship Id="rId2" Type="http://schemas.openxmlformats.org/officeDocument/2006/relationships/image" Target="../media/image167.png"/><Relationship Id="rId1" Type="http://schemas.openxmlformats.org/officeDocument/2006/relationships/slideLayout" Target="../slideLayouts/slideLayout2.xml"/><Relationship Id="rId6" Type="http://schemas.openxmlformats.org/officeDocument/2006/relationships/image" Target="../media/image169.png"/><Relationship Id="rId5" Type="http://schemas.openxmlformats.org/officeDocument/2006/relationships/image" Target="../media/image168.png"/><Relationship Id="rId4" Type="http://schemas.openxmlformats.org/officeDocument/2006/relationships/image" Target="../media/image51.png"/></Relationships>
</file>

<file path=ppt/slides/_rels/slide29.xml.rels><?xml version="1.0" encoding="UTF-8" standalone="yes"?>
<Relationships xmlns="http://schemas.openxmlformats.org/package/2006/relationships"><Relationship Id="rId3" Type="http://schemas.openxmlformats.org/officeDocument/2006/relationships/image" Target="../media/image172.png"/><Relationship Id="rId2" Type="http://schemas.openxmlformats.org/officeDocument/2006/relationships/image" Target="../media/image171.png"/><Relationship Id="rId1" Type="http://schemas.openxmlformats.org/officeDocument/2006/relationships/slideLayout" Target="../slideLayouts/slideLayout2.xml"/><Relationship Id="rId5" Type="http://schemas.openxmlformats.org/officeDocument/2006/relationships/image" Target="../media/image174.png"/><Relationship Id="rId4" Type="http://schemas.openxmlformats.org/officeDocument/2006/relationships/image" Target="../media/image173.png"/></Relationships>
</file>

<file path=ppt/slides/_rels/slide30.xml.rels><?xml version="1.0" encoding="UTF-8" standalone="yes"?>
<Relationships xmlns="http://schemas.openxmlformats.org/package/2006/relationships"><Relationship Id="rId3" Type="http://schemas.openxmlformats.org/officeDocument/2006/relationships/image" Target="../media/image176.png"/><Relationship Id="rId2" Type="http://schemas.openxmlformats.org/officeDocument/2006/relationships/image" Target="../media/image175.png"/><Relationship Id="rId1" Type="http://schemas.openxmlformats.org/officeDocument/2006/relationships/slideLayout" Target="../slideLayouts/slideLayout2.xml"/><Relationship Id="rId6" Type="http://schemas.openxmlformats.org/officeDocument/2006/relationships/image" Target="../media/image179.png"/><Relationship Id="rId5" Type="http://schemas.openxmlformats.org/officeDocument/2006/relationships/image" Target="../media/image178.png"/><Relationship Id="rId4" Type="http://schemas.openxmlformats.org/officeDocument/2006/relationships/image" Target="../media/image177.png"/></Relationships>
</file>

<file path=ppt/slides/_rels/slide31.xml.rels><?xml version="1.0" encoding="UTF-8" standalone="yes"?>
<Relationships xmlns="http://schemas.openxmlformats.org/package/2006/relationships"><Relationship Id="rId3" Type="http://schemas.openxmlformats.org/officeDocument/2006/relationships/image" Target="../media/image181.png"/><Relationship Id="rId2" Type="http://schemas.openxmlformats.org/officeDocument/2006/relationships/image" Target="../media/image180.png"/><Relationship Id="rId1" Type="http://schemas.openxmlformats.org/officeDocument/2006/relationships/slideLayout" Target="../slideLayouts/slideLayout2.xml"/><Relationship Id="rId5" Type="http://schemas.openxmlformats.org/officeDocument/2006/relationships/image" Target="../media/image183.png"/><Relationship Id="rId4" Type="http://schemas.openxmlformats.org/officeDocument/2006/relationships/image" Target="../media/image182.png"/></Relationships>
</file>

<file path=ppt/slides/_rels/slide32.xml.rels><?xml version="1.0" encoding="UTF-8" standalone="yes"?>
<Relationships xmlns="http://schemas.openxmlformats.org/package/2006/relationships"><Relationship Id="rId3" Type="http://schemas.openxmlformats.org/officeDocument/2006/relationships/image" Target="../media/image185.png"/><Relationship Id="rId2" Type="http://schemas.openxmlformats.org/officeDocument/2006/relationships/image" Target="../media/image184.png"/><Relationship Id="rId1" Type="http://schemas.openxmlformats.org/officeDocument/2006/relationships/slideLayout" Target="../slideLayouts/slideLayout2.xml"/><Relationship Id="rId5" Type="http://schemas.openxmlformats.org/officeDocument/2006/relationships/image" Target="../media/image187.png"/><Relationship Id="rId4" Type="http://schemas.openxmlformats.org/officeDocument/2006/relationships/image" Target="../media/image186.png"/></Relationships>
</file>

<file path=ppt/slides/_rels/slide33.xml.rels><?xml version="1.0" encoding="UTF-8" standalone="yes"?>
<Relationships xmlns="http://schemas.openxmlformats.org/package/2006/relationships"><Relationship Id="rId8" Type="http://schemas.openxmlformats.org/officeDocument/2006/relationships/image" Target="../media/image194.png"/><Relationship Id="rId3" Type="http://schemas.openxmlformats.org/officeDocument/2006/relationships/image" Target="../media/image189.png"/><Relationship Id="rId7" Type="http://schemas.openxmlformats.org/officeDocument/2006/relationships/image" Target="../media/image193.png"/><Relationship Id="rId2" Type="http://schemas.openxmlformats.org/officeDocument/2006/relationships/image" Target="../media/image188.png"/><Relationship Id="rId1" Type="http://schemas.openxmlformats.org/officeDocument/2006/relationships/slideLayout" Target="../slideLayouts/slideLayout2.xml"/><Relationship Id="rId6" Type="http://schemas.openxmlformats.org/officeDocument/2006/relationships/image" Target="../media/image192.png"/><Relationship Id="rId5" Type="http://schemas.openxmlformats.org/officeDocument/2006/relationships/image" Target="../media/image191.png"/><Relationship Id="rId4" Type="http://schemas.openxmlformats.org/officeDocument/2006/relationships/image" Target="../media/image190.png"/></Relationships>
</file>

<file path=ppt/slides/_rels/slide34.xml.rels><?xml version="1.0" encoding="UTF-8" standalone="yes"?>
<Relationships xmlns="http://schemas.openxmlformats.org/package/2006/relationships"><Relationship Id="rId8" Type="http://schemas.openxmlformats.org/officeDocument/2006/relationships/image" Target="../media/image201.png"/><Relationship Id="rId3" Type="http://schemas.openxmlformats.org/officeDocument/2006/relationships/image" Target="../media/image196.png"/><Relationship Id="rId7" Type="http://schemas.openxmlformats.org/officeDocument/2006/relationships/image" Target="../media/image200.png"/><Relationship Id="rId12" Type="http://schemas.openxmlformats.org/officeDocument/2006/relationships/image" Target="../media/image205.png"/><Relationship Id="rId2" Type="http://schemas.openxmlformats.org/officeDocument/2006/relationships/image" Target="../media/image195.png"/><Relationship Id="rId1" Type="http://schemas.openxmlformats.org/officeDocument/2006/relationships/slideLayout" Target="../slideLayouts/slideLayout2.xml"/><Relationship Id="rId6" Type="http://schemas.openxmlformats.org/officeDocument/2006/relationships/image" Target="../media/image199.png"/><Relationship Id="rId11" Type="http://schemas.openxmlformats.org/officeDocument/2006/relationships/image" Target="../media/image204.png"/><Relationship Id="rId5" Type="http://schemas.openxmlformats.org/officeDocument/2006/relationships/image" Target="../media/image198.png"/><Relationship Id="rId10" Type="http://schemas.openxmlformats.org/officeDocument/2006/relationships/image" Target="../media/image203.png"/><Relationship Id="rId4" Type="http://schemas.openxmlformats.org/officeDocument/2006/relationships/image" Target="../media/image197.png"/><Relationship Id="rId9" Type="http://schemas.openxmlformats.org/officeDocument/2006/relationships/image" Target="../media/image202.png"/></Relationships>
</file>

<file path=ppt/slides/_rels/slide35.xml.rels><?xml version="1.0" encoding="UTF-8" standalone="yes"?>
<Relationships xmlns="http://schemas.openxmlformats.org/package/2006/relationships"><Relationship Id="rId8" Type="http://schemas.openxmlformats.org/officeDocument/2006/relationships/image" Target="../media/image212.png"/><Relationship Id="rId13" Type="http://schemas.openxmlformats.org/officeDocument/2006/relationships/image" Target="../media/image217.png"/><Relationship Id="rId3" Type="http://schemas.openxmlformats.org/officeDocument/2006/relationships/image" Target="../media/image207.png"/><Relationship Id="rId7" Type="http://schemas.openxmlformats.org/officeDocument/2006/relationships/image" Target="../media/image211.png"/><Relationship Id="rId12" Type="http://schemas.openxmlformats.org/officeDocument/2006/relationships/image" Target="../media/image216.png"/><Relationship Id="rId2" Type="http://schemas.openxmlformats.org/officeDocument/2006/relationships/image" Target="../media/image206.png"/><Relationship Id="rId1" Type="http://schemas.openxmlformats.org/officeDocument/2006/relationships/slideLayout" Target="../slideLayouts/slideLayout2.xml"/><Relationship Id="rId6" Type="http://schemas.openxmlformats.org/officeDocument/2006/relationships/image" Target="../media/image210.png"/><Relationship Id="rId11" Type="http://schemas.openxmlformats.org/officeDocument/2006/relationships/image" Target="../media/image215.png"/><Relationship Id="rId5" Type="http://schemas.openxmlformats.org/officeDocument/2006/relationships/image" Target="../media/image209.png"/><Relationship Id="rId10" Type="http://schemas.openxmlformats.org/officeDocument/2006/relationships/image" Target="../media/image214.png"/><Relationship Id="rId4" Type="http://schemas.openxmlformats.org/officeDocument/2006/relationships/image" Target="../media/image208.png"/><Relationship Id="rId9" Type="http://schemas.openxmlformats.org/officeDocument/2006/relationships/image" Target="../media/image213.png"/></Relationships>
</file>

<file path=ppt/slides/_rels/slide36.xml.rels><?xml version="1.0" encoding="UTF-8" standalone="yes"?>
<Relationships xmlns="http://schemas.openxmlformats.org/package/2006/relationships"><Relationship Id="rId8" Type="http://schemas.openxmlformats.org/officeDocument/2006/relationships/image" Target="../media/image224.png"/><Relationship Id="rId3" Type="http://schemas.openxmlformats.org/officeDocument/2006/relationships/image" Target="../media/image219.png"/><Relationship Id="rId7" Type="http://schemas.openxmlformats.org/officeDocument/2006/relationships/image" Target="../media/image223.png"/><Relationship Id="rId2" Type="http://schemas.openxmlformats.org/officeDocument/2006/relationships/image" Target="../media/image218.png"/><Relationship Id="rId1" Type="http://schemas.openxmlformats.org/officeDocument/2006/relationships/slideLayout" Target="../slideLayouts/slideLayout2.xml"/><Relationship Id="rId6" Type="http://schemas.openxmlformats.org/officeDocument/2006/relationships/image" Target="../media/image222.png"/><Relationship Id="rId5" Type="http://schemas.openxmlformats.org/officeDocument/2006/relationships/image" Target="../media/image221.png"/><Relationship Id="rId10" Type="http://schemas.openxmlformats.org/officeDocument/2006/relationships/image" Target="../media/image226.png"/><Relationship Id="rId4" Type="http://schemas.openxmlformats.org/officeDocument/2006/relationships/image" Target="../media/image220.png"/><Relationship Id="rId9" Type="http://schemas.openxmlformats.org/officeDocument/2006/relationships/image" Target="../media/image225.png"/></Relationships>
</file>

<file path=ppt/slides/_rels/slide37.xml.rels><?xml version="1.0" encoding="UTF-8" standalone="yes"?>
<Relationships xmlns="http://schemas.openxmlformats.org/package/2006/relationships"><Relationship Id="rId8" Type="http://schemas.openxmlformats.org/officeDocument/2006/relationships/image" Target="../media/image233.png"/><Relationship Id="rId13" Type="http://schemas.openxmlformats.org/officeDocument/2006/relationships/image" Target="../media/image238.png"/><Relationship Id="rId3" Type="http://schemas.openxmlformats.org/officeDocument/2006/relationships/image" Target="../media/image228.png"/><Relationship Id="rId7" Type="http://schemas.openxmlformats.org/officeDocument/2006/relationships/image" Target="../media/image232.png"/><Relationship Id="rId12" Type="http://schemas.openxmlformats.org/officeDocument/2006/relationships/image" Target="../media/image237.png"/><Relationship Id="rId17" Type="http://schemas.openxmlformats.org/officeDocument/2006/relationships/image" Target="../media/image242.png"/><Relationship Id="rId2" Type="http://schemas.openxmlformats.org/officeDocument/2006/relationships/image" Target="../media/image227.png"/><Relationship Id="rId16" Type="http://schemas.openxmlformats.org/officeDocument/2006/relationships/image" Target="../media/image241.png"/><Relationship Id="rId1" Type="http://schemas.openxmlformats.org/officeDocument/2006/relationships/slideLayout" Target="../slideLayouts/slideLayout2.xml"/><Relationship Id="rId6" Type="http://schemas.openxmlformats.org/officeDocument/2006/relationships/image" Target="../media/image231.png"/><Relationship Id="rId11" Type="http://schemas.openxmlformats.org/officeDocument/2006/relationships/image" Target="../media/image236.png"/><Relationship Id="rId5" Type="http://schemas.openxmlformats.org/officeDocument/2006/relationships/image" Target="../media/image230.png"/><Relationship Id="rId15" Type="http://schemas.openxmlformats.org/officeDocument/2006/relationships/image" Target="../media/image240.png"/><Relationship Id="rId10" Type="http://schemas.openxmlformats.org/officeDocument/2006/relationships/image" Target="../media/image235.png"/><Relationship Id="rId4" Type="http://schemas.openxmlformats.org/officeDocument/2006/relationships/image" Target="../media/image229.png"/><Relationship Id="rId9" Type="http://schemas.openxmlformats.org/officeDocument/2006/relationships/image" Target="../media/image234.png"/><Relationship Id="rId14" Type="http://schemas.openxmlformats.org/officeDocument/2006/relationships/image" Target="../media/image239.png"/></Relationships>
</file>

<file path=ppt/slides/_rels/slide38.xml.rels><?xml version="1.0" encoding="UTF-8" standalone="yes"?>
<Relationships xmlns="http://schemas.openxmlformats.org/package/2006/relationships"><Relationship Id="rId3" Type="http://schemas.openxmlformats.org/officeDocument/2006/relationships/image" Target="../media/image244.png"/><Relationship Id="rId7" Type="http://schemas.openxmlformats.org/officeDocument/2006/relationships/image" Target="../media/image248.png"/><Relationship Id="rId2" Type="http://schemas.openxmlformats.org/officeDocument/2006/relationships/image" Target="../media/image243.png"/><Relationship Id="rId1" Type="http://schemas.openxmlformats.org/officeDocument/2006/relationships/slideLayout" Target="../slideLayouts/slideLayout2.xml"/><Relationship Id="rId6" Type="http://schemas.openxmlformats.org/officeDocument/2006/relationships/image" Target="../media/image247.png"/><Relationship Id="rId5" Type="http://schemas.openxmlformats.org/officeDocument/2006/relationships/image" Target="../media/image246.png"/><Relationship Id="rId4" Type="http://schemas.openxmlformats.org/officeDocument/2006/relationships/image" Target="../media/image245.png"/></Relationships>
</file>

<file path=ppt/slides/_rels/slide39.xml.rels><?xml version="1.0" encoding="UTF-8" standalone="yes"?>
<Relationships xmlns="http://schemas.openxmlformats.org/package/2006/relationships"><Relationship Id="rId8" Type="http://schemas.openxmlformats.org/officeDocument/2006/relationships/image" Target="../media/image254.png"/><Relationship Id="rId3" Type="http://schemas.openxmlformats.org/officeDocument/2006/relationships/image" Target="../media/image250.png"/><Relationship Id="rId7" Type="http://schemas.openxmlformats.org/officeDocument/2006/relationships/image" Target="../media/image253.png"/><Relationship Id="rId2" Type="http://schemas.openxmlformats.org/officeDocument/2006/relationships/image" Target="../media/image249.png"/><Relationship Id="rId1" Type="http://schemas.openxmlformats.org/officeDocument/2006/relationships/slideLayout" Target="../slideLayouts/slideLayout2.xml"/><Relationship Id="rId6" Type="http://schemas.openxmlformats.org/officeDocument/2006/relationships/image" Target="../media/image239.png"/><Relationship Id="rId5" Type="http://schemas.openxmlformats.org/officeDocument/2006/relationships/image" Target="../media/image252.png"/><Relationship Id="rId10" Type="http://schemas.openxmlformats.org/officeDocument/2006/relationships/image" Target="../media/image256.png"/><Relationship Id="rId4" Type="http://schemas.openxmlformats.org/officeDocument/2006/relationships/image" Target="../media/image251.png"/><Relationship Id="rId9" Type="http://schemas.openxmlformats.org/officeDocument/2006/relationships/image" Target="../media/image255.png"/></Relationships>
</file>

<file path=ppt/slides/_rels/slide40.xml.rels><?xml version="1.0" encoding="UTF-8" standalone="yes"?>
<Relationships xmlns="http://schemas.openxmlformats.org/package/2006/relationships"><Relationship Id="rId3" Type="http://schemas.openxmlformats.org/officeDocument/2006/relationships/image" Target="../media/image258.png"/><Relationship Id="rId2" Type="http://schemas.openxmlformats.org/officeDocument/2006/relationships/image" Target="../media/image257.png"/><Relationship Id="rId1" Type="http://schemas.openxmlformats.org/officeDocument/2006/relationships/slideLayout" Target="../slideLayouts/slideLayout2.xml"/><Relationship Id="rId6" Type="http://schemas.openxmlformats.org/officeDocument/2006/relationships/image" Target="../media/image261.png"/><Relationship Id="rId5" Type="http://schemas.openxmlformats.org/officeDocument/2006/relationships/image" Target="../media/image260.png"/><Relationship Id="rId4" Type="http://schemas.openxmlformats.org/officeDocument/2006/relationships/image" Target="../media/image259.png"/></Relationships>
</file>

<file path=ppt/slides/_rels/slide41.xml.rels><?xml version="1.0" encoding="UTF-8" standalone="yes"?>
<Relationships xmlns="http://schemas.openxmlformats.org/package/2006/relationships"><Relationship Id="rId3" Type="http://schemas.openxmlformats.org/officeDocument/2006/relationships/image" Target="../media/image263.png"/><Relationship Id="rId2" Type="http://schemas.openxmlformats.org/officeDocument/2006/relationships/image" Target="../media/image262.png"/><Relationship Id="rId1" Type="http://schemas.openxmlformats.org/officeDocument/2006/relationships/slideLayout" Target="../slideLayouts/slideLayout2.xml"/><Relationship Id="rId4" Type="http://schemas.openxmlformats.org/officeDocument/2006/relationships/image" Target="../media/image264.png"/></Relationships>
</file>

<file path=ppt/slides/_rels/slide42.xml.rels><?xml version="1.0" encoding="UTF-8" standalone="yes"?>
<Relationships xmlns="http://schemas.openxmlformats.org/package/2006/relationships"><Relationship Id="rId3" Type="http://schemas.openxmlformats.org/officeDocument/2006/relationships/image" Target="../media/image266.png"/><Relationship Id="rId2" Type="http://schemas.openxmlformats.org/officeDocument/2006/relationships/image" Target="../media/image265.png"/><Relationship Id="rId1" Type="http://schemas.openxmlformats.org/officeDocument/2006/relationships/slideLayout" Target="../slideLayouts/slideLayout2.xml"/><Relationship Id="rId4" Type="http://schemas.openxmlformats.org/officeDocument/2006/relationships/image" Target="../media/image267.png"/></Relationships>
</file>

<file path=ppt/slides/_rels/slide43.xml.rels><?xml version="1.0" encoding="UTF-8" standalone="yes"?>
<Relationships xmlns="http://schemas.openxmlformats.org/package/2006/relationships"><Relationship Id="rId3" Type="http://schemas.openxmlformats.org/officeDocument/2006/relationships/image" Target="../media/image269.png"/><Relationship Id="rId2" Type="http://schemas.openxmlformats.org/officeDocument/2006/relationships/image" Target="../media/image268.png"/><Relationship Id="rId1" Type="http://schemas.openxmlformats.org/officeDocument/2006/relationships/slideLayout" Target="../slideLayouts/slideLayout2.xml"/><Relationship Id="rId6" Type="http://schemas.openxmlformats.org/officeDocument/2006/relationships/image" Target="../media/image272.png"/><Relationship Id="rId5" Type="http://schemas.openxmlformats.org/officeDocument/2006/relationships/image" Target="../media/image271.png"/><Relationship Id="rId4" Type="http://schemas.openxmlformats.org/officeDocument/2006/relationships/image" Target="../media/image270.png"/></Relationships>
</file>

<file path=ppt/slides/_rels/slide44.xml.rels><?xml version="1.0" encoding="UTF-8" standalone="yes"?>
<Relationships xmlns="http://schemas.openxmlformats.org/package/2006/relationships"><Relationship Id="rId3" Type="http://schemas.openxmlformats.org/officeDocument/2006/relationships/image" Target="../media/image274.png"/><Relationship Id="rId2" Type="http://schemas.openxmlformats.org/officeDocument/2006/relationships/image" Target="../media/image273.png"/><Relationship Id="rId1" Type="http://schemas.openxmlformats.org/officeDocument/2006/relationships/slideLayout" Target="../slideLayouts/slideLayout2.xml"/><Relationship Id="rId4" Type="http://schemas.openxmlformats.org/officeDocument/2006/relationships/image" Target="../media/image275.png"/></Relationships>
</file>

<file path=ppt/slides/_rels/slide45.xml.rels><?xml version="1.0" encoding="UTF-8" standalone="yes"?>
<Relationships xmlns="http://schemas.openxmlformats.org/package/2006/relationships"><Relationship Id="rId2" Type="http://schemas.openxmlformats.org/officeDocument/2006/relationships/image" Target="../media/image276.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78.png"/><Relationship Id="rId2" Type="http://schemas.openxmlformats.org/officeDocument/2006/relationships/image" Target="../media/image277.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80.png"/><Relationship Id="rId2" Type="http://schemas.openxmlformats.org/officeDocument/2006/relationships/image" Target="../media/image279.png"/><Relationship Id="rId1" Type="http://schemas.openxmlformats.org/officeDocument/2006/relationships/slideLayout" Target="../slideLayouts/slideLayout2.xml"/><Relationship Id="rId4" Type="http://schemas.openxmlformats.org/officeDocument/2006/relationships/image" Target="../media/image281.png"/></Relationships>
</file>

<file path=ppt/slides/_rels/slide48.xml.rels><?xml version="1.0" encoding="UTF-8" standalone="yes"?>
<Relationships xmlns="http://schemas.openxmlformats.org/package/2006/relationships"><Relationship Id="rId8" Type="http://schemas.openxmlformats.org/officeDocument/2006/relationships/image" Target="../media/image288.png"/><Relationship Id="rId3" Type="http://schemas.openxmlformats.org/officeDocument/2006/relationships/image" Target="../media/image283.png"/><Relationship Id="rId7" Type="http://schemas.openxmlformats.org/officeDocument/2006/relationships/image" Target="../media/image287.png"/><Relationship Id="rId2" Type="http://schemas.openxmlformats.org/officeDocument/2006/relationships/image" Target="../media/image282.png"/><Relationship Id="rId1" Type="http://schemas.openxmlformats.org/officeDocument/2006/relationships/slideLayout" Target="../slideLayouts/slideLayout2.xml"/><Relationship Id="rId6" Type="http://schemas.openxmlformats.org/officeDocument/2006/relationships/image" Target="../media/image286.png"/><Relationship Id="rId11" Type="http://schemas.openxmlformats.org/officeDocument/2006/relationships/image" Target="../media/image291.png"/><Relationship Id="rId5" Type="http://schemas.openxmlformats.org/officeDocument/2006/relationships/image" Target="../media/image285.png"/><Relationship Id="rId10" Type="http://schemas.openxmlformats.org/officeDocument/2006/relationships/image" Target="../media/image290.png"/><Relationship Id="rId4" Type="http://schemas.openxmlformats.org/officeDocument/2006/relationships/image" Target="../media/image284.png"/><Relationship Id="rId9" Type="http://schemas.openxmlformats.org/officeDocument/2006/relationships/image" Target="../media/image28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2693988"/>
            <a:ext cx="9036496" cy="1470025"/>
          </a:xfrm>
        </p:spPr>
        <p:txBody>
          <a:bodyPr/>
          <a:lstStyle/>
          <a:p>
            <a:r>
              <a:rPr lang="en-GB" b="1">
                <a:solidFill>
                  <a:srgbClr val="FFFF00"/>
                </a:solidFill>
              </a:rPr>
              <a:t>Pure Y1 Ch 4</a:t>
            </a:r>
            <a:br>
              <a:rPr lang="en-GB" b="1">
                <a:solidFill>
                  <a:srgbClr val="FFFF00"/>
                </a:solidFill>
              </a:rPr>
            </a:br>
            <a:r>
              <a:rPr lang="en-GB" b="1">
                <a:solidFill>
                  <a:srgbClr val="FFFF00"/>
                </a:solidFill>
              </a:rPr>
              <a:t>Graphs and Transformations</a:t>
            </a:r>
            <a:endParaRPr lang="en-GB">
              <a:solidFill>
                <a:srgbClr val="FFFF00"/>
              </a:solidFill>
            </a:endParaRPr>
          </a:p>
        </p:txBody>
      </p:sp>
    </p:spTree>
    <p:extLst>
      <p:ext uri="{BB962C8B-B14F-4D97-AF65-F5344CB8AC3E}">
        <p14:creationId xmlns:p14="http://schemas.microsoft.com/office/powerpoint/2010/main" val="33090970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7" name="TextBox 6"/>
              <p:cNvSpPr txBox="1"/>
              <p:nvPr/>
            </p:nvSpPr>
            <p:spPr>
              <a:xfrm>
                <a:off x="174444" y="939462"/>
                <a:ext cx="7776000" cy="5632311"/>
              </a:xfrm>
              <a:prstGeom prst="rect">
                <a:avLst/>
              </a:prstGeom>
              <a:noFill/>
            </p:spPr>
            <p:txBody>
              <a:bodyPr wrap="square" rtlCol="0">
                <a:spAutoFit/>
              </a:bodyPr>
              <a:lstStyle/>
              <a:p>
                <a:pPr marL="342900" indent="-342900">
                  <a:buAutoNum type="arabicParenR"/>
                </a:pPr>
                <a:r>
                  <a:rPr lang="en-GB"/>
                  <a:t>Factorise these quadratic expressions:</a:t>
                </a:r>
              </a:p>
              <a:p>
                <a:pPr marL="800100" lvl="1" indent="-342900">
                  <a:buFont typeface="+mj-lt"/>
                  <a:buAutoNum type="alphaLcParenR"/>
                </a:pPr>
                <a:r>
                  <a:rPr lang="en-GB"/>
                  <a:t> </a:t>
                </a:r>
                <a14:m>
                  <m:oMath xmlns:m="http://schemas.openxmlformats.org/officeDocument/2006/math">
                    <m:sSup>
                      <m:sSupPr>
                        <m:ctrlPr>
                          <a:rPr lang="en-GB" i="1">
                            <a:latin typeface="Cambria Math"/>
                          </a:rPr>
                        </m:ctrlPr>
                      </m:sSupPr>
                      <m:e>
                        <m:r>
                          <a:rPr lang="en-GB" i="1">
                            <a:latin typeface="Cambria Math"/>
                          </a:rPr>
                          <m:t>𝑥</m:t>
                        </m:r>
                      </m:e>
                      <m:sup>
                        <m:r>
                          <a:rPr lang="en-GB" i="1">
                            <a:latin typeface="Cambria Math"/>
                          </a:rPr>
                          <m:t>2</m:t>
                        </m:r>
                      </m:sup>
                    </m:sSup>
                    <m:r>
                      <a:rPr lang="en-GB" i="1">
                        <a:latin typeface="Cambria Math"/>
                      </a:rPr>
                      <m:t>+6</m:t>
                    </m:r>
                    <m:r>
                      <a:rPr lang="en-GB" i="1">
                        <a:latin typeface="Cambria Math"/>
                      </a:rPr>
                      <m:t>𝑥</m:t>
                    </m:r>
                    <m:r>
                      <a:rPr lang="en-GB" i="1">
                        <a:latin typeface="Cambria Math"/>
                      </a:rPr>
                      <m:t>+5</m:t>
                    </m:r>
                  </m:oMath>
                </a14:m>
                <a:endParaRPr lang="en-GB"/>
              </a:p>
              <a:p>
                <a:pPr marL="800100" lvl="1" indent="-342900">
                  <a:buFont typeface="+mj-lt"/>
                  <a:buAutoNum type="alphaLcParenR"/>
                </a:pPr>
                <a:r>
                  <a:rPr lang="en-GB"/>
                  <a:t> </a:t>
                </a:r>
                <a14:m>
                  <m:oMath xmlns:m="http://schemas.openxmlformats.org/officeDocument/2006/math">
                    <m:sSup>
                      <m:sSupPr>
                        <m:ctrlPr>
                          <a:rPr lang="en-GB" i="1">
                            <a:latin typeface="Cambria Math"/>
                          </a:rPr>
                        </m:ctrlPr>
                      </m:sSupPr>
                      <m:e>
                        <m:r>
                          <a:rPr lang="en-GB" i="1">
                            <a:latin typeface="Cambria Math"/>
                          </a:rPr>
                          <m:t>𝑥</m:t>
                        </m:r>
                      </m:e>
                      <m:sup>
                        <m:r>
                          <a:rPr lang="en-GB" i="1">
                            <a:latin typeface="Cambria Math"/>
                          </a:rPr>
                          <m:t>2</m:t>
                        </m:r>
                      </m:sup>
                    </m:sSup>
                    <m:r>
                      <a:rPr lang="en-GB" i="1">
                        <a:latin typeface="Cambria Math"/>
                      </a:rPr>
                      <m:t>−4</m:t>
                    </m:r>
                    <m:r>
                      <a:rPr lang="en-GB" i="1">
                        <a:latin typeface="Cambria Math"/>
                      </a:rPr>
                      <m:t>𝑥</m:t>
                    </m:r>
                    <m:r>
                      <a:rPr lang="en-GB" i="1">
                        <a:latin typeface="Cambria Math"/>
                      </a:rPr>
                      <m:t>+3</m:t>
                    </m:r>
                  </m:oMath>
                </a14:m>
                <a:endParaRPr lang="en-GB"/>
              </a:p>
              <a:p>
                <a:pPr marL="800100" lvl="1" indent="-342900">
                  <a:buFont typeface="+mj-lt"/>
                  <a:buAutoNum type="alphaLcParenR"/>
                </a:pPr>
                <a:endParaRPr lang="en-GB"/>
              </a:p>
              <a:p>
                <a:pPr marL="342900" indent="-342900">
                  <a:buAutoNum type="arabicParenR"/>
                </a:pPr>
                <a:r>
                  <a:rPr lang="en-GB"/>
                  <a:t>Sketch the graphs of the following functions:</a:t>
                </a:r>
              </a:p>
              <a:p>
                <a:pPr marL="800100" lvl="1" indent="-342900">
                  <a:buFont typeface="+mj-lt"/>
                  <a:buAutoNum type="alphaLcParenR"/>
                </a:pPr>
                <a:r>
                  <a:rPr lang="en-GB"/>
                  <a:t> </a:t>
                </a:r>
                <a14:m>
                  <m:oMath xmlns:m="http://schemas.openxmlformats.org/officeDocument/2006/math">
                    <m:r>
                      <a:rPr lang="en-GB" i="1">
                        <a:latin typeface="Cambria Math"/>
                      </a:rPr>
                      <m:t>𝑦</m:t>
                    </m:r>
                    <m:r>
                      <a:rPr lang="en-GB" i="1">
                        <a:latin typeface="Cambria Math"/>
                      </a:rPr>
                      <m:t>=</m:t>
                    </m:r>
                    <m:d>
                      <m:dPr>
                        <m:ctrlPr>
                          <a:rPr lang="en-GB" i="1">
                            <a:latin typeface="Cambria Math"/>
                          </a:rPr>
                        </m:ctrlPr>
                      </m:dPr>
                      <m:e>
                        <m:r>
                          <a:rPr lang="en-GB" i="1">
                            <a:latin typeface="Cambria Math"/>
                          </a:rPr>
                          <m:t>𝑥</m:t>
                        </m:r>
                        <m:r>
                          <a:rPr lang="en-GB" i="1">
                            <a:latin typeface="Cambria Math"/>
                          </a:rPr>
                          <m:t>+2</m:t>
                        </m:r>
                      </m:e>
                    </m:d>
                    <m:d>
                      <m:dPr>
                        <m:ctrlPr>
                          <a:rPr lang="en-GB" i="1">
                            <a:latin typeface="Cambria Math"/>
                          </a:rPr>
                        </m:ctrlPr>
                      </m:dPr>
                      <m:e>
                        <m:r>
                          <a:rPr lang="en-GB" i="1">
                            <a:latin typeface="Cambria Math"/>
                          </a:rPr>
                          <m:t>𝑥</m:t>
                        </m:r>
                        <m:r>
                          <a:rPr lang="en-GB" i="1">
                            <a:latin typeface="Cambria Math"/>
                          </a:rPr>
                          <m:t>−3</m:t>
                        </m:r>
                      </m:e>
                    </m:d>
                  </m:oMath>
                </a14:m>
                <a:endParaRPr lang="en-GB"/>
              </a:p>
              <a:p>
                <a:pPr marL="800100" lvl="1" indent="-342900">
                  <a:buFont typeface="+mj-lt"/>
                  <a:buAutoNum type="alphaLcParenR"/>
                </a:pPr>
                <a:endParaRPr lang="en-GB"/>
              </a:p>
              <a:p>
                <a:pPr marL="800100" lvl="1" indent="-342900">
                  <a:buFont typeface="+mj-lt"/>
                  <a:buAutoNum type="alphaLcParenR"/>
                </a:pPr>
                <a:endParaRPr lang="en-GB"/>
              </a:p>
              <a:p>
                <a:pPr marL="800100" lvl="1" indent="-342900">
                  <a:buFont typeface="+mj-lt"/>
                  <a:buAutoNum type="alphaLcParenR"/>
                </a:pPr>
                <a:endParaRPr lang="en-GB"/>
              </a:p>
              <a:p>
                <a:pPr marL="800100" lvl="1" indent="-342900">
                  <a:buFont typeface="+mj-lt"/>
                  <a:buAutoNum type="alphaLcParenR"/>
                </a:pPr>
                <a:r>
                  <a:rPr lang="en-GB"/>
                  <a:t> </a:t>
                </a:r>
                <a14:m>
                  <m:oMath xmlns:m="http://schemas.openxmlformats.org/officeDocument/2006/math">
                    <m:r>
                      <a:rPr lang="en-GB" i="1">
                        <a:latin typeface="Cambria Math"/>
                      </a:rPr>
                      <m:t>𝑦</m:t>
                    </m:r>
                    <m:r>
                      <a:rPr lang="en-GB" i="1">
                        <a:latin typeface="Cambria Math"/>
                      </a:rPr>
                      <m:t>=</m:t>
                    </m:r>
                    <m:sSup>
                      <m:sSupPr>
                        <m:ctrlPr>
                          <a:rPr lang="en-GB" i="1">
                            <a:latin typeface="Cambria Math"/>
                          </a:rPr>
                        </m:ctrlPr>
                      </m:sSupPr>
                      <m:e>
                        <m:r>
                          <a:rPr lang="en-GB" i="1">
                            <a:latin typeface="Cambria Math"/>
                          </a:rPr>
                          <m:t>𝑥</m:t>
                        </m:r>
                      </m:e>
                      <m:sup>
                        <m:r>
                          <a:rPr lang="en-GB" i="1">
                            <a:latin typeface="Cambria Math"/>
                          </a:rPr>
                          <m:t>2</m:t>
                        </m:r>
                      </m:sup>
                    </m:sSup>
                    <m:r>
                      <a:rPr lang="en-GB" i="1">
                        <a:latin typeface="Cambria Math"/>
                      </a:rPr>
                      <m:t>−6</m:t>
                    </m:r>
                    <m:r>
                      <a:rPr lang="en-GB" i="1">
                        <a:latin typeface="Cambria Math"/>
                      </a:rPr>
                      <m:t>𝑥</m:t>
                    </m:r>
                    <m:r>
                      <a:rPr lang="en-GB" i="1">
                        <a:latin typeface="Cambria Math"/>
                      </a:rPr>
                      <m:t>−7</m:t>
                    </m:r>
                  </m:oMath>
                </a14:m>
                <a:endParaRPr lang="en-GB"/>
              </a:p>
              <a:p>
                <a:pPr marL="800100" lvl="1" indent="-342900">
                  <a:buFont typeface="+mj-lt"/>
                  <a:buAutoNum type="alphaLcParenR"/>
                </a:pPr>
                <a:endParaRPr lang="en-GB"/>
              </a:p>
              <a:p>
                <a:pPr marL="800100" lvl="1" indent="-342900">
                  <a:buFont typeface="+mj-lt"/>
                  <a:buAutoNum type="alphaLcParenR"/>
                </a:pPr>
                <a:endParaRPr lang="en-GB"/>
              </a:p>
              <a:p>
                <a:pPr marL="800100" lvl="1" indent="-342900">
                  <a:buFont typeface="+mj-lt"/>
                  <a:buAutoNum type="alphaLcParenR"/>
                </a:pPr>
                <a:endParaRPr lang="en-GB"/>
              </a:p>
              <a:p>
                <a:pPr marL="342900" indent="-342900">
                  <a:buAutoNum type="arabicParenR"/>
                </a:pPr>
                <a:r>
                  <a:rPr lang="en-GB"/>
                  <a:t>Copy and complete the table of values for the function </a:t>
                </a:r>
                <a14:m>
                  <m:oMath xmlns:m="http://schemas.openxmlformats.org/officeDocument/2006/math">
                    <m:r>
                      <a:rPr lang="en-GB" i="1">
                        <a:latin typeface="Cambria Math"/>
                      </a:rPr>
                      <m:t>𝑦</m:t>
                    </m:r>
                    <m:r>
                      <a:rPr lang="en-GB" i="1">
                        <a:latin typeface="Cambria Math"/>
                      </a:rPr>
                      <m:t>=</m:t>
                    </m:r>
                    <m:sSup>
                      <m:sSupPr>
                        <m:ctrlPr>
                          <a:rPr lang="en-GB" i="1">
                            <a:latin typeface="Cambria Math"/>
                          </a:rPr>
                        </m:ctrlPr>
                      </m:sSupPr>
                      <m:e>
                        <m:r>
                          <a:rPr lang="en-GB" i="1">
                            <a:latin typeface="Cambria Math"/>
                          </a:rPr>
                          <m:t>𝑥</m:t>
                        </m:r>
                      </m:e>
                      <m:sup>
                        <m:r>
                          <a:rPr lang="en-GB" i="1">
                            <a:latin typeface="Cambria Math"/>
                          </a:rPr>
                          <m:t>3</m:t>
                        </m:r>
                      </m:sup>
                    </m:sSup>
                    <m:r>
                      <a:rPr lang="en-GB" i="1">
                        <a:latin typeface="Cambria Math"/>
                      </a:rPr>
                      <m:t>+</m:t>
                    </m:r>
                    <m:r>
                      <a:rPr lang="en-GB" i="1">
                        <a:latin typeface="Cambria Math"/>
                      </a:rPr>
                      <m:t>𝑥</m:t>
                    </m:r>
                    <m:r>
                      <a:rPr lang="en-GB" i="1">
                        <a:latin typeface="Cambria Math"/>
                      </a:rPr>
                      <m:t>−2</m:t>
                    </m:r>
                  </m:oMath>
                </a14:m>
                <a:r>
                  <a:rPr lang="en-GB"/>
                  <a:t>.</a:t>
                </a:r>
                <a:br>
                  <a:rPr lang="en-GB"/>
                </a:br>
                <a:br>
                  <a:rPr lang="en-GB"/>
                </a:br>
                <a:br>
                  <a:rPr lang="en-GB"/>
                </a:br>
                <a:br>
                  <a:rPr lang="en-GB"/>
                </a:br>
                <a:br>
                  <a:rPr lang="en-GB"/>
                </a:br>
                <a:r>
                  <a:rPr lang="en-GB"/>
                  <a:t>Use the table of values to draw the graph of </a:t>
                </a:r>
                <a14:m>
                  <m:oMath xmlns:m="http://schemas.openxmlformats.org/officeDocument/2006/math">
                    <m:r>
                      <a:rPr lang="en-GB" i="1">
                        <a:latin typeface="Cambria Math"/>
                      </a:rPr>
                      <m:t>𝑦</m:t>
                    </m:r>
                    <m:r>
                      <a:rPr lang="en-GB" i="1">
                        <a:latin typeface="Cambria Math"/>
                      </a:rPr>
                      <m:t>=</m:t>
                    </m:r>
                    <m:sSup>
                      <m:sSupPr>
                        <m:ctrlPr>
                          <a:rPr lang="en-GB" i="1">
                            <a:latin typeface="Cambria Math"/>
                          </a:rPr>
                        </m:ctrlPr>
                      </m:sSupPr>
                      <m:e>
                        <m:r>
                          <a:rPr lang="en-GB" i="1">
                            <a:latin typeface="Cambria Math"/>
                          </a:rPr>
                          <m:t>𝑥</m:t>
                        </m:r>
                      </m:e>
                      <m:sup>
                        <m:r>
                          <a:rPr lang="en-GB" i="1">
                            <a:latin typeface="Cambria Math"/>
                          </a:rPr>
                          <m:t>3</m:t>
                        </m:r>
                      </m:sup>
                    </m:sSup>
                    <m:r>
                      <a:rPr lang="en-GB" i="1">
                        <a:latin typeface="Cambria Math"/>
                      </a:rPr>
                      <m:t>+</m:t>
                    </m:r>
                    <m:r>
                      <a:rPr lang="en-GB" i="1">
                        <a:latin typeface="Cambria Math"/>
                      </a:rPr>
                      <m:t>𝑥</m:t>
                    </m:r>
                    <m:r>
                      <a:rPr lang="en-GB" i="1">
                        <a:latin typeface="Cambria Math"/>
                      </a:rPr>
                      <m:t>−2</m:t>
                    </m:r>
                  </m:oMath>
                </a14:m>
                <a:r>
                  <a:rPr lang="en-GB"/>
                  <a:t>.</a:t>
                </a:r>
              </a:p>
              <a:p>
                <a:endParaRPr lang="en-GB"/>
              </a:p>
            </p:txBody>
          </p:sp>
        </mc:Choice>
        <mc:Fallback>
          <p:sp>
            <p:nvSpPr>
              <p:cNvPr id="7" name="TextBox 6"/>
              <p:cNvSpPr txBox="1">
                <a:spLocks noRot="1" noChangeAspect="1" noMove="1" noResize="1" noEditPoints="1" noAdjustHandles="1" noChangeArrowheads="1" noChangeShapeType="1" noTextEdit="1"/>
              </p:cNvSpPr>
              <p:nvPr/>
            </p:nvSpPr>
            <p:spPr>
              <a:xfrm>
                <a:off x="174444" y="939462"/>
                <a:ext cx="7776000" cy="5632311"/>
              </a:xfrm>
              <a:prstGeom prst="rect">
                <a:avLst/>
              </a:prstGeom>
              <a:blipFill>
                <a:blip r:embed="rId2"/>
                <a:stretch>
                  <a:fillRect l="-653" t="-22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graphicFrame>
            <p:nvGraphicFramePr>
              <p:cNvPr id="9" name="Table 8"/>
              <p:cNvGraphicFramePr>
                <a:graphicFrameLocks noGrp="1"/>
              </p:cNvGraphicFramePr>
              <p:nvPr>
                <p:extLst>
                  <p:ext uri="{D42A27DB-BD31-4B8C-83A1-F6EECF244321}">
                    <p14:modId xmlns:p14="http://schemas.microsoft.com/office/powerpoint/2010/main" val="763328937"/>
                  </p:ext>
                </p:extLst>
              </p:nvPr>
            </p:nvGraphicFramePr>
            <p:xfrm>
              <a:off x="599109" y="4995721"/>
              <a:ext cx="6649214" cy="741680"/>
            </p:xfrm>
            <a:graphic>
              <a:graphicData uri="http://schemas.openxmlformats.org/drawingml/2006/table">
                <a:tbl>
                  <a:tblPr firstRow="1" bandRow="1">
                    <a:tableStyleId>{5940675A-B579-460E-94D1-54222C63F5DA}</a:tableStyleId>
                  </a:tblPr>
                  <a:tblGrid>
                    <a:gridCol w="367792">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825818">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gridCol w="825818">
                      <a:extLst>
                        <a:ext uri="{9D8B030D-6E8A-4147-A177-3AD203B41FA5}">
                          <a16:colId xmlns:a16="http://schemas.microsoft.com/office/drawing/2014/main" val="20004"/>
                        </a:ext>
                      </a:extLst>
                    </a:gridCol>
                    <a:gridCol w="609600">
                      <a:extLst>
                        <a:ext uri="{9D8B030D-6E8A-4147-A177-3AD203B41FA5}">
                          <a16:colId xmlns:a16="http://schemas.microsoft.com/office/drawing/2014/main" val="20005"/>
                        </a:ext>
                      </a:extLst>
                    </a:gridCol>
                    <a:gridCol w="825818">
                      <a:extLst>
                        <a:ext uri="{9D8B030D-6E8A-4147-A177-3AD203B41FA5}">
                          <a16:colId xmlns:a16="http://schemas.microsoft.com/office/drawing/2014/main" val="20006"/>
                        </a:ext>
                      </a:extLst>
                    </a:gridCol>
                    <a:gridCol w="609600">
                      <a:extLst>
                        <a:ext uri="{9D8B030D-6E8A-4147-A177-3AD203B41FA5}">
                          <a16:colId xmlns:a16="http://schemas.microsoft.com/office/drawing/2014/main" val="20007"/>
                        </a:ext>
                      </a:extLst>
                    </a:gridCol>
                    <a:gridCol w="755968">
                      <a:extLst>
                        <a:ext uri="{9D8B030D-6E8A-4147-A177-3AD203B41FA5}">
                          <a16:colId xmlns:a16="http://schemas.microsoft.com/office/drawing/2014/main" val="20008"/>
                        </a:ext>
                      </a:extLst>
                    </a:gridCol>
                    <a:gridCol w="609600">
                      <a:extLst>
                        <a:ext uri="{9D8B030D-6E8A-4147-A177-3AD203B41FA5}">
                          <a16:colId xmlns:a16="http://schemas.microsoft.com/office/drawing/2014/main" val="20009"/>
                        </a:ext>
                      </a:extLst>
                    </a:gridCol>
                  </a:tblGrid>
                  <a:tr h="370840">
                    <a:tc>
                      <a:txBody>
                        <a:bodyPr/>
                        <a:lstStyle/>
                        <a:p>
                          <a:pPr/>
                          <a14:m>
                            <m:oMathPara xmlns:m="http://schemas.openxmlformats.org/officeDocument/2006/math">
                              <m:oMath>
                                <m:r>
                                  <a:rPr lang="en-GB" i="1" dirty="0" smtClean="0">
                                    <a:latin typeface="Cambria Math"/>
                                  </a:rPr>
                                  <m:t>𝑥</m:t>
                                </m:r>
                              </m:oMath>
                            </m:oMathPara>
                          </a14:m>
                          <a:endParaRPr lang="en-GB"/>
                        </a:p>
                      </a:txBody>
                      <a:tcPr/>
                    </a:tc>
                    <a:tc>
                      <a:txBody>
                        <a:bodyPr/>
                        <a:lstStyle/>
                        <a:p>
                          <a:pPr algn="ctr"/>
                          <a:r>
                            <a:rPr lang="en-GB"/>
                            <a:t>-2</a:t>
                          </a:r>
                        </a:p>
                      </a:txBody>
                      <a:tcPr/>
                    </a:tc>
                    <a:tc>
                      <a:txBody>
                        <a:bodyPr/>
                        <a:lstStyle/>
                        <a:p>
                          <a:pPr algn="ctr"/>
                          <a:r>
                            <a:rPr lang="en-GB"/>
                            <a:t>-1.5</a:t>
                          </a:r>
                        </a:p>
                      </a:txBody>
                      <a:tcPr/>
                    </a:tc>
                    <a:tc>
                      <a:txBody>
                        <a:bodyPr/>
                        <a:lstStyle/>
                        <a:p>
                          <a:pPr algn="ctr"/>
                          <a:r>
                            <a:rPr lang="en-GB"/>
                            <a:t>-1</a:t>
                          </a:r>
                        </a:p>
                      </a:txBody>
                      <a:tcPr/>
                    </a:tc>
                    <a:tc>
                      <a:txBody>
                        <a:bodyPr/>
                        <a:lstStyle/>
                        <a:p>
                          <a:pPr algn="ctr"/>
                          <a:r>
                            <a:rPr lang="en-GB"/>
                            <a:t>-0.5</a:t>
                          </a:r>
                        </a:p>
                      </a:txBody>
                      <a:tcPr/>
                    </a:tc>
                    <a:tc>
                      <a:txBody>
                        <a:bodyPr/>
                        <a:lstStyle/>
                        <a:p>
                          <a:pPr algn="ctr"/>
                          <a:r>
                            <a:rPr lang="en-GB"/>
                            <a:t>0</a:t>
                          </a:r>
                        </a:p>
                      </a:txBody>
                      <a:tcPr/>
                    </a:tc>
                    <a:tc>
                      <a:txBody>
                        <a:bodyPr/>
                        <a:lstStyle/>
                        <a:p>
                          <a:pPr algn="ctr"/>
                          <a:r>
                            <a:rPr lang="en-GB"/>
                            <a:t>0.5</a:t>
                          </a:r>
                        </a:p>
                      </a:txBody>
                      <a:tcPr/>
                    </a:tc>
                    <a:tc>
                      <a:txBody>
                        <a:bodyPr/>
                        <a:lstStyle/>
                        <a:p>
                          <a:pPr algn="ctr"/>
                          <a:r>
                            <a:rPr lang="en-GB"/>
                            <a:t>1</a:t>
                          </a:r>
                        </a:p>
                      </a:txBody>
                      <a:tcPr/>
                    </a:tc>
                    <a:tc>
                      <a:txBody>
                        <a:bodyPr/>
                        <a:lstStyle/>
                        <a:p>
                          <a:pPr algn="ctr"/>
                          <a:r>
                            <a:rPr lang="en-GB"/>
                            <a:t>1.5</a:t>
                          </a:r>
                        </a:p>
                      </a:txBody>
                      <a:tcPr/>
                    </a:tc>
                    <a:tc>
                      <a:txBody>
                        <a:bodyPr/>
                        <a:lstStyle/>
                        <a:p>
                          <a:pPr algn="ctr"/>
                          <a:r>
                            <a:rPr lang="en-GB"/>
                            <a:t>2</a:t>
                          </a:r>
                        </a:p>
                      </a:txBody>
                      <a:tcPr/>
                    </a:tc>
                    <a:extLst>
                      <a:ext uri="{0D108BD9-81ED-4DB2-BD59-A6C34878D82A}">
                        <a16:rowId xmlns:a16="http://schemas.microsoft.com/office/drawing/2014/main" val="10000"/>
                      </a:ext>
                    </a:extLst>
                  </a:tr>
                  <a:tr h="370840">
                    <a:tc>
                      <a:txBody>
                        <a:bodyPr/>
                        <a:lstStyle/>
                        <a:p>
                          <a:pPr/>
                          <a14:m>
                            <m:oMathPara xmlns:m="http://schemas.openxmlformats.org/officeDocument/2006/math">
                              <m:oMath>
                                <m:r>
                                  <a:rPr lang="en-GB" i="1" dirty="0" smtClean="0">
                                    <a:latin typeface="Cambria Math"/>
                                  </a:rPr>
                                  <m:t>𝑦</m:t>
                                </m:r>
                              </m:oMath>
                            </m:oMathPara>
                          </a14:m>
                          <a:endParaRPr lang="en-GB"/>
                        </a:p>
                      </a:txBody>
                      <a:tcPr/>
                    </a:tc>
                    <a:tc>
                      <a:txBody>
                        <a:bodyPr/>
                        <a:lstStyle/>
                        <a:p>
                          <a:pPr algn="ctr"/>
                          <a:r>
                            <a:rPr lang="en-GB"/>
                            <a:t>-12</a:t>
                          </a:r>
                        </a:p>
                      </a:txBody>
                      <a:tcPr/>
                    </a:tc>
                    <a:tc>
                      <a:txBody>
                        <a:bodyPr/>
                        <a:lstStyle/>
                        <a:p>
                          <a:pPr algn="ctr"/>
                          <a:r>
                            <a:rPr lang="en-GB"/>
                            <a:t>-6.875</a:t>
                          </a:r>
                        </a:p>
                      </a:txBody>
                      <a:tcPr/>
                    </a:tc>
                    <a:tc>
                      <a:txBody>
                        <a:bodyPr/>
                        <a:lstStyle/>
                        <a:p>
                          <a:pPr algn="ctr"/>
                          <a:endParaRPr lang="en-GB">
                            <a:solidFill>
                              <a:srgbClr val="FF0000"/>
                            </a:solidFill>
                          </a:endParaRPr>
                        </a:p>
                      </a:txBody>
                      <a:tcPr/>
                    </a:tc>
                    <a:tc>
                      <a:txBody>
                        <a:bodyPr/>
                        <a:lstStyle/>
                        <a:p>
                          <a:pPr algn="ctr"/>
                          <a:endParaRPr lang="en-GB">
                            <a:solidFill>
                              <a:srgbClr val="FF0000"/>
                            </a:solidFill>
                          </a:endParaRPr>
                        </a:p>
                      </a:txBody>
                      <a:tcPr/>
                    </a:tc>
                    <a:tc>
                      <a:txBody>
                        <a:bodyPr/>
                        <a:lstStyle/>
                        <a:p>
                          <a:pPr algn="ctr"/>
                          <a:r>
                            <a:rPr lang="en-GB"/>
                            <a:t>-2</a:t>
                          </a:r>
                        </a:p>
                      </a:txBody>
                      <a:tcPr/>
                    </a:tc>
                    <a:tc>
                      <a:txBody>
                        <a:bodyPr/>
                        <a:lstStyle/>
                        <a:p>
                          <a:pPr algn="ctr"/>
                          <a:r>
                            <a:rPr lang="en-GB"/>
                            <a:t>-1.375</a:t>
                          </a:r>
                        </a:p>
                      </a:txBody>
                      <a:tcPr/>
                    </a:tc>
                    <a:tc>
                      <a:txBody>
                        <a:bodyPr/>
                        <a:lstStyle/>
                        <a:p>
                          <a:pPr algn="ctr"/>
                          <a:endParaRPr lang="en-GB">
                            <a:solidFill>
                              <a:srgbClr val="FF0000"/>
                            </a:solidFill>
                          </a:endParaRPr>
                        </a:p>
                      </a:txBody>
                      <a:tcPr/>
                    </a:tc>
                    <a:tc>
                      <a:txBody>
                        <a:bodyPr/>
                        <a:lstStyle/>
                        <a:p>
                          <a:pPr algn="ctr"/>
                          <a:endParaRPr lang="en-GB">
                            <a:solidFill>
                              <a:srgbClr val="FF0000"/>
                            </a:solidFill>
                          </a:endParaRPr>
                        </a:p>
                      </a:txBody>
                      <a:tcPr/>
                    </a:tc>
                    <a:tc>
                      <a:txBody>
                        <a:bodyPr/>
                        <a:lstStyle/>
                        <a:p>
                          <a:pPr algn="ctr"/>
                          <a:endParaRPr lang="en-GB">
                            <a:solidFill>
                              <a:srgbClr val="FF0000"/>
                            </a:solidFill>
                          </a:endParaRPr>
                        </a:p>
                      </a:txBody>
                      <a:tcPr/>
                    </a:tc>
                    <a:extLst>
                      <a:ext uri="{0D108BD9-81ED-4DB2-BD59-A6C34878D82A}">
                        <a16:rowId xmlns:a16="http://schemas.microsoft.com/office/drawing/2014/main" val="10001"/>
                      </a:ext>
                    </a:extLst>
                  </a:tr>
                </a:tbl>
              </a:graphicData>
            </a:graphic>
          </p:graphicFrame>
        </mc:Choice>
        <mc:Fallback>
          <p:graphicFrame>
            <p:nvGraphicFramePr>
              <p:cNvPr id="9" name="Table 8"/>
              <p:cNvGraphicFramePr>
                <a:graphicFrameLocks noGrp="1"/>
              </p:cNvGraphicFramePr>
              <p:nvPr>
                <p:extLst>
                  <p:ext uri="{D42A27DB-BD31-4B8C-83A1-F6EECF244321}">
                    <p14:modId xmlns:p14="http://schemas.microsoft.com/office/powerpoint/2010/main" val="763328937"/>
                  </p:ext>
                </p:extLst>
              </p:nvPr>
            </p:nvGraphicFramePr>
            <p:xfrm>
              <a:off x="599109" y="4995721"/>
              <a:ext cx="6649214" cy="741680"/>
            </p:xfrm>
            <a:graphic>
              <a:graphicData uri="http://schemas.openxmlformats.org/drawingml/2006/table">
                <a:tbl>
                  <a:tblPr firstRow="1" bandRow="1">
                    <a:tableStyleId>{5940675A-B579-460E-94D1-54222C63F5DA}</a:tableStyleId>
                  </a:tblPr>
                  <a:tblGrid>
                    <a:gridCol w="367792">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825818">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gridCol w="825818">
                      <a:extLst>
                        <a:ext uri="{9D8B030D-6E8A-4147-A177-3AD203B41FA5}">
                          <a16:colId xmlns:a16="http://schemas.microsoft.com/office/drawing/2014/main" val="20004"/>
                        </a:ext>
                      </a:extLst>
                    </a:gridCol>
                    <a:gridCol w="609600">
                      <a:extLst>
                        <a:ext uri="{9D8B030D-6E8A-4147-A177-3AD203B41FA5}">
                          <a16:colId xmlns:a16="http://schemas.microsoft.com/office/drawing/2014/main" val="20005"/>
                        </a:ext>
                      </a:extLst>
                    </a:gridCol>
                    <a:gridCol w="825818">
                      <a:extLst>
                        <a:ext uri="{9D8B030D-6E8A-4147-A177-3AD203B41FA5}">
                          <a16:colId xmlns:a16="http://schemas.microsoft.com/office/drawing/2014/main" val="20006"/>
                        </a:ext>
                      </a:extLst>
                    </a:gridCol>
                    <a:gridCol w="609600">
                      <a:extLst>
                        <a:ext uri="{9D8B030D-6E8A-4147-A177-3AD203B41FA5}">
                          <a16:colId xmlns:a16="http://schemas.microsoft.com/office/drawing/2014/main" val="20007"/>
                        </a:ext>
                      </a:extLst>
                    </a:gridCol>
                    <a:gridCol w="755968">
                      <a:extLst>
                        <a:ext uri="{9D8B030D-6E8A-4147-A177-3AD203B41FA5}">
                          <a16:colId xmlns:a16="http://schemas.microsoft.com/office/drawing/2014/main" val="20008"/>
                        </a:ext>
                      </a:extLst>
                    </a:gridCol>
                    <a:gridCol w="609600">
                      <a:extLst>
                        <a:ext uri="{9D8B030D-6E8A-4147-A177-3AD203B41FA5}">
                          <a16:colId xmlns:a16="http://schemas.microsoft.com/office/drawing/2014/main" val="20009"/>
                        </a:ext>
                      </a:extLst>
                    </a:gridCol>
                  </a:tblGrid>
                  <a:tr h="370840">
                    <a:tc>
                      <a:txBody>
                        <a:bodyPr/>
                        <a:lstStyle/>
                        <a:p>
                          <a:endParaRPr lang="en-US"/>
                        </a:p>
                      </a:txBody>
                      <a:tcPr>
                        <a:blipFill>
                          <a:blip r:embed="rId3"/>
                          <a:stretch>
                            <a:fillRect l="-3448" t="-6667" r="-1713793" b="-113333"/>
                          </a:stretch>
                        </a:blipFill>
                      </a:tcPr>
                    </a:tc>
                    <a:tc>
                      <a:txBody>
                        <a:bodyPr/>
                        <a:lstStyle/>
                        <a:p>
                          <a:pPr algn="ctr"/>
                          <a:r>
                            <a:rPr lang="en-GB"/>
                            <a:t>-2</a:t>
                          </a:r>
                        </a:p>
                      </a:txBody>
                      <a:tcPr/>
                    </a:tc>
                    <a:tc>
                      <a:txBody>
                        <a:bodyPr/>
                        <a:lstStyle/>
                        <a:p>
                          <a:pPr algn="ctr"/>
                          <a:r>
                            <a:rPr lang="en-GB"/>
                            <a:t>-1.5</a:t>
                          </a:r>
                        </a:p>
                      </a:txBody>
                      <a:tcPr/>
                    </a:tc>
                    <a:tc>
                      <a:txBody>
                        <a:bodyPr/>
                        <a:lstStyle/>
                        <a:p>
                          <a:pPr algn="ctr"/>
                          <a:r>
                            <a:rPr lang="en-GB"/>
                            <a:t>-1</a:t>
                          </a:r>
                        </a:p>
                      </a:txBody>
                      <a:tcPr/>
                    </a:tc>
                    <a:tc>
                      <a:txBody>
                        <a:bodyPr/>
                        <a:lstStyle/>
                        <a:p>
                          <a:pPr algn="ctr"/>
                          <a:r>
                            <a:rPr lang="en-GB"/>
                            <a:t>-0.5</a:t>
                          </a:r>
                        </a:p>
                      </a:txBody>
                      <a:tcPr/>
                    </a:tc>
                    <a:tc>
                      <a:txBody>
                        <a:bodyPr/>
                        <a:lstStyle/>
                        <a:p>
                          <a:pPr algn="ctr"/>
                          <a:r>
                            <a:rPr lang="en-GB"/>
                            <a:t>0</a:t>
                          </a:r>
                        </a:p>
                      </a:txBody>
                      <a:tcPr/>
                    </a:tc>
                    <a:tc>
                      <a:txBody>
                        <a:bodyPr/>
                        <a:lstStyle/>
                        <a:p>
                          <a:pPr algn="ctr"/>
                          <a:r>
                            <a:rPr lang="en-GB"/>
                            <a:t>0.5</a:t>
                          </a:r>
                        </a:p>
                      </a:txBody>
                      <a:tcPr/>
                    </a:tc>
                    <a:tc>
                      <a:txBody>
                        <a:bodyPr/>
                        <a:lstStyle/>
                        <a:p>
                          <a:pPr algn="ctr"/>
                          <a:r>
                            <a:rPr lang="en-GB"/>
                            <a:t>1</a:t>
                          </a:r>
                        </a:p>
                      </a:txBody>
                      <a:tcPr/>
                    </a:tc>
                    <a:tc>
                      <a:txBody>
                        <a:bodyPr/>
                        <a:lstStyle/>
                        <a:p>
                          <a:pPr algn="ctr"/>
                          <a:r>
                            <a:rPr lang="en-GB"/>
                            <a:t>1.5</a:t>
                          </a:r>
                        </a:p>
                      </a:txBody>
                      <a:tcPr/>
                    </a:tc>
                    <a:tc>
                      <a:txBody>
                        <a:bodyPr/>
                        <a:lstStyle/>
                        <a:p>
                          <a:pPr algn="ctr"/>
                          <a:r>
                            <a:rPr lang="en-GB"/>
                            <a:t>2</a:t>
                          </a:r>
                        </a:p>
                      </a:txBody>
                      <a:tcPr/>
                    </a:tc>
                    <a:extLst>
                      <a:ext uri="{0D108BD9-81ED-4DB2-BD59-A6C34878D82A}">
                        <a16:rowId xmlns:a16="http://schemas.microsoft.com/office/drawing/2014/main" val="10000"/>
                      </a:ext>
                    </a:extLst>
                  </a:tr>
                  <a:tr h="370840">
                    <a:tc>
                      <a:txBody>
                        <a:bodyPr/>
                        <a:lstStyle/>
                        <a:p>
                          <a:endParaRPr lang="en-US"/>
                        </a:p>
                      </a:txBody>
                      <a:tcPr>
                        <a:blipFill>
                          <a:blip r:embed="rId3"/>
                          <a:stretch>
                            <a:fillRect l="-3448" t="-110345" r="-1713793" b="-17241"/>
                          </a:stretch>
                        </a:blipFill>
                      </a:tcPr>
                    </a:tc>
                    <a:tc>
                      <a:txBody>
                        <a:bodyPr/>
                        <a:lstStyle/>
                        <a:p>
                          <a:pPr algn="ctr"/>
                          <a:r>
                            <a:rPr lang="en-GB"/>
                            <a:t>-12</a:t>
                          </a:r>
                        </a:p>
                      </a:txBody>
                      <a:tcPr/>
                    </a:tc>
                    <a:tc>
                      <a:txBody>
                        <a:bodyPr/>
                        <a:lstStyle/>
                        <a:p>
                          <a:pPr algn="ctr"/>
                          <a:r>
                            <a:rPr lang="en-GB"/>
                            <a:t>-6.875</a:t>
                          </a:r>
                        </a:p>
                      </a:txBody>
                      <a:tcPr/>
                    </a:tc>
                    <a:tc>
                      <a:txBody>
                        <a:bodyPr/>
                        <a:lstStyle/>
                        <a:p>
                          <a:pPr algn="ctr"/>
                          <a:endParaRPr lang="en-GB">
                            <a:solidFill>
                              <a:srgbClr val="FF0000"/>
                            </a:solidFill>
                          </a:endParaRPr>
                        </a:p>
                      </a:txBody>
                      <a:tcPr/>
                    </a:tc>
                    <a:tc>
                      <a:txBody>
                        <a:bodyPr/>
                        <a:lstStyle/>
                        <a:p>
                          <a:pPr algn="ctr"/>
                          <a:endParaRPr lang="en-GB">
                            <a:solidFill>
                              <a:srgbClr val="FF0000"/>
                            </a:solidFill>
                          </a:endParaRPr>
                        </a:p>
                      </a:txBody>
                      <a:tcPr/>
                    </a:tc>
                    <a:tc>
                      <a:txBody>
                        <a:bodyPr/>
                        <a:lstStyle/>
                        <a:p>
                          <a:pPr algn="ctr"/>
                          <a:r>
                            <a:rPr lang="en-GB"/>
                            <a:t>-2</a:t>
                          </a:r>
                        </a:p>
                      </a:txBody>
                      <a:tcPr/>
                    </a:tc>
                    <a:tc>
                      <a:txBody>
                        <a:bodyPr/>
                        <a:lstStyle/>
                        <a:p>
                          <a:pPr algn="ctr"/>
                          <a:r>
                            <a:rPr lang="en-GB"/>
                            <a:t>-1.375</a:t>
                          </a:r>
                        </a:p>
                      </a:txBody>
                      <a:tcPr/>
                    </a:tc>
                    <a:tc>
                      <a:txBody>
                        <a:bodyPr/>
                        <a:lstStyle/>
                        <a:p>
                          <a:pPr algn="ctr"/>
                          <a:endParaRPr lang="en-GB">
                            <a:solidFill>
                              <a:srgbClr val="FF0000"/>
                            </a:solidFill>
                          </a:endParaRPr>
                        </a:p>
                      </a:txBody>
                      <a:tcPr/>
                    </a:tc>
                    <a:tc>
                      <a:txBody>
                        <a:bodyPr/>
                        <a:lstStyle/>
                        <a:p>
                          <a:pPr algn="ctr"/>
                          <a:endParaRPr lang="en-GB">
                            <a:solidFill>
                              <a:srgbClr val="FF0000"/>
                            </a:solidFill>
                          </a:endParaRPr>
                        </a:p>
                      </a:txBody>
                      <a:tcPr/>
                    </a:tc>
                    <a:tc>
                      <a:txBody>
                        <a:bodyPr/>
                        <a:lstStyle/>
                        <a:p>
                          <a:pPr algn="ctr"/>
                          <a:endParaRPr lang="en-GB">
                            <a:solidFill>
                              <a:srgbClr val="FF0000"/>
                            </a:solidFill>
                          </a:endParaRPr>
                        </a:p>
                      </a:txBody>
                      <a:tcPr/>
                    </a:tc>
                    <a:extLst>
                      <a:ext uri="{0D108BD9-81ED-4DB2-BD59-A6C34878D82A}">
                        <a16:rowId xmlns:a16="http://schemas.microsoft.com/office/drawing/2014/main" val="10001"/>
                      </a:ext>
                    </a:extLst>
                  </a:tr>
                </a:tbl>
              </a:graphicData>
            </a:graphic>
          </p:graphicFrame>
        </mc:Fallback>
      </mc:AlternateContent>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7967365A-4694-0180-8B66-398E1754E5B2}"/>
                  </a:ext>
                </a:extLst>
              </p:cNvPr>
              <p:cNvSpPr txBox="1"/>
              <p:nvPr/>
            </p:nvSpPr>
            <p:spPr>
              <a:xfrm>
                <a:off x="611560" y="948690"/>
                <a:ext cx="7776000" cy="5909310"/>
              </a:xfrm>
              <a:prstGeom prst="rect">
                <a:avLst/>
              </a:prstGeom>
              <a:noFill/>
            </p:spPr>
            <p:txBody>
              <a:bodyPr wrap="square" rtlCol="0">
                <a:spAutoFit/>
              </a:bodyPr>
              <a:lstStyle/>
              <a:p>
                <a:pPr algn="r"/>
                <a:endParaRPr lang="en-GB">
                  <a:solidFill>
                    <a:srgbClr val="FF0000"/>
                  </a:solidFill>
                </a:endParaRPr>
              </a:p>
              <a:p>
                <a:r>
                  <a:rPr lang="en-GB">
                    <a:solidFill>
                      <a:srgbClr val="FF0000"/>
                    </a:solidFill>
                  </a:rPr>
                  <a:t>			</a:t>
                </a:r>
                <a14:m>
                  <m:oMath xmlns:m="http://schemas.openxmlformats.org/officeDocument/2006/math">
                    <m:r>
                      <a:rPr lang="en-GB" i="1">
                        <a:solidFill>
                          <a:srgbClr val="FF0000"/>
                        </a:solidFill>
                        <a:latin typeface="Cambria Math"/>
                      </a:rPr>
                      <m:t>(</m:t>
                    </m:r>
                    <m:r>
                      <a:rPr lang="en-GB" i="1">
                        <a:solidFill>
                          <a:srgbClr val="FF0000"/>
                        </a:solidFill>
                        <a:latin typeface="Cambria Math"/>
                      </a:rPr>
                      <m:t>𝑥</m:t>
                    </m:r>
                    <m:r>
                      <a:rPr lang="en-GB" i="1">
                        <a:solidFill>
                          <a:srgbClr val="FF0000"/>
                        </a:solidFill>
                        <a:latin typeface="Cambria Math"/>
                      </a:rPr>
                      <m:t>+5)(</m:t>
                    </m:r>
                    <m:r>
                      <a:rPr lang="en-GB" i="1">
                        <a:solidFill>
                          <a:srgbClr val="FF0000"/>
                        </a:solidFill>
                        <a:latin typeface="Cambria Math"/>
                      </a:rPr>
                      <m:t>𝑥</m:t>
                    </m:r>
                    <m:r>
                      <a:rPr lang="en-GB" i="1">
                        <a:solidFill>
                          <a:srgbClr val="FF0000"/>
                        </a:solidFill>
                        <a:latin typeface="Cambria Math"/>
                      </a:rPr>
                      <m:t>+1)</m:t>
                    </m:r>
                  </m:oMath>
                </a14:m>
                <a:r>
                  <a:rPr lang="en-GB">
                    <a:solidFill>
                      <a:srgbClr val="FF0000"/>
                    </a:solidFill>
                  </a:rPr>
                  <a:t> </a:t>
                </a:r>
              </a:p>
              <a:p>
                <a:r>
                  <a:rPr lang="en-GB">
                    <a:solidFill>
                      <a:srgbClr val="FF0000"/>
                    </a:solidFill>
                  </a:rPr>
                  <a:t>			</a:t>
                </a:r>
                <a14:m>
                  <m:oMath xmlns:m="http://schemas.openxmlformats.org/officeDocument/2006/math">
                    <m:r>
                      <a:rPr lang="en-GB" i="1">
                        <a:solidFill>
                          <a:srgbClr val="FF0000"/>
                        </a:solidFill>
                        <a:latin typeface="Cambria Math"/>
                      </a:rPr>
                      <m:t>(</m:t>
                    </m:r>
                    <m:r>
                      <a:rPr lang="en-GB" i="1">
                        <a:solidFill>
                          <a:srgbClr val="FF0000"/>
                        </a:solidFill>
                        <a:latin typeface="Cambria Math"/>
                      </a:rPr>
                      <m:t>𝑥</m:t>
                    </m:r>
                    <m:r>
                      <a:rPr lang="en-GB" i="1">
                        <a:solidFill>
                          <a:srgbClr val="FF0000"/>
                        </a:solidFill>
                        <a:latin typeface="Cambria Math"/>
                      </a:rPr>
                      <m:t>−3)(</m:t>
                    </m:r>
                    <m:r>
                      <a:rPr lang="en-GB" i="1">
                        <a:solidFill>
                          <a:srgbClr val="FF0000"/>
                        </a:solidFill>
                        <a:latin typeface="Cambria Math"/>
                      </a:rPr>
                      <m:t>𝑥</m:t>
                    </m:r>
                    <m:r>
                      <a:rPr lang="en-GB" i="1">
                        <a:solidFill>
                          <a:srgbClr val="FF0000"/>
                        </a:solidFill>
                        <a:latin typeface="Cambria Math"/>
                      </a:rPr>
                      <m:t>−1)</m:t>
                    </m:r>
                  </m:oMath>
                </a14:m>
                <a:r>
                  <a:rPr lang="en-GB">
                    <a:solidFill>
                      <a:srgbClr val="FF0000"/>
                    </a:solidFill>
                  </a:rPr>
                  <a:t> </a:t>
                </a:r>
              </a:p>
              <a:p>
                <a:endParaRPr lang="en-GB">
                  <a:solidFill>
                    <a:srgbClr val="FF0000"/>
                  </a:solidFill>
                </a:endParaRPr>
              </a:p>
              <a:p>
                <a:endParaRPr lang="en-GB">
                  <a:solidFill>
                    <a:srgbClr val="FF0000"/>
                  </a:solidFill>
                </a:endParaRPr>
              </a:p>
              <a:p>
                <a:endParaRPr lang="en-GB">
                  <a:solidFill>
                    <a:srgbClr val="FF0000"/>
                  </a:solidFill>
                </a:endParaRPr>
              </a:p>
              <a:p>
                <a14:m>
                  <m:oMath xmlns:m="http://schemas.openxmlformats.org/officeDocument/2006/math">
                    <m:d>
                      <m:dPr>
                        <m:ctrlPr>
                          <a:rPr lang="en-GB" i="1">
                            <a:solidFill>
                              <a:srgbClr val="FF0000"/>
                            </a:solidFill>
                            <a:latin typeface="Cambria Math"/>
                          </a:rPr>
                        </m:ctrlPr>
                      </m:dPr>
                      <m:e>
                        <m:r>
                          <a:rPr lang="en-GB" i="1">
                            <a:solidFill>
                              <a:srgbClr val="FF0000"/>
                            </a:solidFill>
                            <a:latin typeface="Cambria Math"/>
                          </a:rPr>
                          <m:t>0,−6</m:t>
                        </m:r>
                      </m:e>
                    </m:d>
                    <m:r>
                      <a:rPr lang="en-GB" i="1">
                        <a:solidFill>
                          <a:srgbClr val="FF0000"/>
                        </a:solidFill>
                        <a:latin typeface="Cambria Math"/>
                      </a:rPr>
                      <m:t>,</m:t>
                    </m:r>
                    <m:d>
                      <m:dPr>
                        <m:ctrlPr>
                          <a:rPr lang="en-GB" i="1">
                            <a:solidFill>
                              <a:srgbClr val="FF0000"/>
                            </a:solidFill>
                            <a:latin typeface="Cambria Math"/>
                          </a:rPr>
                        </m:ctrlPr>
                      </m:dPr>
                      <m:e>
                        <m:r>
                          <a:rPr lang="en-GB" i="1">
                            <a:solidFill>
                              <a:srgbClr val="FF0000"/>
                            </a:solidFill>
                            <a:latin typeface="Cambria Math"/>
                          </a:rPr>
                          <m:t>−2,0</m:t>
                        </m:r>
                      </m:e>
                    </m:d>
                    <m:r>
                      <a:rPr lang="en-GB" i="1">
                        <a:solidFill>
                          <a:srgbClr val="FF0000"/>
                        </a:solidFill>
                        <a:latin typeface="Cambria Math"/>
                      </a:rPr>
                      <m:t>,</m:t>
                    </m:r>
                    <m:d>
                      <m:dPr>
                        <m:ctrlPr>
                          <a:rPr lang="en-GB" i="1">
                            <a:solidFill>
                              <a:srgbClr val="FF0000"/>
                            </a:solidFill>
                            <a:latin typeface="Cambria Math"/>
                          </a:rPr>
                        </m:ctrlPr>
                      </m:dPr>
                      <m:e>
                        <m:r>
                          <a:rPr lang="en-GB" i="1">
                            <a:solidFill>
                              <a:srgbClr val="FF0000"/>
                            </a:solidFill>
                            <a:latin typeface="Cambria Math"/>
                          </a:rPr>
                          <m:t>3,0</m:t>
                        </m:r>
                      </m:e>
                    </m:d>
                    <m:r>
                      <a:rPr lang="en-GB">
                        <a:solidFill>
                          <a:srgbClr val="FF0000"/>
                        </a:solidFill>
                        <a:latin typeface="Cambria Math" panose="02040503050406030204" pitchFamily="18" charset="0"/>
                      </a:rPr>
                      <m:t>    </m:t>
                    </m:r>
                  </m:oMath>
                </a14:m>
                <a:r>
                  <a:rPr lang="en-GB">
                    <a:solidFill>
                      <a:srgbClr val="FF0000"/>
                    </a:solidFill>
                  </a:rPr>
                  <a:t>Min at </a:t>
                </a:r>
                <a14:m>
                  <m:oMath xmlns:m="http://schemas.openxmlformats.org/officeDocument/2006/math">
                    <m:r>
                      <a:rPr lang="en-GB" i="1">
                        <a:solidFill>
                          <a:srgbClr val="FF0000"/>
                        </a:solidFill>
                        <a:latin typeface="Cambria Math"/>
                      </a:rPr>
                      <m:t>(0.5,−6.25)</m:t>
                    </m:r>
                  </m:oMath>
                </a14:m>
                <a:endParaRPr lang="en-GB">
                  <a:solidFill>
                    <a:srgbClr val="FF0000"/>
                  </a:solidFill>
                </a:endParaRPr>
              </a:p>
              <a:p>
                <a:endParaRPr lang="en-GB">
                  <a:solidFill>
                    <a:srgbClr val="FF0000"/>
                  </a:solidFill>
                </a:endParaRPr>
              </a:p>
              <a:p>
                <a:endParaRPr lang="en-GB" b="0" i="1">
                  <a:solidFill>
                    <a:srgbClr val="FF0000"/>
                  </a:solidFill>
                  <a:latin typeface="Cambria Math" panose="02040503050406030204" pitchFamily="18" charset="0"/>
                </a:endParaRPr>
              </a:p>
              <a:p>
                <a:endParaRPr lang="en-GB" b="0" i="1">
                  <a:solidFill>
                    <a:srgbClr val="FF0000"/>
                  </a:solidFill>
                  <a:latin typeface="Cambria Math" panose="02040503050406030204" pitchFamily="18" charset="0"/>
                </a:endParaRPr>
              </a:p>
              <a:p>
                <a14:m>
                  <m:oMath xmlns:m="http://schemas.openxmlformats.org/officeDocument/2006/math">
                    <m:d>
                      <m:dPr>
                        <m:ctrlPr>
                          <a:rPr lang="en-GB" b="0" i="1" smtClean="0">
                            <a:solidFill>
                              <a:srgbClr val="FF0000"/>
                            </a:solidFill>
                            <a:latin typeface="Cambria Math"/>
                          </a:rPr>
                        </m:ctrlPr>
                      </m:dPr>
                      <m:e>
                        <m:r>
                          <a:rPr lang="en-GB" b="0" i="1" smtClean="0">
                            <a:solidFill>
                              <a:srgbClr val="FF0000"/>
                            </a:solidFill>
                            <a:latin typeface="Cambria Math"/>
                          </a:rPr>
                          <m:t>0,−7</m:t>
                        </m:r>
                      </m:e>
                    </m:d>
                    <m:r>
                      <a:rPr lang="en-GB" b="0" i="1" smtClean="0">
                        <a:solidFill>
                          <a:srgbClr val="FF0000"/>
                        </a:solidFill>
                        <a:latin typeface="Cambria Math"/>
                      </a:rPr>
                      <m:t>,</m:t>
                    </m:r>
                    <m:d>
                      <m:dPr>
                        <m:ctrlPr>
                          <a:rPr lang="en-GB" b="0" i="1" smtClean="0">
                            <a:solidFill>
                              <a:srgbClr val="FF0000"/>
                            </a:solidFill>
                            <a:latin typeface="Cambria Math"/>
                          </a:rPr>
                        </m:ctrlPr>
                      </m:dPr>
                      <m:e>
                        <m:r>
                          <a:rPr lang="en-GB" b="0" i="1" smtClean="0">
                            <a:solidFill>
                              <a:srgbClr val="FF0000"/>
                            </a:solidFill>
                            <a:latin typeface="Cambria Math"/>
                          </a:rPr>
                          <m:t>−1,0</m:t>
                        </m:r>
                      </m:e>
                    </m:d>
                    <m:r>
                      <a:rPr lang="en-GB" b="0" i="1" smtClean="0">
                        <a:solidFill>
                          <a:srgbClr val="FF0000"/>
                        </a:solidFill>
                        <a:latin typeface="Cambria Math"/>
                      </a:rPr>
                      <m:t>,</m:t>
                    </m:r>
                    <m:d>
                      <m:dPr>
                        <m:ctrlPr>
                          <a:rPr lang="en-GB" b="0" i="1" smtClean="0">
                            <a:solidFill>
                              <a:srgbClr val="FF0000"/>
                            </a:solidFill>
                            <a:latin typeface="Cambria Math"/>
                          </a:rPr>
                        </m:ctrlPr>
                      </m:dPr>
                      <m:e>
                        <m:r>
                          <a:rPr lang="en-GB" b="0" i="1" smtClean="0">
                            <a:solidFill>
                              <a:srgbClr val="FF0000"/>
                            </a:solidFill>
                            <a:latin typeface="Cambria Math"/>
                          </a:rPr>
                          <m:t>7,0</m:t>
                        </m:r>
                      </m:e>
                    </m:d>
                    <m:r>
                      <a:rPr lang="en-GB" b="0" i="1" smtClean="0">
                        <a:solidFill>
                          <a:srgbClr val="FF0000"/>
                        </a:solidFill>
                        <a:latin typeface="Cambria Math" panose="02040503050406030204" pitchFamily="18" charset="0"/>
                      </a:rPr>
                      <m:t>    </m:t>
                    </m:r>
                  </m:oMath>
                </a14:m>
                <a:r>
                  <a:rPr lang="en-GB">
                    <a:solidFill>
                      <a:srgbClr val="FF0000"/>
                    </a:solidFill>
                  </a:rPr>
                  <a:t>Min at </a:t>
                </a:r>
                <a14:m>
                  <m:oMath xmlns:m="http://schemas.openxmlformats.org/officeDocument/2006/math">
                    <m:r>
                      <a:rPr lang="en-GB" b="0" i="1" smtClean="0">
                        <a:solidFill>
                          <a:srgbClr val="FF0000"/>
                        </a:solidFill>
                        <a:latin typeface="Cambria Math"/>
                      </a:rPr>
                      <m:t>(3,−16)</m:t>
                    </m:r>
                  </m:oMath>
                </a14:m>
                <a:endParaRPr lang="en-GB">
                  <a:solidFill>
                    <a:srgbClr val="FF0000"/>
                  </a:solidFill>
                </a:endParaRPr>
              </a:p>
              <a:p>
                <a:pPr algn="r"/>
                <a:endParaRPr lang="en-GB">
                  <a:solidFill>
                    <a:srgbClr val="FF0000"/>
                  </a:solidFill>
                </a:endParaRPr>
              </a:p>
              <a:p>
                <a:pPr algn="r"/>
                <a:endParaRPr lang="en-GB">
                  <a:solidFill>
                    <a:srgbClr val="FF0000"/>
                  </a:solidFill>
                </a:endParaRPr>
              </a:p>
              <a:p>
                <a:pPr algn="r"/>
                <a:endParaRPr lang="en-GB">
                  <a:solidFill>
                    <a:srgbClr val="FF0000"/>
                  </a:solidFill>
                </a:endParaRPr>
              </a:p>
              <a:p>
                <a:pPr algn="r"/>
                <a:endParaRPr lang="en-GB">
                  <a:solidFill>
                    <a:srgbClr val="FF0000"/>
                  </a:solidFill>
                </a:endParaRPr>
              </a:p>
              <a:p>
                <a:pPr algn="r"/>
                <a:endParaRPr lang="en-GB">
                  <a:solidFill>
                    <a:srgbClr val="FF0000"/>
                  </a:solidFill>
                </a:endParaRPr>
              </a:p>
              <a:p>
                <a:pPr algn="r"/>
                <a:endParaRPr lang="en-GB">
                  <a:solidFill>
                    <a:srgbClr val="FF0000"/>
                  </a:solidFill>
                </a:endParaRPr>
              </a:p>
              <a:p>
                <a:endParaRPr lang="en-GB">
                  <a:solidFill>
                    <a:srgbClr val="FF0000"/>
                  </a:solidFill>
                </a:endParaRPr>
              </a:p>
              <a:p>
                <a:endParaRPr lang="en-GB">
                  <a:solidFill>
                    <a:srgbClr val="FF0000"/>
                  </a:solidFill>
                </a:endParaRPr>
              </a:p>
              <a:p>
                <a:endParaRPr lang="en-GB">
                  <a:solidFill>
                    <a:srgbClr val="FF0000"/>
                  </a:solidFill>
                </a:endParaRPr>
              </a:p>
              <a:p>
                <a:endParaRPr lang="en-GB">
                  <a:solidFill>
                    <a:srgbClr val="FF0000"/>
                  </a:solidFill>
                </a:endParaRPr>
              </a:p>
            </p:txBody>
          </p:sp>
        </mc:Choice>
        <mc:Fallback>
          <p:sp>
            <p:nvSpPr>
              <p:cNvPr id="3" name="TextBox 2">
                <a:extLst>
                  <a:ext uri="{FF2B5EF4-FFF2-40B4-BE49-F238E27FC236}">
                    <a16:creationId xmlns:a16="http://schemas.microsoft.com/office/drawing/2014/main" id="{7967365A-4694-0180-8B66-398E1754E5B2}"/>
                  </a:ext>
                </a:extLst>
              </p:cNvPr>
              <p:cNvSpPr txBox="1">
                <a:spLocks noRot="1" noChangeAspect="1" noMove="1" noResize="1" noEditPoints="1" noAdjustHandles="1" noChangeArrowheads="1" noChangeShapeType="1" noTextEdit="1"/>
              </p:cNvSpPr>
              <p:nvPr/>
            </p:nvSpPr>
            <p:spPr>
              <a:xfrm>
                <a:off x="611560" y="948690"/>
                <a:ext cx="7776000" cy="5909310"/>
              </a:xfrm>
              <a:prstGeom prst="rect">
                <a:avLst/>
              </a:prstGeom>
              <a:blipFill>
                <a:blip r:embed="rId4"/>
                <a:stretch>
                  <a:fillRect/>
                </a:stretch>
              </a:blipFill>
            </p:spPr>
            <p:txBody>
              <a:bodyPr/>
              <a:lstStyle/>
              <a:p>
                <a:r>
                  <a:rPr lang="en-US">
                    <a:noFill/>
                  </a:rPr>
                  <a:t> </a:t>
                </a:r>
              </a:p>
            </p:txBody>
          </p:sp>
        </mc:Fallback>
      </mc:AlternateContent>
      <p:graphicFrame>
        <p:nvGraphicFramePr>
          <p:cNvPr id="4" name="Table 3">
            <a:extLst>
              <a:ext uri="{FF2B5EF4-FFF2-40B4-BE49-F238E27FC236}">
                <a16:creationId xmlns:a16="http://schemas.microsoft.com/office/drawing/2014/main" id="{AB4F7CAB-5D35-D921-A4EE-E20BC7E9B064}"/>
              </a:ext>
            </a:extLst>
          </p:cNvPr>
          <p:cNvGraphicFramePr>
            <a:graphicFrameLocks noGrp="1"/>
          </p:cNvGraphicFramePr>
          <p:nvPr>
            <p:extLst>
              <p:ext uri="{D42A27DB-BD31-4B8C-83A1-F6EECF244321}">
                <p14:modId xmlns:p14="http://schemas.microsoft.com/office/powerpoint/2010/main" val="3525534644"/>
              </p:ext>
            </p:extLst>
          </p:nvPr>
        </p:nvGraphicFramePr>
        <p:xfrm>
          <a:off x="599109" y="4995721"/>
          <a:ext cx="6649214" cy="741680"/>
        </p:xfrm>
        <a:graphic>
          <a:graphicData uri="http://schemas.openxmlformats.org/drawingml/2006/table">
            <a:tbl>
              <a:tblPr firstRow="1" bandRow="1">
                <a:tableStyleId>{5940675A-B579-460E-94D1-54222C63F5DA}</a:tableStyleId>
              </a:tblPr>
              <a:tblGrid>
                <a:gridCol w="367792">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825818">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gridCol w="825818">
                  <a:extLst>
                    <a:ext uri="{9D8B030D-6E8A-4147-A177-3AD203B41FA5}">
                      <a16:colId xmlns:a16="http://schemas.microsoft.com/office/drawing/2014/main" val="20004"/>
                    </a:ext>
                  </a:extLst>
                </a:gridCol>
                <a:gridCol w="609600">
                  <a:extLst>
                    <a:ext uri="{9D8B030D-6E8A-4147-A177-3AD203B41FA5}">
                      <a16:colId xmlns:a16="http://schemas.microsoft.com/office/drawing/2014/main" val="20005"/>
                    </a:ext>
                  </a:extLst>
                </a:gridCol>
                <a:gridCol w="825818">
                  <a:extLst>
                    <a:ext uri="{9D8B030D-6E8A-4147-A177-3AD203B41FA5}">
                      <a16:colId xmlns:a16="http://schemas.microsoft.com/office/drawing/2014/main" val="20006"/>
                    </a:ext>
                  </a:extLst>
                </a:gridCol>
                <a:gridCol w="609600">
                  <a:extLst>
                    <a:ext uri="{9D8B030D-6E8A-4147-A177-3AD203B41FA5}">
                      <a16:colId xmlns:a16="http://schemas.microsoft.com/office/drawing/2014/main" val="20007"/>
                    </a:ext>
                  </a:extLst>
                </a:gridCol>
                <a:gridCol w="755968">
                  <a:extLst>
                    <a:ext uri="{9D8B030D-6E8A-4147-A177-3AD203B41FA5}">
                      <a16:colId xmlns:a16="http://schemas.microsoft.com/office/drawing/2014/main" val="20008"/>
                    </a:ext>
                  </a:extLst>
                </a:gridCol>
                <a:gridCol w="609600">
                  <a:extLst>
                    <a:ext uri="{9D8B030D-6E8A-4147-A177-3AD203B41FA5}">
                      <a16:colId xmlns:a16="http://schemas.microsoft.com/office/drawing/2014/main" val="20009"/>
                    </a:ext>
                  </a:extLst>
                </a:gridCol>
              </a:tblGrid>
              <a:tr h="370840">
                <a:tc>
                  <a:txBody>
                    <a:bodyPr/>
                    <a:lstStyle/>
                    <a:p>
                      <a:endParaRPr lang="en-GB"/>
                    </a:p>
                  </a:txBody>
                  <a:tcPr/>
                </a:tc>
                <a:tc>
                  <a:txBody>
                    <a:bodyPr/>
                    <a:lstStyle/>
                    <a:p>
                      <a:pPr algn="ctr"/>
                      <a:endParaRPr lang="en-GB"/>
                    </a:p>
                  </a:txBody>
                  <a:tcPr/>
                </a:tc>
                <a:tc>
                  <a:txBody>
                    <a:bodyPr/>
                    <a:lstStyle/>
                    <a:p>
                      <a:pPr algn="ctr"/>
                      <a:endParaRPr lang="en-GB"/>
                    </a:p>
                  </a:txBody>
                  <a:tcPr/>
                </a:tc>
                <a:tc>
                  <a:txBody>
                    <a:bodyPr/>
                    <a:lstStyle/>
                    <a:p>
                      <a:pPr algn="ctr"/>
                      <a:endParaRPr lang="en-GB"/>
                    </a:p>
                  </a:txBody>
                  <a:tcPr/>
                </a:tc>
                <a:tc>
                  <a:txBody>
                    <a:bodyPr/>
                    <a:lstStyle/>
                    <a:p>
                      <a:pPr algn="ctr"/>
                      <a:endParaRPr lang="en-GB"/>
                    </a:p>
                  </a:txBody>
                  <a:tcPr/>
                </a:tc>
                <a:tc>
                  <a:txBody>
                    <a:bodyPr/>
                    <a:lstStyle/>
                    <a:p>
                      <a:pPr algn="ctr"/>
                      <a:endParaRPr lang="en-GB"/>
                    </a:p>
                  </a:txBody>
                  <a:tcPr/>
                </a:tc>
                <a:tc>
                  <a:txBody>
                    <a:bodyPr/>
                    <a:lstStyle/>
                    <a:p>
                      <a:pPr algn="ctr"/>
                      <a:endParaRPr lang="en-GB"/>
                    </a:p>
                  </a:txBody>
                  <a:tcPr/>
                </a:tc>
                <a:tc>
                  <a:txBody>
                    <a:bodyPr/>
                    <a:lstStyle/>
                    <a:p>
                      <a:pPr algn="ctr"/>
                      <a:endParaRPr lang="en-GB"/>
                    </a:p>
                  </a:txBody>
                  <a:tcPr/>
                </a:tc>
                <a:tc>
                  <a:txBody>
                    <a:bodyPr/>
                    <a:lstStyle/>
                    <a:p>
                      <a:pPr algn="ctr"/>
                      <a:endParaRPr lang="en-GB"/>
                    </a:p>
                  </a:txBody>
                  <a:tcPr/>
                </a:tc>
                <a:tc>
                  <a:txBody>
                    <a:bodyPr/>
                    <a:lstStyle/>
                    <a:p>
                      <a:pPr algn="ctr"/>
                      <a:endParaRPr lang="en-GB"/>
                    </a:p>
                  </a:txBody>
                  <a:tcPr/>
                </a:tc>
                <a:extLst>
                  <a:ext uri="{0D108BD9-81ED-4DB2-BD59-A6C34878D82A}">
                    <a16:rowId xmlns:a16="http://schemas.microsoft.com/office/drawing/2014/main" val="10000"/>
                  </a:ext>
                </a:extLst>
              </a:tr>
              <a:tr h="370840">
                <a:tc>
                  <a:txBody>
                    <a:bodyPr/>
                    <a:lstStyle/>
                    <a:p>
                      <a:endParaRPr lang="en-GB"/>
                    </a:p>
                  </a:txBody>
                  <a:tcPr/>
                </a:tc>
                <a:tc>
                  <a:txBody>
                    <a:bodyPr/>
                    <a:lstStyle/>
                    <a:p>
                      <a:pPr algn="ctr"/>
                      <a:endParaRPr lang="en-GB"/>
                    </a:p>
                  </a:txBody>
                  <a:tcPr/>
                </a:tc>
                <a:tc>
                  <a:txBody>
                    <a:bodyPr/>
                    <a:lstStyle/>
                    <a:p>
                      <a:pPr algn="ctr"/>
                      <a:endParaRPr lang="en-GB"/>
                    </a:p>
                  </a:txBody>
                  <a:tcPr/>
                </a:tc>
                <a:tc>
                  <a:txBody>
                    <a:bodyPr/>
                    <a:lstStyle/>
                    <a:p>
                      <a:pPr algn="ctr"/>
                      <a:r>
                        <a:rPr lang="en-GB">
                          <a:solidFill>
                            <a:srgbClr val="FF0000"/>
                          </a:solidFill>
                        </a:rPr>
                        <a:t>-4</a:t>
                      </a:r>
                    </a:p>
                  </a:txBody>
                  <a:tcPr/>
                </a:tc>
                <a:tc>
                  <a:txBody>
                    <a:bodyPr/>
                    <a:lstStyle/>
                    <a:p>
                      <a:pPr algn="ctr"/>
                      <a:r>
                        <a:rPr lang="en-GB">
                          <a:solidFill>
                            <a:srgbClr val="FF0000"/>
                          </a:solidFill>
                        </a:rPr>
                        <a:t>-2.625</a:t>
                      </a:r>
                    </a:p>
                  </a:txBody>
                  <a:tcPr/>
                </a:tc>
                <a:tc>
                  <a:txBody>
                    <a:bodyPr/>
                    <a:lstStyle/>
                    <a:p>
                      <a:pPr algn="ctr"/>
                      <a:endParaRPr lang="en-GB"/>
                    </a:p>
                  </a:txBody>
                  <a:tcPr/>
                </a:tc>
                <a:tc>
                  <a:txBody>
                    <a:bodyPr/>
                    <a:lstStyle/>
                    <a:p>
                      <a:pPr algn="ctr"/>
                      <a:endParaRPr lang="en-GB"/>
                    </a:p>
                  </a:txBody>
                  <a:tcPr/>
                </a:tc>
                <a:tc>
                  <a:txBody>
                    <a:bodyPr/>
                    <a:lstStyle/>
                    <a:p>
                      <a:pPr algn="ctr"/>
                      <a:r>
                        <a:rPr lang="en-GB">
                          <a:solidFill>
                            <a:srgbClr val="FF0000"/>
                          </a:solidFill>
                        </a:rPr>
                        <a:t>0</a:t>
                      </a:r>
                    </a:p>
                  </a:txBody>
                  <a:tcPr/>
                </a:tc>
                <a:tc>
                  <a:txBody>
                    <a:bodyPr/>
                    <a:lstStyle/>
                    <a:p>
                      <a:pPr algn="ctr"/>
                      <a:r>
                        <a:rPr lang="en-GB">
                          <a:solidFill>
                            <a:srgbClr val="FF0000"/>
                          </a:solidFill>
                        </a:rPr>
                        <a:t>2.875</a:t>
                      </a:r>
                    </a:p>
                  </a:txBody>
                  <a:tcPr/>
                </a:tc>
                <a:tc>
                  <a:txBody>
                    <a:bodyPr/>
                    <a:lstStyle/>
                    <a:p>
                      <a:pPr algn="ctr"/>
                      <a:r>
                        <a:rPr lang="en-GB">
                          <a:solidFill>
                            <a:srgbClr val="FF0000"/>
                          </a:solidFill>
                        </a:rPr>
                        <a:t>8</a:t>
                      </a:r>
                    </a:p>
                  </a:txBody>
                  <a:tcPr/>
                </a:tc>
                <a:extLst>
                  <a:ext uri="{0D108BD9-81ED-4DB2-BD59-A6C34878D82A}">
                    <a16:rowId xmlns:a16="http://schemas.microsoft.com/office/drawing/2014/main" val="10001"/>
                  </a:ext>
                </a:extLst>
              </a:tr>
            </a:tbl>
          </a:graphicData>
        </a:graphic>
      </p:graphicFrame>
      <p:pic>
        <p:nvPicPr>
          <p:cNvPr id="10" name="Picture 4">
            <a:extLst>
              <a:ext uri="{FF2B5EF4-FFF2-40B4-BE49-F238E27FC236}">
                <a16:creationId xmlns:a16="http://schemas.microsoft.com/office/drawing/2014/main" id="{0FB4E7C5-342C-A07D-E829-EDEFAEB6442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732130" y="4871970"/>
            <a:ext cx="1261565" cy="145565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Picture 2">
            <a:extLst>
              <a:ext uri="{FF2B5EF4-FFF2-40B4-BE49-F238E27FC236}">
                <a16:creationId xmlns:a16="http://schemas.microsoft.com/office/drawing/2014/main" id="{95CBEF57-D7FF-2BC6-51B4-51E16521A4C5}"/>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8232" r="51392"/>
          <a:stretch/>
        </p:blipFill>
        <p:spPr bwMode="auto">
          <a:xfrm>
            <a:off x="4962468" y="2163257"/>
            <a:ext cx="1354309" cy="132813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 name="Picture 2">
            <a:extLst>
              <a:ext uri="{FF2B5EF4-FFF2-40B4-BE49-F238E27FC236}">
                <a16:creationId xmlns:a16="http://schemas.microsoft.com/office/drawing/2014/main" id="{CA405DA3-C524-F4AE-3B10-2A835204F2C1}"/>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59746"/>
          <a:stretch/>
        </p:blipFill>
        <p:spPr bwMode="auto">
          <a:xfrm>
            <a:off x="4890460" y="3331515"/>
            <a:ext cx="1350677" cy="13285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TextBox 32">
            <a:extLst>
              <a:ext uri="{FF2B5EF4-FFF2-40B4-BE49-F238E27FC236}">
                <a16:creationId xmlns:a16="http://schemas.microsoft.com/office/drawing/2014/main" id="{B38F3860-1FC7-692C-57DB-6AEA8532310F}"/>
              </a:ext>
            </a:extLst>
          </p:cNvPr>
          <p:cNvSpPr txBox="1"/>
          <p:nvPr/>
        </p:nvSpPr>
        <p:spPr>
          <a:xfrm>
            <a:off x="0" y="0"/>
            <a:ext cx="9142856"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vert="horz" wrap="square" lIns="324000" tIns="45720" rIns="91440" bIns="45720" rtlCol="0" anchor="ctr">
            <a:spAutoFit/>
          </a:bodyPr>
          <a:lstStyle>
            <a:defPPr>
              <a:defRPr lang="en-US"/>
            </a:defPPr>
            <a:lvl1pPr>
              <a:spcBef>
                <a:spcPct val="0"/>
              </a:spcBef>
              <a:buNone/>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a:t>starter</a:t>
            </a:r>
          </a:p>
        </p:txBody>
      </p:sp>
    </p:spTree>
    <p:extLst>
      <p:ext uri="{BB962C8B-B14F-4D97-AF65-F5344CB8AC3E}">
        <p14:creationId xmlns:p14="http://schemas.microsoft.com/office/powerpoint/2010/main" val="4133727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23528" y="764704"/>
            <a:ext cx="8136904" cy="369332"/>
          </a:xfrm>
          <a:prstGeom prst="rect">
            <a:avLst/>
          </a:prstGeom>
          <a:noFill/>
        </p:spPr>
        <p:txBody>
          <a:bodyPr wrap="square" rtlCol="0">
            <a:spAutoFit/>
          </a:bodyPr>
          <a:lstStyle/>
          <a:p>
            <a:r>
              <a:rPr lang="en-GB"/>
              <a:t>There are a few new bits and pieces since GCSE!</a:t>
            </a:r>
          </a:p>
        </p:txBody>
      </p:sp>
      <mc:AlternateContent xmlns:mc="http://schemas.openxmlformats.org/markup-compatibility/2006">
        <mc:Choice xmlns:a14="http://schemas.microsoft.com/office/drawing/2010/main" Requires="a14">
          <p:sp>
            <p:nvSpPr>
              <p:cNvPr id="6" name="TextBox 5"/>
              <p:cNvSpPr txBox="1"/>
              <p:nvPr/>
            </p:nvSpPr>
            <p:spPr>
              <a:xfrm>
                <a:off x="623592" y="1890405"/>
                <a:ext cx="2724272" cy="923330"/>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a:t>Sketch the graph with equation:</a:t>
                </a:r>
              </a:p>
              <a:p>
                <a:pPr/>
                <a14:m>
                  <m:oMathPara xmlns:m="http://schemas.openxmlformats.org/officeDocument/2006/math">
                    <m:oMath>
                      <m:r>
                        <a:rPr lang="en-GB" b="0" i="1" smtClean="0">
                          <a:latin typeface="Cambria Math" panose="02040503050406030204" pitchFamily="18" charset="0"/>
                        </a:rPr>
                        <m:t>𝑦</m:t>
                      </m:r>
                      <m:r>
                        <a:rPr lang="en-GB" b="0" i="1" smtClean="0">
                          <a:latin typeface="Cambria Math" panose="02040503050406030204" pitchFamily="18" charset="0"/>
                        </a:rPr>
                        <m:t>=</m:t>
                      </m:r>
                      <m:r>
                        <a:rPr lang="en-GB" b="0" i="1" smtClean="0">
                          <a:latin typeface="Cambria Math" panose="02040503050406030204" pitchFamily="18" charset="0"/>
                        </a:rPr>
                        <m:t>𝑥</m:t>
                      </m:r>
                      <m:sSup>
                        <m:sSupPr>
                          <m:ctrlPr>
                            <a:rPr lang="en-GB" b="0" i="1" smtClean="0">
                              <a:latin typeface="Cambria Math" panose="02040503050406030204" pitchFamily="18" charset="0"/>
                            </a:rPr>
                          </m:ctrlPr>
                        </m:sSupPr>
                        <m:e>
                          <m:d>
                            <m:dPr>
                              <m:ctrlPr>
                                <a:rPr lang="en-GB" b="0" i="1" smtClean="0">
                                  <a:latin typeface="Cambria Math" panose="02040503050406030204" pitchFamily="18" charset="0"/>
                                </a:rPr>
                              </m:ctrlPr>
                            </m:dPr>
                            <m:e>
                              <m:r>
                                <a:rPr lang="en-GB" b="0" i="1" smtClean="0">
                                  <a:latin typeface="Cambria Math" panose="02040503050406030204" pitchFamily="18" charset="0"/>
                                </a:rPr>
                                <m:t>𝑥</m:t>
                              </m:r>
                              <m:r>
                                <a:rPr lang="en-GB" b="0" i="1" smtClean="0">
                                  <a:latin typeface="Cambria Math" panose="02040503050406030204" pitchFamily="18" charset="0"/>
                                </a:rPr>
                                <m:t>−3</m:t>
                              </m:r>
                            </m:e>
                          </m:d>
                        </m:e>
                        <m:sup>
                          <m:r>
                            <a:rPr lang="en-GB" b="0" i="1" smtClean="0">
                              <a:latin typeface="Cambria Math" panose="02040503050406030204" pitchFamily="18" charset="0"/>
                            </a:rPr>
                            <m:t>2</m:t>
                          </m:r>
                        </m:sup>
                      </m:sSup>
                    </m:oMath>
                  </m:oMathPara>
                </a14:m>
                <a:endParaRPr lang="en-GB"/>
              </a:p>
            </p:txBody>
          </p:sp>
        </mc:Choice>
        <mc:Fallback>
          <p:sp>
            <p:nvSpPr>
              <p:cNvPr id="6" name="TextBox 5"/>
              <p:cNvSpPr txBox="1">
                <a:spLocks noRot="1" noChangeAspect="1" noMove="1" noResize="1" noEditPoints="1" noAdjustHandles="1" noChangeArrowheads="1" noChangeShapeType="1" noTextEdit="1"/>
              </p:cNvSpPr>
              <p:nvPr/>
            </p:nvSpPr>
            <p:spPr>
              <a:xfrm>
                <a:off x="623592" y="1890405"/>
                <a:ext cx="2724272" cy="923330"/>
              </a:xfrm>
              <a:prstGeom prst="rect">
                <a:avLst/>
              </a:prstGeom>
              <a:blipFill>
                <a:blip r:embed="rId2"/>
                <a:stretch>
                  <a:fillRect/>
                </a:stretch>
              </a:blipFill>
              <a:effectLst>
                <a:outerShdw blurRad="63500" sx="102000" sy="102000" algn="ctr" rotWithShape="0">
                  <a:prstClr val="black">
                    <a:alpha val="40000"/>
                  </a:prstClr>
                </a:outerShdw>
              </a:effectLst>
            </p:spPr>
            <p:txBody>
              <a:bodyPr/>
              <a:lstStyle/>
              <a:p>
                <a:r>
                  <a:rPr lang="en-US">
                    <a:noFill/>
                  </a:rPr>
                  <a:t> </a:t>
                </a:r>
              </a:p>
            </p:txBody>
          </p:sp>
        </mc:Fallback>
      </mc:AlternateContent>
      <p:sp>
        <p:nvSpPr>
          <p:cNvPr id="7" name="TextBox 6"/>
          <p:cNvSpPr txBox="1"/>
          <p:nvPr/>
        </p:nvSpPr>
        <p:spPr>
          <a:xfrm>
            <a:off x="623592" y="1542233"/>
            <a:ext cx="2724272" cy="369332"/>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b="1"/>
              <a:t>1a</a:t>
            </a:r>
            <a:r>
              <a:rPr lang="en-GB"/>
              <a:t>: Cubic Graphs</a:t>
            </a:r>
          </a:p>
        </p:txBody>
      </p:sp>
      <mc:AlternateContent xmlns:mc="http://schemas.openxmlformats.org/markup-compatibility/2006">
        <mc:Choice xmlns:a14="http://schemas.microsoft.com/office/drawing/2010/main" Requires="a14">
          <p:sp>
            <p:nvSpPr>
              <p:cNvPr id="8" name="TextBox 7"/>
              <p:cNvSpPr txBox="1"/>
              <p:nvPr/>
            </p:nvSpPr>
            <p:spPr>
              <a:xfrm>
                <a:off x="3610017" y="1841425"/>
                <a:ext cx="2762183" cy="923330"/>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a:t>Sketch the graph with equation:</a:t>
                </a:r>
              </a:p>
              <a:p>
                <a:pPr/>
                <a14:m>
                  <m:oMathPara xmlns:m="http://schemas.openxmlformats.org/officeDocument/2006/math">
                    <m:oMath>
                      <m:r>
                        <a:rPr lang="en-GB" b="0" i="1" smtClean="0">
                          <a:latin typeface="Cambria Math" panose="02040503050406030204" pitchFamily="18" charset="0"/>
                        </a:rPr>
                        <m:t>𝑦</m:t>
                      </m:r>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d>
                            <m:dPr>
                              <m:ctrlPr>
                                <a:rPr lang="en-GB" b="0" i="1" smtClean="0">
                                  <a:latin typeface="Cambria Math" panose="02040503050406030204" pitchFamily="18" charset="0"/>
                                </a:rPr>
                              </m:ctrlPr>
                            </m:dPr>
                            <m:e>
                              <m:r>
                                <a:rPr lang="en-GB" b="0" i="1" smtClean="0">
                                  <a:latin typeface="Cambria Math" panose="02040503050406030204" pitchFamily="18" charset="0"/>
                                </a:rPr>
                                <m:t>𝑥</m:t>
                              </m:r>
                              <m:r>
                                <a:rPr lang="en-GB" b="0" i="1" smtClean="0">
                                  <a:latin typeface="Cambria Math" panose="02040503050406030204" pitchFamily="18" charset="0"/>
                                </a:rPr>
                                <m:t>−1</m:t>
                              </m:r>
                            </m:e>
                          </m:d>
                        </m:e>
                        <m:sup>
                          <m:r>
                            <a:rPr lang="en-GB" b="0" i="1" smtClean="0">
                              <a:latin typeface="Cambria Math" panose="02040503050406030204" pitchFamily="18" charset="0"/>
                            </a:rPr>
                            <m:t>2</m:t>
                          </m:r>
                        </m:sup>
                      </m:sSup>
                      <m:sSup>
                        <m:sSupPr>
                          <m:ctrlPr>
                            <a:rPr lang="en-GB" b="0" i="1" smtClean="0">
                              <a:latin typeface="Cambria Math" panose="02040503050406030204" pitchFamily="18" charset="0"/>
                            </a:rPr>
                          </m:ctrlPr>
                        </m:sSupPr>
                        <m:e>
                          <m:d>
                            <m:dPr>
                              <m:ctrlPr>
                                <a:rPr lang="en-GB" b="0" i="1" smtClean="0">
                                  <a:latin typeface="Cambria Math" panose="02040503050406030204" pitchFamily="18" charset="0"/>
                                </a:rPr>
                              </m:ctrlPr>
                            </m:dPr>
                            <m:e>
                              <m:r>
                                <a:rPr lang="en-GB" b="0" i="1" smtClean="0">
                                  <a:latin typeface="Cambria Math" panose="02040503050406030204" pitchFamily="18" charset="0"/>
                                </a:rPr>
                                <m:t>𝑥</m:t>
                              </m:r>
                              <m:r>
                                <a:rPr lang="en-GB" b="0" i="1" smtClean="0">
                                  <a:latin typeface="Cambria Math" panose="02040503050406030204" pitchFamily="18" charset="0"/>
                                </a:rPr>
                                <m:t>+1</m:t>
                              </m:r>
                            </m:e>
                          </m:d>
                        </m:e>
                        <m:sup>
                          <m:r>
                            <a:rPr lang="en-GB" b="0" i="1" smtClean="0">
                              <a:latin typeface="Cambria Math" panose="02040503050406030204" pitchFamily="18" charset="0"/>
                            </a:rPr>
                            <m:t>2</m:t>
                          </m:r>
                        </m:sup>
                      </m:sSup>
                    </m:oMath>
                  </m:oMathPara>
                </a14:m>
                <a:endParaRPr lang="en-GB"/>
              </a:p>
            </p:txBody>
          </p:sp>
        </mc:Choice>
        <mc:Fallback>
          <p:sp>
            <p:nvSpPr>
              <p:cNvPr id="8" name="TextBox 7"/>
              <p:cNvSpPr txBox="1">
                <a:spLocks noRot="1" noChangeAspect="1" noMove="1" noResize="1" noEditPoints="1" noAdjustHandles="1" noChangeArrowheads="1" noChangeShapeType="1" noTextEdit="1"/>
              </p:cNvSpPr>
              <p:nvPr/>
            </p:nvSpPr>
            <p:spPr>
              <a:xfrm>
                <a:off x="3610017" y="1841425"/>
                <a:ext cx="2762183" cy="923330"/>
              </a:xfrm>
              <a:prstGeom prst="rect">
                <a:avLst/>
              </a:prstGeom>
              <a:blipFill>
                <a:blip r:embed="rId3"/>
                <a:stretch>
                  <a:fillRect/>
                </a:stretch>
              </a:blipFill>
              <a:effectLst>
                <a:outerShdw blurRad="63500" sx="102000" sy="102000" algn="ctr" rotWithShape="0">
                  <a:prstClr val="black">
                    <a:alpha val="40000"/>
                  </a:prstClr>
                </a:outerShdw>
              </a:effectLst>
            </p:spPr>
            <p:txBody>
              <a:bodyPr/>
              <a:lstStyle/>
              <a:p>
                <a:r>
                  <a:rPr lang="en-US">
                    <a:noFill/>
                  </a:rPr>
                  <a:t> </a:t>
                </a:r>
              </a:p>
            </p:txBody>
          </p:sp>
        </mc:Fallback>
      </mc:AlternateContent>
      <p:sp>
        <p:nvSpPr>
          <p:cNvPr id="9" name="TextBox 8"/>
          <p:cNvSpPr txBox="1"/>
          <p:nvPr/>
        </p:nvSpPr>
        <p:spPr>
          <a:xfrm>
            <a:off x="3610018" y="1497509"/>
            <a:ext cx="2762182" cy="369332"/>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b="1"/>
              <a:t>1b</a:t>
            </a:r>
            <a:r>
              <a:rPr lang="en-GB"/>
              <a:t>: Quartic Graphs</a:t>
            </a:r>
          </a:p>
        </p:txBody>
      </p:sp>
      <mc:AlternateContent xmlns:mc="http://schemas.openxmlformats.org/markup-compatibility/2006">
        <mc:Choice xmlns:a14="http://schemas.microsoft.com/office/drawing/2010/main" Requires="a14">
          <p:sp>
            <p:nvSpPr>
              <p:cNvPr id="10" name="TextBox 9"/>
              <p:cNvSpPr txBox="1"/>
              <p:nvPr/>
            </p:nvSpPr>
            <p:spPr>
              <a:xfrm>
                <a:off x="585681" y="4365104"/>
                <a:ext cx="3024336" cy="1869358"/>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a:t>Sketch the curves </a:t>
                </a:r>
                <a14:m>
                  <m:oMath xmlns:m="http://schemas.openxmlformats.org/officeDocument/2006/math">
                    <m:r>
                      <a:rPr lang="en-GB" b="0" i="1" smtClean="0">
                        <a:latin typeface="Cambria Math" panose="02040503050406030204" pitchFamily="18" charset="0"/>
                      </a:rPr>
                      <m:t>𝑦</m:t>
                    </m:r>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4</m:t>
                        </m:r>
                      </m:num>
                      <m:den>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2</m:t>
                            </m:r>
                          </m:sup>
                        </m:sSup>
                      </m:den>
                    </m:f>
                  </m:oMath>
                </a14:m>
                <a:r>
                  <a:rPr lang="en-GB"/>
                  <a:t> and </a:t>
                </a:r>
                <a14:m>
                  <m:oMath xmlns:m="http://schemas.openxmlformats.org/officeDocument/2006/math">
                    <m:r>
                      <a:rPr lang="en-GB" b="0" i="1" smtClean="0">
                        <a:latin typeface="Cambria Math" panose="02040503050406030204" pitchFamily="18" charset="0"/>
                      </a:rPr>
                      <m:t>𝑦</m:t>
                    </m:r>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2</m:t>
                        </m:r>
                      </m:sup>
                    </m:sSup>
                    <m:d>
                      <m:dPr>
                        <m:ctrlPr>
                          <a:rPr lang="en-GB" b="0" i="1" smtClean="0">
                            <a:latin typeface="Cambria Math" panose="02040503050406030204" pitchFamily="18" charset="0"/>
                          </a:rPr>
                        </m:ctrlPr>
                      </m:dPr>
                      <m:e>
                        <m:r>
                          <a:rPr lang="en-GB" b="0" i="1" smtClean="0">
                            <a:latin typeface="Cambria Math" panose="02040503050406030204" pitchFamily="18" charset="0"/>
                          </a:rPr>
                          <m:t>𝑥</m:t>
                        </m:r>
                        <m:r>
                          <a:rPr lang="en-GB" b="0" i="1" smtClean="0">
                            <a:latin typeface="Cambria Math" panose="02040503050406030204" pitchFamily="18" charset="0"/>
                          </a:rPr>
                          <m:t>−1</m:t>
                        </m:r>
                      </m:e>
                    </m:d>
                  </m:oMath>
                </a14:m>
                <a:r>
                  <a:rPr lang="en-GB"/>
                  <a:t> on the same axes. Using your sketch, state, with a reason, the number of real solutions to the equation </a:t>
                </a:r>
                <a14:m>
                  <m:oMath xmlns:m="http://schemas.openxmlformats.org/officeDocument/2006/math">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4</m:t>
                        </m:r>
                      </m:sup>
                    </m:sSup>
                    <m:d>
                      <m:dPr>
                        <m:ctrlPr>
                          <a:rPr lang="en-GB" b="0" i="1" smtClean="0">
                            <a:latin typeface="Cambria Math" panose="02040503050406030204" pitchFamily="18" charset="0"/>
                          </a:rPr>
                        </m:ctrlPr>
                      </m:dPr>
                      <m:e>
                        <m:r>
                          <a:rPr lang="en-GB" b="0" i="1" smtClean="0">
                            <a:latin typeface="Cambria Math" panose="02040503050406030204" pitchFamily="18" charset="0"/>
                          </a:rPr>
                          <m:t>𝑥</m:t>
                        </m:r>
                        <m:r>
                          <a:rPr lang="en-GB" b="0" i="1" smtClean="0">
                            <a:latin typeface="Cambria Math" panose="02040503050406030204" pitchFamily="18" charset="0"/>
                          </a:rPr>
                          <m:t>−1</m:t>
                        </m:r>
                      </m:e>
                    </m:d>
                    <m:r>
                      <a:rPr lang="en-GB" b="0" i="1" smtClean="0">
                        <a:latin typeface="Cambria Math" panose="02040503050406030204" pitchFamily="18" charset="0"/>
                      </a:rPr>
                      <m:t>−4=0</m:t>
                    </m:r>
                  </m:oMath>
                </a14:m>
                <a:r>
                  <a:rPr lang="en-GB"/>
                  <a:t>.</a:t>
                </a:r>
              </a:p>
            </p:txBody>
          </p:sp>
        </mc:Choice>
        <mc:Fallback>
          <p:sp>
            <p:nvSpPr>
              <p:cNvPr id="10" name="TextBox 9"/>
              <p:cNvSpPr txBox="1">
                <a:spLocks noRot="1" noChangeAspect="1" noMove="1" noResize="1" noEditPoints="1" noAdjustHandles="1" noChangeArrowheads="1" noChangeShapeType="1" noTextEdit="1"/>
              </p:cNvSpPr>
              <p:nvPr/>
            </p:nvSpPr>
            <p:spPr>
              <a:xfrm>
                <a:off x="585681" y="4365104"/>
                <a:ext cx="3024336" cy="1869358"/>
              </a:xfrm>
              <a:prstGeom prst="rect">
                <a:avLst/>
              </a:prstGeom>
              <a:blipFill>
                <a:blip r:embed="rId4"/>
                <a:stretch>
                  <a:fillRect/>
                </a:stretch>
              </a:blipFill>
              <a:effectLst>
                <a:outerShdw blurRad="63500" sx="102000" sy="102000" algn="ctr" rotWithShape="0">
                  <a:prstClr val="black">
                    <a:alpha val="40000"/>
                  </a:prstClr>
                </a:outerShdw>
              </a:effectLst>
            </p:spPr>
            <p:txBody>
              <a:bodyPr/>
              <a:lstStyle/>
              <a:p>
                <a:r>
                  <a:rPr lang="en-US">
                    <a:noFill/>
                  </a:rPr>
                  <a:t> </a:t>
                </a:r>
              </a:p>
            </p:txBody>
          </p:sp>
        </mc:Fallback>
      </mc:AlternateContent>
      <p:sp>
        <p:nvSpPr>
          <p:cNvPr id="11" name="TextBox 10"/>
          <p:cNvSpPr txBox="1"/>
          <p:nvPr/>
        </p:nvSpPr>
        <p:spPr>
          <a:xfrm>
            <a:off x="585681" y="4005064"/>
            <a:ext cx="3024336" cy="369332"/>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b="1"/>
              <a:t>2</a:t>
            </a:r>
            <a:r>
              <a:rPr lang="en-GB"/>
              <a:t>: Points of Intersection</a:t>
            </a:r>
          </a:p>
        </p:txBody>
      </p:sp>
      <mc:AlternateContent xmlns:mc="http://schemas.openxmlformats.org/markup-compatibility/2006">
        <mc:Choice xmlns:a14="http://schemas.microsoft.com/office/drawing/2010/main" Requires="a14">
          <p:sp>
            <p:nvSpPr>
              <p:cNvPr id="15" name="TextBox 14"/>
              <p:cNvSpPr txBox="1"/>
              <p:nvPr/>
            </p:nvSpPr>
            <p:spPr>
              <a:xfrm>
                <a:off x="4355976" y="4355812"/>
                <a:ext cx="3096344" cy="1200329"/>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a:t>If </a:t>
                </a:r>
                <a14:m>
                  <m:oMath xmlns:m="http://schemas.openxmlformats.org/officeDocument/2006/math">
                    <m:r>
                      <a:rPr lang="en-GB" b="0" i="1" smtClean="0">
                        <a:latin typeface="Cambria Math" panose="02040503050406030204" pitchFamily="18" charset="0"/>
                      </a:rPr>
                      <m:t>𝑓</m:t>
                    </m:r>
                    <m:d>
                      <m:dPr>
                        <m:ctrlPr>
                          <a:rPr lang="en-GB" b="0" i="1" smtClean="0">
                            <a:latin typeface="Cambria Math" panose="02040503050406030204" pitchFamily="18" charset="0"/>
                          </a:rPr>
                        </m:ctrlPr>
                      </m:dPr>
                      <m:e>
                        <m:r>
                          <a:rPr lang="en-GB" b="0" i="1" smtClean="0">
                            <a:latin typeface="Cambria Math" panose="02040503050406030204" pitchFamily="18" charset="0"/>
                          </a:rPr>
                          <m:t>𝑥</m:t>
                        </m:r>
                      </m:e>
                    </m:d>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2</m:t>
                        </m:r>
                      </m:sup>
                    </m:sSup>
                    <m:r>
                      <a:rPr lang="en-GB" b="0" i="1" smtClean="0">
                        <a:latin typeface="Cambria Math" panose="02040503050406030204" pitchFamily="18" charset="0"/>
                      </a:rPr>
                      <m:t>(</m:t>
                    </m:r>
                    <m:r>
                      <a:rPr lang="en-GB" b="0" i="1" smtClean="0">
                        <a:latin typeface="Cambria Math" panose="02040503050406030204" pitchFamily="18" charset="0"/>
                      </a:rPr>
                      <m:t>𝑥</m:t>
                    </m:r>
                    <m:r>
                      <a:rPr lang="en-GB" b="0" i="1" smtClean="0">
                        <a:latin typeface="Cambria Math" panose="02040503050406030204" pitchFamily="18" charset="0"/>
                      </a:rPr>
                      <m:t>+1)</m:t>
                    </m:r>
                  </m:oMath>
                </a14:m>
                <a:r>
                  <a:rPr lang="en-GB"/>
                  <a:t>, sketch the graph of </a:t>
                </a:r>
                <a14:m>
                  <m:oMath xmlns:m="http://schemas.openxmlformats.org/officeDocument/2006/math">
                    <m:r>
                      <a:rPr lang="en-GB" b="0" i="1" smtClean="0">
                        <a:latin typeface="Cambria Math" panose="02040503050406030204" pitchFamily="18" charset="0"/>
                      </a:rPr>
                      <m:t>𝑦</m:t>
                    </m:r>
                    <m:r>
                      <a:rPr lang="en-GB" b="0" i="1" smtClean="0">
                        <a:latin typeface="Cambria Math" panose="02040503050406030204" pitchFamily="18" charset="0"/>
                      </a:rPr>
                      <m:t>=</m:t>
                    </m:r>
                    <m:r>
                      <a:rPr lang="en-GB" b="0" i="1" smtClean="0">
                        <a:latin typeface="Cambria Math" panose="02040503050406030204" pitchFamily="18" charset="0"/>
                      </a:rPr>
                      <m:t>𝑓</m:t>
                    </m:r>
                    <m:r>
                      <a:rPr lang="en-GB" b="0" i="1" smtClean="0">
                        <a:latin typeface="Cambria Math" panose="02040503050406030204" pitchFamily="18" charset="0"/>
                      </a:rPr>
                      <m:t>(</m:t>
                    </m:r>
                    <m:r>
                      <a:rPr lang="en-GB" b="0" i="1" smtClean="0">
                        <a:latin typeface="Cambria Math" panose="02040503050406030204" pitchFamily="18" charset="0"/>
                      </a:rPr>
                      <m:t>𝑥</m:t>
                    </m:r>
                    <m:r>
                      <a:rPr lang="en-GB" b="0" i="1" smtClean="0">
                        <a:latin typeface="Cambria Math" panose="02040503050406030204" pitchFamily="18" charset="0"/>
                      </a:rPr>
                      <m:t>+</m:t>
                    </m:r>
                    <m:r>
                      <a:rPr lang="en-GB" b="0" i="1" smtClean="0">
                        <a:latin typeface="Cambria Math" panose="02040503050406030204" pitchFamily="18" charset="0"/>
                      </a:rPr>
                      <m:t>𝑎</m:t>
                    </m:r>
                    <m:r>
                      <a:rPr lang="en-GB" b="0" i="1" smtClean="0">
                        <a:latin typeface="Cambria Math" panose="02040503050406030204" pitchFamily="18" charset="0"/>
                      </a:rPr>
                      <m:t>)</m:t>
                    </m:r>
                  </m:oMath>
                </a14:m>
                <a:r>
                  <a:rPr lang="en-GB"/>
                  <a:t>, indicating any intercepts with the axes.</a:t>
                </a:r>
              </a:p>
            </p:txBody>
          </p:sp>
        </mc:Choice>
        <mc:Fallback>
          <p:sp>
            <p:nvSpPr>
              <p:cNvPr id="15" name="TextBox 14"/>
              <p:cNvSpPr txBox="1">
                <a:spLocks noRot="1" noChangeAspect="1" noMove="1" noResize="1" noEditPoints="1" noAdjustHandles="1" noChangeArrowheads="1" noChangeShapeType="1" noTextEdit="1"/>
              </p:cNvSpPr>
              <p:nvPr/>
            </p:nvSpPr>
            <p:spPr>
              <a:xfrm>
                <a:off x="4355976" y="4355812"/>
                <a:ext cx="3096344" cy="1200329"/>
              </a:xfrm>
              <a:prstGeom prst="rect">
                <a:avLst/>
              </a:prstGeom>
              <a:blipFill>
                <a:blip r:embed="rId5"/>
                <a:stretch>
                  <a:fillRect b="-926"/>
                </a:stretch>
              </a:blipFill>
              <a:effectLst>
                <a:outerShdw blurRad="63500" sx="102000" sy="102000" algn="ctr" rotWithShape="0">
                  <a:prstClr val="black">
                    <a:alpha val="40000"/>
                  </a:prstClr>
                </a:outerShdw>
              </a:effectLst>
            </p:spPr>
            <p:txBody>
              <a:bodyPr/>
              <a:lstStyle/>
              <a:p>
                <a:r>
                  <a:rPr lang="en-US">
                    <a:noFill/>
                  </a:rPr>
                  <a:t> </a:t>
                </a:r>
              </a:p>
            </p:txBody>
          </p:sp>
        </mc:Fallback>
      </mc:AlternateContent>
      <p:sp>
        <p:nvSpPr>
          <p:cNvPr id="16" name="TextBox 15"/>
          <p:cNvSpPr txBox="1"/>
          <p:nvPr/>
        </p:nvSpPr>
        <p:spPr>
          <a:xfrm>
            <a:off x="4355976" y="3995772"/>
            <a:ext cx="3096344" cy="369332"/>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b="1"/>
              <a:t>3</a:t>
            </a:r>
            <a:r>
              <a:rPr lang="en-GB"/>
              <a:t>: Graph Transformations</a:t>
            </a:r>
          </a:p>
        </p:txBody>
      </p:sp>
      <p:sp>
        <p:nvSpPr>
          <p:cNvPr id="17" name="TextBox 16"/>
          <p:cNvSpPr txBox="1"/>
          <p:nvPr/>
        </p:nvSpPr>
        <p:spPr>
          <a:xfrm>
            <a:off x="3610017" y="2774911"/>
            <a:ext cx="2618167" cy="738664"/>
          </a:xfrm>
          <a:prstGeom prst="rect">
            <a:avLst/>
          </a:prstGeom>
          <a:noFill/>
        </p:spPr>
        <p:txBody>
          <a:bodyPr wrap="square" rtlCol="0">
            <a:spAutoFit/>
          </a:bodyPr>
          <a:lstStyle/>
          <a:p>
            <a:r>
              <a:rPr lang="en-GB" sz="1400" b="1"/>
              <a:t>NEW! to A Level 2017+</a:t>
            </a:r>
          </a:p>
          <a:p>
            <a:r>
              <a:rPr lang="en-GB" sz="1400"/>
              <a:t>The old A Level only included cubic graphs, not </a:t>
            </a:r>
            <a:r>
              <a:rPr lang="en-GB" sz="1400" err="1"/>
              <a:t>quartics</a:t>
            </a:r>
            <a:r>
              <a:rPr lang="en-GB" sz="1400"/>
              <a:t>.</a:t>
            </a:r>
          </a:p>
        </p:txBody>
      </p:sp>
      <mc:AlternateContent xmlns:mc="http://schemas.openxmlformats.org/markup-compatibility/2006">
        <mc:Choice xmlns:a14="http://schemas.microsoft.com/office/drawing/2010/main" Requires="a14">
          <p:sp>
            <p:nvSpPr>
              <p:cNvPr id="19" name="TextBox 18"/>
              <p:cNvSpPr txBox="1"/>
              <p:nvPr/>
            </p:nvSpPr>
            <p:spPr>
              <a:xfrm>
                <a:off x="6634353" y="1853285"/>
                <a:ext cx="2330135" cy="762516"/>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a:t>Sketch the graph with equation </a:t>
                </a:r>
                <a14:m>
                  <m:oMath xmlns:m="http://schemas.openxmlformats.org/officeDocument/2006/math">
                    <m:r>
                      <a:rPr lang="en-GB" b="0" i="1" smtClean="0">
                        <a:latin typeface="Cambria Math" panose="02040503050406030204" pitchFamily="18" charset="0"/>
                      </a:rPr>
                      <m:t>𝑦</m:t>
                    </m:r>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3</m:t>
                        </m:r>
                      </m:num>
                      <m:den>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2</m:t>
                            </m:r>
                          </m:sup>
                        </m:sSup>
                      </m:den>
                    </m:f>
                  </m:oMath>
                </a14:m>
                <a:endParaRPr lang="en-GB"/>
              </a:p>
            </p:txBody>
          </p:sp>
        </mc:Choice>
        <mc:Fallback>
          <p:sp>
            <p:nvSpPr>
              <p:cNvPr id="19" name="TextBox 18"/>
              <p:cNvSpPr txBox="1">
                <a:spLocks noRot="1" noChangeAspect="1" noMove="1" noResize="1" noEditPoints="1" noAdjustHandles="1" noChangeArrowheads="1" noChangeShapeType="1" noTextEdit="1"/>
              </p:cNvSpPr>
              <p:nvPr/>
            </p:nvSpPr>
            <p:spPr>
              <a:xfrm>
                <a:off x="6634353" y="1853285"/>
                <a:ext cx="2330135" cy="762516"/>
              </a:xfrm>
              <a:prstGeom prst="rect">
                <a:avLst/>
              </a:prstGeom>
              <a:blipFill>
                <a:blip r:embed="rId6"/>
                <a:stretch>
                  <a:fillRect/>
                </a:stretch>
              </a:blipFill>
              <a:effectLst>
                <a:outerShdw blurRad="63500" sx="102000" sy="102000" algn="ctr" rotWithShape="0">
                  <a:prstClr val="black">
                    <a:alpha val="40000"/>
                  </a:prstClr>
                </a:outerShdw>
              </a:effectLst>
            </p:spPr>
            <p:txBody>
              <a:bodyPr/>
              <a:lstStyle/>
              <a:p>
                <a:r>
                  <a:rPr lang="en-US">
                    <a:noFill/>
                  </a:rPr>
                  <a:t> </a:t>
                </a:r>
              </a:p>
            </p:txBody>
          </p:sp>
        </mc:Fallback>
      </mc:AlternateContent>
      <p:sp>
        <p:nvSpPr>
          <p:cNvPr id="20" name="TextBox 19"/>
          <p:cNvSpPr txBox="1"/>
          <p:nvPr/>
        </p:nvSpPr>
        <p:spPr>
          <a:xfrm>
            <a:off x="6634353" y="1493245"/>
            <a:ext cx="2330135" cy="369332"/>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b="1"/>
              <a:t>1c</a:t>
            </a:r>
            <a:r>
              <a:rPr lang="en-GB"/>
              <a:t>: Reciprocal Graphs</a:t>
            </a:r>
          </a:p>
        </p:txBody>
      </p:sp>
      <mc:AlternateContent xmlns:mc="http://schemas.openxmlformats.org/markup-compatibility/2006">
        <mc:Choice xmlns:a14="http://schemas.microsoft.com/office/drawing/2010/main" Requires="a14">
          <p:sp>
            <p:nvSpPr>
              <p:cNvPr id="21" name="TextBox 20"/>
              <p:cNvSpPr txBox="1"/>
              <p:nvPr/>
            </p:nvSpPr>
            <p:spPr>
              <a:xfrm>
                <a:off x="6525833" y="2774911"/>
                <a:ext cx="2618167" cy="1099788"/>
              </a:xfrm>
              <a:prstGeom prst="rect">
                <a:avLst/>
              </a:prstGeom>
              <a:noFill/>
            </p:spPr>
            <p:txBody>
              <a:bodyPr wrap="square" rtlCol="0">
                <a:spAutoFit/>
              </a:bodyPr>
              <a:lstStyle/>
              <a:p>
                <a:r>
                  <a:rPr lang="en-GB" sz="1400" b="1"/>
                  <a:t>NEW! to A Level 2017+</a:t>
                </a:r>
              </a:p>
              <a:p>
                <a:r>
                  <a:rPr lang="en-GB" sz="1400"/>
                  <a:t>In addition to graphs of the form </a:t>
                </a:r>
                <a14:m>
                  <m:oMath xmlns:m="http://schemas.openxmlformats.org/officeDocument/2006/math">
                    <m:r>
                      <a:rPr lang="en-GB" sz="1400" b="0" i="1" smtClean="0">
                        <a:latin typeface="Cambria Math" panose="02040503050406030204" pitchFamily="18" charset="0"/>
                      </a:rPr>
                      <m:t>𝑦</m:t>
                    </m:r>
                    <m:r>
                      <a:rPr lang="en-GB" sz="1400" b="0" i="1" smtClean="0">
                        <a:latin typeface="Cambria Math" panose="02040503050406030204" pitchFamily="18" charset="0"/>
                      </a:rPr>
                      <m:t>=</m:t>
                    </m:r>
                    <m:f>
                      <m:fPr>
                        <m:ctrlPr>
                          <a:rPr lang="en-GB" sz="1400" b="0" i="1" smtClean="0">
                            <a:latin typeface="Cambria Math" panose="02040503050406030204" pitchFamily="18" charset="0"/>
                          </a:rPr>
                        </m:ctrlPr>
                      </m:fPr>
                      <m:num>
                        <m:r>
                          <a:rPr lang="en-GB" sz="1400" b="0" i="1" smtClean="0">
                            <a:latin typeface="Cambria Math" panose="02040503050406030204" pitchFamily="18" charset="0"/>
                          </a:rPr>
                          <m:t>𝑎</m:t>
                        </m:r>
                      </m:num>
                      <m:den>
                        <m:r>
                          <a:rPr lang="en-GB" sz="1400" b="0" i="1" smtClean="0">
                            <a:latin typeface="Cambria Math" panose="02040503050406030204" pitchFamily="18" charset="0"/>
                          </a:rPr>
                          <m:t>𝑥</m:t>
                        </m:r>
                      </m:den>
                    </m:f>
                  </m:oMath>
                </a14:m>
                <a:r>
                  <a:rPr lang="en-GB" sz="1400"/>
                  <a:t>, you now need to recognise the sketch of </a:t>
                </a:r>
                <a14:m>
                  <m:oMath xmlns:m="http://schemas.openxmlformats.org/officeDocument/2006/math">
                    <m:r>
                      <a:rPr lang="en-GB" sz="1400" b="0" i="1" smtClean="0">
                        <a:latin typeface="Cambria Math" panose="02040503050406030204" pitchFamily="18" charset="0"/>
                      </a:rPr>
                      <m:t>𝑦</m:t>
                    </m:r>
                    <m:r>
                      <a:rPr lang="en-GB" sz="1400" b="0" i="1" smtClean="0">
                        <a:latin typeface="Cambria Math" panose="02040503050406030204" pitchFamily="18" charset="0"/>
                      </a:rPr>
                      <m:t>=</m:t>
                    </m:r>
                    <m:f>
                      <m:fPr>
                        <m:ctrlPr>
                          <a:rPr lang="en-GB" sz="1400" b="0" i="1" smtClean="0">
                            <a:latin typeface="Cambria Math" panose="02040503050406030204" pitchFamily="18" charset="0"/>
                          </a:rPr>
                        </m:ctrlPr>
                      </m:fPr>
                      <m:num>
                        <m:r>
                          <a:rPr lang="en-GB" sz="1400" b="0" i="1" smtClean="0">
                            <a:latin typeface="Cambria Math" panose="02040503050406030204" pitchFamily="18" charset="0"/>
                          </a:rPr>
                          <m:t>𝑎</m:t>
                        </m:r>
                      </m:num>
                      <m:den>
                        <m:sSup>
                          <m:sSupPr>
                            <m:ctrlPr>
                              <a:rPr lang="en-GB" sz="1400" b="0" i="1" smtClean="0">
                                <a:latin typeface="Cambria Math" panose="02040503050406030204" pitchFamily="18" charset="0"/>
                              </a:rPr>
                            </m:ctrlPr>
                          </m:sSupPr>
                          <m:e>
                            <m:r>
                              <a:rPr lang="en-GB" sz="1400" b="0" i="1" smtClean="0">
                                <a:latin typeface="Cambria Math" panose="02040503050406030204" pitchFamily="18" charset="0"/>
                              </a:rPr>
                              <m:t>𝑥</m:t>
                            </m:r>
                          </m:e>
                          <m:sup>
                            <m:r>
                              <a:rPr lang="en-GB" sz="1400" b="0" i="1" smtClean="0">
                                <a:latin typeface="Cambria Math" panose="02040503050406030204" pitchFamily="18" charset="0"/>
                              </a:rPr>
                              <m:t>2</m:t>
                            </m:r>
                          </m:sup>
                        </m:sSup>
                      </m:den>
                    </m:f>
                  </m:oMath>
                </a14:m>
                <a:endParaRPr lang="en-GB" sz="1400"/>
              </a:p>
            </p:txBody>
          </p:sp>
        </mc:Choice>
        <mc:Fallback>
          <p:sp>
            <p:nvSpPr>
              <p:cNvPr id="21" name="TextBox 20"/>
              <p:cNvSpPr txBox="1">
                <a:spLocks noRot="1" noChangeAspect="1" noMove="1" noResize="1" noEditPoints="1" noAdjustHandles="1" noChangeArrowheads="1" noChangeShapeType="1" noTextEdit="1"/>
              </p:cNvSpPr>
              <p:nvPr/>
            </p:nvSpPr>
            <p:spPr>
              <a:xfrm>
                <a:off x="6525833" y="2774911"/>
                <a:ext cx="2618167" cy="1099788"/>
              </a:xfrm>
              <a:prstGeom prst="rect">
                <a:avLst/>
              </a:prstGeom>
              <a:blipFill>
                <a:blip r:embed="rId7"/>
                <a:stretch>
                  <a:fillRect l="-971" t="-1136"/>
                </a:stretch>
              </a:blipFill>
            </p:spPr>
            <p:txBody>
              <a:bodyPr/>
              <a:lstStyle/>
              <a:p>
                <a:r>
                  <a:rPr lang="en-US">
                    <a:noFill/>
                  </a:rPr>
                  <a:t> </a:t>
                </a:r>
              </a:p>
            </p:txBody>
          </p:sp>
        </mc:Fallback>
      </mc:AlternateContent>
      <p:sp>
        <p:nvSpPr>
          <p:cNvPr id="22" name="TextBox 21"/>
          <p:cNvSpPr txBox="1"/>
          <p:nvPr/>
        </p:nvSpPr>
        <p:spPr>
          <a:xfrm>
            <a:off x="4391980" y="5596121"/>
            <a:ext cx="3204356" cy="738664"/>
          </a:xfrm>
          <a:prstGeom prst="rect">
            <a:avLst/>
          </a:prstGeom>
          <a:noFill/>
        </p:spPr>
        <p:txBody>
          <a:bodyPr wrap="square" rtlCol="0">
            <a:spAutoFit/>
          </a:bodyPr>
          <a:lstStyle/>
          <a:p>
            <a:r>
              <a:rPr lang="en-GB" sz="1400" b="1"/>
              <a:t>NEW! since GCSE</a:t>
            </a:r>
          </a:p>
          <a:p>
            <a:r>
              <a:rPr lang="en-GB" sz="1400"/>
              <a:t>The GCSE 2015+ syllabus included translations of graphs but not stretches.</a:t>
            </a:r>
          </a:p>
        </p:txBody>
      </p:sp>
      <p:sp>
        <p:nvSpPr>
          <p:cNvPr id="12" name="TextBox 32">
            <a:extLst>
              <a:ext uri="{FF2B5EF4-FFF2-40B4-BE49-F238E27FC236}">
                <a16:creationId xmlns:a16="http://schemas.microsoft.com/office/drawing/2014/main" id="{1DD12A0C-8451-A009-ADFD-A886D991CDF9}"/>
              </a:ext>
            </a:extLst>
          </p:cNvPr>
          <p:cNvSpPr txBox="1"/>
          <p:nvPr/>
        </p:nvSpPr>
        <p:spPr>
          <a:xfrm>
            <a:off x="0" y="0"/>
            <a:ext cx="9142856"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vert="horz" wrap="square" lIns="324000" tIns="45720" rIns="91440" bIns="45720" rtlCol="0" anchor="ctr">
            <a:spAutoFit/>
          </a:bodyPr>
          <a:lstStyle>
            <a:defPPr>
              <a:defRPr lang="en-US"/>
            </a:defPPr>
            <a:lvl1pPr>
              <a:spcBef>
                <a:spcPct val="0"/>
              </a:spcBef>
              <a:buNone/>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a:t>Chapter Overview</a:t>
            </a:r>
          </a:p>
        </p:txBody>
      </p:sp>
    </p:spTree>
    <p:extLst>
      <p:ext uri="{BB962C8B-B14F-4D97-AF65-F5344CB8AC3E}">
        <p14:creationId xmlns:p14="http://schemas.microsoft.com/office/powerpoint/2010/main" val="38080514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vert="horz" wrap="square" lIns="324000" tIns="45720" rIns="91440" bIns="45720" rtlCol="0" anchor="ctr">
              <a:spAutoFit/>
            </a:bodyPr>
            <a:lstStyle>
              <a:defPPr>
                <a:defRPr lang="en-US"/>
              </a:defPPr>
              <a:lvl1pPr>
                <a:spcBef>
                  <a:spcPct val="0"/>
                </a:spcBef>
                <a:buNone/>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a:t>Polynomial Graphs</a:t>
              </a:r>
            </a:p>
          </p:txBody>
        </p:sp>
        <p:cxnSp>
          <p:nvCxnSpPr>
            <p:cNvPr id="4" name="Straight Connector 3"/>
            <p:cNvCxnSpPr/>
            <p:nvPr/>
          </p:nvCxnSpPr>
          <p:spPr>
            <a:xfrm>
              <a:off x="218" y="601079"/>
              <a:ext cx="9144000" cy="0"/>
            </a:xfrm>
            <a:prstGeom prst="line">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mc:Choice xmlns:a14="http://schemas.microsoft.com/office/drawing/2010/main" Requires="a14">
          <p:sp>
            <p:nvSpPr>
              <p:cNvPr id="5" name="TextBox 4"/>
              <p:cNvSpPr txBox="1"/>
              <p:nvPr/>
            </p:nvSpPr>
            <p:spPr>
              <a:xfrm>
                <a:off x="467544" y="836712"/>
                <a:ext cx="6912768" cy="1569660"/>
              </a:xfrm>
              <a:prstGeom prst="rect">
                <a:avLst/>
              </a:prstGeom>
              <a:noFill/>
            </p:spPr>
            <p:txBody>
              <a:bodyPr wrap="square" rtlCol="0">
                <a:spAutoFit/>
              </a:bodyPr>
              <a:lstStyle/>
              <a:p>
                <a:r>
                  <a:rPr lang="en-GB"/>
                  <a:t>In Chapter 2 we briefly saw that a </a:t>
                </a:r>
                <a:r>
                  <a:rPr lang="en-GB" b="1"/>
                  <a:t>polynomial</a:t>
                </a:r>
                <a:r>
                  <a:rPr lang="en-GB"/>
                  <a:t> expression is of the form:</a:t>
                </a:r>
              </a:p>
              <a:p>
                <a:pPr/>
                <a14:m>
                  <m:oMathPara xmlns:m="http://schemas.openxmlformats.org/officeDocument/2006/math">
                    <m:oMath>
                      <m:r>
                        <a:rPr lang="en-GB" sz="2400" b="0" i="1" smtClean="0">
                          <a:latin typeface="Cambria Math" panose="02040503050406030204" pitchFamily="18" charset="0"/>
                        </a:rPr>
                        <m:t>𝑎</m:t>
                      </m:r>
                      <m:r>
                        <a:rPr lang="en-GB" sz="2400" b="0" i="1" smtClean="0">
                          <a:latin typeface="Cambria Math" panose="02040503050406030204" pitchFamily="18" charset="0"/>
                        </a:rPr>
                        <m:t>+</m:t>
                      </m:r>
                      <m:r>
                        <a:rPr lang="en-GB" sz="2400" b="0" i="1" smtClean="0">
                          <a:latin typeface="Cambria Math" panose="02040503050406030204" pitchFamily="18" charset="0"/>
                        </a:rPr>
                        <m:t>𝑏𝑥</m:t>
                      </m:r>
                      <m:r>
                        <a:rPr lang="en-GB" sz="2400" b="0" i="1" smtClean="0">
                          <a:latin typeface="Cambria Math" panose="02040503050406030204" pitchFamily="18" charset="0"/>
                        </a:rPr>
                        <m:t>+</m:t>
                      </m:r>
                      <m:r>
                        <a:rPr lang="en-GB" sz="2400" b="0" i="1" smtClean="0">
                          <a:latin typeface="Cambria Math" panose="02040503050406030204" pitchFamily="18" charset="0"/>
                        </a:rPr>
                        <m:t>𝑐</m:t>
                      </m:r>
                      <m:sSup>
                        <m:sSupPr>
                          <m:ctrlPr>
                            <a:rPr lang="en-GB" sz="2400" b="0" i="1" smtClean="0">
                              <a:latin typeface="Cambria Math" panose="02040503050406030204" pitchFamily="18" charset="0"/>
                            </a:rPr>
                          </m:ctrlPr>
                        </m:sSupPr>
                        <m:e>
                          <m:r>
                            <a:rPr lang="en-GB" sz="2400" b="0" i="1" smtClean="0">
                              <a:latin typeface="Cambria Math" panose="02040503050406030204" pitchFamily="18" charset="0"/>
                            </a:rPr>
                            <m:t>𝑥</m:t>
                          </m:r>
                        </m:e>
                        <m:sup>
                          <m:r>
                            <a:rPr lang="en-GB" sz="2400" b="0" i="1" smtClean="0">
                              <a:latin typeface="Cambria Math" panose="02040503050406030204" pitchFamily="18" charset="0"/>
                            </a:rPr>
                            <m:t>2</m:t>
                          </m:r>
                        </m:sup>
                      </m:sSup>
                      <m:r>
                        <a:rPr lang="en-GB" sz="2400" b="0" i="1" smtClean="0">
                          <a:latin typeface="Cambria Math" panose="02040503050406030204" pitchFamily="18" charset="0"/>
                        </a:rPr>
                        <m:t>+</m:t>
                      </m:r>
                      <m:r>
                        <a:rPr lang="en-GB" sz="2400" b="0" i="1" smtClean="0">
                          <a:latin typeface="Cambria Math" panose="02040503050406030204" pitchFamily="18" charset="0"/>
                        </a:rPr>
                        <m:t>𝑑</m:t>
                      </m:r>
                      <m:sSup>
                        <m:sSupPr>
                          <m:ctrlPr>
                            <a:rPr lang="en-GB" sz="2400" b="0" i="1" smtClean="0">
                              <a:latin typeface="Cambria Math" panose="02040503050406030204" pitchFamily="18" charset="0"/>
                            </a:rPr>
                          </m:ctrlPr>
                        </m:sSupPr>
                        <m:e>
                          <m:r>
                            <a:rPr lang="en-GB" sz="2400" b="0" i="1" smtClean="0">
                              <a:latin typeface="Cambria Math" panose="02040503050406030204" pitchFamily="18" charset="0"/>
                            </a:rPr>
                            <m:t>𝑥</m:t>
                          </m:r>
                        </m:e>
                        <m:sup>
                          <m:r>
                            <a:rPr lang="en-GB" sz="2400" b="0" i="1" smtClean="0">
                              <a:latin typeface="Cambria Math" panose="02040503050406030204" pitchFamily="18" charset="0"/>
                            </a:rPr>
                            <m:t>3</m:t>
                          </m:r>
                        </m:sup>
                      </m:sSup>
                      <m:r>
                        <a:rPr lang="en-GB" sz="2400" b="0" i="1" smtClean="0">
                          <a:latin typeface="Cambria Math" panose="02040503050406030204" pitchFamily="18" charset="0"/>
                        </a:rPr>
                        <m:t>+</m:t>
                      </m:r>
                      <m:r>
                        <a:rPr lang="en-GB" sz="2400" b="0" i="1" smtClean="0">
                          <a:latin typeface="Cambria Math" panose="02040503050406030204" pitchFamily="18" charset="0"/>
                        </a:rPr>
                        <m:t>𝑒</m:t>
                      </m:r>
                      <m:sSup>
                        <m:sSupPr>
                          <m:ctrlPr>
                            <a:rPr lang="en-GB" sz="2400" b="0" i="1" smtClean="0">
                              <a:latin typeface="Cambria Math" panose="02040503050406030204" pitchFamily="18" charset="0"/>
                            </a:rPr>
                          </m:ctrlPr>
                        </m:sSupPr>
                        <m:e>
                          <m:r>
                            <a:rPr lang="en-GB" sz="2400" b="0" i="1" smtClean="0">
                              <a:latin typeface="Cambria Math" panose="02040503050406030204" pitchFamily="18" charset="0"/>
                            </a:rPr>
                            <m:t>𝑥</m:t>
                          </m:r>
                        </m:e>
                        <m:sup>
                          <m:r>
                            <a:rPr lang="en-GB" sz="2400" b="0" i="1" smtClean="0">
                              <a:latin typeface="Cambria Math" panose="02040503050406030204" pitchFamily="18" charset="0"/>
                            </a:rPr>
                            <m:t>3</m:t>
                          </m:r>
                        </m:sup>
                      </m:sSup>
                      <m:r>
                        <a:rPr lang="en-GB" sz="2400" b="0" i="1" smtClean="0">
                          <a:latin typeface="Cambria Math" panose="02040503050406030204" pitchFamily="18" charset="0"/>
                        </a:rPr>
                        <m:t>+…</m:t>
                      </m:r>
                    </m:oMath>
                  </m:oMathPara>
                </a14:m>
                <a:endParaRPr lang="en-GB" sz="2400"/>
              </a:p>
              <a:p>
                <a:r>
                  <a:rPr lang="en-GB"/>
                  <a:t>where </a:t>
                </a:r>
                <a14:m>
                  <m:oMath xmlns:m="http://schemas.openxmlformats.org/officeDocument/2006/math">
                    <m:r>
                      <a:rPr lang="en-GB" b="0" i="1" smtClean="0">
                        <a:latin typeface="Cambria Math" panose="02040503050406030204" pitchFamily="18" charset="0"/>
                      </a:rPr>
                      <m:t>𝑎</m:t>
                    </m:r>
                    <m:r>
                      <a:rPr lang="en-GB" b="0" i="1" smtClean="0">
                        <a:latin typeface="Cambria Math" panose="02040503050406030204" pitchFamily="18" charset="0"/>
                      </a:rPr>
                      <m:t>,</m:t>
                    </m:r>
                    <m:r>
                      <a:rPr lang="en-GB" b="0" i="1" smtClean="0">
                        <a:latin typeface="Cambria Math" panose="02040503050406030204" pitchFamily="18" charset="0"/>
                      </a:rPr>
                      <m:t>𝑏</m:t>
                    </m:r>
                    <m:r>
                      <a:rPr lang="en-GB" b="0" i="1" smtClean="0">
                        <a:latin typeface="Cambria Math" panose="02040503050406030204" pitchFamily="18" charset="0"/>
                      </a:rPr>
                      <m:t>,</m:t>
                    </m:r>
                    <m:r>
                      <a:rPr lang="en-GB" b="0" i="1" smtClean="0">
                        <a:latin typeface="Cambria Math" panose="02040503050406030204" pitchFamily="18" charset="0"/>
                      </a:rPr>
                      <m:t>𝑐</m:t>
                    </m:r>
                    <m:r>
                      <a:rPr lang="en-GB" b="0" i="1" smtClean="0">
                        <a:latin typeface="Cambria Math" panose="02040503050406030204" pitchFamily="18" charset="0"/>
                      </a:rPr>
                      <m:t>,</m:t>
                    </m:r>
                    <m:r>
                      <a:rPr lang="en-GB" b="0" i="1" smtClean="0">
                        <a:latin typeface="Cambria Math" panose="02040503050406030204" pitchFamily="18" charset="0"/>
                      </a:rPr>
                      <m:t>𝑑</m:t>
                    </m:r>
                    <m:r>
                      <a:rPr lang="en-GB" b="0" i="1" smtClean="0">
                        <a:latin typeface="Cambria Math" panose="02040503050406030204" pitchFamily="18" charset="0"/>
                      </a:rPr>
                      <m:t>,</m:t>
                    </m:r>
                    <m:r>
                      <a:rPr lang="en-GB" b="0" i="1" smtClean="0">
                        <a:latin typeface="Cambria Math" panose="02040503050406030204" pitchFamily="18" charset="0"/>
                      </a:rPr>
                      <m:t>𝑒</m:t>
                    </m:r>
                    <m:r>
                      <a:rPr lang="en-GB" b="0" i="1" smtClean="0">
                        <a:latin typeface="Cambria Math" panose="02040503050406030204" pitchFamily="18" charset="0"/>
                      </a:rPr>
                      <m:t>,…</m:t>
                    </m:r>
                  </m:oMath>
                </a14:m>
                <a:r>
                  <a:rPr lang="en-GB"/>
                  <a:t> are constants (which could be 0).</a:t>
                </a:r>
              </a:p>
              <a:p>
                <a:endParaRPr lang="en-GB"/>
              </a:p>
              <a:p>
                <a:r>
                  <a:rPr lang="en-GB"/>
                  <a:t>The </a:t>
                </a:r>
                <a:r>
                  <a:rPr lang="en-GB" b="1"/>
                  <a:t>order</a:t>
                </a:r>
                <a:r>
                  <a:rPr lang="en-GB"/>
                  <a:t> of a polynomial is its highest power.</a:t>
                </a:r>
              </a:p>
            </p:txBody>
          </p:sp>
        </mc:Choice>
        <mc:Fallback>
          <p:sp>
            <p:nvSpPr>
              <p:cNvPr id="5" name="TextBox 4"/>
              <p:cNvSpPr txBox="1">
                <a:spLocks noRot="1" noChangeAspect="1" noMove="1" noResize="1" noEditPoints="1" noAdjustHandles="1" noChangeArrowheads="1" noChangeShapeType="1" noTextEdit="1"/>
              </p:cNvSpPr>
              <p:nvPr/>
            </p:nvSpPr>
            <p:spPr>
              <a:xfrm>
                <a:off x="467544" y="836712"/>
                <a:ext cx="6912768" cy="1569660"/>
              </a:xfrm>
              <a:prstGeom prst="rect">
                <a:avLst/>
              </a:prstGeom>
              <a:blipFill>
                <a:blip r:embed="rId2"/>
                <a:stretch>
                  <a:fillRect l="-733" t="-1600" b="-48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graphicFrame>
            <p:nvGraphicFramePr>
              <p:cNvPr id="6" name="Table 5"/>
              <p:cNvGraphicFramePr>
                <a:graphicFrameLocks noGrp="1"/>
              </p:cNvGraphicFramePr>
              <p:nvPr>
                <p:extLst>
                  <p:ext uri="{D42A27DB-BD31-4B8C-83A1-F6EECF244321}">
                    <p14:modId xmlns:p14="http://schemas.microsoft.com/office/powerpoint/2010/main" val="1921244356"/>
                  </p:ext>
                </p:extLst>
              </p:nvPr>
            </p:nvGraphicFramePr>
            <p:xfrm>
              <a:off x="2555776" y="3140968"/>
              <a:ext cx="3696644" cy="2595880"/>
            </p:xfrm>
            <a:graphic>
              <a:graphicData uri="http://schemas.openxmlformats.org/drawingml/2006/table">
                <a:tbl>
                  <a:tblPr firstRow="1" bandRow="1">
                    <a:tableStyleId>{073A0DAA-6AF3-43AB-8588-CEC1D06C72B9}</a:tableStyleId>
                  </a:tblPr>
                  <a:tblGrid>
                    <a:gridCol w="1032348">
                      <a:extLst>
                        <a:ext uri="{9D8B030D-6E8A-4147-A177-3AD203B41FA5}">
                          <a16:colId xmlns:a16="http://schemas.microsoft.com/office/drawing/2014/main" val="1324943514"/>
                        </a:ext>
                      </a:extLst>
                    </a:gridCol>
                    <a:gridCol w="2664296">
                      <a:extLst>
                        <a:ext uri="{9D8B030D-6E8A-4147-A177-3AD203B41FA5}">
                          <a16:colId xmlns:a16="http://schemas.microsoft.com/office/drawing/2014/main" val="4096485173"/>
                        </a:ext>
                      </a:extLst>
                    </a:gridCol>
                  </a:tblGrid>
                  <a:tr h="370840">
                    <a:tc>
                      <a:txBody>
                        <a:bodyPr/>
                        <a:lstStyle/>
                        <a:p>
                          <a:r>
                            <a:rPr lang="en-GB"/>
                            <a:t>Order</a:t>
                          </a:r>
                        </a:p>
                      </a:txBody>
                      <a:tcPr/>
                    </a:tc>
                    <a:tc>
                      <a:txBody>
                        <a:bodyPr/>
                        <a:lstStyle/>
                        <a:p>
                          <a:r>
                            <a:rPr lang="en-GB"/>
                            <a:t>Name</a:t>
                          </a:r>
                        </a:p>
                      </a:txBody>
                      <a:tcPr/>
                    </a:tc>
                    <a:extLst>
                      <a:ext uri="{0D108BD9-81ED-4DB2-BD59-A6C34878D82A}">
                        <a16:rowId xmlns:a16="http://schemas.microsoft.com/office/drawing/2014/main" val="3183811607"/>
                      </a:ext>
                    </a:extLst>
                  </a:tr>
                  <a:tr h="370840">
                    <a:tc>
                      <a:txBody>
                        <a:bodyPr/>
                        <a:lstStyle/>
                        <a:p>
                          <a:r>
                            <a:rPr lang="en-GB"/>
                            <a:t>0</a:t>
                          </a:r>
                        </a:p>
                      </a:txBody>
                      <a:tcPr/>
                    </a:tc>
                    <a:tc>
                      <a:txBody>
                        <a:bodyPr/>
                        <a:lstStyle/>
                        <a:p>
                          <a:r>
                            <a:rPr lang="en-GB"/>
                            <a:t>Constant (e.g. “4”)</a:t>
                          </a:r>
                        </a:p>
                      </a:txBody>
                      <a:tcPr/>
                    </a:tc>
                    <a:extLst>
                      <a:ext uri="{0D108BD9-81ED-4DB2-BD59-A6C34878D82A}">
                        <a16:rowId xmlns:a16="http://schemas.microsoft.com/office/drawing/2014/main" val="3816454109"/>
                      </a:ext>
                    </a:extLst>
                  </a:tr>
                  <a:tr h="370840">
                    <a:tc>
                      <a:txBody>
                        <a:bodyPr/>
                        <a:lstStyle/>
                        <a:p>
                          <a:r>
                            <a:rPr lang="en-GB"/>
                            <a:t>1</a:t>
                          </a:r>
                        </a:p>
                      </a:txBody>
                      <a:tcPr/>
                    </a:tc>
                    <a:tc>
                      <a:txBody>
                        <a:bodyPr/>
                        <a:lstStyle/>
                        <a:p>
                          <a:r>
                            <a:rPr lang="en-GB"/>
                            <a:t>Linear (e.g. “</a:t>
                          </a:r>
                          <a14:m>
                            <m:oMath xmlns:m="http://schemas.openxmlformats.org/officeDocument/2006/math">
                              <m:r>
                                <a:rPr lang="en-GB" b="0" i="1" smtClean="0">
                                  <a:latin typeface="Cambria Math" panose="02040503050406030204" pitchFamily="18" charset="0"/>
                                </a:rPr>
                                <m:t>2</m:t>
                              </m:r>
                              <m:r>
                                <a:rPr lang="en-GB" b="0" i="1" smtClean="0">
                                  <a:latin typeface="Cambria Math" panose="02040503050406030204" pitchFamily="18" charset="0"/>
                                </a:rPr>
                                <m:t>𝑥</m:t>
                              </m:r>
                              <m:r>
                                <a:rPr lang="en-GB" b="0" i="1" smtClean="0">
                                  <a:latin typeface="Cambria Math" panose="02040503050406030204" pitchFamily="18" charset="0"/>
                                </a:rPr>
                                <m:t>−1</m:t>
                              </m:r>
                            </m:oMath>
                          </a14:m>
                          <a:r>
                            <a:rPr lang="en-GB"/>
                            <a:t>”)</a:t>
                          </a:r>
                        </a:p>
                      </a:txBody>
                      <a:tcPr/>
                    </a:tc>
                    <a:extLst>
                      <a:ext uri="{0D108BD9-81ED-4DB2-BD59-A6C34878D82A}">
                        <a16:rowId xmlns:a16="http://schemas.microsoft.com/office/drawing/2014/main" val="1034427958"/>
                      </a:ext>
                    </a:extLst>
                  </a:tr>
                  <a:tr h="370840">
                    <a:tc>
                      <a:txBody>
                        <a:bodyPr/>
                        <a:lstStyle/>
                        <a:p>
                          <a:r>
                            <a:rPr lang="en-GB"/>
                            <a:t>2</a:t>
                          </a:r>
                        </a:p>
                      </a:txBody>
                      <a:tcPr/>
                    </a:tc>
                    <a:tc>
                      <a:txBody>
                        <a:bodyPr/>
                        <a:lstStyle/>
                        <a:p>
                          <a:r>
                            <a:rPr lang="en-GB"/>
                            <a:t>Quadratic (e.g. “</a:t>
                          </a:r>
                          <a14:m>
                            <m:oMath xmlns:m="http://schemas.openxmlformats.org/officeDocument/2006/math">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2</m:t>
                                  </m:r>
                                </m:sup>
                              </m:sSup>
                              <m:r>
                                <a:rPr lang="en-GB" b="0" i="1" smtClean="0">
                                  <a:latin typeface="Cambria Math" panose="02040503050406030204" pitchFamily="18" charset="0"/>
                                </a:rPr>
                                <m:t>+3</m:t>
                              </m:r>
                            </m:oMath>
                          </a14:m>
                          <a:r>
                            <a:rPr lang="en-GB"/>
                            <a:t>”)</a:t>
                          </a:r>
                        </a:p>
                      </a:txBody>
                      <a:tcPr/>
                    </a:tc>
                    <a:extLst>
                      <a:ext uri="{0D108BD9-81ED-4DB2-BD59-A6C34878D82A}">
                        <a16:rowId xmlns:a16="http://schemas.microsoft.com/office/drawing/2014/main" val="4022585721"/>
                      </a:ext>
                    </a:extLst>
                  </a:tr>
                  <a:tr h="370840">
                    <a:tc>
                      <a:txBody>
                        <a:bodyPr/>
                        <a:lstStyle/>
                        <a:p>
                          <a:r>
                            <a:rPr lang="en-GB"/>
                            <a:t>3</a:t>
                          </a:r>
                        </a:p>
                      </a:txBody>
                      <a:tcPr/>
                    </a:tc>
                    <a:tc>
                      <a:txBody>
                        <a:bodyPr/>
                        <a:lstStyle/>
                        <a:p>
                          <a:r>
                            <a:rPr lang="en-GB"/>
                            <a:t>Cubic</a:t>
                          </a:r>
                        </a:p>
                      </a:txBody>
                      <a:tcPr/>
                    </a:tc>
                    <a:extLst>
                      <a:ext uri="{0D108BD9-81ED-4DB2-BD59-A6C34878D82A}">
                        <a16:rowId xmlns:a16="http://schemas.microsoft.com/office/drawing/2014/main" val="1578202632"/>
                      </a:ext>
                    </a:extLst>
                  </a:tr>
                  <a:tr h="370840">
                    <a:tc>
                      <a:txBody>
                        <a:bodyPr/>
                        <a:lstStyle/>
                        <a:p>
                          <a:r>
                            <a:rPr lang="en-GB"/>
                            <a:t>4</a:t>
                          </a:r>
                        </a:p>
                      </a:txBody>
                      <a:tcPr/>
                    </a:tc>
                    <a:tc>
                      <a:txBody>
                        <a:bodyPr/>
                        <a:lstStyle/>
                        <a:p>
                          <a:r>
                            <a:rPr lang="en-GB"/>
                            <a:t>Quartic</a:t>
                          </a:r>
                        </a:p>
                      </a:txBody>
                      <a:tcPr/>
                    </a:tc>
                    <a:extLst>
                      <a:ext uri="{0D108BD9-81ED-4DB2-BD59-A6C34878D82A}">
                        <a16:rowId xmlns:a16="http://schemas.microsoft.com/office/drawing/2014/main" val="1657921537"/>
                      </a:ext>
                    </a:extLst>
                  </a:tr>
                  <a:tr h="370840">
                    <a:tc>
                      <a:txBody>
                        <a:bodyPr/>
                        <a:lstStyle/>
                        <a:p>
                          <a:r>
                            <a:rPr lang="en-GB"/>
                            <a:t>5</a:t>
                          </a:r>
                        </a:p>
                      </a:txBody>
                      <a:tcPr/>
                    </a:tc>
                    <a:tc>
                      <a:txBody>
                        <a:bodyPr/>
                        <a:lstStyle/>
                        <a:p>
                          <a:r>
                            <a:rPr lang="en-GB" err="1"/>
                            <a:t>Quintic</a:t>
                          </a:r>
                          <a:endParaRPr lang="en-GB"/>
                        </a:p>
                      </a:txBody>
                      <a:tcPr/>
                    </a:tc>
                    <a:extLst>
                      <a:ext uri="{0D108BD9-81ED-4DB2-BD59-A6C34878D82A}">
                        <a16:rowId xmlns:a16="http://schemas.microsoft.com/office/drawing/2014/main" val="1880083474"/>
                      </a:ext>
                    </a:extLst>
                  </a:tr>
                </a:tbl>
              </a:graphicData>
            </a:graphic>
          </p:graphicFrame>
        </mc:Choice>
        <mc:Fallback>
          <p:graphicFrame>
            <p:nvGraphicFramePr>
              <p:cNvPr id="6" name="Table 5"/>
              <p:cNvGraphicFramePr>
                <a:graphicFrameLocks noGrp="1"/>
              </p:cNvGraphicFramePr>
              <p:nvPr>
                <p:extLst>
                  <p:ext uri="{D42A27DB-BD31-4B8C-83A1-F6EECF244321}">
                    <p14:modId xmlns:p14="http://schemas.microsoft.com/office/powerpoint/2010/main" val="1921244356"/>
                  </p:ext>
                </p:extLst>
              </p:nvPr>
            </p:nvGraphicFramePr>
            <p:xfrm>
              <a:off x="2555776" y="3140968"/>
              <a:ext cx="3696644" cy="2595880"/>
            </p:xfrm>
            <a:graphic>
              <a:graphicData uri="http://schemas.openxmlformats.org/drawingml/2006/table">
                <a:tbl>
                  <a:tblPr firstRow="1" bandRow="1">
                    <a:tableStyleId>{073A0DAA-6AF3-43AB-8588-CEC1D06C72B9}</a:tableStyleId>
                  </a:tblPr>
                  <a:tblGrid>
                    <a:gridCol w="1032348">
                      <a:extLst>
                        <a:ext uri="{9D8B030D-6E8A-4147-A177-3AD203B41FA5}">
                          <a16:colId xmlns:a16="http://schemas.microsoft.com/office/drawing/2014/main" val="1324943514"/>
                        </a:ext>
                      </a:extLst>
                    </a:gridCol>
                    <a:gridCol w="2664296">
                      <a:extLst>
                        <a:ext uri="{9D8B030D-6E8A-4147-A177-3AD203B41FA5}">
                          <a16:colId xmlns:a16="http://schemas.microsoft.com/office/drawing/2014/main" val="4096485173"/>
                        </a:ext>
                      </a:extLst>
                    </a:gridCol>
                  </a:tblGrid>
                  <a:tr h="370840">
                    <a:tc>
                      <a:txBody>
                        <a:bodyPr/>
                        <a:lstStyle/>
                        <a:p>
                          <a:r>
                            <a:rPr lang="en-GB"/>
                            <a:t>Order</a:t>
                          </a:r>
                        </a:p>
                      </a:txBody>
                      <a:tcPr/>
                    </a:tc>
                    <a:tc>
                      <a:txBody>
                        <a:bodyPr/>
                        <a:lstStyle/>
                        <a:p>
                          <a:r>
                            <a:rPr lang="en-GB"/>
                            <a:t>Name</a:t>
                          </a:r>
                        </a:p>
                      </a:txBody>
                      <a:tcPr/>
                    </a:tc>
                    <a:extLst>
                      <a:ext uri="{0D108BD9-81ED-4DB2-BD59-A6C34878D82A}">
                        <a16:rowId xmlns:a16="http://schemas.microsoft.com/office/drawing/2014/main" val="3183811607"/>
                      </a:ext>
                    </a:extLst>
                  </a:tr>
                  <a:tr h="370840">
                    <a:tc>
                      <a:txBody>
                        <a:bodyPr/>
                        <a:lstStyle/>
                        <a:p>
                          <a:r>
                            <a:rPr lang="en-GB"/>
                            <a:t>0</a:t>
                          </a:r>
                        </a:p>
                      </a:txBody>
                      <a:tcPr/>
                    </a:tc>
                    <a:tc>
                      <a:txBody>
                        <a:bodyPr/>
                        <a:lstStyle/>
                        <a:p>
                          <a:r>
                            <a:rPr lang="en-GB"/>
                            <a:t>Constant (e.g. “4”)</a:t>
                          </a:r>
                        </a:p>
                      </a:txBody>
                      <a:tcPr/>
                    </a:tc>
                    <a:extLst>
                      <a:ext uri="{0D108BD9-81ED-4DB2-BD59-A6C34878D82A}">
                        <a16:rowId xmlns:a16="http://schemas.microsoft.com/office/drawing/2014/main" val="3816454109"/>
                      </a:ext>
                    </a:extLst>
                  </a:tr>
                  <a:tr h="370840">
                    <a:tc>
                      <a:txBody>
                        <a:bodyPr/>
                        <a:lstStyle/>
                        <a:p>
                          <a:r>
                            <a:rPr lang="en-GB"/>
                            <a:t>1</a:t>
                          </a:r>
                        </a:p>
                      </a:txBody>
                      <a:tcPr/>
                    </a:tc>
                    <a:tc>
                      <a:txBody>
                        <a:bodyPr/>
                        <a:lstStyle/>
                        <a:p>
                          <a:endParaRPr lang="en-US"/>
                        </a:p>
                      </a:txBody>
                      <a:tcPr>
                        <a:blipFill>
                          <a:blip r:embed="rId3"/>
                          <a:stretch>
                            <a:fillRect l="-39524" t="-210345" r="-952" b="-420690"/>
                          </a:stretch>
                        </a:blipFill>
                      </a:tcPr>
                    </a:tc>
                    <a:extLst>
                      <a:ext uri="{0D108BD9-81ED-4DB2-BD59-A6C34878D82A}">
                        <a16:rowId xmlns:a16="http://schemas.microsoft.com/office/drawing/2014/main" val="1034427958"/>
                      </a:ext>
                    </a:extLst>
                  </a:tr>
                  <a:tr h="370840">
                    <a:tc>
                      <a:txBody>
                        <a:bodyPr/>
                        <a:lstStyle/>
                        <a:p>
                          <a:r>
                            <a:rPr lang="en-GB"/>
                            <a:t>2</a:t>
                          </a:r>
                        </a:p>
                      </a:txBody>
                      <a:tcPr/>
                    </a:tc>
                    <a:tc>
                      <a:txBody>
                        <a:bodyPr/>
                        <a:lstStyle/>
                        <a:p>
                          <a:endParaRPr lang="en-US"/>
                        </a:p>
                      </a:txBody>
                      <a:tcPr>
                        <a:blipFill>
                          <a:blip r:embed="rId3"/>
                          <a:stretch>
                            <a:fillRect l="-39524" t="-310345" r="-952" b="-320690"/>
                          </a:stretch>
                        </a:blipFill>
                      </a:tcPr>
                    </a:tc>
                    <a:extLst>
                      <a:ext uri="{0D108BD9-81ED-4DB2-BD59-A6C34878D82A}">
                        <a16:rowId xmlns:a16="http://schemas.microsoft.com/office/drawing/2014/main" val="4022585721"/>
                      </a:ext>
                    </a:extLst>
                  </a:tr>
                  <a:tr h="370840">
                    <a:tc>
                      <a:txBody>
                        <a:bodyPr/>
                        <a:lstStyle/>
                        <a:p>
                          <a:r>
                            <a:rPr lang="en-GB"/>
                            <a:t>3</a:t>
                          </a:r>
                        </a:p>
                      </a:txBody>
                      <a:tcPr/>
                    </a:tc>
                    <a:tc>
                      <a:txBody>
                        <a:bodyPr/>
                        <a:lstStyle/>
                        <a:p>
                          <a:r>
                            <a:rPr lang="en-GB"/>
                            <a:t>Cubic</a:t>
                          </a:r>
                        </a:p>
                      </a:txBody>
                      <a:tcPr/>
                    </a:tc>
                    <a:extLst>
                      <a:ext uri="{0D108BD9-81ED-4DB2-BD59-A6C34878D82A}">
                        <a16:rowId xmlns:a16="http://schemas.microsoft.com/office/drawing/2014/main" val="1578202632"/>
                      </a:ext>
                    </a:extLst>
                  </a:tr>
                  <a:tr h="370840">
                    <a:tc>
                      <a:txBody>
                        <a:bodyPr/>
                        <a:lstStyle/>
                        <a:p>
                          <a:r>
                            <a:rPr lang="en-GB"/>
                            <a:t>4</a:t>
                          </a:r>
                        </a:p>
                      </a:txBody>
                      <a:tcPr/>
                    </a:tc>
                    <a:tc>
                      <a:txBody>
                        <a:bodyPr/>
                        <a:lstStyle/>
                        <a:p>
                          <a:r>
                            <a:rPr lang="en-GB"/>
                            <a:t>Quartic</a:t>
                          </a:r>
                        </a:p>
                      </a:txBody>
                      <a:tcPr/>
                    </a:tc>
                    <a:extLst>
                      <a:ext uri="{0D108BD9-81ED-4DB2-BD59-A6C34878D82A}">
                        <a16:rowId xmlns:a16="http://schemas.microsoft.com/office/drawing/2014/main" val="1657921537"/>
                      </a:ext>
                    </a:extLst>
                  </a:tr>
                  <a:tr h="370840">
                    <a:tc>
                      <a:txBody>
                        <a:bodyPr/>
                        <a:lstStyle/>
                        <a:p>
                          <a:r>
                            <a:rPr lang="en-GB"/>
                            <a:t>5</a:t>
                          </a:r>
                        </a:p>
                      </a:txBody>
                      <a:tcPr/>
                    </a:tc>
                    <a:tc>
                      <a:txBody>
                        <a:bodyPr/>
                        <a:lstStyle/>
                        <a:p>
                          <a:r>
                            <a:rPr lang="en-GB" err="1"/>
                            <a:t>Quintic</a:t>
                          </a:r>
                          <a:endParaRPr lang="en-GB"/>
                        </a:p>
                      </a:txBody>
                      <a:tcPr/>
                    </a:tc>
                    <a:extLst>
                      <a:ext uri="{0D108BD9-81ED-4DB2-BD59-A6C34878D82A}">
                        <a16:rowId xmlns:a16="http://schemas.microsoft.com/office/drawing/2014/main" val="1880083474"/>
                      </a:ext>
                    </a:extLst>
                  </a:tr>
                </a:tbl>
              </a:graphicData>
            </a:graphic>
          </p:graphicFrame>
        </mc:Fallback>
      </mc:AlternateContent>
      <p:sp>
        <p:nvSpPr>
          <p:cNvPr id="8" name="Rectangle 7"/>
          <p:cNvSpPr/>
          <p:nvPr/>
        </p:nvSpPr>
        <p:spPr>
          <a:xfrm>
            <a:off x="3588190" y="3868915"/>
            <a:ext cx="2642489" cy="370803"/>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9" name="Rectangle 8"/>
          <p:cNvSpPr/>
          <p:nvPr/>
        </p:nvSpPr>
        <p:spPr>
          <a:xfrm>
            <a:off x="3588190" y="4239718"/>
            <a:ext cx="2642489" cy="370803"/>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10" name="Rectangle 9"/>
          <p:cNvSpPr/>
          <p:nvPr/>
        </p:nvSpPr>
        <p:spPr>
          <a:xfrm>
            <a:off x="3588190" y="4610521"/>
            <a:ext cx="2642489" cy="370803"/>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11" name="Rectangle 10"/>
          <p:cNvSpPr/>
          <p:nvPr/>
        </p:nvSpPr>
        <p:spPr>
          <a:xfrm>
            <a:off x="3588189" y="4981324"/>
            <a:ext cx="2642489" cy="370803"/>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12" name="Rectangle 11"/>
          <p:cNvSpPr/>
          <p:nvPr/>
        </p:nvSpPr>
        <p:spPr>
          <a:xfrm>
            <a:off x="3588188" y="5359086"/>
            <a:ext cx="2642489" cy="370803"/>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13" name="TextBox 12"/>
          <p:cNvSpPr txBox="1"/>
          <p:nvPr/>
        </p:nvSpPr>
        <p:spPr>
          <a:xfrm>
            <a:off x="7092280" y="3780995"/>
            <a:ext cx="1728192" cy="523220"/>
          </a:xfrm>
          <a:prstGeom prst="rect">
            <a:avLst/>
          </a:prstGeom>
          <a:noFill/>
        </p:spPr>
        <p:txBody>
          <a:bodyPr wrap="square" rtlCol="0">
            <a:spAutoFit/>
          </a:bodyPr>
          <a:lstStyle/>
          <a:p>
            <a:r>
              <a:rPr lang="en-GB" sz="1400"/>
              <a:t>Chapter 2 explored the graphs for these.</a:t>
            </a:r>
          </a:p>
        </p:txBody>
      </p:sp>
      <p:cxnSp>
        <p:nvCxnSpPr>
          <p:cNvPr id="15" name="Straight Arrow Connector 14"/>
          <p:cNvCxnSpPr>
            <a:stCxn id="13" idx="1"/>
          </p:cNvCxnSpPr>
          <p:nvPr/>
        </p:nvCxnSpPr>
        <p:spPr>
          <a:xfrm flipH="1">
            <a:off x="6368902" y="4042605"/>
            <a:ext cx="723378" cy="38053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6" name="TextBox 15"/>
          <p:cNvSpPr txBox="1"/>
          <p:nvPr/>
        </p:nvSpPr>
        <p:spPr>
          <a:xfrm>
            <a:off x="7075191" y="3006790"/>
            <a:ext cx="1728192" cy="523220"/>
          </a:xfrm>
          <a:prstGeom prst="rect">
            <a:avLst/>
          </a:prstGeom>
          <a:noFill/>
        </p:spPr>
        <p:txBody>
          <a:bodyPr wrap="square" rtlCol="0">
            <a:spAutoFit/>
          </a:bodyPr>
          <a:lstStyle/>
          <a:p>
            <a:r>
              <a:rPr lang="en-GB" sz="1400"/>
              <a:t>These are covered in Chapter 5.</a:t>
            </a:r>
          </a:p>
        </p:txBody>
      </p:sp>
      <p:cxnSp>
        <p:nvCxnSpPr>
          <p:cNvPr id="17" name="Straight Arrow Connector 16"/>
          <p:cNvCxnSpPr/>
          <p:nvPr/>
        </p:nvCxnSpPr>
        <p:spPr>
          <a:xfrm flipH="1">
            <a:off x="6347161" y="3327991"/>
            <a:ext cx="712858" cy="69879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9" name="TextBox 18"/>
          <p:cNvSpPr txBox="1"/>
          <p:nvPr/>
        </p:nvSpPr>
        <p:spPr>
          <a:xfrm>
            <a:off x="7315564" y="4830205"/>
            <a:ext cx="1296144" cy="523220"/>
          </a:xfrm>
          <a:prstGeom prst="rect">
            <a:avLst/>
          </a:prstGeom>
          <a:noFill/>
        </p:spPr>
        <p:txBody>
          <a:bodyPr wrap="square" rtlCol="0">
            <a:spAutoFit/>
          </a:bodyPr>
          <a:lstStyle/>
          <a:p>
            <a:r>
              <a:rPr lang="en-GB" sz="1400"/>
              <a:t>We will cover these now.</a:t>
            </a:r>
          </a:p>
        </p:txBody>
      </p:sp>
      <p:cxnSp>
        <p:nvCxnSpPr>
          <p:cNvPr id="20" name="Straight Arrow Connector 19"/>
          <p:cNvCxnSpPr/>
          <p:nvPr/>
        </p:nvCxnSpPr>
        <p:spPr>
          <a:xfrm flipH="1" flipV="1">
            <a:off x="6390167" y="4795284"/>
            <a:ext cx="864598" cy="29653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 name="Straight Arrow Connector 21"/>
          <p:cNvCxnSpPr/>
          <p:nvPr/>
        </p:nvCxnSpPr>
        <p:spPr>
          <a:xfrm flipH="1">
            <a:off x="6400800" y="5103628"/>
            <a:ext cx="829340" cy="12759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5" name="TextBox 24"/>
          <p:cNvSpPr txBox="1"/>
          <p:nvPr/>
        </p:nvSpPr>
        <p:spPr>
          <a:xfrm>
            <a:off x="6678989" y="5634196"/>
            <a:ext cx="2316154" cy="954107"/>
          </a:xfrm>
          <a:prstGeom prst="rect">
            <a:avLst/>
          </a:prstGeom>
          <a:noFill/>
        </p:spPr>
        <p:txBody>
          <a:bodyPr wrap="square" rtlCol="0">
            <a:spAutoFit/>
          </a:bodyPr>
          <a:lstStyle/>
          <a:p>
            <a:r>
              <a:rPr lang="en-GB" sz="1400"/>
              <a:t>While these are technically beyond the A Level syllabus, we will look at how to sketch polynomials in general.</a:t>
            </a:r>
          </a:p>
        </p:txBody>
      </p:sp>
      <p:cxnSp>
        <p:nvCxnSpPr>
          <p:cNvPr id="26" name="Straight Arrow Connector 25"/>
          <p:cNvCxnSpPr/>
          <p:nvPr/>
        </p:nvCxnSpPr>
        <p:spPr>
          <a:xfrm flipH="1" flipV="1">
            <a:off x="6368902" y="5592726"/>
            <a:ext cx="298188" cy="48219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569801064"/>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8"/>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8"/>
                                        </p:tgtEl>
                                      </p:cBhvr>
                                    </p:animEffect>
                                    <p:set>
                                      <p:cBhvr>
                                        <p:cTn id="7" dur="1" fill="hold">
                                          <p:stCondLst>
                                            <p:cond delay="499"/>
                                          </p:stCondLst>
                                        </p:cTn>
                                        <p:tgtEl>
                                          <p:spTgt spid="8"/>
                                        </p:tgtEl>
                                        <p:attrNameLst>
                                          <p:attrName>style.visibility</p:attrName>
                                        </p:attrNameLst>
                                      </p:cBhvr>
                                      <p:to>
                                        <p:strVal val="hidden"/>
                                      </p:to>
                                    </p:set>
                                  </p:childTnLst>
                                </p:cTn>
                              </p:par>
                            </p:childTnLst>
                          </p:cTn>
                        </p:par>
                      </p:childTnLst>
                    </p:cTn>
                  </p:par>
                </p:childTnLst>
              </p:cTn>
              <p:nextCondLst>
                <p:cond evt="onClick" delay="0">
                  <p:tgtEl>
                    <p:spTgt spid="8"/>
                  </p:tgtEl>
                </p:cond>
              </p:nextCondLst>
            </p:seq>
            <p:seq concurrent="1" nextAc="seek">
              <p:cTn id="8" restart="whenNotActive" fill="hold" evtFilter="cancelBubble" nodeType="interactiveSeq">
                <p:stCondLst>
                  <p:cond evt="onClick" delay="0">
                    <p:tgtEl>
                      <p:spTgt spid="9"/>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9"/>
                                        </p:tgtEl>
                                      </p:cBhvr>
                                    </p:animEffect>
                                    <p:set>
                                      <p:cBhvr>
                                        <p:cTn id="13" dur="1" fill="hold">
                                          <p:stCondLst>
                                            <p:cond delay="499"/>
                                          </p:stCondLst>
                                        </p:cTn>
                                        <p:tgtEl>
                                          <p:spTgt spid="9"/>
                                        </p:tgtEl>
                                        <p:attrNameLst>
                                          <p:attrName>style.visibility</p:attrName>
                                        </p:attrNameLst>
                                      </p:cBhvr>
                                      <p:to>
                                        <p:strVal val="hidden"/>
                                      </p:to>
                                    </p:set>
                                  </p:childTnLst>
                                </p:cTn>
                              </p:par>
                            </p:childTnLst>
                          </p:cTn>
                        </p:par>
                      </p:childTnLst>
                    </p:cTn>
                  </p:par>
                </p:childTnLst>
              </p:cTn>
              <p:nextCondLst>
                <p:cond evt="onClick" delay="0">
                  <p:tgtEl>
                    <p:spTgt spid="9"/>
                  </p:tgtEl>
                </p:cond>
              </p:nextCondLst>
            </p:seq>
            <p:seq concurrent="1" nextAc="seek">
              <p:cTn id="14" restart="whenNotActive" fill="hold" evtFilter="cancelBubble" nodeType="interactiveSeq">
                <p:stCondLst>
                  <p:cond evt="onClick" delay="0">
                    <p:tgtEl>
                      <p:spTgt spid="10"/>
                    </p:tgtEl>
                  </p:cond>
                </p:stCondLst>
                <p:endSync evt="end" delay="0">
                  <p:rtn val="all"/>
                </p:endSync>
                <p:childTnLst>
                  <p:par>
                    <p:cTn id="15" fill="hold">
                      <p:stCondLst>
                        <p:cond delay="0"/>
                      </p:stCondLst>
                      <p:childTnLst>
                        <p:par>
                          <p:cTn id="16" fill="hold">
                            <p:stCondLst>
                              <p:cond delay="0"/>
                            </p:stCondLst>
                            <p:childTnLst>
                              <p:par>
                                <p:cTn id="17" presetID="10" presetClass="exit" presetSubtype="0" fill="hold" grpId="0" nodeType="clickEffect">
                                  <p:stCondLst>
                                    <p:cond delay="0"/>
                                  </p:stCondLst>
                                  <p:childTnLst>
                                    <p:animEffect transition="out" filter="fade">
                                      <p:cBhvr>
                                        <p:cTn id="18" dur="500"/>
                                        <p:tgtEl>
                                          <p:spTgt spid="10"/>
                                        </p:tgtEl>
                                      </p:cBhvr>
                                    </p:animEffect>
                                    <p:set>
                                      <p:cBhvr>
                                        <p:cTn id="19" dur="1" fill="hold">
                                          <p:stCondLst>
                                            <p:cond delay="499"/>
                                          </p:stCondLst>
                                        </p:cTn>
                                        <p:tgtEl>
                                          <p:spTgt spid="10"/>
                                        </p:tgtEl>
                                        <p:attrNameLst>
                                          <p:attrName>style.visibility</p:attrName>
                                        </p:attrNameLst>
                                      </p:cBhvr>
                                      <p:to>
                                        <p:strVal val="hidden"/>
                                      </p:to>
                                    </p:set>
                                  </p:childTnLst>
                                </p:cTn>
                              </p:par>
                            </p:childTnLst>
                          </p:cTn>
                        </p:par>
                      </p:childTnLst>
                    </p:cTn>
                  </p:par>
                </p:childTnLst>
              </p:cTn>
              <p:nextCondLst>
                <p:cond evt="onClick" delay="0">
                  <p:tgtEl>
                    <p:spTgt spid="10"/>
                  </p:tgtEl>
                </p:cond>
              </p:nextCondLst>
            </p:seq>
            <p:seq concurrent="1" nextAc="seek">
              <p:cTn id="20" restart="whenNotActive" fill="hold" evtFilter="cancelBubble" nodeType="interactiveSeq">
                <p:stCondLst>
                  <p:cond evt="onClick" delay="0">
                    <p:tgtEl>
                      <p:spTgt spid="11"/>
                    </p:tgtEl>
                  </p:cond>
                </p:stCondLst>
                <p:endSync evt="end" delay="0">
                  <p:rtn val="all"/>
                </p:endSync>
                <p:childTnLst>
                  <p:par>
                    <p:cTn id="21" fill="hold">
                      <p:stCondLst>
                        <p:cond delay="0"/>
                      </p:stCondLst>
                      <p:childTnLst>
                        <p:par>
                          <p:cTn id="22" fill="hold">
                            <p:stCondLst>
                              <p:cond delay="0"/>
                            </p:stCondLst>
                            <p:childTnLst>
                              <p:par>
                                <p:cTn id="23" presetID="10" presetClass="exit" presetSubtype="0" fill="hold" grpId="0" nodeType="clickEffect">
                                  <p:stCondLst>
                                    <p:cond delay="0"/>
                                  </p:stCondLst>
                                  <p:childTnLst>
                                    <p:animEffect transition="out" filter="fade">
                                      <p:cBhvr>
                                        <p:cTn id="24" dur="500"/>
                                        <p:tgtEl>
                                          <p:spTgt spid="11"/>
                                        </p:tgtEl>
                                      </p:cBhvr>
                                    </p:animEffect>
                                    <p:set>
                                      <p:cBhvr>
                                        <p:cTn id="25" dur="1" fill="hold">
                                          <p:stCondLst>
                                            <p:cond delay="499"/>
                                          </p:stCondLst>
                                        </p:cTn>
                                        <p:tgtEl>
                                          <p:spTgt spid="11"/>
                                        </p:tgtEl>
                                        <p:attrNameLst>
                                          <p:attrName>style.visibility</p:attrName>
                                        </p:attrNameLst>
                                      </p:cBhvr>
                                      <p:to>
                                        <p:strVal val="hidden"/>
                                      </p:to>
                                    </p:set>
                                  </p:childTnLst>
                                </p:cTn>
                              </p:par>
                            </p:childTnLst>
                          </p:cTn>
                        </p:par>
                      </p:childTnLst>
                    </p:cTn>
                  </p:par>
                </p:childTnLst>
              </p:cTn>
              <p:nextCondLst>
                <p:cond evt="onClick" delay="0">
                  <p:tgtEl>
                    <p:spTgt spid="11"/>
                  </p:tgtEl>
                </p:cond>
              </p:nextCondLst>
            </p:seq>
            <p:seq concurrent="1" nextAc="seek">
              <p:cTn id="26" restart="whenNotActive" fill="hold" evtFilter="cancelBubble" nodeType="interactiveSeq">
                <p:stCondLst>
                  <p:cond evt="onClick" delay="0">
                    <p:tgtEl>
                      <p:spTgt spid="12"/>
                    </p:tgtEl>
                  </p:cond>
                </p:stCondLst>
                <p:endSync evt="end" delay="0">
                  <p:rtn val="all"/>
                </p:endSync>
                <p:childTnLst>
                  <p:par>
                    <p:cTn id="27" fill="hold">
                      <p:stCondLst>
                        <p:cond delay="0"/>
                      </p:stCondLst>
                      <p:childTnLst>
                        <p:par>
                          <p:cTn id="28" fill="hold">
                            <p:stCondLst>
                              <p:cond delay="0"/>
                            </p:stCondLst>
                            <p:childTnLst>
                              <p:par>
                                <p:cTn id="29" presetID="10" presetClass="exit" presetSubtype="0" fill="hold" grpId="0" nodeType="clickEffect">
                                  <p:stCondLst>
                                    <p:cond delay="0"/>
                                  </p:stCondLst>
                                  <p:childTnLst>
                                    <p:animEffect transition="out" filter="fade">
                                      <p:cBhvr>
                                        <p:cTn id="30" dur="500"/>
                                        <p:tgtEl>
                                          <p:spTgt spid="12"/>
                                        </p:tgtEl>
                                      </p:cBhvr>
                                    </p:animEffect>
                                    <p:set>
                                      <p:cBhvr>
                                        <p:cTn id="31" dur="1" fill="hold">
                                          <p:stCondLst>
                                            <p:cond delay="499"/>
                                          </p:stCondLst>
                                        </p:cTn>
                                        <p:tgtEl>
                                          <p:spTgt spid="12"/>
                                        </p:tgtEl>
                                        <p:attrNameLst>
                                          <p:attrName>style.visibility</p:attrName>
                                        </p:attrNameLst>
                                      </p:cBhvr>
                                      <p:to>
                                        <p:strVal val="hidden"/>
                                      </p:to>
                                    </p:set>
                                  </p:childTnLst>
                                </p:cTn>
                              </p:par>
                            </p:childTnLst>
                          </p:cTn>
                        </p:par>
                      </p:childTnLst>
                    </p:cTn>
                  </p:par>
                </p:childTnLst>
              </p:cTn>
              <p:nextCondLst>
                <p:cond evt="onClick" delay="0">
                  <p:tgtEl>
                    <p:spTgt spid="12"/>
                  </p:tgtEl>
                </p:cond>
              </p:nextCondLst>
            </p:seq>
          </p:childTnLst>
        </p:cTn>
      </p:par>
    </p:tnLst>
    <p:bldLst>
      <p:bldP spid="8" grpId="0" animBg="1"/>
      <p:bldP spid="9" grpId="0" animBg="1"/>
      <p:bldP spid="10" grpId="0" animBg="1"/>
      <p:bldP spid="11" grpId="0" animBg="1"/>
      <p:bldP spid="1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vert="horz" wrap="square" lIns="324000" tIns="45720" rIns="91440" bIns="45720" rtlCol="0" anchor="ctr">
              <a:spAutoFit/>
            </a:bodyPr>
            <a:lstStyle>
              <a:defPPr>
                <a:defRPr lang="en-US"/>
              </a:defPPr>
              <a:lvl1pPr>
                <a:spcBef>
                  <a:spcPct val="0"/>
                </a:spcBef>
                <a:buNone/>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a:t>Polynomial Graphs</a:t>
              </a:r>
            </a:p>
          </p:txBody>
        </p:sp>
        <p:cxnSp>
          <p:nvCxnSpPr>
            <p:cNvPr id="4" name="Straight Connector 3"/>
            <p:cNvCxnSpPr/>
            <p:nvPr/>
          </p:nvCxnSpPr>
          <p:spPr>
            <a:xfrm>
              <a:off x="218" y="601079"/>
              <a:ext cx="9144000" cy="0"/>
            </a:xfrm>
            <a:prstGeom prst="line">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cxnSp>
      </p:grpSp>
      <p:sp>
        <p:nvSpPr>
          <p:cNvPr id="5" name="Freeform: Shape 4"/>
          <p:cNvSpPr/>
          <p:nvPr/>
        </p:nvSpPr>
        <p:spPr>
          <a:xfrm>
            <a:off x="755501" y="1855457"/>
            <a:ext cx="1733107" cy="1201542"/>
          </a:xfrm>
          <a:custGeom>
            <a:avLst/>
            <a:gdLst>
              <a:gd name="connsiteX0" fmla="*/ 0 w 1733107"/>
              <a:gd name="connsiteY0" fmla="*/ 1201542 h 1201542"/>
              <a:gd name="connsiteX1" fmla="*/ 914400 w 1733107"/>
              <a:gd name="connsiteY1" fmla="*/ 63 h 1201542"/>
              <a:gd name="connsiteX2" fmla="*/ 1733107 w 1733107"/>
              <a:gd name="connsiteY2" fmla="*/ 1159012 h 1201542"/>
            </a:gdLst>
            <a:ahLst/>
            <a:cxnLst>
              <a:cxn ang="0">
                <a:pos x="connsiteX0" y="connsiteY0"/>
              </a:cxn>
              <a:cxn ang="0">
                <a:pos x="connsiteX1" y="connsiteY1"/>
              </a:cxn>
              <a:cxn ang="0">
                <a:pos x="connsiteX2" y="connsiteY2"/>
              </a:cxn>
            </a:cxnLst>
            <a:rect l="l" t="t" r="r" b="b"/>
            <a:pathLst>
              <a:path w="1733107" h="1201542">
                <a:moveTo>
                  <a:pt x="0" y="1201542"/>
                </a:moveTo>
                <a:cubicBezTo>
                  <a:pt x="312774" y="604346"/>
                  <a:pt x="625549" y="7151"/>
                  <a:pt x="914400" y="63"/>
                </a:cubicBezTo>
                <a:cubicBezTo>
                  <a:pt x="1203251" y="-7025"/>
                  <a:pt x="1468179" y="575993"/>
                  <a:pt x="1733107" y="1159012"/>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Freeform: Shape 5"/>
          <p:cNvSpPr/>
          <p:nvPr/>
        </p:nvSpPr>
        <p:spPr>
          <a:xfrm rot="10800000">
            <a:off x="2339752" y="1844824"/>
            <a:ext cx="1733107" cy="1201542"/>
          </a:xfrm>
          <a:custGeom>
            <a:avLst/>
            <a:gdLst>
              <a:gd name="connsiteX0" fmla="*/ 0 w 1733107"/>
              <a:gd name="connsiteY0" fmla="*/ 1201542 h 1201542"/>
              <a:gd name="connsiteX1" fmla="*/ 914400 w 1733107"/>
              <a:gd name="connsiteY1" fmla="*/ 63 h 1201542"/>
              <a:gd name="connsiteX2" fmla="*/ 1733107 w 1733107"/>
              <a:gd name="connsiteY2" fmla="*/ 1159012 h 1201542"/>
            </a:gdLst>
            <a:ahLst/>
            <a:cxnLst>
              <a:cxn ang="0">
                <a:pos x="connsiteX0" y="connsiteY0"/>
              </a:cxn>
              <a:cxn ang="0">
                <a:pos x="connsiteX1" y="connsiteY1"/>
              </a:cxn>
              <a:cxn ang="0">
                <a:pos x="connsiteX2" y="connsiteY2"/>
              </a:cxn>
            </a:cxnLst>
            <a:rect l="l" t="t" r="r" b="b"/>
            <a:pathLst>
              <a:path w="1733107" h="1201542">
                <a:moveTo>
                  <a:pt x="0" y="1201542"/>
                </a:moveTo>
                <a:cubicBezTo>
                  <a:pt x="312774" y="604346"/>
                  <a:pt x="625549" y="7151"/>
                  <a:pt x="914400" y="63"/>
                </a:cubicBezTo>
                <a:cubicBezTo>
                  <a:pt x="1203251" y="-7025"/>
                  <a:pt x="1468179" y="575993"/>
                  <a:pt x="1733107" y="1159012"/>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Freeform: Shape 6"/>
          <p:cNvSpPr/>
          <p:nvPr/>
        </p:nvSpPr>
        <p:spPr>
          <a:xfrm>
            <a:off x="532218" y="3514199"/>
            <a:ext cx="1839432" cy="1350335"/>
          </a:xfrm>
          <a:custGeom>
            <a:avLst/>
            <a:gdLst>
              <a:gd name="connsiteX0" fmla="*/ 0 w 1839432"/>
              <a:gd name="connsiteY0" fmla="*/ 1350335 h 1350335"/>
              <a:gd name="connsiteX1" fmla="*/ 733646 w 1839432"/>
              <a:gd name="connsiteY1" fmla="*/ 318977 h 1350335"/>
              <a:gd name="connsiteX2" fmla="*/ 1265274 w 1839432"/>
              <a:gd name="connsiteY2" fmla="*/ 829339 h 1350335"/>
              <a:gd name="connsiteX3" fmla="*/ 1839432 w 1839432"/>
              <a:gd name="connsiteY3" fmla="*/ 0 h 1350335"/>
            </a:gdLst>
            <a:ahLst/>
            <a:cxnLst>
              <a:cxn ang="0">
                <a:pos x="connsiteX0" y="connsiteY0"/>
              </a:cxn>
              <a:cxn ang="0">
                <a:pos x="connsiteX1" y="connsiteY1"/>
              </a:cxn>
              <a:cxn ang="0">
                <a:pos x="connsiteX2" y="connsiteY2"/>
              </a:cxn>
              <a:cxn ang="0">
                <a:pos x="connsiteX3" y="connsiteY3"/>
              </a:cxn>
            </a:cxnLst>
            <a:rect l="l" t="t" r="r" b="b"/>
            <a:pathLst>
              <a:path w="1839432" h="1350335">
                <a:moveTo>
                  <a:pt x="0" y="1350335"/>
                </a:moveTo>
                <a:cubicBezTo>
                  <a:pt x="261383" y="878072"/>
                  <a:pt x="522767" y="405810"/>
                  <a:pt x="733646" y="318977"/>
                </a:cubicBezTo>
                <a:cubicBezTo>
                  <a:pt x="944525" y="232144"/>
                  <a:pt x="1080976" y="882502"/>
                  <a:pt x="1265274" y="829339"/>
                </a:cubicBezTo>
                <a:cubicBezTo>
                  <a:pt x="1449572" y="776176"/>
                  <a:pt x="1644502" y="388088"/>
                  <a:pt x="1839432"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Freeform: Shape 7"/>
          <p:cNvSpPr/>
          <p:nvPr/>
        </p:nvSpPr>
        <p:spPr>
          <a:xfrm>
            <a:off x="2679994" y="3492934"/>
            <a:ext cx="1392865" cy="1286540"/>
          </a:xfrm>
          <a:custGeom>
            <a:avLst/>
            <a:gdLst>
              <a:gd name="connsiteX0" fmla="*/ 0 w 1392865"/>
              <a:gd name="connsiteY0" fmla="*/ 0 h 1286540"/>
              <a:gd name="connsiteX1" fmla="*/ 467833 w 1392865"/>
              <a:gd name="connsiteY1" fmla="*/ 808074 h 1286540"/>
              <a:gd name="connsiteX2" fmla="*/ 1031358 w 1392865"/>
              <a:gd name="connsiteY2" fmla="*/ 956930 h 1286540"/>
              <a:gd name="connsiteX3" fmla="*/ 1392865 w 1392865"/>
              <a:gd name="connsiteY3" fmla="*/ 1286540 h 1286540"/>
              <a:gd name="connsiteX0" fmla="*/ 0 w 1392865"/>
              <a:gd name="connsiteY0" fmla="*/ 0 h 1286540"/>
              <a:gd name="connsiteX1" fmla="*/ 425302 w 1392865"/>
              <a:gd name="connsiteY1" fmla="*/ 744279 h 1286540"/>
              <a:gd name="connsiteX2" fmla="*/ 1031358 w 1392865"/>
              <a:gd name="connsiteY2" fmla="*/ 956930 h 1286540"/>
              <a:gd name="connsiteX3" fmla="*/ 1392865 w 1392865"/>
              <a:gd name="connsiteY3" fmla="*/ 1286540 h 1286540"/>
            </a:gdLst>
            <a:ahLst/>
            <a:cxnLst>
              <a:cxn ang="0">
                <a:pos x="connsiteX0" y="connsiteY0"/>
              </a:cxn>
              <a:cxn ang="0">
                <a:pos x="connsiteX1" y="connsiteY1"/>
              </a:cxn>
              <a:cxn ang="0">
                <a:pos x="connsiteX2" y="connsiteY2"/>
              </a:cxn>
              <a:cxn ang="0">
                <a:pos x="connsiteX3" y="connsiteY3"/>
              </a:cxn>
            </a:cxnLst>
            <a:rect l="l" t="t" r="r" b="b"/>
            <a:pathLst>
              <a:path w="1392865" h="1286540">
                <a:moveTo>
                  <a:pt x="0" y="0"/>
                </a:moveTo>
                <a:cubicBezTo>
                  <a:pt x="147970" y="324293"/>
                  <a:pt x="253409" y="584791"/>
                  <a:pt x="425302" y="744279"/>
                </a:cubicBezTo>
                <a:cubicBezTo>
                  <a:pt x="597195" y="903767"/>
                  <a:pt x="870097" y="866553"/>
                  <a:pt x="1031358" y="956930"/>
                </a:cubicBezTo>
                <a:cubicBezTo>
                  <a:pt x="1192619" y="1047307"/>
                  <a:pt x="1289197" y="1161607"/>
                  <a:pt x="1392865" y="128654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Freeform: Shape 8"/>
          <p:cNvSpPr/>
          <p:nvPr/>
        </p:nvSpPr>
        <p:spPr>
          <a:xfrm>
            <a:off x="968152" y="5226041"/>
            <a:ext cx="1765005" cy="1296265"/>
          </a:xfrm>
          <a:custGeom>
            <a:avLst/>
            <a:gdLst>
              <a:gd name="connsiteX0" fmla="*/ 0 w 1765005"/>
              <a:gd name="connsiteY0" fmla="*/ 0 h 1296265"/>
              <a:gd name="connsiteX1" fmla="*/ 595424 w 1765005"/>
              <a:gd name="connsiteY1" fmla="*/ 1031358 h 1296265"/>
              <a:gd name="connsiteX2" fmla="*/ 988828 w 1765005"/>
              <a:gd name="connsiteY2" fmla="*/ 744279 h 1296265"/>
              <a:gd name="connsiteX3" fmla="*/ 1339703 w 1765005"/>
              <a:gd name="connsiteY3" fmla="*/ 1286539 h 1296265"/>
              <a:gd name="connsiteX4" fmla="*/ 1765005 w 1765005"/>
              <a:gd name="connsiteY4" fmla="*/ 191386 h 12962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5005" h="1296265">
                <a:moveTo>
                  <a:pt x="0" y="0"/>
                </a:moveTo>
                <a:cubicBezTo>
                  <a:pt x="215309" y="453656"/>
                  <a:pt x="430619" y="907312"/>
                  <a:pt x="595424" y="1031358"/>
                </a:cubicBezTo>
                <a:cubicBezTo>
                  <a:pt x="760229" y="1155404"/>
                  <a:pt x="864782" y="701749"/>
                  <a:pt x="988828" y="744279"/>
                </a:cubicBezTo>
                <a:cubicBezTo>
                  <a:pt x="1112874" y="786809"/>
                  <a:pt x="1210340" y="1378688"/>
                  <a:pt x="1339703" y="1286539"/>
                </a:cubicBezTo>
                <a:cubicBezTo>
                  <a:pt x="1469066" y="1194390"/>
                  <a:pt x="1617035" y="692888"/>
                  <a:pt x="1765005" y="191386"/>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TextBox 9"/>
          <p:cNvSpPr txBox="1"/>
          <p:nvPr/>
        </p:nvSpPr>
        <p:spPr>
          <a:xfrm>
            <a:off x="4571428" y="728919"/>
            <a:ext cx="3912689" cy="1477328"/>
          </a:xfrm>
          <a:prstGeom prst="rect">
            <a:avLst/>
          </a:prstGeom>
          <a:noFill/>
        </p:spPr>
        <p:txBody>
          <a:bodyPr wrap="square" rtlCol="0">
            <a:spAutoFit/>
          </a:bodyPr>
          <a:lstStyle/>
          <a:p>
            <a:r>
              <a:rPr lang="en-GB"/>
              <a:t>What property connects the order of the polynomial and the shape?</a:t>
            </a:r>
            <a:endParaRPr lang="en-GB" b="1"/>
          </a:p>
          <a:p>
            <a:r>
              <a:rPr lang="en-GB" b="1"/>
              <a:t>The number of ‘turns’ is one less than the order, e.g. a cubic has 2 ‘turns’, a quartic 3 ‘turns’.</a:t>
            </a:r>
          </a:p>
        </p:txBody>
      </p:sp>
      <p:sp>
        <p:nvSpPr>
          <p:cNvPr id="11" name="TextBox 10"/>
          <p:cNvSpPr txBox="1"/>
          <p:nvPr/>
        </p:nvSpPr>
        <p:spPr>
          <a:xfrm>
            <a:off x="107504" y="1196752"/>
            <a:ext cx="860648" cy="369332"/>
          </a:xfrm>
          <a:prstGeom prst="rect">
            <a:avLst/>
          </a:prstGeom>
          <a:noFill/>
        </p:spPr>
        <p:txBody>
          <a:bodyPr wrap="square" rtlCol="0">
            <a:spAutoFit/>
          </a:bodyPr>
          <a:lstStyle/>
          <a:p>
            <a:r>
              <a:rPr lang="en-GB"/>
              <a:t>Order:</a:t>
            </a:r>
          </a:p>
        </p:txBody>
      </p:sp>
      <p:sp>
        <p:nvSpPr>
          <p:cNvPr id="12" name="TextBox 11"/>
          <p:cNvSpPr txBox="1"/>
          <p:nvPr/>
        </p:nvSpPr>
        <p:spPr>
          <a:xfrm>
            <a:off x="588" y="2000482"/>
            <a:ext cx="860648" cy="646331"/>
          </a:xfrm>
          <a:prstGeom prst="rect">
            <a:avLst/>
          </a:prstGeom>
          <a:noFill/>
        </p:spPr>
        <p:txBody>
          <a:bodyPr wrap="square" rtlCol="0">
            <a:spAutoFit/>
          </a:bodyPr>
          <a:lstStyle/>
          <a:p>
            <a:pPr algn="ctr"/>
            <a:r>
              <a:rPr lang="en-GB" sz="3600"/>
              <a:t>2</a:t>
            </a:r>
            <a:endParaRPr lang="en-GB"/>
          </a:p>
        </p:txBody>
      </p:sp>
      <p:sp>
        <p:nvSpPr>
          <p:cNvPr id="13" name="TextBox 12"/>
          <p:cNvSpPr txBox="1"/>
          <p:nvPr/>
        </p:nvSpPr>
        <p:spPr>
          <a:xfrm>
            <a:off x="-51396" y="3812023"/>
            <a:ext cx="860648" cy="646331"/>
          </a:xfrm>
          <a:prstGeom prst="rect">
            <a:avLst/>
          </a:prstGeom>
          <a:noFill/>
        </p:spPr>
        <p:txBody>
          <a:bodyPr wrap="square" rtlCol="0">
            <a:spAutoFit/>
          </a:bodyPr>
          <a:lstStyle/>
          <a:p>
            <a:pPr algn="ctr"/>
            <a:r>
              <a:rPr lang="en-GB" sz="3600"/>
              <a:t>3</a:t>
            </a:r>
            <a:endParaRPr lang="en-GB"/>
          </a:p>
        </p:txBody>
      </p:sp>
      <p:sp>
        <p:nvSpPr>
          <p:cNvPr id="14" name="TextBox 13"/>
          <p:cNvSpPr txBox="1"/>
          <p:nvPr/>
        </p:nvSpPr>
        <p:spPr>
          <a:xfrm>
            <a:off x="-51396" y="5536543"/>
            <a:ext cx="860648" cy="646331"/>
          </a:xfrm>
          <a:prstGeom prst="rect">
            <a:avLst/>
          </a:prstGeom>
          <a:noFill/>
        </p:spPr>
        <p:txBody>
          <a:bodyPr wrap="square" rtlCol="0">
            <a:spAutoFit/>
          </a:bodyPr>
          <a:lstStyle/>
          <a:p>
            <a:pPr algn="ctr"/>
            <a:r>
              <a:rPr lang="en-GB" sz="3600"/>
              <a:t>4</a:t>
            </a:r>
            <a:endParaRPr lang="en-GB"/>
          </a:p>
        </p:txBody>
      </p:sp>
      <mc:AlternateContent xmlns:mc="http://schemas.openxmlformats.org/markup-compatibility/2006">
        <mc:Choice xmlns:a14="http://schemas.microsoft.com/office/drawing/2010/main" Requires="a14">
          <p:sp>
            <p:nvSpPr>
              <p:cNvPr id="15" name="TextBox 14"/>
              <p:cNvSpPr txBox="1"/>
              <p:nvPr/>
            </p:nvSpPr>
            <p:spPr>
              <a:xfrm>
                <a:off x="4571428" y="2788095"/>
                <a:ext cx="4105028" cy="3705758"/>
              </a:xfrm>
              <a:prstGeom prst="rect">
                <a:avLst/>
              </a:prstGeom>
              <a:noFill/>
            </p:spPr>
            <p:txBody>
              <a:bodyPr wrap="square" rtlCol="0">
                <a:spAutoFit/>
              </a:bodyPr>
              <a:lstStyle/>
              <a:p>
                <a:r>
                  <a:rPr lang="en-GB"/>
                  <a:t>In Chapter 2 how did we tell what way up a quadratic is, and why does this work?</a:t>
                </a:r>
              </a:p>
              <a:p>
                <a:endParaRPr lang="en-GB" b="1"/>
              </a:p>
              <a:p>
                <a:r>
                  <a:rPr lang="en-GB" b="1"/>
                  <a:t>For a quadratic </a:t>
                </a:r>
                <a14:m>
                  <m:oMath xmlns:m="http://schemas.openxmlformats.org/officeDocument/2006/math">
                    <m:r>
                      <a:rPr lang="en-GB" b="1" i="1" smtClean="0">
                        <a:latin typeface="Cambria Math" panose="02040503050406030204" pitchFamily="18" charset="0"/>
                      </a:rPr>
                      <m:t>𝒚</m:t>
                    </m:r>
                    <m:r>
                      <a:rPr lang="en-GB" b="1" i="1" smtClean="0">
                        <a:latin typeface="Cambria Math" panose="02040503050406030204" pitchFamily="18" charset="0"/>
                      </a:rPr>
                      <m:t>=</m:t>
                    </m:r>
                    <m:r>
                      <a:rPr lang="en-GB" b="1" i="1" smtClean="0">
                        <a:latin typeface="Cambria Math" panose="02040503050406030204" pitchFamily="18" charset="0"/>
                      </a:rPr>
                      <m:t>𝒂</m:t>
                    </m:r>
                    <m:sSup>
                      <m:sSupPr>
                        <m:ctrlPr>
                          <a:rPr lang="en-GB" b="1" i="1" smtClean="0">
                            <a:latin typeface="Cambria Math" panose="02040503050406030204" pitchFamily="18" charset="0"/>
                          </a:rPr>
                        </m:ctrlPr>
                      </m:sSupPr>
                      <m:e>
                        <m:r>
                          <a:rPr lang="en-GB" b="1" i="1" smtClean="0">
                            <a:latin typeface="Cambria Math" panose="02040503050406030204" pitchFamily="18" charset="0"/>
                          </a:rPr>
                          <m:t>𝒙</m:t>
                        </m:r>
                      </m:e>
                      <m:sup>
                        <m:r>
                          <a:rPr lang="en-GB" b="1" i="1" smtClean="0">
                            <a:latin typeface="Cambria Math" panose="02040503050406030204" pitchFamily="18" charset="0"/>
                          </a:rPr>
                          <m:t>𝟐</m:t>
                        </m:r>
                      </m:sup>
                    </m:sSup>
                    <m:r>
                      <a:rPr lang="en-GB" b="1" i="1" smtClean="0">
                        <a:latin typeface="Cambria Math" panose="02040503050406030204" pitchFamily="18" charset="0"/>
                      </a:rPr>
                      <m:t>+</m:t>
                    </m:r>
                    <m:r>
                      <a:rPr lang="en-GB" b="1" i="1" smtClean="0">
                        <a:latin typeface="Cambria Math" panose="02040503050406030204" pitchFamily="18" charset="0"/>
                      </a:rPr>
                      <m:t>𝒃𝒙</m:t>
                    </m:r>
                    <m:r>
                      <a:rPr lang="en-GB" b="1" i="1" smtClean="0">
                        <a:latin typeface="Cambria Math" panose="02040503050406030204" pitchFamily="18" charset="0"/>
                      </a:rPr>
                      <m:t>+</m:t>
                    </m:r>
                    <m:r>
                      <a:rPr lang="en-GB" b="1" i="1" smtClean="0">
                        <a:latin typeface="Cambria Math" panose="02040503050406030204" pitchFamily="18" charset="0"/>
                      </a:rPr>
                      <m:t>𝒄</m:t>
                    </m:r>
                  </m:oMath>
                </a14:m>
                <a:r>
                  <a:rPr lang="en-GB" b="1"/>
                  <a:t>, </a:t>
                </a:r>
                <a:r>
                  <a:rPr lang="en-GB" b="1" err="1"/>
                  <a:t>i.f</a:t>
                </a:r>
                <a:r>
                  <a:rPr lang="en-GB" b="1"/>
                  <a:t>. </a:t>
                </a:r>
                <a14:m>
                  <m:oMath xmlns:m="http://schemas.openxmlformats.org/officeDocument/2006/math">
                    <m:r>
                      <a:rPr lang="en-GB" b="1" i="1" smtClean="0">
                        <a:latin typeface="Cambria Math" panose="02040503050406030204" pitchFamily="18" charset="0"/>
                      </a:rPr>
                      <m:t>𝒂</m:t>
                    </m:r>
                    <m:r>
                      <a:rPr lang="en-GB" b="1" i="1" smtClean="0">
                        <a:latin typeface="Cambria Math" panose="02040503050406030204" pitchFamily="18" charset="0"/>
                      </a:rPr>
                      <m:t>&gt;</m:t>
                    </m:r>
                    <m:r>
                      <a:rPr lang="en-GB" b="1" i="1" smtClean="0">
                        <a:latin typeface="Cambria Math" panose="02040503050406030204" pitchFamily="18" charset="0"/>
                      </a:rPr>
                      <m:t>𝟎</m:t>
                    </m:r>
                  </m:oMath>
                </a14:m>
                <a:r>
                  <a:rPr lang="en-GB" b="1"/>
                  <a:t>, we had a ‘valley’ shape. This is because if </a:t>
                </a:r>
                <a14:m>
                  <m:oMath xmlns:m="http://schemas.openxmlformats.org/officeDocument/2006/math">
                    <m:r>
                      <a:rPr lang="en-GB" b="1" i="1" smtClean="0">
                        <a:latin typeface="Cambria Math" panose="02040503050406030204" pitchFamily="18" charset="0"/>
                      </a:rPr>
                      <m:t>𝒙</m:t>
                    </m:r>
                  </m:oMath>
                </a14:m>
                <a:r>
                  <a:rPr lang="en-GB" b="1"/>
                  <a:t> was a large positive value, </a:t>
                </a:r>
                <a14:m>
                  <m:oMath xmlns:m="http://schemas.openxmlformats.org/officeDocument/2006/math">
                    <m:r>
                      <a:rPr lang="en-GB" b="1" i="1" smtClean="0">
                        <a:latin typeface="Cambria Math" panose="02040503050406030204" pitchFamily="18" charset="0"/>
                      </a:rPr>
                      <m:t>𝒂</m:t>
                    </m:r>
                    <m:sSup>
                      <m:sSupPr>
                        <m:ctrlPr>
                          <a:rPr lang="en-GB" b="1" i="1" smtClean="0">
                            <a:latin typeface="Cambria Math" panose="02040503050406030204" pitchFamily="18" charset="0"/>
                          </a:rPr>
                        </m:ctrlPr>
                      </m:sSupPr>
                      <m:e>
                        <m:r>
                          <a:rPr lang="en-GB" b="1" i="1" smtClean="0">
                            <a:latin typeface="Cambria Math" panose="02040503050406030204" pitchFamily="18" charset="0"/>
                          </a:rPr>
                          <m:t>𝒙</m:t>
                        </m:r>
                      </m:e>
                      <m:sup>
                        <m:r>
                          <a:rPr lang="en-GB" b="1" i="1" smtClean="0">
                            <a:latin typeface="Cambria Math" panose="02040503050406030204" pitchFamily="18" charset="0"/>
                          </a:rPr>
                          <m:t>𝟐</m:t>
                        </m:r>
                      </m:sup>
                    </m:sSup>
                  </m:oMath>
                </a14:m>
                <a:r>
                  <a:rPr lang="en-GB" b="1"/>
                  <a:t> would be large and positive, thus the graph’s </a:t>
                </a:r>
                <a14:m>
                  <m:oMath xmlns:m="http://schemas.openxmlformats.org/officeDocument/2006/math">
                    <m:r>
                      <a:rPr lang="en-GB" b="1" i="1" smtClean="0">
                        <a:latin typeface="Cambria Math" panose="02040503050406030204" pitchFamily="18" charset="0"/>
                      </a:rPr>
                      <m:t>𝒚</m:t>
                    </m:r>
                  </m:oMath>
                </a14:m>
                <a:r>
                  <a:rPr lang="en-GB" b="1"/>
                  <a:t> value tends towards infinity.</a:t>
                </a:r>
              </a:p>
              <a:p>
                <a:endParaRPr lang="en-GB" b="1"/>
              </a:p>
              <a:p>
                <a:r>
                  <a:rPr lang="en-GB" b="1"/>
                  <a:t>We would write:</a:t>
                </a:r>
              </a:p>
              <a:p>
                <a:r>
                  <a:rPr lang="en-GB" b="1"/>
                  <a:t>“As </a:t>
                </a:r>
                <a14:m>
                  <m:oMath xmlns:m="http://schemas.openxmlformats.org/officeDocument/2006/math">
                    <m:r>
                      <a:rPr lang="en-GB" b="1" i="1" smtClean="0">
                        <a:latin typeface="Cambria Math" panose="02040503050406030204" pitchFamily="18" charset="0"/>
                      </a:rPr>
                      <m:t>𝒙</m:t>
                    </m:r>
                    <m:r>
                      <a:rPr lang="en-GB" b="1" i="1" smtClean="0">
                        <a:latin typeface="Cambria Math" panose="02040503050406030204" pitchFamily="18" charset="0"/>
                      </a:rPr>
                      <m:t>→∞, </m:t>
                    </m:r>
                    <m:r>
                      <a:rPr lang="en-GB" b="1" i="1" smtClean="0">
                        <a:latin typeface="Cambria Math" panose="02040503050406030204" pitchFamily="18" charset="0"/>
                      </a:rPr>
                      <m:t>𝒚</m:t>
                    </m:r>
                    <m:r>
                      <a:rPr lang="en-GB" b="1" i="1" smtClean="0">
                        <a:latin typeface="Cambria Math" panose="02040503050406030204" pitchFamily="18" charset="0"/>
                      </a:rPr>
                      <m:t>→∞</m:t>
                    </m:r>
                  </m:oMath>
                </a14:m>
                <a:r>
                  <a:rPr lang="en-GB" b="1"/>
                  <a:t>” where “</a:t>
                </a:r>
                <a14:m>
                  <m:oMath xmlns:m="http://schemas.openxmlformats.org/officeDocument/2006/math">
                    <m:r>
                      <a:rPr lang="en-GB" b="1" i="1" smtClean="0">
                        <a:latin typeface="Cambria Math" panose="02040503050406030204" pitchFamily="18" charset="0"/>
                      </a:rPr>
                      <m:t>→</m:t>
                    </m:r>
                  </m:oMath>
                </a14:m>
                <a:r>
                  <a:rPr lang="en-GB" b="1"/>
                  <a:t>” means “tends towards”.</a:t>
                </a:r>
              </a:p>
            </p:txBody>
          </p:sp>
        </mc:Choice>
        <mc:Fallback>
          <p:sp>
            <p:nvSpPr>
              <p:cNvPr id="15" name="TextBox 14"/>
              <p:cNvSpPr txBox="1">
                <a:spLocks noRot="1" noChangeAspect="1" noMove="1" noResize="1" noEditPoints="1" noAdjustHandles="1" noChangeArrowheads="1" noChangeShapeType="1" noTextEdit="1"/>
              </p:cNvSpPr>
              <p:nvPr/>
            </p:nvSpPr>
            <p:spPr>
              <a:xfrm>
                <a:off x="4571428" y="2788095"/>
                <a:ext cx="4105028" cy="3705758"/>
              </a:xfrm>
              <a:prstGeom prst="rect">
                <a:avLst/>
              </a:prstGeom>
              <a:blipFill>
                <a:blip r:embed="rId2"/>
                <a:stretch>
                  <a:fillRect l="-1543" t="-683" r="-617" b="-1706"/>
                </a:stretch>
              </a:blipFill>
            </p:spPr>
            <p:txBody>
              <a:bodyPr/>
              <a:lstStyle/>
              <a:p>
                <a:r>
                  <a:rPr lang="en-US">
                    <a:noFill/>
                  </a:rPr>
                  <a:t> </a:t>
                </a:r>
              </a:p>
            </p:txBody>
          </p:sp>
        </mc:Fallback>
      </mc:AlternateContent>
      <p:sp>
        <p:nvSpPr>
          <p:cNvPr id="17" name="Rectangle 16"/>
          <p:cNvSpPr/>
          <p:nvPr/>
        </p:nvSpPr>
        <p:spPr>
          <a:xfrm>
            <a:off x="4630181" y="3608412"/>
            <a:ext cx="3886498" cy="2951876"/>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mc:AlternateContent xmlns:mc="http://schemas.openxmlformats.org/markup-compatibility/2006">
        <mc:Choice xmlns:a14="http://schemas.microsoft.com/office/drawing/2010/main" Requires="a14">
          <p:sp>
            <p:nvSpPr>
              <p:cNvPr id="18" name="TextBox 17"/>
              <p:cNvSpPr txBox="1"/>
              <p:nvPr/>
            </p:nvSpPr>
            <p:spPr>
              <a:xfrm>
                <a:off x="6275040" y="1892195"/>
                <a:ext cx="2750176" cy="769441"/>
              </a:xfrm>
              <a:prstGeom prst="rect">
                <a:avLst/>
              </a:prstGeom>
              <a:noFill/>
            </p:spPr>
            <p:txBody>
              <a:bodyPr wrap="square" rtlCol="0">
                <a:spAutoFit/>
              </a:bodyPr>
              <a:lstStyle/>
              <a:p>
                <a:r>
                  <a:rPr lang="en-GB" sz="1100" b="1"/>
                  <a:t>Bro Note:</a:t>
                </a:r>
                <a:r>
                  <a:rPr lang="en-GB" sz="1100"/>
                  <a:t> …Actually this is not strictly true, e.g. consider </a:t>
                </a:r>
                <a14:m>
                  <m:oMath xmlns:m="http://schemas.openxmlformats.org/officeDocument/2006/math">
                    <m:r>
                      <a:rPr lang="en-GB" sz="1100" b="0" i="1" smtClean="0">
                        <a:latin typeface="Cambria Math" panose="02040503050406030204" pitchFamily="18" charset="0"/>
                      </a:rPr>
                      <m:t>𝑦</m:t>
                    </m:r>
                    <m:r>
                      <a:rPr lang="en-GB" sz="1100" b="0" i="1" smtClean="0">
                        <a:latin typeface="Cambria Math" panose="02040503050406030204" pitchFamily="18" charset="0"/>
                      </a:rPr>
                      <m:t>=</m:t>
                    </m:r>
                    <m:sSup>
                      <m:sSupPr>
                        <m:ctrlPr>
                          <a:rPr lang="en-GB" sz="1100" b="0" i="1" smtClean="0">
                            <a:latin typeface="Cambria Math" panose="02040503050406030204" pitchFamily="18" charset="0"/>
                          </a:rPr>
                        </m:ctrlPr>
                      </m:sSupPr>
                      <m:e>
                        <m:r>
                          <a:rPr lang="en-GB" sz="1100" b="0" i="1" smtClean="0">
                            <a:latin typeface="Cambria Math" panose="02040503050406030204" pitchFamily="18" charset="0"/>
                          </a:rPr>
                          <m:t>𝑥</m:t>
                        </m:r>
                      </m:e>
                      <m:sup>
                        <m:r>
                          <a:rPr lang="en-GB" sz="1100" b="0" i="1" smtClean="0">
                            <a:latin typeface="Cambria Math" panose="02040503050406030204" pitchFamily="18" charset="0"/>
                          </a:rPr>
                          <m:t>4</m:t>
                        </m:r>
                      </m:sup>
                    </m:sSup>
                  </m:oMath>
                </a14:m>
                <a:r>
                  <a:rPr lang="en-GB" sz="1100"/>
                  <a:t>, which has a U shape. But this is because multiple turns are being squashed into a single point.</a:t>
                </a:r>
              </a:p>
            </p:txBody>
          </p:sp>
        </mc:Choice>
        <mc:Fallback>
          <p:sp>
            <p:nvSpPr>
              <p:cNvPr id="18" name="TextBox 17"/>
              <p:cNvSpPr txBox="1">
                <a:spLocks noRot="1" noChangeAspect="1" noMove="1" noResize="1" noEditPoints="1" noAdjustHandles="1" noChangeArrowheads="1" noChangeShapeType="1" noTextEdit="1"/>
              </p:cNvSpPr>
              <p:nvPr/>
            </p:nvSpPr>
            <p:spPr>
              <a:xfrm>
                <a:off x="6275040" y="1892195"/>
                <a:ext cx="2750176" cy="769441"/>
              </a:xfrm>
              <a:prstGeom prst="rect">
                <a:avLst/>
              </a:prstGeom>
              <a:blipFill>
                <a:blip r:embed="rId3"/>
                <a:stretch>
                  <a:fillRect b="-4839"/>
                </a:stretch>
              </a:blipFill>
            </p:spPr>
            <p:txBody>
              <a:bodyPr/>
              <a:lstStyle/>
              <a:p>
                <a:r>
                  <a:rPr lang="en-US">
                    <a:noFill/>
                  </a:rPr>
                  <a:t> </a:t>
                </a:r>
              </a:p>
            </p:txBody>
          </p:sp>
        </mc:Fallback>
      </mc:AlternateContent>
      <p:sp>
        <p:nvSpPr>
          <p:cNvPr id="16" name="Rectangle 15"/>
          <p:cNvSpPr/>
          <p:nvPr/>
        </p:nvSpPr>
        <p:spPr>
          <a:xfrm>
            <a:off x="4625554" y="1345094"/>
            <a:ext cx="4252631" cy="1323678"/>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Tree>
    <p:extLst>
      <p:ext uri="{BB962C8B-B14F-4D97-AF65-F5344CB8AC3E}">
        <p14:creationId xmlns:p14="http://schemas.microsoft.com/office/powerpoint/2010/main" val="831857479"/>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6"/>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6"/>
                                        </p:tgtEl>
                                      </p:cBhvr>
                                    </p:animEffect>
                                    <p:set>
                                      <p:cBhvr>
                                        <p:cTn id="7" dur="1" fill="hold">
                                          <p:stCondLst>
                                            <p:cond delay="499"/>
                                          </p:stCondLst>
                                        </p:cTn>
                                        <p:tgtEl>
                                          <p:spTgt spid="16"/>
                                        </p:tgtEl>
                                        <p:attrNameLst>
                                          <p:attrName>style.visibility</p:attrName>
                                        </p:attrNameLst>
                                      </p:cBhvr>
                                      <p:to>
                                        <p:strVal val="hidden"/>
                                      </p:to>
                                    </p:set>
                                  </p:childTnLst>
                                </p:cTn>
                              </p:par>
                            </p:childTnLst>
                          </p:cTn>
                        </p:par>
                      </p:childTnLst>
                    </p:cTn>
                  </p:par>
                </p:childTnLst>
              </p:cTn>
              <p:nextCondLst>
                <p:cond evt="onClick" delay="0">
                  <p:tgtEl>
                    <p:spTgt spid="16"/>
                  </p:tgtEl>
                </p:cond>
              </p:nextCondLst>
            </p:seq>
            <p:seq concurrent="1" nextAc="seek">
              <p:cTn id="8" restart="whenNotActive" fill="hold" evtFilter="cancelBubble" nodeType="interactiveSeq">
                <p:stCondLst>
                  <p:cond evt="onClick" delay="0">
                    <p:tgtEl>
                      <p:spTgt spid="17"/>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7"/>
                                        </p:tgtEl>
                                      </p:cBhvr>
                                    </p:animEffect>
                                    <p:set>
                                      <p:cBhvr>
                                        <p:cTn id="13" dur="1" fill="hold">
                                          <p:stCondLst>
                                            <p:cond delay="499"/>
                                          </p:stCondLst>
                                        </p:cTn>
                                        <p:tgtEl>
                                          <p:spTgt spid="17"/>
                                        </p:tgtEl>
                                        <p:attrNameLst>
                                          <p:attrName>style.visibility</p:attrName>
                                        </p:attrNameLst>
                                      </p:cBhvr>
                                      <p:to>
                                        <p:strVal val="hidden"/>
                                      </p:to>
                                    </p:set>
                                  </p:childTnLst>
                                </p:cTn>
                              </p:par>
                            </p:childTnLst>
                          </p:cTn>
                        </p:par>
                      </p:childTnLst>
                    </p:cTn>
                  </p:par>
                </p:childTnLst>
              </p:cTn>
              <p:nextCondLst>
                <p:cond evt="onClick" delay="0">
                  <p:tgtEl>
                    <p:spTgt spid="17"/>
                  </p:tgtEl>
                </p:cond>
              </p:nextCondLst>
            </p:seq>
          </p:childTnLst>
        </p:cTn>
      </p:par>
    </p:tnLst>
    <p:bldLst>
      <p:bldP spid="17" grpId="0" animBg="1"/>
      <p:bldP spid="1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vert="horz" wrap="square" lIns="324000" tIns="45720" rIns="91440" bIns="45720" rtlCol="0" anchor="ctr">
              <a:spAutoFit/>
            </a:bodyPr>
            <a:lstStyle>
              <a:defPPr>
                <a:defRPr lang="en-US"/>
              </a:defPPr>
              <a:lvl1pPr>
                <a:spcBef>
                  <a:spcPct val="0"/>
                </a:spcBef>
                <a:buNone/>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a:t>Polynomial Graphs</a:t>
              </a:r>
            </a:p>
          </p:txBody>
        </p:sp>
        <p:cxnSp>
          <p:nvCxnSpPr>
            <p:cNvPr id="4" name="Straight Connector 3"/>
            <p:cNvCxnSpPr/>
            <p:nvPr/>
          </p:nvCxnSpPr>
          <p:spPr>
            <a:xfrm>
              <a:off x="218" y="601079"/>
              <a:ext cx="9144000" cy="0"/>
            </a:xfrm>
            <a:prstGeom prst="line">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cxnSp>
      </p:grpSp>
      <p:sp>
        <p:nvSpPr>
          <p:cNvPr id="5" name="Freeform: Shape 4"/>
          <p:cNvSpPr/>
          <p:nvPr/>
        </p:nvSpPr>
        <p:spPr>
          <a:xfrm rot="10800000">
            <a:off x="4127086" y="2106844"/>
            <a:ext cx="972108" cy="482496"/>
          </a:xfrm>
          <a:custGeom>
            <a:avLst/>
            <a:gdLst>
              <a:gd name="connsiteX0" fmla="*/ 0 w 1733107"/>
              <a:gd name="connsiteY0" fmla="*/ 1201542 h 1201542"/>
              <a:gd name="connsiteX1" fmla="*/ 914400 w 1733107"/>
              <a:gd name="connsiteY1" fmla="*/ 63 h 1201542"/>
              <a:gd name="connsiteX2" fmla="*/ 1733107 w 1733107"/>
              <a:gd name="connsiteY2" fmla="*/ 1159012 h 1201542"/>
            </a:gdLst>
            <a:ahLst/>
            <a:cxnLst>
              <a:cxn ang="0">
                <a:pos x="connsiteX0" y="connsiteY0"/>
              </a:cxn>
              <a:cxn ang="0">
                <a:pos x="connsiteX1" y="connsiteY1"/>
              </a:cxn>
              <a:cxn ang="0">
                <a:pos x="connsiteX2" y="connsiteY2"/>
              </a:cxn>
            </a:cxnLst>
            <a:rect l="l" t="t" r="r" b="b"/>
            <a:pathLst>
              <a:path w="1733107" h="1201542">
                <a:moveTo>
                  <a:pt x="0" y="1201542"/>
                </a:moveTo>
                <a:cubicBezTo>
                  <a:pt x="312774" y="604346"/>
                  <a:pt x="625549" y="7151"/>
                  <a:pt x="914400" y="63"/>
                </a:cubicBezTo>
                <a:cubicBezTo>
                  <a:pt x="1203251" y="-7025"/>
                  <a:pt x="1468179" y="575993"/>
                  <a:pt x="1733107" y="1159012"/>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extBox 5"/>
          <p:cNvSpPr txBox="1"/>
          <p:nvPr/>
        </p:nvSpPr>
        <p:spPr>
          <a:xfrm>
            <a:off x="518102" y="1362032"/>
            <a:ext cx="1296144" cy="369332"/>
          </a:xfrm>
          <a:prstGeom prst="rect">
            <a:avLst/>
          </a:prstGeom>
          <a:noFill/>
        </p:spPr>
        <p:txBody>
          <a:bodyPr wrap="square" rtlCol="0">
            <a:spAutoFit/>
          </a:bodyPr>
          <a:lstStyle/>
          <a:p>
            <a:r>
              <a:rPr lang="en-GB"/>
              <a:t>Equation</a:t>
            </a:r>
          </a:p>
        </p:txBody>
      </p:sp>
      <mc:AlternateContent xmlns:mc="http://schemas.openxmlformats.org/markup-compatibility/2006">
        <mc:Choice xmlns:a14="http://schemas.microsoft.com/office/drawing/2010/main" Requires="a14">
          <p:sp>
            <p:nvSpPr>
              <p:cNvPr id="7" name="TextBox 6"/>
              <p:cNvSpPr txBox="1"/>
              <p:nvPr/>
            </p:nvSpPr>
            <p:spPr>
              <a:xfrm>
                <a:off x="2462318" y="1362032"/>
                <a:ext cx="1296144" cy="369332"/>
              </a:xfrm>
              <a:prstGeom prst="rect">
                <a:avLst/>
              </a:prstGeom>
              <a:noFill/>
            </p:spPr>
            <p:txBody>
              <a:bodyPr wrap="square" rtlCol="0">
                <a:spAutoFit/>
              </a:bodyPr>
              <a:lstStyle/>
              <a:p>
                <a:r>
                  <a:rPr lang="en-GB"/>
                  <a:t>If </a:t>
                </a:r>
                <a14:m>
                  <m:oMath xmlns:m="http://schemas.openxmlformats.org/officeDocument/2006/math">
                    <m:r>
                      <a:rPr lang="en-GB" b="0" i="1" smtClean="0">
                        <a:latin typeface="Cambria Math" panose="02040503050406030204" pitchFamily="18" charset="0"/>
                      </a:rPr>
                      <m:t>𝑎</m:t>
                    </m:r>
                    <m:r>
                      <a:rPr lang="en-GB" b="0" i="1" smtClean="0">
                        <a:latin typeface="Cambria Math" panose="02040503050406030204" pitchFamily="18" charset="0"/>
                      </a:rPr>
                      <m:t>&gt;0</m:t>
                    </m:r>
                  </m:oMath>
                </a14:m>
                <a:endParaRPr lang="en-GB"/>
              </a:p>
            </p:txBody>
          </p:sp>
        </mc:Choice>
        <mc:Fallback>
          <p:sp>
            <p:nvSpPr>
              <p:cNvPr id="7" name="TextBox 6"/>
              <p:cNvSpPr txBox="1">
                <a:spLocks noRot="1" noChangeAspect="1" noMove="1" noResize="1" noEditPoints="1" noAdjustHandles="1" noChangeArrowheads="1" noChangeShapeType="1" noTextEdit="1"/>
              </p:cNvSpPr>
              <p:nvPr/>
            </p:nvSpPr>
            <p:spPr>
              <a:xfrm>
                <a:off x="2462318" y="1362032"/>
                <a:ext cx="1296144" cy="369332"/>
              </a:xfrm>
              <a:prstGeom prst="rect">
                <a:avLst/>
              </a:prstGeom>
              <a:blipFill>
                <a:blip r:embed="rId2"/>
                <a:stretch>
                  <a:fillRect l="-2885" t="-6667" b="-2333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 name="TextBox 7"/>
              <p:cNvSpPr txBox="1"/>
              <p:nvPr/>
            </p:nvSpPr>
            <p:spPr>
              <a:xfrm>
                <a:off x="5747923" y="1352151"/>
                <a:ext cx="1296144" cy="369332"/>
              </a:xfrm>
              <a:prstGeom prst="rect">
                <a:avLst/>
              </a:prstGeom>
              <a:noFill/>
            </p:spPr>
            <p:txBody>
              <a:bodyPr wrap="square" rtlCol="0">
                <a:spAutoFit/>
              </a:bodyPr>
              <a:lstStyle/>
              <a:p>
                <a:r>
                  <a:rPr lang="en-GB"/>
                  <a:t>If </a:t>
                </a:r>
                <a14:m>
                  <m:oMath xmlns:m="http://schemas.openxmlformats.org/officeDocument/2006/math">
                    <m:r>
                      <a:rPr lang="en-GB" b="0" i="1" smtClean="0">
                        <a:latin typeface="Cambria Math" panose="02040503050406030204" pitchFamily="18" charset="0"/>
                      </a:rPr>
                      <m:t>𝑎</m:t>
                    </m:r>
                    <m:r>
                      <a:rPr lang="en-GB" b="0" i="1" smtClean="0">
                        <a:latin typeface="Cambria Math" panose="02040503050406030204" pitchFamily="18" charset="0"/>
                      </a:rPr>
                      <m:t>&lt;0</m:t>
                    </m:r>
                  </m:oMath>
                </a14:m>
                <a:endParaRPr lang="en-GB"/>
              </a:p>
            </p:txBody>
          </p:sp>
        </mc:Choice>
        <mc:Fallback>
          <p:sp>
            <p:nvSpPr>
              <p:cNvPr id="8" name="TextBox 7"/>
              <p:cNvSpPr txBox="1">
                <a:spLocks noRot="1" noChangeAspect="1" noMove="1" noResize="1" noEditPoints="1" noAdjustHandles="1" noChangeArrowheads="1" noChangeShapeType="1" noTextEdit="1"/>
              </p:cNvSpPr>
              <p:nvPr/>
            </p:nvSpPr>
            <p:spPr>
              <a:xfrm>
                <a:off x="5747923" y="1352151"/>
                <a:ext cx="1296144" cy="369332"/>
              </a:xfrm>
              <a:prstGeom prst="rect">
                <a:avLst/>
              </a:prstGeom>
              <a:blipFill>
                <a:blip r:embed="rId3"/>
                <a:stretch>
                  <a:fillRect l="-3883" t="-6667" b="-26667"/>
                </a:stretch>
              </a:blipFill>
            </p:spPr>
            <p:txBody>
              <a:bodyPr/>
              <a:lstStyle/>
              <a:p>
                <a:r>
                  <a:rPr lang="en-US">
                    <a:noFill/>
                  </a:rPr>
                  <a:t> </a:t>
                </a:r>
              </a:p>
            </p:txBody>
          </p:sp>
        </mc:Fallback>
      </mc:AlternateContent>
      <p:sp>
        <p:nvSpPr>
          <p:cNvPr id="9" name="TextBox 8"/>
          <p:cNvSpPr txBox="1"/>
          <p:nvPr/>
        </p:nvSpPr>
        <p:spPr>
          <a:xfrm>
            <a:off x="4127414" y="1138749"/>
            <a:ext cx="1296144" cy="646331"/>
          </a:xfrm>
          <a:prstGeom prst="rect">
            <a:avLst/>
          </a:prstGeom>
          <a:noFill/>
        </p:spPr>
        <p:txBody>
          <a:bodyPr wrap="square" rtlCol="0">
            <a:spAutoFit/>
          </a:bodyPr>
          <a:lstStyle/>
          <a:p>
            <a:r>
              <a:rPr lang="en-GB"/>
              <a:t>Resulting Shape</a:t>
            </a:r>
          </a:p>
        </p:txBody>
      </p:sp>
      <p:sp>
        <p:nvSpPr>
          <p:cNvPr id="10" name="TextBox 9"/>
          <p:cNvSpPr txBox="1"/>
          <p:nvPr/>
        </p:nvSpPr>
        <p:spPr>
          <a:xfrm>
            <a:off x="7368432" y="1138749"/>
            <a:ext cx="1296144" cy="646331"/>
          </a:xfrm>
          <a:prstGeom prst="rect">
            <a:avLst/>
          </a:prstGeom>
          <a:noFill/>
        </p:spPr>
        <p:txBody>
          <a:bodyPr wrap="square" rtlCol="0">
            <a:spAutoFit/>
          </a:bodyPr>
          <a:lstStyle/>
          <a:p>
            <a:r>
              <a:rPr lang="en-GB"/>
              <a:t>Resulting Shape</a:t>
            </a:r>
          </a:p>
        </p:txBody>
      </p:sp>
      <p:cxnSp>
        <p:nvCxnSpPr>
          <p:cNvPr id="12" name="Straight Connector 11"/>
          <p:cNvCxnSpPr/>
          <p:nvPr/>
        </p:nvCxnSpPr>
        <p:spPr>
          <a:xfrm>
            <a:off x="374086" y="1866088"/>
            <a:ext cx="8290490" cy="0"/>
          </a:xfrm>
          <a:prstGeom prst="line">
            <a:avLst/>
          </a:prstGeom>
        </p:spPr>
        <p:style>
          <a:lnRef idx="1">
            <a:schemeClr val="dk1"/>
          </a:lnRef>
          <a:fillRef idx="0">
            <a:schemeClr val="dk1"/>
          </a:fillRef>
          <a:effectRef idx="0">
            <a:schemeClr val="dk1"/>
          </a:effectRef>
          <a:fontRef idx="minor">
            <a:schemeClr val="tx1"/>
          </a:fontRef>
        </p:style>
      </p:cxnSp>
      <p:cxnSp>
        <p:nvCxnSpPr>
          <p:cNvPr id="17" name="Straight Connector 16"/>
          <p:cNvCxnSpPr/>
          <p:nvPr/>
        </p:nvCxnSpPr>
        <p:spPr>
          <a:xfrm flipV="1">
            <a:off x="3902478" y="1249914"/>
            <a:ext cx="0" cy="4733569"/>
          </a:xfrm>
          <a:prstGeom prst="line">
            <a:avLst/>
          </a:prstGeom>
        </p:spPr>
        <p:style>
          <a:lnRef idx="1">
            <a:schemeClr val="dk1"/>
          </a:lnRef>
          <a:fillRef idx="0">
            <a:schemeClr val="dk1"/>
          </a:fillRef>
          <a:effectRef idx="0">
            <a:schemeClr val="dk1"/>
          </a:effectRef>
          <a:fontRef idx="minor">
            <a:schemeClr val="tx1"/>
          </a:fontRef>
        </p:style>
      </p:cxnSp>
      <p:cxnSp>
        <p:nvCxnSpPr>
          <p:cNvPr id="19" name="Straight Connector 18"/>
          <p:cNvCxnSpPr/>
          <p:nvPr/>
        </p:nvCxnSpPr>
        <p:spPr>
          <a:xfrm flipV="1">
            <a:off x="7160164" y="1249914"/>
            <a:ext cx="12631" cy="4774944"/>
          </a:xfrm>
          <a:prstGeom prst="line">
            <a:avLst/>
          </a:prstGeom>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20" name="TextBox 19"/>
              <p:cNvSpPr txBox="1"/>
              <p:nvPr/>
            </p:nvSpPr>
            <p:spPr>
              <a:xfrm>
                <a:off x="63610" y="2223345"/>
                <a:ext cx="1979712" cy="369332"/>
              </a:xfrm>
              <a:prstGeom prst="rect">
                <a:avLst/>
              </a:prstGeom>
              <a:noFill/>
            </p:spPr>
            <p:txBody>
              <a:bodyPr wrap="square" rtlCol="0">
                <a:spAutoFit/>
              </a:bodyPr>
              <a:lstStyle/>
              <a:p>
                <a:pPr/>
                <a14:m>
                  <m:oMathPara xmlns:m="http://schemas.openxmlformats.org/officeDocument/2006/math">
                    <m:oMath>
                      <m:r>
                        <a:rPr lang="en-GB" b="0" i="1" smtClean="0">
                          <a:latin typeface="Cambria Math" panose="02040503050406030204" pitchFamily="18" charset="0"/>
                        </a:rPr>
                        <m:t>𝑦</m:t>
                      </m:r>
                      <m:r>
                        <a:rPr lang="en-GB" b="0" i="1" smtClean="0">
                          <a:latin typeface="Cambria Math" panose="02040503050406030204" pitchFamily="18" charset="0"/>
                        </a:rPr>
                        <m:t>=</m:t>
                      </m:r>
                      <m:r>
                        <a:rPr lang="en-GB" b="0" i="1" smtClean="0">
                          <a:latin typeface="Cambria Math" panose="02040503050406030204" pitchFamily="18" charset="0"/>
                        </a:rPr>
                        <m:t>𝑎</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2</m:t>
                          </m:r>
                        </m:sup>
                      </m:sSup>
                      <m:r>
                        <a:rPr lang="en-GB" b="0" i="1" smtClean="0">
                          <a:latin typeface="Cambria Math" panose="02040503050406030204" pitchFamily="18" charset="0"/>
                        </a:rPr>
                        <m:t>+</m:t>
                      </m:r>
                      <m:r>
                        <a:rPr lang="en-GB" b="0" i="1" smtClean="0">
                          <a:latin typeface="Cambria Math" panose="02040503050406030204" pitchFamily="18" charset="0"/>
                        </a:rPr>
                        <m:t>𝑏𝑥</m:t>
                      </m:r>
                      <m:r>
                        <a:rPr lang="en-GB" b="0" i="1" smtClean="0">
                          <a:latin typeface="Cambria Math" panose="02040503050406030204" pitchFamily="18" charset="0"/>
                        </a:rPr>
                        <m:t>+</m:t>
                      </m:r>
                      <m:r>
                        <a:rPr lang="en-GB" b="0" i="1" smtClean="0">
                          <a:latin typeface="Cambria Math" panose="02040503050406030204" pitchFamily="18" charset="0"/>
                        </a:rPr>
                        <m:t>𝑐</m:t>
                      </m:r>
                    </m:oMath>
                  </m:oMathPara>
                </a14:m>
                <a:endParaRPr lang="en-GB"/>
              </a:p>
            </p:txBody>
          </p:sp>
        </mc:Choice>
        <mc:Fallback>
          <p:sp>
            <p:nvSpPr>
              <p:cNvPr id="20" name="TextBox 19"/>
              <p:cNvSpPr txBox="1">
                <a:spLocks noRot="1" noChangeAspect="1" noMove="1" noResize="1" noEditPoints="1" noAdjustHandles="1" noChangeArrowheads="1" noChangeShapeType="1" noTextEdit="1"/>
              </p:cNvSpPr>
              <p:nvPr/>
            </p:nvSpPr>
            <p:spPr>
              <a:xfrm>
                <a:off x="63610" y="2223345"/>
                <a:ext cx="1979712" cy="369332"/>
              </a:xfrm>
              <a:prstGeom prst="rect">
                <a:avLst/>
              </a:prstGeom>
              <a:blipFill>
                <a:blip r:embed="rId4"/>
                <a:stretch>
                  <a:fillRect b="-666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1" name="TextBox 20"/>
              <p:cNvSpPr txBox="1"/>
              <p:nvPr/>
            </p:nvSpPr>
            <p:spPr>
              <a:xfrm>
                <a:off x="2190122" y="2103378"/>
                <a:ext cx="1679944" cy="523220"/>
              </a:xfrm>
              <a:prstGeom prst="rect">
                <a:avLst/>
              </a:prstGeom>
              <a:noFill/>
            </p:spPr>
            <p:txBody>
              <a:bodyPr wrap="square" rtlCol="0">
                <a:spAutoFit/>
              </a:bodyPr>
              <a:lstStyle/>
              <a:p>
                <a:r>
                  <a:rPr lang="en-GB" sz="1400"/>
                  <a:t>As </a:t>
                </a:r>
                <a14:m>
                  <m:oMath xmlns:m="http://schemas.openxmlformats.org/officeDocument/2006/math">
                    <m:r>
                      <a:rPr lang="en-GB" sz="1400" b="0" i="1" smtClean="0">
                        <a:latin typeface="Cambria Math" panose="02040503050406030204" pitchFamily="18" charset="0"/>
                      </a:rPr>
                      <m:t>𝑥</m:t>
                    </m:r>
                    <m:r>
                      <a:rPr lang="en-GB" sz="1400" b="0" i="1" smtClean="0">
                        <a:latin typeface="Cambria Math" panose="02040503050406030204" pitchFamily="18" charset="0"/>
                      </a:rPr>
                      <m:t>→∞, </m:t>
                    </m:r>
                    <m:r>
                      <a:rPr lang="en-GB" sz="1400" b="0" i="1" smtClean="0">
                        <a:latin typeface="Cambria Math" panose="02040503050406030204" pitchFamily="18" charset="0"/>
                      </a:rPr>
                      <m:t>𝑦</m:t>
                    </m:r>
                    <m:r>
                      <a:rPr lang="en-GB" sz="1400" b="0" i="1" smtClean="0">
                        <a:latin typeface="Cambria Math" panose="02040503050406030204" pitchFamily="18" charset="0"/>
                      </a:rPr>
                      <m:t>→∞</m:t>
                    </m:r>
                  </m:oMath>
                </a14:m>
                <a:endParaRPr lang="en-GB" sz="1400"/>
              </a:p>
              <a:p>
                <a:r>
                  <a:rPr lang="en-GB" sz="1400"/>
                  <a:t>As </a:t>
                </a:r>
                <a14:m>
                  <m:oMath xmlns:m="http://schemas.openxmlformats.org/officeDocument/2006/math">
                    <m:r>
                      <a:rPr lang="en-GB" sz="1400" b="0" i="1" smtClean="0">
                        <a:latin typeface="Cambria Math" panose="02040503050406030204" pitchFamily="18" charset="0"/>
                      </a:rPr>
                      <m:t>𝑥</m:t>
                    </m:r>
                    <m:r>
                      <a:rPr lang="en-GB" sz="1400" b="0" i="1" smtClean="0">
                        <a:latin typeface="Cambria Math" panose="02040503050406030204" pitchFamily="18" charset="0"/>
                      </a:rPr>
                      <m:t>→−∞, </m:t>
                    </m:r>
                    <m:r>
                      <a:rPr lang="en-GB" sz="1400" b="0" i="1" smtClean="0">
                        <a:latin typeface="Cambria Math" panose="02040503050406030204" pitchFamily="18" charset="0"/>
                      </a:rPr>
                      <m:t>𝑦</m:t>
                    </m:r>
                    <m:r>
                      <a:rPr lang="en-GB" sz="1400" b="0" i="1" smtClean="0">
                        <a:latin typeface="Cambria Math" panose="02040503050406030204" pitchFamily="18" charset="0"/>
                      </a:rPr>
                      <m:t>→∞</m:t>
                    </m:r>
                  </m:oMath>
                </a14:m>
                <a:endParaRPr lang="en-GB" sz="1400"/>
              </a:p>
            </p:txBody>
          </p:sp>
        </mc:Choice>
        <mc:Fallback>
          <p:sp>
            <p:nvSpPr>
              <p:cNvPr id="21" name="TextBox 20"/>
              <p:cNvSpPr txBox="1">
                <a:spLocks noRot="1" noChangeAspect="1" noMove="1" noResize="1" noEditPoints="1" noAdjustHandles="1" noChangeArrowheads="1" noChangeShapeType="1" noTextEdit="1"/>
              </p:cNvSpPr>
              <p:nvPr/>
            </p:nvSpPr>
            <p:spPr>
              <a:xfrm>
                <a:off x="2190122" y="2103378"/>
                <a:ext cx="1679944" cy="523220"/>
              </a:xfrm>
              <a:prstGeom prst="rect">
                <a:avLst/>
              </a:prstGeom>
              <a:blipFill>
                <a:blip r:embed="rId5"/>
                <a:stretch>
                  <a:fillRect l="-1504" t="-2381" b="-14286"/>
                </a:stretch>
              </a:blipFill>
            </p:spPr>
            <p:txBody>
              <a:bodyPr/>
              <a:lstStyle/>
              <a:p>
                <a:r>
                  <a:rPr lang="en-US">
                    <a:noFill/>
                  </a:rPr>
                  <a:t> </a:t>
                </a:r>
              </a:p>
            </p:txBody>
          </p:sp>
        </mc:Fallback>
      </mc:AlternateContent>
      <p:sp>
        <p:nvSpPr>
          <p:cNvPr id="22" name="Freeform: Shape 21"/>
          <p:cNvSpPr/>
          <p:nvPr/>
        </p:nvSpPr>
        <p:spPr>
          <a:xfrm>
            <a:off x="7375768" y="2092746"/>
            <a:ext cx="972108" cy="482496"/>
          </a:xfrm>
          <a:custGeom>
            <a:avLst/>
            <a:gdLst>
              <a:gd name="connsiteX0" fmla="*/ 0 w 1733107"/>
              <a:gd name="connsiteY0" fmla="*/ 1201542 h 1201542"/>
              <a:gd name="connsiteX1" fmla="*/ 914400 w 1733107"/>
              <a:gd name="connsiteY1" fmla="*/ 63 h 1201542"/>
              <a:gd name="connsiteX2" fmla="*/ 1733107 w 1733107"/>
              <a:gd name="connsiteY2" fmla="*/ 1159012 h 1201542"/>
            </a:gdLst>
            <a:ahLst/>
            <a:cxnLst>
              <a:cxn ang="0">
                <a:pos x="connsiteX0" y="connsiteY0"/>
              </a:cxn>
              <a:cxn ang="0">
                <a:pos x="connsiteX1" y="connsiteY1"/>
              </a:cxn>
              <a:cxn ang="0">
                <a:pos x="connsiteX2" y="connsiteY2"/>
              </a:cxn>
            </a:cxnLst>
            <a:rect l="l" t="t" r="r" b="b"/>
            <a:pathLst>
              <a:path w="1733107" h="1201542">
                <a:moveTo>
                  <a:pt x="0" y="1201542"/>
                </a:moveTo>
                <a:cubicBezTo>
                  <a:pt x="312774" y="604346"/>
                  <a:pt x="625549" y="7151"/>
                  <a:pt x="914400" y="63"/>
                </a:cubicBezTo>
                <a:cubicBezTo>
                  <a:pt x="1203251" y="-7025"/>
                  <a:pt x="1468179" y="575993"/>
                  <a:pt x="1733107" y="1159012"/>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mc:Choice xmlns:a14="http://schemas.microsoft.com/office/drawing/2010/main" Requires="a14">
          <p:sp>
            <p:nvSpPr>
              <p:cNvPr id="23" name="TextBox 22"/>
              <p:cNvSpPr txBox="1"/>
              <p:nvPr/>
            </p:nvSpPr>
            <p:spPr>
              <a:xfrm>
                <a:off x="5423557" y="2092746"/>
                <a:ext cx="1774499" cy="523220"/>
              </a:xfrm>
              <a:prstGeom prst="rect">
                <a:avLst/>
              </a:prstGeom>
              <a:noFill/>
            </p:spPr>
            <p:txBody>
              <a:bodyPr wrap="square" rtlCol="0">
                <a:spAutoFit/>
              </a:bodyPr>
              <a:lstStyle/>
              <a:p>
                <a:r>
                  <a:rPr lang="en-GB" sz="1400"/>
                  <a:t>As </a:t>
                </a:r>
                <a14:m>
                  <m:oMath xmlns:m="http://schemas.openxmlformats.org/officeDocument/2006/math">
                    <m:r>
                      <a:rPr lang="en-GB" sz="1400" b="0" i="1" smtClean="0">
                        <a:latin typeface="Cambria Math" panose="02040503050406030204" pitchFamily="18" charset="0"/>
                      </a:rPr>
                      <m:t>𝑥</m:t>
                    </m:r>
                    <m:r>
                      <a:rPr lang="en-GB" sz="1400" b="0" i="1" smtClean="0">
                        <a:latin typeface="Cambria Math" panose="02040503050406030204" pitchFamily="18" charset="0"/>
                      </a:rPr>
                      <m:t>→∞, </m:t>
                    </m:r>
                    <m:r>
                      <a:rPr lang="en-GB" sz="1400" b="0" i="1" smtClean="0">
                        <a:latin typeface="Cambria Math" panose="02040503050406030204" pitchFamily="18" charset="0"/>
                      </a:rPr>
                      <m:t>𝑦</m:t>
                    </m:r>
                    <m:r>
                      <a:rPr lang="en-GB" sz="1400" b="0" i="1" smtClean="0">
                        <a:latin typeface="Cambria Math" panose="02040503050406030204" pitchFamily="18" charset="0"/>
                      </a:rPr>
                      <m:t>→−∞</m:t>
                    </m:r>
                  </m:oMath>
                </a14:m>
                <a:endParaRPr lang="en-GB" sz="1400"/>
              </a:p>
              <a:p>
                <a:r>
                  <a:rPr lang="en-GB" sz="1400"/>
                  <a:t>As </a:t>
                </a:r>
                <a14:m>
                  <m:oMath xmlns:m="http://schemas.openxmlformats.org/officeDocument/2006/math">
                    <m:r>
                      <a:rPr lang="en-GB" sz="1400" b="0" i="1" smtClean="0">
                        <a:latin typeface="Cambria Math" panose="02040503050406030204" pitchFamily="18" charset="0"/>
                      </a:rPr>
                      <m:t>𝑥</m:t>
                    </m:r>
                    <m:r>
                      <a:rPr lang="en-GB" sz="1400" b="0" i="1" smtClean="0">
                        <a:latin typeface="Cambria Math" panose="02040503050406030204" pitchFamily="18" charset="0"/>
                      </a:rPr>
                      <m:t>→−∞, </m:t>
                    </m:r>
                    <m:r>
                      <a:rPr lang="en-GB" sz="1400" b="0" i="1" smtClean="0">
                        <a:latin typeface="Cambria Math" panose="02040503050406030204" pitchFamily="18" charset="0"/>
                      </a:rPr>
                      <m:t>𝑦</m:t>
                    </m:r>
                    <m:r>
                      <a:rPr lang="en-GB" sz="1400" b="0" i="1" smtClean="0">
                        <a:latin typeface="Cambria Math" panose="02040503050406030204" pitchFamily="18" charset="0"/>
                      </a:rPr>
                      <m:t>→−∞</m:t>
                    </m:r>
                  </m:oMath>
                </a14:m>
                <a:endParaRPr lang="en-GB" sz="1400"/>
              </a:p>
            </p:txBody>
          </p:sp>
        </mc:Choice>
        <mc:Fallback>
          <p:sp>
            <p:nvSpPr>
              <p:cNvPr id="23" name="TextBox 22"/>
              <p:cNvSpPr txBox="1">
                <a:spLocks noRot="1" noChangeAspect="1" noMove="1" noResize="1" noEditPoints="1" noAdjustHandles="1" noChangeArrowheads="1" noChangeShapeType="1" noTextEdit="1"/>
              </p:cNvSpPr>
              <p:nvPr/>
            </p:nvSpPr>
            <p:spPr>
              <a:xfrm>
                <a:off x="5423557" y="2092746"/>
                <a:ext cx="1774499" cy="523220"/>
              </a:xfrm>
              <a:prstGeom prst="rect">
                <a:avLst/>
              </a:prstGeom>
              <a:blipFill>
                <a:blip r:embed="rId6"/>
                <a:stretch>
                  <a:fillRect l="-1429" t="-2381" b="-14286"/>
                </a:stretch>
              </a:blipFill>
            </p:spPr>
            <p:txBody>
              <a:bodyPr/>
              <a:lstStyle/>
              <a:p>
                <a:r>
                  <a:rPr lang="en-US">
                    <a:noFill/>
                  </a:rPr>
                  <a:t> </a:t>
                </a:r>
              </a:p>
            </p:txBody>
          </p:sp>
        </mc:Fallback>
      </mc:AlternateContent>
      <p:cxnSp>
        <p:nvCxnSpPr>
          <p:cNvPr id="25" name="Straight Connector 24"/>
          <p:cNvCxnSpPr/>
          <p:nvPr/>
        </p:nvCxnSpPr>
        <p:spPr>
          <a:xfrm>
            <a:off x="374086" y="3018216"/>
            <a:ext cx="8290490" cy="0"/>
          </a:xfrm>
          <a:prstGeom prst="line">
            <a:avLst/>
          </a:prstGeom>
        </p:spPr>
        <p:style>
          <a:lnRef idx="1">
            <a:schemeClr val="dk1"/>
          </a:lnRef>
          <a:fillRef idx="0">
            <a:schemeClr val="dk1"/>
          </a:fillRef>
          <a:effectRef idx="0">
            <a:schemeClr val="dk1"/>
          </a:effectRef>
          <a:fontRef idx="minor">
            <a:schemeClr val="tx1"/>
          </a:fontRef>
        </p:style>
      </p:cxnSp>
      <p:cxnSp>
        <p:nvCxnSpPr>
          <p:cNvPr id="26" name="Straight Connector 25"/>
          <p:cNvCxnSpPr/>
          <p:nvPr/>
        </p:nvCxnSpPr>
        <p:spPr>
          <a:xfrm>
            <a:off x="374086" y="4242352"/>
            <a:ext cx="8290490" cy="0"/>
          </a:xfrm>
          <a:prstGeom prst="line">
            <a:avLst/>
          </a:prstGeom>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27" name="TextBox 26"/>
              <p:cNvSpPr txBox="1"/>
              <p:nvPr/>
            </p:nvSpPr>
            <p:spPr>
              <a:xfrm>
                <a:off x="15761" y="3340765"/>
                <a:ext cx="1979712" cy="646331"/>
              </a:xfrm>
              <a:prstGeom prst="rect">
                <a:avLst/>
              </a:prstGeom>
              <a:noFill/>
            </p:spPr>
            <p:txBody>
              <a:bodyPr wrap="square" rtlCol="0">
                <a:spAutoFit/>
              </a:bodyPr>
              <a:lstStyle/>
              <a:p>
                <a:pPr/>
                <a14:m>
                  <m:oMathPara xmlns:m="http://schemas.openxmlformats.org/officeDocument/2006/math">
                    <m:oMath>
                      <m:r>
                        <a:rPr lang="en-GB" b="0" i="1" smtClean="0">
                          <a:latin typeface="Cambria Math" panose="02040503050406030204" pitchFamily="18" charset="0"/>
                        </a:rPr>
                        <m:t>𝑦</m:t>
                      </m:r>
                      <m:r>
                        <a:rPr lang="en-GB" b="0" i="1" smtClean="0">
                          <a:latin typeface="Cambria Math" panose="02040503050406030204" pitchFamily="18" charset="0"/>
                        </a:rPr>
                        <m:t>=</m:t>
                      </m:r>
                      <m:r>
                        <a:rPr lang="en-GB" b="0" i="1" smtClean="0">
                          <a:latin typeface="Cambria Math" panose="02040503050406030204" pitchFamily="18" charset="0"/>
                        </a:rPr>
                        <m:t>𝑎</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3</m:t>
                          </m:r>
                        </m:sup>
                      </m:sSup>
                      <m:r>
                        <a:rPr lang="en-GB" b="0" i="1" smtClean="0">
                          <a:latin typeface="Cambria Math" panose="02040503050406030204" pitchFamily="18" charset="0"/>
                        </a:rPr>
                        <m:t>+</m:t>
                      </m:r>
                      <m:r>
                        <a:rPr lang="en-GB" b="0" i="1" smtClean="0">
                          <a:latin typeface="Cambria Math" panose="02040503050406030204" pitchFamily="18" charset="0"/>
                        </a:rPr>
                        <m:t>𝑏</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2</m:t>
                          </m:r>
                        </m:sup>
                      </m:sSup>
                    </m:oMath>
                  </m:oMathPara>
                </a14:m>
                <a:br>
                  <a:rPr lang="en-GB" b="0" i="1">
                    <a:latin typeface="Cambria Math" panose="02040503050406030204" pitchFamily="18" charset="0"/>
                  </a:rPr>
                </a:br>
                <a:r>
                  <a:rPr lang="en-GB" b="0" i="1">
                    <a:latin typeface="Cambria Math" panose="02040503050406030204" pitchFamily="18" charset="0"/>
                  </a:rPr>
                  <a:t>             </a:t>
                </a:r>
                <a14:m>
                  <m:oMath xmlns:m="http://schemas.openxmlformats.org/officeDocument/2006/math">
                    <m:r>
                      <a:rPr lang="en-GB" b="0" i="1" smtClean="0">
                        <a:latin typeface="Cambria Math" panose="02040503050406030204" pitchFamily="18" charset="0"/>
                      </a:rPr>
                      <m:t>+</m:t>
                    </m:r>
                    <m:r>
                      <a:rPr lang="en-GB" b="0" i="1" smtClean="0">
                        <a:latin typeface="Cambria Math" panose="02040503050406030204" pitchFamily="18" charset="0"/>
                      </a:rPr>
                      <m:t>𝑐𝑥</m:t>
                    </m:r>
                    <m:r>
                      <a:rPr lang="en-GB" b="0" i="1" smtClean="0">
                        <a:latin typeface="Cambria Math" panose="02040503050406030204" pitchFamily="18" charset="0"/>
                      </a:rPr>
                      <m:t>+</m:t>
                    </m:r>
                    <m:r>
                      <a:rPr lang="en-GB" b="0" i="1" smtClean="0">
                        <a:latin typeface="Cambria Math" panose="02040503050406030204" pitchFamily="18" charset="0"/>
                      </a:rPr>
                      <m:t>𝑑</m:t>
                    </m:r>
                  </m:oMath>
                </a14:m>
                <a:endParaRPr lang="en-GB"/>
              </a:p>
            </p:txBody>
          </p:sp>
        </mc:Choice>
        <mc:Fallback>
          <p:sp>
            <p:nvSpPr>
              <p:cNvPr id="27" name="TextBox 26"/>
              <p:cNvSpPr txBox="1">
                <a:spLocks noRot="1" noChangeAspect="1" noMove="1" noResize="1" noEditPoints="1" noAdjustHandles="1" noChangeArrowheads="1" noChangeShapeType="1" noTextEdit="1"/>
              </p:cNvSpPr>
              <p:nvPr/>
            </p:nvSpPr>
            <p:spPr>
              <a:xfrm>
                <a:off x="15761" y="3340765"/>
                <a:ext cx="1979712" cy="646331"/>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8" name="TextBox 27"/>
              <p:cNvSpPr txBox="1"/>
              <p:nvPr/>
            </p:nvSpPr>
            <p:spPr>
              <a:xfrm>
                <a:off x="2148106" y="3381055"/>
                <a:ext cx="1764490" cy="523220"/>
              </a:xfrm>
              <a:prstGeom prst="rect">
                <a:avLst/>
              </a:prstGeom>
              <a:noFill/>
            </p:spPr>
            <p:txBody>
              <a:bodyPr wrap="square" rtlCol="0">
                <a:spAutoFit/>
              </a:bodyPr>
              <a:lstStyle/>
              <a:p>
                <a:r>
                  <a:rPr lang="en-GB" sz="1400"/>
                  <a:t>As </a:t>
                </a:r>
                <a14:m>
                  <m:oMath xmlns:m="http://schemas.openxmlformats.org/officeDocument/2006/math">
                    <m:r>
                      <a:rPr lang="en-GB" sz="1400" b="0" i="1" smtClean="0">
                        <a:latin typeface="Cambria Math" panose="02040503050406030204" pitchFamily="18" charset="0"/>
                      </a:rPr>
                      <m:t>𝑥</m:t>
                    </m:r>
                    <m:r>
                      <a:rPr lang="en-GB" sz="1400" b="0" i="1" smtClean="0">
                        <a:latin typeface="Cambria Math" panose="02040503050406030204" pitchFamily="18" charset="0"/>
                      </a:rPr>
                      <m:t>→∞, </m:t>
                    </m:r>
                    <m:r>
                      <a:rPr lang="en-GB" sz="1400" b="0" i="1" smtClean="0">
                        <a:latin typeface="Cambria Math" panose="02040503050406030204" pitchFamily="18" charset="0"/>
                      </a:rPr>
                      <m:t>𝑦</m:t>
                    </m:r>
                    <m:r>
                      <a:rPr lang="en-GB" sz="1400" b="0" i="1" smtClean="0">
                        <a:latin typeface="Cambria Math" panose="02040503050406030204" pitchFamily="18" charset="0"/>
                      </a:rPr>
                      <m:t>→∞</m:t>
                    </m:r>
                  </m:oMath>
                </a14:m>
                <a:endParaRPr lang="en-GB" sz="1400"/>
              </a:p>
              <a:p>
                <a:r>
                  <a:rPr lang="en-GB" sz="1400"/>
                  <a:t>As </a:t>
                </a:r>
                <a14:m>
                  <m:oMath xmlns:m="http://schemas.openxmlformats.org/officeDocument/2006/math">
                    <m:r>
                      <a:rPr lang="en-GB" sz="1400" b="0" i="1" smtClean="0">
                        <a:latin typeface="Cambria Math" panose="02040503050406030204" pitchFamily="18" charset="0"/>
                      </a:rPr>
                      <m:t>𝑥</m:t>
                    </m:r>
                    <m:r>
                      <a:rPr lang="en-GB" sz="1400" b="0" i="1" smtClean="0">
                        <a:latin typeface="Cambria Math" panose="02040503050406030204" pitchFamily="18" charset="0"/>
                      </a:rPr>
                      <m:t>→−∞, </m:t>
                    </m:r>
                    <m:r>
                      <a:rPr lang="en-GB" sz="1400" b="0" i="1" smtClean="0">
                        <a:latin typeface="Cambria Math" panose="02040503050406030204" pitchFamily="18" charset="0"/>
                      </a:rPr>
                      <m:t>𝑦</m:t>
                    </m:r>
                    <m:r>
                      <a:rPr lang="en-GB" sz="1400" b="0" i="1" smtClean="0">
                        <a:latin typeface="Cambria Math" panose="02040503050406030204" pitchFamily="18" charset="0"/>
                      </a:rPr>
                      <m:t>→−∞</m:t>
                    </m:r>
                  </m:oMath>
                </a14:m>
                <a:endParaRPr lang="en-GB" sz="1400"/>
              </a:p>
            </p:txBody>
          </p:sp>
        </mc:Choice>
        <mc:Fallback>
          <p:sp>
            <p:nvSpPr>
              <p:cNvPr id="28" name="TextBox 27"/>
              <p:cNvSpPr txBox="1">
                <a:spLocks noRot="1" noChangeAspect="1" noMove="1" noResize="1" noEditPoints="1" noAdjustHandles="1" noChangeArrowheads="1" noChangeShapeType="1" noTextEdit="1"/>
              </p:cNvSpPr>
              <p:nvPr/>
            </p:nvSpPr>
            <p:spPr>
              <a:xfrm>
                <a:off x="2148106" y="3381055"/>
                <a:ext cx="1764490" cy="523220"/>
              </a:xfrm>
              <a:prstGeom prst="rect">
                <a:avLst/>
              </a:prstGeom>
              <a:blipFill>
                <a:blip r:embed="rId8"/>
                <a:stretch>
                  <a:fillRect l="-709" t="-2381" b="-11905"/>
                </a:stretch>
              </a:blipFill>
            </p:spPr>
            <p:txBody>
              <a:bodyPr/>
              <a:lstStyle/>
              <a:p>
                <a:r>
                  <a:rPr lang="en-US">
                    <a:noFill/>
                  </a:rPr>
                  <a:t> </a:t>
                </a:r>
              </a:p>
            </p:txBody>
          </p:sp>
        </mc:Fallback>
      </mc:AlternateContent>
      <p:sp>
        <p:nvSpPr>
          <p:cNvPr id="29" name="Freeform: Shape 28"/>
          <p:cNvSpPr/>
          <p:nvPr/>
        </p:nvSpPr>
        <p:spPr>
          <a:xfrm>
            <a:off x="4072085" y="3312517"/>
            <a:ext cx="1073888" cy="701749"/>
          </a:xfrm>
          <a:custGeom>
            <a:avLst/>
            <a:gdLst>
              <a:gd name="connsiteX0" fmla="*/ 0 w 1073888"/>
              <a:gd name="connsiteY0" fmla="*/ 701749 h 701749"/>
              <a:gd name="connsiteX1" fmla="*/ 404037 w 1073888"/>
              <a:gd name="connsiteY1" fmla="*/ 202019 h 701749"/>
              <a:gd name="connsiteX2" fmla="*/ 691116 w 1073888"/>
              <a:gd name="connsiteY2" fmla="*/ 446568 h 701749"/>
              <a:gd name="connsiteX3" fmla="*/ 1073888 w 1073888"/>
              <a:gd name="connsiteY3" fmla="*/ 0 h 701749"/>
            </a:gdLst>
            <a:ahLst/>
            <a:cxnLst>
              <a:cxn ang="0">
                <a:pos x="connsiteX0" y="connsiteY0"/>
              </a:cxn>
              <a:cxn ang="0">
                <a:pos x="connsiteX1" y="connsiteY1"/>
              </a:cxn>
              <a:cxn ang="0">
                <a:pos x="connsiteX2" y="connsiteY2"/>
              </a:cxn>
              <a:cxn ang="0">
                <a:pos x="connsiteX3" y="connsiteY3"/>
              </a:cxn>
            </a:cxnLst>
            <a:rect l="l" t="t" r="r" b="b"/>
            <a:pathLst>
              <a:path w="1073888" h="701749">
                <a:moveTo>
                  <a:pt x="0" y="701749"/>
                </a:moveTo>
                <a:cubicBezTo>
                  <a:pt x="144425" y="473149"/>
                  <a:pt x="288851" y="244549"/>
                  <a:pt x="404037" y="202019"/>
                </a:cubicBezTo>
                <a:cubicBezTo>
                  <a:pt x="519223" y="159489"/>
                  <a:pt x="579474" y="480238"/>
                  <a:pt x="691116" y="446568"/>
                </a:cubicBezTo>
                <a:cubicBezTo>
                  <a:pt x="802758" y="412898"/>
                  <a:pt x="938323" y="206449"/>
                  <a:pt x="1073888"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Freeform: Shape 29"/>
          <p:cNvSpPr/>
          <p:nvPr/>
        </p:nvSpPr>
        <p:spPr>
          <a:xfrm flipV="1">
            <a:off x="7302898" y="3185991"/>
            <a:ext cx="1073888" cy="885726"/>
          </a:xfrm>
          <a:custGeom>
            <a:avLst/>
            <a:gdLst>
              <a:gd name="connsiteX0" fmla="*/ 0 w 1073888"/>
              <a:gd name="connsiteY0" fmla="*/ 701749 h 701749"/>
              <a:gd name="connsiteX1" fmla="*/ 404037 w 1073888"/>
              <a:gd name="connsiteY1" fmla="*/ 202019 h 701749"/>
              <a:gd name="connsiteX2" fmla="*/ 691116 w 1073888"/>
              <a:gd name="connsiteY2" fmla="*/ 446568 h 701749"/>
              <a:gd name="connsiteX3" fmla="*/ 1073888 w 1073888"/>
              <a:gd name="connsiteY3" fmla="*/ 0 h 701749"/>
            </a:gdLst>
            <a:ahLst/>
            <a:cxnLst>
              <a:cxn ang="0">
                <a:pos x="connsiteX0" y="connsiteY0"/>
              </a:cxn>
              <a:cxn ang="0">
                <a:pos x="connsiteX1" y="connsiteY1"/>
              </a:cxn>
              <a:cxn ang="0">
                <a:pos x="connsiteX2" y="connsiteY2"/>
              </a:cxn>
              <a:cxn ang="0">
                <a:pos x="connsiteX3" y="connsiteY3"/>
              </a:cxn>
            </a:cxnLst>
            <a:rect l="l" t="t" r="r" b="b"/>
            <a:pathLst>
              <a:path w="1073888" h="701749">
                <a:moveTo>
                  <a:pt x="0" y="701749"/>
                </a:moveTo>
                <a:cubicBezTo>
                  <a:pt x="144425" y="473149"/>
                  <a:pt x="288851" y="244549"/>
                  <a:pt x="404037" y="202019"/>
                </a:cubicBezTo>
                <a:cubicBezTo>
                  <a:pt x="519223" y="159489"/>
                  <a:pt x="579474" y="480238"/>
                  <a:pt x="691116" y="446568"/>
                </a:cubicBezTo>
                <a:cubicBezTo>
                  <a:pt x="802758" y="412898"/>
                  <a:pt x="938323" y="206449"/>
                  <a:pt x="1073888"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mc:Choice xmlns:a14="http://schemas.microsoft.com/office/drawing/2010/main" Requires="a14">
          <p:sp>
            <p:nvSpPr>
              <p:cNvPr id="31" name="TextBox 30"/>
              <p:cNvSpPr txBox="1"/>
              <p:nvPr/>
            </p:nvSpPr>
            <p:spPr>
              <a:xfrm>
                <a:off x="5410928" y="3420467"/>
                <a:ext cx="1774499" cy="523220"/>
              </a:xfrm>
              <a:prstGeom prst="rect">
                <a:avLst/>
              </a:prstGeom>
              <a:noFill/>
            </p:spPr>
            <p:txBody>
              <a:bodyPr wrap="square" rtlCol="0">
                <a:spAutoFit/>
              </a:bodyPr>
              <a:lstStyle/>
              <a:p>
                <a:r>
                  <a:rPr lang="en-GB" sz="1400"/>
                  <a:t>As </a:t>
                </a:r>
                <a14:m>
                  <m:oMath xmlns:m="http://schemas.openxmlformats.org/officeDocument/2006/math">
                    <m:r>
                      <a:rPr lang="en-GB" sz="1400" b="0" i="1" smtClean="0">
                        <a:latin typeface="Cambria Math" panose="02040503050406030204" pitchFamily="18" charset="0"/>
                      </a:rPr>
                      <m:t>𝑥</m:t>
                    </m:r>
                    <m:r>
                      <a:rPr lang="en-GB" sz="1400" b="0" i="1" smtClean="0">
                        <a:latin typeface="Cambria Math" panose="02040503050406030204" pitchFamily="18" charset="0"/>
                      </a:rPr>
                      <m:t>→∞, </m:t>
                    </m:r>
                    <m:r>
                      <a:rPr lang="en-GB" sz="1400" b="0" i="1" smtClean="0">
                        <a:latin typeface="Cambria Math" panose="02040503050406030204" pitchFamily="18" charset="0"/>
                      </a:rPr>
                      <m:t>𝑦</m:t>
                    </m:r>
                    <m:r>
                      <a:rPr lang="en-GB" sz="1400" b="0" i="1" smtClean="0">
                        <a:latin typeface="Cambria Math" panose="02040503050406030204" pitchFamily="18" charset="0"/>
                      </a:rPr>
                      <m:t>→−∞</m:t>
                    </m:r>
                  </m:oMath>
                </a14:m>
                <a:endParaRPr lang="en-GB" sz="1400"/>
              </a:p>
              <a:p>
                <a:r>
                  <a:rPr lang="en-GB" sz="1400"/>
                  <a:t>As </a:t>
                </a:r>
                <a14:m>
                  <m:oMath xmlns:m="http://schemas.openxmlformats.org/officeDocument/2006/math">
                    <m:r>
                      <a:rPr lang="en-GB" sz="1400" b="0" i="1" smtClean="0">
                        <a:latin typeface="Cambria Math" panose="02040503050406030204" pitchFamily="18" charset="0"/>
                      </a:rPr>
                      <m:t>𝑥</m:t>
                    </m:r>
                    <m:r>
                      <a:rPr lang="en-GB" sz="1400" b="0" i="1" smtClean="0">
                        <a:latin typeface="Cambria Math" panose="02040503050406030204" pitchFamily="18" charset="0"/>
                      </a:rPr>
                      <m:t>→−∞, </m:t>
                    </m:r>
                    <m:r>
                      <a:rPr lang="en-GB" sz="1400" b="0" i="1" smtClean="0">
                        <a:latin typeface="Cambria Math" panose="02040503050406030204" pitchFamily="18" charset="0"/>
                      </a:rPr>
                      <m:t>𝑦</m:t>
                    </m:r>
                    <m:r>
                      <a:rPr lang="en-GB" sz="1400" b="0" i="1" smtClean="0">
                        <a:latin typeface="Cambria Math" panose="02040503050406030204" pitchFamily="18" charset="0"/>
                      </a:rPr>
                      <m:t>→∞</m:t>
                    </m:r>
                  </m:oMath>
                </a14:m>
                <a:endParaRPr lang="en-GB" sz="1400"/>
              </a:p>
            </p:txBody>
          </p:sp>
        </mc:Choice>
        <mc:Fallback>
          <p:sp>
            <p:nvSpPr>
              <p:cNvPr id="31" name="TextBox 30"/>
              <p:cNvSpPr txBox="1">
                <a:spLocks noRot="1" noChangeAspect="1" noMove="1" noResize="1" noEditPoints="1" noAdjustHandles="1" noChangeArrowheads="1" noChangeShapeType="1" noTextEdit="1"/>
              </p:cNvSpPr>
              <p:nvPr/>
            </p:nvSpPr>
            <p:spPr>
              <a:xfrm>
                <a:off x="5410928" y="3420467"/>
                <a:ext cx="1774499" cy="523220"/>
              </a:xfrm>
              <a:prstGeom prst="rect">
                <a:avLst/>
              </a:prstGeom>
              <a:blipFill>
                <a:blip r:embed="rId9"/>
                <a:stretch>
                  <a:fillRect l="-1429" t="-2381" b="-1190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2" name="TextBox 31"/>
              <p:cNvSpPr txBox="1"/>
              <p:nvPr/>
            </p:nvSpPr>
            <p:spPr>
              <a:xfrm>
                <a:off x="3491880" y="680135"/>
                <a:ext cx="4765564" cy="46166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rtlCol="0">
                <a:spAutoFit/>
              </a:bodyPr>
              <a:lstStyle/>
              <a:p>
                <a:r>
                  <a:rPr lang="en-GB" sz="1200"/>
                  <a:t>e.g. If </a:t>
                </a:r>
                <a14:m>
                  <m:oMath xmlns:m="http://schemas.openxmlformats.org/officeDocument/2006/math">
                    <m:r>
                      <a:rPr lang="en-GB" sz="1200" b="0" i="1" smtClean="0">
                        <a:latin typeface="Cambria Math" panose="02040503050406030204" pitchFamily="18" charset="0"/>
                      </a:rPr>
                      <m:t>𝑦</m:t>
                    </m:r>
                    <m:r>
                      <a:rPr lang="en-GB" sz="1200" b="0" i="1" smtClean="0">
                        <a:latin typeface="Cambria Math" panose="02040503050406030204" pitchFamily="18" charset="0"/>
                      </a:rPr>
                      <m:t>=2</m:t>
                    </m:r>
                    <m:sSup>
                      <m:sSupPr>
                        <m:ctrlPr>
                          <a:rPr lang="en-GB" sz="1200" b="0" i="1" smtClean="0">
                            <a:latin typeface="Cambria Math" panose="02040503050406030204" pitchFamily="18" charset="0"/>
                          </a:rPr>
                        </m:ctrlPr>
                      </m:sSupPr>
                      <m:e>
                        <m:r>
                          <a:rPr lang="en-GB" sz="1200" b="0" i="1" smtClean="0">
                            <a:latin typeface="Cambria Math" panose="02040503050406030204" pitchFamily="18" charset="0"/>
                          </a:rPr>
                          <m:t>𝑥</m:t>
                        </m:r>
                      </m:e>
                      <m:sup>
                        <m:r>
                          <a:rPr lang="en-GB" sz="1200" b="0" i="1" smtClean="0">
                            <a:latin typeface="Cambria Math" panose="02040503050406030204" pitchFamily="18" charset="0"/>
                          </a:rPr>
                          <m:t>2</m:t>
                        </m:r>
                      </m:sup>
                    </m:sSup>
                    <m:r>
                      <a:rPr lang="en-GB" sz="1200" b="0" i="1" smtClean="0">
                        <a:latin typeface="Cambria Math" panose="02040503050406030204" pitchFamily="18" charset="0"/>
                      </a:rPr>
                      <m:t>+3</m:t>
                    </m:r>
                  </m:oMath>
                </a14:m>
                <a:r>
                  <a:rPr lang="en-GB" sz="1200"/>
                  <a:t>, try a large positive value like </a:t>
                </a:r>
                <a14:m>
                  <m:oMath xmlns:m="http://schemas.openxmlformats.org/officeDocument/2006/math">
                    <m:r>
                      <a:rPr lang="en-GB" sz="1200" b="0" i="1" smtClean="0">
                        <a:latin typeface="Cambria Math" panose="02040503050406030204" pitchFamily="18" charset="0"/>
                      </a:rPr>
                      <m:t>𝑥</m:t>
                    </m:r>
                    <m:r>
                      <a:rPr lang="en-GB" sz="1200" b="0" i="1" smtClean="0">
                        <a:latin typeface="Cambria Math" panose="02040503050406030204" pitchFamily="18" charset="0"/>
                      </a:rPr>
                      <m:t>=1000</m:t>
                    </m:r>
                  </m:oMath>
                </a14:m>
                <a:r>
                  <a:rPr lang="en-GB" sz="1200"/>
                  <a:t>. We can see we’d get a large positive </a:t>
                </a:r>
                <a14:m>
                  <m:oMath xmlns:m="http://schemas.openxmlformats.org/officeDocument/2006/math">
                    <m:r>
                      <a:rPr lang="en-GB" sz="1200" b="0" i="1" smtClean="0">
                        <a:latin typeface="Cambria Math" panose="02040503050406030204" pitchFamily="18" charset="0"/>
                      </a:rPr>
                      <m:t>𝑦</m:t>
                    </m:r>
                  </m:oMath>
                </a14:m>
                <a:r>
                  <a:rPr lang="en-GB" sz="1200"/>
                  <a:t> value. Thus as </a:t>
                </a:r>
                <a14:m>
                  <m:oMath xmlns:m="http://schemas.openxmlformats.org/officeDocument/2006/math">
                    <m:r>
                      <a:rPr lang="en-GB" sz="1200" b="0" i="1" smtClean="0">
                        <a:latin typeface="Cambria Math" panose="02040503050406030204" pitchFamily="18" charset="0"/>
                      </a:rPr>
                      <m:t>𝑥</m:t>
                    </m:r>
                    <m:r>
                      <a:rPr lang="en-GB" sz="1200" b="0" i="1" smtClean="0">
                        <a:latin typeface="Cambria Math" panose="02040503050406030204" pitchFamily="18" charset="0"/>
                      </a:rPr>
                      <m:t>→∞</m:t>
                    </m:r>
                  </m:oMath>
                </a14:m>
                <a:r>
                  <a:rPr lang="en-GB" sz="1200"/>
                  <a:t>, </a:t>
                </a:r>
                <a14:m>
                  <m:oMath xmlns:m="http://schemas.openxmlformats.org/officeDocument/2006/math">
                    <m:r>
                      <a:rPr lang="en-GB" sz="1200" b="0" i="1" smtClean="0">
                        <a:latin typeface="Cambria Math" panose="02040503050406030204" pitchFamily="18" charset="0"/>
                      </a:rPr>
                      <m:t>𝑦</m:t>
                    </m:r>
                    <m:r>
                      <a:rPr lang="en-GB" sz="1200" b="0" i="1" smtClean="0">
                        <a:latin typeface="Cambria Math" panose="02040503050406030204" pitchFamily="18" charset="0"/>
                      </a:rPr>
                      <m:t>→∞</m:t>
                    </m:r>
                  </m:oMath>
                </a14:m>
                <a:endParaRPr lang="en-GB" sz="1200"/>
              </a:p>
            </p:txBody>
          </p:sp>
        </mc:Choice>
        <mc:Fallback>
          <p:sp>
            <p:nvSpPr>
              <p:cNvPr id="32" name="TextBox 31"/>
              <p:cNvSpPr txBox="1">
                <a:spLocks noRot="1" noChangeAspect="1" noMove="1" noResize="1" noEditPoints="1" noAdjustHandles="1" noChangeArrowheads="1" noChangeShapeType="1" noTextEdit="1"/>
              </p:cNvSpPr>
              <p:nvPr/>
            </p:nvSpPr>
            <p:spPr>
              <a:xfrm>
                <a:off x="3491880" y="680135"/>
                <a:ext cx="4765564" cy="461665"/>
              </a:xfrm>
              <a:prstGeom prst="rect">
                <a:avLst/>
              </a:prstGeom>
              <a:blipFill>
                <a:blip r:embed="rId10"/>
                <a:stretch>
                  <a:fillRect b="-7692"/>
                </a:stretch>
              </a:blipFill>
            </p:spPr>
            <p:txBody>
              <a:bodyPr/>
              <a:lstStyle/>
              <a:p>
                <a:r>
                  <a:rPr lang="en-US">
                    <a:noFill/>
                  </a:rPr>
                  <a:t> </a:t>
                </a:r>
              </a:p>
            </p:txBody>
          </p:sp>
        </mc:Fallback>
      </mc:AlternateContent>
      <p:cxnSp>
        <p:nvCxnSpPr>
          <p:cNvPr id="34" name="Straight Arrow Connector 33"/>
          <p:cNvCxnSpPr/>
          <p:nvPr/>
        </p:nvCxnSpPr>
        <p:spPr>
          <a:xfrm flipH="1">
            <a:off x="3551274" y="1127051"/>
            <a:ext cx="616690" cy="978196"/>
          </a:xfrm>
          <a:prstGeom prst="straightConnector1">
            <a:avLst/>
          </a:prstGeom>
          <a:ln w="19050">
            <a:tailEnd type="triangle"/>
          </a:ln>
        </p:spPr>
        <p:style>
          <a:lnRef idx="1">
            <a:schemeClr val="accent6"/>
          </a:lnRef>
          <a:fillRef idx="0">
            <a:schemeClr val="accent6"/>
          </a:fillRef>
          <a:effectRef idx="0">
            <a:schemeClr val="accent6"/>
          </a:effectRef>
          <a:fontRef idx="minor">
            <a:schemeClr val="tx1"/>
          </a:fontRef>
        </p:style>
      </p:cxnSp>
      <mc:AlternateContent xmlns:mc="http://schemas.openxmlformats.org/markup-compatibility/2006">
        <mc:Choice xmlns:a14="http://schemas.microsoft.com/office/drawing/2010/main" Requires="a14">
          <p:sp>
            <p:nvSpPr>
              <p:cNvPr id="36" name="TextBox 35"/>
              <p:cNvSpPr txBox="1"/>
              <p:nvPr/>
            </p:nvSpPr>
            <p:spPr>
              <a:xfrm>
                <a:off x="5643" y="4325992"/>
                <a:ext cx="1979712" cy="646331"/>
              </a:xfrm>
              <a:prstGeom prst="rect">
                <a:avLst/>
              </a:prstGeom>
              <a:noFill/>
            </p:spPr>
            <p:txBody>
              <a:bodyPr wrap="square" rtlCol="0">
                <a:spAutoFit/>
              </a:bodyPr>
              <a:lstStyle/>
              <a:p>
                <a:pPr/>
                <a14:m>
                  <m:oMathPara xmlns:m="http://schemas.openxmlformats.org/officeDocument/2006/math">
                    <m:oMath>
                      <m:r>
                        <a:rPr lang="en-GB" b="0" i="1" smtClean="0">
                          <a:latin typeface="Cambria Math" panose="02040503050406030204" pitchFamily="18" charset="0"/>
                        </a:rPr>
                        <m:t>𝑦</m:t>
                      </m:r>
                      <m:r>
                        <a:rPr lang="en-GB" b="0" i="1" smtClean="0">
                          <a:latin typeface="Cambria Math" panose="02040503050406030204" pitchFamily="18" charset="0"/>
                        </a:rPr>
                        <m:t>=</m:t>
                      </m:r>
                      <m:r>
                        <a:rPr lang="en-GB" b="0" i="1" smtClean="0">
                          <a:latin typeface="Cambria Math" panose="02040503050406030204" pitchFamily="18" charset="0"/>
                        </a:rPr>
                        <m:t>𝑎</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4</m:t>
                          </m:r>
                        </m:sup>
                      </m:sSup>
                      <m:r>
                        <a:rPr lang="en-GB" b="0" i="1" smtClean="0">
                          <a:latin typeface="Cambria Math" panose="02040503050406030204" pitchFamily="18" charset="0"/>
                        </a:rPr>
                        <m:t>+</m:t>
                      </m:r>
                      <m:r>
                        <a:rPr lang="en-GB" b="0" i="1" smtClean="0">
                          <a:latin typeface="Cambria Math" panose="02040503050406030204" pitchFamily="18" charset="0"/>
                        </a:rPr>
                        <m:t>𝑏</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3</m:t>
                          </m:r>
                        </m:sup>
                      </m:sSup>
                    </m:oMath>
                    <m:oMath>
                      <m:r>
                        <a:rPr lang="en-GB" b="0" i="1" smtClean="0">
                          <a:latin typeface="Cambria Math" panose="02040503050406030204" pitchFamily="18" charset="0"/>
                        </a:rPr>
                        <m:t>   +</m:t>
                      </m:r>
                      <m:r>
                        <a:rPr lang="en-GB" b="0" i="1" smtClean="0">
                          <a:latin typeface="Cambria Math" panose="02040503050406030204" pitchFamily="18" charset="0"/>
                        </a:rPr>
                        <m:t>𝑐</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2</m:t>
                          </m:r>
                        </m:sup>
                      </m:sSup>
                      <m:r>
                        <a:rPr lang="en-GB" b="0" i="1" smtClean="0">
                          <a:latin typeface="Cambria Math" panose="02040503050406030204" pitchFamily="18" charset="0"/>
                        </a:rPr>
                        <m:t>+</m:t>
                      </m:r>
                      <m:r>
                        <a:rPr lang="en-GB" b="0" i="1" smtClean="0">
                          <a:latin typeface="Cambria Math" panose="02040503050406030204" pitchFamily="18" charset="0"/>
                        </a:rPr>
                        <m:t>𝑑𝑥</m:t>
                      </m:r>
                      <m:r>
                        <a:rPr lang="en-GB" b="0" i="1" smtClean="0">
                          <a:latin typeface="Cambria Math" panose="02040503050406030204" pitchFamily="18" charset="0"/>
                        </a:rPr>
                        <m:t>+</m:t>
                      </m:r>
                      <m:r>
                        <a:rPr lang="en-GB" b="0" i="1" smtClean="0">
                          <a:latin typeface="Cambria Math" panose="02040503050406030204" pitchFamily="18" charset="0"/>
                        </a:rPr>
                        <m:t>𝑒</m:t>
                      </m:r>
                    </m:oMath>
                  </m:oMathPara>
                </a14:m>
                <a:endParaRPr lang="en-GB"/>
              </a:p>
            </p:txBody>
          </p:sp>
        </mc:Choice>
        <mc:Fallback>
          <p:sp>
            <p:nvSpPr>
              <p:cNvPr id="36" name="TextBox 35"/>
              <p:cNvSpPr txBox="1">
                <a:spLocks noRot="1" noChangeAspect="1" noMove="1" noResize="1" noEditPoints="1" noAdjustHandles="1" noChangeArrowheads="1" noChangeShapeType="1" noTextEdit="1"/>
              </p:cNvSpPr>
              <p:nvPr/>
            </p:nvSpPr>
            <p:spPr>
              <a:xfrm>
                <a:off x="5643" y="4325992"/>
                <a:ext cx="1979712" cy="646331"/>
              </a:xfrm>
              <a:prstGeom prst="rect">
                <a:avLst/>
              </a:prstGeom>
              <a:blipFill>
                <a:blip r:embed="rId11"/>
                <a:stretch>
                  <a:fillRect b="-961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7" name="TextBox 36"/>
              <p:cNvSpPr txBox="1"/>
              <p:nvPr/>
            </p:nvSpPr>
            <p:spPr>
              <a:xfrm>
                <a:off x="2137988" y="4366282"/>
                <a:ext cx="1764490" cy="523220"/>
              </a:xfrm>
              <a:prstGeom prst="rect">
                <a:avLst/>
              </a:prstGeom>
              <a:noFill/>
            </p:spPr>
            <p:txBody>
              <a:bodyPr wrap="square" rtlCol="0">
                <a:spAutoFit/>
              </a:bodyPr>
              <a:lstStyle/>
              <a:p>
                <a:r>
                  <a:rPr lang="en-GB" sz="1400"/>
                  <a:t>As </a:t>
                </a:r>
                <a14:m>
                  <m:oMath xmlns:m="http://schemas.openxmlformats.org/officeDocument/2006/math">
                    <m:r>
                      <a:rPr lang="en-GB" sz="1400" b="0" i="1" smtClean="0">
                        <a:latin typeface="Cambria Math" panose="02040503050406030204" pitchFamily="18" charset="0"/>
                      </a:rPr>
                      <m:t>𝑥</m:t>
                    </m:r>
                    <m:r>
                      <a:rPr lang="en-GB" sz="1400" b="0" i="1" smtClean="0">
                        <a:latin typeface="Cambria Math" panose="02040503050406030204" pitchFamily="18" charset="0"/>
                      </a:rPr>
                      <m:t>→∞, </m:t>
                    </m:r>
                    <m:r>
                      <a:rPr lang="en-GB" sz="1400" b="0" i="1" smtClean="0">
                        <a:latin typeface="Cambria Math" panose="02040503050406030204" pitchFamily="18" charset="0"/>
                      </a:rPr>
                      <m:t>𝑦</m:t>
                    </m:r>
                    <m:r>
                      <a:rPr lang="en-GB" sz="1400" b="0" i="1" smtClean="0">
                        <a:latin typeface="Cambria Math" panose="02040503050406030204" pitchFamily="18" charset="0"/>
                      </a:rPr>
                      <m:t>→∞</m:t>
                    </m:r>
                  </m:oMath>
                </a14:m>
                <a:endParaRPr lang="en-GB" sz="1400"/>
              </a:p>
              <a:p>
                <a:r>
                  <a:rPr lang="en-GB" sz="1400"/>
                  <a:t>As </a:t>
                </a:r>
                <a14:m>
                  <m:oMath xmlns:m="http://schemas.openxmlformats.org/officeDocument/2006/math">
                    <m:r>
                      <a:rPr lang="en-GB" sz="1400" b="0" i="1" smtClean="0">
                        <a:latin typeface="Cambria Math" panose="02040503050406030204" pitchFamily="18" charset="0"/>
                      </a:rPr>
                      <m:t>𝑥</m:t>
                    </m:r>
                    <m:r>
                      <a:rPr lang="en-GB" sz="1400" b="0" i="1" smtClean="0">
                        <a:latin typeface="Cambria Math" panose="02040503050406030204" pitchFamily="18" charset="0"/>
                      </a:rPr>
                      <m:t>→−∞, </m:t>
                    </m:r>
                    <m:r>
                      <a:rPr lang="en-GB" sz="1400" b="0" i="1" smtClean="0">
                        <a:latin typeface="Cambria Math" panose="02040503050406030204" pitchFamily="18" charset="0"/>
                      </a:rPr>
                      <m:t>𝑦</m:t>
                    </m:r>
                    <m:r>
                      <a:rPr lang="en-GB" sz="1400" b="0" i="1" smtClean="0">
                        <a:latin typeface="Cambria Math" panose="02040503050406030204" pitchFamily="18" charset="0"/>
                      </a:rPr>
                      <m:t>→∞</m:t>
                    </m:r>
                  </m:oMath>
                </a14:m>
                <a:endParaRPr lang="en-GB" sz="1400"/>
              </a:p>
            </p:txBody>
          </p:sp>
        </mc:Choice>
        <mc:Fallback>
          <p:sp>
            <p:nvSpPr>
              <p:cNvPr id="37" name="TextBox 36"/>
              <p:cNvSpPr txBox="1">
                <a:spLocks noRot="1" noChangeAspect="1" noMove="1" noResize="1" noEditPoints="1" noAdjustHandles="1" noChangeArrowheads="1" noChangeShapeType="1" noTextEdit="1"/>
              </p:cNvSpPr>
              <p:nvPr/>
            </p:nvSpPr>
            <p:spPr>
              <a:xfrm>
                <a:off x="2137988" y="4366282"/>
                <a:ext cx="1764490" cy="523220"/>
              </a:xfrm>
              <a:prstGeom prst="rect">
                <a:avLst/>
              </a:prstGeom>
              <a:blipFill>
                <a:blip r:embed="rId12"/>
                <a:stretch>
                  <a:fillRect l="-714" t="-2381" b="-1428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8" name="TextBox 37"/>
              <p:cNvSpPr txBox="1"/>
              <p:nvPr/>
            </p:nvSpPr>
            <p:spPr>
              <a:xfrm>
                <a:off x="5438828" y="4429656"/>
                <a:ext cx="1774499" cy="523220"/>
              </a:xfrm>
              <a:prstGeom prst="rect">
                <a:avLst/>
              </a:prstGeom>
              <a:noFill/>
            </p:spPr>
            <p:txBody>
              <a:bodyPr wrap="square" rtlCol="0">
                <a:spAutoFit/>
              </a:bodyPr>
              <a:lstStyle/>
              <a:p>
                <a:r>
                  <a:rPr lang="en-GB" sz="1400"/>
                  <a:t>As </a:t>
                </a:r>
                <a14:m>
                  <m:oMath xmlns:m="http://schemas.openxmlformats.org/officeDocument/2006/math">
                    <m:r>
                      <a:rPr lang="en-GB" sz="1400" b="0" i="1" smtClean="0">
                        <a:latin typeface="Cambria Math" panose="02040503050406030204" pitchFamily="18" charset="0"/>
                      </a:rPr>
                      <m:t>𝑥</m:t>
                    </m:r>
                    <m:r>
                      <a:rPr lang="en-GB" sz="1400" b="0" i="1" smtClean="0">
                        <a:latin typeface="Cambria Math" panose="02040503050406030204" pitchFamily="18" charset="0"/>
                      </a:rPr>
                      <m:t>→∞, </m:t>
                    </m:r>
                    <m:r>
                      <a:rPr lang="en-GB" sz="1400" b="0" i="1" smtClean="0">
                        <a:latin typeface="Cambria Math" panose="02040503050406030204" pitchFamily="18" charset="0"/>
                      </a:rPr>
                      <m:t>𝑦</m:t>
                    </m:r>
                    <m:r>
                      <a:rPr lang="en-GB" sz="1400" b="0" i="1" smtClean="0">
                        <a:latin typeface="Cambria Math" panose="02040503050406030204" pitchFamily="18" charset="0"/>
                      </a:rPr>
                      <m:t>→−∞</m:t>
                    </m:r>
                  </m:oMath>
                </a14:m>
                <a:endParaRPr lang="en-GB" sz="1400"/>
              </a:p>
              <a:p>
                <a:r>
                  <a:rPr lang="en-GB" sz="1400"/>
                  <a:t>As </a:t>
                </a:r>
                <a14:m>
                  <m:oMath xmlns:m="http://schemas.openxmlformats.org/officeDocument/2006/math">
                    <m:r>
                      <a:rPr lang="en-GB" sz="1400" b="0" i="1" smtClean="0">
                        <a:latin typeface="Cambria Math" panose="02040503050406030204" pitchFamily="18" charset="0"/>
                      </a:rPr>
                      <m:t>𝑥</m:t>
                    </m:r>
                    <m:r>
                      <a:rPr lang="en-GB" sz="1400" b="0" i="1" smtClean="0">
                        <a:latin typeface="Cambria Math" panose="02040503050406030204" pitchFamily="18" charset="0"/>
                      </a:rPr>
                      <m:t>→−∞, </m:t>
                    </m:r>
                    <m:r>
                      <a:rPr lang="en-GB" sz="1400" b="0" i="1" smtClean="0">
                        <a:latin typeface="Cambria Math" panose="02040503050406030204" pitchFamily="18" charset="0"/>
                      </a:rPr>
                      <m:t>𝑦</m:t>
                    </m:r>
                    <m:r>
                      <a:rPr lang="en-GB" sz="1400" b="0" i="1" smtClean="0">
                        <a:latin typeface="Cambria Math" panose="02040503050406030204" pitchFamily="18" charset="0"/>
                      </a:rPr>
                      <m:t>→−∞</m:t>
                    </m:r>
                  </m:oMath>
                </a14:m>
                <a:endParaRPr lang="en-GB" sz="1400"/>
              </a:p>
            </p:txBody>
          </p:sp>
        </mc:Choice>
        <mc:Fallback>
          <p:sp>
            <p:nvSpPr>
              <p:cNvPr id="38" name="TextBox 37"/>
              <p:cNvSpPr txBox="1">
                <a:spLocks noRot="1" noChangeAspect="1" noMove="1" noResize="1" noEditPoints="1" noAdjustHandles="1" noChangeArrowheads="1" noChangeShapeType="1" noTextEdit="1"/>
              </p:cNvSpPr>
              <p:nvPr/>
            </p:nvSpPr>
            <p:spPr>
              <a:xfrm>
                <a:off x="5438828" y="4429656"/>
                <a:ext cx="1774499" cy="523220"/>
              </a:xfrm>
              <a:prstGeom prst="rect">
                <a:avLst/>
              </a:prstGeom>
              <a:blipFill>
                <a:blip r:embed="rId13"/>
                <a:stretch>
                  <a:fillRect l="-1429" b="-14286"/>
                </a:stretch>
              </a:blipFill>
            </p:spPr>
            <p:txBody>
              <a:bodyPr/>
              <a:lstStyle/>
              <a:p>
                <a:r>
                  <a:rPr lang="en-US">
                    <a:noFill/>
                  </a:rPr>
                  <a:t> </a:t>
                </a:r>
              </a:p>
            </p:txBody>
          </p:sp>
        </mc:Fallback>
      </mc:AlternateContent>
      <p:sp>
        <p:nvSpPr>
          <p:cNvPr id="39" name="Freeform: Shape 38"/>
          <p:cNvSpPr/>
          <p:nvPr/>
        </p:nvSpPr>
        <p:spPr>
          <a:xfrm>
            <a:off x="4019107" y="4380614"/>
            <a:ext cx="1095153" cy="575876"/>
          </a:xfrm>
          <a:custGeom>
            <a:avLst/>
            <a:gdLst>
              <a:gd name="connsiteX0" fmla="*/ 0 w 1095153"/>
              <a:gd name="connsiteY0" fmla="*/ 0 h 575876"/>
              <a:gd name="connsiteX1" fmla="*/ 287079 w 1095153"/>
              <a:gd name="connsiteY1" fmla="*/ 478465 h 575876"/>
              <a:gd name="connsiteX2" fmla="*/ 563526 w 1095153"/>
              <a:gd name="connsiteY2" fmla="*/ 212651 h 575876"/>
              <a:gd name="connsiteX3" fmla="*/ 808074 w 1095153"/>
              <a:gd name="connsiteY3" fmla="*/ 574158 h 575876"/>
              <a:gd name="connsiteX4" fmla="*/ 1095153 w 1095153"/>
              <a:gd name="connsiteY4" fmla="*/ 31897 h 5758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95153" h="575876">
                <a:moveTo>
                  <a:pt x="0" y="0"/>
                </a:moveTo>
                <a:cubicBezTo>
                  <a:pt x="96579" y="221511"/>
                  <a:pt x="193158" y="443023"/>
                  <a:pt x="287079" y="478465"/>
                </a:cubicBezTo>
                <a:cubicBezTo>
                  <a:pt x="381000" y="513907"/>
                  <a:pt x="476694" y="196702"/>
                  <a:pt x="563526" y="212651"/>
                </a:cubicBezTo>
                <a:cubicBezTo>
                  <a:pt x="650359" y="228600"/>
                  <a:pt x="719470" y="604284"/>
                  <a:pt x="808074" y="574158"/>
                </a:cubicBezTo>
                <a:cubicBezTo>
                  <a:pt x="896678" y="544032"/>
                  <a:pt x="995915" y="287964"/>
                  <a:pt x="1095153" y="31897"/>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 name="Freeform: Shape 39"/>
          <p:cNvSpPr/>
          <p:nvPr/>
        </p:nvSpPr>
        <p:spPr>
          <a:xfrm>
            <a:off x="7378995" y="4410501"/>
            <a:ext cx="1084521" cy="608066"/>
          </a:xfrm>
          <a:custGeom>
            <a:avLst/>
            <a:gdLst>
              <a:gd name="connsiteX0" fmla="*/ 0 w 1084521"/>
              <a:gd name="connsiteY0" fmla="*/ 608066 h 608066"/>
              <a:gd name="connsiteX1" fmla="*/ 287079 w 1084521"/>
              <a:gd name="connsiteY1" fmla="*/ 87071 h 608066"/>
              <a:gd name="connsiteX2" fmla="*/ 531628 w 1084521"/>
              <a:gd name="connsiteY2" fmla="*/ 342252 h 608066"/>
              <a:gd name="connsiteX3" fmla="*/ 754912 w 1084521"/>
              <a:gd name="connsiteY3" fmla="*/ 2010 h 608066"/>
              <a:gd name="connsiteX4" fmla="*/ 1084521 w 1084521"/>
              <a:gd name="connsiteY4" fmla="*/ 533638 h 6080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4521" h="608066">
                <a:moveTo>
                  <a:pt x="0" y="608066"/>
                </a:moveTo>
                <a:cubicBezTo>
                  <a:pt x="99237" y="369719"/>
                  <a:pt x="198474" y="131373"/>
                  <a:pt x="287079" y="87071"/>
                </a:cubicBezTo>
                <a:cubicBezTo>
                  <a:pt x="375684" y="42769"/>
                  <a:pt x="453656" y="356429"/>
                  <a:pt x="531628" y="342252"/>
                </a:cubicBezTo>
                <a:cubicBezTo>
                  <a:pt x="609600" y="328075"/>
                  <a:pt x="662763" y="-29888"/>
                  <a:pt x="754912" y="2010"/>
                </a:cubicBezTo>
                <a:cubicBezTo>
                  <a:pt x="847061" y="33908"/>
                  <a:pt x="965791" y="283773"/>
                  <a:pt x="1084521" y="533638"/>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41" name="Straight Connector 40"/>
          <p:cNvCxnSpPr/>
          <p:nvPr/>
        </p:nvCxnSpPr>
        <p:spPr>
          <a:xfrm>
            <a:off x="374086" y="5243205"/>
            <a:ext cx="8290490" cy="0"/>
          </a:xfrm>
          <a:prstGeom prst="line">
            <a:avLst/>
          </a:prstGeom>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42" name="TextBox 41"/>
              <p:cNvSpPr txBox="1"/>
              <p:nvPr/>
            </p:nvSpPr>
            <p:spPr>
              <a:xfrm>
                <a:off x="-15621" y="5471807"/>
                <a:ext cx="2120868" cy="372410"/>
              </a:xfrm>
              <a:prstGeom prst="rect">
                <a:avLst/>
              </a:prstGeom>
              <a:noFill/>
            </p:spPr>
            <p:txBody>
              <a:bodyPr wrap="square" rtlCol="0">
                <a:spAutoFit/>
              </a:bodyPr>
              <a:lstStyle/>
              <a:p>
                <a:pPr/>
                <a14:m>
                  <m:oMathPara xmlns:m="http://schemas.openxmlformats.org/officeDocument/2006/math">
                    <m:oMath>
                      <m:r>
                        <a:rPr lang="en-GB" b="0" i="1" smtClean="0">
                          <a:latin typeface="Cambria Math" panose="02040503050406030204" pitchFamily="18" charset="0"/>
                        </a:rPr>
                        <m:t>𝑦</m:t>
                      </m:r>
                      <m:r>
                        <a:rPr lang="en-GB" b="0" i="1" smtClean="0">
                          <a:latin typeface="Cambria Math" panose="02040503050406030204" pitchFamily="18" charset="0"/>
                        </a:rPr>
                        <m:t>=</m:t>
                      </m:r>
                      <m:r>
                        <a:rPr lang="en-GB" b="0" i="1" smtClean="0">
                          <a:latin typeface="Cambria Math" panose="02040503050406030204" pitchFamily="18" charset="0"/>
                        </a:rPr>
                        <m:t>𝑎</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5</m:t>
                          </m:r>
                        </m:sup>
                      </m:sSup>
                      <m:r>
                        <a:rPr lang="en-GB" b="0" i="1" smtClean="0">
                          <a:latin typeface="Cambria Math" panose="02040503050406030204" pitchFamily="18" charset="0"/>
                        </a:rPr>
                        <m:t>+</m:t>
                      </m:r>
                      <m:r>
                        <a:rPr lang="en-GB" b="0" i="1" smtClean="0">
                          <a:latin typeface="Cambria Math" panose="02040503050406030204" pitchFamily="18" charset="0"/>
                        </a:rPr>
                        <m:t>𝑏</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4</m:t>
                          </m:r>
                        </m:sup>
                      </m:sSup>
                      <m:r>
                        <a:rPr lang="en-GB" b="0" i="1" smtClean="0">
                          <a:latin typeface="Cambria Math" panose="02040503050406030204" pitchFamily="18" charset="0"/>
                        </a:rPr>
                        <m:t>+…</m:t>
                      </m:r>
                    </m:oMath>
                  </m:oMathPara>
                </a14:m>
                <a:endParaRPr lang="en-GB"/>
              </a:p>
            </p:txBody>
          </p:sp>
        </mc:Choice>
        <mc:Fallback>
          <p:sp>
            <p:nvSpPr>
              <p:cNvPr id="42" name="TextBox 41"/>
              <p:cNvSpPr txBox="1">
                <a:spLocks noRot="1" noChangeAspect="1" noMove="1" noResize="1" noEditPoints="1" noAdjustHandles="1" noChangeArrowheads="1" noChangeShapeType="1" noTextEdit="1"/>
              </p:cNvSpPr>
              <p:nvPr/>
            </p:nvSpPr>
            <p:spPr>
              <a:xfrm>
                <a:off x="-15621" y="5471807"/>
                <a:ext cx="2120868" cy="372410"/>
              </a:xfrm>
              <a:prstGeom prst="rect">
                <a:avLst/>
              </a:prstGeom>
              <a:blipFill>
                <a:blip r:embed="rId14"/>
                <a:stretch>
                  <a:fillRect b="-666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4" name="TextBox 43"/>
              <p:cNvSpPr txBox="1"/>
              <p:nvPr/>
            </p:nvSpPr>
            <p:spPr>
              <a:xfrm>
                <a:off x="2157827" y="5460263"/>
                <a:ext cx="1764490" cy="523220"/>
              </a:xfrm>
              <a:prstGeom prst="rect">
                <a:avLst/>
              </a:prstGeom>
              <a:noFill/>
            </p:spPr>
            <p:txBody>
              <a:bodyPr wrap="square" rtlCol="0">
                <a:spAutoFit/>
              </a:bodyPr>
              <a:lstStyle/>
              <a:p>
                <a:r>
                  <a:rPr lang="en-GB" sz="1400"/>
                  <a:t>As </a:t>
                </a:r>
                <a14:m>
                  <m:oMath xmlns:m="http://schemas.openxmlformats.org/officeDocument/2006/math">
                    <m:r>
                      <a:rPr lang="en-GB" sz="1400" b="0" i="1" smtClean="0">
                        <a:latin typeface="Cambria Math" panose="02040503050406030204" pitchFamily="18" charset="0"/>
                      </a:rPr>
                      <m:t>𝑥</m:t>
                    </m:r>
                    <m:r>
                      <a:rPr lang="en-GB" sz="1400" b="0" i="1" smtClean="0">
                        <a:latin typeface="Cambria Math" panose="02040503050406030204" pitchFamily="18" charset="0"/>
                      </a:rPr>
                      <m:t>→∞, </m:t>
                    </m:r>
                    <m:r>
                      <a:rPr lang="en-GB" sz="1400" b="0" i="1" smtClean="0">
                        <a:latin typeface="Cambria Math" panose="02040503050406030204" pitchFamily="18" charset="0"/>
                      </a:rPr>
                      <m:t>𝑦</m:t>
                    </m:r>
                    <m:r>
                      <a:rPr lang="en-GB" sz="1400" b="0" i="1" smtClean="0">
                        <a:latin typeface="Cambria Math" panose="02040503050406030204" pitchFamily="18" charset="0"/>
                      </a:rPr>
                      <m:t>→∞</m:t>
                    </m:r>
                  </m:oMath>
                </a14:m>
                <a:endParaRPr lang="en-GB" sz="1400"/>
              </a:p>
              <a:p>
                <a:r>
                  <a:rPr lang="en-GB" sz="1400"/>
                  <a:t>As </a:t>
                </a:r>
                <a14:m>
                  <m:oMath xmlns:m="http://schemas.openxmlformats.org/officeDocument/2006/math">
                    <m:r>
                      <a:rPr lang="en-GB" sz="1400" b="0" i="1" smtClean="0">
                        <a:latin typeface="Cambria Math" panose="02040503050406030204" pitchFamily="18" charset="0"/>
                      </a:rPr>
                      <m:t>𝑥</m:t>
                    </m:r>
                    <m:r>
                      <a:rPr lang="en-GB" sz="1400" b="0" i="1" smtClean="0">
                        <a:latin typeface="Cambria Math" panose="02040503050406030204" pitchFamily="18" charset="0"/>
                      </a:rPr>
                      <m:t>→−∞, </m:t>
                    </m:r>
                    <m:r>
                      <a:rPr lang="en-GB" sz="1400" b="0" i="1" smtClean="0">
                        <a:latin typeface="Cambria Math" panose="02040503050406030204" pitchFamily="18" charset="0"/>
                      </a:rPr>
                      <m:t>𝑦</m:t>
                    </m:r>
                    <m:r>
                      <a:rPr lang="en-GB" sz="1400" b="0" i="1" smtClean="0">
                        <a:latin typeface="Cambria Math" panose="02040503050406030204" pitchFamily="18" charset="0"/>
                      </a:rPr>
                      <m:t>→−∞</m:t>
                    </m:r>
                  </m:oMath>
                </a14:m>
                <a:endParaRPr lang="en-GB" sz="1400"/>
              </a:p>
            </p:txBody>
          </p:sp>
        </mc:Choice>
        <mc:Fallback>
          <p:sp>
            <p:nvSpPr>
              <p:cNvPr id="44" name="TextBox 43"/>
              <p:cNvSpPr txBox="1">
                <a:spLocks noRot="1" noChangeAspect="1" noMove="1" noResize="1" noEditPoints="1" noAdjustHandles="1" noChangeArrowheads="1" noChangeShapeType="1" noTextEdit="1"/>
              </p:cNvSpPr>
              <p:nvPr/>
            </p:nvSpPr>
            <p:spPr>
              <a:xfrm>
                <a:off x="2157827" y="5460263"/>
                <a:ext cx="1764490" cy="523220"/>
              </a:xfrm>
              <a:prstGeom prst="rect">
                <a:avLst/>
              </a:prstGeom>
              <a:blipFill>
                <a:blip r:embed="rId15"/>
                <a:stretch>
                  <a:fillRect l="-714" t="-2381" b="-1190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5" name="TextBox 44"/>
              <p:cNvSpPr txBox="1"/>
              <p:nvPr/>
            </p:nvSpPr>
            <p:spPr>
              <a:xfrm>
                <a:off x="5449460" y="5310252"/>
                <a:ext cx="1774499" cy="523220"/>
              </a:xfrm>
              <a:prstGeom prst="rect">
                <a:avLst/>
              </a:prstGeom>
              <a:noFill/>
            </p:spPr>
            <p:txBody>
              <a:bodyPr wrap="square" rtlCol="0">
                <a:spAutoFit/>
              </a:bodyPr>
              <a:lstStyle/>
              <a:p>
                <a:r>
                  <a:rPr lang="en-GB" sz="1400"/>
                  <a:t>As </a:t>
                </a:r>
                <a14:m>
                  <m:oMath xmlns:m="http://schemas.openxmlformats.org/officeDocument/2006/math">
                    <m:r>
                      <a:rPr lang="en-GB" sz="1400" b="0" i="1" smtClean="0">
                        <a:latin typeface="Cambria Math" panose="02040503050406030204" pitchFamily="18" charset="0"/>
                      </a:rPr>
                      <m:t>𝑥</m:t>
                    </m:r>
                    <m:r>
                      <a:rPr lang="en-GB" sz="1400" b="0" i="1" smtClean="0">
                        <a:latin typeface="Cambria Math" panose="02040503050406030204" pitchFamily="18" charset="0"/>
                      </a:rPr>
                      <m:t>→∞, </m:t>
                    </m:r>
                    <m:r>
                      <a:rPr lang="en-GB" sz="1400" b="0" i="1" smtClean="0">
                        <a:latin typeface="Cambria Math" panose="02040503050406030204" pitchFamily="18" charset="0"/>
                      </a:rPr>
                      <m:t>𝑦</m:t>
                    </m:r>
                    <m:r>
                      <a:rPr lang="en-GB" sz="1400" b="0" i="1" smtClean="0">
                        <a:latin typeface="Cambria Math" panose="02040503050406030204" pitchFamily="18" charset="0"/>
                      </a:rPr>
                      <m:t>→−∞</m:t>
                    </m:r>
                  </m:oMath>
                </a14:m>
                <a:endParaRPr lang="en-GB" sz="1400"/>
              </a:p>
              <a:p>
                <a:r>
                  <a:rPr lang="en-GB" sz="1400"/>
                  <a:t>As </a:t>
                </a:r>
                <a14:m>
                  <m:oMath xmlns:m="http://schemas.openxmlformats.org/officeDocument/2006/math">
                    <m:r>
                      <a:rPr lang="en-GB" sz="1400" b="0" i="1" smtClean="0">
                        <a:latin typeface="Cambria Math" panose="02040503050406030204" pitchFamily="18" charset="0"/>
                      </a:rPr>
                      <m:t>𝑥</m:t>
                    </m:r>
                    <m:r>
                      <a:rPr lang="en-GB" sz="1400" b="0" i="1" smtClean="0">
                        <a:latin typeface="Cambria Math" panose="02040503050406030204" pitchFamily="18" charset="0"/>
                      </a:rPr>
                      <m:t>→−∞, </m:t>
                    </m:r>
                    <m:r>
                      <a:rPr lang="en-GB" sz="1400" b="0" i="1" smtClean="0">
                        <a:latin typeface="Cambria Math" panose="02040503050406030204" pitchFamily="18" charset="0"/>
                      </a:rPr>
                      <m:t>𝑦</m:t>
                    </m:r>
                    <m:r>
                      <a:rPr lang="en-GB" sz="1400" b="0" i="1" smtClean="0">
                        <a:latin typeface="Cambria Math" panose="02040503050406030204" pitchFamily="18" charset="0"/>
                      </a:rPr>
                      <m:t>→∞</m:t>
                    </m:r>
                  </m:oMath>
                </a14:m>
                <a:endParaRPr lang="en-GB" sz="1400"/>
              </a:p>
            </p:txBody>
          </p:sp>
        </mc:Choice>
        <mc:Fallback>
          <p:sp>
            <p:nvSpPr>
              <p:cNvPr id="45" name="TextBox 44"/>
              <p:cNvSpPr txBox="1">
                <a:spLocks noRot="1" noChangeAspect="1" noMove="1" noResize="1" noEditPoints="1" noAdjustHandles="1" noChangeArrowheads="1" noChangeShapeType="1" noTextEdit="1"/>
              </p:cNvSpPr>
              <p:nvPr/>
            </p:nvSpPr>
            <p:spPr>
              <a:xfrm>
                <a:off x="5449460" y="5310252"/>
                <a:ext cx="1774499" cy="523220"/>
              </a:xfrm>
              <a:prstGeom prst="rect">
                <a:avLst/>
              </a:prstGeom>
              <a:blipFill>
                <a:blip r:embed="rId16"/>
                <a:stretch>
                  <a:fillRect l="-1429" t="-2381" b="-11905"/>
                </a:stretch>
              </a:blipFill>
            </p:spPr>
            <p:txBody>
              <a:bodyPr/>
              <a:lstStyle/>
              <a:p>
                <a:r>
                  <a:rPr lang="en-US">
                    <a:noFill/>
                  </a:rPr>
                  <a:t> </a:t>
                </a:r>
              </a:p>
            </p:txBody>
          </p:sp>
        </mc:Fallback>
      </mc:AlternateContent>
      <p:sp>
        <p:nvSpPr>
          <p:cNvPr id="46" name="Freeform: Shape 45"/>
          <p:cNvSpPr/>
          <p:nvPr/>
        </p:nvSpPr>
        <p:spPr>
          <a:xfrm>
            <a:off x="4040373" y="5273749"/>
            <a:ext cx="1212111" cy="691116"/>
          </a:xfrm>
          <a:custGeom>
            <a:avLst/>
            <a:gdLst>
              <a:gd name="connsiteX0" fmla="*/ 0 w 1212111"/>
              <a:gd name="connsiteY0" fmla="*/ 691116 h 691116"/>
              <a:gd name="connsiteX1" fmla="*/ 318977 w 1212111"/>
              <a:gd name="connsiteY1" fmla="*/ 276446 h 691116"/>
              <a:gd name="connsiteX2" fmla="*/ 552893 w 1212111"/>
              <a:gd name="connsiteY2" fmla="*/ 467832 h 691116"/>
              <a:gd name="connsiteX3" fmla="*/ 818707 w 1212111"/>
              <a:gd name="connsiteY3" fmla="*/ 170121 h 691116"/>
              <a:gd name="connsiteX4" fmla="*/ 978195 w 1212111"/>
              <a:gd name="connsiteY4" fmla="*/ 318977 h 691116"/>
              <a:gd name="connsiteX5" fmla="*/ 1212111 w 1212111"/>
              <a:gd name="connsiteY5" fmla="*/ 0 h 691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2111" h="691116">
                <a:moveTo>
                  <a:pt x="0" y="691116"/>
                </a:moveTo>
                <a:cubicBezTo>
                  <a:pt x="113414" y="502388"/>
                  <a:pt x="226828" y="313660"/>
                  <a:pt x="318977" y="276446"/>
                </a:cubicBezTo>
                <a:cubicBezTo>
                  <a:pt x="411126" y="239232"/>
                  <a:pt x="469605" y="485553"/>
                  <a:pt x="552893" y="467832"/>
                </a:cubicBezTo>
                <a:cubicBezTo>
                  <a:pt x="636181" y="450111"/>
                  <a:pt x="747823" y="194930"/>
                  <a:pt x="818707" y="170121"/>
                </a:cubicBezTo>
                <a:cubicBezTo>
                  <a:pt x="889591" y="145312"/>
                  <a:pt x="912628" y="347330"/>
                  <a:pt x="978195" y="318977"/>
                </a:cubicBezTo>
                <a:cubicBezTo>
                  <a:pt x="1043762" y="290624"/>
                  <a:pt x="1127936" y="145312"/>
                  <a:pt x="1212111"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7" name="Freeform: Shape 46"/>
          <p:cNvSpPr/>
          <p:nvPr/>
        </p:nvSpPr>
        <p:spPr>
          <a:xfrm flipV="1">
            <a:off x="7348316" y="5349511"/>
            <a:ext cx="1212111" cy="636620"/>
          </a:xfrm>
          <a:custGeom>
            <a:avLst/>
            <a:gdLst>
              <a:gd name="connsiteX0" fmla="*/ 0 w 1212111"/>
              <a:gd name="connsiteY0" fmla="*/ 691116 h 691116"/>
              <a:gd name="connsiteX1" fmla="*/ 318977 w 1212111"/>
              <a:gd name="connsiteY1" fmla="*/ 276446 h 691116"/>
              <a:gd name="connsiteX2" fmla="*/ 552893 w 1212111"/>
              <a:gd name="connsiteY2" fmla="*/ 467832 h 691116"/>
              <a:gd name="connsiteX3" fmla="*/ 818707 w 1212111"/>
              <a:gd name="connsiteY3" fmla="*/ 170121 h 691116"/>
              <a:gd name="connsiteX4" fmla="*/ 978195 w 1212111"/>
              <a:gd name="connsiteY4" fmla="*/ 318977 h 691116"/>
              <a:gd name="connsiteX5" fmla="*/ 1212111 w 1212111"/>
              <a:gd name="connsiteY5" fmla="*/ 0 h 691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2111" h="691116">
                <a:moveTo>
                  <a:pt x="0" y="691116"/>
                </a:moveTo>
                <a:cubicBezTo>
                  <a:pt x="113414" y="502388"/>
                  <a:pt x="226828" y="313660"/>
                  <a:pt x="318977" y="276446"/>
                </a:cubicBezTo>
                <a:cubicBezTo>
                  <a:pt x="411126" y="239232"/>
                  <a:pt x="469605" y="485553"/>
                  <a:pt x="552893" y="467832"/>
                </a:cubicBezTo>
                <a:cubicBezTo>
                  <a:pt x="636181" y="450111"/>
                  <a:pt x="747823" y="194930"/>
                  <a:pt x="818707" y="170121"/>
                </a:cubicBezTo>
                <a:cubicBezTo>
                  <a:pt x="889591" y="145312"/>
                  <a:pt x="912628" y="347330"/>
                  <a:pt x="978195" y="318977"/>
                </a:cubicBezTo>
                <a:cubicBezTo>
                  <a:pt x="1043762" y="290624"/>
                  <a:pt x="1127936" y="145312"/>
                  <a:pt x="1212111"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mc:Choice xmlns:a14="http://schemas.microsoft.com/office/drawing/2010/main" Requires="a14">
          <p:sp>
            <p:nvSpPr>
              <p:cNvPr id="52" name="TextBox 51"/>
              <p:cNvSpPr txBox="1"/>
              <p:nvPr/>
            </p:nvSpPr>
            <p:spPr>
              <a:xfrm>
                <a:off x="2125269" y="6018029"/>
                <a:ext cx="4934750" cy="861774"/>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sz="1600"/>
                  <a:t>If </a:t>
                </a:r>
                <a14:m>
                  <m:oMath xmlns:m="http://schemas.openxmlformats.org/officeDocument/2006/math">
                    <m:r>
                      <a:rPr lang="en-GB" sz="1600" b="0" i="1" smtClean="0">
                        <a:latin typeface="Cambria Math" panose="02040503050406030204" pitchFamily="18" charset="0"/>
                      </a:rPr>
                      <m:t>𝑎</m:t>
                    </m:r>
                    <m:r>
                      <a:rPr lang="en-GB" sz="1600" b="0" i="1" smtClean="0">
                        <a:latin typeface="Cambria Math" panose="02040503050406030204" pitchFamily="18" charset="0"/>
                      </a:rPr>
                      <m:t>&gt;0</m:t>
                    </m:r>
                  </m:oMath>
                </a14:m>
                <a:r>
                  <a:rPr lang="en-GB" sz="1600"/>
                  <a:t>, what therefore can we say about the shape if:</a:t>
                </a:r>
              </a:p>
              <a:p>
                <a:pPr marL="285750" indent="-285750">
                  <a:buFont typeface="Arial" panose="020B0604020202020204" pitchFamily="34" charset="0"/>
                  <a:buChar char="•"/>
                </a:pPr>
                <a:r>
                  <a:rPr lang="en-GB" sz="1600" b="1"/>
                  <a:t>The order is odd</a:t>
                </a:r>
                <a:r>
                  <a:rPr lang="en-GB" sz="1600"/>
                  <a:t>: It goes uphill (from left to right)</a:t>
                </a:r>
              </a:p>
              <a:p>
                <a:pPr marL="285750" indent="-285750">
                  <a:buFont typeface="Arial" panose="020B0604020202020204" pitchFamily="34" charset="0"/>
                  <a:buChar char="•"/>
                </a:pPr>
                <a:r>
                  <a:rPr lang="en-GB" sz="1600" b="1"/>
                  <a:t>The order is even</a:t>
                </a:r>
                <a:r>
                  <a:rPr lang="en-GB" sz="1600"/>
                  <a:t>: The tails go upwards.</a:t>
                </a:r>
              </a:p>
            </p:txBody>
          </p:sp>
        </mc:Choice>
        <mc:Fallback>
          <p:sp>
            <p:nvSpPr>
              <p:cNvPr id="52" name="TextBox 51"/>
              <p:cNvSpPr txBox="1">
                <a:spLocks noRot="1" noChangeAspect="1" noMove="1" noResize="1" noEditPoints="1" noAdjustHandles="1" noChangeArrowheads="1" noChangeShapeType="1" noTextEdit="1"/>
              </p:cNvSpPr>
              <p:nvPr/>
            </p:nvSpPr>
            <p:spPr>
              <a:xfrm>
                <a:off x="2125269" y="6018029"/>
                <a:ext cx="4934750" cy="861774"/>
              </a:xfrm>
              <a:prstGeom prst="rect">
                <a:avLst/>
              </a:prstGeom>
              <a:blipFill>
                <a:blip r:embed="rId17"/>
                <a:stretch>
                  <a:fillRect l="-512" b="-2817"/>
                </a:stretch>
              </a:blipFill>
            </p:spPr>
            <p:txBody>
              <a:bodyPr/>
              <a:lstStyle/>
              <a:p>
                <a:r>
                  <a:rPr lang="en-US">
                    <a:noFill/>
                  </a:rPr>
                  <a:t> </a:t>
                </a:r>
              </a:p>
            </p:txBody>
          </p:sp>
        </mc:Fallback>
      </mc:AlternateContent>
      <p:sp>
        <p:nvSpPr>
          <p:cNvPr id="56" name="Rectangle 55"/>
          <p:cNvSpPr/>
          <p:nvPr/>
        </p:nvSpPr>
        <p:spPr>
          <a:xfrm>
            <a:off x="2148169" y="3040911"/>
            <a:ext cx="3263804" cy="1201479"/>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57" name="Rectangle 56"/>
          <p:cNvSpPr/>
          <p:nvPr/>
        </p:nvSpPr>
        <p:spPr>
          <a:xfrm>
            <a:off x="5433184" y="3040911"/>
            <a:ext cx="3263804" cy="1201479"/>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58" name="Rectangle 57"/>
          <p:cNvSpPr/>
          <p:nvPr/>
        </p:nvSpPr>
        <p:spPr>
          <a:xfrm>
            <a:off x="2164445" y="4253420"/>
            <a:ext cx="3263804" cy="977799"/>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59" name="Rectangle 58"/>
          <p:cNvSpPr/>
          <p:nvPr/>
        </p:nvSpPr>
        <p:spPr>
          <a:xfrm>
            <a:off x="5449460" y="4253420"/>
            <a:ext cx="3263804" cy="977799"/>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60" name="Rectangle 59"/>
          <p:cNvSpPr/>
          <p:nvPr/>
        </p:nvSpPr>
        <p:spPr>
          <a:xfrm>
            <a:off x="2164445" y="5215707"/>
            <a:ext cx="3263804" cy="759792"/>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61" name="Rectangle 60"/>
          <p:cNvSpPr/>
          <p:nvPr/>
        </p:nvSpPr>
        <p:spPr>
          <a:xfrm>
            <a:off x="5449460" y="5215707"/>
            <a:ext cx="3263804" cy="759792"/>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cxnSp>
        <p:nvCxnSpPr>
          <p:cNvPr id="13" name="Straight Connector 12"/>
          <p:cNvCxnSpPr/>
          <p:nvPr/>
        </p:nvCxnSpPr>
        <p:spPr>
          <a:xfrm flipV="1">
            <a:off x="2148106" y="1249914"/>
            <a:ext cx="9721" cy="4594303"/>
          </a:xfrm>
          <a:prstGeom prst="line">
            <a:avLst/>
          </a:prstGeom>
          <a:ln w="38100"/>
        </p:spPr>
        <p:style>
          <a:lnRef idx="1">
            <a:schemeClr val="dk1"/>
          </a:lnRef>
          <a:fillRef idx="0">
            <a:schemeClr val="dk1"/>
          </a:fillRef>
          <a:effectRef idx="0">
            <a:schemeClr val="dk1"/>
          </a:effectRef>
          <a:fontRef idx="minor">
            <a:schemeClr val="tx1"/>
          </a:fontRef>
        </p:style>
      </p:cxnSp>
      <p:cxnSp>
        <p:nvCxnSpPr>
          <p:cNvPr id="18" name="Straight Connector 17"/>
          <p:cNvCxnSpPr/>
          <p:nvPr/>
        </p:nvCxnSpPr>
        <p:spPr>
          <a:xfrm flipV="1">
            <a:off x="5422605" y="1249915"/>
            <a:ext cx="953" cy="4640522"/>
          </a:xfrm>
          <a:prstGeom prst="line">
            <a:avLst/>
          </a:prstGeom>
          <a:ln w="38100"/>
        </p:spPr>
        <p:style>
          <a:lnRef idx="1">
            <a:schemeClr val="dk1"/>
          </a:lnRef>
          <a:fillRef idx="0">
            <a:schemeClr val="dk1"/>
          </a:fillRef>
          <a:effectRef idx="0">
            <a:schemeClr val="dk1"/>
          </a:effectRef>
          <a:fontRef idx="minor">
            <a:schemeClr val="tx1"/>
          </a:fontRef>
        </p:style>
      </p:cxnSp>
      <p:sp>
        <p:nvSpPr>
          <p:cNvPr id="62" name="Rectangle 61"/>
          <p:cNvSpPr/>
          <p:nvPr/>
        </p:nvSpPr>
        <p:spPr>
          <a:xfrm>
            <a:off x="3980539" y="6315740"/>
            <a:ext cx="2707340" cy="223738"/>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63" name="Rectangle 62"/>
          <p:cNvSpPr/>
          <p:nvPr/>
        </p:nvSpPr>
        <p:spPr>
          <a:xfrm>
            <a:off x="4040078" y="6571865"/>
            <a:ext cx="2707340" cy="223738"/>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mc:AlternateContent xmlns:mc="http://schemas.openxmlformats.org/markup-compatibility/2006">
        <mc:Choice xmlns:a14="http://schemas.microsoft.com/office/drawing/2010/main" Requires="a14">
          <p:sp>
            <p:nvSpPr>
              <p:cNvPr id="64" name="TextBox 63"/>
              <p:cNvSpPr txBox="1"/>
              <p:nvPr/>
            </p:nvSpPr>
            <p:spPr>
              <a:xfrm>
                <a:off x="7117633" y="6218466"/>
                <a:ext cx="1336468" cy="461665"/>
              </a:xfrm>
              <a:prstGeom prst="rect">
                <a:avLst/>
              </a:prstGeom>
              <a:noFill/>
            </p:spPr>
            <p:txBody>
              <a:bodyPr wrap="square" rtlCol="0">
                <a:spAutoFit/>
              </a:bodyPr>
              <a:lstStyle/>
              <a:p>
                <a:r>
                  <a:rPr lang="en-GB" sz="1200"/>
                  <a:t>(And we have the opposite if </a:t>
                </a:r>
                <a14:m>
                  <m:oMath xmlns:m="http://schemas.openxmlformats.org/officeDocument/2006/math">
                    <m:r>
                      <a:rPr lang="en-GB" sz="1200" b="0" i="1" smtClean="0">
                        <a:latin typeface="Cambria Math" panose="02040503050406030204" pitchFamily="18" charset="0"/>
                      </a:rPr>
                      <m:t>𝑎</m:t>
                    </m:r>
                    <m:r>
                      <a:rPr lang="en-GB" sz="1200" b="0" i="1" smtClean="0">
                        <a:latin typeface="Cambria Math" panose="02040503050406030204" pitchFamily="18" charset="0"/>
                      </a:rPr>
                      <m:t>&lt;0</m:t>
                    </m:r>
                  </m:oMath>
                </a14:m>
                <a:r>
                  <a:rPr lang="en-GB" sz="1200"/>
                  <a:t>)</a:t>
                </a:r>
              </a:p>
            </p:txBody>
          </p:sp>
        </mc:Choice>
        <mc:Fallback>
          <p:sp>
            <p:nvSpPr>
              <p:cNvPr id="64" name="TextBox 63"/>
              <p:cNvSpPr txBox="1">
                <a:spLocks noRot="1" noChangeAspect="1" noMove="1" noResize="1" noEditPoints="1" noAdjustHandles="1" noChangeArrowheads="1" noChangeShapeType="1" noTextEdit="1"/>
              </p:cNvSpPr>
              <p:nvPr/>
            </p:nvSpPr>
            <p:spPr>
              <a:xfrm>
                <a:off x="7117633" y="6218466"/>
                <a:ext cx="1336468" cy="461665"/>
              </a:xfrm>
              <a:prstGeom prst="rect">
                <a:avLst/>
              </a:prstGeom>
              <a:blipFill>
                <a:blip r:embed="rId18"/>
                <a:stretch>
                  <a:fillRect b="-7895"/>
                </a:stretch>
              </a:blipFill>
            </p:spPr>
            <p:txBody>
              <a:bodyPr/>
              <a:lstStyle/>
              <a:p>
                <a:r>
                  <a:rPr lang="en-US">
                    <a:noFill/>
                  </a:rPr>
                  <a:t> </a:t>
                </a:r>
              </a:p>
            </p:txBody>
          </p:sp>
        </mc:Fallback>
      </mc:AlternateContent>
    </p:spTree>
    <p:extLst>
      <p:ext uri="{BB962C8B-B14F-4D97-AF65-F5344CB8AC3E}">
        <p14:creationId xmlns:p14="http://schemas.microsoft.com/office/powerpoint/2010/main" val="1658660834"/>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56"/>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56"/>
                                        </p:tgtEl>
                                      </p:cBhvr>
                                    </p:animEffect>
                                    <p:set>
                                      <p:cBhvr>
                                        <p:cTn id="7" dur="1" fill="hold">
                                          <p:stCondLst>
                                            <p:cond delay="499"/>
                                          </p:stCondLst>
                                        </p:cTn>
                                        <p:tgtEl>
                                          <p:spTgt spid="56"/>
                                        </p:tgtEl>
                                        <p:attrNameLst>
                                          <p:attrName>style.visibility</p:attrName>
                                        </p:attrNameLst>
                                      </p:cBhvr>
                                      <p:to>
                                        <p:strVal val="hidden"/>
                                      </p:to>
                                    </p:set>
                                  </p:childTnLst>
                                </p:cTn>
                              </p:par>
                            </p:childTnLst>
                          </p:cTn>
                        </p:par>
                      </p:childTnLst>
                    </p:cTn>
                  </p:par>
                </p:childTnLst>
              </p:cTn>
              <p:nextCondLst>
                <p:cond evt="onClick" delay="0">
                  <p:tgtEl>
                    <p:spTgt spid="56"/>
                  </p:tgtEl>
                </p:cond>
              </p:nextCondLst>
            </p:seq>
            <p:seq concurrent="1" nextAc="seek">
              <p:cTn id="8" restart="whenNotActive" fill="hold" evtFilter="cancelBubble" nodeType="interactiveSeq">
                <p:stCondLst>
                  <p:cond evt="onClick" delay="0">
                    <p:tgtEl>
                      <p:spTgt spid="57"/>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57"/>
                                        </p:tgtEl>
                                      </p:cBhvr>
                                    </p:animEffect>
                                    <p:set>
                                      <p:cBhvr>
                                        <p:cTn id="13" dur="1" fill="hold">
                                          <p:stCondLst>
                                            <p:cond delay="499"/>
                                          </p:stCondLst>
                                        </p:cTn>
                                        <p:tgtEl>
                                          <p:spTgt spid="57"/>
                                        </p:tgtEl>
                                        <p:attrNameLst>
                                          <p:attrName>style.visibility</p:attrName>
                                        </p:attrNameLst>
                                      </p:cBhvr>
                                      <p:to>
                                        <p:strVal val="hidden"/>
                                      </p:to>
                                    </p:set>
                                  </p:childTnLst>
                                </p:cTn>
                              </p:par>
                            </p:childTnLst>
                          </p:cTn>
                        </p:par>
                      </p:childTnLst>
                    </p:cTn>
                  </p:par>
                </p:childTnLst>
              </p:cTn>
              <p:nextCondLst>
                <p:cond evt="onClick" delay="0">
                  <p:tgtEl>
                    <p:spTgt spid="57"/>
                  </p:tgtEl>
                </p:cond>
              </p:nextCondLst>
            </p:seq>
            <p:seq concurrent="1" nextAc="seek">
              <p:cTn id="14" restart="whenNotActive" fill="hold" evtFilter="cancelBubble" nodeType="interactiveSeq">
                <p:stCondLst>
                  <p:cond evt="onClick" delay="0">
                    <p:tgtEl>
                      <p:spTgt spid="58"/>
                    </p:tgtEl>
                  </p:cond>
                </p:stCondLst>
                <p:endSync evt="end" delay="0">
                  <p:rtn val="all"/>
                </p:endSync>
                <p:childTnLst>
                  <p:par>
                    <p:cTn id="15" fill="hold">
                      <p:stCondLst>
                        <p:cond delay="0"/>
                      </p:stCondLst>
                      <p:childTnLst>
                        <p:par>
                          <p:cTn id="16" fill="hold">
                            <p:stCondLst>
                              <p:cond delay="0"/>
                            </p:stCondLst>
                            <p:childTnLst>
                              <p:par>
                                <p:cTn id="17" presetID="10" presetClass="exit" presetSubtype="0" fill="hold" grpId="0" nodeType="clickEffect">
                                  <p:stCondLst>
                                    <p:cond delay="0"/>
                                  </p:stCondLst>
                                  <p:childTnLst>
                                    <p:animEffect transition="out" filter="fade">
                                      <p:cBhvr>
                                        <p:cTn id="18" dur="500"/>
                                        <p:tgtEl>
                                          <p:spTgt spid="58"/>
                                        </p:tgtEl>
                                      </p:cBhvr>
                                    </p:animEffect>
                                    <p:set>
                                      <p:cBhvr>
                                        <p:cTn id="19" dur="1" fill="hold">
                                          <p:stCondLst>
                                            <p:cond delay="499"/>
                                          </p:stCondLst>
                                        </p:cTn>
                                        <p:tgtEl>
                                          <p:spTgt spid="58"/>
                                        </p:tgtEl>
                                        <p:attrNameLst>
                                          <p:attrName>style.visibility</p:attrName>
                                        </p:attrNameLst>
                                      </p:cBhvr>
                                      <p:to>
                                        <p:strVal val="hidden"/>
                                      </p:to>
                                    </p:set>
                                  </p:childTnLst>
                                </p:cTn>
                              </p:par>
                            </p:childTnLst>
                          </p:cTn>
                        </p:par>
                      </p:childTnLst>
                    </p:cTn>
                  </p:par>
                </p:childTnLst>
              </p:cTn>
              <p:nextCondLst>
                <p:cond evt="onClick" delay="0">
                  <p:tgtEl>
                    <p:spTgt spid="58"/>
                  </p:tgtEl>
                </p:cond>
              </p:nextCondLst>
            </p:seq>
            <p:seq concurrent="1" nextAc="seek">
              <p:cTn id="20" restart="whenNotActive" fill="hold" evtFilter="cancelBubble" nodeType="interactiveSeq">
                <p:stCondLst>
                  <p:cond evt="onClick" delay="0">
                    <p:tgtEl>
                      <p:spTgt spid="59"/>
                    </p:tgtEl>
                  </p:cond>
                </p:stCondLst>
                <p:endSync evt="end" delay="0">
                  <p:rtn val="all"/>
                </p:endSync>
                <p:childTnLst>
                  <p:par>
                    <p:cTn id="21" fill="hold">
                      <p:stCondLst>
                        <p:cond delay="0"/>
                      </p:stCondLst>
                      <p:childTnLst>
                        <p:par>
                          <p:cTn id="22" fill="hold">
                            <p:stCondLst>
                              <p:cond delay="0"/>
                            </p:stCondLst>
                            <p:childTnLst>
                              <p:par>
                                <p:cTn id="23" presetID="10" presetClass="exit" presetSubtype="0" fill="hold" grpId="0" nodeType="clickEffect">
                                  <p:stCondLst>
                                    <p:cond delay="0"/>
                                  </p:stCondLst>
                                  <p:childTnLst>
                                    <p:animEffect transition="out" filter="fade">
                                      <p:cBhvr>
                                        <p:cTn id="24" dur="500"/>
                                        <p:tgtEl>
                                          <p:spTgt spid="59"/>
                                        </p:tgtEl>
                                      </p:cBhvr>
                                    </p:animEffect>
                                    <p:set>
                                      <p:cBhvr>
                                        <p:cTn id="25" dur="1" fill="hold">
                                          <p:stCondLst>
                                            <p:cond delay="499"/>
                                          </p:stCondLst>
                                        </p:cTn>
                                        <p:tgtEl>
                                          <p:spTgt spid="59"/>
                                        </p:tgtEl>
                                        <p:attrNameLst>
                                          <p:attrName>style.visibility</p:attrName>
                                        </p:attrNameLst>
                                      </p:cBhvr>
                                      <p:to>
                                        <p:strVal val="hidden"/>
                                      </p:to>
                                    </p:set>
                                  </p:childTnLst>
                                </p:cTn>
                              </p:par>
                            </p:childTnLst>
                          </p:cTn>
                        </p:par>
                      </p:childTnLst>
                    </p:cTn>
                  </p:par>
                </p:childTnLst>
              </p:cTn>
              <p:nextCondLst>
                <p:cond evt="onClick" delay="0">
                  <p:tgtEl>
                    <p:spTgt spid="59"/>
                  </p:tgtEl>
                </p:cond>
              </p:nextCondLst>
            </p:seq>
            <p:seq concurrent="1" nextAc="seek">
              <p:cTn id="26" restart="whenNotActive" fill="hold" evtFilter="cancelBubble" nodeType="interactiveSeq">
                <p:stCondLst>
                  <p:cond evt="onClick" delay="0">
                    <p:tgtEl>
                      <p:spTgt spid="60"/>
                    </p:tgtEl>
                  </p:cond>
                </p:stCondLst>
                <p:endSync evt="end" delay="0">
                  <p:rtn val="all"/>
                </p:endSync>
                <p:childTnLst>
                  <p:par>
                    <p:cTn id="27" fill="hold">
                      <p:stCondLst>
                        <p:cond delay="0"/>
                      </p:stCondLst>
                      <p:childTnLst>
                        <p:par>
                          <p:cTn id="28" fill="hold">
                            <p:stCondLst>
                              <p:cond delay="0"/>
                            </p:stCondLst>
                            <p:childTnLst>
                              <p:par>
                                <p:cTn id="29" presetID="10" presetClass="exit" presetSubtype="0" fill="hold" grpId="0" nodeType="clickEffect">
                                  <p:stCondLst>
                                    <p:cond delay="0"/>
                                  </p:stCondLst>
                                  <p:childTnLst>
                                    <p:animEffect transition="out" filter="fade">
                                      <p:cBhvr>
                                        <p:cTn id="30" dur="500"/>
                                        <p:tgtEl>
                                          <p:spTgt spid="60"/>
                                        </p:tgtEl>
                                      </p:cBhvr>
                                    </p:animEffect>
                                    <p:set>
                                      <p:cBhvr>
                                        <p:cTn id="31" dur="1" fill="hold">
                                          <p:stCondLst>
                                            <p:cond delay="499"/>
                                          </p:stCondLst>
                                        </p:cTn>
                                        <p:tgtEl>
                                          <p:spTgt spid="60"/>
                                        </p:tgtEl>
                                        <p:attrNameLst>
                                          <p:attrName>style.visibility</p:attrName>
                                        </p:attrNameLst>
                                      </p:cBhvr>
                                      <p:to>
                                        <p:strVal val="hidden"/>
                                      </p:to>
                                    </p:set>
                                  </p:childTnLst>
                                </p:cTn>
                              </p:par>
                            </p:childTnLst>
                          </p:cTn>
                        </p:par>
                      </p:childTnLst>
                    </p:cTn>
                  </p:par>
                </p:childTnLst>
              </p:cTn>
              <p:nextCondLst>
                <p:cond evt="onClick" delay="0">
                  <p:tgtEl>
                    <p:spTgt spid="60"/>
                  </p:tgtEl>
                </p:cond>
              </p:nextCondLst>
            </p:seq>
            <p:seq concurrent="1" nextAc="seek">
              <p:cTn id="32" restart="whenNotActive" fill="hold" evtFilter="cancelBubble" nodeType="interactiveSeq">
                <p:stCondLst>
                  <p:cond evt="onClick" delay="0">
                    <p:tgtEl>
                      <p:spTgt spid="61"/>
                    </p:tgtEl>
                  </p:cond>
                </p:stCondLst>
                <p:endSync evt="end" delay="0">
                  <p:rtn val="all"/>
                </p:endSync>
                <p:childTnLst>
                  <p:par>
                    <p:cTn id="33" fill="hold">
                      <p:stCondLst>
                        <p:cond delay="0"/>
                      </p:stCondLst>
                      <p:childTnLst>
                        <p:par>
                          <p:cTn id="34" fill="hold">
                            <p:stCondLst>
                              <p:cond delay="0"/>
                            </p:stCondLst>
                            <p:childTnLst>
                              <p:par>
                                <p:cTn id="35" presetID="10" presetClass="exit" presetSubtype="0" fill="hold" grpId="0" nodeType="clickEffect">
                                  <p:stCondLst>
                                    <p:cond delay="0"/>
                                  </p:stCondLst>
                                  <p:childTnLst>
                                    <p:animEffect transition="out" filter="fade">
                                      <p:cBhvr>
                                        <p:cTn id="36" dur="500"/>
                                        <p:tgtEl>
                                          <p:spTgt spid="61"/>
                                        </p:tgtEl>
                                      </p:cBhvr>
                                    </p:animEffect>
                                    <p:set>
                                      <p:cBhvr>
                                        <p:cTn id="37" dur="1" fill="hold">
                                          <p:stCondLst>
                                            <p:cond delay="499"/>
                                          </p:stCondLst>
                                        </p:cTn>
                                        <p:tgtEl>
                                          <p:spTgt spid="61"/>
                                        </p:tgtEl>
                                        <p:attrNameLst>
                                          <p:attrName>style.visibility</p:attrName>
                                        </p:attrNameLst>
                                      </p:cBhvr>
                                      <p:to>
                                        <p:strVal val="hidden"/>
                                      </p:to>
                                    </p:set>
                                  </p:childTnLst>
                                </p:cTn>
                              </p:par>
                            </p:childTnLst>
                          </p:cTn>
                        </p:par>
                      </p:childTnLst>
                    </p:cTn>
                  </p:par>
                </p:childTnLst>
              </p:cTn>
              <p:nextCondLst>
                <p:cond evt="onClick" delay="0">
                  <p:tgtEl>
                    <p:spTgt spid="61"/>
                  </p:tgtEl>
                </p:cond>
              </p:nextCondLst>
            </p:seq>
            <p:seq concurrent="1" nextAc="seek">
              <p:cTn id="38" restart="whenNotActive" fill="hold" evtFilter="cancelBubble" nodeType="interactiveSeq">
                <p:stCondLst>
                  <p:cond evt="onClick" delay="0">
                    <p:tgtEl>
                      <p:spTgt spid="62"/>
                    </p:tgtEl>
                  </p:cond>
                </p:stCondLst>
                <p:endSync evt="end" delay="0">
                  <p:rtn val="all"/>
                </p:endSync>
                <p:childTnLst>
                  <p:par>
                    <p:cTn id="39" fill="hold">
                      <p:stCondLst>
                        <p:cond delay="0"/>
                      </p:stCondLst>
                      <p:childTnLst>
                        <p:par>
                          <p:cTn id="40" fill="hold">
                            <p:stCondLst>
                              <p:cond delay="0"/>
                            </p:stCondLst>
                            <p:childTnLst>
                              <p:par>
                                <p:cTn id="41" presetID="10" presetClass="exit" presetSubtype="0" fill="hold" grpId="0" nodeType="clickEffect">
                                  <p:stCondLst>
                                    <p:cond delay="0"/>
                                  </p:stCondLst>
                                  <p:childTnLst>
                                    <p:animEffect transition="out" filter="fade">
                                      <p:cBhvr>
                                        <p:cTn id="42" dur="500"/>
                                        <p:tgtEl>
                                          <p:spTgt spid="62"/>
                                        </p:tgtEl>
                                      </p:cBhvr>
                                    </p:animEffect>
                                    <p:set>
                                      <p:cBhvr>
                                        <p:cTn id="43" dur="1" fill="hold">
                                          <p:stCondLst>
                                            <p:cond delay="499"/>
                                          </p:stCondLst>
                                        </p:cTn>
                                        <p:tgtEl>
                                          <p:spTgt spid="62"/>
                                        </p:tgtEl>
                                        <p:attrNameLst>
                                          <p:attrName>style.visibility</p:attrName>
                                        </p:attrNameLst>
                                      </p:cBhvr>
                                      <p:to>
                                        <p:strVal val="hidden"/>
                                      </p:to>
                                    </p:set>
                                  </p:childTnLst>
                                </p:cTn>
                              </p:par>
                            </p:childTnLst>
                          </p:cTn>
                        </p:par>
                      </p:childTnLst>
                    </p:cTn>
                  </p:par>
                </p:childTnLst>
              </p:cTn>
              <p:nextCondLst>
                <p:cond evt="onClick" delay="0">
                  <p:tgtEl>
                    <p:spTgt spid="62"/>
                  </p:tgtEl>
                </p:cond>
              </p:nextCondLst>
            </p:seq>
            <p:seq concurrent="1" nextAc="seek">
              <p:cTn id="44" restart="whenNotActive" fill="hold" evtFilter="cancelBubble" nodeType="interactiveSeq">
                <p:stCondLst>
                  <p:cond evt="onClick" delay="0">
                    <p:tgtEl>
                      <p:spTgt spid="63"/>
                    </p:tgtEl>
                  </p:cond>
                </p:stCondLst>
                <p:endSync evt="end" delay="0">
                  <p:rtn val="all"/>
                </p:endSync>
                <p:childTnLst>
                  <p:par>
                    <p:cTn id="45" fill="hold">
                      <p:stCondLst>
                        <p:cond delay="0"/>
                      </p:stCondLst>
                      <p:childTnLst>
                        <p:par>
                          <p:cTn id="46" fill="hold">
                            <p:stCondLst>
                              <p:cond delay="0"/>
                            </p:stCondLst>
                            <p:childTnLst>
                              <p:par>
                                <p:cTn id="47" presetID="10" presetClass="exit" presetSubtype="0" fill="hold" grpId="0" nodeType="clickEffect">
                                  <p:stCondLst>
                                    <p:cond delay="0"/>
                                  </p:stCondLst>
                                  <p:childTnLst>
                                    <p:animEffect transition="out" filter="fade">
                                      <p:cBhvr>
                                        <p:cTn id="48" dur="500"/>
                                        <p:tgtEl>
                                          <p:spTgt spid="63"/>
                                        </p:tgtEl>
                                      </p:cBhvr>
                                    </p:animEffect>
                                    <p:set>
                                      <p:cBhvr>
                                        <p:cTn id="49" dur="1" fill="hold">
                                          <p:stCondLst>
                                            <p:cond delay="499"/>
                                          </p:stCondLst>
                                        </p:cTn>
                                        <p:tgtEl>
                                          <p:spTgt spid="63"/>
                                        </p:tgtEl>
                                        <p:attrNameLst>
                                          <p:attrName>style.visibility</p:attrName>
                                        </p:attrNameLst>
                                      </p:cBhvr>
                                      <p:to>
                                        <p:strVal val="hidden"/>
                                      </p:to>
                                    </p:set>
                                  </p:childTnLst>
                                </p:cTn>
                              </p:par>
                            </p:childTnLst>
                          </p:cTn>
                        </p:par>
                        <p:par>
                          <p:cTn id="50" fill="hold">
                            <p:stCondLst>
                              <p:cond delay="500"/>
                            </p:stCondLst>
                            <p:childTnLst>
                              <p:par>
                                <p:cTn id="51" presetID="2" presetClass="entr" presetSubtype="4" fill="hold" grpId="0" nodeType="afterEffect">
                                  <p:stCondLst>
                                    <p:cond delay="0"/>
                                  </p:stCondLst>
                                  <p:childTnLst>
                                    <p:set>
                                      <p:cBhvr>
                                        <p:cTn id="52" dur="1" fill="hold">
                                          <p:stCondLst>
                                            <p:cond delay="0"/>
                                          </p:stCondLst>
                                        </p:cTn>
                                        <p:tgtEl>
                                          <p:spTgt spid="64"/>
                                        </p:tgtEl>
                                        <p:attrNameLst>
                                          <p:attrName>style.visibility</p:attrName>
                                        </p:attrNameLst>
                                      </p:cBhvr>
                                      <p:to>
                                        <p:strVal val="visible"/>
                                      </p:to>
                                    </p:set>
                                    <p:anim calcmode="lin" valueType="num">
                                      <p:cBhvr additive="base">
                                        <p:cTn id="53" dur="500" fill="hold"/>
                                        <p:tgtEl>
                                          <p:spTgt spid="64"/>
                                        </p:tgtEl>
                                        <p:attrNameLst>
                                          <p:attrName>ppt_x</p:attrName>
                                        </p:attrNameLst>
                                      </p:cBhvr>
                                      <p:tavLst>
                                        <p:tav tm="0">
                                          <p:val>
                                            <p:strVal val="#ppt_x"/>
                                          </p:val>
                                        </p:tav>
                                        <p:tav tm="100000">
                                          <p:val>
                                            <p:strVal val="#ppt_x"/>
                                          </p:val>
                                        </p:tav>
                                      </p:tavLst>
                                    </p:anim>
                                    <p:anim calcmode="lin" valueType="num">
                                      <p:cBhvr additive="base">
                                        <p:cTn id="54" dur="500" fill="hold"/>
                                        <p:tgtEl>
                                          <p:spTgt spid="64"/>
                                        </p:tgtEl>
                                        <p:attrNameLst>
                                          <p:attrName>ppt_y</p:attrName>
                                        </p:attrNameLst>
                                      </p:cBhvr>
                                      <p:tavLst>
                                        <p:tav tm="0">
                                          <p:val>
                                            <p:strVal val="1+#ppt_h/2"/>
                                          </p:val>
                                        </p:tav>
                                        <p:tav tm="100000">
                                          <p:val>
                                            <p:strVal val="#ppt_y"/>
                                          </p:val>
                                        </p:tav>
                                      </p:tavLst>
                                    </p:anim>
                                  </p:childTnLst>
                                </p:cTn>
                              </p:par>
                            </p:childTnLst>
                          </p:cTn>
                        </p:par>
                      </p:childTnLst>
                    </p:cTn>
                  </p:par>
                </p:childTnLst>
              </p:cTn>
              <p:nextCondLst>
                <p:cond evt="onClick" delay="0">
                  <p:tgtEl>
                    <p:spTgt spid="63"/>
                  </p:tgtEl>
                </p:cond>
              </p:nextCondLst>
            </p:seq>
          </p:childTnLst>
        </p:cTn>
      </p:par>
    </p:tnLst>
    <p:bldLst>
      <p:bldP spid="56" grpId="0" animBg="1"/>
      <p:bldP spid="57" grpId="0" animBg="1"/>
      <p:bldP spid="58" grpId="0" animBg="1"/>
      <p:bldP spid="59" grpId="0" animBg="1"/>
      <p:bldP spid="60" grpId="0" animBg="1"/>
      <p:bldP spid="61" grpId="0" animBg="1"/>
      <p:bldP spid="62" grpId="0" animBg="1"/>
      <p:bldP spid="63" grpId="0" animBg="1"/>
      <p:bldP spid="6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vert="horz" wrap="square" lIns="324000" tIns="45720" rIns="91440" bIns="45720" rtlCol="0" anchor="ctr">
              <a:spAutoFit/>
            </a:bodyPr>
            <a:lstStyle>
              <a:defPPr>
                <a:defRPr lang="en-US"/>
              </a:defPPr>
              <a:lvl1pPr>
                <a:spcBef>
                  <a:spcPct val="0"/>
                </a:spcBef>
                <a:buNone/>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err="1"/>
                <a:t>Cubics</a:t>
              </a:r>
              <a:endParaRPr lang="en-GB"/>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mc:Choice xmlns:a14="http://schemas.microsoft.com/office/drawing/2010/main" Requires="a14">
          <p:sp>
            <p:nvSpPr>
              <p:cNvPr id="5" name="TextBox 4"/>
              <p:cNvSpPr txBox="1"/>
              <p:nvPr/>
            </p:nvSpPr>
            <p:spPr>
              <a:xfrm>
                <a:off x="251520" y="836712"/>
                <a:ext cx="3672408" cy="646331"/>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a:t>Sketch the curve with equation</a:t>
                </a:r>
              </a:p>
              <a:p>
                <a:pPr/>
                <a14:m>
                  <m:oMathPara xmlns:m="http://schemas.openxmlformats.org/officeDocument/2006/math">
                    <m:oMath>
                      <m:r>
                        <a:rPr lang="en-GB" b="0" i="1" smtClean="0">
                          <a:latin typeface="Cambria Math" panose="02040503050406030204" pitchFamily="18" charset="0"/>
                        </a:rPr>
                        <m:t>𝑦</m:t>
                      </m:r>
                      <m:r>
                        <a:rPr lang="en-GB" b="0" i="1" smtClean="0">
                          <a:latin typeface="Cambria Math" panose="02040503050406030204" pitchFamily="18" charset="0"/>
                        </a:rPr>
                        <m:t>=(</m:t>
                      </m:r>
                      <m:r>
                        <a:rPr lang="en-GB" b="0" i="1" smtClean="0">
                          <a:latin typeface="Cambria Math" panose="02040503050406030204" pitchFamily="18" charset="0"/>
                        </a:rPr>
                        <m:t>𝑥</m:t>
                      </m:r>
                      <m:r>
                        <a:rPr lang="en-GB" b="0" i="1" smtClean="0">
                          <a:latin typeface="Cambria Math" panose="02040503050406030204" pitchFamily="18" charset="0"/>
                        </a:rPr>
                        <m:t>−2)(1−</m:t>
                      </m:r>
                      <m:r>
                        <a:rPr lang="en-GB" b="0" i="1" smtClean="0">
                          <a:latin typeface="Cambria Math" panose="02040503050406030204" pitchFamily="18" charset="0"/>
                        </a:rPr>
                        <m:t>𝑥</m:t>
                      </m:r>
                      <m:r>
                        <a:rPr lang="en-GB" b="0" i="1" smtClean="0">
                          <a:latin typeface="Cambria Math" panose="02040503050406030204" pitchFamily="18" charset="0"/>
                        </a:rPr>
                        <m:t>)(1+</m:t>
                      </m:r>
                      <m:r>
                        <a:rPr lang="en-GB" b="0" i="1" smtClean="0">
                          <a:latin typeface="Cambria Math" panose="02040503050406030204" pitchFamily="18" charset="0"/>
                        </a:rPr>
                        <m:t>𝑥</m:t>
                      </m:r>
                      <m:r>
                        <a:rPr lang="en-GB" b="0" i="1" smtClean="0">
                          <a:latin typeface="Cambria Math" panose="02040503050406030204" pitchFamily="18" charset="0"/>
                        </a:rPr>
                        <m:t>)</m:t>
                      </m:r>
                    </m:oMath>
                  </m:oMathPara>
                </a14:m>
                <a:endParaRPr lang="en-GB"/>
              </a:p>
            </p:txBody>
          </p:sp>
        </mc:Choice>
        <mc:Fallback>
          <p:sp>
            <p:nvSpPr>
              <p:cNvPr id="5" name="TextBox 4"/>
              <p:cNvSpPr txBox="1">
                <a:spLocks noRot="1" noChangeAspect="1" noMove="1" noResize="1" noEditPoints="1" noAdjustHandles="1" noChangeArrowheads="1" noChangeShapeType="1" noTextEdit="1"/>
              </p:cNvSpPr>
              <p:nvPr/>
            </p:nvSpPr>
            <p:spPr>
              <a:xfrm>
                <a:off x="251520" y="836712"/>
                <a:ext cx="3672408" cy="646331"/>
              </a:xfrm>
              <a:prstGeom prst="rect">
                <a:avLst/>
              </a:prstGeom>
              <a:blipFill>
                <a:blip r:embed="rId2"/>
                <a:stretch>
                  <a:fillRect/>
                </a:stretch>
              </a:blipFill>
              <a:effectLst>
                <a:outerShdw blurRad="63500" sx="102000" sy="102000" algn="ctr" rotWithShape="0">
                  <a:prstClr val="black">
                    <a:alpha val="40000"/>
                  </a:prstClr>
                </a:outerShdw>
              </a:effectLst>
            </p:spPr>
            <p:txBody>
              <a:bodyPr/>
              <a:lstStyle/>
              <a:p>
                <a:r>
                  <a:rPr lang="en-US">
                    <a:noFill/>
                  </a:rPr>
                  <a:t> </a:t>
                </a:r>
              </a:p>
            </p:txBody>
          </p:sp>
        </mc:Fallback>
      </mc:AlternateContent>
      <p:sp>
        <p:nvSpPr>
          <p:cNvPr id="6" name="TextBox 5"/>
          <p:cNvSpPr txBox="1"/>
          <p:nvPr/>
        </p:nvSpPr>
        <p:spPr>
          <a:xfrm>
            <a:off x="295003" y="1638843"/>
            <a:ext cx="2990457" cy="369332"/>
          </a:xfrm>
          <a:prstGeom prst="rect">
            <a:avLst/>
          </a:prstGeom>
          <a:noFill/>
        </p:spPr>
        <p:txBody>
          <a:bodyPr wrap="square" rtlCol="0">
            <a:spAutoFit/>
          </a:bodyPr>
          <a:lstStyle/>
          <a:p>
            <a:r>
              <a:rPr lang="en-GB"/>
              <a:t>Features you must consider:</a:t>
            </a:r>
          </a:p>
        </p:txBody>
      </p:sp>
      <p:sp>
        <p:nvSpPr>
          <p:cNvPr id="7" name="TextBox 6"/>
          <p:cNvSpPr txBox="1"/>
          <p:nvPr/>
        </p:nvSpPr>
        <p:spPr>
          <a:xfrm>
            <a:off x="305636" y="2163287"/>
            <a:ext cx="964629" cy="338554"/>
          </a:xfrm>
          <a:prstGeom prst="rect">
            <a:avLst/>
          </a:prstGeom>
          <a:noFill/>
        </p:spPr>
        <p:txBody>
          <a:bodyPr wrap="square" rtlCol="0">
            <a:spAutoFit/>
          </a:bodyPr>
          <a:lstStyle/>
          <a:p>
            <a:r>
              <a:rPr lang="en-GB" sz="1600" b="1"/>
              <a:t>Shape?</a:t>
            </a:r>
          </a:p>
        </p:txBody>
      </p:sp>
      <mc:AlternateContent xmlns:mc="http://schemas.openxmlformats.org/markup-compatibility/2006">
        <mc:Choice xmlns:a14="http://schemas.microsoft.com/office/drawing/2010/main" Requires="a14">
          <p:sp>
            <p:nvSpPr>
              <p:cNvPr id="8" name="TextBox 7"/>
              <p:cNvSpPr txBox="1"/>
              <p:nvPr/>
            </p:nvSpPr>
            <p:spPr>
              <a:xfrm>
                <a:off x="1201591" y="2173920"/>
                <a:ext cx="2679293" cy="830997"/>
              </a:xfrm>
              <a:prstGeom prst="rect">
                <a:avLst/>
              </a:prstGeom>
              <a:noFill/>
            </p:spPr>
            <p:txBody>
              <a:bodyPr wrap="square" rtlCol="0">
                <a:spAutoFit/>
              </a:bodyPr>
              <a:lstStyle/>
              <a:p>
                <a:r>
                  <a:rPr lang="en-GB" sz="1600"/>
                  <a:t>If we expanded, </a:t>
                </a:r>
                <a14:m>
                  <m:oMath xmlns:m="http://schemas.openxmlformats.org/officeDocument/2006/math">
                    <m:sSup>
                      <m:sSupPr>
                        <m:ctrlPr>
                          <a:rPr lang="en-GB" sz="1600" b="0" i="1" smtClean="0">
                            <a:latin typeface="Cambria Math" panose="02040503050406030204" pitchFamily="18" charset="0"/>
                          </a:rPr>
                        </m:ctrlPr>
                      </m:sSupPr>
                      <m:e>
                        <m:r>
                          <a:rPr lang="en-GB" sz="1600" b="0" i="1" smtClean="0">
                            <a:latin typeface="Cambria Math" panose="02040503050406030204" pitchFamily="18" charset="0"/>
                          </a:rPr>
                          <m:t>𝑥</m:t>
                        </m:r>
                      </m:e>
                      <m:sup>
                        <m:r>
                          <a:rPr lang="en-GB" sz="1600" b="0" i="1" smtClean="0">
                            <a:latin typeface="Cambria Math" panose="02040503050406030204" pitchFamily="18" charset="0"/>
                          </a:rPr>
                          <m:t>3</m:t>
                        </m:r>
                      </m:sup>
                    </m:sSup>
                  </m:oMath>
                </a14:m>
                <a:r>
                  <a:rPr lang="en-GB" sz="1600"/>
                  <a:t> term would be negative, so ‘downhill’ shape.</a:t>
                </a:r>
              </a:p>
            </p:txBody>
          </p:sp>
        </mc:Choice>
        <mc:Fallback>
          <p:sp>
            <p:nvSpPr>
              <p:cNvPr id="8" name="TextBox 7"/>
              <p:cNvSpPr txBox="1">
                <a:spLocks noRot="1" noChangeAspect="1" noMove="1" noResize="1" noEditPoints="1" noAdjustHandles="1" noChangeArrowheads="1" noChangeShapeType="1" noTextEdit="1"/>
              </p:cNvSpPr>
              <p:nvPr/>
            </p:nvSpPr>
            <p:spPr>
              <a:xfrm>
                <a:off x="1201591" y="2173920"/>
                <a:ext cx="2679293" cy="830997"/>
              </a:xfrm>
              <a:prstGeom prst="rect">
                <a:avLst/>
              </a:prstGeom>
              <a:blipFill>
                <a:blip r:embed="rId3"/>
                <a:stretch>
                  <a:fillRect l="-943" t="-3030" b="-7576"/>
                </a:stretch>
              </a:blipFill>
            </p:spPr>
            <p:txBody>
              <a:bodyPr/>
              <a:lstStyle/>
              <a:p>
                <a:r>
                  <a:rPr lang="en-US">
                    <a:noFill/>
                  </a:rPr>
                  <a:t> </a:t>
                </a:r>
              </a:p>
            </p:txBody>
          </p:sp>
        </mc:Fallback>
      </mc:AlternateContent>
      <p:sp>
        <p:nvSpPr>
          <p:cNvPr id="9" name="TextBox 8"/>
          <p:cNvSpPr txBox="1"/>
          <p:nvPr/>
        </p:nvSpPr>
        <p:spPr>
          <a:xfrm>
            <a:off x="312093" y="3023441"/>
            <a:ext cx="964629" cy="338554"/>
          </a:xfrm>
          <a:prstGeom prst="rect">
            <a:avLst/>
          </a:prstGeom>
          <a:noFill/>
        </p:spPr>
        <p:txBody>
          <a:bodyPr wrap="square" rtlCol="0">
            <a:spAutoFit/>
          </a:bodyPr>
          <a:lstStyle/>
          <a:p>
            <a:r>
              <a:rPr lang="en-GB" sz="1600" b="1"/>
              <a:t>Roots?</a:t>
            </a:r>
          </a:p>
        </p:txBody>
      </p:sp>
      <mc:AlternateContent xmlns:mc="http://schemas.openxmlformats.org/markup-compatibility/2006">
        <mc:Choice xmlns:a14="http://schemas.microsoft.com/office/drawing/2010/main" Requires="a14">
          <p:sp>
            <p:nvSpPr>
              <p:cNvPr id="10" name="TextBox 9"/>
              <p:cNvSpPr txBox="1"/>
              <p:nvPr/>
            </p:nvSpPr>
            <p:spPr>
              <a:xfrm>
                <a:off x="1201591" y="3004917"/>
                <a:ext cx="2349683" cy="338554"/>
              </a:xfrm>
              <a:prstGeom prst="rect">
                <a:avLst/>
              </a:prstGeom>
              <a:noFill/>
            </p:spPr>
            <p:txBody>
              <a:bodyPr wrap="square" rtlCol="0">
                <a:spAutoFit/>
              </a:bodyPr>
              <a:lstStyle/>
              <a:p>
                <a:r>
                  <a:rPr lang="en-GB" sz="1600"/>
                  <a:t>If </a:t>
                </a:r>
                <a14:m>
                  <m:oMath xmlns:m="http://schemas.openxmlformats.org/officeDocument/2006/math">
                    <m:r>
                      <a:rPr lang="en-GB" sz="1600" b="0" i="1" smtClean="0">
                        <a:latin typeface="Cambria Math" panose="02040503050406030204" pitchFamily="18" charset="0"/>
                      </a:rPr>
                      <m:t>𝑦</m:t>
                    </m:r>
                    <m:r>
                      <a:rPr lang="en-GB" sz="1600" b="0" i="1" smtClean="0">
                        <a:latin typeface="Cambria Math" panose="02040503050406030204" pitchFamily="18" charset="0"/>
                      </a:rPr>
                      <m:t>=0</m:t>
                    </m:r>
                  </m:oMath>
                </a14:m>
                <a:r>
                  <a:rPr lang="en-GB" sz="1600"/>
                  <a:t>, </a:t>
                </a:r>
                <a14:m>
                  <m:oMath xmlns:m="http://schemas.openxmlformats.org/officeDocument/2006/math">
                    <m:r>
                      <a:rPr lang="en-GB" sz="1600" b="0" i="1" smtClean="0">
                        <a:latin typeface="Cambria Math" panose="02040503050406030204" pitchFamily="18" charset="0"/>
                      </a:rPr>
                      <m:t>𝑥</m:t>
                    </m:r>
                    <m:r>
                      <a:rPr lang="en-GB" sz="1600" b="0" i="1" smtClean="0">
                        <a:latin typeface="Cambria Math" panose="02040503050406030204" pitchFamily="18" charset="0"/>
                      </a:rPr>
                      <m:t>=2, 1 </m:t>
                    </m:r>
                    <m:r>
                      <a:rPr lang="en-GB" sz="1600" b="0" i="1" smtClean="0">
                        <a:latin typeface="Cambria Math" panose="02040503050406030204" pitchFamily="18" charset="0"/>
                      </a:rPr>
                      <m:t>𝑜𝑟</m:t>
                    </m:r>
                    <m:r>
                      <a:rPr lang="en-GB" sz="1600" b="0" i="1" smtClean="0">
                        <a:latin typeface="Cambria Math" panose="02040503050406030204" pitchFamily="18" charset="0"/>
                      </a:rPr>
                      <m:t> −1</m:t>
                    </m:r>
                  </m:oMath>
                </a14:m>
                <a:endParaRPr lang="en-GB" sz="1600"/>
              </a:p>
            </p:txBody>
          </p:sp>
        </mc:Choice>
        <mc:Fallback>
          <p:sp>
            <p:nvSpPr>
              <p:cNvPr id="10" name="TextBox 9"/>
              <p:cNvSpPr txBox="1">
                <a:spLocks noRot="1" noChangeAspect="1" noMove="1" noResize="1" noEditPoints="1" noAdjustHandles="1" noChangeArrowheads="1" noChangeShapeType="1" noTextEdit="1"/>
              </p:cNvSpPr>
              <p:nvPr/>
            </p:nvSpPr>
            <p:spPr>
              <a:xfrm>
                <a:off x="1201591" y="3004917"/>
                <a:ext cx="2349683" cy="338554"/>
              </a:xfrm>
              <a:prstGeom prst="rect">
                <a:avLst/>
              </a:prstGeom>
              <a:blipFill>
                <a:blip r:embed="rId4"/>
                <a:stretch>
                  <a:fillRect l="-1075" t="-3571" b="-1785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1" name="TextBox 10"/>
              <p:cNvSpPr txBox="1"/>
              <p:nvPr/>
            </p:nvSpPr>
            <p:spPr>
              <a:xfrm>
                <a:off x="1201591" y="3502208"/>
                <a:ext cx="2349683" cy="338554"/>
              </a:xfrm>
              <a:prstGeom prst="rect">
                <a:avLst/>
              </a:prstGeom>
              <a:noFill/>
            </p:spPr>
            <p:txBody>
              <a:bodyPr wrap="square" rtlCol="0">
                <a:spAutoFit/>
              </a:bodyPr>
              <a:lstStyle/>
              <a:p>
                <a:r>
                  <a:rPr lang="en-GB" sz="1600"/>
                  <a:t>If </a:t>
                </a:r>
                <a14:m>
                  <m:oMath xmlns:m="http://schemas.openxmlformats.org/officeDocument/2006/math">
                    <m:r>
                      <a:rPr lang="en-GB" sz="1600" b="0" i="1" smtClean="0">
                        <a:latin typeface="Cambria Math" panose="02040503050406030204" pitchFamily="18" charset="0"/>
                      </a:rPr>
                      <m:t>𝑥</m:t>
                    </m:r>
                    <m:r>
                      <a:rPr lang="en-GB" sz="1600" b="0" i="1" smtClean="0">
                        <a:latin typeface="Cambria Math" panose="02040503050406030204" pitchFamily="18" charset="0"/>
                      </a:rPr>
                      <m:t>=0,</m:t>
                    </m:r>
                  </m:oMath>
                </a14:m>
                <a:r>
                  <a:rPr lang="en-GB" sz="1600"/>
                  <a:t> </a:t>
                </a:r>
                <a14:m>
                  <m:oMath xmlns:m="http://schemas.openxmlformats.org/officeDocument/2006/math">
                    <m:r>
                      <a:rPr lang="en-GB" sz="1600" b="0" i="1" dirty="0" smtClean="0">
                        <a:latin typeface="Cambria Math" panose="02040503050406030204" pitchFamily="18" charset="0"/>
                      </a:rPr>
                      <m:t>𝑦</m:t>
                    </m:r>
                    <m:r>
                      <a:rPr lang="en-GB" sz="1600" b="0" i="1" dirty="0" smtClean="0">
                        <a:latin typeface="Cambria Math" panose="02040503050406030204" pitchFamily="18" charset="0"/>
                      </a:rPr>
                      <m:t>=−2</m:t>
                    </m:r>
                  </m:oMath>
                </a14:m>
                <a:endParaRPr lang="en-GB" sz="1600"/>
              </a:p>
            </p:txBody>
          </p:sp>
        </mc:Choice>
        <mc:Fallback>
          <p:sp>
            <p:nvSpPr>
              <p:cNvPr id="11" name="TextBox 10"/>
              <p:cNvSpPr txBox="1">
                <a:spLocks noRot="1" noChangeAspect="1" noMove="1" noResize="1" noEditPoints="1" noAdjustHandles="1" noChangeArrowheads="1" noChangeShapeType="1" noTextEdit="1"/>
              </p:cNvSpPr>
              <p:nvPr/>
            </p:nvSpPr>
            <p:spPr>
              <a:xfrm>
                <a:off x="1201591" y="3502208"/>
                <a:ext cx="2349683" cy="338554"/>
              </a:xfrm>
              <a:prstGeom prst="rect">
                <a:avLst/>
              </a:prstGeom>
              <a:blipFill>
                <a:blip r:embed="rId5"/>
                <a:stretch>
                  <a:fillRect l="-1075" t="-7407" b="-2222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 name="TextBox 11"/>
              <p:cNvSpPr txBox="1"/>
              <p:nvPr/>
            </p:nvSpPr>
            <p:spPr>
              <a:xfrm>
                <a:off x="0" y="3498413"/>
                <a:ext cx="1222744" cy="338554"/>
              </a:xfrm>
              <a:prstGeom prst="rect">
                <a:avLst/>
              </a:prstGeom>
              <a:noFill/>
            </p:spPr>
            <p:txBody>
              <a:bodyPr wrap="square" rtlCol="0">
                <a:spAutoFit/>
              </a:bodyPr>
              <a:lstStyle/>
              <a:p>
                <a14:m>
                  <m:oMath xmlns:m="http://schemas.openxmlformats.org/officeDocument/2006/math">
                    <m:r>
                      <a:rPr lang="en-GB" sz="1600" b="1" i="1" smtClean="0">
                        <a:latin typeface="Cambria Math" panose="02040503050406030204" pitchFamily="18" charset="0"/>
                      </a:rPr>
                      <m:t>𝒚</m:t>
                    </m:r>
                  </m:oMath>
                </a14:m>
                <a:r>
                  <a:rPr lang="en-GB" sz="1600" b="1"/>
                  <a:t>-intercept?</a:t>
                </a:r>
              </a:p>
            </p:txBody>
          </p:sp>
        </mc:Choice>
        <mc:Fallback>
          <p:sp>
            <p:nvSpPr>
              <p:cNvPr id="12" name="TextBox 11"/>
              <p:cNvSpPr txBox="1">
                <a:spLocks noRot="1" noChangeAspect="1" noMove="1" noResize="1" noEditPoints="1" noAdjustHandles="1" noChangeArrowheads="1" noChangeShapeType="1" noTextEdit="1"/>
              </p:cNvSpPr>
              <p:nvPr/>
            </p:nvSpPr>
            <p:spPr>
              <a:xfrm>
                <a:off x="0" y="3498413"/>
                <a:ext cx="1222744" cy="338554"/>
              </a:xfrm>
              <a:prstGeom prst="rect">
                <a:avLst/>
              </a:prstGeom>
              <a:blipFill>
                <a:blip r:embed="rId6"/>
                <a:stretch>
                  <a:fillRect t="-3704" r="-2062" b="-22222"/>
                </a:stretch>
              </a:blipFill>
            </p:spPr>
            <p:txBody>
              <a:bodyPr/>
              <a:lstStyle/>
              <a:p>
                <a:r>
                  <a:rPr lang="en-US">
                    <a:noFill/>
                  </a:rPr>
                  <a:t> </a:t>
                </a:r>
              </a:p>
            </p:txBody>
          </p:sp>
        </mc:Fallback>
      </mc:AlternateContent>
      <p:cxnSp>
        <p:nvCxnSpPr>
          <p:cNvPr id="14" name="Straight Arrow Connector 13"/>
          <p:cNvCxnSpPr/>
          <p:nvPr/>
        </p:nvCxnSpPr>
        <p:spPr>
          <a:xfrm>
            <a:off x="560491" y="5315214"/>
            <a:ext cx="240944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 name="Straight Arrow Connector 14"/>
          <p:cNvCxnSpPr/>
          <p:nvPr/>
        </p:nvCxnSpPr>
        <p:spPr>
          <a:xfrm flipV="1">
            <a:off x="1722888" y="4301309"/>
            <a:ext cx="0" cy="187220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8" name="TextBox 17"/>
          <p:cNvSpPr txBox="1"/>
          <p:nvPr/>
        </p:nvSpPr>
        <p:spPr>
          <a:xfrm>
            <a:off x="1147514" y="5283317"/>
            <a:ext cx="415472" cy="369332"/>
          </a:xfrm>
          <a:prstGeom prst="rect">
            <a:avLst/>
          </a:prstGeom>
          <a:noFill/>
        </p:spPr>
        <p:txBody>
          <a:bodyPr wrap="square" rtlCol="0">
            <a:spAutoFit/>
          </a:bodyPr>
          <a:lstStyle/>
          <a:p>
            <a:r>
              <a:rPr lang="en-GB"/>
              <a:t>-1</a:t>
            </a:r>
          </a:p>
        </p:txBody>
      </p:sp>
      <p:sp>
        <p:nvSpPr>
          <p:cNvPr id="19" name="TextBox 18"/>
          <p:cNvSpPr txBox="1"/>
          <p:nvPr/>
        </p:nvSpPr>
        <p:spPr>
          <a:xfrm>
            <a:off x="1914689" y="5283317"/>
            <a:ext cx="415472" cy="369332"/>
          </a:xfrm>
          <a:prstGeom prst="rect">
            <a:avLst/>
          </a:prstGeom>
          <a:noFill/>
        </p:spPr>
        <p:txBody>
          <a:bodyPr wrap="square" rtlCol="0">
            <a:spAutoFit/>
          </a:bodyPr>
          <a:lstStyle/>
          <a:p>
            <a:r>
              <a:rPr lang="en-GB"/>
              <a:t>1</a:t>
            </a:r>
          </a:p>
        </p:txBody>
      </p:sp>
      <p:sp>
        <p:nvSpPr>
          <p:cNvPr id="20" name="TextBox 19"/>
          <p:cNvSpPr txBox="1"/>
          <p:nvPr/>
        </p:nvSpPr>
        <p:spPr>
          <a:xfrm>
            <a:off x="2333501" y="5283317"/>
            <a:ext cx="415472" cy="369332"/>
          </a:xfrm>
          <a:prstGeom prst="rect">
            <a:avLst/>
          </a:prstGeom>
          <a:noFill/>
        </p:spPr>
        <p:txBody>
          <a:bodyPr wrap="square" rtlCol="0">
            <a:spAutoFit/>
          </a:bodyPr>
          <a:lstStyle/>
          <a:p>
            <a:r>
              <a:rPr lang="en-GB"/>
              <a:t>2</a:t>
            </a:r>
          </a:p>
        </p:txBody>
      </p:sp>
      <p:sp>
        <p:nvSpPr>
          <p:cNvPr id="22" name="Freeform: Shape 21"/>
          <p:cNvSpPr/>
          <p:nvPr/>
        </p:nvSpPr>
        <p:spPr>
          <a:xfrm>
            <a:off x="1105786" y="4529470"/>
            <a:ext cx="1520456" cy="1297172"/>
          </a:xfrm>
          <a:custGeom>
            <a:avLst/>
            <a:gdLst>
              <a:gd name="connsiteX0" fmla="*/ 0 w 1520456"/>
              <a:gd name="connsiteY0" fmla="*/ 0 h 1297172"/>
              <a:gd name="connsiteX1" fmla="*/ 265814 w 1520456"/>
              <a:gd name="connsiteY1" fmla="*/ 808074 h 1297172"/>
              <a:gd name="connsiteX2" fmla="*/ 606056 w 1520456"/>
              <a:gd name="connsiteY2" fmla="*/ 1244009 h 1297172"/>
              <a:gd name="connsiteX3" fmla="*/ 978195 w 1520456"/>
              <a:gd name="connsiteY3" fmla="*/ 797442 h 1297172"/>
              <a:gd name="connsiteX4" fmla="*/ 1190847 w 1520456"/>
              <a:gd name="connsiteY4" fmla="*/ 446567 h 1297172"/>
              <a:gd name="connsiteX5" fmla="*/ 1382233 w 1520456"/>
              <a:gd name="connsiteY5" fmla="*/ 808074 h 1297172"/>
              <a:gd name="connsiteX6" fmla="*/ 1520456 w 1520456"/>
              <a:gd name="connsiteY6" fmla="*/ 1297172 h 1297172"/>
              <a:gd name="connsiteX0" fmla="*/ 0 w 1520456"/>
              <a:gd name="connsiteY0" fmla="*/ 0 h 1297172"/>
              <a:gd name="connsiteX1" fmla="*/ 265814 w 1520456"/>
              <a:gd name="connsiteY1" fmla="*/ 808074 h 1297172"/>
              <a:gd name="connsiteX2" fmla="*/ 606056 w 1520456"/>
              <a:gd name="connsiteY2" fmla="*/ 1244009 h 1297172"/>
              <a:gd name="connsiteX3" fmla="*/ 946297 w 1520456"/>
              <a:gd name="connsiteY3" fmla="*/ 776177 h 1297172"/>
              <a:gd name="connsiteX4" fmla="*/ 1190847 w 1520456"/>
              <a:gd name="connsiteY4" fmla="*/ 446567 h 1297172"/>
              <a:gd name="connsiteX5" fmla="*/ 1382233 w 1520456"/>
              <a:gd name="connsiteY5" fmla="*/ 808074 h 1297172"/>
              <a:gd name="connsiteX6" fmla="*/ 1520456 w 1520456"/>
              <a:gd name="connsiteY6" fmla="*/ 1297172 h 1297172"/>
              <a:gd name="connsiteX0" fmla="*/ 0 w 1520456"/>
              <a:gd name="connsiteY0" fmla="*/ 0 h 1297172"/>
              <a:gd name="connsiteX1" fmla="*/ 265814 w 1520456"/>
              <a:gd name="connsiteY1" fmla="*/ 808074 h 1297172"/>
              <a:gd name="connsiteX2" fmla="*/ 606056 w 1520456"/>
              <a:gd name="connsiteY2" fmla="*/ 1244009 h 1297172"/>
              <a:gd name="connsiteX3" fmla="*/ 946297 w 1520456"/>
              <a:gd name="connsiteY3" fmla="*/ 776177 h 1297172"/>
              <a:gd name="connsiteX4" fmla="*/ 1190847 w 1520456"/>
              <a:gd name="connsiteY4" fmla="*/ 446567 h 1297172"/>
              <a:gd name="connsiteX5" fmla="*/ 1382233 w 1520456"/>
              <a:gd name="connsiteY5" fmla="*/ 808074 h 1297172"/>
              <a:gd name="connsiteX6" fmla="*/ 1520456 w 1520456"/>
              <a:gd name="connsiteY6" fmla="*/ 1297172 h 1297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20456" h="1297172">
                <a:moveTo>
                  <a:pt x="0" y="0"/>
                </a:moveTo>
                <a:cubicBezTo>
                  <a:pt x="82402" y="300369"/>
                  <a:pt x="164805" y="600739"/>
                  <a:pt x="265814" y="808074"/>
                </a:cubicBezTo>
                <a:cubicBezTo>
                  <a:pt x="366823" y="1015409"/>
                  <a:pt x="492642" y="1249325"/>
                  <a:pt x="606056" y="1244009"/>
                </a:cubicBezTo>
                <a:cubicBezTo>
                  <a:pt x="719470" y="1238693"/>
                  <a:pt x="870097" y="930349"/>
                  <a:pt x="946297" y="776177"/>
                </a:cubicBezTo>
                <a:cubicBezTo>
                  <a:pt x="1022497" y="622005"/>
                  <a:pt x="1118191" y="441251"/>
                  <a:pt x="1190847" y="446567"/>
                </a:cubicBezTo>
                <a:cubicBezTo>
                  <a:pt x="1263503" y="451883"/>
                  <a:pt x="1327298" y="666307"/>
                  <a:pt x="1382233" y="808074"/>
                </a:cubicBezTo>
                <a:cubicBezTo>
                  <a:pt x="1437168" y="949841"/>
                  <a:pt x="1478812" y="1123506"/>
                  <a:pt x="1520456" y="1297172"/>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TextBox 22"/>
          <p:cNvSpPr txBox="1"/>
          <p:nvPr/>
        </p:nvSpPr>
        <p:spPr>
          <a:xfrm>
            <a:off x="1417289" y="5669446"/>
            <a:ext cx="415472" cy="369332"/>
          </a:xfrm>
          <a:prstGeom prst="rect">
            <a:avLst/>
          </a:prstGeom>
          <a:noFill/>
        </p:spPr>
        <p:txBody>
          <a:bodyPr wrap="square" rtlCol="0">
            <a:spAutoFit/>
          </a:bodyPr>
          <a:lstStyle/>
          <a:p>
            <a:r>
              <a:rPr lang="en-GB"/>
              <a:t>-2</a:t>
            </a:r>
          </a:p>
        </p:txBody>
      </p:sp>
      <p:sp>
        <p:nvSpPr>
          <p:cNvPr id="24" name="TextBox 23"/>
          <p:cNvSpPr txBox="1"/>
          <p:nvPr/>
        </p:nvSpPr>
        <p:spPr>
          <a:xfrm>
            <a:off x="1880387" y="5886960"/>
            <a:ext cx="1768991" cy="646331"/>
          </a:xfrm>
          <a:prstGeom prst="rect">
            <a:avLst/>
          </a:prstGeom>
          <a:noFill/>
        </p:spPr>
        <p:txBody>
          <a:bodyPr wrap="square" rtlCol="0">
            <a:spAutoFit/>
          </a:bodyPr>
          <a:lstStyle/>
          <a:p>
            <a:r>
              <a:rPr lang="en-GB" sz="1200" b="1"/>
              <a:t>Tip</a:t>
            </a:r>
            <a:r>
              <a:rPr lang="en-GB" sz="1200"/>
              <a:t>: It’s incredibly easy to forget to write in one of the intercepts. So don’t!</a:t>
            </a:r>
          </a:p>
        </p:txBody>
      </p:sp>
      <mc:AlternateContent xmlns:mc="http://schemas.openxmlformats.org/markup-compatibility/2006">
        <mc:Choice xmlns:a14="http://schemas.microsoft.com/office/drawing/2010/main" Requires="a14">
          <p:sp>
            <p:nvSpPr>
              <p:cNvPr id="25" name="TextBox 24"/>
              <p:cNvSpPr txBox="1"/>
              <p:nvPr/>
            </p:nvSpPr>
            <p:spPr>
              <a:xfrm>
                <a:off x="3419872" y="2000684"/>
                <a:ext cx="1356967" cy="1107996"/>
              </a:xfrm>
              <a:prstGeom prst="rect">
                <a:avLst/>
              </a:prstGeom>
              <a:noFill/>
            </p:spPr>
            <p:txBody>
              <a:bodyPr wrap="square" rtlCol="0">
                <a:spAutoFit/>
              </a:bodyPr>
              <a:lstStyle/>
              <a:p>
                <a:r>
                  <a:rPr lang="en-GB" sz="1100" b="1"/>
                  <a:t>Tip</a:t>
                </a:r>
                <a:r>
                  <a:rPr lang="en-GB" sz="1100"/>
                  <a:t>: No need to expand out the whole thing. Just mentally consider the </a:t>
                </a:r>
                <a14:m>
                  <m:oMath xmlns:m="http://schemas.openxmlformats.org/officeDocument/2006/math">
                    <m:r>
                      <a:rPr lang="en-GB" sz="1100" b="0" i="1" smtClean="0">
                        <a:latin typeface="Cambria Math" panose="02040503050406030204" pitchFamily="18" charset="0"/>
                      </a:rPr>
                      <m:t>𝑥</m:t>
                    </m:r>
                  </m:oMath>
                </a14:m>
                <a:r>
                  <a:rPr lang="en-GB" sz="1100"/>
                  <a:t> terms multiplied together.</a:t>
                </a:r>
              </a:p>
            </p:txBody>
          </p:sp>
        </mc:Choice>
        <mc:Fallback>
          <p:sp>
            <p:nvSpPr>
              <p:cNvPr id="25" name="TextBox 24"/>
              <p:cNvSpPr txBox="1">
                <a:spLocks noRot="1" noChangeAspect="1" noMove="1" noResize="1" noEditPoints="1" noAdjustHandles="1" noChangeArrowheads="1" noChangeShapeType="1" noTextEdit="1"/>
              </p:cNvSpPr>
              <p:nvPr/>
            </p:nvSpPr>
            <p:spPr>
              <a:xfrm>
                <a:off x="3419872" y="2000684"/>
                <a:ext cx="1356967" cy="1107996"/>
              </a:xfrm>
              <a:prstGeom prst="rect">
                <a:avLst/>
              </a:prstGeom>
              <a:blipFill>
                <a:blip r:embed="rId7"/>
                <a:stretch>
                  <a:fillRect b="-2273"/>
                </a:stretch>
              </a:blipFill>
            </p:spPr>
            <p:txBody>
              <a:bodyPr/>
              <a:lstStyle/>
              <a:p>
                <a:r>
                  <a:rPr lang="en-US">
                    <a:noFill/>
                  </a:rPr>
                  <a:t> </a:t>
                </a:r>
              </a:p>
            </p:txBody>
          </p:sp>
        </mc:Fallback>
      </mc:AlternateContent>
      <p:cxnSp>
        <p:nvCxnSpPr>
          <p:cNvPr id="27" name="Straight Arrow Connector 26"/>
          <p:cNvCxnSpPr/>
          <p:nvPr/>
        </p:nvCxnSpPr>
        <p:spPr>
          <a:xfrm flipH="1">
            <a:off x="3331989" y="2352675"/>
            <a:ext cx="147811" cy="3820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29" name="TextBox 28"/>
              <p:cNvSpPr txBox="1"/>
              <p:nvPr/>
            </p:nvSpPr>
            <p:spPr>
              <a:xfrm>
                <a:off x="5292080" y="836712"/>
                <a:ext cx="3672408" cy="646331"/>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a:t>Sketch the curve with equation</a:t>
                </a:r>
              </a:p>
              <a:p>
                <a:pPr/>
                <a14:m>
                  <m:oMathPara xmlns:m="http://schemas.openxmlformats.org/officeDocument/2006/math">
                    <m:oMath>
                      <m:r>
                        <a:rPr lang="en-GB" b="0" i="1" smtClean="0">
                          <a:latin typeface="Cambria Math" panose="02040503050406030204" pitchFamily="18" charset="0"/>
                        </a:rPr>
                        <m:t>𝑦</m:t>
                      </m:r>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2</m:t>
                          </m:r>
                        </m:sup>
                      </m:sSup>
                      <m:r>
                        <a:rPr lang="en-GB" b="0" i="1" smtClean="0">
                          <a:latin typeface="Cambria Math" panose="02040503050406030204" pitchFamily="18" charset="0"/>
                        </a:rPr>
                        <m:t>(</m:t>
                      </m:r>
                      <m:r>
                        <a:rPr lang="en-GB" b="0" i="1" smtClean="0">
                          <a:latin typeface="Cambria Math" panose="02040503050406030204" pitchFamily="18" charset="0"/>
                        </a:rPr>
                        <m:t>𝑥</m:t>
                      </m:r>
                      <m:r>
                        <a:rPr lang="en-GB" b="0" i="1" smtClean="0">
                          <a:latin typeface="Cambria Math" panose="02040503050406030204" pitchFamily="18" charset="0"/>
                        </a:rPr>
                        <m:t>−1)</m:t>
                      </m:r>
                    </m:oMath>
                  </m:oMathPara>
                </a14:m>
                <a:endParaRPr lang="en-GB"/>
              </a:p>
            </p:txBody>
          </p:sp>
        </mc:Choice>
        <mc:Fallback>
          <p:sp>
            <p:nvSpPr>
              <p:cNvPr id="29" name="TextBox 28"/>
              <p:cNvSpPr txBox="1">
                <a:spLocks noRot="1" noChangeAspect="1" noMove="1" noResize="1" noEditPoints="1" noAdjustHandles="1" noChangeArrowheads="1" noChangeShapeType="1" noTextEdit="1"/>
              </p:cNvSpPr>
              <p:nvPr/>
            </p:nvSpPr>
            <p:spPr>
              <a:xfrm>
                <a:off x="5292080" y="836712"/>
                <a:ext cx="3672408" cy="646331"/>
              </a:xfrm>
              <a:prstGeom prst="rect">
                <a:avLst/>
              </a:prstGeom>
              <a:blipFill>
                <a:blip r:embed="rId8"/>
                <a:stretch>
                  <a:fillRect/>
                </a:stretch>
              </a:blipFill>
              <a:effectLst>
                <a:outerShdw blurRad="63500" sx="102000" sy="102000" algn="ctr" rotWithShape="0">
                  <a:prstClr val="black">
                    <a:alpha val="40000"/>
                  </a:prstClr>
                </a:outerShdw>
              </a:effectLst>
            </p:spPr>
            <p:txBody>
              <a:bodyPr/>
              <a:lstStyle/>
              <a:p>
                <a:r>
                  <a:rPr lang="en-US">
                    <a:noFill/>
                  </a:rPr>
                  <a:t> </a:t>
                </a:r>
              </a:p>
            </p:txBody>
          </p:sp>
        </mc:Fallback>
      </mc:AlternateContent>
      <p:sp>
        <p:nvSpPr>
          <p:cNvPr id="30" name="Rectangle 29"/>
          <p:cNvSpPr/>
          <p:nvPr/>
        </p:nvSpPr>
        <p:spPr>
          <a:xfrm>
            <a:off x="1233769" y="2158408"/>
            <a:ext cx="2126119" cy="797443"/>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31" name="Rectangle 30"/>
          <p:cNvSpPr/>
          <p:nvPr/>
        </p:nvSpPr>
        <p:spPr>
          <a:xfrm>
            <a:off x="1226547" y="3030644"/>
            <a:ext cx="2126119" cy="382408"/>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32" name="Rectangle 31"/>
          <p:cNvSpPr/>
          <p:nvPr/>
        </p:nvSpPr>
        <p:spPr>
          <a:xfrm>
            <a:off x="1221147" y="3497597"/>
            <a:ext cx="2126119" cy="382408"/>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34" name="TextBox 33"/>
          <p:cNvSpPr txBox="1"/>
          <p:nvPr/>
        </p:nvSpPr>
        <p:spPr>
          <a:xfrm>
            <a:off x="5074916" y="1897172"/>
            <a:ext cx="964629" cy="338554"/>
          </a:xfrm>
          <a:prstGeom prst="rect">
            <a:avLst/>
          </a:prstGeom>
          <a:noFill/>
        </p:spPr>
        <p:txBody>
          <a:bodyPr wrap="square" rtlCol="0">
            <a:spAutoFit/>
          </a:bodyPr>
          <a:lstStyle/>
          <a:p>
            <a:r>
              <a:rPr lang="en-GB" sz="1600" b="1"/>
              <a:t>Shape?</a:t>
            </a:r>
          </a:p>
        </p:txBody>
      </p:sp>
      <p:sp>
        <p:nvSpPr>
          <p:cNvPr id="35" name="TextBox 34"/>
          <p:cNvSpPr txBox="1"/>
          <p:nvPr/>
        </p:nvSpPr>
        <p:spPr>
          <a:xfrm>
            <a:off x="5074915" y="2630819"/>
            <a:ext cx="868685" cy="338554"/>
          </a:xfrm>
          <a:prstGeom prst="rect">
            <a:avLst/>
          </a:prstGeom>
          <a:noFill/>
        </p:spPr>
        <p:txBody>
          <a:bodyPr wrap="square" rtlCol="0">
            <a:spAutoFit/>
          </a:bodyPr>
          <a:lstStyle/>
          <a:p>
            <a:r>
              <a:rPr lang="en-GB" sz="1600" b="1"/>
              <a:t>Roots?</a:t>
            </a:r>
          </a:p>
        </p:txBody>
      </p:sp>
      <mc:AlternateContent xmlns:mc="http://schemas.openxmlformats.org/markup-compatibility/2006">
        <mc:Choice xmlns:a14="http://schemas.microsoft.com/office/drawing/2010/main" Requires="a14">
          <p:sp>
            <p:nvSpPr>
              <p:cNvPr id="36" name="TextBox 35"/>
              <p:cNvSpPr txBox="1"/>
              <p:nvPr/>
            </p:nvSpPr>
            <p:spPr>
              <a:xfrm>
                <a:off x="4678326" y="3812513"/>
                <a:ext cx="1250718" cy="338554"/>
              </a:xfrm>
              <a:prstGeom prst="rect">
                <a:avLst/>
              </a:prstGeom>
              <a:noFill/>
            </p:spPr>
            <p:txBody>
              <a:bodyPr wrap="square" rtlCol="0">
                <a:spAutoFit/>
              </a:bodyPr>
              <a:lstStyle/>
              <a:p>
                <a14:m>
                  <m:oMath xmlns:m="http://schemas.openxmlformats.org/officeDocument/2006/math">
                    <m:r>
                      <a:rPr lang="en-GB" sz="1600" b="1" i="1" smtClean="0">
                        <a:latin typeface="Cambria Math" panose="02040503050406030204" pitchFamily="18" charset="0"/>
                      </a:rPr>
                      <m:t>𝒚</m:t>
                    </m:r>
                  </m:oMath>
                </a14:m>
                <a:r>
                  <a:rPr lang="en-GB" sz="1600" b="1"/>
                  <a:t>-intercept?</a:t>
                </a:r>
              </a:p>
            </p:txBody>
          </p:sp>
        </mc:Choice>
        <mc:Fallback>
          <p:sp>
            <p:nvSpPr>
              <p:cNvPr id="36" name="TextBox 35"/>
              <p:cNvSpPr txBox="1">
                <a:spLocks noRot="1" noChangeAspect="1" noMove="1" noResize="1" noEditPoints="1" noAdjustHandles="1" noChangeArrowheads="1" noChangeShapeType="1" noTextEdit="1"/>
              </p:cNvSpPr>
              <p:nvPr/>
            </p:nvSpPr>
            <p:spPr>
              <a:xfrm>
                <a:off x="4678326" y="3812513"/>
                <a:ext cx="1250718" cy="338554"/>
              </a:xfrm>
              <a:prstGeom prst="rect">
                <a:avLst/>
              </a:prstGeom>
              <a:blipFill>
                <a:blip r:embed="rId9"/>
                <a:stretch>
                  <a:fillRect t="-3704" b="-2222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7" name="TextBox 36"/>
              <p:cNvSpPr txBox="1"/>
              <p:nvPr/>
            </p:nvSpPr>
            <p:spPr>
              <a:xfrm>
                <a:off x="6039545" y="1903226"/>
                <a:ext cx="2325194" cy="584775"/>
              </a:xfrm>
              <a:prstGeom prst="rect">
                <a:avLst/>
              </a:prstGeom>
              <a:noFill/>
            </p:spPr>
            <p:txBody>
              <a:bodyPr wrap="square" rtlCol="0">
                <a:spAutoFit/>
              </a:bodyPr>
              <a:lstStyle/>
              <a:p>
                <a14:m>
                  <m:oMath xmlns:m="http://schemas.openxmlformats.org/officeDocument/2006/math">
                    <m:sSup>
                      <m:sSupPr>
                        <m:ctrlPr>
                          <a:rPr lang="en-GB" sz="1600" b="0" i="1" smtClean="0">
                            <a:latin typeface="Cambria Math" panose="02040503050406030204" pitchFamily="18" charset="0"/>
                          </a:rPr>
                        </m:ctrlPr>
                      </m:sSupPr>
                      <m:e>
                        <m:r>
                          <a:rPr lang="en-GB" sz="1600" b="0" i="1" smtClean="0">
                            <a:latin typeface="Cambria Math" panose="02040503050406030204" pitchFamily="18" charset="0"/>
                          </a:rPr>
                          <m:t>𝑥</m:t>
                        </m:r>
                      </m:e>
                      <m:sup>
                        <m:r>
                          <a:rPr lang="en-GB" sz="1600" b="0" i="1" smtClean="0">
                            <a:latin typeface="Cambria Math" panose="02040503050406030204" pitchFamily="18" charset="0"/>
                          </a:rPr>
                          <m:t>3</m:t>
                        </m:r>
                      </m:sup>
                    </m:sSup>
                  </m:oMath>
                </a14:m>
                <a:r>
                  <a:rPr lang="en-GB" sz="1600"/>
                  <a:t> term is positive so ‘uphill’ shape.</a:t>
                </a:r>
                <a:endParaRPr lang="en-GB"/>
              </a:p>
            </p:txBody>
          </p:sp>
        </mc:Choice>
        <mc:Fallback>
          <p:sp>
            <p:nvSpPr>
              <p:cNvPr id="37" name="TextBox 36"/>
              <p:cNvSpPr txBox="1">
                <a:spLocks noRot="1" noChangeAspect="1" noMove="1" noResize="1" noEditPoints="1" noAdjustHandles="1" noChangeArrowheads="1" noChangeShapeType="1" noTextEdit="1"/>
              </p:cNvSpPr>
              <p:nvPr/>
            </p:nvSpPr>
            <p:spPr>
              <a:xfrm>
                <a:off x="6039545" y="1903226"/>
                <a:ext cx="2325194" cy="584775"/>
              </a:xfrm>
              <a:prstGeom prst="rect">
                <a:avLst/>
              </a:prstGeom>
              <a:blipFill>
                <a:blip r:embed="rId10"/>
                <a:stretch>
                  <a:fillRect l="-1630" t="-2128" b="-1276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8" name="TextBox 37"/>
              <p:cNvSpPr txBox="1"/>
              <p:nvPr/>
            </p:nvSpPr>
            <p:spPr>
              <a:xfrm>
                <a:off x="5901070" y="2619255"/>
                <a:ext cx="3136604" cy="1077218"/>
              </a:xfrm>
              <a:prstGeom prst="rect">
                <a:avLst/>
              </a:prstGeom>
              <a:noFill/>
            </p:spPr>
            <p:txBody>
              <a:bodyPr wrap="square" rtlCol="0">
                <a:spAutoFit/>
              </a:bodyPr>
              <a:lstStyle/>
              <a:p>
                <a:pPr/>
                <a14:m>
                  <m:oMathPara xmlns:m="http://schemas.openxmlformats.org/officeDocument/2006/math">
                    <m:oMath>
                      <m:r>
                        <a:rPr lang="en-GB" sz="1600" b="0" i="1" smtClean="0">
                          <a:latin typeface="Cambria Math" panose="02040503050406030204" pitchFamily="18" charset="0"/>
                        </a:rPr>
                        <m:t>𝑥</m:t>
                      </m:r>
                      <m:r>
                        <a:rPr lang="en-GB" sz="1600" b="0" i="1" smtClean="0">
                          <a:latin typeface="Cambria Math" panose="02040503050406030204" pitchFamily="18" charset="0"/>
                        </a:rPr>
                        <m:t>=0 </m:t>
                      </m:r>
                      <m:r>
                        <a:rPr lang="en-GB" sz="1600" b="0" i="1" smtClean="0">
                          <a:latin typeface="Cambria Math" panose="02040503050406030204" pitchFamily="18" charset="0"/>
                        </a:rPr>
                        <m:t>𝑜𝑟</m:t>
                      </m:r>
                      <m:r>
                        <a:rPr lang="en-GB" sz="1600" b="0" i="1" smtClean="0">
                          <a:latin typeface="Cambria Math" panose="02040503050406030204" pitchFamily="18" charset="0"/>
                        </a:rPr>
                        <m:t> </m:t>
                      </m:r>
                      <m:r>
                        <a:rPr lang="en-GB" sz="1600" b="0" i="1" smtClean="0">
                          <a:latin typeface="Cambria Math" panose="02040503050406030204" pitchFamily="18" charset="0"/>
                        </a:rPr>
                        <m:t>𝑥</m:t>
                      </m:r>
                      <m:r>
                        <a:rPr lang="en-GB" sz="1600" b="0" i="1" smtClean="0">
                          <a:latin typeface="Cambria Math" panose="02040503050406030204" pitchFamily="18" charset="0"/>
                        </a:rPr>
                        <m:t>=1</m:t>
                      </m:r>
                    </m:oMath>
                  </m:oMathPara>
                </a14:m>
                <a:endParaRPr lang="en-GB" sz="1600"/>
              </a:p>
              <a:p>
                <a:r>
                  <a:rPr lang="en-GB" sz="1600"/>
                  <a:t>However as root of 0 is </a:t>
                </a:r>
                <a:r>
                  <a:rPr lang="en-GB" sz="1600" b="1"/>
                  <a:t>repeated</a:t>
                </a:r>
                <a:r>
                  <a:rPr lang="en-GB" sz="1600"/>
                  <a:t> (because the factor of </a:t>
                </a:r>
                <a14:m>
                  <m:oMath xmlns:m="http://schemas.openxmlformats.org/officeDocument/2006/math">
                    <m:r>
                      <a:rPr lang="en-GB" sz="1600" b="0" i="1" smtClean="0">
                        <a:latin typeface="Cambria Math" panose="02040503050406030204" pitchFamily="18" charset="0"/>
                      </a:rPr>
                      <m:t>𝑥</m:t>
                    </m:r>
                  </m:oMath>
                </a14:m>
                <a:r>
                  <a:rPr lang="en-GB" sz="1600"/>
                  <a:t> appears twice), the curve </a:t>
                </a:r>
                <a:r>
                  <a:rPr lang="en-GB" sz="1600" b="1"/>
                  <a:t>touches</a:t>
                </a:r>
                <a:r>
                  <a:rPr lang="en-GB" sz="1600"/>
                  <a:t> at </a:t>
                </a:r>
                <a14:m>
                  <m:oMath xmlns:m="http://schemas.openxmlformats.org/officeDocument/2006/math">
                    <m:r>
                      <a:rPr lang="en-GB" sz="1600" b="0" i="1" smtClean="0">
                        <a:latin typeface="Cambria Math" panose="02040503050406030204" pitchFamily="18" charset="0"/>
                      </a:rPr>
                      <m:t>𝑥</m:t>
                    </m:r>
                    <m:r>
                      <a:rPr lang="en-GB" sz="1600" b="0" i="1" smtClean="0">
                        <a:latin typeface="Cambria Math" panose="02040503050406030204" pitchFamily="18" charset="0"/>
                      </a:rPr>
                      <m:t>=0</m:t>
                    </m:r>
                  </m:oMath>
                </a14:m>
                <a:r>
                  <a:rPr lang="en-GB" sz="1600"/>
                  <a:t>.</a:t>
                </a:r>
              </a:p>
            </p:txBody>
          </p:sp>
        </mc:Choice>
        <mc:Fallback>
          <p:sp>
            <p:nvSpPr>
              <p:cNvPr id="38" name="TextBox 37"/>
              <p:cNvSpPr txBox="1">
                <a:spLocks noRot="1" noChangeAspect="1" noMove="1" noResize="1" noEditPoints="1" noAdjustHandles="1" noChangeArrowheads="1" noChangeShapeType="1" noTextEdit="1"/>
              </p:cNvSpPr>
              <p:nvPr/>
            </p:nvSpPr>
            <p:spPr>
              <a:xfrm>
                <a:off x="5901070" y="2619255"/>
                <a:ext cx="3136604" cy="1077218"/>
              </a:xfrm>
              <a:prstGeom prst="rect">
                <a:avLst/>
              </a:prstGeom>
              <a:blipFill>
                <a:blip r:embed="rId11"/>
                <a:stretch>
                  <a:fillRect l="-806" b="-7059"/>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9" name="TextBox 38"/>
              <p:cNvSpPr txBox="1"/>
              <p:nvPr/>
            </p:nvSpPr>
            <p:spPr>
              <a:xfrm>
                <a:off x="5939677" y="3823367"/>
                <a:ext cx="3136604" cy="338554"/>
              </a:xfrm>
              <a:prstGeom prst="rect">
                <a:avLst/>
              </a:prstGeom>
              <a:noFill/>
            </p:spPr>
            <p:txBody>
              <a:bodyPr wrap="square" rtlCol="0">
                <a:spAutoFit/>
              </a:bodyPr>
              <a:lstStyle/>
              <a:p>
                <a:r>
                  <a:rPr lang="en-GB" sz="1600"/>
                  <a:t>If </a:t>
                </a:r>
                <a14:m>
                  <m:oMath xmlns:m="http://schemas.openxmlformats.org/officeDocument/2006/math">
                    <m:r>
                      <a:rPr lang="en-GB" sz="1600" b="0" i="1" smtClean="0">
                        <a:latin typeface="Cambria Math" panose="02040503050406030204" pitchFamily="18" charset="0"/>
                      </a:rPr>
                      <m:t>𝑥</m:t>
                    </m:r>
                    <m:r>
                      <a:rPr lang="en-GB" sz="1600" b="0" i="1" smtClean="0">
                        <a:latin typeface="Cambria Math" panose="02040503050406030204" pitchFamily="18" charset="0"/>
                      </a:rPr>
                      <m:t>=0, </m:t>
                    </m:r>
                    <m:r>
                      <a:rPr lang="en-GB" sz="1600" b="0" i="1" smtClean="0">
                        <a:latin typeface="Cambria Math" panose="02040503050406030204" pitchFamily="18" charset="0"/>
                      </a:rPr>
                      <m:t>𝑦</m:t>
                    </m:r>
                    <m:r>
                      <a:rPr lang="en-GB" sz="1600" b="0" i="1" smtClean="0">
                        <a:latin typeface="Cambria Math" panose="02040503050406030204" pitchFamily="18" charset="0"/>
                      </a:rPr>
                      <m:t>=0</m:t>
                    </m:r>
                  </m:oMath>
                </a14:m>
                <a:endParaRPr lang="en-GB" sz="1600"/>
              </a:p>
            </p:txBody>
          </p:sp>
        </mc:Choice>
        <mc:Fallback>
          <p:sp>
            <p:nvSpPr>
              <p:cNvPr id="39" name="TextBox 38"/>
              <p:cNvSpPr txBox="1">
                <a:spLocks noRot="1" noChangeAspect="1" noMove="1" noResize="1" noEditPoints="1" noAdjustHandles="1" noChangeArrowheads="1" noChangeShapeType="1" noTextEdit="1"/>
              </p:cNvSpPr>
              <p:nvPr/>
            </p:nvSpPr>
            <p:spPr>
              <a:xfrm>
                <a:off x="5939677" y="3823367"/>
                <a:ext cx="3136604" cy="338554"/>
              </a:xfrm>
              <a:prstGeom prst="rect">
                <a:avLst/>
              </a:prstGeom>
              <a:blipFill>
                <a:blip r:embed="rId12"/>
                <a:stretch>
                  <a:fillRect l="-806" t="-3571" b="-21429"/>
                </a:stretch>
              </a:blipFill>
            </p:spPr>
            <p:txBody>
              <a:bodyPr/>
              <a:lstStyle/>
              <a:p>
                <a:r>
                  <a:rPr lang="en-US">
                    <a:noFill/>
                  </a:rPr>
                  <a:t> </a:t>
                </a:r>
              </a:p>
            </p:txBody>
          </p:sp>
        </mc:Fallback>
      </mc:AlternateContent>
      <p:cxnSp>
        <p:nvCxnSpPr>
          <p:cNvPr id="40" name="Straight Arrow Connector 39"/>
          <p:cNvCxnSpPr/>
          <p:nvPr/>
        </p:nvCxnSpPr>
        <p:spPr>
          <a:xfrm>
            <a:off x="5108245" y="5315214"/>
            <a:ext cx="263210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1" name="Straight Arrow Connector 40"/>
          <p:cNvCxnSpPr/>
          <p:nvPr/>
        </p:nvCxnSpPr>
        <p:spPr>
          <a:xfrm flipV="1">
            <a:off x="6270642" y="4301309"/>
            <a:ext cx="0" cy="187220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3" name="TextBox 42"/>
          <p:cNvSpPr txBox="1"/>
          <p:nvPr/>
        </p:nvSpPr>
        <p:spPr>
          <a:xfrm>
            <a:off x="7259885" y="5262052"/>
            <a:ext cx="415472" cy="369332"/>
          </a:xfrm>
          <a:prstGeom prst="rect">
            <a:avLst/>
          </a:prstGeom>
          <a:noFill/>
        </p:spPr>
        <p:txBody>
          <a:bodyPr wrap="square" rtlCol="0">
            <a:spAutoFit/>
          </a:bodyPr>
          <a:lstStyle/>
          <a:p>
            <a:r>
              <a:rPr lang="en-GB"/>
              <a:t>1</a:t>
            </a:r>
          </a:p>
        </p:txBody>
      </p:sp>
      <p:sp>
        <p:nvSpPr>
          <p:cNvPr id="45" name="Freeform: Shape 44"/>
          <p:cNvSpPr/>
          <p:nvPr/>
        </p:nvSpPr>
        <p:spPr>
          <a:xfrm flipH="1">
            <a:off x="5919557" y="5029199"/>
            <a:ext cx="1605311" cy="850605"/>
          </a:xfrm>
          <a:custGeom>
            <a:avLst/>
            <a:gdLst>
              <a:gd name="connsiteX0" fmla="*/ 0 w 1520456"/>
              <a:gd name="connsiteY0" fmla="*/ 0 h 1297172"/>
              <a:gd name="connsiteX1" fmla="*/ 265814 w 1520456"/>
              <a:gd name="connsiteY1" fmla="*/ 808074 h 1297172"/>
              <a:gd name="connsiteX2" fmla="*/ 606056 w 1520456"/>
              <a:gd name="connsiteY2" fmla="*/ 1244009 h 1297172"/>
              <a:gd name="connsiteX3" fmla="*/ 978195 w 1520456"/>
              <a:gd name="connsiteY3" fmla="*/ 797442 h 1297172"/>
              <a:gd name="connsiteX4" fmla="*/ 1190847 w 1520456"/>
              <a:gd name="connsiteY4" fmla="*/ 446567 h 1297172"/>
              <a:gd name="connsiteX5" fmla="*/ 1382233 w 1520456"/>
              <a:gd name="connsiteY5" fmla="*/ 808074 h 1297172"/>
              <a:gd name="connsiteX6" fmla="*/ 1520456 w 1520456"/>
              <a:gd name="connsiteY6" fmla="*/ 1297172 h 1297172"/>
              <a:gd name="connsiteX0" fmla="*/ 0 w 1520456"/>
              <a:gd name="connsiteY0" fmla="*/ 0 h 1297172"/>
              <a:gd name="connsiteX1" fmla="*/ 265814 w 1520456"/>
              <a:gd name="connsiteY1" fmla="*/ 808074 h 1297172"/>
              <a:gd name="connsiteX2" fmla="*/ 606056 w 1520456"/>
              <a:gd name="connsiteY2" fmla="*/ 1244009 h 1297172"/>
              <a:gd name="connsiteX3" fmla="*/ 946297 w 1520456"/>
              <a:gd name="connsiteY3" fmla="*/ 776177 h 1297172"/>
              <a:gd name="connsiteX4" fmla="*/ 1190847 w 1520456"/>
              <a:gd name="connsiteY4" fmla="*/ 446567 h 1297172"/>
              <a:gd name="connsiteX5" fmla="*/ 1382233 w 1520456"/>
              <a:gd name="connsiteY5" fmla="*/ 808074 h 1297172"/>
              <a:gd name="connsiteX6" fmla="*/ 1520456 w 1520456"/>
              <a:gd name="connsiteY6" fmla="*/ 1297172 h 1297172"/>
              <a:gd name="connsiteX0" fmla="*/ 0 w 1520456"/>
              <a:gd name="connsiteY0" fmla="*/ 0 h 1297172"/>
              <a:gd name="connsiteX1" fmla="*/ 265814 w 1520456"/>
              <a:gd name="connsiteY1" fmla="*/ 808074 h 1297172"/>
              <a:gd name="connsiteX2" fmla="*/ 606056 w 1520456"/>
              <a:gd name="connsiteY2" fmla="*/ 1244009 h 1297172"/>
              <a:gd name="connsiteX3" fmla="*/ 946297 w 1520456"/>
              <a:gd name="connsiteY3" fmla="*/ 776177 h 1297172"/>
              <a:gd name="connsiteX4" fmla="*/ 1190847 w 1520456"/>
              <a:gd name="connsiteY4" fmla="*/ 446567 h 1297172"/>
              <a:gd name="connsiteX5" fmla="*/ 1382233 w 1520456"/>
              <a:gd name="connsiteY5" fmla="*/ 808074 h 1297172"/>
              <a:gd name="connsiteX6" fmla="*/ 1520456 w 1520456"/>
              <a:gd name="connsiteY6" fmla="*/ 1297172 h 1297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20456" h="1297172">
                <a:moveTo>
                  <a:pt x="0" y="0"/>
                </a:moveTo>
                <a:cubicBezTo>
                  <a:pt x="82402" y="300369"/>
                  <a:pt x="164805" y="600739"/>
                  <a:pt x="265814" y="808074"/>
                </a:cubicBezTo>
                <a:cubicBezTo>
                  <a:pt x="366823" y="1015409"/>
                  <a:pt x="492642" y="1249325"/>
                  <a:pt x="606056" y="1244009"/>
                </a:cubicBezTo>
                <a:cubicBezTo>
                  <a:pt x="719470" y="1238693"/>
                  <a:pt x="870097" y="930349"/>
                  <a:pt x="946297" y="776177"/>
                </a:cubicBezTo>
                <a:cubicBezTo>
                  <a:pt x="1022497" y="622005"/>
                  <a:pt x="1118191" y="441251"/>
                  <a:pt x="1190847" y="446567"/>
                </a:cubicBezTo>
                <a:cubicBezTo>
                  <a:pt x="1263503" y="451883"/>
                  <a:pt x="1327298" y="666307"/>
                  <a:pt x="1382233" y="808074"/>
                </a:cubicBezTo>
                <a:cubicBezTo>
                  <a:pt x="1437168" y="949841"/>
                  <a:pt x="1478812" y="1123506"/>
                  <a:pt x="1520456" y="1297172"/>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mc:Choice xmlns:a14="http://schemas.microsoft.com/office/drawing/2010/main" Requires="a14">
          <p:sp>
            <p:nvSpPr>
              <p:cNvPr id="50" name="TextBox 49"/>
              <p:cNvSpPr txBox="1"/>
              <p:nvPr/>
            </p:nvSpPr>
            <p:spPr>
              <a:xfrm>
                <a:off x="7638418" y="5180073"/>
                <a:ext cx="415472" cy="276999"/>
              </a:xfrm>
              <a:prstGeom prst="rect">
                <a:avLst/>
              </a:prstGeom>
              <a:noFill/>
            </p:spPr>
            <p:txBody>
              <a:bodyPr wrap="square" rtlCol="0">
                <a:spAutoFit/>
              </a:bodyPr>
              <a:lstStyle/>
              <a:p>
                <a:pPr/>
                <a14:m>
                  <m:oMathPara xmlns:m="http://schemas.openxmlformats.org/officeDocument/2006/math">
                    <m:oMath>
                      <m:r>
                        <a:rPr lang="en-GB" sz="1200" b="0" i="1" smtClean="0">
                          <a:latin typeface="Cambria Math" panose="02040503050406030204" pitchFamily="18" charset="0"/>
                        </a:rPr>
                        <m:t>𝑥</m:t>
                      </m:r>
                    </m:oMath>
                  </m:oMathPara>
                </a14:m>
                <a:endParaRPr lang="en-GB"/>
              </a:p>
            </p:txBody>
          </p:sp>
        </mc:Choice>
        <mc:Fallback>
          <p:sp>
            <p:nvSpPr>
              <p:cNvPr id="50" name="TextBox 49"/>
              <p:cNvSpPr txBox="1">
                <a:spLocks noRot="1" noChangeAspect="1" noMove="1" noResize="1" noEditPoints="1" noAdjustHandles="1" noChangeArrowheads="1" noChangeShapeType="1" noTextEdit="1"/>
              </p:cNvSpPr>
              <p:nvPr/>
            </p:nvSpPr>
            <p:spPr>
              <a:xfrm>
                <a:off x="7638418" y="5180073"/>
                <a:ext cx="415472" cy="276999"/>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1" name="TextBox 50"/>
              <p:cNvSpPr txBox="1"/>
              <p:nvPr/>
            </p:nvSpPr>
            <p:spPr>
              <a:xfrm>
                <a:off x="6039545" y="4093116"/>
                <a:ext cx="415472" cy="276999"/>
              </a:xfrm>
              <a:prstGeom prst="rect">
                <a:avLst/>
              </a:prstGeom>
              <a:noFill/>
            </p:spPr>
            <p:txBody>
              <a:bodyPr wrap="square" rtlCol="0">
                <a:spAutoFit/>
              </a:bodyPr>
              <a:lstStyle/>
              <a:p>
                <a:pPr/>
                <a14:m>
                  <m:oMathPara xmlns:m="http://schemas.openxmlformats.org/officeDocument/2006/math">
                    <m:oMath>
                      <m:r>
                        <a:rPr lang="en-GB" sz="1200" b="0" i="1" smtClean="0">
                          <a:latin typeface="Cambria Math" panose="02040503050406030204" pitchFamily="18" charset="0"/>
                        </a:rPr>
                        <m:t>𝑦</m:t>
                      </m:r>
                    </m:oMath>
                  </m:oMathPara>
                </a14:m>
                <a:endParaRPr lang="en-GB"/>
              </a:p>
            </p:txBody>
          </p:sp>
        </mc:Choice>
        <mc:Fallback>
          <p:sp>
            <p:nvSpPr>
              <p:cNvPr id="51" name="TextBox 50"/>
              <p:cNvSpPr txBox="1">
                <a:spLocks noRot="1" noChangeAspect="1" noMove="1" noResize="1" noEditPoints="1" noAdjustHandles="1" noChangeArrowheads="1" noChangeShapeType="1" noTextEdit="1"/>
              </p:cNvSpPr>
              <p:nvPr/>
            </p:nvSpPr>
            <p:spPr>
              <a:xfrm>
                <a:off x="6039545" y="4093116"/>
                <a:ext cx="415472" cy="276999"/>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2" name="TextBox 51"/>
              <p:cNvSpPr txBox="1"/>
              <p:nvPr/>
            </p:nvSpPr>
            <p:spPr>
              <a:xfrm>
                <a:off x="1515152" y="4050683"/>
                <a:ext cx="415472" cy="276999"/>
              </a:xfrm>
              <a:prstGeom prst="rect">
                <a:avLst/>
              </a:prstGeom>
              <a:noFill/>
            </p:spPr>
            <p:txBody>
              <a:bodyPr wrap="square" rtlCol="0">
                <a:spAutoFit/>
              </a:bodyPr>
              <a:lstStyle/>
              <a:p>
                <a:pPr/>
                <a14:m>
                  <m:oMathPara xmlns:m="http://schemas.openxmlformats.org/officeDocument/2006/math">
                    <m:oMath>
                      <m:r>
                        <a:rPr lang="en-GB" sz="1200" b="0" i="1" smtClean="0">
                          <a:latin typeface="Cambria Math" panose="02040503050406030204" pitchFamily="18" charset="0"/>
                        </a:rPr>
                        <m:t>𝑦</m:t>
                      </m:r>
                    </m:oMath>
                  </m:oMathPara>
                </a14:m>
                <a:endParaRPr lang="en-GB"/>
              </a:p>
            </p:txBody>
          </p:sp>
        </mc:Choice>
        <mc:Fallback>
          <p:sp>
            <p:nvSpPr>
              <p:cNvPr id="52" name="TextBox 51"/>
              <p:cNvSpPr txBox="1">
                <a:spLocks noRot="1" noChangeAspect="1" noMove="1" noResize="1" noEditPoints="1" noAdjustHandles="1" noChangeArrowheads="1" noChangeShapeType="1" noTextEdit="1"/>
              </p:cNvSpPr>
              <p:nvPr/>
            </p:nvSpPr>
            <p:spPr>
              <a:xfrm>
                <a:off x="1515152" y="4050683"/>
                <a:ext cx="415472" cy="276999"/>
              </a:xfrm>
              <a:prstGeom prst="rect">
                <a:avLst/>
              </a:prstGeom>
              <a:blipFill>
                <a:blip r:embed="rId15"/>
                <a:stretch>
                  <a:fillRect b="-4348"/>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3" name="TextBox 52"/>
              <p:cNvSpPr txBox="1"/>
              <p:nvPr/>
            </p:nvSpPr>
            <p:spPr>
              <a:xfrm>
                <a:off x="2859707" y="5185719"/>
                <a:ext cx="415472" cy="276999"/>
              </a:xfrm>
              <a:prstGeom prst="rect">
                <a:avLst/>
              </a:prstGeom>
              <a:noFill/>
            </p:spPr>
            <p:txBody>
              <a:bodyPr wrap="square" rtlCol="0">
                <a:spAutoFit/>
              </a:bodyPr>
              <a:lstStyle/>
              <a:p>
                <a:pPr/>
                <a14:m>
                  <m:oMathPara xmlns:m="http://schemas.openxmlformats.org/officeDocument/2006/math">
                    <m:oMath>
                      <m:r>
                        <a:rPr lang="en-GB" sz="1200" b="0" i="1" smtClean="0">
                          <a:latin typeface="Cambria Math" panose="02040503050406030204" pitchFamily="18" charset="0"/>
                        </a:rPr>
                        <m:t>𝑥</m:t>
                      </m:r>
                    </m:oMath>
                  </m:oMathPara>
                </a14:m>
                <a:endParaRPr lang="en-GB"/>
              </a:p>
            </p:txBody>
          </p:sp>
        </mc:Choice>
        <mc:Fallback>
          <p:sp>
            <p:nvSpPr>
              <p:cNvPr id="53" name="TextBox 52"/>
              <p:cNvSpPr txBox="1">
                <a:spLocks noRot="1" noChangeAspect="1" noMove="1" noResize="1" noEditPoints="1" noAdjustHandles="1" noChangeArrowheads="1" noChangeShapeType="1" noTextEdit="1"/>
              </p:cNvSpPr>
              <p:nvPr/>
            </p:nvSpPr>
            <p:spPr>
              <a:xfrm>
                <a:off x="2859707" y="5185719"/>
                <a:ext cx="415472" cy="276999"/>
              </a:xfrm>
              <a:prstGeom prst="rect">
                <a:avLst/>
              </a:prstGeom>
              <a:blipFill>
                <a:blip r:embed="rId16"/>
                <a:stretch>
                  <a:fillRect/>
                </a:stretch>
              </a:blipFill>
            </p:spPr>
            <p:txBody>
              <a:bodyPr/>
              <a:lstStyle/>
              <a:p>
                <a:r>
                  <a:rPr lang="en-US">
                    <a:noFill/>
                  </a:rPr>
                  <a:t> </a:t>
                </a:r>
              </a:p>
            </p:txBody>
          </p:sp>
        </mc:Fallback>
      </mc:AlternateContent>
      <p:sp>
        <p:nvSpPr>
          <p:cNvPr id="33" name="Rectangle 32"/>
          <p:cNvSpPr/>
          <p:nvPr/>
        </p:nvSpPr>
        <p:spPr>
          <a:xfrm>
            <a:off x="465642" y="4078600"/>
            <a:ext cx="3344667" cy="2547070"/>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 Final sketch</a:t>
            </a:r>
          </a:p>
        </p:txBody>
      </p:sp>
      <p:sp>
        <p:nvSpPr>
          <p:cNvPr id="48" name="Rectangle 47"/>
          <p:cNvSpPr/>
          <p:nvPr/>
        </p:nvSpPr>
        <p:spPr>
          <a:xfrm>
            <a:off x="5064534" y="4149714"/>
            <a:ext cx="2952639" cy="2501710"/>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 Final sketch</a:t>
            </a:r>
          </a:p>
        </p:txBody>
      </p:sp>
      <p:sp>
        <p:nvSpPr>
          <p:cNvPr id="54" name="Rectangle 53"/>
          <p:cNvSpPr/>
          <p:nvPr/>
        </p:nvSpPr>
        <p:spPr>
          <a:xfrm>
            <a:off x="5960448" y="1915260"/>
            <a:ext cx="2954952" cy="566683"/>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55" name="TextBox 54"/>
          <p:cNvSpPr txBox="1"/>
          <p:nvPr/>
        </p:nvSpPr>
        <p:spPr>
          <a:xfrm>
            <a:off x="4128215" y="3085542"/>
            <a:ext cx="1445271" cy="769441"/>
          </a:xfrm>
          <a:prstGeom prst="rect">
            <a:avLst/>
          </a:prstGeom>
          <a:noFill/>
        </p:spPr>
        <p:txBody>
          <a:bodyPr wrap="square" rtlCol="0">
            <a:spAutoFit/>
          </a:bodyPr>
          <a:lstStyle/>
          <a:p>
            <a:r>
              <a:rPr lang="en-GB" sz="1100"/>
              <a:t>This is sort of because the curve crosses at 0 then immediately crosses at 0 again!</a:t>
            </a:r>
          </a:p>
        </p:txBody>
      </p:sp>
      <p:cxnSp>
        <p:nvCxnSpPr>
          <p:cNvPr id="57" name="Straight Arrow Connector 56"/>
          <p:cNvCxnSpPr>
            <a:stCxn id="55" idx="3"/>
          </p:cNvCxnSpPr>
          <p:nvPr/>
        </p:nvCxnSpPr>
        <p:spPr>
          <a:xfrm flipV="1">
            <a:off x="5573486" y="3309257"/>
            <a:ext cx="283028" cy="16100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8" name="Rectangle 57"/>
          <p:cNvSpPr/>
          <p:nvPr/>
        </p:nvSpPr>
        <p:spPr>
          <a:xfrm>
            <a:off x="5964357" y="2646907"/>
            <a:ext cx="2954952" cy="1013321"/>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59" name="Rectangle 58"/>
          <p:cNvSpPr/>
          <p:nvPr/>
        </p:nvSpPr>
        <p:spPr>
          <a:xfrm>
            <a:off x="5960448" y="3788453"/>
            <a:ext cx="2954952" cy="326347"/>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Tree>
    <p:extLst>
      <p:ext uri="{BB962C8B-B14F-4D97-AF65-F5344CB8AC3E}">
        <p14:creationId xmlns:p14="http://schemas.microsoft.com/office/powerpoint/2010/main" val="1923483755"/>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30"/>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30"/>
                                        </p:tgtEl>
                                      </p:cBhvr>
                                    </p:animEffect>
                                    <p:set>
                                      <p:cBhvr>
                                        <p:cTn id="7" dur="1" fill="hold">
                                          <p:stCondLst>
                                            <p:cond delay="499"/>
                                          </p:stCondLst>
                                        </p:cTn>
                                        <p:tgtEl>
                                          <p:spTgt spid="30"/>
                                        </p:tgtEl>
                                        <p:attrNameLst>
                                          <p:attrName>style.visibility</p:attrName>
                                        </p:attrNameLst>
                                      </p:cBhvr>
                                      <p:to>
                                        <p:strVal val="hidden"/>
                                      </p:to>
                                    </p:set>
                                  </p:childTnLst>
                                </p:cTn>
                              </p:par>
                              <p:par>
                                <p:cTn id="8" presetID="10" presetClass="entr" presetSubtype="0" fill="hold"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fade">
                                      <p:cBhvr>
                                        <p:cTn id="10" dur="500"/>
                                        <p:tgtEl>
                                          <p:spTgt spid="2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5"/>
                                        </p:tgtEl>
                                        <p:attrNameLst>
                                          <p:attrName>style.visibility</p:attrName>
                                        </p:attrNameLst>
                                      </p:cBhvr>
                                      <p:to>
                                        <p:strVal val="visible"/>
                                      </p:to>
                                    </p:set>
                                    <p:animEffect transition="in" filter="fade">
                                      <p:cBhvr>
                                        <p:cTn id="13" dur="500"/>
                                        <p:tgtEl>
                                          <p:spTgt spid="25"/>
                                        </p:tgtEl>
                                      </p:cBhvr>
                                    </p:animEffect>
                                  </p:childTnLst>
                                </p:cTn>
                              </p:par>
                            </p:childTnLst>
                          </p:cTn>
                        </p:par>
                      </p:childTnLst>
                    </p:cTn>
                  </p:par>
                </p:childTnLst>
              </p:cTn>
              <p:nextCondLst>
                <p:cond evt="onClick" delay="0">
                  <p:tgtEl>
                    <p:spTgt spid="30"/>
                  </p:tgtEl>
                </p:cond>
              </p:nextCondLst>
            </p:seq>
            <p:seq concurrent="1" nextAc="seek">
              <p:cTn id="14" restart="whenNotActive" fill="hold" evtFilter="cancelBubble" nodeType="interactiveSeq">
                <p:stCondLst>
                  <p:cond evt="onClick" delay="0">
                    <p:tgtEl>
                      <p:spTgt spid="31"/>
                    </p:tgtEl>
                  </p:cond>
                </p:stCondLst>
                <p:endSync evt="end" delay="0">
                  <p:rtn val="all"/>
                </p:endSync>
                <p:childTnLst>
                  <p:par>
                    <p:cTn id="15" fill="hold">
                      <p:stCondLst>
                        <p:cond delay="0"/>
                      </p:stCondLst>
                      <p:childTnLst>
                        <p:par>
                          <p:cTn id="16" fill="hold">
                            <p:stCondLst>
                              <p:cond delay="0"/>
                            </p:stCondLst>
                            <p:childTnLst>
                              <p:par>
                                <p:cTn id="17" presetID="10" presetClass="exit" presetSubtype="0" fill="hold" grpId="0" nodeType="clickEffect">
                                  <p:stCondLst>
                                    <p:cond delay="0"/>
                                  </p:stCondLst>
                                  <p:childTnLst>
                                    <p:animEffect transition="out" filter="fade">
                                      <p:cBhvr>
                                        <p:cTn id="18" dur="500"/>
                                        <p:tgtEl>
                                          <p:spTgt spid="31"/>
                                        </p:tgtEl>
                                      </p:cBhvr>
                                    </p:animEffect>
                                    <p:set>
                                      <p:cBhvr>
                                        <p:cTn id="19" dur="1" fill="hold">
                                          <p:stCondLst>
                                            <p:cond delay="499"/>
                                          </p:stCondLst>
                                        </p:cTn>
                                        <p:tgtEl>
                                          <p:spTgt spid="31"/>
                                        </p:tgtEl>
                                        <p:attrNameLst>
                                          <p:attrName>style.visibility</p:attrName>
                                        </p:attrNameLst>
                                      </p:cBhvr>
                                      <p:to>
                                        <p:strVal val="hidden"/>
                                      </p:to>
                                    </p:set>
                                  </p:childTnLst>
                                </p:cTn>
                              </p:par>
                            </p:childTnLst>
                          </p:cTn>
                        </p:par>
                      </p:childTnLst>
                    </p:cTn>
                  </p:par>
                </p:childTnLst>
              </p:cTn>
              <p:nextCondLst>
                <p:cond evt="onClick" delay="0">
                  <p:tgtEl>
                    <p:spTgt spid="31"/>
                  </p:tgtEl>
                </p:cond>
              </p:nextCondLst>
            </p:seq>
            <p:seq concurrent="1" nextAc="seek">
              <p:cTn id="20" restart="whenNotActive" fill="hold" evtFilter="cancelBubble" nodeType="interactiveSeq">
                <p:stCondLst>
                  <p:cond evt="onClick" delay="0">
                    <p:tgtEl>
                      <p:spTgt spid="32"/>
                    </p:tgtEl>
                  </p:cond>
                </p:stCondLst>
                <p:endSync evt="end" delay="0">
                  <p:rtn val="all"/>
                </p:endSync>
                <p:childTnLst>
                  <p:par>
                    <p:cTn id="21" fill="hold">
                      <p:stCondLst>
                        <p:cond delay="0"/>
                      </p:stCondLst>
                      <p:childTnLst>
                        <p:par>
                          <p:cTn id="22" fill="hold">
                            <p:stCondLst>
                              <p:cond delay="0"/>
                            </p:stCondLst>
                            <p:childTnLst>
                              <p:par>
                                <p:cTn id="23" presetID="10" presetClass="exit" presetSubtype="0" fill="hold" grpId="0" nodeType="clickEffect">
                                  <p:stCondLst>
                                    <p:cond delay="0"/>
                                  </p:stCondLst>
                                  <p:childTnLst>
                                    <p:animEffect transition="out" filter="fade">
                                      <p:cBhvr>
                                        <p:cTn id="24" dur="500"/>
                                        <p:tgtEl>
                                          <p:spTgt spid="32"/>
                                        </p:tgtEl>
                                      </p:cBhvr>
                                    </p:animEffect>
                                    <p:set>
                                      <p:cBhvr>
                                        <p:cTn id="25" dur="1" fill="hold">
                                          <p:stCondLst>
                                            <p:cond delay="499"/>
                                          </p:stCondLst>
                                        </p:cTn>
                                        <p:tgtEl>
                                          <p:spTgt spid="32"/>
                                        </p:tgtEl>
                                        <p:attrNameLst>
                                          <p:attrName>style.visibility</p:attrName>
                                        </p:attrNameLst>
                                      </p:cBhvr>
                                      <p:to>
                                        <p:strVal val="hidden"/>
                                      </p:to>
                                    </p:set>
                                  </p:childTnLst>
                                </p:cTn>
                              </p:par>
                            </p:childTnLst>
                          </p:cTn>
                        </p:par>
                      </p:childTnLst>
                    </p:cTn>
                  </p:par>
                </p:childTnLst>
              </p:cTn>
              <p:nextCondLst>
                <p:cond evt="onClick" delay="0">
                  <p:tgtEl>
                    <p:spTgt spid="32"/>
                  </p:tgtEl>
                </p:cond>
              </p:nextCondLst>
            </p:seq>
            <p:seq concurrent="1" nextAc="seek">
              <p:cTn id="26" restart="whenNotActive" fill="hold" evtFilter="cancelBubble" nodeType="interactiveSeq">
                <p:stCondLst>
                  <p:cond evt="onClick" delay="0">
                    <p:tgtEl>
                      <p:spTgt spid="33"/>
                    </p:tgtEl>
                  </p:cond>
                </p:stCondLst>
                <p:endSync evt="end" delay="0">
                  <p:rtn val="all"/>
                </p:endSync>
                <p:childTnLst>
                  <p:par>
                    <p:cTn id="27" fill="hold">
                      <p:stCondLst>
                        <p:cond delay="0"/>
                      </p:stCondLst>
                      <p:childTnLst>
                        <p:par>
                          <p:cTn id="28" fill="hold">
                            <p:stCondLst>
                              <p:cond delay="0"/>
                            </p:stCondLst>
                            <p:childTnLst>
                              <p:par>
                                <p:cTn id="29" presetID="10" presetClass="exit" presetSubtype="0" fill="hold" grpId="0" nodeType="clickEffect">
                                  <p:stCondLst>
                                    <p:cond delay="0"/>
                                  </p:stCondLst>
                                  <p:childTnLst>
                                    <p:animEffect transition="out" filter="fade">
                                      <p:cBhvr>
                                        <p:cTn id="30" dur="500"/>
                                        <p:tgtEl>
                                          <p:spTgt spid="33"/>
                                        </p:tgtEl>
                                      </p:cBhvr>
                                    </p:animEffect>
                                    <p:set>
                                      <p:cBhvr>
                                        <p:cTn id="31" dur="1" fill="hold">
                                          <p:stCondLst>
                                            <p:cond delay="499"/>
                                          </p:stCondLst>
                                        </p:cTn>
                                        <p:tgtEl>
                                          <p:spTgt spid="33"/>
                                        </p:tgtEl>
                                        <p:attrNameLst>
                                          <p:attrName>style.visibility</p:attrName>
                                        </p:attrNameLst>
                                      </p:cBhvr>
                                      <p:to>
                                        <p:strVal val="hidden"/>
                                      </p:to>
                                    </p:set>
                                  </p:childTnLst>
                                </p:cTn>
                              </p:par>
                            </p:childTnLst>
                          </p:cTn>
                        </p:par>
                      </p:childTnLst>
                    </p:cTn>
                  </p:par>
                </p:childTnLst>
              </p:cTn>
              <p:nextCondLst>
                <p:cond evt="onClick" delay="0">
                  <p:tgtEl>
                    <p:spTgt spid="33"/>
                  </p:tgtEl>
                </p:cond>
              </p:nextCondLst>
            </p:seq>
            <p:seq concurrent="1" nextAc="seek">
              <p:cTn id="32" restart="whenNotActive" fill="hold" evtFilter="cancelBubble" nodeType="interactiveSeq">
                <p:stCondLst>
                  <p:cond evt="onClick" delay="0">
                    <p:tgtEl>
                      <p:spTgt spid="48"/>
                    </p:tgtEl>
                  </p:cond>
                </p:stCondLst>
                <p:endSync evt="end" delay="0">
                  <p:rtn val="all"/>
                </p:endSync>
                <p:childTnLst>
                  <p:par>
                    <p:cTn id="33" fill="hold">
                      <p:stCondLst>
                        <p:cond delay="0"/>
                      </p:stCondLst>
                      <p:childTnLst>
                        <p:par>
                          <p:cTn id="34" fill="hold">
                            <p:stCondLst>
                              <p:cond delay="0"/>
                            </p:stCondLst>
                            <p:childTnLst>
                              <p:par>
                                <p:cTn id="35" presetID="10" presetClass="exit" presetSubtype="0" fill="hold" grpId="0" nodeType="clickEffect">
                                  <p:stCondLst>
                                    <p:cond delay="0"/>
                                  </p:stCondLst>
                                  <p:childTnLst>
                                    <p:animEffect transition="out" filter="fade">
                                      <p:cBhvr>
                                        <p:cTn id="36" dur="500"/>
                                        <p:tgtEl>
                                          <p:spTgt spid="48"/>
                                        </p:tgtEl>
                                      </p:cBhvr>
                                    </p:animEffect>
                                    <p:set>
                                      <p:cBhvr>
                                        <p:cTn id="37" dur="1" fill="hold">
                                          <p:stCondLst>
                                            <p:cond delay="499"/>
                                          </p:stCondLst>
                                        </p:cTn>
                                        <p:tgtEl>
                                          <p:spTgt spid="48"/>
                                        </p:tgtEl>
                                        <p:attrNameLst>
                                          <p:attrName>style.visibility</p:attrName>
                                        </p:attrNameLst>
                                      </p:cBhvr>
                                      <p:to>
                                        <p:strVal val="hidden"/>
                                      </p:to>
                                    </p:set>
                                  </p:childTnLst>
                                </p:cTn>
                              </p:par>
                            </p:childTnLst>
                          </p:cTn>
                        </p:par>
                      </p:childTnLst>
                    </p:cTn>
                  </p:par>
                </p:childTnLst>
              </p:cTn>
              <p:nextCondLst>
                <p:cond evt="onClick" delay="0">
                  <p:tgtEl>
                    <p:spTgt spid="48"/>
                  </p:tgtEl>
                </p:cond>
              </p:nextCondLst>
            </p:seq>
            <p:seq concurrent="1" nextAc="seek">
              <p:cTn id="38" restart="whenNotActive" fill="hold" evtFilter="cancelBubble" nodeType="interactiveSeq">
                <p:stCondLst>
                  <p:cond evt="onClick" delay="0">
                    <p:tgtEl>
                      <p:spTgt spid="54"/>
                    </p:tgtEl>
                  </p:cond>
                </p:stCondLst>
                <p:endSync evt="end" delay="0">
                  <p:rtn val="all"/>
                </p:endSync>
                <p:childTnLst>
                  <p:par>
                    <p:cTn id="39" fill="hold">
                      <p:stCondLst>
                        <p:cond delay="0"/>
                      </p:stCondLst>
                      <p:childTnLst>
                        <p:par>
                          <p:cTn id="40" fill="hold">
                            <p:stCondLst>
                              <p:cond delay="0"/>
                            </p:stCondLst>
                            <p:childTnLst>
                              <p:par>
                                <p:cTn id="41" presetID="10" presetClass="exit" presetSubtype="0" fill="hold" grpId="0" nodeType="clickEffect">
                                  <p:stCondLst>
                                    <p:cond delay="0"/>
                                  </p:stCondLst>
                                  <p:childTnLst>
                                    <p:animEffect transition="out" filter="fade">
                                      <p:cBhvr>
                                        <p:cTn id="42" dur="500"/>
                                        <p:tgtEl>
                                          <p:spTgt spid="54"/>
                                        </p:tgtEl>
                                      </p:cBhvr>
                                    </p:animEffect>
                                    <p:set>
                                      <p:cBhvr>
                                        <p:cTn id="43" dur="1" fill="hold">
                                          <p:stCondLst>
                                            <p:cond delay="499"/>
                                          </p:stCondLst>
                                        </p:cTn>
                                        <p:tgtEl>
                                          <p:spTgt spid="54"/>
                                        </p:tgtEl>
                                        <p:attrNameLst>
                                          <p:attrName>style.visibility</p:attrName>
                                        </p:attrNameLst>
                                      </p:cBhvr>
                                      <p:to>
                                        <p:strVal val="hidden"/>
                                      </p:to>
                                    </p:set>
                                  </p:childTnLst>
                                </p:cTn>
                              </p:par>
                            </p:childTnLst>
                          </p:cTn>
                        </p:par>
                      </p:childTnLst>
                    </p:cTn>
                  </p:par>
                </p:childTnLst>
              </p:cTn>
              <p:nextCondLst>
                <p:cond evt="onClick" delay="0">
                  <p:tgtEl>
                    <p:spTgt spid="54"/>
                  </p:tgtEl>
                </p:cond>
              </p:nextCondLst>
            </p:seq>
            <p:seq concurrent="1" nextAc="seek">
              <p:cTn id="44" restart="whenNotActive" fill="hold" evtFilter="cancelBubble" nodeType="interactiveSeq">
                <p:stCondLst>
                  <p:cond evt="onClick" delay="0">
                    <p:tgtEl>
                      <p:spTgt spid="58"/>
                    </p:tgtEl>
                  </p:cond>
                </p:stCondLst>
                <p:endSync evt="end" delay="0">
                  <p:rtn val="all"/>
                </p:endSync>
                <p:childTnLst>
                  <p:par>
                    <p:cTn id="45" fill="hold">
                      <p:stCondLst>
                        <p:cond delay="0"/>
                      </p:stCondLst>
                      <p:childTnLst>
                        <p:par>
                          <p:cTn id="46" fill="hold">
                            <p:stCondLst>
                              <p:cond delay="0"/>
                            </p:stCondLst>
                            <p:childTnLst>
                              <p:par>
                                <p:cTn id="47" presetID="10" presetClass="exit" presetSubtype="0" fill="hold" grpId="0" nodeType="clickEffect">
                                  <p:stCondLst>
                                    <p:cond delay="0"/>
                                  </p:stCondLst>
                                  <p:childTnLst>
                                    <p:animEffect transition="out" filter="fade">
                                      <p:cBhvr>
                                        <p:cTn id="48" dur="500"/>
                                        <p:tgtEl>
                                          <p:spTgt spid="58"/>
                                        </p:tgtEl>
                                      </p:cBhvr>
                                    </p:animEffect>
                                    <p:set>
                                      <p:cBhvr>
                                        <p:cTn id="49" dur="1" fill="hold">
                                          <p:stCondLst>
                                            <p:cond delay="499"/>
                                          </p:stCondLst>
                                        </p:cTn>
                                        <p:tgtEl>
                                          <p:spTgt spid="58"/>
                                        </p:tgtEl>
                                        <p:attrNameLst>
                                          <p:attrName>style.visibility</p:attrName>
                                        </p:attrNameLst>
                                      </p:cBhvr>
                                      <p:to>
                                        <p:strVal val="hidden"/>
                                      </p:to>
                                    </p:set>
                                  </p:childTnLst>
                                </p:cTn>
                              </p:par>
                              <p:par>
                                <p:cTn id="50" presetID="10" presetClass="entr" presetSubtype="0" fill="hold" nodeType="withEffect">
                                  <p:stCondLst>
                                    <p:cond delay="0"/>
                                  </p:stCondLst>
                                  <p:childTnLst>
                                    <p:set>
                                      <p:cBhvr>
                                        <p:cTn id="51" dur="1" fill="hold">
                                          <p:stCondLst>
                                            <p:cond delay="0"/>
                                          </p:stCondLst>
                                        </p:cTn>
                                        <p:tgtEl>
                                          <p:spTgt spid="55"/>
                                        </p:tgtEl>
                                        <p:attrNameLst>
                                          <p:attrName>style.visibility</p:attrName>
                                        </p:attrNameLst>
                                      </p:cBhvr>
                                      <p:to>
                                        <p:strVal val="visible"/>
                                      </p:to>
                                    </p:set>
                                    <p:animEffect transition="in" filter="fade">
                                      <p:cBhvr>
                                        <p:cTn id="52" dur="500"/>
                                        <p:tgtEl>
                                          <p:spTgt spid="55"/>
                                        </p:tgtEl>
                                      </p:cBhvr>
                                    </p:animEffect>
                                  </p:childTnLst>
                                </p:cTn>
                              </p:par>
                              <p:par>
                                <p:cTn id="53" presetID="10" presetClass="entr" presetSubtype="0" fill="hold" nodeType="withEffect">
                                  <p:stCondLst>
                                    <p:cond delay="0"/>
                                  </p:stCondLst>
                                  <p:childTnLst>
                                    <p:set>
                                      <p:cBhvr>
                                        <p:cTn id="54" dur="1" fill="hold">
                                          <p:stCondLst>
                                            <p:cond delay="0"/>
                                          </p:stCondLst>
                                        </p:cTn>
                                        <p:tgtEl>
                                          <p:spTgt spid="57"/>
                                        </p:tgtEl>
                                        <p:attrNameLst>
                                          <p:attrName>style.visibility</p:attrName>
                                        </p:attrNameLst>
                                      </p:cBhvr>
                                      <p:to>
                                        <p:strVal val="visible"/>
                                      </p:to>
                                    </p:set>
                                    <p:animEffect transition="in" filter="fade">
                                      <p:cBhvr>
                                        <p:cTn id="55" dur="500"/>
                                        <p:tgtEl>
                                          <p:spTgt spid="57"/>
                                        </p:tgtEl>
                                      </p:cBhvr>
                                    </p:animEffect>
                                  </p:childTnLst>
                                </p:cTn>
                              </p:par>
                            </p:childTnLst>
                          </p:cTn>
                        </p:par>
                      </p:childTnLst>
                    </p:cTn>
                  </p:par>
                </p:childTnLst>
              </p:cTn>
              <p:nextCondLst>
                <p:cond evt="onClick" delay="0">
                  <p:tgtEl>
                    <p:spTgt spid="58"/>
                  </p:tgtEl>
                </p:cond>
              </p:nextCondLst>
            </p:seq>
            <p:seq concurrent="1" nextAc="seek">
              <p:cTn id="56" restart="whenNotActive" fill="hold" evtFilter="cancelBubble" nodeType="interactiveSeq">
                <p:stCondLst>
                  <p:cond evt="onClick" delay="0">
                    <p:tgtEl>
                      <p:spTgt spid="59"/>
                    </p:tgtEl>
                  </p:cond>
                </p:stCondLst>
                <p:endSync evt="end" delay="0">
                  <p:rtn val="all"/>
                </p:endSync>
                <p:childTnLst>
                  <p:par>
                    <p:cTn id="57" fill="hold">
                      <p:stCondLst>
                        <p:cond delay="0"/>
                      </p:stCondLst>
                      <p:childTnLst>
                        <p:par>
                          <p:cTn id="58" fill="hold">
                            <p:stCondLst>
                              <p:cond delay="0"/>
                            </p:stCondLst>
                            <p:childTnLst>
                              <p:par>
                                <p:cTn id="59" presetID="10" presetClass="exit" presetSubtype="0" fill="hold" grpId="0" nodeType="clickEffect">
                                  <p:stCondLst>
                                    <p:cond delay="0"/>
                                  </p:stCondLst>
                                  <p:childTnLst>
                                    <p:animEffect transition="out" filter="fade">
                                      <p:cBhvr>
                                        <p:cTn id="60" dur="500"/>
                                        <p:tgtEl>
                                          <p:spTgt spid="59"/>
                                        </p:tgtEl>
                                      </p:cBhvr>
                                    </p:animEffect>
                                    <p:set>
                                      <p:cBhvr>
                                        <p:cTn id="61" dur="1" fill="hold">
                                          <p:stCondLst>
                                            <p:cond delay="499"/>
                                          </p:stCondLst>
                                        </p:cTn>
                                        <p:tgtEl>
                                          <p:spTgt spid="59"/>
                                        </p:tgtEl>
                                        <p:attrNameLst>
                                          <p:attrName>style.visibility</p:attrName>
                                        </p:attrNameLst>
                                      </p:cBhvr>
                                      <p:to>
                                        <p:strVal val="hidden"/>
                                      </p:to>
                                    </p:set>
                                  </p:childTnLst>
                                </p:cTn>
                              </p:par>
                            </p:childTnLst>
                          </p:cTn>
                        </p:par>
                      </p:childTnLst>
                    </p:cTn>
                  </p:par>
                </p:childTnLst>
              </p:cTn>
              <p:nextCondLst>
                <p:cond evt="onClick" delay="0">
                  <p:tgtEl>
                    <p:spTgt spid="59"/>
                  </p:tgtEl>
                </p:cond>
              </p:nextCondLst>
            </p:seq>
          </p:childTnLst>
        </p:cTn>
      </p:par>
    </p:tnLst>
    <p:bldLst>
      <p:bldP spid="25" grpId="0"/>
      <p:bldP spid="30" grpId="0" animBg="1"/>
      <p:bldP spid="31" grpId="0" animBg="1"/>
      <p:bldP spid="32" grpId="0" animBg="1"/>
      <p:bldP spid="33" grpId="0" animBg="1"/>
      <p:bldP spid="48" grpId="0" animBg="1"/>
      <p:bldP spid="54" grpId="0" animBg="1"/>
      <p:bldP spid="58" grpId="0" animBg="1"/>
      <p:bldP spid="59"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vert="horz" wrap="square" lIns="324000" tIns="45720" rIns="91440" bIns="45720" rtlCol="0" anchor="ctr">
              <a:spAutoFit/>
            </a:bodyPr>
            <a:lstStyle>
              <a:defPPr>
                <a:defRPr lang="en-US"/>
              </a:defPPr>
              <a:lvl1pPr>
                <a:spcBef>
                  <a:spcPct val="0"/>
                </a:spcBef>
                <a:buNone/>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err="1"/>
                <a:t>Cubics</a:t>
              </a:r>
              <a:endParaRPr lang="en-GB"/>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mc:Choice xmlns:a14="http://schemas.microsoft.com/office/drawing/2010/main" Requires="a14">
          <p:sp>
            <p:nvSpPr>
              <p:cNvPr id="5" name="TextBox 4"/>
              <p:cNvSpPr txBox="1"/>
              <p:nvPr/>
            </p:nvSpPr>
            <p:spPr>
              <a:xfrm>
                <a:off x="251520" y="836712"/>
                <a:ext cx="3672408" cy="646331"/>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a:t>Sketch the curve with equation</a:t>
                </a:r>
              </a:p>
              <a:p>
                <a:pPr/>
                <a14:m>
                  <m:oMathPara xmlns:m="http://schemas.openxmlformats.org/officeDocument/2006/math">
                    <m:oMath>
                      <m:r>
                        <a:rPr lang="en-GB" b="0" i="1" smtClean="0">
                          <a:latin typeface="Cambria Math" panose="02040503050406030204" pitchFamily="18" charset="0"/>
                        </a:rPr>
                        <m:t>𝑦</m:t>
                      </m:r>
                      <m:r>
                        <a:rPr lang="en-GB" b="0" i="1" smtClean="0">
                          <a:latin typeface="Cambria Math" panose="02040503050406030204" pitchFamily="18" charset="0"/>
                        </a:rPr>
                        <m:t>=</m:t>
                      </m:r>
                      <m:d>
                        <m:dPr>
                          <m:ctrlPr>
                            <a:rPr lang="en-GB" b="0" i="1" smtClean="0">
                              <a:latin typeface="Cambria Math" panose="02040503050406030204" pitchFamily="18" charset="0"/>
                            </a:rPr>
                          </m:ctrlPr>
                        </m:dPr>
                        <m:e>
                          <m:r>
                            <a:rPr lang="en-GB" b="0" i="1" smtClean="0">
                              <a:latin typeface="Cambria Math" panose="02040503050406030204" pitchFamily="18" charset="0"/>
                            </a:rPr>
                            <m:t>2−</m:t>
                          </m:r>
                          <m:r>
                            <a:rPr lang="en-GB" b="0" i="1" smtClean="0">
                              <a:latin typeface="Cambria Math" panose="02040503050406030204" pitchFamily="18" charset="0"/>
                            </a:rPr>
                            <m:t>𝑥</m:t>
                          </m:r>
                        </m:e>
                      </m:d>
                      <m:sSup>
                        <m:sSupPr>
                          <m:ctrlPr>
                            <a:rPr lang="en-GB" b="0" i="1" smtClean="0">
                              <a:latin typeface="Cambria Math" panose="02040503050406030204" pitchFamily="18" charset="0"/>
                            </a:rPr>
                          </m:ctrlPr>
                        </m:sSupPr>
                        <m:e>
                          <m:d>
                            <m:dPr>
                              <m:ctrlPr>
                                <a:rPr lang="en-GB" b="0" i="1" smtClean="0">
                                  <a:latin typeface="Cambria Math" panose="02040503050406030204" pitchFamily="18" charset="0"/>
                                </a:rPr>
                              </m:ctrlPr>
                            </m:dPr>
                            <m:e>
                              <m:r>
                                <a:rPr lang="en-GB" b="0" i="1" smtClean="0">
                                  <a:latin typeface="Cambria Math" panose="02040503050406030204" pitchFamily="18" charset="0"/>
                                </a:rPr>
                                <m:t>𝑥</m:t>
                              </m:r>
                              <m:r>
                                <a:rPr lang="en-GB" b="0" i="1" smtClean="0">
                                  <a:latin typeface="Cambria Math" panose="02040503050406030204" pitchFamily="18" charset="0"/>
                                </a:rPr>
                                <m:t>+1</m:t>
                              </m:r>
                            </m:e>
                          </m:d>
                        </m:e>
                        <m:sup>
                          <m:r>
                            <a:rPr lang="en-GB" b="0" i="1" smtClean="0">
                              <a:latin typeface="Cambria Math" panose="02040503050406030204" pitchFamily="18" charset="0"/>
                            </a:rPr>
                            <m:t>2</m:t>
                          </m:r>
                        </m:sup>
                      </m:sSup>
                    </m:oMath>
                  </m:oMathPara>
                </a14:m>
                <a:endParaRPr lang="en-GB"/>
              </a:p>
            </p:txBody>
          </p:sp>
        </mc:Choice>
        <mc:Fallback>
          <p:sp>
            <p:nvSpPr>
              <p:cNvPr id="5" name="TextBox 4"/>
              <p:cNvSpPr txBox="1">
                <a:spLocks noRot="1" noChangeAspect="1" noMove="1" noResize="1" noEditPoints="1" noAdjustHandles="1" noChangeArrowheads="1" noChangeShapeType="1" noTextEdit="1"/>
              </p:cNvSpPr>
              <p:nvPr/>
            </p:nvSpPr>
            <p:spPr>
              <a:xfrm>
                <a:off x="251520" y="836712"/>
                <a:ext cx="3672408" cy="646331"/>
              </a:xfrm>
              <a:prstGeom prst="rect">
                <a:avLst/>
              </a:prstGeom>
              <a:blipFill>
                <a:blip r:embed="rId2"/>
                <a:stretch>
                  <a:fillRect/>
                </a:stretch>
              </a:blipFill>
              <a:effectLst>
                <a:outerShdw blurRad="63500" sx="102000" sy="102000" algn="ctr" rotWithShape="0">
                  <a:prstClr val="black">
                    <a:alpha val="40000"/>
                  </a:prstClr>
                </a:outerShdw>
              </a:effectLst>
            </p:spPr>
            <p:txBody>
              <a:bodyPr/>
              <a:lstStyle/>
              <a:p>
                <a:r>
                  <a:rPr lang="en-US">
                    <a:noFill/>
                  </a:rPr>
                  <a:t> </a:t>
                </a:r>
              </a:p>
            </p:txBody>
          </p:sp>
        </mc:Fallback>
      </mc:AlternateContent>
      <p:sp>
        <p:nvSpPr>
          <p:cNvPr id="6" name="TextBox 5"/>
          <p:cNvSpPr txBox="1"/>
          <p:nvPr/>
        </p:nvSpPr>
        <p:spPr>
          <a:xfrm>
            <a:off x="349179" y="1695201"/>
            <a:ext cx="964629" cy="338554"/>
          </a:xfrm>
          <a:prstGeom prst="rect">
            <a:avLst/>
          </a:prstGeom>
          <a:noFill/>
        </p:spPr>
        <p:txBody>
          <a:bodyPr wrap="square" rtlCol="0">
            <a:spAutoFit/>
          </a:bodyPr>
          <a:lstStyle/>
          <a:p>
            <a:r>
              <a:rPr lang="en-GB" sz="1600" b="1"/>
              <a:t>Shape?</a:t>
            </a:r>
          </a:p>
        </p:txBody>
      </p:sp>
      <p:sp>
        <p:nvSpPr>
          <p:cNvPr id="7" name="TextBox 6"/>
          <p:cNvSpPr txBox="1"/>
          <p:nvPr/>
        </p:nvSpPr>
        <p:spPr>
          <a:xfrm>
            <a:off x="366521" y="2119927"/>
            <a:ext cx="964629" cy="338554"/>
          </a:xfrm>
          <a:prstGeom prst="rect">
            <a:avLst/>
          </a:prstGeom>
          <a:noFill/>
        </p:spPr>
        <p:txBody>
          <a:bodyPr wrap="square" rtlCol="0">
            <a:spAutoFit/>
          </a:bodyPr>
          <a:lstStyle/>
          <a:p>
            <a:r>
              <a:rPr lang="en-GB" sz="1600" b="1"/>
              <a:t>Roots?</a:t>
            </a:r>
          </a:p>
        </p:txBody>
      </p:sp>
      <mc:AlternateContent xmlns:mc="http://schemas.openxmlformats.org/markup-compatibility/2006">
        <mc:Choice xmlns:a14="http://schemas.microsoft.com/office/drawing/2010/main" Requires="a14">
          <p:sp>
            <p:nvSpPr>
              <p:cNvPr id="8" name="TextBox 7"/>
              <p:cNvSpPr txBox="1"/>
              <p:nvPr/>
            </p:nvSpPr>
            <p:spPr>
              <a:xfrm>
                <a:off x="76200" y="3193613"/>
                <a:ext cx="1222744" cy="338554"/>
              </a:xfrm>
              <a:prstGeom prst="rect">
                <a:avLst/>
              </a:prstGeom>
              <a:noFill/>
            </p:spPr>
            <p:txBody>
              <a:bodyPr wrap="square" rtlCol="0">
                <a:spAutoFit/>
              </a:bodyPr>
              <a:lstStyle/>
              <a:p>
                <a14:m>
                  <m:oMath xmlns:m="http://schemas.openxmlformats.org/officeDocument/2006/math">
                    <m:r>
                      <a:rPr lang="en-GB" sz="1600" b="1" i="1" smtClean="0">
                        <a:latin typeface="Cambria Math" panose="02040503050406030204" pitchFamily="18" charset="0"/>
                      </a:rPr>
                      <m:t>𝒚</m:t>
                    </m:r>
                  </m:oMath>
                </a14:m>
                <a:r>
                  <a:rPr lang="en-GB" sz="1600" b="1"/>
                  <a:t>-intercept?</a:t>
                </a:r>
              </a:p>
            </p:txBody>
          </p:sp>
        </mc:Choice>
        <mc:Fallback>
          <p:sp>
            <p:nvSpPr>
              <p:cNvPr id="8" name="TextBox 7"/>
              <p:cNvSpPr txBox="1">
                <a:spLocks noRot="1" noChangeAspect="1" noMove="1" noResize="1" noEditPoints="1" noAdjustHandles="1" noChangeArrowheads="1" noChangeShapeType="1" noTextEdit="1"/>
              </p:cNvSpPr>
              <p:nvPr/>
            </p:nvSpPr>
            <p:spPr>
              <a:xfrm>
                <a:off x="76200" y="3193613"/>
                <a:ext cx="1222744" cy="338554"/>
              </a:xfrm>
              <a:prstGeom prst="rect">
                <a:avLst/>
              </a:prstGeom>
              <a:blipFill>
                <a:blip r:embed="rId3"/>
                <a:stretch>
                  <a:fillRect t="-3704" r="-2062" b="-22222"/>
                </a:stretch>
              </a:blipFill>
            </p:spPr>
            <p:txBody>
              <a:bodyPr/>
              <a:lstStyle/>
              <a:p>
                <a:r>
                  <a:rPr lang="en-US">
                    <a:noFill/>
                  </a:rPr>
                  <a:t> </a:t>
                </a:r>
              </a:p>
            </p:txBody>
          </p:sp>
        </mc:Fallback>
      </mc:AlternateContent>
      <p:sp>
        <p:nvSpPr>
          <p:cNvPr id="9" name="TextBox 8"/>
          <p:cNvSpPr txBox="1"/>
          <p:nvPr/>
        </p:nvSpPr>
        <p:spPr>
          <a:xfrm>
            <a:off x="1287608" y="1662544"/>
            <a:ext cx="2243623" cy="369332"/>
          </a:xfrm>
          <a:prstGeom prst="rect">
            <a:avLst/>
          </a:prstGeom>
          <a:noFill/>
        </p:spPr>
        <p:txBody>
          <a:bodyPr wrap="square" rtlCol="0">
            <a:spAutoFit/>
          </a:bodyPr>
          <a:lstStyle/>
          <a:p>
            <a:r>
              <a:rPr lang="en-GB"/>
              <a:t>Downhill.</a:t>
            </a:r>
          </a:p>
        </p:txBody>
      </p:sp>
      <mc:AlternateContent xmlns:mc="http://schemas.openxmlformats.org/markup-compatibility/2006">
        <mc:Choice xmlns:a14="http://schemas.microsoft.com/office/drawing/2010/main" Requires="a14">
          <p:sp>
            <p:nvSpPr>
              <p:cNvPr id="10" name="TextBox 9"/>
              <p:cNvSpPr txBox="1"/>
              <p:nvPr/>
            </p:nvSpPr>
            <p:spPr>
              <a:xfrm>
                <a:off x="1287607" y="2074235"/>
                <a:ext cx="2448762" cy="1077218"/>
              </a:xfrm>
              <a:prstGeom prst="rect">
                <a:avLst/>
              </a:prstGeom>
              <a:noFill/>
            </p:spPr>
            <p:txBody>
              <a:bodyPr wrap="square" rtlCol="0">
                <a:spAutoFit/>
              </a:bodyPr>
              <a:lstStyle/>
              <a:p>
                <a:pPr/>
                <a14:m>
                  <m:oMathPara xmlns:m="http://schemas.openxmlformats.org/officeDocument/2006/math">
                    <m:oMathParaPr>
                      <m:jc m:val="left"/>
                    </m:oMathParaPr>
                    <m:oMath>
                      <m:r>
                        <a:rPr lang="en-GB" sz="1600" b="0" i="1" smtClean="0">
                          <a:latin typeface="Cambria Math" panose="02040503050406030204" pitchFamily="18" charset="0"/>
                        </a:rPr>
                        <m:t>𝑥</m:t>
                      </m:r>
                      <m:r>
                        <a:rPr lang="en-GB" sz="1600" b="0" i="1" smtClean="0">
                          <a:latin typeface="Cambria Math" panose="02040503050406030204" pitchFamily="18" charset="0"/>
                        </a:rPr>
                        <m:t>=2, </m:t>
                      </m:r>
                      <m:r>
                        <a:rPr lang="en-GB" sz="1600" b="0" i="1" smtClean="0">
                          <a:latin typeface="Cambria Math" panose="02040503050406030204" pitchFamily="18" charset="0"/>
                        </a:rPr>
                        <m:t>𝑜𝑟</m:t>
                      </m:r>
                      <m:r>
                        <a:rPr lang="en-GB" sz="1600" b="0" i="1" smtClean="0">
                          <a:latin typeface="Cambria Math" panose="02040503050406030204" pitchFamily="18" charset="0"/>
                        </a:rPr>
                        <m:t> </m:t>
                      </m:r>
                      <m:r>
                        <a:rPr lang="en-GB" sz="1600" b="0" i="1" smtClean="0">
                          <a:latin typeface="Cambria Math" panose="02040503050406030204" pitchFamily="18" charset="0"/>
                        </a:rPr>
                        <m:t>𝑥</m:t>
                      </m:r>
                      <m:r>
                        <a:rPr lang="en-GB" sz="1600" b="0" i="1" smtClean="0">
                          <a:latin typeface="Cambria Math" panose="02040503050406030204" pitchFamily="18" charset="0"/>
                        </a:rPr>
                        <m:t>=−1</m:t>
                      </m:r>
                    </m:oMath>
                  </m:oMathPara>
                </a14:m>
                <a:endParaRPr lang="en-GB" sz="1600"/>
              </a:p>
              <a:p>
                <a:r>
                  <a:rPr lang="en-GB" sz="1600"/>
                  <a:t>Curve crosses as 2, but touches at -1 (again, because of repeated root)</a:t>
                </a:r>
              </a:p>
            </p:txBody>
          </p:sp>
        </mc:Choice>
        <mc:Fallback>
          <p:sp>
            <p:nvSpPr>
              <p:cNvPr id="10" name="TextBox 9"/>
              <p:cNvSpPr txBox="1">
                <a:spLocks noRot="1" noChangeAspect="1" noMove="1" noResize="1" noEditPoints="1" noAdjustHandles="1" noChangeArrowheads="1" noChangeShapeType="1" noTextEdit="1"/>
              </p:cNvSpPr>
              <p:nvPr/>
            </p:nvSpPr>
            <p:spPr>
              <a:xfrm>
                <a:off x="1287607" y="2074235"/>
                <a:ext cx="2448762" cy="1077218"/>
              </a:xfrm>
              <a:prstGeom prst="rect">
                <a:avLst/>
              </a:prstGeom>
              <a:blipFill>
                <a:blip r:embed="rId4"/>
                <a:stretch>
                  <a:fillRect l="-1546" b="-5814"/>
                </a:stretch>
              </a:blipFill>
            </p:spPr>
            <p:txBody>
              <a:bodyPr/>
              <a:lstStyle/>
              <a:p>
                <a:r>
                  <a:rPr lang="en-US">
                    <a:noFill/>
                  </a:rPr>
                  <a:t> </a:t>
                </a:r>
              </a:p>
            </p:txBody>
          </p:sp>
        </mc:Fallback>
      </mc:AlternateContent>
      <p:sp>
        <p:nvSpPr>
          <p:cNvPr id="11" name="TextBox 10"/>
          <p:cNvSpPr txBox="1"/>
          <p:nvPr/>
        </p:nvSpPr>
        <p:spPr>
          <a:xfrm>
            <a:off x="1352921" y="3189501"/>
            <a:ext cx="2448762" cy="338554"/>
          </a:xfrm>
          <a:prstGeom prst="rect">
            <a:avLst/>
          </a:prstGeom>
          <a:noFill/>
        </p:spPr>
        <p:txBody>
          <a:bodyPr wrap="square" rtlCol="0">
            <a:spAutoFit/>
          </a:bodyPr>
          <a:lstStyle/>
          <a:p>
            <a:r>
              <a:rPr lang="en-GB" sz="1600"/>
              <a:t>2</a:t>
            </a:r>
          </a:p>
        </p:txBody>
      </p:sp>
      <p:cxnSp>
        <p:nvCxnSpPr>
          <p:cNvPr id="12" name="Straight Arrow Connector 11"/>
          <p:cNvCxnSpPr/>
          <p:nvPr/>
        </p:nvCxnSpPr>
        <p:spPr>
          <a:xfrm>
            <a:off x="673441" y="5117828"/>
            <a:ext cx="240944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 name="Straight Arrow Connector 12"/>
          <p:cNvCxnSpPr/>
          <p:nvPr/>
        </p:nvCxnSpPr>
        <p:spPr>
          <a:xfrm flipV="1">
            <a:off x="1835838" y="4103923"/>
            <a:ext cx="0" cy="187220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4" name="TextBox 13"/>
          <p:cNvSpPr txBox="1"/>
          <p:nvPr/>
        </p:nvSpPr>
        <p:spPr>
          <a:xfrm>
            <a:off x="1260464" y="5085931"/>
            <a:ext cx="415472" cy="369332"/>
          </a:xfrm>
          <a:prstGeom prst="rect">
            <a:avLst/>
          </a:prstGeom>
          <a:noFill/>
        </p:spPr>
        <p:txBody>
          <a:bodyPr wrap="square" rtlCol="0">
            <a:spAutoFit/>
          </a:bodyPr>
          <a:lstStyle/>
          <a:p>
            <a:r>
              <a:rPr lang="en-GB"/>
              <a:t>-1</a:t>
            </a:r>
          </a:p>
        </p:txBody>
      </p:sp>
      <p:sp>
        <p:nvSpPr>
          <p:cNvPr id="16" name="TextBox 15"/>
          <p:cNvSpPr txBox="1"/>
          <p:nvPr/>
        </p:nvSpPr>
        <p:spPr>
          <a:xfrm>
            <a:off x="2283165" y="5064159"/>
            <a:ext cx="415472" cy="369332"/>
          </a:xfrm>
          <a:prstGeom prst="rect">
            <a:avLst/>
          </a:prstGeom>
          <a:noFill/>
        </p:spPr>
        <p:txBody>
          <a:bodyPr wrap="square" rtlCol="0">
            <a:spAutoFit/>
          </a:bodyPr>
          <a:lstStyle/>
          <a:p>
            <a:r>
              <a:rPr lang="en-GB"/>
              <a:t>2</a:t>
            </a:r>
          </a:p>
        </p:txBody>
      </p:sp>
      <p:sp>
        <p:nvSpPr>
          <p:cNvPr id="17" name="Freeform: Shape 16"/>
          <p:cNvSpPr/>
          <p:nvPr/>
        </p:nvSpPr>
        <p:spPr>
          <a:xfrm>
            <a:off x="870393" y="3874884"/>
            <a:ext cx="1781713" cy="1776144"/>
          </a:xfrm>
          <a:custGeom>
            <a:avLst/>
            <a:gdLst>
              <a:gd name="connsiteX0" fmla="*/ 0 w 1520456"/>
              <a:gd name="connsiteY0" fmla="*/ 0 h 1297172"/>
              <a:gd name="connsiteX1" fmla="*/ 265814 w 1520456"/>
              <a:gd name="connsiteY1" fmla="*/ 808074 h 1297172"/>
              <a:gd name="connsiteX2" fmla="*/ 606056 w 1520456"/>
              <a:gd name="connsiteY2" fmla="*/ 1244009 h 1297172"/>
              <a:gd name="connsiteX3" fmla="*/ 978195 w 1520456"/>
              <a:gd name="connsiteY3" fmla="*/ 797442 h 1297172"/>
              <a:gd name="connsiteX4" fmla="*/ 1190847 w 1520456"/>
              <a:gd name="connsiteY4" fmla="*/ 446567 h 1297172"/>
              <a:gd name="connsiteX5" fmla="*/ 1382233 w 1520456"/>
              <a:gd name="connsiteY5" fmla="*/ 808074 h 1297172"/>
              <a:gd name="connsiteX6" fmla="*/ 1520456 w 1520456"/>
              <a:gd name="connsiteY6" fmla="*/ 1297172 h 1297172"/>
              <a:gd name="connsiteX0" fmla="*/ 0 w 1520456"/>
              <a:gd name="connsiteY0" fmla="*/ 0 h 1297172"/>
              <a:gd name="connsiteX1" fmla="*/ 265814 w 1520456"/>
              <a:gd name="connsiteY1" fmla="*/ 808074 h 1297172"/>
              <a:gd name="connsiteX2" fmla="*/ 606056 w 1520456"/>
              <a:gd name="connsiteY2" fmla="*/ 1244009 h 1297172"/>
              <a:gd name="connsiteX3" fmla="*/ 946297 w 1520456"/>
              <a:gd name="connsiteY3" fmla="*/ 776177 h 1297172"/>
              <a:gd name="connsiteX4" fmla="*/ 1190847 w 1520456"/>
              <a:gd name="connsiteY4" fmla="*/ 446567 h 1297172"/>
              <a:gd name="connsiteX5" fmla="*/ 1382233 w 1520456"/>
              <a:gd name="connsiteY5" fmla="*/ 808074 h 1297172"/>
              <a:gd name="connsiteX6" fmla="*/ 1520456 w 1520456"/>
              <a:gd name="connsiteY6" fmla="*/ 1297172 h 1297172"/>
              <a:gd name="connsiteX0" fmla="*/ 0 w 1520456"/>
              <a:gd name="connsiteY0" fmla="*/ 0 h 1297172"/>
              <a:gd name="connsiteX1" fmla="*/ 265814 w 1520456"/>
              <a:gd name="connsiteY1" fmla="*/ 808074 h 1297172"/>
              <a:gd name="connsiteX2" fmla="*/ 606056 w 1520456"/>
              <a:gd name="connsiteY2" fmla="*/ 1244009 h 1297172"/>
              <a:gd name="connsiteX3" fmla="*/ 946297 w 1520456"/>
              <a:gd name="connsiteY3" fmla="*/ 776177 h 1297172"/>
              <a:gd name="connsiteX4" fmla="*/ 1190847 w 1520456"/>
              <a:gd name="connsiteY4" fmla="*/ 446567 h 1297172"/>
              <a:gd name="connsiteX5" fmla="*/ 1382233 w 1520456"/>
              <a:gd name="connsiteY5" fmla="*/ 808074 h 1297172"/>
              <a:gd name="connsiteX6" fmla="*/ 1520456 w 1520456"/>
              <a:gd name="connsiteY6" fmla="*/ 1297172 h 1297172"/>
              <a:gd name="connsiteX0" fmla="*/ 0 w 1781713"/>
              <a:gd name="connsiteY0" fmla="*/ 0 h 1776144"/>
              <a:gd name="connsiteX1" fmla="*/ 265814 w 1781713"/>
              <a:gd name="connsiteY1" fmla="*/ 808074 h 1776144"/>
              <a:gd name="connsiteX2" fmla="*/ 606056 w 1781713"/>
              <a:gd name="connsiteY2" fmla="*/ 1244009 h 1776144"/>
              <a:gd name="connsiteX3" fmla="*/ 946297 w 1781713"/>
              <a:gd name="connsiteY3" fmla="*/ 776177 h 1776144"/>
              <a:gd name="connsiteX4" fmla="*/ 1190847 w 1781713"/>
              <a:gd name="connsiteY4" fmla="*/ 446567 h 1776144"/>
              <a:gd name="connsiteX5" fmla="*/ 1382233 w 1781713"/>
              <a:gd name="connsiteY5" fmla="*/ 808074 h 1776144"/>
              <a:gd name="connsiteX6" fmla="*/ 1781713 w 1781713"/>
              <a:gd name="connsiteY6" fmla="*/ 1776144 h 1776144"/>
              <a:gd name="connsiteX0" fmla="*/ 0 w 1781713"/>
              <a:gd name="connsiteY0" fmla="*/ 0 h 1776144"/>
              <a:gd name="connsiteX1" fmla="*/ 265814 w 1781713"/>
              <a:gd name="connsiteY1" fmla="*/ 808074 h 1776144"/>
              <a:gd name="connsiteX2" fmla="*/ 606056 w 1781713"/>
              <a:gd name="connsiteY2" fmla="*/ 1244009 h 1776144"/>
              <a:gd name="connsiteX3" fmla="*/ 946297 w 1781713"/>
              <a:gd name="connsiteY3" fmla="*/ 776177 h 1776144"/>
              <a:gd name="connsiteX4" fmla="*/ 1190847 w 1781713"/>
              <a:gd name="connsiteY4" fmla="*/ 446567 h 1776144"/>
              <a:gd name="connsiteX5" fmla="*/ 1393119 w 1781713"/>
              <a:gd name="connsiteY5" fmla="*/ 764531 h 1776144"/>
              <a:gd name="connsiteX6" fmla="*/ 1781713 w 1781713"/>
              <a:gd name="connsiteY6" fmla="*/ 1776144 h 1776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81713" h="1776144">
                <a:moveTo>
                  <a:pt x="0" y="0"/>
                </a:moveTo>
                <a:cubicBezTo>
                  <a:pt x="82402" y="300369"/>
                  <a:pt x="164805" y="600739"/>
                  <a:pt x="265814" y="808074"/>
                </a:cubicBezTo>
                <a:cubicBezTo>
                  <a:pt x="366823" y="1015409"/>
                  <a:pt x="492642" y="1249325"/>
                  <a:pt x="606056" y="1244009"/>
                </a:cubicBezTo>
                <a:cubicBezTo>
                  <a:pt x="719470" y="1238693"/>
                  <a:pt x="870097" y="930349"/>
                  <a:pt x="946297" y="776177"/>
                </a:cubicBezTo>
                <a:cubicBezTo>
                  <a:pt x="1022497" y="622005"/>
                  <a:pt x="1116377" y="448508"/>
                  <a:pt x="1190847" y="446567"/>
                </a:cubicBezTo>
                <a:cubicBezTo>
                  <a:pt x="1265317" y="444626"/>
                  <a:pt x="1294641" y="542935"/>
                  <a:pt x="1393119" y="764531"/>
                </a:cubicBezTo>
                <a:cubicBezTo>
                  <a:pt x="1491597" y="986127"/>
                  <a:pt x="1740069" y="1602478"/>
                  <a:pt x="1781713" y="1776144"/>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extBox 17"/>
          <p:cNvSpPr txBox="1"/>
          <p:nvPr/>
        </p:nvSpPr>
        <p:spPr>
          <a:xfrm>
            <a:off x="1584668" y="4307288"/>
            <a:ext cx="415472" cy="369332"/>
          </a:xfrm>
          <a:prstGeom prst="rect">
            <a:avLst/>
          </a:prstGeom>
          <a:noFill/>
        </p:spPr>
        <p:txBody>
          <a:bodyPr wrap="square" rtlCol="0">
            <a:spAutoFit/>
          </a:bodyPr>
          <a:lstStyle/>
          <a:p>
            <a:r>
              <a:rPr lang="en-GB"/>
              <a:t>2</a:t>
            </a:r>
          </a:p>
        </p:txBody>
      </p:sp>
      <mc:AlternateContent xmlns:mc="http://schemas.openxmlformats.org/markup-compatibility/2006">
        <mc:Choice xmlns:a14="http://schemas.microsoft.com/office/drawing/2010/main" Requires="a14">
          <p:sp>
            <p:nvSpPr>
              <p:cNvPr id="20" name="TextBox 19"/>
              <p:cNvSpPr txBox="1"/>
              <p:nvPr/>
            </p:nvSpPr>
            <p:spPr>
              <a:xfrm>
                <a:off x="1628102" y="3853297"/>
                <a:ext cx="415472" cy="276999"/>
              </a:xfrm>
              <a:prstGeom prst="rect">
                <a:avLst/>
              </a:prstGeom>
              <a:noFill/>
            </p:spPr>
            <p:txBody>
              <a:bodyPr wrap="square" rtlCol="0">
                <a:spAutoFit/>
              </a:bodyPr>
              <a:lstStyle/>
              <a:p>
                <a:pPr/>
                <a14:m>
                  <m:oMathPara xmlns:m="http://schemas.openxmlformats.org/officeDocument/2006/math">
                    <m:oMath>
                      <m:r>
                        <a:rPr lang="en-GB" sz="1200" b="0" i="1" smtClean="0">
                          <a:latin typeface="Cambria Math" panose="02040503050406030204" pitchFamily="18" charset="0"/>
                        </a:rPr>
                        <m:t>𝑦</m:t>
                      </m:r>
                    </m:oMath>
                  </m:oMathPara>
                </a14:m>
                <a:endParaRPr lang="en-GB"/>
              </a:p>
            </p:txBody>
          </p:sp>
        </mc:Choice>
        <mc:Fallback>
          <p:sp>
            <p:nvSpPr>
              <p:cNvPr id="20" name="TextBox 19"/>
              <p:cNvSpPr txBox="1">
                <a:spLocks noRot="1" noChangeAspect="1" noMove="1" noResize="1" noEditPoints="1" noAdjustHandles="1" noChangeArrowheads="1" noChangeShapeType="1" noTextEdit="1"/>
              </p:cNvSpPr>
              <p:nvPr/>
            </p:nvSpPr>
            <p:spPr>
              <a:xfrm>
                <a:off x="1628102" y="3853297"/>
                <a:ext cx="415472" cy="276999"/>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1" name="TextBox 20"/>
              <p:cNvSpPr txBox="1"/>
              <p:nvPr/>
            </p:nvSpPr>
            <p:spPr>
              <a:xfrm>
                <a:off x="2972657" y="4988333"/>
                <a:ext cx="415472" cy="276999"/>
              </a:xfrm>
              <a:prstGeom prst="rect">
                <a:avLst/>
              </a:prstGeom>
              <a:noFill/>
            </p:spPr>
            <p:txBody>
              <a:bodyPr wrap="square" rtlCol="0">
                <a:spAutoFit/>
              </a:bodyPr>
              <a:lstStyle/>
              <a:p>
                <a:pPr/>
                <a14:m>
                  <m:oMathPara xmlns:m="http://schemas.openxmlformats.org/officeDocument/2006/math">
                    <m:oMath>
                      <m:r>
                        <a:rPr lang="en-GB" sz="1200" b="0" i="1" smtClean="0">
                          <a:latin typeface="Cambria Math" panose="02040503050406030204" pitchFamily="18" charset="0"/>
                        </a:rPr>
                        <m:t>𝑥</m:t>
                      </m:r>
                    </m:oMath>
                  </m:oMathPara>
                </a14:m>
                <a:endParaRPr lang="en-GB"/>
              </a:p>
            </p:txBody>
          </p:sp>
        </mc:Choice>
        <mc:Fallback>
          <p:sp>
            <p:nvSpPr>
              <p:cNvPr id="21" name="TextBox 20"/>
              <p:cNvSpPr txBox="1">
                <a:spLocks noRot="1" noChangeAspect="1" noMove="1" noResize="1" noEditPoints="1" noAdjustHandles="1" noChangeArrowheads="1" noChangeShapeType="1" noTextEdit="1"/>
              </p:cNvSpPr>
              <p:nvPr/>
            </p:nvSpPr>
            <p:spPr>
              <a:xfrm>
                <a:off x="2972657" y="4988333"/>
                <a:ext cx="415472" cy="276999"/>
              </a:xfrm>
              <a:prstGeom prst="rect">
                <a:avLst/>
              </a:prstGeom>
              <a:blipFill>
                <a:blip r:embed="rId6"/>
                <a:stretch>
                  <a:fillRect/>
                </a:stretch>
              </a:blipFill>
            </p:spPr>
            <p:txBody>
              <a:bodyPr/>
              <a:lstStyle/>
              <a:p>
                <a:r>
                  <a:rPr lang="en-US">
                    <a:noFill/>
                  </a:rPr>
                  <a:t> </a:t>
                </a:r>
              </a:p>
            </p:txBody>
          </p:sp>
        </mc:Fallback>
      </mc:AlternateContent>
      <p:sp>
        <p:nvSpPr>
          <p:cNvPr id="22" name="Rectangle 21"/>
          <p:cNvSpPr/>
          <p:nvPr/>
        </p:nvSpPr>
        <p:spPr>
          <a:xfrm>
            <a:off x="611404" y="3714798"/>
            <a:ext cx="2952639" cy="2547070"/>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 Final sketch</a:t>
            </a:r>
          </a:p>
        </p:txBody>
      </p:sp>
      <p:sp>
        <p:nvSpPr>
          <p:cNvPr id="23" name="Rectangle 22"/>
          <p:cNvSpPr/>
          <p:nvPr/>
        </p:nvSpPr>
        <p:spPr>
          <a:xfrm>
            <a:off x="1309969" y="1690323"/>
            <a:ext cx="2347631" cy="356192"/>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24" name="Rectangle 23"/>
          <p:cNvSpPr/>
          <p:nvPr/>
        </p:nvSpPr>
        <p:spPr>
          <a:xfrm>
            <a:off x="1287607" y="2126274"/>
            <a:ext cx="2369993" cy="932611"/>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25" name="Rectangle 24"/>
          <p:cNvSpPr/>
          <p:nvPr/>
        </p:nvSpPr>
        <p:spPr>
          <a:xfrm>
            <a:off x="1286462" y="3160140"/>
            <a:ext cx="2371138" cy="377717"/>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mc:AlternateContent xmlns:mc="http://schemas.openxmlformats.org/markup-compatibility/2006">
        <mc:Choice xmlns:a14="http://schemas.microsoft.com/office/drawing/2010/main" Requires="a14">
          <p:sp>
            <p:nvSpPr>
              <p:cNvPr id="26" name="TextBox 25"/>
              <p:cNvSpPr txBox="1"/>
              <p:nvPr/>
            </p:nvSpPr>
            <p:spPr>
              <a:xfrm>
                <a:off x="4427984" y="836071"/>
                <a:ext cx="3672408" cy="646331"/>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a:t>Sketch the curve with equation</a:t>
                </a:r>
              </a:p>
              <a:p>
                <a:pPr/>
                <a14:m>
                  <m:oMathPara xmlns:m="http://schemas.openxmlformats.org/officeDocument/2006/math">
                    <m:oMath>
                      <m:r>
                        <a:rPr lang="en-GB" b="0" i="1" smtClean="0">
                          <a:latin typeface="Cambria Math" panose="02040503050406030204" pitchFamily="18" charset="0"/>
                        </a:rPr>
                        <m:t>𝑦</m:t>
                      </m:r>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d>
                            <m:dPr>
                              <m:ctrlPr>
                                <a:rPr lang="en-GB" b="0" i="1" smtClean="0">
                                  <a:latin typeface="Cambria Math" panose="02040503050406030204" pitchFamily="18" charset="0"/>
                                </a:rPr>
                              </m:ctrlPr>
                            </m:dPr>
                            <m:e>
                              <m:r>
                                <a:rPr lang="en-GB" b="0" i="1" smtClean="0">
                                  <a:latin typeface="Cambria Math" panose="02040503050406030204" pitchFamily="18" charset="0"/>
                                </a:rPr>
                                <m:t>𝑥</m:t>
                              </m:r>
                              <m:r>
                                <a:rPr lang="en-GB" b="0" i="1" smtClean="0">
                                  <a:latin typeface="Cambria Math" panose="02040503050406030204" pitchFamily="18" charset="0"/>
                                </a:rPr>
                                <m:t>−4</m:t>
                              </m:r>
                            </m:e>
                          </m:d>
                        </m:e>
                        <m:sup>
                          <m:r>
                            <a:rPr lang="en-GB" b="0" i="1" smtClean="0">
                              <a:latin typeface="Cambria Math" panose="02040503050406030204" pitchFamily="18" charset="0"/>
                            </a:rPr>
                            <m:t>3</m:t>
                          </m:r>
                        </m:sup>
                      </m:sSup>
                    </m:oMath>
                  </m:oMathPara>
                </a14:m>
                <a:endParaRPr lang="en-GB"/>
              </a:p>
            </p:txBody>
          </p:sp>
        </mc:Choice>
        <mc:Fallback>
          <p:sp>
            <p:nvSpPr>
              <p:cNvPr id="26" name="TextBox 25"/>
              <p:cNvSpPr txBox="1">
                <a:spLocks noRot="1" noChangeAspect="1" noMove="1" noResize="1" noEditPoints="1" noAdjustHandles="1" noChangeArrowheads="1" noChangeShapeType="1" noTextEdit="1"/>
              </p:cNvSpPr>
              <p:nvPr/>
            </p:nvSpPr>
            <p:spPr>
              <a:xfrm>
                <a:off x="4427984" y="836071"/>
                <a:ext cx="3672408" cy="646331"/>
              </a:xfrm>
              <a:prstGeom prst="rect">
                <a:avLst/>
              </a:prstGeom>
              <a:blipFill>
                <a:blip r:embed="rId7"/>
                <a:stretch>
                  <a:fillRect/>
                </a:stretch>
              </a:blipFill>
              <a:effectLst>
                <a:outerShdw blurRad="63500" sx="102000" sy="102000" algn="ctr" rotWithShape="0">
                  <a:prstClr val="black">
                    <a:alpha val="40000"/>
                  </a:prstClr>
                </a:outerShdw>
              </a:effectLst>
            </p:spPr>
            <p:txBody>
              <a:bodyPr/>
              <a:lstStyle/>
              <a:p>
                <a:r>
                  <a:rPr lang="en-US">
                    <a:noFill/>
                  </a:rPr>
                  <a:t> </a:t>
                </a:r>
              </a:p>
            </p:txBody>
          </p:sp>
        </mc:Fallback>
      </mc:AlternateContent>
      <p:sp>
        <p:nvSpPr>
          <p:cNvPr id="27" name="TextBox 26"/>
          <p:cNvSpPr txBox="1"/>
          <p:nvPr/>
        </p:nvSpPr>
        <p:spPr>
          <a:xfrm>
            <a:off x="4736292" y="1755148"/>
            <a:ext cx="964629" cy="338554"/>
          </a:xfrm>
          <a:prstGeom prst="rect">
            <a:avLst/>
          </a:prstGeom>
          <a:noFill/>
        </p:spPr>
        <p:txBody>
          <a:bodyPr wrap="square" rtlCol="0">
            <a:spAutoFit/>
          </a:bodyPr>
          <a:lstStyle/>
          <a:p>
            <a:r>
              <a:rPr lang="en-GB" sz="1600" b="1"/>
              <a:t>Shape?</a:t>
            </a:r>
          </a:p>
        </p:txBody>
      </p:sp>
      <p:sp>
        <p:nvSpPr>
          <p:cNvPr id="28" name="TextBox 27"/>
          <p:cNvSpPr txBox="1"/>
          <p:nvPr/>
        </p:nvSpPr>
        <p:spPr>
          <a:xfrm>
            <a:off x="4753634" y="2179874"/>
            <a:ext cx="964629" cy="338554"/>
          </a:xfrm>
          <a:prstGeom prst="rect">
            <a:avLst/>
          </a:prstGeom>
          <a:noFill/>
        </p:spPr>
        <p:txBody>
          <a:bodyPr wrap="square" rtlCol="0">
            <a:spAutoFit/>
          </a:bodyPr>
          <a:lstStyle/>
          <a:p>
            <a:r>
              <a:rPr lang="en-GB" sz="1600" b="1"/>
              <a:t>Roots?</a:t>
            </a:r>
          </a:p>
        </p:txBody>
      </p:sp>
      <mc:AlternateContent xmlns:mc="http://schemas.openxmlformats.org/markup-compatibility/2006">
        <mc:Choice xmlns:a14="http://schemas.microsoft.com/office/drawing/2010/main" Requires="a14">
          <p:sp>
            <p:nvSpPr>
              <p:cNvPr id="29" name="TextBox 28"/>
              <p:cNvSpPr txBox="1"/>
              <p:nvPr/>
            </p:nvSpPr>
            <p:spPr>
              <a:xfrm>
                <a:off x="4463313" y="3253560"/>
                <a:ext cx="1222744" cy="338554"/>
              </a:xfrm>
              <a:prstGeom prst="rect">
                <a:avLst/>
              </a:prstGeom>
              <a:noFill/>
            </p:spPr>
            <p:txBody>
              <a:bodyPr wrap="square" rtlCol="0">
                <a:spAutoFit/>
              </a:bodyPr>
              <a:lstStyle/>
              <a:p>
                <a14:m>
                  <m:oMath xmlns:m="http://schemas.openxmlformats.org/officeDocument/2006/math">
                    <m:r>
                      <a:rPr lang="en-GB" sz="1600" b="1" i="1" smtClean="0">
                        <a:latin typeface="Cambria Math" panose="02040503050406030204" pitchFamily="18" charset="0"/>
                      </a:rPr>
                      <m:t>𝒚</m:t>
                    </m:r>
                  </m:oMath>
                </a14:m>
                <a:r>
                  <a:rPr lang="en-GB" sz="1600" b="1"/>
                  <a:t>-intercept?</a:t>
                </a:r>
              </a:p>
            </p:txBody>
          </p:sp>
        </mc:Choice>
        <mc:Fallback>
          <p:sp>
            <p:nvSpPr>
              <p:cNvPr id="29" name="TextBox 28"/>
              <p:cNvSpPr txBox="1">
                <a:spLocks noRot="1" noChangeAspect="1" noMove="1" noResize="1" noEditPoints="1" noAdjustHandles="1" noChangeArrowheads="1" noChangeShapeType="1" noTextEdit="1"/>
              </p:cNvSpPr>
              <p:nvPr/>
            </p:nvSpPr>
            <p:spPr>
              <a:xfrm>
                <a:off x="4463313" y="3253560"/>
                <a:ext cx="1222744" cy="338554"/>
              </a:xfrm>
              <a:prstGeom prst="rect">
                <a:avLst/>
              </a:prstGeom>
              <a:blipFill>
                <a:blip r:embed="rId8"/>
                <a:stretch>
                  <a:fillRect t="-7407" r="-3093" b="-22222"/>
                </a:stretch>
              </a:blipFill>
            </p:spPr>
            <p:txBody>
              <a:bodyPr/>
              <a:lstStyle/>
              <a:p>
                <a:r>
                  <a:rPr lang="en-US">
                    <a:noFill/>
                  </a:rPr>
                  <a:t> </a:t>
                </a:r>
              </a:p>
            </p:txBody>
          </p:sp>
        </mc:Fallback>
      </mc:AlternateContent>
      <p:sp>
        <p:nvSpPr>
          <p:cNvPr id="30" name="TextBox 29"/>
          <p:cNvSpPr txBox="1"/>
          <p:nvPr/>
        </p:nvSpPr>
        <p:spPr>
          <a:xfrm>
            <a:off x="5674721" y="1722491"/>
            <a:ext cx="2243623" cy="369332"/>
          </a:xfrm>
          <a:prstGeom prst="rect">
            <a:avLst/>
          </a:prstGeom>
          <a:noFill/>
        </p:spPr>
        <p:txBody>
          <a:bodyPr wrap="square" rtlCol="0">
            <a:spAutoFit/>
          </a:bodyPr>
          <a:lstStyle/>
          <a:p>
            <a:r>
              <a:rPr lang="en-GB"/>
              <a:t>Uphill.</a:t>
            </a:r>
          </a:p>
        </p:txBody>
      </p:sp>
      <mc:AlternateContent xmlns:mc="http://schemas.openxmlformats.org/markup-compatibility/2006">
        <mc:Choice xmlns:a14="http://schemas.microsoft.com/office/drawing/2010/main" Requires="a14">
          <p:sp>
            <p:nvSpPr>
              <p:cNvPr id="31" name="TextBox 30"/>
              <p:cNvSpPr txBox="1"/>
              <p:nvPr/>
            </p:nvSpPr>
            <p:spPr>
              <a:xfrm>
                <a:off x="5674720" y="2134182"/>
                <a:ext cx="2448762" cy="1077218"/>
              </a:xfrm>
              <a:prstGeom prst="rect">
                <a:avLst/>
              </a:prstGeom>
              <a:noFill/>
            </p:spPr>
            <p:txBody>
              <a:bodyPr wrap="square" rtlCol="0">
                <a:spAutoFit/>
              </a:bodyPr>
              <a:lstStyle/>
              <a:p>
                <a:pPr/>
                <a14:m>
                  <m:oMathPara xmlns:m="http://schemas.openxmlformats.org/officeDocument/2006/math">
                    <m:oMathParaPr>
                      <m:jc m:val="left"/>
                    </m:oMathParaPr>
                    <m:oMath>
                      <m:r>
                        <a:rPr lang="en-GB" sz="1600" b="0" i="1" smtClean="0">
                          <a:latin typeface="Cambria Math" panose="02040503050406030204" pitchFamily="18" charset="0"/>
                        </a:rPr>
                        <m:t>𝑥</m:t>
                      </m:r>
                      <m:r>
                        <a:rPr lang="en-GB" sz="1600" b="0" i="1" smtClean="0">
                          <a:latin typeface="Cambria Math" panose="02040503050406030204" pitchFamily="18" charset="0"/>
                        </a:rPr>
                        <m:t>=4</m:t>
                      </m:r>
                    </m:oMath>
                  </m:oMathPara>
                </a14:m>
                <a:endParaRPr lang="en-GB" sz="1600"/>
              </a:p>
              <a:p>
                <a:r>
                  <a:rPr lang="en-GB" sz="1600"/>
                  <a:t>But root is triple repeated.</a:t>
                </a:r>
              </a:p>
              <a:p>
                <a:r>
                  <a:rPr lang="en-GB" sz="1600"/>
                  <a:t>We have a </a:t>
                </a:r>
                <a:r>
                  <a:rPr lang="en-GB" sz="1600" b="1"/>
                  <a:t>point of inflection</a:t>
                </a:r>
                <a:r>
                  <a:rPr lang="en-GB" sz="1600"/>
                  <a:t> at </a:t>
                </a:r>
                <a14:m>
                  <m:oMath xmlns:m="http://schemas.openxmlformats.org/officeDocument/2006/math">
                    <m:r>
                      <a:rPr lang="en-GB" sz="1600" b="0" i="1" smtClean="0">
                        <a:latin typeface="Cambria Math" panose="02040503050406030204" pitchFamily="18" charset="0"/>
                      </a:rPr>
                      <m:t>𝑥</m:t>
                    </m:r>
                    <m:r>
                      <a:rPr lang="en-GB" sz="1600" b="0" i="1" smtClean="0">
                        <a:latin typeface="Cambria Math" panose="02040503050406030204" pitchFamily="18" charset="0"/>
                      </a:rPr>
                      <m:t>=4</m:t>
                    </m:r>
                  </m:oMath>
                </a14:m>
                <a:r>
                  <a:rPr lang="en-GB" sz="1600"/>
                  <a:t>.</a:t>
                </a:r>
              </a:p>
            </p:txBody>
          </p:sp>
        </mc:Choice>
        <mc:Fallback>
          <p:sp>
            <p:nvSpPr>
              <p:cNvPr id="31" name="TextBox 30"/>
              <p:cNvSpPr txBox="1">
                <a:spLocks noRot="1" noChangeAspect="1" noMove="1" noResize="1" noEditPoints="1" noAdjustHandles="1" noChangeArrowheads="1" noChangeShapeType="1" noTextEdit="1"/>
              </p:cNvSpPr>
              <p:nvPr/>
            </p:nvSpPr>
            <p:spPr>
              <a:xfrm>
                <a:off x="5674720" y="2134182"/>
                <a:ext cx="2448762" cy="1077218"/>
              </a:xfrm>
              <a:prstGeom prst="rect">
                <a:avLst/>
              </a:prstGeom>
              <a:blipFill>
                <a:blip r:embed="rId9"/>
                <a:stretch>
                  <a:fillRect l="-1031" b="-7059"/>
                </a:stretch>
              </a:blipFill>
            </p:spPr>
            <p:txBody>
              <a:bodyPr/>
              <a:lstStyle/>
              <a:p>
                <a:r>
                  <a:rPr lang="en-US">
                    <a:noFill/>
                  </a:rPr>
                  <a:t> </a:t>
                </a:r>
              </a:p>
            </p:txBody>
          </p:sp>
        </mc:Fallback>
      </mc:AlternateContent>
      <p:sp>
        <p:nvSpPr>
          <p:cNvPr id="32" name="TextBox 31"/>
          <p:cNvSpPr txBox="1"/>
          <p:nvPr/>
        </p:nvSpPr>
        <p:spPr>
          <a:xfrm>
            <a:off x="5740034" y="3249448"/>
            <a:ext cx="2448762" cy="338554"/>
          </a:xfrm>
          <a:prstGeom prst="rect">
            <a:avLst/>
          </a:prstGeom>
          <a:noFill/>
        </p:spPr>
        <p:txBody>
          <a:bodyPr wrap="square" rtlCol="0">
            <a:spAutoFit/>
          </a:bodyPr>
          <a:lstStyle/>
          <a:p>
            <a:r>
              <a:rPr lang="en-GB" sz="1600"/>
              <a:t>-64</a:t>
            </a:r>
          </a:p>
        </p:txBody>
      </p:sp>
      <p:sp>
        <p:nvSpPr>
          <p:cNvPr id="33" name="Rectangle 32"/>
          <p:cNvSpPr/>
          <p:nvPr/>
        </p:nvSpPr>
        <p:spPr>
          <a:xfrm>
            <a:off x="5717118" y="1745346"/>
            <a:ext cx="2347631" cy="356192"/>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34" name="Rectangle 33"/>
          <p:cNvSpPr/>
          <p:nvPr/>
        </p:nvSpPr>
        <p:spPr>
          <a:xfrm>
            <a:off x="5734190" y="2203558"/>
            <a:ext cx="2369993" cy="932611"/>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35" name="Rectangle 34"/>
          <p:cNvSpPr/>
          <p:nvPr/>
        </p:nvSpPr>
        <p:spPr>
          <a:xfrm>
            <a:off x="5729053" y="3266523"/>
            <a:ext cx="2371138" cy="377717"/>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cxnSp>
        <p:nvCxnSpPr>
          <p:cNvPr id="36" name="Straight Arrow Connector 35"/>
          <p:cNvCxnSpPr/>
          <p:nvPr/>
        </p:nvCxnSpPr>
        <p:spPr>
          <a:xfrm flipV="1">
            <a:off x="4131548" y="5240188"/>
            <a:ext cx="1971822" cy="147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7" name="Straight Arrow Connector 36"/>
          <p:cNvCxnSpPr/>
          <p:nvPr/>
        </p:nvCxnSpPr>
        <p:spPr>
          <a:xfrm flipV="1">
            <a:off x="4843626" y="4213583"/>
            <a:ext cx="0" cy="187220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8" name="TextBox 37"/>
          <p:cNvSpPr txBox="1"/>
          <p:nvPr/>
        </p:nvSpPr>
        <p:spPr>
          <a:xfrm>
            <a:off x="4377108" y="5652791"/>
            <a:ext cx="514705" cy="369332"/>
          </a:xfrm>
          <a:prstGeom prst="rect">
            <a:avLst/>
          </a:prstGeom>
          <a:noFill/>
        </p:spPr>
        <p:txBody>
          <a:bodyPr wrap="square" rtlCol="0">
            <a:spAutoFit/>
          </a:bodyPr>
          <a:lstStyle/>
          <a:p>
            <a:r>
              <a:rPr lang="en-GB"/>
              <a:t>-64</a:t>
            </a:r>
          </a:p>
        </p:txBody>
      </p:sp>
      <p:sp>
        <p:nvSpPr>
          <p:cNvPr id="39" name="TextBox 38"/>
          <p:cNvSpPr txBox="1"/>
          <p:nvPr/>
        </p:nvSpPr>
        <p:spPr>
          <a:xfrm>
            <a:off x="5247410" y="5173819"/>
            <a:ext cx="415472" cy="369332"/>
          </a:xfrm>
          <a:prstGeom prst="rect">
            <a:avLst/>
          </a:prstGeom>
          <a:noFill/>
        </p:spPr>
        <p:txBody>
          <a:bodyPr wrap="square" rtlCol="0">
            <a:spAutoFit/>
          </a:bodyPr>
          <a:lstStyle/>
          <a:p>
            <a:r>
              <a:rPr lang="en-GB"/>
              <a:t>4</a:t>
            </a:r>
          </a:p>
        </p:txBody>
      </p:sp>
      <mc:AlternateContent xmlns:mc="http://schemas.openxmlformats.org/markup-compatibility/2006">
        <mc:Choice xmlns:a14="http://schemas.microsoft.com/office/drawing/2010/main" Requires="a14">
          <p:sp>
            <p:nvSpPr>
              <p:cNvPr id="42" name="TextBox 41"/>
              <p:cNvSpPr txBox="1"/>
              <p:nvPr/>
            </p:nvSpPr>
            <p:spPr>
              <a:xfrm>
                <a:off x="4635890" y="3962957"/>
                <a:ext cx="415472" cy="276999"/>
              </a:xfrm>
              <a:prstGeom prst="rect">
                <a:avLst/>
              </a:prstGeom>
              <a:noFill/>
            </p:spPr>
            <p:txBody>
              <a:bodyPr wrap="square" rtlCol="0">
                <a:spAutoFit/>
              </a:bodyPr>
              <a:lstStyle/>
              <a:p>
                <a:pPr/>
                <a14:m>
                  <m:oMathPara xmlns:m="http://schemas.openxmlformats.org/officeDocument/2006/math">
                    <m:oMath>
                      <m:r>
                        <a:rPr lang="en-GB" sz="1200" b="0" i="1" smtClean="0">
                          <a:latin typeface="Cambria Math" panose="02040503050406030204" pitchFamily="18" charset="0"/>
                        </a:rPr>
                        <m:t>𝑦</m:t>
                      </m:r>
                    </m:oMath>
                  </m:oMathPara>
                </a14:m>
                <a:endParaRPr lang="en-GB"/>
              </a:p>
            </p:txBody>
          </p:sp>
        </mc:Choice>
        <mc:Fallback>
          <p:sp>
            <p:nvSpPr>
              <p:cNvPr id="42" name="TextBox 41"/>
              <p:cNvSpPr txBox="1">
                <a:spLocks noRot="1" noChangeAspect="1" noMove="1" noResize="1" noEditPoints="1" noAdjustHandles="1" noChangeArrowheads="1" noChangeShapeType="1" noTextEdit="1"/>
              </p:cNvSpPr>
              <p:nvPr/>
            </p:nvSpPr>
            <p:spPr>
              <a:xfrm>
                <a:off x="4635890" y="3962957"/>
                <a:ext cx="415472" cy="276999"/>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3" name="TextBox 42"/>
              <p:cNvSpPr txBox="1"/>
              <p:nvPr/>
            </p:nvSpPr>
            <p:spPr>
              <a:xfrm>
                <a:off x="5980445" y="5097993"/>
                <a:ext cx="415472" cy="276999"/>
              </a:xfrm>
              <a:prstGeom prst="rect">
                <a:avLst/>
              </a:prstGeom>
              <a:noFill/>
            </p:spPr>
            <p:txBody>
              <a:bodyPr wrap="square" rtlCol="0">
                <a:spAutoFit/>
              </a:bodyPr>
              <a:lstStyle/>
              <a:p>
                <a:pPr/>
                <a14:m>
                  <m:oMathPara xmlns:m="http://schemas.openxmlformats.org/officeDocument/2006/math">
                    <m:oMath>
                      <m:r>
                        <a:rPr lang="en-GB" sz="1200" b="0" i="1" smtClean="0">
                          <a:latin typeface="Cambria Math" panose="02040503050406030204" pitchFamily="18" charset="0"/>
                        </a:rPr>
                        <m:t>𝑥</m:t>
                      </m:r>
                    </m:oMath>
                  </m:oMathPara>
                </a14:m>
                <a:endParaRPr lang="en-GB"/>
              </a:p>
            </p:txBody>
          </p:sp>
        </mc:Choice>
        <mc:Fallback>
          <p:sp>
            <p:nvSpPr>
              <p:cNvPr id="43" name="TextBox 42"/>
              <p:cNvSpPr txBox="1">
                <a:spLocks noRot="1" noChangeAspect="1" noMove="1" noResize="1" noEditPoints="1" noAdjustHandles="1" noChangeArrowheads="1" noChangeShapeType="1" noTextEdit="1"/>
              </p:cNvSpPr>
              <p:nvPr/>
            </p:nvSpPr>
            <p:spPr>
              <a:xfrm>
                <a:off x="5980445" y="5097993"/>
                <a:ext cx="415472" cy="276999"/>
              </a:xfrm>
              <a:prstGeom prst="rect">
                <a:avLst/>
              </a:prstGeom>
              <a:blipFill>
                <a:blip r:embed="rId11"/>
                <a:stretch>
                  <a:fillRect/>
                </a:stretch>
              </a:blipFill>
            </p:spPr>
            <p:txBody>
              <a:bodyPr/>
              <a:lstStyle/>
              <a:p>
                <a:r>
                  <a:rPr lang="en-US">
                    <a:noFill/>
                  </a:rPr>
                  <a:t> </a:t>
                </a:r>
              </a:p>
            </p:txBody>
          </p:sp>
        </mc:Fallback>
      </mc:AlternateContent>
      <p:sp>
        <p:nvSpPr>
          <p:cNvPr id="45" name="Freeform: Shape 44"/>
          <p:cNvSpPr/>
          <p:nvPr/>
        </p:nvSpPr>
        <p:spPr>
          <a:xfrm>
            <a:off x="4702403" y="4249247"/>
            <a:ext cx="1223554" cy="1959428"/>
          </a:xfrm>
          <a:custGeom>
            <a:avLst/>
            <a:gdLst>
              <a:gd name="connsiteX0" fmla="*/ 0 w 1284514"/>
              <a:gd name="connsiteY0" fmla="*/ 1883228 h 1883228"/>
              <a:gd name="connsiteX1" fmla="*/ 206828 w 1284514"/>
              <a:gd name="connsiteY1" fmla="*/ 1534885 h 1883228"/>
              <a:gd name="connsiteX2" fmla="*/ 533400 w 1284514"/>
              <a:gd name="connsiteY2" fmla="*/ 1055914 h 1883228"/>
              <a:gd name="connsiteX3" fmla="*/ 762000 w 1284514"/>
              <a:gd name="connsiteY3" fmla="*/ 979714 h 1883228"/>
              <a:gd name="connsiteX4" fmla="*/ 881743 w 1284514"/>
              <a:gd name="connsiteY4" fmla="*/ 979714 h 1883228"/>
              <a:gd name="connsiteX5" fmla="*/ 1023257 w 1284514"/>
              <a:gd name="connsiteY5" fmla="*/ 859971 h 1883228"/>
              <a:gd name="connsiteX6" fmla="*/ 1164771 w 1284514"/>
              <a:gd name="connsiteY6" fmla="*/ 620485 h 1883228"/>
              <a:gd name="connsiteX7" fmla="*/ 1284514 w 1284514"/>
              <a:gd name="connsiteY7" fmla="*/ 0 h 1883228"/>
              <a:gd name="connsiteX0" fmla="*/ 0 w 1284514"/>
              <a:gd name="connsiteY0" fmla="*/ 1883228 h 1883228"/>
              <a:gd name="connsiteX1" fmla="*/ 206828 w 1284514"/>
              <a:gd name="connsiteY1" fmla="*/ 1534885 h 1883228"/>
              <a:gd name="connsiteX2" fmla="*/ 533400 w 1284514"/>
              <a:gd name="connsiteY2" fmla="*/ 1055914 h 1883228"/>
              <a:gd name="connsiteX3" fmla="*/ 762000 w 1284514"/>
              <a:gd name="connsiteY3" fmla="*/ 979714 h 1883228"/>
              <a:gd name="connsiteX4" fmla="*/ 910318 w 1284514"/>
              <a:gd name="connsiteY4" fmla="*/ 944789 h 1883228"/>
              <a:gd name="connsiteX5" fmla="*/ 1023257 w 1284514"/>
              <a:gd name="connsiteY5" fmla="*/ 859971 h 1883228"/>
              <a:gd name="connsiteX6" fmla="*/ 1164771 w 1284514"/>
              <a:gd name="connsiteY6" fmla="*/ 620485 h 1883228"/>
              <a:gd name="connsiteX7" fmla="*/ 1284514 w 1284514"/>
              <a:gd name="connsiteY7" fmla="*/ 0 h 1883228"/>
              <a:gd name="connsiteX0" fmla="*/ 0 w 1284514"/>
              <a:gd name="connsiteY0" fmla="*/ 1883228 h 1883228"/>
              <a:gd name="connsiteX1" fmla="*/ 206828 w 1284514"/>
              <a:gd name="connsiteY1" fmla="*/ 1534885 h 1883228"/>
              <a:gd name="connsiteX2" fmla="*/ 533400 w 1284514"/>
              <a:gd name="connsiteY2" fmla="*/ 1055914 h 1883228"/>
              <a:gd name="connsiteX3" fmla="*/ 762000 w 1284514"/>
              <a:gd name="connsiteY3" fmla="*/ 979714 h 1883228"/>
              <a:gd name="connsiteX4" fmla="*/ 910318 w 1284514"/>
              <a:gd name="connsiteY4" fmla="*/ 944789 h 1883228"/>
              <a:gd name="connsiteX5" fmla="*/ 1023257 w 1284514"/>
              <a:gd name="connsiteY5" fmla="*/ 859971 h 1883228"/>
              <a:gd name="connsiteX6" fmla="*/ 1164771 w 1284514"/>
              <a:gd name="connsiteY6" fmla="*/ 620485 h 1883228"/>
              <a:gd name="connsiteX7" fmla="*/ 1284514 w 1284514"/>
              <a:gd name="connsiteY7" fmla="*/ 0 h 1883228"/>
              <a:gd name="connsiteX0" fmla="*/ 0 w 1284514"/>
              <a:gd name="connsiteY0" fmla="*/ 1883228 h 1883228"/>
              <a:gd name="connsiteX1" fmla="*/ 206828 w 1284514"/>
              <a:gd name="connsiteY1" fmla="*/ 1534885 h 1883228"/>
              <a:gd name="connsiteX2" fmla="*/ 533400 w 1284514"/>
              <a:gd name="connsiteY2" fmla="*/ 1055914 h 1883228"/>
              <a:gd name="connsiteX3" fmla="*/ 762000 w 1284514"/>
              <a:gd name="connsiteY3" fmla="*/ 979714 h 1883228"/>
              <a:gd name="connsiteX4" fmla="*/ 910318 w 1284514"/>
              <a:gd name="connsiteY4" fmla="*/ 944789 h 1883228"/>
              <a:gd name="connsiteX5" fmla="*/ 1023257 w 1284514"/>
              <a:gd name="connsiteY5" fmla="*/ 859971 h 1883228"/>
              <a:gd name="connsiteX6" fmla="*/ 1164771 w 1284514"/>
              <a:gd name="connsiteY6" fmla="*/ 620485 h 1883228"/>
              <a:gd name="connsiteX7" fmla="*/ 1284514 w 1284514"/>
              <a:gd name="connsiteY7" fmla="*/ 0 h 1883228"/>
              <a:gd name="connsiteX0" fmla="*/ 0 w 1284514"/>
              <a:gd name="connsiteY0" fmla="*/ 1883228 h 1883228"/>
              <a:gd name="connsiteX1" fmla="*/ 206828 w 1284514"/>
              <a:gd name="connsiteY1" fmla="*/ 1534885 h 1883228"/>
              <a:gd name="connsiteX2" fmla="*/ 533400 w 1284514"/>
              <a:gd name="connsiteY2" fmla="*/ 1055914 h 1883228"/>
              <a:gd name="connsiteX3" fmla="*/ 762000 w 1284514"/>
              <a:gd name="connsiteY3" fmla="*/ 979714 h 1883228"/>
              <a:gd name="connsiteX4" fmla="*/ 1023257 w 1284514"/>
              <a:gd name="connsiteY4" fmla="*/ 859971 h 1883228"/>
              <a:gd name="connsiteX5" fmla="*/ 1164771 w 1284514"/>
              <a:gd name="connsiteY5" fmla="*/ 620485 h 1883228"/>
              <a:gd name="connsiteX6" fmla="*/ 1284514 w 1284514"/>
              <a:gd name="connsiteY6" fmla="*/ 0 h 1883228"/>
              <a:gd name="connsiteX0" fmla="*/ 0 w 1284514"/>
              <a:gd name="connsiteY0" fmla="*/ 1883228 h 1883228"/>
              <a:gd name="connsiteX1" fmla="*/ 206828 w 1284514"/>
              <a:gd name="connsiteY1" fmla="*/ 1534885 h 1883228"/>
              <a:gd name="connsiteX2" fmla="*/ 533400 w 1284514"/>
              <a:gd name="connsiteY2" fmla="*/ 1055914 h 1883228"/>
              <a:gd name="connsiteX3" fmla="*/ 762000 w 1284514"/>
              <a:gd name="connsiteY3" fmla="*/ 979714 h 1883228"/>
              <a:gd name="connsiteX4" fmla="*/ 1023257 w 1284514"/>
              <a:gd name="connsiteY4" fmla="*/ 859971 h 1883228"/>
              <a:gd name="connsiteX5" fmla="*/ 1164771 w 1284514"/>
              <a:gd name="connsiteY5" fmla="*/ 620485 h 1883228"/>
              <a:gd name="connsiteX6" fmla="*/ 1284514 w 1284514"/>
              <a:gd name="connsiteY6" fmla="*/ 0 h 1883228"/>
              <a:gd name="connsiteX0" fmla="*/ 0 w 1284514"/>
              <a:gd name="connsiteY0" fmla="*/ 1883228 h 1883228"/>
              <a:gd name="connsiteX1" fmla="*/ 206828 w 1284514"/>
              <a:gd name="connsiteY1" fmla="*/ 1534885 h 1883228"/>
              <a:gd name="connsiteX2" fmla="*/ 533400 w 1284514"/>
              <a:gd name="connsiteY2" fmla="*/ 1055914 h 1883228"/>
              <a:gd name="connsiteX3" fmla="*/ 762000 w 1284514"/>
              <a:gd name="connsiteY3" fmla="*/ 979714 h 1883228"/>
              <a:gd name="connsiteX4" fmla="*/ 1023257 w 1284514"/>
              <a:gd name="connsiteY4" fmla="*/ 859971 h 1883228"/>
              <a:gd name="connsiteX5" fmla="*/ 1164771 w 1284514"/>
              <a:gd name="connsiteY5" fmla="*/ 620485 h 1883228"/>
              <a:gd name="connsiteX6" fmla="*/ 1284514 w 1284514"/>
              <a:gd name="connsiteY6" fmla="*/ 0 h 1883228"/>
              <a:gd name="connsiteX0" fmla="*/ 0 w 1223554"/>
              <a:gd name="connsiteY0" fmla="*/ 1959428 h 1959428"/>
              <a:gd name="connsiteX1" fmla="*/ 145868 w 1223554"/>
              <a:gd name="connsiteY1" fmla="*/ 1534885 h 1959428"/>
              <a:gd name="connsiteX2" fmla="*/ 472440 w 1223554"/>
              <a:gd name="connsiteY2" fmla="*/ 1055914 h 1959428"/>
              <a:gd name="connsiteX3" fmla="*/ 701040 w 1223554"/>
              <a:gd name="connsiteY3" fmla="*/ 979714 h 1959428"/>
              <a:gd name="connsiteX4" fmla="*/ 962297 w 1223554"/>
              <a:gd name="connsiteY4" fmla="*/ 859971 h 1959428"/>
              <a:gd name="connsiteX5" fmla="*/ 1103811 w 1223554"/>
              <a:gd name="connsiteY5" fmla="*/ 620485 h 1959428"/>
              <a:gd name="connsiteX6" fmla="*/ 1223554 w 1223554"/>
              <a:gd name="connsiteY6" fmla="*/ 0 h 1959428"/>
              <a:gd name="connsiteX0" fmla="*/ 0 w 1223554"/>
              <a:gd name="connsiteY0" fmla="*/ 1959428 h 1959428"/>
              <a:gd name="connsiteX1" fmla="*/ 145868 w 1223554"/>
              <a:gd name="connsiteY1" fmla="*/ 1534885 h 1959428"/>
              <a:gd name="connsiteX2" fmla="*/ 472440 w 1223554"/>
              <a:gd name="connsiteY2" fmla="*/ 1055914 h 1959428"/>
              <a:gd name="connsiteX3" fmla="*/ 701040 w 1223554"/>
              <a:gd name="connsiteY3" fmla="*/ 979714 h 1959428"/>
              <a:gd name="connsiteX4" fmla="*/ 962297 w 1223554"/>
              <a:gd name="connsiteY4" fmla="*/ 859971 h 1959428"/>
              <a:gd name="connsiteX5" fmla="*/ 1103811 w 1223554"/>
              <a:gd name="connsiteY5" fmla="*/ 620485 h 1959428"/>
              <a:gd name="connsiteX6" fmla="*/ 1223554 w 1223554"/>
              <a:gd name="connsiteY6" fmla="*/ 0 h 1959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3554" h="1959428">
                <a:moveTo>
                  <a:pt x="0" y="1959428"/>
                </a:moveTo>
                <a:cubicBezTo>
                  <a:pt x="36104" y="1861819"/>
                  <a:pt x="67128" y="1685471"/>
                  <a:pt x="145868" y="1534885"/>
                </a:cubicBezTo>
                <a:cubicBezTo>
                  <a:pt x="224608" y="1384299"/>
                  <a:pt x="379911" y="1148442"/>
                  <a:pt x="472440" y="1055914"/>
                </a:cubicBezTo>
                <a:cubicBezTo>
                  <a:pt x="564969" y="963386"/>
                  <a:pt x="613047" y="980621"/>
                  <a:pt x="701040" y="979714"/>
                </a:cubicBezTo>
                <a:cubicBezTo>
                  <a:pt x="789033" y="978807"/>
                  <a:pt x="895169" y="919843"/>
                  <a:pt x="962297" y="859971"/>
                </a:cubicBezTo>
                <a:cubicBezTo>
                  <a:pt x="1004706" y="805920"/>
                  <a:pt x="1060268" y="763813"/>
                  <a:pt x="1103811" y="620485"/>
                </a:cubicBezTo>
                <a:cubicBezTo>
                  <a:pt x="1147354" y="477156"/>
                  <a:pt x="1185454" y="238578"/>
                  <a:pt x="1223554"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mc:Choice xmlns:a14="http://schemas.microsoft.com/office/drawing/2010/main" Requires="a14">
          <p:sp>
            <p:nvSpPr>
              <p:cNvPr id="47" name="TextBox 46"/>
              <p:cNvSpPr txBox="1"/>
              <p:nvPr/>
            </p:nvSpPr>
            <p:spPr>
              <a:xfrm>
                <a:off x="6248400" y="3735623"/>
                <a:ext cx="2832395" cy="3093154"/>
              </a:xfrm>
              <a:prstGeom prst="rect">
                <a:avLst/>
              </a:prstGeom>
              <a:noFill/>
            </p:spPr>
            <p:txBody>
              <a:bodyPr wrap="square" rtlCol="0">
                <a:spAutoFit/>
              </a:bodyPr>
              <a:lstStyle/>
              <a:p>
                <a:r>
                  <a:rPr lang="en-GB" sz="1200" b="1"/>
                  <a:t>Exam Notes</a:t>
                </a:r>
                <a:r>
                  <a:rPr lang="en-GB" sz="1200"/>
                  <a:t>: The term ‘point of inflection’ has been removed from the new A Level syllabus (bad idea!!).</a:t>
                </a:r>
              </a:p>
              <a:p>
                <a:endParaRPr lang="en-GB" sz="700"/>
              </a:p>
              <a:p>
                <a:r>
                  <a:rPr lang="en-GB" sz="1200"/>
                  <a:t>You might be able to see we get this shape at </a:t>
                </a:r>
                <a14:m>
                  <m:oMath xmlns:m="http://schemas.openxmlformats.org/officeDocument/2006/math">
                    <m:r>
                      <a:rPr lang="en-GB" sz="1200" b="0" i="1" smtClean="0">
                        <a:latin typeface="Cambria Math" panose="02040503050406030204" pitchFamily="18" charset="0"/>
                      </a:rPr>
                      <m:t>𝑥</m:t>
                    </m:r>
                    <m:r>
                      <a:rPr lang="en-GB" sz="1200" b="0" i="1" smtClean="0">
                        <a:latin typeface="Cambria Math" panose="02040503050406030204" pitchFamily="18" charset="0"/>
                      </a:rPr>
                      <m:t>=4</m:t>
                    </m:r>
                  </m:oMath>
                </a14:m>
                <a:r>
                  <a:rPr lang="en-GB" sz="1200"/>
                  <a:t> because as the root is triple repeated, the curve crosses at 4, then crosses again, then crosses again, hence ending up in the same direction and the line becoming momentarily horizontal.</a:t>
                </a:r>
              </a:p>
              <a:p>
                <a:endParaRPr lang="en-GB" sz="800"/>
              </a:p>
              <a:p>
                <a:r>
                  <a:rPr lang="en-GB" sz="1200" b="1"/>
                  <a:t>A point of inflection is where the curve goes from ‘convex’ to ‘concave</a:t>
                </a:r>
                <a:r>
                  <a:rPr lang="en-GB" sz="1200"/>
                  <a:t>’ (or vice versa), i.e. curves in one direction before and curves in another direction after. You might have encountered these terms in Physics.</a:t>
                </a:r>
              </a:p>
            </p:txBody>
          </p:sp>
        </mc:Choice>
        <mc:Fallback>
          <p:sp>
            <p:nvSpPr>
              <p:cNvPr id="47" name="TextBox 46"/>
              <p:cNvSpPr txBox="1">
                <a:spLocks noRot="1" noChangeAspect="1" noMove="1" noResize="1" noEditPoints="1" noAdjustHandles="1" noChangeArrowheads="1" noChangeShapeType="1" noTextEdit="1"/>
              </p:cNvSpPr>
              <p:nvPr/>
            </p:nvSpPr>
            <p:spPr>
              <a:xfrm>
                <a:off x="6248400" y="3735623"/>
                <a:ext cx="2832395" cy="3093154"/>
              </a:xfrm>
              <a:prstGeom prst="rect">
                <a:avLst/>
              </a:prstGeom>
              <a:blipFill>
                <a:blip r:embed="rId12"/>
                <a:stretch>
                  <a:fillRect r="-446" b="-820"/>
                </a:stretch>
              </a:blipFill>
            </p:spPr>
            <p:txBody>
              <a:bodyPr/>
              <a:lstStyle/>
              <a:p>
                <a:r>
                  <a:rPr lang="en-US">
                    <a:noFill/>
                  </a:rPr>
                  <a:t> </a:t>
                </a:r>
              </a:p>
            </p:txBody>
          </p:sp>
        </mc:Fallback>
      </mc:AlternateContent>
      <p:sp>
        <p:nvSpPr>
          <p:cNvPr id="44" name="Rectangle 43"/>
          <p:cNvSpPr/>
          <p:nvPr/>
        </p:nvSpPr>
        <p:spPr>
          <a:xfrm>
            <a:off x="4132068" y="3724241"/>
            <a:ext cx="4948727" cy="3045113"/>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 Final sketch</a:t>
            </a:r>
          </a:p>
        </p:txBody>
      </p:sp>
    </p:spTree>
    <p:extLst>
      <p:ext uri="{BB962C8B-B14F-4D97-AF65-F5344CB8AC3E}">
        <p14:creationId xmlns:p14="http://schemas.microsoft.com/office/powerpoint/2010/main" val="2847779210"/>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2"/>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22"/>
                                        </p:tgtEl>
                                      </p:cBhvr>
                                    </p:animEffect>
                                    <p:set>
                                      <p:cBhvr>
                                        <p:cTn id="7" dur="1" fill="hold">
                                          <p:stCondLst>
                                            <p:cond delay="499"/>
                                          </p:stCondLst>
                                        </p:cTn>
                                        <p:tgtEl>
                                          <p:spTgt spid="22"/>
                                        </p:tgtEl>
                                        <p:attrNameLst>
                                          <p:attrName>style.visibility</p:attrName>
                                        </p:attrNameLst>
                                      </p:cBhvr>
                                      <p:to>
                                        <p:strVal val="hidden"/>
                                      </p:to>
                                    </p:set>
                                  </p:childTnLst>
                                </p:cTn>
                              </p:par>
                            </p:childTnLst>
                          </p:cTn>
                        </p:par>
                      </p:childTnLst>
                    </p:cTn>
                  </p:par>
                </p:childTnLst>
              </p:cTn>
              <p:nextCondLst>
                <p:cond evt="onClick" delay="0">
                  <p:tgtEl>
                    <p:spTgt spid="22"/>
                  </p:tgtEl>
                </p:cond>
              </p:nextCondLst>
            </p:seq>
            <p:seq concurrent="1" nextAc="seek">
              <p:cTn id="8" restart="whenNotActive" fill="hold" evtFilter="cancelBubble" nodeType="interactiveSeq">
                <p:stCondLst>
                  <p:cond evt="onClick" delay="0">
                    <p:tgtEl>
                      <p:spTgt spid="23"/>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23"/>
                                        </p:tgtEl>
                                      </p:cBhvr>
                                    </p:animEffect>
                                    <p:set>
                                      <p:cBhvr>
                                        <p:cTn id="13" dur="1" fill="hold">
                                          <p:stCondLst>
                                            <p:cond delay="499"/>
                                          </p:stCondLst>
                                        </p:cTn>
                                        <p:tgtEl>
                                          <p:spTgt spid="23"/>
                                        </p:tgtEl>
                                        <p:attrNameLst>
                                          <p:attrName>style.visibility</p:attrName>
                                        </p:attrNameLst>
                                      </p:cBhvr>
                                      <p:to>
                                        <p:strVal val="hidden"/>
                                      </p:to>
                                    </p:set>
                                  </p:childTnLst>
                                </p:cTn>
                              </p:par>
                            </p:childTnLst>
                          </p:cTn>
                        </p:par>
                      </p:childTnLst>
                    </p:cTn>
                  </p:par>
                </p:childTnLst>
              </p:cTn>
              <p:nextCondLst>
                <p:cond evt="onClick" delay="0">
                  <p:tgtEl>
                    <p:spTgt spid="23"/>
                  </p:tgtEl>
                </p:cond>
              </p:nextCondLst>
            </p:seq>
            <p:seq concurrent="1" nextAc="seek">
              <p:cTn id="14" restart="whenNotActive" fill="hold" evtFilter="cancelBubble" nodeType="interactiveSeq">
                <p:stCondLst>
                  <p:cond evt="onClick" delay="0">
                    <p:tgtEl>
                      <p:spTgt spid="24"/>
                    </p:tgtEl>
                  </p:cond>
                </p:stCondLst>
                <p:endSync evt="end" delay="0">
                  <p:rtn val="all"/>
                </p:endSync>
                <p:childTnLst>
                  <p:par>
                    <p:cTn id="15" fill="hold">
                      <p:stCondLst>
                        <p:cond delay="0"/>
                      </p:stCondLst>
                      <p:childTnLst>
                        <p:par>
                          <p:cTn id="16" fill="hold">
                            <p:stCondLst>
                              <p:cond delay="0"/>
                            </p:stCondLst>
                            <p:childTnLst>
                              <p:par>
                                <p:cTn id="17" presetID="10" presetClass="exit" presetSubtype="0" fill="hold" grpId="0" nodeType="clickEffect">
                                  <p:stCondLst>
                                    <p:cond delay="0"/>
                                  </p:stCondLst>
                                  <p:childTnLst>
                                    <p:animEffect transition="out" filter="fade">
                                      <p:cBhvr>
                                        <p:cTn id="18" dur="500"/>
                                        <p:tgtEl>
                                          <p:spTgt spid="24"/>
                                        </p:tgtEl>
                                      </p:cBhvr>
                                    </p:animEffect>
                                    <p:set>
                                      <p:cBhvr>
                                        <p:cTn id="19" dur="1" fill="hold">
                                          <p:stCondLst>
                                            <p:cond delay="499"/>
                                          </p:stCondLst>
                                        </p:cTn>
                                        <p:tgtEl>
                                          <p:spTgt spid="24"/>
                                        </p:tgtEl>
                                        <p:attrNameLst>
                                          <p:attrName>style.visibility</p:attrName>
                                        </p:attrNameLst>
                                      </p:cBhvr>
                                      <p:to>
                                        <p:strVal val="hidden"/>
                                      </p:to>
                                    </p:set>
                                  </p:childTnLst>
                                </p:cTn>
                              </p:par>
                            </p:childTnLst>
                          </p:cTn>
                        </p:par>
                      </p:childTnLst>
                    </p:cTn>
                  </p:par>
                </p:childTnLst>
              </p:cTn>
              <p:nextCondLst>
                <p:cond evt="onClick" delay="0">
                  <p:tgtEl>
                    <p:spTgt spid="24"/>
                  </p:tgtEl>
                </p:cond>
              </p:nextCondLst>
            </p:seq>
            <p:seq concurrent="1" nextAc="seek">
              <p:cTn id="20" restart="whenNotActive" fill="hold" evtFilter="cancelBubble" nodeType="interactiveSeq">
                <p:stCondLst>
                  <p:cond evt="onClick" delay="0">
                    <p:tgtEl>
                      <p:spTgt spid="25"/>
                    </p:tgtEl>
                  </p:cond>
                </p:stCondLst>
                <p:endSync evt="end" delay="0">
                  <p:rtn val="all"/>
                </p:endSync>
                <p:childTnLst>
                  <p:par>
                    <p:cTn id="21" fill="hold">
                      <p:stCondLst>
                        <p:cond delay="0"/>
                      </p:stCondLst>
                      <p:childTnLst>
                        <p:par>
                          <p:cTn id="22" fill="hold">
                            <p:stCondLst>
                              <p:cond delay="0"/>
                            </p:stCondLst>
                            <p:childTnLst>
                              <p:par>
                                <p:cTn id="23" presetID="10" presetClass="exit" presetSubtype="0" fill="hold" grpId="0" nodeType="clickEffect">
                                  <p:stCondLst>
                                    <p:cond delay="0"/>
                                  </p:stCondLst>
                                  <p:childTnLst>
                                    <p:animEffect transition="out" filter="fade">
                                      <p:cBhvr>
                                        <p:cTn id="24" dur="500"/>
                                        <p:tgtEl>
                                          <p:spTgt spid="25"/>
                                        </p:tgtEl>
                                      </p:cBhvr>
                                    </p:animEffect>
                                    <p:set>
                                      <p:cBhvr>
                                        <p:cTn id="25" dur="1" fill="hold">
                                          <p:stCondLst>
                                            <p:cond delay="499"/>
                                          </p:stCondLst>
                                        </p:cTn>
                                        <p:tgtEl>
                                          <p:spTgt spid="25"/>
                                        </p:tgtEl>
                                        <p:attrNameLst>
                                          <p:attrName>style.visibility</p:attrName>
                                        </p:attrNameLst>
                                      </p:cBhvr>
                                      <p:to>
                                        <p:strVal val="hidden"/>
                                      </p:to>
                                    </p:set>
                                  </p:childTnLst>
                                </p:cTn>
                              </p:par>
                            </p:childTnLst>
                          </p:cTn>
                        </p:par>
                      </p:childTnLst>
                    </p:cTn>
                  </p:par>
                </p:childTnLst>
              </p:cTn>
              <p:nextCondLst>
                <p:cond evt="onClick" delay="0">
                  <p:tgtEl>
                    <p:spTgt spid="25"/>
                  </p:tgtEl>
                </p:cond>
              </p:nextCondLst>
            </p:seq>
            <p:seq concurrent="1" nextAc="seek">
              <p:cTn id="26" restart="whenNotActive" fill="hold" evtFilter="cancelBubble" nodeType="interactiveSeq">
                <p:stCondLst>
                  <p:cond evt="onClick" delay="0">
                    <p:tgtEl>
                      <p:spTgt spid="33"/>
                    </p:tgtEl>
                  </p:cond>
                </p:stCondLst>
                <p:endSync evt="end" delay="0">
                  <p:rtn val="all"/>
                </p:endSync>
                <p:childTnLst>
                  <p:par>
                    <p:cTn id="27" fill="hold">
                      <p:stCondLst>
                        <p:cond delay="0"/>
                      </p:stCondLst>
                      <p:childTnLst>
                        <p:par>
                          <p:cTn id="28" fill="hold">
                            <p:stCondLst>
                              <p:cond delay="0"/>
                            </p:stCondLst>
                            <p:childTnLst>
                              <p:par>
                                <p:cTn id="29" presetID="10" presetClass="exit" presetSubtype="0" fill="hold" grpId="0" nodeType="clickEffect">
                                  <p:stCondLst>
                                    <p:cond delay="0"/>
                                  </p:stCondLst>
                                  <p:childTnLst>
                                    <p:animEffect transition="out" filter="fade">
                                      <p:cBhvr>
                                        <p:cTn id="30" dur="500"/>
                                        <p:tgtEl>
                                          <p:spTgt spid="33"/>
                                        </p:tgtEl>
                                      </p:cBhvr>
                                    </p:animEffect>
                                    <p:set>
                                      <p:cBhvr>
                                        <p:cTn id="31" dur="1" fill="hold">
                                          <p:stCondLst>
                                            <p:cond delay="499"/>
                                          </p:stCondLst>
                                        </p:cTn>
                                        <p:tgtEl>
                                          <p:spTgt spid="33"/>
                                        </p:tgtEl>
                                        <p:attrNameLst>
                                          <p:attrName>style.visibility</p:attrName>
                                        </p:attrNameLst>
                                      </p:cBhvr>
                                      <p:to>
                                        <p:strVal val="hidden"/>
                                      </p:to>
                                    </p:set>
                                  </p:childTnLst>
                                </p:cTn>
                              </p:par>
                            </p:childTnLst>
                          </p:cTn>
                        </p:par>
                      </p:childTnLst>
                    </p:cTn>
                  </p:par>
                </p:childTnLst>
              </p:cTn>
              <p:nextCondLst>
                <p:cond evt="onClick" delay="0">
                  <p:tgtEl>
                    <p:spTgt spid="33"/>
                  </p:tgtEl>
                </p:cond>
              </p:nextCondLst>
            </p:seq>
            <p:seq concurrent="1" nextAc="seek">
              <p:cTn id="32" restart="whenNotActive" fill="hold" evtFilter="cancelBubble" nodeType="interactiveSeq">
                <p:stCondLst>
                  <p:cond evt="onClick" delay="0">
                    <p:tgtEl>
                      <p:spTgt spid="34"/>
                    </p:tgtEl>
                  </p:cond>
                </p:stCondLst>
                <p:endSync evt="end" delay="0">
                  <p:rtn val="all"/>
                </p:endSync>
                <p:childTnLst>
                  <p:par>
                    <p:cTn id="33" fill="hold">
                      <p:stCondLst>
                        <p:cond delay="0"/>
                      </p:stCondLst>
                      <p:childTnLst>
                        <p:par>
                          <p:cTn id="34" fill="hold">
                            <p:stCondLst>
                              <p:cond delay="0"/>
                            </p:stCondLst>
                            <p:childTnLst>
                              <p:par>
                                <p:cTn id="35" presetID="10" presetClass="exit" presetSubtype="0" fill="hold" grpId="0" nodeType="clickEffect">
                                  <p:stCondLst>
                                    <p:cond delay="0"/>
                                  </p:stCondLst>
                                  <p:childTnLst>
                                    <p:animEffect transition="out" filter="fade">
                                      <p:cBhvr>
                                        <p:cTn id="36" dur="500"/>
                                        <p:tgtEl>
                                          <p:spTgt spid="34"/>
                                        </p:tgtEl>
                                      </p:cBhvr>
                                    </p:animEffect>
                                    <p:set>
                                      <p:cBhvr>
                                        <p:cTn id="37" dur="1" fill="hold">
                                          <p:stCondLst>
                                            <p:cond delay="499"/>
                                          </p:stCondLst>
                                        </p:cTn>
                                        <p:tgtEl>
                                          <p:spTgt spid="34"/>
                                        </p:tgtEl>
                                        <p:attrNameLst>
                                          <p:attrName>style.visibility</p:attrName>
                                        </p:attrNameLst>
                                      </p:cBhvr>
                                      <p:to>
                                        <p:strVal val="hidden"/>
                                      </p:to>
                                    </p:set>
                                  </p:childTnLst>
                                </p:cTn>
                              </p:par>
                            </p:childTnLst>
                          </p:cTn>
                        </p:par>
                      </p:childTnLst>
                    </p:cTn>
                  </p:par>
                </p:childTnLst>
              </p:cTn>
              <p:nextCondLst>
                <p:cond evt="onClick" delay="0">
                  <p:tgtEl>
                    <p:spTgt spid="34"/>
                  </p:tgtEl>
                </p:cond>
              </p:nextCondLst>
            </p:seq>
            <p:seq concurrent="1" nextAc="seek">
              <p:cTn id="38" restart="whenNotActive" fill="hold" evtFilter="cancelBubble" nodeType="interactiveSeq">
                <p:stCondLst>
                  <p:cond evt="onClick" delay="0">
                    <p:tgtEl>
                      <p:spTgt spid="35"/>
                    </p:tgtEl>
                  </p:cond>
                </p:stCondLst>
                <p:endSync evt="end" delay="0">
                  <p:rtn val="all"/>
                </p:endSync>
                <p:childTnLst>
                  <p:par>
                    <p:cTn id="39" fill="hold">
                      <p:stCondLst>
                        <p:cond delay="0"/>
                      </p:stCondLst>
                      <p:childTnLst>
                        <p:par>
                          <p:cTn id="40" fill="hold">
                            <p:stCondLst>
                              <p:cond delay="0"/>
                            </p:stCondLst>
                            <p:childTnLst>
                              <p:par>
                                <p:cTn id="41" presetID="10" presetClass="exit" presetSubtype="0" fill="hold" grpId="0" nodeType="clickEffect">
                                  <p:stCondLst>
                                    <p:cond delay="0"/>
                                  </p:stCondLst>
                                  <p:childTnLst>
                                    <p:animEffect transition="out" filter="fade">
                                      <p:cBhvr>
                                        <p:cTn id="42" dur="500"/>
                                        <p:tgtEl>
                                          <p:spTgt spid="35"/>
                                        </p:tgtEl>
                                      </p:cBhvr>
                                    </p:animEffect>
                                    <p:set>
                                      <p:cBhvr>
                                        <p:cTn id="43" dur="1" fill="hold">
                                          <p:stCondLst>
                                            <p:cond delay="499"/>
                                          </p:stCondLst>
                                        </p:cTn>
                                        <p:tgtEl>
                                          <p:spTgt spid="35"/>
                                        </p:tgtEl>
                                        <p:attrNameLst>
                                          <p:attrName>style.visibility</p:attrName>
                                        </p:attrNameLst>
                                      </p:cBhvr>
                                      <p:to>
                                        <p:strVal val="hidden"/>
                                      </p:to>
                                    </p:set>
                                  </p:childTnLst>
                                </p:cTn>
                              </p:par>
                            </p:childTnLst>
                          </p:cTn>
                        </p:par>
                      </p:childTnLst>
                    </p:cTn>
                  </p:par>
                </p:childTnLst>
              </p:cTn>
              <p:nextCondLst>
                <p:cond evt="onClick" delay="0">
                  <p:tgtEl>
                    <p:spTgt spid="35"/>
                  </p:tgtEl>
                </p:cond>
              </p:nextCondLst>
            </p:seq>
            <p:seq concurrent="1" nextAc="seek">
              <p:cTn id="44" restart="whenNotActive" fill="hold" evtFilter="cancelBubble" nodeType="interactiveSeq">
                <p:stCondLst>
                  <p:cond evt="onClick" delay="0">
                    <p:tgtEl>
                      <p:spTgt spid="44"/>
                    </p:tgtEl>
                  </p:cond>
                </p:stCondLst>
                <p:endSync evt="end" delay="0">
                  <p:rtn val="all"/>
                </p:endSync>
                <p:childTnLst>
                  <p:par>
                    <p:cTn id="45" fill="hold">
                      <p:stCondLst>
                        <p:cond delay="0"/>
                      </p:stCondLst>
                      <p:childTnLst>
                        <p:par>
                          <p:cTn id="46" fill="hold">
                            <p:stCondLst>
                              <p:cond delay="0"/>
                            </p:stCondLst>
                            <p:childTnLst>
                              <p:par>
                                <p:cTn id="47" presetID="10" presetClass="exit" presetSubtype="0" fill="hold" grpId="0" nodeType="clickEffect">
                                  <p:stCondLst>
                                    <p:cond delay="0"/>
                                  </p:stCondLst>
                                  <p:childTnLst>
                                    <p:animEffect transition="out" filter="fade">
                                      <p:cBhvr>
                                        <p:cTn id="48" dur="500"/>
                                        <p:tgtEl>
                                          <p:spTgt spid="44"/>
                                        </p:tgtEl>
                                      </p:cBhvr>
                                    </p:animEffect>
                                    <p:set>
                                      <p:cBhvr>
                                        <p:cTn id="49" dur="1" fill="hold">
                                          <p:stCondLst>
                                            <p:cond delay="499"/>
                                          </p:stCondLst>
                                        </p:cTn>
                                        <p:tgtEl>
                                          <p:spTgt spid="44"/>
                                        </p:tgtEl>
                                        <p:attrNameLst>
                                          <p:attrName>style.visibility</p:attrName>
                                        </p:attrNameLst>
                                      </p:cBhvr>
                                      <p:to>
                                        <p:strVal val="hidden"/>
                                      </p:to>
                                    </p:set>
                                  </p:childTnLst>
                                </p:cTn>
                              </p:par>
                            </p:childTnLst>
                          </p:cTn>
                        </p:par>
                      </p:childTnLst>
                    </p:cTn>
                  </p:par>
                </p:childTnLst>
              </p:cTn>
              <p:nextCondLst>
                <p:cond evt="onClick" delay="0">
                  <p:tgtEl>
                    <p:spTgt spid="44"/>
                  </p:tgtEl>
                </p:cond>
              </p:nextCondLst>
            </p:seq>
          </p:childTnLst>
        </p:cTn>
      </p:par>
    </p:tnLst>
    <p:bldLst>
      <p:bldP spid="22" grpId="0" animBg="1"/>
      <p:bldP spid="23" grpId="0" animBg="1"/>
      <p:bldP spid="24" grpId="0" animBg="1"/>
      <p:bldP spid="25" grpId="0" animBg="1"/>
      <p:bldP spid="33" grpId="0" animBg="1"/>
      <p:bldP spid="34" grpId="0" animBg="1"/>
      <p:bldP spid="35" grpId="0" animBg="1"/>
      <p:bldP spid="4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vert="horz" wrap="square" lIns="324000" tIns="45720" rIns="91440" bIns="45720" rtlCol="0" anchor="ctr">
              <a:spAutoFit/>
            </a:bodyPr>
            <a:lstStyle>
              <a:defPPr>
                <a:defRPr lang="en-US"/>
              </a:defPPr>
              <a:lvl1pPr>
                <a:spcBef>
                  <a:spcPct val="0"/>
                </a:spcBef>
                <a:buNone/>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err="1"/>
                <a:t>Cubics</a:t>
              </a:r>
              <a:r>
                <a:rPr lang="en-GB"/>
                <a:t> with Limited Roots</a:t>
              </a:r>
            </a:p>
          </p:txBody>
        </p:sp>
        <p:cxnSp>
          <p:nvCxnSpPr>
            <p:cNvPr id="4" name="Straight Connector 3"/>
            <p:cNvCxnSpPr/>
            <p:nvPr/>
          </p:nvCxnSpPr>
          <p:spPr>
            <a:xfrm>
              <a:off x="218" y="601079"/>
              <a:ext cx="9144000" cy="0"/>
            </a:xfrm>
            <a:prstGeom prst="line">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mc:Choice xmlns:a14="http://schemas.microsoft.com/office/drawing/2010/main" Requires="a14">
          <p:sp>
            <p:nvSpPr>
              <p:cNvPr id="5" name="TextBox 4"/>
              <p:cNvSpPr txBox="1"/>
              <p:nvPr/>
            </p:nvSpPr>
            <p:spPr>
              <a:xfrm>
                <a:off x="611560" y="908720"/>
                <a:ext cx="5400600" cy="646331"/>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a:t>Sketch the curve with equation</a:t>
                </a:r>
              </a:p>
              <a:p>
                <a:pPr/>
                <a14:m>
                  <m:oMathPara xmlns:m="http://schemas.openxmlformats.org/officeDocument/2006/math">
                    <m:oMath>
                      <m:r>
                        <a:rPr lang="en-GB" b="0" i="1" smtClean="0">
                          <a:latin typeface="Cambria Math" panose="02040503050406030204" pitchFamily="18" charset="0"/>
                        </a:rPr>
                        <m:t>𝑦</m:t>
                      </m:r>
                      <m:r>
                        <a:rPr lang="en-GB" b="0" i="1" smtClean="0">
                          <a:latin typeface="Cambria Math" panose="02040503050406030204" pitchFamily="18" charset="0"/>
                        </a:rPr>
                        <m:t>=</m:t>
                      </m:r>
                      <m:d>
                        <m:dPr>
                          <m:ctrlPr>
                            <a:rPr lang="en-GB" b="0" i="1" smtClean="0">
                              <a:latin typeface="Cambria Math" panose="02040503050406030204" pitchFamily="18" charset="0"/>
                            </a:rPr>
                          </m:ctrlPr>
                        </m:dPr>
                        <m:e>
                          <m:r>
                            <a:rPr lang="en-GB" b="0" i="1" smtClean="0">
                              <a:latin typeface="Cambria Math" panose="02040503050406030204" pitchFamily="18" charset="0"/>
                            </a:rPr>
                            <m:t>𝑥</m:t>
                          </m:r>
                          <m:r>
                            <a:rPr lang="en-GB" b="0" i="1" smtClean="0">
                              <a:latin typeface="Cambria Math" panose="02040503050406030204" pitchFamily="18" charset="0"/>
                            </a:rPr>
                            <m:t>+1</m:t>
                          </m:r>
                        </m:e>
                      </m:d>
                      <m:d>
                        <m:dPr>
                          <m:ctrlPr>
                            <a:rPr lang="en-GB" b="0" i="1" smtClean="0">
                              <a:latin typeface="Cambria Math" panose="02040503050406030204" pitchFamily="18" charset="0"/>
                            </a:rPr>
                          </m:ctrlPr>
                        </m:dPr>
                        <m:e>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2</m:t>
                              </m:r>
                            </m:sup>
                          </m:sSup>
                          <m:r>
                            <a:rPr lang="en-GB" b="0" i="1" smtClean="0">
                              <a:latin typeface="Cambria Math" panose="02040503050406030204" pitchFamily="18" charset="0"/>
                            </a:rPr>
                            <m:t>+</m:t>
                          </m:r>
                          <m:r>
                            <a:rPr lang="en-GB" b="0" i="1" smtClean="0">
                              <a:latin typeface="Cambria Math" panose="02040503050406030204" pitchFamily="18" charset="0"/>
                            </a:rPr>
                            <m:t>𝑥</m:t>
                          </m:r>
                          <m:r>
                            <a:rPr lang="en-GB" b="0" i="1" smtClean="0">
                              <a:latin typeface="Cambria Math" panose="02040503050406030204" pitchFamily="18" charset="0"/>
                            </a:rPr>
                            <m:t>+1</m:t>
                          </m:r>
                        </m:e>
                      </m:d>
                    </m:oMath>
                  </m:oMathPara>
                </a14:m>
                <a:endParaRPr lang="en-GB"/>
              </a:p>
            </p:txBody>
          </p:sp>
        </mc:Choice>
        <mc:Fallback>
          <p:sp>
            <p:nvSpPr>
              <p:cNvPr id="5" name="TextBox 4"/>
              <p:cNvSpPr txBox="1">
                <a:spLocks noRot="1" noChangeAspect="1" noMove="1" noResize="1" noEditPoints="1" noAdjustHandles="1" noChangeArrowheads="1" noChangeShapeType="1" noTextEdit="1"/>
              </p:cNvSpPr>
              <p:nvPr/>
            </p:nvSpPr>
            <p:spPr>
              <a:xfrm>
                <a:off x="611560" y="908720"/>
                <a:ext cx="5400600" cy="646331"/>
              </a:xfrm>
              <a:prstGeom prst="rect">
                <a:avLst/>
              </a:prstGeom>
              <a:blipFill>
                <a:blip r:embed="rId2"/>
                <a:stretch>
                  <a:fillRect/>
                </a:stretch>
              </a:blipFill>
              <a:effectLst>
                <a:outerShdw blurRad="63500" sx="102000" sy="102000" algn="ctr" rotWithShape="0">
                  <a:prstClr val="black">
                    <a:alpha val="40000"/>
                  </a:prstClr>
                </a:outerShdw>
              </a:effectLst>
            </p:spPr>
            <p:txBody>
              <a:bodyPr/>
              <a:lstStyle/>
              <a:p>
                <a:r>
                  <a:rPr lang="en-US">
                    <a:noFill/>
                  </a:rPr>
                  <a:t> </a:t>
                </a:r>
              </a:p>
            </p:txBody>
          </p:sp>
        </mc:Fallback>
      </mc:AlternateContent>
      <p:sp>
        <p:nvSpPr>
          <p:cNvPr id="6" name="TextBox 5"/>
          <p:cNvSpPr txBox="1"/>
          <p:nvPr/>
        </p:nvSpPr>
        <p:spPr>
          <a:xfrm>
            <a:off x="349179" y="1695201"/>
            <a:ext cx="964629" cy="338554"/>
          </a:xfrm>
          <a:prstGeom prst="rect">
            <a:avLst/>
          </a:prstGeom>
          <a:noFill/>
        </p:spPr>
        <p:txBody>
          <a:bodyPr wrap="square" rtlCol="0">
            <a:spAutoFit/>
          </a:bodyPr>
          <a:lstStyle/>
          <a:p>
            <a:r>
              <a:rPr lang="en-GB" sz="1600" b="1"/>
              <a:t>Shape?</a:t>
            </a:r>
          </a:p>
        </p:txBody>
      </p:sp>
      <p:sp>
        <p:nvSpPr>
          <p:cNvPr id="7" name="TextBox 6"/>
          <p:cNvSpPr txBox="1"/>
          <p:nvPr/>
        </p:nvSpPr>
        <p:spPr>
          <a:xfrm>
            <a:off x="366521" y="2119927"/>
            <a:ext cx="964629" cy="338554"/>
          </a:xfrm>
          <a:prstGeom prst="rect">
            <a:avLst/>
          </a:prstGeom>
          <a:noFill/>
        </p:spPr>
        <p:txBody>
          <a:bodyPr wrap="square" rtlCol="0">
            <a:spAutoFit/>
          </a:bodyPr>
          <a:lstStyle/>
          <a:p>
            <a:r>
              <a:rPr lang="en-GB" sz="1600" b="1"/>
              <a:t>Roots?</a:t>
            </a:r>
          </a:p>
        </p:txBody>
      </p:sp>
      <mc:AlternateContent xmlns:mc="http://schemas.openxmlformats.org/markup-compatibility/2006">
        <mc:Choice xmlns:a14="http://schemas.microsoft.com/office/drawing/2010/main" Requires="a14">
          <p:sp>
            <p:nvSpPr>
              <p:cNvPr id="8" name="TextBox 7"/>
              <p:cNvSpPr txBox="1"/>
              <p:nvPr/>
            </p:nvSpPr>
            <p:spPr>
              <a:xfrm>
                <a:off x="76200" y="3193613"/>
                <a:ext cx="1222744" cy="338554"/>
              </a:xfrm>
              <a:prstGeom prst="rect">
                <a:avLst/>
              </a:prstGeom>
              <a:noFill/>
            </p:spPr>
            <p:txBody>
              <a:bodyPr wrap="square" rtlCol="0">
                <a:spAutoFit/>
              </a:bodyPr>
              <a:lstStyle/>
              <a:p>
                <a14:m>
                  <m:oMath xmlns:m="http://schemas.openxmlformats.org/officeDocument/2006/math">
                    <m:r>
                      <a:rPr lang="en-GB" sz="1600" b="1" i="1" smtClean="0">
                        <a:latin typeface="Cambria Math" panose="02040503050406030204" pitchFamily="18" charset="0"/>
                      </a:rPr>
                      <m:t>𝒚</m:t>
                    </m:r>
                  </m:oMath>
                </a14:m>
                <a:r>
                  <a:rPr lang="en-GB" sz="1600" b="1"/>
                  <a:t>-intercept?</a:t>
                </a:r>
              </a:p>
            </p:txBody>
          </p:sp>
        </mc:Choice>
        <mc:Fallback>
          <p:sp>
            <p:nvSpPr>
              <p:cNvPr id="8" name="TextBox 7"/>
              <p:cNvSpPr txBox="1">
                <a:spLocks noRot="1" noChangeAspect="1" noMove="1" noResize="1" noEditPoints="1" noAdjustHandles="1" noChangeArrowheads="1" noChangeShapeType="1" noTextEdit="1"/>
              </p:cNvSpPr>
              <p:nvPr/>
            </p:nvSpPr>
            <p:spPr>
              <a:xfrm>
                <a:off x="76200" y="3193613"/>
                <a:ext cx="1222744" cy="338554"/>
              </a:xfrm>
              <a:prstGeom prst="rect">
                <a:avLst/>
              </a:prstGeom>
              <a:blipFill>
                <a:blip r:embed="rId3"/>
                <a:stretch>
                  <a:fillRect t="-3704" r="-2062" b="-22222"/>
                </a:stretch>
              </a:blipFill>
            </p:spPr>
            <p:txBody>
              <a:bodyPr/>
              <a:lstStyle/>
              <a:p>
                <a:r>
                  <a:rPr lang="en-US">
                    <a:noFill/>
                  </a:rPr>
                  <a:t> </a:t>
                </a:r>
              </a:p>
            </p:txBody>
          </p:sp>
        </mc:Fallback>
      </mc:AlternateContent>
      <p:sp>
        <p:nvSpPr>
          <p:cNvPr id="9" name="TextBox 8"/>
          <p:cNvSpPr txBox="1"/>
          <p:nvPr/>
        </p:nvSpPr>
        <p:spPr>
          <a:xfrm>
            <a:off x="1287608" y="1662544"/>
            <a:ext cx="2243623" cy="369332"/>
          </a:xfrm>
          <a:prstGeom prst="rect">
            <a:avLst/>
          </a:prstGeom>
          <a:noFill/>
        </p:spPr>
        <p:txBody>
          <a:bodyPr wrap="square" rtlCol="0">
            <a:spAutoFit/>
          </a:bodyPr>
          <a:lstStyle/>
          <a:p>
            <a:r>
              <a:rPr lang="en-GB"/>
              <a:t>Uphill.</a:t>
            </a:r>
          </a:p>
        </p:txBody>
      </p:sp>
      <mc:AlternateContent xmlns:mc="http://schemas.openxmlformats.org/markup-compatibility/2006">
        <mc:Choice xmlns:a14="http://schemas.microsoft.com/office/drawing/2010/main" Requires="a14">
          <p:sp>
            <p:nvSpPr>
              <p:cNvPr id="10" name="TextBox 9"/>
              <p:cNvSpPr txBox="1"/>
              <p:nvPr/>
            </p:nvSpPr>
            <p:spPr>
              <a:xfrm>
                <a:off x="1287606" y="2074235"/>
                <a:ext cx="4940578" cy="830997"/>
              </a:xfrm>
              <a:prstGeom prst="rect">
                <a:avLst/>
              </a:prstGeom>
              <a:noFill/>
            </p:spPr>
            <p:txBody>
              <a:bodyPr wrap="square" rtlCol="0">
                <a:spAutoFit/>
              </a:bodyPr>
              <a:lstStyle/>
              <a:p>
                <a:r>
                  <a:rPr lang="en-GB" sz="1600"/>
                  <a:t>Either </a:t>
                </a:r>
                <a14:m>
                  <m:oMath xmlns:m="http://schemas.openxmlformats.org/officeDocument/2006/math">
                    <m:r>
                      <a:rPr lang="en-GB" sz="1600" b="0" i="1" smtClean="0">
                        <a:latin typeface="Cambria Math" panose="02040503050406030204" pitchFamily="18" charset="0"/>
                      </a:rPr>
                      <m:t>𝑥</m:t>
                    </m:r>
                    <m:r>
                      <a:rPr lang="en-GB" sz="1600" b="0" i="1" smtClean="0">
                        <a:latin typeface="Cambria Math" panose="02040503050406030204" pitchFamily="18" charset="0"/>
                      </a:rPr>
                      <m:t>+1=0</m:t>
                    </m:r>
                  </m:oMath>
                </a14:m>
                <a:r>
                  <a:rPr lang="en-GB" sz="1600"/>
                  <a:t> (giving root of -1) or </a:t>
                </a:r>
                <a14:m>
                  <m:oMath xmlns:m="http://schemas.openxmlformats.org/officeDocument/2006/math">
                    <m:sSup>
                      <m:sSupPr>
                        <m:ctrlPr>
                          <a:rPr lang="en-GB" sz="1600" b="0" i="1" smtClean="0">
                            <a:latin typeface="Cambria Math" panose="02040503050406030204" pitchFamily="18" charset="0"/>
                          </a:rPr>
                        </m:ctrlPr>
                      </m:sSupPr>
                      <m:e>
                        <m:r>
                          <a:rPr lang="en-GB" sz="1600" b="0" i="1" smtClean="0">
                            <a:latin typeface="Cambria Math" panose="02040503050406030204" pitchFamily="18" charset="0"/>
                          </a:rPr>
                          <m:t>𝑥</m:t>
                        </m:r>
                      </m:e>
                      <m:sup>
                        <m:r>
                          <a:rPr lang="en-GB" sz="1600" b="0" i="1" smtClean="0">
                            <a:latin typeface="Cambria Math" panose="02040503050406030204" pitchFamily="18" charset="0"/>
                          </a:rPr>
                          <m:t>2</m:t>
                        </m:r>
                      </m:sup>
                    </m:sSup>
                    <m:r>
                      <a:rPr lang="en-GB" sz="1600" b="0" i="1" smtClean="0">
                        <a:latin typeface="Cambria Math" panose="02040503050406030204" pitchFamily="18" charset="0"/>
                      </a:rPr>
                      <m:t>+</m:t>
                    </m:r>
                    <m:r>
                      <a:rPr lang="en-GB" sz="1600" b="0" i="1" smtClean="0">
                        <a:latin typeface="Cambria Math" panose="02040503050406030204" pitchFamily="18" charset="0"/>
                      </a:rPr>
                      <m:t>𝑥</m:t>
                    </m:r>
                    <m:r>
                      <a:rPr lang="en-GB" sz="1600" b="0" i="1" smtClean="0">
                        <a:latin typeface="Cambria Math" panose="02040503050406030204" pitchFamily="18" charset="0"/>
                      </a:rPr>
                      <m:t>+1=0</m:t>
                    </m:r>
                  </m:oMath>
                </a14:m>
                <a:r>
                  <a:rPr lang="en-GB" sz="1600"/>
                  <a:t>. </a:t>
                </a:r>
              </a:p>
              <a:p>
                <a:r>
                  <a:rPr lang="en-GB" sz="1600"/>
                  <a:t>This does not have any solutions as the discriminant is -3.</a:t>
                </a:r>
              </a:p>
              <a:p>
                <a:r>
                  <a:rPr lang="en-GB" sz="1600"/>
                  <a:t>Thus -1 is the only root. </a:t>
                </a:r>
              </a:p>
            </p:txBody>
          </p:sp>
        </mc:Choice>
        <mc:Fallback>
          <p:sp>
            <p:nvSpPr>
              <p:cNvPr id="10" name="TextBox 9"/>
              <p:cNvSpPr txBox="1">
                <a:spLocks noRot="1" noChangeAspect="1" noMove="1" noResize="1" noEditPoints="1" noAdjustHandles="1" noChangeArrowheads="1" noChangeShapeType="1" noTextEdit="1"/>
              </p:cNvSpPr>
              <p:nvPr/>
            </p:nvSpPr>
            <p:spPr>
              <a:xfrm>
                <a:off x="1287606" y="2074235"/>
                <a:ext cx="4940578" cy="830997"/>
              </a:xfrm>
              <a:prstGeom prst="rect">
                <a:avLst/>
              </a:prstGeom>
              <a:blipFill>
                <a:blip r:embed="rId4"/>
                <a:stretch>
                  <a:fillRect l="-769" t="-3030" b="-7576"/>
                </a:stretch>
              </a:blipFill>
            </p:spPr>
            <p:txBody>
              <a:bodyPr/>
              <a:lstStyle/>
              <a:p>
                <a:r>
                  <a:rPr lang="en-US">
                    <a:noFill/>
                  </a:rPr>
                  <a:t> </a:t>
                </a:r>
              </a:p>
            </p:txBody>
          </p:sp>
        </mc:Fallback>
      </mc:AlternateContent>
      <p:sp>
        <p:nvSpPr>
          <p:cNvPr id="11" name="TextBox 10"/>
          <p:cNvSpPr txBox="1"/>
          <p:nvPr/>
        </p:nvSpPr>
        <p:spPr>
          <a:xfrm>
            <a:off x="1352921" y="3189501"/>
            <a:ext cx="2448762" cy="338554"/>
          </a:xfrm>
          <a:prstGeom prst="rect">
            <a:avLst/>
          </a:prstGeom>
          <a:noFill/>
        </p:spPr>
        <p:txBody>
          <a:bodyPr wrap="square" rtlCol="0">
            <a:spAutoFit/>
          </a:bodyPr>
          <a:lstStyle/>
          <a:p>
            <a:r>
              <a:rPr lang="en-GB" sz="1600"/>
              <a:t>1</a:t>
            </a:r>
          </a:p>
        </p:txBody>
      </p:sp>
      <p:sp>
        <p:nvSpPr>
          <p:cNvPr id="12" name="Rectangle 11"/>
          <p:cNvSpPr/>
          <p:nvPr/>
        </p:nvSpPr>
        <p:spPr>
          <a:xfrm>
            <a:off x="1286462" y="1681333"/>
            <a:ext cx="2347631" cy="356192"/>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13" name="Rectangle 12"/>
          <p:cNvSpPr/>
          <p:nvPr/>
        </p:nvSpPr>
        <p:spPr>
          <a:xfrm>
            <a:off x="1286462" y="2107873"/>
            <a:ext cx="4941722" cy="932611"/>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14" name="Rectangle 13"/>
          <p:cNvSpPr/>
          <p:nvPr/>
        </p:nvSpPr>
        <p:spPr>
          <a:xfrm>
            <a:off x="1286462" y="3150338"/>
            <a:ext cx="2371138" cy="377717"/>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cxnSp>
        <p:nvCxnSpPr>
          <p:cNvPr id="15" name="Straight Arrow Connector 14"/>
          <p:cNvCxnSpPr/>
          <p:nvPr/>
        </p:nvCxnSpPr>
        <p:spPr>
          <a:xfrm>
            <a:off x="2243317" y="5408094"/>
            <a:ext cx="240944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 name="Straight Arrow Connector 15"/>
          <p:cNvCxnSpPr/>
          <p:nvPr/>
        </p:nvCxnSpPr>
        <p:spPr>
          <a:xfrm flipV="1">
            <a:off x="3405714" y="4394189"/>
            <a:ext cx="0" cy="187220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7" name="TextBox 16"/>
          <p:cNvSpPr txBox="1"/>
          <p:nvPr/>
        </p:nvSpPr>
        <p:spPr>
          <a:xfrm>
            <a:off x="2742621" y="5338097"/>
            <a:ext cx="415472" cy="369332"/>
          </a:xfrm>
          <a:prstGeom prst="rect">
            <a:avLst/>
          </a:prstGeom>
          <a:noFill/>
        </p:spPr>
        <p:txBody>
          <a:bodyPr wrap="square" rtlCol="0">
            <a:spAutoFit/>
          </a:bodyPr>
          <a:lstStyle/>
          <a:p>
            <a:r>
              <a:rPr lang="en-GB"/>
              <a:t>-1</a:t>
            </a:r>
          </a:p>
        </p:txBody>
      </p:sp>
      <p:sp>
        <p:nvSpPr>
          <p:cNvPr id="20" name="TextBox 19"/>
          <p:cNvSpPr txBox="1"/>
          <p:nvPr/>
        </p:nvSpPr>
        <p:spPr>
          <a:xfrm>
            <a:off x="3173593" y="4739430"/>
            <a:ext cx="641279" cy="369332"/>
          </a:xfrm>
          <a:prstGeom prst="rect">
            <a:avLst/>
          </a:prstGeom>
          <a:noFill/>
        </p:spPr>
        <p:txBody>
          <a:bodyPr wrap="square" rtlCol="0">
            <a:spAutoFit/>
          </a:bodyPr>
          <a:lstStyle/>
          <a:p>
            <a:r>
              <a:rPr lang="en-GB"/>
              <a:t>1</a:t>
            </a:r>
          </a:p>
        </p:txBody>
      </p:sp>
      <mc:AlternateContent xmlns:mc="http://schemas.openxmlformats.org/markup-compatibility/2006">
        <mc:Choice xmlns:a14="http://schemas.microsoft.com/office/drawing/2010/main" Requires="a14">
          <p:sp>
            <p:nvSpPr>
              <p:cNvPr id="21" name="TextBox 20"/>
              <p:cNvSpPr txBox="1"/>
              <p:nvPr/>
            </p:nvSpPr>
            <p:spPr>
              <a:xfrm>
                <a:off x="3197978" y="4143563"/>
                <a:ext cx="415472" cy="276999"/>
              </a:xfrm>
              <a:prstGeom prst="rect">
                <a:avLst/>
              </a:prstGeom>
              <a:noFill/>
            </p:spPr>
            <p:txBody>
              <a:bodyPr wrap="square" rtlCol="0">
                <a:spAutoFit/>
              </a:bodyPr>
              <a:lstStyle/>
              <a:p>
                <a:pPr/>
                <a14:m>
                  <m:oMathPara xmlns:m="http://schemas.openxmlformats.org/officeDocument/2006/math">
                    <m:oMath>
                      <m:r>
                        <a:rPr lang="en-GB" sz="1200" b="0" i="1" smtClean="0">
                          <a:latin typeface="Cambria Math" panose="02040503050406030204" pitchFamily="18" charset="0"/>
                        </a:rPr>
                        <m:t>𝑦</m:t>
                      </m:r>
                    </m:oMath>
                  </m:oMathPara>
                </a14:m>
                <a:endParaRPr lang="en-GB"/>
              </a:p>
            </p:txBody>
          </p:sp>
        </mc:Choice>
        <mc:Fallback>
          <p:sp>
            <p:nvSpPr>
              <p:cNvPr id="21" name="TextBox 20"/>
              <p:cNvSpPr txBox="1">
                <a:spLocks noRot="1" noChangeAspect="1" noMove="1" noResize="1" noEditPoints="1" noAdjustHandles="1" noChangeArrowheads="1" noChangeShapeType="1" noTextEdit="1"/>
              </p:cNvSpPr>
              <p:nvPr/>
            </p:nvSpPr>
            <p:spPr>
              <a:xfrm>
                <a:off x="3197978" y="4143563"/>
                <a:ext cx="415472" cy="276999"/>
              </a:xfrm>
              <a:prstGeom prst="rect">
                <a:avLst/>
              </a:prstGeom>
              <a:blipFill>
                <a:blip r:embed="rId5"/>
                <a:stretch>
                  <a:fillRect b="-454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2" name="TextBox 21"/>
              <p:cNvSpPr txBox="1"/>
              <p:nvPr/>
            </p:nvSpPr>
            <p:spPr>
              <a:xfrm>
                <a:off x="4542533" y="5278599"/>
                <a:ext cx="415472" cy="276999"/>
              </a:xfrm>
              <a:prstGeom prst="rect">
                <a:avLst/>
              </a:prstGeom>
              <a:noFill/>
            </p:spPr>
            <p:txBody>
              <a:bodyPr wrap="square" rtlCol="0">
                <a:spAutoFit/>
              </a:bodyPr>
              <a:lstStyle/>
              <a:p>
                <a:pPr/>
                <a14:m>
                  <m:oMathPara xmlns:m="http://schemas.openxmlformats.org/officeDocument/2006/math">
                    <m:oMath>
                      <m:r>
                        <a:rPr lang="en-GB" sz="1200" b="0" i="1" smtClean="0">
                          <a:latin typeface="Cambria Math" panose="02040503050406030204" pitchFamily="18" charset="0"/>
                        </a:rPr>
                        <m:t>𝑥</m:t>
                      </m:r>
                    </m:oMath>
                  </m:oMathPara>
                </a14:m>
                <a:endParaRPr lang="en-GB"/>
              </a:p>
            </p:txBody>
          </p:sp>
        </mc:Choice>
        <mc:Fallback>
          <p:sp>
            <p:nvSpPr>
              <p:cNvPr id="22" name="TextBox 21"/>
              <p:cNvSpPr txBox="1">
                <a:spLocks noRot="1" noChangeAspect="1" noMove="1" noResize="1" noEditPoints="1" noAdjustHandles="1" noChangeArrowheads="1" noChangeShapeType="1" noTextEdit="1"/>
              </p:cNvSpPr>
              <p:nvPr/>
            </p:nvSpPr>
            <p:spPr>
              <a:xfrm>
                <a:off x="4542533" y="5278599"/>
                <a:ext cx="415472" cy="276999"/>
              </a:xfrm>
              <a:prstGeom prst="rect">
                <a:avLst/>
              </a:prstGeom>
              <a:blipFill>
                <a:blip r:embed="rId6"/>
                <a:stretch>
                  <a:fillRect/>
                </a:stretch>
              </a:blipFill>
            </p:spPr>
            <p:txBody>
              <a:bodyPr/>
              <a:lstStyle/>
              <a:p>
                <a:r>
                  <a:rPr lang="en-US">
                    <a:noFill/>
                  </a:rPr>
                  <a:t> </a:t>
                </a:r>
              </a:p>
            </p:txBody>
          </p:sp>
        </mc:Fallback>
      </mc:AlternateContent>
      <p:sp>
        <p:nvSpPr>
          <p:cNvPr id="24" name="Freeform: Shape 23"/>
          <p:cNvSpPr/>
          <p:nvPr/>
        </p:nvSpPr>
        <p:spPr>
          <a:xfrm>
            <a:off x="2381694" y="3859618"/>
            <a:ext cx="1755146" cy="2349795"/>
          </a:xfrm>
          <a:custGeom>
            <a:avLst/>
            <a:gdLst>
              <a:gd name="connsiteX0" fmla="*/ 0 w 1701209"/>
              <a:gd name="connsiteY0" fmla="*/ 1967023 h 1967023"/>
              <a:gd name="connsiteX1" fmla="*/ 489098 w 1701209"/>
              <a:gd name="connsiteY1" fmla="*/ 1180214 h 1967023"/>
              <a:gd name="connsiteX2" fmla="*/ 818707 w 1701209"/>
              <a:gd name="connsiteY2" fmla="*/ 733646 h 1967023"/>
              <a:gd name="connsiteX3" fmla="*/ 1020726 w 1701209"/>
              <a:gd name="connsiteY3" fmla="*/ 648586 h 1967023"/>
              <a:gd name="connsiteX4" fmla="*/ 1701209 w 1701209"/>
              <a:gd name="connsiteY4" fmla="*/ 0 h 1967023"/>
              <a:gd name="connsiteX5" fmla="*/ 1701209 w 1701209"/>
              <a:gd name="connsiteY5" fmla="*/ 0 h 1967023"/>
              <a:gd name="connsiteX0" fmla="*/ 0 w 1701209"/>
              <a:gd name="connsiteY0" fmla="*/ 1967023 h 1967023"/>
              <a:gd name="connsiteX1" fmla="*/ 489098 w 1701209"/>
              <a:gd name="connsiteY1" fmla="*/ 1180214 h 1967023"/>
              <a:gd name="connsiteX2" fmla="*/ 786810 w 1701209"/>
              <a:gd name="connsiteY2" fmla="*/ 786809 h 1967023"/>
              <a:gd name="connsiteX3" fmla="*/ 1020726 w 1701209"/>
              <a:gd name="connsiteY3" fmla="*/ 648586 h 1967023"/>
              <a:gd name="connsiteX4" fmla="*/ 1701209 w 1701209"/>
              <a:gd name="connsiteY4" fmla="*/ 0 h 1967023"/>
              <a:gd name="connsiteX5" fmla="*/ 1701209 w 1701209"/>
              <a:gd name="connsiteY5" fmla="*/ 0 h 1967023"/>
              <a:gd name="connsiteX0" fmla="*/ 0 w 1701209"/>
              <a:gd name="connsiteY0" fmla="*/ 1967023 h 1967023"/>
              <a:gd name="connsiteX1" fmla="*/ 489098 w 1701209"/>
              <a:gd name="connsiteY1" fmla="*/ 1180214 h 1967023"/>
              <a:gd name="connsiteX2" fmla="*/ 786810 w 1701209"/>
              <a:gd name="connsiteY2" fmla="*/ 786809 h 1967023"/>
              <a:gd name="connsiteX3" fmla="*/ 1230276 w 1701209"/>
              <a:gd name="connsiteY3" fmla="*/ 548574 h 1967023"/>
              <a:gd name="connsiteX4" fmla="*/ 1701209 w 1701209"/>
              <a:gd name="connsiteY4" fmla="*/ 0 h 1967023"/>
              <a:gd name="connsiteX5" fmla="*/ 1701209 w 1701209"/>
              <a:gd name="connsiteY5" fmla="*/ 0 h 1967023"/>
              <a:gd name="connsiteX0" fmla="*/ 0 w 1701209"/>
              <a:gd name="connsiteY0" fmla="*/ 1967023 h 1967023"/>
              <a:gd name="connsiteX1" fmla="*/ 489098 w 1701209"/>
              <a:gd name="connsiteY1" fmla="*/ 1180214 h 1967023"/>
              <a:gd name="connsiteX2" fmla="*/ 734422 w 1701209"/>
              <a:gd name="connsiteY2" fmla="*/ 839197 h 1967023"/>
              <a:gd name="connsiteX3" fmla="*/ 1230276 w 1701209"/>
              <a:gd name="connsiteY3" fmla="*/ 548574 h 1967023"/>
              <a:gd name="connsiteX4" fmla="*/ 1701209 w 1701209"/>
              <a:gd name="connsiteY4" fmla="*/ 0 h 1967023"/>
              <a:gd name="connsiteX5" fmla="*/ 1701209 w 1701209"/>
              <a:gd name="connsiteY5" fmla="*/ 0 h 1967023"/>
              <a:gd name="connsiteX0" fmla="*/ 0 w 1701209"/>
              <a:gd name="connsiteY0" fmla="*/ 1967023 h 1967023"/>
              <a:gd name="connsiteX1" fmla="*/ 489098 w 1701209"/>
              <a:gd name="connsiteY1" fmla="*/ 1180214 h 1967023"/>
              <a:gd name="connsiteX2" fmla="*/ 786810 w 1701209"/>
              <a:gd name="connsiteY2" fmla="*/ 805859 h 1967023"/>
              <a:gd name="connsiteX3" fmla="*/ 1230276 w 1701209"/>
              <a:gd name="connsiteY3" fmla="*/ 548574 h 1967023"/>
              <a:gd name="connsiteX4" fmla="*/ 1701209 w 1701209"/>
              <a:gd name="connsiteY4" fmla="*/ 0 h 1967023"/>
              <a:gd name="connsiteX5" fmla="*/ 1701209 w 1701209"/>
              <a:gd name="connsiteY5" fmla="*/ 0 h 1967023"/>
              <a:gd name="connsiteX0" fmla="*/ 0 w 1701209"/>
              <a:gd name="connsiteY0" fmla="*/ 1967023 h 1967023"/>
              <a:gd name="connsiteX1" fmla="*/ 489098 w 1701209"/>
              <a:gd name="connsiteY1" fmla="*/ 1180214 h 1967023"/>
              <a:gd name="connsiteX2" fmla="*/ 653460 w 1701209"/>
              <a:gd name="connsiteY2" fmla="*/ 915397 h 1967023"/>
              <a:gd name="connsiteX3" fmla="*/ 1230276 w 1701209"/>
              <a:gd name="connsiteY3" fmla="*/ 548574 h 1967023"/>
              <a:gd name="connsiteX4" fmla="*/ 1701209 w 1701209"/>
              <a:gd name="connsiteY4" fmla="*/ 0 h 1967023"/>
              <a:gd name="connsiteX5" fmla="*/ 1701209 w 1701209"/>
              <a:gd name="connsiteY5" fmla="*/ 0 h 1967023"/>
              <a:gd name="connsiteX0" fmla="*/ 0 w 1701209"/>
              <a:gd name="connsiteY0" fmla="*/ 1967023 h 1967023"/>
              <a:gd name="connsiteX1" fmla="*/ 489098 w 1701209"/>
              <a:gd name="connsiteY1" fmla="*/ 1180214 h 1967023"/>
              <a:gd name="connsiteX2" fmla="*/ 653460 w 1701209"/>
              <a:gd name="connsiteY2" fmla="*/ 915397 h 1967023"/>
              <a:gd name="connsiteX3" fmla="*/ 1230276 w 1701209"/>
              <a:gd name="connsiteY3" fmla="*/ 548574 h 1967023"/>
              <a:gd name="connsiteX4" fmla="*/ 1701209 w 1701209"/>
              <a:gd name="connsiteY4" fmla="*/ 0 h 1967023"/>
              <a:gd name="connsiteX5" fmla="*/ 1701209 w 1701209"/>
              <a:gd name="connsiteY5" fmla="*/ 0 h 1967023"/>
              <a:gd name="connsiteX0" fmla="*/ 0 w 1701209"/>
              <a:gd name="connsiteY0" fmla="*/ 1967023 h 1967023"/>
              <a:gd name="connsiteX1" fmla="*/ 489098 w 1701209"/>
              <a:gd name="connsiteY1" fmla="*/ 1180214 h 1967023"/>
              <a:gd name="connsiteX2" fmla="*/ 653460 w 1701209"/>
              <a:gd name="connsiteY2" fmla="*/ 915397 h 1967023"/>
              <a:gd name="connsiteX3" fmla="*/ 1006438 w 1701209"/>
              <a:gd name="connsiteY3" fmla="*/ 686686 h 1967023"/>
              <a:gd name="connsiteX4" fmla="*/ 1701209 w 1701209"/>
              <a:gd name="connsiteY4" fmla="*/ 0 h 1967023"/>
              <a:gd name="connsiteX5" fmla="*/ 1701209 w 1701209"/>
              <a:gd name="connsiteY5" fmla="*/ 0 h 1967023"/>
              <a:gd name="connsiteX0" fmla="*/ 0 w 1701209"/>
              <a:gd name="connsiteY0" fmla="*/ 1967023 h 1967023"/>
              <a:gd name="connsiteX1" fmla="*/ 489098 w 1701209"/>
              <a:gd name="connsiteY1" fmla="*/ 1180214 h 1967023"/>
              <a:gd name="connsiteX2" fmla="*/ 653460 w 1701209"/>
              <a:gd name="connsiteY2" fmla="*/ 915397 h 1967023"/>
              <a:gd name="connsiteX3" fmla="*/ 1006438 w 1701209"/>
              <a:gd name="connsiteY3" fmla="*/ 686686 h 1967023"/>
              <a:gd name="connsiteX4" fmla="*/ 1701209 w 1701209"/>
              <a:gd name="connsiteY4" fmla="*/ 0 h 1967023"/>
              <a:gd name="connsiteX5" fmla="*/ 1701209 w 1701209"/>
              <a:gd name="connsiteY5" fmla="*/ 0 h 1967023"/>
              <a:gd name="connsiteX0" fmla="*/ 0 w 1701209"/>
              <a:gd name="connsiteY0" fmla="*/ 1967023 h 1967023"/>
              <a:gd name="connsiteX1" fmla="*/ 489098 w 1701209"/>
              <a:gd name="connsiteY1" fmla="*/ 1180214 h 1967023"/>
              <a:gd name="connsiteX2" fmla="*/ 672510 w 1701209"/>
              <a:gd name="connsiteY2" fmla="*/ 967785 h 1967023"/>
              <a:gd name="connsiteX3" fmla="*/ 1006438 w 1701209"/>
              <a:gd name="connsiteY3" fmla="*/ 686686 h 1967023"/>
              <a:gd name="connsiteX4" fmla="*/ 1701209 w 1701209"/>
              <a:gd name="connsiteY4" fmla="*/ 0 h 1967023"/>
              <a:gd name="connsiteX5" fmla="*/ 1701209 w 1701209"/>
              <a:gd name="connsiteY5" fmla="*/ 0 h 1967023"/>
              <a:gd name="connsiteX0" fmla="*/ 0 w 1701209"/>
              <a:gd name="connsiteY0" fmla="*/ 1967023 h 1967023"/>
              <a:gd name="connsiteX1" fmla="*/ 489098 w 1701209"/>
              <a:gd name="connsiteY1" fmla="*/ 1180214 h 1967023"/>
              <a:gd name="connsiteX2" fmla="*/ 672510 w 1701209"/>
              <a:gd name="connsiteY2" fmla="*/ 967785 h 1967023"/>
              <a:gd name="connsiteX3" fmla="*/ 1006438 w 1701209"/>
              <a:gd name="connsiteY3" fmla="*/ 686686 h 1967023"/>
              <a:gd name="connsiteX4" fmla="*/ 1701209 w 1701209"/>
              <a:gd name="connsiteY4" fmla="*/ 0 h 1967023"/>
              <a:gd name="connsiteX5" fmla="*/ 1701209 w 1701209"/>
              <a:gd name="connsiteY5" fmla="*/ 0 h 1967023"/>
              <a:gd name="connsiteX0" fmla="*/ 0 w 1701209"/>
              <a:gd name="connsiteY0" fmla="*/ 1967023 h 1967023"/>
              <a:gd name="connsiteX1" fmla="*/ 489098 w 1701209"/>
              <a:gd name="connsiteY1" fmla="*/ 1180214 h 1967023"/>
              <a:gd name="connsiteX2" fmla="*/ 672510 w 1701209"/>
              <a:gd name="connsiteY2" fmla="*/ 939210 h 1967023"/>
              <a:gd name="connsiteX3" fmla="*/ 1006438 w 1701209"/>
              <a:gd name="connsiteY3" fmla="*/ 686686 h 1967023"/>
              <a:gd name="connsiteX4" fmla="*/ 1701209 w 1701209"/>
              <a:gd name="connsiteY4" fmla="*/ 0 h 1967023"/>
              <a:gd name="connsiteX5" fmla="*/ 1701209 w 1701209"/>
              <a:gd name="connsiteY5" fmla="*/ 0 h 1967023"/>
              <a:gd name="connsiteX0" fmla="*/ 0 w 1701209"/>
              <a:gd name="connsiteY0" fmla="*/ 1967023 h 1967023"/>
              <a:gd name="connsiteX1" fmla="*/ 489098 w 1701209"/>
              <a:gd name="connsiteY1" fmla="*/ 1180214 h 1967023"/>
              <a:gd name="connsiteX2" fmla="*/ 672510 w 1701209"/>
              <a:gd name="connsiteY2" fmla="*/ 939210 h 1967023"/>
              <a:gd name="connsiteX3" fmla="*/ 1015963 w 1701209"/>
              <a:gd name="connsiteY3" fmla="*/ 758123 h 1967023"/>
              <a:gd name="connsiteX4" fmla="*/ 1701209 w 1701209"/>
              <a:gd name="connsiteY4" fmla="*/ 0 h 1967023"/>
              <a:gd name="connsiteX5" fmla="*/ 1701209 w 1701209"/>
              <a:gd name="connsiteY5" fmla="*/ 0 h 1967023"/>
              <a:gd name="connsiteX0" fmla="*/ 0 w 1744378"/>
              <a:gd name="connsiteY0" fmla="*/ 2023180 h 2023180"/>
              <a:gd name="connsiteX1" fmla="*/ 489098 w 1744378"/>
              <a:gd name="connsiteY1" fmla="*/ 1236371 h 2023180"/>
              <a:gd name="connsiteX2" fmla="*/ 672510 w 1744378"/>
              <a:gd name="connsiteY2" fmla="*/ 995367 h 2023180"/>
              <a:gd name="connsiteX3" fmla="*/ 1015963 w 1744378"/>
              <a:gd name="connsiteY3" fmla="*/ 814280 h 2023180"/>
              <a:gd name="connsiteX4" fmla="*/ 1701209 w 1744378"/>
              <a:gd name="connsiteY4" fmla="*/ 56157 h 2023180"/>
              <a:gd name="connsiteX5" fmla="*/ 1669311 w 1744378"/>
              <a:gd name="connsiteY5" fmla="*/ 56157 h 2023180"/>
              <a:gd name="connsiteX0" fmla="*/ 0 w 1777954"/>
              <a:gd name="connsiteY0" fmla="*/ 2349795 h 2349795"/>
              <a:gd name="connsiteX1" fmla="*/ 489098 w 1777954"/>
              <a:gd name="connsiteY1" fmla="*/ 1562986 h 2349795"/>
              <a:gd name="connsiteX2" fmla="*/ 672510 w 1777954"/>
              <a:gd name="connsiteY2" fmla="*/ 1321982 h 2349795"/>
              <a:gd name="connsiteX3" fmla="*/ 1015963 w 1777954"/>
              <a:gd name="connsiteY3" fmla="*/ 1140895 h 2349795"/>
              <a:gd name="connsiteX4" fmla="*/ 1701209 w 1777954"/>
              <a:gd name="connsiteY4" fmla="*/ 382772 h 2349795"/>
              <a:gd name="connsiteX5" fmla="*/ 1754372 w 1777954"/>
              <a:gd name="connsiteY5" fmla="*/ 0 h 2349795"/>
              <a:gd name="connsiteX0" fmla="*/ 0 w 1755146"/>
              <a:gd name="connsiteY0" fmla="*/ 2349795 h 2349795"/>
              <a:gd name="connsiteX1" fmla="*/ 489098 w 1755146"/>
              <a:gd name="connsiteY1" fmla="*/ 1562986 h 2349795"/>
              <a:gd name="connsiteX2" fmla="*/ 672510 w 1755146"/>
              <a:gd name="connsiteY2" fmla="*/ 1321982 h 2349795"/>
              <a:gd name="connsiteX3" fmla="*/ 1015963 w 1755146"/>
              <a:gd name="connsiteY3" fmla="*/ 1140895 h 2349795"/>
              <a:gd name="connsiteX4" fmla="*/ 1541721 w 1755146"/>
              <a:gd name="connsiteY4" fmla="*/ 595424 h 2349795"/>
              <a:gd name="connsiteX5" fmla="*/ 1754372 w 1755146"/>
              <a:gd name="connsiteY5" fmla="*/ 0 h 2349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55146" h="2349795">
                <a:moveTo>
                  <a:pt x="0" y="2349795"/>
                </a:moveTo>
                <a:cubicBezTo>
                  <a:pt x="176323" y="2059172"/>
                  <a:pt x="377013" y="1734288"/>
                  <a:pt x="489098" y="1562986"/>
                </a:cubicBezTo>
                <a:cubicBezTo>
                  <a:pt x="601183" y="1391684"/>
                  <a:pt x="553743" y="1446304"/>
                  <a:pt x="672510" y="1321982"/>
                </a:cubicBezTo>
                <a:cubicBezTo>
                  <a:pt x="796040" y="1216709"/>
                  <a:pt x="841338" y="1264886"/>
                  <a:pt x="1015963" y="1140895"/>
                </a:cubicBezTo>
                <a:cubicBezTo>
                  <a:pt x="1190588" y="988329"/>
                  <a:pt x="1418653" y="785573"/>
                  <a:pt x="1541721" y="595424"/>
                </a:cubicBezTo>
                <a:cubicBezTo>
                  <a:pt x="1664789" y="405275"/>
                  <a:pt x="1765005" y="0"/>
                  <a:pt x="1754372"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TextBox 24"/>
          <p:cNvSpPr txBox="1"/>
          <p:nvPr/>
        </p:nvSpPr>
        <p:spPr>
          <a:xfrm>
            <a:off x="5398311" y="3677011"/>
            <a:ext cx="3466289" cy="738664"/>
          </a:xfrm>
          <a:prstGeom prst="rect">
            <a:avLst/>
          </a:prstGeom>
          <a:noFill/>
        </p:spPr>
        <p:txBody>
          <a:bodyPr wrap="square" rtlCol="0">
            <a:spAutoFit/>
          </a:bodyPr>
          <a:lstStyle/>
          <a:p>
            <a:r>
              <a:rPr lang="en-GB" sz="1400"/>
              <a:t>We don’t have enough information to determine the exact shape. It could for example have been:</a:t>
            </a:r>
          </a:p>
        </p:txBody>
      </p:sp>
      <p:cxnSp>
        <p:nvCxnSpPr>
          <p:cNvPr id="26" name="Straight Arrow Connector 25"/>
          <p:cNvCxnSpPr/>
          <p:nvPr/>
        </p:nvCxnSpPr>
        <p:spPr>
          <a:xfrm>
            <a:off x="5469042" y="5911325"/>
            <a:ext cx="240944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7" name="Straight Arrow Connector 26"/>
          <p:cNvCxnSpPr/>
          <p:nvPr/>
        </p:nvCxnSpPr>
        <p:spPr>
          <a:xfrm flipV="1">
            <a:off x="6631439" y="4897420"/>
            <a:ext cx="0" cy="187220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9" name="TextBox 28"/>
          <p:cNvSpPr txBox="1"/>
          <p:nvPr/>
        </p:nvSpPr>
        <p:spPr>
          <a:xfrm>
            <a:off x="6361218" y="5395061"/>
            <a:ext cx="641279" cy="369332"/>
          </a:xfrm>
          <a:prstGeom prst="rect">
            <a:avLst/>
          </a:prstGeom>
          <a:noFill/>
        </p:spPr>
        <p:txBody>
          <a:bodyPr wrap="square" rtlCol="0">
            <a:spAutoFit/>
          </a:bodyPr>
          <a:lstStyle/>
          <a:p>
            <a:r>
              <a:rPr lang="en-GB"/>
              <a:t>1</a:t>
            </a:r>
          </a:p>
        </p:txBody>
      </p:sp>
      <mc:AlternateContent xmlns:mc="http://schemas.openxmlformats.org/markup-compatibility/2006">
        <mc:Choice xmlns:a14="http://schemas.microsoft.com/office/drawing/2010/main" Requires="a14">
          <p:sp>
            <p:nvSpPr>
              <p:cNvPr id="30" name="TextBox 29"/>
              <p:cNvSpPr txBox="1"/>
              <p:nvPr/>
            </p:nvSpPr>
            <p:spPr>
              <a:xfrm>
                <a:off x="6423703" y="4646794"/>
                <a:ext cx="415472" cy="276999"/>
              </a:xfrm>
              <a:prstGeom prst="rect">
                <a:avLst/>
              </a:prstGeom>
              <a:noFill/>
            </p:spPr>
            <p:txBody>
              <a:bodyPr wrap="square" rtlCol="0">
                <a:spAutoFit/>
              </a:bodyPr>
              <a:lstStyle/>
              <a:p>
                <a:pPr/>
                <a14:m>
                  <m:oMathPara xmlns:m="http://schemas.openxmlformats.org/officeDocument/2006/math">
                    <m:oMath>
                      <m:r>
                        <a:rPr lang="en-GB" sz="1200" b="0" i="1" smtClean="0">
                          <a:latin typeface="Cambria Math" panose="02040503050406030204" pitchFamily="18" charset="0"/>
                        </a:rPr>
                        <m:t>𝑦</m:t>
                      </m:r>
                    </m:oMath>
                  </m:oMathPara>
                </a14:m>
                <a:endParaRPr lang="en-GB"/>
              </a:p>
            </p:txBody>
          </p:sp>
        </mc:Choice>
        <mc:Fallback>
          <p:sp>
            <p:nvSpPr>
              <p:cNvPr id="30" name="TextBox 29"/>
              <p:cNvSpPr txBox="1">
                <a:spLocks noRot="1" noChangeAspect="1" noMove="1" noResize="1" noEditPoints="1" noAdjustHandles="1" noChangeArrowheads="1" noChangeShapeType="1" noTextEdit="1"/>
              </p:cNvSpPr>
              <p:nvPr/>
            </p:nvSpPr>
            <p:spPr>
              <a:xfrm>
                <a:off x="6423703" y="4646794"/>
                <a:ext cx="415472" cy="276999"/>
              </a:xfrm>
              <a:prstGeom prst="rect">
                <a:avLst/>
              </a:prstGeom>
              <a:blipFill>
                <a:blip r:embed="rId7"/>
                <a:stretch>
                  <a:fillRect b="-4348"/>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1" name="TextBox 30"/>
              <p:cNvSpPr txBox="1"/>
              <p:nvPr/>
            </p:nvSpPr>
            <p:spPr>
              <a:xfrm>
                <a:off x="7768258" y="5781830"/>
                <a:ext cx="415472" cy="276999"/>
              </a:xfrm>
              <a:prstGeom prst="rect">
                <a:avLst/>
              </a:prstGeom>
              <a:noFill/>
            </p:spPr>
            <p:txBody>
              <a:bodyPr wrap="square" rtlCol="0">
                <a:spAutoFit/>
              </a:bodyPr>
              <a:lstStyle/>
              <a:p>
                <a:pPr/>
                <a14:m>
                  <m:oMathPara xmlns:m="http://schemas.openxmlformats.org/officeDocument/2006/math">
                    <m:oMath>
                      <m:r>
                        <a:rPr lang="en-GB" sz="1200" b="0" i="1" smtClean="0">
                          <a:latin typeface="Cambria Math" panose="02040503050406030204" pitchFamily="18" charset="0"/>
                        </a:rPr>
                        <m:t>𝑥</m:t>
                      </m:r>
                    </m:oMath>
                  </m:oMathPara>
                </a14:m>
                <a:endParaRPr lang="en-GB"/>
              </a:p>
            </p:txBody>
          </p:sp>
        </mc:Choice>
        <mc:Fallback>
          <p:sp>
            <p:nvSpPr>
              <p:cNvPr id="31" name="TextBox 30"/>
              <p:cNvSpPr txBox="1">
                <a:spLocks noRot="1" noChangeAspect="1" noMove="1" noResize="1" noEditPoints="1" noAdjustHandles="1" noChangeArrowheads="1" noChangeShapeType="1" noTextEdit="1"/>
              </p:cNvSpPr>
              <p:nvPr/>
            </p:nvSpPr>
            <p:spPr>
              <a:xfrm>
                <a:off x="7768258" y="5781830"/>
                <a:ext cx="415472" cy="276999"/>
              </a:xfrm>
              <a:prstGeom prst="rect">
                <a:avLst/>
              </a:prstGeom>
              <a:blipFill>
                <a:blip r:embed="rId8"/>
                <a:stretch>
                  <a:fillRect/>
                </a:stretch>
              </a:blipFill>
            </p:spPr>
            <p:txBody>
              <a:bodyPr/>
              <a:lstStyle/>
              <a:p>
                <a:r>
                  <a:rPr lang="en-US">
                    <a:noFill/>
                  </a:rPr>
                  <a:t> </a:t>
                </a:r>
              </a:p>
            </p:txBody>
          </p:sp>
        </mc:Fallback>
      </mc:AlternateContent>
      <p:sp>
        <p:nvSpPr>
          <p:cNvPr id="33" name="Freeform: Shape 32"/>
          <p:cNvSpPr/>
          <p:nvPr/>
        </p:nvSpPr>
        <p:spPr>
          <a:xfrm>
            <a:off x="5656521" y="5123475"/>
            <a:ext cx="1167809" cy="1383650"/>
          </a:xfrm>
          <a:custGeom>
            <a:avLst/>
            <a:gdLst>
              <a:gd name="connsiteX0" fmla="*/ 0 w 1244009"/>
              <a:gd name="connsiteY0" fmla="*/ 1414130 h 1414130"/>
              <a:gd name="connsiteX1" fmla="*/ 318977 w 1244009"/>
              <a:gd name="connsiteY1" fmla="*/ 882502 h 1414130"/>
              <a:gd name="connsiteX2" fmla="*/ 552893 w 1244009"/>
              <a:gd name="connsiteY2" fmla="*/ 1116418 h 1414130"/>
              <a:gd name="connsiteX3" fmla="*/ 765544 w 1244009"/>
              <a:gd name="connsiteY3" fmla="*/ 744279 h 1414130"/>
              <a:gd name="connsiteX4" fmla="*/ 1244009 w 1244009"/>
              <a:gd name="connsiteY4" fmla="*/ 0 h 1414130"/>
              <a:gd name="connsiteX0" fmla="*/ 0 w 1244009"/>
              <a:gd name="connsiteY0" fmla="*/ 1414130 h 1414130"/>
              <a:gd name="connsiteX1" fmla="*/ 318977 w 1244009"/>
              <a:gd name="connsiteY1" fmla="*/ 882502 h 1414130"/>
              <a:gd name="connsiteX2" fmla="*/ 552893 w 1244009"/>
              <a:gd name="connsiteY2" fmla="*/ 1116418 h 1414130"/>
              <a:gd name="connsiteX3" fmla="*/ 978195 w 1244009"/>
              <a:gd name="connsiteY3" fmla="*/ 446568 h 1414130"/>
              <a:gd name="connsiteX4" fmla="*/ 1244009 w 1244009"/>
              <a:gd name="connsiteY4" fmla="*/ 0 h 1414130"/>
              <a:gd name="connsiteX0" fmla="*/ 0 w 1244009"/>
              <a:gd name="connsiteY0" fmla="*/ 1414130 h 1414130"/>
              <a:gd name="connsiteX1" fmla="*/ 318977 w 1244009"/>
              <a:gd name="connsiteY1" fmla="*/ 882502 h 1414130"/>
              <a:gd name="connsiteX2" fmla="*/ 552893 w 1244009"/>
              <a:gd name="connsiteY2" fmla="*/ 1116418 h 1414130"/>
              <a:gd name="connsiteX3" fmla="*/ 978195 w 1244009"/>
              <a:gd name="connsiteY3" fmla="*/ 446568 h 1414130"/>
              <a:gd name="connsiteX4" fmla="*/ 1244009 w 1244009"/>
              <a:gd name="connsiteY4" fmla="*/ 0 h 1414130"/>
              <a:gd name="connsiteX0" fmla="*/ 0 w 1167809"/>
              <a:gd name="connsiteY0" fmla="*/ 1383650 h 1383650"/>
              <a:gd name="connsiteX1" fmla="*/ 318977 w 1167809"/>
              <a:gd name="connsiteY1" fmla="*/ 852022 h 1383650"/>
              <a:gd name="connsiteX2" fmla="*/ 552893 w 1167809"/>
              <a:gd name="connsiteY2" fmla="*/ 1085938 h 1383650"/>
              <a:gd name="connsiteX3" fmla="*/ 978195 w 1167809"/>
              <a:gd name="connsiteY3" fmla="*/ 416088 h 1383650"/>
              <a:gd name="connsiteX4" fmla="*/ 1167809 w 1167809"/>
              <a:gd name="connsiteY4" fmla="*/ 0 h 1383650"/>
              <a:gd name="connsiteX0" fmla="*/ 0 w 1167809"/>
              <a:gd name="connsiteY0" fmla="*/ 1383650 h 1383650"/>
              <a:gd name="connsiteX1" fmla="*/ 318977 w 1167809"/>
              <a:gd name="connsiteY1" fmla="*/ 852022 h 1383650"/>
              <a:gd name="connsiteX2" fmla="*/ 552893 w 1167809"/>
              <a:gd name="connsiteY2" fmla="*/ 1085938 h 1383650"/>
              <a:gd name="connsiteX3" fmla="*/ 978195 w 1167809"/>
              <a:gd name="connsiteY3" fmla="*/ 416088 h 1383650"/>
              <a:gd name="connsiteX4" fmla="*/ 1167809 w 1167809"/>
              <a:gd name="connsiteY4" fmla="*/ 0 h 1383650"/>
              <a:gd name="connsiteX0" fmla="*/ 0 w 1167809"/>
              <a:gd name="connsiteY0" fmla="*/ 1383650 h 1383650"/>
              <a:gd name="connsiteX1" fmla="*/ 296117 w 1167809"/>
              <a:gd name="connsiteY1" fmla="*/ 935842 h 1383650"/>
              <a:gd name="connsiteX2" fmla="*/ 552893 w 1167809"/>
              <a:gd name="connsiteY2" fmla="*/ 1085938 h 1383650"/>
              <a:gd name="connsiteX3" fmla="*/ 978195 w 1167809"/>
              <a:gd name="connsiteY3" fmla="*/ 416088 h 1383650"/>
              <a:gd name="connsiteX4" fmla="*/ 1167809 w 1167809"/>
              <a:gd name="connsiteY4" fmla="*/ 0 h 1383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7809" h="1383650">
                <a:moveTo>
                  <a:pt x="0" y="1383650"/>
                </a:moveTo>
                <a:cubicBezTo>
                  <a:pt x="113414" y="1142645"/>
                  <a:pt x="203968" y="985461"/>
                  <a:pt x="296117" y="935842"/>
                </a:cubicBezTo>
                <a:cubicBezTo>
                  <a:pt x="388266" y="886223"/>
                  <a:pt x="439213" y="1172564"/>
                  <a:pt x="552893" y="1085938"/>
                </a:cubicBezTo>
                <a:cubicBezTo>
                  <a:pt x="666573" y="999312"/>
                  <a:pt x="863009" y="602158"/>
                  <a:pt x="978195" y="416088"/>
                </a:cubicBezTo>
                <a:cubicBezTo>
                  <a:pt x="1070521" y="207158"/>
                  <a:pt x="1054749" y="286724"/>
                  <a:pt x="1167809"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TextBox 27"/>
          <p:cNvSpPr txBox="1"/>
          <p:nvPr/>
        </p:nvSpPr>
        <p:spPr>
          <a:xfrm>
            <a:off x="6257906" y="5810848"/>
            <a:ext cx="415472" cy="369332"/>
          </a:xfrm>
          <a:prstGeom prst="rect">
            <a:avLst/>
          </a:prstGeom>
          <a:noFill/>
        </p:spPr>
        <p:txBody>
          <a:bodyPr wrap="square" rtlCol="0">
            <a:spAutoFit/>
          </a:bodyPr>
          <a:lstStyle/>
          <a:p>
            <a:r>
              <a:rPr lang="en-GB"/>
              <a:t>-1</a:t>
            </a:r>
          </a:p>
        </p:txBody>
      </p:sp>
      <p:sp>
        <p:nvSpPr>
          <p:cNvPr id="34" name="Arrow: Down 33"/>
          <p:cNvSpPr/>
          <p:nvPr/>
        </p:nvSpPr>
        <p:spPr>
          <a:xfrm>
            <a:off x="5868144" y="4739430"/>
            <a:ext cx="288032" cy="384045"/>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35" name="TextBox 34"/>
          <p:cNvSpPr txBox="1"/>
          <p:nvPr/>
        </p:nvSpPr>
        <p:spPr>
          <a:xfrm>
            <a:off x="6985000" y="4413562"/>
            <a:ext cx="2073286" cy="1384995"/>
          </a:xfrm>
          <a:prstGeom prst="rect">
            <a:avLst/>
          </a:prstGeom>
          <a:noFill/>
        </p:spPr>
        <p:txBody>
          <a:bodyPr wrap="square" rtlCol="0">
            <a:spAutoFit/>
          </a:bodyPr>
          <a:lstStyle/>
          <a:p>
            <a:r>
              <a:rPr lang="en-GB" sz="1400"/>
              <a:t>However, in Chapter 12, we’ll be able to work </a:t>
            </a:r>
            <a:r>
              <a:rPr lang="en-GB" sz="1400" b="1"/>
              <a:t>turning points </a:t>
            </a:r>
            <a:r>
              <a:rPr lang="en-GB" sz="1400"/>
              <a:t>using ‘differentiation’, and hence conclude that it doesn’t have any!</a:t>
            </a:r>
          </a:p>
        </p:txBody>
      </p:sp>
      <p:sp>
        <p:nvSpPr>
          <p:cNvPr id="23" name="Rectangle 22"/>
          <p:cNvSpPr/>
          <p:nvPr/>
        </p:nvSpPr>
        <p:spPr>
          <a:xfrm>
            <a:off x="1074799" y="3677010"/>
            <a:ext cx="7789801" cy="3092089"/>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 Final sketch</a:t>
            </a:r>
          </a:p>
        </p:txBody>
      </p:sp>
    </p:spTree>
    <p:extLst>
      <p:ext uri="{BB962C8B-B14F-4D97-AF65-F5344CB8AC3E}">
        <p14:creationId xmlns:p14="http://schemas.microsoft.com/office/powerpoint/2010/main" val="211575047"/>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2"/>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2"/>
                                        </p:tgtEl>
                                      </p:cBhvr>
                                    </p:animEffect>
                                    <p:set>
                                      <p:cBhvr>
                                        <p:cTn id="7" dur="1" fill="hold">
                                          <p:stCondLst>
                                            <p:cond delay="499"/>
                                          </p:stCondLst>
                                        </p:cTn>
                                        <p:tgtEl>
                                          <p:spTgt spid="12"/>
                                        </p:tgtEl>
                                        <p:attrNameLst>
                                          <p:attrName>style.visibility</p:attrName>
                                        </p:attrNameLst>
                                      </p:cBhvr>
                                      <p:to>
                                        <p:strVal val="hidden"/>
                                      </p:to>
                                    </p:set>
                                  </p:childTnLst>
                                </p:cTn>
                              </p:par>
                            </p:childTnLst>
                          </p:cTn>
                        </p:par>
                      </p:childTnLst>
                    </p:cTn>
                  </p:par>
                </p:childTnLst>
              </p:cTn>
              <p:nextCondLst>
                <p:cond evt="onClick" delay="0">
                  <p:tgtEl>
                    <p:spTgt spid="12"/>
                  </p:tgtEl>
                </p:cond>
              </p:nextCondLst>
            </p:seq>
            <p:seq concurrent="1" nextAc="seek">
              <p:cTn id="8" restart="whenNotActive" fill="hold" evtFilter="cancelBubble" nodeType="interactiveSeq">
                <p:stCondLst>
                  <p:cond evt="onClick" delay="0">
                    <p:tgtEl>
                      <p:spTgt spid="13"/>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3"/>
                                        </p:tgtEl>
                                      </p:cBhvr>
                                    </p:animEffect>
                                    <p:set>
                                      <p:cBhvr>
                                        <p:cTn id="13" dur="1" fill="hold">
                                          <p:stCondLst>
                                            <p:cond delay="499"/>
                                          </p:stCondLst>
                                        </p:cTn>
                                        <p:tgtEl>
                                          <p:spTgt spid="13"/>
                                        </p:tgtEl>
                                        <p:attrNameLst>
                                          <p:attrName>style.visibility</p:attrName>
                                        </p:attrNameLst>
                                      </p:cBhvr>
                                      <p:to>
                                        <p:strVal val="hidden"/>
                                      </p:to>
                                    </p:set>
                                  </p:childTnLst>
                                </p:cTn>
                              </p:par>
                            </p:childTnLst>
                          </p:cTn>
                        </p:par>
                      </p:childTnLst>
                    </p:cTn>
                  </p:par>
                </p:childTnLst>
              </p:cTn>
              <p:nextCondLst>
                <p:cond evt="onClick" delay="0">
                  <p:tgtEl>
                    <p:spTgt spid="13"/>
                  </p:tgtEl>
                </p:cond>
              </p:nextCondLst>
            </p:seq>
            <p:seq concurrent="1" nextAc="seek">
              <p:cTn id="14" restart="whenNotActive" fill="hold" evtFilter="cancelBubble" nodeType="interactiveSeq">
                <p:stCondLst>
                  <p:cond evt="onClick" delay="0">
                    <p:tgtEl>
                      <p:spTgt spid="14"/>
                    </p:tgtEl>
                  </p:cond>
                </p:stCondLst>
                <p:endSync evt="end" delay="0">
                  <p:rtn val="all"/>
                </p:endSync>
                <p:childTnLst>
                  <p:par>
                    <p:cTn id="15" fill="hold">
                      <p:stCondLst>
                        <p:cond delay="0"/>
                      </p:stCondLst>
                      <p:childTnLst>
                        <p:par>
                          <p:cTn id="16" fill="hold">
                            <p:stCondLst>
                              <p:cond delay="0"/>
                            </p:stCondLst>
                            <p:childTnLst>
                              <p:par>
                                <p:cTn id="17" presetID="10" presetClass="exit" presetSubtype="0" fill="hold" grpId="0" nodeType="clickEffect">
                                  <p:stCondLst>
                                    <p:cond delay="0"/>
                                  </p:stCondLst>
                                  <p:childTnLst>
                                    <p:animEffect transition="out" filter="fade">
                                      <p:cBhvr>
                                        <p:cTn id="18" dur="500"/>
                                        <p:tgtEl>
                                          <p:spTgt spid="14"/>
                                        </p:tgtEl>
                                      </p:cBhvr>
                                    </p:animEffect>
                                    <p:set>
                                      <p:cBhvr>
                                        <p:cTn id="19" dur="1" fill="hold">
                                          <p:stCondLst>
                                            <p:cond delay="499"/>
                                          </p:stCondLst>
                                        </p:cTn>
                                        <p:tgtEl>
                                          <p:spTgt spid="14"/>
                                        </p:tgtEl>
                                        <p:attrNameLst>
                                          <p:attrName>style.visibility</p:attrName>
                                        </p:attrNameLst>
                                      </p:cBhvr>
                                      <p:to>
                                        <p:strVal val="hidden"/>
                                      </p:to>
                                    </p:set>
                                  </p:childTnLst>
                                </p:cTn>
                              </p:par>
                            </p:childTnLst>
                          </p:cTn>
                        </p:par>
                      </p:childTnLst>
                    </p:cTn>
                  </p:par>
                </p:childTnLst>
              </p:cTn>
              <p:nextCondLst>
                <p:cond evt="onClick" delay="0">
                  <p:tgtEl>
                    <p:spTgt spid="14"/>
                  </p:tgtEl>
                </p:cond>
              </p:nextCondLst>
            </p:seq>
            <p:seq concurrent="1" nextAc="seek">
              <p:cTn id="20" restart="whenNotActive" fill="hold" evtFilter="cancelBubble" nodeType="interactiveSeq">
                <p:stCondLst>
                  <p:cond evt="onClick" delay="0">
                    <p:tgtEl>
                      <p:spTgt spid="23"/>
                    </p:tgtEl>
                  </p:cond>
                </p:stCondLst>
                <p:endSync evt="end" delay="0">
                  <p:rtn val="all"/>
                </p:endSync>
                <p:childTnLst>
                  <p:par>
                    <p:cTn id="21" fill="hold">
                      <p:stCondLst>
                        <p:cond delay="0"/>
                      </p:stCondLst>
                      <p:childTnLst>
                        <p:par>
                          <p:cTn id="22" fill="hold">
                            <p:stCondLst>
                              <p:cond delay="0"/>
                            </p:stCondLst>
                            <p:childTnLst>
                              <p:par>
                                <p:cTn id="23" presetID="10" presetClass="exit" presetSubtype="0" fill="hold" grpId="0" nodeType="clickEffect">
                                  <p:stCondLst>
                                    <p:cond delay="0"/>
                                  </p:stCondLst>
                                  <p:childTnLst>
                                    <p:animEffect transition="out" filter="fade">
                                      <p:cBhvr>
                                        <p:cTn id="24" dur="500"/>
                                        <p:tgtEl>
                                          <p:spTgt spid="23"/>
                                        </p:tgtEl>
                                      </p:cBhvr>
                                    </p:animEffect>
                                    <p:set>
                                      <p:cBhvr>
                                        <p:cTn id="25" dur="1" fill="hold">
                                          <p:stCondLst>
                                            <p:cond delay="499"/>
                                          </p:stCondLst>
                                        </p:cTn>
                                        <p:tgtEl>
                                          <p:spTgt spid="23"/>
                                        </p:tgtEl>
                                        <p:attrNameLst>
                                          <p:attrName>style.visibility</p:attrName>
                                        </p:attrNameLst>
                                      </p:cBhvr>
                                      <p:to>
                                        <p:strVal val="hidden"/>
                                      </p:to>
                                    </p:set>
                                  </p:childTnLst>
                                </p:cTn>
                              </p:par>
                            </p:childTnLst>
                          </p:cTn>
                        </p:par>
                      </p:childTnLst>
                    </p:cTn>
                  </p:par>
                </p:childTnLst>
              </p:cTn>
              <p:nextCondLst>
                <p:cond evt="onClick" delay="0">
                  <p:tgtEl>
                    <p:spTgt spid="23"/>
                  </p:tgtEl>
                </p:cond>
              </p:nextCondLst>
            </p:seq>
          </p:childTnLst>
        </p:cTn>
      </p:par>
    </p:tnLst>
    <p:bldLst>
      <p:bldP spid="12" grpId="0" animBg="1"/>
      <p:bldP spid="13" grpId="0" animBg="1"/>
      <p:bldP spid="14" grpId="0" animBg="1"/>
      <p:bldP spid="2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vert="horz" wrap="square" lIns="324000" tIns="45720" rIns="91440" bIns="45720" rtlCol="0" anchor="ctr">
              <a:spAutoFit/>
            </a:bodyPr>
            <a:lstStyle>
              <a:defPPr>
                <a:defRPr lang="en-US"/>
              </a:defPPr>
              <a:lvl1pPr>
                <a:spcBef>
                  <a:spcPct val="0"/>
                </a:spcBef>
                <a:buNone/>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a:t>Finding the equation yourself</a:t>
              </a:r>
            </a:p>
          </p:txBody>
        </p:sp>
        <p:cxnSp>
          <p:nvCxnSpPr>
            <p:cNvPr id="4" name="Straight Connector 3"/>
            <p:cNvCxnSpPr/>
            <p:nvPr/>
          </p:nvCxnSpPr>
          <p:spPr>
            <a:xfrm>
              <a:off x="218" y="601079"/>
              <a:ext cx="9144000" cy="0"/>
            </a:xfrm>
            <a:prstGeom prst="line">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cxnSp>
      </p:gr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64773" y="802718"/>
            <a:ext cx="4464496" cy="1918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mc:Choice xmlns:a14="http://schemas.microsoft.com/office/drawing/2010/main" Requires="a14">
          <p:sp>
            <p:nvSpPr>
              <p:cNvPr id="6" name="Rectangle 5"/>
              <p:cNvSpPr/>
              <p:nvPr/>
            </p:nvSpPr>
            <p:spPr>
              <a:xfrm>
                <a:off x="384390" y="2805798"/>
                <a:ext cx="8208912" cy="1846659"/>
              </a:xfrm>
              <a:prstGeom prst="rect">
                <a:avLst/>
              </a:prstGeom>
              <a:solidFill>
                <a:schemeClr val="bg1"/>
              </a:solidFill>
              <a:effectLst>
                <a:outerShdw blurRad="63500" sx="102000" sy="102000" algn="ctr" rotWithShape="0">
                  <a:prstClr val="black">
                    <a:alpha val="40000"/>
                  </a:prstClr>
                </a:outerShdw>
              </a:effectLst>
            </p:spPr>
            <p:txBody>
              <a:bodyPr wrap="square">
                <a:spAutoFit/>
              </a:bodyPr>
              <a:lstStyle/>
              <a:p>
                <a:r>
                  <a:rPr lang="en-GB" sz="1600"/>
                  <a:t>Figure 1 shows a sketch of the curve </a:t>
                </a:r>
                <a14:m>
                  <m:oMath xmlns:m="http://schemas.openxmlformats.org/officeDocument/2006/math">
                    <m:r>
                      <a:rPr lang="en-GB" sz="1600" i="1" dirty="0" smtClean="0">
                        <a:latin typeface="Cambria Math" panose="02040503050406030204" pitchFamily="18" charset="0"/>
                      </a:rPr>
                      <m:t>𝐶</m:t>
                    </m:r>
                  </m:oMath>
                </a14:m>
                <a:r>
                  <a:rPr lang="en-GB" sz="1600"/>
                  <a:t> with equation </a:t>
                </a:r>
                <a14:m>
                  <m:oMath xmlns:m="http://schemas.openxmlformats.org/officeDocument/2006/math">
                    <m:r>
                      <a:rPr lang="en-GB" sz="1600" i="1" dirty="0" smtClean="0">
                        <a:latin typeface="Cambria Math" panose="02040503050406030204" pitchFamily="18" charset="0"/>
                      </a:rPr>
                      <m:t>𝑦</m:t>
                    </m:r>
                    <m:r>
                      <a:rPr lang="en-GB" sz="1600" i="1" dirty="0" smtClean="0">
                        <a:latin typeface="Cambria Math" panose="02040503050406030204" pitchFamily="18" charset="0"/>
                      </a:rPr>
                      <m:t>=</m:t>
                    </m:r>
                    <m:r>
                      <a:rPr lang="en-GB" sz="1600" i="1" dirty="0" smtClean="0">
                        <a:latin typeface="Cambria Math" panose="02040503050406030204" pitchFamily="18" charset="0"/>
                      </a:rPr>
                      <m:t>𝑓</m:t>
                    </m:r>
                    <m:r>
                      <a:rPr lang="en-GB" sz="1600" i="1" dirty="0" smtClean="0">
                        <a:latin typeface="Cambria Math" panose="02040503050406030204" pitchFamily="18" charset="0"/>
                      </a:rPr>
                      <m:t>(</m:t>
                    </m:r>
                    <m:r>
                      <a:rPr lang="en-GB" sz="1600" i="1" dirty="0" smtClean="0">
                        <a:latin typeface="Cambria Math" panose="02040503050406030204" pitchFamily="18" charset="0"/>
                      </a:rPr>
                      <m:t>𝑥</m:t>
                    </m:r>
                    <m:r>
                      <a:rPr lang="en-GB" sz="1600" i="1" dirty="0" smtClean="0">
                        <a:latin typeface="Cambria Math" panose="02040503050406030204" pitchFamily="18" charset="0"/>
                      </a:rPr>
                      <m:t>)</m:t>
                    </m:r>
                  </m:oMath>
                </a14:m>
                <a:r>
                  <a:rPr lang="en-GB" sz="1600"/>
                  <a:t>.</a:t>
                </a:r>
              </a:p>
              <a:p>
                <a:r>
                  <a:rPr lang="en-GB" sz="1600"/>
                  <a:t>The curve </a:t>
                </a:r>
                <a14:m>
                  <m:oMath xmlns:m="http://schemas.openxmlformats.org/officeDocument/2006/math">
                    <m:r>
                      <a:rPr lang="en-GB" sz="1600" i="1" dirty="0" smtClean="0">
                        <a:latin typeface="Cambria Math" panose="02040503050406030204" pitchFamily="18" charset="0"/>
                      </a:rPr>
                      <m:t>𝐶</m:t>
                    </m:r>
                  </m:oMath>
                </a14:m>
                <a:r>
                  <a:rPr lang="en-GB" sz="1600"/>
                  <a:t> passes through the point (–1, 0) and touches the </a:t>
                </a:r>
                <a14:m>
                  <m:oMath xmlns:m="http://schemas.openxmlformats.org/officeDocument/2006/math">
                    <m:r>
                      <a:rPr lang="en-GB" sz="1600" i="1" dirty="0" smtClean="0">
                        <a:latin typeface="Cambria Math" panose="02040503050406030204" pitchFamily="18" charset="0"/>
                      </a:rPr>
                      <m:t>𝑥</m:t>
                    </m:r>
                  </m:oMath>
                </a14:m>
                <a:r>
                  <a:rPr lang="en-GB" sz="1600"/>
                  <a:t>-axis at the point (2, 0).</a:t>
                </a:r>
              </a:p>
              <a:p>
                <a:r>
                  <a:rPr lang="en-GB" sz="1600"/>
                  <a:t>The curve </a:t>
                </a:r>
                <a14:m>
                  <m:oMath xmlns:m="http://schemas.openxmlformats.org/officeDocument/2006/math">
                    <m:r>
                      <a:rPr lang="en-GB" sz="1600" i="1" dirty="0" smtClean="0">
                        <a:latin typeface="Cambria Math" panose="02040503050406030204" pitchFamily="18" charset="0"/>
                      </a:rPr>
                      <m:t>𝐶</m:t>
                    </m:r>
                  </m:oMath>
                </a14:m>
                <a:r>
                  <a:rPr lang="en-GB" sz="1600"/>
                  <a:t> has a maximum at the point (0, 4).</a:t>
                </a:r>
              </a:p>
              <a:p>
                <a:r>
                  <a:rPr lang="en-GB" sz="1600"/>
                  <a:t>The equation of the curve </a:t>
                </a:r>
                <a14:m>
                  <m:oMath xmlns:m="http://schemas.openxmlformats.org/officeDocument/2006/math">
                    <m:r>
                      <a:rPr lang="en-GB" sz="1600" i="1" dirty="0" smtClean="0">
                        <a:latin typeface="Cambria Math" panose="02040503050406030204" pitchFamily="18" charset="0"/>
                      </a:rPr>
                      <m:t>𝐶</m:t>
                    </m:r>
                  </m:oMath>
                </a14:m>
                <a:r>
                  <a:rPr lang="en-GB" sz="1600"/>
                  <a:t> can be written in the form.</a:t>
                </a:r>
              </a:p>
              <a:p>
                <a:pPr/>
                <a14:m>
                  <m:oMathPara xmlns:m="http://schemas.openxmlformats.org/officeDocument/2006/math">
                    <m:oMath>
                      <m:r>
                        <a:rPr lang="en-GB" sz="1600" b="0" i="1" smtClean="0">
                          <a:latin typeface="Cambria Math" panose="02040503050406030204" pitchFamily="18" charset="0"/>
                        </a:rPr>
                        <m:t>𝑦</m:t>
                      </m:r>
                      <m:r>
                        <a:rPr lang="en-GB" sz="1600" b="0" i="1" smtClean="0">
                          <a:latin typeface="Cambria Math" panose="02040503050406030204" pitchFamily="18" charset="0"/>
                        </a:rPr>
                        <m:t>=</m:t>
                      </m:r>
                      <m:sSup>
                        <m:sSupPr>
                          <m:ctrlPr>
                            <a:rPr lang="en-GB" sz="1600" b="0" i="1" smtClean="0">
                              <a:latin typeface="Cambria Math" panose="02040503050406030204" pitchFamily="18" charset="0"/>
                            </a:rPr>
                          </m:ctrlPr>
                        </m:sSupPr>
                        <m:e>
                          <m:r>
                            <a:rPr lang="en-GB" sz="1600" b="0" i="1" smtClean="0">
                              <a:latin typeface="Cambria Math" panose="02040503050406030204" pitchFamily="18" charset="0"/>
                            </a:rPr>
                            <m:t>𝑥</m:t>
                          </m:r>
                        </m:e>
                        <m:sup>
                          <m:r>
                            <a:rPr lang="en-GB" sz="1600" b="0" i="1" smtClean="0">
                              <a:latin typeface="Cambria Math" panose="02040503050406030204" pitchFamily="18" charset="0"/>
                            </a:rPr>
                            <m:t>3</m:t>
                          </m:r>
                        </m:sup>
                      </m:sSup>
                      <m:r>
                        <a:rPr lang="en-GB" sz="1600" b="0" i="1" smtClean="0">
                          <a:latin typeface="Cambria Math" panose="02040503050406030204" pitchFamily="18" charset="0"/>
                        </a:rPr>
                        <m:t>+</m:t>
                      </m:r>
                      <m:r>
                        <a:rPr lang="en-GB" sz="1600" b="0" i="1" smtClean="0">
                          <a:latin typeface="Cambria Math" panose="02040503050406030204" pitchFamily="18" charset="0"/>
                        </a:rPr>
                        <m:t>𝑎</m:t>
                      </m:r>
                      <m:sSup>
                        <m:sSupPr>
                          <m:ctrlPr>
                            <a:rPr lang="en-GB" sz="1600" b="0" i="1" smtClean="0">
                              <a:latin typeface="Cambria Math" panose="02040503050406030204" pitchFamily="18" charset="0"/>
                            </a:rPr>
                          </m:ctrlPr>
                        </m:sSupPr>
                        <m:e>
                          <m:r>
                            <a:rPr lang="en-GB" sz="1600" b="0" i="1" smtClean="0">
                              <a:latin typeface="Cambria Math" panose="02040503050406030204" pitchFamily="18" charset="0"/>
                            </a:rPr>
                            <m:t>𝑥</m:t>
                          </m:r>
                        </m:e>
                        <m:sup>
                          <m:r>
                            <a:rPr lang="en-GB" sz="1600" b="0" i="1" smtClean="0">
                              <a:latin typeface="Cambria Math" panose="02040503050406030204" pitchFamily="18" charset="0"/>
                            </a:rPr>
                            <m:t>2</m:t>
                          </m:r>
                        </m:sup>
                      </m:sSup>
                      <m:r>
                        <a:rPr lang="en-GB" sz="1600" b="0" i="1" smtClean="0">
                          <a:latin typeface="Cambria Math" panose="02040503050406030204" pitchFamily="18" charset="0"/>
                        </a:rPr>
                        <m:t>+</m:t>
                      </m:r>
                      <m:r>
                        <a:rPr lang="en-GB" sz="1600" b="0" i="1" smtClean="0">
                          <a:latin typeface="Cambria Math" panose="02040503050406030204" pitchFamily="18" charset="0"/>
                        </a:rPr>
                        <m:t>𝑏𝑥</m:t>
                      </m:r>
                      <m:r>
                        <a:rPr lang="en-GB" sz="1600" b="0" i="1" smtClean="0">
                          <a:latin typeface="Cambria Math" panose="02040503050406030204" pitchFamily="18" charset="0"/>
                        </a:rPr>
                        <m:t>+</m:t>
                      </m:r>
                      <m:r>
                        <a:rPr lang="en-GB" sz="1600" b="0" i="1" smtClean="0">
                          <a:latin typeface="Cambria Math" panose="02040503050406030204" pitchFamily="18" charset="0"/>
                        </a:rPr>
                        <m:t>𝑐</m:t>
                      </m:r>
                    </m:oMath>
                  </m:oMathPara>
                </a14:m>
                <a:endParaRPr lang="en-GB" sz="1600"/>
              </a:p>
              <a:p>
                <a:r>
                  <a:rPr lang="en-GB" sz="1600"/>
                  <a:t>where </a:t>
                </a:r>
                <a14:m>
                  <m:oMath xmlns:m="http://schemas.openxmlformats.org/officeDocument/2006/math">
                    <m:r>
                      <a:rPr lang="en-GB" sz="1600" i="1" dirty="0" smtClean="0">
                        <a:latin typeface="Cambria Math" panose="02040503050406030204" pitchFamily="18" charset="0"/>
                      </a:rPr>
                      <m:t>𝑎</m:t>
                    </m:r>
                  </m:oMath>
                </a14:m>
                <a:r>
                  <a:rPr lang="en-GB" sz="1600"/>
                  <a:t>, </a:t>
                </a:r>
                <a14:m>
                  <m:oMath xmlns:m="http://schemas.openxmlformats.org/officeDocument/2006/math">
                    <m:r>
                      <a:rPr lang="en-GB" sz="1600" i="1" dirty="0" smtClean="0">
                        <a:latin typeface="Cambria Math" panose="02040503050406030204" pitchFamily="18" charset="0"/>
                      </a:rPr>
                      <m:t>𝑏</m:t>
                    </m:r>
                  </m:oMath>
                </a14:m>
                <a:r>
                  <a:rPr lang="en-GB" sz="1600"/>
                  <a:t> and </a:t>
                </a:r>
                <a14:m>
                  <m:oMath xmlns:m="http://schemas.openxmlformats.org/officeDocument/2006/math">
                    <m:r>
                      <a:rPr lang="en-GB" sz="1600" i="1" dirty="0" smtClean="0">
                        <a:latin typeface="Cambria Math" panose="02040503050406030204" pitchFamily="18" charset="0"/>
                      </a:rPr>
                      <m:t>𝑐</m:t>
                    </m:r>
                  </m:oMath>
                </a14:m>
                <a:r>
                  <a:rPr lang="en-GB" sz="1600"/>
                  <a:t> are integers.</a:t>
                </a:r>
              </a:p>
              <a:p>
                <a:r>
                  <a:rPr lang="en-GB" sz="1600"/>
                  <a:t>(a) Calculate the values of </a:t>
                </a:r>
                <a14:m>
                  <m:oMath xmlns:m="http://schemas.openxmlformats.org/officeDocument/2006/math">
                    <m:r>
                      <a:rPr lang="en-GB" sz="1600" b="0" i="1" smtClean="0">
                        <a:latin typeface="Cambria Math" panose="02040503050406030204" pitchFamily="18" charset="0"/>
                      </a:rPr>
                      <m:t>𝑎</m:t>
                    </m:r>
                    <m:r>
                      <a:rPr lang="en-GB" sz="1600" b="0" i="1" smtClean="0">
                        <a:latin typeface="Cambria Math" panose="02040503050406030204" pitchFamily="18" charset="0"/>
                      </a:rPr>
                      <m:t>,</m:t>
                    </m:r>
                    <m:r>
                      <a:rPr lang="en-GB" sz="1600" b="0" i="1" smtClean="0">
                        <a:latin typeface="Cambria Math" panose="02040503050406030204" pitchFamily="18" charset="0"/>
                      </a:rPr>
                      <m:t>𝑏</m:t>
                    </m:r>
                    <m:r>
                      <a:rPr lang="en-GB" sz="1600" b="0" i="1" smtClean="0">
                        <a:latin typeface="Cambria Math" panose="02040503050406030204" pitchFamily="18" charset="0"/>
                      </a:rPr>
                      <m:t>,</m:t>
                    </m:r>
                    <m:r>
                      <a:rPr lang="en-GB" sz="1600" b="0" i="1" smtClean="0">
                        <a:latin typeface="Cambria Math" panose="02040503050406030204" pitchFamily="18" charset="0"/>
                      </a:rPr>
                      <m:t>𝑐</m:t>
                    </m:r>
                  </m:oMath>
                </a14:m>
                <a:r>
                  <a:rPr lang="en-GB" sz="1600"/>
                  <a:t>.</a:t>
                </a:r>
              </a:p>
            </p:txBody>
          </p:sp>
        </mc:Choice>
        <mc:Fallback>
          <p:sp>
            <p:nvSpPr>
              <p:cNvPr id="6" name="Rectangle 5"/>
              <p:cNvSpPr>
                <a:spLocks noRot="1" noChangeAspect="1" noMove="1" noResize="1" noEditPoints="1" noAdjustHandles="1" noChangeArrowheads="1" noChangeShapeType="1" noTextEdit="1"/>
              </p:cNvSpPr>
              <p:nvPr/>
            </p:nvSpPr>
            <p:spPr>
              <a:xfrm>
                <a:off x="384390" y="2805798"/>
                <a:ext cx="8208912" cy="1846659"/>
              </a:xfrm>
              <a:prstGeom prst="rect">
                <a:avLst/>
              </a:prstGeom>
              <a:blipFill>
                <a:blip r:embed="rId3"/>
                <a:stretch>
                  <a:fillRect/>
                </a:stretch>
              </a:blipFill>
              <a:effectLst>
                <a:outerShdw blurRad="63500" sx="102000" sy="102000" algn="ctr" rotWithShape="0">
                  <a:prstClr val="black">
                    <a:alpha val="40000"/>
                  </a:prstClr>
                </a:outerShdw>
              </a:effectLst>
            </p:spPr>
            <p:txBody>
              <a:bodyPr/>
              <a:lstStyle/>
              <a:p>
                <a:r>
                  <a:rPr lang="en-US">
                    <a:noFill/>
                  </a:rPr>
                  <a:t> </a:t>
                </a:r>
              </a:p>
            </p:txBody>
          </p:sp>
        </mc:Fallback>
      </mc:AlternateContent>
      <p:sp>
        <p:nvSpPr>
          <p:cNvPr id="7" name="TextBox 6"/>
          <p:cNvSpPr txBox="1"/>
          <p:nvPr/>
        </p:nvSpPr>
        <p:spPr>
          <a:xfrm>
            <a:off x="395536" y="836712"/>
            <a:ext cx="2808312" cy="36933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r>
              <a:rPr lang="en-GB"/>
              <a:t>Edexcel C1 May 2013(R) Q9</a:t>
            </a:r>
          </a:p>
        </p:txBody>
      </p:sp>
      <mc:AlternateContent xmlns:mc="http://schemas.openxmlformats.org/markup-compatibility/2006">
        <mc:Choice xmlns:a14="http://schemas.microsoft.com/office/drawing/2010/main" Requires="a14">
          <p:sp>
            <p:nvSpPr>
              <p:cNvPr id="8" name="TextBox 7"/>
              <p:cNvSpPr txBox="1"/>
              <p:nvPr/>
            </p:nvSpPr>
            <p:spPr>
              <a:xfrm>
                <a:off x="2091392" y="4755574"/>
                <a:ext cx="5040560" cy="2031325"/>
              </a:xfrm>
              <a:prstGeom prst="rect">
                <a:avLst/>
              </a:prstGeom>
              <a:noFill/>
            </p:spPr>
            <p:txBody>
              <a:bodyPr wrap="square" rtlCol="0">
                <a:spAutoFit/>
              </a:bodyPr>
              <a:lstStyle/>
              <a:p>
                <a:r>
                  <a:rPr lang="en-GB"/>
                  <a:t>If it crosses at </a:t>
                </a:r>
                <a14:m>
                  <m:oMath xmlns:m="http://schemas.openxmlformats.org/officeDocument/2006/math">
                    <m:d>
                      <m:dPr>
                        <m:ctrlPr>
                          <a:rPr lang="en-GB" b="0" i="1" smtClean="0">
                            <a:latin typeface="Cambria Math" panose="02040503050406030204" pitchFamily="18" charset="0"/>
                          </a:rPr>
                        </m:ctrlPr>
                      </m:dPr>
                      <m:e>
                        <m:r>
                          <a:rPr lang="en-GB" b="0" i="1" smtClean="0">
                            <a:latin typeface="Cambria Math" panose="02040503050406030204" pitchFamily="18" charset="0"/>
                          </a:rPr>
                          <m:t>−1,0</m:t>
                        </m:r>
                      </m:e>
                    </m:d>
                  </m:oMath>
                </a14:m>
                <a:r>
                  <a:rPr lang="en-GB"/>
                  <a:t> we must have </a:t>
                </a:r>
                <a14:m>
                  <m:oMath xmlns:m="http://schemas.openxmlformats.org/officeDocument/2006/math">
                    <m:r>
                      <a:rPr lang="en-GB" b="0" i="1" smtClean="0">
                        <a:latin typeface="Cambria Math" panose="02040503050406030204" pitchFamily="18" charset="0"/>
                      </a:rPr>
                      <m:t>(</m:t>
                    </m:r>
                    <m:r>
                      <a:rPr lang="en-GB" b="0" i="1" smtClean="0">
                        <a:latin typeface="Cambria Math" panose="02040503050406030204" pitchFamily="18" charset="0"/>
                      </a:rPr>
                      <m:t>𝑥</m:t>
                    </m:r>
                    <m:r>
                      <a:rPr lang="en-GB" b="0" i="1" smtClean="0">
                        <a:latin typeface="Cambria Math" panose="02040503050406030204" pitchFamily="18" charset="0"/>
                      </a:rPr>
                      <m:t>+1)</m:t>
                    </m:r>
                  </m:oMath>
                </a14:m>
                <a:r>
                  <a:rPr lang="en-GB"/>
                  <a:t>.</a:t>
                </a:r>
              </a:p>
              <a:p>
                <a:r>
                  <a:rPr lang="en-GB"/>
                  <a:t>If it touches at </a:t>
                </a:r>
                <a14:m>
                  <m:oMath xmlns:m="http://schemas.openxmlformats.org/officeDocument/2006/math">
                    <m:d>
                      <m:dPr>
                        <m:ctrlPr>
                          <a:rPr lang="en-GB" b="0" i="1" smtClean="0">
                            <a:latin typeface="Cambria Math" panose="02040503050406030204" pitchFamily="18" charset="0"/>
                          </a:rPr>
                        </m:ctrlPr>
                      </m:dPr>
                      <m:e>
                        <m:r>
                          <a:rPr lang="en-GB" b="0" i="1" smtClean="0">
                            <a:latin typeface="Cambria Math" panose="02040503050406030204" pitchFamily="18" charset="0"/>
                          </a:rPr>
                          <m:t>2,0</m:t>
                        </m:r>
                      </m:e>
                    </m:d>
                  </m:oMath>
                </a14:m>
                <a:r>
                  <a:rPr lang="en-GB"/>
                  <a:t> we must have </a:t>
                </a:r>
                <a14:m>
                  <m:oMath xmlns:m="http://schemas.openxmlformats.org/officeDocument/2006/math">
                    <m:sSup>
                      <m:sSupPr>
                        <m:ctrlPr>
                          <a:rPr lang="en-GB" b="0" i="1" smtClean="0">
                            <a:latin typeface="Cambria Math" panose="02040503050406030204" pitchFamily="18" charset="0"/>
                          </a:rPr>
                        </m:ctrlPr>
                      </m:sSupPr>
                      <m:e>
                        <m:d>
                          <m:dPr>
                            <m:ctrlPr>
                              <a:rPr lang="en-GB" b="0" i="1" smtClean="0">
                                <a:latin typeface="Cambria Math" panose="02040503050406030204" pitchFamily="18" charset="0"/>
                              </a:rPr>
                            </m:ctrlPr>
                          </m:dPr>
                          <m:e>
                            <m:r>
                              <a:rPr lang="en-GB" b="0" i="1" smtClean="0">
                                <a:latin typeface="Cambria Math" panose="02040503050406030204" pitchFamily="18" charset="0"/>
                              </a:rPr>
                              <m:t>𝑥</m:t>
                            </m:r>
                            <m:r>
                              <a:rPr lang="en-GB" b="0" i="1" smtClean="0">
                                <a:latin typeface="Cambria Math" panose="02040503050406030204" pitchFamily="18" charset="0"/>
                              </a:rPr>
                              <m:t>−2</m:t>
                            </m:r>
                          </m:e>
                        </m:d>
                      </m:e>
                      <m:sup>
                        <m:r>
                          <a:rPr lang="en-GB" b="0" i="1" smtClean="0">
                            <a:latin typeface="Cambria Math" panose="02040503050406030204" pitchFamily="18" charset="0"/>
                          </a:rPr>
                          <m:t>2</m:t>
                        </m:r>
                      </m:sup>
                    </m:sSup>
                  </m:oMath>
                </a14:m>
                <a:endParaRPr lang="en-GB"/>
              </a:p>
              <a:p>
                <a:pPr/>
                <a14:m>
                  <m:oMathPara xmlns:m="http://schemas.openxmlformats.org/officeDocument/2006/math">
                    <m:oMath>
                      <m:r>
                        <a:rPr lang="en-GB" b="0" i="1" smtClean="0">
                          <a:latin typeface="Cambria Math" panose="02040503050406030204" pitchFamily="18" charset="0"/>
                        </a:rPr>
                        <m:t>∴  </m:t>
                      </m:r>
                      <m:r>
                        <a:rPr lang="en-GB" b="0" i="1" smtClean="0">
                          <a:latin typeface="Cambria Math" panose="02040503050406030204" pitchFamily="18" charset="0"/>
                        </a:rPr>
                        <m:t>𝑦</m:t>
                      </m:r>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d>
                            <m:dPr>
                              <m:ctrlPr>
                                <a:rPr lang="en-GB" b="0" i="1" smtClean="0">
                                  <a:latin typeface="Cambria Math" panose="02040503050406030204" pitchFamily="18" charset="0"/>
                                </a:rPr>
                              </m:ctrlPr>
                            </m:dPr>
                            <m:e>
                              <m:r>
                                <a:rPr lang="en-GB" b="0" i="1" smtClean="0">
                                  <a:latin typeface="Cambria Math" panose="02040503050406030204" pitchFamily="18" charset="0"/>
                                </a:rPr>
                                <m:t>𝑥</m:t>
                              </m:r>
                              <m:r>
                                <a:rPr lang="en-GB" b="0" i="1" smtClean="0">
                                  <a:latin typeface="Cambria Math" panose="02040503050406030204" pitchFamily="18" charset="0"/>
                                </a:rPr>
                                <m:t>−2</m:t>
                              </m:r>
                            </m:e>
                          </m:d>
                        </m:e>
                        <m:sup>
                          <m:r>
                            <a:rPr lang="en-GB" b="0" i="1" smtClean="0">
                              <a:latin typeface="Cambria Math" panose="02040503050406030204" pitchFamily="18" charset="0"/>
                            </a:rPr>
                            <m:t>2</m:t>
                          </m:r>
                        </m:sup>
                      </m:sSup>
                      <m:d>
                        <m:dPr>
                          <m:ctrlPr>
                            <a:rPr lang="en-GB" b="0" i="1" smtClean="0">
                              <a:latin typeface="Cambria Math" panose="02040503050406030204" pitchFamily="18" charset="0"/>
                            </a:rPr>
                          </m:ctrlPr>
                        </m:dPr>
                        <m:e>
                          <m:r>
                            <a:rPr lang="en-GB" b="0" i="1" smtClean="0">
                              <a:latin typeface="Cambria Math" panose="02040503050406030204" pitchFamily="18" charset="0"/>
                            </a:rPr>
                            <m:t>𝑥</m:t>
                          </m:r>
                          <m:r>
                            <a:rPr lang="en-GB" b="0" i="1" smtClean="0">
                              <a:latin typeface="Cambria Math" panose="02040503050406030204" pitchFamily="18" charset="0"/>
                            </a:rPr>
                            <m:t>+1</m:t>
                          </m:r>
                        </m:e>
                      </m:d>
                    </m:oMath>
                    <m:oMath>
                      <m:r>
                        <a:rPr lang="en-GB" b="0" i="1" smtClean="0">
                          <a:latin typeface="Cambria Math" panose="02040503050406030204" pitchFamily="18" charset="0"/>
                        </a:rPr>
                        <m:t>=</m:t>
                      </m:r>
                      <m:d>
                        <m:dPr>
                          <m:ctrlPr>
                            <a:rPr lang="en-GB" b="0" i="1" smtClean="0">
                              <a:latin typeface="Cambria Math" panose="02040503050406030204" pitchFamily="18" charset="0"/>
                            </a:rPr>
                          </m:ctrlPr>
                        </m:dPr>
                        <m:e>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2</m:t>
                              </m:r>
                            </m:sup>
                          </m:sSup>
                          <m:r>
                            <a:rPr lang="en-GB" b="0" i="1" smtClean="0">
                              <a:latin typeface="Cambria Math" panose="02040503050406030204" pitchFamily="18" charset="0"/>
                            </a:rPr>
                            <m:t>−4</m:t>
                          </m:r>
                          <m:r>
                            <a:rPr lang="en-GB" b="0" i="1" smtClean="0">
                              <a:latin typeface="Cambria Math" panose="02040503050406030204" pitchFamily="18" charset="0"/>
                            </a:rPr>
                            <m:t>𝑥</m:t>
                          </m:r>
                          <m:r>
                            <a:rPr lang="en-GB" b="0" i="1" smtClean="0">
                              <a:latin typeface="Cambria Math" panose="02040503050406030204" pitchFamily="18" charset="0"/>
                            </a:rPr>
                            <m:t>+4</m:t>
                          </m:r>
                        </m:e>
                      </m:d>
                      <m:d>
                        <m:dPr>
                          <m:ctrlPr>
                            <a:rPr lang="en-GB" b="0" i="1" smtClean="0">
                              <a:latin typeface="Cambria Math" panose="02040503050406030204" pitchFamily="18" charset="0"/>
                            </a:rPr>
                          </m:ctrlPr>
                        </m:dPr>
                        <m:e>
                          <m:r>
                            <a:rPr lang="en-GB" b="0" i="1" smtClean="0">
                              <a:latin typeface="Cambria Math" panose="02040503050406030204" pitchFamily="18" charset="0"/>
                            </a:rPr>
                            <m:t>𝑥</m:t>
                          </m:r>
                          <m:r>
                            <a:rPr lang="en-GB" b="0" i="1" smtClean="0">
                              <a:latin typeface="Cambria Math" panose="02040503050406030204" pitchFamily="18" charset="0"/>
                            </a:rPr>
                            <m:t>+1</m:t>
                          </m:r>
                        </m:e>
                      </m:d>
                    </m:oMath>
                    <m:oMath>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3</m:t>
                          </m:r>
                        </m:sup>
                      </m:sSup>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2</m:t>
                          </m:r>
                        </m:sup>
                      </m:sSup>
                      <m:r>
                        <a:rPr lang="en-GB" b="0" i="1" smtClean="0">
                          <a:latin typeface="Cambria Math" panose="02040503050406030204" pitchFamily="18" charset="0"/>
                        </a:rPr>
                        <m:t>−4</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2</m:t>
                          </m:r>
                        </m:sup>
                      </m:sSup>
                      <m:r>
                        <a:rPr lang="en-GB" b="0" i="1" smtClean="0">
                          <a:latin typeface="Cambria Math" panose="02040503050406030204" pitchFamily="18" charset="0"/>
                        </a:rPr>
                        <m:t>−4</m:t>
                      </m:r>
                      <m:r>
                        <a:rPr lang="en-GB" b="0" i="1" smtClean="0">
                          <a:latin typeface="Cambria Math" panose="02040503050406030204" pitchFamily="18" charset="0"/>
                        </a:rPr>
                        <m:t>𝑥</m:t>
                      </m:r>
                      <m:r>
                        <a:rPr lang="en-GB" b="0" i="1" smtClean="0">
                          <a:latin typeface="Cambria Math" panose="02040503050406030204" pitchFamily="18" charset="0"/>
                        </a:rPr>
                        <m:t>+4</m:t>
                      </m:r>
                      <m:r>
                        <a:rPr lang="en-GB" b="0" i="1" smtClean="0">
                          <a:latin typeface="Cambria Math" panose="02040503050406030204" pitchFamily="18" charset="0"/>
                        </a:rPr>
                        <m:t>𝑥</m:t>
                      </m:r>
                      <m:r>
                        <a:rPr lang="en-GB" b="0" i="1" smtClean="0">
                          <a:latin typeface="Cambria Math" panose="02040503050406030204" pitchFamily="18" charset="0"/>
                        </a:rPr>
                        <m:t>+4</m:t>
                      </m:r>
                    </m:oMath>
                    <m:oMath>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3</m:t>
                          </m:r>
                        </m:sup>
                      </m:sSup>
                      <m:r>
                        <a:rPr lang="en-GB" b="0" i="1" smtClean="0">
                          <a:latin typeface="Cambria Math" panose="02040503050406030204" pitchFamily="18" charset="0"/>
                        </a:rPr>
                        <m:t>−3</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2</m:t>
                          </m:r>
                        </m:sup>
                      </m:sSup>
                      <m:r>
                        <a:rPr lang="en-GB" b="0" i="1" smtClean="0">
                          <a:latin typeface="Cambria Math" panose="02040503050406030204" pitchFamily="18" charset="0"/>
                        </a:rPr>
                        <m:t>+4</m:t>
                      </m:r>
                    </m:oMath>
                    <m:oMath>
                      <m:r>
                        <a:rPr lang="en-GB" b="0" i="1" smtClean="0">
                          <a:latin typeface="Cambria Math" panose="02040503050406030204" pitchFamily="18" charset="0"/>
                        </a:rPr>
                        <m:t>∴</m:t>
                      </m:r>
                      <m:r>
                        <a:rPr lang="en-GB" b="0" i="1" smtClean="0">
                          <a:latin typeface="Cambria Math" panose="02040503050406030204" pitchFamily="18" charset="0"/>
                        </a:rPr>
                        <m:t>𝑎</m:t>
                      </m:r>
                      <m:r>
                        <a:rPr lang="en-GB" b="0" i="1" smtClean="0">
                          <a:latin typeface="Cambria Math" panose="02040503050406030204" pitchFamily="18" charset="0"/>
                        </a:rPr>
                        <m:t>=−3, </m:t>
                      </m:r>
                      <m:r>
                        <a:rPr lang="en-GB" b="0" i="1" smtClean="0">
                          <a:latin typeface="Cambria Math" panose="02040503050406030204" pitchFamily="18" charset="0"/>
                        </a:rPr>
                        <m:t>𝑏</m:t>
                      </m:r>
                      <m:r>
                        <a:rPr lang="en-GB" b="0" i="1" smtClean="0">
                          <a:latin typeface="Cambria Math" panose="02040503050406030204" pitchFamily="18" charset="0"/>
                        </a:rPr>
                        <m:t>=0, </m:t>
                      </m:r>
                      <m:r>
                        <a:rPr lang="en-GB" b="0" i="1" smtClean="0">
                          <a:latin typeface="Cambria Math" panose="02040503050406030204" pitchFamily="18" charset="0"/>
                        </a:rPr>
                        <m:t>𝑐</m:t>
                      </m:r>
                      <m:r>
                        <a:rPr lang="en-GB" b="0" i="1" smtClean="0">
                          <a:latin typeface="Cambria Math" panose="02040503050406030204" pitchFamily="18" charset="0"/>
                        </a:rPr>
                        <m:t>=4</m:t>
                      </m:r>
                    </m:oMath>
                  </m:oMathPara>
                </a14:m>
                <a:endParaRPr lang="en-GB"/>
              </a:p>
            </p:txBody>
          </p:sp>
        </mc:Choice>
        <mc:Fallback>
          <p:sp>
            <p:nvSpPr>
              <p:cNvPr id="8" name="TextBox 7"/>
              <p:cNvSpPr txBox="1">
                <a:spLocks noRot="1" noChangeAspect="1" noMove="1" noResize="1" noEditPoints="1" noAdjustHandles="1" noChangeArrowheads="1" noChangeShapeType="1" noTextEdit="1"/>
              </p:cNvSpPr>
              <p:nvPr/>
            </p:nvSpPr>
            <p:spPr>
              <a:xfrm>
                <a:off x="2091392" y="4755574"/>
                <a:ext cx="5040560" cy="2031325"/>
              </a:xfrm>
              <a:prstGeom prst="rect">
                <a:avLst/>
              </a:prstGeom>
              <a:blipFill>
                <a:blip r:embed="rId4"/>
                <a:stretch>
                  <a:fillRect l="-1005" t="-1242"/>
                </a:stretch>
              </a:blipFill>
            </p:spPr>
            <p:txBody>
              <a:bodyPr/>
              <a:lstStyle/>
              <a:p>
                <a:r>
                  <a:rPr lang="en-US">
                    <a:noFill/>
                  </a:rPr>
                  <a:t> </a:t>
                </a:r>
              </a:p>
            </p:txBody>
          </p:sp>
        </mc:Fallback>
      </mc:AlternateContent>
      <p:sp>
        <p:nvSpPr>
          <p:cNvPr id="10" name="Rectangle 9"/>
          <p:cNvSpPr/>
          <p:nvPr/>
        </p:nvSpPr>
        <p:spPr>
          <a:xfrm>
            <a:off x="2064773" y="4737518"/>
            <a:ext cx="4805995" cy="2018797"/>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Tree>
    <p:extLst>
      <p:ext uri="{BB962C8B-B14F-4D97-AF65-F5344CB8AC3E}">
        <p14:creationId xmlns:p14="http://schemas.microsoft.com/office/powerpoint/2010/main" val="2835143270"/>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0"/>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0"/>
                                        </p:tgtEl>
                                      </p:cBhvr>
                                    </p:animEffect>
                                    <p:set>
                                      <p:cBhvr>
                                        <p:cTn id="7" dur="1" fill="hold">
                                          <p:stCondLst>
                                            <p:cond delay="499"/>
                                          </p:stCondLst>
                                        </p:cTn>
                                        <p:tgtEl>
                                          <p:spTgt spid="10"/>
                                        </p:tgtEl>
                                        <p:attrNameLst>
                                          <p:attrName>style.visibility</p:attrName>
                                        </p:attrNameLst>
                                      </p:cBhvr>
                                      <p:to>
                                        <p:strVal val="hidden"/>
                                      </p:to>
                                    </p:set>
                                  </p:childTnLst>
                                </p:cTn>
                              </p:par>
                            </p:childTnLst>
                          </p:cTn>
                        </p:par>
                      </p:childTnLst>
                    </p:cTn>
                  </p:par>
                </p:childTnLst>
              </p:cTn>
              <p:nextCondLst>
                <p:cond evt="onClick" delay="0">
                  <p:tgtEl>
                    <p:spTgt spid="10"/>
                  </p:tgtEl>
                </p:cond>
              </p:nextCondLst>
            </p:seq>
          </p:childTnLst>
        </p:cTn>
      </p:par>
    </p:tnLst>
    <p:bldLst>
      <p:bldP spid="10"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vert="horz" wrap="square" lIns="324000" tIns="45720" rIns="91440" bIns="45720" rtlCol="0" anchor="ctr">
              <a:spAutoFit/>
            </a:bodyPr>
            <a:lstStyle>
              <a:defPPr>
                <a:defRPr lang="en-US"/>
              </a:defPPr>
              <a:lvl1pPr>
                <a:spcBef>
                  <a:spcPct val="0"/>
                </a:spcBef>
                <a:buNone/>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a:t>Test Your Understanding</a:t>
              </a:r>
            </a:p>
          </p:txBody>
        </p:sp>
        <p:cxnSp>
          <p:nvCxnSpPr>
            <p:cNvPr id="4" name="Straight Connector 3"/>
            <p:cNvCxnSpPr/>
            <p:nvPr/>
          </p:nvCxnSpPr>
          <p:spPr>
            <a:xfrm>
              <a:off x="218" y="601079"/>
              <a:ext cx="9144000" cy="0"/>
            </a:xfrm>
            <a:prstGeom prst="line">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mc:Choice xmlns:a14="http://schemas.microsoft.com/office/drawing/2010/main" Requires="a14">
          <p:sp>
            <p:nvSpPr>
              <p:cNvPr id="5" name="TextBox 4"/>
              <p:cNvSpPr txBox="1"/>
              <p:nvPr/>
            </p:nvSpPr>
            <p:spPr>
              <a:xfrm>
                <a:off x="486002" y="845853"/>
                <a:ext cx="3274764" cy="646331"/>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a:t>Sketch the curve with equation</a:t>
                </a:r>
              </a:p>
              <a:p>
                <a:pPr/>
                <a14:m>
                  <m:oMathPara xmlns:m="http://schemas.openxmlformats.org/officeDocument/2006/math">
                    <m:oMath>
                      <m:r>
                        <a:rPr lang="en-GB" b="0" i="1" smtClean="0">
                          <a:latin typeface="Cambria Math" panose="02040503050406030204" pitchFamily="18" charset="0"/>
                        </a:rPr>
                        <m:t>𝑦</m:t>
                      </m:r>
                      <m:r>
                        <a:rPr lang="en-GB" b="0" i="1" smtClean="0">
                          <a:latin typeface="Cambria Math" panose="02040503050406030204" pitchFamily="18" charset="0"/>
                        </a:rPr>
                        <m:t>=</m:t>
                      </m:r>
                      <m:r>
                        <a:rPr lang="en-GB" b="0" i="1" smtClean="0">
                          <a:latin typeface="Cambria Math" panose="02040503050406030204" pitchFamily="18" charset="0"/>
                        </a:rPr>
                        <m:t>𝑥</m:t>
                      </m:r>
                      <m:sSup>
                        <m:sSupPr>
                          <m:ctrlPr>
                            <a:rPr lang="en-GB" b="0" i="1" smtClean="0">
                              <a:latin typeface="Cambria Math" panose="02040503050406030204" pitchFamily="18" charset="0"/>
                            </a:rPr>
                          </m:ctrlPr>
                        </m:sSupPr>
                        <m:e>
                          <m:d>
                            <m:dPr>
                              <m:ctrlPr>
                                <a:rPr lang="en-GB" b="0" i="1" smtClean="0">
                                  <a:latin typeface="Cambria Math" panose="02040503050406030204" pitchFamily="18" charset="0"/>
                                </a:rPr>
                              </m:ctrlPr>
                            </m:dPr>
                            <m:e>
                              <m:r>
                                <a:rPr lang="en-GB" b="0" i="1" smtClean="0">
                                  <a:latin typeface="Cambria Math" panose="02040503050406030204" pitchFamily="18" charset="0"/>
                                </a:rPr>
                                <m:t>𝑥</m:t>
                              </m:r>
                              <m:r>
                                <a:rPr lang="en-GB" b="0" i="1" smtClean="0">
                                  <a:latin typeface="Cambria Math" panose="02040503050406030204" pitchFamily="18" charset="0"/>
                                </a:rPr>
                                <m:t>−3</m:t>
                              </m:r>
                            </m:e>
                          </m:d>
                        </m:e>
                        <m:sup>
                          <m:r>
                            <a:rPr lang="en-GB" b="0" i="1" smtClean="0">
                              <a:latin typeface="Cambria Math" panose="02040503050406030204" pitchFamily="18" charset="0"/>
                            </a:rPr>
                            <m:t>2</m:t>
                          </m:r>
                        </m:sup>
                      </m:sSup>
                    </m:oMath>
                  </m:oMathPara>
                </a14:m>
                <a:endParaRPr lang="en-GB"/>
              </a:p>
            </p:txBody>
          </p:sp>
        </mc:Choice>
        <mc:Fallback>
          <p:sp>
            <p:nvSpPr>
              <p:cNvPr id="5" name="TextBox 4"/>
              <p:cNvSpPr txBox="1">
                <a:spLocks noRot="1" noChangeAspect="1" noMove="1" noResize="1" noEditPoints="1" noAdjustHandles="1" noChangeArrowheads="1" noChangeShapeType="1" noTextEdit="1"/>
              </p:cNvSpPr>
              <p:nvPr/>
            </p:nvSpPr>
            <p:spPr>
              <a:xfrm>
                <a:off x="486002" y="845853"/>
                <a:ext cx="3274764" cy="646331"/>
              </a:xfrm>
              <a:prstGeom prst="rect">
                <a:avLst/>
              </a:prstGeom>
              <a:blipFill>
                <a:blip r:embed="rId2"/>
                <a:stretch>
                  <a:fillRect/>
                </a:stretch>
              </a:blipFill>
              <a:effectLst>
                <a:outerShdw blurRad="63500" sx="102000" sy="102000" algn="ctr" rotWithShape="0">
                  <a:prstClr val="black">
                    <a:alpha val="40000"/>
                  </a:prstClr>
                </a:outerShdw>
              </a:effectLst>
            </p:spPr>
            <p:txBody>
              <a:bodyPr/>
              <a:lstStyle/>
              <a:p>
                <a:r>
                  <a:rPr lang="en-US">
                    <a:noFill/>
                  </a:rPr>
                  <a:t> </a:t>
                </a:r>
              </a:p>
            </p:txBody>
          </p:sp>
        </mc:Fallback>
      </mc:AlternateContent>
      <p:cxnSp>
        <p:nvCxnSpPr>
          <p:cNvPr id="6" name="Straight Arrow Connector 5"/>
          <p:cNvCxnSpPr/>
          <p:nvPr/>
        </p:nvCxnSpPr>
        <p:spPr>
          <a:xfrm>
            <a:off x="737115" y="3077689"/>
            <a:ext cx="240944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 name="Straight Arrow Connector 6"/>
          <p:cNvCxnSpPr/>
          <p:nvPr/>
        </p:nvCxnSpPr>
        <p:spPr>
          <a:xfrm flipV="1">
            <a:off x="1429612" y="2051084"/>
            <a:ext cx="0" cy="187220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9" name="TextBox 8"/>
          <p:cNvSpPr txBox="1"/>
          <p:nvPr/>
        </p:nvSpPr>
        <p:spPr>
          <a:xfrm>
            <a:off x="2410339" y="3024020"/>
            <a:ext cx="415472" cy="369332"/>
          </a:xfrm>
          <a:prstGeom prst="rect">
            <a:avLst/>
          </a:prstGeom>
          <a:noFill/>
        </p:spPr>
        <p:txBody>
          <a:bodyPr wrap="square" rtlCol="0">
            <a:spAutoFit/>
          </a:bodyPr>
          <a:lstStyle/>
          <a:p>
            <a:r>
              <a:rPr lang="en-GB"/>
              <a:t>3</a:t>
            </a:r>
          </a:p>
        </p:txBody>
      </p:sp>
      <p:sp>
        <p:nvSpPr>
          <p:cNvPr id="10" name="Freeform: Shape 9"/>
          <p:cNvSpPr/>
          <p:nvPr/>
        </p:nvSpPr>
        <p:spPr>
          <a:xfrm flipV="1">
            <a:off x="1149978" y="2100117"/>
            <a:ext cx="1946813" cy="1655535"/>
          </a:xfrm>
          <a:custGeom>
            <a:avLst/>
            <a:gdLst>
              <a:gd name="connsiteX0" fmla="*/ 0 w 1520456"/>
              <a:gd name="connsiteY0" fmla="*/ 0 h 1297172"/>
              <a:gd name="connsiteX1" fmla="*/ 265814 w 1520456"/>
              <a:gd name="connsiteY1" fmla="*/ 808074 h 1297172"/>
              <a:gd name="connsiteX2" fmla="*/ 606056 w 1520456"/>
              <a:gd name="connsiteY2" fmla="*/ 1244009 h 1297172"/>
              <a:gd name="connsiteX3" fmla="*/ 978195 w 1520456"/>
              <a:gd name="connsiteY3" fmla="*/ 797442 h 1297172"/>
              <a:gd name="connsiteX4" fmla="*/ 1190847 w 1520456"/>
              <a:gd name="connsiteY4" fmla="*/ 446567 h 1297172"/>
              <a:gd name="connsiteX5" fmla="*/ 1382233 w 1520456"/>
              <a:gd name="connsiteY5" fmla="*/ 808074 h 1297172"/>
              <a:gd name="connsiteX6" fmla="*/ 1520456 w 1520456"/>
              <a:gd name="connsiteY6" fmla="*/ 1297172 h 1297172"/>
              <a:gd name="connsiteX0" fmla="*/ 0 w 1520456"/>
              <a:gd name="connsiteY0" fmla="*/ 0 h 1297172"/>
              <a:gd name="connsiteX1" fmla="*/ 265814 w 1520456"/>
              <a:gd name="connsiteY1" fmla="*/ 808074 h 1297172"/>
              <a:gd name="connsiteX2" fmla="*/ 606056 w 1520456"/>
              <a:gd name="connsiteY2" fmla="*/ 1244009 h 1297172"/>
              <a:gd name="connsiteX3" fmla="*/ 946297 w 1520456"/>
              <a:gd name="connsiteY3" fmla="*/ 776177 h 1297172"/>
              <a:gd name="connsiteX4" fmla="*/ 1190847 w 1520456"/>
              <a:gd name="connsiteY4" fmla="*/ 446567 h 1297172"/>
              <a:gd name="connsiteX5" fmla="*/ 1382233 w 1520456"/>
              <a:gd name="connsiteY5" fmla="*/ 808074 h 1297172"/>
              <a:gd name="connsiteX6" fmla="*/ 1520456 w 1520456"/>
              <a:gd name="connsiteY6" fmla="*/ 1297172 h 1297172"/>
              <a:gd name="connsiteX0" fmla="*/ 0 w 1520456"/>
              <a:gd name="connsiteY0" fmla="*/ 0 h 1297172"/>
              <a:gd name="connsiteX1" fmla="*/ 265814 w 1520456"/>
              <a:gd name="connsiteY1" fmla="*/ 808074 h 1297172"/>
              <a:gd name="connsiteX2" fmla="*/ 606056 w 1520456"/>
              <a:gd name="connsiteY2" fmla="*/ 1244009 h 1297172"/>
              <a:gd name="connsiteX3" fmla="*/ 946297 w 1520456"/>
              <a:gd name="connsiteY3" fmla="*/ 776177 h 1297172"/>
              <a:gd name="connsiteX4" fmla="*/ 1190847 w 1520456"/>
              <a:gd name="connsiteY4" fmla="*/ 446567 h 1297172"/>
              <a:gd name="connsiteX5" fmla="*/ 1382233 w 1520456"/>
              <a:gd name="connsiteY5" fmla="*/ 808074 h 1297172"/>
              <a:gd name="connsiteX6" fmla="*/ 1520456 w 1520456"/>
              <a:gd name="connsiteY6" fmla="*/ 1297172 h 1297172"/>
              <a:gd name="connsiteX0" fmla="*/ 0 w 1781713"/>
              <a:gd name="connsiteY0" fmla="*/ 0 h 1776144"/>
              <a:gd name="connsiteX1" fmla="*/ 265814 w 1781713"/>
              <a:gd name="connsiteY1" fmla="*/ 808074 h 1776144"/>
              <a:gd name="connsiteX2" fmla="*/ 606056 w 1781713"/>
              <a:gd name="connsiteY2" fmla="*/ 1244009 h 1776144"/>
              <a:gd name="connsiteX3" fmla="*/ 946297 w 1781713"/>
              <a:gd name="connsiteY3" fmla="*/ 776177 h 1776144"/>
              <a:gd name="connsiteX4" fmla="*/ 1190847 w 1781713"/>
              <a:gd name="connsiteY4" fmla="*/ 446567 h 1776144"/>
              <a:gd name="connsiteX5" fmla="*/ 1382233 w 1781713"/>
              <a:gd name="connsiteY5" fmla="*/ 808074 h 1776144"/>
              <a:gd name="connsiteX6" fmla="*/ 1781713 w 1781713"/>
              <a:gd name="connsiteY6" fmla="*/ 1776144 h 1776144"/>
              <a:gd name="connsiteX0" fmla="*/ 0 w 1781713"/>
              <a:gd name="connsiteY0" fmla="*/ 0 h 1776144"/>
              <a:gd name="connsiteX1" fmla="*/ 265814 w 1781713"/>
              <a:gd name="connsiteY1" fmla="*/ 808074 h 1776144"/>
              <a:gd name="connsiteX2" fmla="*/ 606056 w 1781713"/>
              <a:gd name="connsiteY2" fmla="*/ 1244009 h 1776144"/>
              <a:gd name="connsiteX3" fmla="*/ 946297 w 1781713"/>
              <a:gd name="connsiteY3" fmla="*/ 776177 h 1776144"/>
              <a:gd name="connsiteX4" fmla="*/ 1190847 w 1781713"/>
              <a:gd name="connsiteY4" fmla="*/ 446567 h 1776144"/>
              <a:gd name="connsiteX5" fmla="*/ 1393119 w 1781713"/>
              <a:gd name="connsiteY5" fmla="*/ 764531 h 1776144"/>
              <a:gd name="connsiteX6" fmla="*/ 1781713 w 1781713"/>
              <a:gd name="connsiteY6" fmla="*/ 1776144 h 1776144"/>
              <a:gd name="connsiteX0" fmla="*/ 0 w 1946813"/>
              <a:gd name="connsiteY0" fmla="*/ 0 h 2240127"/>
              <a:gd name="connsiteX1" fmla="*/ 430914 w 1946813"/>
              <a:gd name="connsiteY1" fmla="*/ 1272057 h 2240127"/>
              <a:gd name="connsiteX2" fmla="*/ 771156 w 1946813"/>
              <a:gd name="connsiteY2" fmla="*/ 1707992 h 2240127"/>
              <a:gd name="connsiteX3" fmla="*/ 1111397 w 1946813"/>
              <a:gd name="connsiteY3" fmla="*/ 1240160 h 2240127"/>
              <a:gd name="connsiteX4" fmla="*/ 1355947 w 1946813"/>
              <a:gd name="connsiteY4" fmla="*/ 910550 h 2240127"/>
              <a:gd name="connsiteX5" fmla="*/ 1558219 w 1946813"/>
              <a:gd name="connsiteY5" fmla="*/ 1228514 h 2240127"/>
              <a:gd name="connsiteX6" fmla="*/ 1946813 w 1946813"/>
              <a:gd name="connsiteY6" fmla="*/ 2240127 h 2240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46813" h="2240127">
                <a:moveTo>
                  <a:pt x="0" y="0"/>
                </a:moveTo>
                <a:cubicBezTo>
                  <a:pt x="82402" y="300369"/>
                  <a:pt x="302388" y="987392"/>
                  <a:pt x="430914" y="1272057"/>
                </a:cubicBezTo>
                <a:cubicBezTo>
                  <a:pt x="559440" y="1556722"/>
                  <a:pt x="657742" y="1713308"/>
                  <a:pt x="771156" y="1707992"/>
                </a:cubicBezTo>
                <a:cubicBezTo>
                  <a:pt x="884570" y="1702676"/>
                  <a:pt x="1035197" y="1394332"/>
                  <a:pt x="1111397" y="1240160"/>
                </a:cubicBezTo>
                <a:cubicBezTo>
                  <a:pt x="1187597" y="1085988"/>
                  <a:pt x="1281477" y="912491"/>
                  <a:pt x="1355947" y="910550"/>
                </a:cubicBezTo>
                <a:cubicBezTo>
                  <a:pt x="1430417" y="908609"/>
                  <a:pt x="1459741" y="1006918"/>
                  <a:pt x="1558219" y="1228514"/>
                </a:cubicBezTo>
                <a:cubicBezTo>
                  <a:pt x="1656697" y="1450110"/>
                  <a:pt x="1905169" y="2066461"/>
                  <a:pt x="1946813" y="2240127"/>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mc:Choice xmlns:a14="http://schemas.microsoft.com/office/drawing/2010/main" Requires="a14">
          <p:sp>
            <p:nvSpPr>
              <p:cNvPr id="12" name="TextBox 11"/>
              <p:cNvSpPr txBox="1"/>
              <p:nvPr/>
            </p:nvSpPr>
            <p:spPr>
              <a:xfrm>
                <a:off x="1171076" y="1724258"/>
                <a:ext cx="415472" cy="276999"/>
              </a:xfrm>
              <a:prstGeom prst="rect">
                <a:avLst/>
              </a:prstGeom>
              <a:noFill/>
            </p:spPr>
            <p:txBody>
              <a:bodyPr wrap="square" rtlCol="0">
                <a:spAutoFit/>
              </a:bodyPr>
              <a:lstStyle/>
              <a:p>
                <a:pPr/>
                <a14:m>
                  <m:oMathPara xmlns:m="http://schemas.openxmlformats.org/officeDocument/2006/math">
                    <m:oMath>
                      <m:r>
                        <a:rPr lang="en-GB" sz="1200" b="0" i="1" smtClean="0">
                          <a:latin typeface="Cambria Math" panose="02040503050406030204" pitchFamily="18" charset="0"/>
                        </a:rPr>
                        <m:t>𝑦</m:t>
                      </m:r>
                    </m:oMath>
                  </m:oMathPara>
                </a14:m>
                <a:endParaRPr lang="en-GB"/>
              </a:p>
            </p:txBody>
          </p:sp>
        </mc:Choice>
        <mc:Fallback>
          <p:sp>
            <p:nvSpPr>
              <p:cNvPr id="12" name="TextBox 11"/>
              <p:cNvSpPr txBox="1">
                <a:spLocks noRot="1" noChangeAspect="1" noMove="1" noResize="1" noEditPoints="1" noAdjustHandles="1" noChangeArrowheads="1" noChangeShapeType="1" noTextEdit="1"/>
              </p:cNvSpPr>
              <p:nvPr/>
            </p:nvSpPr>
            <p:spPr>
              <a:xfrm>
                <a:off x="1171076" y="1724258"/>
                <a:ext cx="415472" cy="276999"/>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3" name="TextBox 12"/>
              <p:cNvSpPr txBox="1"/>
              <p:nvPr/>
            </p:nvSpPr>
            <p:spPr>
              <a:xfrm>
                <a:off x="3036331" y="2948194"/>
                <a:ext cx="415472" cy="276999"/>
              </a:xfrm>
              <a:prstGeom prst="rect">
                <a:avLst/>
              </a:prstGeom>
              <a:noFill/>
            </p:spPr>
            <p:txBody>
              <a:bodyPr wrap="square" rtlCol="0">
                <a:spAutoFit/>
              </a:bodyPr>
              <a:lstStyle/>
              <a:p>
                <a:pPr/>
                <a14:m>
                  <m:oMathPara xmlns:m="http://schemas.openxmlformats.org/officeDocument/2006/math">
                    <m:oMath>
                      <m:r>
                        <a:rPr lang="en-GB" sz="1200" b="0" i="1" smtClean="0">
                          <a:latin typeface="Cambria Math" panose="02040503050406030204" pitchFamily="18" charset="0"/>
                        </a:rPr>
                        <m:t>𝑥</m:t>
                      </m:r>
                    </m:oMath>
                  </m:oMathPara>
                </a14:m>
                <a:endParaRPr lang="en-GB"/>
              </a:p>
            </p:txBody>
          </p:sp>
        </mc:Choice>
        <mc:Fallback>
          <p:sp>
            <p:nvSpPr>
              <p:cNvPr id="13" name="TextBox 12"/>
              <p:cNvSpPr txBox="1">
                <a:spLocks noRot="1" noChangeAspect="1" noMove="1" noResize="1" noEditPoints="1" noAdjustHandles="1" noChangeArrowheads="1" noChangeShapeType="1" noTextEdit="1"/>
              </p:cNvSpPr>
              <p:nvPr/>
            </p:nvSpPr>
            <p:spPr>
              <a:xfrm>
                <a:off x="3036331" y="2948194"/>
                <a:ext cx="415472" cy="276999"/>
              </a:xfrm>
              <a:prstGeom prst="rect">
                <a:avLst/>
              </a:prstGeom>
              <a:blipFill>
                <a:blip r:embed="rId4"/>
                <a:stretch>
                  <a:fillRect/>
                </a:stretch>
              </a:blipFill>
            </p:spPr>
            <p:txBody>
              <a:bodyPr/>
              <a:lstStyle/>
              <a:p>
                <a:r>
                  <a:rPr lang="en-US">
                    <a:noFill/>
                  </a:rPr>
                  <a:t> </a:t>
                </a:r>
              </a:p>
            </p:txBody>
          </p:sp>
        </mc:Fallback>
      </mc:AlternateContent>
      <p:sp>
        <p:nvSpPr>
          <p:cNvPr id="14" name="Rectangle 13"/>
          <p:cNvSpPr/>
          <p:nvPr/>
        </p:nvSpPr>
        <p:spPr>
          <a:xfrm>
            <a:off x="736959" y="1699478"/>
            <a:ext cx="2952639" cy="2547070"/>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mc:AlternateContent xmlns:mc="http://schemas.openxmlformats.org/markup-compatibility/2006">
        <mc:Choice xmlns:a14="http://schemas.microsoft.com/office/drawing/2010/main" Requires="a14">
          <p:sp>
            <p:nvSpPr>
              <p:cNvPr id="15" name="TextBox 14"/>
              <p:cNvSpPr txBox="1"/>
              <p:nvPr/>
            </p:nvSpPr>
            <p:spPr>
              <a:xfrm>
                <a:off x="4809289" y="2733092"/>
                <a:ext cx="3274764" cy="646331"/>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a:t>Sketch the curve with equation</a:t>
                </a:r>
              </a:p>
              <a:p>
                <a:pPr/>
                <a14:m>
                  <m:oMathPara xmlns:m="http://schemas.openxmlformats.org/officeDocument/2006/math">
                    <m:oMath>
                      <m:r>
                        <a:rPr lang="en-GB" i="1">
                          <a:latin typeface="Cambria Math"/>
                        </a:rPr>
                        <m:t>𝑦</m:t>
                      </m:r>
                      <m:r>
                        <a:rPr lang="en-GB" i="1">
                          <a:latin typeface="Cambria Math"/>
                        </a:rPr>
                        <m:t>=2</m:t>
                      </m:r>
                      <m:sSup>
                        <m:sSupPr>
                          <m:ctrlPr>
                            <a:rPr lang="en-GB" i="1">
                              <a:latin typeface="Cambria Math"/>
                            </a:rPr>
                          </m:ctrlPr>
                        </m:sSupPr>
                        <m:e>
                          <m:r>
                            <a:rPr lang="en-GB" i="1">
                              <a:latin typeface="Cambria Math"/>
                            </a:rPr>
                            <m:t>𝑥</m:t>
                          </m:r>
                        </m:e>
                        <m:sup>
                          <m:r>
                            <a:rPr lang="en-GB" i="1">
                              <a:latin typeface="Cambria Math"/>
                            </a:rPr>
                            <m:t>2</m:t>
                          </m:r>
                        </m:sup>
                      </m:sSup>
                      <m:d>
                        <m:dPr>
                          <m:ctrlPr>
                            <a:rPr lang="en-GB" i="1">
                              <a:latin typeface="Cambria Math"/>
                            </a:rPr>
                          </m:ctrlPr>
                        </m:dPr>
                        <m:e>
                          <m:r>
                            <a:rPr lang="en-GB" i="1">
                              <a:latin typeface="Cambria Math"/>
                            </a:rPr>
                            <m:t>𝑥</m:t>
                          </m:r>
                          <m:r>
                            <a:rPr lang="en-GB" i="1">
                              <a:latin typeface="Cambria Math"/>
                            </a:rPr>
                            <m:t>−1</m:t>
                          </m:r>
                        </m:e>
                      </m:d>
                      <m:sSup>
                        <m:sSupPr>
                          <m:ctrlPr>
                            <a:rPr lang="en-GB" i="1">
                              <a:latin typeface="Cambria Math" panose="02040503050406030204" pitchFamily="18" charset="0"/>
                            </a:rPr>
                          </m:ctrlPr>
                        </m:sSupPr>
                        <m:e>
                          <m:d>
                            <m:dPr>
                              <m:ctrlPr>
                                <a:rPr lang="en-GB" i="1">
                                  <a:latin typeface="Cambria Math"/>
                                </a:rPr>
                              </m:ctrlPr>
                            </m:dPr>
                            <m:e>
                              <m:r>
                                <a:rPr lang="en-GB" i="1">
                                  <a:latin typeface="Cambria Math"/>
                                </a:rPr>
                                <m:t>𝑥</m:t>
                              </m:r>
                              <m:r>
                                <a:rPr lang="en-GB" i="1">
                                  <a:latin typeface="Cambria Math"/>
                                </a:rPr>
                                <m:t>+1</m:t>
                              </m:r>
                            </m:e>
                          </m:d>
                        </m:e>
                        <m:sup>
                          <m:r>
                            <a:rPr lang="en-GB" i="1">
                              <a:latin typeface="Cambria Math"/>
                            </a:rPr>
                            <m:t>3</m:t>
                          </m:r>
                        </m:sup>
                      </m:sSup>
                    </m:oMath>
                  </m:oMathPara>
                </a14:m>
                <a:endParaRPr lang="en-GB"/>
              </a:p>
            </p:txBody>
          </p:sp>
        </mc:Choice>
        <mc:Fallback>
          <p:sp>
            <p:nvSpPr>
              <p:cNvPr id="15" name="TextBox 14"/>
              <p:cNvSpPr txBox="1">
                <a:spLocks noRot="1" noChangeAspect="1" noMove="1" noResize="1" noEditPoints="1" noAdjustHandles="1" noChangeArrowheads="1" noChangeShapeType="1" noTextEdit="1"/>
              </p:cNvSpPr>
              <p:nvPr/>
            </p:nvSpPr>
            <p:spPr>
              <a:xfrm>
                <a:off x="4809289" y="2733092"/>
                <a:ext cx="3274764" cy="646331"/>
              </a:xfrm>
              <a:prstGeom prst="rect">
                <a:avLst/>
              </a:prstGeom>
              <a:blipFill>
                <a:blip r:embed="rId5"/>
                <a:stretch>
                  <a:fillRect/>
                </a:stretch>
              </a:blipFill>
              <a:effectLst>
                <a:outerShdw blurRad="63500" sx="102000" sy="102000" algn="ctr" rotWithShape="0">
                  <a:prstClr val="black">
                    <a:alpha val="40000"/>
                  </a:prstClr>
                </a:outerShdw>
              </a:effectLst>
            </p:spPr>
            <p:txBody>
              <a:bodyPr/>
              <a:lstStyle/>
              <a:p>
                <a:r>
                  <a:rPr lang="en-US">
                    <a:noFill/>
                  </a:rPr>
                  <a:t> </a:t>
                </a:r>
              </a:p>
            </p:txBody>
          </p:sp>
        </mc:Fallback>
      </mc:AlternateContent>
      <p:sp>
        <p:nvSpPr>
          <p:cNvPr id="16" name="Rectangle 15"/>
          <p:cNvSpPr/>
          <p:nvPr/>
        </p:nvSpPr>
        <p:spPr>
          <a:xfrm>
            <a:off x="161051" y="845853"/>
            <a:ext cx="324951" cy="323165"/>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a:t>1</a:t>
            </a:r>
          </a:p>
        </p:txBody>
      </p:sp>
      <p:sp>
        <p:nvSpPr>
          <p:cNvPr id="17" name="Rectangle 16"/>
          <p:cNvSpPr/>
          <p:nvPr/>
        </p:nvSpPr>
        <p:spPr>
          <a:xfrm>
            <a:off x="4463072" y="2722459"/>
            <a:ext cx="324951" cy="323165"/>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a:latin typeface="Wingdings" panose="05000000000000000000" pitchFamily="2" charset="2"/>
              </a:rPr>
              <a:t>N</a:t>
            </a:r>
          </a:p>
        </p:txBody>
      </p:sp>
      <p:pic>
        <p:nvPicPr>
          <p:cNvPr id="19" name="Picture 2" descr="Graph Plot"/>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01879" y="3509380"/>
            <a:ext cx="3886607" cy="2400551"/>
          </a:xfrm>
          <a:prstGeom prst="rect">
            <a:avLst/>
          </a:prstGeom>
          <a:noFill/>
          <a:extLst>
            <a:ext uri="{909E8E84-426E-40DD-AFC4-6F175D3DCCD1}">
              <a14:hiddenFill xmlns:a14="http://schemas.microsoft.com/office/drawing/2010/main">
                <a:solidFill>
                  <a:srgbClr val="FFFFFF"/>
                </a:solidFill>
              </a14:hiddenFill>
            </a:ext>
          </a:extLst>
        </p:spPr>
      </p:pic>
      <p:sp>
        <p:nvSpPr>
          <p:cNvPr id="20" name="TextBox 19"/>
          <p:cNvSpPr txBox="1"/>
          <p:nvPr/>
        </p:nvSpPr>
        <p:spPr>
          <a:xfrm>
            <a:off x="5506913" y="3944930"/>
            <a:ext cx="864096" cy="461665"/>
          </a:xfrm>
          <a:prstGeom prst="rect">
            <a:avLst/>
          </a:prstGeom>
          <a:noFill/>
        </p:spPr>
        <p:txBody>
          <a:bodyPr wrap="square" rtlCol="0">
            <a:spAutoFit/>
          </a:bodyPr>
          <a:lstStyle/>
          <a:p>
            <a:r>
              <a:rPr lang="en-GB" sz="1200"/>
              <a:t>Point of inflection</a:t>
            </a:r>
          </a:p>
        </p:txBody>
      </p:sp>
      <p:cxnSp>
        <p:nvCxnSpPr>
          <p:cNvPr id="22" name="Straight Arrow Connector 21"/>
          <p:cNvCxnSpPr/>
          <p:nvPr/>
        </p:nvCxnSpPr>
        <p:spPr>
          <a:xfrm flipH="1">
            <a:off x="5404197" y="4437326"/>
            <a:ext cx="360040" cy="4498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23" name="TextBox 22"/>
              <p:cNvSpPr txBox="1"/>
              <p:nvPr/>
            </p:nvSpPr>
            <p:spPr>
              <a:xfrm>
                <a:off x="6667881" y="3920064"/>
                <a:ext cx="864096" cy="461665"/>
              </a:xfrm>
              <a:prstGeom prst="rect">
                <a:avLst/>
              </a:prstGeom>
              <a:noFill/>
            </p:spPr>
            <p:txBody>
              <a:bodyPr wrap="square" rtlCol="0">
                <a:spAutoFit/>
              </a:bodyPr>
              <a:lstStyle/>
              <a:p>
                <a:r>
                  <a:rPr lang="en-GB" sz="1200" b="1"/>
                  <a:t>Touches</a:t>
                </a:r>
              </a:p>
              <a:p>
                <a14:m>
                  <m:oMath xmlns:m="http://schemas.openxmlformats.org/officeDocument/2006/math">
                    <m:r>
                      <a:rPr lang="en-GB" sz="1200" b="0" i="1" smtClean="0">
                        <a:latin typeface="Cambria Math" panose="02040503050406030204" pitchFamily="18" charset="0"/>
                      </a:rPr>
                      <m:t>𝑥</m:t>
                    </m:r>
                  </m:oMath>
                </a14:m>
                <a:r>
                  <a:rPr lang="en-GB" sz="1200"/>
                  <a:t>-axis</a:t>
                </a:r>
              </a:p>
            </p:txBody>
          </p:sp>
        </mc:Choice>
        <mc:Fallback>
          <p:sp>
            <p:nvSpPr>
              <p:cNvPr id="23" name="TextBox 22"/>
              <p:cNvSpPr txBox="1">
                <a:spLocks noRot="1" noChangeAspect="1" noMove="1" noResize="1" noEditPoints="1" noAdjustHandles="1" noChangeArrowheads="1" noChangeShapeType="1" noTextEdit="1"/>
              </p:cNvSpPr>
              <p:nvPr/>
            </p:nvSpPr>
            <p:spPr>
              <a:xfrm>
                <a:off x="6667881" y="3920064"/>
                <a:ext cx="864096" cy="461665"/>
              </a:xfrm>
              <a:prstGeom prst="rect">
                <a:avLst/>
              </a:prstGeom>
              <a:blipFill>
                <a:blip r:embed="rId7"/>
                <a:stretch>
                  <a:fillRect b="-7895"/>
                </a:stretch>
              </a:blipFill>
            </p:spPr>
            <p:txBody>
              <a:bodyPr/>
              <a:lstStyle/>
              <a:p>
                <a:r>
                  <a:rPr lang="en-US">
                    <a:noFill/>
                  </a:rPr>
                  <a:t> </a:t>
                </a:r>
              </a:p>
            </p:txBody>
          </p:sp>
        </mc:Fallback>
      </mc:AlternateContent>
      <p:cxnSp>
        <p:nvCxnSpPr>
          <p:cNvPr id="24" name="Straight Arrow Connector 23"/>
          <p:cNvCxnSpPr/>
          <p:nvPr/>
        </p:nvCxnSpPr>
        <p:spPr>
          <a:xfrm flipH="1">
            <a:off x="6371113" y="4313940"/>
            <a:ext cx="338694" cy="58941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26" name="TextBox 25"/>
              <p:cNvSpPr txBox="1"/>
              <p:nvPr/>
            </p:nvSpPr>
            <p:spPr>
              <a:xfrm>
                <a:off x="7669663" y="3877534"/>
                <a:ext cx="864096" cy="461665"/>
              </a:xfrm>
              <a:prstGeom prst="rect">
                <a:avLst/>
              </a:prstGeom>
              <a:noFill/>
            </p:spPr>
            <p:txBody>
              <a:bodyPr wrap="square" rtlCol="0">
                <a:spAutoFit/>
              </a:bodyPr>
              <a:lstStyle/>
              <a:p>
                <a:r>
                  <a:rPr lang="en-GB" sz="1200" b="1"/>
                  <a:t>Crosses</a:t>
                </a:r>
              </a:p>
              <a:p>
                <a14:m>
                  <m:oMath xmlns:m="http://schemas.openxmlformats.org/officeDocument/2006/math">
                    <m:r>
                      <a:rPr lang="en-GB" sz="1200" b="0" i="1" smtClean="0">
                        <a:latin typeface="Cambria Math" panose="02040503050406030204" pitchFamily="18" charset="0"/>
                      </a:rPr>
                      <m:t>𝑥</m:t>
                    </m:r>
                  </m:oMath>
                </a14:m>
                <a:r>
                  <a:rPr lang="en-GB" sz="1200"/>
                  <a:t>-axis</a:t>
                </a:r>
              </a:p>
            </p:txBody>
          </p:sp>
        </mc:Choice>
        <mc:Fallback>
          <p:sp>
            <p:nvSpPr>
              <p:cNvPr id="26" name="TextBox 25"/>
              <p:cNvSpPr txBox="1">
                <a:spLocks noRot="1" noChangeAspect="1" noMove="1" noResize="1" noEditPoints="1" noAdjustHandles="1" noChangeArrowheads="1" noChangeShapeType="1" noTextEdit="1"/>
              </p:cNvSpPr>
              <p:nvPr/>
            </p:nvSpPr>
            <p:spPr>
              <a:xfrm>
                <a:off x="7669663" y="3877534"/>
                <a:ext cx="864096" cy="461665"/>
              </a:xfrm>
              <a:prstGeom prst="rect">
                <a:avLst/>
              </a:prstGeom>
              <a:blipFill>
                <a:blip r:embed="rId8"/>
                <a:stretch>
                  <a:fillRect b="-10811"/>
                </a:stretch>
              </a:blipFill>
            </p:spPr>
            <p:txBody>
              <a:bodyPr/>
              <a:lstStyle/>
              <a:p>
                <a:r>
                  <a:rPr lang="en-US">
                    <a:noFill/>
                  </a:rPr>
                  <a:t> </a:t>
                </a:r>
              </a:p>
            </p:txBody>
          </p:sp>
        </mc:Fallback>
      </mc:AlternateContent>
      <p:cxnSp>
        <p:nvCxnSpPr>
          <p:cNvPr id="27" name="Straight Arrow Connector 26"/>
          <p:cNvCxnSpPr/>
          <p:nvPr/>
        </p:nvCxnSpPr>
        <p:spPr>
          <a:xfrm flipH="1">
            <a:off x="7393990" y="4352266"/>
            <a:ext cx="338694" cy="58941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8" name="Rectangle 27"/>
          <p:cNvSpPr/>
          <p:nvPr/>
        </p:nvSpPr>
        <p:spPr>
          <a:xfrm>
            <a:off x="4295870" y="3426039"/>
            <a:ext cx="4210177" cy="2475031"/>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mc:AlternateContent xmlns:mc="http://schemas.openxmlformats.org/markup-compatibility/2006">
        <mc:Choice xmlns:a14="http://schemas.microsoft.com/office/drawing/2010/main" Requires="a14">
          <p:sp>
            <p:nvSpPr>
              <p:cNvPr id="30" name="TextBox 29"/>
              <p:cNvSpPr txBox="1"/>
              <p:nvPr/>
            </p:nvSpPr>
            <p:spPr>
              <a:xfrm>
                <a:off x="477453" y="4410058"/>
                <a:ext cx="3274764" cy="646331"/>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a:t>Sketch the curve with equation</a:t>
                </a:r>
              </a:p>
              <a:p>
                <a:pPr/>
                <a14:m>
                  <m:oMathPara xmlns:m="http://schemas.openxmlformats.org/officeDocument/2006/math">
                    <m:oMath>
                      <m:r>
                        <a:rPr lang="en-GB" b="0" i="1" smtClean="0">
                          <a:latin typeface="Cambria Math" panose="02040503050406030204" pitchFamily="18" charset="0"/>
                        </a:rPr>
                        <m:t>𝑦</m:t>
                      </m:r>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d>
                            <m:dPr>
                              <m:ctrlPr>
                                <a:rPr lang="en-GB" b="0" i="1" smtClean="0">
                                  <a:latin typeface="Cambria Math" panose="02040503050406030204" pitchFamily="18" charset="0"/>
                                </a:rPr>
                              </m:ctrlPr>
                            </m:dPr>
                            <m:e>
                              <m:r>
                                <a:rPr lang="en-GB" b="0" i="1" smtClean="0">
                                  <a:latin typeface="Cambria Math" panose="02040503050406030204" pitchFamily="18" charset="0"/>
                                </a:rPr>
                                <m:t>𝑥</m:t>
                              </m:r>
                              <m:r>
                                <a:rPr lang="en-GB" b="0" i="1" smtClean="0">
                                  <a:latin typeface="Cambria Math" panose="02040503050406030204" pitchFamily="18" charset="0"/>
                                </a:rPr>
                                <m:t>+2</m:t>
                              </m:r>
                            </m:e>
                          </m:d>
                        </m:e>
                        <m:sup>
                          <m:r>
                            <a:rPr lang="en-GB" b="0" i="1" smtClean="0">
                              <a:latin typeface="Cambria Math" panose="02040503050406030204" pitchFamily="18" charset="0"/>
                            </a:rPr>
                            <m:t>3</m:t>
                          </m:r>
                        </m:sup>
                      </m:sSup>
                    </m:oMath>
                  </m:oMathPara>
                </a14:m>
                <a:endParaRPr lang="en-GB"/>
              </a:p>
            </p:txBody>
          </p:sp>
        </mc:Choice>
        <mc:Fallback>
          <p:sp>
            <p:nvSpPr>
              <p:cNvPr id="30" name="TextBox 29"/>
              <p:cNvSpPr txBox="1">
                <a:spLocks noRot="1" noChangeAspect="1" noMove="1" noResize="1" noEditPoints="1" noAdjustHandles="1" noChangeArrowheads="1" noChangeShapeType="1" noTextEdit="1"/>
              </p:cNvSpPr>
              <p:nvPr/>
            </p:nvSpPr>
            <p:spPr>
              <a:xfrm>
                <a:off x="477453" y="4410058"/>
                <a:ext cx="3274764" cy="646331"/>
              </a:xfrm>
              <a:prstGeom prst="rect">
                <a:avLst/>
              </a:prstGeom>
              <a:blipFill>
                <a:blip r:embed="rId9"/>
                <a:stretch>
                  <a:fillRect/>
                </a:stretch>
              </a:blipFill>
              <a:effectLst>
                <a:outerShdw blurRad="63500" sx="102000" sy="102000" algn="ctr" rotWithShape="0">
                  <a:prstClr val="black">
                    <a:alpha val="40000"/>
                  </a:prstClr>
                </a:outerShdw>
              </a:effectLst>
            </p:spPr>
            <p:txBody>
              <a:bodyPr/>
              <a:lstStyle/>
              <a:p>
                <a:r>
                  <a:rPr lang="en-US">
                    <a:noFill/>
                  </a:rPr>
                  <a:t> </a:t>
                </a:r>
              </a:p>
            </p:txBody>
          </p:sp>
        </mc:Fallback>
      </mc:AlternateContent>
      <p:sp>
        <p:nvSpPr>
          <p:cNvPr id="31" name="Rectangle 30"/>
          <p:cNvSpPr/>
          <p:nvPr/>
        </p:nvSpPr>
        <p:spPr>
          <a:xfrm>
            <a:off x="152502" y="4410058"/>
            <a:ext cx="324951" cy="323165"/>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a:t>2</a:t>
            </a:r>
          </a:p>
        </p:txBody>
      </p:sp>
      <p:cxnSp>
        <p:nvCxnSpPr>
          <p:cNvPr id="32" name="Straight Arrow Connector 31"/>
          <p:cNvCxnSpPr/>
          <p:nvPr/>
        </p:nvCxnSpPr>
        <p:spPr>
          <a:xfrm flipV="1">
            <a:off x="989310" y="5990536"/>
            <a:ext cx="1971822" cy="147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3" name="Straight Arrow Connector 32"/>
          <p:cNvCxnSpPr/>
          <p:nvPr/>
        </p:nvCxnSpPr>
        <p:spPr>
          <a:xfrm flipH="1" flipV="1">
            <a:off x="2004060" y="5379720"/>
            <a:ext cx="2128" cy="128115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4" name="TextBox 33"/>
          <p:cNvSpPr txBox="1"/>
          <p:nvPr/>
        </p:nvSpPr>
        <p:spPr>
          <a:xfrm>
            <a:off x="1714930" y="6060239"/>
            <a:ext cx="514705" cy="369332"/>
          </a:xfrm>
          <a:prstGeom prst="rect">
            <a:avLst/>
          </a:prstGeom>
          <a:noFill/>
        </p:spPr>
        <p:txBody>
          <a:bodyPr wrap="square" rtlCol="0">
            <a:spAutoFit/>
          </a:bodyPr>
          <a:lstStyle/>
          <a:p>
            <a:r>
              <a:rPr lang="en-GB"/>
              <a:t>-8</a:t>
            </a:r>
          </a:p>
        </p:txBody>
      </p:sp>
      <p:sp>
        <p:nvSpPr>
          <p:cNvPr id="35" name="TextBox 34"/>
          <p:cNvSpPr txBox="1"/>
          <p:nvPr/>
        </p:nvSpPr>
        <p:spPr>
          <a:xfrm>
            <a:off x="1358412" y="5931787"/>
            <a:ext cx="415472" cy="369332"/>
          </a:xfrm>
          <a:prstGeom prst="rect">
            <a:avLst/>
          </a:prstGeom>
          <a:noFill/>
        </p:spPr>
        <p:txBody>
          <a:bodyPr wrap="square" rtlCol="0">
            <a:spAutoFit/>
          </a:bodyPr>
          <a:lstStyle/>
          <a:p>
            <a:r>
              <a:rPr lang="en-GB"/>
              <a:t>-2</a:t>
            </a:r>
          </a:p>
        </p:txBody>
      </p:sp>
      <mc:AlternateContent xmlns:mc="http://schemas.openxmlformats.org/markup-compatibility/2006">
        <mc:Choice xmlns:a14="http://schemas.microsoft.com/office/drawing/2010/main" Requires="a14">
          <p:sp>
            <p:nvSpPr>
              <p:cNvPr id="36" name="TextBox 35"/>
              <p:cNvSpPr txBox="1"/>
              <p:nvPr/>
            </p:nvSpPr>
            <p:spPr>
              <a:xfrm>
                <a:off x="1813692" y="5147645"/>
                <a:ext cx="415472" cy="276999"/>
              </a:xfrm>
              <a:prstGeom prst="rect">
                <a:avLst/>
              </a:prstGeom>
              <a:noFill/>
            </p:spPr>
            <p:txBody>
              <a:bodyPr wrap="square" rtlCol="0">
                <a:spAutoFit/>
              </a:bodyPr>
              <a:lstStyle/>
              <a:p>
                <a:pPr/>
                <a14:m>
                  <m:oMathPara xmlns:m="http://schemas.openxmlformats.org/officeDocument/2006/math">
                    <m:oMath>
                      <m:r>
                        <a:rPr lang="en-GB" sz="1200" b="0" i="1" smtClean="0">
                          <a:latin typeface="Cambria Math" panose="02040503050406030204" pitchFamily="18" charset="0"/>
                        </a:rPr>
                        <m:t>𝑦</m:t>
                      </m:r>
                    </m:oMath>
                  </m:oMathPara>
                </a14:m>
                <a:endParaRPr lang="en-GB"/>
              </a:p>
            </p:txBody>
          </p:sp>
        </mc:Choice>
        <mc:Fallback>
          <p:sp>
            <p:nvSpPr>
              <p:cNvPr id="36" name="TextBox 35"/>
              <p:cNvSpPr txBox="1">
                <a:spLocks noRot="1" noChangeAspect="1" noMove="1" noResize="1" noEditPoints="1" noAdjustHandles="1" noChangeArrowheads="1" noChangeShapeType="1" noTextEdit="1"/>
              </p:cNvSpPr>
              <p:nvPr/>
            </p:nvSpPr>
            <p:spPr>
              <a:xfrm>
                <a:off x="1813692" y="5147645"/>
                <a:ext cx="415472" cy="276999"/>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7" name="TextBox 36"/>
              <p:cNvSpPr txBox="1"/>
              <p:nvPr/>
            </p:nvSpPr>
            <p:spPr>
              <a:xfrm>
                <a:off x="2838207" y="5825481"/>
                <a:ext cx="415472" cy="276999"/>
              </a:xfrm>
              <a:prstGeom prst="rect">
                <a:avLst/>
              </a:prstGeom>
              <a:noFill/>
            </p:spPr>
            <p:txBody>
              <a:bodyPr wrap="square" rtlCol="0">
                <a:spAutoFit/>
              </a:bodyPr>
              <a:lstStyle/>
              <a:p>
                <a:pPr/>
                <a14:m>
                  <m:oMathPara xmlns:m="http://schemas.openxmlformats.org/officeDocument/2006/math">
                    <m:oMath>
                      <m:r>
                        <a:rPr lang="en-GB" sz="1200" b="0" i="1" smtClean="0">
                          <a:latin typeface="Cambria Math" panose="02040503050406030204" pitchFamily="18" charset="0"/>
                        </a:rPr>
                        <m:t>𝑥</m:t>
                      </m:r>
                    </m:oMath>
                  </m:oMathPara>
                </a14:m>
                <a:endParaRPr lang="en-GB"/>
              </a:p>
            </p:txBody>
          </p:sp>
        </mc:Choice>
        <mc:Fallback>
          <p:sp>
            <p:nvSpPr>
              <p:cNvPr id="37" name="TextBox 36"/>
              <p:cNvSpPr txBox="1">
                <a:spLocks noRot="1" noChangeAspect="1" noMove="1" noResize="1" noEditPoints="1" noAdjustHandles="1" noChangeArrowheads="1" noChangeShapeType="1" noTextEdit="1"/>
              </p:cNvSpPr>
              <p:nvPr/>
            </p:nvSpPr>
            <p:spPr>
              <a:xfrm>
                <a:off x="2838207" y="5825481"/>
                <a:ext cx="415472" cy="276999"/>
              </a:xfrm>
              <a:prstGeom prst="rect">
                <a:avLst/>
              </a:prstGeom>
              <a:blipFill>
                <a:blip r:embed="rId11"/>
                <a:stretch>
                  <a:fillRect/>
                </a:stretch>
              </a:blipFill>
            </p:spPr>
            <p:txBody>
              <a:bodyPr/>
              <a:lstStyle/>
              <a:p>
                <a:r>
                  <a:rPr lang="en-US">
                    <a:noFill/>
                  </a:rPr>
                  <a:t> </a:t>
                </a:r>
              </a:p>
            </p:txBody>
          </p:sp>
        </mc:Fallback>
      </mc:AlternateContent>
      <p:sp>
        <p:nvSpPr>
          <p:cNvPr id="38" name="Freeform: Shape 37"/>
          <p:cNvSpPr/>
          <p:nvPr/>
        </p:nvSpPr>
        <p:spPr>
          <a:xfrm flipV="1">
            <a:off x="965805" y="5273040"/>
            <a:ext cx="1213515" cy="1440179"/>
          </a:xfrm>
          <a:custGeom>
            <a:avLst/>
            <a:gdLst>
              <a:gd name="connsiteX0" fmla="*/ 0 w 1284514"/>
              <a:gd name="connsiteY0" fmla="*/ 1883228 h 1883228"/>
              <a:gd name="connsiteX1" fmla="*/ 206828 w 1284514"/>
              <a:gd name="connsiteY1" fmla="*/ 1534885 h 1883228"/>
              <a:gd name="connsiteX2" fmla="*/ 533400 w 1284514"/>
              <a:gd name="connsiteY2" fmla="*/ 1055914 h 1883228"/>
              <a:gd name="connsiteX3" fmla="*/ 762000 w 1284514"/>
              <a:gd name="connsiteY3" fmla="*/ 979714 h 1883228"/>
              <a:gd name="connsiteX4" fmla="*/ 881743 w 1284514"/>
              <a:gd name="connsiteY4" fmla="*/ 979714 h 1883228"/>
              <a:gd name="connsiteX5" fmla="*/ 1023257 w 1284514"/>
              <a:gd name="connsiteY5" fmla="*/ 859971 h 1883228"/>
              <a:gd name="connsiteX6" fmla="*/ 1164771 w 1284514"/>
              <a:gd name="connsiteY6" fmla="*/ 620485 h 1883228"/>
              <a:gd name="connsiteX7" fmla="*/ 1284514 w 1284514"/>
              <a:gd name="connsiteY7" fmla="*/ 0 h 1883228"/>
              <a:gd name="connsiteX0" fmla="*/ 0 w 1284514"/>
              <a:gd name="connsiteY0" fmla="*/ 1883228 h 1883228"/>
              <a:gd name="connsiteX1" fmla="*/ 206828 w 1284514"/>
              <a:gd name="connsiteY1" fmla="*/ 1534885 h 1883228"/>
              <a:gd name="connsiteX2" fmla="*/ 533400 w 1284514"/>
              <a:gd name="connsiteY2" fmla="*/ 1055914 h 1883228"/>
              <a:gd name="connsiteX3" fmla="*/ 762000 w 1284514"/>
              <a:gd name="connsiteY3" fmla="*/ 979714 h 1883228"/>
              <a:gd name="connsiteX4" fmla="*/ 910318 w 1284514"/>
              <a:gd name="connsiteY4" fmla="*/ 944789 h 1883228"/>
              <a:gd name="connsiteX5" fmla="*/ 1023257 w 1284514"/>
              <a:gd name="connsiteY5" fmla="*/ 859971 h 1883228"/>
              <a:gd name="connsiteX6" fmla="*/ 1164771 w 1284514"/>
              <a:gd name="connsiteY6" fmla="*/ 620485 h 1883228"/>
              <a:gd name="connsiteX7" fmla="*/ 1284514 w 1284514"/>
              <a:gd name="connsiteY7" fmla="*/ 0 h 1883228"/>
              <a:gd name="connsiteX0" fmla="*/ 0 w 1284514"/>
              <a:gd name="connsiteY0" fmla="*/ 1883228 h 1883228"/>
              <a:gd name="connsiteX1" fmla="*/ 206828 w 1284514"/>
              <a:gd name="connsiteY1" fmla="*/ 1534885 h 1883228"/>
              <a:gd name="connsiteX2" fmla="*/ 533400 w 1284514"/>
              <a:gd name="connsiteY2" fmla="*/ 1055914 h 1883228"/>
              <a:gd name="connsiteX3" fmla="*/ 762000 w 1284514"/>
              <a:gd name="connsiteY3" fmla="*/ 979714 h 1883228"/>
              <a:gd name="connsiteX4" fmla="*/ 910318 w 1284514"/>
              <a:gd name="connsiteY4" fmla="*/ 944789 h 1883228"/>
              <a:gd name="connsiteX5" fmla="*/ 1023257 w 1284514"/>
              <a:gd name="connsiteY5" fmla="*/ 859971 h 1883228"/>
              <a:gd name="connsiteX6" fmla="*/ 1164771 w 1284514"/>
              <a:gd name="connsiteY6" fmla="*/ 620485 h 1883228"/>
              <a:gd name="connsiteX7" fmla="*/ 1284514 w 1284514"/>
              <a:gd name="connsiteY7" fmla="*/ 0 h 1883228"/>
              <a:gd name="connsiteX0" fmla="*/ 0 w 1284514"/>
              <a:gd name="connsiteY0" fmla="*/ 1883228 h 1883228"/>
              <a:gd name="connsiteX1" fmla="*/ 206828 w 1284514"/>
              <a:gd name="connsiteY1" fmla="*/ 1534885 h 1883228"/>
              <a:gd name="connsiteX2" fmla="*/ 533400 w 1284514"/>
              <a:gd name="connsiteY2" fmla="*/ 1055914 h 1883228"/>
              <a:gd name="connsiteX3" fmla="*/ 762000 w 1284514"/>
              <a:gd name="connsiteY3" fmla="*/ 979714 h 1883228"/>
              <a:gd name="connsiteX4" fmla="*/ 910318 w 1284514"/>
              <a:gd name="connsiteY4" fmla="*/ 944789 h 1883228"/>
              <a:gd name="connsiteX5" fmla="*/ 1023257 w 1284514"/>
              <a:gd name="connsiteY5" fmla="*/ 859971 h 1883228"/>
              <a:gd name="connsiteX6" fmla="*/ 1164771 w 1284514"/>
              <a:gd name="connsiteY6" fmla="*/ 620485 h 1883228"/>
              <a:gd name="connsiteX7" fmla="*/ 1284514 w 1284514"/>
              <a:gd name="connsiteY7" fmla="*/ 0 h 1883228"/>
              <a:gd name="connsiteX0" fmla="*/ 0 w 1284514"/>
              <a:gd name="connsiteY0" fmla="*/ 1883228 h 1883228"/>
              <a:gd name="connsiteX1" fmla="*/ 206828 w 1284514"/>
              <a:gd name="connsiteY1" fmla="*/ 1534885 h 1883228"/>
              <a:gd name="connsiteX2" fmla="*/ 533400 w 1284514"/>
              <a:gd name="connsiteY2" fmla="*/ 1055914 h 1883228"/>
              <a:gd name="connsiteX3" fmla="*/ 762000 w 1284514"/>
              <a:gd name="connsiteY3" fmla="*/ 979714 h 1883228"/>
              <a:gd name="connsiteX4" fmla="*/ 1023257 w 1284514"/>
              <a:gd name="connsiteY4" fmla="*/ 859971 h 1883228"/>
              <a:gd name="connsiteX5" fmla="*/ 1164771 w 1284514"/>
              <a:gd name="connsiteY5" fmla="*/ 620485 h 1883228"/>
              <a:gd name="connsiteX6" fmla="*/ 1284514 w 1284514"/>
              <a:gd name="connsiteY6" fmla="*/ 0 h 1883228"/>
              <a:gd name="connsiteX0" fmla="*/ 0 w 1284514"/>
              <a:gd name="connsiteY0" fmla="*/ 1883228 h 1883228"/>
              <a:gd name="connsiteX1" fmla="*/ 206828 w 1284514"/>
              <a:gd name="connsiteY1" fmla="*/ 1534885 h 1883228"/>
              <a:gd name="connsiteX2" fmla="*/ 533400 w 1284514"/>
              <a:gd name="connsiteY2" fmla="*/ 1055914 h 1883228"/>
              <a:gd name="connsiteX3" fmla="*/ 762000 w 1284514"/>
              <a:gd name="connsiteY3" fmla="*/ 979714 h 1883228"/>
              <a:gd name="connsiteX4" fmla="*/ 1023257 w 1284514"/>
              <a:gd name="connsiteY4" fmla="*/ 859971 h 1883228"/>
              <a:gd name="connsiteX5" fmla="*/ 1164771 w 1284514"/>
              <a:gd name="connsiteY5" fmla="*/ 620485 h 1883228"/>
              <a:gd name="connsiteX6" fmla="*/ 1284514 w 1284514"/>
              <a:gd name="connsiteY6" fmla="*/ 0 h 1883228"/>
              <a:gd name="connsiteX0" fmla="*/ 0 w 1284514"/>
              <a:gd name="connsiteY0" fmla="*/ 1883228 h 1883228"/>
              <a:gd name="connsiteX1" fmla="*/ 206828 w 1284514"/>
              <a:gd name="connsiteY1" fmla="*/ 1534885 h 1883228"/>
              <a:gd name="connsiteX2" fmla="*/ 533400 w 1284514"/>
              <a:gd name="connsiteY2" fmla="*/ 1055914 h 1883228"/>
              <a:gd name="connsiteX3" fmla="*/ 762000 w 1284514"/>
              <a:gd name="connsiteY3" fmla="*/ 979714 h 1883228"/>
              <a:gd name="connsiteX4" fmla="*/ 1023257 w 1284514"/>
              <a:gd name="connsiteY4" fmla="*/ 859971 h 1883228"/>
              <a:gd name="connsiteX5" fmla="*/ 1164771 w 1284514"/>
              <a:gd name="connsiteY5" fmla="*/ 620485 h 1883228"/>
              <a:gd name="connsiteX6" fmla="*/ 1284514 w 1284514"/>
              <a:gd name="connsiteY6" fmla="*/ 0 h 1883228"/>
              <a:gd name="connsiteX0" fmla="*/ 0 w 1223554"/>
              <a:gd name="connsiteY0" fmla="*/ 1959428 h 1959428"/>
              <a:gd name="connsiteX1" fmla="*/ 145868 w 1223554"/>
              <a:gd name="connsiteY1" fmla="*/ 1534885 h 1959428"/>
              <a:gd name="connsiteX2" fmla="*/ 472440 w 1223554"/>
              <a:gd name="connsiteY2" fmla="*/ 1055914 h 1959428"/>
              <a:gd name="connsiteX3" fmla="*/ 701040 w 1223554"/>
              <a:gd name="connsiteY3" fmla="*/ 979714 h 1959428"/>
              <a:gd name="connsiteX4" fmla="*/ 962297 w 1223554"/>
              <a:gd name="connsiteY4" fmla="*/ 859971 h 1959428"/>
              <a:gd name="connsiteX5" fmla="*/ 1103811 w 1223554"/>
              <a:gd name="connsiteY5" fmla="*/ 620485 h 1959428"/>
              <a:gd name="connsiteX6" fmla="*/ 1223554 w 1223554"/>
              <a:gd name="connsiteY6" fmla="*/ 0 h 1959428"/>
              <a:gd name="connsiteX0" fmla="*/ 0 w 1223554"/>
              <a:gd name="connsiteY0" fmla="*/ 1959428 h 1959428"/>
              <a:gd name="connsiteX1" fmla="*/ 145868 w 1223554"/>
              <a:gd name="connsiteY1" fmla="*/ 1534885 h 1959428"/>
              <a:gd name="connsiteX2" fmla="*/ 472440 w 1223554"/>
              <a:gd name="connsiteY2" fmla="*/ 1055914 h 1959428"/>
              <a:gd name="connsiteX3" fmla="*/ 701040 w 1223554"/>
              <a:gd name="connsiteY3" fmla="*/ 979714 h 1959428"/>
              <a:gd name="connsiteX4" fmla="*/ 962297 w 1223554"/>
              <a:gd name="connsiteY4" fmla="*/ 859971 h 1959428"/>
              <a:gd name="connsiteX5" fmla="*/ 1103811 w 1223554"/>
              <a:gd name="connsiteY5" fmla="*/ 620485 h 1959428"/>
              <a:gd name="connsiteX6" fmla="*/ 1223554 w 1223554"/>
              <a:gd name="connsiteY6" fmla="*/ 0 h 1959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3554" h="1959428">
                <a:moveTo>
                  <a:pt x="0" y="1959428"/>
                </a:moveTo>
                <a:cubicBezTo>
                  <a:pt x="36104" y="1861819"/>
                  <a:pt x="67128" y="1685471"/>
                  <a:pt x="145868" y="1534885"/>
                </a:cubicBezTo>
                <a:cubicBezTo>
                  <a:pt x="224608" y="1384299"/>
                  <a:pt x="379911" y="1148442"/>
                  <a:pt x="472440" y="1055914"/>
                </a:cubicBezTo>
                <a:cubicBezTo>
                  <a:pt x="564969" y="963386"/>
                  <a:pt x="613047" y="980621"/>
                  <a:pt x="701040" y="979714"/>
                </a:cubicBezTo>
                <a:cubicBezTo>
                  <a:pt x="789033" y="978807"/>
                  <a:pt x="895169" y="919843"/>
                  <a:pt x="962297" y="859971"/>
                </a:cubicBezTo>
                <a:cubicBezTo>
                  <a:pt x="1004706" y="805920"/>
                  <a:pt x="1060268" y="763813"/>
                  <a:pt x="1103811" y="620485"/>
                </a:cubicBezTo>
                <a:cubicBezTo>
                  <a:pt x="1147354" y="477156"/>
                  <a:pt x="1185454" y="238578"/>
                  <a:pt x="1223554"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2" name="Rectangle 41"/>
          <p:cNvSpPr/>
          <p:nvPr/>
        </p:nvSpPr>
        <p:spPr>
          <a:xfrm>
            <a:off x="725714" y="5239656"/>
            <a:ext cx="2946401" cy="1511511"/>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43" name="Rectangle 42"/>
          <p:cNvSpPr/>
          <p:nvPr/>
        </p:nvSpPr>
        <p:spPr>
          <a:xfrm>
            <a:off x="3952655" y="758698"/>
            <a:ext cx="324951" cy="323165"/>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a:t>3</a:t>
            </a:r>
          </a:p>
        </p:txBody>
      </p:sp>
      <p:sp>
        <p:nvSpPr>
          <p:cNvPr id="44" name="Freeform: Shape 43"/>
          <p:cNvSpPr/>
          <p:nvPr/>
        </p:nvSpPr>
        <p:spPr>
          <a:xfrm>
            <a:off x="4210494" y="808075"/>
            <a:ext cx="1116418" cy="744279"/>
          </a:xfrm>
          <a:custGeom>
            <a:avLst/>
            <a:gdLst>
              <a:gd name="connsiteX0" fmla="*/ 0 w 1116418"/>
              <a:gd name="connsiteY0" fmla="*/ 744279 h 744279"/>
              <a:gd name="connsiteX1" fmla="*/ 372139 w 1116418"/>
              <a:gd name="connsiteY1" fmla="*/ 170121 h 744279"/>
              <a:gd name="connsiteX2" fmla="*/ 712381 w 1116418"/>
              <a:gd name="connsiteY2" fmla="*/ 489097 h 744279"/>
              <a:gd name="connsiteX3" fmla="*/ 1010093 w 1116418"/>
              <a:gd name="connsiteY3" fmla="*/ 244548 h 744279"/>
              <a:gd name="connsiteX4" fmla="*/ 1116418 w 1116418"/>
              <a:gd name="connsiteY4" fmla="*/ 0 h 7442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6418" h="744279">
                <a:moveTo>
                  <a:pt x="0" y="744279"/>
                </a:moveTo>
                <a:cubicBezTo>
                  <a:pt x="126704" y="478465"/>
                  <a:pt x="253409" y="212651"/>
                  <a:pt x="372139" y="170121"/>
                </a:cubicBezTo>
                <a:cubicBezTo>
                  <a:pt x="490869" y="127591"/>
                  <a:pt x="606055" y="476693"/>
                  <a:pt x="712381" y="489097"/>
                </a:cubicBezTo>
                <a:cubicBezTo>
                  <a:pt x="818707" y="501501"/>
                  <a:pt x="942754" y="326064"/>
                  <a:pt x="1010093" y="244548"/>
                </a:cubicBezTo>
                <a:cubicBezTo>
                  <a:pt x="1077432" y="163032"/>
                  <a:pt x="1096925" y="81516"/>
                  <a:pt x="1116418"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mc:Choice xmlns:a14="http://schemas.microsoft.com/office/drawing/2010/main" Requires="a14">
          <p:sp>
            <p:nvSpPr>
              <p:cNvPr id="45" name="TextBox 44"/>
              <p:cNvSpPr txBox="1"/>
              <p:nvPr/>
            </p:nvSpPr>
            <p:spPr>
              <a:xfrm>
                <a:off x="5448760" y="657127"/>
                <a:ext cx="3535751" cy="1200329"/>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a:t>A curve has this shape, touches the </a:t>
                </a:r>
                <a14:m>
                  <m:oMath xmlns:m="http://schemas.openxmlformats.org/officeDocument/2006/math">
                    <m:r>
                      <a:rPr lang="en-GB" b="0" i="1" smtClean="0">
                        <a:latin typeface="Cambria Math" panose="02040503050406030204" pitchFamily="18" charset="0"/>
                      </a:rPr>
                      <m:t>𝑥</m:t>
                    </m:r>
                  </m:oMath>
                </a14:m>
                <a:r>
                  <a:rPr lang="en-GB"/>
                  <a:t> axis at 3 and crosses the </a:t>
                </a:r>
                <a14:m>
                  <m:oMath xmlns:m="http://schemas.openxmlformats.org/officeDocument/2006/math">
                    <m:r>
                      <a:rPr lang="en-GB" b="0" i="1" smtClean="0">
                        <a:latin typeface="Cambria Math" panose="02040503050406030204" pitchFamily="18" charset="0"/>
                      </a:rPr>
                      <m:t>𝑥</m:t>
                    </m:r>
                  </m:oMath>
                </a14:m>
                <a:r>
                  <a:rPr lang="en-GB"/>
                  <a:t> axis at -2. Give a suitable equation for this graph.</a:t>
                </a:r>
              </a:p>
            </p:txBody>
          </p:sp>
        </mc:Choice>
        <mc:Fallback>
          <p:sp>
            <p:nvSpPr>
              <p:cNvPr id="45" name="TextBox 44"/>
              <p:cNvSpPr txBox="1">
                <a:spLocks noRot="1" noChangeAspect="1" noMove="1" noResize="1" noEditPoints="1" noAdjustHandles="1" noChangeArrowheads="1" noChangeShapeType="1" noTextEdit="1"/>
              </p:cNvSpPr>
              <p:nvPr/>
            </p:nvSpPr>
            <p:spPr>
              <a:xfrm>
                <a:off x="5448760" y="657127"/>
                <a:ext cx="3535751" cy="1200329"/>
              </a:xfrm>
              <a:prstGeom prst="rect">
                <a:avLst/>
              </a:prstGeom>
              <a:blipFill>
                <a:blip r:embed="rId12"/>
                <a:stretch>
                  <a:fillRect b="-926"/>
                </a:stretch>
              </a:blipFill>
              <a:effectLst>
                <a:outerShdw blurRad="63500" sx="102000" sy="102000" algn="ctr" rotWithShape="0">
                  <a:prstClr val="black">
                    <a:alpha val="40000"/>
                  </a:prstClr>
                </a:outerShdw>
              </a:effectLst>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6" name="TextBox 45"/>
              <p:cNvSpPr txBox="1"/>
              <p:nvPr/>
            </p:nvSpPr>
            <p:spPr>
              <a:xfrm>
                <a:off x="5148064" y="2067949"/>
                <a:ext cx="2736304" cy="369332"/>
              </a:xfrm>
              <a:prstGeom prst="rect">
                <a:avLst/>
              </a:prstGeom>
              <a:noFill/>
            </p:spPr>
            <p:txBody>
              <a:bodyPr wrap="square" rtlCol="0">
                <a:spAutoFit/>
              </a:bodyPr>
              <a:lstStyle/>
              <a:p>
                <a:pPr/>
                <a14:m>
                  <m:oMathPara xmlns:m="http://schemas.openxmlformats.org/officeDocument/2006/math">
                    <m:oMath>
                      <m:r>
                        <a:rPr lang="en-GB" b="0" i="1" smtClean="0">
                          <a:latin typeface="Cambria Math" panose="02040503050406030204" pitchFamily="18" charset="0"/>
                        </a:rPr>
                        <m:t>𝑦</m:t>
                      </m:r>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d>
                            <m:dPr>
                              <m:ctrlPr>
                                <a:rPr lang="en-GB" b="0" i="1" smtClean="0">
                                  <a:latin typeface="Cambria Math" panose="02040503050406030204" pitchFamily="18" charset="0"/>
                                </a:rPr>
                              </m:ctrlPr>
                            </m:dPr>
                            <m:e>
                              <m:r>
                                <a:rPr lang="en-GB" b="0" i="1" smtClean="0">
                                  <a:latin typeface="Cambria Math" panose="02040503050406030204" pitchFamily="18" charset="0"/>
                                </a:rPr>
                                <m:t>𝑥</m:t>
                              </m:r>
                              <m:r>
                                <a:rPr lang="en-GB" b="0" i="1" smtClean="0">
                                  <a:latin typeface="Cambria Math" panose="02040503050406030204" pitchFamily="18" charset="0"/>
                                </a:rPr>
                                <m:t>−3</m:t>
                              </m:r>
                            </m:e>
                          </m:d>
                        </m:e>
                        <m:sup>
                          <m:r>
                            <a:rPr lang="en-GB" b="0" i="1" smtClean="0">
                              <a:latin typeface="Cambria Math" panose="02040503050406030204" pitchFamily="18" charset="0"/>
                            </a:rPr>
                            <m:t>2</m:t>
                          </m:r>
                        </m:sup>
                      </m:sSup>
                      <m:d>
                        <m:dPr>
                          <m:ctrlPr>
                            <a:rPr lang="en-GB" b="0" i="1" smtClean="0">
                              <a:latin typeface="Cambria Math" panose="02040503050406030204" pitchFamily="18" charset="0"/>
                            </a:rPr>
                          </m:ctrlPr>
                        </m:dPr>
                        <m:e>
                          <m:r>
                            <a:rPr lang="en-GB" b="0" i="1" smtClean="0">
                              <a:latin typeface="Cambria Math" panose="02040503050406030204" pitchFamily="18" charset="0"/>
                            </a:rPr>
                            <m:t>𝑥</m:t>
                          </m:r>
                          <m:r>
                            <a:rPr lang="en-GB" b="0" i="1" smtClean="0">
                              <a:latin typeface="Cambria Math" panose="02040503050406030204" pitchFamily="18" charset="0"/>
                            </a:rPr>
                            <m:t>+2</m:t>
                          </m:r>
                        </m:e>
                      </m:d>
                    </m:oMath>
                  </m:oMathPara>
                </a14:m>
                <a:endParaRPr lang="en-GB"/>
              </a:p>
            </p:txBody>
          </p:sp>
        </mc:Choice>
        <mc:Fallback>
          <p:sp>
            <p:nvSpPr>
              <p:cNvPr id="46" name="TextBox 45"/>
              <p:cNvSpPr txBox="1">
                <a:spLocks noRot="1" noChangeAspect="1" noMove="1" noResize="1" noEditPoints="1" noAdjustHandles="1" noChangeArrowheads="1" noChangeShapeType="1" noTextEdit="1"/>
              </p:cNvSpPr>
              <p:nvPr/>
            </p:nvSpPr>
            <p:spPr>
              <a:xfrm>
                <a:off x="5148064" y="2067949"/>
                <a:ext cx="2736304" cy="369332"/>
              </a:xfrm>
              <a:prstGeom prst="rect">
                <a:avLst/>
              </a:prstGeom>
              <a:blipFill>
                <a:blip r:embed="rId13"/>
                <a:stretch>
                  <a:fillRect b="-10000"/>
                </a:stretch>
              </a:blipFill>
            </p:spPr>
            <p:txBody>
              <a:bodyPr/>
              <a:lstStyle/>
              <a:p>
                <a:r>
                  <a:rPr lang="en-US">
                    <a:noFill/>
                  </a:rPr>
                  <a:t> </a:t>
                </a:r>
              </a:p>
            </p:txBody>
          </p:sp>
        </mc:Fallback>
      </mc:AlternateContent>
      <p:sp>
        <p:nvSpPr>
          <p:cNvPr id="47" name="Rectangle 46"/>
          <p:cNvSpPr/>
          <p:nvPr/>
        </p:nvSpPr>
        <p:spPr>
          <a:xfrm>
            <a:off x="5426889" y="2011257"/>
            <a:ext cx="2345512" cy="466130"/>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Tree>
    <p:extLst>
      <p:ext uri="{BB962C8B-B14F-4D97-AF65-F5344CB8AC3E}">
        <p14:creationId xmlns:p14="http://schemas.microsoft.com/office/powerpoint/2010/main" val="2158368142"/>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4"/>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4"/>
                                        </p:tgtEl>
                                      </p:cBhvr>
                                    </p:animEffect>
                                    <p:set>
                                      <p:cBhvr>
                                        <p:cTn id="7" dur="1" fill="hold">
                                          <p:stCondLst>
                                            <p:cond delay="499"/>
                                          </p:stCondLst>
                                        </p:cTn>
                                        <p:tgtEl>
                                          <p:spTgt spid="14"/>
                                        </p:tgtEl>
                                        <p:attrNameLst>
                                          <p:attrName>style.visibility</p:attrName>
                                        </p:attrNameLst>
                                      </p:cBhvr>
                                      <p:to>
                                        <p:strVal val="hidden"/>
                                      </p:to>
                                    </p:set>
                                  </p:childTnLst>
                                </p:cTn>
                              </p:par>
                            </p:childTnLst>
                          </p:cTn>
                        </p:par>
                      </p:childTnLst>
                    </p:cTn>
                  </p:par>
                </p:childTnLst>
              </p:cTn>
              <p:nextCondLst>
                <p:cond evt="onClick" delay="0">
                  <p:tgtEl>
                    <p:spTgt spid="14"/>
                  </p:tgtEl>
                </p:cond>
              </p:nextCondLst>
            </p:seq>
            <p:seq concurrent="1" nextAc="seek">
              <p:cTn id="8" restart="whenNotActive" fill="hold" evtFilter="cancelBubble" nodeType="interactiveSeq">
                <p:stCondLst>
                  <p:cond evt="onClick" delay="0">
                    <p:tgtEl>
                      <p:spTgt spid="28"/>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28"/>
                                        </p:tgtEl>
                                      </p:cBhvr>
                                    </p:animEffect>
                                    <p:set>
                                      <p:cBhvr>
                                        <p:cTn id="13" dur="1" fill="hold">
                                          <p:stCondLst>
                                            <p:cond delay="499"/>
                                          </p:stCondLst>
                                        </p:cTn>
                                        <p:tgtEl>
                                          <p:spTgt spid="28"/>
                                        </p:tgtEl>
                                        <p:attrNameLst>
                                          <p:attrName>style.visibility</p:attrName>
                                        </p:attrNameLst>
                                      </p:cBhvr>
                                      <p:to>
                                        <p:strVal val="hidden"/>
                                      </p:to>
                                    </p:set>
                                  </p:childTnLst>
                                </p:cTn>
                              </p:par>
                            </p:childTnLst>
                          </p:cTn>
                        </p:par>
                      </p:childTnLst>
                    </p:cTn>
                  </p:par>
                </p:childTnLst>
              </p:cTn>
              <p:nextCondLst>
                <p:cond evt="onClick" delay="0">
                  <p:tgtEl>
                    <p:spTgt spid="28"/>
                  </p:tgtEl>
                </p:cond>
              </p:nextCondLst>
            </p:seq>
            <p:seq concurrent="1" nextAc="seek">
              <p:cTn id="14" restart="whenNotActive" fill="hold" evtFilter="cancelBubble" nodeType="interactiveSeq">
                <p:stCondLst>
                  <p:cond evt="onClick" delay="0">
                    <p:tgtEl>
                      <p:spTgt spid="42"/>
                    </p:tgtEl>
                  </p:cond>
                </p:stCondLst>
                <p:endSync evt="end" delay="0">
                  <p:rtn val="all"/>
                </p:endSync>
                <p:childTnLst>
                  <p:par>
                    <p:cTn id="15" fill="hold">
                      <p:stCondLst>
                        <p:cond delay="0"/>
                      </p:stCondLst>
                      <p:childTnLst>
                        <p:par>
                          <p:cTn id="16" fill="hold">
                            <p:stCondLst>
                              <p:cond delay="0"/>
                            </p:stCondLst>
                            <p:childTnLst>
                              <p:par>
                                <p:cTn id="17" presetID="10" presetClass="exit" presetSubtype="0" fill="hold" grpId="0" nodeType="clickEffect">
                                  <p:stCondLst>
                                    <p:cond delay="0"/>
                                  </p:stCondLst>
                                  <p:childTnLst>
                                    <p:animEffect transition="out" filter="fade">
                                      <p:cBhvr>
                                        <p:cTn id="18" dur="500"/>
                                        <p:tgtEl>
                                          <p:spTgt spid="42"/>
                                        </p:tgtEl>
                                      </p:cBhvr>
                                    </p:animEffect>
                                    <p:set>
                                      <p:cBhvr>
                                        <p:cTn id="19" dur="1" fill="hold">
                                          <p:stCondLst>
                                            <p:cond delay="499"/>
                                          </p:stCondLst>
                                        </p:cTn>
                                        <p:tgtEl>
                                          <p:spTgt spid="42"/>
                                        </p:tgtEl>
                                        <p:attrNameLst>
                                          <p:attrName>style.visibility</p:attrName>
                                        </p:attrNameLst>
                                      </p:cBhvr>
                                      <p:to>
                                        <p:strVal val="hidden"/>
                                      </p:to>
                                    </p:set>
                                  </p:childTnLst>
                                </p:cTn>
                              </p:par>
                            </p:childTnLst>
                          </p:cTn>
                        </p:par>
                      </p:childTnLst>
                    </p:cTn>
                  </p:par>
                </p:childTnLst>
              </p:cTn>
              <p:nextCondLst>
                <p:cond evt="onClick" delay="0">
                  <p:tgtEl>
                    <p:spTgt spid="42"/>
                  </p:tgtEl>
                </p:cond>
              </p:nextCondLst>
            </p:seq>
            <p:seq concurrent="1" nextAc="seek">
              <p:cTn id="20" restart="whenNotActive" fill="hold" evtFilter="cancelBubble" nodeType="interactiveSeq">
                <p:stCondLst>
                  <p:cond evt="onClick" delay="0">
                    <p:tgtEl>
                      <p:spTgt spid="47"/>
                    </p:tgtEl>
                  </p:cond>
                </p:stCondLst>
                <p:endSync evt="end" delay="0">
                  <p:rtn val="all"/>
                </p:endSync>
                <p:childTnLst>
                  <p:par>
                    <p:cTn id="21" fill="hold">
                      <p:stCondLst>
                        <p:cond delay="0"/>
                      </p:stCondLst>
                      <p:childTnLst>
                        <p:par>
                          <p:cTn id="22" fill="hold">
                            <p:stCondLst>
                              <p:cond delay="0"/>
                            </p:stCondLst>
                            <p:childTnLst>
                              <p:par>
                                <p:cTn id="23" presetID="10" presetClass="exit" presetSubtype="0" fill="hold" grpId="0" nodeType="clickEffect">
                                  <p:stCondLst>
                                    <p:cond delay="0"/>
                                  </p:stCondLst>
                                  <p:childTnLst>
                                    <p:animEffect transition="out" filter="fade">
                                      <p:cBhvr>
                                        <p:cTn id="24" dur="500"/>
                                        <p:tgtEl>
                                          <p:spTgt spid="47"/>
                                        </p:tgtEl>
                                      </p:cBhvr>
                                    </p:animEffect>
                                    <p:set>
                                      <p:cBhvr>
                                        <p:cTn id="25" dur="1" fill="hold">
                                          <p:stCondLst>
                                            <p:cond delay="499"/>
                                          </p:stCondLst>
                                        </p:cTn>
                                        <p:tgtEl>
                                          <p:spTgt spid="47"/>
                                        </p:tgtEl>
                                        <p:attrNameLst>
                                          <p:attrName>style.visibility</p:attrName>
                                        </p:attrNameLst>
                                      </p:cBhvr>
                                      <p:to>
                                        <p:strVal val="hidden"/>
                                      </p:to>
                                    </p:set>
                                  </p:childTnLst>
                                </p:cTn>
                              </p:par>
                            </p:childTnLst>
                          </p:cTn>
                        </p:par>
                      </p:childTnLst>
                    </p:cTn>
                  </p:par>
                </p:childTnLst>
              </p:cTn>
              <p:nextCondLst>
                <p:cond evt="onClick" delay="0">
                  <p:tgtEl>
                    <p:spTgt spid="47"/>
                  </p:tgtEl>
                </p:cond>
              </p:nextCondLst>
            </p:seq>
          </p:childTnLst>
        </p:cTn>
      </p:par>
    </p:tnLst>
    <p:bldLst>
      <p:bldP spid="14" grpId="0" animBg="1"/>
      <p:bldP spid="28" grpId="0" animBg="1"/>
      <p:bldP spid="42" grpId="0" animBg="1"/>
      <p:bldP spid="4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vert="horz" wrap="square" lIns="324000" tIns="45720" rIns="91440" bIns="45720" rtlCol="0" anchor="ctr">
              <a:spAutoFit/>
            </a:bodyPr>
            <a:lstStyle>
              <a:defPPr>
                <a:defRPr lang="en-US"/>
              </a:defPPr>
              <a:lvl1pPr>
                <a:spcBef>
                  <a:spcPct val="0"/>
                </a:spcBef>
                <a:buNone/>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a:t>Exercise 4A –Y1 Pure pages 63</a:t>
              </a:r>
            </a:p>
          </p:txBody>
        </p:sp>
        <p:cxnSp>
          <p:nvCxnSpPr>
            <p:cNvPr id="4" name="Straight Connector 3"/>
            <p:cNvCxnSpPr/>
            <p:nvPr/>
          </p:nvCxnSpPr>
          <p:spPr>
            <a:xfrm>
              <a:off x="218" y="601079"/>
              <a:ext cx="9144000" cy="0"/>
            </a:xfrm>
            <a:prstGeom prst="line">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cxnSp>
      </p:grpSp>
      <p:pic>
        <p:nvPicPr>
          <p:cNvPr id="14" name="Picture 13">
            <a:extLst>
              <a:ext uri="{FF2B5EF4-FFF2-40B4-BE49-F238E27FC236}">
                <a16:creationId xmlns:a16="http://schemas.microsoft.com/office/drawing/2014/main" id="{B4F65090-1A25-60FE-7C32-10A86AA713BE}"/>
              </a:ext>
            </a:extLst>
          </p:cNvPr>
          <p:cNvPicPr>
            <a:picLocks noChangeAspect="1"/>
          </p:cNvPicPr>
          <p:nvPr/>
        </p:nvPicPr>
        <p:blipFill>
          <a:blip r:embed="rId2"/>
          <a:stretch>
            <a:fillRect/>
          </a:stretch>
        </p:blipFill>
        <p:spPr>
          <a:xfrm>
            <a:off x="179512" y="621335"/>
            <a:ext cx="6840760" cy="1317278"/>
          </a:xfrm>
          <a:prstGeom prst="rect">
            <a:avLst/>
          </a:prstGeom>
        </p:spPr>
      </p:pic>
      <p:pic>
        <p:nvPicPr>
          <p:cNvPr id="15" name="Picture 14">
            <a:extLst>
              <a:ext uri="{FF2B5EF4-FFF2-40B4-BE49-F238E27FC236}">
                <a16:creationId xmlns:a16="http://schemas.microsoft.com/office/drawing/2014/main" id="{BF698B55-7D11-4B92-FC9D-B1DCD1A0712E}"/>
              </a:ext>
            </a:extLst>
          </p:cNvPr>
          <p:cNvPicPr>
            <a:picLocks noChangeAspect="1"/>
          </p:cNvPicPr>
          <p:nvPr/>
        </p:nvPicPr>
        <p:blipFill>
          <a:blip r:embed="rId3"/>
          <a:stretch>
            <a:fillRect/>
          </a:stretch>
        </p:blipFill>
        <p:spPr>
          <a:xfrm>
            <a:off x="395536" y="1853543"/>
            <a:ext cx="1872208" cy="1032942"/>
          </a:xfrm>
          <a:prstGeom prst="rect">
            <a:avLst/>
          </a:prstGeom>
        </p:spPr>
      </p:pic>
      <p:pic>
        <p:nvPicPr>
          <p:cNvPr id="17" name="Picture 16">
            <a:extLst>
              <a:ext uri="{FF2B5EF4-FFF2-40B4-BE49-F238E27FC236}">
                <a16:creationId xmlns:a16="http://schemas.microsoft.com/office/drawing/2014/main" id="{21242176-456B-1492-CCE7-5B4DF7714774}"/>
              </a:ext>
            </a:extLst>
          </p:cNvPr>
          <p:cNvPicPr>
            <a:picLocks noChangeAspect="1"/>
          </p:cNvPicPr>
          <p:nvPr/>
        </p:nvPicPr>
        <p:blipFill>
          <a:blip r:embed="rId4"/>
          <a:stretch>
            <a:fillRect/>
          </a:stretch>
        </p:blipFill>
        <p:spPr>
          <a:xfrm>
            <a:off x="4252467" y="2009326"/>
            <a:ext cx="3168352" cy="533798"/>
          </a:xfrm>
          <a:prstGeom prst="rect">
            <a:avLst/>
          </a:prstGeom>
        </p:spPr>
      </p:pic>
      <p:sp>
        <p:nvSpPr>
          <p:cNvPr id="18" name="Rectangle 17">
            <a:extLst>
              <a:ext uri="{FF2B5EF4-FFF2-40B4-BE49-F238E27FC236}">
                <a16:creationId xmlns:a16="http://schemas.microsoft.com/office/drawing/2014/main" id="{0D61C316-4511-634D-3961-D65011BAD87E}"/>
              </a:ext>
            </a:extLst>
          </p:cNvPr>
          <p:cNvSpPr/>
          <p:nvPr/>
        </p:nvSpPr>
        <p:spPr>
          <a:xfrm>
            <a:off x="4499992" y="1052736"/>
            <a:ext cx="792088" cy="7920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9" name="Picture 18">
            <a:extLst>
              <a:ext uri="{FF2B5EF4-FFF2-40B4-BE49-F238E27FC236}">
                <a16:creationId xmlns:a16="http://schemas.microsoft.com/office/drawing/2014/main" id="{2FC554FC-3CC1-8960-AB04-95959A6FA889}"/>
              </a:ext>
            </a:extLst>
          </p:cNvPr>
          <p:cNvPicPr>
            <a:picLocks noChangeAspect="1"/>
          </p:cNvPicPr>
          <p:nvPr/>
        </p:nvPicPr>
        <p:blipFill>
          <a:blip r:embed="rId5"/>
          <a:stretch>
            <a:fillRect/>
          </a:stretch>
        </p:blipFill>
        <p:spPr>
          <a:xfrm>
            <a:off x="148692" y="2993763"/>
            <a:ext cx="7772400" cy="1360685"/>
          </a:xfrm>
          <a:prstGeom prst="rect">
            <a:avLst/>
          </a:prstGeom>
        </p:spPr>
      </p:pic>
      <p:sp>
        <p:nvSpPr>
          <p:cNvPr id="29" name="Rectangle 28">
            <a:extLst>
              <a:ext uri="{FF2B5EF4-FFF2-40B4-BE49-F238E27FC236}">
                <a16:creationId xmlns:a16="http://schemas.microsoft.com/office/drawing/2014/main" id="{C339E7F3-C9D0-1DB6-F1E5-48C68663D9D2}"/>
              </a:ext>
            </a:extLst>
          </p:cNvPr>
          <p:cNvSpPr/>
          <p:nvPr/>
        </p:nvSpPr>
        <p:spPr>
          <a:xfrm>
            <a:off x="5044555" y="3354282"/>
            <a:ext cx="792088" cy="43475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0" name="Picture 29">
            <a:extLst>
              <a:ext uri="{FF2B5EF4-FFF2-40B4-BE49-F238E27FC236}">
                <a16:creationId xmlns:a16="http://schemas.microsoft.com/office/drawing/2014/main" id="{385977CF-2AAB-C6AA-CF54-353FB7132C7A}"/>
              </a:ext>
            </a:extLst>
          </p:cNvPr>
          <p:cNvPicPr>
            <a:picLocks noChangeAspect="1"/>
          </p:cNvPicPr>
          <p:nvPr/>
        </p:nvPicPr>
        <p:blipFill>
          <a:blip r:embed="rId6"/>
          <a:stretch>
            <a:fillRect/>
          </a:stretch>
        </p:blipFill>
        <p:spPr>
          <a:xfrm>
            <a:off x="683568" y="3941635"/>
            <a:ext cx="3488928" cy="2825273"/>
          </a:xfrm>
          <a:prstGeom prst="rect">
            <a:avLst/>
          </a:prstGeom>
        </p:spPr>
      </p:pic>
      <p:sp>
        <p:nvSpPr>
          <p:cNvPr id="31" name="Rectangle 30">
            <a:extLst>
              <a:ext uri="{FF2B5EF4-FFF2-40B4-BE49-F238E27FC236}">
                <a16:creationId xmlns:a16="http://schemas.microsoft.com/office/drawing/2014/main" id="{C292F507-F763-C015-D1A1-C7E49865C6C7}"/>
              </a:ext>
            </a:extLst>
          </p:cNvPr>
          <p:cNvSpPr/>
          <p:nvPr/>
        </p:nvSpPr>
        <p:spPr>
          <a:xfrm>
            <a:off x="395536" y="1899329"/>
            <a:ext cx="3460887" cy="1032942"/>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a:t>
            </a:r>
          </a:p>
        </p:txBody>
      </p:sp>
      <p:sp>
        <p:nvSpPr>
          <p:cNvPr id="32" name="Rectangle 31">
            <a:extLst>
              <a:ext uri="{FF2B5EF4-FFF2-40B4-BE49-F238E27FC236}">
                <a16:creationId xmlns:a16="http://schemas.microsoft.com/office/drawing/2014/main" id="{DF1E928F-62F8-EF6D-7D13-A6424E80B188}"/>
              </a:ext>
            </a:extLst>
          </p:cNvPr>
          <p:cNvSpPr/>
          <p:nvPr/>
        </p:nvSpPr>
        <p:spPr>
          <a:xfrm>
            <a:off x="395535" y="3946830"/>
            <a:ext cx="3460888" cy="2722529"/>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33" name="Rectangle 32">
            <a:extLst>
              <a:ext uri="{FF2B5EF4-FFF2-40B4-BE49-F238E27FC236}">
                <a16:creationId xmlns:a16="http://schemas.microsoft.com/office/drawing/2014/main" id="{D003DABC-FBB3-FD9E-DAA5-F0CE34C2638D}"/>
              </a:ext>
            </a:extLst>
          </p:cNvPr>
          <p:cNvSpPr/>
          <p:nvPr/>
        </p:nvSpPr>
        <p:spPr>
          <a:xfrm>
            <a:off x="4172496" y="1888949"/>
            <a:ext cx="3460887" cy="1032942"/>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b?</a:t>
            </a:r>
          </a:p>
        </p:txBody>
      </p:sp>
    </p:spTree>
    <p:extLst>
      <p:ext uri="{BB962C8B-B14F-4D97-AF65-F5344CB8AC3E}">
        <p14:creationId xmlns:p14="http://schemas.microsoft.com/office/powerpoint/2010/main" val="2553695061"/>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31"/>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31"/>
                                        </p:tgtEl>
                                      </p:cBhvr>
                                    </p:animEffect>
                                    <p:set>
                                      <p:cBhvr>
                                        <p:cTn id="7" dur="1" fill="hold">
                                          <p:stCondLst>
                                            <p:cond delay="499"/>
                                          </p:stCondLst>
                                        </p:cTn>
                                        <p:tgtEl>
                                          <p:spTgt spid="31"/>
                                        </p:tgtEl>
                                        <p:attrNameLst>
                                          <p:attrName>style.visibility</p:attrName>
                                        </p:attrNameLst>
                                      </p:cBhvr>
                                      <p:to>
                                        <p:strVal val="hidden"/>
                                      </p:to>
                                    </p:set>
                                  </p:childTnLst>
                                </p:cTn>
                              </p:par>
                            </p:childTnLst>
                          </p:cTn>
                        </p:par>
                      </p:childTnLst>
                    </p:cTn>
                  </p:par>
                </p:childTnLst>
              </p:cTn>
              <p:nextCondLst>
                <p:cond evt="onClick" delay="0">
                  <p:tgtEl>
                    <p:spTgt spid="31"/>
                  </p:tgtEl>
                </p:cond>
              </p:nextCondLst>
            </p:seq>
            <p:seq concurrent="1" nextAc="seek">
              <p:cTn id="8" restart="whenNotActive" fill="hold" evtFilter="cancelBubble" nodeType="interactiveSeq">
                <p:stCondLst>
                  <p:cond evt="onClick" delay="0">
                    <p:tgtEl>
                      <p:spTgt spid="32"/>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32"/>
                                        </p:tgtEl>
                                      </p:cBhvr>
                                    </p:animEffect>
                                    <p:set>
                                      <p:cBhvr>
                                        <p:cTn id="13" dur="1" fill="hold">
                                          <p:stCondLst>
                                            <p:cond delay="499"/>
                                          </p:stCondLst>
                                        </p:cTn>
                                        <p:tgtEl>
                                          <p:spTgt spid="32"/>
                                        </p:tgtEl>
                                        <p:attrNameLst>
                                          <p:attrName>style.visibility</p:attrName>
                                        </p:attrNameLst>
                                      </p:cBhvr>
                                      <p:to>
                                        <p:strVal val="hidden"/>
                                      </p:to>
                                    </p:set>
                                  </p:childTnLst>
                                </p:cTn>
                              </p:par>
                            </p:childTnLst>
                          </p:cTn>
                        </p:par>
                      </p:childTnLst>
                    </p:cTn>
                  </p:par>
                </p:childTnLst>
              </p:cTn>
              <p:nextCondLst>
                <p:cond evt="onClick" delay="0">
                  <p:tgtEl>
                    <p:spTgt spid="32"/>
                  </p:tgtEl>
                </p:cond>
              </p:nextCondLst>
            </p:seq>
            <p:seq concurrent="1" nextAc="seek">
              <p:cTn id="14" restart="whenNotActive" fill="hold" evtFilter="cancelBubble" nodeType="interactiveSeq">
                <p:stCondLst>
                  <p:cond evt="onClick" delay="0">
                    <p:tgtEl>
                      <p:spTgt spid="33"/>
                    </p:tgtEl>
                  </p:cond>
                </p:stCondLst>
                <p:endSync evt="end" delay="0">
                  <p:rtn val="all"/>
                </p:endSync>
                <p:childTnLst>
                  <p:par>
                    <p:cTn id="15" fill="hold">
                      <p:stCondLst>
                        <p:cond delay="0"/>
                      </p:stCondLst>
                      <p:childTnLst>
                        <p:par>
                          <p:cTn id="16" fill="hold">
                            <p:stCondLst>
                              <p:cond delay="0"/>
                            </p:stCondLst>
                            <p:childTnLst>
                              <p:par>
                                <p:cTn id="17" presetID="10" presetClass="exit" presetSubtype="0" fill="hold" grpId="0" nodeType="clickEffect">
                                  <p:stCondLst>
                                    <p:cond delay="0"/>
                                  </p:stCondLst>
                                  <p:childTnLst>
                                    <p:animEffect transition="out" filter="fade">
                                      <p:cBhvr>
                                        <p:cTn id="18" dur="500"/>
                                        <p:tgtEl>
                                          <p:spTgt spid="33"/>
                                        </p:tgtEl>
                                      </p:cBhvr>
                                    </p:animEffect>
                                    <p:set>
                                      <p:cBhvr>
                                        <p:cTn id="19" dur="1" fill="hold">
                                          <p:stCondLst>
                                            <p:cond delay="499"/>
                                          </p:stCondLst>
                                        </p:cTn>
                                        <p:tgtEl>
                                          <p:spTgt spid="33"/>
                                        </p:tgtEl>
                                        <p:attrNameLst>
                                          <p:attrName>style.visibility</p:attrName>
                                        </p:attrNameLst>
                                      </p:cBhvr>
                                      <p:to>
                                        <p:strVal val="hidden"/>
                                      </p:to>
                                    </p:set>
                                  </p:childTnLst>
                                </p:cTn>
                              </p:par>
                            </p:childTnLst>
                          </p:cTn>
                        </p:par>
                      </p:childTnLst>
                    </p:cTn>
                  </p:par>
                </p:childTnLst>
              </p:cTn>
              <p:nextCondLst>
                <p:cond evt="onClick" delay="0">
                  <p:tgtEl>
                    <p:spTgt spid="33"/>
                  </p:tgtEl>
                </p:cond>
              </p:nextCondLst>
            </p:seq>
          </p:childTnLst>
        </p:cTn>
      </p:par>
    </p:tnLst>
    <p:bldLst>
      <p:bldP spid="31" grpId="0" animBg="1"/>
      <p:bldP spid="32" grpId="0" animBg="1"/>
      <p:bldP spid="3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vert="horz" wrap="square" lIns="324000" tIns="45720" rIns="91440" bIns="45720" rtlCol="0" anchor="ctr">
              <a:spAutoFit/>
            </a:bodyPr>
            <a:lstStyle>
              <a:defPPr>
                <a:defRPr lang="en-US"/>
              </a:defPPr>
              <a:lvl1pPr>
                <a:spcBef>
                  <a:spcPct val="0"/>
                </a:spcBef>
                <a:buNone/>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a:t>Exercise 4A –Y1 Pure pages 63</a:t>
              </a:r>
            </a:p>
          </p:txBody>
        </p:sp>
        <p:cxnSp>
          <p:nvCxnSpPr>
            <p:cNvPr id="4" name="Straight Connector 3"/>
            <p:cNvCxnSpPr/>
            <p:nvPr/>
          </p:nvCxnSpPr>
          <p:spPr>
            <a:xfrm>
              <a:off x="218" y="601079"/>
              <a:ext cx="9144000" cy="0"/>
            </a:xfrm>
            <a:prstGeom prst="line">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cxnSp>
      </p:grpSp>
      <p:pic>
        <p:nvPicPr>
          <p:cNvPr id="5" name="Picture 4">
            <a:extLst>
              <a:ext uri="{FF2B5EF4-FFF2-40B4-BE49-F238E27FC236}">
                <a16:creationId xmlns:a16="http://schemas.microsoft.com/office/drawing/2014/main" id="{EEB7F987-76A2-D031-3F97-91718AC6867F}"/>
              </a:ext>
            </a:extLst>
          </p:cNvPr>
          <p:cNvPicPr>
            <a:picLocks noChangeAspect="1"/>
          </p:cNvPicPr>
          <p:nvPr/>
        </p:nvPicPr>
        <p:blipFill>
          <a:blip r:embed="rId2"/>
          <a:stretch>
            <a:fillRect/>
          </a:stretch>
        </p:blipFill>
        <p:spPr>
          <a:xfrm>
            <a:off x="251520" y="692696"/>
            <a:ext cx="7772400" cy="1594641"/>
          </a:xfrm>
          <a:prstGeom prst="rect">
            <a:avLst/>
          </a:prstGeom>
        </p:spPr>
      </p:pic>
      <p:pic>
        <p:nvPicPr>
          <p:cNvPr id="6" name="Picture 5">
            <a:extLst>
              <a:ext uri="{FF2B5EF4-FFF2-40B4-BE49-F238E27FC236}">
                <a16:creationId xmlns:a16="http://schemas.microsoft.com/office/drawing/2014/main" id="{BC5F0117-31A0-F94E-E6F5-049500D0045E}"/>
              </a:ext>
            </a:extLst>
          </p:cNvPr>
          <p:cNvPicPr>
            <a:picLocks noChangeAspect="1"/>
          </p:cNvPicPr>
          <p:nvPr/>
        </p:nvPicPr>
        <p:blipFill>
          <a:blip r:embed="rId3"/>
          <a:stretch>
            <a:fillRect/>
          </a:stretch>
        </p:blipFill>
        <p:spPr>
          <a:xfrm>
            <a:off x="467544" y="2380906"/>
            <a:ext cx="2970330" cy="1210134"/>
          </a:xfrm>
          <a:prstGeom prst="rect">
            <a:avLst/>
          </a:prstGeom>
        </p:spPr>
      </p:pic>
      <p:pic>
        <p:nvPicPr>
          <p:cNvPr id="7" name="Picture 6">
            <a:extLst>
              <a:ext uri="{FF2B5EF4-FFF2-40B4-BE49-F238E27FC236}">
                <a16:creationId xmlns:a16="http://schemas.microsoft.com/office/drawing/2014/main" id="{B6A1EA46-A7E2-DF73-AF81-F65FA7E937C3}"/>
              </a:ext>
            </a:extLst>
          </p:cNvPr>
          <p:cNvPicPr>
            <a:picLocks noChangeAspect="1"/>
          </p:cNvPicPr>
          <p:nvPr/>
        </p:nvPicPr>
        <p:blipFill>
          <a:blip r:embed="rId4"/>
          <a:stretch>
            <a:fillRect/>
          </a:stretch>
        </p:blipFill>
        <p:spPr>
          <a:xfrm>
            <a:off x="539552" y="4365104"/>
            <a:ext cx="2376264" cy="693077"/>
          </a:xfrm>
          <a:prstGeom prst="rect">
            <a:avLst/>
          </a:prstGeom>
        </p:spPr>
      </p:pic>
      <p:pic>
        <p:nvPicPr>
          <p:cNvPr id="9" name="Picture 8">
            <a:extLst>
              <a:ext uri="{FF2B5EF4-FFF2-40B4-BE49-F238E27FC236}">
                <a16:creationId xmlns:a16="http://schemas.microsoft.com/office/drawing/2014/main" id="{C3C69203-AE8A-EAD7-EF83-EC21C2AED84D}"/>
              </a:ext>
            </a:extLst>
          </p:cNvPr>
          <p:cNvPicPr>
            <a:picLocks noChangeAspect="1"/>
          </p:cNvPicPr>
          <p:nvPr/>
        </p:nvPicPr>
        <p:blipFill>
          <a:blip r:embed="rId5"/>
          <a:stretch>
            <a:fillRect/>
          </a:stretch>
        </p:blipFill>
        <p:spPr>
          <a:xfrm>
            <a:off x="5099891" y="2407886"/>
            <a:ext cx="3576565" cy="4165999"/>
          </a:xfrm>
          <a:prstGeom prst="rect">
            <a:avLst/>
          </a:prstGeom>
        </p:spPr>
      </p:pic>
      <p:sp>
        <p:nvSpPr>
          <p:cNvPr id="10" name="Rectangle 9">
            <a:extLst>
              <a:ext uri="{FF2B5EF4-FFF2-40B4-BE49-F238E27FC236}">
                <a16:creationId xmlns:a16="http://schemas.microsoft.com/office/drawing/2014/main" id="{48DCEB84-50A7-2877-0A54-EC73EE5C57E6}"/>
              </a:ext>
            </a:extLst>
          </p:cNvPr>
          <p:cNvSpPr/>
          <p:nvPr/>
        </p:nvSpPr>
        <p:spPr>
          <a:xfrm>
            <a:off x="395536" y="2469502"/>
            <a:ext cx="3460887" cy="1535562"/>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a:t>
            </a:r>
          </a:p>
        </p:txBody>
      </p:sp>
      <p:sp>
        <p:nvSpPr>
          <p:cNvPr id="11" name="Rectangle 10">
            <a:extLst>
              <a:ext uri="{FF2B5EF4-FFF2-40B4-BE49-F238E27FC236}">
                <a16:creationId xmlns:a16="http://schemas.microsoft.com/office/drawing/2014/main" id="{CFCC3CDE-0378-6B17-322D-475C42DCE265}"/>
              </a:ext>
            </a:extLst>
          </p:cNvPr>
          <p:cNvSpPr/>
          <p:nvPr/>
        </p:nvSpPr>
        <p:spPr>
          <a:xfrm>
            <a:off x="395536" y="4290400"/>
            <a:ext cx="3460887" cy="1535562"/>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b?</a:t>
            </a:r>
          </a:p>
        </p:txBody>
      </p:sp>
      <p:sp>
        <p:nvSpPr>
          <p:cNvPr id="12" name="Rectangle 11">
            <a:extLst>
              <a:ext uri="{FF2B5EF4-FFF2-40B4-BE49-F238E27FC236}">
                <a16:creationId xmlns:a16="http://schemas.microsoft.com/office/drawing/2014/main" id="{B2F4F87C-6819-3089-FA4F-FCBD9ECF459D}"/>
              </a:ext>
            </a:extLst>
          </p:cNvPr>
          <p:cNvSpPr/>
          <p:nvPr/>
        </p:nvSpPr>
        <p:spPr>
          <a:xfrm>
            <a:off x="5071553" y="2469502"/>
            <a:ext cx="3460887" cy="4165998"/>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b?</a:t>
            </a:r>
          </a:p>
        </p:txBody>
      </p:sp>
    </p:spTree>
    <p:extLst>
      <p:ext uri="{BB962C8B-B14F-4D97-AF65-F5344CB8AC3E}">
        <p14:creationId xmlns:p14="http://schemas.microsoft.com/office/powerpoint/2010/main" val="3985766231"/>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0"/>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0"/>
                                        </p:tgtEl>
                                      </p:cBhvr>
                                    </p:animEffect>
                                    <p:set>
                                      <p:cBhvr>
                                        <p:cTn id="7" dur="1" fill="hold">
                                          <p:stCondLst>
                                            <p:cond delay="499"/>
                                          </p:stCondLst>
                                        </p:cTn>
                                        <p:tgtEl>
                                          <p:spTgt spid="10"/>
                                        </p:tgtEl>
                                        <p:attrNameLst>
                                          <p:attrName>style.visibility</p:attrName>
                                        </p:attrNameLst>
                                      </p:cBhvr>
                                      <p:to>
                                        <p:strVal val="hidden"/>
                                      </p:to>
                                    </p:set>
                                  </p:childTnLst>
                                </p:cTn>
                              </p:par>
                            </p:childTnLst>
                          </p:cTn>
                        </p:par>
                      </p:childTnLst>
                    </p:cTn>
                  </p:par>
                </p:childTnLst>
              </p:cTn>
              <p:nextCondLst>
                <p:cond evt="onClick" delay="0">
                  <p:tgtEl>
                    <p:spTgt spid="10"/>
                  </p:tgtEl>
                </p:cond>
              </p:nextCondLst>
            </p:seq>
            <p:seq concurrent="1" nextAc="seek">
              <p:cTn id="8" restart="whenNotActive" fill="hold" evtFilter="cancelBubble" nodeType="interactiveSeq">
                <p:stCondLst>
                  <p:cond evt="onClick" delay="0">
                    <p:tgtEl>
                      <p:spTgt spid="11"/>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1"/>
                                        </p:tgtEl>
                                      </p:cBhvr>
                                    </p:animEffect>
                                    <p:set>
                                      <p:cBhvr>
                                        <p:cTn id="13" dur="1" fill="hold">
                                          <p:stCondLst>
                                            <p:cond delay="499"/>
                                          </p:stCondLst>
                                        </p:cTn>
                                        <p:tgtEl>
                                          <p:spTgt spid="11"/>
                                        </p:tgtEl>
                                        <p:attrNameLst>
                                          <p:attrName>style.visibility</p:attrName>
                                        </p:attrNameLst>
                                      </p:cBhvr>
                                      <p:to>
                                        <p:strVal val="hidden"/>
                                      </p:to>
                                    </p:set>
                                  </p:childTnLst>
                                </p:cTn>
                              </p:par>
                            </p:childTnLst>
                          </p:cTn>
                        </p:par>
                      </p:childTnLst>
                    </p:cTn>
                  </p:par>
                </p:childTnLst>
              </p:cTn>
              <p:nextCondLst>
                <p:cond evt="onClick" delay="0">
                  <p:tgtEl>
                    <p:spTgt spid="11"/>
                  </p:tgtEl>
                </p:cond>
              </p:nextCondLst>
            </p:seq>
            <p:seq concurrent="1" nextAc="seek">
              <p:cTn id="14" restart="whenNotActive" fill="hold" evtFilter="cancelBubble" nodeType="interactiveSeq">
                <p:stCondLst>
                  <p:cond evt="onClick" delay="0">
                    <p:tgtEl>
                      <p:spTgt spid="12"/>
                    </p:tgtEl>
                  </p:cond>
                </p:stCondLst>
                <p:endSync evt="end" delay="0">
                  <p:rtn val="all"/>
                </p:endSync>
                <p:childTnLst>
                  <p:par>
                    <p:cTn id="15" fill="hold">
                      <p:stCondLst>
                        <p:cond delay="0"/>
                      </p:stCondLst>
                      <p:childTnLst>
                        <p:par>
                          <p:cTn id="16" fill="hold">
                            <p:stCondLst>
                              <p:cond delay="0"/>
                            </p:stCondLst>
                            <p:childTnLst>
                              <p:par>
                                <p:cTn id="17" presetID="10" presetClass="exit" presetSubtype="0" fill="hold" grpId="0" nodeType="clickEffect">
                                  <p:stCondLst>
                                    <p:cond delay="0"/>
                                  </p:stCondLst>
                                  <p:childTnLst>
                                    <p:animEffect transition="out" filter="fade">
                                      <p:cBhvr>
                                        <p:cTn id="18" dur="500"/>
                                        <p:tgtEl>
                                          <p:spTgt spid="12"/>
                                        </p:tgtEl>
                                      </p:cBhvr>
                                    </p:animEffect>
                                    <p:set>
                                      <p:cBhvr>
                                        <p:cTn id="19" dur="1" fill="hold">
                                          <p:stCondLst>
                                            <p:cond delay="499"/>
                                          </p:stCondLst>
                                        </p:cTn>
                                        <p:tgtEl>
                                          <p:spTgt spid="12"/>
                                        </p:tgtEl>
                                        <p:attrNameLst>
                                          <p:attrName>style.visibility</p:attrName>
                                        </p:attrNameLst>
                                      </p:cBhvr>
                                      <p:to>
                                        <p:strVal val="hidden"/>
                                      </p:to>
                                    </p:set>
                                  </p:childTnLst>
                                </p:cTn>
                              </p:par>
                            </p:childTnLst>
                          </p:cTn>
                        </p:par>
                      </p:childTnLst>
                    </p:cTn>
                  </p:par>
                </p:childTnLst>
              </p:cTn>
              <p:nextCondLst>
                <p:cond evt="onClick" delay="0">
                  <p:tgtEl>
                    <p:spTgt spid="12"/>
                  </p:tgtEl>
                </p:cond>
              </p:nextCondLst>
            </p:seq>
          </p:childTnLst>
        </p:cTn>
      </p:par>
    </p:tnLst>
    <p:bldLst>
      <p:bldP spid="10" grpId="0" animBg="1"/>
      <p:bldP spid="11" grpId="0" animBg="1"/>
      <p:bldP spid="12"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vert="horz" wrap="square" lIns="324000" tIns="45720" rIns="91440" bIns="45720" rtlCol="0" anchor="ctr">
              <a:spAutoFit/>
            </a:bodyPr>
            <a:lstStyle>
              <a:defPPr>
                <a:defRPr lang="en-US"/>
              </a:defPPr>
              <a:lvl1pPr>
                <a:spcBef>
                  <a:spcPct val="0"/>
                </a:spcBef>
                <a:buNone/>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a:t>Exercise 4A Extension</a:t>
              </a:r>
            </a:p>
          </p:txBody>
        </p:sp>
        <p:cxnSp>
          <p:nvCxnSpPr>
            <p:cNvPr id="4" name="Straight Connector 3"/>
            <p:cNvCxnSpPr/>
            <p:nvPr/>
          </p:nvCxnSpPr>
          <p:spPr>
            <a:xfrm>
              <a:off x="218" y="601079"/>
              <a:ext cx="9144000" cy="0"/>
            </a:xfrm>
            <a:prstGeom prst="line">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cxnSp>
      </p:grpSp>
      <p:sp>
        <p:nvSpPr>
          <p:cNvPr id="13" name="Rectangle 12"/>
          <p:cNvSpPr/>
          <p:nvPr/>
        </p:nvSpPr>
        <p:spPr>
          <a:xfrm>
            <a:off x="321762" y="1517160"/>
            <a:ext cx="257798" cy="248133"/>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a:t>1</a:t>
            </a:r>
          </a:p>
        </p:txBody>
      </p:sp>
      <p:sp>
        <p:nvSpPr>
          <p:cNvPr id="7" name="TextBox 6"/>
          <p:cNvSpPr txBox="1"/>
          <p:nvPr/>
        </p:nvSpPr>
        <p:spPr>
          <a:xfrm>
            <a:off x="540752" y="1003237"/>
            <a:ext cx="1224136" cy="369332"/>
          </a:xfrm>
          <a:prstGeom prst="rect">
            <a:avLst/>
          </a:prstGeom>
          <a:noFill/>
        </p:spPr>
        <p:txBody>
          <a:bodyPr wrap="square" rtlCol="0">
            <a:spAutoFit/>
          </a:bodyPr>
          <a:lstStyle/>
          <a:p>
            <a:r>
              <a:rPr lang="en-GB" b="1"/>
              <a:t>Extension</a:t>
            </a:r>
          </a:p>
        </p:txBody>
      </p:sp>
      <p:sp>
        <p:nvSpPr>
          <p:cNvPr id="10" name="TextBox 9"/>
          <p:cNvSpPr txBox="1"/>
          <p:nvPr/>
        </p:nvSpPr>
        <p:spPr>
          <a:xfrm>
            <a:off x="668141" y="1426662"/>
            <a:ext cx="3388414" cy="923330"/>
          </a:xfrm>
          <a:prstGeom prst="rect">
            <a:avLst/>
          </a:prstGeom>
          <a:noFill/>
        </p:spPr>
        <p:txBody>
          <a:bodyPr wrap="square" rtlCol="0">
            <a:spAutoFit/>
          </a:bodyPr>
          <a:lstStyle/>
          <a:p>
            <a:r>
              <a:rPr lang="en-GB"/>
              <a:t>[MAT 2012 1E] Which one of the following equations could possibly have the graph given below?</a:t>
            </a:r>
          </a:p>
        </p:txBody>
      </p:sp>
      <p:pic>
        <p:nvPicPr>
          <p:cNvPr id="11" name="Picture 10"/>
          <p:cNvPicPr>
            <a:picLocks noChangeAspect="1"/>
          </p:cNvPicPr>
          <p:nvPr/>
        </p:nvPicPr>
        <p:blipFill>
          <a:blip r:embed="rId2"/>
          <a:stretch>
            <a:fillRect/>
          </a:stretch>
        </p:blipFill>
        <p:spPr>
          <a:xfrm>
            <a:off x="791171" y="2303837"/>
            <a:ext cx="2762614" cy="1852482"/>
          </a:xfrm>
          <a:prstGeom prst="rect">
            <a:avLst/>
          </a:prstGeom>
        </p:spPr>
      </p:pic>
      <mc:AlternateContent xmlns:mc="http://schemas.openxmlformats.org/markup-compatibility/2006">
        <mc:Choice xmlns:a14="http://schemas.microsoft.com/office/drawing/2010/main" Requires="a14">
          <p:sp>
            <p:nvSpPr>
              <p:cNvPr id="20" name="TextBox 19"/>
              <p:cNvSpPr txBox="1"/>
              <p:nvPr/>
            </p:nvSpPr>
            <p:spPr>
              <a:xfrm>
                <a:off x="522998" y="4190570"/>
                <a:ext cx="3744417" cy="1754326"/>
              </a:xfrm>
              <a:prstGeom prst="rect">
                <a:avLst/>
              </a:prstGeom>
              <a:noFill/>
            </p:spPr>
            <p:txBody>
              <a:bodyPr wrap="square" rtlCol="0">
                <a:spAutoFit/>
              </a:bodyPr>
              <a:lstStyle/>
              <a:p>
                <a:pPr marL="342900" indent="-342900">
                  <a:buAutoNum type="alphaUcParenR"/>
                </a:pPr>
                <a:r>
                  <a:rPr lang="en-GB" b="0"/>
                  <a:t> </a:t>
                </a:r>
                <a14:m>
                  <m:oMath xmlns:m="http://schemas.openxmlformats.org/officeDocument/2006/math">
                    <m:r>
                      <a:rPr lang="en-GB" b="0" i="1" smtClean="0">
                        <a:latin typeface="Cambria Math" panose="02040503050406030204" pitchFamily="18" charset="0"/>
                      </a:rPr>
                      <m:t>𝑦</m:t>
                    </m:r>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d>
                          <m:dPr>
                            <m:ctrlPr>
                              <a:rPr lang="en-GB" b="0" i="1" smtClean="0">
                                <a:latin typeface="Cambria Math" panose="02040503050406030204" pitchFamily="18" charset="0"/>
                              </a:rPr>
                            </m:ctrlPr>
                          </m:dPr>
                          <m:e>
                            <m:r>
                              <a:rPr lang="en-GB" b="0" i="1" smtClean="0">
                                <a:latin typeface="Cambria Math" panose="02040503050406030204" pitchFamily="18" charset="0"/>
                              </a:rPr>
                              <m:t>3−</m:t>
                            </m:r>
                            <m:r>
                              <a:rPr lang="en-GB" b="0" i="1" smtClean="0">
                                <a:latin typeface="Cambria Math" panose="02040503050406030204" pitchFamily="18" charset="0"/>
                              </a:rPr>
                              <m:t>𝑥</m:t>
                            </m:r>
                          </m:e>
                        </m:d>
                      </m:e>
                      <m:sup>
                        <m:r>
                          <a:rPr lang="en-GB" b="0" i="1" smtClean="0">
                            <a:latin typeface="Cambria Math" panose="02040503050406030204" pitchFamily="18" charset="0"/>
                          </a:rPr>
                          <m:t>2</m:t>
                        </m:r>
                      </m:sup>
                    </m:sSup>
                    <m:sSup>
                      <m:sSupPr>
                        <m:ctrlPr>
                          <a:rPr lang="en-GB" b="0" i="1" smtClean="0">
                            <a:latin typeface="Cambria Math" panose="02040503050406030204" pitchFamily="18" charset="0"/>
                          </a:rPr>
                        </m:ctrlPr>
                      </m:sSupPr>
                      <m:e>
                        <m:d>
                          <m:dPr>
                            <m:ctrlPr>
                              <a:rPr lang="en-GB" b="0" i="1" smtClean="0">
                                <a:latin typeface="Cambria Math" panose="02040503050406030204" pitchFamily="18" charset="0"/>
                              </a:rPr>
                            </m:ctrlPr>
                          </m:dPr>
                          <m:e>
                            <m:r>
                              <a:rPr lang="en-GB" b="0" i="1" smtClean="0">
                                <a:latin typeface="Cambria Math" panose="02040503050406030204" pitchFamily="18" charset="0"/>
                              </a:rPr>
                              <m:t>3+</m:t>
                            </m:r>
                            <m:r>
                              <a:rPr lang="en-GB" b="0" i="1" smtClean="0">
                                <a:latin typeface="Cambria Math" panose="02040503050406030204" pitchFamily="18" charset="0"/>
                              </a:rPr>
                              <m:t>𝑥</m:t>
                            </m:r>
                          </m:e>
                        </m:d>
                      </m:e>
                      <m:sup>
                        <m:r>
                          <a:rPr lang="en-GB" b="0" i="1" smtClean="0">
                            <a:latin typeface="Cambria Math" panose="02040503050406030204" pitchFamily="18" charset="0"/>
                          </a:rPr>
                          <m:t>2</m:t>
                        </m:r>
                      </m:sup>
                    </m:sSup>
                    <m:d>
                      <m:dPr>
                        <m:ctrlPr>
                          <a:rPr lang="en-GB" b="0" i="1" smtClean="0">
                            <a:latin typeface="Cambria Math" panose="02040503050406030204" pitchFamily="18" charset="0"/>
                          </a:rPr>
                        </m:ctrlPr>
                      </m:dPr>
                      <m:e>
                        <m:r>
                          <a:rPr lang="en-GB" b="0" i="1" smtClean="0">
                            <a:latin typeface="Cambria Math" panose="02040503050406030204" pitchFamily="18" charset="0"/>
                          </a:rPr>
                          <m:t>1−</m:t>
                        </m:r>
                        <m:r>
                          <a:rPr lang="en-GB" b="0" i="1" smtClean="0">
                            <a:latin typeface="Cambria Math" panose="02040503050406030204" pitchFamily="18" charset="0"/>
                          </a:rPr>
                          <m:t>𝑥</m:t>
                        </m:r>
                      </m:e>
                    </m:d>
                  </m:oMath>
                </a14:m>
                <a:endParaRPr lang="en-GB" b="0"/>
              </a:p>
              <a:p>
                <a:pPr marL="342900" indent="-342900">
                  <a:buAutoNum type="alphaUcParenR"/>
                </a:pPr>
                <a:r>
                  <a:rPr lang="en-GB" b="0"/>
                  <a:t> </a:t>
                </a:r>
                <a14:m>
                  <m:oMath xmlns:m="http://schemas.openxmlformats.org/officeDocument/2006/math">
                    <m:r>
                      <a:rPr lang="en-GB" b="0" i="1" smtClean="0">
                        <a:latin typeface="Cambria Math" panose="02040503050406030204" pitchFamily="18" charset="0"/>
                      </a:rPr>
                      <m:t>𝑦</m:t>
                    </m:r>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2</m:t>
                        </m:r>
                      </m:sup>
                    </m:sSup>
                    <m:d>
                      <m:dPr>
                        <m:ctrlPr>
                          <a:rPr lang="en-GB" b="0" i="1" smtClean="0">
                            <a:latin typeface="Cambria Math" panose="02040503050406030204" pitchFamily="18" charset="0"/>
                          </a:rPr>
                        </m:ctrlPr>
                      </m:dPr>
                      <m:e>
                        <m:r>
                          <a:rPr lang="en-GB" b="0" i="1" smtClean="0">
                            <a:latin typeface="Cambria Math" panose="02040503050406030204" pitchFamily="18" charset="0"/>
                          </a:rPr>
                          <m:t>𝑥</m:t>
                        </m:r>
                        <m:r>
                          <a:rPr lang="en-GB" b="0" i="1" smtClean="0">
                            <a:latin typeface="Cambria Math" panose="02040503050406030204" pitchFamily="18" charset="0"/>
                          </a:rPr>
                          <m:t>−9</m:t>
                        </m:r>
                      </m:e>
                    </m:d>
                    <m:d>
                      <m:dPr>
                        <m:ctrlPr>
                          <a:rPr lang="en-GB" b="0" i="1" smtClean="0">
                            <a:latin typeface="Cambria Math" panose="02040503050406030204" pitchFamily="18" charset="0"/>
                          </a:rPr>
                        </m:ctrlPr>
                      </m:dPr>
                      <m:e>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2</m:t>
                            </m:r>
                          </m:sup>
                        </m:sSup>
                        <m:r>
                          <a:rPr lang="en-GB" b="0" i="1" smtClean="0">
                            <a:latin typeface="Cambria Math" panose="02040503050406030204" pitchFamily="18" charset="0"/>
                          </a:rPr>
                          <m:t>−3</m:t>
                        </m:r>
                      </m:e>
                    </m:d>
                  </m:oMath>
                </a14:m>
                <a:endParaRPr lang="en-GB" b="0"/>
              </a:p>
              <a:p>
                <a:pPr marL="342900" indent="-342900">
                  <a:buAutoNum type="alphaUcParenR"/>
                </a:pPr>
                <a:r>
                  <a:rPr lang="en-GB" b="0"/>
                  <a:t> </a:t>
                </a:r>
                <a14:m>
                  <m:oMath xmlns:m="http://schemas.openxmlformats.org/officeDocument/2006/math">
                    <m:r>
                      <a:rPr lang="en-GB" b="0" i="1" smtClean="0">
                        <a:latin typeface="Cambria Math" panose="02040503050406030204" pitchFamily="18" charset="0"/>
                      </a:rPr>
                      <m:t>𝑦</m:t>
                    </m:r>
                    <m:r>
                      <a:rPr lang="en-GB" b="0" i="1" smtClean="0">
                        <a:latin typeface="Cambria Math" panose="02040503050406030204" pitchFamily="18" charset="0"/>
                      </a:rPr>
                      <m:t>=</m:t>
                    </m:r>
                    <m:d>
                      <m:dPr>
                        <m:ctrlPr>
                          <a:rPr lang="en-GB" b="0" i="1" smtClean="0">
                            <a:latin typeface="Cambria Math" panose="02040503050406030204" pitchFamily="18" charset="0"/>
                          </a:rPr>
                        </m:ctrlPr>
                      </m:dPr>
                      <m:e>
                        <m:r>
                          <a:rPr lang="en-GB" b="0" i="1" smtClean="0">
                            <a:latin typeface="Cambria Math" panose="02040503050406030204" pitchFamily="18" charset="0"/>
                          </a:rPr>
                          <m:t>𝑥</m:t>
                        </m:r>
                        <m:r>
                          <a:rPr lang="en-GB" b="0" i="1" smtClean="0">
                            <a:latin typeface="Cambria Math" panose="02040503050406030204" pitchFamily="18" charset="0"/>
                          </a:rPr>
                          <m:t>−6</m:t>
                        </m:r>
                      </m:e>
                    </m:d>
                    <m:sSup>
                      <m:sSupPr>
                        <m:ctrlPr>
                          <a:rPr lang="en-GB" b="0" i="1" smtClean="0">
                            <a:latin typeface="Cambria Math" panose="02040503050406030204" pitchFamily="18" charset="0"/>
                          </a:rPr>
                        </m:ctrlPr>
                      </m:sSupPr>
                      <m:e>
                        <m:d>
                          <m:dPr>
                            <m:ctrlPr>
                              <a:rPr lang="en-GB" b="0" i="1" smtClean="0">
                                <a:latin typeface="Cambria Math" panose="02040503050406030204" pitchFamily="18" charset="0"/>
                              </a:rPr>
                            </m:ctrlPr>
                          </m:dPr>
                          <m:e>
                            <m:r>
                              <a:rPr lang="en-GB" b="0" i="1" smtClean="0">
                                <a:latin typeface="Cambria Math" panose="02040503050406030204" pitchFamily="18" charset="0"/>
                              </a:rPr>
                              <m:t>𝑥</m:t>
                            </m:r>
                            <m:r>
                              <a:rPr lang="en-GB" b="0" i="1" smtClean="0">
                                <a:latin typeface="Cambria Math" panose="02040503050406030204" pitchFamily="18" charset="0"/>
                              </a:rPr>
                              <m:t>−2</m:t>
                            </m:r>
                          </m:e>
                        </m:d>
                      </m:e>
                      <m:sup>
                        <m:r>
                          <a:rPr lang="en-GB" b="0" i="1" smtClean="0">
                            <a:latin typeface="Cambria Math" panose="02040503050406030204" pitchFamily="18" charset="0"/>
                          </a:rPr>
                          <m:t>2</m:t>
                        </m:r>
                      </m:sup>
                    </m:sSup>
                    <m:sSup>
                      <m:sSupPr>
                        <m:ctrlPr>
                          <a:rPr lang="en-GB" b="0" i="1" smtClean="0">
                            <a:latin typeface="Cambria Math" panose="02040503050406030204" pitchFamily="18" charset="0"/>
                          </a:rPr>
                        </m:ctrlPr>
                      </m:sSupPr>
                      <m:e>
                        <m:d>
                          <m:dPr>
                            <m:ctrlPr>
                              <a:rPr lang="en-GB" b="0" i="1" smtClean="0">
                                <a:latin typeface="Cambria Math" panose="02040503050406030204" pitchFamily="18" charset="0"/>
                              </a:rPr>
                            </m:ctrlPr>
                          </m:dPr>
                          <m:e>
                            <m:r>
                              <a:rPr lang="en-GB" b="0" i="1" smtClean="0">
                                <a:latin typeface="Cambria Math" panose="02040503050406030204" pitchFamily="18" charset="0"/>
                              </a:rPr>
                              <m:t>𝑥</m:t>
                            </m:r>
                            <m:r>
                              <a:rPr lang="en-GB" b="0" i="1" smtClean="0">
                                <a:latin typeface="Cambria Math" panose="02040503050406030204" pitchFamily="18" charset="0"/>
                              </a:rPr>
                              <m:t>+2</m:t>
                            </m:r>
                          </m:e>
                        </m:d>
                      </m:e>
                      <m:sup>
                        <m:r>
                          <a:rPr lang="en-GB" b="0" i="1" smtClean="0">
                            <a:latin typeface="Cambria Math" panose="02040503050406030204" pitchFamily="18" charset="0"/>
                          </a:rPr>
                          <m:t>2</m:t>
                        </m:r>
                      </m:sup>
                    </m:sSup>
                  </m:oMath>
                </a14:m>
                <a:endParaRPr lang="en-GB" b="0"/>
              </a:p>
              <a:p>
                <a:pPr marL="342900" indent="-342900">
                  <a:buAutoNum type="alphaUcParenR"/>
                </a:pPr>
                <a:r>
                  <a:rPr lang="en-GB"/>
                  <a:t> </a:t>
                </a:r>
                <a14:m>
                  <m:oMath xmlns:m="http://schemas.openxmlformats.org/officeDocument/2006/math">
                    <m:r>
                      <a:rPr lang="en-GB" b="0" i="1" smtClean="0">
                        <a:latin typeface="Cambria Math" panose="02040503050406030204" pitchFamily="18" charset="0"/>
                      </a:rPr>
                      <m:t>𝑦</m:t>
                    </m:r>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d>
                          <m:dPr>
                            <m:ctrlPr>
                              <a:rPr lang="en-GB" b="0" i="1" smtClean="0">
                                <a:latin typeface="Cambria Math" panose="02040503050406030204" pitchFamily="18" charset="0"/>
                              </a:rPr>
                            </m:ctrlPr>
                          </m:dPr>
                          <m:e>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2</m:t>
                                </m:r>
                              </m:sup>
                            </m:sSup>
                            <m:r>
                              <a:rPr lang="en-GB" b="0" i="1" smtClean="0">
                                <a:latin typeface="Cambria Math" panose="02040503050406030204" pitchFamily="18" charset="0"/>
                              </a:rPr>
                              <m:t>−1</m:t>
                            </m:r>
                          </m:e>
                        </m:d>
                      </m:e>
                      <m:sup>
                        <m:r>
                          <a:rPr lang="en-GB" b="0" i="1" smtClean="0">
                            <a:latin typeface="Cambria Math" panose="02040503050406030204" pitchFamily="18" charset="0"/>
                          </a:rPr>
                          <m:t>2</m:t>
                        </m:r>
                      </m:sup>
                    </m:sSup>
                    <m:d>
                      <m:dPr>
                        <m:ctrlPr>
                          <a:rPr lang="en-GB" b="0" i="1" smtClean="0">
                            <a:latin typeface="Cambria Math" panose="02040503050406030204" pitchFamily="18" charset="0"/>
                          </a:rPr>
                        </m:ctrlPr>
                      </m:dPr>
                      <m:e>
                        <m:r>
                          <a:rPr lang="en-GB" b="0" i="1" smtClean="0">
                            <a:latin typeface="Cambria Math" panose="02040503050406030204" pitchFamily="18" charset="0"/>
                          </a:rPr>
                          <m:t>3−</m:t>
                        </m:r>
                        <m:r>
                          <a:rPr lang="en-GB" b="0" i="1" smtClean="0">
                            <a:latin typeface="Cambria Math" panose="02040503050406030204" pitchFamily="18" charset="0"/>
                          </a:rPr>
                          <m:t>𝑥</m:t>
                        </m:r>
                      </m:e>
                    </m:d>
                  </m:oMath>
                </a14:m>
                <a:endParaRPr lang="en-GB" b="0"/>
              </a:p>
              <a:p>
                <a:pPr marL="342900" indent="-342900">
                  <a:buAutoNum type="alphaUcParenR"/>
                </a:pPr>
                <a:endParaRPr lang="en-GB"/>
              </a:p>
              <a:p>
                <a:r>
                  <a:rPr lang="en-GB" b="1"/>
                  <a:t>Solution: D</a:t>
                </a:r>
              </a:p>
            </p:txBody>
          </p:sp>
        </mc:Choice>
        <mc:Fallback>
          <p:sp>
            <p:nvSpPr>
              <p:cNvPr id="20" name="TextBox 19"/>
              <p:cNvSpPr txBox="1">
                <a:spLocks noRot="1" noChangeAspect="1" noMove="1" noResize="1" noEditPoints="1" noAdjustHandles="1" noChangeArrowheads="1" noChangeShapeType="1" noTextEdit="1"/>
              </p:cNvSpPr>
              <p:nvPr/>
            </p:nvSpPr>
            <p:spPr>
              <a:xfrm>
                <a:off x="522998" y="4190570"/>
                <a:ext cx="3744417" cy="1754326"/>
              </a:xfrm>
              <a:prstGeom prst="rect">
                <a:avLst/>
              </a:prstGeom>
              <a:blipFill>
                <a:blip r:embed="rId3"/>
                <a:stretch>
                  <a:fillRect l="-1695" t="-1429" b="-4286"/>
                </a:stretch>
              </a:blipFill>
            </p:spPr>
            <p:txBody>
              <a:bodyPr/>
              <a:lstStyle/>
              <a:p>
                <a:r>
                  <a:rPr lang="en-US">
                    <a:noFill/>
                  </a:rPr>
                  <a:t> </a:t>
                </a:r>
              </a:p>
            </p:txBody>
          </p:sp>
        </mc:Fallback>
      </mc:AlternateContent>
      <p:sp>
        <p:nvSpPr>
          <p:cNvPr id="21" name="Rectangle 20"/>
          <p:cNvSpPr/>
          <p:nvPr/>
        </p:nvSpPr>
        <p:spPr>
          <a:xfrm>
            <a:off x="4242195" y="1116076"/>
            <a:ext cx="257798" cy="248133"/>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a:t>2</a:t>
            </a:r>
          </a:p>
        </p:txBody>
      </p:sp>
      <p:pic>
        <p:nvPicPr>
          <p:cNvPr id="12" name="Picture 11"/>
          <p:cNvPicPr>
            <a:picLocks noChangeAspect="1"/>
          </p:cNvPicPr>
          <p:nvPr/>
        </p:nvPicPr>
        <p:blipFill>
          <a:blip r:embed="rId4"/>
          <a:stretch>
            <a:fillRect/>
          </a:stretch>
        </p:blipFill>
        <p:spPr>
          <a:xfrm>
            <a:off x="4804907" y="1942666"/>
            <a:ext cx="3594304" cy="2668401"/>
          </a:xfrm>
          <a:prstGeom prst="rect">
            <a:avLst/>
          </a:prstGeom>
        </p:spPr>
      </p:pic>
      <mc:AlternateContent xmlns:mc="http://schemas.openxmlformats.org/markup-compatibility/2006">
        <mc:Choice xmlns:a14="http://schemas.microsoft.com/office/drawing/2010/main" Requires="a14">
          <p:sp>
            <p:nvSpPr>
              <p:cNvPr id="22" name="TextBox 21"/>
              <p:cNvSpPr txBox="1"/>
              <p:nvPr/>
            </p:nvSpPr>
            <p:spPr>
              <a:xfrm>
                <a:off x="4609078" y="1044385"/>
                <a:ext cx="3836198" cy="923330"/>
              </a:xfrm>
              <a:prstGeom prst="rect">
                <a:avLst/>
              </a:prstGeom>
              <a:noFill/>
            </p:spPr>
            <p:txBody>
              <a:bodyPr wrap="square" rtlCol="0">
                <a:spAutoFit/>
              </a:bodyPr>
              <a:lstStyle/>
              <a:p>
                <a:r>
                  <a:rPr lang="en-GB"/>
                  <a:t>[MAT 2011 1A] A sketch of the graph </a:t>
                </a:r>
                <a14:m>
                  <m:oMath xmlns:m="http://schemas.openxmlformats.org/officeDocument/2006/math">
                    <m:r>
                      <a:rPr lang="en-GB" b="0" i="1" smtClean="0">
                        <a:latin typeface="Cambria Math" panose="02040503050406030204" pitchFamily="18" charset="0"/>
                      </a:rPr>
                      <m:t>𝑦</m:t>
                    </m:r>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3</m:t>
                        </m:r>
                      </m:sup>
                    </m:sSup>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2</m:t>
                        </m:r>
                      </m:sup>
                    </m:sSup>
                    <m:r>
                      <a:rPr lang="en-GB" b="0" i="1" smtClean="0">
                        <a:latin typeface="Cambria Math" panose="02040503050406030204" pitchFamily="18" charset="0"/>
                      </a:rPr>
                      <m:t>−</m:t>
                    </m:r>
                    <m:r>
                      <a:rPr lang="en-GB" b="0" i="1" smtClean="0">
                        <a:latin typeface="Cambria Math" panose="02040503050406030204" pitchFamily="18" charset="0"/>
                      </a:rPr>
                      <m:t>𝑥</m:t>
                    </m:r>
                    <m:r>
                      <a:rPr lang="en-GB" b="0" i="1" smtClean="0">
                        <a:latin typeface="Cambria Math" panose="02040503050406030204" pitchFamily="18" charset="0"/>
                      </a:rPr>
                      <m:t>+1</m:t>
                    </m:r>
                  </m:oMath>
                </a14:m>
                <a:r>
                  <a:rPr lang="en-GB"/>
                  <a:t> appears on which of the following axis?</a:t>
                </a:r>
              </a:p>
            </p:txBody>
          </p:sp>
        </mc:Choice>
        <mc:Fallback>
          <p:sp>
            <p:nvSpPr>
              <p:cNvPr id="22" name="TextBox 21"/>
              <p:cNvSpPr txBox="1">
                <a:spLocks noRot="1" noChangeAspect="1" noMove="1" noResize="1" noEditPoints="1" noAdjustHandles="1" noChangeArrowheads="1" noChangeShapeType="1" noTextEdit="1"/>
              </p:cNvSpPr>
              <p:nvPr/>
            </p:nvSpPr>
            <p:spPr>
              <a:xfrm>
                <a:off x="4609078" y="1044385"/>
                <a:ext cx="3836198" cy="923330"/>
              </a:xfrm>
              <a:prstGeom prst="rect">
                <a:avLst/>
              </a:prstGeom>
              <a:blipFill>
                <a:blip r:embed="rId5"/>
                <a:stretch>
                  <a:fillRect l="-990" t="-2703" b="-9459"/>
                </a:stretch>
              </a:blipFill>
            </p:spPr>
            <p:txBody>
              <a:bodyPr/>
              <a:lstStyle/>
              <a:p>
                <a:r>
                  <a:rPr lang="en-US">
                    <a:noFill/>
                  </a:rPr>
                  <a:t> </a:t>
                </a:r>
              </a:p>
            </p:txBody>
          </p:sp>
        </mc:Fallback>
      </mc:AlternateContent>
      <p:sp>
        <p:nvSpPr>
          <p:cNvPr id="23" name="TextBox 22"/>
          <p:cNvSpPr txBox="1"/>
          <p:nvPr/>
        </p:nvSpPr>
        <p:spPr>
          <a:xfrm>
            <a:off x="4761364" y="2987738"/>
            <a:ext cx="548826" cy="369332"/>
          </a:xfrm>
          <a:prstGeom prst="rect">
            <a:avLst/>
          </a:prstGeom>
          <a:solidFill>
            <a:schemeClr val="bg1"/>
          </a:solidFill>
        </p:spPr>
        <p:txBody>
          <a:bodyPr wrap="square" rtlCol="0">
            <a:spAutoFit/>
          </a:bodyPr>
          <a:lstStyle/>
          <a:p>
            <a:r>
              <a:rPr lang="en-GB"/>
              <a:t>(a)</a:t>
            </a:r>
          </a:p>
        </p:txBody>
      </p:sp>
      <p:sp>
        <p:nvSpPr>
          <p:cNvPr id="24" name="TextBox 23"/>
          <p:cNvSpPr txBox="1"/>
          <p:nvPr/>
        </p:nvSpPr>
        <p:spPr>
          <a:xfrm>
            <a:off x="6517769" y="2977664"/>
            <a:ext cx="548826" cy="369332"/>
          </a:xfrm>
          <a:prstGeom prst="rect">
            <a:avLst/>
          </a:prstGeom>
          <a:solidFill>
            <a:schemeClr val="bg1"/>
          </a:solidFill>
        </p:spPr>
        <p:txBody>
          <a:bodyPr wrap="square" rtlCol="0">
            <a:spAutoFit/>
          </a:bodyPr>
          <a:lstStyle/>
          <a:p>
            <a:r>
              <a:rPr lang="en-GB"/>
              <a:t>(b)</a:t>
            </a:r>
          </a:p>
        </p:txBody>
      </p:sp>
      <p:sp>
        <p:nvSpPr>
          <p:cNvPr id="25" name="TextBox 24"/>
          <p:cNvSpPr txBox="1"/>
          <p:nvPr/>
        </p:nvSpPr>
        <p:spPr>
          <a:xfrm>
            <a:off x="4758842" y="4241735"/>
            <a:ext cx="548826" cy="369332"/>
          </a:xfrm>
          <a:prstGeom prst="rect">
            <a:avLst/>
          </a:prstGeom>
          <a:solidFill>
            <a:schemeClr val="bg1"/>
          </a:solidFill>
        </p:spPr>
        <p:txBody>
          <a:bodyPr wrap="square" rtlCol="0">
            <a:spAutoFit/>
          </a:bodyPr>
          <a:lstStyle/>
          <a:p>
            <a:r>
              <a:rPr lang="en-GB"/>
              <a:t>(c)</a:t>
            </a:r>
          </a:p>
        </p:txBody>
      </p:sp>
      <p:sp>
        <p:nvSpPr>
          <p:cNvPr id="26" name="TextBox 25"/>
          <p:cNvSpPr txBox="1"/>
          <p:nvPr/>
        </p:nvSpPr>
        <p:spPr>
          <a:xfrm>
            <a:off x="6517769" y="4241735"/>
            <a:ext cx="548826" cy="369332"/>
          </a:xfrm>
          <a:prstGeom prst="rect">
            <a:avLst/>
          </a:prstGeom>
          <a:solidFill>
            <a:schemeClr val="bg1"/>
          </a:solidFill>
        </p:spPr>
        <p:txBody>
          <a:bodyPr wrap="square" rtlCol="0">
            <a:spAutoFit/>
          </a:bodyPr>
          <a:lstStyle/>
          <a:p>
            <a:r>
              <a:rPr lang="en-GB"/>
              <a:t>(d)</a:t>
            </a:r>
          </a:p>
        </p:txBody>
      </p:sp>
      <mc:AlternateContent xmlns:mc="http://schemas.openxmlformats.org/markup-compatibility/2006">
        <mc:Choice xmlns:a14="http://schemas.microsoft.com/office/drawing/2010/main" Requires="a14">
          <p:sp>
            <p:nvSpPr>
              <p:cNvPr id="27" name="TextBox 26"/>
              <p:cNvSpPr txBox="1"/>
              <p:nvPr/>
            </p:nvSpPr>
            <p:spPr>
              <a:xfrm>
                <a:off x="4407966" y="4869161"/>
                <a:ext cx="4570812" cy="965201"/>
              </a:xfrm>
              <a:prstGeom prst="rect">
                <a:avLst/>
              </a:prstGeom>
              <a:noFill/>
            </p:spPr>
            <p:txBody>
              <a:bodyPr wrap="square" rtlCol="0">
                <a:spAutoFit/>
              </a:bodyPr>
              <a:lstStyle/>
              <a:p>
                <a:r>
                  <a:rPr lang="en-GB" b="1"/>
                  <a:t>Cubics can sometimes be factorised by pairing the terms: </a:t>
                </a:r>
                <a14:m>
                  <m:oMath xmlns:m="http://schemas.openxmlformats.org/officeDocument/2006/math">
                    <m:sSup>
                      <m:sSupPr>
                        <m:ctrlPr>
                          <a:rPr lang="en-GB" b="1" i="1" smtClean="0">
                            <a:latin typeface="Cambria Math" panose="02040503050406030204" pitchFamily="18" charset="0"/>
                          </a:rPr>
                        </m:ctrlPr>
                      </m:sSupPr>
                      <m:e>
                        <m:r>
                          <a:rPr lang="en-GB" b="1" i="1" smtClean="0">
                            <a:latin typeface="Cambria Math" panose="02040503050406030204" pitchFamily="18" charset="0"/>
                          </a:rPr>
                          <m:t>𝒙</m:t>
                        </m:r>
                      </m:e>
                      <m:sup>
                        <m:r>
                          <a:rPr lang="en-GB" b="1" i="1" smtClean="0">
                            <a:latin typeface="Cambria Math" panose="02040503050406030204" pitchFamily="18" charset="0"/>
                          </a:rPr>
                          <m:t>𝟐</m:t>
                        </m:r>
                      </m:sup>
                    </m:sSup>
                    <m:d>
                      <m:dPr>
                        <m:ctrlPr>
                          <a:rPr lang="en-GB" b="1" i="1" smtClean="0">
                            <a:latin typeface="Cambria Math" panose="02040503050406030204" pitchFamily="18" charset="0"/>
                          </a:rPr>
                        </m:ctrlPr>
                      </m:dPr>
                      <m:e>
                        <m:r>
                          <a:rPr lang="en-GB" b="1" i="1" smtClean="0">
                            <a:latin typeface="Cambria Math" panose="02040503050406030204" pitchFamily="18" charset="0"/>
                          </a:rPr>
                          <m:t>𝒙</m:t>
                        </m:r>
                        <m:r>
                          <a:rPr lang="en-GB" b="1" i="1" smtClean="0">
                            <a:latin typeface="Cambria Math" panose="02040503050406030204" pitchFamily="18" charset="0"/>
                          </a:rPr>
                          <m:t>−</m:t>
                        </m:r>
                        <m:r>
                          <a:rPr lang="en-GB" b="1" i="1" smtClean="0">
                            <a:latin typeface="Cambria Math" panose="02040503050406030204" pitchFamily="18" charset="0"/>
                          </a:rPr>
                          <m:t>𝟏</m:t>
                        </m:r>
                      </m:e>
                    </m:d>
                    <m:r>
                      <a:rPr lang="en-GB" b="1" i="1" smtClean="0">
                        <a:latin typeface="Cambria Math" panose="02040503050406030204" pitchFamily="18" charset="0"/>
                      </a:rPr>
                      <m:t>−</m:t>
                    </m:r>
                    <m:r>
                      <a:rPr lang="en-GB" b="1" i="1" smtClean="0">
                        <a:latin typeface="Cambria Math" panose="02040503050406030204" pitchFamily="18" charset="0"/>
                      </a:rPr>
                      <m:t>𝟏</m:t>
                    </m:r>
                    <m:d>
                      <m:dPr>
                        <m:ctrlPr>
                          <a:rPr lang="en-GB" b="1" i="1" smtClean="0">
                            <a:latin typeface="Cambria Math" panose="02040503050406030204" pitchFamily="18" charset="0"/>
                          </a:rPr>
                        </m:ctrlPr>
                      </m:dPr>
                      <m:e>
                        <m:r>
                          <a:rPr lang="en-GB" b="1" i="1" smtClean="0">
                            <a:latin typeface="Cambria Math" panose="02040503050406030204" pitchFamily="18" charset="0"/>
                          </a:rPr>
                          <m:t>𝒙</m:t>
                        </m:r>
                        <m:r>
                          <a:rPr lang="en-GB" b="1" i="1" smtClean="0">
                            <a:latin typeface="Cambria Math" panose="02040503050406030204" pitchFamily="18" charset="0"/>
                          </a:rPr>
                          <m:t>−</m:t>
                        </m:r>
                        <m:r>
                          <a:rPr lang="en-GB" b="1" i="1" smtClean="0">
                            <a:latin typeface="Cambria Math" panose="02040503050406030204" pitchFamily="18" charset="0"/>
                          </a:rPr>
                          <m:t>𝟏</m:t>
                        </m:r>
                      </m:e>
                    </m:d>
                    <m:r>
                      <a:rPr lang="en-GB" b="1" i="1" smtClean="0">
                        <a:latin typeface="Cambria Math" panose="02040503050406030204" pitchFamily="18" charset="0"/>
                      </a:rPr>
                      <m:t>=</m:t>
                    </m:r>
                    <m:d>
                      <m:dPr>
                        <m:ctrlPr>
                          <a:rPr lang="en-GB" b="1" i="1" smtClean="0">
                            <a:latin typeface="Cambria Math" panose="02040503050406030204" pitchFamily="18" charset="0"/>
                          </a:rPr>
                        </m:ctrlPr>
                      </m:dPr>
                      <m:e>
                        <m:sSup>
                          <m:sSupPr>
                            <m:ctrlPr>
                              <a:rPr lang="en-GB" b="1" i="1" smtClean="0">
                                <a:latin typeface="Cambria Math" panose="02040503050406030204" pitchFamily="18" charset="0"/>
                              </a:rPr>
                            </m:ctrlPr>
                          </m:sSupPr>
                          <m:e>
                            <m:r>
                              <a:rPr lang="en-GB" b="1" i="1" smtClean="0">
                                <a:latin typeface="Cambria Math" panose="02040503050406030204" pitchFamily="18" charset="0"/>
                              </a:rPr>
                              <m:t>𝒙</m:t>
                            </m:r>
                          </m:e>
                          <m:sup>
                            <m:r>
                              <a:rPr lang="en-GB" b="1" i="1" smtClean="0">
                                <a:latin typeface="Cambria Math" panose="02040503050406030204" pitchFamily="18" charset="0"/>
                              </a:rPr>
                              <m:t>𝟐</m:t>
                            </m:r>
                          </m:sup>
                        </m:sSup>
                        <m:r>
                          <a:rPr lang="en-GB" b="1" i="1" smtClean="0">
                            <a:latin typeface="Cambria Math" panose="02040503050406030204" pitchFamily="18" charset="0"/>
                          </a:rPr>
                          <m:t>−</m:t>
                        </m:r>
                        <m:r>
                          <a:rPr lang="en-GB" b="1" i="1" smtClean="0">
                            <a:latin typeface="Cambria Math" panose="02040503050406030204" pitchFamily="18" charset="0"/>
                          </a:rPr>
                          <m:t>𝟏</m:t>
                        </m:r>
                      </m:e>
                    </m:d>
                    <m:d>
                      <m:dPr>
                        <m:ctrlPr>
                          <a:rPr lang="en-GB" b="1" i="1" smtClean="0">
                            <a:latin typeface="Cambria Math" panose="02040503050406030204" pitchFamily="18" charset="0"/>
                          </a:rPr>
                        </m:ctrlPr>
                      </m:dPr>
                      <m:e>
                        <m:r>
                          <a:rPr lang="en-GB" b="1" i="1" smtClean="0">
                            <a:latin typeface="Cambria Math" panose="02040503050406030204" pitchFamily="18" charset="0"/>
                          </a:rPr>
                          <m:t>𝒙</m:t>
                        </m:r>
                        <m:r>
                          <a:rPr lang="en-GB" b="1" i="1" smtClean="0">
                            <a:latin typeface="Cambria Math" panose="02040503050406030204" pitchFamily="18" charset="0"/>
                          </a:rPr>
                          <m:t>−</m:t>
                        </m:r>
                        <m:r>
                          <a:rPr lang="en-GB" b="1" i="1" smtClean="0">
                            <a:latin typeface="Cambria Math" panose="02040503050406030204" pitchFamily="18" charset="0"/>
                          </a:rPr>
                          <m:t>𝟏</m:t>
                        </m:r>
                      </m:e>
                    </m:d>
                    <m:r>
                      <a:rPr lang="en-GB" b="1" i="1" smtClean="0">
                        <a:latin typeface="Cambria Math" panose="02040503050406030204" pitchFamily="18" charset="0"/>
                      </a:rPr>
                      <m:t>=</m:t>
                    </m:r>
                    <m:d>
                      <m:dPr>
                        <m:ctrlPr>
                          <a:rPr lang="en-GB" b="1" i="1" smtClean="0">
                            <a:latin typeface="Cambria Math" panose="02040503050406030204" pitchFamily="18" charset="0"/>
                          </a:rPr>
                        </m:ctrlPr>
                      </m:dPr>
                      <m:e>
                        <m:r>
                          <a:rPr lang="en-GB" b="1" i="1" smtClean="0">
                            <a:latin typeface="Cambria Math" panose="02040503050406030204" pitchFamily="18" charset="0"/>
                          </a:rPr>
                          <m:t>𝒙</m:t>
                        </m:r>
                        <m:r>
                          <a:rPr lang="en-GB" b="1" i="1" smtClean="0">
                            <a:latin typeface="Cambria Math" panose="02040503050406030204" pitchFamily="18" charset="0"/>
                          </a:rPr>
                          <m:t>+</m:t>
                        </m:r>
                        <m:r>
                          <a:rPr lang="en-GB" b="1" i="1" smtClean="0">
                            <a:latin typeface="Cambria Math" panose="02040503050406030204" pitchFamily="18" charset="0"/>
                          </a:rPr>
                          <m:t>𝟏</m:t>
                        </m:r>
                      </m:e>
                    </m:d>
                    <m:sSup>
                      <m:sSupPr>
                        <m:ctrlPr>
                          <a:rPr lang="en-GB" b="1" i="1" smtClean="0">
                            <a:latin typeface="Cambria Math" panose="02040503050406030204" pitchFamily="18" charset="0"/>
                          </a:rPr>
                        </m:ctrlPr>
                      </m:sSupPr>
                      <m:e>
                        <m:d>
                          <m:dPr>
                            <m:ctrlPr>
                              <a:rPr lang="en-GB" b="1" i="1" smtClean="0">
                                <a:latin typeface="Cambria Math" panose="02040503050406030204" pitchFamily="18" charset="0"/>
                              </a:rPr>
                            </m:ctrlPr>
                          </m:dPr>
                          <m:e>
                            <m:r>
                              <a:rPr lang="en-GB" b="1" i="1" smtClean="0">
                                <a:latin typeface="Cambria Math" panose="02040503050406030204" pitchFamily="18" charset="0"/>
                              </a:rPr>
                              <m:t>𝒙</m:t>
                            </m:r>
                            <m:r>
                              <a:rPr lang="en-GB" b="1" i="1" smtClean="0">
                                <a:latin typeface="Cambria Math" panose="02040503050406030204" pitchFamily="18" charset="0"/>
                              </a:rPr>
                              <m:t>−</m:t>
                            </m:r>
                            <m:r>
                              <a:rPr lang="en-GB" b="1" i="1" smtClean="0">
                                <a:latin typeface="Cambria Math" panose="02040503050406030204" pitchFamily="18" charset="0"/>
                              </a:rPr>
                              <m:t>𝟏</m:t>
                            </m:r>
                          </m:e>
                        </m:d>
                      </m:e>
                      <m:sup>
                        <m:r>
                          <a:rPr lang="en-GB" b="1" i="1" smtClean="0">
                            <a:latin typeface="Cambria Math" panose="02040503050406030204" pitchFamily="18" charset="0"/>
                          </a:rPr>
                          <m:t>𝟐</m:t>
                        </m:r>
                      </m:sup>
                    </m:sSup>
                  </m:oMath>
                </a14:m>
                <a:r>
                  <a:rPr lang="en-GB" b="1"/>
                  <a:t>   </a:t>
                </a:r>
                <a14:m>
                  <m:oMath xmlns:m="http://schemas.openxmlformats.org/officeDocument/2006/math">
                    <m:r>
                      <a:rPr lang="en-GB" b="1" i="1" dirty="0" smtClean="0">
                        <a:latin typeface="Cambria Math" panose="02040503050406030204" pitchFamily="18" charset="0"/>
                      </a:rPr>
                      <m:t>∴</m:t>
                    </m:r>
                  </m:oMath>
                </a14:m>
                <a:r>
                  <a:rPr lang="en-GB" b="1"/>
                  <a:t> (c)</a:t>
                </a:r>
              </a:p>
            </p:txBody>
          </p:sp>
        </mc:Choice>
        <mc:Fallback>
          <p:sp>
            <p:nvSpPr>
              <p:cNvPr id="27" name="TextBox 26"/>
              <p:cNvSpPr txBox="1">
                <a:spLocks noRot="1" noChangeAspect="1" noMove="1" noResize="1" noEditPoints="1" noAdjustHandles="1" noChangeArrowheads="1" noChangeShapeType="1" noTextEdit="1"/>
              </p:cNvSpPr>
              <p:nvPr/>
            </p:nvSpPr>
            <p:spPr>
              <a:xfrm>
                <a:off x="4407966" y="4869161"/>
                <a:ext cx="4570812" cy="965201"/>
              </a:xfrm>
              <a:prstGeom prst="rect">
                <a:avLst/>
              </a:prstGeom>
              <a:blipFill>
                <a:blip r:embed="rId6"/>
                <a:stretch>
                  <a:fillRect l="-1108" t="-2597" r="-1385" b="-7792"/>
                </a:stretch>
              </a:blipFill>
            </p:spPr>
            <p:txBody>
              <a:bodyPr/>
              <a:lstStyle/>
              <a:p>
                <a:r>
                  <a:rPr lang="en-US">
                    <a:noFill/>
                  </a:rPr>
                  <a:t> </a:t>
                </a:r>
              </a:p>
            </p:txBody>
          </p:sp>
        </mc:Fallback>
      </mc:AlternateContent>
      <p:sp>
        <p:nvSpPr>
          <p:cNvPr id="16" name="Rectangle 15"/>
          <p:cNvSpPr/>
          <p:nvPr/>
        </p:nvSpPr>
        <p:spPr>
          <a:xfrm>
            <a:off x="4499992" y="4869160"/>
            <a:ext cx="4478785" cy="965201"/>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28" name="Rectangle 27"/>
          <p:cNvSpPr/>
          <p:nvPr/>
        </p:nvSpPr>
        <p:spPr>
          <a:xfrm>
            <a:off x="594245" y="5463990"/>
            <a:ext cx="2264846" cy="430278"/>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Tree>
    <p:extLst>
      <p:ext uri="{BB962C8B-B14F-4D97-AF65-F5344CB8AC3E}">
        <p14:creationId xmlns:p14="http://schemas.microsoft.com/office/powerpoint/2010/main" val="2516363718"/>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6"/>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6"/>
                                        </p:tgtEl>
                                      </p:cBhvr>
                                    </p:animEffect>
                                    <p:set>
                                      <p:cBhvr>
                                        <p:cTn id="7" dur="1" fill="hold">
                                          <p:stCondLst>
                                            <p:cond delay="499"/>
                                          </p:stCondLst>
                                        </p:cTn>
                                        <p:tgtEl>
                                          <p:spTgt spid="16"/>
                                        </p:tgtEl>
                                        <p:attrNameLst>
                                          <p:attrName>style.visibility</p:attrName>
                                        </p:attrNameLst>
                                      </p:cBhvr>
                                      <p:to>
                                        <p:strVal val="hidden"/>
                                      </p:to>
                                    </p:set>
                                  </p:childTnLst>
                                </p:cTn>
                              </p:par>
                            </p:childTnLst>
                          </p:cTn>
                        </p:par>
                      </p:childTnLst>
                    </p:cTn>
                  </p:par>
                </p:childTnLst>
              </p:cTn>
              <p:nextCondLst>
                <p:cond evt="onClick" delay="0">
                  <p:tgtEl>
                    <p:spTgt spid="16"/>
                  </p:tgtEl>
                </p:cond>
              </p:nextCondLst>
            </p:seq>
            <p:seq concurrent="1" nextAc="seek">
              <p:cTn id="8" restart="whenNotActive" fill="hold" evtFilter="cancelBubble" nodeType="interactiveSeq">
                <p:stCondLst>
                  <p:cond evt="onClick" delay="0">
                    <p:tgtEl>
                      <p:spTgt spid="28"/>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28"/>
                                        </p:tgtEl>
                                      </p:cBhvr>
                                    </p:animEffect>
                                    <p:set>
                                      <p:cBhvr>
                                        <p:cTn id="13" dur="1" fill="hold">
                                          <p:stCondLst>
                                            <p:cond delay="499"/>
                                          </p:stCondLst>
                                        </p:cTn>
                                        <p:tgtEl>
                                          <p:spTgt spid="28"/>
                                        </p:tgtEl>
                                        <p:attrNameLst>
                                          <p:attrName>style.visibility</p:attrName>
                                        </p:attrNameLst>
                                      </p:cBhvr>
                                      <p:to>
                                        <p:strVal val="hidden"/>
                                      </p:to>
                                    </p:set>
                                  </p:childTnLst>
                                </p:cTn>
                              </p:par>
                            </p:childTnLst>
                          </p:cTn>
                        </p:par>
                      </p:childTnLst>
                    </p:cTn>
                  </p:par>
                </p:childTnLst>
              </p:cTn>
              <p:nextCondLst>
                <p:cond evt="onClick" delay="0">
                  <p:tgtEl>
                    <p:spTgt spid="28"/>
                  </p:tgtEl>
                </p:cond>
              </p:nextCondLst>
            </p:seq>
          </p:childTnLst>
        </p:cTn>
      </p:par>
    </p:tnLst>
    <p:bldLst>
      <p:bldP spid="16" grpId="0" animBg="1"/>
      <p:bldP spid="28"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vert="horz" wrap="square" lIns="324000" tIns="45720" rIns="91440" bIns="45720" rtlCol="0" anchor="ctr">
              <a:spAutoFit/>
            </a:bodyPr>
            <a:lstStyle>
              <a:defPPr>
                <a:defRPr lang="en-US"/>
              </a:defPPr>
              <a:lvl1pPr>
                <a:spcBef>
                  <a:spcPct val="0"/>
                </a:spcBef>
                <a:buNone/>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a:t>Recap</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mc:Choice xmlns:a14="http://schemas.microsoft.com/office/drawing/2010/main" Requires="a14">
          <p:sp>
            <p:nvSpPr>
              <p:cNvPr id="5" name="TextBox 4"/>
              <p:cNvSpPr txBox="1"/>
              <p:nvPr/>
            </p:nvSpPr>
            <p:spPr>
              <a:xfrm>
                <a:off x="249412" y="1057353"/>
                <a:ext cx="7878464" cy="3785652"/>
              </a:xfrm>
              <a:prstGeom prst="rect">
                <a:avLst/>
              </a:prstGeom>
              <a:noFill/>
            </p:spPr>
            <p:txBody>
              <a:bodyPr wrap="square" rtlCol="0">
                <a:spAutoFit/>
              </a:bodyPr>
              <a:lstStyle/>
              <a:p>
                <a:r>
                  <a:rPr lang="en-GB" sz="2400"/>
                  <a:t>If we sketched </a:t>
                </a:r>
                <a14:m>
                  <m:oMath xmlns:m="http://schemas.openxmlformats.org/officeDocument/2006/math">
                    <m:r>
                      <a:rPr lang="en-GB" sz="2400" b="0" i="1" smtClean="0">
                        <a:latin typeface="Cambria Math" panose="02040503050406030204" pitchFamily="18" charset="0"/>
                      </a:rPr>
                      <m:t>𝑦</m:t>
                    </m:r>
                    <m:r>
                      <a:rPr lang="en-GB" sz="2400" b="0" i="1" smtClean="0">
                        <a:latin typeface="Cambria Math" panose="02040503050406030204" pitchFamily="18" charset="0"/>
                      </a:rPr>
                      <m:t>=</m:t>
                    </m:r>
                    <m:d>
                      <m:dPr>
                        <m:ctrlPr>
                          <a:rPr lang="en-GB" sz="2400" b="0" i="1" smtClean="0">
                            <a:latin typeface="Cambria Math" panose="02040503050406030204" pitchFamily="18" charset="0"/>
                          </a:rPr>
                        </m:ctrlPr>
                      </m:dPr>
                      <m:e>
                        <m:r>
                          <a:rPr lang="en-GB" sz="2400" b="0" i="1" smtClean="0">
                            <a:latin typeface="Cambria Math" panose="02040503050406030204" pitchFamily="18" charset="0"/>
                          </a:rPr>
                          <m:t>𝑥</m:t>
                        </m:r>
                        <m:r>
                          <a:rPr lang="en-GB" sz="2400" b="0" i="1" smtClean="0">
                            <a:latin typeface="Cambria Math" panose="02040503050406030204" pitchFamily="18" charset="0"/>
                          </a:rPr>
                          <m:t>−</m:t>
                        </m:r>
                        <m:r>
                          <a:rPr lang="en-GB" sz="2400" b="0" i="1" smtClean="0">
                            <a:latin typeface="Cambria Math" panose="02040503050406030204" pitchFamily="18" charset="0"/>
                          </a:rPr>
                          <m:t>𝑎</m:t>
                        </m:r>
                      </m:e>
                    </m:d>
                    <m:sSup>
                      <m:sSupPr>
                        <m:ctrlPr>
                          <a:rPr lang="en-GB" sz="2400" b="0" i="1" smtClean="0">
                            <a:latin typeface="Cambria Math" panose="02040503050406030204" pitchFamily="18" charset="0"/>
                          </a:rPr>
                        </m:ctrlPr>
                      </m:sSupPr>
                      <m:e>
                        <m:d>
                          <m:dPr>
                            <m:ctrlPr>
                              <a:rPr lang="en-GB" sz="2400" b="0" i="1" smtClean="0">
                                <a:latin typeface="Cambria Math" panose="02040503050406030204" pitchFamily="18" charset="0"/>
                              </a:rPr>
                            </m:ctrlPr>
                          </m:dPr>
                          <m:e>
                            <m:r>
                              <a:rPr lang="en-GB" sz="2400" b="0" i="1" smtClean="0">
                                <a:latin typeface="Cambria Math" panose="02040503050406030204" pitchFamily="18" charset="0"/>
                              </a:rPr>
                              <m:t>𝑥</m:t>
                            </m:r>
                            <m:r>
                              <a:rPr lang="en-GB" sz="2400" b="0" i="1" smtClean="0">
                                <a:latin typeface="Cambria Math" panose="02040503050406030204" pitchFamily="18" charset="0"/>
                              </a:rPr>
                              <m:t>−</m:t>
                            </m:r>
                            <m:r>
                              <a:rPr lang="en-GB" sz="2400" b="0" i="1" smtClean="0">
                                <a:latin typeface="Cambria Math" panose="02040503050406030204" pitchFamily="18" charset="0"/>
                              </a:rPr>
                              <m:t>𝑏</m:t>
                            </m:r>
                          </m:e>
                        </m:d>
                      </m:e>
                      <m:sup>
                        <m:r>
                          <a:rPr lang="en-GB" sz="2400" b="0" i="1" smtClean="0">
                            <a:latin typeface="Cambria Math" panose="02040503050406030204" pitchFamily="18" charset="0"/>
                          </a:rPr>
                          <m:t>2</m:t>
                        </m:r>
                      </m:sup>
                    </m:sSup>
                    <m:sSup>
                      <m:sSupPr>
                        <m:ctrlPr>
                          <a:rPr lang="en-GB" sz="2400" b="0" i="1" smtClean="0">
                            <a:latin typeface="Cambria Math" panose="02040503050406030204" pitchFamily="18" charset="0"/>
                          </a:rPr>
                        </m:ctrlPr>
                      </m:sSupPr>
                      <m:e>
                        <m:d>
                          <m:dPr>
                            <m:ctrlPr>
                              <a:rPr lang="en-GB" sz="2400" b="0" i="1" smtClean="0">
                                <a:latin typeface="Cambria Math" panose="02040503050406030204" pitchFamily="18" charset="0"/>
                              </a:rPr>
                            </m:ctrlPr>
                          </m:dPr>
                          <m:e>
                            <m:r>
                              <a:rPr lang="en-GB" sz="2400" b="0" i="1" smtClean="0">
                                <a:latin typeface="Cambria Math" panose="02040503050406030204" pitchFamily="18" charset="0"/>
                              </a:rPr>
                              <m:t>𝑥</m:t>
                            </m:r>
                            <m:r>
                              <a:rPr lang="en-GB" sz="2400" b="0" i="1" smtClean="0">
                                <a:latin typeface="Cambria Math" panose="02040503050406030204" pitchFamily="18" charset="0"/>
                              </a:rPr>
                              <m:t>−</m:t>
                            </m:r>
                            <m:r>
                              <a:rPr lang="en-GB" sz="2400" b="0" i="1" smtClean="0">
                                <a:latin typeface="Cambria Math" panose="02040503050406030204" pitchFamily="18" charset="0"/>
                              </a:rPr>
                              <m:t>𝑐</m:t>
                            </m:r>
                          </m:e>
                        </m:d>
                      </m:e>
                      <m:sup>
                        <m:r>
                          <a:rPr lang="en-GB" sz="2400" b="0" i="1" smtClean="0">
                            <a:latin typeface="Cambria Math" panose="02040503050406030204" pitchFamily="18" charset="0"/>
                          </a:rPr>
                          <m:t>3</m:t>
                        </m:r>
                      </m:sup>
                    </m:sSup>
                  </m:oMath>
                </a14:m>
                <a:r>
                  <a:rPr lang="en-GB" sz="2400"/>
                  <a:t> what happens on the </a:t>
                </a:r>
                <a14:m>
                  <m:oMath xmlns:m="http://schemas.openxmlformats.org/officeDocument/2006/math">
                    <m:r>
                      <a:rPr lang="en-GB" sz="2400" b="0" i="1" smtClean="0">
                        <a:latin typeface="Cambria Math" panose="02040503050406030204" pitchFamily="18" charset="0"/>
                      </a:rPr>
                      <m:t>𝑥</m:t>
                    </m:r>
                  </m:oMath>
                </a14:m>
                <a:r>
                  <a:rPr lang="en-GB" sz="2400"/>
                  <a:t>-axis at:</a:t>
                </a:r>
              </a:p>
              <a:p>
                <a:endParaRPr lang="en-GB" sz="2400"/>
              </a:p>
              <a:p>
                <a14:m>
                  <m:oMath xmlns:m="http://schemas.openxmlformats.org/officeDocument/2006/math">
                    <m:r>
                      <a:rPr lang="en-GB" sz="2400" b="0" i="1" smtClean="0">
                        <a:latin typeface="Cambria Math" panose="02040503050406030204" pitchFamily="18" charset="0"/>
                      </a:rPr>
                      <m:t>𝑥</m:t>
                    </m:r>
                    <m:r>
                      <a:rPr lang="en-GB" sz="2400" b="0" i="1" smtClean="0">
                        <a:latin typeface="Cambria Math" panose="02040503050406030204" pitchFamily="18" charset="0"/>
                      </a:rPr>
                      <m:t>=</m:t>
                    </m:r>
                    <m:r>
                      <a:rPr lang="en-GB" sz="2400" b="0" i="1" smtClean="0">
                        <a:latin typeface="Cambria Math" panose="02040503050406030204" pitchFamily="18" charset="0"/>
                      </a:rPr>
                      <m:t>𝑎</m:t>
                    </m:r>
                  </m:oMath>
                </a14:m>
                <a:r>
                  <a:rPr lang="en-GB" sz="2400"/>
                  <a:t>:     The line </a:t>
                </a:r>
                <a:r>
                  <a:rPr lang="en-GB" sz="2400" b="1"/>
                  <a:t>crosses</a:t>
                </a:r>
                <a:r>
                  <a:rPr lang="en-GB" sz="2400"/>
                  <a:t> the axis.</a:t>
                </a:r>
              </a:p>
              <a:p>
                <a:endParaRPr lang="en-GB" sz="2400"/>
              </a:p>
              <a:p>
                <a:endParaRPr lang="en-GB" sz="2400"/>
              </a:p>
              <a:p>
                <a14:m>
                  <m:oMath xmlns:m="http://schemas.openxmlformats.org/officeDocument/2006/math">
                    <m:r>
                      <a:rPr lang="en-GB" sz="2400" b="0" i="1" smtClean="0">
                        <a:latin typeface="Cambria Math" panose="02040503050406030204" pitchFamily="18" charset="0"/>
                      </a:rPr>
                      <m:t>𝑥</m:t>
                    </m:r>
                    <m:r>
                      <a:rPr lang="en-GB" sz="2400" b="0" i="1" smtClean="0">
                        <a:latin typeface="Cambria Math" panose="02040503050406030204" pitchFamily="18" charset="0"/>
                      </a:rPr>
                      <m:t>=</m:t>
                    </m:r>
                    <m:r>
                      <a:rPr lang="en-GB" sz="2400" b="0" i="1" smtClean="0">
                        <a:latin typeface="Cambria Math" panose="02040503050406030204" pitchFamily="18" charset="0"/>
                      </a:rPr>
                      <m:t>𝑏</m:t>
                    </m:r>
                  </m:oMath>
                </a14:m>
                <a:r>
                  <a:rPr lang="en-GB" sz="2400"/>
                  <a:t>:	    The line </a:t>
                </a:r>
                <a:r>
                  <a:rPr lang="en-GB" sz="2400" b="1"/>
                  <a:t>touches</a:t>
                </a:r>
                <a:r>
                  <a:rPr lang="en-GB" sz="2400"/>
                  <a:t> the axis.</a:t>
                </a:r>
              </a:p>
              <a:p>
                <a:endParaRPr lang="en-GB" sz="2400"/>
              </a:p>
              <a:p>
                <a:endParaRPr lang="en-GB" sz="2400"/>
              </a:p>
              <a:p>
                <a14:m>
                  <m:oMath xmlns:m="http://schemas.openxmlformats.org/officeDocument/2006/math">
                    <m:r>
                      <a:rPr lang="en-GB" sz="2400" b="0" i="1" smtClean="0">
                        <a:latin typeface="Cambria Math" panose="02040503050406030204" pitchFamily="18" charset="0"/>
                      </a:rPr>
                      <m:t>𝑥</m:t>
                    </m:r>
                    <m:r>
                      <a:rPr lang="en-GB" sz="2400" b="0" i="1" smtClean="0">
                        <a:latin typeface="Cambria Math" panose="02040503050406030204" pitchFamily="18" charset="0"/>
                      </a:rPr>
                      <m:t>=</m:t>
                    </m:r>
                    <m:r>
                      <a:rPr lang="en-GB" sz="2400" b="0" i="1" smtClean="0">
                        <a:latin typeface="Cambria Math" panose="02040503050406030204" pitchFamily="18" charset="0"/>
                      </a:rPr>
                      <m:t>𝑐</m:t>
                    </m:r>
                  </m:oMath>
                </a14:m>
                <a:r>
                  <a:rPr lang="en-GB" sz="2400"/>
                  <a:t>:      </a:t>
                </a:r>
                <a:r>
                  <a:rPr lang="en-GB" sz="2400" b="1"/>
                  <a:t>Point of inflection </a:t>
                </a:r>
                <a:r>
                  <a:rPr lang="en-GB" sz="2400"/>
                  <a:t>on the axis.</a:t>
                </a:r>
              </a:p>
            </p:txBody>
          </p:sp>
        </mc:Choice>
        <mc:Fallback>
          <p:sp>
            <p:nvSpPr>
              <p:cNvPr id="5" name="TextBox 4"/>
              <p:cNvSpPr txBox="1">
                <a:spLocks noRot="1" noChangeAspect="1" noMove="1" noResize="1" noEditPoints="1" noAdjustHandles="1" noChangeArrowheads="1" noChangeShapeType="1" noTextEdit="1"/>
              </p:cNvSpPr>
              <p:nvPr/>
            </p:nvSpPr>
            <p:spPr>
              <a:xfrm>
                <a:off x="249412" y="1057353"/>
                <a:ext cx="7878464" cy="3785652"/>
              </a:xfrm>
              <a:prstGeom prst="rect">
                <a:avLst/>
              </a:prstGeom>
              <a:blipFill>
                <a:blip r:embed="rId2"/>
                <a:stretch>
                  <a:fillRect l="-1127" t="-1003" b="-2676"/>
                </a:stretch>
              </a:blipFill>
            </p:spPr>
            <p:txBody>
              <a:bodyPr/>
              <a:lstStyle/>
              <a:p>
                <a:r>
                  <a:rPr lang="en-US">
                    <a:noFill/>
                  </a:rPr>
                  <a:t> </a:t>
                </a:r>
              </a:p>
            </p:txBody>
          </p:sp>
        </mc:Fallback>
      </mc:AlternateContent>
      <p:cxnSp>
        <p:nvCxnSpPr>
          <p:cNvPr id="7" name="Straight Arrow Connector 6"/>
          <p:cNvCxnSpPr/>
          <p:nvPr/>
        </p:nvCxnSpPr>
        <p:spPr>
          <a:xfrm>
            <a:off x="5508104" y="2420888"/>
            <a:ext cx="172819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8" name="TextBox 7"/>
              <p:cNvSpPr txBox="1"/>
              <p:nvPr/>
            </p:nvSpPr>
            <p:spPr>
              <a:xfrm>
                <a:off x="7143204" y="2204864"/>
                <a:ext cx="504056" cy="369332"/>
              </a:xfrm>
              <a:prstGeom prst="rect">
                <a:avLst/>
              </a:prstGeom>
              <a:noFill/>
            </p:spPr>
            <p:txBody>
              <a:bodyPr wrap="square" rtlCol="0">
                <a:spAutoFit/>
              </a:bodyPr>
              <a:lstStyle/>
              <a:p>
                <a:pPr/>
                <a14:m>
                  <m:oMathPara xmlns:m="http://schemas.openxmlformats.org/officeDocument/2006/math">
                    <m:oMath>
                      <m:r>
                        <a:rPr lang="en-GB" b="0" i="1" smtClean="0">
                          <a:latin typeface="Cambria Math" panose="02040503050406030204" pitchFamily="18" charset="0"/>
                        </a:rPr>
                        <m:t>𝑥</m:t>
                      </m:r>
                    </m:oMath>
                  </m:oMathPara>
                </a14:m>
                <a:endParaRPr lang="en-GB"/>
              </a:p>
            </p:txBody>
          </p:sp>
        </mc:Choice>
        <mc:Fallback>
          <p:sp>
            <p:nvSpPr>
              <p:cNvPr id="8" name="TextBox 7"/>
              <p:cNvSpPr txBox="1">
                <a:spLocks noRot="1" noChangeAspect="1" noMove="1" noResize="1" noEditPoints="1" noAdjustHandles="1" noChangeArrowheads="1" noChangeShapeType="1" noTextEdit="1"/>
              </p:cNvSpPr>
              <p:nvPr/>
            </p:nvSpPr>
            <p:spPr>
              <a:xfrm>
                <a:off x="7143204" y="2204864"/>
                <a:ext cx="504056"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 name="TextBox 8"/>
              <p:cNvSpPr txBox="1"/>
              <p:nvPr/>
            </p:nvSpPr>
            <p:spPr>
              <a:xfrm>
                <a:off x="6073626" y="2363634"/>
                <a:ext cx="504056" cy="369332"/>
              </a:xfrm>
              <a:prstGeom prst="rect">
                <a:avLst/>
              </a:prstGeom>
              <a:noFill/>
            </p:spPr>
            <p:txBody>
              <a:bodyPr wrap="square" rtlCol="0">
                <a:spAutoFit/>
              </a:bodyPr>
              <a:lstStyle/>
              <a:p>
                <a:pPr/>
                <a14:m>
                  <m:oMathPara xmlns:m="http://schemas.openxmlformats.org/officeDocument/2006/math">
                    <m:oMath>
                      <m:r>
                        <a:rPr lang="en-GB" b="0" i="1" smtClean="0">
                          <a:latin typeface="Cambria Math" panose="02040503050406030204" pitchFamily="18" charset="0"/>
                        </a:rPr>
                        <m:t>𝑎</m:t>
                      </m:r>
                    </m:oMath>
                  </m:oMathPara>
                </a14:m>
                <a:endParaRPr lang="en-GB"/>
              </a:p>
            </p:txBody>
          </p:sp>
        </mc:Choice>
        <mc:Fallback>
          <p:sp>
            <p:nvSpPr>
              <p:cNvPr id="9" name="TextBox 8"/>
              <p:cNvSpPr txBox="1">
                <a:spLocks noRot="1" noChangeAspect="1" noMove="1" noResize="1" noEditPoints="1" noAdjustHandles="1" noChangeArrowheads="1" noChangeShapeType="1" noTextEdit="1"/>
              </p:cNvSpPr>
              <p:nvPr/>
            </p:nvSpPr>
            <p:spPr>
              <a:xfrm>
                <a:off x="6073626" y="2363634"/>
                <a:ext cx="504056" cy="369332"/>
              </a:xfrm>
              <a:prstGeom prst="rect">
                <a:avLst/>
              </a:prstGeom>
              <a:blipFill>
                <a:blip r:embed="rId4"/>
                <a:stretch>
                  <a:fillRect/>
                </a:stretch>
              </a:blipFill>
            </p:spPr>
            <p:txBody>
              <a:bodyPr/>
              <a:lstStyle/>
              <a:p>
                <a:r>
                  <a:rPr lang="en-US">
                    <a:noFill/>
                  </a:rPr>
                  <a:t> </a:t>
                </a:r>
              </a:p>
            </p:txBody>
          </p:sp>
        </mc:Fallback>
      </mc:AlternateContent>
      <p:sp>
        <p:nvSpPr>
          <p:cNvPr id="10" name="Freeform: Shape 9"/>
          <p:cNvSpPr/>
          <p:nvPr/>
        </p:nvSpPr>
        <p:spPr>
          <a:xfrm>
            <a:off x="5867400" y="1803400"/>
            <a:ext cx="927100" cy="977900"/>
          </a:xfrm>
          <a:custGeom>
            <a:avLst/>
            <a:gdLst>
              <a:gd name="connsiteX0" fmla="*/ 0 w 927100"/>
              <a:gd name="connsiteY0" fmla="*/ 0 h 977900"/>
              <a:gd name="connsiteX1" fmla="*/ 469900 w 927100"/>
              <a:gd name="connsiteY1" fmla="*/ 635000 h 977900"/>
              <a:gd name="connsiteX2" fmla="*/ 927100 w 927100"/>
              <a:gd name="connsiteY2" fmla="*/ 977900 h 977900"/>
            </a:gdLst>
            <a:ahLst/>
            <a:cxnLst>
              <a:cxn ang="0">
                <a:pos x="connsiteX0" y="connsiteY0"/>
              </a:cxn>
              <a:cxn ang="0">
                <a:pos x="connsiteX1" y="connsiteY1"/>
              </a:cxn>
              <a:cxn ang="0">
                <a:pos x="connsiteX2" y="connsiteY2"/>
              </a:cxn>
            </a:cxnLst>
            <a:rect l="l" t="t" r="r" b="b"/>
            <a:pathLst>
              <a:path w="927100" h="977900">
                <a:moveTo>
                  <a:pt x="0" y="0"/>
                </a:moveTo>
                <a:cubicBezTo>
                  <a:pt x="157691" y="236008"/>
                  <a:pt x="315383" y="472017"/>
                  <a:pt x="469900" y="635000"/>
                </a:cubicBezTo>
                <a:cubicBezTo>
                  <a:pt x="624417" y="797983"/>
                  <a:pt x="775758" y="887941"/>
                  <a:pt x="927100" y="97790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1" name="Straight Arrow Connector 10"/>
          <p:cNvCxnSpPr/>
          <p:nvPr/>
        </p:nvCxnSpPr>
        <p:spPr>
          <a:xfrm>
            <a:off x="5488260" y="3504209"/>
            <a:ext cx="172819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12" name="TextBox 11"/>
              <p:cNvSpPr txBox="1"/>
              <p:nvPr/>
            </p:nvSpPr>
            <p:spPr>
              <a:xfrm>
                <a:off x="7123360" y="3288185"/>
                <a:ext cx="504056" cy="369332"/>
              </a:xfrm>
              <a:prstGeom prst="rect">
                <a:avLst/>
              </a:prstGeom>
              <a:noFill/>
            </p:spPr>
            <p:txBody>
              <a:bodyPr wrap="square" rtlCol="0">
                <a:spAutoFit/>
              </a:bodyPr>
              <a:lstStyle/>
              <a:p>
                <a:pPr/>
                <a14:m>
                  <m:oMathPara xmlns:m="http://schemas.openxmlformats.org/officeDocument/2006/math">
                    <m:oMath>
                      <m:r>
                        <a:rPr lang="en-GB" b="0" i="1" smtClean="0">
                          <a:latin typeface="Cambria Math" panose="02040503050406030204" pitchFamily="18" charset="0"/>
                        </a:rPr>
                        <m:t>𝑥</m:t>
                      </m:r>
                    </m:oMath>
                  </m:oMathPara>
                </a14:m>
                <a:endParaRPr lang="en-GB"/>
              </a:p>
            </p:txBody>
          </p:sp>
        </mc:Choice>
        <mc:Fallback>
          <p:sp>
            <p:nvSpPr>
              <p:cNvPr id="12" name="TextBox 11"/>
              <p:cNvSpPr txBox="1">
                <a:spLocks noRot="1" noChangeAspect="1" noMove="1" noResize="1" noEditPoints="1" noAdjustHandles="1" noChangeArrowheads="1" noChangeShapeType="1" noTextEdit="1"/>
              </p:cNvSpPr>
              <p:nvPr/>
            </p:nvSpPr>
            <p:spPr>
              <a:xfrm>
                <a:off x="7123360" y="3288185"/>
                <a:ext cx="504056"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3" name="TextBox 12"/>
              <p:cNvSpPr txBox="1"/>
              <p:nvPr/>
            </p:nvSpPr>
            <p:spPr>
              <a:xfrm>
                <a:off x="6053782" y="3446955"/>
                <a:ext cx="504056" cy="369332"/>
              </a:xfrm>
              <a:prstGeom prst="rect">
                <a:avLst/>
              </a:prstGeom>
              <a:noFill/>
            </p:spPr>
            <p:txBody>
              <a:bodyPr wrap="square" rtlCol="0">
                <a:spAutoFit/>
              </a:bodyPr>
              <a:lstStyle/>
              <a:p>
                <a:pPr/>
                <a14:m>
                  <m:oMathPara xmlns:m="http://schemas.openxmlformats.org/officeDocument/2006/math">
                    <m:oMath>
                      <m:r>
                        <a:rPr lang="en-GB" b="0" i="1" smtClean="0">
                          <a:latin typeface="Cambria Math" panose="02040503050406030204" pitchFamily="18" charset="0"/>
                        </a:rPr>
                        <m:t>𝑏</m:t>
                      </m:r>
                    </m:oMath>
                  </m:oMathPara>
                </a14:m>
                <a:endParaRPr lang="en-GB"/>
              </a:p>
            </p:txBody>
          </p:sp>
        </mc:Choice>
        <mc:Fallback>
          <p:sp>
            <p:nvSpPr>
              <p:cNvPr id="13" name="TextBox 12"/>
              <p:cNvSpPr txBox="1">
                <a:spLocks noRot="1" noChangeAspect="1" noMove="1" noResize="1" noEditPoints="1" noAdjustHandles="1" noChangeArrowheads="1" noChangeShapeType="1" noTextEdit="1"/>
              </p:cNvSpPr>
              <p:nvPr/>
            </p:nvSpPr>
            <p:spPr>
              <a:xfrm>
                <a:off x="6053782" y="3446955"/>
                <a:ext cx="504056" cy="369332"/>
              </a:xfrm>
              <a:prstGeom prst="rect">
                <a:avLst/>
              </a:prstGeom>
              <a:blipFill>
                <a:blip r:embed="rId6"/>
                <a:stretch>
                  <a:fillRect/>
                </a:stretch>
              </a:blipFill>
            </p:spPr>
            <p:txBody>
              <a:bodyPr/>
              <a:lstStyle/>
              <a:p>
                <a:r>
                  <a:rPr lang="en-US">
                    <a:noFill/>
                  </a:rPr>
                  <a:t> </a:t>
                </a:r>
              </a:p>
            </p:txBody>
          </p:sp>
        </mc:Fallback>
      </mc:AlternateContent>
      <p:cxnSp>
        <p:nvCxnSpPr>
          <p:cNvPr id="15" name="Straight Arrow Connector 14"/>
          <p:cNvCxnSpPr/>
          <p:nvPr/>
        </p:nvCxnSpPr>
        <p:spPr>
          <a:xfrm>
            <a:off x="5508104" y="4709842"/>
            <a:ext cx="172819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16" name="TextBox 15"/>
              <p:cNvSpPr txBox="1"/>
              <p:nvPr/>
            </p:nvSpPr>
            <p:spPr>
              <a:xfrm>
                <a:off x="7143204" y="4493818"/>
                <a:ext cx="504056" cy="369332"/>
              </a:xfrm>
              <a:prstGeom prst="rect">
                <a:avLst/>
              </a:prstGeom>
              <a:noFill/>
            </p:spPr>
            <p:txBody>
              <a:bodyPr wrap="square" rtlCol="0">
                <a:spAutoFit/>
              </a:bodyPr>
              <a:lstStyle/>
              <a:p>
                <a:pPr/>
                <a14:m>
                  <m:oMathPara xmlns:m="http://schemas.openxmlformats.org/officeDocument/2006/math">
                    <m:oMath>
                      <m:r>
                        <a:rPr lang="en-GB" b="0" i="1" smtClean="0">
                          <a:latin typeface="Cambria Math" panose="02040503050406030204" pitchFamily="18" charset="0"/>
                        </a:rPr>
                        <m:t>𝑥</m:t>
                      </m:r>
                    </m:oMath>
                  </m:oMathPara>
                </a14:m>
                <a:endParaRPr lang="en-GB"/>
              </a:p>
            </p:txBody>
          </p:sp>
        </mc:Choice>
        <mc:Fallback>
          <p:sp>
            <p:nvSpPr>
              <p:cNvPr id="16" name="TextBox 15"/>
              <p:cNvSpPr txBox="1">
                <a:spLocks noRot="1" noChangeAspect="1" noMove="1" noResize="1" noEditPoints="1" noAdjustHandles="1" noChangeArrowheads="1" noChangeShapeType="1" noTextEdit="1"/>
              </p:cNvSpPr>
              <p:nvPr/>
            </p:nvSpPr>
            <p:spPr>
              <a:xfrm>
                <a:off x="7143204" y="4493818"/>
                <a:ext cx="504056"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 name="TextBox 16"/>
              <p:cNvSpPr txBox="1"/>
              <p:nvPr/>
            </p:nvSpPr>
            <p:spPr>
              <a:xfrm>
                <a:off x="6073626" y="4652588"/>
                <a:ext cx="504056" cy="369332"/>
              </a:xfrm>
              <a:prstGeom prst="rect">
                <a:avLst/>
              </a:prstGeom>
              <a:noFill/>
            </p:spPr>
            <p:txBody>
              <a:bodyPr wrap="square" rtlCol="0">
                <a:spAutoFit/>
              </a:bodyPr>
              <a:lstStyle/>
              <a:p>
                <a:pPr/>
                <a14:m>
                  <m:oMathPara xmlns:m="http://schemas.openxmlformats.org/officeDocument/2006/math">
                    <m:oMath>
                      <m:r>
                        <a:rPr lang="en-GB" b="0" i="1" smtClean="0">
                          <a:latin typeface="Cambria Math" panose="02040503050406030204" pitchFamily="18" charset="0"/>
                        </a:rPr>
                        <m:t>𝑐</m:t>
                      </m:r>
                    </m:oMath>
                  </m:oMathPara>
                </a14:m>
                <a:endParaRPr lang="en-GB"/>
              </a:p>
            </p:txBody>
          </p:sp>
        </mc:Choice>
        <mc:Fallback>
          <p:sp>
            <p:nvSpPr>
              <p:cNvPr id="17" name="TextBox 16"/>
              <p:cNvSpPr txBox="1">
                <a:spLocks noRot="1" noChangeAspect="1" noMove="1" noResize="1" noEditPoints="1" noAdjustHandles="1" noChangeArrowheads="1" noChangeShapeType="1" noTextEdit="1"/>
              </p:cNvSpPr>
              <p:nvPr/>
            </p:nvSpPr>
            <p:spPr>
              <a:xfrm>
                <a:off x="6073626" y="4652588"/>
                <a:ext cx="504056" cy="369332"/>
              </a:xfrm>
              <a:prstGeom prst="rect">
                <a:avLst/>
              </a:prstGeom>
              <a:blipFill>
                <a:blip r:embed="rId8"/>
                <a:stretch>
                  <a:fillRect/>
                </a:stretch>
              </a:blipFill>
            </p:spPr>
            <p:txBody>
              <a:bodyPr/>
              <a:lstStyle/>
              <a:p>
                <a:r>
                  <a:rPr lang="en-US">
                    <a:noFill/>
                  </a:rPr>
                  <a:t> </a:t>
                </a:r>
              </a:p>
            </p:txBody>
          </p:sp>
        </mc:Fallback>
      </mc:AlternateContent>
      <p:sp>
        <p:nvSpPr>
          <p:cNvPr id="19" name="Freeform: Shape 18"/>
          <p:cNvSpPr/>
          <p:nvPr/>
        </p:nvSpPr>
        <p:spPr>
          <a:xfrm>
            <a:off x="5867400" y="3009900"/>
            <a:ext cx="812800" cy="495530"/>
          </a:xfrm>
          <a:custGeom>
            <a:avLst/>
            <a:gdLst>
              <a:gd name="connsiteX0" fmla="*/ 0 w 812800"/>
              <a:gd name="connsiteY0" fmla="*/ 0 h 495530"/>
              <a:gd name="connsiteX1" fmla="*/ 444500 w 812800"/>
              <a:gd name="connsiteY1" fmla="*/ 495300 h 495530"/>
              <a:gd name="connsiteX2" fmla="*/ 812800 w 812800"/>
              <a:gd name="connsiteY2" fmla="*/ 50800 h 495530"/>
            </a:gdLst>
            <a:ahLst/>
            <a:cxnLst>
              <a:cxn ang="0">
                <a:pos x="connsiteX0" y="connsiteY0"/>
              </a:cxn>
              <a:cxn ang="0">
                <a:pos x="connsiteX1" y="connsiteY1"/>
              </a:cxn>
              <a:cxn ang="0">
                <a:pos x="connsiteX2" y="connsiteY2"/>
              </a:cxn>
            </a:cxnLst>
            <a:rect l="l" t="t" r="r" b="b"/>
            <a:pathLst>
              <a:path w="812800" h="495530">
                <a:moveTo>
                  <a:pt x="0" y="0"/>
                </a:moveTo>
                <a:cubicBezTo>
                  <a:pt x="154516" y="243416"/>
                  <a:pt x="309033" y="486833"/>
                  <a:pt x="444500" y="495300"/>
                </a:cubicBezTo>
                <a:cubicBezTo>
                  <a:pt x="579967" y="503767"/>
                  <a:pt x="696383" y="277283"/>
                  <a:pt x="812800" y="5080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Freeform: Shape 19"/>
          <p:cNvSpPr/>
          <p:nvPr/>
        </p:nvSpPr>
        <p:spPr>
          <a:xfrm>
            <a:off x="5854700" y="4241800"/>
            <a:ext cx="990600" cy="901700"/>
          </a:xfrm>
          <a:custGeom>
            <a:avLst/>
            <a:gdLst>
              <a:gd name="connsiteX0" fmla="*/ 0 w 990600"/>
              <a:gd name="connsiteY0" fmla="*/ 901700 h 901700"/>
              <a:gd name="connsiteX1" fmla="*/ 482600 w 990600"/>
              <a:gd name="connsiteY1" fmla="*/ 469900 h 901700"/>
              <a:gd name="connsiteX2" fmla="*/ 990600 w 990600"/>
              <a:gd name="connsiteY2" fmla="*/ 0 h 901700"/>
              <a:gd name="connsiteX0" fmla="*/ 0 w 990600"/>
              <a:gd name="connsiteY0" fmla="*/ 901700 h 901700"/>
              <a:gd name="connsiteX1" fmla="*/ 482600 w 990600"/>
              <a:gd name="connsiteY1" fmla="*/ 469900 h 901700"/>
              <a:gd name="connsiteX2" fmla="*/ 990600 w 990600"/>
              <a:gd name="connsiteY2" fmla="*/ 0 h 901700"/>
              <a:gd name="connsiteX0" fmla="*/ 0 w 990600"/>
              <a:gd name="connsiteY0" fmla="*/ 901700 h 901700"/>
              <a:gd name="connsiteX1" fmla="*/ 482600 w 990600"/>
              <a:gd name="connsiteY1" fmla="*/ 469900 h 901700"/>
              <a:gd name="connsiteX2" fmla="*/ 990600 w 990600"/>
              <a:gd name="connsiteY2" fmla="*/ 0 h 901700"/>
              <a:gd name="connsiteX0" fmla="*/ 0 w 990600"/>
              <a:gd name="connsiteY0" fmla="*/ 901700 h 901700"/>
              <a:gd name="connsiteX1" fmla="*/ 482600 w 990600"/>
              <a:gd name="connsiteY1" fmla="*/ 469900 h 901700"/>
              <a:gd name="connsiteX2" fmla="*/ 990600 w 990600"/>
              <a:gd name="connsiteY2" fmla="*/ 0 h 901700"/>
            </a:gdLst>
            <a:ahLst/>
            <a:cxnLst>
              <a:cxn ang="0">
                <a:pos x="connsiteX0" y="connsiteY0"/>
              </a:cxn>
              <a:cxn ang="0">
                <a:pos x="connsiteX1" y="connsiteY1"/>
              </a:cxn>
              <a:cxn ang="0">
                <a:pos x="connsiteX2" y="connsiteY2"/>
              </a:cxn>
            </a:cxnLst>
            <a:rect l="l" t="t" r="r" b="b"/>
            <a:pathLst>
              <a:path w="990600" h="901700">
                <a:moveTo>
                  <a:pt x="0" y="901700"/>
                </a:moveTo>
                <a:cubicBezTo>
                  <a:pt x="71967" y="732367"/>
                  <a:pt x="63500" y="480483"/>
                  <a:pt x="482600" y="469900"/>
                </a:cubicBezTo>
                <a:cubicBezTo>
                  <a:pt x="901700" y="459317"/>
                  <a:pt x="908050" y="159808"/>
                  <a:pt x="990600"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Rectangle 20"/>
          <p:cNvSpPr/>
          <p:nvPr/>
        </p:nvSpPr>
        <p:spPr>
          <a:xfrm>
            <a:off x="1514640" y="1877721"/>
            <a:ext cx="6092659" cy="1094079"/>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22" name="Rectangle 21"/>
          <p:cNvSpPr/>
          <p:nvPr/>
        </p:nvSpPr>
        <p:spPr>
          <a:xfrm>
            <a:off x="1514640" y="2968806"/>
            <a:ext cx="6092659" cy="1094079"/>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23" name="Rectangle 22"/>
          <p:cNvSpPr/>
          <p:nvPr/>
        </p:nvSpPr>
        <p:spPr>
          <a:xfrm>
            <a:off x="1514639" y="4059891"/>
            <a:ext cx="6092659" cy="1094079"/>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Tree>
    <p:extLst>
      <p:ext uri="{BB962C8B-B14F-4D97-AF65-F5344CB8AC3E}">
        <p14:creationId xmlns:p14="http://schemas.microsoft.com/office/powerpoint/2010/main" val="2519587982"/>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1"/>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21"/>
                                        </p:tgtEl>
                                      </p:cBhvr>
                                    </p:animEffect>
                                    <p:set>
                                      <p:cBhvr>
                                        <p:cTn id="7" dur="1" fill="hold">
                                          <p:stCondLst>
                                            <p:cond delay="499"/>
                                          </p:stCondLst>
                                        </p:cTn>
                                        <p:tgtEl>
                                          <p:spTgt spid="21"/>
                                        </p:tgtEl>
                                        <p:attrNameLst>
                                          <p:attrName>style.visibility</p:attrName>
                                        </p:attrNameLst>
                                      </p:cBhvr>
                                      <p:to>
                                        <p:strVal val="hidden"/>
                                      </p:to>
                                    </p:set>
                                  </p:childTnLst>
                                </p:cTn>
                              </p:par>
                            </p:childTnLst>
                          </p:cTn>
                        </p:par>
                      </p:childTnLst>
                    </p:cTn>
                  </p:par>
                </p:childTnLst>
              </p:cTn>
              <p:nextCondLst>
                <p:cond evt="onClick" delay="0">
                  <p:tgtEl>
                    <p:spTgt spid="21"/>
                  </p:tgtEl>
                </p:cond>
              </p:nextCondLst>
            </p:seq>
            <p:seq concurrent="1" nextAc="seek">
              <p:cTn id="8" restart="whenNotActive" fill="hold" evtFilter="cancelBubble" nodeType="interactiveSeq">
                <p:stCondLst>
                  <p:cond evt="onClick" delay="0">
                    <p:tgtEl>
                      <p:spTgt spid="22"/>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22"/>
                                        </p:tgtEl>
                                      </p:cBhvr>
                                    </p:animEffect>
                                    <p:set>
                                      <p:cBhvr>
                                        <p:cTn id="13" dur="1" fill="hold">
                                          <p:stCondLst>
                                            <p:cond delay="499"/>
                                          </p:stCondLst>
                                        </p:cTn>
                                        <p:tgtEl>
                                          <p:spTgt spid="22"/>
                                        </p:tgtEl>
                                        <p:attrNameLst>
                                          <p:attrName>style.visibility</p:attrName>
                                        </p:attrNameLst>
                                      </p:cBhvr>
                                      <p:to>
                                        <p:strVal val="hidden"/>
                                      </p:to>
                                    </p:set>
                                  </p:childTnLst>
                                </p:cTn>
                              </p:par>
                            </p:childTnLst>
                          </p:cTn>
                        </p:par>
                      </p:childTnLst>
                    </p:cTn>
                  </p:par>
                </p:childTnLst>
              </p:cTn>
              <p:nextCondLst>
                <p:cond evt="onClick" delay="0">
                  <p:tgtEl>
                    <p:spTgt spid="22"/>
                  </p:tgtEl>
                </p:cond>
              </p:nextCondLst>
            </p:seq>
            <p:seq concurrent="1" nextAc="seek">
              <p:cTn id="14" restart="whenNotActive" fill="hold" evtFilter="cancelBubble" nodeType="interactiveSeq">
                <p:stCondLst>
                  <p:cond evt="onClick" delay="0">
                    <p:tgtEl>
                      <p:spTgt spid="23"/>
                    </p:tgtEl>
                  </p:cond>
                </p:stCondLst>
                <p:endSync evt="end" delay="0">
                  <p:rtn val="all"/>
                </p:endSync>
                <p:childTnLst>
                  <p:par>
                    <p:cTn id="15" fill="hold">
                      <p:stCondLst>
                        <p:cond delay="0"/>
                      </p:stCondLst>
                      <p:childTnLst>
                        <p:par>
                          <p:cTn id="16" fill="hold">
                            <p:stCondLst>
                              <p:cond delay="0"/>
                            </p:stCondLst>
                            <p:childTnLst>
                              <p:par>
                                <p:cTn id="17" presetID="10" presetClass="exit" presetSubtype="0" fill="hold" grpId="0" nodeType="clickEffect">
                                  <p:stCondLst>
                                    <p:cond delay="0"/>
                                  </p:stCondLst>
                                  <p:childTnLst>
                                    <p:animEffect transition="out" filter="fade">
                                      <p:cBhvr>
                                        <p:cTn id="18" dur="500"/>
                                        <p:tgtEl>
                                          <p:spTgt spid="23"/>
                                        </p:tgtEl>
                                      </p:cBhvr>
                                    </p:animEffect>
                                    <p:set>
                                      <p:cBhvr>
                                        <p:cTn id="19" dur="1" fill="hold">
                                          <p:stCondLst>
                                            <p:cond delay="499"/>
                                          </p:stCondLst>
                                        </p:cTn>
                                        <p:tgtEl>
                                          <p:spTgt spid="23"/>
                                        </p:tgtEl>
                                        <p:attrNameLst>
                                          <p:attrName>style.visibility</p:attrName>
                                        </p:attrNameLst>
                                      </p:cBhvr>
                                      <p:to>
                                        <p:strVal val="hidden"/>
                                      </p:to>
                                    </p:set>
                                  </p:childTnLst>
                                </p:cTn>
                              </p:par>
                            </p:childTnLst>
                          </p:cTn>
                        </p:par>
                      </p:childTnLst>
                    </p:cTn>
                  </p:par>
                </p:childTnLst>
              </p:cTn>
              <p:nextCondLst>
                <p:cond evt="onClick" delay="0">
                  <p:tgtEl>
                    <p:spTgt spid="23"/>
                  </p:tgtEl>
                </p:cond>
              </p:nextCondLst>
            </p:seq>
          </p:childTnLst>
        </p:cTn>
      </p:par>
    </p:tnLst>
    <p:bldLst>
      <p:bldP spid="21" grpId="0" animBg="1"/>
      <p:bldP spid="22" grpId="0" animBg="1"/>
      <p:bldP spid="23"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vert="horz" wrap="square" lIns="324000" tIns="45720" rIns="91440" bIns="45720" rtlCol="0" anchor="ctr">
              <a:spAutoFit/>
            </a:bodyPr>
            <a:lstStyle>
              <a:defPPr>
                <a:defRPr lang="en-US"/>
              </a:defPPr>
              <a:lvl1pPr>
                <a:spcBef>
                  <a:spcPct val="0"/>
                </a:spcBef>
                <a:buNone/>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err="1"/>
                <a:t>Quartics</a:t>
              </a:r>
              <a:endParaRPr lang="en-GB"/>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mc:Choice xmlns:a14="http://schemas.microsoft.com/office/drawing/2010/main" Requires="a14">
          <p:sp>
            <p:nvSpPr>
              <p:cNvPr id="5" name="TextBox 4"/>
              <p:cNvSpPr txBox="1"/>
              <p:nvPr/>
            </p:nvSpPr>
            <p:spPr>
              <a:xfrm>
                <a:off x="323528" y="794420"/>
                <a:ext cx="8280920" cy="923330"/>
              </a:xfrm>
              <a:prstGeom prst="rect">
                <a:avLst/>
              </a:prstGeom>
              <a:noFill/>
            </p:spPr>
            <p:txBody>
              <a:bodyPr wrap="square" rtlCol="0">
                <a:spAutoFit/>
              </a:bodyPr>
              <a:lstStyle/>
              <a:p>
                <a:r>
                  <a:rPr lang="en-GB"/>
                  <a:t>If you understand the principle of sketching polynomials in general, then sketching </a:t>
                </a:r>
                <a:r>
                  <a:rPr lang="en-GB" err="1"/>
                  <a:t>quartics</a:t>
                </a:r>
                <a:r>
                  <a:rPr lang="en-GB"/>
                  <a:t> shouldn’t feel like anything new.</a:t>
                </a:r>
              </a:p>
              <a:p>
                <a:r>
                  <a:rPr lang="en-GB"/>
                  <a:t>Recall that if the </a:t>
                </a:r>
                <a14:m>
                  <m:oMath xmlns:m="http://schemas.openxmlformats.org/officeDocument/2006/math">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4</m:t>
                        </m:r>
                      </m:sup>
                    </m:sSup>
                  </m:oMath>
                </a14:m>
                <a:r>
                  <a:rPr lang="en-GB"/>
                  <a:t> term is positive, the ‘tails’ both go upwards, otherwise downwards.</a:t>
                </a:r>
              </a:p>
            </p:txBody>
          </p:sp>
        </mc:Choice>
        <mc:Fallback>
          <p:sp>
            <p:nvSpPr>
              <p:cNvPr id="5" name="TextBox 4"/>
              <p:cNvSpPr txBox="1">
                <a:spLocks noRot="1" noChangeAspect="1" noMove="1" noResize="1" noEditPoints="1" noAdjustHandles="1" noChangeArrowheads="1" noChangeShapeType="1" noTextEdit="1"/>
              </p:cNvSpPr>
              <p:nvPr/>
            </p:nvSpPr>
            <p:spPr>
              <a:xfrm>
                <a:off x="323528" y="794420"/>
                <a:ext cx="8280920" cy="923330"/>
              </a:xfrm>
              <a:prstGeom prst="rect">
                <a:avLst/>
              </a:prstGeom>
              <a:blipFill>
                <a:blip r:embed="rId2"/>
                <a:stretch>
                  <a:fillRect l="-613" t="-2703" r="-613" b="-9459"/>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 name="TextBox 5"/>
              <p:cNvSpPr txBox="1"/>
              <p:nvPr/>
            </p:nvSpPr>
            <p:spPr>
              <a:xfrm>
                <a:off x="297260" y="1878019"/>
                <a:ext cx="3274764" cy="646331"/>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a:t>Sketch the curve with equation</a:t>
                </a:r>
              </a:p>
              <a:p>
                <a:pPr/>
                <a14:m>
                  <m:oMathPara xmlns:m="http://schemas.openxmlformats.org/officeDocument/2006/math">
                    <m:oMath>
                      <m:r>
                        <a:rPr lang="en-GB" b="0" i="1" smtClean="0">
                          <a:latin typeface="Cambria Math" panose="02040503050406030204" pitchFamily="18" charset="0"/>
                        </a:rPr>
                        <m:t>𝑦</m:t>
                      </m:r>
                      <m:r>
                        <a:rPr lang="en-GB" b="0" i="1" smtClean="0">
                          <a:latin typeface="Cambria Math" panose="02040503050406030204" pitchFamily="18" charset="0"/>
                        </a:rPr>
                        <m:t>=</m:t>
                      </m:r>
                      <m:r>
                        <a:rPr lang="en-GB" b="0" i="1" smtClean="0">
                          <a:latin typeface="Cambria Math" panose="02040503050406030204" pitchFamily="18" charset="0"/>
                        </a:rPr>
                        <m:t>𝑥</m:t>
                      </m:r>
                      <m:r>
                        <a:rPr lang="en-GB" b="0" i="1" smtClean="0">
                          <a:latin typeface="Cambria Math" panose="02040503050406030204" pitchFamily="18" charset="0"/>
                        </a:rPr>
                        <m:t>(</m:t>
                      </m:r>
                      <m:r>
                        <a:rPr lang="en-GB" b="0" i="1" smtClean="0">
                          <a:latin typeface="Cambria Math" panose="02040503050406030204" pitchFamily="18" charset="0"/>
                        </a:rPr>
                        <m:t>𝑥</m:t>
                      </m:r>
                      <m:r>
                        <a:rPr lang="en-GB" b="0" i="1" smtClean="0">
                          <a:latin typeface="Cambria Math" panose="02040503050406030204" pitchFamily="18" charset="0"/>
                        </a:rPr>
                        <m:t>+1)(</m:t>
                      </m:r>
                      <m:r>
                        <a:rPr lang="en-GB" b="0" i="1" smtClean="0">
                          <a:latin typeface="Cambria Math" panose="02040503050406030204" pitchFamily="18" charset="0"/>
                        </a:rPr>
                        <m:t>𝑥</m:t>
                      </m:r>
                      <m:r>
                        <a:rPr lang="en-GB" b="0" i="1" smtClean="0">
                          <a:latin typeface="Cambria Math" panose="02040503050406030204" pitchFamily="18" charset="0"/>
                        </a:rPr>
                        <m:t>−2)(</m:t>
                      </m:r>
                      <m:r>
                        <a:rPr lang="en-GB" b="0" i="1" smtClean="0">
                          <a:latin typeface="Cambria Math" panose="02040503050406030204" pitchFamily="18" charset="0"/>
                        </a:rPr>
                        <m:t>𝑥</m:t>
                      </m:r>
                      <m:r>
                        <a:rPr lang="en-GB" b="0" i="1" smtClean="0">
                          <a:latin typeface="Cambria Math" panose="02040503050406030204" pitchFamily="18" charset="0"/>
                        </a:rPr>
                        <m:t>−3)</m:t>
                      </m:r>
                    </m:oMath>
                  </m:oMathPara>
                </a14:m>
                <a:endParaRPr lang="en-GB"/>
              </a:p>
            </p:txBody>
          </p:sp>
        </mc:Choice>
        <mc:Fallback>
          <p:sp>
            <p:nvSpPr>
              <p:cNvPr id="6" name="TextBox 5"/>
              <p:cNvSpPr txBox="1">
                <a:spLocks noRot="1" noChangeAspect="1" noMove="1" noResize="1" noEditPoints="1" noAdjustHandles="1" noChangeArrowheads="1" noChangeShapeType="1" noTextEdit="1"/>
              </p:cNvSpPr>
              <p:nvPr/>
            </p:nvSpPr>
            <p:spPr>
              <a:xfrm>
                <a:off x="297260" y="1878019"/>
                <a:ext cx="3274764" cy="646331"/>
              </a:xfrm>
              <a:prstGeom prst="rect">
                <a:avLst/>
              </a:prstGeom>
              <a:blipFill>
                <a:blip r:embed="rId3"/>
                <a:stretch>
                  <a:fillRect/>
                </a:stretch>
              </a:blipFill>
              <a:effectLst>
                <a:outerShdw blurRad="63500" sx="102000" sy="102000" algn="ctr" rotWithShape="0">
                  <a:prstClr val="black">
                    <a:alpha val="40000"/>
                  </a:prstClr>
                </a:outerShdw>
              </a:effectLst>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 name="TextBox 6"/>
              <p:cNvSpPr txBox="1"/>
              <p:nvPr/>
            </p:nvSpPr>
            <p:spPr>
              <a:xfrm>
                <a:off x="302444" y="2645420"/>
                <a:ext cx="3393256" cy="923330"/>
              </a:xfrm>
              <a:prstGeom prst="rect">
                <a:avLst/>
              </a:prstGeom>
              <a:noFill/>
            </p:spPr>
            <p:txBody>
              <a:bodyPr wrap="square" rtlCol="0">
                <a:spAutoFit/>
              </a:bodyPr>
              <a:lstStyle/>
              <a:p>
                <a:r>
                  <a:rPr lang="en-GB"/>
                  <a:t>Shape: 		</a:t>
                </a:r>
                <a:r>
                  <a:rPr lang="en-GB" b="1"/>
                  <a:t>Tails upwards</a:t>
                </a:r>
              </a:p>
              <a:p>
                <a:r>
                  <a:rPr lang="en-GB"/>
                  <a:t>Roots: 		</a:t>
                </a:r>
                <a:r>
                  <a:rPr lang="en-GB" b="1"/>
                  <a:t>-1, 0, 2, 3</a:t>
                </a:r>
              </a:p>
              <a:p>
                <a14:m>
                  <m:oMath xmlns:m="http://schemas.openxmlformats.org/officeDocument/2006/math">
                    <m:r>
                      <a:rPr lang="en-GB" b="0" i="1" smtClean="0">
                        <a:latin typeface="Cambria Math" panose="02040503050406030204" pitchFamily="18" charset="0"/>
                      </a:rPr>
                      <m:t>𝑦</m:t>
                    </m:r>
                  </m:oMath>
                </a14:m>
                <a:r>
                  <a:rPr lang="en-GB"/>
                  <a:t>-intercept: 	</a:t>
                </a:r>
                <a:r>
                  <a:rPr lang="en-GB" b="1"/>
                  <a:t>0</a:t>
                </a:r>
              </a:p>
            </p:txBody>
          </p:sp>
        </mc:Choice>
        <mc:Fallback>
          <p:sp>
            <p:nvSpPr>
              <p:cNvPr id="7" name="TextBox 6"/>
              <p:cNvSpPr txBox="1">
                <a:spLocks noRot="1" noChangeAspect="1" noMove="1" noResize="1" noEditPoints="1" noAdjustHandles="1" noChangeArrowheads="1" noChangeShapeType="1" noTextEdit="1"/>
              </p:cNvSpPr>
              <p:nvPr/>
            </p:nvSpPr>
            <p:spPr>
              <a:xfrm>
                <a:off x="302444" y="2645420"/>
                <a:ext cx="3393256" cy="923330"/>
              </a:xfrm>
              <a:prstGeom prst="rect">
                <a:avLst/>
              </a:prstGeom>
              <a:blipFill>
                <a:blip r:embed="rId4"/>
                <a:stretch>
                  <a:fillRect l="-1873" t="-2740" b="-9589"/>
                </a:stretch>
              </a:blipFill>
            </p:spPr>
            <p:txBody>
              <a:bodyPr/>
              <a:lstStyle/>
              <a:p>
                <a:r>
                  <a:rPr lang="en-US">
                    <a:noFill/>
                  </a:rPr>
                  <a:t> </a:t>
                </a:r>
              </a:p>
            </p:txBody>
          </p:sp>
        </mc:Fallback>
      </mc:AlternateContent>
      <p:cxnSp>
        <p:nvCxnSpPr>
          <p:cNvPr id="8" name="Straight Arrow Connector 7"/>
          <p:cNvCxnSpPr/>
          <p:nvPr/>
        </p:nvCxnSpPr>
        <p:spPr>
          <a:xfrm>
            <a:off x="585013" y="5181453"/>
            <a:ext cx="240944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 name="Straight Arrow Connector 8"/>
          <p:cNvCxnSpPr/>
          <p:nvPr/>
        </p:nvCxnSpPr>
        <p:spPr>
          <a:xfrm flipV="1">
            <a:off x="1277510" y="4154848"/>
            <a:ext cx="0" cy="187220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0" name="TextBox 9"/>
          <p:cNvSpPr txBox="1"/>
          <p:nvPr/>
        </p:nvSpPr>
        <p:spPr>
          <a:xfrm>
            <a:off x="680068" y="5144291"/>
            <a:ext cx="415472" cy="369332"/>
          </a:xfrm>
          <a:prstGeom prst="rect">
            <a:avLst/>
          </a:prstGeom>
          <a:noFill/>
        </p:spPr>
        <p:txBody>
          <a:bodyPr wrap="square" rtlCol="0">
            <a:spAutoFit/>
          </a:bodyPr>
          <a:lstStyle/>
          <a:p>
            <a:r>
              <a:rPr lang="en-GB"/>
              <a:t>-1</a:t>
            </a:r>
          </a:p>
        </p:txBody>
      </p:sp>
      <mc:AlternateContent xmlns:mc="http://schemas.openxmlformats.org/markup-compatibility/2006">
        <mc:Choice xmlns:a14="http://schemas.microsoft.com/office/drawing/2010/main" Requires="a14">
          <p:sp>
            <p:nvSpPr>
              <p:cNvPr id="12" name="TextBox 11"/>
              <p:cNvSpPr txBox="1"/>
              <p:nvPr/>
            </p:nvSpPr>
            <p:spPr>
              <a:xfrm>
                <a:off x="1018974" y="3828022"/>
                <a:ext cx="415472" cy="276999"/>
              </a:xfrm>
              <a:prstGeom prst="rect">
                <a:avLst/>
              </a:prstGeom>
              <a:noFill/>
            </p:spPr>
            <p:txBody>
              <a:bodyPr wrap="square" rtlCol="0">
                <a:spAutoFit/>
              </a:bodyPr>
              <a:lstStyle/>
              <a:p>
                <a:pPr/>
                <a14:m>
                  <m:oMathPara xmlns:m="http://schemas.openxmlformats.org/officeDocument/2006/math">
                    <m:oMath>
                      <m:r>
                        <a:rPr lang="en-GB" sz="1200" b="0" i="1" smtClean="0">
                          <a:latin typeface="Cambria Math" panose="02040503050406030204" pitchFamily="18" charset="0"/>
                        </a:rPr>
                        <m:t>𝑦</m:t>
                      </m:r>
                    </m:oMath>
                  </m:oMathPara>
                </a14:m>
                <a:endParaRPr lang="en-GB"/>
              </a:p>
            </p:txBody>
          </p:sp>
        </mc:Choice>
        <mc:Fallback>
          <p:sp>
            <p:nvSpPr>
              <p:cNvPr id="12" name="TextBox 11"/>
              <p:cNvSpPr txBox="1">
                <a:spLocks noRot="1" noChangeAspect="1" noMove="1" noResize="1" noEditPoints="1" noAdjustHandles="1" noChangeArrowheads="1" noChangeShapeType="1" noTextEdit="1"/>
              </p:cNvSpPr>
              <p:nvPr/>
            </p:nvSpPr>
            <p:spPr>
              <a:xfrm>
                <a:off x="1018974" y="3828022"/>
                <a:ext cx="415472" cy="276999"/>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3" name="TextBox 12"/>
              <p:cNvSpPr txBox="1"/>
              <p:nvPr/>
            </p:nvSpPr>
            <p:spPr>
              <a:xfrm>
                <a:off x="2884229" y="5051958"/>
                <a:ext cx="415472" cy="276999"/>
              </a:xfrm>
              <a:prstGeom prst="rect">
                <a:avLst/>
              </a:prstGeom>
              <a:noFill/>
            </p:spPr>
            <p:txBody>
              <a:bodyPr wrap="square" rtlCol="0">
                <a:spAutoFit/>
              </a:bodyPr>
              <a:lstStyle/>
              <a:p>
                <a:pPr/>
                <a14:m>
                  <m:oMathPara xmlns:m="http://schemas.openxmlformats.org/officeDocument/2006/math">
                    <m:oMath>
                      <m:r>
                        <a:rPr lang="en-GB" sz="1200" b="0" i="1" smtClean="0">
                          <a:latin typeface="Cambria Math" panose="02040503050406030204" pitchFamily="18" charset="0"/>
                        </a:rPr>
                        <m:t>𝑥</m:t>
                      </m:r>
                    </m:oMath>
                  </m:oMathPara>
                </a14:m>
                <a:endParaRPr lang="en-GB"/>
              </a:p>
            </p:txBody>
          </p:sp>
        </mc:Choice>
        <mc:Fallback>
          <p:sp>
            <p:nvSpPr>
              <p:cNvPr id="13" name="TextBox 12"/>
              <p:cNvSpPr txBox="1">
                <a:spLocks noRot="1" noChangeAspect="1" noMove="1" noResize="1" noEditPoints="1" noAdjustHandles="1" noChangeArrowheads="1" noChangeShapeType="1" noTextEdit="1"/>
              </p:cNvSpPr>
              <p:nvPr/>
            </p:nvSpPr>
            <p:spPr>
              <a:xfrm>
                <a:off x="2884229" y="5051958"/>
                <a:ext cx="415472" cy="276999"/>
              </a:xfrm>
              <a:prstGeom prst="rect">
                <a:avLst/>
              </a:prstGeom>
              <a:blipFill>
                <a:blip r:embed="rId6"/>
                <a:stretch>
                  <a:fillRect/>
                </a:stretch>
              </a:blipFill>
            </p:spPr>
            <p:txBody>
              <a:bodyPr/>
              <a:lstStyle/>
              <a:p>
                <a:r>
                  <a:rPr lang="en-US">
                    <a:noFill/>
                  </a:rPr>
                  <a:t> </a:t>
                </a:r>
              </a:p>
            </p:txBody>
          </p:sp>
        </mc:Fallback>
      </mc:AlternateContent>
      <p:sp>
        <p:nvSpPr>
          <p:cNvPr id="15" name="TextBox 14"/>
          <p:cNvSpPr txBox="1"/>
          <p:nvPr/>
        </p:nvSpPr>
        <p:spPr>
          <a:xfrm>
            <a:off x="1906286" y="5130205"/>
            <a:ext cx="415472" cy="369332"/>
          </a:xfrm>
          <a:prstGeom prst="rect">
            <a:avLst/>
          </a:prstGeom>
          <a:noFill/>
        </p:spPr>
        <p:txBody>
          <a:bodyPr wrap="square" rtlCol="0">
            <a:spAutoFit/>
          </a:bodyPr>
          <a:lstStyle/>
          <a:p>
            <a:r>
              <a:rPr lang="en-GB"/>
              <a:t>2</a:t>
            </a:r>
          </a:p>
        </p:txBody>
      </p:sp>
      <p:sp>
        <p:nvSpPr>
          <p:cNvPr id="16" name="TextBox 15"/>
          <p:cNvSpPr txBox="1"/>
          <p:nvPr/>
        </p:nvSpPr>
        <p:spPr>
          <a:xfrm>
            <a:off x="2338326" y="5142905"/>
            <a:ext cx="415472" cy="369332"/>
          </a:xfrm>
          <a:prstGeom prst="rect">
            <a:avLst/>
          </a:prstGeom>
          <a:noFill/>
        </p:spPr>
        <p:txBody>
          <a:bodyPr wrap="square" rtlCol="0">
            <a:spAutoFit/>
          </a:bodyPr>
          <a:lstStyle/>
          <a:p>
            <a:r>
              <a:rPr lang="en-GB"/>
              <a:t>3</a:t>
            </a:r>
          </a:p>
        </p:txBody>
      </p:sp>
      <p:sp>
        <p:nvSpPr>
          <p:cNvPr id="17" name="Freeform: Shape 16"/>
          <p:cNvSpPr/>
          <p:nvPr/>
        </p:nvSpPr>
        <p:spPr>
          <a:xfrm>
            <a:off x="546100" y="4254500"/>
            <a:ext cx="2349500" cy="1231933"/>
          </a:xfrm>
          <a:custGeom>
            <a:avLst/>
            <a:gdLst>
              <a:gd name="connsiteX0" fmla="*/ 0 w 2349500"/>
              <a:gd name="connsiteY0" fmla="*/ 63500 h 1231933"/>
              <a:gd name="connsiteX1" fmla="*/ 304800 w 2349500"/>
              <a:gd name="connsiteY1" fmla="*/ 939800 h 1231933"/>
              <a:gd name="connsiteX2" fmla="*/ 469900 w 2349500"/>
              <a:gd name="connsiteY2" fmla="*/ 1231900 h 1231933"/>
              <a:gd name="connsiteX3" fmla="*/ 749300 w 2349500"/>
              <a:gd name="connsiteY3" fmla="*/ 927100 h 1231933"/>
              <a:gd name="connsiteX4" fmla="*/ 1066800 w 2349500"/>
              <a:gd name="connsiteY4" fmla="*/ 406400 h 1231933"/>
              <a:gd name="connsiteX5" fmla="*/ 1498600 w 2349500"/>
              <a:gd name="connsiteY5" fmla="*/ 965200 h 1231933"/>
              <a:gd name="connsiteX6" fmla="*/ 1701800 w 2349500"/>
              <a:gd name="connsiteY6" fmla="*/ 1168400 h 1231933"/>
              <a:gd name="connsiteX7" fmla="*/ 1943100 w 2349500"/>
              <a:gd name="connsiteY7" fmla="*/ 927100 h 1231933"/>
              <a:gd name="connsiteX8" fmla="*/ 2349500 w 2349500"/>
              <a:gd name="connsiteY8" fmla="*/ 0 h 1231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49500" h="1231933">
                <a:moveTo>
                  <a:pt x="0" y="63500"/>
                </a:moveTo>
                <a:cubicBezTo>
                  <a:pt x="113241" y="404283"/>
                  <a:pt x="226483" y="745067"/>
                  <a:pt x="304800" y="939800"/>
                </a:cubicBezTo>
                <a:cubicBezTo>
                  <a:pt x="383117" y="1134533"/>
                  <a:pt x="395817" y="1234017"/>
                  <a:pt x="469900" y="1231900"/>
                </a:cubicBezTo>
                <a:cubicBezTo>
                  <a:pt x="543983" y="1229783"/>
                  <a:pt x="649817" y="1064683"/>
                  <a:pt x="749300" y="927100"/>
                </a:cubicBezTo>
                <a:cubicBezTo>
                  <a:pt x="848783" y="789517"/>
                  <a:pt x="941917" y="400050"/>
                  <a:pt x="1066800" y="406400"/>
                </a:cubicBezTo>
                <a:cubicBezTo>
                  <a:pt x="1191683" y="412750"/>
                  <a:pt x="1392767" y="838200"/>
                  <a:pt x="1498600" y="965200"/>
                </a:cubicBezTo>
                <a:cubicBezTo>
                  <a:pt x="1604433" y="1092200"/>
                  <a:pt x="1627717" y="1174750"/>
                  <a:pt x="1701800" y="1168400"/>
                </a:cubicBezTo>
                <a:cubicBezTo>
                  <a:pt x="1775883" y="1162050"/>
                  <a:pt x="1835150" y="1121833"/>
                  <a:pt x="1943100" y="927100"/>
                </a:cubicBezTo>
                <a:cubicBezTo>
                  <a:pt x="2051050" y="732367"/>
                  <a:pt x="2200275" y="366183"/>
                  <a:pt x="2349500"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mc:Choice xmlns:a14="http://schemas.microsoft.com/office/drawing/2010/main" Requires="a14">
          <p:sp>
            <p:nvSpPr>
              <p:cNvPr id="18" name="TextBox 17"/>
              <p:cNvSpPr txBox="1"/>
              <p:nvPr/>
            </p:nvSpPr>
            <p:spPr>
              <a:xfrm>
                <a:off x="4229282" y="1913043"/>
                <a:ext cx="3274764" cy="646331"/>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a:t>Sketch the curve with equation</a:t>
                </a:r>
              </a:p>
              <a:p>
                <a:pPr/>
                <a14:m>
                  <m:oMathPara xmlns:m="http://schemas.openxmlformats.org/officeDocument/2006/math">
                    <m:oMath>
                      <m:r>
                        <a:rPr lang="en-GB" b="0" i="1" smtClean="0">
                          <a:latin typeface="Cambria Math" panose="02040503050406030204" pitchFamily="18" charset="0"/>
                        </a:rPr>
                        <m:t>𝑦</m:t>
                      </m:r>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d>
                            <m:dPr>
                              <m:ctrlPr>
                                <a:rPr lang="en-GB" b="0" i="1" smtClean="0">
                                  <a:latin typeface="Cambria Math" panose="02040503050406030204" pitchFamily="18" charset="0"/>
                                </a:rPr>
                              </m:ctrlPr>
                            </m:dPr>
                            <m:e>
                              <m:r>
                                <a:rPr lang="en-GB" b="0" i="1" smtClean="0">
                                  <a:latin typeface="Cambria Math" panose="02040503050406030204" pitchFamily="18" charset="0"/>
                                </a:rPr>
                                <m:t>𝑥</m:t>
                              </m:r>
                              <m:r>
                                <a:rPr lang="en-GB" b="0" i="1" smtClean="0">
                                  <a:latin typeface="Cambria Math" panose="02040503050406030204" pitchFamily="18" charset="0"/>
                                </a:rPr>
                                <m:t>−2</m:t>
                              </m:r>
                            </m:e>
                          </m:d>
                        </m:e>
                        <m:sup>
                          <m:r>
                            <a:rPr lang="en-GB" b="0" i="1" smtClean="0">
                              <a:latin typeface="Cambria Math" panose="02040503050406030204" pitchFamily="18" charset="0"/>
                            </a:rPr>
                            <m:t>2</m:t>
                          </m:r>
                        </m:sup>
                      </m:sSup>
                      <m:r>
                        <a:rPr lang="en-GB" b="0" i="1" smtClean="0">
                          <a:latin typeface="Cambria Math" panose="02040503050406030204" pitchFamily="18" charset="0"/>
                        </a:rPr>
                        <m:t>(</m:t>
                      </m:r>
                      <m:r>
                        <a:rPr lang="en-GB" b="0" i="1" smtClean="0">
                          <a:latin typeface="Cambria Math" panose="02040503050406030204" pitchFamily="18" charset="0"/>
                        </a:rPr>
                        <m:t>𝑥</m:t>
                      </m:r>
                      <m:r>
                        <a:rPr lang="en-GB" b="0" i="1" smtClean="0">
                          <a:latin typeface="Cambria Math" panose="02040503050406030204" pitchFamily="18" charset="0"/>
                        </a:rPr>
                        <m:t>+1)(3−</m:t>
                      </m:r>
                      <m:r>
                        <a:rPr lang="en-GB" b="0" i="1" smtClean="0">
                          <a:latin typeface="Cambria Math" panose="02040503050406030204" pitchFamily="18" charset="0"/>
                        </a:rPr>
                        <m:t>𝑥</m:t>
                      </m:r>
                      <m:r>
                        <a:rPr lang="en-GB" b="0" i="1" smtClean="0">
                          <a:latin typeface="Cambria Math" panose="02040503050406030204" pitchFamily="18" charset="0"/>
                        </a:rPr>
                        <m:t>)</m:t>
                      </m:r>
                    </m:oMath>
                  </m:oMathPara>
                </a14:m>
                <a:endParaRPr lang="en-GB"/>
              </a:p>
            </p:txBody>
          </p:sp>
        </mc:Choice>
        <mc:Fallback>
          <p:sp>
            <p:nvSpPr>
              <p:cNvPr id="18" name="TextBox 17"/>
              <p:cNvSpPr txBox="1">
                <a:spLocks noRot="1" noChangeAspect="1" noMove="1" noResize="1" noEditPoints="1" noAdjustHandles="1" noChangeArrowheads="1" noChangeShapeType="1" noTextEdit="1"/>
              </p:cNvSpPr>
              <p:nvPr/>
            </p:nvSpPr>
            <p:spPr>
              <a:xfrm>
                <a:off x="4229282" y="1913043"/>
                <a:ext cx="3274764" cy="646331"/>
              </a:xfrm>
              <a:prstGeom prst="rect">
                <a:avLst/>
              </a:prstGeom>
              <a:blipFill>
                <a:blip r:embed="rId7"/>
                <a:stretch>
                  <a:fillRect/>
                </a:stretch>
              </a:blipFill>
              <a:effectLst>
                <a:outerShdw blurRad="63500" sx="102000" sy="102000" algn="ctr" rotWithShape="0">
                  <a:prstClr val="black">
                    <a:alpha val="40000"/>
                  </a:prstClr>
                </a:outerShdw>
              </a:effectLst>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9" name="TextBox 18"/>
              <p:cNvSpPr txBox="1"/>
              <p:nvPr/>
            </p:nvSpPr>
            <p:spPr>
              <a:xfrm>
                <a:off x="4110790" y="2645420"/>
                <a:ext cx="3737810" cy="1200329"/>
              </a:xfrm>
              <a:prstGeom prst="rect">
                <a:avLst/>
              </a:prstGeom>
              <a:noFill/>
            </p:spPr>
            <p:txBody>
              <a:bodyPr wrap="square" rtlCol="0">
                <a:spAutoFit/>
              </a:bodyPr>
              <a:lstStyle/>
              <a:p>
                <a:r>
                  <a:rPr lang="en-GB"/>
                  <a:t>Shape: 		</a:t>
                </a:r>
                <a:r>
                  <a:rPr lang="en-GB" b="1"/>
                  <a:t>Tails downwards</a:t>
                </a:r>
              </a:p>
              <a:p>
                <a:r>
                  <a:rPr lang="en-GB"/>
                  <a:t>Roots: 		</a:t>
                </a:r>
                <a:r>
                  <a:rPr lang="en-GB" b="1"/>
                  <a:t>-1, 2, 3</a:t>
                </a:r>
                <a:br>
                  <a:rPr lang="en-GB" b="1"/>
                </a:br>
                <a:r>
                  <a:rPr lang="en-GB" b="1"/>
                  <a:t>		2 is repeated.</a:t>
                </a:r>
              </a:p>
              <a:p>
                <a14:m>
                  <m:oMath xmlns:m="http://schemas.openxmlformats.org/officeDocument/2006/math">
                    <m:r>
                      <a:rPr lang="en-GB" b="0" i="1" smtClean="0">
                        <a:latin typeface="Cambria Math" panose="02040503050406030204" pitchFamily="18" charset="0"/>
                      </a:rPr>
                      <m:t>𝑦</m:t>
                    </m:r>
                  </m:oMath>
                </a14:m>
                <a:r>
                  <a:rPr lang="en-GB"/>
                  <a:t>-intercept: 	</a:t>
                </a:r>
                <a14:m>
                  <m:oMath xmlns:m="http://schemas.openxmlformats.org/officeDocument/2006/math">
                    <m:r>
                      <a:rPr lang="en-GB" b="1" i="1" smtClean="0">
                        <a:latin typeface="Cambria Math" panose="02040503050406030204" pitchFamily="18" charset="0"/>
                      </a:rPr>
                      <m:t>𝟒</m:t>
                    </m:r>
                    <m:r>
                      <a:rPr lang="en-GB" b="1" i="1" smtClean="0">
                        <a:latin typeface="Cambria Math" panose="02040503050406030204" pitchFamily="18" charset="0"/>
                      </a:rPr>
                      <m:t>×</m:t>
                    </m:r>
                    <m:r>
                      <a:rPr lang="en-GB" b="1" i="1" smtClean="0">
                        <a:latin typeface="Cambria Math" panose="02040503050406030204" pitchFamily="18" charset="0"/>
                      </a:rPr>
                      <m:t>𝟏</m:t>
                    </m:r>
                    <m:r>
                      <a:rPr lang="en-GB" b="1" i="1" smtClean="0">
                        <a:latin typeface="Cambria Math" panose="02040503050406030204" pitchFamily="18" charset="0"/>
                      </a:rPr>
                      <m:t>×</m:t>
                    </m:r>
                    <m:r>
                      <a:rPr lang="en-GB" b="1" i="1" smtClean="0">
                        <a:latin typeface="Cambria Math" panose="02040503050406030204" pitchFamily="18" charset="0"/>
                      </a:rPr>
                      <m:t>𝟑</m:t>
                    </m:r>
                    <m:r>
                      <a:rPr lang="en-GB" b="1" i="1" smtClean="0">
                        <a:latin typeface="Cambria Math" panose="02040503050406030204" pitchFamily="18" charset="0"/>
                      </a:rPr>
                      <m:t>=</m:t>
                    </m:r>
                    <m:r>
                      <a:rPr lang="en-GB" b="1" i="1" smtClean="0">
                        <a:latin typeface="Cambria Math" panose="02040503050406030204" pitchFamily="18" charset="0"/>
                      </a:rPr>
                      <m:t>𝟏𝟐</m:t>
                    </m:r>
                  </m:oMath>
                </a14:m>
                <a:endParaRPr lang="en-GB" b="1"/>
              </a:p>
            </p:txBody>
          </p:sp>
        </mc:Choice>
        <mc:Fallback>
          <p:sp>
            <p:nvSpPr>
              <p:cNvPr id="19" name="TextBox 18"/>
              <p:cNvSpPr txBox="1">
                <a:spLocks noRot="1" noChangeAspect="1" noMove="1" noResize="1" noEditPoints="1" noAdjustHandles="1" noChangeArrowheads="1" noChangeShapeType="1" noTextEdit="1"/>
              </p:cNvSpPr>
              <p:nvPr/>
            </p:nvSpPr>
            <p:spPr>
              <a:xfrm>
                <a:off x="4110790" y="2645420"/>
                <a:ext cx="3737810" cy="1200329"/>
              </a:xfrm>
              <a:prstGeom prst="rect">
                <a:avLst/>
              </a:prstGeom>
              <a:blipFill>
                <a:blip r:embed="rId8"/>
                <a:stretch>
                  <a:fillRect l="-1351" t="-2105" b="-8421"/>
                </a:stretch>
              </a:blipFill>
            </p:spPr>
            <p:txBody>
              <a:bodyPr/>
              <a:lstStyle/>
              <a:p>
                <a:r>
                  <a:rPr lang="en-US">
                    <a:noFill/>
                  </a:rPr>
                  <a:t> </a:t>
                </a:r>
              </a:p>
            </p:txBody>
          </p:sp>
        </mc:Fallback>
      </mc:AlternateContent>
      <p:cxnSp>
        <p:nvCxnSpPr>
          <p:cNvPr id="20" name="Straight Arrow Connector 19"/>
          <p:cNvCxnSpPr/>
          <p:nvPr/>
        </p:nvCxnSpPr>
        <p:spPr>
          <a:xfrm>
            <a:off x="4998697" y="5362944"/>
            <a:ext cx="240944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 name="Straight Arrow Connector 20"/>
          <p:cNvCxnSpPr/>
          <p:nvPr/>
        </p:nvCxnSpPr>
        <p:spPr>
          <a:xfrm flipV="1">
            <a:off x="5691194" y="4336339"/>
            <a:ext cx="0" cy="187220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2" name="TextBox 21"/>
          <p:cNvSpPr txBox="1"/>
          <p:nvPr/>
        </p:nvSpPr>
        <p:spPr>
          <a:xfrm>
            <a:off x="5093752" y="5325782"/>
            <a:ext cx="415472" cy="369332"/>
          </a:xfrm>
          <a:prstGeom prst="rect">
            <a:avLst/>
          </a:prstGeom>
          <a:noFill/>
        </p:spPr>
        <p:txBody>
          <a:bodyPr wrap="square" rtlCol="0">
            <a:spAutoFit/>
          </a:bodyPr>
          <a:lstStyle/>
          <a:p>
            <a:r>
              <a:rPr lang="en-GB"/>
              <a:t>-1</a:t>
            </a:r>
          </a:p>
        </p:txBody>
      </p:sp>
      <mc:AlternateContent xmlns:mc="http://schemas.openxmlformats.org/markup-compatibility/2006">
        <mc:Choice xmlns:a14="http://schemas.microsoft.com/office/drawing/2010/main" Requires="a14">
          <p:sp>
            <p:nvSpPr>
              <p:cNvPr id="23" name="TextBox 22"/>
              <p:cNvSpPr txBox="1"/>
              <p:nvPr/>
            </p:nvSpPr>
            <p:spPr>
              <a:xfrm>
                <a:off x="5432658" y="4009513"/>
                <a:ext cx="415472" cy="276999"/>
              </a:xfrm>
              <a:prstGeom prst="rect">
                <a:avLst/>
              </a:prstGeom>
              <a:noFill/>
            </p:spPr>
            <p:txBody>
              <a:bodyPr wrap="square" rtlCol="0">
                <a:spAutoFit/>
              </a:bodyPr>
              <a:lstStyle/>
              <a:p>
                <a:pPr/>
                <a14:m>
                  <m:oMathPara xmlns:m="http://schemas.openxmlformats.org/officeDocument/2006/math">
                    <m:oMath>
                      <m:r>
                        <a:rPr lang="en-GB" sz="1200" b="0" i="1" smtClean="0">
                          <a:latin typeface="Cambria Math" panose="02040503050406030204" pitchFamily="18" charset="0"/>
                        </a:rPr>
                        <m:t>𝑦</m:t>
                      </m:r>
                    </m:oMath>
                  </m:oMathPara>
                </a14:m>
                <a:endParaRPr lang="en-GB"/>
              </a:p>
            </p:txBody>
          </p:sp>
        </mc:Choice>
        <mc:Fallback>
          <p:sp>
            <p:nvSpPr>
              <p:cNvPr id="23" name="TextBox 22"/>
              <p:cNvSpPr txBox="1">
                <a:spLocks noRot="1" noChangeAspect="1" noMove="1" noResize="1" noEditPoints="1" noAdjustHandles="1" noChangeArrowheads="1" noChangeShapeType="1" noTextEdit="1"/>
              </p:cNvSpPr>
              <p:nvPr/>
            </p:nvSpPr>
            <p:spPr>
              <a:xfrm>
                <a:off x="5432658" y="4009513"/>
                <a:ext cx="415472" cy="276999"/>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4" name="TextBox 23"/>
              <p:cNvSpPr txBox="1"/>
              <p:nvPr/>
            </p:nvSpPr>
            <p:spPr>
              <a:xfrm>
                <a:off x="7297913" y="5233449"/>
                <a:ext cx="415472" cy="276999"/>
              </a:xfrm>
              <a:prstGeom prst="rect">
                <a:avLst/>
              </a:prstGeom>
              <a:noFill/>
            </p:spPr>
            <p:txBody>
              <a:bodyPr wrap="square" rtlCol="0">
                <a:spAutoFit/>
              </a:bodyPr>
              <a:lstStyle/>
              <a:p>
                <a:pPr/>
                <a14:m>
                  <m:oMathPara xmlns:m="http://schemas.openxmlformats.org/officeDocument/2006/math">
                    <m:oMath>
                      <m:r>
                        <a:rPr lang="en-GB" sz="1200" b="0" i="1" smtClean="0">
                          <a:latin typeface="Cambria Math" panose="02040503050406030204" pitchFamily="18" charset="0"/>
                        </a:rPr>
                        <m:t>𝑥</m:t>
                      </m:r>
                    </m:oMath>
                  </m:oMathPara>
                </a14:m>
                <a:endParaRPr lang="en-GB"/>
              </a:p>
            </p:txBody>
          </p:sp>
        </mc:Choice>
        <mc:Fallback>
          <p:sp>
            <p:nvSpPr>
              <p:cNvPr id="24" name="TextBox 23"/>
              <p:cNvSpPr txBox="1">
                <a:spLocks noRot="1" noChangeAspect="1" noMove="1" noResize="1" noEditPoints="1" noAdjustHandles="1" noChangeArrowheads="1" noChangeShapeType="1" noTextEdit="1"/>
              </p:cNvSpPr>
              <p:nvPr/>
            </p:nvSpPr>
            <p:spPr>
              <a:xfrm>
                <a:off x="7297913" y="5233449"/>
                <a:ext cx="415472" cy="276999"/>
              </a:xfrm>
              <a:prstGeom prst="rect">
                <a:avLst/>
              </a:prstGeom>
              <a:blipFill>
                <a:blip r:embed="rId10"/>
                <a:stretch>
                  <a:fillRect/>
                </a:stretch>
              </a:blipFill>
            </p:spPr>
            <p:txBody>
              <a:bodyPr/>
              <a:lstStyle/>
              <a:p>
                <a:r>
                  <a:rPr lang="en-US">
                    <a:noFill/>
                  </a:rPr>
                  <a:t> </a:t>
                </a:r>
              </a:p>
            </p:txBody>
          </p:sp>
        </mc:Fallback>
      </mc:AlternateContent>
      <p:sp>
        <p:nvSpPr>
          <p:cNvPr id="25" name="TextBox 24"/>
          <p:cNvSpPr txBox="1"/>
          <p:nvPr/>
        </p:nvSpPr>
        <p:spPr>
          <a:xfrm>
            <a:off x="6319970" y="5311696"/>
            <a:ext cx="415472" cy="369332"/>
          </a:xfrm>
          <a:prstGeom prst="rect">
            <a:avLst/>
          </a:prstGeom>
          <a:noFill/>
        </p:spPr>
        <p:txBody>
          <a:bodyPr wrap="square" rtlCol="0">
            <a:spAutoFit/>
          </a:bodyPr>
          <a:lstStyle/>
          <a:p>
            <a:r>
              <a:rPr lang="en-GB"/>
              <a:t>2</a:t>
            </a:r>
          </a:p>
        </p:txBody>
      </p:sp>
      <p:sp>
        <p:nvSpPr>
          <p:cNvPr id="26" name="TextBox 25"/>
          <p:cNvSpPr txBox="1"/>
          <p:nvPr/>
        </p:nvSpPr>
        <p:spPr>
          <a:xfrm>
            <a:off x="6752010" y="5324396"/>
            <a:ext cx="415472" cy="369332"/>
          </a:xfrm>
          <a:prstGeom prst="rect">
            <a:avLst/>
          </a:prstGeom>
          <a:noFill/>
        </p:spPr>
        <p:txBody>
          <a:bodyPr wrap="square" rtlCol="0">
            <a:spAutoFit/>
          </a:bodyPr>
          <a:lstStyle/>
          <a:p>
            <a:r>
              <a:rPr lang="en-GB"/>
              <a:t>3</a:t>
            </a:r>
          </a:p>
        </p:txBody>
      </p:sp>
      <p:sp>
        <p:nvSpPr>
          <p:cNvPr id="28" name="Freeform: Shape 27"/>
          <p:cNvSpPr/>
          <p:nvPr/>
        </p:nvSpPr>
        <p:spPr>
          <a:xfrm>
            <a:off x="5029200" y="4610100"/>
            <a:ext cx="2044700" cy="1473200"/>
          </a:xfrm>
          <a:custGeom>
            <a:avLst/>
            <a:gdLst>
              <a:gd name="connsiteX0" fmla="*/ 0 w 2044700"/>
              <a:gd name="connsiteY0" fmla="*/ 1473200 h 1473200"/>
              <a:gd name="connsiteX1" fmla="*/ 292100 w 2044700"/>
              <a:gd name="connsiteY1" fmla="*/ 749300 h 1473200"/>
              <a:gd name="connsiteX2" fmla="*/ 774700 w 2044700"/>
              <a:gd name="connsiteY2" fmla="*/ 0 h 1473200"/>
              <a:gd name="connsiteX3" fmla="*/ 1422400 w 2044700"/>
              <a:gd name="connsiteY3" fmla="*/ 749300 h 1473200"/>
              <a:gd name="connsiteX4" fmla="*/ 1676400 w 2044700"/>
              <a:gd name="connsiteY4" fmla="*/ 457200 h 1473200"/>
              <a:gd name="connsiteX5" fmla="*/ 2044700 w 2044700"/>
              <a:gd name="connsiteY5" fmla="*/ 1295400 h 1473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44700" h="1473200">
                <a:moveTo>
                  <a:pt x="0" y="1473200"/>
                </a:moveTo>
                <a:cubicBezTo>
                  <a:pt x="81491" y="1234016"/>
                  <a:pt x="162983" y="994833"/>
                  <a:pt x="292100" y="749300"/>
                </a:cubicBezTo>
                <a:cubicBezTo>
                  <a:pt x="421217" y="503767"/>
                  <a:pt x="586317" y="0"/>
                  <a:pt x="774700" y="0"/>
                </a:cubicBezTo>
                <a:cubicBezTo>
                  <a:pt x="963083" y="0"/>
                  <a:pt x="1272117" y="673100"/>
                  <a:pt x="1422400" y="749300"/>
                </a:cubicBezTo>
                <a:cubicBezTo>
                  <a:pt x="1572683" y="825500"/>
                  <a:pt x="1572683" y="366183"/>
                  <a:pt x="1676400" y="457200"/>
                </a:cubicBezTo>
                <a:cubicBezTo>
                  <a:pt x="1780117" y="548217"/>
                  <a:pt x="1912408" y="921808"/>
                  <a:pt x="2044700" y="129540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p:cNvSpPr/>
          <p:nvPr/>
        </p:nvSpPr>
        <p:spPr>
          <a:xfrm>
            <a:off x="2073441" y="2665121"/>
            <a:ext cx="1698460" cy="306679"/>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29" name="Rectangle 28"/>
          <p:cNvSpPr/>
          <p:nvPr/>
        </p:nvSpPr>
        <p:spPr>
          <a:xfrm>
            <a:off x="2073441" y="2967959"/>
            <a:ext cx="1698460" cy="306679"/>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30" name="Rectangle 29"/>
          <p:cNvSpPr/>
          <p:nvPr/>
        </p:nvSpPr>
        <p:spPr>
          <a:xfrm>
            <a:off x="2073441" y="3274973"/>
            <a:ext cx="1698460" cy="306679"/>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31" name="Rectangle 30"/>
          <p:cNvSpPr/>
          <p:nvPr/>
        </p:nvSpPr>
        <p:spPr>
          <a:xfrm>
            <a:off x="413224" y="3847505"/>
            <a:ext cx="3345976" cy="2197695"/>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32" name="Rectangle 31"/>
          <p:cNvSpPr/>
          <p:nvPr/>
        </p:nvSpPr>
        <p:spPr>
          <a:xfrm>
            <a:off x="5974526" y="2651684"/>
            <a:ext cx="1698460" cy="306679"/>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33" name="Rectangle 32"/>
          <p:cNvSpPr/>
          <p:nvPr/>
        </p:nvSpPr>
        <p:spPr>
          <a:xfrm>
            <a:off x="5974526" y="2945815"/>
            <a:ext cx="1698460" cy="546685"/>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34" name="Rectangle 33"/>
          <p:cNvSpPr/>
          <p:nvPr/>
        </p:nvSpPr>
        <p:spPr>
          <a:xfrm>
            <a:off x="5974526" y="3491356"/>
            <a:ext cx="1698460" cy="306679"/>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36" name="TextBox 35">
            <a:extLst>
              <a:ext uri="{FF2B5EF4-FFF2-40B4-BE49-F238E27FC236}">
                <a16:creationId xmlns:a16="http://schemas.microsoft.com/office/drawing/2014/main" id="{A3CB08CC-9482-429A-88E6-DA31835305B1}"/>
              </a:ext>
            </a:extLst>
          </p:cNvPr>
          <p:cNvSpPr txBox="1"/>
          <p:nvPr/>
        </p:nvSpPr>
        <p:spPr>
          <a:xfrm>
            <a:off x="5343658" y="4427973"/>
            <a:ext cx="415472" cy="369332"/>
          </a:xfrm>
          <a:prstGeom prst="rect">
            <a:avLst/>
          </a:prstGeom>
          <a:noFill/>
        </p:spPr>
        <p:txBody>
          <a:bodyPr wrap="square" rtlCol="0">
            <a:spAutoFit/>
          </a:bodyPr>
          <a:lstStyle/>
          <a:p>
            <a:r>
              <a:rPr lang="en-GB"/>
              <a:t>12</a:t>
            </a:r>
          </a:p>
        </p:txBody>
      </p:sp>
      <p:sp>
        <p:nvSpPr>
          <p:cNvPr id="35" name="Rectangle 34"/>
          <p:cNvSpPr/>
          <p:nvPr/>
        </p:nvSpPr>
        <p:spPr>
          <a:xfrm>
            <a:off x="4387975" y="3896446"/>
            <a:ext cx="3314014" cy="2311024"/>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Tree>
    <p:extLst>
      <p:ext uri="{BB962C8B-B14F-4D97-AF65-F5344CB8AC3E}">
        <p14:creationId xmlns:p14="http://schemas.microsoft.com/office/powerpoint/2010/main" val="2398645562"/>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4"/>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4"/>
                                        </p:tgtEl>
                                      </p:cBhvr>
                                    </p:animEffect>
                                    <p:set>
                                      <p:cBhvr>
                                        <p:cTn id="7" dur="1" fill="hold">
                                          <p:stCondLst>
                                            <p:cond delay="499"/>
                                          </p:stCondLst>
                                        </p:cTn>
                                        <p:tgtEl>
                                          <p:spTgt spid="14"/>
                                        </p:tgtEl>
                                        <p:attrNameLst>
                                          <p:attrName>style.visibility</p:attrName>
                                        </p:attrNameLst>
                                      </p:cBhvr>
                                      <p:to>
                                        <p:strVal val="hidden"/>
                                      </p:to>
                                    </p:set>
                                  </p:childTnLst>
                                </p:cTn>
                              </p:par>
                            </p:childTnLst>
                          </p:cTn>
                        </p:par>
                      </p:childTnLst>
                    </p:cTn>
                  </p:par>
                </p:childTnLst>
              </p:cTn>
              <p:nextCondLst>
                <p:cond evt="onClick" delay="0">
                  <p:tgtEl>
                    <p:spTgt spid="14"/>
                  </p:tgtEl>
                </p:cond>
              </p:nextCondLst>
            </p:seq>
            <p:seq concurrent="1" nextAc="seek">
              <p:cTn id="8" restart="whenNotActive" fill="hold" evtFilter="cancelBubble" nodeType="interactiveSeq">
                <p:stCondLst>
                  <p:cond evt="onClick" delay="0">
                    <p:tgtEl>
                      <p:spTgt spid="29"/>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29"/>
                                        </p:tgtEl>
                                      </p:cBhvr>
                                    </p:animEffect>
                                    <p:set>
                                      <p:cBhvr>
                                        <p:cTn id="13" dur="1" fill="hold">
                                          <p:stCondLst>
                                            <p:cond delay="499"/>
                                          </p:stCondLst>
                                        </p:cTn>
                                        <p:tgtEl>
                                          <p:spTgt spid="29"/>
                                        </p:tgtEl>
                                        <p:attrNameLst>
                                          <p:attrName>style.visibility</p:attrName>
                                        </p:attrNameLst>
                                      </p:cBhvr>
                                      <p:to>
                                        <p:strVal val="hidden"/>
                                      </p:to>
                                    </p:set>
                                  </p:childTnLst>
                                </p:cTn>
                              </p:par>
                            </p:childTnLst>
                          </p:cTn>
                        </p:par>
                      </p:childTnLst>
                    </p:cTn>
                  </p:par>
                </p:childTnLst>
              </p:cTn>
              <p:nextCondLst>
                <p:cond evt="onClick" delay="0">
                  <p:tgtEl>
                    <p:spTgt spid="29"/>
                  </p:tgtEl>
                </p:cond>
              </p:nextCondLst>
            </p:seq>
            <p:seq concurrent="1" nextAc="seek">
              <p:cTn id="14" restart="whenNotActive" fill="hold" evtFilter="cancelBubble" nodeType="interactiveSeq">
                <p:stCondLst>
                  <p:cond evt="onClick" delay="0">
                    <p:tgtEl>
                      <p:spTgt spid="30"/>
                    </p:tgtEl>
                  </p:cond>
                </p:stCondLst>
                <p:endSync evt="end" delay="0">
                  <p:rtn val="all"/>
                </p:endSync>
                <p:childTnLst>
                  <p:par>
                    <p:cTn id="15" fill="hold">
                      <p:stCondLst>
                        <p:cond delay="0"/>
                      </p:stCondLst>
                      <p:childTnLst>
                        <p:par>
                          <p:cTn id="16" fill="hold">
                            <p:stCondLst>
                              <p:cond delay="0"/>
                            </p:stCondLst>
                            <p:childTnLst>
                              <p:par>
                                <p:cTn id="17" presetID="10" presetClass="exit" presetSubtype="0" fill="hold" grpId="0" nodeType="clickEffect">
                                  <p:stCondLst>
                                    <p:cond delay="0"/>
                                  </p:stCondLst>
                                  <p:childTnLst>
                                    <p:animEffect transition="out" filter="fade">
                                      <p:cBhvr>
                                        <p:cTn id="18" dur="500"/>
                                        <p:tgtEl>
                                          <p:spTgt spid="30"/>
                                        </p:tgtEl>
                                      </p:cBhvr>
                                    </p:animEffect>
                                    <p:set>
                                      <p:cBhvr>
                                        <p:cTn id="19" dur="1" fill="hold">
                                          <p:stCondLst>
                                            <p:cond delay="499"/>
                                          </p:stCondLst>
                                        </p:cTn>
                                        <p:tgtEl>
                                          <p:spTgt spid="30"/>
                                        </p:tgtEl>
                                        <p:attrNameLst>
                                          <p:attrName>style.visibility</p:attrName>
                                        </p:attrNameLst>
                                      </p:cBhvr>
                                      <p:to>
                                        <p:strVal val="hidden"/>
                                      </p:to>
                                    </p:set>
                                  </p:childTnLst>
                                </p:cTn>
                              </p:par>
                            </p:childTnLst>
                          </p:cTn>
                        </p:par>
                      </p:childTnLst>
                    </p:cTn>
                  </p:par>
                </p:childTnLst>
              </p:cTn>
              <p:nextCondLst>
                <p:cond evt="onClick" delay="0">
                  <p:tgtEl>
                    <p:spTgt spid="30"/>
                  </p:tgtEl>
                </p:cond>
              </p:nextCondLst>
            </p:seq>
            <p:seq concurrent="1" nextAc="seek">
              <p:cTn id="20" restart="whenNotActive" fill="hold" evtFilter="cancelBubble" nodeType="interactiveSeq">
                <p:stCondLst>
                  <p:cond evt="onClick" delay="0">
                    <p:tgtEl>
                      <p:spTgt spid="31"/>
                    </p:tgtEl>
                  </p:cond>
                </p:stCondLst>
                <p:endSync evt="end" delay="0">
                  <p:rtn val="all"/>
                </p:endSync>
                <p:childTnLst>
                  <p:par>
                    <p:cTn id="21" fill="hold">
                      <p:stCondLst>
                        <p:cond delay="0"/>
                      </p:stCondLst>
                      <p:childTnLst>
                        <p:par>
                          <p:cTn id="22" fill="hold">
                            <p:stCondLst>
                              <p:cond delay="0"/>
                            </p:stCondLst>
                            <p:childTnLst>
                              <p:par>
                                <p:cTn id="23" presetID="10" presetClass="exit" presetSubtype="0" fill="hold" grpId="0" nodeType="clickEffect">
                                  <p:stCondLst>
                                    <p:cond delay="0"/>
                                  </p:stCondLst>
                                  <p:childTnLst>
                                    <p:animEffect transition="out" filter="fade">
                                      <p:cBhvr>
                                        <p:cTn id="24" dur="500"/>
                                        <p:tgtEl>
                                          <p:spTgt spid="31"/>
                                        </p:tgtEl>
                                      </p:cBhvr>
                                    </p:animEffect>
                                    <p:set>
                                      <p:cBhvr>
                                        <p:cTn id="25" dur="1" fill="hold">
                                          <p:stCondLst>
                                            <p:cond delay="499"/>
                                          </p:stCondLst>
                                        </p:cTn>
                                        <p:tgtEl>
                                          <p:spTgt spid="31"/>
                                        </p:tgtEl>
                                        <p:attrNameLst>
                                          <p:attrName>style.visibility</p:attrName>
                                        </p:attrNameLst>
                                      </p:cBhvr>
                                      <p:to>
                                        <p:strVal val="hidden"/>
                                      </p:to>
                                    </p:set>
                                  </p:childTnLst>
                                </p:cTn>
                              </p:par>
                            </p:childTnLst>
                          </p:cTn>
                        </p:par>
                      </p:childTnLst>
                    </p:cTn>
                  </p:par>
                </p:childTnLst>
              </p:cTn>
              <p:nextCondLst>
                <p:cond evt="onClick" delay="0">
                  <p:tgtEl>
                    <p:spTgt spid="31"/>
                  </p:tgtEl>
                </p:cond>
              </p:nextCondLst>
            </p:seq>
            <p:seq concurrent="1" nextAc="seek">
              <p:cTn id="26" restart="whenNotActive" fill="hold" evtFilter="cancelBubble" nodeType="interactiveSeq">
                <p:stCondLst>
                  <p:cond evt="onClick" delay="0">
                    <p:tgtEl>
                      <p:spTgt spid="32"/>
                    </p:tgtEl>
                  </p:cond>
                </p:stCondLst>
                <p:endSync evt="end" delay="0">
                  <p:rtn val="all"/>
                </p:endSync>
                <p:childTnLst>
                  <p:par>
                    <p:cTn id="27" fill="hold">
                      <p:stCondLst>
                        <p:cond delay="0"/>
                      </p:stCondLst>
                      <p:childTnLst>
                        <p:par>
                          <p:cTn id="28" fill="hold">
                            <p:stCondLst>
                              <p:cond delay="0"/>
                            </p:stCondLst>
                            <p:childTnLst>
                              <p:par>
                                <p:cTn id="29" presetID="10" presetClass="exit" presetSubtype="0" fill="hold" grpId="0" nodeType="clickEffect">
                                  <p:stCondLst>
                                    <p:cond delay="0"/>
                                  </p:stCondLst>
                                  <p:childTnLst>
                                    <p:animEffect transition="out" filter="fade">
                                      <p:cBhvr>
                                        <p:cTn id="30" dur="500"/>
                                        <p:tgtEl>
                                          <p:spTgt spid="32"/>
                                        </p:tgtEl>
                                      </p:cBhvr>
                                    </p:animEffect>
                                    <p:set>
                                      <p:cBhvr>
                                        <p:cTn id="31" dur="1" fill="hold">
                                          <p:stCondLst>
                                            <p:cond delay="499"/>
                                          </p:stCondLst>
                                        </p:cTn>
                                        <p:tgtEl>
                                          <p:spTgt spid="32"/>
                                        </p:tgtEl>
                                        <p:attrNameLst>
                                          <p:attrName>style.visibility</p:attrName>
                                        </p:attrNameLst>
                                      </p:cBhvr>
                                      <p:to>
                                        <p:strVal val="hidden"/>
                                      </p:to>
                                    </p:set>
                                  </p:childTnLst>
                                </p:cTn>
                              </p:par>
                            </p:childTnLst>
                          </p:cTn>
                        </p:par>
                      </p:childTnLst>
                    </p:cTn>
                  </p:par>
                </p:childTnLst>
              </p:cTn>
              <p:nextCondLst>
                <p:cond evt="onClick" delay="0">
                  <p:tgtEl>
                    <p:spTgt spid="32"/>
                  </p:tgtEl>
                </p:cond>
              </p:nextCondLst>
            </p:seq>
            <p:seq concurrent="1" nextAc="seek">
              <p:cTn id="32" restart="whenNotActive" fill="hold" evtFilter="cancelBubble" nodeType="interactiveSeq">
                <p:stCondLst>
                  <p:cond evt="onClick" delay="0">
                    <p:tgtEl>
                      <p:spTgt spid="33"/>
                    </p:tgtEl>
                  </p:cond>
                </p:stCondLst>
                <p:endSync evt="end" delay="0">
                  <p:rtn val="all"/>
                </p:endSync>
                <p:childTnLst>
                  <p:par>
                    <p:cTn id="33" fill="hold">
                      <p:stCondLst>
                        <p:cond delay="0"/>
                      </p:stCondLst>
                      <p:childTnLst>
                        <p:par>
                          <p:cTn id="34" fill="hold">
                            <p:stCondLst>
                              <p:cond delay="0"/>
                            </p:stCondLst>
                            <p:childTnLst>
                              <p:par>
                                <p:cTn id="35" presetID="10" presetClass="exit" presetSubtype="0" fill="hold" grpId="0" nodeType="clickEffect">
                                  <p:stCondLst>
                                    <p:cond delay="0"/>
                                  </p:stCondLst>
                                  <p:childTnLst>
                                    <p:animEffect transition="out" filter="fade">
                                      <p:cBhvr>
                                        <p:cTn id="36" dur="500"/>
                                        <p:tgtEl>
                                          <p:spTgt spid="33"/>
                                        </p:tgtEl>
                                      </p:cBhvr>
                                    </p:animEffect>
                                    <p:set>
                                      <p:cBhvr>
                                        <p:cTn id="37" dur="1" fill="hold">
                                          <p:stCondLst>
                                            <p:cond delay="499"/>
                                          </p:stCondLst>
                                        </p:cTn>
                                        <p:tgtEl>
                                          <p:spTgt spid="33"/>
                                        </p:tgtEl>
                                        <p:attrNameLst>
                                          <p:attrName>style.visibility</p:attrName>
                                        </p:attrNameLst>
                                      </p:cBhvr>
                                      <p:to>
                                        <p:strVal val="hidden"/>
                                      </p:to>
                                    </p:set>
                                  </p:childTnLst>
                                </p:cTn>
                              </p:par>
                            </p:childTnLst>
                          </p:cTn>
                        </p:par>
                      </p:childTnLst>
                    </p:cTn>
                  </p:par>
                </p:childTnLst>
              </p:cTn>
              <p:nextCondLst>
                <p:cond evt="onClick" delay="0">
                  <p:tgtEl>
                    <p:spTgt spid="33"/>
                  </p:tgtEl>
                </p:cond>
              </p:nextCondLst>
            </p:seq>
            <p:seq concurrent="1" nextAc="seek">
              <p:cTn id="38" restart="whenNotActive" fill="hold" evtFilter="cancelBubble" nodeType="interactiveSeq">
                <p:stCondLst>
                  <p:cond evt="onClick" delay="0">
                    <p:tgtEl>
                      <p:spTgt spid="34"/>
                    </p:tgtEl>
                  </p:cond>
                </p:stCondLst>
                <p:endSync evt="end" delay="0">
                  <p:rtn val="all"/>
                </p:endSync>
                <p:childTnLst>
                  <p:par>
                    <p:cTn id="39" fill="hold">
                      <p:stCondLst>
                        <p:cond delay="0"/>
                      </p:stCondLst>
                      <p:childTnLst>
                        <p:par>
                          <p:cTn id="40" fill="hold">
                            <p:stCondLst>
                              <p:cond delay="0"/>
                            </p:stCondLst>
                            <p:childTnLst>
                              <p:par>
                                <p:cTn id="41" presetID="10" presetClass="exit" presetSubtype="0" fill="hold" grpId="0" nodeType="clickEffect">
                                  <p:stCondLst>
                                    <p:cond delay="0"/>
                                  </p:stCondLst>
                                  <p:childTnLst>
                                    <p:animEffect transition="out" filter="fade">
                                      <p:cBhvr>
                                        <p:cTn id="42" dur="500"/>
                                        <p:tgtEl>
                                          <p:spTgt spid="34"/>
                                        </p:tgtEl>
                                      </p:cBhvr>
                                    </p:animEffect>
                                    <p:set>
                                      <p:cBhvr>
                                        <p:cTn id="43" dur="1" fill="hold">
                                          <p:stCondLst>
                                            <p:cond delay="499"/>
                                          </p:stCondLst>
                                        </p:cTn>
                                        <p:tgtEl>
                                          <p:spTgt spid="34"/>
                                        </p:tgtEl>
                                        <p:attrNameLst>
                                          <p:attrName>style.visibility</p:attrName>
                                        </p:attrNameLst>
                                      </p:cBhvr>
                                      <p:to>
                                        <p:strVal val="hidden"/>
                                      </p:to>
                                    </p:set>
                                  </p:childTnLst>
                                </p:cTn>
                              </p:par>
                            </p:childTnLst>
                          </p:cTn>
                        </p:par>
                      </p:childTnLst>
                    </p:cTn>
                  </p:par>
                </p:childTnLst>
              </p:cTn>
              <p:nextCondLst>
                <p:cond evt="onClick" delay="0">
                  <p:tgtEl>
                    <p:spTgt spid="34"/>
                  </p:tgtEl>
                </p:cond>
              </p:nextCondLst>
            </p:seq>
            <p:seq concurrent="1" nextAc="seek">
              <p:cTn id="44" restart="whenNotActive" fill="hold" evtFilter="cancelBubble" nodeType="interactiveSeq">
                <p:stCondLst>
                  <p:cond evt="onClick" delay="0">
                    <p:tgtEl>
                      <p:spTgt spid="35"/>
                    </p:tgtEl>
                  </p:cond>
                </p:stCondLst>
                <p:endSync evt="end" delay="0">
                  <p:rtn val="all"/>
                </p:endSync>
                <p:childTnLst>
                  <p:par>
                    <p:cTn id="45" fill="hold">
                      <p:stCondLst>
                        <p:cond delay="0"/>
                      </p:stCondLst>
                      <p:childTnLst>
                        <p:par>
                          <p:cTn id="46" fill="hold">
                            <p:stCondLst>
                              <p:cond delay="0"/>
                            </p:stCondLst>
                            <p:childTnLst>
                              <p:par>
                                <p:cTn id="47" presetID="10" presetClass="exit" presetSubtype="0" fill="hold" grpId="0" nodeType="clickEffect">
                                  <p:stCondLst>
                                    <p:cond delay="0"/>
                                  </p:stCondLst>
                                  <p:childTnLst>
                                    <p:animEffect transition="out" filter="fade">
                                      <p:cBhvr>
                                        <p:cTn id="48" dur="500"/>
                                        <p:tgtEl>
                                          <p:spTgt spid="35"/>
                                        </p:tgtEl>
                                      </p:cBhvr>
                                    </p:animEffect>
                                    <p:set>
                                      <p:cBhvr>
                                        <p:cTn id="49" dur="1" fill="hold">
                                          <p:stCondLst>
                                            <p:cond delay="499"/>
                                          </p:stCondLst>
                                        </p:cTn>
                                        <p:tgtEl>
                                          <p:spTgt spid="35"/>
                                        </p:tgtEl>
                                        <p:attrNameLst>
                                          <p:attrName>style.visibility</p:attrName>
                                        </p:attrNameLst>
                                      </p:cBhvr>
                                      <p:to>
                                        <p:strVal val="hidden"/>
                                      </p:to>
                                    </p:set>
                                  </p:childTnLst>
                                </p:cTn>
                              </p:par>
                            </p:childTnLst>
                          </p:cTn>
                        </p:par>
                      </p:childTnLst>
                    </p:cTn>
                  </p:par>
                </p:childTnLst>
              </p:cTn>
              <p:nextCondLst>
                <p:cond evt="onClick" delay="0">
                  <p:tgtEl>
                    <p:spTgt spid="35"/>
                  </p:tgtEl>
                </p:cond>
              </p:nextCondLst>
            </p:seq>
          </p:childTnLst>
        </p:cTn>
      </p:par>
    </p:tnLst>
    <p:bldLst>
      <p:bldP spid="14" grpId="0" animBg="1"/>
      <p:bldP spid="29" grpId="0" animBg="1"/>
      <p:bldP spid="30" grpId="0" animBg="1"/>
      <p:bldP spid="31" grpId="0" animBg="1"/>
      <p:bldP spid="32" grpId="0" animBg="1"/>
      <p:bldP spid="33" grpId="0" animBg="1"/>
      <p:bldP spid="34" grpId="0" animBg="1"/>
      <p:bldP spid="35"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vert="horz" wrap="square" lIns="324000" tIns="45720" rIns="91440" bIns="45720" rtlCol="0" anchor="ctr">
              <a:spAutoFit/>
            </a:bodyPr>
            <a:lstStyle>
              <a:defPPr>
                <a:defRPr lang="en-US"/>
              </a:defPPr>
              <a:lvl1pPr>
                <a:spcBef>
                  <a:spcPct val="0"/>
                </a:spcBef>
                <a:buNone/>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err="1"/>
                <a:t>Quartics</a:t>
              </a:r>
              <a:endParaRPr lang="en-GB"/>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mc:Choice xmlns:a14="http://schemas.microsoft.com/office/drawing/2010/main" Requires="a14">
          <p:sp>
            <p:nvSpPr>
              <p:cNvPr id="5" name="TextBox 4"/>
              <p:cNvSpPr txBox="1"/>
              <p:nvPr/>
            </p:nvSpPr>
            <p:spPr>
              <a:xfrm>
                <a:off x="395536" y="911091"/>
                <a:ext cx="3274764" cy="646331"/>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a:t>Sketch the curve with equation</a:t>
                </a:r>
              </a:p>
              <a:p>
                <a:pPr/>
                <a14:m>
                  <m:oMathPara xmlns:m="http://schemas.openxmlformats.org/officeDocument/2006/math">
                    <m:oMath>
                      <m:r>
                        <a:rPr lang="en-GB" b="0" i="1" smtClean="0">
                          <a:latin typeface="Cambria Math" panose="02040503050406030204" pitchFamily="18" charset="0"/>
                        </a:rPr>
                        <m:t>𝑦</m:t>
                      </m:r>
                      <m:r>
                        <a:rPr lang="en-GB" b="0" i="1" smtClean="0">
                          <a:latin typeface="Cambria Math" panose="02040503050406030204" pitchFamily="18" charset="0"/>
                        </a:rPr>
                        <m:t>=</m:t>
                      </m:r>
                      <m:d>
                        <m:dPr>
                          <m:ctrlPr>
                            <a:rPr lang="en-GB" b="0" i="1" smtClean="0">
                              <a:latin typeface="Cambria Math" panose="02040503050406030204" pitchFamily="18" charset="0"/>
                            </a:rPr>
                          </m:ctrlPr>
                        </m:dPr>
                        <m:e>
                          <m:r>
                            <a:rPr lang="en-GB" b="0" i="1" smtClean="0">
                              <a:latin typeface="Cambria Math" panose="02040503050406030204" pitchFamily="18" charset="0"/>
                            </a:rPr>
                            <m:t>𝑥</m:t>
                          </m:r>
                          <m:r>
                            <a:rPr lang="en-GB" b="0" i="1" smtClean="0">
                              <a:latin typeface="Cambria Math" panose="02040503050406030204" pitchFamily="18" charset="0"/>
                            </a:rPr>
                            <m:t>+1</m:t>
                          </m:r>
                        </m:e>
                      </m:d>
                      <m:sSup>
                        <m:sSupPr>
                          <m:ctrlPr>
                            <a:rPr lang="en-GB" b="0" i="1" smtClean="0">
                              <a:latin typeface="Cambria Math" panose="02040503050406030204" pitchFamily="18" charset="0"/>
                            </a:rPr>
                          </m:ctrlPr>
                        </m:sSupPr>
                        <m:e>
                          <m:d>
                            <m:dPr>
                              <m:ctrlPr>
                                <a:rPr lang="en-GB" b="0" i="1" smtClean="0">
                                  <a:latin typeface="Cambria Math" panose="02040503050406030204" pitchFamily="18" charset="0"/>
                                </a:rPr>
                              </m:ctrlPr>
                            </m:dPr>
                            <m:e>
                              <m:r>
                                <a:rPr lang="en-GB" b="0" i="1" smtClean="0">
                                  <a:latin typeface="Cambria Math" panose="02040503050406030204" pitchFamily="18" charset="0"/>
                                </a:rPr>
                                <m:t>𝑥</m:t>
                              </m:r>
                              <m:r>
                                <a:rPr lang="en-GB" b="0" i="1" smtClean="0">
                                  <a:latin typeface="Cambria Math" panose="02040503050406030204" pitchFamily="18" charset="0"/>
                                </a:rPr>
                                <m:t>−1</m:t>
                              </m:r>
                            </m:e>
                          </m:d>
                        </m:e>
                        <m:sup>
                          <m:r>
                            <a:rPr lang="en-GB" b="0" i="1" smtClean="0">
                              <a:latin typeface="Cambria Math" panose="02040503050406030204" pitchFamily="18" charset="0"/>
                            </a:rPr>
                            <m:t>3</m:t>
                          </m:r>
                        </m:sup>
                      </m:sSup>
                    </m:oMath>
                  </m:oMathPara>
                </a14:m>
                <a:endParaRPr lang="en-GB"/>
              </a:p>
            </p:txBody>
          </p:sp>
        </mc:Choice>
        <mc:Fallback>
          <p:sp>
            <p:nvSpPr>
              <p:cNvPr id="5" name="TextBox 4"/>
              <p:cNvSpPr txBox="1">
                <a:spLocks noRot="1" noChangeAspect="1" noMove="1" noResize="1" noEditPoints="1" noAdjustHandles="1" noChangeArrowheads="1" noChangeShapeType="1" noTextEdit="1"/>
              </p:cNvSpPr>
              <p:nvPr/>
            </p:nvSpPr>
            <p:spPr>
              <a:xfrm>
                <a:off x="395536" y="911091"/>
                <a:ext cx="3274764" cy="646331"/>
              </a:xfrm>
              <a:prstGeom prst="rect">
                <a:avLst/>
              </a:prstGeom>
              <a:blipFill>
                <a:blip r:embed="rId2"/>
                <a:stretch>
                  <a:fillRect/>
                </a:stretch>
              </a:blipFill>
              <a:effectLst>
                <a:outerShdw blurRad="63500" sx="102000" sy="102000" algn="ctr" rotWithShape="0">
                  <a:prstClr val="black">
                    <a:alpha val="40000"/>
                  </a:prstClr>
                </a:outerShdw>
              </a:effectLst>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 name="TextBox 5"/>
              <p:cNvSpPr txBox="1"/>
              <p:nvPr/>
            </p:nvSpPr>
            <p:spPr>
              <a:xfrm>
                <a:off x="4499992" y="911090"/>
                <a:ext cx="3274764" cy="646331"/>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a:t>Sketch the curve with equation</a:t>
                </a:r>
              </a:p>
              <a:p>
                <a:pPr/>
                <a14:m>
                  <m:oMathPara xmlns:m="http://schemas.openxmlformats.org/officeDocument/2006/math">
                    <m:oMath>
                      <m:r>
                        <a:rPr lang="en-GB" b="0" i="1" smtClean="0">
                          <a:latin typeface="Cambria Math" panose="02040503050406030204" pitchFamily="18" charset="0"/>
                        </a:rPr>
                        <m:t>𝑦</m:t>
                      </m:r>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d>
                            <m:dPr>
                              <m:ctrlPr>
                                <a:rPr lang="en-GB" b="0" i="1" smtClean="0">
                                  <a:latin typeface="Cambria Math" panose="02040503050406030204" pitchFamily="18" charset="0"/>
                                </a:rPr>
                              </m:ctrlPr>
                            </m:dPr>
                            <m:e>
                              <m:r>
                                <a:rPr lang="en-GB" b="0" i="1" smtClean="0">
                                  <a:latin typeface="Cambria Math" panose="02040503050406030204" pitchFamily="18" charset="0"/>
                                </a:rPr>
                                <m:t>𝑥</m:t>
                              </m:r>
                              <m:r>
                                <a:rPr lang="en-GB" b="0" i="1" smtClean="0">
                                  <a:latin typeface="Cambria Math" panose="02040503050406030204" pitchFamily="18" charset="0"/>
                                </a:rPr>
                                <m:t>−2</m:t>
                              </m:r>
                            </m:e>
                          </m:d>
                        </m:e>
                        <m:sup>
                          <m:r>
                            <a:rPr lang="en-GB" b="0" i="1" smtClean="0">
                              <a:latin typeface="Cambria Math" panose="02040503050406030204" pitchFamily="18" charset="0"/>
                            </a:rPr>
                            <m:t>4</m:t>
                          </m:r>
                        </m:sup>
                      </m:sSup>
                    </m:oMath>
                  </m:oMathPara>
                </a14:m>
                <a:endParaRPr lang="en-GB"/>
              </a:p>
            </p:txBody>
          </p:sp>
        </mc:Choice>
        <mc:Fallback>
          <p:sp>
            <p:nvSpPr>
              <p:cNvPr id="6" name="TextBox 5"/>
              <p:cNvSpPr txBox="1">
                <a:spLocks noRot="1" noChangeAspect="1" noMove="1" noResize="1" noEditPoints="1" noAdjustHandles="1" noChangeArrowheads="1" noChangeShapeType="1" noTextEdit="1"/>
              </p:cNvSpPr>
              <p:nvPr/>
            </p:nvSpPr>
            <p:spPr>
              <a:xfrm>
                <a:off x="4499992" y="911090"/>
                <a:ext cx="3274764" cy="646331"/>
              </a:xfrm>
              <a:prstGeom prst="rect">
                <a:avLst/>
              </a:prstGeom>
              <a:blipFill>
                <a:blip r:embed="rId3"/>
                <a:stretch>
                  <a:fillRect/>
                </a:stretch>
              </a:blipFill>
              <a:effectLst>
                <a:outerShdw blurRad="63500" sx="102000" sy="102000" algn="ctr" rotWithShape="0">
                  <a:prstClr val="black">
                    <a:alpha val="40000"/>
                  </a:prstClr>
                </a:outerShdw>
              </a:effectLst>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 name="TextBox 6"/>
              <p:cNvSpPr txBox="1"/>
              <p:nvPr/>
            </p:nvSpPr>
            <p:spPr>
              <a:xfrm>
                <a:off x="395536" y="1916832"/>
                <a:ext cx="3516064" cy="1200329"/>
              </a:xfrm>
              <a:prstGeom prst="rect">
                <a:avLst/>
              </a:prstGeom>
              <a:noFill/>
            </p:spPr>
            <p:txBody>
              <a:bodyPr wrap="square" rtlCol="0">
                <a:spAutoFit/>
              </a:bodyPr>
              <a:lstStyle/>
              <a:p>
                <a:r>
                  <a:rPr lang="en-GB" b="0" i="0">
                    <a:latin typeface="+mj-lt"/>
                  </a:rPr>
                  <a:t>-1 root </a:t>
                </a:r>
                <a:r>
                  <a:rPr lang="en-GB"/>
                  <a:t>only appears once so line crosses at </a:t>
                </a:r>
                <a14:m>
                  <m:oMath xmlns:m="http://schemas.openxmlformats.org/officeDocument/2006/math">
                    <m:r>
                      <a:rPr lang="en-GB" b="0" i="1" smtClean="0">
                        <a:latin typeface="Cambria Math" panose="02040503050406030204" pitchFamily="18" charset="0"/>
                      </a:rPr>
                      <m:t>𝑥</m:t>
                    </m:r>
                    <m:r>
                      <a:rPr lang="en-GB" b="0" i="1" smtClean="0">
                        <a:latin typeface="Cambria Math" panose="02040503050406030204" pitchFamily="18" charset="0"/>
                      </a:rPr>
                      <m:t>=−1</m:t>
                    </m:r>
                  </m:oMath>
                </a14:m>
                <a:endParaRPr lang="en-GB"/>
              </a:p>
              <a:p>
                <a:r>
                  <a:rPr lang="en-GB">
                    <a:latin typeface="+mj-lt"/>
                  </a:rPr>
                  <a:t>+</a:t>
                </a:r>
                <a:r>
                  <a:rPr lang="en-GB" b="0" i="0">
                    <a:latin typeface="+mj-lt"/>
                  </a:rPr>
                  <a:t>1 root triple repeated </a:t>
                </a:r>
                <a:r>
                  <a:rPr lang="en-GB"/>
                  <a:t>so point of inflection at </a:t>
                </a:r>
                <a14:m>
                  <m:oMath xmlns:m="http://schemas.openxmlformats.org/officeDocument/2006/math">
                    <m:r>
                      <a:rPr lang="en-GB" b="0" i="1" smtClean="0">
                        <a:latin typeface="Cambria Math" panose="02040503050406030204" pitchFamily="18" charset="0"/>
                      </a:rPr>
                      <m:t>𝑥</m:t>
                    </m:r>
                    <m:r>
                      <a:rPr lang="en-GB" b="0" i="1" smtClean="0">
                        <a:latin typeface="Cambria Math" panose="02040503050406030204" pitchFamily="18" charset="0"/>
                      </a:rPr>
                      <m:t>=1</m:t>
                    </m:r>
                  </m:oMath>
                </a14:m>
                <a:endParaRPr lang="en-GB"/>
              </a:p>
            </p:txBody>
          </p:sp>
        </mc:Choice>
        <mc:Fallback>
          <p:sp>
            <p:nvSpPr>
              <p:cNvPr id="7" name="TextBox 6"/>
              <p:cNvSpPr txBox="1">
                <a:spLocks noRot="1" noChangeAspect="1" noMove="1" noResize="1" noEditPoints="1" noAdjustHandles="1" noChangeArrowheads="1" noChangeShapeType="1" noTextEdit="1"/>
              </p:cNvSpPr>
              <p:nvPr/>
            </p:nvSpPr>
            <p:spPr>
              <a:xfrm>
                <a:off x="395536" y="1916832"/>
                <a:ext cx="3516064" cy="1200329"/>
              </a:xfrm>
              <a:prstGeom prst="rect">
                <a:avLst/>
              </a:prstGeom>
              <a:blipFill>
                <a:blip r:embed="rId4"/>
                <a:stretch>
                  <a:fillRect l="-1799" t="-2083" b="-7292"/>
                </a:stretch>
              </a:blipFill>
            </p:spPr>
            <p:txBody>
              <a:bodyPr/>
              <a:lstStyle/>
              <a:p>
                <a:r>
                  <a:rPr lang="en-US">
                    <a:noFill/>
                  </a:rPr>
                  <a:t> </a:t>
                </a:r>
              </a:p>
            </p:txBody>
          </p:sp>
        </mc:Fallback>
      </mc:AlternateContent>
      <p:cxnSp>
        <p:nvCxnSpPr>
          <p:cNvPr id="8" name="Straight Arrow Connector 7"/>
          <p:cNvCxnSpPr/>
          <p:nvPr/>
        </p:nvCxnSpPr>
        <p:spPr>
          <a:xfrm>
            <a:off x="585013" y="5181453"/>
            <a:ext cx="240944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 name="Straight Arrow Connector 8"/>
          <p:cNvCxnSpPr/>
          <p:nvPr/>
        </p:nvCxnSpPr>
        <p:spPr>
          <a:xfrm flipV="1">
            <a:off x="1436999" y="4154848"/>
            <a:ext cx="0" cy="187220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0" name="TextBox 9"/>
          <p:cNvSpPr txBox="1"/>
          <p:nvPr/>
        </p:nvSpPr>
        <p:spPr>
          <a:xfrm>
            <a:off x="680068" y="5144291"/>
            <a:ext cx="415472" cy="369332"/>
          </a:xfrm>
          <a:prstGeom prst="rect">
            <a:avLst/>
          </a:prstGeom>
          <a:noFill/>
        </p:spPr>
        <p:txBody>
          <a:bodyPr wrap="square" rtlCol="0">
            <a:spAutoFit/>
          </a:bodyPr>
          <a:lstStyle/>
          <a:p>
            <a:r>
              <a:rPr lang="en-GB"/>
              <a:t>-1</a:t>
            </a:r>
          </a:p>
        </p:txBody>
      </p:sp>
      <mc:AlternateContent xmlns:mc="http://schemas.openxmlformats.org/markup-compatibility/2006">
        <mc:Choice xmlns:a14="http://schemas.microsoft.com/office/drawing/2010/main" Requires="a14">
          <p:sp>
            <p:nvSpPr>
              <p:cNvPr id="11" name="TextBox 10"/>
              <p:cNvSpPr txBox="1"/>
              <p:nvPr/>
            </p:nvSpPr>
            <p:spPr>
              <a:xfrm>
                <a:off x="1210360" y="3838654"/>
                <a:ext cx="415472" cy="276999"/>
              </a:xfrm>
              <a:prstGeom prst="rect">
                <a:avLst/>
              </a:prstGeom>
              <a:noFill/>
            </p:spPr>
            <p:txBody>
              <a:bodyPr wrap="square" rtlCol="0">
                <a:spAutoFit/>
              </a:bodyPr>
              <a:lstStyle/>
              <a:p>
                <a:pPr/>
                <a14:m>
                  <m:oMathPara xmlns:m="http://schemas.openxmlformats.org/officeDocument/2006/math">
                    <m:oMath>
                      <m:r>
                        <a:rPr lang="en-GB" sz="1200" b="0" i="1" smtClean="0">
                          <a:latin typeface="Cambria Math" panose="02040503050406030204" pitchFamily="18" charset="0"/>
                        </a:rPr>
                        <m:t>𝑦</m:t>
                      </m:r>
                    </m:oMath>
                  </m:oMathPara>
                </a14:m>
                <a:endParaRPr lang="en-GB"/>
              </a:p>
            </p:txBody>
          </p:sp>
        </mc:Choice>
        <mc:Fallback>
          <p:sp>
            <p:nvSpPr>
              <p:cNvPr id="11" name="TextBox 10"/>
              <p:cNvSpPr txBox="1">
                <a:spLocks noRot="1" noChangeAspect="1" noMove="1" noResize="1" noEditPoints="1" noAdjustHandles="1" noChangeArrowheads="1" noChangeShapeType="1" noTextEdit="1"/>
              </p:cNvSpPr>
              <p:nvPr/>
            </p:nvSpPr>
            <p:spPr>
              <a:xfrm>
                <a:off x="1210360" y="3838654"/>
                <a:ext cx="415472" cy="276999"/>
              </a:xfrm>
              <a:prstGeom prst="rect">
                <a:avLst/>
              </a:prstGeom>
              <a:blipFill>
                <a:blip r:embed="rId5"/>
                <a:stretch>
                  <a:fillRect b="-454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 name="TextBox 11"/>
              <p:cNvSpPr txBox="1"/>
              <p:nvPr/>
            </p:nvSpPr>
            <p:spPr>
              <a:xfrm>
                <a:off x="2884229" y="5051958"/>
                <a:ext cx="415472" cy="276999"/>
              </a:xfrm>
              <a:prstGeom prst="rect">
                <a:avLst/>
              </a:prstGeom>
              <a:noFill/>
            </p:spPr>
            <p:txBody>
              <a:bodyPr wrap="square" rtlCol="0">
                <a:spAutoFit/>
              </a:bodyPr>
              <a:lstStyle/>
              <a:p>
                <a:pPr/>
                <a14:m>
                  <m:oMathPara xmlns:m="http://schemas.openxmlformats.org/officeDocument/2006/math">
                    <m:oMath>
                      <m:r>
                        <a:rPr lang="en-GB" sz="1200" b="0" i="1" smtClean="0">
                          <a:latin typeface="Cambria Math" panose="02040503050406030204" pitchFamily="18" charset="0"/>
                        </a:rPr>
                        <m:t>𝑥</m:t>
                      </m:r>
                    </m:oMath>
                  </m:oMathPara>
                </a14:m>
                <a:endParaRPr lang="en-GB"/>
              </a:p>
            </p:txBody>
          </p:sp>
        </mc:Choice>
        <mc:Fallback>
          <p:sp>
            <p:nvSpPr>
              <p:cNvPr id="12" name="TextBox 11"/>
              <p:cNvSpPr txBox="1">
                <a:spLocks noRot="1" noChangeAspect="1" noMove="1" noResize="1" noEditPoints="1" noAdjustHandles="1" noChangeArrowheads="1" noChangeShapeType="1" noTextEdit="1"/>
              </p:cNvSpPr>
              <p:nvPr/>
            </p:nvSpPr>
            <p:spPr>
              <a:xfrm>
                <a:off x="2884229" y="5051958"/>
                <a:ext cx="415472" cy="276999"/>
              </a:xfrm>
              <a:prstGeom prst="rect">
                <a:avLst/>
              </a:prstGeom>
              <a:blipFill>
                <a:blip r:embed="rId6"/>
                <a:stretch>
                  <a:fillRect/>
                </a:stretch>
              </a:blipFill>
            </p:spPr>
            <p:txBody>
              <a:bodyPr/>
              <a:lstStyle/>
              <a:p>
                <a:r>
                  <a:rPr lang="en-US">
                    <a:noFill/>
                  </a:rPr>
                  <a:t> </a:t>
                </a:r>
              </a:p>
            </p:txBody>
          </p:sp>
        </mc:Fallback>
      </mc:AlternateContent>
      <p:sp>
        <p:nvSpPr>
          <p:cNvPr id="13" name="TextBox 12"/>
          <p:cNvSpPr txBox="1"/>
          <p:nvPr/>
        </p:nvSpPr>
        <p:spPr>
          <a:xfrm>
            <a:off x="1906286" y="5130205"/>
            <a:ext cx="415472" cy="369332"/>
          </a:xfrm>
          <a:prstGeom prst="rect">
            <a:avLst/>
          </a:prstGeom>
          <a:noFill/>
        </p:spPr>
        <p:txBody>
          <a:bodyPr wrap="square" rtlCol="0">
            <a:spAutoFit/>
          </a:bodyPr>
          <a:lstStyle/>
          <a:p>
            <a:r>
              <a:rPr lang="en-GB"/>
              <a:t>1</a:t>
            </a:r>
          </a:p>
        </p:txBody>
      </p:sp>
      <p:sp>
        <p:nvSpPr>
          <p:cNvPr id="14" name="TextBox 13"/>
          <p:cNvSpPr txBox="1"/>
          <p:nvPr/>
        </p:nvSpPr>
        <p:spPr>
          <a:xfrm>
            <a:off x="1114667" y="5526761"/>
            <a:ext cx="415472" cy="369332"/>
          </a:xfrm>
          <a:prstGeom prst="rect">
            <a:avLst/>
          </a:prstGeom>
          <a:noFill/>
        </p:spPr>
        <p:txBody>
          <a:bodyPr wrap="square" rtlCol="0">
            <a:spAutoFit/>
          </a:bodyPr>
          <a:lstStyle/>
          <a:p>
            <a:r>
              <a:rPr lang="en-GB"/>
              <a:t>-1</a:t>
            </a:r>
          </a:p>
        </p:txBody>
      </p:sp>
      <p:sp>
        <p:nvSpPr>
          <p:cNvPr id="18" name="Freeform: Shape 17"/>
          <p:cNvSpPr/>
          <p:nvPr/>
        </p:nvSpPr>
        <p:spPr>
          <a:xfrm>
            <a:off x="467833" y="4518837"/>
            <a:ext cx="2009553" cy="1222750"/>
          </a:xfrm>
          <a:custGeom>
            <a:avLst/>
            <a:gdLst>
              <a:gd name="connsiteX0" fmla="*/ 0 w 2009553"/>
              <a:gd name="connsiteY0" fmla="*/ 74428 h 1222750"/>
              <a:gd name="connsiteX1" fmla="*/ 393404 w 2009553"/>
              <a:gd name="connsiteY1" fmla="*/ 680484 h 1222750"/>
              <a:gd name="connsiteX2" fmla="*/ 967562 w 2009553"/>
              <a:gd name="connsiteY2" fmla="*/ 1222744 h 1222750"/>
              <a:gd name="connsiteX3" fmla="*/ 1584251 w 2009553"/>
              <a:gd name="connsiteY3" fmla="*/ 669851 h 1222750"/>
              <a:gd name="connsiteX4" fmla="*/ 2009553 w 2009553"/>
              <a:gd name="connsiteY4" fmla="*/ 0 h 1222750"/>
              <a:gd name="connsiteX0" fmla="*/ 0 w 2009553"/>
              <a:gd name="connsiteY0" fmla="*/ 74428 h 1222750"/>
              <a:gd name="connsiteX1" fmla="*/ 393404 w 2009553"/>
              <a:gd name="connsiteY1" fmla="*/ 680484 h 1222750"/>
              <a:gd name="connsiteX2" fmla="*/ 967562 w 2009553"/>
              <a:gd name="connsiteY2" fmla="*/ 1222744 h 1222750"/>
              <a:gd name="connsiteX3" fmla="*/ 1584251 w 2009553"/>
              <a:gd name="connsiteY3" fmla="*/ 669851 h 1222750"/>
              <a:gd name="connsiteX4" fmla="*/ 2009553 w 2009553"/>
              <a:gd name="connsiteY4" fmla="*/ 0 h 1222750"/>
              <a:gd name="connsiteX0" fmla="*/ 0 w 2009553"/>
              <a:gd name="connsiteY0" fmla="*/ 74428 h 1222750"/>
              <a:gd name="connsiteX1" fmla="*/ 393404 w 2009553"/>
              <a:gd name="connsiteY1" fmla="*/ 680484 h 1222750"/>
              <a:gd name="connsiteX2" fmla="*/ 967562 w 2009553"/>
              <a:gd name="connsiteY2" fmla="*/ 1222744 h 1222750"/>
              <a:gd name="connsiteX3" fmla="*/ 1584251 w 2009553"/>
              <a:gd name="connsiteY3" fmla="*/ 669851 h 1222750"/>
              <a:gd name="connsiteX4" fmla="*/ 2009553 w 2009553"/>
              <a:gd name="connsiteY4" fmla="*/ 0 h 1222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09553" h="1222750">
                <a:moveTo>
                  <a:pt x="0" y="74428"/>
                </a:moveTo>
                <a:cubicBezTo>
                  <a:pt x="116072" y="281763"/>
                  <a:pt x="232144" y="489098"/>
                  <a:pt x="393404" y="680484"/>
                </a:cubicBezTo>
                <a:cubicBezTo>
                  <a:pt x="554664" y="871870"/>
                  <a:pt x="769088" y="1224516"/>
                  <a:pt x="967562" y="1222744"/>
                </a:cubicBezTo>
                <a:cubicBezTo>
                  <a:pt x="1166036" y="1220972"/>
                  <a:pt x="1219200" y="682255"/>
                  <a:pt x="1584251" y="669851"/>
                </a:cubicBezTo>
                <a:cubicBezTo>
                  <a:pt x="1949302" y="657447"/>
                  <a:pt x="1947529" y="233030"/>
                  <a:pt x="2009553"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9" name="Straight Arrow Connector 18"/>
          <p:cNvCxnSpPr/>
          <p:nvPr/>
        </p:nvCxnSpPr>
        <p:spPr>
          <a:xfrm>
            <a:off x="5061610" y="4810017"/>
            <a:ext cx="240944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 name="Straight Arrow Connector 19"/>
          <p:cNvCxnSpPr/>
          <p:nvPr/>
        </p:nvCxnSpPr>
        <p:spPr>
          <a:xfrm flipV="1">
            <a:off x="5913596" y="3783412"/>
            <a:ext cx="0" cy="187220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22" name="TextBox 21"/>
              <p:cNvSpPr txBox="1"/>
              <p:nvPr/>
            </p:nvSpPr>
            <p:spPr>
              <a:xfrm>
                <a:off x="5686957" y="3467218"/>
                <a:ext cx="415472" cy="276999"/>
              </a:xfrm>
              <a:prstGeom prst="rect">
                <a:avLst/>
              </a:prstGeom>
              <a:noFill/>
            </p:spPr>
            <p:txBody>
              <a:bodyPr wrap="square" rtlCol="0">
                <a:spAutoFit/>
              </a:bodyPr>
              <a:lstStyle/>
              <a:p>
                <a:pPr/>
                <a14:m>
                  <m:oMathPara xmlns:m="http://schemas.openxmlformats.org/officeDocument/2006/math">
                    <m:oMath>
                      <m:r>
                        <a:rPr lang="en-GB" sz="1200" b="0" i="1" smtClean="0">
                          <a:latin typeface="Cambria Math" panose="02040503050406030204" pitchFamily="18" charset="0"/>
                        </a:rPr>
                        <m:t>𝑦</m:t>
                      </m:r>
                    </m:oMath>
                  </m:oMathPara>
                </a14:m>
                <a:endParaRPr lang="en-GB"/>
              </a:p>
            </p:txBody>
          </p:sp>
        </mc:Choice>
        <mc:Fallback>
          <p:sp>
            <p:nvSpPr>
              <p:cNvPr id="22" name="TextBox 21"/>
              <p:cNvSpPr txBox="1">
                <a:spLocks noRot="1" noChangeAspect="1" noMove="1" noResize="1" noEditPoints="1" noAdjustHandles="1" noChangeArrowheads="1" noChangeShapeType="1" noTextEdit="1"/>
              </p:cNvSpPr>
              <p:nvPr/>
            </p:nvSpPr>
            <p:spPr>
              <a:xfrm>
                <a:off x="5686957" y="3467218"/>
                <a:ext cx="415472" cy="276999"/>
              </a:xfrm>
              <a:prstGeom prst="rect">
                <a:avLst/>
              </a:prstGeom>
              <a:blipFill>
                <a:blip r:embed="rId7"/>
                <a:stretch>
                  <a:fillRect b="-454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3" name="TextBox 22"/>
              <p:cNvSpPr txBox="1"/>
              <p:nvPr/>
            </p:nvSpPr>
            <p:spPr>
              <a:xfrm>
                <a:off x="7360826" y="4680522"/>
                <a:ext cx="415472" cy="276999"/>
              </a:xfrm>
              <a:prstGeom prst="rect">
                <a:avLst/>
              </a:prstGeom>
              <a:noFill/>
            </p:spPr>
            <p:txBody>
              <a:bodyPr wrap="square" rtlCol="0">
                <a:spAutoFit/>
              </a:bodyPr>
              <a:lstStyle/>
              <a:p>
                <a:pPr/>
                <a14:m>
                  <m:oMathPara xmlns:m="http://schemas.openxmlformats.org/officeDocument/2006/math">
                    <m:oMath>
                      <m:r>
                        <a:rPr lang="en-GB" sz="1200" b="0" i="1" smtClean="0">
                          <a:latin typeface="Cambria Math" panose="02040503050406030204" pitchFamily="18" charset="0"/>
                        </a:rPr>
                        <m:t>𝑥</m:t>
                      </m:r>
                    </m:oMath>
                  </m:oMathPara>
                </a14:m>
                <a:endParaRPr lang="en-GB"/>
              </a:p>
            </p:txBody>
          </p:sp>
        </mc:Choice>
        <mc:Fallback>
          <p:sp>
            <p:nvSpPr>
              <p:cNvPr id="23" name="TextBox 22"/>
              <p:cNvSpPr txBox="1">
                <a:spLocks noRot="1" noChangeAspect="1" noMove="1" noResize="1" noEditPoints="1" noAdjustHandles="1" noChangeArrowheads="1" noChangeShapeType="1" noTextEdit="1"/>
              </p:cNvSpPr>
              <p:nvPr/>
            </p:nvSpPr>
            <p:spPr>
              <a:xfrm>
                <a:off x="7360826" y="4680522"/>
                <a:ext cx="415472" cy="276999"/>
              </a:xfrm>
              <a:prstGeom prst="rect">
                <a:avLst/>
              </a:prstGeom>
              <a:blipFill>
                <a:blip r:embed="rId8"/>
                <a:stretch>
                  <a:fillRect/>
                </a:stretch>
              </a:blipFill>
            </p:spPr>
            <p:txBody>
              <a:bodyPr/>
              <a:lstStyle/>
              <a:p>
                <a:r>
                  <a:rPr lang="en-US">
                    <a:noFill/>
                  </a:rPr>
                  <a:t> </a:t>
                </a:r>
              </a:p>
            </p:txBody>
          </p:sp>
        </mc:Fallback>
      </mc:AlternateContent>
      <p:sp>
        <p:nvSpPr>
          <p:cNvPr id="24" name="TextBox 23"/>
          <p:cNvSpPr txBox="1"/>
          <p:nvPr/>
        </p:nvSpPr>
        <p:spPr>
          <a:xfrm>
            <a:off x="6382883" y="4758769"/>
            <a:ext cx="415472" cy="369332"/>
          </a:xfrm>
          <a:prstGeom prst="rect">
            <a:avLst/>
          </a:prstGeom>
          <a:noFill/>
        </p:spPr>
        <p:txBody>
          <a:bodyPr wrap="square" rtlCol="0">
            <a:spAutoFit/>
          </a:bodyPr>
          <a:lstStyle/>
          <a:p>
            <a:r>
              <a:rPr lang="en-GB"/>
              <a:t>2</a:t>
            </a:r>
          </a:p>
        </p:txBody>
      </p:sp>
      <p:sp>
        <p:nvSpPr>
          <p:cNvPr id="27" name="TextBox 26"/>
          <p:cNvSpPr txBox="1"/>
          <p:nvPr/>
        </p:nvSpPr>
        <p:spPr>
          <a:xfrm>
            <a:off x="4422203" y="1799874"/>
            <a:ext cx="3881825" cy="1477328"/>
          </a:xfrm>
          <a:prstGeom prst="rect">
            <a:avLst/>
          </a:prstGeom>
          <a:noFill/>
        </p:spPr>
        <p:txBody>
          <a:bodyPr wrap="square" rtlCol="0">
            <a:spAutoFit/>
          </a:bodyPr>
          <a:lstStyle/>
          <a:p>
            <a:r>
              <a:rPr lang="en-GB"/>
              <a:t>2 is a quadruple repeated root! Because the line effectively crosses the axis 4 times all at -2, it ends up in the opposite direction, and hence looks like a ‘touch’ point.</a:t>
            </a:r>
          </a:p>
        </p:txBody>
      </p:sp>
      <p:sp>
        <p:nvSpPr>
          <p:cNvPr id="28" name="Freeform: Shape 27"/>
          <p:cNvSpPr/>
          <p:nvPr/>
        </p:nvSpPr>
        <p:spPr>
          <a:xfrm>
            <a:off x="5688419" y="3742660"/>
            <a:ext cx="1531088" cy="1084592"/>
          </a:xfrm>
          <a:custGeom>
            <a:avLst/>
            <a:gdLst>
              <a:gd name="connsiteX0" fmla="*/ 0 w 1531088"/>
              <a:gd name="connsiteY0" fmla="*/ 0 h 1084592"/>
              <a:gd name="connsiteX1" fmla="*/ 829339 w 1531088"/>
              <a:gd name="connsiteY1" fmla="*/ 1084521 h 1084592"/>
              <a:gd name="connsiteX2" fmla="*/ 1531088 w 1531088"/>
              <a:gd name="connsiteY2" fmla="*/ 42531 h 1084592"/>
            </a:gdLst>
            <a:ahLst/>
            <a:cxnLst>
              <a:cxn ang="0">
                <a:pos x="connsiteX0" y="connsiteY0"/>
              </a:cxn>
              <a:cxn ang="0">
                <a:pos x="connsiteX1" y="connsiteY1"/>
              </a:cxn>
              <a:cxn ang="0">
                <a:pos x="connsiteX2" y="connsiteY2"/>
              </a:cxn>
            </a:cxnLst>
            <a:rect l="l" t="t" r="r" b="b"/>
            <a:pathLst>
              <a:path w="1531088" h="1084592">
                <a:moveTo>
                  <a:pt x="0" y="0"/>
                </a:moveTo>
                <a:cubicBezTo>
                  <a:pt x="287079" y="538716"/>
                  <a:pt x="574158" y="1077433"/>
                  <a:pt x="829339" y="1084521"/>
                </a:cubicBezTo>
                <a:cubicBezTo>
                  <a:pt x="1084520" y="1091610"/>
                  <a:pt x="1307804" y="567070"/>
                  <a:pt x="1531088" y="42531"/>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TextBox 28"/>
          <p:cNvSpPr txBox="1"/>
          <p:nvPr/>
        </p:nvSpPr>
        <p:spPr>
          <a:xfrm>
            <a:off x="5552557" y="4029357"/>
            <a:ext cx="415472" cy="369332"/>
          </a:xfrm>
          <a:prstGeom prst="rect">
            <a:avLst/>
          </a:prstGeom>
          <a:noFill/>
        </p:spPr>
        <p:txBody>
          <a:bodyPr wrap="square" rtlCol="0">
            <a:spAutoFit/>
          </a:bodyPr>
          <a:lstStyle/>
          <a:p>
            <a:r>
              <a:rPr lang="en-GB"/>
              <a:t>16</a:t>
            </a:r>
          </a:p>
        </p:txBody>
      </p:sp>
      <p:sp>
        <p:nvSpPr>
          <p:cNvPr id="16" name="Rectangle 15"/>
          <p:cNvSpPr/>
          <p:nvPr/>
        </p:nvSpPr>
        <p:spPr>
          <a:xfrm>
            <a:off x="4780975" y="3528683"/>
            <a:ext cx="3345976" cy="2498373"/>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30" name="Rectangle 29"/>
          <p:cNvSpPr/>
          <p:nvPr/>
        </p:nvSpPr>
        <p:spPr>
          <a:xfrm>
            <a:off x="307763" y="3528683"/>
            <a:ext cx="3345976" cy="2510610"/>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Tree>
    <p:extLst>
      <p:ext uri="{BB962C8B-B14F-4D97-AF65-F5344CB8AC3E}">
        <p14:creationId xmlns:p14="http://schemas.microsoft.com/office/powerpoint/2010/main" val="2901264347"/>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6"/>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6"/>
                                        </p:tgtEl>
                                      </p:cBhvr>
                                    </p:animEffect>
                                    <p:set>
                                      <p:cBhvr>
                                        <p:cTn id="7" dur="1" fill="hold">
                                          <p:stCondLst>
                                            <p:cond delay="499"/>
                                          </p:stCondLst>
                                        </p:cTn>
                                        <p:tgtEl>
                                          <p:spTgt spid="16"/>
                                        </p:tgtEl>
                                        <p:attrNameLst>
                                          <p:attrName>style.visibility</p:attrName>
                                        </p:attrNameLst>
                                      </p:cBhvr>
                                      <p:to>
                                        <p:strVal val="hidden"/>
                                      </p:to>
                                    </p:set>
                                  </p:childTnLst>
                                </p:cTn>
                              </p:par>
                            </p:childTnLst>
                          </p:cTn>
                        </p:par>
                      </p:childTnLst>
                    </p:cTn>
                  </p:par>
                </p:childTnLst>
              </p:cTn>
              <p:nextCondLst>
                <p:cond evt="onClick" delay="0">
                  <p:tgtEl>
                    <p:spTgt spid="16"/>
                  </p:tgtEl>
                </p:cond>
              </p:nextCondLst>
            </p:seq>
            <p:seq concurrent="1" nextAc="seek">
              <p:cTn id="8" restart="whenNotActive" fill="hold" evtFilter="cancelBubble" nodeType="interactiveSeq">
                <p:stCondLst>
                  <p:cond evt="onClick" delay="0">
                    <p:tgtEl>
                      <p:spTgt spid="30"/>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30"/>
                                        </p:tgtEl>
                                      </p:cBhvr>
                                    </p:animEffect>
                                    <p:set>
                                      <p:cBhvr>
                                        <p:cTn id="13" dur="1" fill="hold">
                                          <p:stCondLst>
                                            <p:cond delay="499"/>
                                          </p:stCondLst>
                                        </p:cTn>
                                        <p:tgtEl>
                                          <p:spTgt spid="30"/>
                                        </p:tgtEl>
                                        <p:attrNameLst>
                                          <p:attrName>style.visibility</p:attrName>
                                        </p:attrNameLst>
                                      </p:cBhvr>
                                      <p:to>
                                        <p:strVal val="hidden"/>
                                      </p:to>
                                    </p:set>
                                  </p:childTnLst>
                                </p:cTn>
                              </p:par>
                            </p:childTnLst>
                          </p:cTn>
                        </p:par>
                      </p:childTnLst>
                    </p:cTn>
                  </p:par>
                </p:childTnLst>
              </p:cTn>
              <p:nextCondLst>
                <p:cond evt="onClick" delay="0">
                  <p:tgtEl>
                    <p:spTgt spid="30"/>
                  </p:tgtEl>
                </p:cond>
              </p:nextCondLst>
            </p:seq>
          </p:childTnLst>
        </p:cTn>
      </p:par>
    </p:tnLst>
    <p:bldLst>
      <p:bldP spid="16" grpId="0" animBg="1"/>
      <p:bldP spid="30"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vert="horz" wrap="square" lIns="324000" tIns="45720" rIns="91440" bIns="45720" rtlCol="0" anchor="ctr">
              <a:spAutoFit/>
            </a:bodyPr>
            <a:lstStyle>
              <a:defPPr>
                <a:defRPr lang="en-US"/>
              </a:defPPr>
              <a:lvl1pPr>
                <a:spcBef>
                  <a:spcPct val="0"/>
                </a:spcBef>
                <a:buNone/>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a:t>Test Your Understanding</a:t>
              </a:r>
            </a:p>
          </p:txBody>
        </p:sp>
        <p:cxnSp>
          <p:nvCxnSpPr>
            <p:cNvPr id="4" name="Straight Connector 3"/>
            <p:cNvCxnSpPr/>
            <p:nvPr/>
          </p:nvCxnSpPr>
          <p:spPr>
            <a:xfrm>
              <a:off x="218" y="601079"/>
              <a:ext cx="9144000" cy="0"/>
            </a:xfrm>
            <a:prstGeom prst="line">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mc:Choice xmlns:a14="http://schemas.microsoft.com/office/drawing/2010/main" Requires="a14">
          <p:sp>
            <p:nvSpPr>
              <p:cNvPr id="5" name="TextBox 4"/>
              <p:cNvSpPr txBox="1"/>
              <p:nvPr/>
            </p:nvSpPr>
            <p:spPr>
              <a:xfrm>
                <a:off x="395536" y="911091"/>
                <a:ext cx="3274764" cy="646331"/>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a:t>Sketch the curve with equation</a:t>
                </a:r>
              </a:p>
              <a:p>
                <a:pPr/>
                <a14:m>
                  <m:oMathPara xmlns:m="http://schemas.openxmlformats.org/officeDocument/2006/math">
                    <m:oMath>
                      <m:r>
                        <a:rPr lang="en-GB" b="0" i="1" smtClean="0">
                          <a:latin typeface="Cambria Math" panose="02040503050406030204" pitchFamily="18" charset="0"/>
                        </a:rPr>
                        <m:t>𝑦</m:t>
                      </m:r>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2</m:t>
                          </m:r>
                        </m:sup>
                      </m:sSup>
                      <m:d>
                        <m:dPr>
                          <m:ctrlPr>
                            <a:rPr lang="en-GB" b="0" i="1" smtClean="0">
                              <a:latin typeface="Cambria Math" panose="02040503050406030204" pitchFamily="18" charset="0"/>
                            </a:rPr>
                          </m:ctrlPr>
                        </m:dPr>
                        <m:e>
                          <m:r>
                            <a:rPr lang="en-GB" b="0" i="1" smtClean="0">
                              <a:latin typeface="Cambria Math" panose="02040503050406030204" pitchFamily="18" charset="0"/>
                            </a:rPr>
                            <m:t>𝑥</m:t>
                          </m:r>
                          <m:r>
                            <a:rPr lang="en-GB" b="0" i="1" smtClean="0">
                              <a:latin typeface="Cambria Math" panose="02040503050406030204" pitchFamily="18" charset="0"/>
                            </a:rPr>
                            <m:t>+1</m:t>
                          </m:r>
                        </m:e>
                      </m:d>
                      <m:d>
                        <m:dPr>
                          <m:ctrlPr>
                            <a:rPr lang="en-GB" b="0" i="1" smtClean="0">
                              <a:latin typeface="Cambria Math" panose="02040503050406030204" pitchFamily="18" charset="0"/>
                            </a:rPr>
                          </m:ctrlPr>
                        </m:dPr>
                        <m:e>
                          <m:r>
                            <a:rPr lang="en-GB" b="0" i="1" smtClean="0">
                              <a:latin typeface="Cambria Math" panose="02040503050406030204" pitchFamily="18" charset="0"/>
                            </a:rPr>
                            <m:t>𝑥</m:t>
                          </m:r>
                          <m:r>
                            <a:rPr lang="en-GB" b="0" i="1" smtClean="0">
                              <a:latin typeface="Cambria Math" panose="02040503050406030204" pitchFamily="18" charset="0"/>
                            </a:rPr>
                            <m:t>−1</m:t>
                          </m:r>
                        </m:e>
                      </m:d>
                    </m:oMath>
                  </m:oMathPara>
                </a14:m>
                <a:endParaRPr lang="en-GB"/>
              </a:p>
            </p:txBody>
          </p:sp>
        </mc:Choice>
        <mc:Fallback>
          <p:sp>
            <p:nvSpPr>
              <p:cNvPr id="5" name="TextBox 4"/>
              <p:cNvSpPr txBox="1">
                <a:spLocks noRot="1" noChangeAspect="1" noMove="1" noResize="1" noEditPoints="1" noAdjustHandles="1" noChangeArrowheads="1" noChangeShapeType="1" noTextEdit="1"/>
              </p:cNvSpPr>
              <p:nvPr/>
            </p:nvSpPr>
            <p:spPr>
              <a:xfrm>
                <a:off x="395536" y="911091"/>
                <a:ext cx="3274764" cy="646331"/>
              </a:xfrm>
              <a:prstGeom prst="rect">
                <a:avLst/>
              </a:prstGeom>
              <a:blipFill>
                <a:blip r:embed="rId2"/>
                <a:stretch>
                  <a:fillRect/>
                </a:stretch>
              </a:blipFill>
              <a:effectLst>
                <a:outerShdw blurRad="63500" sx="102000" sy="102000" algn="ctr" rotWithShape="0">
                  <a:prstClr val="black">
                    <a:alpha val="40000"/>
                  </a:prstClr>
                </a:outerShdw>
              </a:effectLst>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 name="TextBox 5"/>
              <p:cNvSpPr txBox="1"/>
              <p:nvPr/>
            </p:nvSpPr>
            <p:spPr>
              <a:xfrm>
                <a:off x="4355976" y="893083"/>
                <a:ext cx="3274764" cy="646331"/>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a:t>Sketch the curve with equation</a:t>
                </a:r>
              </a:p>
              <a:p>
                <a:pPr/>
                <a14:m>
                  <m:oMathPara xmlns:m="http://schemas.openxmlformats.org/officeDocument/2006/math">
                    <m:oMath>
                      <m:r>
                        <a:rPr lang="en-GB" b="0" i="1" smtClean="0">
                          <a:latin typeface="Cambria Math" panose="02040503050406030204" pitchFamily="18" charset="0"/>
                        </a:rPr>
                        <m:t>𝑦</m:t>
                      </m:r>
                      <m:r>
                        <a:rPr lang="en-GB" b="0" i="1" smtClean="0">
                          <a:latin typeface="Cambria Math" panose="02040503050406030204" pitchFamily="18" charset="0"/>
                        </a:rPr>
                        <m:t>=−(</m:t>
                      </m:r>
                      <m:r>
                        <a:rPr lang="en-GB" b="0" i="1" smtClean="0">
                          <a:latin typeface="Cambria Math" panose="02040503050406030204" pitchFamily="18" charset="0"/>
                        </a:rPr>
                        <m:t>𝑥</m:t>
                      </m:r>
                      <m:r>
                        <a:rPr lang="en-GB" b="0" i="1" smtClean="0">
                          <a:latin typeface="Cambria Math" panose="02040503050406030204" pitchFamily="18" charset="0"/>
                        </a:rPr>
                        <m:t>+1)</m:t>
                      </m:r>
                      <m:sSup>
                        <m:sSupPr>
                          <m:ctrlPr>
                            <a:rPr lang="en-GB" b="0" i="1" smtClean="0">
                              <a:latin typeface="Cambria Math" panose="02040503050406030204" pitchFamily="18" charset="0"/>
                            </a:rPr>
                          </m:ctrlPr>
                        </m:sSupPr>
                        <m:e>
                          <m:d>
                            <m:dPr>
                              <m:ctrlPr>
                                <a:rPr lang="en-GB" b="0" i="1" smtClean="0">
                                  <a:latin typeface="Cambria Math" panose="02040503050406030204" pitchFamily="18" charset="0"/>
                                </a:rPr>
                              </m:ctrlPr>
                            </m:dPr>
                            <m:e>
                              <m:r>
                                <a:rPr lang="en-GB" b="0" i="1" smtClean="0">
                                  <a:latin typeface="Cambria Math" panose="02040503050406030204" pitchFamily="18" charset="0"/>
                                </a:rPr>
                                <m:t>𝑥</m:t>
                              </m:r>
                              <m:r>
                                <a:rPr lang="en-GB" b="0" i="1" smtClean="0">
                                  <a:latin typeface="Cambria Math" panose="02040503050406030204" pitchFamily="18" charset="0"/>
                                </a:rPr>
                                <m:t>−3</m:t>
                              </m:r>
                            </m:e>
                          </m:d>
                        </m:e>
                        <m:sup>
                          <m:r>
                            <a:rPr lang="en-GB" b="0" i="1" smtClean="0">
                              <a:latin typeface="Cambria Math" panose="02040503050406030204" pitchFamily="18" charset="0"/>
                            </a:rPr>
                            <m:t>3</m:t>
                          </m:r>
                        </m:sup>
                      </m:sSup>
                    </m:oMath>
                  </m:oMathPara>
                </a14:m>
                <a:endParaRPr lang="en-GB"/>
              </a:p>
            </p:txBody>
          </p:sp>
        </mc:Choice>
        <mc:Fallback>
          <p:sp>
            <p:nvSpPr>
              <p:cNvPr id="6" name="TextBox 5"/>
              <p:cNvSpPr txBox="1">
                <a:spLocks noRot="1" noChangeAspect="1" noMove="1" noResize="1" noEditPoints="1" noAdjustHandles="1" noChangeArrowheads="1" noChangeShapeType="1" noTextEdit="1"/>
              </p:cNvSpPr>
              <p:nvPr/>
            </p:nvSpPr>
            <p:spPr>
              <a:xfrm>
                <a:off x="4355976" y="893083"/>
                <a:ext cx="3274764" cy="646331"/>
              </a:xfrm>
              <a:prstGeom prst="rect">
                <a:avLst/>
              </a:prstGeom>
              <a:blipFill>
                <a:blip r:embed="rId3"/>
                <a:stretch>
                  <a:fillRect/>
                </a:stretch>
              </a:blipFill>
              <a:effectLst>
                <a:outerShdw blurRad="63500" sx="102000" sy="102000" algn="ctr" rotWithShape="0">
                  <a:prstClr val="black">
                    <a:alpha val="40000"/>
                  </a:prstClr>
                </a:outerShdw>
              </a:effectLst>
            </p:spPr>
            <p:txBody>
              <a:bodyPr/>
              <a:lstStyle/>
              <a:p>
                <a:r>
                  <a:rPr lang="en-US">
                    <a:noFill/>
                  </a:rPr>
                  <a:t> </a:t>
                </a:r>
              </a:p>
            </p:txBody>
          </p:sp>
        </mc:Fallback>
      </mc:AlternateContent>
      <p:cxnSp>
        <p:nvCxnSpPr>
          <p:cNvPr id="7" name="Straight Arrow Connector 6"/>
          <p:cNvCxnSpPr/>
          <p:nvPr/>
        </p:nvCxnSpPr>
        <p:spPr>
          <a:xfrm>
            <a:off x="828197" y="3314777"/>
            <a:ext cx="240944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 name="Straight Arrow Connector 7"/>
          <p:cNvCxnSpPr/>
          <p:nvPr/>
        </p:nvCxnSpPr>
        <p:spPr>
          <a:xfrm flipV="1">
            <a:off x="2035783" y="2199272"/>
            <a:ext cx="0" cy="187220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9" name="TextBox 8"/>
          <p:cNvSpPr txBox="1"/>
          <p:nvPr/>
        </p:nvSpPr>
        <p:spPr>
          <a:xfrm>
            <a:off x="1121726" y="3264915"/>
            <a:ext cx="415472" cy="369332"/>
          </a:xfrm>
          <a:prstGeom prst="rect">
            <a:avLst/>
          </a:prstGeom>
          <a:noFill/>
        </p:spPr>
        <p:txBody>
          <a:bodyPr wrap="square" rtlCol="0">
            <a:spAutoFit/>
          </a:bodyPr>
          <a:lstStyle/>
          <a:p>
            <a:r>
              <a:rPr lang="en-GB"/>
              <a:t>-1</a:t>
            </a:r>
          </a:p>
        </p:txBody>
      </p:sp>
      <mc:AlternateContent xmlns:mc="http://schemas.openxmlformats.org/markup-compatibility/2006">
        <mc:Choice xmlns:a14="http://schemas.microsoft.com/office/drawing/2010/main" Requires="a14">
          <p:sp>
            <p:nvSpPr>
              <p:cNvPr id="10" name="TextBox 9"/>
              <p:cNvSpPr txBox="1"/>
              <p:nvPr/>
            </p:nvSpPr>
            <p:spPr>
              <a:xfrm>
                <a:off x="1796444" y="1857678"/>
                <a:ext cx="415472" cy="276999"/>
              </a:xfrm>
              <a:prstGeom prst="rect">
                <a:avLst/>
              </a:prstGeom>
              <a:noFill/>
            </p:spPr>
            <p:txBody>
              <a:bodyPr wrap="square" rtlCol="0">
                <a:spAutoFit/>
              </a:bodyPr>
              <a:lstStyle/>
              <a:p>
                <a:pPr/>
                <a14:m>
                  <m:oMathPara xmlns:m="http://schemas.openxmlformats.org/officeDocument/2006/math">
                    <m:oMath>
                      <m:r>
                        <a:rPr lang="en-GB" sz="1200" b="0" i="1" smtClean="0">
                          <a:latin typeface="Cambria Math" panose="02040503050406030204" pitchFamily="18" charset="0"/>
                        </a:rPr>
                        <m:t>𝑦</m:t>
                      </m:r>
                    </m:oMath>
                  </m:oMathPara>
                </a14:m>
                <a:endParaRPr lang="en-GB"/>
              </a:p>
            </p:txBody>
          </p:sp>
        </mc:Choice>
        <mc:Fallback>
          <p:sp>
            <p:nvSpPr>
              <p:cNvPr id="10" name="TextBox 9"/>
              <p:cNvSpPr txBox="1">
                <a:spLocks noRot="1" noChangeAspect="1" noMove="1" noResize="1" noEditPoints="1" noAdjustHandles="1" noChangeArrowheads="1" noChangeShapeType="1" noTextEdit="1"/>
              </p:cNvSpPr>
              <p:nvPr/>
            </p:nvSpPr>
            <p:spPr>
              <a:xfrm>
                <a:off x="1796444" y="1857678"/>
                <a:ext cx="415472" cy="276999"/>
              </a:xfrm>
              <a:prstGeom prst="rect">
                <a:avLst/>
              </a:prstGeom>
              <a:blipFill>
                <a:blip r:embed="rId4"/>
                <a:stretch>
                  <a:fillRect b="-454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1" name="TextBox 10"/>
              <p:cNvSpPr txBox="1"/>
              <p:nvPr/>
            </p:nvSpPr>
            <p:spPr>
              <a:xfrm>
                <a:off x="3127413" y="3185282"/>
                <a:ext cx="415472" cy="276999"/>
              </a:xfrm>
              <a:prstGeom prst="rect">
                <a:avLst/>
              </a:prstGeom>
              <a:noFill/>
            </p:spPr>
            <p:txBody>
              <a:bodyPr wrap="square" rtlCol="0">
                <a:spAutoFit/>
              </a:bodyPr>
              <a:lstStyle/>
              <a:p>
                <a:pPr/>
                <a14:m>
                  <m:oMathPara xmlns:m="http://schemas.openxmlformats.org/officeDocument/2006/math">
                    <m:oMath>
                      <m:r>
                        <a:rPr lang="en-GB" sz="1200" b="0" i="1" smtClean="0">
                          <a:latin typeface="Cambria Math" panose="02040503050406030204" pitchFamily="18" charset="0"/>
                        </a:rPr>
                        <m:t>𝑥</m:t>
                      </m:r>
                    </m:oMath>
                  </m:oMathPara>
                </a14:m>
                <a:endParaRPr lang="en-GB"/>
              </a:p>
            </p:txBody>
          </p:sp>
        </mc:Choice>
        <mc:Fallback>
          <p:sp>
            <p:nvSpPr>
              <p:cNvPr id="11" name="TextBox 10"/>
              <p:cNvSpPr txBox="1">
                <a:spLocks noRot="1" noChangeAspect="1" noMove="1" noResize="1" noEditPoints="1" noAdjustHandles="1" noChangeArrowheads="1" noChangeShapeType="1" noTextEdit="1"/>
              </p:cNvSpPr>
              <p:nvPr/>
            </p:nvSpPr>
            <p:spPr>
              <a:xfrm>
                <a:off x="3127413" y="3185282"/>
                <a:ext cx="415472" cy="276999"/>
              </a:xfrm>
              <a:prstGeom prst="rect">
                <a:avLst/>
              </a:prstGeom>
              <a:blipFill>
                <a:blip r:embed="rId5"/>
                <a:stretch>
                  <a:fillRect/>
                </a:stretch>
              </a:blipFill>
            </p:spPr>
            <p:txBody>
              <a:bodyPr/>
              <a:lstStyle/>
              <a:p>
                <a:r>
                  <a:rPr lang="en-US">
                    <a:noFill/>
                  </a:rPr>
                  <a:t> </a:t>
                </a:r>
              </a:p>
            </p:txBody>
          </p:sp>
        </mc:Fallback>
      </mc:AlternateContent>
      <p:sp>
        <p:nvSpPr>
          <p:cNvPr id="12" name="TextBox 11"/>
          <p:cNvSpPr txBox="1"/>
          <p:nvPr/>
        </p:nvSpPr>
        <p:spPr>
          <a:xfrm>
            <a:off x="2471400" y="3272094"/>
            <a:ext cx="415472" cy="369332"/>
          </a:xfrm>
          <a:prstGeom prst="rect">
            <a:avLst/>
          </a:prstGeom>
          <a:noFill/>
        </p:spPr>
        <p:txBody>
          <a:bodyPr wrap="square" rtlCol="0">
            <a:spAutoFit/>
          </a:bodyPr>
          <a:lstStyle/>
          <a:p>
            <a:r>
              <a:rPr lang="en-GB"/>
              <a:t>1</a:t>
            </a:r>
          </a:p>
        </p:txBody>
      </p:sp>
      <p:sp>
        <p:nvSpPr>
          <p:cNvPr id="16" name="Freeform: Shape 15"/>
          <p:cNvSpPr/>
          <p:nvPr/>
        </p:nvSpPr>
        <p:spPr>
          <a:xfrm flipV="1">
            <a:off x="1119484" y="2534568"/>
            <a:ext cx="1651000" cy="1389951"/>
          </a:xfrm>
          <a:custGeom>
            <a:avLst/>
            <a:gdLst>
              <a:gd name="connsiteX0" fmla="*/ 0 w 1651000"/>
              <a:gd name="connsiteY0" fmla="*/ 1320805 h 1320805"/>
              <a:gd name="connsiteX1" fmla="*/ 304800 w 1651000"/>
              <a:gd name="connsiteY1" fmla="*/ 596905 h 1320805"/>
              <a:gd name="connsiteX2" fmla="*/ 596900 w 1651000"/>
              <a:gd name="connsiteY2" fmla="*/ 5 h 1320805"/>
              <a:gd name="connsiteX3" fmla="*/ 914400 w 1651000"/>
              <a:gd name="connsiteY3" fmla="*/ 584205 h 1320805"/>
              <a:gd name="connsiteX4" fmla="*/ 1219200 w 1651000"/>
              <a:gd name="connsiteY4" fmla="*/ 38105 h 1320805"/>
              <a:gd name="connsiteX5" fmla="*/ 1460500 w 1651000"/>
              <a:gd name="connsiteY5" fmla="*/ 584205 h 1320805"/>
              <a:gd name="connsiteX6" fmla="*/ 1651000 w 1651000"/>
              <a:gd name="connsiteY6" fmla="*/ 1257305 h 1320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51000" h="1320805">
                <a:moveTo>
                  <a:pt x="0" y="1320805"/>
                </a:moveTo>
                <a:cubicBezTo>
                  <a:pt x="102658" y="1068921"/>
                  <a:pt x="205317" y="817038"/>
                  <a:pt x="304800" y="596905"/>
                </a:cubicBezTo>
                <a:cubicBezTo>
                  <a:pt x="404283" y="376772"/>
                  <a:pt x="495300" y="2122"/>
                  <a:pt x="596900" y="5"/>
                </a:cubicBezTo>
                <a:cubicBezTo>
                  <a:pt x="698500" y="-2112"/>
                  <a:pt x="810683" y="577855"/>
                  <a:pt x="914400" y="584205"/>
                </a:cubicBezTo>
                <a:cubicBezTo>
                  <a:pt x="1018117" y="590555"/>
                  <a:pt x="1128183" y="38105"/>
                  <a:pt x="1219200" y="38105"/>
                </a:cubicBezTo>
                <a:cubicBezTo>
                  <a:pt x="1310217" y="38105"/>
                  <a:pt x="1388533" y="381005"/>
                  <a:pt x="1460500" y="584205"/>
                </a:cubicBezTo>
                <a:cubicBezTo>
                  <a:pt x="1532467" y="787405"/>
                  <a:pt x="1591733" y="1022355"/>
                  <a:pt x="1651000" y="1257305"/>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7" name="Straight Arrow Connector 16"/>
          <p:cNvCxnSpPr/>
          <p:nvPr/>
        </p:nvCxnSpPr>
        <p:spPr>
          <a:xfrm>
            <a:off x="4508179" y="3314777"/>
            <a:ext cx="240944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 name="Straight Arrow Connector 17"/>
          <p:cNvCxnSpPr/>
          <p:nvPr/>
        </p:nvCxnSpPr>
        <p:spPr>
          <a:xfrm flipV="1">
            <a:off x="5715765" y="2199272"/>
            <a:ext cx="0" cy="187220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9" name="TextBox 18"/>
          <p:cNvSpPr txBox="1"/>
          <p:nvPr/>
        </p:nvSpPr>
        <p:spPr>
          <a:xfrm>
            <a:off x="5003728" y="3275547"/>
            <a:ext cx="415472" cy="369332"/>
          </a:xfrm>
          <a:prstGeom prst="rect">
            <a:avLst/>
          </a:prstGeom>
          <a:noFill/>
        </p:spPr>
        <p:txBody>
          <a:bodyPr wrap="square" rtlCol="0">
            <a:spAutoFit/>
          </a:bodyPr>
          <a:lstStyle/>
          <a:p>
            <a:r>
              <a:rPr lang="en-GB"/>
              <a:t>-1</a:t>
            </a:r>
          </a:p>
        </p:txBody>
      </p:sp>
      <mc:AlternateContent xmlns:mc="http://schemas.openxmlformats.org/markup-compatibility/2006">
        <mc:Choice xmlns:a14="http://schemas.microsoft.com/office/drawing/2010/main" Requires="a14">
          <p:sp>
            <p:nvSpPr>
              <p:cNvPr id="20" name="TextBox 19"/>
              <p:cNvSpPr txBox="1"/>
              <p:nvPr/>
            </p:nvSpPr>
            <p:spPr>
              <a:xfrm>
                <a:off x="5476426" y="1857678"/>
                <a:ext cx="415472" cy="276999"/>
              </a:xfrm>
              <a:prstGeom prst="rect">
                <a:avLst/>
              </a:prstGeom>
              <a:noFill/>
            </p:spPr>
            <p:txBody>
              <a:bodyPr wrap="square" rtlCol="0">
                <a:spAutoFit/>
              </a:bodyPr>
              <a:lstStyle/>
              <a:p>
                <a:pPr/>
                <a14:m>
                  <m:oMathPara xmlns:m="http://schemas.openxmlformats.org/officeDocument/2006/math">
                    <m:oMath>
                      <m:r>
                        <a:rPr lang="en-GB" sz="1200" b="0" i="1" smtClean="0">
                          <a:latin typeface="Cambria Math" panose="02040503050406030204" pitchFamily="18" charset="0"/>
                        </a:rPr>
                        <m:t>𝑦</m:t>
                      </m:r>
                    </m:oMath>
                  </m:oMathPara>
                </a14:m>
                <a:endParaRPr lang="en-GB"/>
              </a:p>
            </p:txBody>
          </p:sp>
        </mc:Choice>
        <mc:Fallback>
          <p:sp>
            <p:nvSpPr>
              <p:cNvPr id="20" name="TextBox 19"/>
              <p:cNvSpPr txBox="1">
                <a:spLocks noRot="1" noChangeAspect="1" noMove="1" noResize="1" noEditPoints="1" noAdjustHandles="1" noChangeArrowheads="1" noChangeShapeType="1" noTextEdit="1"/>
              </p:cNvSpPr>
              <p:nvPr/>
            </p:nvSpPr>
            <p:spPr>
              <a:xfrm>
                <a:off x="5476426" y="1857678"/>
                <a:ext cx="415472" cy="276999"/>
              </a:xfrm>
              <a:prstGeom prst="rect">
                <a:avLst/>
              </a:prstGeom>
              <a:blipFill>
                <a:blip r:embed="rId6"/>
                <a:stretch>
                  <a:fillRect b="-454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1" name="TextBox 20"/>
              <p:cNvSpPr txBox="1"/>
              <p:nvPr/>
            </p:nvSpPr>
            <p:spPr>
              <a:xfrm>
                <a:off x="6807395" y="3185282"/>
                <a:ext cx="415472" cy="276999"/>
              </a:xfrm>
              <a:prstGeom prst="rect">
                <a:avLst/>
              </a:prstGeom>
              <a:noFill/>
            </p:spPr>
            <p:txBody>
              <a:bodyPr wrap="square" rtlCol="0">
                <a:spAutoFit/>
              </a:bodyPr>
              <a:lstStyle/>
              <a:p>
                <a:pPr/>
                <a14:m>
                  <m:oMathPara xmlns:m="http://schemas.openxmlformats.org/officeDocument/2006/math">
                    <m:oMath>
                      <m:r>
                        <a:rPr lang="en-GB" sz="1200" b="0" i="1" smtClean="0">
                          <a:latin typeface="Cambria Math" panose="02040503050406030204" pitchFamily="18" charset="0"/>
                        </a:rPr>
                        <m:t>𝑥</m:t>
                      </m:r>
                    </m:oMath>
                  </m:oMathPara>
                </a14:m>
                <a:endParaRPr lang="en-GB"/>
              </a:p>
            </p:txBody>
          </p:sp>
        </mc:Choice>
        <mc:Fallback>
          <p:sp>
            <p:nvSpPr>
              <p:cNvPr id="21" name="TextBox 20"/>
              <p:cNvSpPr txBox="1">
                <a:spLocks noRot="1" noChangeAspect="1" noMove="1" noResize="1" noEditPoints="1" noAdjustHandles="1" noChangeArrowheads="1" noChangeShapeType="1" noTextEdit="1"/>
              </p:cNvSpPr>
              <p:nvPr/>
            </p:nvSpPr>
            <p:spPr>
              <a:xfrm>
                <a:off x="6807395" y="3185282"/>
                <a:ext cx="415472" cy="276999"/>
              </a:xfrm>
              <a:prstGeom prst="rect">
                <a:avLst/>
              </a:prstGeom>
              <a:blipFill>
                <a:blip r:embed="rId7"/>
                <a:stretch>
                  <a:fillRect/>
                </a:stretch>
              </a:blipFill>
            </p:spPr>
            <p:txBody>
              <a:bodyPr/>
              <a:lstStyle/>
              <a:p>
                <a:r>
                  <a:rPr lang="en-US">
                    <a:noFill/>
                  </a:rPr>
                  <a:t> </a:t>
                </a:r>
              </a:p>
            </p:txBody>
          </p:sp>
        </mc:Fallback>
      </mc:AlternateContent>
      <p:sp>
        <p:nvSpPr>
          <p:cNvPr id="22" name="TextBox 21"/>
          <p:cNvSpPr txBox="1"/>
          <p:nvPr/>
        </p:nvSpPr>
        <p:spPr>
          <a:xfrm>
            <a:off x="6395932" y="3261461"/>
            <a:ext cx="415472" cy="369332"/>
          </a:xfrm>
          <a:prstGeom prst="rect">
            <a:avLst/>
          </a:prstGeom>
          <a:noFill/>
        </p:spPr>
        <p:txBody>
          <a:bodyPr wrap="square" rtlCol="0">
            <a:spAutoFit/>
          </a:bodyPr>
          <a:lstStyle/>
          <a:p>
            <a:r>
              <a:rPr lang="en-GB"/>
              <a:t>3</a:t>
            </a:r>
          </a:p>
        </p:txBody>
      </p:sp>
      <p:sp>
        <p:nvSpPr>
          <p:cNvPr id="24" name="TextBox 23"/>
          <p:cNvSpPr txBox="1"/>
          <p:nvPr/>
        </p:nvSpPr>
        <p:spPr>
          <a:xfrm>
            <a:off x="5331819" y="2240673"/>
            <a:ext cx="415472" cy="369332"/>
          </a:xfrm>
          <a:prstGeom prst="rect">
            <a:avLst/>
          </a:prstGeom>
          <a:noFill/>
        </p:spPr>
        <p:txBody>
          <a:bodyPr wrap="square" rtlCol="0">
            <a:spAutoFit/>
          </a:bodyPr>
          <a:lstStyle/>
          <a:p>
            <a:r>
              <a:rPr lang="en-GB"/>
              <a:t>27</a:t>
            </a:r>
          </a:p>
        </p:txBody>
      </p:sp>
      <p:sp>
        <p:nvSpPr>
          <p:cNvPr id="25" name="Freeform: Shape 24"/>
          <p:cNvSpPr/>
          <p:nvPr/>
        </p:nvSpPr>
        <p:spPr>
          <a:xfrm>
            <a:off x="4805916" y="2477382"/>
            <a:ext cx="2317898" cy="1658683"/>
          </a:xfrm>
          <a:custGeom>
            <a:avLst/>
            <a:gdLst>
              <a:gd name="connsiteX0" fmla="*/ 0 w 2317898"/>
              <a:gd name="connsiteY0" fmla="*/ 1658683 h 1658683"/>
              <a:gd name="connsiteX1" fmla="*/ 308344 w 2317898"/>
              <a:gd name="connsiteY1" fmla="*/ 839976 h 1658683"/>
              <a:gd name="connsiteX2" fmla="*/ 914400 w 2317898"/>
              <a:gd name="connsiteY2" fmla="*/ 4 h 1658683"/>
              <a:gd name="connsiteX3" fmla="*/ 1722475 w 2317898"/>
              <a:gd name="connsiteY3" fmla="*/ 850609 h 1658683"/>
              <a:gd name="connsiteX4" fmla="*/ 2317898 w 2317898"/>
              <a:gd name="connsiteY4" fmla="*/ 1541725 h 1658683"/>
              <a:gd name="connsiteX0" fmla="*/ 0 w 2317898"/>
              <a:gd name="connsiteY0" fmla="*/ 1658683 h 1658683"/>
              <a:gd name="connsiteX1" fmla="*/ 308344 w 2317898"/>
              <a:gd name="connsiteY1" fmla="*/ 839976 h 1658683"/>
              <a:gd name="connsiteX2" fmla="*/ 914400 w 2317898"/>
              <a:gd name="connsiteY2" fmla="*/ 4 h 1658683"/>
              <a:gd name="connsiteX3" fmla="*/ 1722475 w 2317898"/>
              <a:gd name="connsiteY3" fmla="*/ 850609 h 1658683"/>
              <a:gd name="connsiteX4" fmla="*/ 2317898 w 2317898"/>
              <a:gd name="connsiteY4" fmla="*/ 1541725 h 1658683"/>
              <a:gd name="connsiteX0" fmla="*/ 0 w 2317898"/>
              <a:gd name="connsiteY0" fmla="*/ 1658683 h 1658683"/>
              <a:gd name="connsiteX1" fmla="*/ 308344 w 2317898"/>
              <a:gd name="connsiteY1" fmla="*/ 839976 h 1658683"/>
              <a:gd name="connsiteX2" fmla="*/ 914400 w 2317898"/>
              <a:gd name="connsiteY2" fmla="*/ 4 h 1658683"/>
              <a:gd name="connsiteX3" fmla="*/ 1722475 w 2317898"/>
              <a:gd name="connsiteY3" fmla="*/ 850609 h 1658683"/>
              <a:gd name="connsiteX4" fmla="*/ 2317898 w 2317898"/>
              <a:gd name="connsiteY4" fmla="*/ 1541725 h 16586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7898" h="1658683">
                <a:moveTo>
                  <a:pt x="0" y="1658683"/>
                </a:moveTo>
                <a:cubicBezTo>
                  <a:pt x="77972" y="1387552"/>
                  <a:pt x="155944" y="1116422"/>
                  <a:pt x="308344" y="839976"/>
                </a:cubicBezTo>
                <a:cubicBezTo>
                  <a:pt x="460744" y="563530"/>
                  <a:pt x="678712" y="-1768"/>
                  <a:pt x="914400" y="4"/>
                </a:cubicBezTo>
                <a:cubicBezTo>
                  <a:pt x="1150088" y="1776"/>
                  <a:pt x="1265276" y="838205"/>
                  <a:pt x="1722475" y="850609"/>
                </a:cubicBezTo>
                <a:cubicBezTo>
                  <a:pt x="2179674" y="863013"/>
                  <a:pt x="2200939" y="1228950"/>
                  <a:pt x="2317898" y="1541725"/>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Rectangle 14"/>
          <p:cNvSpPr/>
          <p:nvPr/>
        </p:nvSpPr>
        <p:spPr>
          <a:xfrm>
            <a:off x="4355976" y="1833370"/>
            <a:ext cx="3345976" cy="2510610"/>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26" name="Rectangle 25"/>
          <p:cNvSpPr/>
          <p:nvPr/>
        </p:nvSpPr>
        <p:spPr>
          <a:xfrm>
            <a:off x="382772" y="1833370"/>
            <a:ext cx="3293038" cy="2510610"/>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Tree>
    <p:extLst>
      <p:ext uri="{BB962C8B-B14F-4D97-AF65-F5344CB8AC3E}">
        <p14:creationId xmlns:p14="http://schemas.microsoft.com/office/powerpoint/2010/main" val="1236863930"/>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5"/>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5"/>
                                        </p:tgtEl>
                                      </p:cBhvr>
                                    </p:animEffect>
                                    <p:set>
                                      <p:cBhvr>
                                        <p:cTn id="7" dur="1" fill="hold">
                                          <p:stCondLst>
                                            <p:cond delay="499"/>
                                          </p:stCondLst>
                                        </p:cTn>
                                        <p:tgtEl>
                                          <p:spTgt spid="15"/>
                                        </p:tgtEl>
                                        <p:attrNameLst>
                                          <p:attrName>style.visibility</p:attrName>
                                        </p:attrNameLst>
                                      </p:cBhvr>
                                      <p:to>
                                        <p:strVal val="hidden"/>
                                      </p:to>
                                    </p:set>
                                  </p:childTnLst>
                                </p:cTn>
                              </p:par>
                            </p:childTnLst>
                          </p:cTn>
                        </p:par>
                      </p:childTnLst>
                    </p:cTn>
                  </p:par>
                </p:childTnLst>
              </p:cTn>
              <p:nextCondLst>
                <p:cond evt="onClick" delay="0">
                  <p:tgtEl>
                    <p:spTgt spid="15"/>
                  </p:tgtEl>
                </p:cond>
              </p:nextCondLst>
            </p:seq>
            <p:seq concurrent="1" nextAc="seek">
              <p:cTn id="8" restart="whenNotActive" fill="hold" evtFilter="cancelBubble" nodeType="interactiveSeq">
                <p:stCondLst>
                  <p:cond evt="onClick" delay="0">
                    <p:tgtEl>
                      <p:spTgt spid="26"/>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26"/>
                                        </p:tgtEl>
                                      </p:cBhvr>
                                    </p:animEffect>
                                    <p:set>
                                      <p:cBhvr>
                                        <p:cTn id="13" dur="1" fill="hold">
                                          <p:stCondLst>
                                            <p:cond delay="499"/>
                                          </p:stCondLst>
                                        </p:cTn>
                                        <p:tgtEl>
                                          <p:spTgt spid="26"/>
                                        </p:tgtEl>
                                        <p:attrNameLst>
                                          <p:attrName>style.visibility</p:attrName>
                                        </p:attrNameLst>
                                      </p:cBhvr>
                                      <p:to>
                                        <p:strVal val="hidden"/>
                                      </p:to>
                                    </p:set>
                                  </p:childTnLst>
                                </p:cTn>
                              </p:par>
                            </p:childTnLst>
                          </p:cTn>
                        </p:par>
                      </p:childTnLst>
                    </p:cTn>
                  </p:par>
                </p:childTnLst>
              </p:cTn>
              <p:nextCondLst>
                <p:cond evt="onClick" delay="0">
                  <p:tgtEl>
                    <p:spTgt spid="26"/>
                  </p:tgtEl>
                </p:cond>
              </p:nextCondLst>
            </p:seq>
          </p:childTnLst>
        </p:cTn>
      </p:par>
    </p:tnLst>
    <p:bldLst>
      <p:bldP spid="15" grpId="0" animBg="1"/>
      <p:bldP spid="26"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vert="horz" wrap="square" lIns="324000" tIns="45720" rIns="91440" bIns="45720" rtlCol="0" anchor="ctr">
              <a:spAutoFit/>
            </a:bodyPr>
            <a:lstStyle>
              <a:defPPr>
                <a:defRPr lang="en-US"/>
              </a:defPPr>
              <a:lvl1pPr>
                <a:spcBef>
                  <a:spcPct val="0"/>
                </a:spcBef>
                <a:buNone/>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a:t>Exercise 4B – Pure Y1 Pages 65-66</a:t>
              </a:r>
            </a:p>
          </p:txBody>
        </p:sp>
        <p:cxnSp>
          <p:nvCxnSpPr>
            <p:cNvPr id="4" name="Straight Connector 3"/>
            <p:cNvCxnSpPr/>
            <p:nvPr/>
          </p:nvCxnSpPr>
          <p:spPr>
            <a:xfrm>
              <a:off x="218" y="601079"/>
              <a:ext cx="9144000" cy="0"/>
            </a:xfrm>
            <a:prstGeom prst="line">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cxnSp>
      </p:grpSp>
      <p:pic>
        <p:nvPicPr>
          <p:cNvPr id="5" name="Picture 4">
            <a:extLst>
              <a:ext uri="{FF2B5EF4-FFF2-40B4-BE49-F238E27FC236}">
                <a16:creationId xmlns:a16="http://schemas.microsoft.com/office/drawing/2014/main" id="{392F121E-4BD6-F43E-20CA-4726599B236D}"/>
              </a:ext>
            </a:extLst>
          </p:cNvPr>
          <p:cNvPicPr>
            <a:picLocks noChangeAspect="1"/>
          </p:cNvPicPr>
          <p:nvPr/>
        </p:nvPicPr>
        <p:blipFill>
          <a:blip r:embed="rId2"/>
          <a:stretch>
            <a:fillRect/>
          </a:stretch>
        </p:blipFill>
        <p:spPr>
          <a:xfrm>
            <a:off x="251520" y="599127"/>
            <a:ext cx="7772400" cy="1451533"/>
          </a:xfrm>
          <a:prstGeom prst="rect">
            <a:avLst/>
          </a:prstGeom>
        </p:spPr>
      </p:pic>
      <p:pic>
        <p:nvPicPr>
          <p:cNvPr id="6" name="Picture 5">
            <a:extLst>
              <a:ext uri="{FF2B5EF4-FFF2-40B4-BE49-F238E27FC236}">
                <a16:creationId xmlns:a16="http://schemas.microsoft.com/office/drawing/2014/main" id="{89BED105-1335-54D0-18F6-DEFBA310DB5F}"/>
              </a:ext>
            </a:extLst>
          </p:cNvPr>
          <p:cNvPicPr>
            <a:picLocks noChangeAspect="1"/>
          </p:cNvPicPr>
          <p:nvPr/>
        </p:nvPicPr>
        <p:blipFill>
          <a:blip r:embed="rId3"/>
          <a:stretch>
            <a:fillRect/>
          </a:stretch>
        </p:blipFill>
        <p:spPr>
          <a:xfrm>
            <a:off x="425128" y="2047598"/>
            <a:ext cx="3293142" cy="1116132"/>
          </a:xfrm>
          <a:prstGeom prst="rect">
            <a:avLst/>
          </a:prstGeom>
        </p:spPr>
      </p:pic>
      <p:pic>
        <p:nvPicPr>
          <p:cNvPr id="7" name="Picture 6">
            <a:extLst>
              <a:ext uri="{FF2B5EF4-FFF2-40B4-BE49-F238E27FC236}">
                <a16:creationId xmlns:a16="http://schemas.microsoft.com/office/drawing/2014/main" id="{82396110-F04A-5170-6047-47B4BB2A3D73}"/>
              </a:ext>
            </a:extLst>
          </p:cNvPr>
          <p:cNvPicPr>
            <a:picLocks noChangeAspect="1"/>
          </p:cNvPicPr>
          <p:nvPr/>
        </p:nvPicPr>
        <p:blipFill>
          <a:blip r:embed="rId4"/>
          <a:stretch>
            <a:fillRect/>
          </a:stretch>
        </p:blipFill>
        <p:spPr>
          <a:xfrm>
            <a:off x="4644008" y="2050660"/>
            <a:ext cx="3293142" cy="1116132"/>
          </a:xfrm>
          <a:prstGeom prst="rect">
            <a:avLst/>
          </a:prstGeom>
        </p:spPr>
      </p:pic>
      <p:pic>
        <p:nvPicPr>
          <p:cNvPr id="8" name="Picture 7">
            <a:extLst>
              <a:ext uri="{FF2B5EF4-FFF2-40B4-BE49-F238E27FC236}">
                <a16:creationId xmlns:a16="http://schemas.microsoft.com/office/drawing/2014/main" id="{E44D1264-0998-F9F6-84C5-229C95856BA5}"/>
              </a:ext>
            </a:extLst>
          </p:cNvPr>
          <p:cNvPicPr>
            <a:picLocks noChangeAspect="1"/>
          </p:cNvPicPr>
          <p:nvPr/>
        </p:nvPicPr>
        <p:blipFill>
          <a:blip r:embed="rId5"/>
          <a:stretch>
            <a:fillRect/>
          </a:stretch>
        </p:blipFill>
        <p:spPr>
          <a:xfrm>
            <a:off x="251520" y="3360756"/>
            <a:ext cx="4255036" cy="299505"/>
          </a:xfrm>
          <a:prstGeom prst="rect">
            <a:avLst/>
          </a:prstGeom>
        </p:spPr>
      </p:pic>
      <p:pic>
        <p:nvPicPr>
          <p:cNvPr id="10" name="Picture 9">
            <a:extLst>
              <a:ext uri="{FF2B5EF4-FFF2-40B4-BE49-F238E27FC236}">
                <a16:creationId xmlns:a16="http://schemas.microsoft.com/office/drawing/2014/main" id="{EA573C24-3B00-4A71-9300-33B555F7F2F6}"/>
              </a:ext>
            </a:extLst>
          </p:cNvPr>
          <p:cNvPicPr>
            <a:picLocks noChangeAspect="1"/>
          </p:cNvPicPr>
          <p:nvPr/>
        </p:nvPicPr>
        <p:blipFill>
          <a:blip r:embed="rId6"/>
          <a:stretch>
            <a:fillRect/>
          </a:stretch>
        </p:blipFill>
        <p:spPr>
          <a:xfrm>
            <a:off x="480388" y="3738269"/>
            <a:ext cx="3415309" cy="2787075"/>
          </a:xfrm>
          <a:prstGeom prst="rect">
            <a:avLst/>
          </a:prstGeom>
        </p:spPr>
      </p:pic>
      <p:pic>
        <p:nvPicPr>
          <p:cNvPr id="11" name="Picture 10">
            <a:extLst>
              <a:ext uri="{FF2B5EF4-FFF2-40B4-BE49-F238E27FC236}">
                <a16:creationId xmlns:a16="http://schemas.microsoft.com/office/drawing/2014/main" id="{4DA34E36-8340-56DC-EBFB-7975EB3F7552}"/>
              </a:ext>
            </a:extLst>
          </p:cNvPr>
          <p:cNvPicPr>
            <a:picLocks noChangeAspect="1"/>
          </p:cNvPicPr>
          <p:nvPr/>
        </p:nvPicPr>
        <p:blipFill rotWithShape="1">
          <a:blip r:embed="rId7"/>
          <a:srcRect t="4352"/>
          <a:stretch/>
        </p:blipFill>
        <p:spPr>
          <a:xfrm>
            <a:off x="4750868" y="3789039"/>
            <a:ext cx="3937000" cy="2830321"/>
          </a:xfrm>
          <a:prstGeom prst="rect">
            <a:avLst/>
          </a:prstGeom>
        </p:spPr>
      </p:pic>
      <p:sp>
        <p:nvSpPr>
          <p:cNvPr id="13" name="Rectangle 12">
            <a:extLst>
              <a:ext uri="{FF2B5EF4-FFF2-40B4-BE49-F238E27FC236}">
                <a16:creationId xmlns:a16="http://schemas.microsoft.com/office/drawing/2014/main" id="{4AF26427-9EBA-7AB4-D797-053E03F8B30E}"/>
              </a:ext>
            </a:extLst>
          </p:cNvPr>
          <p:cNvSpPr/>
          <p:nvPr/>
        </p:nvSpPr>
        <p:spPr>
          <a:xfrm>
            <a:off x="4686468" y="1942015"/>
            <a:ext cx="3293038" cy="1221715"/>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b?</a:t>
            </a:r>
          </a:p>
        </p:txBody>
      </p:sp>
      <p:sp>
        <p:nvSpPr>
          <p:cNvPr id="14" name="Rectangle 13">
            <a:extLst>
              <a:ext uri="{FF2B5EF4-FFF2-40B4-BE49-F238E27FC236}">
                <a16:creationId xmlns:a16="http://schemas.microsoft.com/office/drawing/2014/main" id="{0CB61020-0481-B99E-1D78-CA9243FB3760}"/>
              </a:ext>
            </a:extLst>
          </p:cNvPr>
          <p:cNvSpPr/>
          <p:nvPr/>
        </p:nvSpPr>
        <p:spPr>
          <a:xfrm>
            <a:off x="446410" y="1942014"/>
            <a:ext cx="3293038" cy="1221715"/>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a:t>
            </a:r>
          </a:p>
        </p:txBody>
      </p:sp>
      <p:sp>
        <p:nvSpPr>
          <p:cNvPr id="15" name="Rectangle 14">
            <a:extLst>
              <a:ext uri="{FF2B5EF4-FFF2-40B4-BE49-F238E27FC236}">
                <a16:creationId xmlns:a16="http://schemas.microsoft.com/office/drawing/2014/main" id="{03AE2BFF-ECC4-B554-325D-E8F5774F0AA9}"/>
              </a:ext>
            </a:extLst>
          </p:cNvPr>
          <p:cNvSpPr/>
          <p:nvPr/>
        </p:nvSpPr>
        <p:spPr>
          <a:xfrm>
            <a:off x="374290" y="3738269"/>
            <a:ext cx="8344581" cy="2881090"/>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Tree>
    <p:extLst>
      <p:ext uri="{BB962C8B-B14F-4D97-AF65-F5344CB8AC3E}">
        <p14:creationId xmlns:p14="http://schemas.microsoft.com/office/powerpoint/2010/main" val="1845267709"/>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3"/>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3"/>
                                        </p:tgtEl>
                                      </p:cBhvr>
                                    </p:animEffect>
                                    <p:set>
                                      <p:cBhvr>
                                        <p:cTn id="7" dur="1" fill="hold">
                                          <p:stCondLst>
                                            <p:cond delay="499"/>
                                          </p:stCondLst>
                                        </p:cTn>
                                        <p:tgtEl>
                                          <p:spTgt spid="13"/>
                                        </p:tgtEl>
                                        <p:attrNameLst>
                                          <p:attrName>style.visibility</p:attrName>
                                        </p:attrNameLst>
                                      </p:cBhvr>
                                      <p:to>
                                        <p:strVal val="hidden"/>
                                      </p:to>
                                    </p:set>
                                  </p:childTnLst>
                                </p:cTn>
                              </p:par>
                            </p:childTnLst>
                          </p:cTn>
                        </p:par>
                      </p:childTnLst>
                    </p:cTn>
                  </p:par>
                </p:childTnLst>
              </p:cTn>
              <p:nextCondLst>
                <p:cond evt="onClick" delay="0">
                  <p:tgtEl>
                    <p:spTgt spid="13"/>
                  </p:tgtEl>
                </p:cond>
              </p:nextCondLst>
            </p:seq>
            <p:seq concurrent="1" nextAc="seek">
              <p:cTn id="8" restart="whenNotActive" fill="hold" evtFilter="cancelBubble" nodeType="interactiveSeq">
                <p:stCondLst>
                  <p:cond evt="onClick" delay="0">
                    <p:tgtEl>
                      <p:spTgt spid="14"/>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4"/>
                                        </p:tgtEl>
                                      </p:cBhvr>
                                    </p:animEffect>
                                    <p:set>
                                      <p:cBhvr>
                                        <p:cTn id="13" dur="1" fill="hold">
                                          <p:stCondLst>
                                            <p:cond delay="499"/>
                                          </p:stCondLst>
                                        </p:cTn>
                                        <p:tgtEl>
                                          <p:spTgt spid="14"/>
                                        </p:tgtEl>
                                        <p:attrNameLst>
                                          <p:attrName>style.visibility</p:attrName>
                                        </p:attrNameLst>
                                      </p:cBhvr>
                                      <p:to>
                                        <p:strVal val="hidden"/>
                                      </p:to>
                                    </p:set>
                                  </p:childTnLst>
                                </p:cTn>
                              </p:par>
                            </p:childTnLst>
                          </p:cTn>
                        </p:par>
                      </p:childTnLst>
                    </p:cTn>
                  </p:par>
                </p:childTnLst>
              </p:cTn>
              <p:nextCondLst>
                <p:cond evt="onClick" delay="0">
                  <p:tgtEl>
                    <p:spTgt spid="14"/>
                  </p:tgtEl>
                </p:cond>
              </p:nextCondLst>
            </p:seq>
            <p:seq concurrent="1" nextAc="seek">
              <p:cTn id="14" restart="whenNotActive" fill="hold" evtFilter="cancelBubble" nodeType="interactiveSeq">
                <p:stCondLst>
                  <p:cond evt="onClick" delay="0">
                    <p:tgtEl>
                      <p:spTgt spid="15"/>
                    </p:tgtEl>
                  </p:cond>
                </p:stCondLst>
                <p:endSync evt="end" delay="0">
                  <p:rtn val="all"/>
                </p:endSync>
                <p:childTnLst>
                  <p:par>
                    <p:cTn id="15" fill="hold">
                      <p:stCondLst>
                        <p:cond delay="0"/>
                      </p:stCondLst>
                      <p:childTnLst>
                        <p:par>
                          <p:cTn id="16" fill="hold">
                            <p:stCondLst>
                              <p:cond delay="0"/>
                            </p:stCondLst>
                            <p:childTnLst>
                              <p:par>
                                <p:cTn id="17" presetID="10" presetClass="exit" presetSubtype="0" fill="hold" grpId="0" nodeType="clickEffect">
                                  <p:stCondLst>
                                    <p:cond delay="0"/>
                                  </p:stCondLst>
                                  <p:childTnLst>
                                    <p:animEffect transition="out" filter="fade">
                                      <p:cBhvr>
                                        <p:cTn id="18" dur="500"/>
                                        <p:tgtEl>
                                          <p:spTgt spid="15"/>
                                        </p:tgtEl>
                                      </p:cBhvr>
                                    </p:animEffect>
                                    <p:set>
                                      <p:cBhvr>
                                        <p:cTn id="19" dur="1" fill="hold">
                                          <p:stCondLst>
                                            <p:cond delay="499"/>
                                          </p:stCondLst>
                                        </p:cTn>
                                        <p:tgtEl>
                                          <p:spTgt spid="15"/>
                                        </p:tgtEl>
                                        <p:attrNameLst>
                                          <p:attrName>style.visibility</p:attrName>
                                        </p:attrNameLst>
                                      </p:cBhvr>
                                      <p:to>
                                        <p:strVal val="hidden"/>
                                      </p:to>
                                    </p:set>
                                  </p:childTnLst>
                                </p:cTn>
                              </p:par>
                            </p:childTnLst>
                          </p:cTn>
                        </p:par>
                      </p:childTnLst>
                    </p:cTn>
                  </p:par>
                </p:childTnLst>
              </p:cTn>
              <p:nextCondLst>
                <p:cond evt="onClick" delay="0">
                  <p:tgtEl>
                    <p:spTgt spid="15"/>
                  </p:tgtEl>
                </p:cond>
              </p:nextCondLst>
            </p:seq>
          </p:childTnLst>
        </p:cTn>
      </p:par>
    </p:tnLst>
    <p:bldLst>
      <p:bldP spid="13" grpId="0" animBg="1"/>
      <p:bldP spid="14" grpId="0" animBg="1"/>
      <p:bldP spid="15"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vert="horz" wrap="square" lIns="324000" tIns="45720" rIns="91440" bIns="45720" rtlCol="0" anchor="ctr">
              <a:spAutoFit/>
            </a:bodyPr>
            <a:lstStyle>
              <a:defPPr>
                <a:defRPr lang="en-US"/>
              </a:defPPr>
              <a:lvl1pPr>
                <a:spcBef>
                  <a:spcPct val="0"/>
                </a:spcBef>
                <a:buNone/>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a:t>Exercise 4B Extension</a:t>
              </a:r>
            </a:p>
          </p:txBody>
        </p:sp>
        <p:cxnSp>
          <p:nvCxnSpPr>
            <p:cNvPr id="4" name="Straight Connector 3"/>
            <p:cNvCxnSpPr/>
            <p:nvPr/>
          </p:nvCxnSpPr>
          <p:spPr>
            <a:xfrm>
              <a:off x="218" y="601079"/>
              <a:ext cx="9144000" cy="0"/>
            </a:xfrm>
            <a:prstGeom prst="line">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cxnSp>
      </p:grpSp>
      <p:sp>
        <p:nvSpPr>
          <p:cNvPr id="13" name="Rectangle 12"/>
          <p:cNvSpPr/>
          <p:nvPr/>
        </p:nvSpPr>
        <p:spPr>
          <a:xfrm>
            <a:off x="193172" y="1566659"/>
            <a:ext cx="257798" cy="248133"/>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a:t>1</a:t>
            </a:r>
          </a:p>
        </p:txBody>
      </p:sp>
      <p:sp>
        <p:nvSpPr>
          <p:cNvPr id="7" name="TextBox 6"/>
          <p:cNvSpPr txBox="1"/>
          <p:nvPr/>
        </p:nvSpPr>
        <p:spPr>
          <a:xfrm>
            <a:off x="412162" y="1052736"/>
            <a:ext cx="1224136" cy="369332"/>
          </a:xfrm>
          <a:prstGeom prst="rect">
            <a:avLst/>
          </a:prstGeom>
          <a:noFill/>
        </p:spPr>
        <p:txBody>
          <a:bodyPr wrap="square" rtlCol="0">
            <a:spAutoFit/>
          </a:bodyPr>
          <a:lstStyle/>
          <a:p>
            <a:r>
              <a:rPr lang="en-GB" b="1"/>
              <a:t>Extension</a:t>
            </a:r>
          </a:p>
        </p:txBody>
      </p:sp>
      <mc:AlternateContent xmlns:mc="http://schemas.openxmlformats.org/markup-compatibility/2006">
        <mc:Choice xmlns:a14="http://schemas.microsoft.com/office/drawing/2010/main" Requires="a14">
          <p:sp>
            <p:nvSpPr>
              <p:cNvPr id="29" name="TextBox 28"/>
              <p:cNvSpPr txBox="1"/>
              <p:nvPr/>
            </p:nvSpPr>
            <p:spPr>
              <a:xfrm>
                <a:off x="491840" y="1404545"/>
                <a:ext cx="8136904" cy="1200329"/>
              </a:xfrm>
              <a:prstGeom prst="rect">
                <a:avLst/>
              </a:prstGeom>
              <a:noFill/>
            </p:spPr>
            <p:txBody>
              <a:bodyPr wrap="square" rtlCol="0">
                <a:spAutoFit/>
              </a:bodyPr>
              <a:lstStyle/>
              <a:p>
                <a:r>
                  <a:rPr lang="en-GB" i="1"/>
                  <a:t>[STEP I 2012 Q2a]</a:t>
                </a:r>
              </a:p>
              <a:p>
                <a:pPr marL="400050" indent="-400050">
                  <a:buFont typeface="+mj-lt"/>
                  <a:buAutoNum type="alphaLcPeriod"/>
                </a:pPr>
                <a:r>
                  <a:rPr lang="en-GB"/>
                  <a:t>Sketch </a:t>
                </a:r>
                <a14:m>
                  <m:oMath xmlns:m="http://schemas.openxmlformats.org/officeDocument/2006/math">
                    <m:r>
                      <a:rPr lang="en-GB" b="0" i="1" smtClean="0">
                        <a:latin typeface="Cambria Math"/>
                      </a:rPr>
                      <m:t>𝑦</m:t>
                    </m:r>
                    <m:r>
                      <a:rPr lang="en-GB" b="0" i="1" smtClean="0">
                        <a:latin typeface="Cambria Math"/>
                      </a:rPr>
                      <m:t>=</m:t>
                    </m:r>
                    <m:sSup>
                      <m:sSupPr>
                        <m:ctrlPr>
                          <a:rPr lang="en-GB" b="0" i="1" smtClean="0">
                            <a:latin typeface="Cambria Math"/>
                          </a:rPr>
                        </m:ctrlPr>
                      </m:sSupPr>
                      <m:e>
                        <m:r>
                          <a:rPr lang="en-GB" b="0" i="1" smtClean="0">
                            <a:latin typeface="Cambria Math"/>
                          </a:rPr>
                          <m:t>𝑥</m:t>
                        </m:r>
                      </m:e>
                      <m:sup>
                        <m:r>
                          <a:rPr lang="en-GB" b="0" i="1" smtClean="0">
                            <a:latin typeface="Cambria Math"/>
                          </a:rPr>
                          <m:t>4</m:t>
                        </m:r>
                      </m:sup>
                    </m:sSup>
                    <m:r>
                      <a:rPr lang="en-GB" b="0" i="1" smtClean="0">
                        <a:latin typeface="Cambria Math"/>
                      </a:rPr>
                      <m:t>−6</m:t>
                    </m:r>
                    <m:sSup>
                      <m:sSupPr>
                        <m:ctrlPr>
                          <a:rPr lang="en-GB" b="0" i="1" smtClean="0">
                            <a:latin typeface="Cambria Math"/>
                          </a:rPr>
                        </m:ctrlPr>
                      </m:sSupPr>
                      <m:e>
                        <m:r>
                          <a:rPr lang="en-GB" b="0" i="1" smtClean="0">
                            <a:latin typeface="Cambria Math"/>
                          </a:rPr>
                          <m:t>𝑥</m:t>
                        </m:r>
                      </m:e>
                      <m:sup>
                        <m:r>
                          <a:rPr lang="en-GB" b="0" i="1" smtClean="0">
                            <a:latin typeface="Cambria Math"/>
                          </a:rPr>
                          <m:t>2</m:t>
                        </m:r>
                      </m:sup>
                    </m:sSup>
                    <m:r>
                      <a:rPr lang="en-GB" b="0" i="1" smtClean="0">
                        <a:latin typeface="Cambria Math"/>
                      </a:rPr>
                      <m:t>+9</m:t>
                    </m:r>
                  </m:oMath>
                </a14:m>
                <a:endParaRPr lang="en-GB"/>
              </a:p>
              <a:p>
                <a:pPr marL="342900" indent="-342900">
                  <a:buAutoNum type="alphaLcPeriod"/>
                </a:pPr>
                <a:r>
                  <a:rPr lang="en-GB"/>
                  <a:t>For what values of </a:t>
                </a:r>
                <a14:m>
                  <m:oMath xmlns:m="http://schemas.openxmlformats.org/officeDocument/2006/math">
                    <m:r>
                      <a:rPr lang="en-GB" i="1" dirty="0" smtClean="0">
                        <a:latin typeface="Cambria Math"/>
                      </a:rPr>
                      <m:t>𝑏</m:t>
                    </m:r>
                  </m:oMath>
                </a14:m>
                <a:r>
                  <a:rPr lang="en-GB"/>
                  <a:t> does the equation </a:t>
                </a:r>
                <a14:m>
                  <m:oMath xmlns:m="http://schemas.openxmlformats.org/officeDocument/2006/math">
                    <m:r>
                      <m:rPr>
                        <m:sty m:val="p"/>
                      </m:rPr>
                      <a:rPr lang="en-GB" b="0" i="0" smtClean="0">
                        <a:latin typeface="Cambria Math"/>
                      </a:rPr>
                      <m:t>y</m:t>
                    </m:r>
                    <m:r>
                      <a:rPr lang="en-GB" b="0" i="0" smtClean="0">
                        <a:latin typeface="Cambria Math"/>
                      </a:rPr>
                      <m:t>=</m:t>
                    </m:r>
                    <m:sSup>
                      <m:sSupPr>
                        <m:ctrlPr>
                          <a:rPr lang="en-GB" b="0" i="1" smtClean="0">
                            <a:latin typeface="Cambria Math"/>
                          </a:rPr>
                        </m:ctrlPr>
                      </m:sSupPr>
                      <m:e>
                        <m:r>
                          <a:rPr lang="en-GB" b="0" i="1" smtClean="0">
                            <a:latin typeface="Cambria Math"/>
                          </a:rPr>
                          <m:t>𝑥</m:t>
                        </m:r>
                      </m:e>
                      <m:sup>
                        <m:r>
                          <a:rPr lang="en-GB" b="0" i="1" smtClean="0">
                            <a:latin typeface="Cambria Math"/>
                          </a:rPr>
                          <m:t>4</m:t>
                        </m:r>
                      </m:sup>
                    </m:sSup>
                    <m:r>
                      <a:rPr lang="en-GB" b="0" i="1" smtClean="0">
                        <a:latin typeface="Cambria Math"/>
                      </a:rPr>
                      <m:t>−6</m:t>
                    </m:r>
                    <m:sSup>
                      <m:sSupPr>
                        <m:ctrlPr>
                          <a:rPr lang="en-GB" b="0" i="1" smtClean="0">
                            <a:latin typeface="Cambria Math"/>
                          </a:rPr>
                        </m:ctrlPr>
                      </m:sSupPr>
                      <m:e>
                        <m:r>
                          <a:rPr lang="en-GB" b="0" i="1" smtClean="0">
                            <a:latin typeface="Cambria Math"/>
                          </a:rPr>
                          <m:t>𝑥</m:t>
                        </m:r>
                      </m:e>
                      <m:sup>
                        <m:r>
                          <a:rPr lang="en-GB" b="0" i="1" smtClean="0">
                            <a:latin typeface="Cambria Math"/>
                          </a:rPr>
                          <m:t>2</m:t>
                        </m:r>
                      </m:sup>
                    </m:sSup>
                    <m:r>
                      <a:rPr lang="en-GB" b="0" i="1" smtClean="0">
                        <a:latin typeface="Cambria Math"/>
                      </a:rPr>
                      <m:t>+</m:t>
                    </m:r>
                    <m:r>
                      <a:rPr lang="en-GB" b="0" i="1" smtClean="0">
                        <a:latin typeface="Cambria Math"/>
                      </a:rPr>
                      <m:t>𝑏</m:t>
                    </m:r>
                  </m:oMath>
                </a14:m>
                <a:r>
                  <a:rPr lang="en-GB"/>
                  <a:t> have the following number of </a:t>
                </a:r>
                <a:r>
                  <a:rPr lang="en-GB" u="sng"/>
                  <a:t>distinct</a:t>
                </a:r>
                <a:r>
                  <a:rPr lang="en-GB"/>
                  <a:t> roots (i) 0, (ii) 1, (iii) 2, (iv) 3, (v) 4.</a:t>
                </a:r>
              </a:p>
            </p:txBody>
          </p:sp>
        </mc:Choice>
        <mc:Fallback>
          <p:sp>
            <p:nvSpPr>
              <p:cNvPr id="29" name="TextBox 28"/>
              <p:cNvSpPr txBox="1">
                <a:spLocks noRot="1" noChangeAspect="1" noMove="1" noResize="1" noEditPoints="1" noAdjustHandles="1" noChangeArrowheads="1" noChangeShapeType="1" noTextEdit="1"/>
              </p:cNvSpPr>
              <p:nvPr/>
            </p:nvSpPr>
            <p:spPr>
              <a:xfrm>
                <a:off x="491840" y="1404545"/>
                <a:ext cx="8136904" cy="1200329"/>
              </a:xfrm>
              <a:prstGeom prst="rect">
                <a:avLst/>
              </a:prstGeom>
              <a:blipFill>
                <a:blip r:embed="rId2"/>
                <a:stretch>
                  <a:fillRect l="-623" t="-2105" b="-842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0" name="TextBox 29"/>
              <p:cNvSpPr txBox="1"/>
              <p:nvPr/>
            </p:nvSpPr>
            <p:spPr>
              <a:xfrm>
                <a:off x="653137" y="2677457"/>
                <a:ext cx="4464496" cy="943976"/>
              </a:xfrm>
              <a:prstGeom prst="rect">
                <a:avLst/>
              </a:prstGeom>
              <a:noFill/>
            </p:spPr>
            <p:txBody>
              <a:bodyPr wrap="square" rtlCol="0">
                <a:spAutoFit/>
              </a:bodyPr>
              <a:lstStyle/>
              <a:p>
                <a:r>
                  <a:rPr lang="en-GB" b="0"/>
                  <a:t>By factorising, </a:t>
                </a:r>
                <a14:m>
                  <m:oMath xmlns:m="http://schemas.openxmlformats.org/officeDocument/2006/math">
                    <m:r>
                      <a:rPr lang="en-GB" b="0" i="1" smtClean="0">
                        <a:latin typeface="Cambria Math"/>
                      </a:rPr>
                      <m:t>𝑦</m:t>
                    </m:r>
                    <m:r>
                      <a:rPr lang="en-GB" b="0" i="1" smtClean="0">
                        <a:latin typeface="Cambria Math"/>
                      </a:rPr>
                      <m:t>=</m:t>
                    </m:r>
                    <m:sSup>
                      <m:sSupPr>
                        <m:ctrlPr>
                          <a:rPr lang="en-GB" b="0" i="1" smtClean="0">
                            <a:latin typeface="Cambria Math" panose="02040503050406030204" pitchFamily="18" charset="0"/>
                          </a:rPr>
                        </m:ctrlPr>
                      </m:sSupPr>
                      <m:e>
                        <m:d>
                          <m:dPr>
                            <m:ctrlPr>
                              <a:rPr lang="en-GB" b="0" i="1" smtClean="0">
                                <a:latin typeface="Cambria Math" panose="02040503050406030204" pitchFamily="18" charset="0"/>
                              </a:rPr>
                            </m:ctrlPr>
                          </m:dPr>
                          <m:e>
                            <m:sSup>
                              <m:sSupPr>
                                <m:ctrlPr>
                                  <a:rPr lang="en-GB" b="0" i="1" smtClean="0">
                                    <a:latin typeface="Cambria Math"/>
                                  </a:rPr>
                                </m:ctrlPr>
                              </m:sSupPr>
                              <m:e>
                                <m:r>
                                  <a:rPr lang="en-GB" b="0" i="1" smtClean="0">
                                    <a:latin typeface="Cambria Math"/>
                                  </a:rPr>
                                  <m:t>𝑥</m:t>
                                </m:r>
                              </m:e>
                              <m:sup>
                                <m:r>
                                  <a:rPr lang="en-GB" b="0" i="1" smtClean="0">
                                    <a:latin typeface="Cambria Math"/>
                                  </a:rPr>
                                  <m:t>2</m:t>
                                </m:r>
                              </m:sup>
                            </m:sSup>
                            <m:r>
                              <a:rPr lang="en-GB" b="0" i="1" smtClean="0">
                                <a:latin typeface="Cambria Math"/>
                              </a:rPr>
                              <m:t>−3</m:t>
                            </m:r>
                          </m:e>
                        </m:d>
                      </m:e>
                      <m:sup>
                        <m:r>
                          <a:rPr lang="en-GB" b="0" i="1" smtClean="0">
                            <a:latin typeface="Cambria Math"/>
                          </a:rPr>
                          <m:t>2</m:t>
                        </m:r>
                      </m:sup>
                    </m:sSup>
                  </m:oMath>
                </a14:m>
                <a:r>
                  <a:rPr lang="en-GB"/>
                  <a:t>. This is a quartic, where </a:t>
                </a:r>
                <a14:m>
                  <m:oMath xmlns:m="http://schemas.openxmlformats.org/officeDocument/2006/math">
                    <m:r>
                      <a:rPr lang="en-GB" i="1" dirty="0" smtClean="0">
                        <a:latin typeface="Cambria Math"/>
                      </a:rPr>
                      <m:t>𝑦</m:t>
                    </m:r>
                  </m:oMath>
                </a14:m>
                <a:r>
                  <a:rPr lang="en-GB"/>
                  <a:t> is always positive, and has repeated roots at </a:t>
                </a:r>
                <a14:m>
                  <m:oMath xmlns:m="http://schemas.openxmlformats.org/officeDocument/2006/math">
                    <m:r>
                      <a:rPr lang="en-GB" b="0" i="1" smtClean="0">
                        <a:latin typeface="Cambria Math"/>
                      </a:rPr>
                      <m:t>𝑥</m:t>
                    </m:r>
                    <m:r>
                      <a:rPr lang="en-GB" b="0" i="1" smtClean="0">
                        <a:latin typeface="Cambria Math"/>
                      </a:rPr>
                      <m:t>=±</m:t>
                    </m:r>
                    <m:rad>
                      <m:radPr>
                        <m:degHide m:val="on"/>
                        <m:ctrlPr>
                          <a:rPr lang="en-GB" b="0" i="1" smtClean="0">
                            <a:latin typeface="Cambria Math" panose="02040503050406030204" pitchFamily="18" charset="0"/>
                          </a:rPr>
                        </m:ctrlPr>
                      </m:radPr>
                      <m:deg/>
                      <m:e>
                        <m:r>
                          <a:rPr lang="en-GB" b="0" i="1" smtClean="0">
                            <a:latin typeface="Cambria Math"/>
                          </a:rPr>
                          <m:t>3</m:t>
                        </m:r>
                      </m:e>
                    </m:rad>
                  </m:oMath>
                </a14:m>
                <a:r>
                  <a:rPr lang="en-GB"/>
                  <a:t>:</a:t>
                </a:r>
              </a:p>
            </p:txBody>
          </p:sp>
        </mc:Choice>
        <mc:Fallback>
          <p:sp>
            <p:nvSpPr>
              <p:cNvPr id="30" name="TextBox 29"/>
              <p:cNvSpPr txBox="1">
                <a:spLocks noRot="1" noChangeAspect="1" noMove="1" noResize="1" noEditPoints="1" noAdjustHandles="1" noChangeArrowheads="1" noChangeShapeType="1" noTextEdit="1"/>
              </p:cNvSpPr>
              <p:nvPr/>
            </p:nvSpPr>
            <p:spPr>
              <a:xfrm>
                <a:off x="653137" y="2677457"/>
                <a:ext cx="4464496" cy="943976"/>
              </a:xfrm>
              <a:prstGeom prst="rect">
                <a:avLst/>
              </a:prstGeom>
              <a:blipFill>
                <a:blip r:embed="rId3"/>
                <a:stretch>
                  <a:fillRect l="-1133" t="-2632" b="-9211"/>
                </a:stretch>
              </a:blipFill>
            </p:spPr>
            <p:txBody>
              <a:bodyPr/>
              <a:lstStyle/>
              <a:p>
                <a:r>
                  <a:rPr lang="en-US">
                    <a:noFill/>
                  </a:rPr>
                  <a:t> </a:t>
                </a:r>
              </a:p>
            </p:txBody>
          </p:sp>
        </mc:Fallback>
      </mc:AlternateContent>
      <p:pic>
        <p:nvPicPr>
          <p:cNvPr id="31"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0245" y="3784287"/>
            <a:ext cx="2421603" cy="209062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mc:Choice xmlns:a14="http://schemas.microsoft.com/office/drawing/2010/main" Requires="a14">
          <p:sp>
            <p:nvSpPr>
              <p:cNvPr id="32" name="TextBox 31"/>
              <p:cNvSpPr txBox="1"/>
              <p:nvPr/>
            </p:nvSpPr>
            <p:spPr>
              <a:xfrm>
                <a:off x="5462765" y="2677457"/>
                <a:ext cx="2952328" cy="3416320"/>
              </a:xfrm>
              <a:prstGeom prst="rect">
                <a:avLst/>
              </a:prstGeom>
              <a:noFill/>
            </p:spPr>
            <p:txBody>
              <a:bodyPr wrap="square" rtlCol="0">
                <a:spAutoFit/>
              </a:bodyPr>
              <a:lstStyle/>
              <a:p>
                <a:r>
                  <a:rPr lang="en-GB"/>
                  <a:t>By changing </a:t>
                </a:r>
                <a14:m>
                  <m:oMath xmlns:m="http://schemas.openxmlformats.org/officeDocument/2006/math">
                    <m:r>
                      <a:rPr lang="en-GB" b="0" i="1" smtClean="0">
                        <a:latin typeface="Cambria Math"/>
                      </a:rPr>
                      <m:t>𝑏</m:t>
                    </m:r>
                  </m:oMath>
                </a14:m>
                <a:r>
                  <a:rPr lang="en-GB"/>
                  <a:t>, we shift the graph up and down. Then we can see that:</a:t>
                </a:r>
              </a:p>
              <a:p>
                <a:endParaRPr lang="en-GB"/>
              </a:p>
              <a:p>
                <a:pPr marL="400050" indent="-400050">
                  <a:buAutoNum type="romanLcParenR"/>
                </a:pPr>
                <a:r>
                  <a:rPr lang="en-GB"/>
                  <a:t>0 roots: When </a:t>
                </a:r>
                <a14:m>
                  <m:oMath xmlns:m="http://schemas.openxmlformats.org/officeDocument/2006/math">
                    <m:r>
                      <a:rPr lang="en-GB" b="0" i="1" smtClean="0">
                        <a:latin typeface="Cambria Math"/>
                      </a:rPr>
                      <m:t>𝑏</m:t>
                    </m:r>
                    <m:r>
                      <a:rPr lang="en-GB" b="0" i="1" smtClean="0">
                        <a:latin typeface="Cambria Math"/>
                      </a:rPr>
                      <m:t>&gt;9</m:t>
                    </m:r>
                  </m:oMath>
                </a14:m>
                <a:endParaRPr lang="en-GB" b="0"/>
              </a:p>
              <a:p>
                <a:pPr marL="400050" indent="-400050">
                  <a:buAutoNum type="romanLcParenR"/>
                </a:pPr>
                <a:r>
                  <a:rPr lang="en-GB"/>
                  <a:t>1 root: Not possible.</a:t>
                </a:r>
              </a:p>
              <a:p>
                <a:pPr marL="400050" indent="-400050">
                  <a:buAutoNum type="romanLcParenR"/>
                </a:pPr>
                <a:r>
                  <a:rPr lang="en-GB"/>
                  <a:t>2 roots: When </a:t>
                </a:r>
                <a14:m>
                  <m:oMath xmlns:m="http://schemas.openxmlformats.org/officeDocument/2006/math">
                    <m:r>
                      <m:rPr>
                        <m:sty m:val="p"/>
                      </m:rPr>
                      <a:rPr lang="en-GB" b="0" i="0" smtClean="0">
                        <a:latin typeface="Cambria Math"/>
                      </a:rPr>
                      <m:t>b</m:t>
                    </m:r>
                    <m:r>
                      <a:rPr lang="en-GB" b="0" i="0" smtClean="0">
                        <a:latin typeface="Cambria Math"/>
                      </a:rPr>
                      <m:t>=9 </m:t>
                    </m:r>
                    <m:r>
                      <m:rPr>
                        <m:sty m:val="p"/>
                      </m:rPr>
                      <a:rPr lang="en-GB" b="0" i="0" smtClean="0">
                        <a:latin typeface="Cambria Math"/>
                      </a:rPr>
                      <m:t>or</m:t>
                    </m:r>
                    <m:r>
                      <a:rPr lang="en-GB" b="0" i="0" smtClean="0">
                        <a:latin typeface="Cambria Math"/>
                      </a:rPr>
                      <m:t> </m:t>
                    </m:r>
                    <m:r>
                      <a:rPr lang="en-GB" b="0" i="1" smtClean="0">
                        <a:latin typeface="Cambria Math"/>
                      </a:rPr>
                      <m:t>𝑏</m:t>
                    </m:r>
                    <m:r>
                      <a:rPr lang="en-GB" b="0" i="1" smtClean="0">
                        <a:latin typeface="Cambria Math"/>
                      </a:rPr>
                      <m:t>&lt;0</m:t>
                    </m:r>
                  </m:oMath>
                </a14:m>
                <a:endParaRPr lang="en-GB" b="0" i="1">
                  <a:latin typeface="Cambria Math"/>
                </a:endParaRPr>
              </a:p>
              <a:p>
                <a:pPr marL="400050" indent="-400050">
                  <a:buAutoNum type="romanLcParenR"/>
                </a:pPr>
                <a:r>
                  <a:rPr lang="en-GB"/>
                  <a:t>3 roots: </a:t>
                </a:r>
                <a14:m>
                  <m:oMath xmlns:m="http://schemas.openxmlformats.org/officeDocument/2006/math">
                    <m:r>
                      <a:rPr lang="en-GB" i="1" dirty="0" smtClean="0">
                        <a:latin typeface="Cambria Math"/>
                      </a:rPr>
                      <m:t>𝑏</m:t>
                    </m:r>
                    <m:r>
                      <a:rPr lang="en-GB" i="1" dirty="0" smtClean="0">
                        <a:latin typeface="Cambria Math"/>
                      </a:rPr>
                      <m:t>=0</m:t>
                    </m:r>
                  </m:oMath>
                </a14:m>
                <a:endParaRPr lang="en-GB"/>
              </a:p>
              <a:p>
                <a:pPr marL="400050" indent="-400050">
                  <a:buAutoNum type="romanLcParenR"/>
                </a:pPr>
                <a:r>
                  <a:rPr lang="en-GB"/>
                  <a:t>4 roots: </a:t>
                </a:r>
                <a14:m>
                  <m:oMath xmlns:m="http://schemas.openxmlformats.org/officeDocument/2006/math">
                    <m:r>
                      <a:rPr lang="en-GB" b="0" i="1" smtClean="0">
                        <a:latin typeface="Cambria Math"/>
                      </a:rPr>
                      <m:t>0&lt;</m:t>
                    </m:r>
                    <m:r>
                      <a:rPr lang="en-GB" b="0" i="1" smtClean="0">
                        <a:latin typeface="Cambria Math"/>
                      </a:rPr>
                      <m:t>𝑏</m:t>
                    </m:r>
                    <m:r>
                      <a:rPr lang="en-GB" b="0" i="1" smtClean="0">
                        <a:latin typeface="Cambria Math"/>
                      </a:rPr>
                      <m:t>&lt;9</m:t>
                    </m:r>
                  </m:oMath>
                </a14:m>
                <a:endParaRPr lang="en-GB"/>
              </a:p>
              <a:p>
                <a:pPr marL="400050" indent="-400050">
                  <a:buAutoNum type="romanLcParenR"/>
                </a:pPr>
                <a:endParaRPr lang="en-GB"/>
              </a:p>
              <a:p>
                <a:pPr marL="400050" indent="-400050">
                  <a:buAutoNum type="romanLcParenR"/>
                </a:pPr>
                <a:endParaRPr lang="en-GB"/>
              </a:p>
            </p:txBody>
          </p:sp>
        </mc:Choice>
        <mc:Fallback>
          <p:sp>
            <p:nvSpPr>
              <p:cNvPr id="32" name="TextBox 31"/>
              <p:cNvSpPr txBox="1">
                <a:spLocks noRot="1" noChangeAspect="1" noMove="1" noResize="1" noEditPoints="1" noAdjustHandles="1" noChangeArrowheads="1" noChangeShapeType="1" noTextEdit="1"/>
              </p:cNvSpPr>
              <p:nvPr/>
            </p:nvSpPr>
            <p:spPr>
              <a:xfrm>
                <a:off x="5462765" y="2677457"/>
                <a:ext cx="2952328" cy="3416320"/>
              </a:xfrm>
              <a:prstGeom prst="rect">
                <a:avLst/>
              </a:prstGeom>
              <a:blipFill>
                <a:blip r:embed="rId5"/>
                <a:stretch>
                  <a:fillRect l="-1717" t="-738" r="-1717"/>
                </a:stretch>
              </a:blipFill>
            </p:spPr>
            <p:txBody>
              <a:bodyPr/>
              <a:lstStyle/>
              <a:p>
                <a:r>
                  <a:rPr lang="en-US">
                    <a:noFill/>
                  </a:rPr>
                  <a:t> </a:t>
                </a:r>
              </a:p>
            </p:txBody>
          </p:sp>
        </mc:Fallback>
      </mc:AlternateContent>
      <p:sp>
        <p:nvSpPr>
          <p:cNvPr id="35" name="Rectangle 34"/>
          <p:cNvSpPr/>
          <p:nvPr/>
        </p:nvSpPr>
        <p:spPr>
          <a:xfrm>
            <a:off x="653135" y="2749464"/>
            <a:ext cx="4104456" cy="3143297"/>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36" name="Rectangle 35"/>
          <p:cNvSpPr/>
          <p:nvPr/>
        </p:nvSpPr>
        <p:spPr>
          <a:xfrm>
            <a:off x="5894814" y="3753029"/>
            <a:ext cx="2520279" cy="314994"/>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37" name="Rectangle 36"/>
          <p:cNvSpPr/>
          <p:nvPr/>
        </p:nvSpPr>
        <p:spPr>
          <a:xfrm>
            <a:off x="5894813" y="4070623"/>
            <a:ext cx="2520279" cy="314994"/>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38" name="Rectangle 37"/>
          <p:cNvSpPr/>
          <p:nvPr/>
        </p:nvSpPr>
        <p:spPr>
          <a:xfrm>
            <a:off x="5894813" y="4385617"/>
            <a:ext cx="2520279" cy="511080"/>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39" name="Rectangle 38"/>
          <p:cNvSpPr/>
          <p:nvPr/>
        </p:nvSpPr>
        <p:spPr>
          <a:xfrm>
            <a:off x="5894814" y="4896697"/>
            <a:ext cx="2520279" cy="314994"/>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40" name="Rectangle 39"/>
          <p:cNvSpPr/>
          <p:nvPr/>
        </p:nvSpPr>
        <p:spPr>
          <a:xfrm>
            <a:off x="5894812" y="5208777"/>
            <a:ext cx="2520279" cy="314994"/>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8" name="TextBox 7"/>
          <p:cNvSpPr txBox="1"/>
          <p:nvPr/>
        </p:nvSpPr>
        <p:spPr>
          <a:xfrm>
            <a:off x="235094" y="2678455"/>
            <a:ext cx="384336" cy="382818"/>
          </a:xfrm>
          <a:prstGeom prst="rect">
            <a:avLst/>
          </a:prstGeom>
          <a:noFill/>
        </p:spPr>
        <p:txBody>
          <a:bodyPr wrap="square" rtlCol="0">
            <a:spAutoFit/>
          </a:bodyPr>
          <a:lstStyle/>
          <a:p>
            <a:r>
              <a:rPr lang="en-GB"/>
              <a:t>a)</a:t>
            </a:r>
          </a:p>
        </p:txBody>
      </p:sp>
      <p:sp>
        <p:nvSpPr>
          <p:cNvPr id="41" name="TextBox 40"/>
          <p:cNvSpPr txBox="1"/>
          <p:nvPr/>
        </p:nvSpPr>
        <p:spPr>
          <a:xfrm>
            <a:off x="5070539" y="2657189"/>
            <a:ext cx="384336" cy="382818"/>
          </a:xfrm>
          <a:prstGeom prst="rect">
            <a:avLst/>
          </a:prstGeom>
          <a:noFill/>
        </p:spPr>
        <p:txBody>
          <a:bodyPr wrap="square" rtlCol="0">
            <a:spAutoFit/>
          </a:bodyPr>
          <a:lstStyle/>
          <a:p>
            <a:r>
              <a:rPr lang="en-GB"/>
              <a:t>b)</a:t>
            </a:r>
          </a:p>
        </p:txBody>
      </p:sp>
    </p:spTree>
    <p:extLst>
      <p:ext uri="{BB962C8B-B14F-4D97-AF65-F5344CB8AC3E}">
        <p14:creationId xmlns:p14="http://schemas.microsoft.com/office/powerpoint/2010/main" val="1308875157"/>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35"/>
                    </p:tgtEl>
                  </p:cond>
                </p:stCondLst>
                <p:endSync evt="end" delay="0">
                  <p:rtn val="all"/>
                </p:endSync>
                <p:childTnLst>
                  <p:par>
                    <p:cTn id="3" fill="hold">
                      <p:stCondLst>
                        <p:cond delay="0"/>
                      </p:stCondLst>
                      <p:childTnLst>
                        <p:par>
                          <p:cTn id="4" fill="hold">
                            <p:stCondLst>
                              <p:cond delay="0"/>
                            </p:stCondLst>
                            <p:childTnLst>
                              <p:par>
                                <p:cTn id="5" presetID="22" presetClass="exit" presetSubtype="1" fill="hold" grpId="0" nodeType="clickEffect">
                                  <p:stCondLst>
                                    <p:cond delay="0"/>
                                  </p:stCondLst>
                                  <p:childTnLst>
                                    <p:animEffect transition="out" filter="wipe(up)">
                                      <p:cBhvr>
                                        <p:cTn id="6" dur="500"/>
                                        <p:tgtEl>
                                          <p:spTgt spid="35"/>
                                        </p:tgtEl>
                                      </p:cBhvr>
                                    </p:animEffect>
                                    <p:set>
                                      <p:cBhvr>
                                        <p:cTn id="7" dur="1" fill="hold">
                                          <p:stCondLst>
                                            <p:cond delay="499"/>
                                          </p:stCondLst>
                                        </p:cTn>
                                        <p:tgtEl>
                                          <p:spTgt spid="35"/>
                                        </p:tgtEl>
                                        <p:attrNameLst>
                                          <p:attrName>style.visibility</p:attrName>
                                        </p:attrNameLst>
                                      </p:cBhvr>
                                      <p:to>
                                        <p:strVal val="hidden"/>
                                      </p:to>
                                    </p:set>
                                  </p:childTnLst>
                                </p:cTn>
                              </p:par>
                            </p:childTnLst>
                          </p:cTn>
                        </p:par>
                      </p:childTnLst>
                    </p:cTn>
                  </p:par>
                </p:childTnLst>
              </p:cTn>
              <p:nextCondLst>
                <p:cond evt="onClick" delay="0">
                  <p:tgtEl>
                    <p:spTgt spid="35"/>
                  </p:tgtEl>
                </p:cond>
              </p:nextCondLst>
            </p:seq>
            <p:seq concurrent="1" nextAc="seek">
              <p:cTn id="8" restart="whenNotActive" fill="hold" evtFilter="cancelBubble" nodeType="interactiveSeq">
                <p:stCondLst>
                  <p:cond evt="onClick" delay="0">
                    <p:tgtEl>
                      <p:spTgt spid="36"/>
                    </p:tgtEl>
                  </p:cond>
                </p:stCondLst>
                <p:endSync evt="end" delay="0">
                  <p:rtn val="all"/>
                </p:endSync>
                <p:childTnLst>
                  <p:par>
                    <p:cTn id="9" fill="hold">
                      <p:stCondLst>
                        <p:cond delay="0"/>
                      </p:stCondLst>
                      <p:childTnLst>
                        <p:par>
                          <p:cTn id="10" fill="hold">
                            <p:stCondLst>
                              <p:cond delay="0"/>
                            </p:stCondLst>
                            <p:childTnLst>
                              <p:par>
                                <p:cTn id="11" presetID="22" presetClass="exit" presetSubtype="1" fill="hold" grpId="0" nodeType="clickEffect">
                                  <p:stCondLst>
                                    <p:cond delay="0"/>
                                  </p:stCondLst>
                                  <p:childTnLst>
                                    <p:animEffect transition="out" filter="wipe(up)">
                                      <p:cBhvr>
                                        <p:cTn id="12" dur="500"/>
                                        <p:tgtEl>
                                          <p:spTgt spid="36"/>
                                        </p:tgtEl>
                                      </p:cBhvr>
                                    </p:animEffect>
                                    <p:set>
                                      <p:cBhvr>
                                        <p:cTn id="13" dur="1" fill="hold">
                                          <p:stCondLst>
                                            <p:cond delay="499"/>
                                          </p:stCondLst>
                                        </p:cTn>
                                        <p:tgtEl>
                                          <p:spTgt spid="36"/>
                                        </p:tgtEl>
                                        <p:attrNameLst>
                                          <p:attrName>style.visibility</p:attrName>
                                        </p:attrNameLst>
                                      </p:cBhvr>
                                      <p:to>
                                        <p:strVal val="hidden"/>
                                      </p:to>
                                    </p:set>
                                  </p:childTnLst>
                                </p:cTn>
                              </p:par>
                            </p:childTnLst>
                          </p:cTn>
                        </p:par>
                      </p:childTnLst>
                    </p:cTn>
                  </p:par>
                </p:childTnLst>
              </p:cTn>
              <p:nextCondLst>
                <p:cond evt="onClick" delay="0">
                  <p:tgtEl>
                    <p:spTgt spid="36"/>
                  </p:tgtEl>
                </p:cond>
              </p:nextCondLst>
            </p:seq>
            <p:seq concurrent="1" nextAc="seek">
              <p:cTn id="14" restart="whenNotActive" fill="hold" evtFilter="cancelBubble" nodeType="interactiveSeq">
                <p:stCondLst>
                  <p:cond evt="onClick" delay="0">
                    <p:tgtEl>
                      <p:spTgt spid="37"/>
                    </p:tgtEl>
                  </p:cond>
                </p:stCondLst>
                <p:endSync evt="end" delay="0">
                  <p:rtn val="all"/>
                </p:endSync>
                <p:childTnLst>
                  <p:par>
                    <p:cTn id="15" fill="hold">
                      <p:stCondLst>
                        <p:cond delay="0"/>
                      </p:stCondLst>
                      <p:childTnLst>
                        <p:par>
                          <p:cTn id="16" fill="hold">
                            <p:stCondLst>
                              <p:cond delay="0"/>
                            </p:stCondLst>
                            <p:childTnLst>
                              <p:par>
                                <p:cTn id="17" presetID="22" presetClass="exit" presetSubtype="1" fill="hold" grpId="0" nodeType="clickEffect">
                                  <p:stCondLst>
                                    <p:cond delay="0"/>
                                  </p:stCondLst>
                                  <p:childTnLst>
                                    <p:animEffect transition="out" filter="wipe(up)">
                                      <p:cBhvr>
                                        <p:cTn id="18" dur="500"/>
                                        <p:tgtEl>
                                          <p:spTgt spid="37"/>
                                        </p:tgtEl>
                                      </p:cBhvr>
                                    </p:animEffect>
                                    <p:set>
                                      <p:cBhvr>
                                        <p:cTn id="19" dur="1" fill="hold">
                                          <p:stCondLst>
                                            <p:cond delay="499"/>
                                          </p:stCondLst>
                                        </p:cTn>
                                        <p:tgtEl>
                                          <p:spTgt spid="37"/>
                                        </p:tgtEl>
                                        <p:attrNameLst>
                                          <p:attrName>style.visibility</p:attrName>
                                        </p:attrNameLst>
                                      </p:cBhvr>
                                      <p:to>
                                        <p:strVal val="hidden"/>
                                      </p:to>
                                    </p:set>
                                  </p:childTnLst>
                                </p:cTn>
                              </p:par>
                            </p:childTnLst>
                          </p:cTn>
                        </p:par>
                      </p:childTnLst>
                    </p:cTn>
                  </p:par>
                </p:childTnLst>
              </p:cTn>
              <p:nextCondLst>
                <p:cond evt="onClick" delay="0">
                  <p:tgtEl>
                    <p:spTgt spid="37"/>
                  </p:tgtEl>
                </p:cond>
              </p:nextCondLst>
            </p:seq>
            <p:seq concurrent="1" nextAc="seek">
              <p:cTn id="20" restart="whenNotActive" fill="hold" evtFilter="cancelBubble" nodeType="interactiveSeq">
                <p:stCondLst>
                  <p:cond evt="onClick" delay="0">
                    <p:tgtEl>
                      <p:spTgt spid="38"/>
                    </p:tgtEl>
                  </p:cond>
                </p:stCondLst>
                <p:endSync evt="end" delay="0">
                  <p:rtn val="all"/>
                </p:endSync>
                <p:childTnLst>
                  <p:par>
                    <p:cTn id="21" fill="hold">
                      <p:stCondLst>
                        <p:cond delay="0"/>
                      </p:stCondLst>
                      <p:childTnLst>
                        <p:par>
                          <p:cTn id="22" fill="hold">
                            <p:stCondLst>
                              <p:cond delay="0"/>
                            </p:stCondLst>
                            <p:childTnLst>
                              <p:par>
                                <p:cTn id="23" presetID="22" presetClass="exit" presetSubtype="1" fill="hold" grpId="0" nodeType="clickEffect">
                                  <p:stCondLst>
                                    <p:cond delay="0"/>
                                  </p:stCondLst>
                                  <p:childTnLst>
                                    <p:animEffect transition="out" filter="wipe(up)">
                                      <p:cBhvr>
                                        <p:cTn id="24" dur="500"/>
                                        <p:tgtEl>
                                          <p:spTgt spid="38"/>
                                        </p:tgtEl>
                                      </p:cBhvr>
                                    </p:animEffect>
                                    <p:set>
                                      <p:cBhvr>
                                        <p:cTn id="25" dur="1" fill="hold">
                                          <p:stCondLst>
                                            <p:cond delay="499"/>
                                          </p:stCondLst>
                                        </p:cTn>
                                        <p:tgtEl>
                                          <p:spTgt spid="38"/>
                                        </p:tgtEl>
                                        <p:attrNameLst>
                                          <p:attrName>style.visibility</p:attrName>
                                        </p:attrNameLst>
                                      </p:cBhvr>
                                      <p:to>
                                        <p:strVal val="hidden"/>
                                      </p:to>
                                    </p:set>
                                  </p:childTnLst>
                                </p:cTn>
                              </p:par>
                            </p:childTnLst>
                          </p:cTn>
                        </p:par>
                      </p:childTnLst>
                    </p:cTn>
                  </p:par>
                </p:childTnLst>
              </p:cTn>
              <p:nextCondLst>
                <p:cond evt="onClick" delay="0">
                  <p:tgtEl>
                    <p:spTgt spid="38"/>
                  </p:tgtEl>
                </p:cond>
              </p:nextCondLst>
            </p:seq>
            <p:seq concurrent="1" nextAc="seek">
              <p:cTn id="26" restart="whenNotActive" fill="hold" evtFilter="cancelBubble" nodeType="interactiveSeq">
                <p:stCondLst>
                  <p:cond evt="onClick" delay="0">
                    <p:tgtEl>
                      <p:spTgt spid="39"/>
                    </p:tgtEl>
                  </p:cond>
                </p:stCondLst>
                <p:endSync evt="end" delay="0">
                  <p:rtn val="all"/>
                </p:endSync>
                <p:childTnLst>
                  <p:par>
                    <p:cTn id="27" fill="hold">
                      <p:stCondLst>
                        <p:cond delay="0"/>
                      </p:stCondLst>
                      <p:childTnLst>
                        <p:par>
                          <p:cTn id="28" fill="hold">
                            <p:stCondLst>
                              <p:cond delay="0"/>
                            </p:stCondLst>
                            <p:childTnLst>
                              <p:par>
                                <p:cTn id="29" presetID="22" presetClass="exit" presetSubtype="1" fill="hold" grpId="0" nodeType="clickEffect">
                                  <p:stCondLst>
                                    <p:cond delay="0"/>
                                  </p:stCondLst>
                                  <p:childTnLst>
                                    <p:animEffect transition="out" filter="wipe(up)">
                                      <p:cBhvr>
                                        <p:cTn id="30" dur="500"/>
                                        <p:tgtEl>
                                          <p:spTgt spid="39"/>
                                        </p:tgtEl>
                                      </p:cBhvr>
                                    </p:animEffect>
                                    <p:set>
                                      <p:cBhvr>
                                        <p:cTn id="31" dur="1" fill="hold">
                                          <p:stCondLst>
                                            <p:cond delay="499"/>
                                          </p:stCondLst>
                                        </p:cTn>
                                        <p:tgtEl>
                                          <p:spTgt spid="39"/>
                                        </p:tgtEl>
                                        <p:attrNameLst>
                                          <p:attrName>style.visibility</p:attrName>
                                        </p:attrNameLst>
                                      </p:cBhvr>
                                      <p:to>
                                        <p:strVal val="hidden"/>
                                      </p:to>
                                    </p:set>
                                  </p:childTnLst>
                                </p:cTn>
                              </p:par>
                            </p:childTnLst>
                          </p:cTn>
                        </p:par>
                      </p:childTnLst>
                    </p:cTn>
                  </p:par>
                </p:childTnLst>
              </p:cTn>
              <p:nextCondLst>
                <p:cond evt="onClick" delay="0">
                  <p:tgtEl>
                    <p:spTgt spid="39"/>
                  </p:tgtEl>
                </p:cond>
              </p:nextCondLst>
            </p:seq>
            <p:seq concurrent="1" nextAc="seek">
              <p:cTn id="32" restart="whenNotActive" fill="hold" evtFilter="cancelBubble" nodeType="interactiveSeq">
                <p:stCondLst>
                  <p:cond evt="onClick" delay="0">
                    <p:tgtEl>
                      <p:spTgt spid="40"/>
                    </p:tgtEl>
                  </p:cond>
                </p:stCondLst>
                <p:endSync evt="end" delay="0">
                  <p:rtn val="all"/>
                </p:endSync>
                <p:childTnLst>
                  <p:par>
                    <p:cTn id="33" fill="hold">
                      <p:stCondLst>
                        <p:cond delay="0"/>
                      </p:stCondLst>
                      <p:childTnLst>
                        <p:par>
                          <p:cTn id="34" fill="hold">
                            <p:stCondLst>
                              <p:cond delay="0"/>
                            </p:stCondLst>
                            <p:childTnLst>
                              <p:par>
                                <p:cTn id="35" presetID="22" presetClass="exit" presetSubtype="1" fill="hold" grpId="0" nodeType="clickEffect">
                                  <p:stCondLst>
                                    <p:cond delay="0"/>
                                  </p:stCondLst>
                                  <p:childTnLst>
                                    <p:animEffect transition="out" filter="wipe(up)">
                                      <p:cBhvr>
                                        <p:cTn id="36" dur="500"/>
                                        <p:tgtEl>
                                          <p:spTgt spid="40"/>
                                        </p:tgtEl>
                                      </p:cBhvr>
                                    </p:animEffect>
                                    <p:set>
                                      <p:cBhvr>
                                        <p:cTn id="37" dur="1" fill="hold">
                                          <p:stCondLst>
                                            <p:cond delay="499"/>
                                          </p:stCondLst>
                                        </p:cTn>
                                        <p:tgtEl>
                                          <p:spTgt spid="40"/>
                                        </p:tgtEl>
                                        <p:attrNameLst>
                                          <p:attrName>style.visibility</p:attrName>
                                        </p:attrNameLst>
                                      </p:cBhvr>
                                      <p:to>
                                        <p:strVal val="hidden"/>
                                      </p:to>
                                    </p:set>
                                  </p:childTnLst>
                                </p:cTn>
                              </p:par>
                            </p:childTnLst>
                          </p:cTn>
                        </p:par>
                      </p:childTnLst>
                    </p:cTn>
                  </p:par>
                </p:childTnLst>
              </p:cTn>
              <p:nextCondLst>
                <p:cond evt="onClick" delay="0">
                  <p:tgtEl>
                    <p:spTgt spid="40"/>
                  </p:tgtEl>
                </p:cond>
              </p:nextCondLst>
            </p:seq>
          </p:childTnLst>
        </p:cTn>
      </p:par>
    </p:tnLst>
    <p:bldLst>
      <p:bldP spid="35" grpId="0" animBg="1"/>
      <p:bldP spid="36" grpId="0" animBg="1"/>
      <p:bldP spid="37" grpId="0" animBg="1"/>
      <p:bldP spid="38" grpId="0" animBg="1"/>
      <p:bldP spid="39" grpId="0" animBg="1"/>
      <p:bldP spid="40"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vert="horz" wrap="square" lIns="324000" tIns="45720" rIns="91440" bIns="45720" rtlCol="0" anchor="ctr">
              <a:spAutoFit/>
            </a:bodyPr>
            <a:lstStyle>
              <a:defPPr>
                <a:defRPr lang="en-US"/>
              </a:defPPr>
              <a:lvl1pPr>
                <a:spcBef>
                  <a:spcPct val="0"/>
                </a:spcBef>
                <a:buNone/>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a:t>GCSE RECAP: Reciprocal Graphs</a:t>
              </a:r>
            </a:p>
          </p:txBody>
        </p:sp>
        <p:cxnSp>
          <p:nvCxnSpPr>
            <p:cNvPr id="4" name="Straight Connector 3"/>
            <p:cNvCxnSpPr/>
            <p:nvPr/>
          </p:nvCxnSpPr>
          <p:spPr>
            <a:xfrm>
              <a:off x="218" y="601079"/>
              <a:ext cx="9144000" cy="0"/>
            </a:xfrm>
            <a:prstGeom prst="line">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mc:Choice xmlns:a14="http://schemas.microsoft.com/office/drawing/2010/main" Requires="a14">
          <p:sp>
            <p:nvSpPr>
              <p:cNvPr id="5" name="TextBox 4"/>
              <p:cNvSpPr txBox="1"/>
              <p:nvPr/>
            </p:nvSpPr>
            <p:spPr>
              <a:xfrm>
                <a:off x="395536" y="911091"/>
                <a:ext cx="2160240" cy="484941"/>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a:t>Sketch </a:t>
                </a:r>
                <a14:m>
                  <m:oMath xmlns:m="http://schemas.openxmlformats.org/officeDocument/2006/math">
                    <m:r>
                      <a:rPr lang="en-GB" b="0" i="1" smtClean="0">
                        <a:latin typeface="Cambria Math" panose="02040503050406030204" pitchFamily="18" charset="0"/>
                      </a:rPr>
                      <m:t>𝑦</m:t>
                    </m:r>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𝑥</m:t>
                        </m:r>
                      </m:den>
                    </m:f>
                  </m:oMath>
                </a14:m>
                <a:endParaRPr lang="en-GB"/>
              </a:p>
            </p:txBody>
          </p:sp>
        </mc:Choice>
        <mc:Fallback>
          <p:sp>
            <p:nvSpPr>
              <p:cNvPr id="5" name="TextBox 4"/>
              <p:cNvSpPr txBox="1">
                <a:spLocks noRot="1" noChangeAspect="1" noMove="1" noResize="1" noEditPoints="1" noAdjustHandles="1" noChangeArrowheads="1" noChangeShapeType="1" noTextEdit="1"/>
              </p:cNvSpPr>
              <p:nvPr/>
            </p:nvSpPr>
            <p:spPr>
              <a:xfrm>
                <a:off x="395536" y="911091"/>
                <a:ext cx="2160240" cy="484941"/>
              </a:xfrm>
              <a:prstGeom prst="rect">
                <a:avLst/>
              </a:prstGeom>
              <a:blipFill>
                <a:blip r:embed="rId2"/>
                <a:stretch>
                  <a:fillRect/>
                </a:stretch>
              </a:blipFill>
              <a:effectLst>
                <a:outerShdw blurRad="63500" sx="102000" sy="102000" algn="ctr" rotWithShape="0">
                  <a:prstClr val="black">
                    <a:alpha val="40000"/>
                  </a:prstClr>
                </a:outerShdw>
              </a:effectLst>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 name="TextBox 5"/>
              <p:cNvSpPr txBox="1"/>
              <p:nvPr/>
            </p:nvSpPr>
            <p:spPr>
              <a:xfrm>
                <a:off x="4585070" y="944400"/>
                <a:ext cx="2160240" cy="485518"/>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a:t>Sketch </a:t>
                </a:r>
                <a14:m>
                  <m:oMath xmlns:m="http://schemas.openxmlformats.org/officeDocument/2006/math">
                    <m:r>
                      <a:rPr lang="en-GB" b="0" i="1" smtClean="0">
                        <a:latin typeface="Cambria Math" panose="02040503050406030204" pitchFamily="18" charset="0"/>
                      </a:rPr>
                      <m:t>𝑦</m:t>
                    </m:r>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3</m:t>
                        </m:r>
                      </m:num>
                      <m:den>
                        <m:r>
                          <a:rPr lang="en-GB" b="0" i="1" smtClean="0">
                            <a:latin typeface="Cambria Math" panose="02040503050406030204" pitchFamily="18" charset="0"/>
                          </a:rPr>
                          <m:t>𝑥</m:t>
                        </m:r>
                      </m:den>
                    </m:f>
                  </m:oMath>
                </a14:m>
                <a:endParaRPr lang="en-GB"/>
              </a:p>
            </p:txBody>
          </p:sp>
        </mc:Choice>
        <mc:Fallback>
          <p:sp>
            <p:nvSpPr>
              <p:cNvPr id="6" name="TextBox 5"/>
              <p:cNvSpPr txBox="1">
                <a:spLocks noRot="1" noChangeAspect="1" noMove="1" noResize="1" noEditPoints="1" noAdjustHandles="1" noChangeArrowheads="1" noChangeShapeType="1" noTextEdit="1"/>
              </p:cNvSpPr>
              <p:nvPr/>
            </p:nvSpPr>
            <p:spPr>
              <a:xfrm>
                <a:off x="4585070" y="944400"/>
                <a:ext cx="2160240" cy="485518"/>
              </a:xfrm>
              <a:prstGeom prst="rect">
                <a:avLst/>
              </a:prstGeom>
              <a:blipFill>
                <a:blip r:embed="rId3"/>
                <a:stretch>
                  <a:fillRect/>
                </a:stretch>
              </a:blipFill>
              <a:effectLst>
                <a:outerShdw blurRad="63500" sx="102000" sy="102000" algn="ctr" rotWithShape="0">
                  <a:prstClr val="black">
                    <a:alpha val="40000"/>
                  </a:prstClr>
                </a:outerShdw>
              </a:effectLst>
            </p:spPr>
            <p:txBody>
              <a:bodyPr/>
              <a:lstStyle/>
              <a:p>
                <a:r>
                  <a:rPr lang="en-US">
                    <a:noFill/>
                  </a:rPr>
                  <a:t> </a:t>
                </a:r>
              </a:p>
            </p:txBody>
          </p:sp>
        </mc:Fallback>
      </mc:AlternateContent>
      <p:cxnSp>
        <p:nvCxnSpPr>
          <p:cNvPr id="7" name="Straight Arrow Connector 6"/>
          <p:cNvCxnSpPr/>
          <p:nvPr/>
        </p:nvCxnSpPr>
        <p:spPr>
          <a:xfrm>
            <a:off x="828197" y="3314777"/>
            <a:ext cx="240944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 name="Straight Arrow Connector 7"/>
          <p:cNvCxnSpPr/>
          <p:nvPr/>
        </p:nvCxnSpPr>
        <p:spPr>
          <a:xfrm flipH="1" flipV="1">
            <a:off x="2035783" y="2199272"/>
            <a:ext cx="13997" cy="213650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10" name="TextBox 9"/>
              <p:cNvSpPr txBox="1"/>
              <p:nvPr/>
            </p:nvSpPr>
            <p:spPr>
              <a:xfrm>
                <a:off x="1796444" y="1857678"/>
                <a:ext cx="415472" cy="276999"/>
              </a:xfrm>
              <a:prstGeom prst="rect">
                <a:avLst/>
              </a:prstGeom>
              <a:noFill/>
            </p:spPr>
            <p:txBody>
              <a:bodyPr wrap="square" rtlCol="0">
                <a:spAutoFit/>
              </a:bodyPr>
              <a:lstStyle/>
              <a:p>
                <a:pPr/>
                <a14:m>
                  <m:oMathPara xmlns:m="http://schemas.openxmlformats.org/officeDocument/2006/math">
                    <m:oMath>
                      <m:r>
                        <a:rPr lang="en-GB" sz="1200" b="0" i="1" smtClean="0">
                          <a:latin typeface="Cambria Math" panose="02040503050406030204" pitchFamily="18" charset="0"/>
                        </a:rPr>
                        <m:t>𝑦</m:t>
                      </m:r>
                    </m:oMath>
                  </m:oMathPara>
                </a14:m>
                <a:endParaRPr lang="en-GB"/>
              </a:p>
            </p:txBody>
          </p:sp>
        </mc:Choice>
        <mc:Fallback>
          <p:sp>
            <p:nvSpPr>
              <p:cNvPr id="10" name="TextBox 9"/>
              <p:cNvSpPr txBox="1">
                <a:spLocks noRot="1" noChangeAspect="1" noMove="1" noResize="1" noEditPoints="1" noAdjustHandles="1" noChangeArrowheads="1" noChangeShapeType="1" noTextEdit="1"/>
              </p:cNvSpPr>
              <p:nvPr/>
            </p:nvSpPr>
            <p:spPr>
              <a:xfrm>
                <a:off x="1796444" y="1857678"/>
                <a:ext cx="415472" cy="276999"/>
              </a:xfrm>
              <a:prstGeom prst="rect">
                <a:avLst/>
              </a:prstGeom>
              <a:blipFill>
                <a:blip r:embed="rId4"/>
                <a:stretch>
                  <a:fillRect b="-454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1" name="TextBox 10"/>
              <p:cNvSpPr txBox="1"/>
              <p:nvPr/>
            </p:nvSpPr>
            <p:spPr>
              <a:xfrm>
                <a:off x="3127413" y="3185282"/>
                <a:ext cx="415472" cy="276999"/>
              </a:xfrm>
              <a:prstGeom prst="rect">
                <a:avLst/>
              </a:prstGeom>
              <a:noFill/>
            </p:spPr>
            <p:txBody>
              <a:bodyPr wrap="square" rtlCol="0">
                <a:spAutoFit/>
              </a:bodyPr>
              <a:lstStyle/>
              <a:p>
                <a:pPr/>
                <a14:m>
                  <m:oMathPara xmlns:m="http://schemas.openxmlformats.org/officeDocument/2006/math">
                    <m:oMath>
                      <m:r>
                        <a:rPr lang="en-GB" sz="1200" b="0" i="1" smtClean="0">
                          <a:latin typeface="Cambria Math" panose="02040503050406030204" pitchFamily="18" charset="0"/>
                        </a:rPr>
                        <m:t>𝑥</m:t>
                      </m:r>
                    </m:oMath>
                  </m:oMathPara>
                </a14:m>
                <a:endParaRPr lang="en-GB"/>
              </a:p>
            </p:txBody>
          </p:sp>
        </mc:Choice>
        <mc:Fallback>
          <p:sp>
            <p:nvSpPr>
              <p:cNvPr id="11" name="TextBox 10"/>
              <p:cNvSpPr txBox="1">
                <a:spLocks noRot="1" noChangeAspect="1" noMove="1" noResize="1" noEditPoints="1" noAdjustHandles="1" noChangeArrowheads="1" noChangeShapeType="1" noTextEdit="1"/>
              </p:cNvSpPr>
              <p:nvPr/>
            </p:nvSpPr>
            <p:spPr>
              <a:xfrm>
                <a:off x="3127413" y="3185282"/>
                <a:ext cx="415472" cy="276999"/>
              </a:xfrm>
              <a:prstGeom prst="rect">
                <a:avLst/>
              </a:prstGeom>
              <a:blipFill>
                <a:blip r:embed="rId5"/>
                <a:stretch>
                  <a:fillRect/>
                </a:stretch>
              </a:blipFill>
            </p:spPr>
            <p:txBody>
              <a:bodyPr/>
              <a:lstStyle/>
              <a:p>
                <a:r>
                  <a:rPr lang="en-US">
                    <a:noFill/>
                  </a:rPr>
                  <a:t> </a:t>
                </a:r>
              </a:p>
            </p:txBody>
          </p:sp>
        </mc:Fallback>
      </mc:AlternateContent>
      <p:sp>
        <p:nvSpPr>
          <p:cNvPr id="15" name="Freeform: Shape 14"/>
          <p:cNvSpPr/>
          <p:nvPr/>
        </p:nvSpPr>
        <p:spPr>
          <a:xfrm>
            <a:off x="2094614" y="2317898"/>
            <a:ext cx="1031358" cy="967562"/>
          </a:xfrm>
          <a:custGeom>
            <a:avLst/>
            <a:gdLst>
              <a:gd name="connsiteX0" fmla="*/ 0 w 1031358"/>
              <a:gd name="connsiteY0" fmla="*/ 0 h 967562"/>
              <a:gd name="connsiteX1" fmla="*/ 318977 w 1031358"/>
              <a:gd name="connsiteY1" fmla="*/ 723014 h 967562"/>
              <a:gd name="connsiteX2" fmla="*/ 1031358 w 1031358"/>
              <a:gd name="connsiteY2" fmla="*/ 967562 h 967562"/>
              <a:gd name="connsiteX0" fmla="*/ 0 w 1031358"/>
              <a:gd name="connsiteY0" fmla="*/ 0 h 967562"/>
              <a:gd name="connsiteX1" fmla="*/ 318977 w 1031358"/>
              <a:gd name="connsiteY1" fmla="*/ 723014 h 967562"/>
              <a:gd name="connsiteX2" fmla="*/ 1031358 w 1031358"/>
              <a:gd name="connsiteY2" fmla="*/ 967562 h 967562"/>
              <a:gd name="connsiteX0" fmla="*/ 0 w 1031358"/>
              <a:gd name="connsiteY0" fmla="*/ 0 h 967562"/>
              <a:gd name="connsiteX1" fmla="*/ 318977 w 1031358"/>
              <a:gd name="connsiteY1" fmla="*/ 723014 h 967562"/>
              <a:gd name="connsiteX2" fmla="*/ 1031358 w 1031358"/>
              <a:gd name="connsiteY2" fmla="*/ 967562 h 967562"/>
            </a:gdLst>
            <a:ahLst/>
            <a:cxnLst>
              <a:cxn ang="0">
                <a:pos x="connsiteX0" y="connsiteY0"/>
              </a:cxn>
              <a:cxn ang="0">
                <a:pos x="connsiteX1" y="connsiteY1"/>
              </a:cxn>
              <a:cxn ang="0">
                <a:pos x="connsiteX2" y="connsiteY2"/>
              </a:cxn>
            </a:cxnLst>
            <a:rect l="l" t="t" r="r" b="b"/>
            <a:pathLst>
              <a:path w="1031358" h="967562">
                <a:moveTo>
                  <a:pt x="0" y="0"/>
                </a:moveTo>
                <a:cubicBezTo>
                  <a:pt x="31012" y="227714"/>
                  <a:pt x="147084" y="561754"/>
                  <a:pt x="318977" y="723014"/>
                </a:cubicBezTo>
                <a:cubicBezTo>
                  <a:pt x="490870" y="884274"/>
                  <a:pt x="697319" y="936551"/>
                  <a:pt x="1031358" y="967562"/>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Freeform: Shape 15"/>
          <p:cNvSpPr/>
          <p:nvPr/>
        </p:nvSpPr>
        <p:spPr>
          <a:xfrm rot="10800000">
            <a:off x="972421" y="3368319"/>
            <a:ext cx="1031358" cy="967562"/>
          </a:xfrm>
          <a:custGeom>
            <a:avLst/>
            <a:gdLst>
              <a:gd name="connsiteX0" fmla="*/ 0 w 1031358"/>
              <a:gd name="connsiteY0" fmla="*/ 0 h 967562"/>
              <a:gd name="connsiteX1" fmla="*/ 318977 w 1031358"/>
              <a:gd name="connsiteY1" fmla="*/ 723014 h 967562"/>
              <a:gd name="connsiteX2" fmla="*/ 1031358 w 1031358"/>
              <a:gd name="connsiteY2" fmla="*/ 967562 h 967562"/>
              <a:gd name="connsiteX0" fmla="*/ 0 w 1031358"/>
              <a:gd name="connsiteY0" fmla="*/ 0 h 967562"/>
              <a:gd name="connsiteX1" fmla="*/ 318977 w 1031358"/>
              <a:gd name="connsiteY1" fmla="*/ 723014 h 967562"/>
              <a:gd name="connsiteX2" fmla="*/ 1031358 w 1031358"/>
              <a:gd name="connsiteY2" fmla="*/ 967562 h 967562"/>
              <a:gd name="connsiteX0" fmla="*/ 0 w 1031358"/>
              <a:gd name="connsiteY0" fmla="*/ 0 h 967562"/>
              <a:gd name="connsiteX1" fmla="*/ 318977 w 1031358"/>
              <a:gd name="connsiteY1" fmla="*/ 723014 h 967562"/>
              <a:gd name="connsiteX2" fmla="*/ 1031358 w 1031358"/>
              <a:gd name="connsiteY2" fmla="*/ 967562 h 967562"/>
            </a:gdLst>
            <a:ahLst/>
            <a:cxnLst>
              <a:cxn ang="0">
                <a:pos x="connsiteX0" y="connsiteY0"/>
              </a:cxn>
              <a:cxn ang="0">
                <a:pos x="connsiteX1" y="connsiteY1"/>
              </a:cxn>
              <a:cxn ang="0">
                <a:pos x="connsiteX2" y="connsiteY2"/>
              </a:cxn>
            </a:cxnLst>
            <a:rect l="l" t="t" r="r" b="b"/>
            <a:pathLst>
              <a:path w="1031358" h="967562">
                <a:moveTo>
                  <a:pt x="0" y="0"/>
                </a:moveTo>
                <a:cubicBezTo>
                  <a:pt x="31012" y="227714"/>
                  <a:pt x="147084" y="561754"/>
                  <a:pt x="318977" y="723014"/>
                </a:cubicBezTo>
                <a:cubicBezTo>
                  <a:pt x="490870" y="884274"/>
                  <a:pt x="697319" y="936551"/>
                  <a:pt x="1031358" y="967562"/>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0" name="Straight Arrow Connector 19"/>
          <p:cNvCxnSpPr/>
          <p:nvPr/>
        </p:nvCxnSpPr>
        <p:spPr>
          <a:xfrm>
            <a:off x="4217642" y="3344094"/>
            <a:ext cx="240944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 name="Straight Arrow Connector 20"/>
          <p:cNvCxnSpPr/>
          <p:nvPr/>
        </p:nvCxnSpPr>
        <p:spPr>
          <a:xfrm flipH="1" flipV="1">
            <a:off x="5425228" y="2228589"/>
            <a:ext cx="13997" cy="213650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22" name="TextBox 21"/>
              <p:cNvSpPr txBox="1"/>
              <p:nvPr/>
            </p:nvSpPr>
            <p:spPr>
              <a:xfrm>
                <a:off x="5185889" y="1886995"/>
                <a:ext cx="415472" cy="276999"/>
              </a:xfrm>
              <a:prstGeom prst="rect">
                <a:avLst/>
              </a:prstGeom>
              <a:noFill/>
            </p:spPr>
            <p:txBody>
              <a:bodyPr wrap="square" rtlCol="0">
                <a:spAutoFit/>
              </a:bodyPr>
              <a:lstStyle/>
              <a:p>
                <a:pPr/>
                <a14:m>
                  <m:oMathPara xmlns:m="http://schemas.openxmlformats.org/officeDocument/2006/math">
                    <m:oMath>
                      <m:r>
                        <a:rPr lang="en-GB" sz="1200" b="0" i="1" smtClean="0">
                          <a:latin typeface="Cambria Math" panose="02040503050406030204" pitchFamily="18" charset="0"/>
                        </a:rPr>
                        <m:t>𝑦</m:t>
                      </m:r>
                    </m:oMath>
                  </m:oMathPara>
                </a14:m>
                <a:endParaRPr lang="en-GB"/>
              </a:p>
            </p:txBody>
          </p:sp>
        </mc:Choice>
        <mc:Fallback>
          <p:sp>
            <p:nvSpPr>
              <p:cNvPr id="22" name="TextBox 21"/>
              <p:cNvSpPr txBox="1">
                <a:spLocks noRot="1" noChangeAspect="1" noMove="1" noResize="1" noEditPoints="1" noAdjustHandles="1" noChangeArrowheads="1" noChangeShapeType="1" noTextEdit="1"/>
              </p:cNvSpPr>
              <p:nvPr/>
            </p:nvSpPr>
            <p:spPr>
              <a:xfrm>
                <a:off x="5185889" y="1886995"/>
                <a:ext cx="415472" cy="276999"/>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3" name="TextBox 22"/>
              <p:cNvSpPr txBox="1"/>
              <p:nvPr/>
            </p:nvSpPr>
            <p:spPr>
              <a:xfrm>
                <a:off x="6516858" y="3214599"/>
                <a:ext cx="415472" cy="276999"/>
              </a:xfrm>
              <a:prstGeom prst="rect">
                <a:avLst/>
              </a:prstGeom>
              <a:noFill/>
            </p:spPr>
            <p:txBody>
              <a:bodyPr wrap="square" rtlCol="0">
                <a:spAutoFit/>
              </a:bodyPr>
              <a:lstStyle/>
              <a:p>
                <a:pPr/>
                <a14:m>
                  <m:oMathPara xmlns:m="http://schemas.openxmlformats.org/officeDocument/2006/math">
                    <m:oMath>
                      <m:r>
                        <a:rPr lang="en-GB" sz="1200" b="0" i="1" smtClean="0">
                          <a:latin typeface="Cambria Math" panose="02040503050406030204" pitchFamily="18" charset="0"/>
                        </a:rPr>
                        <m:t>𝑥</m:t>
                      </m:r>
                    </m:oMath>
                  </m:oMathPara>
                </a14:m>
                <a:endParaRPr lang="en-GB"/>
              </a:p>
            </p:txBody>
          </p:sp>
        </mc:Choice>
        <mc:Fallback>
          <p:sp>
            <p:nvSpPr>
              <p:cNvPr id="23" name="TextBox 22"/>
              <p:cNvSpPr txBox="1">
                <a:spLocks noRot="1" noChangeAspect="1" noMove="1" noResize="1" noEditPoints="1" noAdjustHandles="1" noChangeArrowheads="1" noChangeShapeType="1" noTextEdit="1"/>
              </p:cNvSpPr>
              <p:nvPr/>
            </p:nvSpPr>
            <p:spPr>
              <a:xfrm>
                <a:off x="6516858" y="3214599"/>
                <a:ext cx="415472" cy="276999"/>
              </a:xfrm>
              <a:prstGeom prst="rect">
                <a:avLst/>
              </a:prstGeom>
              <a:blipFill>
                <a:blip r:embed="rId7"/>
                <a:stretch>
                  <a:fillRect/>
                </a:stretch>
              </a:blipFill>
            </p:spPr>
            <p:txBody>
              <a:bodyPr/>
              <a:lstStyle/>
              <a:p>
                <a:r>
                  <a:rPr lang="en-US">
                    <a:noFill/>
                  </a:rPr>
                  <a:t> </a:t>
                </a:r>
              </a:p>
            </p:txBody>
          </p:sp>
        </mc:Fallback>
      </mc:AlternateContent>
      <p:sp>
        <p:nvSpPr>
          <p:cNvPr id="24" name="Freeform: Shape 23"/>
          <p:cNvSpPr/>
          <p:nvPr/>
        </p:nvSpPr>
        <p:spPr>
          <a:xfrm flipV="1">
            <a:off x="5484059" y="3399837"/>
            <a:ext cx="1031358" cy="1108367"/>
          </a:xfrm>
          <a:custGeom>
            <a:avLst/>
            <a:gdLst>
              <a:gd name="connsiteX0" fmla="*/ 0 w 1031358"/>
              <a:gd name="connsiteY0" fmla="*/ 0 h 967562"/>
              <a:gd name="connsiteX1" fmla="*/ 318977 w 1031358"/>
              <a:gd name="connsiteY1" fmla="*/ 723014 h 967562"/>
              <a:gd name="connsiteX2" fmla="*/ 1031358 w 1031358"/>
              <a:gd name="connsiteY2" fmla="*/ 967562 h 967562"/>
              <a:gd name="connsiteX0" fmla="*/ 0 w 1031358"/>
              <a:gd name="connsiteY0" fmla="*/ 0 h 967562"/>
              <a:gd name="connsiteX1" fmla="*/ 318977 w 1031358"/>
              <a:gd name="connsiteY1" fmla="*/ 723014 h 967562"/>
              <a:gd name="connsiteX2" fmla="*/ 1031358 w 1031358"/>
              <a:gd name="connsiteY2" fmla="*/ 967562 h 967562"/>
              <a:gd name="connsiteX0" fmla="*/ 0 w 1031358"/>
              <a:gd name="connsiteY0" fmla="*/ 0 h 967562"/>
              <a:gd name="connsiteX1" fmla="*/ 318977 w 1031358"/>
              <a:gd name="connsiteY1" fmla="*/ 723014 h 967562"/>
              <a:gd name="connsiteX2" fmla="*/ 1031358 w 1031358"/>
              <a:gd name="connsiteY2" fmla="*/ 967562 h 967562"/>
            </a:gdLst>
            <a:ahLst/>
            <a:cxnLst>
              <a:cxn ang="0">
                <a:pos x="connsiteX0" y="connsiteY0"/>
              </a:cxn>
              <a:cxn ang="0">
                <a:pos x="connsiteX1" y="connsiteY1"/>
              </a:cxn>
              <a:cxn ang="0">
                <a:pos x="connsiteX2" y="connsiteY2"/>
              </a:cxn>
            </a:cxnLst>
            <a:rect l="l" t="t" r="r" b="b"/>
            <a:pathLst>
              <a:path w="1031358" h="967562">
                <a:moveTo>
                  <a:pt x="0" y="0"/>
                </a:moveTo>
                <a:cubicBezTo>
                  <a:pt x="31012" y="227714"/>
                  <a:pt x="147084" y="561754"/>
                  <a:pt x="318977" y="723014"/>
                </a:cubicBezTo>
                <a:cubicBezTo>
                  <a:pt x="490870" y="884274"/>
                  <a:pt x="697319" y="936551"/>
                  <a:pt x="1031358" y="967562"/>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Freeform: Shape 24"/>
          <p:cNvSpPr/>
          <p:nvPr/>
        </p:nvSpPr>
        <p:spPr>
          <a:xfrm rot="10800000" flipV="1">
            <a:off x="4340601" y="2158409"/>
            <a:ext cx="1031358" cy="1143533"/>
          </a:xfrm>
          <a:custGeom>
            <a:avLst/>
            <a:gdLst>
              <a:gd name="connsiteX0" fmla="*/ 0 w 1031358"/>
              <a:gd name="connsiteY0" fmla="*/ 0 h 967562"/>
              <a:gd name="connsiteX1" fmla="*/ 318977 w 1031358"/>
              <a:gd name="connsiteY1" fmla="*/ 723014 h 967562"/>
              <a:gd name="connsiteX2" fmla="*/ 1031358 w 1031358"/>
              <a:gd name="connsiteY2" fmla="*/ 967562 h 967562"/>
              <a:gd name="connsiteX0" fmla="*/ 0 w 1031358"/>
              <a:gd name="connsiteY0" fmla="*/ 0 h 967562"/>
              <a:gd name="connsiteX1" fmla="*/ 318977 w 1031358"/>
              <a:gd name="connsiteY1" fmla="*/ 723014 h 967562"/>
              <a:gd name="connsiteX2" fmla="*/ 1031358 w 1031358"/>
              <a:gd name="connsiteY2" fmla="*/ 967562 h 967562"/>
              <a:gd name="connsiteX0" fmla="*/ 0 w 1031358"/>
              <a:gd name="connsiteY0" fmla="*/ 0 h 967562"/>
              <a:gd name="connsiteX1" fmla="*/ 318977 w 1031358"/>
              <a:gd name="connsiteY1" fmla="*/ 723014 h 967562"/>
              <a:gd name="connsiteX2" fmla="*/ 1031358 w 1031358"/>
              <a:gd name="connsiteY2" fmla="*/ 967562 h 967562"/>
            </a:gdLst>
            <a:ahLst/>
            <a:cxnLst>
              <a:cxn ang="0">
                <a:pos x="connsiteX0" y="connsiteY0"/>
              </a:cxn>
              <a:cxn ang="0">
                <a:pos x="connsiteX1" y="connsiteY1"/>
              </a:cxn>
              <a:cxn ang="0">
                <a:pos x="connsiteX2" y="connsiteY2"/>
              </a:cxn>
            </a:cxnLst>
            <a:rect l="l" t="t" r="r" b="b"/>
            <a:pathLst>
              <a:path w="1031358" h="967562">
                <a:moveTo>
                  <a:pt x="0" y="0"/>
                </a:moveTo>
                <a:cubicBezTo>
                  <a:pt x="31012" y="227714"/>
                  <a:pt x="147084" y="561754"/>
                  <a:pt x="318977" y="723014"/>
                </a:cubicBezTo>
                <a:cubicBezTo>
                  <a:pt x="490870" y="884274"/>
                  <a:pt x="697319" y="936551"/>
                  <a:pt x="1031358" y="967562"/>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TextBox 25"/>
          <p:cNvSpPr txBox="1"/>
          <p:nvPr/>
        </p:nvSpPr>
        <p:spPr>
          <a:xfrm>
            <a:off x="5740553" y="1888346"/>
            <a:ext cx="2978145" cy="1169551"/>
          </a:xfrm>
          <a:prstGeom prst="rect">
            <a:avLst/>
          </a:prstGeom>
          <a:noFill/>
        </p:spPr>
        <p:txBody>
          <a:bodyPr wrap="square" rtlCol="0">
            <a:spAutoFit/>
          </a:bodyPr>
          <a:lstStyle/>
          <a:p>
            <a:r>
              <a:rPr lang="en-GB" sz="1400" b="1"/>
              <a:t>Note</a:t>
            </a:r>
            <a:r>
              <a:rPr lang="en-GB" sz="1400"/>
              <a:t>: The scaling caused by the 3 isn’t observable for this graph in isolation because the axes have no scale. This will only be observation for multiple graphs on the same axes.</a:t>
            </a:r>
          </a:p>
        </p:txBody>
      </p:sp>
      <mc:AlternateContent xmlns:mc="http://schemas.openxmlformats.org/markup-compatibility/2006">
        <mc:Choice xmlns:a14="http://schemas.microsoft.com/office/drawing/2010/main" Requires="a14">
          <p:sp>
            <p:nvSpPr>
              <p:cNvPr id="27" name="TextBox 26"/>
              <p:cNvSpPr txBox="1"/>
              <p:nvPr/>
            </p:nvSpPr>
            <p:spPr>
              <a:xfrm>
                <a:off x="520996" y="4394614"/>
                <a:ext cx="3535839" cy="830997"/>
              </a:xfrm>
              <a:prstGeom prst="rect">
                <a:avLst/>
              </a:prstGeom>
              <a:noFill/>
            </p:spPr>
            <p:txBody>
              <a:bodyPr wrap="square" rtlCol="0">
                <a:spAutoFit/>
              </a:bodyPr>
              <a:lstStyle/>
              <a:p>
                <a:r>
                  <a:rPr lang="en-GB" sz="1200"/>
                  <a:t>Notice the distance between this line and the </a:t>
                </a:r>
                <a14:m>
                  <m:oMath xmlns:m="http://schemas.openxmlformats.org/officeDocument/2006/math">
                    <m:r>
                      <a:rPr lang="en-GB" sz="1200" b="0" i="1" smtClean="0">
                        <a:latin typeface="Cambria Math" panose="02040503050406030204" pitchFamily="18" charset="0"/>
                      </a:rPr>
                      <m:t>𝑥</m:t>
                    </m:r>
                  </m:oMath>
                </a14:m>
                <a:r>
                  <a:rPr lang="en-GB" sz="1200"/>
                  <a:t>-axis (i.e. the line </a:t>
                </a:r>
                <a14:m>
                  <m:oMath xmlns:m="http://schemas.openxmlformats.org/officeDocument/2006/math">
                    <m:r>
                      <a:rPr lang="en-GB" sz="1200" b="0" i="1" smtClean="0">
                        <a:latin typeface="Cambria Math" panose="02040503050406030204" pitchFamily="18" charset="0"/>
                      </a:rPr>
                      <m:t>𝑦</m:t>
                    </m:r>
                    <m:r>
                      <a:rPr lang="en-GB" sz="1200" b="0" i="1" smtClean="0">
                        <a:latin typeface="Cambria Math" panose="02040503050406030204" pitchFamily="18" charset="0"/>
                      </a:rPr>
                      <m:t>=0</m:t>
                    </m:r>
                  </m:oMath>
                </a14:m>
                <a:r>
                  <a:rPr lang="en-GB" sz="1200"/>
                  <a:t>) gradually decreases as the lines go off towards infinity. The line </a:t>
                </a:r>
                <a14:m>
                  <m:oMath xmlns:m="http://schemas.openxmlformats.org/officeDocument/2006/math">
                    <m:r>
                      <a:rPr lang="en-GB" sz="1200" b="0" i="1" smtClean="0">
                        <a:latin typeface="Cambria Math" panose="02040503050406030204" pitchFamily="18" charset="0"/>
                      </a:rPr>
                      <m:t>𝑦</m:t>
                    </m:r>
                    <m:r>
                      <a:rPr lang="en-GB" sz="1200" b="0" i="1" smtClean="0">
                        <a:latin typeface="Cambria Math" panose="02040503050406030204" pitchFamily="18" charset="0"/>
                      </a:rPr>
                      <m:t>=0</m:t>
                    </m:r>
                  </m:oMath>
                </a14:m>
                <a:r>
                  <a:rPr lang="en-GB" sz="1200"/>
                  <a:t> is known as an </a:t>
                </a:r>
                <a:r>
                  <a:rPr lang="en-GB" sz="1200" b="1"/>
                  <a:t>asymptote</a:t>
                </a:r>
                <a:r>
                  <a:rPr lang="en-GB" sz="1200"/>
                  <a:t> of the graph.</a:t>
                </a:r>
              </a:p>
            </p:txBody>
          </p:sp>
        </mc:Choice>
        <mc:Fallback>
          <p:sp>
            <p:nvSpPr>
              <p:cNvPr id="27" name="TextBox 26"/>
              <p:cNvSpPr txBox="1">
                <a:spLocks noRot="1" noChangeAspect="1" noMove="1" noResize="1" noEditPoints="1" noAdjustHandles="1" noChangeArrowheads="1" noChangeShapeType="1" noTextEdit="1"/>
              </p:cNvSpPr>
              <p:nvPr/>
            </p:nvSpPr>
            <p:spPr>
              <a:xfrm>
                <a:off x="520996" y="4394614"/>
                <a:ext cx="3535839" cy="830997"/>
              </a:xfrm>
              <a:prstGeom prst="rect">
                <a:avLst/>
              </a:prstGeom>
              <a:blipFill>
                <a:blip r:embed="rId8"/>
                <a:stretch>
                  <a:fillRect b="-3030"/>
                </a:stretch>
              </a:blipFill>
            </p:spPr>
            <p:txBody>
              <a:bodyPr/>
              <a:lstStyle/>
              <a:p>
                <a:r>
                  <a:rPr lang="en-US">
                    <a:noFill/>
                  </a:rPr>
                  <a:t> </a:t>
                </a:r>
              </a:p>
            </p:txBody>
          </p:sp>
        </mc:Fallback>
      </mc:AlternateContent>
      <p:sp>
        <p:nvSpPr>
          <p:cNvPr id="28" name="TextBox 27"/>
          <p:cNvSpPr txBox="1"/>
          <p:nvPr/>
        </p:nvSpPr>
        <p:spPr>
          <a:xfrm>
            <a:off x="1006562" y="5423528"/>
            <a:ext cx="2695717" cy="830997"/>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sz="1600">
                <a:latin typeface="Wingdings" panose="05000000000000000000" pitchFamily="2" charset="2"/>
              </a:rPr>
              <a:t>!</a:t>
            </a:r>
            <a:r>
              <a:rPr lang="en-GB" sz="1600"/>
              <a:t> An asymptote is a line which the graph approaches but never reaches.</a:t>
            </a:r>
          </a:p>
        </p:txBody>
      </p:sp>
      <p:sp>
        <p:nvSpPr>
          <p:cNvPr id="29" name="Freeform: Shape 28"/>
          <p:cNvSpPr/>
          <p:nvPr/>
        </p:nvSpPr>
        <p:spPr>
          <a:xfrm>
            <a:off x="2695575" y="3176588"/>
            <a:ext cx="433387" cy="85725"/>
          </a:xfrm>
          <a:custGeom>
            <a:avLst/>
            <a:gdLst>
              <a:gd name="connsiteX0" fmla="*/ 0 w 433387"/>
              <a:gd name="connsiteY0" fmla="*/ 0 h 85725"/>
              <a:gd name="connsiteX1" fmla="*/ 195262 w 433387"/>
              <a:gd name="connsiteY1" fmla="*/ 61913 h 85725"/>
              <a:gd name="connsiteX2" fmla="*/ 433387 w 433387"/>
              <a:gd name="connsiteY2" fmla="*/ 85725 h 85725"/>
            </a:gdLst>
            <a:ahLst/>
            <a:cxnLst>
              <a:cxn ang="0">
                <a:pos x="connsiteX0" y="connsiteY0"/>
              </a:cxn>
              <a:cxn ang="0">
                <a:pos x="connsiteX1" y="connsiteY1"/>
              </a:cxn>
              <a:cxn ang="0">
                <a:pos x="connsiteX2" y="connsiteY2"/>
              </a:cxn>
            </a:cxnLst>
            <a:rect l="l" t="t" r="r" b="b"/>
            <a:pathLst>
              <a:path w="433387" h="85725">
                <a:moveTo>
                  <a:pt x="0" y="0"/>
                </a:moveTo>
                <a:cubicBezTo>
                  <a:pt x="61515" y="23813"/>
                  <a:pt x="123031" y="47626"/>
                  <a:pt x="195262" y="61913"/>
                </a:cubicBezTo>
                <a:cubicBezTo>
                  <a:pt x="267493" y="76200"/>
                  <a:pt x="350440" y="80962"/>
                  <a:pt x="433387" y="85725"/>
                </a:cubicBezTo>
              </a:path>
            </a:pathLst>
          </a:cu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31" name="Straight Connector 30"/>
          <p:cNvCxnSpPr/>
          <p:nvPr/>
        </p:nvCxnSpPr>
        <p:spPr>
          <a:xfrm flipH="1">
            <a:off x="2599089" y="3342831"/>
            <a:ext cx="529327" cy="0"/>
          </a:xfrm>
          <a:prstGeom prst="line">
            <a:avLst/>
          </a:prstGeom>
          <a:ln w="76200"/>
        </p:spPr>
        <p:style>
          <a:lnRef idx="1">
            <a:schemeClr val="accent6"/>
          </a:lnRef>
          <a:fillRef idx="0">
            <a:schemeClr val="accent6"/>
          </a:fillRef>
          <a:effectRef idx="0">
            <a:schemeClr val="accent6"/>
          </a:effectRef>
          <a:fontRef idx="minor">
            <a:schemeClr val="tx1"/>
          </a:fontRef>
        </p:style>
      </p:cxnSp>
      <p:cxnSp>
        <p:nvCxnSpPr>
          <p:cNvPr id="33" name="Straight Arrow Connector 32"/>
          <p:cNvCxnSpPr/>
          <p:nvPr/>
        </p:nvCxnSpPr>
        <p:spPr>
          <a:xfrm flipV="1">
            <a:off x="2695575" y="3491598"/>
            <a:ext cx="168177" cy="844182"/>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a:off x="405713" y="1520077"/>
            <a:ext cx="3475172" cy="3785741"/>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mc:AlternateContent xmlns:mc="http://schemas.openxmlformats.org/markup-compatibility/2006">
        <mc:Choice xmlns:a14="http://schemas.microsoft.com/office/drawing/2010/main" Requires="a14">
          <p:sp>
            <p:nvSpPr>
              <p:cNvPr id="34" name="TextBox 33"/>
              <p:cNvSpPr txBox="1"/>
              <p:nvPr/>
            </p:nvSpPr>
            <p:spPr>
              <a:xfrm>
                <a:off x="3857684" y="5317203"/>
                <a:ext cx="2687955" cy="1016945"/>
              </a:xfrm>
              <a:prstGeom prst="rect">
                <a:avLst/>
              </a:prstGeom>
              <a:noFill/>
            </p:spPr>
            <p:txBody>
              <a:bodyPr wrap="square" rtlCol="0">
                <a:spAutoFit/>
              </a:bodyPr>
              <a:lstStyle/>
              <a:p>
                <a:r>
                  <a:rPr lang="en-GB"/>
                  <a:t>Asymptotes of </a:t>
                </a:r>
                <a14:m>
                  <m:oMath xmlns:m="http://schemas.openxmlformats.org/officeDocument/2006/math">
                    <m:r>
                      <a:rPr lang="en-GB" b="0" i="1" smtClean="0">
                        <a:latin typeface="Cambria Math" panose="02040503050406030204" pitchFamily="18" charset="0"/>
                      </a:rPr>
                      <m:t>𝑦</m:t>
                    </m:r>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𝑎</m:t>
                        </m:r>
                      </m:num>
                      <m:den>
                        <m:r>
                          <a:rPr lang="en-GB" b="0" i="1" smtClean="0">
                            <a:latin typeface="Cambria Math" panose="02040503050406030204" pitchFamily="18" charset="0"/>
                          </a:rPr>
                          <m:t>𝑥</m:t>
                        </m:r>
                      </m:den>
                    </m:f>
                  </m:oMath>
                </a14:m>
                <a:r>
                  <a:rPr lang="en-GB"/>
                  <a:t> :</a:t>
                </a:r>
              </a:p>
              <a:p>
                <a:r>
                  <a:rPr lang="en-GB"/>
                  <a:t>     </a:t>
                </a:r>
                <a14:m>
                  <m:oMath xmlns:m="http://schemas.openxmlformats.org/officeDocument/2006/math">
                    <m:r>
                      <a:rPr lang="en-GB" b="0" i="1" smtClean="0">
                        <a:latin typeface="Cambria Math" panose="02040503050406030204" pitchFamily="18" charset="0"/>
                      </a:rPr>
                      <m:t>𝑦</m:t>
                    </m:r>
                    <m:r>
                      <a:rPr lang="en-GB" b="0" i="1" smtClean="0">
                        <a:latin typeface="Cambria Math" panose="02040503050406030204" pitchFamily="18" charset="0"/>
                      </a:rPr>
                      <m:t>=0,</m:t>
                    </m:r>
                  </m:oMath>
                </a14:m>
                <a:endParaRPr lang="en-GB"/>
              </a:p>
              <a:p>
                <a:r>
                  <a:rPr lang="en-GB"/>
                  <a:t>     </a:t>
                </a:r>
                <a14:m>
                  <m:oMath xmlns:m="http://schemas.openxmlformats.org/officeDocument/2006/math">
                    <m:r>
                      <a:rPr lang="en-GB" b="0" i="1" smtClean="0">
                        <a:latin typeface="Cambria Math" panose="02040503050406030204" pitchFamily="18" charset="0"/>
                      </a:rPr>
                      <m:t>𝑥</m:t>
                    </m:r>
                    <m:r>
                      <a:rPr lang="en-GB" b="0" i="1" smtClean="0">
                        <a:latin typeface="Cambria Math" panose="02040503050406030204" pitchFamily="18" charset="0"/>
                      </a:rPr>
                      <m:t>=0</m:t>
                    </m:r>
                  </m:oMath>
                </a14:m>
                <a:endParaRPr lang="en-GB"/>
              </a:p>
            </p:txBody>
          </p:sp>
        </mc:Choice>
        <mc:Fallback>
          <p:sp>
            <p:nvSpPr>
              <p:cNvPr id="34" name="TextBox 33"/>
              <p:cNvSpPr txBox="1">
                <a:spLocks noRot="1" noChangeAspect="1" noMove="1" noResize="1" noEditPoints="1" noAdjustHandles="1" noChangeArrowheads="1" noChangeShapeType="1" noTextEdit="1"/>
              </p:cNvSpPr>
              <p:nvPr/>
            </p:nvSpPr>
            <p:spPr>
              <a:xfrm>
                <a:off x="3857684" y="5317203"/>
                <a:ext cx="2687955" cy="1016945"/>
              </a:xfrm>
              <a:prstGeom prst="rect">
                <a:avLst/>
              </a:prstGeom>
              <a:blipFill>
                <a:blip r:embed="rId9"/>
                <a:stretch>
                  <a:fillRect l="-1878"/>
                </a:stretch>
              </a:blipFill>
            </p:spPr>
            <p:txBody>
              <a:bodyPr/>
              <a:lstStyle/>
              <a:p>
                <a:r>
                  <a:rPr lang="en-US">
                    <a:noFill/>
                  </a:rPr>
                  <a:t> </a:t>
                </a:r>
              </a:p>
            </p:txBody>
          </p:sp>
        </mc:Fallback>
      </mc:AlternateContent>
      <p:sp>
        <p:nvSpPr>
          <p:cNvPr id="35" name="Rectangle 34"/>
          <p:cNvSpPr/>
          <p:nvPr/>
        </p:nvSpPr>
        <p:spPr>
          <a:xfrm>
            <a:off x="4116383" y="6060559"/>
            <a:ext cx="1327488" cy="510362"/>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36" name="Rectangle 35"/>
          <p:cNvSpPr/>
          <p:nvPr/>
        </p:nvSpPr>
        <p:spPr>
          <a:xfrm>
            <a:off x="4255643" y="1566694"/>
            <a:ext cx="4579991" cy="2982405"/>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Tree>
    <p:extLst>
      <p:ext uri="{BB962C8B-B14F-4D97-AF65-F5344CB8AC3E}">
        <p14:creationId xmlns:p14="http://schemas.microsoft.com/office/powerpoint/2010/main" val="1458550830"/>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4"/>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4"/>
                                        </p:tgtEl>
                                      </p:cBhvr>
                                    </p:animEffect>
                                    <p:set>
                                      <p:cBhvr>
                                        <p:cTn id="7" dur="1" fill="hold">
                                          <p:stCondLst>
                                            <p:cond delay="499"/>
                                          </p:stCondLst>
                                        </p:cTn>
                                        <p:tgtEl>
                                          <p:spTgt spid="14"/>
                                        </p:tgtEl>
                                        <p:attrNameLst>
                                          <p:attrName>style.visibility</p:attrName>
                                        </p:attrNameLst>
                                      </p:cBhvr>
                                      <p:to>
                                        <p:strVal val="hidden"/>
                                      </p:to>
                                    </p:se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29"/>
                                        </p:tgtEl>
                                        <p:attrNameLst>
                                          <p:attrName>style.visibility</p:attrName>
                                        </p:attrNameLst>
                                      </p:cBhvr>
                                      <p:to>
                                        <p:strVal val="visible"/>
                                      </p:to>
                                    </p:set>
                                    <p:animEffect transition="in" filter="fade">
                                      <p:cBhvr>
                                        <p:cTn id="11" dur="500"/>
                                        <p:tgtEl>
                                          <p:spTgt spid="29"/>
                                        </p:tgtEl>
                                      </p:cBhvr>
                                    </p:animEffect>
                                  </p:childTnLst>
                                </p:cTn>
                              </p:par>
                              <p:par>
                                <p:cTn id="12" presetID="10" presetClass="entr" presetSubtype="0" fill="hold" nodeType="withEffect">
                                  <p:stCondLst>
                                    <p:cond delay="0"/>
                                  </p:stCondLst>
                                  <p:childTnLst>
                                    <p:set>
                                      <p:cBhvr>
                                        <p:cTn id="13" dur="1" fill="hold">
                                          <p:stCondLst>
                                            <p:cond delay="0"/>
                                          </p:stCondLst>
                                        </p:cTn>
                                        <p:tgtEl>
                                          <p:spTgt spid="31"/>
                                        </p:tgtEl>
                                        <p:attrNameLst>
                                          <p:attrName>style.visibility</p:attrName>
                                        </p:attrNameLst>
                                      </p:cBhvr>
                                      <p:to>
                                        <p:strVal val="visible"/>
                                      </p:to>
                                    </p:set>
                                    <p:animEffect transition="in" filter="fade">
                                      <p:cBhvr>
                                        <p:cTn id="14" dur="500"/>
                                        <p:tgtEl>
                                          <p:spTgt spid="31"/>
                                        </p:tgtEl>
                                      </p:cBhvr>
                                    </p:animEffect>
                                  </p:childTnLst>
                                </p:cTn>
                              </p:par>
                            </p:childTnLst>
                          </p:cTn>
                        </p:par>
                        <p:par>
                          <p:cTn id="15" fill="hold">
                            <p:stCondLst>
                              <p:cond delay="1000"/>
                            </p:stCondLst>
                            <p:childTnLst>
                              <p:par>
                                <p:cTn id="16" presetID="10" presetClass="entr" presetSubtype="0" fill="hold" nodeType="afterEffect">
                                  <p:stCondLst>
                                    <p:cond delay="0"/>
                                  </p:stCondLst>
                                  <p:childTnLst>
                                    <p:set>
                                      <p:cBhvr>
                                        <p:cTn id="17" dur="1" fill="hold">
                                          <p:stCondLst>
                                            <p:cond delay="0"/>
                                          </p:stCondLst>
                                        </p:cTn>
                                        <p:tgtEl>
                                          <p:spTgt spid="33"/>
                                        </p:tgtEl>
                                        <p:attrNameLst>
                                          <p:attrName>style.visibility</p:attrName>
                                        </p:attrNameLst>
                                      </p:cBhvr>
                                      <p:to>
                                        <p:strVal val="visible"/>
                                      </p:to>
                                    </p:set>
                                    <p:animEffect transition="in" filter="fade">
                                      <p:cBhvr>
                                        <p:cTn id="18" dur="500"/>
                                        <p:tgtEl>
                                          <p:spTgt spid="33"/>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7"/>
                                        </p:tgtEl>
                                        <p:attrNameLst>
                                          <p:attrName>style.visibility</p:attrName>
                                        </p:attrNameLst>
                                      </p:cBhvr>
                                      <p:to>
                                        <p:strVal val="visible"/>
                                      </p:to>
                                    </p:set>
                                    <p:animEffect transition="in" filter="fade">
                                      <p:cBhvr>
                                        <p:cTn id="21" dur="500"/>
                                        <p:tgtEl>
                                          <p:spTgt spid="27"/>
                                        </p:tgtEl>
                                      </p:cBhvr>
                                    </p:animEffect>
                                  </p:childTnLst>
                                </p:cTn>
                              </p:par>
                            </p:childTnLst>
                          </p:cTn>
                        </p:par>
                        <p:par>
                          <p:cTn id="22" fill="hold">
                            <p:stCondLst>
                              <p:cond delay="1500"/>
                            </p:stCondLst>
                            <p:childTnLst>
                              <p:par>
                                <p:cTn id="23" presetID="10" presetClass="entr" presetSubtype="0" fill="hold" grpId="0" nodeType="after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fade">
                                      <p:cBhvr>
                                        <p:cTn id="25" dur="500"/>
                                        <p:tgtEl>
                                          <p:spTgt spid="28"/>
                                        </p:tgtEl>
                                      </p:cBhvr>
                                    </p:animEffect>
                                  </p:childTnLst>
                                </p:cTn>
                              </p:par>
                            </p:childTnLst>
                          </p:cTn>
                        </p:par>
                        <p:par>
                          <p:cTn id="26" fill="hold">
                            <p:stCondLst>
                              <p:cond delay="2000"/>
                            </p:stCondLst>
                            <p:childTnLst>
                              <p:par>
                                <p:cTn id="27" presetID="1" presetClass="entr" presetSubtype="0" fill="hold" grpId="1" nodeType="afterEffect">
                                  <p:stCondLst>
                                    <p:cond delay="0"/>
                                  </p:stCondLst>
                                  <p:childTnLst>
                                    <p:set>
                                      <p:cBhvr>
                                        <p:cTn id="28" dur="1" fill="hold">
                                          <p:stCondLst>
                                            <p:cond delay="0"/>
                                          </p:stCondLst>
                                        </p:cTn>
                                        <p:tgtEl>
                                          <p:spTgt spid="3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4"/>
                                        </p:tgtEl>
                                        <p:attrNameLst>
                                          <p:attrName>style.visibility</p:attrName>
                                        </p:attrNameLst>
                                      </p:cBhvr>
                                      <p:to>
                                        <p:strVal val="visible"/>
                                      </p:to>
                                    </p:set>
                                  </p:childTnLst>
                                </p:cTn>
                              </p:par>
                            </p:childTnLst>
                          </p:cTn>
                        </p:par>
                      </p:childTnLst>
                    </p:cTn>
                  </p:par>
                </p:childTnLst>
              </p:cTn>
              <p:nextCondLst>
                <p:cond evt="onClick" delay="0">
                  <p:tgtEl>
                    <p:spTgt spid="14"/>
                  </p:tgtEl>
                </p:cond>
              </p:nextCondLst>
            </p:seq>
            <p:seq concurrent="1" nextAc="seek">
              <p:cTn id="31" restart="whenNotActive" fill="hold" evtFilter="cancelBubble" nodeType="interactiveSeq">
                <p:stCondLst>
                  <p:cond evt="onClick" delay="0">
                    <p:tgtEl>
                      <p:spTgt spid="35"/>
                    </p:tgtEl>
                  </p:cond>
                </p:stCondLst>
                <p:endSync evt="end" delay="0">
                  <p:rtn val="all"/>
                </p:endSync>
                <p:childTnLst>
                  <p:par>
                    <p:cTn id="32" fill="hold">
                      <p:stCondLst>
                        <p:cond delay="0"/>
                      </p:stCondLst>
                      <p:childTnLst>
                        <p:par>
                          <p:cTn id="33" fill="hold">
                            <p:stCondLst>
                              <p:cond delay="0"/>
                            </p:stCondLst>
                            <p:childTnLst>
                              <p:par>
                                <p:cTn id="34" presetID="10" presetClass="exit" presetSubtype="0" fill="hold" grpId="0" nodeType="clickEffect">
                                  <p:stCondLst>
                                    <p:cond delay="0"/>
                                  </p:stCondLst>
                                  <p:childTnLst>
                                    <p:animEffect transition="out" filter="fade">
                                      <p:cBhvr>
                                        <p:cTn id="35" dur="500"/>
                                        <p:tgtEl>
                                          <p:spTgt spid="35"/>
                                        </p:tgtEl>
                                      </p:cBhvr>
                                    </p:animEffect>
                                    <p:set>
                                      <p:cBhvr>
                                        <p:cTn id="36" dur="1" fill="hold">
                                          <p:stCondLst>
                                            <p:cond delay="499"/>
                                          </p:stCondLst>
                                        </p:cTn>
                                        <p:tgtEl>
                                          <p:spTgt spid="35"/>
                                        </p:tgtEl>
                                        <p:attrNameLst>
                                          <p:attrName>style.visibility</p:attrName>
                                        </p:attrNameLst>
                                      </p:cBhvr>
                                      <p:to>
                                        <p:strVal val="hidden"/>
                                      </p:to>
                                    </p:set>
                                  </p:childTnLst>
                                </p:cTn>
                              </p:par>
                            </p:childTnLst>
                          </p:cTn>
                        </p:par>
                      </p:childTnLst>
                    </p:cTn>
                  </p:par>
                </p:childTnLst>
              </p:cTn>
              <p:nextCondLst>
                <p:cond evt="onClick" delay="0">
                  <p:tgtEl>
                    <p:spTgt spid="35"/>
                  </p:tgtEl>
                </p:cond>
              </p:nextCondLst>
            </p:seq>
            <p:seq concurrent="1" nextAc="seek">
              <p:cTn id="37" restart="whenNotActive" fill="hold" evtFilter="cancelBubble" nodeType="interactiveSeq">
                <p:stCondLst>
                  <p:cond evt="onClick" delay="0">
                    <p:tgtEl>
                      <p:spTgt spid="36"/>
                    </p:tgtEl>
                  </p:cond>
                </p:stCondLst>
                <p:endSync evt="end" delay="0">
                  <p:rtn val="all"/>
                </p:endSync>
                <p:childTnLst>
                  <p:par>
                    <p:cTn id="38" fill="hold">
                      <p:stCondLst>
                        <p:cond delay="0"/>
                      </p:stCondLst>
                      <p:childTnLst>
                        <p:par>
                          <p:cTn id="39" fill="hold">
                            <p:stCondLst>
                              <p:cond delay="0"/>
                            </p:stCondLst>
                            <p:childTnLst>
                              <p:par>
                                <p:cTn id="40" presetID="10" presetClass="exit" presetSubtype="0" fill="hold" grpId="0" nodeType="clickEffect">
                                  <p:stCondLst>
                                    <p:cond delay="0"/>
                                  </p:stCondLst>
                                  <p:childTnLst>
                                    <p:animEffect transition="out" filter="fade">
                                      <p:cBhvr>
                                        <p:cTn id="41" dur="500"/>
                                        <p:tgtEl>
                                          <p:spTgt spid="36"/>
                                        </p:tgtEl>
                                      </p:cBhvr>
                                    </p:animEffect>
                                    <p:set>
                                      <p:cBhvr>
                                        <p:cTn id="42" dur="1" fill="hold">
                                          <p:stCondLst>
                                            <p:cond delay="499"/>
                                          </p:stCondLst>
                                        </p:cTn>
                                        <p:tgtEl>
                                          <p:spTgt spid="36"/>
                                        </p:tgtEl>
                                        <p:attrNameLst>
                                          <p:attrName>style.visibility</p:attrName>
                                        </p:attrNameLst>
                                      </p:cBhvr>
                                      <p:to>
                                        <p:strVal val="hidden"/>
                                      </p:to>
                                    </p:set>
                                  </p:childTnLst>
                                </p:cTn>
                              </p:par>
                            </p:childTnLst>
                          </p:cTn>
                        </p:par>
                      </p:childTnLst>
                    </p:cTn>
                  </p:par>
                </p:childTnLst>
              </p:cTn>
              <p:nextCondLst>
                <p:cond evt="onClick" delay="0">
                  <p:tgtEl>
                    <p:spTgt spid="36"/>
                  </p:tgtEl>
                </p:cond>
              </p:nextCondLst>
            </p:seq>
          </p:childTnLst>
        </p:cTn>
      </p:par>
    </p:tnLst>
    <p:bldLst>
      <p:bldP spid="27" grpId="0"/>
      <p:bldP spid="28" grpId="0" animBg="1"/>
      <p:bldP spid="29" grpId="0" animBg="1"/>
      <p:bldP spid="14" grpId="0" animBg="1"/>
      <p:bldP spid="34" grpId="0"/>
      <p:bldP spid="35" grpId="0" animBg="1"/>
      <p:bldP spid="35" grpId="1" animBg="1"/>
      <p:bldP spid="36"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vert="horz" wrap="square" lIns="324000" tIns="45720" rIns="91440" bIns="45720" rtlCol="0" anchor="ctr">
              <a:spAutoFit/>
            </a:bodyPr>
            <a:lstStyle>
              <a:defPPr>
                <a:defRPr lang="en-US"/>
              </a:defPPr>
              <a:lvl1pPr>
                <a:spcBef>
                  <a:spcPct val="0"/>
                </a:spcBef>
                <a:buNone/>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a:t>Reciprocal Graphs</a:t>
              </a:r>
            </a:p>
          </p:txBody>
        </p:sp>
        <p:cxnSp>
          <p:nvCxnSpPr>
            <p:cNvPr id="4" name="Straight Connector 3"/>
            <p:cNvCxnSpPr/>
            <p:nvPr/>
          </p:nvCxnSpPr>
          <p:spPr>
            <a:xfrm>
              <a:off x="218" y="601079"/>
              <a:ext cx="9144000" cy="0"/>
            </a:xfrm>
            <a:prstGeom prst="line">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mc:Choice xmlns:a14="http://schemas.microsoft.com/office/drawing/2010/main" Requires="a14">
          <p:sp>
            <p:nvSpPr>
              <p:cNvPr id="5" name="TextBox 4"/>
              <p:cNvSpPr txBox="1"/>
              <p:nvPr/>
            </p:nvSpPr>
            <p:spPr>
              <a:xfrm>
                <a:off x="395536" y="911091"/>
                <a:ext cx="2160240" cy="484941"/>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a:t>Sketch </a:t>
                </a:r>
                <a14:m>
                  <m:oMath xmlns:m="http://schemas.openxmlformats.org/officeDocument/2006/math">
                    <m:r>
                      <a:rPr lang="en-GB" b="0" i="1" smtClean="0">
                        <a:latin typeface="Cambria Math" panose="02040503050406030204" pitchFamily="18" charset="0"/>
                      </a:rPr>
                      <m:t>𝑦</m:t>
                    </m:r>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3</m:t>
                        </m:r>
                      </m:num>
                      <m:den>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2</m:t>
                            </m:r>
                          </m:sup>
                        </m:sSup>
                      </m:den>
                    </m:f>
                  </m:oMath>
                </a14:m>
                <a:endParaRPr lang="en-GB"/>
              </a:p>
            </p:txBody>
          </p:sp>
        </mc:Choice>
        <mc:Fallback>
          <p:sp>
            <p:nvSpPr>
              <p:cNvPr id="5" name="TextBox 4"/>
              <p:cNvSpPr txBox="1">
                <a:spLocks noRot="1" noChangeAspect="1" noMove="1" noResize="1" noEditPoints="1" noAdjustHandles="1" noChangeArrowheads="1" noChangeShapeType="1" noTextEdit="1"/>
              </p:cNvSpPr>
              <p:nvPr/>
            </p:nvSpPr>
            <p:spPr>
              <a:xfrm>
                <a:off x="395536" y="911091"/>
                <a:ext cx="2160240" cy="484941"/>
              </a:xfrm>
              <a:prstGeom prst="rect">
                <a:avLst/>
              </a:prstGeom>
              <a:blipFill>
                <a:blip r:embed="rId2"/>
                <a:stretch>
                  <a:fillRect/>
                </a:stretch>
              </a:blipFill>
              <a:effectLst>
                <a:outerShdw blurRad="63500" sx="102000" sy="102000" algn="ctr" rotWithShape="0">
                  <a:prstClr val="black">
                    <a:alpha val="40000"/>
                  </a:prstClr>
                </a:outerShdw>
              </a:effectLst>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 name="TextBox 5"/>
              <p:cNvSpPr txBox="1"/>
              <p:nvPr/>
            </p:nvSpPr>
            <p:spPr>
              <a:xfrm>
                <a:off x="4499992" y="911091"/>
                <a:ext cx="2160240" cy="484363"/>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a:t>Sketch </a:t>
                </a:r>
                <a14:m>
                  <m:oMath xmlns:m="http://schemas.openxmlformats.org/officeDocument/2006/math">
                    <m:r>
                      <a:rPr lang="en-GB" b="0" i="1" smtClean="0">
                        <a:latin typeface="Cambria Math" panose="02040503050406030204" pitchFamily="18" charset="0"/>
                      </a:rPr>
                      <m:t>𝑦</m:t>
                    </m:r>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4</m:t>
                        </m:r>
                      </m:num>
                      <m:den>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2</m:t>
                            </m:r>
                          </m:sup>
                        </m:sSup>
                      </m:den>
                    </m:f>
                  </m:oMath>
                </a14:m>
                <a:endParaRPr lang="en-GB"/>
              </a:p>
            </p:txBody>
          </p:sp>
        </mc:Choice>
        <mc:Fallback>
          <p:sp>
            <p:nvSpPr>
              <p:cNvPr id="6" name="TextBox 5"/>
              <p:cNvSpPr txBox="1">
                <a:spLocks noRot="1" noChangeAspect="1" noMove="1" noResize="1" noEditPoints="1" noAdjustHandles="1" noChangeArrowheads="1" noChangeShapeType="1" noTextEdit="1"/>
              </p:cNvSpPr>
              <p:nvPr/>
            </p:nvSpPr>
            <p:spPr>
              <a:xfrm>
                <a:off x="4499992" y="911091"/>
                <a:ext cx="2160240" cy="484363"/>
              </a:xfrm>
              <a:prstGeom prst="rect">
                <a:avLst/>
              </a:prstGeom>
              <a:blipFill>
                <a:blip r:embed="rId3"/>
                <a:stretch>
                  <a:fillRect/>
                </a:stretch>
              </a:blipFill>
              <a:effectLst>
                <a:outerShdw blurRad="63500" sx="102000" sy="102000" algn="ctr" rotWithShape="0">
                  <a:prstClr val="black">
                    <a:alpha val="40000"/>
                  </a:prstClr>
                </a:outerShdw>
              </a:effectLst>
            </p:spPr>
            <p:txBody>
              <a:bodyPr/>
              <a:lstStyle/>
              <a:p>
                <a:r>
                  <a:rPr lang="en-US">
                    <a:noFill/>
                  </a:rPr>
                  <a:t> </a:t>
                </a:r>
              </a:p>
            </p:txBody>
          </p:sp>
        </mc:Fallback>
      </mc:AlternateContent>
      <p:cxnSp>
        <p:nvCxnSpPr>
          <p:cNvPr id="7" name="Straight Arrow Connector 6"/>
          <p:cNvCxnSpPr/>
          <p:nvPr/>
        </p:nvCxnSpPr>
        <p:spPr>
          <a:xfrm>
            <a:off x="828197" y="3314777"/>
            <a:ext cx="240944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 name="Straight Arrow Connector 7"/>
          <p:cNvCxnSpPr/>
          <p:nvPr/>
        </p:nvCxnSpPr>
        <p:spPr>
          <a:xfrm flipH="1" flipV="1">
            <a:off x="2035783" y="2199272"/>
            <a:ext cx="13997" cy="213650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9" name="TextBox 8"/>
              <p:cNvSpPr txBox="1"/>
              <p:nvPr/>
            </p:nvSpPr>
            <p:spPr>
              <a:xfrm>
                <a:off x="1796444" y="1857678"/>
                <a:ext cx="415472" cy="276999"/>
              </a:xfrm>
              <a:prstGeom prst="rect">
                <a:avLst/>
              </a:prstGeom>
              <a:noFill/>
            </p:spPr>
            <p:txBody>
              <a:bodyPr wrap="square" rtlCol="0">
                <a:spAutoFit/>
              </a:bodyPr>
              <a:lstStyle/>
              <a:p>
                <a:pPr/>
                <a14:m>
                  <m:oMathPara xmlns:m="http://schemas.openxmlformats.org/officeDocument/2006/math">
                    <m:oMath>
                      <m:r>
                        <a:rPr lang="en-GB" sz="1200" b="0" i="1" smtClean="0">
                          <a:latin typeface="Cambria Math" panose="02040503050406030204" pitchFamily="18" charset="0"/>
                        </a:rPr>
                        <m:t>𝑦</m:t>
                      </m:r>
                    </m:oMath>
                  </m:oMathPara>
                </a14:m>
                <a:endParaRPr lang="en-GB"/>
              </a:p>
            </p:txBody>
          </p:sp>
        </mc:Choice>
        <mc:Fallback>
          <p:sp>
            <p:nvSpPr>
              <p:cNvPr id="9" name="TextBox 8"/>
              <p:cNvSpPr txBox="1">
                <a:spLocks noRot="1" noChangeAspect="1" noMove="1" noResize="1" noEditPoints="1" noAdjustHandles="1" noChangeArrowheads="1" noChangeShapeType="1" noTextEdit="1"/>
              </p:cNvSpPr>
              <p:nvPr/>
            </p:nvSpPr>
            <p:spPr>
              <a:xfrm>
                <a:off x="1796444" y="1857678"/>
                <a:ext cx="415472" cy="276999"/>
              </a:xfrm>
              <a:prstGeom prst="rect">
                <a:avLst/>
              </a:prstGeom>
              <a:blipFill>
                <a:blip r:embed="rId4"/>
                <a:stretch>
                  <a:fillRect b="-454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 name="TextBox 9"/>
              <p:cNvSpPr txBox="1"/>
              <p:nvPr/>
            </p:nvSpPr>
            <p:spPr>
              <a:xfrm>
                <a:off x="3127413" y="3185282"/>
                <a:ext cx="415472" cy="276999"/>
              </a:xfrm>
              <a:prstGeom prst="rect">
                <a:avLst/>
              </a:prstGeom>
              <a:noFill/>
            </p:spPr>
            <p:txBody>
              <a:bodyPr wrap="square" rtlCol="0">
                <a:spAutoFit/>
              </a:bodyPr>
              <a:lstStyle/>
              <a:p>
                <a:pPr/>
                <a14:m>
                  <m:oMathPara xmlns:m="http://schemas.openxmlformats.org/officeDocument/2006/math">
                    <m:oMath>
                      <m:r>
                        <a:rPr lang="en-GB" sz="1200" b="0" i="1" smtClean="0">
                          <a:latin typeface="Cambria Math" panose="02040503050406030204" pitchFamily="18" charset="0"/>
                        </a:rPr>
                        <m:t>𝑥</m:t>
                      </m:r>
                    </m:oMath>
                  </m:oMathPara>
                </a14:m>
                <a:endParaRPr lang="en-GB"/>
              </a:p>
            </p:txBody>
          </p:sp>
        </mc:Choice>
        <mc:Fallback>
          <p:sp>
            <p:nvSpPr>
              <p:cNvPr id="10" name="TextBox 9"/>
              <p:cNvSpPr txBox="1">
                <a:spLocks noRot="1" noChangeAspect="1" noMove="1" noResize="1" noEditPoints="1" noAdjustHandles="1" noChangeArrowheads="1" noChangeShapeType="1" noTextEdit="1"/>
              </p:cNvSpPr>
              <p:nvPr/>
            </p:nvSpPr>
            <p:spPr>
              <a:xfrm>
                <a:off x="3127413" y="3185282"/>
                <a:ext cx="415472" cy="276999"/>
              </a:xfrm>
              <a:prstGeom prst="rect">
                <a:avLst/>
              </a:prstGeom>
              <a:blipFill>
                <a:blip r:embed="rId5"/>
                <a:stretch>
                  <a:fillRect/>
                </a:stretch>
              </a:blipFill>
            </p:spPr>
            <p:txBody>
              <a:bodyPr/>
              <a:lstStyle/>
              <a:p>
                <a:r>
                  <a:rPr lang="en-US">
                    <a:noFill/>
                  </a:rPr>
                  <a:t> </a:t>
                </a:r>
              </a:p>
            </p:txBody>
          </p:sp>
        </mc:Fallback>
      </mc:AlternateContent>
      <p:sp>
        <p:nvSpPr>
          <p:cNvPr id="11" name="Freeform: Shape 10"/>
          <p:cNvSpPr/>
          <p:nvPr/>
        </p:nvSpPr>
        <p:spPr>
          <a:xfrm>
            <a:off x="2094614" y="2317898"/>
            <a:ext cx="1031358" cy="967562"/>
          </a:xfrm>
          <a:custGeom>
            <a:avLst/>
            <a:gdLst>
              <a:gd name="connsiteX0" fmla="*/ 0 w 1031358"/>
              <a:gd name="connsiteY0" fmla="*/ 0 h 967562"/>
              <a:gd name="connsiteX1" fmla="*/ 318977 w 1031358"/>
              <a:gd name="connsiteY1" fmla="*/ 723014 h 967562"/>
              <a:gd name="connsiteX2" fmla="*/ 1031358 w 1031358"/>
              <a:gd name="connsiteY2" fmla="*/ 967562 h 967562"/>
              <a:gd name="connsiteX0" fmla="*/ 0 w 1031358"/>
              <a:gd name="connsiteY0" fmla="*/ 0 h 967562"/>
              <a:gd name="connsiteX1" fmla="*/ 318977 w 1031358"/>
              <a:gd name="connsiteY1" fmla="*/ 723014 h 967562"/>
              <a:gd name="connsiteX2" fmla="*/ 1031358 w 1031358"/>
              <a:gd name="connsiteY2" fmla="*/ 967562 h 967562"/>
              <a:gd name="connsiteX0" fmla="*/ 0 w 1031358"/>
              <a:gd name="connsiteY0" fmla="*/ 0 h 967562"/>
              <a:gd name="connsiteX1" fmla="*/ 318977 w 1031358"/>
              <a:gd name="connsiteY1" fmla="*/ 723014 h 967562"/>
              <a:gd name="connsiteX2" fmla="*/ 1031358 w 1031358"/>
              <a:gd name="connsiteY2" fmla="*/ 967562 h 967562"/>
            </a:gdLst>
            <a:ahLst/>
            <a:cxnLst>
              <a:cxn ang="0">
                <a:pos x="connsiteX0" y="connsiteY0"/>
              </a:cxn>
              <a:cxn ang="0">
                <a:pos x="connsiteX1" y="connsiteY1"/>
              </a:cxn>
              <a:cxn ang="0">
                <a:pos x="connsiteX2" y="connsiteY2"/>
              </a:cxn>
            </a:cxnLst>
            <a:rect l="l" t="t" r="r" b="b"/>
            <a:pathLst>
              <a:path w="1031358" h="967562">
                <a:moveTo>
                  <a:pt x="0" y="0"/>
                </a:moveTo>
                <a:cubicBezTo>
                  <a:pt x="31012" y="227714"/>
                  <a:pt x="147084" y="561754"/>
                  <a:pt x="318977" y="723014"/>
                </a:cubicBezTo>
                <a:cubicBezTo>
                  <a:pt x="490870" y="884274"/>
                  <a:pt x="697319" y="936551"/>
                  <a:pt x="1031358" y="967562"/>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Freeform: Shape 11"/>
          <p:cNvSpPr/>
          <p:nvPr/>
        </p:nvSpPr>
        <p:spPr>
          <a:xfrm flipH="1">
            <a:off x="944416" y="2299050"/>
            <a:ext cx="1031358" cy="967562"/>
          </a:xfrm>
          <a:custGeom>
            <a:avLst/>
            <a:gdLst>
              <a:gd name="connsiteX0" fmla="*/ 0 w 1031358"/>
              <a:gd name="connsiteY0" fmla="*/ 0 h 967562"/>
              <a:gd name="connsiteX1" fmla="*/ 318977 w 1031358"/>
              <a:gd name="connsiteY1" fmla="*/ 723014 h 967562"/>
              <a:gd name="connsiteX2" fmla="*/ 1031358 w 1031358"/>
              <a:gd name="connsiteY2" fmla="*/ 967562 h 967562"/>
              <a:gd name="connsiteX0" fmla="*/ 0 w 1031358"/>
              <a:gd name="connsiteY0" fmla="*/ 0 h 967562"/>
              <a:gd name="connsiteX1" fmla="*/ 318977 w 1031358"/>
              <a:gd name="connsiteY1" fmla="*/ 723014 h 967562"/>
              <a:gd name="connsiteX2" fmla="*/ 1031358 w 1031358"/>
              <a:gd name="connsiteY2" fmla="*/ 967562 h 967562"/>
              <a:gd name="connsiteX0" fmla="*/ 0 w 1031358"/>
              <a:gd name="connsiteY0" fmla="*/ 0 h 967562"/>
              <a:gd name="connsiteX1" fmla="*/ 318977 w 1031358"/>
              <a:gd name="connsiteY1" fmla="*/ 723014 h 967562"/>
              <a:gd name="connsiteX2" fmla="*/ 1031358 w 1031358"/>
              <a:gd name="connsiteY2" fmla="*/ 967562 h 967562"/>
            </a:gdLst>
            <a:ahLst/>
            <a:cxnLst>
              <a:cxn ang="0">
                <a:pos x="connsiteX0" y="connsiteY0"/>
              </a:cxn>
              <a:cxn ang="0">
                <a:pos x="connsiteX1" y="connsiteY1"/>
              </a:cxn>
              <a:cxn ang="0">
                <a:pos x="connsiteX2" y="connsiteY2"/>
              </a:cxn>
            </a:cxnLst>
            <a:rect l="l" t="t" r="r" b="b"/>
            <a:pathLst>
              <a:path w="1031358" h="967562">
                <a:moveTo>
                  <a:pt x="0" y="0"/>
                </a:moveTo>
                <a:cubicBezTo>
                  <a:pt x="31012" y="227714"/>
                  <a:pt x="147084" y="561754"/>
                  <a:pt x="318977" y="723014"/>
                </a:cubicBezTo>
                <a:cubicBezTo>
                  <a:pt x="490870" y="884274"/>
                  <a:pt x="697319" y="936551"/>
                  <a:pt x="1031358" y="967562"/>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TextBox 16"/>
          <p:cNvSpPr txBox="1"/>
          <p:nvPr/>
        </p:nvSpPr>
        <p:spPr>
          <a:xfrm>
            <a:off x="609140" y="5031069"/>
            <a:ext cx="2859317" cy="523220"/>
          </a:xfrm>
          <a:prstGeom prst="rect">
            <a:avLst/>
          </a:prstGeom>
          <a:noFill/>
        </p:spPr>
        <p:txBody>
          <a:bodyPr wrap="square" rtlCol="0">
            <a:spAutoFit/>
          </a:bodyPr>
          <a:lstStyle/>
          <a:p>
            <a:r>
              <a:rPr lang="en-GB" sz="1400" b="1"/>
              <a:t>Hint</a:t>
            </a:r>
            <a:r>
              <a:rPr lang="en-GB" sz="1400"/>
              <a:t>: Note that anything squared will always be at least 0.</a:t>
            </a:r>
          </a:p>
        </p:txBody>
      </p:sp>
      <p:cxnSp>
        <p:nvCxnSpPr>
          <p:cNvPr id="18" name="Straight Arrow Connector 17"/>
          <p:cNvCxnSpPr/>
          <p:nvPr/>
        </p:nvCxnSpPr>
        <p:spPr>
          <a:xfrm>
            <a:off x="4491836" y="3344094"/>
            <a:ext cx="240944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 name="Straight Arrow Connector 18"/>
          <p:cNvCxnSpPr/>
          <p:nvPr/>
        </p:nvCxnSpPr>
        <p:spPr>
          <a:xfrm flipH="1" flipV="1">
            <a:off x="5699422" y="2228589"/>
            <a:ext cx="13997" cy="213650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20" name="TextBox 19"/>
              <p:cNvSpPr txBox="1"/>
              <p:nvPr/>
            </p:nvSpPr>
            <p:spPr>
              <a:xfrm>
                <a:off x="5460083" y="1886995"/>
                <a:ext cx="415472" cy="276999"/>
              </a:xfrm>
              <a:prstGeom prst="rect">
                <a:avLst/>
              </a:prstGeom>
              <a:noFill/>
            </p:spPr>
            <p:txBody>
              <a:bodyPr wrap="square" rtlCol="0">
                <a:spAutoFit/>
              </a:bodyPr>
              <a:lstStyle/>
              <a:p>
                <a:pPr/>
                <a14:m>
                  <m:oMathPara xmlns:m="http://schemas.openxmlformats.org/officeDocument/2006/math">
                    <m:oMath>
                      <m:r>
                        <a:rPr lang="en-GB" sz="1200" b="0" i="1" smtClean="0">
                          <a:latin typeface="Cambria Math" panose="02040503050406030204" pitchFamily="18" charset="0"/>
                        </a:rPr>
                        <m:t>𝑦</m:t>
                      </m:r>
                    </m:oMath>
                  </m:oMathPara>
                </a14:m>
                <a:endParaRPr lang="en-GB"/>
              </a:p>
            </p:txBody>
          </p:sp>
        </mc:Choice>
        <mc:Fallback>
          <p:sp>
            <p:nvSpPr>
              <p:cNvPr id="20" name="TextBox 19"/>
              <p:cNvSpPr txBox="1">
                <a:spLocks noRot="1" noChangeAspect="1" noMove="1" noResize="1" noEditPoints="1" noAdjustHandles="1" noChangeArrowheads="1" noChangeShapeType="1" noTextEdit="1"/>
              </p:cNvSpPr>
              <p:nvPr/>
            </p:nvSpPr>
            <p:spPr>
              <a:xfrm>
                <a:off x="5460083" y="1886995"/>
                <a:ext cx="415472" cy="276999"/>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1" name="TextBox 20"/>
              <p:cNvSpPr txBox="1"/>
              <p:nvPr/>
            </p:nvSpPr>
            <p:spPr>
              <a:xfrm>
                <a:off x="6791052" y="3214599"/>
                <a:ext cx="415472" cy="276999"/>
              </a:xfrm>
              <a:prstGeom prst="rect">
                <a:avLst/>
              </a:prstGeom>
              <a:noFill/>
            </p:spPr>
            <p:txBody>
              <a:bodyPr wrap="square" rtlCol="0">
                <a:spAutoFit/>
              </a:bodyPr>
              <a:lstStyle/>
              <a:p>
                <a:pPr/>
                <a14:m>
                  <m:oMathPara xmlns:m="http://schemas.openxmlformats.org/officeDocument/2006/math">
                    <m:oMath>
                      <m:r>
                        <a:rPr lang="en-GB" sz="1200" b="0" i="1" smtClean="0">
                          <a:latin typeface="Cambria Math" panose="02040503050406030204" pitchFamily="18" charset="0"/>
                        </a:rPr>
                        <m:t>𝑥</m:t>
                      </m:r>
                    </m:oMath>
                  </m:oMathPara>
                </a14:m>
                <a:endParaRPr lang="en-GB"/>
              </a:p>
            </p:txBody>
          </p:sp>
        </mc:Choice>
        <mc:Fallback>
          <p:sp>
            <p:nvSpPr>
              <p:cNvPr id="21" name="TextBox 20"/>
              <p:cNvSpPr txBox="1">
                <a:spLocks noRot="1" noChangeAspect="1" noMove="1" noResize="1" noEditPoints="1" noAdjustHandles="1" noChangeArrowheads="1" noChangeShapeType="1" noTextEdit="1"/>
              </p:cNvSpPr>
              <p:nvPr/>
            </p:nvSpPr>
            <p:spPr>
              <a:xfrm>
                <a:off x="6791052" y="3214599"/>
                <a:ext cx="415472" cy="276999"/>
              </a:xfrm>
              <a:prstGeom prst="rect">
                <a:avLst/>
              </a:prstGeom>
              <a:blipFill>
                <a:blip r:embed="rId7"/>
                <a:stretch>
                  <a:fillRect/>
                </a:stretch>
              </a:blipFill>
            </p:spPr>
            <p:txBody>
              <a:bodyPr/>
              <a:lstStyle/>
              <a:p>
                <a:r>
                  <a:rPr lang="en-US">
                    <a:noFill/>
                  </a:rPr>
                  <a:t> </a:t>
                </a:r>
              </a:p>
            </p:txBody>
          </p:sp>
        </mc:Fallback>
      </mc:AlternateContent>
      <p:sp>
        <p:nvSpPr>
          <p:cNvPr id="22" name="Freeform: Shape 21"/>
          <p:cNvSpPr/>
          <p:nvPr/>
        </p:nvSpPr>
        <p:spPr>
          <a:xfrm flipV="1">
            <a:off x="5768885" y="3421103"/>
            <a:ext cx="1031358" cy="967562"/>
          </a:xfrm>
          <a:custGeom>
            <a:avLst/>
            <a:gdLst>
              <a:gd name="connsiteX0" fmla="*/ 0 w 1031358"/>
              <a:gd name="connsiteY0" fmla="*/ 0 h 967562"/>
              <a:gd name="connsiteX1" fmla="*/ 318977 w 1031358"/>
              <a:gd name="connsiteY1" fmla="*/ 723014 h 967562"/>
              <a:gd name="connsiteX2" fmla="*/ 1031358 w 1031358"/>
              <a:gd name="connsiteY2" fmla="*/ 967562 h 967562"/>
              <a:gd name="connsiteX0" fmla="*/ 0 w 1031358"/>
              <a:gd name="connsiteY0" fmla="*/ 0 h 967562"/>
              <a:gd name="connsiteX1" fmla="*/ 318977 w 1031358"/>
              <a:gd name="connsiteY1" fmla="*/ 723014 h 967562"/>
              <a:gd name="connsiteX2" fmla="*/ 1031358 w 1031358"/>
              <a:gd name="connsiteY2" fmla="*/ 967562 h 967562"/>
              <a:gd name="connsiteX0" fmla="*/ 0 w 1031358"/>
              <a:gd name="connsiteY0" fmla="*/ 0 h 967562"/>
              <a:gd name="connsiteX1" fmla="*/ 318977 w 1031358"/>
              <a:gd name="connsiteY1" fmla="*/ 723014 h 967562"/>
              <a:gd name="connsiteX2" fmla="*/ 1031358 w 1031358"/>
              <a:gd name="connsiteY2" fmla="*/ 967562 h 967562"/>
            </a:gdLst>
            <a:ahLst/>
            <a:cxnLst>
              <a:cxn ang="0">
                <a:pos x="connsiteX0" y="connsiteY0"/>
              </a:cxn>
              <a:cxn ang="0">
                <a:pos x="connsiteX1" y="connsiteY1"/>
              </a:cxn>
              <a:cxn ang="0">
                <a:pos x="connsiteX2" y="connsiteY2"/>
              </a:cxn>
            </a:cxnLst>
            <a:rect l="l" t="t" r="r" b="b"/>
            <a:pathLst>
              <a:path w="1031358" h="967562">
                <a:moveTo>
                  <a:pt x="0" y="0"/>
                </a:moveTo>
                <a:cubicBezTo>
                  <a:pt x="31012" y="227714"/>
                  <a:pt x="147084" y="561754"/>
                  <a:pt x="318977" y="723014"/>
                </a:cubicBezTo>
                <a:cubicBezTo>
                  <a:pt x="490870" y="884274"/>
                  <a:pt x="697319" y="936551"/>
                  <a:pt x="1031358" y="967562"/>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Freeform: Shape 22"/>
          <p:cNvSpPr/>
          <p:nvPr/>
        </p:nvSpPr>
        <p:spPr>
          <a:xfrm flipH="1" flipV="1">
            <a:off x="4618687" y="3402255"/>
            <a:ext cx="1031358" cy="967562"/>
          </a:xfrm>
          <a:custGeom>
            <a:avLst/>
            <a:gdLst>
              <a:gd name="connsiteX0" fmla="*/ 0 w 1031358"/>
              <a:gd name="connsiteY0" fmla="*/ 0 h 967562"/>
              <a:gd name="connsiteX1" fmla="*/ 318977 w 1031358"/>
              <a:gd name="connsiteY1" fmla="*/ 723014 h 967562"/>
              <a:gd name="connsiteX2" fmla="*/ 1031358 w 1031358"/>
              <a:gd name="connsiteY2" fmla="*/ 967562 h 967562"/>
              <a:gd name="connsiteX0" fmla="*/ 0 w 1031358"/>
              <a:gd name="connsiteY0" fmla="*/ 0 h 967562"/>
              <a:gd name="connsiteX1" fmla="*/ 318977 w 1031358"/>
              <a:gd name="connsiteY1" fmla="*/ 723014 h 967562"/>
              <a:gd name="connsiteX2" fmla="*/ 1031358 w 1031358"/>
              <a:gd name="connsiteY2" fmla="*/ 967562 h 967562"/>
              <a:gd name="connsiteX0" fmla="*/ 0 w 1031358"/>
              <a:gd name="connsiteY0" fmla="*/ 0 h 967562"/>
              <a:gd name="connsiteX1" fmla="*/ 318977 w 1031358"/>
              <a:gd name="connsiteY1" fmla="*/ 723014 h 967562"/>
              <a:gd name="connsiteX2" fmla="*/ 1031358 w 1031358"/>
              <a:gd name="connsiteY2" fmla="*/ 967562 h 967562"/>
            </a:gdLst>
            <a:ahLst/>
            <a:cxnLst>
              <a:cxn ang="0">
                <a:pos x="connsiteX0" y="connsiteY0"/>
              </a:cxn>
              <a:cxn ang="0">
                <a:pos x="connsiteX1" y="connsiteY1"/>
              </a:cxn>
              <a:cxn ang="0">
                <a:pos x="connsiteX2" y="connsiteY2"/>
              </a:cxn>
            </a:cxnLst>
            <a:rect l="l" t="t" r="r" b="b"/>
            <a:pathLst>
              <a:path w="1031358" h="967562">
                <a:moveTo>
                  <a:pt x="0" y="0"/>
                </a:moveTo>
                <a:cubicBezTo>
                  <a:pt x="31012" y="227714"/>
                  <a:pt x="147084" y="561754"/>
                  <a:pt x="318977" y="723014"/>
                </a:cubicBezTo>
                <a:cubicBezTo>
                  <a:pt x="490870" y="884274"/>
                  <a:pt x="697319" y="936551"/>
                  <a:pt x="1031358" y="967562"/>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Rectangle 15"/>
          <p:cNvSpPr/>
          <p:nvPr/>
        </p:nvSpPr>
        <p:spPr>
          <a:xfrm>
            <a:off x="470076" y="1740103"/>
            <a:ext cx="2974873" cy="2704306"/>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24" name="Rectangle 23"/>
          <p:cNvSpPr/>
          <p:nvPr/>
        </p:nvSpPr>
        <p:spPr>
          <a:xfrm>
            <a:off x="4315271" y="1740103"/>
            <a:ext cx="2974873" cy="2704306"/>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25" name="TextBox 24"/>
          <p:cNvSpPr txBox="1"/>
          <p:nvPr/>
        </p:nvSpPr>
        <p:spPr>
          <a:xfrm>
            <a:off x="2875706" y="740971"/>
            <a:ext cx="1152128" cy="600164"/>
          </a:xfrm>
          <a:prstGeom prst="rect">
            <a:avLst/>
          </a:prstGeom>
          <a:noFill/>
        </p:spPr>
        <p:txBody>
          <a:bodyPr wrap="square" rtlCol="0">
            <a:spAutoFit/>
          </a:bodyPr>
          <a:lstStyle/>
          <a:p>
            <a:r>
              <a:rPr lang="en-GB" sz="1100"/>
              <a:t>This is new to the A Level 2017 syllabus.</a:t>
            </a:r>
          </a:p>
        </p:txBody>
      </p:sp>
      <p:cxnSp>
        <p:nvCxnSpPr>
          <p:cNvPr id="27" name="Straight Arrow Connector 26"/>
          <p:cNvCxnSpPr/>
          <p:nvPr/>
        </p:nvCxnSpPr>
        <p:spPr>
          <a:xfrm flipH="1">
            <a:off x="2627784" y="911091"/>
            <a:ext cx="288032" cy="14164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507884886"/>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6"/>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6"/>
                                        </p:tgtEl>
                                      </p:cBhvr>
                                    </p:animEffect>
                                    <p:set>
                                      <p:cBhvr>
                                        <p:cTn id="7" dur="1" fill="hold">
                                          <p:stCondLst>
                                            <p:cond delay="499"/>
                                          </p:stCondLst>
                                        </p:cTn>
                                        <p:tgtEl>
                                          <p:spTgt spid="16"/>
                                        </p:tgtEl>
                                        <p:attrNameLst>
                                          <p:attrName>style.visibility</p:attrName>
                                        </p:attrNameLst>
                                      </p:cBhvr>
                                      <p:to>
                                        <p:strVal val="hidden"/>
                                      </p:to>
                                    </p:set>
                                  </p:childTnLst>
                                </p:cTn>
                              </p:par>
                            </p:childTnLst>
                          </p:cTn>
                        </p:par>
                      </p:childTnLst>
                    </p:cTn>
                  </p:par>
                </p:childTnLst>
              </p:cTn>
              <p:nextCondLst>
                <p:cond evt="onClick" delay="0">
                  <p:tgtEl>
                    <p:spTgt spid="16"/>
                  </p:tgtEl>
                </p:cond>
              </p:nextCondLst>
            </p:seq>
            <p:seq concurrent="1" nextAc="seek">
              <p:cTn id="8" restart="whenNotActive" fill="hold" evtFilter="cancelBubble" nodeType="interactiveSeq">
                <p:stCondLst>
                  <p:cond evt="onClick" delay="0">
                    <p:tgtEl>
                      <p:spTgt spid="24"/>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24"/>
                                        </p:tgtEl>
                                      </p:cBhvr>
                                    </p:animEffect>
                                    <p:set>
                                      <p:cBhvr>
                                        <p:cTn id="13" dur="1" fill="hold">
                                          <p:stCondLst>
                                            <p:cond delay="499"/>
                                          </p:stCondLst>
                                        </p:cTn>
                                        <p:tgtEl>
                                          <p:spTgt spid="24"/>
                                        </p:tgtEl>
                                        <p:attrNameLst>
                                          <p:attrName>style.visibility</p:attrName>
                                        </p:attrNameLst>
                                      </p:cBhvr>
                                      <p:to>
                                        <p:strVal val="hidden"/>
                                      </p:to>
                                    </p:set>
                                  </p:childTnLst>
                                </p:cTn>
                              </p:par>
                            </p:childTnLst>
                          </p:cTn>
                        </p:par>
                      </p:childTnLst>
                    </p:cTn>
                  </p:par>
                </p:childTnLst>
              </p:cTn>
              <p:nextCondLst>
                <p:cond evt="onClick" delay="0">
                  <p:tgtEl>
                    <p:spTgt spid="24"/>
                  </p:tgtEl>
                </p:cond>
              </p:nextCondLst>
            </p:seq>
          </p:childTnLst>
        </p:cTn>
      </p:par>
    </p:tnLst>
    <p:bldLst>
      <p:bldP spid="16" grpId="0" animBg="1"/>
      <p:bldP spid="2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vert="horz" wrap="square" lIns="324000" tIns="45720" rIns="91440" bIns="45720" rtlCol="0" anchor="ctr">
              <a:spAutoFit/>
            </a:bodyPr>
            <a:lstStyle>
              <a:defPPr>
                <a:defRPr lang="en-US"/>
              </a:defPPr>
              <a:lvl1pPr>
                <a:spcBef>
                  <a:spcPct val="0"/>
                </a:spcBef>
                <a:buNone/>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a:t>Reciprocal Graphs</a:t>
              </a:r>
            </a:p>
          </p:txBody>
        </p:sp>
        <p:cxnSp>
          <p:nvCxnSpPr>
            <p:cNvPr id="4" name="Straight Connector 3"/>
            <p:cNvCxnSpPr/>
            <p:nvPr/>
          </p:nvCxnSpPr>
          <p:spPr>
            <a:xfrm>
              <a:off x="218" y="601079"/>
              <a:ext cx="9144000" cy="0"/>
            </a:xfrm>
            <a:prstGeom prst="line">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mc:Choice xmlns:a14="http://schemas.microsoft.com/office/drawing/2010/main" Requires="a14">
          <p:sp>
            <p:nvSpPr>
              <p:cNvPr id="5" name="TextBox 4"/>
              <p:cNvSpPr txBox="1"/>
              <p:nvPr/>
            </p:nvSpPr>
            <p:spPr>
              <a:xfrm>
                <a:off x="839026" y="890053"/>
                <a:ext cx="6696744" cy="484941"/>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a:t>On the same axes, sketch </a:t>
                </a:r>
                <a14:m>
                  <m:oMath xmlns:m="http://schemas.openxmlformats.org/officeDocument/2006/math">
                    <m:r>
                      <a:rPr lang="en-GB" b="0" i="1" smtClean="0">
                        <a:latin typeface="Cambria Math" panose="02040503050406030204" pitchFamily="18" charset="0"/>
                      </a:rPr>
                      <m:t>𝑦</m:t>
                    </m:r>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𝑥</m:t>
                        </m:r>
                      </m:den>
                    </m:f>
                  </m:oMath>
                </a14:m>
                <a:r>
                  <a:rPr lang="en-GB"/>
                  <a:t> and </a:t>
                </a:r>
                <a14:m>
                  <m:oMath xmlns:m="http://schemas.openxmlformats.org/officeDocument/2006/math">
                    <m:r>
                      <a:rPr lang="en-GB" b="0" i="1" smtClean="0">
                        <a:latin typeface="Cambria Math" panose="02040503050406030204" pitchFamily="18" charset="0"/>
                      </a:rPr>
                      <m:t>𝑦</m:t>
                    </m:r>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3</m:t>
                        </m:r>
                      </m:num>
                      <m:den>
                        <m:r>
                          <a:rPr lang="en-GB" b="0" i="1" smtClean="0">
                            <a:latin typeface="Cambria Math" panose="02040503050406030204" pitchFamily="18" charset="0"/>
                          </a:rPr>
                          <m:t>𝑥</m:t>
                        </m:r>
                      </m:den>
                    </m:f>
                  </m:oMath>
                </a14:m>
                <a:endParaRPr lang="en-GB"/>
              </a:p>
            </p:txBody>
          </p:sp>
        </mc:Choice>
        <mc:Fallback>
          <p:sp>
            <p:nvSpPr>
              <p:cNvPr id="5" name="TextBox 4"/>
              <p:cNvSpPr txBox="1">
                <a:spLocks noRot="1" noChangeAspect="1" noMove="1" noResize="1" noEditPoints="1" noAdjustHandles="1" noChangeArrowheads="1" noChangeShapeType="1" noTextEdit="1"/>
              </p:cNvSpPr>
              <p:nvPr/>
            </p:nvSpPr>
            <p:spPr>
              <a:xfrm>
                <a:off x="839026" y="890053"/>
                <a:ext cx="6696744" cy="484941"/>
              </a:xfrm>
              <a:prstGeom prst="rect">
                <a:avLst/>
              </a:prstGeom>
              <a:blipFill>
                <a:blip r:embed="rId2"/>
                <a:stretch>
                  <a:fillRect/>
                </a:stretch>
              </a:blipFill>
              <a:effectLst>
                <a:outerShdw blurRad="63500" sx="102000" sy="102000" algn="ctr" rotWithShape="0">
                  <a:prstClr val="black">
                    <a:alpha val="40000"/>
                  </a:prstClr>
                </a:outerShdw>
              </a:effectLst>
            </p:spPr>
            <p:txBody>
              <a:bodyPr/>
              <a:lstStyle/>
              <a:p>
                <a:r>
                  <a:rPr lang="en-US">
                    <a:noFill/>
                  </a:rPr>
                  <a:t> </a:t>
                </a:r>
              </a:p>
            </p:txBody>
          </p:sp>
        </mc:Fallback>
      </mc:AlternateContent>
      <p:cxnSp>
        <p:nvCxnSpPr>
          <p:cNvPr id="6" name="Straight Arrow Connector 5"/>
          <p:cNvCxnSpPr/>
          <p:nvPr/>
        </p:nvCxnSpPr>
        <p:spPr>
          <a:xfrm>
            <a:off x="2720793" y="3761345"/>
            <a:ext cx="240944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 name="Straight Arrow Connector 6"/>
          <p:cNvCxnSpPr/>
          <p:nvPr/>
        </p:nvCxnSpPr>
        <p:spPr>
          <a:xfrm flipH="1" flipV="1">
            <a:off x="3928380" y="2645840"/>
            <a:ext cx="37565" cy="273423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8" name="TextBox 7"/>
              <p:cNvSpPr txBox="1"/>
              <p:nvPr/>
            </p:nvSpPr>
            <p:spPr>
              <a:xfrm>
                <a:off x="3689040" y="2304246"/>
                <a:ext cx="415472" cy="276999"/>
              </a:xfrm>
              <a:prstGeom prst="rect">
                <a:avLst/>
              </a:prstGeom>
              <a:noFill/>
            </p:spPr>
            <p:txBody>
              <a:bodyPr wrap="square" rtlCol="0">
                <a:spAutoFit/>
              </a:bodyPr>
              <a:lstStyle/>
              <a:p>
                <a:pPr/>
                <a14:m>
                  <m:oMathPara xmlns:m="http://schemas.openxmlformats.org/officeDocument/2006/math">
                    <m:oMath>
                      <m:r>
                        <a:rPr lang="en-GB" sz="1200" b="0" i="1" smtClean="0">
                          <a:latin typeface="Cambria Math" panose="02040503050406030204" pitchFamily="18" charset="0"/>
                        </a:rPr>
                        <m:t>𝑦</m:t>
                      </m:r>
                    </m:oMath>
                  </m:oMathPara>
                </a14:m>
                <a:endParaRPr lang="en-GB"/>
              </a:p>
            </p:txBody>
          </p:sp>
        </mc:Choice>
        <mc:Fallback>
          <p:sp>
            <p:nvSpPr>
              <p:cNvPr id="8" name="TextBox 7"/>
              <p:cNvSpPr txBox="1">
                <a:spLocks noRot="1" noChangeAspect="1" noMove="1" noResize="1" noEditPoints="1" noAdjustHandles="1" noChangeArrowheads="1" noChangeShapeType="1" noTextEdit="1"/>
              </p:cNvSpPr>
              <p:nvPr/>
            </p:nvSpPr>
            <p:spPr>
              <a:xfrm>
                <a:off x="3689040" y="2304246"/>
                <a:ext cx="415472" cy="276999"/>
              </a:xfrm>
              <a:prstGeom prst="rect">
                <a:avLst/>
              </a:prstGeom>
              <a:blipFill>
                <a:blip r:embed="rId3"/>
                <a:stretch>
                  <a:fillRect b="-4348"/>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 name="TextBox 8"/>
              <p:cNvSpPr txBox="1"/>
              <p:nvPr/>
            </p:nvSpPr>
            <p:spPr>
              <a:xfrm>
                <a:off x="5020009" y="3631850"/>
                <a:ext cx="415472" cy="276999"/>
              </a:xfrm>
              <a:prstGeom prst="rect">
                <a:avLst/>
              </a:prstGeom>
              <a:noFill/>
            </p:spPr>
            <p:txBody>
              <a:bodyPr wrap="square" rtlCol="0">
                <a:spAutoFit/>
              </a:bodyPr>
              <a:lstStyle/>
              <a:p>
                <a:pPr/>
                <a14:m>
                  <m:oMathPara xmlns:m="http://schemas.openxmlformats.org/officeDocument/2006/math">
                    <m:oMath>
                      <m:r>
                        <a:rPr lang="en-GB" sz="1200" b="0" i="1" smtClean="0">
                          <a:latin typeface="Cambria Math" panose="02040503050406030204" pitchFamily="18" charset="0"/>
                        </a:rPr>
                        <m:t>𝑥</m:t>
                      </m:r>
                    </m:oMath>
                  </m:oMathPara>
                </a14:m>
                <a:endParaRPr lang="en-GB"/>
              </a:p>
            </p:txBody>
          </p:sp>
        </mc:Choice>
        <mc:Fallback>
          <p:sp>
            <p:nvSpPr>
              <p:cNvPr id="9" name="TextBox 8"/>
              <p:cNvSpPr txBox="1">
                <a:spLocks noRot="1" noChangeAspect="1" noMove="1" noResize="1" noEditPoints="1" noAdjustHandles="1" noChangeArrowheads="1" noChangeShapeType="1" noTextEdit="1"/>
              </p:cNvSpPr>
              <p:nvPr/>
            </p:nvSpPr>
            <p:spPr>
              <a:xfrm>
                <a:off x="5020009" y="3631850"/>
                <a:ext cx="415472" cy="276999"/>
              </a:xfrm>
              <a:prstGeom prst="rect">
                <a:avLst/>
              </a:prstGeom>
              <a:blipFill>
                <a:blip r:embed="rId4"/>
                <a:stretch>
                  <a:fillRect/>
                </a:stretch>
              </a:blipFill>
            </p:spPr>
            <p:txBody>
              <a:bodyPr/>
              <a:lstStyle/>
              <a:p>
                <a:r>
                  <a:rPr lang="en-US">
                    <a:noFill/>
                  </a:rPr>
                  <a:t> </a:t>
                </a:r>
              </a:p>
            </p:txBody>
          </p:sp>
        </mc:Fallback>
      </mc:AlternateContent>
      <p:sp>
        <p:nvSpPr>
          <p:cNvPr id="10" name="Freeform: Shape 9"/>
          <p:cNvSpPr/>
          <p:nvPr/>
        </p:nvSpPr>
        <p:spPr>
          <a:xfrm>
            <a:off x="3987210" y="2764466"/>
            <a:ext cx="1031358" cy="967562"/>
          </a:xfrm>
          <a:custGeom>
            <a:avLst/>
            <a:gdLst>
              <a:gd name="connsiteX0" fmla="*/ 0 w 1031358"/>
              <a:gd name="connsiteY0" fmla="*/ 0 h 967562"/>
              <a:gd name="connsiteX1" fmla="*/ 318977 w 1031358"/>
              <a:gd name="connsiteY1" fmla="*/ 723014 h 967562"/>
              <a:gd name="connsiteX2" fmla="*/ 1031358 w 1031358"/>
              <a:gd name="connsiteY2" fmla="*/ 967562 h 967562"/>
              <a:gd name="connsiteX0" fmla="*/ 0 w 1031358"/>
              <a:gd name="connsiteY0" fmla="*/ 0 h 967562"/>
              <a:gd name="connsiteX1" fmla="*/ 318977 w 1031358"/>
              <a:gd name="connsiteY1" fmla="*/ 723014 h 967562"/>
              <a:gd name="connsiteX2" fmla="*/ 1031358 w 1031358"/>
              <a:gd name="connsiteY2" fmla="*/ 967562 h 967562"/>
              <a:gd name="connsiteX0" fmla="*/ 0 w 1031358"/>
              <a:gd name="connsiteY0" fmla="*/ 0 h 967562"/>
              <a:gd name="connsiteX1" fmla="*/ 318977 w 1031358"/>
              <a:gd name="connsiteY1" fmla="*/ 723014 h 967562"/>
              <a:gd name="connsiteX2" fmla="*/ 1031358 w 1031358"/>
              <a:gd name="connsiteY2" fmla="*/ 967562 h 967562"/>
            </a:gdLst>
            <a:ahLst/>
            <a:cxnLst>
              <a:cxn ang="0">
                <a:pos x="connsiteX0" y="connsiteY0"/>
              </a:cxn>
              <a:cxn ang="0">
                <a:pos x="connsiteX1" y="connsiteY1"/>
              </a:cxn>
              <a:cxn ang="0">
                <a:pos x="connsiteX2" y="connsiteY2"/>
              </a:cxn>
            </a:cxnLst>
            <a:rect l="l" t="t" r="r" b="b"/>
            <a:pathLst>
              <a:path w="1031358" h="967562">
                <a:moveTo>
                  <a:pt x="0" y="0"/>
                </a:moveTo>
                <a:cubicBezTo>
                  <a:pt x="31012" y="227714"/>
                  <a:pt x="147084" y="561754"/>
                  <a:pt x="318977" y="723014"/>
                </a:cubicBezTo>
                <a:cubicBezTo>
                  <a:pt x="490870" y="884274"/>
                  <a:pt x="697319" y="936551"/>
                  <a:pt x="1031358" y="967562"/>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Freeform: Shape 10"/>
          <p:cNvSpPr/>
          <p:nvPr/>
        </p:nvSpPr>
        <p:spPr>
          <a:xfrm rot="10800000">
            <a:off x="2865017" y="3814887"/>
            <a:ext cx="1063256" cy="1233376"/>
          </a:xfrm>
          <a:custGeom>
            <a:avLst/>
            <a:gdLst>
              <a:gd name="connsiteX0" fmla="*/ 0 w 1031358"/>
              <a:gd name="connsiteY0" fmla="*/ 0 h 967562"/>
              <a:gd name="connsiteX1" fmla="*/ 318977 w 1031358"/>
              <a:gd name="connsiteY1" fmla="*/ 723014 h 967562"/>
              <a:gd name="connsiteX2" fmla="*/ 1031358 w 1031358"/>
              <a:gd name="connsiteY2" fmla="*/ 967562 h 967562"/>
              <a:gd name="connsiteX0" fmla="*/ 0 w 1031358"/>
              <a:gd name="connsiteY0" fmla="*/ 0 h 967562"/>
              <a:gd name="connsiteX1" fmla="*/ 318977 w 1031358"/>
              <a:gd name="connsiteY1" fmla="*/ 723014 h 967562"/>
              <a:gd name="connsiteX2" fmla="*/ 1031358 w 1031358"/>
              <a:gd name="connsiteY2" fmla="*/ 967562 h 967562"/>
              <a:gd name="connsiteX0" fmla="*/ 0 w 1031358"/>
              <a:gd name="connsiteY0" fmla="*/ 0 h 967562"/>
              <a:gd name="connsiteX1" fmla="*/ 318977 w 1031358"/>
              <a:gd name="connsiteY1" fmla="*/ 723014 h 967562"/>
              <a:gd name="connsiteX2" fmla="*/ 1031358 w 1031358"/>
              <a:gd name="connsiteY2" fmla="*/ 967562 h 967562"/>
              <a:gd name="connsiteX0" fmla="*/ 0 w 1063256"/>
              <a:gd name="connsiteY0" fmla="*/ 0 h 1233376"/>
              <a:gd name="connsiteX1" fmla="*/ 350875 w 1063256"/>
              <a:gd name="connsiteY1" fmla="*/ 988828 h 1233376"/>
              <a:gd name="connsiteX2" fmla="*/ 1063256 w 1063256"/>
              <a:gd name="connsiteY2" fmla="*/ 1233376 h 1233376"/>
            </a:gdLst>
            <a:ahLst/>
            <a:cxnLst>
              <a:cxn ang="0">
                <a:pos x="connsiteX0" y="connsiteY0"/>
              </a:cxn>
              <a:cxn ang="0">
                <a:pos x="connsiteX1" y="connsiteY1"/>
              </a:cxn>
              <a:cxn ang="0">
                <a:pos x="connsiteX2" y="connsiteY2"/>
              </a:cxn>
            </a:cxnLst>
            <a:rect l="l" t="t" r="r" b="b"/>
            <a:pathLst>
              <a:path w="1063256" h="1233376">
                <a:moveTo>
                  <a:pt x="0" y="0"/>
                </a:moveTo>
                <a:cubicBezTo>
                  <a:pt x="31012" y="227714"/>
                  <a:pt x="173666" y="783265"/>
                  <a:pt x="350875" y="988828"/>
                </a:cubicBezTo>
                <a:cubicBezTo>
                  <a:pt x="528084" y="1194391"/>
                  <a:pt x="729217" y="1202365"/>
                  <a:pt x="1063256" y="1233376"/>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Freeform: Shape 16"/>
          <p:cNvSpPr/>
          <p:nvPr/>
        </p:nvSpPr>
        <p:spPr>
          <a:xfrm>
            <a:off x="4029741" y="1998922"/>
            <a:ext cx="1031358" cy="1626782"/>
          </a:xfrm>
          <a:custGeom>
            <a:avLst/>
            <a:gdLst>
              <a:gd name="connsiteX0" fmla="*/ 0 w 1031358"/>
              <a:gd name="connsiteY0" fmla="*/ 0 h 967562"/>
              <a:gd name="connsiteX1" fmla="*/ 318977 w 1031358"/>
              <a:gd name="connsiteY1" fmla="*/ 723014 h 967562"/>
              <a:gd name="connsiteX2" fmla="*/ 1031358 w 1031358"/>
              <a:gd name="connsiteY2" fmla="*/ 967562 h 967562"/>
              <a:gd name="connsiteX0" fmla="*/ 0 w 1031358"/>
              <a:gd name="connsiteY0" fmla="*/ 0 h 967562"/>
              <a:gd name="connsiteX1" fmla="*/ 318977 w 1031358"/>
              <a:gd name="connsiteY1" fmla="*/ 723014 h 967562"/>
              <a:gd name="connsiteX2" fmla="*/ 1031358 w 1031358"/>
              <a:gd name="connsiteY2" fmla="*/ 967562 h 967562"/>
              <a:gd name="connsiteX0" fmla="*/ 0 w 1031358"/>
              <a:gd name="connsiteY0" fmla="*/ 0 h 967562"/>
              <a:gd name="connsiteX1" fmla="*/ 318977 w 1031358"/>
              <a:gd name="connsiteY1" fmla="*/ 723014 h 967562"/>
              <a:gd name="connsiteX2" fmla="*/ 1031358 w 1031358"/>
              <a:gd name="connsiteY2" fmla="*/ 967562 h 967562"/>
            </a:gdLst>
            <a:ahLst/>
            <a:cxnLst>
              <a:cxn ang="0">
                <a:pos x="connsiteX0" y="connsiteY0"/>
              </a:cxn>
              <a:cxn ang="0">
                <a:pos x="connsiteX1" y="connsiteY1"/>
              </a:cxn>
              <a:cxn ang="0">
                <a:pos x="connsiteX2" y="connsiteY2"/>
              </a:cxn>
            </a:cxnLst>
            <a:rect l="l" t="t" r="r" b="b"/>
            <a:pathLst>
              <a:path w="1031358" h="967562">
                <a:moveTo>
                  <a:pt x="0" y="0"/>
                </a:moveTo>
                <a:cubicBezTo>
                  <a:pt x="31012" y="227714"/>
                  <a:pt x="147084" y="561754"/>
                  <a:pt x="318977" y="723014"/>
                </a:cubicBezTo>
                <a:cubicBezTo>
                  <a:pt x="490870" y="884274"/>
                  <a:pt x="697319" y="936551"/>
                  <a:pt x="1031358" y="967562"/>
                </a:cubicBezTo>
              </a:path>
            </a:pathLst>
          </a:cu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Freeform: Shape 17"/>
          <p:cNvSpPr/>
          <p:nvPr/>
        </p:nvSpPr>
        <p:spPr>
          <a:xfrm flipH="1" flipV="1">
            <a:off x="2856019" y="3913773"/>
            <a:ext cx="1031358" cy="1626782"/>
          </a:xfrm>
          <a:custGeom>
            <a:avLst/>
            <a:gdLst>
              <a:gd name="connsiteX0" fmla="*/ 0 w 1031358"/>
              <a:gd name="connsiteY0" fmla="*/ 0 h 967562"/>
              <a:gd name="connsiteX1" fmla="*/ 318977 w 1031358"/>
              <a:gd name="connsiteY1" fmla="*/ 723014 h 967562"/>
              <a:gd name="connsiteX2" fmla="*/ 1031358 w 1031358"/>
              <a:gd name="connsiteY2" fmla="*/ 967562 h 967562"/>
              <a:gd name="connsiteX0" fmla="*/ 0 w 1031358"/>
              <a:gd name="connsiteY0" fmla="*/ 0 h 967562"/>
              <a:gd name="connsiteX1" fmla="*/ 318977 w 1031358"/>
              <a:gd name="connsiteY1" fmla="*/ 723014 h 967562"/>
              <a:gd name="connsiteX2" fmla="*/ 1031358 w 1031358"/>
              <a:gd name="connsiteY2" fmla="*/ 967562 h 967562"/>
              <a:gd name="connsiteX0" fmla="*/ 0 w 1031358"/>
              <a:gd name="connsiteY0" fmla="*/ 0 h 967562"/>
              <a:gd name="connsiteX1" fmla="*/ 318977 w 1031358"/>
              <a:gd name="connsiteY1" fmla="*/ 723014 h 967562"/>
              <a:gd name="connsiteX2" fmla="*/ 1031358 w 1031358"/>
              <a:gd name="connsiteY2" fmla="*/ 967562 h 967562"/>
            </a:gdLst>
            <a:ahLst/>
            <a:cxnLst>
              <a:cxn ang="0">
                <a:pos x="connsiteX0" y="connsiteY0"/>
              </a:cxn>
              <a:cxn ang="0">
                <a:pos x="connsiteX1" y="connsiteY1"/>
              </a:cxn>
              <a:cxn ang="0">
                <a:pos x="connsiteX2" y="connsiteY2"/>
              </a:cxn>
            </a:cxnLst>
            <a:rect l="l" t="t" r="r" b="b"/>
            <a:pathLst>
              <a:path w="1031358" h="967562">
                <a:moveTo>
                  <a:pt x="0" y="0"/>
                </a:moveTo>
                <a:cubicBezTo>
                  <a:pt x="31012" y="227714"/>
                  <a:pt x="147084" y="561754"/>
                  <a:pt x="318977" y="723014"/>
                </a:cubicBezTo>
                <a:cubicBezTo>
                  <a:pt x="490870" y="884274"/>
                  <a:pt x="697319" y="936551"/>
                  <a:pt x="1031358" y="967562"/>
                </a:cubicBezTo>
              </a:path>
            </a:pathLst>
          </a:cu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mc:Choice xmlns:a14="http://schemas.microsoft.com/office/drawing/2010/main" Requires="a14">
          <p:sp>
            <p:nvSpPr>
              <p:cNvPr id="19" name="TextBox 18"/>
              <p:cNvSpPr txBox="1"/>
              <p:nvPr/>
            </p:nvSpPr>
            <p:spPr>
              <a:xfrm>
                <a:off x="4187398" y="2380026"/>
                <a:ext cx="714212" cy="497059"/>
              </a:xfrm>
              <a:prstGeom prst="rect">
                <a:avLst/>
              </a:prstGeom>
              <a:noFill/>
            </p:spPr>
            <p:txBody>
              <a:bodyPr wrap="square" rtlCol="0">
                <a:spAutoFit/>
              </a:bodyPr>
              <a:lstStyle/>
              <a:p>
                <a:pPr/>
                <a14:m>
                  <m:oMathPara xmlns:m="http://schemas.openxmlformats.org/officeDocument/2006/math">
                    <m:oMath>
                      <m:r>
                        <a:rPr lang="en-GB" sz="1400" b="0" i="1" smtClean="0">
                          <a:solidFill>
                            <a:schemeClr val="accent6"/>
                          </a:solidFill>
                          <a:latin typeface="Cambria Math" panose="02040503050406030204" pitchFamily="18" charset="0"/>
                        </a:rPr>
                        <m:t>𝑦</m:t>
                      </m:r>
                      <m:r>
                        <a:rPr lang="en-GB" sz="1400" b="0" i="1" smtClean="0">
                          <a:solidFill>
                            <a:schemeClr val="accent6"/>
                          </a:solidFill>
                          <a:latin typeface="Cambria Math" panose="02040503050406030204" pitchFamily="18" charset="0"/>
                        </a:rPr>
                        <m:t>=</m:t>
                      </m:r>
                      <m:f>
                        <m:fPr>
                          <m:ctrlPr>
                            <a:rPr lang="en-GB" sz="1400" b="0" i="1" smtClean="0">
                              <a:solidFill>
                                <a:schemeClr val="accent6"/>
                              </a:solidFill>
                              <a:latin typeface="Cambria Math" panose="02040503050406030204" pitchFamily="18" charset="0"/>
                            </a:rPr>
                          </m:ctrlPr>
                        </m:fPr>
                        <m:num>
                          <m:r>
                            <a:rPr lang="en-GB" sz="1400" b="0" i="1" smtClean="0">
                              <a:solidFill>
                                <a:schemeClr val="accent6"/>
                              </a:solidFill>
                              <a:latin typeface="Cambria Math" panose="02040503050406030204" pitchFamily="18" charset="0"/>
                            </a:rPr>
                            <m:t>3</m:t>
                          </m:r>
                        </m:num>
                        <m:den>
                          <m:r>
                            <a:rPr lang="en-GB" sz="1400" b="0" i="1" smtClean="0">
                              <a:solidFill>
                                <a:schemeClr val="accent6"/>
                              </a:solidFill>
                              <a:latin typeface="Cambria Math" panose="02040503050406030204" pitchFamily="18" charset="0"/>
                            </a:rPr>
                            <m:t>𝑥</m:t>
                          </m:r>
                        </m:den>
                      </m:f>
                    </m:oMath>
                  </m:oMathPara>
                </a14:m>
                <a:endParaRPr lang="en-GB"/>
              </a:p>
            </p:txBody>
          </p:sp>
        </mc:Choice>
        <mc:Fallback>
          <p:sp>
            <p:nvSpPr>
              <p:cNvPr id="19" name="TextBox 18"/>
              <p:cNvSpPr txBox="1">
                <a:spLocks noRot="1" noChangeAspect="1" noMove="1" noResize="1" noEditPoints="1" noAdjustHandles="1" noChangeArrowheads="1" noChangeShapeType="1" noTextEdit="1"/>
              </p:cNvSpPr>
              <p:nvPr/>
            </p:nvSpPr>
            <p:spPr>
              <a:xfrm>
                <a:off x="4187398" y="2380026"/>
                <a:ext cx="714212" cy="497059"/>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0" name="TextBox 19"/>
              <p:cNvSpPr txBox="1"/>
              <p:nvPr/>
            </p:nvSpPr>
            <p:spPr>
              <a:xfrm>
                <a:off x="4352803" y="3723299"/>
                <a:ext cx="714212" cy="497059"/>
              </a:xfrm>
              <a:prstGeom prst="rect">
                <a:avLst/>
              </a:prstGeom>
              <a:noFill/>
            </p:spPr>
            <p:txBody>
              <a:bodyPr wrap="square" rtlCol="0">
                <a:spAutoFit/>
              </a:bodyPr>
              <a:lstStyle/>
              <a:p>
                <a:pPr/>
                <a14:m>
                  <m:oMathPara xmlns:m="http://schemas.openxmlformats.org/officeDocument/2006/math">
                    <m:oMath>
                      <m:r>
                        <a:rPr lang="en-GB" sz="1400" b="0" i="1" smtClean="0">
                          <a:solidFill>
                            <a:srgbClr val="002060"/>
                          </a:solidFill>
                          <a:latin typeface="Cambria Math" panose="02040503050406030204" pitchFamily="18" charset="0"/>
                        </a:rPr>
                        <m:t>𝑦</m:t>
                      </m:r>
                      <m:r>
                        <a:rPr lang="en-GB" sz="1400" b="0" i="1" smtClean="0">
                          <a:solidFill>
                            <a:srgbClr val="002060"/>
                          </a:solidFill>
                          <a:latin typeface="Cambria Math" panose="02040503050406030204" pitchFamily="18" charset="0"/>
                        </a:rPr>
                        <m:t>=</m:t>
                      </m:r>
                      <m:f>
                        <m:fPr>
                          <m:ctrlPr>
                            <a:rPr lang="en-GB" sz="1400" b="0" i="1" smtClean="0">
                              <a:solidFill>
                                <a:srgbClr val="002060"/>
                              </a:solidFill>
                              <a:latin typeface="Cambria Math" panose="02040503050406030204" pitchFamily="18" charset="0"/>
                            </a:rPr>
                          </m:ctrlPr>
                        </m:fPr>
                        <m:num>
                          <m:r>
                            <a:rPr lang="en-GB" sz="1400" b="0" i="1" smtClean="0">
                              <a:solidFill>
                                <a:srgbClr val="002060"/>
                              </a:solidFill>
                              <a:latin typeface="Cambria Math" panose="02040503050406030204" pitchFamily="18" charset="0"/>
                            </a:rPr>
                            <m:t>1</m:t>
                          </m:r>
                        </m:num>
                        <m:den>
                          <m:r>
                            <a:rPr lang="en-GB" sz="1400" b="0" i="1" smtClean="0">
                              <a:solidFill>
                                <a:srgbClr val="002060"/>
                              </a:solidFill>
                              <a:latin typeface="Cambria Math" panose="02040503050406030204" pitchFamily="18" charset="0"/>
                            </a:rPr>
                            <m:t>𝑥</m:t>
                          </m:r>
                        </m:den>
                      </m:f>
                    </m:oMath>
                  </m:oMathPara>
                </a14:m>
                <a:endParaRPr lang="en-GB"/>
              </a:p>
            </p:txBody>
          </p:sp>
        </mc:Choice>
        <mc:Fallback>
          <p:sp>
            <p:nvSpPr>
              <p:cNvPr id="20" name="TextBox 19"/>
              <p:cNvSpPr txBox="1">
                <a:spLocks noRot="1" noChangeAspect="1" noMove="1" noResize="1" noEditPoints="1" noAdjustHandles="1" noChangeArrowheads="1" noChangeShapeType="1" noTextEdit="1"/>
              </p:cNvSpPr>
              <p:nvPr/>
            </p:nvSpPr>
            <p:spPr>
              <a:xfrm>
                <a:off x="4352803" y="3723299"/>
                <a:ext cx="714212" cy="497059"/>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2" name="TextBox 21"/>
              <p:cNvSpPr txBox="1"/>
              <p:nvPr/>
            </p:nvSpPr>
            <p:spPr>
              <a:xfrm>
                <a:off x="5385875" y="2749494"/>
                <a:ext cx="2588544" cy="790729"/>
              </a:xfrm>
              <a:prstGeom prst="rect">
                <a:avLst/>
              </a:prstGeom>
              <a:noFill/>
            </p:spPr>
            <p:txBody>
              <a:bodyPr wrap="square" rtlCol="0">
                <a:spAutoFit/>
              </a:bodyPr>
              <a:lstStyle/>
              <a:p>
                <a:r>
                  <a:rPr lang="en-GB" sz="1600"/>
                  <a:t>The </a:t>
                </a:r>
                <a14:m>
                  <m:oMath xmlns:m="http://schemas.openxmlformats.org/officeDocument/2006/math">
                    <m:r>
                      <a:rPr lang="en-GB" sz="1600" b="0" i="1" smtClean="0">
                        <a:latin typeface="Cambria Math" panose="02040503050406030204" pitchFamily="18" charset="0"/>
                      </a:rPr>
                      <m:t>𝑦</m:t>
                    </m:r>
                  </m:oMath>
                </a14:m>
                <a:r>
                  <a:rPr lang="en-GB" sz="1600"/>
                  <a:t> value for </a:t>
                </a:r>
                <a14:m>
                  <m:oMath xmlns:m="http://schemas.openxmlformats.org/officeDocument/2006/math">
                    <m:r>
                      <a:rPr lang="en-GB" sz="1600" b="0" i="1" smtClean="0">
                        <a:latin typeface="Cambria Math" panose="02040503050406030204" pitchFamily="18" charset="0"/>
                      </a:rPr>
                      <m:t>𝑦</m:t>
                    </m:r>
                    <m:r>
                      <a:rPr lang="en-GB" sz="1600" b="0" i="0" smtClean="0">
                        <a:latin typeface="Cambria Math" panose="02040503050406030204" pitchFamily="18" charset="0"/>
                      </a:rPr>
                      <m:t>=</m:t>
                    </m:r>
                    <m:f>
                      <m:fPr>
                        <m:ctrlPr>
                          <a:rPr lang="en-GB" sz="1600" b="0" i="1" smtClean="0">
                            <a:latin typeface="Cambria Math" panose="02040503050406030204" pitchFamily="18" charset="0"/>
                          </a:rPr>
                        </m:ctrlPr>
                      </m:fPr>
                      <m:num>
                        <m:r>
                          <a:rPr lang="en-GB" sz="1600" b="0" i="1" smtClean="0">
                            <a:latin typeface="Cambria Math" panose="02040503050406030204" pitchFamily="18" charset="0"/>
                          </a:rPr>
                          <m:t>3</m:t>
                        </m:r>
                      </m:num>
                      <m:den>
                        <m:r>
                          <a:rPr lang="en-GB" sz="1600" b="0" i="1" smtClean="0">
                            <a:latin typeface="Cambria Math" panose="02040503050406030204" pitchFamily="18" charset="0"/>
                          </a:rPr>
                          <m:t>𝑥</m:t>
                        </m:r>
                      </m:den>
                    </m:f>
                  </m:oMath>
                </a14:m>
                <a:r>
                  <a:rPr lang="en-GB" sz="1600"/>
                  <a:t> will be 3 times greater than </a:t>
                </a:r>
                <a14:m>
                  <m:oMath xmlns:m="http://schemas.openxmlformats.org/officeDocument/2006/math">
                    <m:r>
                      <a:rPr lang="en-GB" sz="1600" b="0" i="1" smtClean="0">
                        <a:latin typeface="Cambria Math" panose="02040503050406030204" pitchFamily="18" charset="0"/>
                      </a:rPr>
                      <m:t>𝑦</m:t>
                    </m:r>
                    <m:r>
                      <a:rPr lang="en-GB" sz="1600" b="0" i="1" smtClean="0">
                        <a:latin typeface="Cambria Math" panose="02040503050406030204" pitchFamily="18" charset="0"/>
                      </a:rPr>
                      <m:t>=</m:t>
                    </m:r>
                    <m:f>
                      <m:fPr>
                        <m:ctrlPr>
                          <a:rPr lang="en-GB" sz="1600" b="0" i="1" smtClean="0">
                            <a:latin typeface="Cambria Math" panose="02040503050406030204" pitchFamily="18" charset="0"/>
                          </a:rPr>
                        </m:ctrlPr>
                      </m:fPr>
                      <m:num>
                        <m:r>
                          <a:rPr lang="en-GB" sz="1600" b="0" i="1" smtClean="0">
                            <a:latin typeface="Cambria Math" panose="02040503050406030204" pitchFamily="18" charset="0"/>
                          </a:rPr>
                          <m:t>1</m:t>
                        </m:r>
                      </m:num>
                      <m:den>
                        <m:r>
                          <a:rPr lang="en-GB" sz="1600" b="0" i="1" smtClean="0">
                            <a:latin typeface="Cambria Math" panose="02040503050406030204" pitchFamily="18" charset="0"/>
                          </a:rPr>
                          <m:t>𝑥</m:t>
                        </m:r>
                      </m:den>
                    </m:f>
                  </m:oMath>
                </a14:m>
                <a:endParaRPr lang="en-GB"/>
              </a:p>
            </p:txBody>
          </p:sp>
        </mc:Choice>
        <mc:Fallback>
          <p:sp>
            <p:nvSpPr>
              <p:cNvPr id="22" name="TextBox 21"/>
              <p:cNvSpPr txBox="1">
                <a:spLocks noRot="1" noChangeAspect="1" noMove="1" noResize="1" noEditPoints="1" noAdjustHandles="1" noChangeArrowheads="1" noChangeShapeType="1" noTextEdit="1"/>
              </p:cNvSpPr>
              <p:nvPr/>
            </p:nvSpPr>
            <p:spPr>
              <a:xfrm>
                <a:off x="5385875" y="2749494"/>
                <a:ext cx="2588544" cy="790729"/>
              </a:xfrm>
              <a:prstGeom prst="rect">
                <a:avLst/>
              </a:prstGeom>
              <a:blipFill>
                <a:blip r:embed="rId7"/>
                <a:stretch>
                  <a:fillRect l="-1471" r="-980" b="-1587"/>
                </a:stretch>
              </a:blipFill>
            </p:spPr>
            <p:txBody>
              <a:bodyPr/>
              <a:lstStyle/>
              <a:p>
                <a:r>
                  <a:rPr lang="en-US">
                    <a:noFill/>
                  </a:rPr>
                  <a:t> </a:t>
                </a:r>
              </a:p>
            </p:txBody>
          </p:sp>
        </mc:Fallback>
      </mc:AlternateContent>
      <p:sp>
        <p:nvSpPr>
          <p:cNvPr id="15" name="Rectangle 14"/>
          <p:cNvSpPr/>
          <p:nvPr/>
        </p:nvSpPr>
        <p:spPr>
          <a:xfrm>
            <a:off x="1540665" y="1707996"/>
            <a:ext cx="6343703" cy="3905168"/>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Tree>
    <p:extLst>
      <p:ext uri="{BB962C8B-B14F-4D97-AF65-F5344CB8AC3E}">
        <p14:creationId xmlns:p14="http://schemas.microsoft.com/office/powerpoint/2010/main" val="3470501447"/>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5"/>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5"/>
                                        </p:tgtEl>
                                      </p:cBhvr>
                                    </p:animEffect>
                                    <p:set>
                                      <p:cBhvr>
                                        <p:cTn id="7" dur="1" fill="hold">
                                          <p:stCondLst>
                                            <p:cond delay="499"/>
                                          </p:stCondLst>
                                        </p:cTn>
                                        <p:tgtEl>
                                          <p:spTgt spid="15"/>
                                        </p:tgtEl>
                                        <p:attrNameLst>
                                          <p:attrName>style.visibility</p:attrName>
                                        </p:attrNameLst>
                                      </p:cBhvr>
                                      <p:to>
                                        <p:strVal val="hidden"/>
                                      </p:to>
                                    </p:set>
                                  </p:childTnLst>
                                </p:cTn>
                              </p:par>
                            </p:childTnLst>
                          </p:cTn>
                        </p:par>
                      </p:childTnLst>
                    </p:cTn>
                  </p:par>
                </p:childTnLst>
              </p:cTn>
              <p:nextCondLst>
                <p:cond evt="onClick" delay="0">
                  <p:tgtEl>
                    <p:spTgt spid="15"/>
                  </p:tgtEl>
                </p:cond>
              </p:nextCondLst>
            </p:seq>
          </p:childTnLst>
        </p:cTn>
      </p:par>
    </p:tnLst>
    <p:bldLst>
      <p:bldP spid="15"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vert="horz" wrap="square" lIns="324000" tIns="45720" rIns="91440" bIns="45720" rtlCol="0" anchor="ctr">
              <a:spAutoFit/>
            </a:bodyPr>
            <a:lstStyle>
              <a:defPPr>
                <a:defRPr lang="en-US"/>
              </a:defPPr>
              <a:lvl1pPr>
                <a:spcBef>
                  <a:spcPct val="0"/>
                </a:spcBef>
                <a:buNone/>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a:t>Exercise 4C – Pure Y1 page 67</a:t>
              </a:r>
            </a:p>
          </p:txBody>
        </p:sp>
        <p:cxnSp>
          <p:nvCxnSpPr>
            <p:cNvPr id="4" name="Straight Connector 3"/>
            <p:cNvCxnSpPr/>
            <p:nvPr/>
          </p:nvCxnSpPr>
          <p:spPr>
            <a:xfrm>
              <a:off x="218" y="601079"/>
              <a:ext cx="9144000" cy="0"/>
            </a:xfrm>
            <a:prstGeom prst="line">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cxnSp>
      </p:grpSp>
      <p:pic>
        <p:nvPicPr>
          <p:cNvPr id="8" name="Picture 7">
            <a:extLst>
              <a:ext uri="{FF2B5EF4-FFF2-40B4-BE49-F238E27FC236}">
                <a16:creationId xmlns:a16="http://schemas.microsoft.com/office/drawing/2014/main" id="{A23AAECE-F880-AE00-766B-4BB517B30289}"/>
              </a:ext>
            </a:extLst>
          </p:cNvPr>
          <p:cNvPicPr>
            <a:picLocks noChangeAspect="1"/>
          </p:cNvPicPr>
          <p:nvPr/>
        </p:nvPicPr>
        <p:blipFill>
          <a:blip r:embed="rId2"/>
          <a:stretch>
            <a:fillRect/>
          </a:stretch>
        </p:blipFill>
        <p:spPr>
          <a:xfrm>
            <a:off x="107504" y="599127"/>
            <a:ext cx="7772400" cy="1195753"/>
          </a:xfrm>
          <a:prstGeom prst="rect">
            <a:avLst/>
          </a:prstGeom>
        </p:spPr>
      </p:pic>
      <p:pic>
        <p:nvPicPr>
          <p:cNvPr id="10" name="Picture 9">
            <a:extLst>
              <a:ext uri="{FF2B5EF4-FFF2-40B4-BE49-F238E27FC236}">
                <a16:creationId xmlns:a16="http://schemas.microsoft.com/office/drawing/2014/main" id="{7742F5BF-3E1B-B1A6-63A7-1CDD4C91AC8F}"/>
              </a:ext>
            </a:extLst>
          </p:cNvPr>
          <p:cNvPicPr>
            <a:picLocks noChangeAspect="1"/>
          </p:cNvPicPr>
          <p:nvPr/>
        </p:nvPicPr>
        <p:blipFill rotWithShape="1">
          <a:blip r:embed="rId3"/>
          <a:srcRect l="3623"/>
          <a:stretch/>
        </p:blipFill>
        <p:spPr>
          <a:xfrm>
            <a:off x="375239" y="1920364"/>
            <a:ext cx="2159929" cy="2255443"/>
          </a:xfrm>
          <a:prstGeom prst="rect">
            <a:avLst/>
          </a:prstGeom>
        </p:spPr>
      </p:pic>
      <p:pic>
        <p:nvPicPr>
          <p:cNvPr id="11" name="Picture 10">
            <a:extLst>
              <a:ext uri="{FF2B5EF4-FFF2-40B4-BE49-F238E27FC236}">
                <a16:creationId xmlns:a16="http://schemas.microsoft.com/office/drawing/2014/main" id="{0F4F1D33-36A2-6A1D-4581-51DFE9E1913B}"/>
              </a:ext>
            </a:extLst>
          </p:cNvPr>
          <p:cNvPicPr>
            <a:picLocks noChangeAspect="1"/>
          </p:cNvPicPr>
          <p:nvPr/>
        </p:nvPicPr>
        <p:blipFill>
          <a:blip r:embed="rId4"/>
          <a:stretch>
            <a:fillRect/>
          </a:stretch>
        </p:blipFill>
        <p:spPr>
          <a:xfrm>
            <a:off x="3347864" y="1920364"/>
            <a:ext cx="2081333" cy="2042790"/>
          </a:xfrm>
          <a:prstGeom prst="rect">
            <a:avLst/>
          </a:prstGeom>
        </p:spPr>
      </p:pic>
      <p:grpSp>
        <p:nvGrpSpPr>
          <p:cNvPr id="21" name="Group 20">
            <a:extLst>
              <a:ext uri="{FF2B5EF4-FFF2-40B4-BE49-F238E27FC236}">
                <a16:creationId xmlns:a16="http://schemas.microsoft.com/office/drawing/2014/main" id="{B8E68DAF-FD1A-76B2-B1C6-3F7D856B8D9B}"/>
              </a:ext>
            </a:extLst>
          </p:cNvPr>
          <p:cNvGrpSpPr/>
          <p:nvPr/>
        </p:nvGrpSpPr>
        <p:grpSpPr>
          <a:xfrm>
            <a:off x="5840664" y="2135449"/>
            <a:ext cx="2454808" cy="3655410"/>
            <a:chOff x="6306959" y="1861822"/>
            <a:chExt cx="2050947" cy="3054028"/>
          </a:xfrm>
        </p:grpSpPr>
        <p:pic>
          <p:nvPicPr>
            <p:cNvPr id="12" name="Picture 11">
              <a:extLst>
                <a:ext uri="{FF2B5EF4-FFF2-40B4-BE49-F238E27FC236}">
                  <a16:creationId xmlns:a16="http://schemas.microsoft.com/office/drawing/2014/main" id="{288EFA4A-90C6-0ADE-6BD5-6A87CC04B71F}"/>
                </a:ext>
              </a:extLst>
            </p:cNvPr>
            <p:cNvPicPr>
              <a:picLocks noChangeAspect="1"/>
            </p:cNvPicPr>
            <p:nvPr/>
          </p:nvPicPr>
          <p:blipFill>
            <a:blip r:embed="rId5"/>
            <a:stretch>
              <a:fillRect/>
            </a:stretch>
          </p:blipFill>
          <p:spPr>
            <a:xfrm>
              <a:off x="6306959" y="1861822"/>
              <a:ext cx="2050947" cy="1467047"/>
            </a:xfrm>
            <a:prstGeom prst="rect">
              <a:avLst/>
            </a:prstGeom>
          </p:spPr>
        </p:pic>
        <p:pic>
          <p:nvPicPr>
            <p:cNvPr id="13" name="Picture 12">
              <a:extLst>
                <a:ext uri="{FF2B5EF4-FFF2-40B4-BE49-F238E27FC236}">
                  <a16:creationId xmlns:a16="http://schemas.microsoft.com/office/drawing/2014/main" id="{FA9C5540-A361-3FE9-82F4-9A0A99933405}"/>
                </a:ext>
              </a:extLst>
            </p:cNvPr>
            <p:cNvPicPr>
              <a:picLocks noChangeAspect="1"/>
            </p:cNvPicPr>
            <p:nvPr/>
          </p:nvPicPr>
          <p:blipFill>
            <a:blip r:embed="rId6"/>
            <a:stretch>
              <a:fillRect/>
            </a:stretch>
          </p:blipFill>
          <p:spPr>
            <a:xfrm>
              <a:off x="6545288" y="3366809"/>
              <a:ext cx="1580230" cy="1549041"/>
            </a:xfrm>
            <a:prstGeom prst="rect">
              <a:avLst/>
            </a:prstGeom>
          </p:spPr>
        </p:pic>
      </p:grpSp>
      <p:pic>
        <p:nvPicPr>
          <p:cNvPr id="14" name="Picture 13">
            <a:extLst>
              <a:ext uri="{FF2B5EF4-FFF2-40B4-BE49-F238E27FC236}">
                <a16:creationId xmlns:a16="http://schemas.microsoft.com/office/drawing/2014/main" id="{4F01CE61-EE72-7A56-4741-F395DDAB3BD2}"/>
              </a:ext>
            </a:extLst>
          </p:cNvPr>
          <p:cNvPicPr>
            <a:picLocks noChangeAspect="1"/>
          </p:cNvPicPr>
          <p:nvPr/>
        </p:nvPicPr>
        <p:blipFill>
          <a:blip r:embed="rId7"/>
          <a:stretch>
            <a:fillRect/>
          </a:stretch>
        </p:blipFill>
        <p:spPr>
          <a:xfrm>
            <a:off x="539552" y="4342274"/>
            <a:ext cx="2376264" cy="2202004"/>
          </a:xfrm>
          <a:prstGeom prst="rect">
            <a:avLst/>
          </a:prstGeom>
        </p:spPr>
      </p:pic>
      <p:pic>
        <p:nvPicPr>
          <p:cNvPr id="15" name="Picture 14">
            <a:extLst>
              <a:ext uri="{FF2B5EF4-FFF2-40B4-BE49-F238E27FC236}">
                <a16:creationId xmlns:a16="http://schemas.microsoft.com/office/drawing/2014/main" id="{A46C3206-9CC9-768A-E96D-A9DBACC12A5E}"/>
              </a:ext>
            </a:extLst>
          </p:cNvPr>
          <p:cNvPicPr>
            <a:picLocks noChangeAspect="1"/>
          </p:cNvPicPr>
          <p:nvPr/>
        </p:nvPicPr>
        <p:blipFill>
          <a:blip r:embed="rId8"/>
          <a:stretch>
            <a:fillRect/>
          </a:stretch>
        </p:blipFill>
        <p:spPr>
          <a:xfrm>
            <a:off x="3280330" y="4236081"/>
            <a:ext cx="2144390" cy="2525954"/>
          </a:xfrm>
          <a:prstGeom prst="rect">
            <a:avLst/>
          </a:prstGeom>
        </p:spPr>
      </p:pic>
      <p:sp>
        <p:nvSpPr>
          <p:cNvPr id="16" name="Rectangle 15">
            <a:extLst>
              <a:ext uri="{FF2B5EF4-FFF2-40B4-BE49-F238E27FC236}">
                <a16:creationId xmlns:a16="http://schemas.microsoft.com/office/drawing/2014/main" id="{DA16CD10-2D28-47D1-0EDC-B97DD4D1C1B3}"/>
              </a:ext>
            </a:extLst>
          </p:cNvPr>
          <p:cNvSpPr/>
          <p:nvPr/>
        </p:nvSpPr>
        <p:spPr>
          <a:xfrm>
            <a:off x="365397" y="1788962"/>
            <a:ext cx="2599187" cy="2386845"/>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a:t>
            </a:r>
          </a:p>
        </p:txBody>
      </p:sp>
      <p:sp>
        <p:nvSpPr>
          <p:cNvPr id="17" name="Rectangle 16">
            <a:extLst>
              <a:ext uri="{FF2B5EF4-FFF2-40B4-BE49-F238E27FC236}">
                <a16:creationId xmlns:a16="http://schemas.microsoft.com/office/drawing/2014/main" id="{F95E858D-A4EF-48B5-5397-E86F74676399}"/>
              </a:ext>
            </a:extLst>
          </p:cNvPr>
          <p:cNvSpPr/>
          <p:nvPr/>
        </p:nvSpPr>
        <p:spPr>
          <a:xfrm>
            <a:off x="3052932" y="1788962"/>
            <a:ext cx="2599187" cy="2386845"/>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b?</a:t>
            </a:r>
          </a:p>
        </p:txBody>
      </p:sp>
      <p:sp>
        <p:nvSpPr>
          <p:cNvPr id="18" name="Rectangle 17">
            <a:extLst>
              <a:ext uri="{FF2B5EF4-FFF2-40B4-BE49-F238E27FC236}">
                <a16:creationId xmlns:a16="http://schemas.microsoft.com/office/drawing/2014/main" id="{C265068C-67DE-509F-1380-6308A911E073}"/>
              </a:ext>
            </a:extLst>
          </p:cNvPr>
          <p:cNvSpPr/>
          <p:nvPr/>
        </p:nvSpPr>
        <p:spPr>
          <a:xfrm>
            <a:off x="5719653" y="1788962"/>
            <a:ext cx="2740780" cy="4951539"/>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c?</a:t>
            </a:r>
          </a:p>
        </p:txBody>
      </p:sp>
      <p:sp>
        <p:nvSpPr>
          <p:cNvPr id="19" name="Rectangle 18">
            <a:extLst>
              <a:ext uri="{FF2B5EF4-FFF2-40B4-BE49-F238E27FC236}">
                <a16:creationId xmlns:a16="http://schemas.microsoft.com/office/drawing/2014/main" id="{4FCCA533-8584-6867-6FFA-3770E3846F82}"/>
              </a:ext>
            </a:extLst>
          </p:cNvPr>
          <p:cNvSpPr/>
          <p:nvPr/>
        </p:nvSpPr>
        <p:spPr>
          <a:xfrm>
            <a:off x="365397" y="4249853"/>
            <a:ext cx="2599187" cy="2490648"/>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d?</a:t>
            </a:r>
          </a:p>
        </p:txBody>
      </p:sp>
      <p:sp>
        <p:nvSpPr>
          <p:cNvPr id="20" name="Rectangle 19">
            <a:extLst>
              <a:ext uri="{FF2B5EF4-FFF2-40B4-BE49-F238E27FC236}">
                <a16:creationId xmlns:a16="http://schemas.microsoft.com/office/drawing/2014/main" id="{EA28B634-F6CA-A56F-DCED-D4085C7C083E}"/>
              </a:ext>
            </a:extLst>
          </p:cNvPr>
          <p:cNvSpPr/>
          <p:nvPr/>
        </p:nvSpPr>
        <p:spPr>
          <a:xfrm>
            <a:off x="3059832" y="4256947"/>
            <a:ext cx="2599187" cy="2484222"/>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e?</a:t>
            </a:r>
          </a:p>
        </p:txBody>
      </p:sp>
    </p:spTree>
    <p:extLst>
      <p:ext uri="{BB962C8B-B14F-4D97-AF65-F5344CB8AC3E}">
        <p14:creationId xmlns:p14="http://schemas.microsoft.com/office/powerpoint/2010/main" val="791552464"/>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6"/>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6"/>
                                        </p:tgtEl>
                                      </p:cBhvr>
                                    </p:animEffect>
                                    <p:set>
                                      <p:cBhvr>
                                        <p:cTn id="7" dur="1" fill="hold">
                                          <p:stCondLst>
                                            <p:cond delay="499"/>
                                          </p:stCondLst>
                                        </p:cTn>
                                        <p:tgtEl>
                                          <p:spTgt spid="16"/>
                                        </p:tgtEl>
                                        <p:attrNameLst>
                                          <p:attrName>style.visibility</p:attrName>
                                        </p:attrNameLst>
                                      </p:cBhvr>
                                      <p:to>
                                        <p:strVal val="hidden"/>
                                      </p:to>
                                    </p:set>
                                  </p:childTnLst>
                                </p:cTn>
                              </p:par>
                            </p:childTnLst>
                          </p:cTn>
                        </p:par>
                      </p:childTnLst>
                    </p:cTn>
                  </p:par>
                </p:childTnLst>
              </p:cTn>
              <p:nextCondLst>
                <p:cond evt="onClick" delay="0">
                  <p:tgtEl>
                    <p:spTgt spid="16"/>
                  </p:tgtEl>
                </p:cond>
              </p:nextCondLst>
            </p:seq>
            <p:seq concurrent="1" nextAc="seek">
              <p:cTn id="8" restart="whenNotActive" fill="hold" evtFilter="cancelBubble" nodeType="interactiveSeq">
                <p:stCondLst>
                  <p:cond evt="onClick" delay="0">
                    <p:tgtEl>
                      <p:spTgt spid="17"/>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7"/>
                                        </p:tgtEl>
                                      </p:cBhvr>
                                    </p:animEffect>
                                    <p:set>
                                      <p:cBhvr>
                                        <p:cTn id="13" dur="1" fill="hold">
                                          <p:stCondLst>
                                            <p:cond delay="499"/>
                                          </p:stCondLst>
                                        </p:cTn>
                                        <p:tgtEl>
                                          <p:spTgt spid="17"/>
                                        </p:tgtEl>
                                        <p:attrNameLst>
                                          <p:attrName>style.visibility</p:attrName>
                                        </p:attrNameLst>
                                      </p:cBhvr>
                                      <p:to>
                                        <p:strVal val="hidden"/>
                                      </p:to>
                                    </p:set>
                                  </p:childTnLst>
                                </p:cTn>
                              </p:par>
                            </p:childTnLst>
                          </p:cTn>
                        </p:par>
                      </p:childTnLst>
                    </p:cTn>
                  </p:par>
                </p:childTnLst>
              </p:cTn>
              <p:nextCondLst>
                <p:cond evt="onClick" delay="0">
                  <p:tgtEl>
                    <p:spTgt spid="17"/>
                  </p:tgtEl>
                </p:cond>
              </p:nextCondLst>
            </p:seq>
            <p:seq concurrent="1" nextAc="seek">
              <p:cTn id="14" restart="whenNotActive" fill="hold" evtFilter="cancelBubble" nodeType="interactiveSeq">
                <p:stCondLst>
                  <p:cond evt="onClick" delay="0">
                    <p:tgtEl>
                      <p:spTgt spid="18"/>
                    </p:tgtEl>
                  </p:cond>
                </p:stCondLst>
                <p:endSync evt="end" delay="0">
                  <p:rtn val="all"/>
                </p:endSync>
                <p:childTnLst>
                  <p:par>
                    <p:cTn id="15" fill="hold">
                      <p:stCondLst>
                        <p:cond delay="0"/>
                      </p:stCondLst>
                      <p:childTnLst>
                        <p:par>
                          <p:cTn id="16" fill="hold">
                            <p:stCondLst>
                              <p:cond delay="0"/>
                            </p:stCondLst>
                            <p:childTnLst>
                              <p:par>
                                <p:cTn id="17" presetID="10" presetClass="exit" presetSubtype="0" fill="hold" grpId="0" nodeType="clickEffect">
                                  <p:stCondLst>
                                    <p:cond delay="0"/>
                                  </p:stCondLst>
                                  <p:childTnLst>
                                    <p:animEffect transition="out" filter="fade">
                                      <p:cBhvr>
                                        <p:cTn id="18" dur="500"/>
                                        <p:tgtEl>
                                          <p:spTgt spid="18"/>
                                        </p:tgtEl>
                                      </p:cBhvr>
                                    </p:animEffect>
                                    <p:set>
                                      <p:cBhvr>
                                        <p:cTn id="19" dur="1" fill="hold">
                                          <p:stCondLst>
                                            <p:cond delay="499"/>
                                          </p:stCondLst>
                                        </p:cTn>
                                        <p:tgtEl>
                                          <p:spTgt spid="18"/>
                                        </p:tgtEl>
                                        <p:attrNameLst>
                                          <p:attrName>style.visibility</p:attrName>
                                        </p:attrNameLst>
                                      </p:cBhvr>
                                      <p:to>
                                        <p:strVal val="hidden"/>
                                      </p:to>
                                    </p:set>
                                  </p:childTnLst>
                                </p:cTn>
                              </p:par>
                            </p:childTnLst>
                          </p:cTn>
                        </p:par>
                      </p:childTnLst>
                    </p:cTn>
                  </p:par>
                </p:childTnLst>
              </p:cTn>
              <p:nextCondLst>
                <p:cond evt="onClick" delay="0">
                  <p:tgtEl>
                    <p:spTgt spid="18"/>
                  </p:tgtEl>
                </p:cond>
              </p:nextCondLst>
            </p:seq>
            <p:seq concurrent="1" nextAc="seek">
              <p:cTn id="20" restart="whenNotActive" fill="hold" evtFilter="cancelBubble" nodeType="interactiveSeq">
                <p:stCondLst>
                  <p:cond evt="onClick" delay="0">
                    <p:tgtEl>
                      <p:spTgt spid="19"/>
                    </p:tgtEl>
                  </p:cond>
                </p:stCondLst>
                <p:endSync evt="end" delay="0">
                  <p:rtn val="all"/>
                </p:endSync>
                <p:childTnLst>
                  <p:par>
                    <p:cTn id="21" fill="hold">
                      <p:stCondLst>
                        <p:cond delay="0"/>
                      </p:stCondLst>
                      <p:childTnLst>
                        <p:par>
                          <p:cTn id="22" fill="hold">
                            <p:stCondLst>
                              <p:cond delay="0"/>
                            </p:stCondLst>
                            <p:childTnLst>
                              <p:par>
                                <p:cTn id="23" presetID="10" presetClass="exit" presetSubtype="0" fill="hold" grpId="0" nodeType="clickEffect">
                                  <p:stCondLst>
                                    <p:cond delay="0"/>
                                  </p:stCondLst>
                                  <p:childTnLst>
                                    <p:animEffect transition="out" filter="fade">
                                      <p:cBhvr>
                                        <p:cTn id="24" dur="500"/>
                                        <p:tgtEl>
                                          <p:spTgt spid="19"/>
                                        </p:tgtEl>
                                      </p:cBhvr>
                                    </p:animEffect>
                                    <p:set>
                                      <p:cBhvr>
                                        <p:cTn id="25" dur="1" fill="hold">
                                          <p:stCondLst>
                                            <p:cond delay="499"/>
                                          </p:stCondLst>
                                        </p:cTn>
                                        <p:tgtEl>
                                          <p:spTgt spid="19"/>
                                        </p:tgtEl>
                                        <p:attrNameLst>
                                          <p:attrName>style.visibility</p:attrName>
                                        </p:attrNameLst>
                                      </p:cBhvr>
                                      <p:to>
                                        <p:strVal val="hidden"/>
                                      </p:to>
                                    </p:set>
                                  </p:childTnLst>
                                </p:cTn>
                              </p:par>
                            </p:childTnLst>
                          </p:cTn>
                        </p:par>
                      </p:childTnLst>
                    </p:cTn>
                  </p:par>
                </p:childTnLst>
              </p:cTn>
              <p:nextCondLst>
                <p:cond evt="onClick" delay="0">
                  <p:tgtEl>
                    <p:spTgt spid="19"/>
                  </p:tgtEl>
                </p:cond>
              </p:nextCondLst>
            </p:seq>
            <p:seq concurrent="1" nextAc="seek">
              <p:cTn id="26" restart="whenNotActive" fill="hold" evtFilter="cancelBubble" nodeType="interactiveSeq">
                <p:stCondLst>
                  <p:cond evt="onClick" delay="0">
                    <p:tgtEl>
                      <p:spTgt spid="20"/>
                    </p:tgtEl>
                  </p:cond>
                </p:stCondLst>
                <p:endSync evt="end" delay="0">
                  <p:rtn val="all"/>
                </p:endSync>
                <p:childTnLst>
                  <p:par>
                    <p:cTn id="27" fill="hold">
                      <p:stCondLst>
                        <p:cond delay="0"/>
                      </p:stCondLst>
                      <p:childTnLst>
                        <p:par>
                          <p:cTn id="28" fill="hold">
                            <p:stCondLst>
                              <p:cond delay="0"/>
                            </p:stCondLst>
                            <p:childTnLst>
                              <p:par>
                                <p:cTn id="29" presetID="10" presetClass="exit" presetSubtype="0" fill="hold" grpId="0" nodeType="clickEffect">
                                  <p:stCondLst>
                                    <p:cond delay="0"/>
                                  </p:stCondLst>
                                  <p:childTnLst>
                                    <p:animEffect transition="out" filter="fade">
                                      <p:cBhvr>
                                        <p:cTn id="30" dur="500"/>
                                        <p:tgtEl>
                                          <p:spTgt spid="20"/>
                                        </p:tgtEl>
                                      </p:cBhvr>
                                    </p:animEffect>
                                    <p:set>
                                      <p:cBhvr>
                                        <p:cTn id="31" dur="1" fill="hold">
                                          <p:stCondLst>
                                            <p:cond delay="499"/>
                                          </p:stCondLst>
                                        </p:cTn>
                                        <p:tgtEl>
                                          <p:spTgt spid="20"/>
                                        </p:tgtEl>
                                        <p:attrNameLst>
                                          <p:attrName>style.visibility</p:attrName>
                                        </p:attrNameLst>
                                      </p:cBhvr>
                                      <p:to>
                                        <p:strVal val="hidden"/>
                                      </p:to>
                                    </p:set>
                                  </p:childTnLst>
                                </p:cTn>
                              </p:par>
                            </p:childTnLst>
                          </p:cTn>
                        </p:par>
                      </p:childTnLst>
                    </p:cTn>
                  </p:par>
                </p:childTnLst>
              </p:cTn>
              <p:nextCondLst>
                <p:cond evt="onClick" delay="0">
                  <p:tgtEl>
                    <p:spTgt spid="20"/>
                  </p:tgtEl>
                </p:cond>
              </p:nextCondLst>
            </p:seq>
          </p:childTnLst>
        </p:cTn>
      </p:par>
    </p:tnLst>
    <p:bldLst>
      <p:bldP spid="16" grpId="0" animBg="1"/>
      <p:bldP spid="17" grpId="0" animBg="1"/>
      <p:bldP spid="18" grpId="0" animBg="1"/>
      <p:bldP spid="19" grpId="0" animBg="1"/>
      <p:bldP spid="20"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vert="horz" wrap="square" lIns="324000" tIns="45720" rIns="91440" bIns="45720" rtlCol="0" anchor="ctr">
              <a:spAutoFit/>
            </a:bodyPr>
            <a:lstStyle>
              <a:defPPr>
                <a:defRPr lang="en-US"/>
              </a:defPPr>
              <a:lvl1pPr>
                <a:spcBef>
                  <a:spcPct val="0"/>
                </a:spcBef>
                <a:buNone/>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a:t>Exercise 4C – Pure Y1 page 67</a:t>
              </a:r>
            </a:p>
          </p:txBody>
        </p:sp>
        <p:cxnSp>
          <p:nvCxnSpPr>
            <p:cNvPr id="4" name="Straight Connector 3"/>
            <p:cNvCxnSpPr/>
            <p:nvPr/>
          </p:nvCxnSpPr>
          <p:spPr>
            <a:xfrm>
              <a:off x="218" y="601079"/>
              <a:ext cx="9144000" cy="0"/>
            </a:xfrm>
            <a:prstGeom prst="line">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cxnSp>
      </p:grpSp>
      <p:pic>
        <p:nvPicPr>
          <p:cNvPr id="5" name="Picture 4">
            <a:extLst>
              <a:ext uri="{FF2B5EF4-FFF2-40B4-BE49-F238E27FC236}">
                <a16:creationId xmlns:a16="http://schemas.microsoft.com/office/drawing/2014/main" id="{87410B64-61FF-B45B-AEB3-817D92458D99}"/>
              </a:ext>
            </a:extLst>
          </p:cNvPr>
          <p:cNvPicPr>
            <a:picLocks noChangeAspect="1"/>
          </p:cNvPicPr>
          <p:nvPr/>
        </p:nvPicPr>
        <p:blipFill>
          <a:blip r:embed="rId2"/>
          <a:stretch>
            <a:fillRect/>
          </a:stretch>
        </p:blipFill>
        <p:spPr>
          <a:xfrm>
            <a:off x="107504" y="611457"/>
            <a:ext cx="7772400" cy="824512"/>
          </a:xfrm>
          <a:prstGeom prst="rect">
            <a:avLst/>
          </a:prstGeom>
        </p:spPr>
      </p:pic>
      <p:pic>
        <p:nvPicPr>
          <p:cNvPr id="6" name="Picture 5">
            <a:extLst>
              <a:ext uri="{FF2B5EF4-FFF2-40B4-BE49-F238E27FC236}">
                <a16:creationId xmlns:a16="http://schemas.microsoft.com/office/drawing/2014/main" id="{89AD5469-1490-483D-5B74-2378E312F028}"/>
              </a:ext>
            </a:extLst>
          </p:cNvPr>
          <p:cNvPicPr>
            <a:picLocks noChangeAspect="1"/>
          </p:cNvPicPr>
          <p:nvPr/>
        </p:nvPicPr>
        <p:blipFill>
          <a:blip r:embed="rId3"/>
          <a:stretch>
            <a:fillRect/>
          </a:stretch>
        </p:blipFill>
        <p:spPr>
          <a:xfrm>
            <a:off x="255912" y="1907324"/>
            <a:ext cx="2420733" cy="3306812"/>
          </a:xfrm>
          <a:prstGeom prst="rect">
            <a:avLst/>
          </a:prstGeom>
        </p:spPr>
      </p:pic>
      <p:pic>
        <p:nvPicPr>
          <p:cNvPr id="8" name="Picture 7">
            <a:extLst>
              <a:ext uri="{FF2B5EF4-FFF2-40B4-BE49-F238E27FC236}">
                <a16:creationId xmlns:a16="http://schemas.microsoft.com/office/drawing/2014/main" id="{1A1AD33C-8621-AEA1-0818-69627B9DB4D7}"/>
              </a:ext>
            </a:extLst>
          </p:cNvPr>
          <p:cNvPicPr>
            <a:picLocks noChangeAspect="1"/>
          </p:cNvPicPr>
          <p:nvPr/>
        </p:nvPicPr>
        <p:blipFill>
          <a:blip r:embed="rId4"/>
          <a:stretch>
            <a:fillRect/>
          </a:stretch>
        </p:blipFill>
        <p:spPr>
          <a:xfrm>
            <a:off x="3129573" y="1949864"/>
            <a:ext cx="2618424" cy="3614564"/>
          </a:xfrm>
          <a:prstGeom prst="rect">
            <a:avLst/>
          </a:prstGeom>
        </p:spPr>
      </p:pic>
      <p:pic>
        <p:nvPicPr>
          <p:cNvPr id="11" name="Picture 10">
            <a:extLst>
              <a:ext uri="{FF2B5EF4-FFF2-40B4-BE49-F238E27FC236}">
                <a16:creationId xmlns:a16="http://schemas.microsoft.com/office/drawing/2014/main" id="{57F5DFF3-921F-7758-5141-5F7C3214D6F5}"/>
              </a:ext>
            </a:extLst>
          </p:cNvPr>
          <p:cNvPicPr>
            <a:picLocks noChangeAspect="1"/>
          </p:cNvPicPr>
          <p:nvPr/>
        </p:nvPicPr>
        <p:blipFill>
          <a:blip r:embed="rId5"/>
          <a:stretch>
            <a:fillRect/>
          </a:stretch>
        </p:blipFill>
        <p:spPr>
          <a:xfrm>
            <a:off x="6018536" y="1907324"/>
            <a:ext cx="2878336" cy="3767234"/>
          </a:xfrm>
          <a:prstGeom prst="rect">
            <a:avLst/>
          </a:prstGeom>
        </p:spPr>
      </p:pic>
      <p:sp>
        <p:nvSpPr>
          <p:cNvPr id="16" name="Rectangle 15">
            <a:extLst>
              <a:ext uri="{FF2B5EF4-FFF2-40B4-BE49-F238E27FC236}">
                <a16:creationId xmlns:a16="http://schemas.microsoft.com/office/drawing/2014/main" id="{C2A0A95D-006F-F7BD-6333-9C83409DD714}"/>
              </a:ext>
            </a:extLst>
          </p:cNvPr>
          <p:cNvSpPr/>
          <p:nvPr/>
        </p:nvSpPr>
        <p:spPr>
          <a:xfrm>
            <a:off x="6016552" y="1916832"/>
            <a:ext cx="2929936" cy="3849456"/>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c?</a:t>
            </a:r>
          </a:p>
        </p:txBody>
      </p:sp>
      <p:sp>
        <p:nvSpPr>
          <p:cNvPr id="17" name="Rectangle 16">
            <a:extLst>
              <a:ext uri="{FF2B5EF4-FFF2-40B4-BE49-F238E27FC236}">
                <a16:creationId xmlns:a16="http://schemas.microsoft.com/office/drawing/2014/main" id="{32C9B1E5-D36E-FB9A-D3F4-5957745DD2CF}"/>
              </a:ext>
            </a:extLst>
          </p:cNvPr>
          <p:cNvSpPr/>
          <p:nvPr/>
        </p:nvSpPr>
        <p:spPr>
          <a:xfrm>
            <a:off x="3129572" y="1916832"/>
            <a:ext cx="2641465" cy="3849456"/>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b?</a:t>
            </a:r>
          </a:p>
        </p:txBody>
      </p:sp>
      <p:sp>
        <p:nvSpPr>
          <p:cNvPr id="18" name="Rectangle 17">
            <a:extLst>
              <a:ext uri="{FF2B5EF4-FFF2-40B4-BE49-F238E27FC236}">
                <a16:creationId xmlns:a16="http://schemas.microsoft.com/office/drawing/2014/main" id="{D06BAC66-CF0A-02D5-A751-4202FF16367D}"/>
              </a:ext>
            </a:extLst>
          </p:cNvPr>
          <p:cNvSpPr/>
          <p:nvPr/>
        </p:nvSpPr>
        <p:spPr>
          <a:xfrm>
            <a:off x="251520" y="1916832"/>
            <a:ext cx="2641464" cy="3849456"/>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a:t>
            </a:r>
          </a:p>
        </p:txBody>
      </p:sp>
    </p:spTree>
    <p:extLst>
      <p:ext uri="{BB962C8B-B14F-4D97-AF65-F5344CB8AC3E}">
        <p14:creationId xmlns:p14="http://schemas.microsoft.com/office/powerpoint/2010/main" val="1740733432"/>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6"/>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6"/>
                                        </p:tgtEl>
                                      </p:cBhvr>
                                    </p:animEffect>
                                    <p:set>
                                      <p:cBhvr>
                                        <p:cTn id="7" dur="1" fill="hold">
                                          <p:stCondLst>
                                            <p:cond delay="499"/>
                                          </p:stCondLst>
                                        </p:cTn>
                                        <p:tgtEl>
                                          <p:spTgt spid="16"/>
                                        </p:tgtEl>
                                        <p:attrNameLst>
                                          <p:attrName>style.visibility</p:attrName>
                                        </p:attrNameLst>
                                      </p:cBhvr>
                                      <p:to>
                                        <p:strVal val="hidden"/>
                                      </p:to>
                                    </p:set>
                                  </p:childTnLst>
                                </p:cTn>
                              </p:par>
                            </p:childTnLst>
                          </p:cTn>
                        </p:par>
                      </p:childTnLst>
                    </p:cTn>
                  </p:par>
                </p:childTnLst>
              </p:cTn>
              <p:nextCondLst>
                <p:cond evt="onClick" delay="0">
                  <p:tgtEl>
                    <p:spTgt spid="16"/>
                  </p:tgtEl>
                </p:cond>
              </p:nextCondLst>
            </p:seq>
            <p:seq concurrent="1" nextAc="seek">
              <p:cTn id="8" restart="whenNotActive" fill="hold" evtFilter="cancelBubble" nodeType="interactiveSeq">
                <p:stCondLst>
                  <p:cond evt="onClick" delay="0">
                    <p:tgtEl>
                      <p:spTgt spid="17"/>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7"/>
                                        </p:tgtEl>
                                      </p:cBhvr>
                                    </p:animEffect>
                                    <p:set>
                                      <p:cBhvr>
                                        <p:cTn id="13" dur="1" fill="hold">
                                          <p:stCondLst>
                                            <p:cond delay="499"/>
                                          </p:stCondLst>
                                        </p:cTn>
                                        <p:tgtEl>
                                          <p:spTgt spid="17"/>
                                        </p:tgtEl>
                                        <p:attrNameLst>
                                          <p:attrName>style.visibility</p:attrName>
                                        </p:attrNameLst>
                                      </p:cBhvr>
                                      <p:to>
                                        <p:strVal val="hidden"/>
                                      </p:to>
                                    </p:set>
                                  </p:childTnLst>
                                </p:cTn>
                              </p:par>
                            </p:childTnLst>
                          </p:cTn>
                        </p:par>
                      </p:childTnLst>
                    </p:cTn>
                  </p:par>
                </p:childTnLst>
              </p:cTn>
              <p:nextCondLst>
                <p:cond evt="onClick" delay="0">
                  <p:tgtEl>
                    <p:spTgt spid="17"/>
                  </p:tgtEl>
                </p:cond>
              </p:nextCondLst>
            </p:seq>
            <p:seq concurrent="1" nextAc="seek">
              <p:cTn id="14" restart="whenNotActive" fill="hold" evtFilter="cancelBubble" nodeType="interactiveSeq">
                <p:stCondLst>
                  <p:cond evt="onClick" delay="0">
                    <p:tgtEl>
                      <p:spTgt spid="18"/>
                    </p:tgtEl>
                  </p:cond>
                </p:stCondLst>
                <p:endSync evt="end" delay="0">
                  <p:rtn val="all"/>
                </p:endSync>
                <p:childTnLst>
                  <p:par>
                    <p:cTn id="15" fill="hold">
                      <p:stCondLst>
                        <p:cond delay="0"/>
                      </p:stCondLst>
                      <p:childTnLst>
                        <p:par>
                          <p:cTn id="16" fill="hold">
                            <p:stCondLst>
                              <p:cond delay="0"/>
                            </p:stCondLst>
                            <p:childTnLst>
                              <p:par>
                                <p:cTn id="17" presetID="10" presetClass="exit" presetSubtype="0" fill="hold" grpId="0" nodeType="clickEffect">
                                  <p:stCondLst>
                                    <p:cond delay="0"/>
                                  </p:stCondLst>
                                  <p:childTnLst>
                                    <p:animEffect transition="out" filter="fade">
                                      <p:cBhvr>
                                        <p:cTn id="18" dur="500"/>
                                        <p:tgtEl>
                                          <p:spTgt spid="18"/>
                                        </p:tgtEl>
                                      </p:cBhvr>
                                    </p:animEffect>
                                    <p:set>
                                      <p:cBhvr>
                                        <p:cTn id="19" dur="1" fill="hold">
                                          <p:stCondLst>
                                            <p:cond delay="499"/>
                                          </p:stCondLst>
                                        </p:cTn>
                                        <p:tgtEl>
                                          <p:spTgt spid="18"/>
                                        </p:tgtEl>
                                        <p:attrNameLst>
                                          <p:attrName>style.visibility</p:attrName>
                                        </p:attrNameLst>
                                      </p:cBhvr>
                                      <p:to>
                                        <p:strVal val="hidden"/>
                                      </p:to>
                                    </p:set>
                                  </p:childTnLst>
                                </p:cTn>
                              </p:par>
                            </p:childTnLst>
                          </p:cTn>
                        </p:par>
                      </p:childTnLst>
                    </p:cTn>
                  </p:par>
                </p:childTnLst>
              </p:cTn>
              <p:nextCondLst>
                <p:cond evt="onClick" delay="0">
                  <p:tgtEl>
                    <p:spTgt spid="18"/>
                  </p:tgtEl>
                </p:cond>
              </p:nextCondLst>
            </p:seq>
          </p:childTnLst>
        </p:cTn>
      </p:par>
    </p:tnLst>
    <p:bldLst>
      <p:bldP spid="16" grpId="0" animBg="1"/>
      <p:bldP spid="17" grpId="0" animBg="1"/>
      <p:bldP spid="18"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vert="horz" wrap="square" lIns="324000" tIns="45720" rIns="91440" bIns="45720" rtlCol="0" anchor="ctr">
              <a:spAutoFit/>
            </a:bodyPr>
            <a:lstStyle>
              <a:defPPr>
                <a:defRPr lang="en-US"/>
              </a:defPPr>
              <a:lvl1pPr>
                <a:spcBef>
                  <a:spcPct val="0"/>
                </a:spcBef>
                <a:buNone/>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a:t>Points of Intersection</a:t>
              </a:r>
            </a:p>
          </p:txBody>
        </p:sp>
        <p:cxnSp>
          <p:nvCxnSpPr>
            <p:cNvPr id="4" name="Straight Connector 3"/>
            <p:cNvCxnSpPr/>
            <p:nvPr/>
          </p:nvCxnSpPr>
          <p:spPr>
            <a:xfrm>
              <a:off x="218" y="601079"/>
              <a:ext cx="9144000" cy="0"/>
            </a:xfrm>
            <a:prstGeom prst="line">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cxnSp>
      </p:grpSp>
      <p:sp>
        <p:nvSpPr>
          <p:cNvPr id="5" name="TextBox 4"/>
          <p:cNvSpPr txBox="1"/>
          <p:nvPr/>
        </p:nvSpPr>
        <p:spPr>
          <a:xfrm>
            <a:off x="323528" y="764704"/>
            <a:ext cx="7992888" cy="646331"/>
          </a:xfrm>
          <a:prstGeom prst="rect">
            <a:avLst/>
          </a:prstGeom>
          <a:noFill/>
        </p:spPr>
        <p:txBody>
          <a:bodyPr wrap="square" rtlCol="0">
            <a:spAutoFit/>
          </a:bodyPr>
          <a:lstStyle/>
          <a:p>
            <a:r>
              <a:rPr lang="en-GB"/>
              <a:t>In the previous chapter we saw why the points of intersection of two graphs gave the solutions to the simultaneous equations corresponding to these graphs.</a:t>
            </a:r>
          </a:p>
        </p:txBody>
      </p:sp>
      <mc:AlternateContent xmlns:mc="http://schemas.openxmlformats.org/markup-compatibility/2006">
        <mc:Choice xmlns:a14="http://schemas.microsoft.com/office/drawing/2010/main" Requires="a14">
          <p:sp>
            <p:nvSpPr>
              <p:cNvPr id="6" name="Rectangle 5"/>
              <p:cNvSpPr/>
              <p:nvPr/>
            </p:nvSpPr>
            <p:spPr>
              <a:xfrm>
                <a:off x="467544" y="1624917"/>
                <a:ext cx="7992888" cy="646331"/>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a:spAutoFit/>
              </a:bodyPr>
              <a:lstStyle/>
              <a:p>
                <a:r>
                  <a:rPr lang="en-GB"/>
                  <a:t>If </a:t>
                </a:r>
                <a14:m>
                  <m:oMath xmlns:m="http://schemas.openxmlformats.org/officeDocument/2006/math">
                    <m:r>
                      <a:rPr lang="en-GB" i="1">
                        <a:latin typeface="Cambria Math" panose="02040503050406030204" pitchFamily="18" charset="0"/>
                      </a:rPr>
                      <m:t>𝑦</m:t>
                    </m:r>
                    <m:r>
                      <a:rPr lang="en-GB" i="1">
                        <a:latin typeface="Cambria Math" panose="02040503050406030204" pitchFamily="18" charset="0"/>
                      </a:rPr>
                      <m:t>=</m:t>
                    </m:r>
                    <m:r>
                      <a:rPr lang="en-GB" i="1">
                        <a:latin typeface="Cambria Math" panose="02040503050406030204" pitchFamily="18" charset="0"/>
                      </a:rPr>
                      <m:t>𝑓</m:t>
                    </m:r>
                    <m:r>
                      <a:rPr lang="en-GB" i="1">
                        <a:latin typeface="Cambria Math" panose="02040503050406030204" pitchFamily="18" charset="0"/>
                      </a:rPr>
                      <m:t>(</m:t>
                    </m:r>
                    <m:r>
                      <a:rPr lang="en-GB" i="1">
                        <a:latin typeface="Cambria Math" panose="02040503050406030204" pitchFamily="18" charset="0"/>
                      </a:rPr>
                      <m:t>𝑥</m:t>
                    </m:r>
                    <m:r>
                      <a:rPr lang="en-GB" i="1">
                        <a:latin typeface="Cambria Math" panose="02040503050406030204" pitchFamily="18" charset="0"/>
                      </a:rPr>
                      <m:t>)</m:t>
                    </m:r>
                  </m:oMath>
                </a14:m>
                <a:r>
                  <a:rPr lang="en-GB"/>
                  <a:t> and </a:t>
                </a:r>
                <a14:m>
                  <m:oMath xmlns:m="http://schemas.openxmlformats.org/officeDocument/2006/math">
                    <m:r>
                      <a:rPr lang="en-GB" i="1">
                        <a:latin typeface="Cambria Math" panose="02040503050406030204" pitchFamily="18" charset="0"/>
                      </a:rPr>
                      <m:t>𝑦</m:t>
                    </m:r>
                    <m:r>
                      <a:rPr lang="en-GB" i="1">
                        <a:latin typeface="Cambria Math" panose="02040503050406030204" pitchFamily="18" charset="0"/>
                      </a:rPr>
                      <m:t>=</m:t>
                    </m:r>
                    <m:r>
                      <a:rPr lang="en-GB" i="1">
                        <a:latin typeface="Cambria Math" panose="02040503050406030204" pitchFamily="18" charset="0"/>
                      </a:rPr>
                      <m:t>𝑔</m:t>
                    </m:r>
                    <m:r>
                      <a:rPr lang="en-GB" i="1">
                        <a:latin typeface="Cambria Math" panose="02040503050406030204" pitchFamily="18" charset="0"/>
                      </a:rPr>
                      <m:t>(</m:t>
                    </m:r>
                    <m:r>
                      <a:rPr lang="en-GB" i="1">
                        <a:latin typeface="Cambria Math" panose="02040503050406030204" pitchFamily="18" charset="0"/>
                      </a:rPr>
                      <m:t>𝑥</m:t>
                    </m:r>
                    <m:r>
                      <a:rPr lang="en-GB" i="1">
                        <a:latin typeface="Cambria Math" panose="02040503050406030204" pitchFamily="18" charset="0"/>
                      </a:rPr>
                      <m:t>)</m:t>
                    </m:r>
                  </m:oMath>
                </a14:m>
                <a:r>
                  <a:rPr lang="en-GB"/>
                  <a:t>, then the </a:t>
                </a:r>
                <a14:m>
                  <m:oMath xmlns:m="http://schemas.openxmlformats.org/officeDocument/2006/math">
                    <m:r>
                      <a:rPr lang="en-GB" i="1">
                        <a:latin typeface="Cambria Math" panose="02040503050406030204" pitchFamily="18" charset="0"/>
                      </a:rPr>
                      <m:t>𝑥</m:t>
                    </m:r>
                  </m:oMath>
                </a14:m>
                <a:r>
                  <a:rPr lang="en-GB"/>
                  <a:t> values of the points of intersection can be found when </a:t>
                </a:r>
                <a14:m>
                  <m:oMath xmlns:m="http://schemas.openxmlformats.org/officeDocument/2006/math">
                    <m:r>
                      <a:rPr lang="en-GB" i="1">
                        <a:latin typeface="Cambria Math" panose="02040503050406030204" pitchFamily="18" charset="0"/>
                      </a:rPr>
                      <m:t>𝑓</m:t>
                    </m:r>
                    <m:d>
                      <m:dPr>
                        <m:ctrlPr>
                          <a:rPr lang="en-GB" i="1">
                            <a:latin typeface="Cambria Math" panose="02040503050406030204" pitchFamily="18" charset="0"/>
                          </a:rPr>
                        </m:ctrlPr>
                      </m:dPr>
                      <m:e>
                        <m:r>
                          <a:rPr lang="en-GB" i="1">
                            <a:latin typeface="Cambria Math" panose="02040503050406030204" pitchFamily="18" charset="0"/>
                          </a:rPr>
                          <m:t>𝑥</m:t>
                        </m:r>
                      </m:e>
                    </m:d>
                    <m:r>
                      <a:rPr lang="en-GB" i="1">
                        <a:latin typeface="Cambria Math" panose="02040503050406030204" pitchFamily="18" charset="0"/>
                      </a:rPr>
                      <m:t>=</m:t>
                    </m:r>
                    <m:r>
                      <a:rPr lang="en-GB" i="1">
                        <a:latin typeface="Cambria Math" panose="02040503050406030204" pitchFamily="18" charset="0"/>
                      </a:rPr>
                      <m:t>𝑔</m:t>
                    </m:r>
                    <m:r>
                      <a:rPr lang="en-GB" i="1">
                        <a:latin typeface="Cambria Math" panose="02040503050406030204" pitchFamily="18" charset="0"/>
                      </a:rPr>
                      <m:t>(</m:t>
                    </m:r>
                    <m:r>
                      <a:rPr lang="en-GB" i="1">
                        <a:latin typeface="Cambria Math" panose="02040503050406030204" pitchFamily="18" charset="0"/>
                      </a:rPr>
                      <m:t>𝑥</m:t>
                    </m:r>
                    <m:r>
                      <a:rPr lang="en-GB" i="1">
                        <a:latin typeface="Cambria Math" panose="02040503050406030204" pitchFamily="18" charset="0"/>
                      </a:rPr>
                      <m:t>)</m:t>
                    </m:r>
                  </m:oMath>
                </a14:m>
                <a:r>
                  <a:rPr lang="en-GB"/>
                  <a:t>.</a:t>
                </a:r>
              </a:p>
            </p:txBody>
          </p:sp>
        </mc:Choice>
        <mc:Fallback>
          <p:sp>
            <p:nvSpPr>
              <p:cNvPr id="6" name="Rectangle 5"/>
              <p:cNvSpPr>
                <a:spLocks noRot="1" noChangeAspect="1" noMove="1" noResize="1" noEditPoints="1" noAdjustHandles="1" noChangeArrowheads="1" noChangeShapeType="1" noTextEdit="1"/>
              </p:cNvSpPr>
              <p:nvPr/>
            </p:nvSpPr>
            <p:spPr>
              <a:xfrm>
                <a:off x="467544" y="1624917"/>
                <a:ext cx="7992888" cy="646331"/>
              </a:xfrm>
              <a:prstGeom prst="rect">
                <a:avLst/>
              </a:prstGeom>
              <a:blipFill>
                <a:blip r:embed="rId2"/>
                <a:stretch>
                  <a:fillRect l="-633" t="-3774" b="-13208"/>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 name="TextBox 6"/>
              <p:cNvSpPr txBox="1"/>
              <p:nvPr/>
            </p:nvSpPr>
            <p:spPr>
              <a:xfrm>
                <a:off x="509396" y="2502794"/>
                <a:ext cx="7951035" cy="646331"/>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b="1"/>
                  <a:t>Example</a:t>
                </a:r>
                <a:r>
                  <a:rPr lang="en-GB"/>
                  <a:t>: On the same diagram sketch the curves with equations </a:t>
                </a:r>
                <a14:m>
                  <m:oMath xmlns:m="http://schemas.openxmlformats.org/officeDocument/2006/math">
                    <m:r>
                      <a:rPr lang="en-GB" b="0" i="1" smtClean="0">
                        <a:latin typeface="Cambria Math" panose="02040503050406030204" pitchFamily="18" charset="0"/>
                      </a:rPr>
                      <m:t>𝑦</m:t>
                    </m:r>
                    <m:r>
                      <a:rPr lang="en-GB" b="0" i="1" smtClean="0">
                        <a:latin typeface="Cambria Math" panose="02040503050406030204" pitchFamily="18" charset="0"/>
                      </a:rPr>
                      <m:t>=</m:t>
                    </m:r>
                    <m:r>
                      <a:rPr lang="en-GB" b="0" i="1" smtClean="0">
                        <a:latin typeface="Cambria Math" panose="02040503050406030204" pitchFamily="18" charset="0"/>
                      </a:rPr>
                      <m:t>𝑥</m:t>
                    </m:r>
                    <m:r>
                      <a:rPr lang="en-GB" b="0" i="1" smtClean="0">
                        <a:latin typeface="Cambria Math" panose="02040503050406030204" pitchFamily="18" charset="0"/>
                      </a:rPr>
                      <m:t>(</m:t>
                    </m:r>
                    <m:r>
                      <a:rPr lang="en-GB" b="0" i="1" smtClean="0">
                        <a:latin typeface="Cambria Math" panose="02040503050406030204" pitchFamily="18" charset="0"/>
                      </a:rPr>
                      <m:t>𝑥</m:t>
                    </m:r>
                    <m:r>
                      <a:rPr lang="en-GB" b="0" i="1" smtClean="0">
                        <a:latin typeface="Cambria Math" panose="02040503050406030204" pitchFamily="18" charset="0"/>
                      </a:rPr>
                      <m:t>−3)</m:t>
                    </m:r>
                  </m:oMath>
                </a14:m>
                <a:r>
                  <a:rPr lang="en-GB"/>
                  <a:t> and </a:t>
                </a:r>
                <a14:m>
                  <m:oMath xmlns:m="http://schemas.openxmlformats.org/officeDocument/2006/math">
                    <m:r>
                      <a:rPr lang="en-GB" b="0" i="1" smtClean="0">
                        <a:latin typeface="Cambria Math" panose="02040503050406030204" pitchFamily="18" charset="0"/>
                      </a:rPr>
                      <m:t>𝑦</m:t>
                    </m:r>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2</m:t>
                        </m:r>
                      </m:sup>
                    </m:sSup>
                    <m:d>
                      <m:dPr>
                        <m:ctrlPr>
                          <a:rPr lang="en-GB" b="0" i="1" smtClean="0">
                            <a:latin typeface="Cambria Math" panose="02040503050406030204" pitchFamily="18" charset="0"/>
                          </a:rPr>
                        </m:ctrlPr>
                      </m:dPr>
                      <m:e>
                        <m:r>
                          <a:rPr lang="en-GB" b="0" i="1" smtClean="0">
                            <a:latin typeface="Cambria Math" panose="02040503050406030204" pitchFamily="18" charset="0"/>
                          </a:rPr>
                          <m:t>1−</m:t>
                        </m:r>
                        <m:r>
                          <a:rPr lang="en-GB" b="0" i="1" smtClean="0">
                            <a:latin typeface="Cambria Math" panose="02040503050406030204" pitchFamily="18" charset="0"/>
                          </a:rPr>
                          <m:t>𝑥</m:t>
                        </m:r>
                      </m:e>
                    </m:d>
                  </m:oMath>
                </a14:m>
                <a:r>
                  <a:rPr lang="en-GB"/>
                  <a:t>. Find the coordinates of their points of intersection.</a:t>
                </a:r>
              </a:p>
            </p:txBody>
          </p:sp>
        </mc:Choice>
        <mc:Fallback>
          <p:sp>
            <p:nvSpPr>
              <p:cNvPr id="7" name="TextBox 6"/>
              <p:cNvSpPr txBox="1">
                <a:spLocks noRot="1" noChangeAspect="1" noMove="1" noResize="1" noEditPoints="1" noAdjustHandles="1" noChangeArrowheads="1" noChangeShapeType="1" noTextEdit="1"/>
              </p:cNvSpPr>
              <p:nvPr/>
            </p:nvSpPr>
            <p:spPr>
              <a:xfrm>
                <a:off x="509396" y="2502794"/>
                <a:ext cx="7951035" cy="646331"/>
              </a:xfrm>
              <a:prstGeom prst="rect">
                <a:avLst/>
              </a:prstGeom>
              <a:blipFill>
                <a:blip r:embed="rId3"/>
                <a:stretch>
                  <a:fillRect b="-3175"/>
                </a:stretch>
              </a:blipFill>
              <a:effectLst>
                <a:outerShdw blurRad="63500" sx="102000" sy="102000" algn="ctr" rotWithShape="0">
                  <a:prstClr val="black">
                    <a:alpha val="40000"/>
                  </a:prstClr>
                </a:outerShdw>
              </a:effectLst>
            </p:spPr>
            <p:txBody>
              <a:bodyPr/>
              <a:lstStyle/>
              <a:p>
                <a:r>
                  <a:rPr lang="en-US">
                    <a:noFill/>
                  </a:rPr>
                  <a:t> </a:t>
                </a:r>
              </a:p>
            </p:txBody>
          </p:sp>
        </mc:Fallback>
      </mc:AlternateContent>
      <p:cxnSp>
        <p:nvCxnSpPr>
          <p:cNvPr id="8" name="Straight Arrow Connector 7"/>
          <p:cNvCxnSpPr/>
          <p:nvPr/>
        </p:nvCxnSpPr>
        <p:spPr>
          <a:xfrm flipV="1">
            <a:off x="323528" y="5085891"/>
            <a:ext cx="3606305" cy="1390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 name="Straight Arrow Connector 8"/>
          <p:cNvCxnSpPr/>
          <p:nvPr/>
        </p:nvCxnSpPr>
        <p:spPr>
          <a:xfrm flipH="1" flipV="1">
            <a:off x="1755171" y="3681982"/>
            <a:ext cx="37565" cy="273423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10" name="TextBox 9"/>
              <p:cNvSpPr txBox="1"/>
              <p:nvPr/>
            </p:nvSpPr>
            <p:spPr>
              <a:xfrm>
                <a:off x="1553931" y="3403888"/>
                <a:ext cx="415472" cy="276999"/>
              </a:xfrm>
              <a:prstGeom prst="rect">
                <a:avLst/>
              </a:prstGeom>
              <a:noFill/>
            </p:spPr>
            <p:txBody>
              <a:bodyPr wrap="square" rtlCol="0">
                <a:spAutoFit/>
              </a:bodyPr>
              <a:lstStyle/>
              <a:p>
                <a:pPr/>
                <a14:m>
                  <m:oMathPara xmlns:m="http://schemas.openxmlformats.org/officeDocument/2006/math">
                    <m:oMath>
                      <m:r>
                        <a:rPr lang="en-GB" sz="1200" b="0" i="1" smtClean="0">
                          <a:latin typeface="Cambria Math" panose="02040503050406030204" pitchFamily="18" charset="0"/>
                        </a:rPr>
                        <m:t>𝑦</m:t>
                      </m:r>
                    </m:oMath>
                  </m:oMathPara>
                </a14:m>
                <a:endParaRPr lang="en-GB"/>
              </a:p>
            </p:txBody>
          </p:sp>
        </mc:Choice>
        <mc:Fallback>
          <p:sp>
            <p:nvSpPr>
              <p:cNvPr id="10" name="TextBox 9"/>
              <p:cNvSpPr txBox="1">
                <a:spLocks noRot="1" noChangeAspect="1" noMove="1" noResize="1" noEditPoints="1" noAdjustHandles="1" noChangeArrowheads="1" noChangeShapeType="1" noTextEdit="1"/>
              </p:cNvSpPr>
              <p:nvPr/>
            </p:nvSpPr>
            <p:spPr>
              <a:xfrm>
                <a:off x="1553931" y="3403888"/>
                <a:ext cx="415472" cy="276999"/>
              </a:xfrm>
              <a:prstGeom prst="rect">
                <a:avLst/>
              </a:prstGeom>
              <a:blipFill>
                <a:blip r:embed="rId4"/>
                <a:stretch>
                  <a:fillRect b="-4348"/>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1" name="TextBox 10"/>
              <p:cNvSpPr txBox="1"/>
              <p:nvPr/>
            </p:nvSpPr>
            <p:spPr>
              <a:xfrm>
                <a:off x="3812000" y="4947392"/>
                <a:ext cx="415472" cy="276999"/>
              </a:xfrm>
              <a:prstGeom prst="rect">
                <a:avLst/>
              </a:prstGeom>
              <a:noFill/>
            </p:spPr>
            <p:txBody>
              <a:bodyPr wrap="square" rtlCol="0">
                <a:spAutoFit/>
              </a:bodyPr>
              <a:lstStyle/>
              <a:p>
                <a:pPr/>
                <a14:m>
                  <m:oMathPara xmlns:m="http://schemas.openxmlformats.org/officeDocument/2006/math">
                    <m:oMath>
                      <m:r>
                        <a:rPr lang="en-GB" sz="1200" b="0" i="1" smtClean="0">
                          <a:latin typeface="Cambria Math" panose="02040503050406030204" pitchFamily="18" charset="0"/>
                        </a:rPr>
                        <m:t>𝑥</m:t>
                      </m:r>
                    </m:oMath>
                  </m:oMathPara>
                </a14:m>
                <a:endParaRPr lang="en-GB"/>
              </a:p>
            </p:txBody>
          </p:sp>
        </mc:Choice>
        <mc:Fallback>
          <p:sp>
            <p:nvSpPr>
              <p:cNvPr id="11" name="TextBox 10"/>
              <p:cNvSpPr txBox="1">
                <a:spLocks noRot="1" noChangeAspect="1" noMove="1" noResize="1" noEditPoints="1" noAdjustHandles="1" noChangeArrowheads="1" noChangeShapeType="1" noTextEdit="1"/>
              </p:cNvSpPr>
              <p:nvPr/>
            </p:nvSpPr>
            <p:spPr>
              <a:xfrm>
                <a:off x="3812000" y="4947392"/>
                <a:ext cx="415472" cy="276999"/>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 name="TextBox 16"/>
              <p:cNvSpPr txBox="1"/>
              <p:nvPr/>
            </p:nvSpPr>
            <p:spPr>
              <a:xfrm rot="19131803">
                <a:off x="2630443" y="4734041"/>
                <a:ext cx="1246231" cy="307777"/>
              </a:xfrm>
              <a:prstGeom prst="rect">
                <a:avLst/>
              </a:prstGeom>
              <a:noFill/>
            </p:spPr>
            <p:txBody>
              <a:bodyPr wrap="square" rtlCol="0">
                <a:spAutoFit/>
              </a:bodyPr>
              <a:lstStyle/>
              <a:p>
                <a:pPr/>
                <a14:m>
                  <m:oMathPara xmlns:m="http://schemas.openxmlformats.org/officeDocument/2006/math">
                    <m:oMath>
                      <m:r>
                        <a:rPr lang="en-GB" sz="1400" b="1" i="1" smtClean="0">
                          <a:solidFill>
                            <a:srgbClr val="002060"/>
                          </a:solidFill>
                          <a:latin typeface="Cambria Math" panose="02040503050406030204" pitchFamily="18" charset="0"/>
                        </a:rPr>
                        <m:t>𝒚</m:t>
                      </m:r>
                      <m:r>
                        <a:rPr lang="en-GB" sz="1400" b="1" i="1" smtClean="0">
                          <a:solidFill>
                            <a:srgbClr val="002060"/>
                          </a:solidFill>
                          <a:latin typeface="Cambria Math" panose="02040503050406030204" pitchFamily="18" charset="0"/>
                        </a:rPr>
                        <m:t>=</m:t>
                      </m:r>
                      <m:r>
                        <a:rPr lang="en-GB" sz="1400" b="1" i="1" smtClean="0">
                          <a:solidFill>
                            <a:srgbClr val="002060"/>
                          </a:solidFill>
                          <a:latin typeface="Cambria Math" panose="02040503050406030204" pitchFamily="18" charset="0"/>
                        </a:rPr>
                        <m:t>𝒙</m:t>
                      </m:r>
                      <m:d>
                        <m:dPr>
                          <m:ctrlPr>
                            <a:rPr lang="en-GB" sz="1400" b="1" i="1" smtClean="0">
                              <a:solidFill>
                                <a:srgbClr val="002060"/>
                              </a:solidFill>
                              <a:latin typeface="Cambria Math" panose="02040503050406030204" pitchFamily="18" charset="0"/>
                            </a:rPr>
                          </m:ctrlPr>
                        </m:dPr>
                        <m:e>
                          <m:r>
                            <a:rPr lang="en-GB" sz="1400" b="1" i="1" smtClean="0">
                              <a:solidFill>
                                <a:srgbClr val="002060"/>
                              </a:solidFill>
                              <a:latin typeface="Cambria Math" panose="02040503050406030204" pitchFamily="18" charset="0"/>
                            </a:rPr>
                            <m:t>𝒙</m:t>
                          </m:r>
                          <m:r>
                            <a:rPr lang="en-GB" sz="1400" b="1" i="1" smtClean="0">
                              <a:solidFill>
                                <a:srgbClr val="002060"/>
                              </a:solidFill>
                              <a:latin typeface="Cambria Math" panose="02040503050406030204" pitchFamily="18" charset="0"/>
                            </a:rPr>
                            <m:t>−</m:t>
                          </m:r>
                          <m:r>
                            <a:rPr lang="en-GB" sz="1400" b="1" i="1" smtClean="0">
                              <a:solidFill>
                                <a:srgbClr val="002060"/>
                              </a:solidFill>
                              <a:latin typeface="Cambria Math" panose="02040503050406030204" pitchFamily="18" charset="0"/>
                            </a:rPr>
                            <m:t>𝟑</m:t>
                          </m:r>
                        </m:e>
                      </m:d>
                    </m:oMath>
                  </m:oMathPara>
                </a14:m>
                <a:endParaRPr lang="en-GB" b="1"/>
              </a:p>
            </p:txBody>
          </p:sp>
        </mc:Choice>
        <mc:Fallback>
          <p:sp>
            <p:nvSpPr>
              <p:cNvPr id="17" name="TextBox 16"/>
              <p:cNvSpPr txBox="1">
                <a:spLocks noRot="1" noChangeAspect="1" noMove="1" noResize="1" noEditPoints="1" noAdjustHandles="1" noChangeArrowheads="1" noChangeShapeType="1" noTextEdit="1"/>
              </p:cNvSpPr>
              <p:nvPr/>
            </p:nvSpPr>
            <p:spPr>
              <a:xfrm rot="19131803">
                <a:off x="2630443" y="4734041"/>
                <a:ext cx="1246231" cy="307777"/>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8" name="TextBox 17"/>
              <p:cNvSpPr txBox="1"/>
              <p:nvPr/>
            </p:nvSpPr>
            <p:spPr>
              <a:xfrm>
                <a:off x="4246497" y="3553425"/>
                <a:ext cx="2989800" cy="2921569"/>
              </a:xfrm>
              <a:prstGeom prst="rect">
                <a:avLst/>
              </a:prstGeom>
              <a:noFill/>
            </p:spPr>
            <p:txBody>
              <a:bodyPr wrap="square" rtlCol="0">
                <a:spAutoFit/>
              </a:bodyPr>
              <a:lstStyle/>
              <a:p>
                <a:pPr/>
                <a14:m>
                  <m:oMathPara xmlns:m="http://schemas.openxmlformats.org/officeDocument/2006/math">
                    <m:oMath>
                      <m:r>
                        <a:rPr lang="en-GB" sz="1600" b="0" i="1" smtClean="0">
                          <a:latin typeface="Cambria Math" panose="02040503050406030204" pitchFamily="18" charset="0"/>
                        </a:rPr>
                        <m:t>𝑥</m:t>
                      </m:r>
                      <m:d>
                        <m:dPr>
                          <m:ctrlPr>
                            <a:rPr lang="en-GB" sz="1600" b="0" i="1" smtClean="0">
                              <a:latin typeface="Cambria Math" panose="02040503050406030204" pitchFamily="18" charset="0"/>
                            </a:rPr>
                          </m:ctrlPr>
                        </m:dPr>
                        <m:e>
                          <m:r>
                            <a:rPr lang="en-GB" sz="1600" b="0" i="1" smtClean="0">
                              <a:latin typeface="Cambria Math" panose="02040503050406030204" pitchFamily="18" charset="0"/>
                            </a:rPr>
                            <m:t>𝑥</m:t>
                          </m:r>
                          <m:r>
                            <a:rPr lang="en-GB" sz="1600" b="0" i="1" smtClean="0">
                              <a:latin typeface="Cambria Math" panose="02040503050406030204" pitchFamily="18" charset="0"/>
                            </a:rPr>
                            <m:t>−3</m:t>
                          </m:r>
                        </m:e>
                      </m:d>
                      <m:r>
                        <a:rPr lang="en-GB" sz="1600" b="0" i="1" smtClean="0">
                          <a:latin typeface="Cambria Math" panose="02040503050406030204" pitchFamily="18" charset="0"/>
                        </a:rPr>
                        <m:t>=</m:t>
                      </m:r>
                      <m:sSup>
                        <m:sSupPr>
                          <m:ctrlPr>
                            <a:rPr lang="en-GB" sz="1600" b="0" i="1" smtClean="0">
                              <a:latin typeface="Cambria Math" panose="02040503050406030204" pitchFamily="18" charset="0"/>
                            </a:rPr>
                          </m:ctrlPr>
                        </m:sSupPr>
                        <m:e>
                          <m:r>
                            <a:rPr lang="en-GB" sz="1600" b="0" i="1" smtClean="0">
                              <a:latin typeface="Cambria Math" panose="02040503050406030204" pitchFamily="18" charset="0"/>
                            </a:rPr>
                            <m:t>𝑥</m:t>
                          </m:r>
                        </m:e>
                        <m:sup>
                          <m:r>
                            <a:rPr lang="en-GB" sz="1600" b="0" i="1" smtClean="0">
                              <a:latin typeface="Cambria Math" panose="02040503050406030204" pitchFamily="18" charset="0"/>
                            </a:rPr>
                            <m:t>2</m:t>
                          </m:r>
                        </m:sup>
                      </m:sSup>
                      <m:d>
                        <m:dPr>
                          <m:ctrlPr>
                            <a:rPr lang="en-GB" sz="1600" b="0" i="1" smtClean="0">
                              <a:latin typeface="Cambria Math" panose="02040503050406030204" pitchFamily="18" charset="0"/>
                            </a:rPr>
                          </m:ctrlPr>
                        </m:dPr>
                        <m:e>
                          <m:r>
                            <a:rPr lang="en-GB" sz="1600" b="0" i="1" smtClean="0">
                              <a:latin typeface="Cambria Math" panose="02040503050406030204" pitchFamily="18" charset="0"/>
                            </a:rPr>
                            <m:t>1−</m:t>
                          </m:r>
                          <m:r>
                            <a:rPr lang="en-GB" sz="1600" b="0" i="1" smtClean="0">
                              <a:latin typeface="Cambria Math" panose="02040503050406030204" pitchFamily="18" charset="0"/>
                            </a:rPr>
                            <m:t>𝑥</m:t>
                          </m:r>
                        </m:e>
                      </m:d>
                    </m:oMath>
                    <m:oMath>
                      <m:sSup>
                        <m:sSupPr>
                          <m:ctrlPr>
                            <a:rPr lang="en-GB" sz="1600" b="0" i="1" smtClean="0">
                              <a:latin typeface="Cambria Math" panose="02040503050406030204" pitchFamily="18" charset="0"/>
                            </a:rPr>
                          </m:ctrlPr>
                        </m:sSupPr>
                        <m:e>
                          <m:r>
                            <a:rPr lang="en-GB" sz="1600" b="0" i="1" smtClean="0">
                              <a:latin typeface="Cambria Math" panose="02040503050406030204" pitchFamily="18" charset="0"/>
                            </a:rPr>
                            <m:t>𝑥</m:t>
                          </m:r>
                        </m:e>
                        <m:sup>
                          <m:r>
                            <a:rPr lang="en-GB" sz="1600" b="0" i="1" smtClean="0">
                              <a:latin typeface="Cambria Math" panose="02040503050406030204" pitchFamily="18" charset="0"/>
                            </a:rPr>
                            <m:t>2</m:t>
                          </m:r>
                        </m:sup>
                      </m:sSup>
                      <m:r>
                        <a:rPr lang="en-GB" sz="1600" b="0" i="1" smtClean="0">
                          <a:latin typeface="Cambria Math" panose="02040503050406030204" pitchFamily="18" charset="0"/>
                        </a:rPr>
                        <m:t>−3</m:t>
                      </m:r>
                      <m:r>
                        <a:rPr lang="en-GB" sz="1600" b="0" i="1" smtClean="0">
                          <a:latin typeface="Cambria Math" panose="02040503050406030204" pitchFamily="18" charset="0"/>
                        </a:rPr>
                        <m:t>𝑥</m:t>
                      </m:r>
                      <m:r>
                        <a:rPr lang="en-GB" sz="1600" b="0" i="1" smtClean="0">
                          <a:latin typeface="Cambria Math" panose="02040503050406030204" pitchFamily="18" charset="0"/>
                        </a:rPr>
                        <m:t>=</m:t>
                      </m:r>
                      <m:sSup>
                        <m:sSupPr>
                          <m:ctrlPr>
                            <a:rPr lang="en-GB" sz="1600" b="0" i="1" smtClean="0">
                              <a:latin typeface="Cambria Math" panose="02040503050406030204" pitchFamily="18" charset="0"/>
                            </a:rPr>
                          </m:ctrlPr>
                        </m:sSupPr>
                        <m:e>
                          <m:r>
                            <a:rPr lang="en-GB" sz="1600" b="0" i="1" smtClean="0">
                              <a:latin typeface="Cambria Math" panose="02040503050406030204" pitchFamily="18" charset="0"/>
                            </a:rPr>
                            <m:t>𝑥</m:t>
                          </m:r>
                        </m:e>
                        <m:sup>
                          <m:r>
                            <a:rPr lang="en-GB" sz="1600" b="0" i="1" smtClean="0">
                              <a:latin typeface="Cambria Math" panose="02040503050406030204" pitchFamily="18" charset="0"/>
                            </a:rPr>
                            <m:t>2</m:t>
                          </m:r>
                        </m:sup>
                      </m:sSup>
                      <m:r>
                        <a:rPr lang="en-GB" sz="1600" b="0" i="1" smtClean="0">
                          <a:latin typeface="Cambria Math" panose="02040503050406030204" pitchFamily="18" charset="0"/>
                        </a:rPr>
                        <m:t>−</m:t>
                      </m:r>
                      <m:sSup>
                        <m:sSupPr>
                          <m:ctrlPr>
                            <a:rPr lang="en-GB" sz="1600" b="0" i="1" smtClean="0">
                              <a:latin typeface="Cambria Math" panose="02040503050406030204" pitchFamily="18" charset="0"/>
                            </a:rPr>
                          </m:ctrlPr>
                        </m:sSupPr>
                        <m:e>
                          <m:r>
                            <a:rPr lang="en-GB" sz="1600" b="0" i="1" smtClean="0">
                              <a:latin typeface="Cambria Math" panose="02040503050406030204" pitchFamily="18" charset="0"/>
                            </a:rPr>
                            <m:t>𝑥</m:t>
                          </m:r>
                        </m:e>
                        <m:sup>
                          <m:r>
                            <a:rPr lang="en-GB" sz="1600" b="0" i="1" smtClean="0">
                              <a:latin typeface="Cambria Math" panose="02040503050406030204" pitchFamily="18" charset="0"/>
                            </a:rPr>
                            <m:t>3</m:t>
                          </m:r>
                        </m:sup>
                      </m:sSup>
                    </m:oMath>
                    <m:oMath>
                      <m:sSup>
                        <m:sSupPr>
                          <m:ctrlPr>
                            <a:rPr lang="en-GB" sz="1600" b="0" i="1" smtClean="0">
                              <a:latin typeface="Cambria Math" panose="02040503050406030204" pitchFamily="18" charset="0"/>
                            </a:rPr>
                          </m:ctrlPr>
                        </m:sSupPr>
                        <m:e>
                          <m:r>
                            <a:rPr lang="en-GB" sz="1600" b="0" i="1" smtClean="0">
                              <a:latin typeface="Cambria Math" panose="02040503050406030204" pitchFamily="18" charset="0"/>
                            </a:rPr>
                            <m:t>𝑥</m:t>
                          </m:r>
                        </m:e>
                        <m:sup>
                          <m:r>
                            <a:rPr lang="en-GB" sz="1600" b="0" i="1" smtClean="0">
                              <a:latin typeface="Cambria Math" panose="02040503050406030204" pitchFamily="18" charset="0"/>
                            </a:rPr>
                            <m:t>3</m:t>
                          </m:r>
                        </m:sup>
                      </m:sSup>
                      <m:r>
                        <a:rPr lang="en-GB" sz="1600" b="0" i="1" smtClean="0">
                          <a:latin typeface="Cambria Math" panose="02040503050406030204" pitchFamily="18" charset="0"/>
                        </a:rPr>
                        <m:t>−3</m:t>
                      </m:r>
                      <m:r>
                        <a:rPr lang="en-GB" sz="1600" b="0" i="1" smtClean="0">
                          <a:latin typeface="Cambria Math" panose="02040503050406030204" pitchFamily="18" charset="0"/>
                        </a:rPr>
                        <m:t>𝑥</m:t>
                      </m:r>
                      <m:r>
                        <a:rPr lang="en-GB" sz="1600" b="0" i="1" smtClean="0">
                          <a:latin typeface="Cambria Math" panose="02040503050406030204" pitchFamily="18" charset="0"/>
                        </a:rPr>
                        <m:t>=0</m:t>
                      </m:r>
                    </m:oMath>
                    <m:oMath>
                      <m:r>
                        <a:rPr lang="en-GB" sz="1600" b="0" i="1" smtClean="0">
                          <a:latin typeface="Cambria Math" panose="02040503050406030204" pitchFamily="18" charset="0"/>
                        </a:rPr>
                        <m:t>𝑥</m:t>
                      </m:r>
                      <m:d>
                        <m:dPr>
                          <m:ctrlPr>
                            <a:rPr lang="en-GB" sz="1600" b="0" i="1" smtClean="0">
                              <a:latin typeface="Cambria Math" panose="02040503050406030204" pitchFamily="18" charset="0"/>
                            </a:rPr>
                          </m:ctrlPr>
                        </m:dPr>
                        <m:e>
                          <m:sSup>
                            <m:sSupPr>
                              <m:ctrlPr>
                                <a:rPr lang="en-GB" sz="1600" b="0" i="1" smtClean="0">
                                  <a:latin typeface="Cambria Math" panose="02040503050406030204" pitchFamily="18" charset="0"/>
                                </a:rPr>
                              </m:ctrlPr>
                            </m:sSupPr>
                            <m:e>
                              <m:r>
                                <a:rPr lang="en-GB" sz="1600" b="0" i="1" smtClean="0">
                                  <a:latin typeface="Cambria Math" panose="02040503050406030204" pitchFamily="18" charset="0"/>
                                </a:rPr>
                                <m:t>𝑥</m:t>
                              </m:r>
                            </m:e>
                            <m:sup>
                              <m:r>
                                <a:rPr lang="en-GB" sz="1600" b="0" i="1" smtClean="0">
                                  <a:latin typeface="Cambria Math" panose="02040503050406030204" pitchFamily="18" charset="0"/>
                                </a:rPr>
                                <m:t>2</m:t>
                              </m:r>
                            </m:sup>
                          </m:sSup>
                          <m:r>
                            <a:rPr lang="en-GB" sz="1600" b="0" i="1" smtClean="0">
                              <a:latin typeface="Cambria Math" panose="02040503050406030204" pitchFamily="18" charset="0"/>
                            </a:rPr>
                            <m:t>−3</m:t>
                          </m:r>
                        </m:e>
                      </m:d>
                      <m:r>
                        <a:rPr lang="en-GB" sz="1600" b="0" i="1" smtClean="0">
                          <a:latin typeface="Cambria Math" panose="02040503050406030204" pitchFamily="18" charset="0"/>
                        </a:rPr>
                        <m:t>=0</m:t>
                      </m:r>
                    </m:oMath>
                  </m:oMathPara>
                </a14:m>
                <a:br>
                  <a:rPr lang="en-GB" sz="1600" b="0"/>
                </a:br>
                <a14:m>
                  <m:oMath xmlns:m="http://schemas.openxmlformats.org/officeDocument/2006/math">
                    <m:r>
                      <a:rPr lang="en-GB" sz="1600" b="0" i="1" smtClean="0">
                        <a:latin typeface="Cambria Math" panose="02040503050406030204" pitchFamily="18" charset="0"/>
                      </a:rPr>
                      <m:t>𝑥</m:t>
                    </m:r>
                    <m:r>
                      <a:rPr lang="en-GB" sz="1600" b="0" i="1" smtClean="0">
                        <a:latin typeface="Cambria Math" panose="02040503050406030204" pitchFamily="18" charset="0"/>
                      </a:rPr>
                      <m:t>=0</m:t>
                    </m:r>
                  </m:oMath>
                </a14:m>
                <a:r>
                  <a:rPr lang="en-GB" sz="1600" b="0" i="0">
                    <a:latin typeface="+mj-lt"/>
                  </a:rPr>
                  <a:t> or </a:t>
                </a:r>
                <a14:m>
                  <m:oMath xmlns:m="http://schemas.openxmlformats.org/officeDocument/2006/math">
                    <m:r>
                      <a:rPr lang="en-GB" sz="1600" b="0" i="1" smtClean="0">
                        <a:latin typeface="Cambria Math" panose="02040503050406030204" pitchFamily="18" charset="0"/>
                      </a:rPr>
                      <m:t>𝑥</m:t>
                    </m:r>
                    <m:r>
                      <a:rPr lang="en-GB" sz="1600" b="0" i="1" smtClean="0">
                        <a:latin typeface="Cambria Math" panose="02040503050406030204" pitchFamily="18" charset="0"/>
                      </a:rPr>
                      <m:t>=−</m:t>
                    </m:r>
                    <m:rad>
                      <m:radPr>
                        <m:degHide m:val="on"/>
                        <m:ctrlPr>
                          <a:rPr lang="en-GB" sz="1600" b="0" i="1" smtClean="0">
                            <a:latin typeface="Cambria Math" panose="02040503050406030204" pitchFamily="18" charset="0"/>
                          </a:rPr>
                        </m:ctrlPr>
                      </m:radPr>
                      <m:deg/>
                      <m:e>
                        <m:r>
                          <a:rPr lang="en-GB" sz="1600" b="0" i="1" smtClean="0">
                            <a:latin typeface="Cambria Math" panose="02040503050406030204" pitchFamily="18" charset="0"/>
                          </a:rPr>
                          <m:t>3</m:t>
                        </m:r>
                      </m:e>
                    </m:rad>
                  </m:oMath>
                </a14:m>
                <a:r>
                  <a:rPr lang="en-GB" sz="1600"/>
                  <a:t> or </a:t>
                </a:r>
                <a14:m>
                  <m:oMath xmlns:m="http://schemas.openxmlformats.org/officeDocument/2006/math">
                    <m:r>
                      <a:rPr lang="en-GB" sz="1600" b="0" i="1" smtClean="0">
                        <a:latin typeface="Cambria Math" panose="02040503050406030204" pitchFamily="18" charset="0"/>
                      </a:rPr>
                      <m:t>𝑥</m:t>
                    </m:r>
                    <m:r>
                      <a:rPr lang="en-GB" sz="1600" b="0" i="1" smtClean="0">
                        <a:latin typeface="Cambria Math" panose="02040503050406030204" pitchFamily="18" charset="0"/>
                      </a:rPr>
                      <m:t>=+</m:t>
                    </m:r>
                    <m:rad>
                      <m:radPr>
                        <m:degHide m:val="on"/>
                        <m:ctrlPr>
                          <a:rPr lang="en-GB" sz="1600" b="0" i="1" smtClean="0">
                            <a:latin typeface="Cambria Math" panose="02040503050406030204" pitchFamily="18" charset="0"/>
                          </a:rPr>
                        </m:ctrlPr>
                      </m:radPr>
                      <m:deg/>
                      <m:e>
                        <m:r>
                          <a:rPr lang="en-GB" sz="1600" b="0" i="1" smtClean="0">
                            <a:latin typeface="Cambria Math" panose="02040503050406030204" pitchFamily="18" charset="0"/>
                          </a:rPr>
                          <m:t>3</m:t>
                        </m:r>
                      </m:e>
                    </m:rad>
                  </m:oMath>
                </a14:m>
                <a:endParaRPr lang="en-GB" sz="1600"/>
              </a:p>
              <a:p>
                <a:r>
                  <a:rPr lang="en-GB" sz="1600"/>
                  <a:t>Substituting these values back into either equation, we obtain points:</a:t>
                </a:r>
              </a:p>
              <a:p>
                <a:pPr/>
                <a14:m>
                  <m:oMathPara xmlns:m="http://schemas.openxmlformats.org/officeDocument/2006/math">
                    <m:oMath>
                      <m:d>
                        <m:dPr>
                          <m:ctrlPr>
                            <a:rPr lang="en-GB" sz="1600" b="0" i="1" smtClean="0">
                              <a:latin typeface="Cambria Math" panose="02040503050406030204" pitchFamily="18" charset="0"/>
                            </a:rPr>
                          </m:ctrlPr>
                        </m:dPr>
                        <m:e>
                          <m:r>
                            <a:rPr lang="en-GB" sz="1600" b="0" i="1" smtClean="0">
                              <a:latin typeface="Cambria Math" panose="02040503050406030204" pitchFamily="18" charset="0"/>
                            </a:rPr>
                            <m:t>−</m:t>
                          </m:r>
                          <m:rad>
                            <m:radPr>
                              <m:degHide m:val="on"/>
                              <m:ctrlPr>
                                <a:rPr lang="en-GB" sz="1600" b="0" i="1" smtClean="0">
                                  <a:latin typeface="Cambria Math" panose="02040503050406030204" pitchFamily="18" charset="0"/>
                                </a:rPr>
                              </m:ctrlPr>
                            </m:radPr>
                            <m:deg/>
                            <m:e>
                              <m:r>
                                <a:rPr lang="en-GB" sz="1600" b="0" i="1" smtClean="0">
                                  <a:latin typeface="Cambria Math" panose="02040503050406030204" pitchFamily="18" charset="0"/>
                                </a:rPr>
                                <m:t>3</m:t>
                              </m:r>
                            </m:e>
                          </m:rad>
                          <m:r>
                            <a:rPr lang="en-GB" sz="1600" b="0" i="1" smtClean="0">
                              <a:latin typeface="Cambria Math" panose="02040503050406030204" pitchFamily="18" charset="0"/>
                            </a:rPr>
                            <m:t>, 3+3</m:t>
                          </m:r>
                          <m:rad>
                            <m:radPr>
                              <m:degHide m:val="on"/>
                              <m:ctrlPr>
                                <a:rPr lang="en-GB" sz="1600" b="0" i="1" smtClean="0">
                                  <a:latin typeface="Cambria Math" panose="02040503050406030204" pitchFamily="18" charset="0"/>
                                </a:rPr>
                              </m:ctrlPr>
                            </m:radPr>
                            <m:deg/>
                            <m:e>
                              <m:r>
                                <a:rPr lang="en-GB" sz="1600" b="0" i="1" smtClean="0">
                                  <a:latin typeface="Cambria Math" panose="02040503050406030204" pitchFamily="18" charset="0"/>
                                </a:rPr>
                                <m:t>3</m:t>
                              </m:r>
                            </m:e>
                          </m:rad>
                        </m:e>
                      </m:d>
                      <m:r>
                        <a:rPr lang="en-GB" sz="1600" b="0" i="1" smtClean="0">
                          <a:latin typeface="Cambria Math" panose="02040503050406030204" pitchFamily="18" charset="0"/>
                        </a:rPr>
                        <m:t>, </m:t>
                      </m:r>
                    </m:oMath>
                    <m:oMath>
                      <m:d>
                        <m:dPr>
                          <m:ctrlPr>
                            <a:rPr lang="en-GB" sz="1600" b="0" i="1" smtClean="0">
                              <a:latin typeface="Cambria Math" panose="02040503050406030204" pitchFamily="18" charset="0"/>
                            </a:rPr>
                          </m:ctrlPr>
                        </m:dPr>
                        <m:e>
                          <m:r>
                            <a:rPr lang="en-GB" sz="1600" b="0" i="1" smtClean="0">
                              <a:latin typeface="Cambria Math" panose="02040503050406030204" pitchFamily="18" charset="0"/>
                            </a:rPr>
                            <m:t>0,0</m:t>
                          </m:r>
                        </m:e>
                      </m:d>
                      <m:r>
                        <a:rPr lang="en-GB" sz="1600" b="0" i="1" smtClean="0">
                          <a:latin typeface="Cambria Math" panose="02040503050406030204" pitchFamily="18" charset="0"/>
                        </a:rPr>
                        <m:t>, </m:t>
                      </m:r>
                    </m:oMath>
                    <m:oMath>
                      <m:d>
                        <m:dPr>
                          <m:ctrlPr>
                            <a:rPr lang="en-GB" sz="1600" b="0" i="1" smtClean="0">
                              <a:latin typeface="Cambria Math" panose="02040503050406030204" pitchFamily="18" charset="0"/>
                            </a:rPr>
                          </m:ctrlPr>
                        </m:dPr>
                        <m:e>
                          <m:rad>
                            <m:radPr>
                              <m:degHide m:val="on"/>
                              <m:ctrlPr>
                                <a:rPr lang="en-GB" sz="1600" b="0" i="1" smtClean="0">
                                  <a:latin typeface="Cambria Math" panose="02040503050406030204" pitchFamily="18" charset="0"/>
                                </a:rPr>
                              </m:ctrlPr>
                            </m:radPr>
                            <m:deg/>
                            <m:e>
                              <m:r>
                                <a:rPr lang="en-GB" sz="1600" b="0" i="1" smtClean="0">
                                  <a:latin typeface="Cambria Math" panose="02040503050406030204" pitchFamily="18" charset="0"/>
                                </a:rPr>
                                <m:t>3</m:t>
                              </m:r>
                            </m:e>
                          </m:rad>
                          <m:r>
                            <a:rPr lang="en-GB" sz="1600" b="0" i="1" smtClean="0">
                              <a:latin typeface="Cambria Math" panose="02040503050406030204" pitchFamily="18" charset="0"/>
                            </a:rPr>
                            <m:t>, 3−3</m:t>
                          </m:r>
                          <m:rad>
                            <m:radPr>
                              <m:degHide m:val="on"/>
                              <m:ctrlPr>
                                <a:rPr lang="en-GB" sz="1600" b="0" i="1" smtClean="0">
                                  <a:latin typeface="Cambria Math" panose="02040503050406030204" pitchFamily="18" charset="0"/>
                                </a:rPr>
                              </m:ctrlPr>
                            </m:radPr>
                            <m:deg/>
                            <m:e>
                              <m:r>
                                <a:rPr lang="en-GB" sz="1600" b="0" i="1" smtClean="0">
                                  <a:latin typeface="Cambria Math" panose="02040503050406030204" pitchFamily="18" charset="0"/>
                                </a:rPr>
                                <m:t>3</m:t>
                              </m:r>
                            </m:e>
                          </m:rad>
                        </m:e>
                      </m:d>
                    </m:oMath>
                  </m:oMathPara>
                </a14:m>
                <a:endParaRPr lang="en-GB" sz="1600"/>
              </a:p>
            </p:txBody>
          </p:sp>
        </mc:Choice>
        <mc:Fallback>
          <p:sp>
            <p:nvSpPr>
              <p:cNvPr id="18" name="TextBox 17"/>
              <p:cNvSpPr txBox="1">
                <a:spLocks noRot="1" noChangeAspect="1" noMove="1" noResize="1" noEditPoints="1" noAdjustHandles="1" noChangeArrowheads="1" noChangeShapeType="1" noTextEdit="1"/>
              </p:cNvSpPr>
              <p:nvPr/>
            </p:nvSpPr>
            <p:spPr>
              <a:xfrm>
                <a:off x="4246497" y="3553425"/>
                <a:ext cx="2989800" cy="2921569"/>
              </a:xfrm>
              <a:prstGeom prst="rect">
                <a:avLst/>
              </a:prstGeom>
              <a:blipFill>
                <a:blip r:embed="rId7"/>
                <a:stretch>
                  <a:fillRect l="-1271"/>
                </a:stretch>
              </a:blipFill>
            </p:spPr>
            <p:txBody>
              <a:bodyPr/>
              <a:lstStyle/>
              <a:p>
                <a:r>
                  <a:rPr lang="en-US">
                    <a:noFill/>
                  </a:rPr>
                  <a:t> </a:t>
                </a:r>
              </a:p>
            </p:txBody>
          </p:sp>
        </mc:Fallback>
      </mc:AlternateContent>
      <p:sp>
        <p:nvSpPr>
          <p:cNvPr id="23" name="Freeform: Shape 22"/>
          <p:cNvSpPr/>
          <p:nvPr/>
        </p:nvSpPr>
        <p:spPr>
          <a:xfrm>
            <a:off x="825500" y="3815900"/>
            <a:ext cx="2120900" cy="2171700"/>
          </a:xfrm>
          <a:custGeom>
            <a:avLst/>
            <a:gdLst>
              <a:gd name="connsiteX0" fmla="*/ 0 w 2120900"/>
              <a:gd name="connsiteY0" fmla="*/ 0 h 2171700"/>
              <a:gd name="connsiteX1" fmla="*/ 876300 w 2120900"/>
              <a:gd name="connsiteY1" fmla="*/ 1257300 h 2171700"/>
              <a:gd name="connsiteX2" fmla="*/ 1320800 w 2120900"/>
              <a:gd name="connsiteY2" fmla="*/ 838200 h 2171700"/>
              <a:gd name="connsiteX3" fmla="*/ 1701800 w 2120900"/>
              <a:gd name="connsiteY3" fmla="*/ 1257300 h 2171700"/>
              <a:gd name="connsiteX4" fmla="*/ 2120900 w 2120900"/>
              <a:gd name="connsiteY4" fmla="*/ 2171700 h 2171700"/>
              <a:gd name="connsiteX0" fmla="*/ 0 w 2120900"/>
              <a:gd name="connsiteY0" fmla="*/ 0 h 2171700"/>
              <a:gd name="connsiteX1" fmla="*/ 876300 w 2120900"/>
              <a:gd name="connsiteY1" fmla="*/ 1257300 h 2171700"/>
              <a:gd name="connsiteX2" fmla="*/ 1320800 w 2120900"/>
              <a:gd name="connsiteY2" fmla="*/ 838200 h 2171700"/>
              <a:gd name="connsiteX3" fmla="*/ 1701800 w 2120900"/>
              <a:gd name="connsiteY3" fmla="*/ 1257300 h 2171700"/>
              <a:gd name="connsiteX4" fmla="*/ 2120900 w 2120900"/>
              <a:gd name="connsiteY4" fmla="*/ 2171700 h 2171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20900" h="2171700">
                <a:moveTo>
                  <a:pt x="0" y="0"/>
                </a:moveTo>
                <a:cubicBezTo>
                  <a:pt x="328083" y="558800"/>
                  <a:pt x="475192" y="1165225"/>
                  <a:pt x="876300" y="1257300"/>
                </a:cubicBezTo>
                <a:cubicBezTo>
                  <a:pt x="1277408" y="1349375"/>
                  <a:pt x="1183217" y="838200"/>
                  <a:pt x="1320800" y="838200"/>
                </a:cubicBezTo>
                <a:cubicBezTo>
                  <a:pt x="1458383" y="838200"/>
                  <a:pt x="1568450" y="1035050"/>
                  <a:pt x="1701800" y="1257300"/>
                </a:cubicBezTo>
                <a:cubicBezTo>
                  <a:pt x="1835150" y="1479550"/>
                  <a:pt x="1978025" y="1825625"/>
                  <a:pt x="2120900" y="2171700"/>
                </a:cubicBezTo>
              </a:path>
            </a:pathLst>
          </a:cu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Freeform: Shape 23"/>
          <p:cNvSpPr/>
          <p:nvPr/>
        </p:nvSpPr>
        <p:spPr>
          <a:xfrm>
            <a:off x="828675" y="4022275"/>
            <a:ext cx="2743200" cy="1453943"/>
          </a:xfrm>
          <a:custGeom>
            <a:avLst/>
            <a:gdLst>
              <a:gd name="connsiteX0" fmla="*/ 0 w 2743200"/>
              <a:gd name="connsiteY0" fmla="*/ 0 h 1453943"/>
              <a:gd name="connsiteX1" fmla="*/ 933450 w 2743200"/>
              <a:gd name="connsiteY1" fmla="*/ 1076325 h 1453943"/>
              <a:gd name="connsiteX2" fmla="*/ 1838325 w 2743200"/>
              <a:gd name="connsiteY2" fmla="*/ 1447800 h 1453943"/>
              <a:gd name="connsiteX3" fmla="*/ 2743200 w 2743200"/>
              <a:gd name="connsiteY3" fmla="*/ 828675 h 1453943"/>
            </a:gdLst>
            <a:ahLst/>
            <a:cxnLst>
              <a:cxn ang="0">
                <a:pos x="connsiteX0" y="connsiteY0"/>
              </a:cxn>
              <a:cxn ang="0">
                <a:pos x="connsiteX1" y="connsiteY1"/>
              </a:cxn>
              <a:cxn ang="0">
                <a:pos x="connsiteX2" y="connsiteY2"/>
              </a:cxn>
              <a:cxn ang="0">
                <a:pos x="connsiteX3" y="connsiteY3"/>
              </a:cxn>
            </a:cxnLst>
            <a:rect l="l" t="t" r="r" b="b"/>
            <a:pathLst>
              <a:path w="2743200" h="1453943">
                <a:moveTo>
                  <a:pt x="0" y="0"/>
                </a:moveTo>
                <a:cubicBezTo>
                  <a:pt x="313531" y="417512"/>
                  <a:pt x="627062" y="835025"/>
                  <a:pt x="933450" y="1076325"/>
                </a:cubicBezTo>
                <a:cubicBezTo>
                  <a:pt x="1239838" y="1317625"/>
                  <a:pt x="1536700" y="1489075"/>
                  <a:pt x="1838325" y="1447800"/>
                </a:cubicBezTo>
                <a:cubicBezTo>
                  <a:pt x="2139950" y="1406525"/>
                  <a:pt x="2441575" y="1117600"/>
                  <a:pt x="2743200" y="828675"/>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mc:Choice xmlns:a14="http://schemas.microsoft.com/office/drawing/2010/main" Requires="a14">
          <p:sp>
            <p:nvSpPr>
              <p:cNvPr id="26" name="TextBox 25"/>
              <p:cNvSpPr txBox="1"/>
              <p:nvPr/>
            </p:nvSpPr>
            <p:spPr>
              <a:xfrm>
                <a:off x="1815666" y="4286931"/>
                <a:ext cx="1422834" cy="312586"/>
              </a:xfrm>
              <a:prstGeom prst="rect">
                <a:avLst/>
              </a:prstGeom>
              <a:noFill/>
            </p:spPr>
            <p:txBody>
              <a:bodyPr wrap="square" rtlCol="0">
                <a:spAutoFit/>
              </a:bodyPr>
              <a:lstStyle/>
              <a:p>
                <a:pPr/>
                <a14:m>
                  <m:oMathPara xmlns:m="http://schemas.openxmlformats.org/officeDocument/2006/math">
                    <m:oMath>
                      <m:r>
                        <a:rPr lang="en-GB" sz="1400" b="1" i="1" smtClean="0">
                          <a:solidFill>
                            <a:schemeClr val="accent6"/>
                          </a:solidFill>
                          <a:latin typeface="Cambria Math" panose="02040503050406030204" pitchFamily="18" charset="0"/>
                        </a:rPr>
                        <m:t>𝒚</m:t>
                      </m:r>
                      <m:r>
                        <a:rPr lang="en-GB" sz="1400" b="1" i="1" smtClean="0">
                          <a:solidFill>
                            <a:schemeClr val="accent6"/>
                          </a:solidFill>
                          <a:latin typeface="Cambria Math" panose="02040503050406030204" pitchFamily="18" charset="0"/>
                        </a:rPr>
                        <m:t>=</m:t>
                      </m:r>
                      <m:sSup>
                        <m:sSupPr>
                          <m:ctrlPr>
                            <a:rPr lang="en-GB" sz="1400" b="1" i="1" smtClean="0">
                              <a:solidFill>
                                <a:schemeClr val="accent6"/>
                              </a:solidFill>
                              <a:latin typeface="Cambria Math" panose="02040503050406030204" pitchFamily="18" charset="0"/>
                            </a:rPr>
                          </m:ctrlPr>
                        </m:sSupPr>
                        <m:e>
                          <m:r>
                            <a:rPr lang="en-GB" sz="1400" b="1" i="1" smtClean="0">
                              <a:solidFill>
                                <a:schemeClr val="accent6"/>
                              </a:solidFill>
                              <a:latin typeface="Cambria Math" panose="02040503050406030204" pitchFamily="18" charset="0"/>
                            </a:rPr>
                            <m:t>𝒙</m:t>
                          </m:r>
                        </m:e>
                        <m:sup>
                          <m:r>
                            <a:rPr lang="en-GB" sz="1400" b="1" i="1" smtClean="0">
                              <a:solidFill>
                                <a:schemeClr val="accent6"/>
                              </a:solidFill>
                              <a:latin typeface="Cambria Math" panose="02040503050406030204" pitchFamily="18" charset="0"/>
                            </a:rPr>
                            <m:t>𝟐</m:t>
                          </m:r>
                        </m:sup>
                      </m:sSup>
                      <m:d>
                        <m:dPr>
                          <m:ctrlPr>
                            <a:rPr lang="en-GB" sz="1400" b="1" i="1" smtClean="0">
                              <a:solidFill>
                                <a:schemeClr val="accent6"/>
                              </a:solidFill>
                              <a:latin typeface="Cambria Math" panose="02040503050406030204" pitchFamily="18" charset="0"/>
                            </a:rPr>
                          </m:ctrlPr>
                        </m:dPr>
                        <m:e>
                          <m:r>
                            <a:rPr lang="en-GB" sz="1400" b="1" i="1" smtClean="0">
                              <a:solidFill>
                                <a:schemeClr val="accent6"/>
                              </a:solidFill>
                              <a:latin typeface="Cambria Math" panose="02040503050406030204" pitchFamily="18" charset="0"/>
                            </a:rPr>
                            <m:t>𝟏</m:t>
                          </m:r>
                          <m:r>
                            <a:rPr lang="en-GB" sz="1400" b="1" i="1" smtClean="0">
                              <a:solidFill>
                                <a:schemeClr val="accent6"/>
                              </a:solidFill>
                              <a:latin typeface="Cambria Math" panose="02040503050406030204" pitchFamily="18" charset="0"/>
                            </a:rPr>
                            <m:t>−</m:t>
                          </m:r>
                          <m:r>
                            <a:rPr lang="en-GB" sz="1400" b="1" i="1" smtClean="0">
                              <a:solidFill>
                                <a:schemeClr val="accent6"/>
                              </a:solidFill>
                              <a:latin typeface="Cambria Math" panose="02040503050406030204" pitchFamily="18" charset="0"/>
                            </a:rPr>
                            <m:t>𝒙</m:t>
                          </m:r>
                        </m:e>
                      </m:d>
                    </m:oMath>
                  </m:oMathPara>
                </a14:m>
                <a:endParaRPr lang="en-GB" b="1"/>
              </a:p>
            </p:txBody>
          </p:sp>
        </mc:Choice>
        <mc:Fallback>
          <p:sp>
            <p:nvSpPr>
              <p:cNvPr id="26" name="TextBox 25"/>
              <p:cNvSpPr txBox="1">
                <a:spLocks noRot="1" noChangeAspect="1" noMove="1" noResize="1" noEditPoints="1" noAdjustHandles="1" noChangeArrowheads="1" noChangeShapeType="1" noTextEdit="1"/>
              </p:cNvSpPr>
              <p:nvPr/>
            </p:nvSpPr>
            <p:spPr>
              <a:xfrm>
                <a:off x="1815666" y="4286931"/>
                <a:ext cx="1422834" cy="312586"/>
              </a:xfrm>
              <a:prstGeom prst="rect">
                <a:avLst/>
              </a:prstGeom>
              <a:blipFill>
                <a:blip r:embed="rId8"/>
                <a:stretch>
                  <a:fillRect b="-3846"/>
                </a:stretch>
              </a:blipFill>
            </p:spPr>
            <p:txBody>
              <a:bodyPr/>
              <a:lstStyle/>
              <a:p>
                <a:r>
                  <a:rPr lang="en-US">
                    <a:noFill/>
                  </a:rPr>
                  <a:t> </a:t>
                </a:r>
              </a:p>
            </p:txBody>
          </p:sp>
        </mc:Fallback>
      </mc:AlternateContent>
      <p:sp>
        <p:nvSpPr>
          <p:cNvPr id="27" name="TextBox 26"/>
          <p:cNvSpPr txBox="1"/>
          <p:nvPr/>
        </p:nvSpPr>
        <p:spPr>
          <a:xfrm>
            <a:off x="2370981" y="5047791"/>
            <a:ext cx="321570" cy="307777"/>
          </a:xfrm>
          <a:prstGeom prst="rect">
            <a:avLst/>
          </a:prstGeom>
          <a:noFill/>
        </p:spPr>
        <p:txBody>
          <a:bodyPr wrap="square" rtlCol="0">
            <a:spAutoFit/>
          </a:bodyPr>
          <a:lstStyle/>
          <a:p>
            <a:r>
              <a:rPr lang="en-GB" sz="1400"/>
              <a:t>1</a:t>
            </a:r>
          </a:p>
        </p:txBody>
      </p:sp>
      <p:sp>
        <p:nvSpPr>
          <p:cNvPr id="28" name="TextBox 27"/>
          <p:cNvSpPr txBox="1"/>
          <p:nvPr/>
        </p:nvSpPr>
        <p:spPr>
          <a:xfrm>
            <a:off x="3248943" y="5031907"/>
            <a:ext cx="321570" cy="307777"/>
          </a:xfrm>
          <a:prstGeom prst="rect">
            <a:avLst/>
          </a:prstGeom>
          <a:noFill/>
        </p:spPr>
        <p:txBody>
          <a:bodyPr wrap="square" rtlCol="0">
            <a:spAutoFit/>
          </a:bodyPr>
          <a:lstStyle/>
          <a:p>
            <a:r>
              <a:rPr lang="en-GB" sz="1400"/>
              <a:t>3</a:t>
            </a:r>
          </a:p>
        </p:txBody>
      </p:sp>
      <p:sp>
        <p:nvSpPr>
          <p:cNvPr id="29" name="TextBox 28"/>
          <p:cNvSpPr txBox="1"/>
          <p:nvPr/>
        </p:nvSpPr>
        <p:spPr>
          <a:xfrm>
            <a:off x="7446987" y="3653975"/>
            <a:ext cx="1584176" cy="1200329"/>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sz="1200" b="1"/>
              <a:t>Reflections</a:t>
            </a:r>
            <a:r>
              <a:rPr lang="en-GB" sz="1200"/>
              <a:t>: </a:t>
            </a:r>
            <a:r>
              <a:rPr lang="en-GB" sz="1200" err="1"/>
              <a:t>Cubics</a:t>
            </a:r>
            <a:r>
              <a:rPr lang="en-GB" sz="1200"/>
              <a:t> generally have 3 solutions. And this seems good news as we have 3 points of intersection.</a:t>
            </a:r>
          </a:p>
        </p:txBody>
      </p:sp>
      <p:cxnSp>
        <p:nvCxnSpPr>
          <p:cNvPr id="31" name="Straight Arrow Connector 30"/>
          <p:cNvCxnSpPr/>
          <p:nvPr/>
        </p:nvCxnSpPr>
        <p:spPr>
          <a:xfrm flipH="1">
            <a:off x="6457950" y="3968390"/>
            <a:ext cx="979512" cy="19403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32" name="TextBox 31"/>
              <p:cNvSpPr txBox="1"/>
              <p:nvPr/>
            </p:nvSpPr>
            <p:spPr>
              <a:xfrm>
                <a:off x="7437462" y="4947392"/>
                <a:ext cx="1584176" cy="1384995"/>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sz="1200" b="1"/>
                  <a:t>Tip: </a:t>
                </a:r>
                <a:r>
                  <a:rPr lang="en-GB" sz="1200"/>
                  <a:t>A classic mistake is to divide by </a:t>
                </a:r>
                <a14:m>
                  <m:oMath xmlns:m="http://schemas.openxmlformats.org/officeDocument/2006/math">
                    <m:r>
                      <a:rPr lang="en-GB" sz="1200" b="0" i="1" smtClean="0">
                        <a:latin typeface="Cambria Math" panose="02040503050406030204" pitchFamily="18" charset="0"/>
                      </a:rPr>
                      <m:t>𝑥</m:t>
                    </m:r>
                  </m:oMath>
                </a14:m>
                <a:r>
                  <a:rPr lang="en-GB" sz="1200"/>
                  <a:t> to get </a:t>
                </a:r>
                <a14:m>
                  <m:oMath xmlns:m="http://schemas.openxmlformats.org/officeDocument/2006/math">
                    <m:sSup>
                      <m:sSupPr>
                        <m:ctrlPr>
                          <a:rPr lang="en-GB" sz="1200" b="0" i="1" smtClean="0">
                            <a:latin typeface="Cambria Math" panose="02040503050406030204" pitchFamily="18" charset="0"/>
                          </a:rPr>
                        </m:ctrlPr>
                      </m:sSupPr>
                      <m:e>
                        <m:r>
                          <a:rPr lang="en-GB" sz="1200" b="0" i="1" smtClean="0">
                            <a:latin typeface="Cambria Math" panose="02040503050406030204" pitchFamily="18" charset="0"/>
                          </a:rPr>
                          <m:t>𝑥</m:t>
                        </m:r>
                      </m:e>
                      <m:sup>
                        <m:r>
                          <a:rPr lang="en-GB" sz="1200" b="0" i="1" smtClean="0">
                            <a:latin typeface="Cambria Math" panose="02040503050406030204" pitchFamily="18" charset="0"/>
                          </a:rPr>
                          <m:t>2</m:t>
                        </m:r>
                      </m:sup>
                    </m:sSup>
                    <m:r>
                      <a:rPr lang="en-GB" sz="1200" b="0" i="1" smtClean="0">
                        <a:latin typeface="Cambria Math" panose="02040503050406030204" pitchFamily="18" charset="0"/>
                      </a:rPr>
                      <m:t>−3=0</m:t>
                    </m:r>
                  </m:oMath>
                </a14:m>
                <a:r>
                  <a:rPr lang="en-GB" sz="1200"/>
                  <a:t>. </a:t>
                </a:r>
                <a:r>
                  <a:rPr lang="en-GB" sz="1200" u="sng"/>
                  <a:t>NEVER</a:t>
                </a:r>
                <a:r>
                  <a:rPr lang="en-GB" sz="1200"/>
                  <a:t> divide an equation by a variable, because you lose a solution. Always factorise.</a:t>
                </a:r>
              </a:p>
            </p:txBody>
          </p:sp>
        </mc:Choice>
        <mc:Fallback>
          <p:sp>
            <p:nvSpPr>
              <p:cNvPr id="32" name="TextBox 31"/>
              <p:cNvSpPr txBox="1">
                <a:spLocks noRot="1" noChangeAspect="1" noMove="1" noResize="1" noEditPoints="1" noAdjustHandles="1" noChangeArrowheads="1" noChangeShapeType="1" noTextEdit="1"/>
              </p:cNvSpPr>
              <p:nvPr/>
            </p:nvSpPr>
            <p:spPr>
              <a:xfrm>
                <a:off x="7437462" y="4947392"/>
                <a:ext cx="1584176" cy="1384995"/>
              </a:xfrm>
              <a:prstGeom prst="rect">
                <a:avLst/>
              </a:prstGeom>
              <a:blipFill>
                <a:blip r:embed="rId9"/>
                <a:stretch>
                  <a:fillRect b="-1786"/>
                </a:stretch>
              </a:blipFill>
            </p:spPr>
            <p:txBody>
              <a:bodyPr/>
              <a:lstStyle/>
              <a:p>
                <a:r>
                  <a:rPr lang="en-US">
                    <a:noFill/>
                  </a:rPr>
                  <a:t> </a:t>
                </a:r>
              </a:p>
            </p:txBody>
          </p:sp>
        </mc:Fallback>
      </mc:AlternateContent>
      <p:cxnSp>
        <p:nvCxnSpPr>
          <p:cNvPr id="33" name="Straight Arrow Connector 32"/>
          <p:cNvCxnSpPr/>
          <p:nvPr/>
        </p:nvCxnSpPr>
        <p:spPr>
          <a:xfrm flipH="1" flipV="1">
            <a:off x="6962775" y="4486275"/>
            <a:ext cx="474687" cy="61351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6" name="Rectangle 35"/>
          <p:cNvSpPr/>
          <p:nvPr/>
        </p:nvSpPr>
        <p:spPr>
          <a:xfrm>
            <a:off x="323528" y="3362154"/>
            <a:ext cx="8753475" cy="3339505"/>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Tree>
    <p:extLst>
      <p:ext uri="{BB962C8B-B14F-4D97-AF65-F5344CB8AC3E}">
        <p14:creationId xmlns:p14="http://schemas.microsoft.com/office/powerpoint/2010/main" val="3965649607"/>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36"/>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36"/>
                                        </p:tgtEl>
                                      </p:cBhvr>
                                    </p:animEffect>
                                    <p:set>
                                      <p:cBhvr>
                                        <p:cTn id="7" dur="1" fill="hold">
                                          <p:stCondLst>
                                            <p:cond delay="499"/>
                                          </p:stCondLst>
                                        </p:cTn>
                                        <p:tgtEl>
                                          <p:spTgt spid="36"/>
                                        </p:tgtEl>
                                        <p:attrNameLst>
                                          <p:attrName>style.visibility</p:attrName>
                                        </p:attrNameLst>
                                      </p:cBhvr>
                                      <p:to>
                                        <p:strVal val="hidden"/>
                                      </p:to>
                                    </p:set>
                                  </p:childTnLst>
                                </p:cTn>
                              </p:par>
                            </p:childTnLst>
                          </p:cTn>
                        </p:par>
                      </p:childTnLst>
                    </p:cTn>
                  </p:par>
                </p:childTnLst>
              </p:cTn>
              <p:nextCondLst>
                <p:cond evt="onClick" delay="0">
                  <p:tgtEl>
                    <p:spTgt spid="36"/>
                  </p:tgtEl>
                </p:cond>
              </p:nextCondLst>
            </p:seq>
          </p:childTnLst>
        </p:cTn>
      </p:par>
    </p:tnLst>
    <p:bldLst>
      <p:bldP spid="36"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vert="horz" wrap="square" lIns="324000" tIns="45720" rIns="91440" bIns="45720" rtlCol="0" anchor="ctr">
              <a:spAutoFit/>
            </a:bodyPr>
            <a:lstStyle>
              <a:defPPr>
                <a:defRPr lang="en-US"/>
              </a:defPPr>
              <a:lvl1pPr>
                <a:spcBef>
                  <a:spcPct val="0"/>
                </a:spcBef>
                <a:buNone/>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a:t>Further example involving unknown constants</a:t>
              </a:r>
            </a:p>
          </p:txBody>
        </p:sp>
        <p:cxnSp>
          <p:nvCxnSpPr>
            <p:cNvPr id="4" name="Straight Connector 3"/>
            <p:cNvCxnSpPr/>
            <p:nvPr/>
          </p:nvCxnSpPr>
          <p:spPr>
            <a:xfrm>
              <a:off x="218" y="601079"/>
              <a:ext cx="9144000" cy="0"/>
            </a:xfrm>
            <a:prstGeom prst="line">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mc:Choice xmlns:a14="http://schemas.microsoft.com/office/drawing/2010/main" Requires="a14">
          <p:sp>
            <p:nvSpPr>
              <p:cNvPr id="5" name="TextBox 4"/>
              <p:cNvSpPr txBox="1"/>
              <p:nvPr/>
            </p:nvSpPr>
            <p:spPr>
              <a:xfrm>
                <a:off x="381806" y="790951"/>
                <a:ext cx="8212010" cy="1167243"/>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a:t>On the same diagram sketch the curves with equations </a:t>
                </a:r>
                <a14:m>
                  <m:oMath xmlns:m="http://schemas.openxmlformats.org/officeDocument/2006/math">
                    <m:r>
                      <a:rPr lang="en-GB" b="0" i="1" smtClean="0">
                        <a:latin typeface="Cambria Math" panose="02040503050406030204" pitchFamily="18" charset="0"/>
                      </a:rPr>
                      <m:t>𝑦</m:t>
                    </m:r>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2</m:t>
                        </m:r>
                      </m:sup>
                    </m:sSup>
                    <m:d>
                      <m:dPr>
                        <m:ctrlPr>
                          <a:rPr lang="en-GB" b="0" i="1" smtClean="0">
                            <a:latin typeface="Cambria Math" panose="02040503050406030204" pitchFamily="18" charset="0"/>
                          </a:rPr>
                        </m:ctrlPr>
                      </m:dPr>
                      <m:e>
                        <m:r>
                          <a:rPr lang="en-GB" b="0" i="1" smtClean="0">
                            <a:latin typeface="Cambria Math" panose="02040503050406030204" pitchFamily="18" charset="0"/>
                          </a:rPr>
                          <m:t>3</m:t>
                        </m:r>
                        <m:r>
                          <a:rPr lang="en-GB" b="0" i="1" smtClean="0">
                            <a:latin typeface="Cambria Math" panose="02040503050406030204" pitchFamily="18" charset="0"/>
                          </a:rPr>
                          <m:t>𝑥</m:t>
                        </m:r>
                        <m:r>
                          <a:rPr lang="en-GB" b="0" i="1" smtClean="0">
                            <a:latin typeface="Cambria Math" panose="02040503050406030204" pitchFamily="18" charset="0"/>
                          </a:rPr>
                          <m:t>−</m:t>
                        </m:r>
                        <m:r>
                          <a:rPr lang="en-GB" b="0" i="1" smtClean="0">
                            <a:latin typeface="Cambria Math" panose="02040503050406030204" pitchFamily="18" charset="0"/>
                          </a:rPr>
                          <m:t>𝑎</m:t>
                        </m:r>
                      </m:e>
                    </m:d>
                  </m:oMath>
                </a14:m>
                <a:r>
                  <a:rPr lang="en-GB"/>
                  <a:t> and </a:t>
                </a:r>
                <a14:m>
                  <m:oMath xmlns:m="http://schemas.openxmlformats.org/officeDocument/2006/math">
                    <m:r>
                      <a:rPr lang="en-GB" b="0" i="1" smtClean="0">
                        <a:latin typeface="Cambria Math" panose="02040503050406030204" pitchFamily="18" charset="0"/>
                      </a:rPr>
                      <m:t>𝑦</m:t>
                    </m:r>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𝑏</m:t>
                        </m:r>
                      </m:num>
                      <m:den>
                        <m:r>
                          <a:rPr lang="en-GB" b="0" i="1" smtClean="0">
                            <a:latin typeface="Cambria Math" panose="02040503050406030204" pitchFamily="18" charset="0"/>
                          </a:rPr>
                          <m:t>𝑥</m:t>
                        </m:r>
                      </m:den>
                    </m:f>
                  </m:oMath>
                </a14:m>
                <a:r>
                  <a:rPr lang="en-GB"/>
                  <a:t>, where </a:t>
                </a:r>
                <a14:m>
                  <m:oMath xmlns:m="http://schemas.openxmlformats.org/officeDocument/2006/math">
                    <m:r>
                      <a:rPr lang="en-GB" b="0" i="1" smtClean="0">
                        <a:latin typeface="Cambria Math" panose="02040503050406030204" pitchFamily="18" charset="0"/>
                      </a:rPr>
                      <m:t>𝑎</m:t>
                    </m:r>
                    <m:r>
                      <a:rPr lang="en-GB" b="0" i="1" smtClean="0">
                        <a:latin typeface="Cambria Math" panose="02040503050406030204" pitchFamily="18" charset="0"/>
                      </a:rPr>
                      <m:t>,</m:t>
                    </m:r>
                    <m:r>
                      <a:rPr lang="en-GB" b="0" i="1" smtClean="0">
                        <a:latin typeface="Cambria Math" panose="02040503050406030204" pitchFamily="18" charset="0"/>
                      </a:rPr>
                      <m:t>𝑏</m:t>
                    </m:r>
                  </m:oMath>
                </a14:m>
                <a:r>
                  <a:rPr lang="en-GB"/>
                  <a:t> are positive constants. State, giving a reason, the number of real solutions to the equation </a:t>
                </a:r>
                <a14:m>
                  <m:oMath xmlns:m="http://schemas.openxmlformats.org/officeDocument/2006/math">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2</m:t>
                        </m:r>
                      </m:sup>
                    </m:sSup>
                    <m:d>
                      <m:dPr>
                        <m:ctrlPr>
                          <a:rPr lang="en-GB" b="0" i="1" smtClean="0">
                            <a:latin typeface="Cambria Math" panose="02040503050406030204" pitchFamily="18" charset="0"/>
                          </a:rPr>
                        </m:ctrlPr>
                      </m:dPr>
                      <m:e>
                        <m:r>
                          <a:rPr lang="en-GB" b="0" i="1" smtClean="0">
                            <a:latin typeface="Cambria Math" panose="02040503050406030204" pitchFamily="18" charset="0"/>
                          </a:rPr>
                          <m:t>3</m:t>
                        </m:r>
                        <m:r>
                          <a:rPr lang="en-GB" b="0" i="1" smtClean="0">
                            <a:latin typeface="Cambria Math" panose="02040503050406030204" pitchFamily="18" charset="0"/>
                          </a:rPr>
                          <m:t>𝑥</m:t>
                        </m:r>
                        <m:r>
                          <a:rPr lang="en-GB" b="0" i="1" smtClean="0">
                            <a:latin typeface="Cambria Math" panose="02040503050406030204" pitchFamily="18" charset="0"/>
                          </a:rPr>
                          <m:t>−</m:t>
                        </m:r>
                        <m:r>
                          <a:rPr lang="en-GB" b="0" i="1" smtClean="0">
                            <a:latin typeface="Cambria Math" panose="02040503050406030204" pitchFamily="18" charset="0"/>
                          </a:rPr>
                          <m:t>𝑎</m:t>
                        </m:r>
                      </m:e>
                    </m:d>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𝑏</m:t>
                        </m:r>
                      </m:num>
                      <m:den>
                        <m:r>
                          <a:rPr lang="en-GB" b="0" i="1" smtClean="0">
                            <a:latin typeface="Cambria Math" panose="02040503050406030204" pitchFamily="18" charset="0"/>
                          </a:rPr>
                          <m:t>𝑥</m:t>
                        </m:r>
                      </m:den>
                    </m:f>
                    <m:r>
                      <a:rPr lang="en-GB" b="0" i="1" smtClean="0">
                        <a:latin typeface="Cambria Math" panose="02040503050406030204" pitchFamily="18" charset="0"/>
                      </a:rPr>
                      <m:t>=0</m:t>
                    </m:r>
                  </m:oMath>
                </a14:m>
                <a:endParaRPr lang="en-GB"/>
              </a:p>
            </p:txBody>
          </p:sp>
        </mc:Choice>
        <mc:Fallback>
          <p:sp>
            <p:nvSpPr>
              <p:cNvPr id="5" name="TextBox 4"/>
              <p:cNvSpPr txBox="1">
                <a:spLocks noRot="1" noChangeAspect="1" noMove="1" noResize="1" noEditPoints="1" noAdjustHandles="1" noChangeArrowheads="1" noChangeShapeType="1" noTextEdit="1"/>
              </p:cNvSpPr>
              <p:nvPr/>
            </p:nvSpPr>
            <p:spPr>
              <a:xfrm>
                <a:off x="381806" y="790951"/>
                <a:ext cx="8212010" cy="1167243"/>
              </a:xfrm>
              <a:prstGeom prst="rect">
                <a:avLst/>
              </a:prstGeom>
              <a:blipFill>
                <a:blip r:embed="rId2"/>
                <a:stretch>
                  <a:fillRect/>
                </a:stretch>
              </a:blipFill>
              <a:effectLst>
                <a:outerShdw blurRad="63500" sx="102000" sy="102000" algn="ctr" rotWithShape="0">
                  <a:prstClr val="black">
                    <a:alpha val="40000"/>
                  </a:prstClr>
                </a:outerShdw>
              </a:effectLst>
            </p:spPr>
            <p:txBody>
              <a:bodyPr/>
              <a:lstStyle/>
              <a:p>
                <a:r>
                  <a:rPr lang="en-US">
                    <a:noFill/>
                  </a:rPr>
                  <a:t> </a:t>
                </a:r>
              </a:p>
            </p:txBody>
          </p:sp>
        </mc:Fallback>
      </mc:AlternateContent>
      <p:cxnSp>
        <p:nvCxnSpPr>
          <p:cNvPr id="6" name="Straight Arrow Connector 5"/>
          <p:cNvCxnSpPr/>
          <p:nvPr/>
        </p:nvCxnSpPr>
        <p:spPr>
          <a:xfrm flipV="1">
            <a:off x="269903" y="4346256"/>
            <a:ext cx="3606305" cy="1390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 name="Straight Arrow Connector 6"/>
          <p:cNvCxnSpPr/>
          <p:nvPr/>
        </p:nvCxnSpPr>
        <p:spPr>
          <a:xfrm flipH="1" flipV="1">
            <a:off x="1701546" y="2942347"/>
            <a:ext cx="37565" cy="273423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8" name="TextBox 7"/>
              <p:cNvSpPr txBox="1"/>
              <p:nvPr/>
            </p:nvSpPr>
            <p:spPr>
              <a:xfrm>
                <a:off x="1500306" y="2664253"/>
                <a:ext cx="415472" cy="276999"/>
              </a:xfrm>
              <a:prstGeom prst="rect">
                <a:avLst/>
              </a:prstGeom>
              <a:noFill/>
            </p:spPr>
            <p:txBody>
              <a:bodyPr wrap="square" rtlCol="0">
                <a:spAutoFit/>
              </a:bodyPr>
              <a:lstStyle/>
              <a:p>
                <a:pPr/>
                <a14:m>
                  <m:oMathPara xmlns:m="http://schemas.openxmlformats.org/officeDocument/2006/math">
                    <m:oMath>
                      <m:r>
                        <a:rPr lang="en-GB" sz="1200" b="0" i="1" smtClean="0">
                          <a:latin typeface="Cambria Math" panose="02040503050406030204" pitchFamily="18" charset="0"/>
                        </a:rPr>
                        <m:t>𝑦</m:t>
                      </m:r>
                    </m:oMath>
                  </m:oMathPara>
                </a14:m>
                <a:endParaRPr lang="en-GB"/>
              </a:p>
            </p:txBody>
          </p:sp>
        </mc:Choice>
        <mc:Fallback>
          <p:sp>
            <p:nvSpPr>
              <p:cNvPr id="8" name="TextBox 7"/>
              <p:cNvSpPr txBox="1">
                <a:spLocks noRot="1" noChangeAspect="1" noMove="1" noResize="1" noEditPoints="1" noAdjustHandles="1" noChangeArrowheads="1" noChangeShapeType="1" noTextEdit="1"/>
              </p:cNvSpPr>
              <p:nvPr/>
            </p:nvSpPr>
            <p:spPr>
              <a:xfrm>
                <a:off x="1500306" y="2664253"/>
                <a:ext cx="415472" cy="276999"/>
              </a:xfrm>
              <a:prstGeom prst="rect">
                <a:avLst/>
              </a:prstGeom>
              <a:blipFill>
                <a:blip r:embed="rId3"/>
                <a:stretch>
                  <a:fillRect b="-4348"/>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 name="TextBox 8"/>
              <p:cNvSpPr txBox="1"/>
              <p:nvPr/>
            </p:nvSpPr>
            <p:spPr>
              <a:xfrm>
                <a:off x="3758375" y="4207757"/>
                <a:ext cx="415472" cy="276999"/>
              </a:xfrm>
              <a:prstGeom prst="rect">
                <a:avLst/>
              </a:prstGeom>
              <a:noFill/>
            </p:spPr>
            <p:txBody>
              <a:bodyPr wrap="square" rtlCol="0">
                <a:spAutoFit/>
              </a:bodyPr>
              <a:lstStyle/>
              <a:p>
                <a:pPr/>
                <a14:m>
                  <m:oMathPara xmlns:m="http://schemas.openxmlformats.org/officeDocument/2006/math">
                    <m:oMath>
                      <m:r>
                        <a:rPr lang="en-GB" sz="1200" b="0" i="1" smtClean="0">
                          <a:latin typeface="Cambria Math" panose="02040503050406030204" pitchFamily="18" charset="0"/>
                        </a:rPr>
                        <m:t>𝑥</m:t>
                      </m:r>
                    </m:oMath>
                  </m:oMathPara>
                </a14:m>
                <a:endParaRPr lang="en-GB"/>
              </a:p>
            </p:txBody>
          </p:sp>
        </mc:Choice>
        <mc:Fallback>
          <p:sp>
            <p:nvSpPr>
              <p:cNvPr id="9" name="TextBox 8"/>
              <p:cNvSpPr txBox="1">
                <a:spLocks noRot="1" noChangeAspect="1" noMove="1" noResize="1" noEditPoints="1" noAdjustHandles="1" noChangeArrowheads="1" noChangeShapeType="1" noTextEdit="1"/>
              </p:cNvSpPr>
              <p:nvPr/>
            </p:nvSpPr>
            <p:spPr>
              <a:xfrm>
                <a:off x="3758375" y="4207757"/>
                <a:ext cx="415472" cy="276999"/>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 name="TextBox 9"/>
              <p:cNvSpPr txBox="1"/>
              <p:nvPr/>
            </p:nvSpPr>
            <p:spPr>
              <a:xfrm rot="17827855">
                <a:off x="2744168" y="3174276"/>
                <a:ext cx="1444989" cy="312586"/>
              </a:xfrm>
              <a:prstGeom prst="rect">
                <a:avLst/>
              </a:prstGeom>
              <a:noFill/>
            </p:spPr>
            <p:txBody>
              <a:bodyPr wrap="square" rtlCol="0">
                <a:spAutoFit/>
              </a:bodyPr>
              <a:lstStyle/>
              <a:p>
                <a:pPr/>
                <a14:m>
                  <m:oMathPara xmlns:m="http://schemas.openxmlformats.org/officeDocument/2006/math">
                    <m:oMath>
                      <m:r>
                        <a:rPr lang="en-GB" sz="1400" b="1" i="1" smtClean="0">
                          <a:solidFill>
                            <a:srgbClr val="002060"/>
                          </a:solidFill>
                          <a:latin typeface="Cambria Math" panose="02040503050406030204" pitchFamily="18" charset="0"/>
                        </a:rPr>
                        <m:t>𝒚</m:t>
                      </m:r>
                      <m:r>
                        <a:rPr lang="en-GB" sz="1400" b="1" i="1" smtClean="0">
                          <a:solidFill>
                            <a:srgbClr val="002060"/>
                          </a:solidFill>
                          <a:latin typeface="Cambria Math" panose="02040503050406030204" pitchFamily="18" charset="0"/>
                        </a:rPr>
                        <m:t>=</m:t>
                      </m:r>
                      <m:sSup>
                        <m:sSupPr>
                          <m:ctrlPr>
                            <a:rPr lang="en-GB" sz="1400" b="1" i="1" smtClean="0">
                              <a:solidFill>
                                <a:srgbClr val="002060"/>
                              </a:solidFill>
                              <a:latin typeface="Cambria Math" panose="02040503050406030204" pitchFamily="18" charset="0"/>
                            </a:rPr>
                          </m:ctrlPr>
                        </m:sSupPr>
                        <m:e>
                          <m:r>
                            <a:rPr lang="en-GB" sz="1400" b="1" i="1" smtClean="0">
                              <a:solidFill>
                                <a:srgbClr val="002060"/>
                              </a:solidFill>
                              <a:latin typeface="Cambria Math" panose="02040503050406030204" pitchFamily="18" charset="0"/>
                            </a:rPr>
                            <m:t>𝒙</m:t>
                          </m:r>
                        </m:e>
                        <m:sup>
                          <m:r>
                            <a:rPr lang="en-GB" sz="1400" b="1" i="1" smtClean="0">
                              <a:solidFill>
                                <a:srgbClr val="002060"/>
                              </a:solidFill>
                              <a:latin typeface="Cambria Math" panose="02040503050406030204" pitchFamily="18" charset="0"/>
                            </a:rPr>
                            <m:t>𝟐</m:t>
                          </m:r>
                        </m:sup>
                      </m:sSup>
                      <m:d>
                        <m:dPr>
                          <m:ctrlPr>
                            <a:rPr lang="en-GB" sz="1400" b="1" i="1" smtClean="0">
                              <a:solidFill>
                                <a:srgbClr val="002060"/>
                              </a:solidFill>
                              <a:latin typeface="Cambria Math" panose="02040503050406030204" pitchFamily="18" charset="0"/>
                            </a:rPr>
                          </m:ctrlPr>
                        </m:dPr>
                        <m:e>
                          <m:r>
                            <a:rPr lang="en-GB" sz="1400" b="1" i="1" smtClean="0">
                              <a:solidFill>
                                <a:srgbClr val="002060"/>
                              </a:solidFill>
                              <a:latin typeface="Cambria Math" panose="02040503050406030204" pitchFamily="18" charset="0"/>
                            </a:rPr>
                            <m:t>𝟑</m:t>
                          </m:r>
                          <m:r>
                            <a:rPr lang="en-GB" sz="1400" b="1" i="1" smtClean="0">
                              <a:solidFill>
                                <a:srgbClr val="002060"/>
                              </a:solidFill>
                              <a:latin typeface="Cambria Math" panose="02040503050406030204" pitchFamily="18" charset="0"/>
                            </a:rPr>
                            <m:t>𝒙</m:t>
                          </m:r>
                          <m:r>
                            <a:rPr lang="en-GB" sz="1400" b="1" i="1" smtClean="0">
                              <a:solidFill>
                                <a:srgbClr val="002060"/>
                              </a:solidFill>
                              <a:latin typeface="Cambria Math" panose="02040503050406030204" pitchFamily="18" charset="0"/>
                            </a:rPr>
                            <m:t>−</m:t>
                          </m:r>
                          <m:r>
                            <a:rPr lang="en-GB" sz="1400" b="1" i="1" smtClean="0">
                              <a:solidFill>
                                <a:srgbClr val="002060"/>
                              </a:solidFill>
                              <a:latin typeface="Cambria Math" panose="02040503050406030204" pitchFamily="18" charset="0"/>
                            </a:rPr>
                            <m:t>𝒂</m:t>
                          </m:r>
                        </m:e>
                      </m:d>
                    </m:oMath>
                  </m:oMathPara>
                </a14:m>
                <a:endParaRPr lang="en-GB" b="1"/>
              </a:p>
            </p:txBody>
          </p:sp>
        </mc:Choice>
        <mc:Fallback>
          <p:sp>
            <p:nvSpPr>
              <p:cNvPr id="10" name="TextBox 9"/>
              <p:cNvSpPr txBox="1">
                <a:spLocks noRot="1" noChangeAspect="1" noMove="1" noResize="1" noEditPoints="1" noAdjustHandles="1" noChangeArrowheads="1" noChangeShapeType="1" noTextEdit="1"/>
              </p:cNvSpPr>
              <p:nvPr/>
            </p:nvSpPr>
            <p:spPr>
              <a:xfrm rot="17827855">
                <a:off x="2744168" y="3174276"/>
                <a:ext cx="1444989" cy="312586"/>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4" name="TextBox 13"/>
              <p:cNvSpPr txBox="1"/>
              <p:nvPr/>
            </p:nvSpPr>
            <p:spPr>
              <a:xfrm rot="1417607">
                <a:off x="1889631" y="3472867"/>
                <a:ext cx="885466" cy="501548"/>
              </a:xfrm>
              <a:prstGeom prst="rect">
                <a:avLst/>
              </a:prstGeom>
              <a:noFill/>
            </p:spPr>
            <p:txBody>
              <a:bodyPr wrap="square" rtlCol="0">
                <a:spAutoFit/>
              </a:bodyPr>
              <a:lstStyle/>
              <a:p>
                <a:pPr/>
                <a14:m>
                  <m:oMathPara xmlns:m="http://schemas.openxmlformats.org/officeDocument/2006/math">
                    <m:oMath>
                      <m:r>
                        <a:rPr lang="en-GB" sz="1400" b="1" i="1" smtClean="0">
                          <a:solidFill>
                            <a:schemeClr val="accent6"/>
                          </a:solidFill>
                          <a:latin typeface="Cambria Math" panose="02040503050406030204" pitchFamily="18" charset="0"/>
                        </a:rPr>
                        <m:t>𝒚</m:t>
                      </m:r>
                      <m:r>
                        <a:rPr lang="en-GB" sz="1400" b="1" i="1" smtClean="0">
                          <a:solidFill>
                            <a:schemeClr val="accent6"/>
                          </a:solidFill>
                          <a:latin typeface="Cambria Math" panose="02040503050406030204" pitchFamily="18" charset="0"/>
                        </a:rPr>
                        <m:t>=</m:t>
                      </m:r>
                      <m:f>
                        <m:fPr>
                          <m:ctrlPr>
                            <a:rPr lang="en-GB" sz="1400" b="1" i="1" smtClean="0">
                              <a:solidFill>
                                <a:schemeClr val="accent6"/>
                              </a:solidFill>
                              <a:latin typeface="Cambria Math" panose="02040503050406030204" pitchFamily="18" charset="0"/>
                            </a:rPr>
                          </m:ctrlPr>
                        </m:fPr>
                        <m:num>
                          <m:r>
                            <a:rPr lang="en-GB" sz="1400" b="1" i="1" smtClean="0">
                              <a:solidFill>
                                <a:schemeClr val="accent6"/>
                              </a:solidFill>
                              <a:latin typeface="Cambria Math" panose="02040503050406030204" pitchFamily="18" charset="0"/>
                            </a:rPr>
                            <m:t>𝒃</m:t>
                          </m:r>
                        </m:num>
                        <m:den>
                          <m:r>
                            <a:rPr lang="en-GB" sz="1400" b="1" i="1" smtClean="0">
                              <a:solidFill>
                                <a:schemeClr val="accent6"/>
                              </a:solidFill>
                              <a:latin typeface="Cambria Math" panose="02040503050406030204" pitchFamily="18" charset="0"/>
                            </a:rPr>
                            <m:t>𝒙</m:t>
                          </m:r>
                        </m:den>
                      </m:f>
                    </m:oMath>
                  </m:oMathPara>
                </a14:m>
                <a:endParaRPr lang="en-GB" b="1"/>
              </a:p>
            </p:txBody>
          </p:sp>
        </mc:Choice>
        <mc:Fallback>
          <p:sp>
            <p:nvSpPr>
              <p:cNvPr id="14" name="TextBox 13"/>
              <p:cNvSpPr txBox="1">
                <a:spLocks noRot="1" noChangeAspect="1" noMove="1" noResize="1" noEditPoints="1" noAdjustHandles="1" noChangeArrowheads="1" noChangeShapeType="1" noTextEdit="1"/>
              </p:cNvSpPr>
              <p:nvPr/>
            </p:nvSpPr>
            <p:spPr>
              <a:xfrm rot="1417607">
                <a:off x="1889631" y="3472867"/>
                <a:ext cx="885466" cy="501548"/>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5" name="TextBox 14"/>
              <p:cNvSpPr txBox="1"/>
              <p:nvPr/>
            </p:nvSpPr>
            <p:spPr>
              <a:xfrm>
                <a:off x="2476845" y="4425114"/>
                <a:ext cx="415212" cy="461280"/>
              </a:xfrm>
              <a:prstGeom prst="rect">
                <a:avLst/>
              </a:prstGeom>
              <a:noFill/>
            </p:spPr>
            <p:txBody>
              <a:bodyPr wrap="square" rtlCol="0">
                <a:spAutoFit/>
              </a:bodyPr>
              <a:lstStyle/>
              <a:p>
                <a:pPr/>
                <a14:m>
                  <m:oMathPara xmlns:m="http://schemas.openxmlformats.org/officeDocument/2006/math">
                    <m:oMath>
                      <m:f>
                        <m:fPr>
                          <m:ctrlPr>
                            <a:rPr lang="en-GB" sz="1400" b="0" i="1" smtClean="0">
                              <a:latin typeface="Cambria Math" panose="02040503050406030204" pitchFamily="18" charset="0"/>
                            </a:rPr>
                          </m:ctrlPr>
                        </m:fPr>
                        <m:num>
                          <m:r>
                            <a:rPr lang="en-GB" sz="1400" b="0" i="1" smtClean="0">
                              <a:latin typeface="Cambria Math" panose="02040503050406030204" pitchFamily="18" charset="0"/>
                            </a:rPr>
                            <m:t>𝑎</m:t>
                          </m:r>
                        </m:num>
                        <m:den>
                          <m:r>
                            <a:rPr lang="en-GB" sz="1400" b="0" i="1" smtClean="0">
                              <a:latin typeface="Cambria Math" panose="02040503050406030204" pitchFamily="18" charset="0"/>
                            </a:rPr>
                            <m:t>3</m:t>
                          </m:r>
                        </m:den>
                      </m:f>
                    </m:oMath>
                  </m:oMathPara>
                </a14:m>
                <a:endParaRPr lang="en-GB" sz="1400"/>
              </a:p>
            </p:txBody>
          </p:sp>
        </mc:Choice>
        <mc:Fallback>
          <p:sp>
            <p:nvSpPr>
              <p:cNvPr id="15" name="TextBox 14"/>
              <p:cNvSpPr txBox="1">
                <a:spLocks noRot="1" noChangeAspect="1" noMove="1" noResize="1" noEditPoints="1" noAdjustHandles="1" noChangeArrowheads="1" noChangeShapeType="1" noTextEdit="1"/>
              </p:cNvSpPr>
              <p:nvPr/>
            </p:nvSpPr>
            <p:spPr>
              <a:xfrm>
                <a:off x="2476845" y="4425114"/>
                <a:ext cx="415212" cy="461280"/>
              </a:xfrm>
              <a:prstGeom prst="rect">
                <a:avLst/>
              </a:prstGeom>
              <a:blipFill>
                <a:blip r:embed="rId7"/>
                <a:stretch>
                  <a:fillRect b="-2703"/>
                </a:stretch>
              </a:blipFill>
            </p:spPr>
            <p:txBody>
              <a:bodyPr/>
              <a:lstStyle/>
              <a:p>
                <a:r>
                  <a:rPr lang="en-US">
                    <a:noFill/>
                  </a:rPr>
                  <a:t> </a:t>
                </a:r>
              </a:p>
            </p:txBody>
          </p:sp>
        </mc:Fallback>
      </mc:AlternateContent>
      <p:sp>
        <p:nvSpPr>
          <p:cNvPr id="22" name="Freeform: Shape 21"/>
          <p:cNvSpPr/>
          <p:nvPr/>
        </p:nvSpPr>
        <p:spPr>
          <a:xfrm>
            <a:off x="1127051" y="2945217"/>
            <a:ext cx="2328530" cy="2381693"/>
          </a:xfrm>
          <a:custGeom>
            <a:avLst/>
            <a:gdLst>
              <a:gd name="connsiteX0" fmla="*/ 0 w 2256909"/>
              <a:gd name="connsiteY0" fmla="*/ 2392325 h 2392325"/>
              <a:gd name="connsiteX1" fmla="*/ 563525 w 2256909"/>
              <a:gd name="connsiteY1" fmla="*/ 1435395 h 2392325"/>
              <a:gd name="connsiteX2" fmla="*/ 1212111 w 2256909"/>
              <a:gd name="connsiteY2" fmla="*/ 1903228 h 2392325"/>
              <a:gd name="connsiteX3" fmla="*/ 2094614 w 2256909"/>
              <a:gd name="connsiteY3" fmla="*/ 520995 h 2392325"/>
              <a:gd name="connsiteX4" fmla="*/ 2254102 w 2256909"/>
              <a:gd name="connsiteY4" fmla="*/ 0 h 2392325"/>
              <a:gd name="connsiteX0" fmla="*/ 0 w 2329125"/>
              <a:gd name="connsiteY0" fmla="*/ 2381693 h 2381693"/>
              <a:gd name="connsiteX1" fmla="*/ 563525 w 2329125"/>
              <a:gd name="connsiteY1" fmla="*/ 1424763 h 2381693"/>
              <a:gd name="connsiteX2" fmla="*/ 1212111 w 2329125"/>
              <a:gd name="connsiteY2" fmla="*/ 1892596 h 2381693"/>
              <a:gd name="connsiteX3" fmla="*/ 2094614 w 2329125"/>
              <a:gd name="connsiteY3" fmla="*/ 510363 h 2381693"/>
              <a:gd name="connsiteX4" fmla="*/ 2328530 w 2329125"/>
              <a:gd name="connsiteY4" fmla="*/ 0 h 2381693"/>
              <a:gd name="connsiteX0" fmla="*/ 0 w 2328530"/>
              <a:gd name="connsiteY0" fmla="*/ 2381693 h 2381693"/>
              <a:gd name="connsiteX1" fmla="*/ 563525 w 2328530"/>
              <a:gd name="connsiteY1" fmla="*/ 1424763 h 2381693"/>
              <a:gd name="connsiteX2" fmla="*/ 1212111 w 2328530"/>
              <a:gd name="connsiteY2" fmla="*/ 1892596 h 2381693"/>
              <a:gd name="connsiteX3" fmla="*/ 2094614 w 2328530"/>
              <a:gd name="connsiteY3" fmla="*/ 510363 h 2381693"/>
              <a:gd name="connsiteX4" fmla="*/ 2328530 w 2328530"/>
              <a:gd name="connsiteY4" fmla="*/ 0 h 23816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8530" h="2381693">
                <a:moveTo>
                  <a:pt x="0" y="2381693"/>
                </a:moveTo>
                <a:cubicBezTo>
                  <a:pt x="180753" y="1943986"/>
                  <a:pt x="361507" y="1506279"/>
                  <a:pt x="563525" y="1424763"/>
                </a:cubicBezTo>
                <a:cubicBezTo>
                  <a:pt x="765543" y="1343247"/>
                  <a:pt x="956930" y="2044996"/>
                  <a:pt x="1212111" y="1892596"/>
                </a:cubicBezTo>
                <a:cubicBezTo>
                  <a:pt x="1467293" y="1740196"/>
                  <a:pt x="1908544" y="825796"/>
                  <a:pt x="2094614" y="510363"/>
                </a:cubicBezTo>
                <a:cubicBezTo>
                  <a:pt x="2280684" y="194930"/>
                  <a:pt x="2250557" y="197589"/>
                  <a:pt x="2328530"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Freeform: Shape 22"/>
          <p:cNvSpPr/>
          <p:nvPr/>
        </p:nvSpPr>
        <p:spPr>
          <a:xfrm>
            <a:off x="318977" y="4476307"/>
            <a:ext cx="1339702" cy="1212111"/>
          </a:xfrm>
          <a:custGeom>
            <a:avLst/>
            <a:gdLst>
              <a:gd name="connsiteX0" fmla="*/ 0 w 1339702"/>
              <a:gd name="connsiteY0" fmla="*/ 0 h 1212111"/>
              <a:gd name="connsiteX1" fmla="*/ 861237 w 1339702"/>
              <a:gd name="connsiteY1" fmla="*/ 244549 h 1212111"/>
              <a:gd name="connsiteX2" fmla="*/ 1254642 w 1339702"/>
              <a:gd name="connsiteY2" fmla="*/ 765544 h 1212111"/>
              <a:gd name="connsiteX3" fmla="*/ 1339702 w 1339702"/>
              <a:gd name="connsiteY3" fmla="*/ 1212111 h 1212111"/>
            </a:gdLst>
            <a:ahLst/>
            <a:cxnLst>
              <a:cxn ang="0">
                <a:pos x="connsiteX0" y="connsiteY0"/>
              </a:cxn>
              <a:cxn ang="0">
                <a:pos x="connsiteX1" y="connsiteY1"/>
              </a:cxn>
              <a:cxn ang="0">
                <a:pos x="connsiteX2" y="connsiteY2"/>
              </a:cxn>
              <a:cxn ang="0">
                <a:pos x="connsiteX3" y="connsiteY3"/>
              </a:cxn>
            </a:cxnLst>
            <a:rect l="l" t="t" r="r" b="b"/>
            <a:pathLst>
              <a:path w="1339702" h="1212111">
                <a:moveTo>
                  <a:pt x="0" y="0"/>
                </a:moveTo>
                <a:cubicBezTo>
                  <a:pt x="326065" y="58479"/>
                  <a:pt x="652130" y="116958"/>
                  <a:pt x="861237" y="244549"/>
                </a:cubicBezTo>
                <a:cubicBezTo>
                  <a:pt x="1070344" y="372140"/>
                  <a:pt x="1174898" y="604284"/>
                  <a:pt x="1254642" y="765544"/>
                </a:cubicBezTo>
                <a:cubicBezTo>
                  <a:pt x="1334386" y="926804"/>
                  <a:pt x="1337044" y="1069457"/>
                  <a:pt x="1339702" y="1212111"/>
                </a:cubicBezTo>
              </a:path>
            </a:pathLst>
          </a:custGeom>
          <a:ln w="19050"/>
        </p:spPr>
        <p:style>
          <a:lnRef idx="1">
            <a:schemeClr val="accent6"/>
          </a:lnRef>
          <a:fillRef idx="0">
            <a:schemeClr val="accent6"/>
          </a:fillRef>
          <a:effectRef idx="0">
            <a:schemeClr val="accent6"/>
          </a:effectRef>
          <a:fontRef idx="minor">
            <a:schemeClr val="tx1"/>
          </a:fontRef>
        </p:style>
        <p:txBody>
          <a:bodyPr rtlCol="0" anchor="ctr"/>
          <a:lstStyle/>
          <a:p>
            <a:pPr algn="ctr"/>
            <a:endParaRPr lang="en-GB"/>
          </a:p>
        </p:txBody>
      </p:sp>
      <p:sp>
        <p:nvSpPr>
          <p:cNvPr id="24" name="Freeform: Shape 23"/>
          <p:cNvSpPr/>
          <p:nvPr/>
        </p:nvSpPr>
        <p:spPr>
          <a:xfrm>
            <a:off x="1796903" y="2838893"/>
            <a:ext cx="1839432" cy="1435395"/>
          </a:xfrm>
          <a:custGeom>
            <a:avLst/>
            <a:gdLst>
              <a:gd name="connsiteX0" fmla="*/ 0 w 1839432"/>
              <a:gd name="connsiteY0" fmla="*/ 0 h 1435395"/>
              <a:gd name="connsiteX1" fmla="*/ 372139 w 1839432"/>
              <a:gd name="connsiteY1" fmla="*/ 1137684 h 1435395"/>
              <a:gd name="connsiteX2" fmla="*/ 1839432 w 1839432"/>
              <a:gd name="connsiteY2" fmla="*/ 1435395 h 1435395"/>
            </a:gdLst>
            <a:ahLst/>
            <a:cxnLst>
              <a:cxn ang="0">
                <a:pos x="connsiteX0" y="connsiteY0"/>
              </a:cxn>
              <a:cxn ang="0">
                <a:pos x="connsiteX1" y="connsiteY1"/>
              </a:cxn>
              <a:cxn ang="0">
                <a:pos x="connsiteX2" y="connsiteY2"/>
              </a:cxn>
            </a:cxnLst>
            <a:rect l="l" t="t" r="r" b="b"/>
            <a:pathLst>
              <a:path w="1839432" h="1435395">
                <a:moveTo>
                  <a:pt x="0" y="0"/>
                </a:moveTo>
                <a:cubicBezTo>
                  <a:pt x="32783" y="449226"/>
                  <a:pt x="65567" y="898452"/>
                  <a:pt x="372139" y="1137684"/>
                </a:cubicBezTo>
                <a:cubicBezTo>
                  <a:pt x="678711" y="1376916"/>
                  <a:pt x="1259071" y="1406155"/>
                  <a:pt x="1839432" y="1435395"/>
                </a:cubicBezTo>
              </a:path>
            </a:pathLst>
          </a:custGeom>
          <a:ln w="19050"/>
        </p:spPr>
        <p:style>
          <a:lnRef idx="1">
            <a:schemeClr val="accent6"/>
          </a:lnRef>
          <a:fillRef idx="0">
            <a:schemeClr val="accent6"/>
          </a:fillRef>
          <a:effectRef idx="0">
            <a:schemeClr val="accent6"/>
          </a:effectRef>
          <a:fontRef idx="minor">
            <a:schemeClr val="tx1"/>
          </a:fontRef>
        </p:style>
        <p:txBody>
          <a:bodyPr rtlCol="0" anchor="ctr"/>
          <a:lstStyle/>
          <a:p>
            <a:pPr algn="ctr"/>
            <a:endParaRPr lang="en-GB"/>
          </a:p>
        </p:txBody>
      </p:sp>
      <mc:AlternateContent xmlns:mc="http://schemas.openxmlformats.org/markup-compatibility/2006">
        <mc:Choice xmlns:a14="http://schemas.microsoft.com/office/drawing/2010/main" Requires="a14">
          <p:sp>
            <p:nvSpPr>
              <p:cNvPr id="25" name="TextBox 24"/>
              <p:cNvSpPr txBox="1"/>
              <p:nvPr/>
            </p:nvSpPr>
            <p:spPr>
              <a:xfrm>
                <a:off x="2254103" y="5592723"/>
                <a:ext cx="3104706" cy="811441"/>
              </a:xfrm>
              <a:prstGeom prst="rect">
                <a:avLst/>
              </a:prstGeom>
              <a:noFill/>
            </p:spPr>
            <p:txBody>
              <a:bodyPr wrap="square" rtlCol="0">
                <a:spAutoFit/>
              </a:bodyPr>
              <a:lstStyle/>
              <a:p>
                <a:r>
                  <a:rPr lang="en-GB" sz="1400"/>
                  <a:t>If </a:t>
                </a:r>
                <a14:m>
                  <m:oMath xmlns:m="http://schemas.openxmlformats.org/officeDocument/2006/math">
                    <m:sSup>
                      <m:sSupPr>
                        <m:ctrlPr>
                          <a:rPr lang="en-GB" sz="1400" b="0" i="1" smtClean="0">
                            <a:latin typeface="Cambria Math" panose="02040503050406030204" pitchFamily="18" charset="0"/>
                          </a:rPr>
                        </m:ctrlPr>
                      </m:sSupPr>
                      <m:e>
                        <m:r>
                          <a:rPr lang="en-GB" sz="1400" b="0" i="1" smtClean="0">
                            <a:latin typeface="Cambria Math" panose="02040503050406030204" pitchFamily="18" charset="0"/>
                          </a:rPr>
                          <m:t>𝑥</m:t>
                        </m:r>
                      </m:e>
                      <m:sup>
                        <m:r>
                          <a:rPr lang="en-GB" sz="1400" b="0" i="1" smtClean="0">
                            <a:latin typeface="Cambria Math" panose="02040503050406030204" pitchFamily="18" charset="0"/>
                          </a:rPr>
                          <m:t>2</m:t>
                        </m:r>
                      </m:sup>
                    </m:sSup>
                    <m:d>
                      <m:dPr>
                        <m:ctrlPr>
                          <a:rPr lang="en-GB" sz="1400" b="0" i="1" smtClean="0">
                            <a:latin typeface="Cambria Math" panose="02040503050406030204" pitchFamily="18" charset="0"/>
                          </a:rPr>
                        </m:ctrlPr>
                      </m:dPr>
                      <m:e>
                        <m:r>
                          <a:rPr lang="en-GB" sz="1400" b="0" i="1" smtClean="0">
                            <a:latin typeface="Cambria Math" panose="02040503050406030204" pitchFamily="18" charset="0"/>
                          </a:rPr>
                          <m:t>3</m:t>
                        </m:r>
                        <m:r>
                          <a:rPr lang="en-GB" sz="1400" b="0" i="1" smtClean="0">
                            <a:latin typeface="Cambria Math" panose="02040503050406030204" pitchFamily="18" charset="0"/>
                          </a:rPr>
                          <m:t>𝑥</m:t>
                        </m:r>
                        <m:r>
                          <a:rPr lang="en-GB" sz="1400" b="0" i="1" smtClean="0">
                            <a:latin typeface="Cambria Math" panose="02040503050406030204" pitchFamily="18" charset="0"/>
                          </a:rPr>
                          <m:t>−</m:t>
                        </m:r>
                        <m:r>
                          <a:rPr lang="en-GB" sz="1400" b="0" i="1" smtClean="0">
                            <a:latin typeface="Cambria Math" panose="02040503050406030204" pitchFamily="18" charset="0"/>
                          </a:rPr>
                          <m:t>𝑎</m:t>
                        </m:r>
                      </m:e>
                    </m:d>
                    <m:r>
                      <a:rPr lang="en-GB" sz="1400" b="0" i="1" smtClean="0">
                        <a:latin typeface="Cambria Math" panose="02040503050406030204" pitchFamily="18" charset="0"/>
                      </a:rPr>
                      <m:t>=0</m:t>
                    </m:r>
                  </m:oMath>
                </a14:m>
                <a:r>
                  <a:rPr lang="en-GB" sz="1400"/>
                  <a:t> then </a:t>
                </a:r>
                <a14:m>
                  <m:oMath xmlns:m="http://schemas.openxmlformats.org/officeDocument/2006/math">
                    <m:r>
                      <a:rPr lang="en-GB" sz="1400" b="0" i="1" smtClean="0">
                        <a:latin typeface="Cambria Math" panose="02040503050406030204" pitchFamily="18" charset="0"/>
                      </a:rPr>
                      <m:t>𝑥</m:t>
                    </m:r>
                    <m:r>
                      <a:rPr lang="en-GB" sz="1400" b="0" i="1" smtClean="0">
                        <a:latin typeface="Cambria Math" panose="02040503050406030204" pitchFamily="18" charset="0"/>
                      </a:rPr>
                      <m:t>=0</m:t>
                    </m:r>
                  </m:oMath>
                </a14:m>
                <a:r>
                  <a:rPr lang="en-GB" sz="1400"/>
                  <a:t> or </a:t>
                </a:r>
                <a14:m>
                  <m:oMath xmlns:m="http://schemas.openxmlformats.org/officeDocument/2006/math">
                    <m:r>
                      <a:rPr lang="en-GB" sz="1400" b="0" i="1" smtClean="0">
                        <a:latin typeface="Cambria Math" panose="02040503050406030204" pitchFamily="18" charset="0"/>
                      </a:rPr>
                      <m:t>𝑥</m:t>
                    </m:r>
                    <m:r>
                      <a:rPr lang="en-GB" sz="1400" b="0" i="1" smtClean="0">
                        <a:latin typeface="Cambria Math" panose="02040503050406030204" pitchFamily="18" charset="0"/>
                      </a:rPr>
                      <m:t>=</m:t>
                    </m:r>
                    <m:f>
                      <m:fPr>
                        <m:ctrlPr>
                          <a:rPr lang="en-GB" sz="1400" b="0" i="1" smtClean="0">
                            <a:latin typeface="Cambria Math" panose="02040503050406030204" pitchFamily="18" charset="0"/>
                          </a:rPr>
                        </m:ctrlPr>
                      </m:fPr>
                      <m:num>
                        <m:r>
                          <a:rPr lang="en-GB" sz="1400" b="0" i="1" smtClean="0">
                            <a:latin typeface="Cambria Math" panose="02040503050406030204" pitchFamily="18" charset="0"/>
                          </a:rPr>
                          <m:t>𝑎</m:t>
                        </m:r>
                      </m:num>
                      <m:den>
                        <m:r>
                          <a:rPr lang="en-GB" sz="1400" b="0" i="1" smtClean="0">
                            <a:latin typeface="Cambria Math" panose="02040503050406030204" pitchFamily="18" charset="0"/>
                          </a:rPr>
                          <m:t>3</m:t>
                        </m:r>
                      </m:den>
                    </m:f>
                  </m:oMath>
                </a14:m>
                <a:endParaRPr lang="en-GB" sz="1400"/>
              </a:p>
              <a:p>
                <a:r>
                  <a:rPr lang="en-GB" sz="1400"/>
                  <a:t>We were told that </a:t>
                </a:r>
                <a14:m>
                  <m:oMath xmlns:m="http://schemas.openxmlformats.org/officeDocument/2006/math">
                    <m:r>
                      <a:rPr lang="en-GB" sz="1400" b="0" i="1" smtClean="0">
                        <a:latin typeface="Cambria Math" panose="02040503050406030204" pitchFamily="18" charset="0"/>
                      </a:rPr>
                      <m:t>𝑎</m:t>
                    </m:r>
                  </m:oMath>
                </a14:m>
                <a:r>
                  <a:rPr lang="en-GB" sz="1400"/>
                  <a:t> is positive, thus this latter root is positive.</a:t>
                </a:r>
              </a:p>
            </p:txBody>
          </p:sp>
        </mc:Choice>
        <mc:Fallback>
          <p:sp>
            <p:nvSpPr>
              <p:cNvPr id="25" name="TextBox 24"/>
              <p:cNvSpPr txBox="1">
                <a:spLocks noRot="1" noChangeAspect="1" noMove="1" noResize="1" noEditPoints="1" noAdjustHandles="1" noChangeArrowheads="1" noChangeShapeType="1" noTextEdit="1"/>
              </p:cNvSpPr>
              <p:nvPr/>
            </p:nvSpPr>
            <p:spPr>
              <a:xfrm>
                <a:off x="2254103" y="5592723"/>
                <a:ext cx="3104706" cy="811441"/>
              </a:xfrm>
              <a:prstGeom prst="rect">
                <a:avLst/>
              </a:prstGeom>
              <a:blipFill>
                <a:blip r:embed="rId8"/>
                <a:stretch>
                  <a:fillRect l="-408" r="-2041" b="-6154"/>
                </a:stretch>
              </a:blipFill>
            </p:spPr>
            <p:txBody>
              <a:bodyPr/>
              <a:lstStyle/>
              <a:p>
                <a:r>
                  <a:rPr lang="en-US">
                    <a:noFill/>
                  </a:rPr>
                  <a:t> </a:t>
                </a:r>
              </a:p>
            </p:txBody>
          </p:sp>
        </mc:Fallback>
      </mc:AlternateContent>
      <p:cxnSp>
        <p:nvCxnSpPr>
          <p:cNvPr id="27" name="Straight Arrow Connector 26"/>
          <p:cNvCxnSpPr>
            <a:endCxn id="15" idx="3"/>
          </p:cNvCxnSpPr>
          <p:nvPr/>
        </p:nvCxnSpPr>
        <p:spPr>
          <a:xfrm flipH="1" flipV="1">
            <a:off x="2892057" y="4655754"/>
            <a:ext cx="712380" cy="883809"/>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29" name="TextBox 28"/>
              <p:cNvSpPr txBox="1"/>
              <p:nvPr/>
            </p:nvSpPr>
            <p:spPr>
              <a:xfrm>
                <a:off x="4644007" y="2492896"/>
                <a:ext cx="4116421" cy="2529154"/>
              </a:xfrm>
              <a:prstGeom prst="rect">
                <a:avLst/>
              </a:prstGeom>
              <a:noFill/>
            </p:spPr>
            <p:txBody>
              <a:bodyPr wrap="square" rtlCol="0">
                <a:spAutoFit/>
              </a:bodyPr>
              <a:lstStyle/>
              <a:p>
                <a:r>
                  <a:rPr lang="en-GB"/>
                  <a:t>If the points of intersection are given by:</a:t>
                </a:r>
              </a:p>
              <a:p>
                <a:pPr/>
                <a14:m>
                  <m:oMathPara xmlns:m="http://schemas.openxmlformats.org/officeDocument/2006/math">
                    <m:oMath>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2</m:t>
                          </m:r>
                        </m:sup>
                      </m:sSup>
                      <m:d>
                        <m:dPr>
                          <m:ctrlPr>
                            <a:rPr lang="en-GB" b="0" i="1" smtClean="0">
                              <a:latin typeface="Cambria Math" panose="02040503050406030204" pitchFamily="18" charset="0"/>
                            </a:rPr>
                          </m:ctrlPr>
                        </m:dPr>
                        <m:e>
                          <m:r>
                            <a:rPr lang="en-GB" b="0" i="1" smtClean="0">
                              <a:latin typeface="Cambria Math" panose="02040503050406030204" pitchFamily="18" charset="0"/>
                            </a:rPr>
                            <m:t>3</m:t>
                          </m:r>
                          <m:r>
                            <a:rPr lang="en-GB" b="0" i="1" smtClean="0">
                              <a:latin typeface="Cambria Math" panose="02040503050406030204" pitchFamily="18" charset="0"/>
                            </a:rPr>
                            <m:t>𝑥</m:t>
                          </m:r>
                          <m:r>
                            <a:rPr lang="en-GB" b="0" i="1" smtClean="0">
                              <a:latin typeface="Cambria Math" panose="02040503050406030204" pitchFamily="18" charset="0"/>
                            </a:rPr>
                            <m:t>−</m:t>
                          </m:r>
                          <m:r>
                            <a:rPr lang="en-GB" b="0" i="1" smtClean="0">
                              <a:latin typeface="Cambria Math" panose="02040503050406030204" pitchFamily="18" charset="0"/>
                            </a:rPr>
                            <m:t>𝑎</m:t>
                          </m:r>
                        </m:e>
                      </m:d>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𝑏</m:t>
                          </m:r>
                        </m:num>
                        <m:den>
                          <m:r>
                            <a:rPr lang="en-GB" b="0" i="1" smtClean="0">
                              <a:latin typeface="Cambria Math" panose="02040503050406030204" pitchFamily="18" charset="0"/>
                            </a:rPr>
                            <m:t>𝑥</m:t>
                          </m:r>
                        </m:den>
                      </m:f>
                    </m:oMath>
                  </m:oMathPara>
                </a14:m>
                <a:endParaRPr lang="en-GB"/>
              </a:p>
              <a:p>
                <a:r>
                  <a:rPr lang="en-GB"/>
                  <a:t>then clearly:</a:t>
                </a:r>
              </a:p>
              <a:p>
                <a:pPr/>
                <a14:m>
                  <m:oMathPara xmlns:m="http://schemas.openxmlformats.org/officeDocument/2006/math">
                    <m:oMath>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2</m:t>
                          </m:r>
                        </m:sup>
                      </m:sSup>
                      <m:d>
                        <m:dPr>
                          <m:ctrlPr>
                            <a:rPr lang="en-GB" b="0" i="1" smtClean="0">
                              <a:latin typeface="Cambria Math" panose="02040503050406030204" pitchFamily="18" charset="0"/>
                            </a:rPr>
                          </m:ctrlPr>
                        </m:dPr>
                        <m:e>
                          <m:r>
                            <a:rPr lang="en-GB" b="0" i="1" smtClean="0">
                              <a:latin typeface="Cambria Math" panose="02040503050406030204" pitchFamily="18" charset="0"/>
                            </a:rPr>
                            <m:t>3</m:t>
                          </m:r>
                          <m:r>
                            <a:rPr lang="en-GB" b="0" i="1" smtClean="0">
                              <a:latin typeface="Cambria Math" panose="02040503050406030204" pitchFamily="18" charset="0"/>
                            </a:rPr>
                            <m:t>𝑥</m:t>
                          </m:r>
                          <m:r>
                            <a:rPr lang="en-GB" b="0" i="1" smtClean="0">
                              <a:latin typeface="Cambria Math" panose="02040503050406030204" pitchFamily="18" charset="0"/>
                            </a:rPr>
                            <m:t>−</m:t>
                          </m:r>
                          <m:r>
                            <a:rPr lang="en-GB" b="0" i="1" smtClean="0">
                              <a:latin typeface="Cambria Math" panose="02040503050406030204" pitchFamily="18" charset="0"/>
                            </a:rPr>
                            <m:t>𝑎</m:t>
                          </m:r>
                        </m:e>
                      </m:d>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𝑏</m:t>
                          </m:r>
                        </m:num>
                        <m:den>
                          <m:r>
                            <a:rPr lang="en-GB" b="0" i="1" smtClean="0">
                              <a:latin typeface="Cambria Math" panose="02040503050406030204" pitchFamily="18" charset="0"/>
                            </a:rPr>
                            <m:t>𝑥</m:t>
                          </m:r>
                        </m:den>
                      </m:f>
                      <m:r>
                        <a:rPr lang="en-GB" b="0" i="1" smtClean="0">
                          <a:latin typeface="Cambria Math" panose="02040503050406030204" pitchFamily="18" charset="0"/>
                        </a:rPr>
                        <m:t>=0</m:t>
                      </m:r>
                    </m:oMath>
                  </m:oMathPara>
                </a14:m>
                <a:endParaRPr lang="en-GB"/>
              </a:p>
              <a:p>
                <a:r>
                  <a:rPr lang="en-GB"/>
                  <a:t>There are 2 points of intersection, thus </a:t>
                </a:r>
                <a:r>
                  <a:rPr lang="en-GB" b="1"/>
                  <a:t>2 solutions to this equation</a:t>
                </a:r>
                <a:r>
                  <a:rPr lang="en-GB"/>
                  <a:t>.</a:t>
                </a:r>
              </a:p>
              <a:p>
                <a:endParaRPr lang="en-GB"/>
              </a:p>
            </p:txBody>
          </p:sp>
        </mc:Choice>
        <mc:Fallback>
          <p:sp>
            <p:nvSpPr>
              <p:cNvPr id="29" name="TextBox 28"/>
              <p:cNvSpPr txBox="1">
                <a:spLocks noRot="1" noChangeAspect="1" noMove="1" noResize="1" noEditPoints="1" noAdjustHandles="1" noChangeArrowheads="1" noChangeShapeType="1" noTextEdit="1"/>
              </p:cNvSpPr>
              <p:nvPr/>
            </p:nvSpPr>
            <p:spPr>
              <a:xfrm>
                <a:off x="4644007" y="2492896"/>
                <a:ext cx="4116421" cy="2529154"/>
              </a:xfrm>
              <a:prstGeom prst="rect">
                <a:avLst/>
              </a:prstGeom>
              <a:blipFill>
                <a:blip r:embed="rId9"/>
                <a:stretch>
                  <a:fillRect l="-1231" t="-15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0" name="TextBox 29"/>
              <p:cNvSpPr txBox="1"/>
              <p:nvPr/>
            </p:nvSpPr>
            <p:spPr>
              <a:xfrm>
                <a:off x="5873937" y="5029601"/>
                <a:ext cx="3063234" cy="1654228"/>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sz="1400" b="1"/>
                  <a:t>Note</a:t>
                </a:r>
                <a:r>
                  <a:rPr lang="en-GB" sz="1400"/>
                  <a:t>: Note that the question is asking for the number of solutions, not the solutions themselves. We’d have to solve a quartic, with roots in terms of </a:t>
                </a:r>
                <a14:m>
                  <m:oMath xmlns:m="http://schemas.openxmlformats.org/officeDocument/2006/math">
                    <m:r>
                      <a:rPr lang="en-GB" sz="1400" b="0" i="1" smtClean="0">
                        <a:latin typeface="Cambria Math" panose="02040503050406030204" pitchFamily="18" charset="0"/>
                      </a:rPr>
                      <m:t>𝑎</m:t>
                    </m:r>
                  </m:oMath>
                </a14:m>
                <a:r>
                  <a:rPr lang="en-GB" sz="1400"/>
                  <a:t> and </a:t>
                </a:r>
                <a14:m>
                  <m:oMath xmlns:m="http://schemas.openxmlformats.org/officeDocument/2006/math">
                    <m:r>
                      <a:rPr lang="en-GB" sz="1400" b="0" i="1" smtClean="0">
                        <a:latin typeface="Cambria Math" panose="02040503050406030204" pitchFamily="18" charset="0"/>
                      </a:rPr>
                      <m:t>𝑏</m:t>
                    </m:r>
                  </m:oMath>
                </a14:m>
                <a:r>
                  <a:rPr lang="en-GB" sz="1400"/>
                  <a:t>. While there is a ‘quartic formula’ (like the quadratic formula), it is absolutely horrific.</a:t>
                </a:r>
              </a:p>
            </p:txBody>
          </p:sp>
        </mc:Choice>
        <mc:Fallback>
          <p:sp>
            <p:nvSpPr>
              <p:cNvPr id="30" name="TextBox 29"/>
              <p:cNvSpPr txBox="1">
                <a:spLocks noRot="1" noChangeAspect="1" noMove="1" noResize="1" noEditPoints="1" noAdjustHandles="1" noChangeArrowheads="1" noChangeShapeType="1" noTextEdit="1"/>
              </p:cNvSpPr>
              <p:nvPr/>
            </p:nvSpPr>
            <p:spPr>
              <a:xfrm>
                <a:off x="5873937" y="5029601"/>
                <a:ext cx="3063234" cy="1654228"/>
              </a:xfrm>
              <a:prstGeom prst="rect">
                <a:avLst/>
              </a:prstGeom>
              <a:blipFill>
                <a:blip r:embed="rId10"/>
                <a:stretch>
                  <a:fillRect l="-410" r="-1230"/>
                </a:stretch>
              </a:blipFill>
            </p:spPr>
            <p:txBody>
              <a:bodyPr/>
              <a:lstStyle/>
              <a:p>
                <a:r>
                  <a:rPr lang="en-US">
                    <a:noFill/>
                  </a:rPr>
                  <a:t> </a:t>
                </a:r>
              </a:p>
            </p:txBody>
          </p:sp>
        </mc:Fallback>
      </mc:AlternateContent>
      <p:cxnSp>
        <p:nvCxnSpPr>
          <p:cNvPr id="32" name="Straight Arrow Connector 31"/>
          <p:cNvCxnSpPr>
            <a:cxnSpLocks/>
            <a:stCxn id="30" idx="0"/>
          </p:cNvCxnSpPr>
          <p:nvPr/>
        </p:nvCxnSpPr>
        <p:spPr>
          <a:xfrm flipH="1" flipV="1">
            <a:off x="6948264" y="4725144"/>
            <a:ext cx="457290" cy="30445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3" name="Rectangle 32"/>
          <p:cNvSpPr/>
          <p:nvPr/>
        </p:nvSpPr>
        <p:spPr>
          <a:xfrm>
            <a:off x="269903" y="2244745"/>
            <a:ext cx="8753475" cy="4480021"/>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Tree>
    <p:extLst>
      <p:ext uri="{BB962C8B-B14F-4D97-AF65-F5344CB8AC3E}">
        <p14:creationId xmlns:p14="http://schemas.microsoft.com/office/powerpoint/2010/main" val="2358550813"/>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33"/>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33"/>
                                        </p:tgtEl>
                                      </p:cBhvr>
                                    </p:animEffect>
                                    <p:set>
                                      <p:cBhvr>
                                        <p:cTn id="7" dur="1" fill="hold">
                                          <p:stCondLst>
                                            <p:cond delay="499"/>
                                          </p:stCondLst>
                                        </p:cTn>
                                        <p:tgtEl>
                                          <p:spTgt spid="33"/>
                                        </p:tgtEl>
                                        <p:attrNameLst>
                                          <p:attrName>style.visibility</p:attrName>
                                        </p:attrNameLst>
                                      </p:cBhvr>
                                      <p:to>
                                        <p:strVal val="hidden"/>
                                      </p:to>
                                    </p:set>
                                  </p:childTnLst>
                                </p:cTn>
                              </p:par>
                            </p:childTnLst>
                          </p:cTn>
                        </p:par>
                      </p:childTnLst>
                    </p:cTn>
                  </p:par>
                </p:childTnLst>
              </p:cTn>
              <p:nextCondLst>
                <p:cond evt="onClick" delay="0">
                  <p:tgtEl>
                    <p:spTgt spid="33"/>
                  </p:tgtEl>
                </p:cond>
              </p:nextCondLst>
            </p:seq>
          </p:childTnLst>
        </p:cTn>
      </p:par>
    </p:tnLst>
    <p:bldLst>
      <p:bldP spid="33"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vert="horz" wrap="square" lIns="324000" tIns="45720" rIns="91440" bIns="45720" rtlCol="0" anchor="ctr">
              <a:spAutoFit/>
            </a:bodyPr>
            <a:lstStyle>
              <a:defPPr>
                <a:defRPr lang="en-US"/>
              </a:defPPr>
              <a:lvl1pPr>
                <a:spcBef>
                  <a:spcPct val="0"/>
                </a:spcBef>
                <a:buNone/>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a:t>Test Your Understanding</a:t>
              </a:r>
            </a:p>
          </p:txBody>
        </p:sp>
        <p:cxnSp>
          <p:nvCxnSpPr>
            <p:cNvPr id="4" name="Straight Connector 3"/>
            <p:cNvCxnSpPr/>
            <p:nvPr/>
          </p:nvCxnSpPr>
          <p:spPr>
            <a:xfrm>
              <a:off x="218" y="601079"/>
              <a:ext cx="9144000" cy="0"/>
            </a:xfrm>
            <a:prstGeom prst="line">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mc:Choice xmlns:a14="http://schemas.microsoft.com/office/drawing/2010/main" Requires="a14">
          <p:sp>
            <p:nvSpPr>
              <p:cNvPr id="5" name="TextBox 4"/>
              <p:cNvSpPr txBox="1"/>
              <p:nvPr/>
            </p:nvSpPr>
            <p:spPr>
              <a:xfrm>
                <a:off x="251520" y="790951"/>
                <a:ext cx="7416824" cy="646331"/>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a:t>On the same diagram sketch the curves with equations </a:t>
                </a:r>
                <a14:m>
                  <m:oMath xmlns:m="http://schemas.openxmlformats.org/officeDocument/2006/math">
                    <m:r>
                      <a:rPr lang="en-GB" b="0" i="1" smtClean="0">
                        <a:latin typeface="Cambria Math" panose="02040503050406030204" pitchFamily="18" charset="0"/>
                      </a:rPr>
                      <m:t>𝑦</m:t>
                    </m:r>
                    <m:r>
                      <a:rPr lang="en-GB" b="0" i="1" smtClean="0">
                        <a:latin typeface="Cambria Math" panose="02040503050406030204" pitchFamily="18" charset="0"/>
                      </a:rPr>
                      <m:t>=</m:t>
                    </m:r>
                    <m:r>
                      <a:rPr lang="en-GB" b="0" i="1" smtClean="0">
                        <a:latin typeface="Cambria Math" panose="02040503050406030204" pitchFamily="18" charset="0"/>
                      </a:rPr>
                      <m:t>𝑥</m:t>
                    </m:r>
                    <m:r>
                      <a:rPr lang="en-GB" b="0" i="1" smtClean="0">
                        <a:latin typeface="Cambria Math" panose="02040503050406030204" pitchFamily="18" charset="0"/>
                      </a:rPr>
                      <m:t>(</m:t>
                    </m:r>
                    <m:r>
                      <a:rPr lang="en-GB" b="0" i="1" smtClean="0">
                        <a:latin typeface="Cambria Math" panose="02040503050406030204" pitchFamily="18" charset="0"/>
                      </a:rPr>
                      <m:t>𝑥</m:t>
                    </m:r>
                    <m:r>
                      <a:rPr lang="en-GB" b="0" i="1" smtClean="0">
                        <a:latin typeface="Cambria Math" panose="02040503050406030204" pitchFamily="18" charset="0"/>
                      </a:rPr>
                      <m:t>−4)</m:t>
                    </m:r>
                  </m:oMath>
                </a14:m>
                <a:r>
                  <a:rPr lang="en-GB"/>
                  <a:t> and </a:t>
                </a:r>
                <a14:m>
                  <m:oMath xmlns:m="http://schemas.openxmlformats.org/officeDocument/2006/math">
                    <m:r>
                      <a:rPr lang="en-GB" b="0" i="1" smtClean="0">
                        <a:latin typeface="Cambria Math" panose="02040503050406030204" pitchFamily="18" charset="0"/>
                      </a:rPr>
                      <m:t>𝑦</m:t>
                    </m:r>
                    <m:r>
                      <a:rPr lang="en-GB" b="0" i="1" smtClean="0">
                        <a:latin typeface="Cambria Math" panose="02040503050406030204" pitchFamily="18" charset="0"/>
                      </a:rPr>
                      <m:t>=</m:t>
                    </m:r>
                    <m:r>
                      <a:rPr lang="en-GB" b="0" i="1" smtClean="0">
                        <a:latin typeface="Cambria Math" panose="02040503050406030204" pitchFamily="18" charset="0"/>
                      </a:rPr>
                      <m:t>𝑥</m:t>
                    </m:r>
                    <m:sSup>
                      <m:sSupPr>
                        <m:ctrlPr>
                          <a:rPr lang="en-GB" b="0" i="1" smtClean="0">
                            <a:latin typeface="Cambria Math" panose="02040503050406030204" pitchFamily="18" charset="0"/>
                          </a:rPr>
                        </m:ctrlPr>
                      </m:sSupPr>
                      <m:e>
                        <m:d>
                          <m:dPr>
                            <m:ctrlPr>
                              <a:rPr lang="en-GB" b="0" i="1" smtClean="0">
                                <a:latin typeface="Cambria Math" panose="02040503050406030204" pitchFamily="18" charset="0"/>
                              </a:rPr>
                            </m:ctrlPr>
                          </m:dPr>
                          <m:e>
                            <m:r>
                              <a:rPr lang="en-GB" b="0" i="1" smtClean="0">
                                <a:latin typeface="Cambria Math" panose="02040503050406030204" pitchFamily="18" charset="0"/>
                              </a:rPr>
                              <m:t>𝑥</m:t>
                            </m:r>
                            <m:r>
                              <a:rPr lang="en-GB" b="0" i="1" smtClean="0">
                                <a:latin typeface="Cambria Math" panose="02040503050406030204" pitchFamily="18" charset="0"/>
                              </a:rPr>
                              <m:t>−2</m:t>
                            </m:r>
                          </m:e>
                        </m:d>
                      </m:e>
                      <m:sup>
                        <m:r>
                          <a:rPr lang="en-GB" b="0" i="1" smtClean="0">
                            <a:latin typeface="Cambria Math" panose="02040503050406030204" pitchFamily="18" charset="0"/>
                          </a:rPr>
                          <m:t>2</m:t>
                        </m:r>
                      </m:sup>
                    </m:sSup>
                  </m:oMath>
                </a14:m>
                <a:r>
                  <a:rPr lang="en-GB"/>
                  <a:t>, and hence find the coordinates of any points of intersection.</a:t>
                </a:r>
              </a:p>
            </p:txBody>
          </p:sp>
        </mc:Choice>
        <mc:Fallback>
          <p:sp>
            <p:nvSpPr>
              <p:cNvPr id="5" name="TextBox 4"/>
              <p:cNvSpPr txBox="1">
                <a:spLocks noRot="1" noChangeAspect="1" noMove="1" noResize="1" noEditPoints="1" noAdjustHandles="1" noChangeArrowheads="1" noChangeShapeType="1" noTextEdit="1"/>
              </p:cNvSpPr>
              <p:nvPr/>
            </p:nvSpPr>
            <p:spPr>
              <a:xfrm>
                <a:off x="251520" y="790951"/>
                <a:ext cx="7416824" cy="646331"/>
              </a:xfrm>
              <a:prstGeom prst="rect">
                <a:avLst/>
              </a:prstGeom>
              <a:blipFill>
                <a:blip r:embed="rId2"/>
                <a:stretch>
                  <a:fillRect b="-1563"/>
                </a:stretch>
              </a:blipFill>
              <a:effectLst>
                <a:outerShdw blurRad="63500" sx="102000" sy="102000" algn="ctr" rotWithShape="0">
                  <a:prstClr val="black">
                    <a:alpha val="40000"/>
                  </a:prstClr>
                </a:outerShdw>
              </a:effectLst>
            </p:spPr>
            <p:txBody>
              <a:bodyPr/>
              <a:lstStyle/>
              <a:p>
                <a:r>
                  <a:rPr lang="en-US">
                    <a:noFill/>
                  </a:rPr>
                  <a:t> </a:t>
                </a:r>
              </a:p>
            </p:txBody>
          </p:sp>
        </mc:Fallback>
      </mc:AlternateContent>
      <p:cxnSp>
        <p:nvCxnSpPr>
          <p:cNvPr id="6" name="Straight Arrow Connector 5"/>
          <p:cNvCxnSpPr/>
          <p:nvPr/>
        </p:nvCxnSpPr>
        <p:spPr>
          <a:xfrm flipV="1">
            <a:off x="309014" y="3474805"/>
            <a:ext cx="3606305" cy="1390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 name="Straight Arrow Connector 6"/>
          <p:cNvCxnSpPr/>
          <p:nvPr/>
        </p:nvCxnSpPr>
        <p:spPr>
          <a:xfrm flipH="1" flipV="1">
            <a:off x="1740657" y="2070896"/>
            <a:ext cx="37565" cy="273423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8" name="TextBox 7"/>
              <p:cNvSpPr txBox="1"/>
              <p:nvPr/>
            </p:nvSpPr>
            <p:spPr>
              <a:xfrm>
                <a:off x="1539417" y="1792802"/>
                <a:ext cx="415472" cy="276999"/>
              </a:xfrm>
              <a:prstGeom prst="rect">
                <a:avLst/>
              </a:prstGeom>
              <a:noFill/>
            </p:spPr>
            <p:txBody>
              <a:bodyPr wrap="square" rtlCol="0">
                <a:spAutoFit/>
              </a:bodyPr>
              <a:lstStyle/>
              <a:p>
                <a:pPr/>
                <a14:m>
                  <m:oMathPara xmlns:m="http://schemas.openxmlformats.org/officeDocument/2006/math">
                    <m:oMath>
                      <m:r>
                        <a:rPr lang="en-GB" sz="1200" b="0" i="1" smtClean="0">
                          <a:latin typeface="Cambria Math" panose="02040503050406030204" pitchFamily="18" charset="0"/>
                        </a:rPr>
                        <m:t>𝑦</m:t>
                      </m:r>
                    </m:oMath>
                  </m:oMathPara>
                </a14:m>
                <a:endParaRPr lang="en-GB"/>
              </a:p>
            </p:txBody>
          </p:sp>
        </mc:Choice>
        <mc:Fallback>
          <p:sp>
            <p:nvSpPr>
              <p:cNvPr id="8" name="TextBox 7"/>
              <p:cNvSpPr txBox="1">
                <a:spLocks noRot="1" noChangeAspect="1" noMove="1" noResize="1" noEditPoints="1" noAdjustHandles="1" noChangeArrowheads="1" noChangeShapeType="1" noTextEdit="1"/>
              </p:cNvSpPr>
              <p:nvPr/>
            </p:nvSpPr>
            <p:spPr>
              <a:xfrm>
                <a:off x="1539417" y="1792802"/>
                <a:ext cx="415472" cy="276999"/>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 name="TextBox 8"/>
              <p:cNvSpPr txBox="1"/>
              <p:nvPr/>
            </p:nvSpPr>
            <p:spPr>
              <a:xfrm>
                <a:off x="3797486" y="3336306"/>
                <a:ext cx="415472" cy="276999"/>
              </a:xfrm>
              <a:prstGeom prst="rect">
                <a:avLst/>
              </a:prstGeom>
              <a:noFill/>
            </p:spPr>
            <p:txBody>
              <a:bodyPr wrap="square" rtlCol="0">
                <a:spAutoFit/>
              </a:bodyPr>
              <a:lstStyle/>
              <a:p>
                <a:pPr/>
                <a14:m>
                  <m:oMathPara xmlns:m="http://schemas.openxmlformats.org/officeDocument/2006/math">
                    <m:oMath>
                      <m:r>
                        <a:rPr lang="en-GB" sz="1200" b="0" i="1" smtClean="0">
                          <a:latin typeface="Cambria Math" panose="02040503050406030204" pitchFamily="18" charset="0"/>
                        </a:rPr>
                        <m:t>𝑥</m:t>
                      </m:r>
                    </m:oMath>
                  </m:oMathPara>
                </a14:m>
                <a:endParaRPr lang="en-GB"/>
              </a:p>
            </p:txBody>
          </p:sp>
        </mc:Choice>
        <mc:Fallback>
          <p:sp>
            <p:nvSpPr>
              <p:cNvPr id="9" name="TextBox 8"/>
              <p:cNvSpPr txBox="1">
                <a:spLocks noRot="1" noChangeAspect="1" noMove="1" noResize="1" noEditPoints="1" noAdjustHandles="1" noChangeArrowheads="1" noChangeShapeType="1" noTextEdit="1"/>
              </p:cNvSpPr>
              <p:nvPr/>
            </p:nvSpPr>
            <p:spPr>
              <a:xfrm>
                <a:off x="3797486" y="3336306"/>
                <a:ext cx="415472" cy="276999"/>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 name="TextBox 9"/>
              <p:cNvSpPr txBox="1"/>
              <p:nvPr/>
            </p:nvSpPr>
            <p:spPr>
              <a:xfrm>
                <a:off x="1914179" y="3867234"/>
                <a:ext cx="1246231" cy="307777"/>
              </a:xfrm>
              <a:prstGeom prst="rect">
                <a:avLst/>
              </a:prstGeom>
              <a:noFill/>
            </p:spPr>
            <p:txBody>
              <a:bodyPr wrap="square" rtlCol="0">
                <a:spAutoFit/>
              </a:bodyPr>
              <a:lstStyle/>
              <a:p>
                <a:pPr/>
                <a14:m>
                  <m:oMathPara xmlns:m="http://schemas.openxmlformats.org/officeDocument/2006/math">
                    <m:oMath>
                      <m:r>
                        <a:rPr lang="en-GB" sz="1400" b="1" i="1" smtClean="0">
                          <a:solidFill>
                            <a:srgbClr val="002060"/>
                          </a:solidFill>
                          <a:latin typeface="Cambria Math" panose="02040503050406030204" pitchFamily="18" charset="0"/>
                        </a:rPr>
                        <m:t>𝒚</m:t>
                      </m:r>
                      <m:r>
                        <a:rPr lang="en-GB" sz="1400" b="1" i="1" smtClean="0">
                          <a:solidFill>
                            <a:srgbClr val="002060"/>
                          </a:solidFill>
                          <a:latin typeface="Cambria Math" panose="02040503050406030204" pitchFamily="18" charset="0"/>
                        </a:rPr>
                        <m:t>=</m:t>
                      </m:r>
                      <m:r>
                        <a:rPr lang="en-GB" sz="1400" b="1" i="1" smtClean="0">
                          <a:solidFill>
                            <a:srgbClr val="002060"/>
                          </a:solidFill>
                          <a:latin typeface="Cambria Math" panose="02040503050406030204" pitchFamily="18" charset="0"/>
                        </a:rPr>
                        <m:t>𝒙</m:t>
                      </m:r>
                      <m:d>
                        <m:dPr>
                          <m:ctrlPr>
                            <a:rPr lang="en-GB" sz="1400" b="1" i="1" smtClean="0">
                              <a:solidFill>
                                <a:srgbClr val="002060"/>
                              </a:solidFill>
                              <a:latin typeface="Cambria Math" panose="02040503050406030204" pitchFamily="18" charset="0"/>
                            </a:rPr>
                          </m:ctrlPr>
                        </m:dPr>
                        <m:e>
                          <m:r>
                            <a:rPr lang="en-GB" sz="1400" b="1" i="1" smtClean="0">
                              <a:solidFill>
                                <a:srgbClr val="002060"/>
                              </a:solidFill>
                              <a:latin typeface="Cambria Math" panose="02040503050406030204" pitchFamily="18" charset="0"/>
                            </a:rPr>
                            <m:t>𝒙</m:t>
                          </m:r>
                          <m:r>
                            <a:rPr lang="en-GB" sz="1400" b="1" i="1" smtClean="0">
                              <a:solidFill>
                                <a:srgbClr val="002060"/>
                              </a:solidFill>
                              <a:latin typeface="Cambria Math" panose="02040503050406030204" pitchFamily="18" charset="0"/>
                            </a:rPr>
                            <m:t>−</m:t>
                          </m:r>
                          <m:r>
                            <a:rPr lang="en-GB" sz="1400" b="1" i="1" smtClean="0">
                              <a:solidFill>
                                <a:srgbClr val="002060"/>
                              </a:solidFill>
                              <a:latin typeface="Cambria Math" panose="02040503050406030204" pitchFamily="18" charset="0"/>
                            </a:rPr>
                            <m:t>𝟒</m:t>
                          </m:r>
                        </m:e>
                      </m:d>
                    </m:oMath>
                  </m:oMathPara>
                </a14:m>
                <a:endParaRPr lang="en-GB" b="1"/>
              </a:p>
            </p:txBody>
          </p:sp>
        </mc:Choice>
        <mc:Fallback>
          <p:sp>
            <p:nvSpPr>
              <p:cNvPr id="10" name="TextBox 9"/>
              <p:cNvSpPr txBox="1">
                <a:spLocks noRot="1" noChangeAspect="1" noMove="1" noResize="1" noEditPoints="1" noAdjustHandles="1" noChangeArrowheads="1" noChangeShapeType="1" noTextEdit="1"/>
              </p:cNvSpPr>
              <p:nvPr/>
            </p:nvSpPr>
            <p:spPr>
              <a:xfrm>
                <a:off x="1914179" y="3867234"/>
                <a:ext cx="1246231" cy="307777"/>
              </a:xfrm>
              <a:prstGeom prst="rect">
                <a:avLst/>
              </a:prstGeom>
              <a:blipFill>
                <a:blip r:embed="rId5"/>
                <a:stretch>
                  <a:fillRect b="-4000"/>
                </a:stretch>
              </a:blipFill>
            </p:spPr>
            <p:txBody>
              <a:bodyPr/>
              <a:lstStyle/>
              <a:p>
                <a:r>
                  <a:rPr lang="en-US">
                    <a:noFill/>
                  </a:rPr>
                  <a:t> </a:t>
                </a:r>
              </a:p>
            </p:txBody>
          </p:sp>
        </mc:Fallback>
      </mc:AlternateContent>
      <p:sp>
        <p:nvSpPr>
          <p:cNvPr id="12" name="Freeform: Shape 11"/>
          <p:cNvSpPr/>
          <p:nvPr/>
        </p:nvSpPr>
        <p:spPr>
          <a:xfrm flipH="1">
            <a:off x="1251941" y="2215446"/>
            <a:ext cx="2576218" cy="2171700"/>
          </a:xfrm>
          <a:custGeom>
            <a:avLst/>
            <a:gdLst>
              <a:gd name="connsiteX0" fmla="*/ 0 w 2120900"/>
              <a:gd name="connsiteY0" fmla="*/ 0 h 2171700"/>
              <a:gd name="connsiteX1" fmla="*/ 876300 w 2120900"/>
              <a:gd name="connsiteY1" fmla="*/ 1257300 h 2171700"/>
              <a:gd name="connsiteX2" fmla="*/ 1320800 w 2120900"/>
              <a:gd name="connsiteY2" fmla="*/ 838200 h 2171700"/>
              <a:gd name="connsiteX3" fmla="*/ 1701800 w 2120900"/>
              <a:gd name="connsiteY3" fmla="*/ 1257300 h 2171700"/>
              <a:gd name="connsiteX4" fmla="*/ 2120900 w 2120900"/>
              <a:gd name="connsiteY4" fmla="*/ 2171700 h 2171700"/>
              <a:gd name="connsiteX0" fmla="*/ 0 w 2120900"/>
              <a:gd name="connsiteY0" fmla="*/ 0 h 2171700"/>
              <a:gd name="connsiteX1" fmla="*/ 876300 w 2120900"/>
              <a:gd name="connsiteY1" fmla="*/ 1257300 h 2171700"/>
              <a:gd name="connsiteX2" fmla="*/ 1320800 w 2120900"/>
              <a:gd name="connsiteY2" fmla="*/ 838200 h 2171700"/>
              <a:gd name="connsiteX3" fmla="*/ 1701800 w 2120900"/>
              <a:gd name="connsiteY3" fmla="*/ 1257300 h 2171700"/>
              <a:gd name="connsiteX4" fmla="*/ 2120900 w 2120900"/>
              <a:gd name="connsiteY4" fmla="*/ 2171700 h 2171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20900" h="2171700">
                <a:moveTo>
                  <a:pt x="0" y="0"/>
                </a:moveTo>
                <a:cubicBezTo>
                  <a:pt x="328083" y="558800"/>
                  <a:pt x="475192" y="1165225"/>
                  <a:pt x="876300" y="1257300"/>
                </a:cubicBezTo>
                <a:cubicBezTo>
                  <a:pt x="1277408" y="1349375"/>
                  <a:pt x="1183217" y="838200"/>
                  <a:pt x="1320800" y="838200"/>
                </a:cubicBezTo>
                <a:cubicBezTo>
                  <a:pt x="1458383" y="838200"/>
                  <a:pt x="1568450" y="1035050"/>
                  <a:pt x="1701800" y="1257300"/>
                </a:cubicBezTo>
                <a:cubicBezTo>
                  <a:pt x="1835150" y="1479550"/>
                  <a:pt x="1978025" y="1825625"/>
                  <a:pt x="2120900" y="2171700"/>
                </a:cubicBezTo>
              </a:path>
            </a:pathLst>
          </a:cu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Freeform: Shape 12"/>
          <p:cNvSpPr/>
          <p:nvPr/>
        </p:nvSpPr>
        <p:spPr>
          <a:xfrm>
            <a:off x="814161" y="2411189"/>
            <a:ext cx="2743200" cy="1453943"/>
          </a:xfrm>
          <a:custGeom>
            <a:avLst/>
            <a:gdLst>
              <a:gd name="connsiteX0" fmla="*/ 0 w 2743200"/>
              <a:gd name="connsiteY0" fmla="*/ 0 h 1453943"/>
              <a:gd name="connsiteX1" fmla="*/ 933450 w 2743200"/>
              <a:gd name="connsiteY1" fmla="*/ 1076325 h 1453943"/>
              <a:gd name="connsiteX2" fmla="*/ 1838325 w 2743200"/>
              <a:gd name="connsiteY2" fmla="*/ 1447800 h 1453943"/>
              <a:gd name="connsiteX3" fmla="*/ 2743200 w 2743200"/>
              <a:gd name="connsiteY3" fmla="*/ 828675 h 1453943"/>
            </a:gdLst>
            <a:ahLst/>
            <a:cxnLst>
              <a:cxn ang="0">
                <a:pos x="connsiteX0" y="connsiteY0"/>
              </a:cxn>
              <a:cxn ang="0">
                <a:pos x="connsiteX1" y="connsiteY1"/>
              </a:cxn>
              <a:cxn ang="0">
                <a:pos x="connsiteX2" y="connsiteY2"/>
              </a:cxn>
              <a:cxn ang="0">
                <a:pos x="connsiteX3" y="connsiteY3"/>
              </a:cxn>
            </a:cxnLst>
            <a:rect l="l" t="t" r="r" b="b"/>
            <a:pathLst>
              <a:path w="2743200" h="1453943">
                <a:moveTo>
                  <a:pt x="0" y="0"/>
                </a:moveTo>
                <a:cubicBezTo>
                  <a:pt x="313531" y="417512"/>
                  <a:pt x="627062" y="835025"/>
                  <a:pt x="933450" y="1076325"/>
                </a:cubicBezTo>
                <a:cubicBezTo>
                  <a:pt x="1239838" y="1317625"/>
                  <a:pt x="1536700" y="1489075"/>
                  <a:pt x="1838325" y="1447800"/>
                </a:cubicBezTo>
                <a:cubicBezTo>
                  <a:pt x="2139950" y="1406525"/>
                  <a:pt x="2441575" y="1117600"/>
                  <a:pt x="2743200" y="828675"/>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mc:Choice xmlns:a14="http://schemas.microsoft.com/office/drawing/2010/main" Requires="a14">
          <p:sp>
            <p:nvSpPr>
              <p:cNvPr id="14" name="TextBox 13"/>
              <p:cNvSpPr txBox="1"/>
              <p:nvPr/>
            </p:nvSpPr>
            <p:spPr>
              <a:xfrm>
                <a:off x="1801152" y="2675845"/>
                <a:ext cx="1422834" cy="312586"/>
              </a:xfrm>
              <a:prstGeom prst="rect">
                <a:avLst/>
              </a:prstGeom>
              <a:noFill/>
            </p:spPr>
            <p:txBody>
              <a:bodyPr wrap="square" rtlCol="0">
                <a:spAutoFit/>
              </a:bodyPr>
              <a:lstStyle/>
              <a:p>
                <a:pPr/>
                <a14:m>
                  <m:oMathPara xmlns:m="http://schemas.openxmlformats.org/officeDocument/2006/math">
                    <m:oMath>
                      <m:r>
                        <a:rPr lang="en-GB" sz="1400" b="1" i="1" smtClean="0">
                          <a:solidFill>
                            <a:schemeClr val="accent6"/>
                          </a:solidFill>
                          <a:latin typeface="Cambria Math" panose="02040503050406030204" pitchFamily="18" charset="0"/>
                        </a:rPr>
                        <m:t>𝒚</m:t>
                      </m:r>
                      <m:r>
                        <a:rPr lang="en-GB" sz="1400" b="1" i="1" smtClean="0">
                          <a:solidFill>
                            <a:schemeClr val="accent6"/>
                          </a:solidFill>
                          <a:latin typeface="Cambria Math" panose="02040503050406030204" pitchFamily="18" charset="0"/>
                        </a:rPr>
                        <m:t>=</m:t>
                      </m:r>
                      <m:r>
                        <a:rPr lang="en-GB" sz="1400" b="1" i="1" smtClean="0">
                          <a:solidFill>
                            <a:schemeClr val="accent6"/>
                          </a:solidFill>
                          <a:latin typeface="Cambria Math" panose="02040503050406030204" pitchFamily="18" charset="0"/>
                        </a:rPr>
                        <m:t>𝒙</m:t>
                      </m:r>
                      <m:sSup>
                        <m:sSupPr>
                          <m:ctrlPr>
                            <a:rPr lang="en-GB" sz="1400" b="1" i="1" smtClean="0">
                              <a:solidFill>
                                <a:schemeClr val="accent6"/>
                              </a:solidFill>
                              <a:latin typeface="Cambria Math" panose="02040503050406030204" pitchFamily="18" charset="0"/>
                            </a:rPr>
                          </m:ctrlPr>
                        </m:sSupPr>
                        <m:e>
                          <m:d>
                            <m:dPr>
                              <m:ctrlPr>
                                <a:rPr lang="en-GB" sz="1400" b="1" i="1" smtClean="0">
                                  <a:solidFill>
                                    <a:schemeClr val="accent6"/>
                                  </a:solidFill>
                                  <a:latin typeface="Cambria Math" panose="02040503050406030204" pitchFamily="18" charset="0"/>
                                </a:rPr>
                              </m:ctrlPr>
                            </m:dPr>
                            <m:e>
                              <m:r>
                                <a:rPr lang="en-GB" sz="1400" b="1" i="1" smtClean="0">
                                  <a:solidFill>
                                    <a:schemeClr val="accent6"/>
                                  </a:solidFill>
                                  <a:latin typeface="Cambria Math" panose="02040503050406030204" pitchFamily="18" charset="0"/>
                                </a:rPr>
                                <m:t>𝒙</m:t>
                              </m:r>
                              <m:r>
                                <a:rPr lang="en-GB" sz="1400" b="1" i="1" smtClean="0">
                                  <a:solidFill>
                                    <a:schemeClr val="accent6"/>
                                  </a:solidFill>
                                  <a:latin typeface="Cambria Math" panose="02040503050406030204" pitchFamily="18" charset="0"/>
                                </a:rPr>
                                <m:t>−</m:t>
                              </m:r>
                              <m:r>
                                <a:rPr lang="en-GB" sz="1400" b="1" i="1" smtClean="0">
                                  <a:solidFill>
                                    <a:schemeClr val="accent6"/>
                                  </a:solidFill>
                                  <a:latin typeface="Cambria Math" panose="02040503050406030204" pitchFamily="18" charset="0"/>
                                </a:rPr>
                                <m:t>𝟐</m:t>
                              </m:r>
                            </m:e>
                          </m:d>
                        </m:e>
                        <m:sup>
                          <m:r>
                            <a:rPr lang="en-GB" sz="1400" b="1" i="1" smtClean="0">
                              <a:solidFill>
                                <a:schemeClr val="accent6"/>
                              </a:solidFill>
                              <a:latin typeface="Cambria Math" panose="02040503050406030204" pitchFamily="18" charset="0"/>
                            </a:rPr>
                            <m:t>𝟐</m:t>
                          </m:r>
                        </m:sup>
                      </m:sSup>
                    </m:oMath>
                  </m:oMathPara>
                </a14:m>
                <a:endParaRPr lang="en-GB" b="1"/>
              </a:p>
            </p:txBody>
          </p:sp>
        </mc:Choice>
        <mc:Fallback>
          <p:sp>
            <p:nvSpPr>
              <p:cNvPr id="14" name="TextBox 13"/>
              <p:cNvSpPr txBox="1">
                <a:spLocks noRot="1" noChangeAspect="1" noMove="1" noResize="1" noEditPoints="1" noAdjustHandles="1" noChangeArrowheads="1" noChangeShapeType="1" noTextEdit="1"/>
              </p:cNvSpPr>
              <p:nvPr/>
            </p:nvSpPr>
            <p:spPr>
              <a:xfrm>
                <a:off x="1801152" y="2675845"/>
                <a:ext cx="1422834" cy="312586"/>
              </a:xfrm>
              <a:prstGeom prst="rect">
                <a:avLst/>
              </a:prstGeom>
              <a:blipFill>
                <a:blip r:embed="rId6"/>
                <a:stretch>
                  <a:fillRect b="-3846"/>
                </a:stretch>
              </a:blipFill>
            </p:spPr>
            <p:txBody>
              <a:bodyPr/>
              <a:lstStyle/>
              <a:p>
                <a:r>
                  <a:rPr lang="en-US">
                    <a:noFill/>
                  </a:rPr>
                  <a:t> </a:t>
                </a:r>
              </a:p>
            </p:txBody>
          </p:sp>
        </mc:Fallback>
      </mc:AlternateContent>
      <p:sp>
        <p:nvSpPr>
          <p:cNvPr id="15" name="TextBox 14"/>
          <p:cNvSpPr txBox="1"/>
          <p:nvPr/>
        </p:nvSpPr>
        <p:spPr>
          <a:xfrm>
            <a:off x="2484058" y="3436705"/>
            <a:ext cx="321570" cy="307777"/>
          </a:xfrm>
          <a:prstGeom prst="rect">
            <a:avLst/>
          </a:prstGeom>
          <a:noFill/>
        </p:spPr>
        <p:txBody>
          <a:bodyPr wrap="square" rtlCol="0">
            <a:spAutoFit/>
          </a:bodyPr>
          <a:lstStyle/>
          <a:p>
            <a:r>
              <a:rPr lang="en-GB" sz="1400"/>
              <a:t>2</a:t>
            </a:r>
          </a:p>
        </p:txBody>
      </p:sp>
      <p:sp>
        <p:nvSpPr>
          <p:cNvPr id="16" name="TextBox 15"/>
          <p:cNvSpPr txBox="1"/>
          <p:nvPr/>
        </p:nvSpPr>
        <p:spPr>
          <a:xfrm>
            <a:off x="3234429" y="3420821"/>
            <a:ext cx="321570" cy="307777"/>
          </a:xfrm>
          <a:prstGeom prst="rect">
            <a:avLst/>
          </a:prstGeom>
          <a:noFill/>
        </p:spPr>
        <p:txBody>
          <a:bodyPr wrap="square" rtlCol="0">
            <a:spAutoFit/>
          </a:bodyPr>
          <a:lstStyle/>
          <a:p>
            <a:r>
              <a:rPr lang="en-GB" sz="1400"/>
              <a:t>4</a:t>
            </a:r>
          </a:p>
        </p:txBody>
      </p:sp>
      <mc:AlternateContent xmlns:mc="http://schemas.openxmlformats.org/markup-compatibility/2006">
        <mc:Choice xmlns:a14="http://schemas.microsoft.com/office/drawing/2010/main" Requires="a14">
          <p:sp>
            <p:nvSpPr>
              <p:cNvPr id="22" name="TextBox 21"/>
              <p:cNvSpPr txBox="1"/>
              <p:nvPr/>
            </p:nvSpPr>
            <p:spPr>
              <a:xfrm>
                <a:off x="4499992" y="1885837"/>
                <a:ext cx="4104456" cy="3293209"/>
              </a:xfrm>
              <a:prstGeom prst="rect">
                <a:avLst/>
              </a:prstGeom>
              <a:noFill/>
            </p:spPr>
            <p:txBody>
              <a:bodyPr wrap="square" rtlCol="0">
                <a:spAutoFit/>
              </a:bodyPr>
              <a:lstStyle/>
              <a:p>
                <a:r>
                  <a:rPr lang="en-GB" sz="1600"/>
                  <a:t>Looking at the diagram we expect that </a:t>
                </a:r>
                <a14:m>
                  <m:oMath xmlns:m="http://schemas.openxmlformats.org/officeDocument/2006/math">
                    <m:d>
                      <m:dPr>
                        <m:ctrlPr>
                          <a:rPr lang="en-GB" sz="1600" b="0" i="1" smtClean="0">
                            <a:latin typeface="Cambria Math" panose="02040503050406030204" pitchFamily="18" charset="0"/>
                          </a:rPr>
                        </m:ctrlPr>
                      </m:dPr>
                      <m:e>
                        <m:r>
                          <a:rPr lang="en-GB" sz="1600" b="0" i="1" smtClean="0">
                            <a:latin typeface="Cambria Math" panose="02040503050406030204" pitchFamily="18" charset="0"/>
                          </a:rPr>
                          <m:t>0,0</m:t>
                        </m:r>
                      </m:e>
                    </m:d>
                  </m:oMath>
                </a14:m>
                <a:r>
                  <a:rPr lang="en-GB" sz="1600"/>
                  <a:t> will be the only point of intersection (as the cubic will rise more rapidly than the quadratic). But we need to show this algebraically.</a:t>
                </a:r>
              </a:p>
              <a:p>
                <a:endParaRPr lang="en-GB" sz="1600"/>
              </a:p>
              <a:p>
                <a:pPr/>
                <a14:m>
                  <m:oMathPara xmlns:m="http://schemas.openxmlformats.org/officeDocument/2006/math">
                    <m:oMath>
                      <m:r>
                        <a:rPr lang="en-GB" sz="1600" b="0" i="1" smtClean="0">
                          <a:latin typeface="Cambria Math" panose="02040503050406030204" pitchFamily="18" charset="0"/>
                        </a:rPr>
                        <m:t>𝑥</m:t>
                      </m:r>
                      <m:sSup>
                        <m:sSupPr>
                          <m:ctrlPr>
                            <a:rPr lang="en-GB" sz="1600" b="0" i="1" smtClean="0">
                              <a:latin typeface="Cambria Math" panose="02040503050406030204" pitchFamily="18" charset="0"/>
                            </a:rPr>
                          </m:ctrlPr>
                        </m:sSupPr>
                        <m:e>
                          <m:d>
                            <m:dPr>
                              <m:ctrlPr>
                                <a:rPr lang="en-GB" sz="1600" b="0" i="1" smtClean="0">
                                  <a:latin typeface="Cambria Math" panose="02040503050406030204" pitchFamily="18" charset="0"/>
                                </a:rPr>
                              </m:ctrlPr>
                            </m:dPr>
                            <m:e>
                              <m:r>
                                <a:rPr lang="en-GB" sz="1600" b="0" i="1" smtClean="0">
                                  <a:latin typeface="Cambria Math" panose="02040503050406030204" pitchFamily="18" charset="0"/>
                                </a:rPr>
                                <m:t>𝑥</m:t>
                              </m:r>
                              <m:r>
                                <a:rPr lang="en-GB" sz="1600" b="0" i="1" smtClean="0">
                                  <a:latin typeface="Cambria Math" panose="02040503050406030204" pitchFamily="18" charset="0"/>
                                </a:rPr>
                                <m:t>−2</m:t>
                              </m:r>
                            </m:e>
                          </m:d>
                        </m:e>
                        <m:sup>
                          <m:r>
                            <a:rPr lang="en-GB" sz="1600" b="0" i="1" smtClean="0">
                              <a:latin typeface="Cambria Math" panose="02040503050406030204" pitchFamily="18" charset="0"/>
                            </a:rPr>
                            <m:t>2</m:t>
                          </m:r>
                        </m:sup>
                      </m:sSup>
                      <m:r>
                        <a:rPr lang="en-GB" sz="1600" b="0" i="1" smtClean="0">
                          <a:latin typeface="Cambria Math" panose="02040503050406030204" pitchFamily="18" charset="0"/>
                        </a:rPr>
                        <m:t>=</m:t>
                      </m:r>
                      <m:r>
                        <a:rPr lang="en-GB" sz="1600" b="0" i="1" smtClean="0">
                          <a:latin typeface="Cambria Math" panose="02040503050406030204" pitchFamily="18" charset="0"/>
                        </a:rPr>
                        <m:t>𝑥</m:t>
                      </m:r>
                      <m:d>
                        <m:dPr>
                          <m:ctrlPr>
                            <a:rPr lang="en-GB" sz="1600" b="0" i="1" smtClean="0">
                              <a:latin typeface="Cambria Math" panose="02040503050406030204" pitchFamily="18" charset="0"/>
                            </a:rPr>
                          </m:ctrlPr>
                        </m:dPr>
                        <m:e>
                          <m:r>
                            <a:rPr lang="en-GB" sz="1600" b="0" i="1" smtClean="0">
                              <a:latin typeface="Cambria Math" panose="02040503050406030204" pitchFamily="18" charset="0"/>
                            </a:rPr>
                            <m:t>𝑥</m:t>
                          </m:r>
                          <m:r>
                            <a:rPr lang="en-GB" sz="1600" b="0" i="1" smtClean="0">
                              <a:latin typeface="Cambria Math" panose="02040503050406030204" pitchFamily="18" charset="0"/>
                            </a:rPr>
                            <m:t>−4</m:t>
                          </m:r>
                        </m:e>
                      </m:d>
                    </m:oMath>
                    <m:oMath>
                      <m:r>
                        <a:rPr lang="en-GB" sz="1600" b="0" i="1" smtClean="0">
                          <a:latin typeface="Cambria Math" panose="02040503050406030204" pitchFamily="18" charset="0"/>
                        </a:rPr>
                        <m:t>𝑥</m:t>
                      </m:r>
                      <m:d>
                        <m:dPr>
                          <m:ctrlPr>
                            <a:rPr lang="en-GB" sz="1600" b="0" i="1" smtClean="0">
                              <a:latin typeface="Cambria Math" panose="02040503050406030204" pitchFamily="18" charset="0"/>
                            </a:rPr>
                          </m:ctrlPr>
                        </m:dPr>
                        <m:e>
                          <m:sSup>
                            <m:sSupPr>
                              <m:ctrlPr>
                                <a:rPr lang="en-GB" sz="1600" b="0" i="1" smtClean="0">
                                  <a:latin typeface="Cambria Math" panose="02040503050406030204" pitchFamily="18" charset="0"/>
                                </a:rPr>
                              </m:ctrlPr>
                            </m:sSupPr>
                            <m:e>
                              <m:r>
                                <a:rPr lang="en-GB" sz="1600" b="0" i="1" smtClean="0">
                                  <a:latin typeface="Cambria Math" panose="02040503050406030204" pitchFamily="18" charset="0"/>
                                </a:rPr>
                                <m:t>𝑥</m:t>
                              </m:r>
                            </m:e>
                            <m:sup>
                              <m:r>
                                <a:rPr lang="en-GB" sz="1600" b="0" i="1" smtClean="0">
                                  <a:latin typeface="Cambria Math" panose="02040503050406030204" pitchFamily="18" charset="0"/>
                                </a:rPr>
                                <m:t>2</m:t>
                              </m:r>
                            </m:sup>
                          </m:sSup>
                          <m:r>
                            <a:rPr lang="en-GB" sz="1600" b="0" i="1" smtClean="0">
                              <a:latin typeface="Cambria Math" panose="02040503050406030204" pitchFamily="18" charset="0"/>
                            </a:rPr>
                            <m:t>−4</m:t>
                          </m:r>
                          <m:r>
                            <a:rPr lang="en-GB" sz="1600" b="0" i="1" smtClean="0">
                              <a:latin typeface="Cambria Math" panose="02040503050406030204" pitchFamily="18" charset="0"/>
                            </a:rPr>
                            <m:t>𝑥</m:t>
                          </m:r>
                          <m:r>
                            <a:rPr lang="en-GB" sz="1600" b="0" i="1" smtClean="0">
                              <a:latin typeface="Cambria Math" panose="02040503050406030204" pitchFamily="18" charset="0"/>
                            </a:rPr>
                            <m:t>+4</m:t>
                          </m:r>
                        </m:e>
                      </m:d>
                      <m:r>
                        <a:rPr lang="en-GB" sz="1600" b="0" i="1" smtClean="0">
                          <a:latin typeface="Cambria Math" panose="02040503050406030204" pitchFamily="18" charset="0"/>
                        </a:rPr>
                        <m:t>=</m:t>
                      </m:r>
                      <m:sSup>
                        <m:sSupPr>
                          <m:ctrlPr>
                            <a:rPr lang="en-GB" sz="1600" b="0" i="1" smtClean="0">
                              <a:latin typeface="Cambria Math" panose="02040503050406030204" pitchFamily="18" charset="0"/>
                            </a:rPr>
                          </m:ctrlPr>
                        </m:sSupPr>
                        <m:e>
                          <m:r>
                            <a:rPr lang="en-GB" sz="1600" b="0" i="1" smtClean="0">
                              <a:latin typeface="Cambria Math" panose="02040503050406030204" pitchFamily="18" charset="0"/>
                            </a:rPr>
                            <m:t>𝑥</m:t>
                          </m:r>
                        </m:e>
                        <m:sup>
                          <m:r>
                            <a:rPr lang="en-GB" sz="1600" b="0" i="1" smtClean="0">
                              <a:latin typeface="Cambria Math" panose="02040503050406030204" pitchFamily="18" charset="0"/>
                            </a:rPr>
                            <m:t>2</m:t>
                          </m:r>
                        </m:sup>
                      </m:sSup>
                      <m:r>
                        <a:rPr lang="en-GB" sz="1600" b="0" i="1" smtClean="0">
                          <a:latin typeface="Cambria Math" panose="02040503050406030204" pitchFamily="18" charset="0"/>
                        </a:rPr>
                        <m:t>−4</m:t>
                      </m:r>
                      <m:r>
                        <a:rPr lang="en-GB" sz="1600" b="0" i="1" smtClean="0">
                          <a:latin typeface="Cambria Math" panose="02040503050406030204" pitchFamily="18" charset="0"/>
                        </a:rPr>
                        <m:t>𝑥</m:t>
                      </m:r>
                    </m:oMath>
                    <m:oMath>
                      <m:sSup>
                        <m:sSupPr>
                          <m:ctrlPr>
                            <a:rPr lang="en-GB" sz="1600" b="0" i="1" smtClean="0">
                              <a:latin typeface="Cambria Math" panose="02040503050406030204" pitchFamily="18" charset="0"/>
                            </a:rPr>
                          </m:ctrlPr>
                        </m:sSupPr>
                        <m:e>
                          <m:r>
                            <a:rPr lang="en-GB" sz="1600" b="0" i="1" smtClean="0">
                              <a:latin typeface="Cambria Math" panose="02040503050406030204" pitchFamily="18" charset="0"/>
                            </a:rPr>
                            <m:t>𝑥</m:t>
                          </m:r>
                        </m:e>
                        <m:sup>
                          <m:r>
                            <a:rPr lang="en-GB" sz="1600" b="0" i="1" smtClean="0">
                              <a:latin typeface="Cambria Math" panose="02040503050406030204" pitchFamily="18" charset="0"/>
                            </a:rPr>
                            <m:t>3</m:t>
                          </m:r>
                        </m:sup>
                      </m:sSup>
                      <m:r>
                        <a:rPr lang="en-GB" sz="1600" b="0" i="1" smtClean="0">
                          <a:latin typeface="Cambria Math" panose="02040503050406030204" pitchFamily="18" charset="0"/>
                        </a:rPr>
                        <m:t>−4</m:t>
                      </m:r>
                      <m:sSup>
                        <m:sSupPr>
                          <m:ctrlPr>
                            <a:rPr lang="en-GB" sz="1600" b="0" i="1" smtClean="0">
                              <a:latin typeface="Cambria Math" panose="02040503050406030204" pitchFamily="18" charset="0"/>
                            </a:rPr>
                          </m:ctrlPr>
                        </m:sSupPr>
                        <m:e>
                          <m:r>
                            <a:rPr lang="en-GB" sz="1600" b="0" i="1" smtClean="0">
                              <a:latin typeface="Cambria Math" panose="02040503050406030204" pitchFamily="18" charset="0"/>
                            </a:rPr>
                            <m:t>𝑥</m:t>
                          </m:r>
                        </m:e>
                        <m:sup>
                          <m:r>
                            <a:rPr lang="en-GB" sz="1600" b="0" i="1" smtClean="0">
                              <a:latin typeface="Cambria Math" panose="02040503050406030204" pitchFamily="18" charset="0"/>
                            </a:rPr>
                            <m:t>2</m:t>
                          </m:r>
                        </m:sup>
                      </m:sSup>
                      <m:r>
                        <a:rPr lang="en-GB" sz="1600" b="0" i="1" smtClean="0">
                          <a:latin typeface="Cambria Math" panose="02040503050406030204" pitchFamily="18" charset="0"/>
                        </a:rPr>
                        <m:t>+4</m:t>
                      </m:r>
                      <m:r>
                        <a:rPr lang="en-GB" sz="1600" b="0" i="1" smtClean="0">
                          <a:latin typeface="Cambria Math" panose="02040503050406030204" pitchFamily="18" charset="0"/>
                        </a:rPr>
                        <m:t>𝑥</m:t>
                      </m:r>
                      <m:r>
                        <a:rPr lang="en-GB" sz="1600" b="0" i="1" smtClean="0">
                          <a:latin typeface="Cambria Math" panose="02040503050406030204" pitchFamily="18" charset="0"/>
                        </a:rPr>
                        <m:t>=</m:t>
                      </m:r>
                      <m:sSup>
                        <m:sSupPr>
                          <m:ctrlPr>
                            <a:rPr lang="en-GB" sz="1600" b="0" i="1" smtClean="0">
                              <a:latin typeface="Cambria Math" panose="02040503050406030204" pitchFamily="18" charset="0"/>
                            </a:rPr>
                          </m:ctrlPr>
                        </m:sSupPr>
                        <m:e>
                          <m:r>
                            <a:rPr lang="en-GB" sz="1600" b="0" i="1" smtClean="0">
                              <a:latin typeface="Cambria Math" panose="02040503050406030204" pitchFamily="18" charset="0"/>
                            </a:rPr>
                            <m:t>𝑥</m:t>
                          </m:r>
                        </m:e>
                        <m:sup>
                          <m:r>
                            <a:rPr lang="en-GB" sz="1600" b="0" i="1" smtClean="0">
                              <a:latin typeface="Cambria Math" panose="02040503050406030204" pitchFamily="18" charset="0"/>
                            </a:rPr>
                            <m:t>2</m:t>
                          </m:r>
                        </m:sup>
                      </m:sSup>
                      <m:r>
                        <a:rPr lang="en-GB" sz="1600" b="0" i="1" smtClean="0">
                          <a:latin typeface="Cambria Math" panose="02040503050406030204" pitchFamily="18" charset="0"/>
                        </a:rPr>
                        <m:t>−4</m:t>
                      </m:r>
                      <m:r>
                        <a:rPr lang="en-GB" sz="1600" b="0" i="1" smtClean="0">
                          <a:latin typeface="Cambria Math" panose="02040503050406030204" pitchFamily="18" charset="0"/>
                        </a:rPr>
                        <m:t>𝑥</m:t>
                      </m:r>
                    </m:oMath>
                    <m:oMath>
                      <m:sSup>
                        <m:sSupPr>
                          <m:ctrlPr>
                            <a:rPr lang="en-GB" sz="1600" b="0" i="1" smtClean="0">
                              <a:latin typeface="Cambria Math" panose="02040503050406030204" pitchFamily="18" charset="0"/>
                            </a:rPr>
                          </m:ctrlPr>
                        </m:sSupPr>
                        <m:e>
                          <m:r>
                            <a:rPr lang="en-GB" sz="1600" b="0" i="1" smtClean="0">
                              <a:latin typeface="Cambria Math" panose="02040503050406030204" pitchFamily="18" charset="0"/>
                            </a:rPr>
                            <m:t>𝑥</m:t>
                          </m:r>
                        </m:e>
                        <m:sup>
                          <m:r>
                            <a:rPr lang="en-GB" sz="1600" b="0" i="1" smtClean="0">
                              <a:latin typeface="Cambria Math" panose="02040503050406030204" pitchFamily="18" charset="0"/>
                            </a:rPr>
                            <m:t>3</m:t>
                          </m:r>
                        </m:sup>
                      </m:sSup>
                      <m:r>
                        <a:rPr lang="en-GB" sz="1600" b="0" i="1" smtClean="0">
                          <a:latin typeface="Cambria Math" panose="02040503050406030204" pitchFamily="18" charset="0"/>
                        </a:rPr>
                        <m:t>−5</m:t>
                      </m:r>
                      <m:sSup>
                        <m:sSupPr>
                          <m:ctrlPr>
                            <a:rPr lang="en-GB" sz="1600" b="0" i="1" smtClean="0">
                              <a:latin typeface="Cambria Math" panose="02040503050406030204" pitchFamily="18" charset="0"/>
                            </a:rPr>
                          </m:ctrlPr>
                        </m:sSupPr>
                        <m:e>
                          <m:r>
                            <a:rPr lang="en-GB" sz="1600" b="0" i="1" smtClean="0">
                              <a:latin typeface="Cambria Math" panose="02040503050406030204" pitchFamily="18" charset="0"/>
                            </a:rPr>
                            <m:t>𝑥</m:t>
                          </m:r>
                        </m:e>
                        <m:sup>
                          <m:r>
                            <a:rPr lang="en-GB" sz="1600" b="0" i="1" smtClean="0">
                              <a:latin typeface="Cambria Math" panose="02040503050406030204" pitchFamily="18" charset="0"/>
                            </a:rPr>
                            <m:t>2</m:t>
                          </m:r>
                        </m:sup>
                      </m:sSup>
                      <m:r>
                        <a:rPr lang="en-GB" sz="1600" b="0" i="1" smtClean="0">
                          <a:latin typeface="Cambria Math" panose="02040503050406030204" pitchFamily="18" charset="0"/>
                        </a:rPr>
                        <m:t>+8</m:t>
                      </m:r>
                      <m:r>
                        <a:rPr lang="en-GB" sz="1600" b="0" i="1" smtClean="0">
                          <a:latin typeface="Cambria Math" panose="02040503050406030204" pitchFamily="18" charset="0"/>
                        </a:rPr>
                        <m:t>𝑥</m:t>
                      </m:r>
                      <m:r>
                        <a:rPr lang="en-GB" sz="1600" b="0" i="1" smtClean="0">
                          <a:latin typeface="Cambria Math" panose="02040503050406030204" pitchFamily="18" charset="0"/>
                        </a:rPr>
                        <m:t>=0</m:t>
                      </m:r>
                    </m:oMath>
                    <m:oMath>
                      <m:r>
                        <a:rPr lang="en-GB" sz="1600" b="0" i="1" smtClean="0">
                          <a:latin typeface="Cambria Math" panose="02040503050406030204" pitchFamily="18" charset="0"/>
                        </a:rPr>
                        <m:t>𝑥</m:t>
                      </m:r>
                      <m:d>
                        <m:dPr>
                          <m:ctrlPr>
                            <a:rPr lang="en-GB" sz="1600" b="0" i="1" smtClean="0">
                              <a:latin typeface="Cambria Math" panose="02040503050406030204" pitchFamily="18" charset="0"/>
                            </a:rPr>
                          </m:ctrlPr>
                        </m:dPr>
                        <m:e>
                          <m:sSup>
                            <m:sSupPr>
                              <m:ctrlPr>
                                <a:rPr lang="en-GB" sz="1600" b="0" i="1" smtClean="0">
                                  <a:latin typeface="Cambria Math" panose="02040503050406030204" pitchFamily="18" charset="0"/>
                                </a:rPr>
                              </m:ctrlPr>
                            </m:sSupPr>
                            <m:e>
                              <m:r>
                                <a:rPr lang="en-GB" sz="1600" b="0" i="1" smtClean="0">
                                  <a:latin typeface="Cambria Math" panose="02040503050406030204" pitchFamily="18" charset="0"/>
                                </a:rPr>
                                <m:t>𝑥</m:t>
                              </m:r>
                            </m:e>
                            <m:sup>
                              <m:r>
                                <a:rPr lang="en-GB" sz="1600" b="0" i="1" smtClean="0">
                                  <a:latin typeface="Cambria Math" panose="02040503050406030204" pitchFamily="18" charset="0"/>
                                </a:rPr>
                                <m:t>2</m:t>
                              </m:r>
                            </m:sup>
                          </m:sSup>
                          <m:r>
                            <a:rPr lang="en-GB" sz="1600" b="0" i="1" smtClean="0">
                              <a:latin typeface="Cambria Math" panose="02040503050406030204" pitchFamily="18" charset="0"/>
                            </a:rPr>
                            <m:t>−5</m:t>
                          </m:r>
                          <m:r>
                            <a:rPr lang="en-GB" sz="1600" b="0" i="1" smtClean="0">
                              <a:latin typeface="Cambria Math" panose="02040503050406030204" pitchFamily="18" charset="0"/>
                            </a:rPr>
                            <m:t>𝑥</m:t>
                          </m:r>
                          <m:r>
                            <a:rPr lang="en-GB" sz="1600" b="0" i="1" smtClean="0">
                              <a:latin typeface="Cambria Math" panose="02040503050406030204" pitchFamily="18" charset="0"/>
                            </a:rPr>
                            <m:t>+8</m:t>
                          </m:r>
                        </m:e>
                      </m:d>
                      <m:r>
                        <a:rPr lang="en-GB" sz="1600" b="0" i="1" smtClean="0">
                          <a:latin typeface="Cambria Math" panose="02040503050406030204" pitchFamily="18" charset="0"/>
                        </a:rPr>
                        <m:t>=0</m:t>
                      </m:r>
                    </m:oMath>
                  </m:oMathPara>
                </a14:m>
                <a:endParaRPr lang="en-GB" sz="1600"/>
              </a:p>
              <a:p>
                <a:r>
                  <a:rPr lang="en-GB" sz="1600"/>
                  <a:t>Thus </a:t>
                </a:r>
                <a14:m>
                  <m:oMath xmlns:m="http://schemas.openxmlformats.org/officeDocument/2006/math">
                    <m:r>
                      <a:rPr lang="en-GB" sz="1600" b="0" i="1" smtClean="0">
                        <a:latin typeface="Cambria Math" panose="02040503050406030204" pitchFamily="18" charset="0"/>
                      </a:rPr>
                      <m:t>𝑥</m:t>
                    </m:r>
                    <m:r>
                      <a:rPr lang="en-GB" sz="1600" b="0" i="1" smtClean="0">
                        <a:latin typeface="Cambria Math" panose="02040503050406030204" pitchFamily="18" charset="0"/>
                      </a:rPr>
                      <m:t>=0</m:t>
                    </m:r>
                  </m:oMath>
                </a14:m>
                <a:r>
                  <a:rPr lang="en-GB" sz="1600"/>
                  <a:t> giving </a:t>
                </a:r>
                <a14:m>
                  <m:oMath xmlns:m="http://schemas.openxmlformats.org/officeDocument/2006/math">
                    <m:r>
                      <a:rPr lang="en-GB" sz="1600" b="0" i="1" smtClean="0">
                        <a:latin typeface="Cambria Math" panose="02040503050406030204" pitchFamily="18" charset="0"/>
                      </a:rPr>
                      <m:t>(0,0)</m:t>
                    </m:r>
                  </m:oMath>
                </a14:m>
                <a:r>
                  <a:rPr lang="en-GB" sz="1600"/>
                  <a:t>.</a:t>
                </a:r>
              </a:p>
              <a:p>
                <a:r>
                  <a:rPr lang="en-GB" sz="1600"/>
                  <a:t>But the discriminant of </a:t>
                </a:r>
                <a14:m>
                  <m:oMath xmlns:m="http://schemas.openxmlformats.org/officeDocument/2006/math">
                    <m:sSup>
                      <m:sSupPr>
                        <m:ctrlPr>
                          <a:rPr lang="en-GB" sz="1600" b="0" i="1" smtClean="0">
                            <a:latin typeface="Cambria Math" panose="02040503050406030204" pitchFamily="18" charset="0"/>
                          </a:rPr>
                        </m:ctrlPr>
                      </m:sSupPr>
                      <m:e>
                        <m:r>
                          <a:rPr lang="en-GB" sz="1600" b="0" i="1" smtClean="0">
                            <a:latin typeface="Cambria Math" panose="02040503050406030204" pitchFamily="18" charset="0"/>
                          </a:rPr>
                          <m:t>𝑥</m:t>
                        </m:r>
                      </m:e>
                      <m:sup>
                        <m:r>
                          <a:rPr lang="en-GB" sz="1600" b="0" i="1" smtClean="0">
                            <a:latin typeface="Cambria Math" panose="02040503050406030204" pitchFamily="18" charset="0"/>
                          </a:rPr>
                          <m:t>2</m:t>
                        </m:r>
                      </m:sup>
                    </m:sSup>
                    <m:r>
                      <a:rPr lang="en-GB" sz="1600" b="0" i="1" smtClean="0">
                        <a:latin typeface="Cambria Math" panose="02040503050406030204" pitchFamily="18" charset="0"/>
                      </a:rPr>
                      <m:t>−5</m:t>
                    </m:r>
                    <m:r>
                      <a:rPr lang="en-GB" sz="1600" b="0" i="1" smtClean="0">
                        <a:latin typeface="Cambria Math" panose="02040503050406030204" pitchFamily="18" charset="0"/>
                      </a:rPr>
                      <m:t>𝑥</m:t>
                    </m:r>
                    <m:r>
                      <a:rPr lang="en-GB" sz="1600" b="0" i="1" smtClean="0">
                        <a:latin typeface="Cambria Math" panose="02040503050406030204" pitchFamily="18" charset="0"/>
                      </a:rPr>
                      <m:t>+8</m:t>
                    </m:r>
                  </m:oMath>
                </a14:m>
                <a:r>
                  <a:rPr lang="en-GB" sz="1600"/>
                  <a:t> is -7, thus there are no further solutions to this equation.</a:t>
                </a:r>
              </a:p>
            </p:txBody>
          </p:sp>
        </mc:Choice>
        <mc:Fallback>
          <p:sp>
            <p:nvSpPr>
              <p:cNvPr id="22" name="TextBox 21"/>
              <p:cNvSpPr txBox="1">
                <a:spLocks noRot="1" noChangeAspect="1" noMove="1" noResize="1" noEditPoints="1" noAdjustHandles="1" noChangeArrowheads="1" noChangeShapeType="1" noTextEdit="1"/>
              </p:cNvSpPr>
              <p:nvPr/>
            </p:nvSpPr>
            <p:spPr>
              <a:xfrm>
                <a:off x="4499992" y="1885837"/>
                <a:ext cx="4104456" cy="3293209"/>
              </a:xfrm>
              <a:prstGeom prst="rect">
                <a:avLst/>
              </a:prstGeom>
              <a:blipFill>
                <a:blip r:embed="rId7"/>
                <a:stretch>
                  <a:fillRect l="-926" t="-766" r="-926" b="-766"/>
                </a:stretch>
              </a:blipFill>
            </p:spPr>
            <p:txBody>
              <a:bodyPr/>
              <a:lstStyle/>
              <a:p>
                <a:r>
                  <a:rPr lang="en-US">
                    <a:noFill/>
                  </a:rPr>
                  <a:t> </a:t>
                </a:r>
              </a:p>
            </p:txBody>
          </p:sp>
        </mc:Fallback>
      </mc:AlternateContent>
      <p:sp>
        <p:nvSpPr>
          <p:cNvPr id="23" name="TextBox 22"/>
          <p:cNvSpPr txBox="1"/>
          <p:nvPr/>
        </p:nvSpPr>
        <p:spPr>
          <a:xfrm>
            <a:off x="766209" y="5341318"/>
            <a:ext cx="2944554" cy="1200329"/>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b="1"/>
              <a:t>Hint</a:t>
            </a:r>
            <a:r>
              <a:rPr lang="en-GB"/>
              <a:t>: Remember you can use the discriminant to reason about the number of solutions of a quadratic.</a:t>
            </a:r>
          </a:p>
        </p:txBody>
      </p:sp>
      <p:sp>
        <p:nvSpPr>
          <p:cNvPr id="24" name="Rectangle 23"/>
          <p:cNvSpPr/>
          <p:nvPr/>
        </p:nvSpPr>
        <p:spPr>
          <a:xfrm>
            <a:off x="251520" y="1533329"/>
            <a:ext cx="8547346" cy="3645717"/>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Tree>
    <p:extLst>
      <p:ext uri="{BB962C8B-B14F-4D97-AF65-F5344CB8AC3E}">
        <p14:creationId xmlns:p14="http://schemas.microsoft.com/office/powerpoint/2010/main" val="1737927781"/>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4"/>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24"/>
                                        </p:tgtEl>
                                      </p:cBhvr>
                                    </p:animEffect>
                                    <p:set>
                                      <p:cBhvr>
                                        <p:cTn id="7" dur="1" fill="hold">
                                          <p:stCondLst>
                                            <p:cond delay="499"/>
                                          </p:stCondLst>
                                        </p:cTn>
                                        <p:tgtEl>
                                          <p:spTgt spid="24"/>
                                        </p:tgtEl>
                                        <p:attrNameLst>
                                          <p:attrName>style.visibility</p:attrName>
                                        </p:attrNameLst>
                                      </p:cBhvr>
                                      <p:to>
                                        <p:strVal val="hidden"/>
                                      </p:to>
                                    </p:set>
                                  </p:childTnLst>
                                </p:cTn>
                              </p:par>
                            </p:childTnLst>
                          </p:cTn>
                        </p:par>
                      </p:childTnLst>
                    </p:cTn>
                  </p:par>
                </p:childTnLst>
              </p:cTn>
              <p:nextCondLst>
                <p:cond evt="onClick" delay="0">
                  <p:tgtEl>
                    <p:spTgt spid="24"/>
                  </p:tgtEl>
                </p:cond>
              </p:nextCondLst>
            </p:seq>
          </p:childTnLst>
        </p:cTn>
      </p:par>
    </p:tnLst>
    <p:bldLst>
      <p:bldP spid="24"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vert="horz" wrap="square" lIns="324000" tIns="45720" rIns="91440" bIns="45720" rtlCol="0" anchor="ctr">
              <a:spAutoFit/>
            </a:bodyPr>
            <a:lstStyle>
              <a:defPPr>
                <a:defRPr lang="en-US"/>
              </a:defPPr>
              <a:lvl1pPr>
                <a:spcBef>
                  <a:spcPct val="0"/>
                </a:spcBef>
                <a:buNone/>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a:t>Exercise 4D – Pure 1 Page 69-71</a:t>
              </a:r>
            </a:p>
          </p:txBody>
        </p:sp>
        <p:cxnSp>
          <p:nvCxnSpPr>
            <p:cNvPr id="4" name="Straight Connector 3"/>
            <p:cNvCxnSpPr/>
            <p:nvPr/>
          </p:nvCxnSpPr>
          <p:spPr>
            <a:xfrm>
              <a:off x="218" y="601079"/>
              <a:ext cx="9144000" cy="0"/>
            </a:xfrm>
            <a:prstGeom prst="line">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cxnSp>
      </p:grpSp>
      <p:grpSp>
        <p:nvGrpSpPr>
          <p:cNvPr id="26" name="Group 25">
            <a:extLst>
              <a:ext uri="{FF2B5EF4-FFF2-40B4-BE49-F238E27FC236}">
                <a16:creationId xmlns:a16="http://schemas.microsoft.com/office/drawing/2014/main" id="{F23FC3E6-FCE3-7D16-7349-96306A658DBA}"/>
              </a:ext>
            </a:extLst>
          </p:cNvPr>
          <p:cNvGrpSpPr/>
          <p:nvPr/>
        </p:nvGrpSpPr>
        <p:grpSpPr>
          <a:xfrm>
            <a:off x="179512" y="692696"/>
            <a:ext cx="5266217" cy="1440160"/>
            <a:chOff x="179512" y="692696"/>
            <a:chExt cx="6408712" cy="1752600"/>
          </a:xfrm>
        </p:grpSpPr>
        <p:pic>
          <p:nvPicPr>
            <p:cNvPr id="21" name="Picture 20">
              <a:extLst>
                <a:ext uri="{FF2B5EF4-FFF2-40B4-BE49-F238E27FC236}">
                  <a16:creationId xmlns:a16="http://schemas.microsoft.com/office/drawing/2014/main" id="{B5AAE763-062F-7D35-9C21-BBA701C02AAB}"/>
                </a:ext>
              </a:extLst>
            </p:cNvPr>
            <p:cNvPicPr>
              <a:picLocks noChangeAspect="1"/>
            </p:cNvPicPr>
            <p:nvPr/>
          </p:nvPicPr>
          <p:blipFill>
            <a:blip r:embed="rId2"/>
            <a:stretch>
              <a:fillRect/>
            </a:stretch>
          </p:blipFill>
          <p:spPr>
            <a:xfrm>
              <a:off x="179512" y="692696"/>
              <a:ext cx="6324600" cy="1752600"/>
            </a:xfrm>
            <a:prstGeom prst="rect">
              <a:avLst/>
            </a:prstGeom>
          </p:spPr>
        </p:pic>
        <p:sp>
          <p:nvSpPr>
            <p:cNvPr id="22" name="Rectangle 21">
              <a:extLst>
                <a:ext uri="{FF2B5EF4-FFF2-40B4-BE49-F238E27FC236}">
                  <a16:creationId xmlns:a16="http://schemas.microsoft.com/office/drawing/2014/main" id="{4A587279-BB17-6406-2A2A-0B4A18184DDA}"/>
                </a:ext>
              </a:extLst>
            </p:cNvPr>
            <p:cNvSpPr/>
            <p:nvPr/>
          </p:nvSpPr>
          <p:spPr>
            <a:xfrm>
              <a:off x="5508104" y="1340768"/>
              <a:ext cx="1080120" cy="3600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Rectangle 22">
              <a:extLst>
                <a:ext uri="{FF2B5EF4-FFF2-40B4-BE49-F238E27FC236}">
                  <a16:creationId xmlns:a16="http://schemas.microsoft.com/office/drawing/2014/main" id="{FB659954-7A33-3F6F-E0B3-391A52AD50C6}"/>
                </a:ext>
              </a:extLst>
            </p:cNvPr>
            <p:cNvSpPr/>
            <p:nvPr/>
          </p:nvSpPr>
          <p:spPr>
            <a:xfrm>
              <a:off x="5148064" y="2082409"/>
              <a:ext cx="1080120" cy="2880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7" name="Picture 26">
            <a:extLst>
              <a:ext uri="{FF2B5EF4-FFF2-40B4-BE49-F238E27FC236}">
                <a16:creationId xmlns:a16="http://schemas.microsoft.com/office/drawing/2014/main" id="{14489CFC-3E35-7567-D2E4-8D8B784280E8}"/>
              </a:ext>
            </a:extLst>
          </p:cNvPr>
          <p:cNvPicPr>
            <a:picLocks noChangeAspect="1"/>
          </p:cNvPicPr>
          <p:nvPr/>
        </p:nvPicPr>
        <p:blipFill>
          <a:blip r:embed="rId3"/>
          <a:stretch>
            <a:fillRect/>
          </a:stretch>
        </p:blipFill>
        <p:spPr>
          <a:xfrm>
            <a:off x="452826" y="2214612"/>
            <a:ext cx="3644900" cy="2222500"/>
          </a:xfrm>
          <a:prstGeom prst="rect">
            <a:avLst/>
          </a:prstGeom>
        </p:spPr>
      </p:pic>
      <p:pic>
        <p:nvPicPr>
          <p:cNvPr id="28" name="Picture 27">
            <a:extLst>
              <a:ext uri="{FF2B5EF4-FFF2-40B4-BE49-F238E27FC236}">
                <a16:creationId xmlns:a16="http://schemas.microsoft.com/office/drawing/2014/main" id="{A7B47A50-AFC5-309C-7A0F-3937CAAEEDEB}"/>
              </a:ext>
            </a:extLst>
          </p:cNvPr>
          <p:cNvPicPr>
            <a:picLocks noChangeAspect="1"/>
          </p:cNvPicPr>
          <p:nvPr/>
        </p:nvPicPr>
        <p:blipFill>
          <a:blip r:embed="rId4"/>
          <a:stretch>
            <a:fillRect/>
          </a:stretch>
        </p:blipFill>
        <p:spPr>
          <a:xfrm>
            <a:off x="668850" y="4437112"/>
            <a:ext cx="2552700" cy="2120900"/>
          </a:xfrm>
          <a:prstGeom prst="rect">
            <a:avLst/>
          </a:prstGeom>
        </p:spPr>
      </p:pic>
      <p:pic>
        <p:nvPicPr>
          <p:cNvPr id="29" name="Picture 28">
            <a:extLst>
              <a:ext uri="{FF2B5EF4-FFF2-40B4-BE49-F238E27FC236}">
                <a16:creationId xmlns:a16="http://schemas.microsoft.com/office/drawing/2014/main" id="{925F84B0-73BA-CBC7-CF02-44AC5103E9D1}"/>
              </a:ext>
            </a:extLst>
          </p:cNvPr>
          <p:cNvPicPr>
            <a:picLocks noChangeAspect="1"/>
          </p:cNvPicPr>
          <p:nvPr/>
        </p:nvPicPr>
        <p:blipFill>
          <a:blip r:embed="rId5"/>
          <a:stretch>
            <a:fillRect/>
          </a:stretch>
        </p:blipFill>
        <p:spPr>
          <a:xfrm>
            <a:off x="4741516" y="2197596"/>
            <a:ext cx="3937000" cy="2095500"/>
          </a:xfrm>
          <a:prstGeom prst="rect">
            <a:avLst/>
          </a:prstGeom>
        </p:spPr>
      </p:pic>
      <p:sp>
        <p:nvSpPr>
          <p:cNvPr id="30" name="Rectangle 29">
            <a:extLst>
              <a:ext uri="{FF2B5EF4-FFF2-40B4-BE49-F238E27FC236}">
                <a16:creationId xmlns:a16="http://schemas.microsoft.com/office/drawing/2014/main" id="{AE48C280-480A-13F5-DCBC-8D77BB11849C}"/>
              </a:ext>
            </a:extLst>
          </p:cNvPr>
          <p:cNvSpPr/>
          <p:nvPr/>
        </p:nvSpPr>
        <p:spPr>
          <a:xfrm>
            <a:off x="4721001" y="2097435"/>
            <a:ext cx="4165769" cy="4644516"/>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b?</a:t>
            </a:r>
          </a:p>
        </p:txBody>
      </p:sp>
      <p:sp>
        <p:nvSpPr>
          <p:cNvPr id="32" name="Rectangle 31">
            <a:extLst>
              <a:ext uri="{FF2B5EF4-FFF2-40B4-BE49-F238E27FC236}">
                <a16:creationId xmlns:a16="http://schemas.microsoft.com/office/drawing/2014/main" id="{8F5C5E76-56D7-569F-51BD-D0E51BF7AD2A}"/>
              </a:ext>
            </a:extLst>
          </p:cNvPr>
          <p:cNvSpPr/>
          <p:nvPr/>
        </p:nvSpPr>
        <p:spPr>
          <a:xfrm>
            <a:off x="251520" y="2094002"/>
            <a:ext cx="4165769" cy="4644516"/>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a:t>
            </a:r>
          </a:p>
        </p:txBody>
      </p:sp>
    </p:spTree>
    <p:extLst>
      <p:ext uri="{BB962C8B-B14F-4D97-AF65-F5344CB8AC3E}">
        <p14:creationId xmlns:p14="http://schemas.microsoft.com/office/powerpoint/2010/main" val="4196005734"/>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30"/>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30"/>
                                        </p:tgtEl>
                                      </p:cBhvr>
                                    </p:animEffect>
                                    <p:set>
                                      <p:cBhvr>
                                        <p:cTn id="7" dur="1" fill="hold">
                                          <p:stCondLst>
                                            <p:cond delay="499"/>
                                          </p:stCondLst>
                                        </p:cTn>
                                        <p:tgtEl>
                                          <p:spTgt spid="30"/>
                                        </p:tgtEl>
                                        <p:attrNameLst>
                                          <p:attrName>style.visibility</p:attrName>
                                        </p:attrNameLst>
                                      </p:cBhvr>
                                      <p:to>
                                        <p:strVal val="hidden"/>
                                      </p:to>
                                    </p:set>
                                  </p:childTnLst>
                                </p:cTn>
                              </p:par>
                            </p:childTnLst>
                          </p:cTn>
                        </p:par>
                      </p:childTnLst>
                    </p:cTn>
                  </p:par>
                </p:childTnLst>
              </p:cTn>
              <p:nextCondLst>
                <p:cond evt="onClick" delay="0">
                  <p:tgtEl>
                    <p:spTgt spid="30"/>
                  </p:tgtEl>
                </p:cond>
              </p:nextCondLst>
            </p:seq>
            <p:seq concurrent="1" nextAc="seek">
              <p:cTn id="8" restart="whenNotActive" fill="hold" evtFilter="cancelBubble" nodeType="interactiveSeq">
                <p:stCondLst>
                  <p:cond evt="onClick" delay="0">
                    <p:tgtEl>
                      <p:spTgt spid="32"/>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32"/>
                                        </p:tgtEl>
                                      </p:cBhvr>
                                    </p:animEffect>
                                    <p:set>
                                      <p:cBhvr>
                                        <p:cTn id="13" dur="1" fill="hold">
                                          <p:stCondLst>
                                            <p:cond delay="499"/>
                                          </p:stCondLst>
                                        </p:cTn>
                                        <p:tgtEl>
                                          <p:spTgt spid="32"/>
                                        </p:tgtEl>
                                        <p:attrNameLst>
                                          <p:attrName>style.visibility</p:attrName>
                                        </p:attrNameLst>
                                      </p:cBhvr>
                                      <p:to>
                                        <p:strVal val="hidden"/>
                                      </p:to>
                                    </p:set>
                                  </p:childTnLst>
                                </p:cTn>
                              </p:par>
                            </p:childTnLst>
                          </p:cTn>
                        </p:par>
                      </p:childTnLst>
                    </p:cTn>
                  </p:par>
                </p:childTnLst>
              </p:cTn>
              <p:nextCondLst>
                <p:cond evt="onClick" delay="0">
                  <p:tgtEl>
                    <p:spTgt spid="32"/>
                  </p:tgtEl>
                </p:cond>
              </p:nextCondLst>
            </p:seq>
          </p:childTnLst>
        </p:cTn>
      </p:par>
    </p:tnLst>
    <p:bldLst>
      <p:bldP spid="30" grpId="0" animBg="1"/>
      <p:bldP spid="32"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vert="horz" wrap="square" lIns="324000" tIns="45720" rIns="91440" bIns="45720" rtlCol="0" anchor="ctr">
              <a:spAutoFit/>
            </a:bodyPr>
            <a:lstStyle>
              <a:defPPr>
                <a:defRPr lang="en-US"/>
              </a:defPPr>
              <a:lvl1pPr>
                <a:spcBef>
                  <a:spcPct val="0"/>
                </a:spcBef>
                <a:buNone/>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a:t>Exercise 4D – Pure 1 Page 69-71</a:t>
              </a:r>
            </a:p>
          </p:txBody>
        </p:sp>
        <p:cxnSp>
          <p:nvCxnSpPr>
            <p:cNvPr id="4" name="Straight Connector 3"/>
            <p:cNvCxnSpPr/>
            <p:nvPr/>
          </p:nvCxnSpPr>
          <p:spPr>
            <a:xfrm>
              <a:off x="218" y="601079"/>
              <a:ext cx="9144000" cy="0"/>
            </a:xfrm>
            <a:prstGeom prst="line">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cxnSp>
      </p:grpSp>
      <p:grpSp>
        <p:nvGrpSpPr>
          <p:cNvPr id="8" name="Group 7">
            <a:extLst>
              <a:ext uri="{FF2B5EF4-FFF2-40B4-BE49-F238E27FC236}">
                <a16:creationId xmlns:a16="http://schemas.microsoft.com/office/drawing/2014/main" id="{B0C54D79-52FF-3B95-43C6-DE750E62A0FB}"/>
              </a:ext>
            </a:extLst>
          </p:cNvPr>
          <p:cNvGrpSpPr/>
          <p:nvPr/>
        </p:nvGrpSpPr>
        <p:grpSpPr>
          <a:xfrm>
            <a:off x="179512" y="622745"/>
            <a:ext cx="5521712" cy="1222079"/>
            <a:chOff x="179512" y="622745"/>
            <a:chExt cx="7772400" cy="1720207"/>
          </a:xfrm>
        </p:grpSpPr>
        <p:pic>
          <p:nvPicPr>
            <p:cNvPr id="5" name="Picture 4">
              <a:extLst>
                <a:ext uri="{FF2B5EF4-FFF2-40B4-BE49-F238E27FC236}">
                  <a16:creationId xmlns:a16="http://schemas.microsoft.com/office/drawing/2014/main" id="{D4435CD2-DBBA-80BA-7719-A9D29DEC542D}"/>
                </a:ext>
              </a:extLst>
            </p:cNvPr>
            <p:cNvPicPr>
              <a:picLocks noChangeAspect="1"/>
            </p:cNvPicPr>
            <p:nvPr/>
          </p:nvPicPr>
          <p:blipFill>
            <a:blip r:embed="rId2"/>
            <a:stretch>
              <a:fillRect/>
            </a:stretch>
          </p:blipFill>
          <p:spPr>
            <a:xfrm>
              <a:off x="179512" y="622745"/>
              <a:ext cx="7772400" cy="1720207"/>
            </a:xfrm>
            <a:prstGeom prst="rect">
              <a:avLst/>
            </a:prstGeom>
          </p:spPr>
        </p:pic>
        <p:sp>
          <p:nvSpPr>
            <p:cNvPr id="6" name="Rectangle 5">
              <a:extLst>
                <a:ext uri="{FF2B5EF4-FFF2-40B4-BE49-F238E27FC236}">
                  <a16:creationId xmlns:a16="http://schemas.microsoft.com/office/drawing/2014/main" id="{E1CF5D20-F2C3-3AD2-9AD4-80875B5538B4}"/>
                </a:ext>
              </a:extLst>
            </p:cNvPr>
            <p:cNvSpPr/>
            <p:nvPr/>
          </p:nvSpPr>
          <p:spPr>
            <a:xfrm>
              <a:off x="4211960" y="622745"/>
              <a:ext cx="3672408" cy="71802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984D638E-0968-BF49-E3A2-F95C8BA19E40}"/>
                </a:ext>
              </a:extLst>
            </p:cNvPr>
            <p:cNvSpPr/>
            <p:nvPr/>
          </p:nvSpPr>
          <p:spPr>
            <a:xfrm>
              <a:off x="6660232" y="1404123"/>
              <a:ext cx="1224136" cy="8876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9" name="Picture 8">
            <a:extLst>
              <a:ext uri="{FF2B5EF4-FFF2-40B4-BE49-F238E27FC236}">
                <a16:creationId xmlns:a16="http://schemas.microsoft.com/office/drawing/2014/main" id="{D1ABF550-57AF-636E-0517-CD0A09C91F82}"/>
              </a:ext>
            </a:extLst>
          </p:cNvPr>
          <p:cNvPicPr>
            <a:picLocks noChangeAspect="1"/>
          </p:cNvPicPr>
          <p:nvPr/>
        </p:nvPicPr>
        <p:blipFill>
          <a:blip r:embed="rId3"/>
          <a:stretch>
            <a:fillRect/>
          </a:stretch>
        </p:blipFill>
        <p:spPr>
          <a:xfrm>
            <a:off x="599880" y="2018127"/>
            <a:ext cx="2664296" cy="3539841"/>
          </a:xfrm>
          <a:prstGeom prst="rect">
            <a:avLst/>
          </a:prstGeom>
        </p:spPr>
      </p:pic>
      <p:pic>
        <p:nvPicPr>
          <p:cNvPr id="10" name="Picture 9">
            <a:extLst>
              <a:ext uri="{FF2B5EF4-FFF2-40B4-BE49-F238E27FC236}">
                <a16:creationId xmlns:a16="http://schemas.microsoft.com/office/drawing/2014/main" id="{63FD7A34-7F5E-9B6D-90DA-27FDCF3A47F6}"/>
              </a:ext>
            </a:extLst>
          </p:cNvPr>
          <p:cNvPicPr>
            <a:picLocks noChangeAspect="1"/>
          </p:cNvPicPr>
          <p:nvPr/>
        </p:nvPicPr>
        <p:blipFill>
          <a:blip r:embed="rId4"/>
          <a:stretch>
            <a:fillRect/>
          </a:stretch>
        </p:blipFill>
        <p:spPr>
          <a:xfrm>
            <a:off x="534509" y="5600124"/>
            <a:ext cx="3006547" cy="834625"/>
          </a:xfrm>
          <a:prstGeom prst="rect">
            <a:avLst/>
          </a:prstGeom>
        </p:spPr>
      </p:pic>
      <p:pic>
        <p:nvPicPr>
          <p:cNvPr id="11" name="Picture 10">
            <a:extLst>
              <a:ext uri="{FF2B5EF4-FFF2-40B4-BE49-F238E27FC236}">
                <a16:creationId xmlns:a16="http://schemas.microsoft.com/office/drawing/2014/main" id="{DE4E8DE9-869D-9117-104A-EC714DC02774}"/>
              </a:ext>
            </a:extLst>
          </p:cNvPr>
          <p:cNvPicPr>
            <a:picLocks noChangeAspect="1"/>
          </p:cNvPicPr>
          <p:nvPr/>
        </p:nvPicPr>
        <p:blipFill>
          <a:blip r:embed="rId5"/>
          <a:stretch>
            <a:fillRect/>
          </a:stretch>
        </p:blipFill>
        <p:spPr>
          <a:xfrm>
            <a:off x="4680728" y="2060847"/>
            <a:ext cx="2514600" cy="1727200"/>
          </a:xfrm>
          <a:prstGeom prst="rect">
            <a:avLst/>
          </a:prstGeom>
        </p:spPr>
      </p:pic>
      <p:pic>
        <p:nvPicPr>
          <p:cNvPr id="12" name="Picture 11">
            <a:extLst>
              <a:ext uri="{FF2B5EF4-FFF2-40B4-BE49-F238E27FC236}">
                <a16:creationId xmlns:a16="http://schemas.microsoft.com/office/drawing/2014/main" id="{4BF93EE2-8E03-7CAA-31E7-96532C71AEEC}"/>
              </a:ext>
            </a:extLst>
          </p:cNvPr>
          <p:cNvPicPr>
            <a:picLocks noChangeAspect="1"/>
          </p:cNvPicPr>
          <p:nvPr/>
        </p:nvPicPr>
        <p:blipFill>
          <a:blip r:embed="rId6"/>
          <a:stretch>
            <a:fillRect/>
          </a:stretch>
        </p:blipFill>
        <p:spPr>
          <a:xfrm>
            <a:off x="4680728" y="4250349"/>
            <a:ext cx="3530600" cy="2184400"/>
          </a:xfrm>
          <a:prstGeom prst="rect">
            <a:avLst/>
          </a:prstGeom>
        </p:spPr>
      </p:pic>
      <p:sp>
        <p:nvSpPr>
          <p:cNvPr id="13" name="Rectangle 12">
            <a:extLst>
              <a:ext uri="{FF2B5EF4-FFF2-40B4-BE49-F238E27FC236}">
                <a16:creationId xmlns:a16="http://schemas.microsoft.com/office/drawing/2014/main" id="{71B1ED6C-0C14-9C5F-4846-4C5D3B936361}"/>
              </a:ext>
            </a:extLst>
          </p:cNvPr>
          <p:cNvSpPr/>
          <p:nvPr/>
        </p:nvSpPr>
        <p:spPr>
          <a:xfrm>
            <a:off x="539552" y="1886980"/>
            <a:ext cx="3744416" cy="3630252"/>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a:t>
            </a:r>
          </a:p>
        </p:txBody>
      </p:sp>
      <p:sp>
        <p:nvSpPr>
          <p:cNvPr id="14" name="Rectangle 13">
            <a:extLst>
              <a:ext uri="{FF2B5EF4-FFF2-40B4-BE49-F238E27FC236}">
                <a16:creationId xmlns:a16="http://schemas.microsoft.com/office/drawing/2014/main" id="{BDC3DF33-C31D-F6A8-76B9-8A9FB60C2E13}"/>
              </a:ext>
            </a:extLst>
          </p:cNvPr>
          <p:cNvSpPr/>
          <p:nvPr/>
        </p:nvSpPr>
        <p:spPr>
          <a:xfrm>
            <a:off x="539552" y="5689114"/>
            <a:ext cx="3744416" cy="1009599"/>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b?</a:t>
            </a:r>
          </a:p>
        </p:txBody>
      </p:sp>
      <p:sp>
        <p:nvSpPr>
          <p:cNvPr id="15" name="Rectangle 14">
            <a:extLst>
              <a:ext uri="{FF2B5EF4-FFF2-40B4-BE49-F238E27FC236}">
                <a16:creationId xmlns:a16="http://schemas.microsoft.com/office/drawing/2014/main" id="{8DB8CD6F-6E90-CD57-0991-01EC9828D218}"/>
              </a:ext>
            </a:extLst>
          </p:cNvPr>
          <p:cNvSpPr/>
          <p:nvPr/>
        </p:nvSpPr>
        <p:spPr>
          <a:xfrm>
            <a:off x="4499992" y="1876388"/>
            <a:ext cx="3744416" cy="2120590"/>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c?</a:t>
            </a:r>
          </a:p>
        </p:txBody>
      </p:sp>
      <p:sp>
        <p:nvSpPr>
          <p:cNvPr id="16" name="Rectangle 15">
            <a:extLst>
              <a:ext uri="{FF2B5EF4-FFF2-40B4-BE49-F238E27FC236}">
                <a16:creationId xmlns:a16="http://schemas.microsoft.com/office/drawing/2014/main" id="{714034F0-ACD0-AC7E-022C-97928E43E233}"/>
              </a:ext>
            </a:extLst>
          </p:cNvPr>
          <p:cNvSpPr/>
          <p:nvPr/>
        </p:nvSpPr>
        <p:spPr>
          <a:xfrm>
            <a:off x="4499992" y="4149079"/>
            <a:ext cx="3744416" cy="2539041"/>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d?</a:t>
            </a:r>
          </a:p>
        </p:txBody>
      </p:sp>
    </p:spTree>
    <p:extLst>
      <p:ext uri="{BB962C8B-B14F-4D97-AF65-F5344CB8AC3E}">
        <p14:creationId xmlns:p14="http://schemas.microsoft.com/office/powerpoint/2010/main" val="105944136"/>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3"/>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3"/>
                                        </p:tgtEl>
                                      </p:cBhvr>
                                    </p:animEffect>
                                    <p:set>
                                      <p:cBhvr>
                                        <p:cTn id="7" dur="1" fill="hold">
                                          <p:stCondLst>
                                            <p:cond delay="499"/>
                                          </p:stCondLst>
                                        </p:cTn>
                                        <p:tgtEl>
                                          <p:spTgt spid="13"/>
                                        </p:tgtEl>
                                        <p:attrNameLst>
                                          <p:attrName>style.visibility</p:attrName>
                                        </p:attrNameLst>
                                      </p:cBhvr>
                                      <p:to>
                                        <p:strVal val="hidden"/>
                                      </p:to>
                                    </p:set>
                                  </p:childTnLst>
                                </p:cTn>
                              </p:par>
                            </p:childTnLst>
                          </p:cTn>
                        </p:par>
                      </p:childTnLst>
                    </p:cTn>
                  </p:par>
                </p:childTnLst>
              </p:cTn>
              <p:nextCondLst>
                <p:cond evt="onClick" delay="0">
                  <p:tgtEl>
                    <p:spTgt spid="13"/>
                  </p:tgtEl>
                </p:cond>
              </p:nextCondLst>
            </p:seq>
            <p:seq concurrent="1" nextAc="seek">
              <p:cTn id="8" restart="whenNotActive" fill="hold" evtFilter="cancelBubble" nodeType="interactiveSeq">
                <p:stCondLst>
                  <p:cond evt="onClick" delay="0">
                    <p:tgtEl>
                      <p:spTgt spid="14"/>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4"/>
                                        </p:tgtEl>
                                      </p:cBhvr>
                                    </p:animEffect>
                                    <p:set>
                                      <p:cBhvr>
                                        <p:cTn id="13" dur="1" fill="hold">
                                          <p:stCondLst>
                                            <p:cond delay="499"/>
                                          </p:stCondLst>
                                        </p:cTn>
                                        <p:tgtEl>
                                          <p:spTgt spid="14"/>
                                        </p:tgtEl>
                                        <p:attrNameLst>
                                          <p:attrName>style.visibility</p:attrName>
                                        </p:attrNameLst>
                                      </p:cBhvr>
                                      <p:to>
                                        <p:strVal val="hidden"/>
                                      </p:to>
                                    </p:set>
                                  </p:childTnLst>
                                </p:cTn>
                              </p:par>
                            </p:childTnLst>
                          </p:cTn>
                        </p:par>
                      </p:childTnLst>
                    </p:cTn>
                  </p:par>
                </p:childTnLst>
              </p:cTn>
              <p:nextCondLst>
                <p:cond evt="onClick" delay="0">
                  <p:tgtEl>
                    <p:spTgt spid="14"/>
                  </p:tgtEl>
                </p:cond>
              </p:nextCondLst>
            </p:seq>
            <p:seq concurrent="1" nextAc="seek">
              <p:cTn id="14" restart="whenNotActive" fill="hold" evtFilter="cancelBubble" nodeType="interactiveSeq">
                <p:stCondLst>
                  <p:cond evt="onClick" delay="0">
                    <p:tgtEl>
                      <p:spTgt spid="15"/>
                    </p:tgtEl>
                  </p:cond>
                </p:stCondLst>
                <p:endSync evt="end" delay="0">
                  <p:rtn val="all"/>
                </p:endSync>
                <p:childTnLst>
                  <p:par>
                    <p:cTn id="15" fill="hold">
                      <p:stCondLst>
                        <p:cond delay="0"/>
                      </p:stCondLst>
                      <p:childTnLst>
                        <p:par>
                          <p:cTn id="16" fill="hold">
                            <p:stCondLst>
                              <p:cond delay="0"/>
                            </p:stCondLst>
                            <p:childTnLst>
                              <p:par>
                                <p:cTn id="17" presetID="10" presetClass="exit" presetSubtype="0" fill="hold" grpId="0" nodeType="clickEffect">
                                  <p:stCondLst>
                                    <p:cond delay="0"/>
                                  </p:stCondLst>
                                  <p:childTnLst>
                                    <p:animEffect transition="out" filter="fade">
                                      <p:cBhvr>
                                        <p:cTn id="18" dur="500"/>
                                        <p:tgtEl>
                                          <p:spTgt spid="15"/>
                                        </p:tgtEl>
                                      </p:cBhvr>
                                    </p:animEffect>
                                    <p:set>
                                      <p:cBhvr>
                                        <p:cTn id="19" dur="1" fill="hold">
                                          <p:stCondLst>
                                            <p:cond delay="499"/>
                                          </p:stCondLst>
                                        </p:cTn>
                                        <p:tgtEl>
                                          <p:spTgt spid="15"/>
                                        </p:tgtEl>
                                        <p:attrNameLst>
                                          <p:attrName>style.visibility</p:attrName>
                                        </p:attrNameLst>
                                      </p:cBhvr>
                                      <p:to>
                                        <p:strVal val="hidden"/>
                                      </p:to>
                                    </p:set>
                                  </p:childTnLst>
                                </p:cTn>
                              </p:par>
                            </p:childTnLst>
                          </p:cTn>
                        </p:par>
                      </p:childTnLst>
                    </p:cTn>
                  </p:par>
                </p:childTnLst>
              </p:cTn>
              <p:nextCondLst>
                <p:cond evt="onClick" delay="0">
                  <p:tgtEl>
                    <p:spTgt spid="15"/>
                  </p:tgtEl>
                </p:cond>
              </p:nextCondLst>
            </p:seq>
            <p:seq concurrent="1" nextAc="seek">
              <p:cTn id="20" restart="whenNotActive" fill="hold" evtFilter="cancelBubble" nodeType="interactiveSeq">
                <p:stCondLst>
                  <p:cond evt="onClick" delay="0">
                    <p:tgtEl>
                      <p:spTgt spid="16"/>
                    </p:tgtEl>
                  </p:cond>
                </p:stCondLst>
                <p:endSync evt="end" delay="0">
                  <p:rtn val="all"/>
                </p:endSync>
                <p:childTnLst>
                  <p:par>
                    <p:cTn id="21" fill="hold">
                      <p:stCondLst>
                        <p:cond delay="0"/>
                      </p:stCondLst>
                      <p:childTnLst>
                        <p:par>
                          <p:cTn id="22" fill="hold">
                            <p:stCondLst>
                              <p:cond delay="0"/>
                            </p:stCondLst>
                            <p:childTnLst>
                              <p:par>
                                <p:cTn id="23" presetID="10" presetClass="exit" presetSubtype="0" fill="hold" grpId="0" nodeType="clickEffect">
                                  <p:stCondLst>
                                    <p:cond delay="0"/>
                                  </p:stCondLst>
                                  <p:childTnLst>
                                    <p:animEffect transition="out" filter="fade">
                                      <p:cBhvr>
                                        <p:cTn id="24" dur="500"/>
                                        <p:tgtEl>
                                          <p:spTgt spid="16"/>
                                        </p:tgtEl>
                                      </p:cBhvr>
                                    </p:animEffect>
                                    <p:set>
                                      <p:cBhvr>
                                        <p:cTn id="25" dur="1" fill="hold">
                                          <p:stCondLst>
                                            <p:cond delay="499"/>
                                          </p:stCondLst>
                                        </p:cTn>
                                        <p:tgtEl>
                                          <p:spTgt spid="16"/>
                                        </p:tgtEl>
                                        <p:attrNameLst>
                                          <p:attrName>style.visibility</p:attrName>
                                        </p:attrNameLst>
                                      </p:cBhvr>
                                      <p:to>
                                        <p:strVal val="hidden"/>
                                      </p:to>
                                    </p:set>
                                  </p:childTnLst>
                                </p:cTn>
                              </p:par>
                            </p:childTnLst>
                          </p:cTn>
                        </p:par>
                      </p:childTnLst>
                    </p:cTn>
                  </p:par>
                </p:childTnLst>
              </p:cTn>
              <p:nextCondLst>
                <p:cond evt="onClick" delay="0">
                  <p:tgtEl>
                    <p:spTgt spid="16"/>
                  </p:tgtEl>
                </p:cond>
              </p:nextCondLst>
            </p:seq>
          </p:childTnLst>
        </p:cTn>
      </p:par>
    </p:tnLst>
    <p:bldLst>
      <p:bldP spid="13" grpId="0" animBg="1"/>
      <p:bldP spid="14" grpId="0" animBg="1"/>
      <p:bldP spid="15" grpId="0" animBg="1"/>
      <p:bldP spid="16"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vert="horz" wrap="square" lIns="324000" tIns="45720" rIns="91440" bIns="45720" rtlCol="0" anchor="ctr">
              <a:spAutoFit/>
            </a:bodyPr>
            <a:lstStyle>
              <a:defPPr>
                <a:defRPr lang="en-US"/>
              </a:defPPr>
              <a:lvl1pPr>
                <a:spcBef>
                  <a:spcPct val="0"/>
                </a:spcBef>
                <a:buNone/>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a:t>Exercise 4D – Pure 1 Page 69-71</a:t>
              </a:r>
            </a:p>
          </p:txBody>
        </p:sp>
        <p:cxnSp>
          <p:nvCxnSpPr>
            <p:cNvPr id="4" name="Straight Connector 3"/>
            <p:cNvCxnSpPr/>
            <p:nvPr/>
          </p:nvCxnSpPr>
          <p:spPr>
            <a:xfrm>
              <a:off x="218" y="601079"/>
              <a:ext cx="9144000" cy="0"/>
            </a:xfrm>
            <a:prstGeom prst="line">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cxnSp>
      </p:grpSp>
      <p:pic>
        <p:nvPicPr>
          <p:cNvPr id="5" name="Picture 4">
            <a:extLst>
              <a:ext uri="{FF2B5EF4-FFF2-40B4-BE49-F238E27FC236}">
                <a16:creationId xmlns:a16="http://schemas.microsoft.com/office/drawing/2014/main" id="{52006084-00BE-1E56-64CD-595AB0D97AF6}"/>
              </a:ext>
            </a:extLst>
          </p:cNvPr>
          <p:cNvPicPr>
            <a:picLocks noChangeAspect="1"/>
          </p:cNvPicPr>
          <p:nvPr/>
        </p:nvPicPr>
        <p:blipFill>
          <a:blip r:embed="rId2"/>
          <a:stretch>
            <a:fillRect/>
          </a:stretch>
        </p:blipFill>
        <p:spPr>
          <a:xfrm>
            <a:off x="107504" y="616072"/>
            <a:ext cx="6048672" cy="950764"/>
          </a:xfrm>
          <a:prstGeom prst="rect">
            <a:avLst/>
          </a:prstGeom>
        </p:spPr>
      </p:pic>
      <p:pic>
        <p:nvPicPr>
          <p:cNvPr id="7" name="Picture 6">
            <a:extLst>
              <a:ext uri="{FF2B5EF4-FFF2-40B4-BE49-F238E27FC236}">
                <a16:creationId xmlns:a16="http://schemas.microsoft.com/office/drawing/2014/main" id="{17799C44-B5CB-EA18-1984-265B5F34CA62}"/>
              </a:ext>
            </a:extLst>
          </p:cNvPr>
          <p:cNvPicPr>
            <a:picLocks noChangeAspect="1"/>
          </p:cNvPicPr>
          <p:nvPr/>
        </p:nvPicPr>
        <p:blipFill>
          <a:blip r:embed="rId3"/>
          <a:stretch>
            <a:fillRect/>
          </a:stretch>
        </p:blipFill>
        <p:spPr>
          <a:xfrm>
            <a:off x="395536" y="1700808"/>
            <a:ext cx="2907776" cy="3271248"/>
          </a:xfrm>
          <a:prstGeom prst="rect">
            <a:avLst/>
          </a:prstGeom>
        </p:spPr>
      </p:pic>
      <p:pic>
        <p:nvPicPr>
          <p:cNvPr id="8" name="Picture 7">
            <a:extLst>
              <a:ext uri="{FF2B5EF4-FFF2-40B4-BE49-F238E27FC236}">
                <a16:creationId xmlns:a16="http://schemas.microsoft.com/office/drawing/2014/main" id="{CDC6A467-DE9E-251E-F503-5847F4705A38}"/>
              </a:ext>
            </a:extLst>
          </p:cNvPr>
          <p:cNvPicPr>
            <a:picLocks noChangeAspect="1"/>
          </p:cNvPicPr>
          <p:nvPr/>
        </p:nvPicPr>
        <p:blipFill>
          <a:blip r:embed="rId4"/>
          <a:stretch>
            <a:fillRect/>
          </a:stretch>
        </p:blipFill>
        <p:spPr>
          <a:xfrm>
            <a:off x="424295" y="5082667"/>
            <a:ext cx="3224404" cy="1509514"/>
          </a:xfrm>
          <a:prstGeom prst="rect">
            <a:avLst/>
          </a:prstGeom>
        </p:spPr>
      </p:pic>
      <p:pic>
        <p:nvPicPr>
          <p:cNvPr id="9" name="Picture 8">
            <a:extLst>
              <a:ext uri="{FF2B5EF4-FFF2-40B4-BE49-F238E27FC236}">
                <a16:creationId xmlns:a16="http://schemas.microsoft.com/office/drawing/2014/main" id="{58EBD9CB-FD1D-323E-1159-4945CDC67E42}"/>
              </a:ext>
            </a:extLst>
          </p:cNvPr>
          <p:cNvPicPr>
            <a:picLocks noChangeAspect="1"/>
          </p:cNvPicPr>
          <p:nvPr/>
        </p:nvPicPr>
        <p:blipFill>
          <a:blip r:embed="rId5"/>
          <a:stretch>
            <a:fillRect/>
          </a:stretch>
        </p:blipFill>
        <p:spPr>
          <a:xfrm>
            <a:off x="4200376" y="1772816"/>
            <a:ext cx="3911600" cy="2641600"/>
          </a:xfrm>
          <a:prstGeom prst="rect">
            <a:avLst/>
          </a:prstGeom>
        </p:spPr>
      </p:pic>
      <p:sp>
        <p:nvSpPr>
          <p:cNvPr id="10" name="Rectangle 9">
            <a:extLst>
              <a:ext uri="{FF2B5EF4-FFF2-40B4-BE49-F238E27FC236}">
                <a16:creationId xmlns:a16="http://schemas.microsoft.com/office/drawing/2014/main" id="{38AEB97F-2EEA-F666-D6E5-35BACDE1ACB9}"/>
              </a:ext>
            </a:extLst>
          </p:cNvPr>
          <p:cNvSpPr/>
          <p:nvPr/>
        </p:nvSpPr>
        <p:spPr>
          <a:xfrm>
            <a:off x="323528" y="1590198"/>
            <a:ext cx="3672408" cy="3271248"/>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a:t>
            </a:r>
          </a:p>
        </p:txBody>
      </p:sp>
      <p:sp>
        <p:nvSpPr>
          <p:cNvPr id="11" name="Rectangle 10">
            <a:extLst>
              <a:ext uri="{FF2B5EF4-FFF2-40B4-BE49-F238E27FC236}">
                <a16:creationId xmlns:a16="http://schemas.microsoft.com/office/drawing/2014/main" id="{FD43D983-2E32-4AF3-E284-80AF27D12996}"/>
              </a:ext>
            </a:extLst>
          </p:cNvPr>
          <p:cNvSpPr/>
          <p:nvPr/>
        </p:nvSpPr>
        <p:spPr>
          <a:xfrm>
            <a:off x="4283968" y="1590198"/>
            <a:ext cx="3672408" cy="3271248"/>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b?</a:t>
            </a:r>
          </a:p>
        </p:txBody>
      </p:sp>
      <p:sp>
        <p:nvSpPr>
          <p:cNvPr id="12" name="Rectangle 11">
            <a:extLst>
              <a:ext uri="{FF2B5EF4-FFF2-40B4-BE49-F238E27FC236}">
                <a16:creationId xmlns:a16="http://schemas.microsoft.com/office/drawing/2014/main" id="{0C670ED0-A471-02E9-CD8B-E2A5EB5E27B0}"/>
              </a:ext>
            </a:extLst>
          </p:cNvPr>
          <p:cNvSpPr/>
          <p:nvPr/>
        </p:nvSpPr>
        <p:spPr>
          <a:xfrm>
            <a:off x="323528" y="5082666"/>
            <a:ext cx="3672408" cy="1580319"/>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c?</a:t>
            </a:r>
          </a:p>
        </p:txBody>
      </p:sp>
    </p:spTree>
    <p:extLst>
      <p:ext uri="{BB962C8B-B14F-4D97-AF65-F5344CB8AC3E}">
        <p14:creationId xmlns:p14="http://schemas.microsoft.com/office/powerpoint/2010/main" val="3348836520"/>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0"/>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0"/>
                                        </p:tgtEl>
                                      </p:cBhvr>
                                    </p:animEffect>
                                    <p:set>
                                      <p:cBhvr>
                                        <p:cTn id="7" dur="1" fill="hold">
                                          <p:stCondLst>
                                            <p:cond delay="499"/>
                                          </p:stCondLst>
                                        </p:cTn>
                                        <p:tgtEl>
                                          <p:spTgt spid="10"/>
                                        </p:tgtEl>
                                        <p:attrNameLst>
                                          <p:attrName>style.visibility</p:attrName>
                                        </p:attrNameLst>
                                      </p:cBhvr>
                                      <p:to>
                                        <p:strVal val="hidden"/>
                                      </p:to>
                                    </p:set>
                                  </p:childTnLst>
                                </p:cTn>
                              </p:par>
                            </p:childTnLst>
                          </p:cTn>
                        </p:par>
                      </p:childTnLst>
                    </p:cTn>
                  </p:par>
                </p:childTnLst>
              </p:cTn>
              <p:nextCondLst>
                <p:cond evt="onClick" delay="0">
                  <p:tgtEl>
                    <p:spTgt spid="10"/>
                  </p:tgtEl>
                </p:cond>
              </p:nextCondLst>
            </p:seq>
            <p:seq concurrent="1" nextAc="seek">
              <p:cTn id="8" restart="whenNotActive" fill="hold" evtFilter="cancelBubble" nodeType="interactiveSeq">
                <p:stCondLst>
                  <p:cond evt="onClick" delay="0">
                    <p:tgtEl>
                      <p:spTgt spid="11"/>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1"/>
                                        </p:tgtEl>
                                      </p:cBhvr>
                                    </p:animEffect>
                                    <p:set>
                                      <p:cBhvr>
                                        <p:cTn id="13" dur="1" fill="hold">
                                          <p:stCondLst>
                                            <p:cond delay="499"/>
                                          </p:stCondLst>
                                        </p:cTn>
                                        <p:tgtEl>
                                          <p:spTgt spid="11"/>
                                        </p:tgtEl>
                                        <p:attrNameLst>
                                          <p:attrName>style.visibility</p:attrName>
                                        </p:attrNameLst>
                                      </p:cBhvr>
                                      <p:to>
                                        <p:strVal val="hidden"/>
                                      </p:to>
                                    </p:set>
                                  </p:childTnLst>
                                </p:cTn>
                              </p:par>
                            </p:childTnLst>
                          </p:cTn>
                        </p:par>
                      </p:childTnLst>
                    </p:cTn>
                  </p:par>
                </p:childTnLst>
              </p:cTn>
              <p:nextCondLst>
                <p:cond evt="onClick" delay="0">
                  <p:tgtEl>
                    <p:spTgt spid="11"/>
                  </p:tgtEl>
                </p:cond>
              </p:nextCondLst>
            </p:seq>
            <p:seq concurrent="1" nextAc="seek">
              <p:cTn id="14" restart="whenNotActive" fill="hold" evtFilter="cancelBubble" nodeType="interactiveSeq">
                <p:stCondLst>
                  <p:cond evt="onClick" delay="0">
                    <p:tgtEl>
                      <p:spTgt spid="12"/>
                    </p:tgtEl>
                  </p:cond>
                </p:stCondLst>
                <p:endSync evt="end" delay="0">
                  <p:rtn val="all"/>
                </p:endSync>
                <p:childTnLst>
                  <p:par>
                    <p:cTn id="15" fill="hold">
                      <p:stCondLst>
                        <p:cond delay="0"/>
                      </p:stCondLst>
                      <p:childTnLst>
                        <p:par>
                          <p:cTn id="16" fill="hold">
                            <p:stCondLst>
                              <p:cond delay="0"/>
                            </p:stCondLst>
                            <p:childTnLst>
                              <p:par>
                                <p:cTn id="17" presetID="10" presetClass="exit" presetSubtype="0" fill="hold" grpId="0" nodeType="clickEffect">
                                  <p:stCondLst>
                                    <p:cond delay="0"/>
                                  </p:stCondLst>
                                  <p:childTnLst>
                                    <p:animEffect transition="out" filter="fade">
                                      <p:cBhvr>
                                        <p:cTn id="18" dur="500"/>
                                        <p:tgtEl>
                                          <p:spTgt spid="12"/>
                                        </p:tgtEl>
                                      </p:cBhvr>
                                    </p:animEffect>
                                    <p:set>
                                      <p:cBhvr>
                                        <p:cTn id="19" dur="1" fill="hold">
                                          <p:stCondLst>
                                            <p:cond delay="499"/>
                                          </p:stCondLst>
                                        </p:cTn>
                                        <p:tgtEl>
                                          <p:spTgt spid="12"/>
                                        </p:tgtEl>
                                        <p:attrNameLst>
                                          <p:attrName>style.visibility</p:attrName>
                                        </p:attrNameLst>
                                      </p:cBhvr>
                                      <p:to>
                                        <p:strVal val="hidden"/>
                                      </p:to>
                                    </p:set>
                                  </p:childTnLst>
                                </p:cTn>
                              </p:par>
                            </p:childTnLst>
                          </p:cTn>
                        </p:par>
                      </p:childTnLst>
                    </p:cTn>
                  </p:par>
                </p:childTnLst>
              </p:cTn>
              <p:nextCondLst>
                <p:cond evt="onClick" delay="0">
                  <p:tgtEl>
                    <p:spTgt spid="12"/>
                  </p:tgtEl>
                </p:cond>
              </p:nextCondLst>
            </p:seq>
          </p:childTnLst>
        </p:cTn>
      </p:par>
    </p:tnLst>
    <p:bldLst>
      <p:bldP spid="10" grpId="0" animBg="1"/>
      <p:bldP spid="11" grpId="0" animBg="1"/>
      <p:bldP spid="12"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vert="horz" wrap="square" lIns="324000" tIns="45720" rIns="91440" bIns="45720" rtlCol="0" anchor="ctr">
              <a:spAutoFit/>
            </a:bodyPr>
            <a:lstStyle>
              <a:defPPr>
                <a:defRPr lang="en-US"/>
              </a:defPPr>
              <a:lvl1pPr>
                <a:spcBef>
                  <a:spcPct val="0"/>
                </a:spcBef>
                <a:buNone/>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a:t>Exercise 4D – Pure 1 Page 69-71</a:t>
              </a:r>
            </a:p>
          </p:txBody>
        </p:sp>
        <p:cxnSp>
          <p:nvCxnSpPr>
            <p:cNvPr id="4" name="Straight Connector 3"/>
            <p:cNvCxnSpPr/>
            <p:nvPr/>
          </p:nvCxnSpPr>
          <p:spPr>
            <a:xfrm>
              <a:off x="218" y="601079"/>
              <a:ext cx="9144000" cy="0"/>
            </a:xfrm>
            <a:prstGeom prst="line">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cxnSp>
      </p:grpSp>
      <p:pic>
        <p:nvPicPr>
          <p:cNvPr id="6" name="Picture 5">
            <a:extLst>
              <a:ext uri="{FF2B5EF4-FFF2-40B4-BE49-F238E27FC236}">
                <a16:creationId xmlns:a16="http://schemas.microsoft.com/office/drawing/2014/main" id="{727C2914-13E7-8D21-635A-05C443E503C1}"/>
              </a:ext>
            </a:extLst>
          </p:cNvPr>
          <p:cNvPicPr>
            <a:picLocks noChangeAspect="1"/>
          </p:cNvPicPr>
          <p:nvPr/>
        </p:nvPicPr>
        <p:blipFill>
          <a:blip r:embed="rId2"/>
          <a:stretch>
            <a:fillRect/>
          </a:stretch>
        </p:blipFill>
        <p:spPr>
          <a:xfrm>
            <a:off x="0" y="649000"/>
            <a:ext cx="6048672" cy="559698"/>
          </a:xfrm>
          <a:prstGeom prst="rect">
            <a:avLst/>
          </a:prstGeom>
        </p:spPr>
      </p:pic>
      <p:grpSp>
        <p:nvGrpSpPr>
          <p:cNvPr id="10" name="Group 9">
            <a:extLst>
              <a:ext uri="{FF2B5EF4-FFF2-40B4-BE49-F238E27FC236}">
                <a16:creationId xmlns:a16="http://schemas.microsoft.com/office/drawing/2014/main" id="{D0245F92-3E04-4E59-2636-5EB0F2903CE3}"/>
              </a:ext>
            </a:extLst>
          </p:cNvPr>
          <p:cNvGrpSpPr/>
          <p:nvPr/>
        </p:nvGrpSpPr>
        <p:grpSpPr>
          <a:xfrm>
            <a:off x="323528" y="1340768"/>
            <a:ext cx="3312368" cy="5122218"/>
            <a:chOff x="395536" y="1484784"/>
            <a:chExt cx="3024336" cy="4676808"/>
          </a:xfrm>
        </p:grpSpPr>
        <p:pic>
          <p:nvPicPr>
            <p:cNvPr id="8" name="Picture 7">
              <a:extLst>
                <a:ext uri="{FF2B5EF4-FFF2-40B4-BE49-F238E27FC236}">
                  <a16:creationId xmlns:a16="http://schemas.microsoft.com/office/drawing/2014/main" id="{CD994903-D146-2F6A-9985-F88477713E0A}"/>
                </a:ext>
              </a:extLst>
            </p:cNvPr>
            <p:cNvPicPr>
              <a:picLocks noChangeAspect="1"/>
            </p:cNvPicPr>
            <p:nvPr/>
          </p:nvPicPr>
          <p:blipFill>
            <a:blip r:embed="rId3"/>
            <a:stretch>
              <a:fillRect/>
            </a:stretch>
          </p:blipFill>
          <p:spPr>
            <a:xfrm>
              <a:off x="395536" y="1484784"/>
              <a:ext cx="3024336" cy="1652472"/>
            </a:xfrm>
            <a:prstGeom prst="rect">
              <a:avLst/>
            </a:prstGeom>
          </p:spPr>
        </p:pic>
        <p:pic>
          <p:nvPicPr>
            <p:cNvPr id="9" name="Picture 8">
              <a:extLst>
                <a:ext uri="{FF2B5EF4-FFF2-40B4-BE49-F238E27FC236}">
                  <a16:creationId xmlns:a16="http://schemas.microsoft.com/office/drawing/2014/main" id="{8D962FE3-43E3-DE4A-53CE-ECB8F7D2369C}"/>
                </a:ext>
              </a:extLst>
            </p:cNvPr>
            <p:cNvPicPr>
              <a:picLocks noChangeAspect="1"/>
            </p:cNvPicPr>
            <p:nvPr/>
          </p:nvPicPr>
          <p:blipFill>
            <a:blip r:embed="rId4"/>
            <a:stretch>
              <a:fillRect/>
            </a:stretch>
          </p:blipFill>
          <p:spPr>
            <a:xfrm>
              <a:off x="395536" y="3137256"/>
              <a:ext cx="2465996" cy="3024336"/>
            </a:xfrm>
            <a:prstGeom prst="rect">
              <a:avLst/>
            </a:prstGeom>
          </p:spPr>
        </p:pic>
      </p:grpSp>
      <p:pic>
        <p:nvPicPr>
          <p:cNvPr id="11" name="Picture 10">
            <a:extLst>
              <a:ext uri="{FF2B5EF4-FFF2-40B4-BE49-F238E27FC236}">
                <a16:creationId xmlns:a16="http://schemas.microsoft.com/office/drawing/2014/main" id="{401D1B00-1AA2-9D37-D362-EE23F9326816}"/>
              </a:ext>
            </a:extLst>
          </p:cNvPr>
          <p:cNvPicPr>
            <a:picLocks noChangeAspect="1"/>
          </p:cNvPicPr>
          <p:nvPr/>
        </p:nvPicPr>
        <p:blipFill>
          <a:blip r:embed="rId5"/>
          <a:stretch>
            <a:fillRect/>
          </a:stretch>
        </p:blipFill>
        <p:spPr>
          <a:xfrm>
            <a:off x="4355976" y="1366858"/>
            <a:ext cx="3386610" cy="1342062"/>
          </a:xfrm>
          <a:prstGeom prst="rect">
            <a:avLst/>
          </a:prstGeom>
        </p:spPr>
      </p:pic>
      <p:sp>
        <p:nvSpPr>
          <p:cNvPr id="12" name="Rectangle 11">
            <a:extLst>
              <a:ext uri="{FF2B5EF4-FFF2-40B4-BE49-F238E27FC236}">
                <a16:creationId xmlns:a16="http://schemas.microsoft.com/office/drawing/2014/main" id="{7B794493-D56E-2538-7C95-0A978962C36E}"/>
              </a:ext>
            </a:extLst>
          </p:cNvPr>
          <p:cNvSpPr/>
          <p:nvPr/>
        </p:nvSpPr>
        <p:spPr>
          <a:xfrm>
            <a:off x="179512" y="1330480"/>
            <a:ext cx="3672408" cy="5194863"/>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a:t>
            </a:r>
          </a:p>
        </p:txBody>
      </p:sp>
      <p:sp>
        <p:nvSpPr>
          <p:cNvPr id="13" name="Rectangle 12">
            <a:extLst>
              <a:ext uri="{FF2B5EF4-FFF2-40B4-BE49-F238E27FC236}">
                <a16:creationId xmlns:a16="http://schemas.microsoft.com/office/drawing/2014/main" id="{6B4F1C3C-8638-E706-2FA7-63D1D0CE6CE7}"/>
              </a:ext>
            </a:extLst>
          </p:cNvPr>
          <p:cNvSpPr/>
          <p:nvPr/>
        </p:nvSpPr>
        <p:spPr>
          <a:xfrm>
            <a:off x="4139952" y="1330481"/>
            <a:ext cx="3672408" cy="3271248"/>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b?</a:t>
            </a:r>
          </a:p>
        </p:txBody>
      </p:sp>
    </p:spTree>
    <p:extLst>
      <p:ext uri="{BB962C8B-B14F-4D97-AF65-F5344CB8AC3E}">
        <p14:creationId xmlns:p14="http://schemas.microsoft.com/office/powerpoint/2010/main" val="4123892484"/>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2"/>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2"/>
                                        </p:tgtEl>
                                      </p:cBhvr>
                                    </p:animEffect>
                                    <p:set>
                                      <p:cBhvr>
                                        <p:cTn id="7" dur="1" fill="hold">
                                          <p:stCondLst>
                                            <p:cond delay="499"/>
                                          </p:stCondLst>
                                        </p:cTn>
                                        <p:tgtEl>
                                          <p:spTgt spid="12"/>
                                        </p:tgtEl>
                                        <p:attrNameLst>
                                          <p:attrName>style.visibility</p:attrName>
                                        </p:attrNameLst>
                                      </p:cBhvr>
                                      <p:to>
                                        <p:strVal val="hidden"/>
                                      </p:to>
                                    </p:set>
                                  </p:childTnLst>
                                </p:cTn>
                              </p:par>
                            </p:childTnLst>
                          </p:cTn>
                        </p:par>
                      </p:childTnLst>
                    </p:cTn>
                  </p:par>
                </p:childTnLst>
              </p:cTn>
              <p:nextCondLst>
                <p:cond evt="onClick" delay="0">
                  <p:tgtEl>
                    <p:spTgt spid="12"/>
                  </p:tgtEl>
                </p:cond>
              </p:nextCondLst>
            </p:seq>
            <p:seq concurrent="1" nextAc="seek">
              <p:cTn id="8" restart="whenNotActive" fill="hold" evtFilter="cancelBubble" nodeType="interactiveSeq">
                <p:stCondLst>
                  <p:cond evt="onClick" delay="0">
                    <p:tgtEl>
                      <p:spTgt spid="13"/>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3"/>
                                        </p:tgtEl>
                                      </p:cBhvr>
                                    </p:animEffect>
                                    <p:set>
                                      <p:cBhvr>
                                        <p:cTn id="13" dur="1" fill="hold">
                                          <p:stCondLst>
                                            <p:cond delay="499"/>
                                          </p:stCondLst>
                                        </p:cTn>
                                        <p:tgtEl>
                                          <p:spTgt spid="13"/>
                                        </p:tgtEl>
                                        <p:attrNameLst>
                                          <p:attrName>style.visibility</p:attrName>
                                        </p:attrNameLst>
                                      </p:cBhvr>
                                      <p:to>
                                        <p:strVal val="hidden"/>
                                      </p:to>
                                    </p:set>
                                  </p:childTnLst>
                                </p:cTn>
                              </p:par>
                            </p:childTnLst>
                          </p:cTn>
                        </p:par>
                      </p:childTnLst>
                    </p:cTn>
                  </p:par>
                </p:childTnLst>
              </p:cTn>
              <p:nextCondLst>
                <p:cond evt="onClick" delay="0">
                  <p:tgtEl>
                    <p:spTgt spid="13"/>
                  </p:tgtEl>
                </p:cond>
              </p:nextCondLst>
            </p:seq>
          </p:childTnLst>
        </p:cTn>
      </p:par>
    </p:tnLst>
    <p:bldLst>
      <p:bldP spid="12" grpId="0" animBg="1"/>
      <p:bldP spid="13"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p:cNvPicPr>
            <a:picLocks noChangeAspect="1"/>
          </p:cNvPicPr>
          <p:nvPr/>
        </p:nvPicPr>
        <p:blipFill>
          <a:blip r:embed="rId2"/>
          <a:stretch>
            <a:fillRect/>
          </a:stretch>
        </p:blipFill>
        <p:spPr>
          <a:xfrm>
            <a:off x="4712441" y="4549432"/>
            <a:ext cx="2805959" cy="2204683"/>
          </a:xfrm>
          <a:prstGeom prst="rect">
            <a:avLst/>
          </a:prstGeom>
        </p:spPr>
      </p:pic>
      <mc:AlternateContent xmlns:mc="http://schemas.openxmlformats.org/markup-compatibility/2006">
        <mc:Choice xmlns:a14="http://schemas.microsoft.com/office/drawing/2010/main" Requires="a14">
          <p:sp>
            <p:nvSpPr>
              <p:cNvPr id="18" name="TextBox 17"/>
              <p:cNvSpPr txBox="1"/>
              <p:nvPr/>
            </p:nvSpPr>
            <p:spPr>
              <a:xfrm>
                <a:off x="4644571" y="627923"/>
                <a:ext cx="4394927" cy="3066224"/>
              </a:xfrm>
              <a:prstGeom prst="rect">
                <a:avLst/>
              </a:prstGeom>
              <a:noFill/>
            </p:spPr>
            <p:txBody>
              <a:bodyPr wrap="square" rtlCol="0">
                <a:spAutoFit/>
              </a:bodyPr>
              <a:lstStyle/>
              <a:p>
                <a:r>
                  <a:rPr lang="en-GB" sz="1600"/>
                  <a:t>[MAT 2010 1A] The values of </a:t>
                </a:r>
                <a14:m>
                  <m:oMath xmlns:m="http://schemas.openxmlformats.org/officeDocument/2006/math">
                    <m:r>
                      <a:rPr lang="en-GB" sz="1600" b="0" i="1" smtClean="0">
                        <a:latin typeface="Cambria Math" panose="02040503050406030204" pitchFamily="18" charset="0"/>
                      </a:rPr>
                      <m:t>𝑘</m:t>
                    </m:r>
                  </m:oMath>
                </a14:m>
                <a:r>
                  <a:rPr lang="en-GB" sz="1600"/>
                  <a:t> for which the line </a:t>
                </a:r>
                <a14:m>
                  <m:oMath xmlns:m="http://schemas.openxmlformats.org/officeDocument/2006/math">
                    <m:r>
                      <a:rPr lang="en-GB" sz="1600" b="0" i="1" smtClean="0">
                        <a:latin typeface="Cambria Math" panose="02040503050406030204" pitchFamily="18" charset="0"/>
                      </a:rPr>
                      <m:t>𝑦</m:t>
                    </m:r>
                    <m:r>
                      <a:rPr lang="en-GB" sz="1600" b="0" i="1" smtClean="0">
                        <a:latin typeface="Cambria Math" panose="02040503050406030204" pitchFamily="18" charset="0"/>
                      </a:rPr>
                      <m:t>=</m:t>
                    </m:r>
                    <m:r>
                      <a:rPr lang="en-GB" sz="1600" b="0" i="1" smtClean="0">
                        <a:latin typeface="Cambria Math" panose="02040503050406030204" pitchFamily="18" charset="0"/>
                      </a:rPr>
                      <m:t>𝑘𝑥</m:t>
                    </m:r>
                  </m:oMath>
                </a14:m>
                <a:r>
                  <a:rPr lang="en-GB" sz="1600"/>
                  <a:t> intersects the parabola </a:t>
                </a:r>
                <a14:m>
                  <m:oMath xmlns:m="http://schemas.openxmlformats.org/officeDocument/2006/math">
                    <m:r>
                      <a:rPr lang="en-GB" sz="1600" b="0" i="1" smtClean="0">
                        <a:latin typeface="Cambria Math" panose="02040503050406030204" pitchFamily="18" charset="0"/>
                      </a:rPr>
                      <m:t>𝑦</m:t>
                    </m:r>
                    <m:r>
                      <a:rPr lang="en-GB" sz="1600" b="0" i="1" smtClean="0">
                        <a:latin typeface="Cambria Math" panose="02040503050406030204" pitchFamily="18" charset="0"/>
                      </a:rPr>
                      <m:t>=</m:t>
                    </m:r>
                    <m:sSup>
                      <m:sSupPr>
                        <m:ctrlPr>
                          <a:rPr lang="en-GB" sz="1600" b="0" i="1" smtClean="0">
                            <a:latin typeface="Cambria Math" panose="02040503050406030204" pitchFamily="18" charset="0"/>
                          </a:rPr>
                        </m:ctrlPr>
                      </m:sSupPr>
                      <m:e>
                        <m:d>
                          <m:dPr>
                            <m:ctrlPr>
                              <a:rPr lang="en-GB" sz="1600" b="0" i="1" smtClean="0">
                                <a:latin typeface="Cambria Math" panose="02040503050406030204" pitchFamily="18" charset="0"/>
                              </a:rPr>
                            </m:ctrlPr>
                          </m:dPr>
                          <m:e>
                            <m:r>
                              <a:rPr lang="en-GB" sz="1600" b="0" i="1" smtClean="0">
                                <a:latin typeface="Cambria Math" panose="02040503050406030204" pitchFamily="18" charset="0"/>
                              </a:rPr>
                              <m:t>𝑥</m:t>
                            </m:r>
                            <m:r>
                              <a:rPr lang="en-GB" sz="1600" b="0" i="1" smtClean="0">
                                <a:latin typeface="Cambria Math" panose="02040503050406030204" pitchFamily="18" charset="0"/>
                              </a:rPr>
                              <m:t>−1</m:t>
                            </m:r>
                          </m:e>
                        </m:d>
                      </m:e>
                      <m:sup>
                        <m:r>
                          <a:rPr lang="en-GB" sz="1600" b="0" i="1" smtClean="0">
                            <a:latin typeface="Cambria Math" panose="02040503050406030204" pitchFamily="18" charset="0"/>
                          </a:rPr>
                          <m:t>2</m:t>
                        </m:r>
                      </m:sup>
                    </m:sSup>
                  </m:oMath>
                </a14:m>
                <a:r>
                  <a:rPr lang="en-GB" sz="1600"/>
                  <a:t> are precisely</a:t>
                </a:r>
              </a:p>
              <a:p>
                <a:pPr marL="342900" indent="-342900">
                  <a:buAutoNum type="alphaUcParenR"/>
                </a:pPr>
                <a:r>
                  <a:rPr lang="en-GB" sz="1600" b="0"/>
                  <a:t> </a:t>
                </a:r>
                <a14:m>
                  <m:oMath xmlns:m="http://schemas.openxmlformats.org/officeDocument/2006/math">
                    <m:r>
                      <a:rPr lang="en-GB" sz="1600" b="0" i="1" smtClean="0">
                        <a:latin typeface="Cambria Math" panose="02040503050406030204" pitchFamily="18" charset="0"/>
                      </a:rPr>
                      <m:t>𝑘</m:t>
                    </m:r>
                    <m:r>
                      <a:rPr lang="en-GB" sz="1600" b="0" i="1" smtClean="0">
                        <a:latin typeface="Cambria Math" panose="02040503050406030204" pitchFamily="18" charset="0"/>
                      </a:rPr>
                      <m:t>≤0</m:t>
                    </m:r>
                  </m:oMath>
                </a14:m>
                <a:r>
                  <a:rPr lang="en-GB" sz="1600"/>
                  <a:t>		   B)  </a:t>
                </a:r>
                <a14:m>
                  <m:oMath xmlns:m="http://schemas.openxmlformats.org/officeDocument/2006/math">
                    <m:r>
                      <a:rPr lang="en-GB" sz="1600" b="0" i="1" smtClean="0">
                        <a:latin typeface="Cambria Math" panose="02040503050406030204" pitchFamily="18" charset="0"/>
                      </a:rPr>
                      <m:t>𝑘</m:t>
                    </m:r>
                    <m:r>
                      <a:rPr lang="en-GB" sz="1600" b="0" i="1" smtClean="0">
                        <a:latin typeface="Cambria Math" panose="02040503050406030204" pitchFamily="18" charset="0"/>
                      </a:rPr>
                      <m:t>≥−4</m:t>
                    </m:r>
                  </m:oMath>
                </a14:m>
                <a:endParaRPr lang="en-GB" sz="1600"/>
              </a:p>
              <a:p>
                <a:r>
                  <a:rPr lang="en-GB" sz="1600"/>
                  <a:t>C)    </a:t>
                </a:r>
                <a14:m>
                  <m:oMath xmlns:m="http://schemas.openxmlformats.org/officeDocument/2006/math">
                    <m:r>
                      <a:rPr lang="en-GB" sz="1600" b="0" i="1" smtClean="0">
                        <a:latin typeface="Cambria Math" panose="02040503050406030204" pitchFamily="18" charset="0"/>
                      </a:rPr>
                      <m:t>𝑘</m:t>
                    </m:r>
                    <m:r>
                      <a:rPr lang="en-GB" sz="1600" b="0" i="1" smtClean="0">
                        <a:latin typeface="Cambria Math" panose="02040503050406030204" pitchFamily="18" charset="0"/>
                      </a:rPr>
                      <m:t>≥0</m:t>
                    </m:r>
                  </m:oMath>
                </a14:m>
                <a:r>
                  <a:rPr lang="en-GB" sz="1600"/>
                  <a:t> or </a:t>
                </a:r>
                <a14:m>
                  <m:oMath xmlns:m="http://schemas.openxmlformats.org/officeDocument/2006/math">
                    <m:r>
                      <a:rPr lang="en-GB" sz="1600" b="0" i="1" smtClean="0">
                        <a:latin typeface="Cambria Math" panose="02040503050406030204" pitchFamily="18" charset="0"/>
                      </a:rPr>
                      <m:t>𝑘</m:t>
                    </m:r>
                    <m:r>
                      <a:rPr lang="en-GB" sz="1600" b="0" i="1" smtClean="0">
                        <a:latin typeface="Cambria Math" panose="02040503050406030204" pitchFamily="18" charset="0"/>
                      </a:rPr>
                      <m:t>≤−4</m:t>
                    </m:r>
                  </m:oMath>
                </a14:m>
                <a:r>
                  <a:rPr lang="en-GB" sz="1600" b="0"/>
                  <a:t>    D)  </a:t>
                </a:r>
                <a14:m>
                  <m:oMath xmlns:m="http://schemas.openxmlformats.org/officeDocument/2006/math">
                    <m:r>
                      <a:rPr lang="en-GB" sz="1600" b="0" i="1" smtClean="0">
                        <a:latin typeface="Cambria Math" panose="02040503050406030204" pitchFamily="18" charset="0"/>
                      </a:rPr>
                      <m:t>−4≤</m:t>
                    </m:r>
                    <m:r>
                      <a:rPr lang="en-GB" sz="1600" b="0" i="1" smtClean="0">
                        <a:latin typeface="Cambria Math" panose="02040503050406030204" pitchFamily="18" charset="0"/>
                      </a:rPr>
                      <m:t>𝑘</m:t>
                    </m:r>
                    <m:r>
                      <a:rPr lang="en-GB" sz="1600" b="0" i="1" smtClean="0">
                        <a:latin typeface="Cambria Math" panose="02040503050406030204" pitchFamily="18" charset="0"/>
                      </a:rPr>
                      <m:t>≤0</m:t>
                    </m:r>
                  </m:oMath>
                </a14:m>
                <a:endParaRPr lang="en-GB" sz="1600"/>
              </a:p>
              <a:p>
                <a:r>
                  <a:rPr lang="en-GB" sz="1400" b="1"/>
                  <a:t>Equating:</a:t>
                </a:r>
              </a:p>
              <a:p>
                <a:pPr/>
                <a14:m>
                  <m:oMathPara xmlns:m="http://schemas.openxmlformats.org/officeDocument/2006/math">
                    <m:oMath>
                      <m:sSup>
                        <m:sSupPr>
                          <m:ctrlPr>
                            <a:rPr lang="en-GB" sz="1400" b="1" i="1" smtClean="0">
                              <a:latin typeface="Cambria Math" panose="02040503050406030204" pitchFamily="18" charset="0"/>
                            </a:rPr>
                          </m:ctrlPr>
                        </m:sSupPr>
                        <m:e>
                          <m:d>
                            <m:dPr>
                              <m:ctrlPr>
                                <a:rPr lang="en-GB" sz="1400" b="1" i="1" smtClean="0">
                                  <a:latin typeface="Cambria Math" panose="02040503050406030204" pitchFamily="18" charset="0"/>
                                </a:rPr>
                              </m:ctrlPr>
                            </m:dPr>
                            <m:e>
                              <m:r>
                                <a:rPr lang="en-GB" sz="1400" b="1" i="1" smtClean="0">
                                  <a:latin typeface="Cambria Math" panose="02040503050406030204" pitchFamily="18" charset="0"/>
                                </a:rPr>
                                <m:t>𝒙</m:t>
                              </m:r>
                              <m:r>
                                <a:rPr lang="en-GB" sz="1400" b="1" i="1" smtClean="0">
                                  <a:latin typeface="Cambria Math" panose="02040503050406030204" pitchFamily="18" charset="0"/>
                                </a:rPr>
                                <m:t>−</m:t>
                              </m:r>
                              <m:r>
                                <a:rPr lang="en-GB" sz="1400" b="1" i="1" smtClean="0">
                                  <a:latin typeface="Cambria Math" panose="02040503050406030204" pitchFamily="18" charset="0"/>
                                </a:rPr>
                                <m:t>𝟏</m:t>
                              </m:r>
                            </m:e>
                          </m:d>
                        </m:e>
                        <m:sup>
                          <m:r>
                            <a:rPr lang="en-GB" sz="1400" b="1" i="1" smtClean="0">
                              <a:latin typeface="Cambria Math" panose="02040503050406030204" pitchFamily="18" charset="0"/>
                            </a:rPr>
                            <m:t>𝟐</m:t>
                          </m:r>
                        </m:sup>
                      </m:sSup>
                      <m:r>
                        <a:rPr lang="en-GB" sz="1400" b="1" i="1" smtClean="0">
                          <a:latin typeface="Cambria Math" panose="02040503050406030204" pitchFamily="18" charset="0"/>
                        </a:rPr>
                        <m:t>=</m:t>
                      </m:r>
                      <m:r>
                        <a:rPr lang="en-GB" sz="1400" b="1" i="1" smtClean="0">
                          <a:latin typeface="Cambria Math" panose="02040503050406030204" pitchFamily="18" charset="0"/>
                        </a:rPr>
                        <m:t>𝒌𝒙</m:t>
                      </m:r>
                    </m:oMath>
                    <m:oMath>
                      <m:sSup>
                        <m:sSupPr>
                          <m:ctrlPr>
                            <a:rPr lang="en-GB" sz="1400" b="1" i="1" smtClean="0">
                              <a:latin typeface="Cambria Math" panose="02040503050406030204" pitchFamily="18" charset="0"/>
                            </a:rPr>
                          </m:ctrlPr>
                        </m:sSupPr>
                        <m:e>
                          <m:r>
                            <a:rPr lang="en-GB" sz="1400" b="1" i="1" smtClean="0">
                              <a:latin typeface="Cambria Math" panose="02040503050406030204" pitchFamily="18" charset="0"/>
                            </a:rPr>
                            <m:t>𝒙</m:t>
                          </m:r>
                        </m:e>
                        <m:sup>
                          <m:r>
                            <a:rPr lang="en-GB" sz="1400" b="1" i="1" smtClean="0">
                              <a:latin typeface="Cambria Math" panose="02040503050406030204" pitchFamily="18" charset="0"/>
                            </a:rPr>
                            <m:t>𝟐</m:t>
                          </m:r>
                        </m:sup>
                      </m:sSup>
                      <m:r>
                        <a:rPr lang="en-GB" sz="1400" b="1" i="1" smtClean="0">
                          <a:latin typeface="Cambria Math" panose="02040503050406030204" pitchFamily="18" charset="0"/>
                        </a:rPr>
                        <m:t>−</m:t>
                      </m:r>
                      <m:r>
                        <a:rPr lang="en-GB" sz="1400" b="1" i="1" smtClean="0">
                          <a:latin typeface="Cambria Math" panose="02040503050406030204" pitchFamily="18" charset="0"/>
                        </a:rPr>
                        <m:t>𝟐</m:t>
                      </m:r>
                      <m:r>
                        <a:rPr lang="en-GB" sz="1400" b="1" i="1" smtClean="0">
                          <a:latin typeface="Cambria Math" panose="02040503050406030204" pitchFamily="18" charset="0"/>
                        </a:rPr>
                        <m:t>𝒙</m:t>
                      </m:r>
                      <m:r>
                        <a:rPr lang="en-GB" sz="1400" b="1" i="1" smtClean="0">
                          <a:latin typeface="Cambria Math" panose="02040503050406030204" pitchFamily="18" charset="0"/>
                        </a:rPr>
                        <m:t>+</m:t>
                      </m:r>
                      <m:r>
                        <a:rPr lang="en-GB" sz="1400" b="1" i="1" smtClean="0">
                          <a:latin typeface="Cambria Math" panose="02040503050406030204" pitchFamily="18" charset="0"/>
                        </a:rPr>
                        <m:t>𝟏</m:t>
                      </m:r>
                      <m:r>
                        <a:rPr lang="en-GB" sz="1400" b="1" i="1" smtClean="0">
                          <a:latin typeface="Cambria Math" panose="02040503050406030204" pitchFamily="18" charset="0"/>
                        </a:rPr>
                        <m:t>=</m:t>
                      </m:r>
                      <m:r>
                        <a:rPr lang="en-GB" sz="1400" b="1" i="1" smtClean="0">
                          <a:latin typeface="Cambria Math" panose="02040503050406030204" pitchFamily="18" charset="0"/>
                        </a:rPr>
                        <m:t>𝒌𝒙</m:t>
                      </m:r>
                    </m:oMath>
                    <m:oMath>
                      <m:sSup>
                        <m:sSupPr>
                          <m:ctrlPr>
                            <a:rPr lang="en-GB" sz="1400" b="1" i="1" smtClean="0">
                              <a:latin typeface="Cambria Math" panose="02040503050406030204" pitchFamily="18" charset="0"/>
                            </a:rPr>
                          </m:ctrlPr>
                        </m:sSupPr>
                        <m:e>
                          <m:r>
                            <a:rPr lang="en-GB" sz="1400" b="1" i="1" smtClean="0">
                              <a:latin typeface="Cambria Math" panose="02040503050406030204" pitchFamily="18" charset="0"/>
                            </a:rPr>
                            <m:t>𝒙</m:t>
                          </m:r>
                        </m:e>
                        <m:sup>
                          <m:r>
                            <a:rPr lang="en-GB" sz="1400" b="1" i="1" smtClean="0">
                              <a:latin typeface="Cambria Math" panose="02040503050406030204" pitchFamily="18" charset="0"/>
                            </a:rPr>
                            <m:t>𝟐</m:t>
                          </m:r>
                        </m:sup>
                      </m:sSup>
                      <m:r>
                        <a:rPr lang="en-GB" sz="1400" b="1" i="1" smtClean="0">
                          <a:latin typeface="Cambria Math" panose="02040503050406030204" pitchFamily="18" charset="0"/>
                        </a:rPr>
                        <m:t>+</m:t>
                      </m:r>
                      <m:d>
                        <m:dPr>
                          <m:ctrlPr>
                            <a:rPr lang="en-GB" sz="1400" b="1" i="1" smtClean="0">
                              <a:latin typeface="Cambria Math" panose="02040503050406030204" pitchFamily="18" charset="0"/>
                            </a:rPr>
                          </m:ctrlPr>
                        </m:dPr>
                        <m:e>
                          <m:r>
                            <a:rPr lang="en-GB" sz="1400" b="1" i="1" smtClean="0">
                              <a:latin typeface="Cambria Math" panose="02040503050406030204" pitchFamily="18" charset="0"/>
                            </a:rPr>
                            <m:t>−</m:t>
                          </m:r>
                          <m:r>
                            <a:rPr lang="en-GB" sz="1400" b="1" i="1" smtClean="0">
                              <a:latin typeface="Cambria Math" panose="02040503050406030204" pitchFamily="18" charset="0"/>
                            </a:rPr>
                            <m:t>𝟐</m:t>
                          </m:r>
                          <m:r>
                            <a:rPr lang="en-GB" sz="1400" b="1" i="1" smtClean="0">
                              <a:latin typeface="Cambria Math" panose="02040503050406030204" pitchFamily="18" charset="0"/>
                            </a:rPr>
                            <m:t>−</m:t>
                          </m:r>
                          <m:r>
                            <a:rPr lang="en-GB" sz="1400" b="1" i="1" smtClean="0">
                              <a:latin typeface="Cambria Math" panose="02040503050406030204" pitchFamily="18" charset="0"/>
                            </a:rPr>
                            <m:t>𝒌</m:t>
                          </m:r>
                        </m:e>
                      </m:d>
                      <m:r>
                        <a:rPr lang="en-GB" sz="1400" b="1" i="1" smtClean="0">
                          <a:latin typeface="Cambria Math" panose="02040503050406030204" pitchFamily="18" charset="0"/>
                        </a:rPr>
                        <m:t>𝒙</m:t>
                      </m:r>
                      <m:r>
                        <a:rPr lang="en-GB" sz="1400" b="1" i="1" smtClean="0">
                          <a:latin typeface="Cambria Math" panose="02040503050406030204" pitchFamily="18" charset="0"/>
                        </a:rPr>
                        <m:t>+</m:t>
                      </m:r>
                      <m:r>
                        <a:rPr lang="en-GB" sz="1400" b="1" i="1" smtClean="0">
                          <a:latin typeface="Cambria Math" panose="02040503050406030204" pitchFamily="18" charset="0"/>
                        </a:rPr>
                        <m:t>𝟏</m:t>
                      </m:r>
                      <m:r>
                        <a:rPr lang="en-GB" sz="1400" b="1" i="1" smtClean="0">
                          <a:latin typeface="Cambria Math" panose="02040503050406030204" pitchFamily="18" charset="0"/>
                        </a:rPr>
                        <m:t>=</m:t>
                      </m:r>
                      <m:r>
                        <a:rPr lang="en-GB" sz="1400" b="1" i="1" smtClean="0">
                          <a:latin typeface="Cambria Math" panose="02040503050406030204" pitchFamily="18" charset="0"/>
                        </a:rPr>
                        <m:t>𝟎</m:t>
                      </m:r>
                    </m:oMath>
                  </m:oMathPara>
                </a14:m>
                <a:endParaRPr lang="en-GB" sz="1400" b="1"/>
              </a:p>
              <a:p>
                <a:pPr/>
                <a:r>
                  <a:rPr lang="en-GB" sz="1400" b="1"/>
                  <a:t>Discriminant: </a:t>
                </a:r>
                <a:br>
                  <a:rPr lang="en-GB" sz="1400" b="1"/>
                </a:br>
                <a14:m>
                  <m:oMathPara xmlns:m="http://schemas.openxmlformats.org/officeDocument/2006/math">
                    <m:oMath>
                      <m:r>
                        <a:rPr lang="en-GB" sz="1400" b="1" i="1" smtClean="0">
                          <a:latin typeface="Cambria Math" panose="02040503050406030204" pitchFamily="18" charset="0"/>
                        </a:rPr>
                        <m:t>𝒂</m:t>
                      </m:r>
                      <m:r>
                        <a:rPr lang="en-GB" sz="1400" b="1" i="1" smtClean="0">
                          <a:latin typeface="Cambria Math" panose="02040503050406030204" pitchFamily="18" charset="0"/>
                        </a:rPr>
                        <m:t>=</m:t>
                      </m:r>
                      <m:r>
                        <a:rPr lang="en-GB" sz="1400" b="1" i="1" smtClean="0">
                          <a:latin typeface="Cambria Math" panose="02040503050406030204" pitchFamily="18" charset="0"/>
                        </a:rPr>
                        <m:t>𝟏</m:t>
                      </m:r>
                      <m:r>
                        <a:rPr lang="en-GB" sz="1400" b="1" i="1" smtClean="0">
                          <a:latin typeface="Cambria Math" panose="02040503050406030204" pitchFamily="18" charset="0"/>
                        </a:rPr>
                        <m:t>, </m:t>
                      </m:r>
                      <m:r>
                        <a:rPr lang="en-GB" sz="1400" b="1" i="1" smtClean="0">
                          <a:latin typeface="Cambria Math" panose="02040503050406030204" pitchFamily="18" charset="0"/>
                        </a:rPr>
                        <m:t>𝒃</m:t>
                      </m:r>
                      <m:r>
                        <a:rPr lang="en-GB" sz="1400" b="1" i="1" smtClean="0">
                          <a:latin typeface="Cambria Math" panose="02040503050406030204" pitchFamily="18" charset="0"/>
                        </a:rPr>
                        <m:t>=−</m:t>
                      </m:r>
                      <m:r>
                        <a:rPr lang="en-GB" sz="1400" b="1" i="1" smtClean="0">
                          <a:latin typeface="Cambria Math" panose="02040503050406030204" pitchFamily="18" charset="0"/>
                        </a:rPr>
                        <m:t>𝟐</m:t>
                      </m:r>
                      <m:r>
                        <a:rPr lang="en-GB" sz="1400" b="1" i="1" smtClean="0">
                          <a:latin typeface="Cambria Math" panose="02040503050406030204" pitchFamily="18" charset="0"/>
                        </a:rPr>
                        <m:t>−</m:t>
                      </m:r>
                      <m:r>
                        <a:rPr lang="en-GB" sz="1400" b="1" i="1" smtClean="0">
                          <a:latin typeface="Cambria Math" panose="02040503050406030204" pitchFamily="18" charset="0"/>
                        </a:rPr>
                        <m:t>𝒌</m:t>
                      </m:r>
                      <m:r>
                        <a:rPr lang="en-GB" sz="1400" b="1" i="1" smtClean="0">
                          <a:latin typeface="Cambria Math" panose="02040503050406030204" pitchFamily="18" charset="0"/>
                        </a:rPr>
                        <m:t>, </m:t>
                      </m:r>
                      <m:r>
                        <a:rPr lang="en-GB" sz="1400" b="1" i="1" smtClean="0">
                          <a:latin typeface="Cambria Math" panose="02040503050406030204" pitchFamily="18" charset="0"/>
                        </a:rPr>
                        <m:t>𝒄</m:t>
                      </m:r>
                      <m:r>
                        <a:rPr lang="en-GB" sz="1400" b="1" i="1" smtClean="0">
                          <a:latin typeface="Cambria Math" panose="02040503050406030204" pitchFamily="18" charset="0"/>
                        </a:rPr>
                        <m:t>=</m:t>
                      </m:r>
                      <m:r>
                        <a:rPr lang="en-GB" sz="1400" b="1" i="1" smtClean="0">
                          <a:latin typeface="Cambria Math" panose="02040503050406030204" pitchFamily="18" charset="0"/>
                        </a:rPr>
                        <m:t>𝟏</m:t>
                      </m:r>
                      <m:r>
                        <a:rPr lang="en-GB" sz="1400" b="1" i="1" smtClean="0">
                          <a:latin typeface="Cambria Math" panose="02040503050406030204" pitchFamily="18" charset="0"/>
                        </a:rPr>
                        <m:t>  → </m:t>
                      </m:r>
                      <m:sSup>
                        <m:sSupPr>
                          <m:ctrlPr>
                            <a:rPr lang="en-GB" sz="1400" b="1" i="1" smtClean="0">
                              <a:latin typeface="Cambria Math" panose="02040503050406030204" pitchFamily="18" charset="0"/>
                            </a:rPr>
                          </m:ctrlPr>
                        </m:sSupPr>
                        <m:e>
                          <m:r>
                            <a:rPr lang="en-GB" sz="1400" b="1" i="1" smtClean="0">
                              <a:latin typeface="Cambria Math" panose="02040503050406030204" pitchFamily="18" charset="0"/>
                            </a:rPr>
                            <m:t>𝒌</m:t>
                          </m:r>
                        </m:e>
                        <m:sup>
                          <m:r>
                            <a:rPr lang="en-GB" sz="1400" b="1" i="1" smtClean="0">
                              <a:latin typeface="Cambria Math" panose="02040503050406030204" pitchFamily="18" charset="0"/>
                            </a:rPr>
                            <m:t>𝟐</m:t>
                          </m:r>
                        </m:sup>
                      </m:sSup>
                      <m:r>
                        <a:rPr lang="en-GB" sz="1400" b="1" i="1" smtClean="0">
                          <a:latin typeface="Cambria Math" panose="02040503050406030204" pitchFamily="18" charset="0"/>
                        </a:rPr>
                        <m:t>+</m:t>
                      </m:r>
                      <m:r>
                        <a:rPr lang="en-GB" sz="1400" b="1" i="1" smtClean="0">
                          <a:latin typeface="Cambria Math" panose="02040503050406030204" pitchFamily="18" charset="0"/>
                        </a:rPr>
                        <m:t>𝟒</m:t>
                      </m:r>
                      <m:r>
                        <a:rPr lang="en-GB" sz="1400" b="1" i="1" smtClean="0">
                          <a:latin typeface="Cambria Math" panose="02040503050406030204" pitchFamily="18" charset="0"/>
                        </a:rPr>
                        <m:t>𝒌</m:t>
                      </m:r>
                      <m:r>
                        <a:rPr lang="en-GB" sz="1400" b="1" i="1" smtClean="0">
                          <a:latin typeface="Cambria Math" panose="02040503050406030204" pitchFamily="18" charset="0"/>
                        </a:rPr>
                        <m:t>+</m:t>
                      </m:r>
                      <m:r>
                        <a:rPr lang="en-GB" sz="1400" b="1" i="1" smtClean="0">
                          <a:latin typeface="Cambria Math" panose="02040503050406030204" pitchFamily="18" charset="0"/>
                        </a:rPr>
                        <m:t>𝟒</m:t>
                      </m:r>
                      <m:r>
                        <a:rPr lang="en-GB" sz="1400" b="1" i="1" smtClean="0">
                          <a:latin typeface="Cambria Math" panose="02040503050406030204" pitchFamily="18" charset="0"/>
                        </a:rPr>
                        <m:t>−</m:t>
                      </m:r>
                      <m:r>
                        <a:rPr lang="en-GB" sz="1400" b="1" i="1" smtClean="0">
                          <a:latin typeface="Cambria Math" panose="02040503050406030204" pitchFamily="18" charset="0"/>
                        </a:rPr>
                        <m:t>𝟒</m:t>
                      </m:r>
                      <m:r>
                        <a:rPr lang="en-GB" sz="1400" b="1" i="1" smtClean="0">
                          <a:latin typeface="Cambria Math" panose="02040503050406030204" pitchFamily="18" charset="0"/>
                        </a:rPr>
                        <m:t>≥</m:t>
                      </m:r>
                      <m:r>
                        <a:rPr lang="en-GB" sz="1400" b="1" i="1" smtClean="0">
                          <a:latin typeface="Cambria Math" panose="02040503050406030204" pitchFamily="18" charset="0"/>
                        </a:rPr>
                        <m:t>𝟎</m:t>
                      </m:r>
                    </m:oMath>
                    <m:oMath>
                      <m:r>
                        <a:rPr lang="en-GB" sz="1400" b="1" i="1" smtClean="0">
                          <a:latin typeface="Cambria Math" panose="02040503050406030204" pitchFamily="18" charset="0"/>
                        </a:rPr>
                        <m:t>𝒌</m:t>
                      </m:r>
                      <m:d>
                        <m:dPr>
                          <m:ctrlPr>
                            <a:rPr lang="en-GB" sz="1400" b="1" i="1" smtClean="0">
                              <a:latin typeface="Cambria Math" panose="02040503050406030204" pitchFamily="18" charset="0"/>
                            </a:rPr>
                          </m:ctrlPr>
                        </m:dPr>
                        <m:e>
                          <m:r>
                            <a:rPr lang="en-GB" sz="1400" b="1" i="1" smtClean="0">
                              <a:latin typeface="Cambria Math" panose="02040503050406030204" pitchFamily="18" charset="0"/>
                            </a:rPr>
                            <m:t>𝒌</m:t>
                          </m:r>
                          <m:r>
                            <a:rPr lang="en-GB" sz="1400" b="1" i="1" smtClean="0">
                              <a:latin typeface="Cambria Math" panose="02040503050406030204" pitchFamily="18" charset="0"/>
                            </a:rPr>
                            <m:t>+</m:t>
                          </m:r>
                          <m:r>
                            <a:rPr lang="en-GB" sz="1400" b="1" i="1" smtClean="0">
                              <a:latin typeface="Cambria Math" panose="02040503050406030204" pitchFamily="18" charset="0"/>
                            </a:rPr>
                            <m:t>𝟒</m:t>
                          </m:r>
                        </m:e>
                      </m:d>
                      <m:r>
                        <a:rPr lang="en-GB" sz="1400" b="1" i="1" smtClean="0">
                          <a:latin typeface="Cambria Math" panose="02040503050406030204" pitchFamily="18" charset="0"/>
                        </a:rPr>
                        <m:t>≥</m:t>
                      </m:r>
                      <m:r>
                        <a:rPr lang="en-GB" sz="1400" b="1" i="1" smtClean="0">
                          <a:latin typeface="Cambria Math" panose="02040503050406030204" pitchFamily="18" charset="0"/>
                        </a:rPr>
                        <m:t>𝟎</m:t>
                      </m:r>
                    </m:oMath>
                    <m:oMath>
                      <m:r>
                        <a:rPr lang="en-GB" sz="1400" b="1" i="1" smtClean="0">
                          <a:latin typeface="Cambria Math" panose="02040503050406030204" pitchFamily="18" charset="0"/>
                        </a:rPr>
                        <m:t>𝒌</m:t>
                      </m:r>
                      <m:r>
                        <a:rPr lang="en-GB" sz="1400" b="1" i="1" smtClean="0">
                          <a:latin typeface="Cambria Math" panose="02040503050406030204" pitchFamily="18" charset="0"/>
                        </a:rPr>
                        <m:t>≤−</m:t>
                      </m:r>
                      <m:r>
                        <a:rPr lang="en-GB" sz="1400" b="1" i="1" smtClean="0">
                          <a:latin typeface="Cambria Math" panose="02040503050406030204" pitchFamily="18" charset="0"/>
                        </a:rPr>
                        <m:t>𝟒</m:t>
                      </m:r>
                      <m:r>
                        <a:rPr lang="en-GB" sz="1400" b="1" i="1" smtClean="0">
                          <a:latin typeface="Cambria Math" panose="02040503050406030204" pitchFamily="18" charset="0"/>
                        </a:rPr>
                        <m:t> </m:t>
                      </m:r>
                      <m:r>
                        <a:rPr lang="en-GB" sz="1400" b="1" i="1" smtClean="0">
                          <a:latin typeface="Cambria Math" panose="02040503050406030204" pitchFamily="18" charset="0"/>
                        </a:rPr>
                        <m:t>𝒐𝒓</m:t>
                      </m:r>
                      <m:r>
                        <a:rPr lang="en-GB" sz="1400" b="1" i="1" smtClean="0">
                          <a:latin typeface="Cambria Math" panose="02040503050406030204" pitchFamily="18" charset="0"/>
                        </a:rPr>
                        <m:t> </m:t>
                      </m:r>
                      <m:r>
                        <a:rPr lang="en-GB" sz="1400" b="1" i="1" smtClean="0">
                          <a:latin typeface="Cambria Math" panose="02040503050406030204" pitchFamily="18" charset="0"/>
                        </a:rPr>
                        <m:t>𝒌</m:t>
                      </m:r>
                      <m:r>
                        <a:rPr lang="en-GB" sz="1400" b="1" i="1" smtClean="0">
                          <a:latin typeface="Cambria Math" panose="02040503050406030204" pitchFamily="18" charset="0"/>
                        </a:rPr>
                        <m:t>≥</m:t>
                      </m:r>
                      <m:r>
                        <a:rPr lang="en-GB" sz="1400" b="1" i="1" smtClean="0">
                          <a:latin typeface="Cambria Math" panose="02040503050406030204" pitchFamily="18" charset="0"/>
                        </a:rPr>
                        <m:t>𝟎</m:t>
                      </m:r>
                    </m:oMath>
                  </m:oMathPara>
                </a14:m>
                <a:endParaRPr lang="en-GB" sz="1400" b="1"/>
              </a:p>
            </p:txBody>
          </p:sp>
        </mc:Choice>
        <mc:Fallback>
          <p:sp>
            <p:nvSpPr>
              <p:cNvPr id="18" name="TextBox 17"/>
              <p:cNvSpPr txBox="1">
                <a:spLocks noRot="1" noChangeAspect="1" noMove="1" noResize="1" noEditPoints="1" noAdjustHandles="1" noChangeArrowheads="1" noChangeShapeType="1" noTextEdit="1"/>
              </p:cNvSpPr>
              <p:nvPr/>
            </p:nvSpPr>
            <p:spPr>
              <a:xfrm>
                <a:off x="4644571" y="627923"/>
                <a:ext cx="4394927" cy="3066224"/>
              </a:xfrm>
              <a:prstGeom prst="rect">
                <a:avLst/>
              </a:prstGeom>
              <a:blipFill>
                <a:blip r:embed="rId3"/>
                <a:stretch>
                  <a:fillRect l="-865" t="-413" b="-413"/>
                </a:stretch>
              </a:blipFill>
            </p:spPr>
            <p:txBody>
              <a:bodyPr/>
              <a:lstStyle/>
              <a:p>
                <a:r>
                  <a:rPr lang="en-US">
                    <a:noFill/>
                  </a:rPr>
                  <a:t> </a:t>
                </a:r>
              </a:p>
            </p:txBody>
          </p:sp>
        </mc:Fallback>
      </mc:AlternateContent>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vert="horz" wrap="square" lIns="324000" tIns="45720" rIns="91440" bIns="45720" rtlCol="0" anchor="ctr">
              <a:spAutoFit/>
            </a:bodyPr>
            <a:lstStyle>
              <a:defPPr>
                <a:defRPr lang="en-US"/>
              </a:defPPr>
              <a:lvl1pPr>
                <a:spcBef>
                  <a:spcPct val="0"/>
                </a:spcBef>
                <a:buNone/>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a:t>Exercise 4D - Extension</a:t>
              </a:r>
            </a:p>
          </p:txBody>
        </p:sp>
        <p:cxnSp>
          <p:nvCxnSpPr>
            <p:cNvPr id="4" name="Straight Connector 3"/>
            <p:cNvCxnSpPr/>
            <p:nvPr/>
          </p:nvCxnSpPr>
          <p:spPr>
            <a:xfrm>
              <a:off x="218" y="601079"/>
              <a:ext cx="9144000" cy="0"/>
            </a:xfrm>
            <a:prstGeom prst="line">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mc:Choice xmlns:a14="http://schemas.microsoft.com/office/drawing/2010/main" Requires="a14">
          <p:sp>
            <p:nvSpPr>
              <p:cNvPr id="7" name="TextBox 6"/>
              <p:cNvSpPr txBox="1"/>
              <p:nvPr/>
            </p:nvSpPr>
            <p:spPr>
              <a:xfrm>
                <a:off x="305257" y="713146"/>
                <a:ext cx="4032448" cy="1569660"/>
              </a:xfrm>
              <a:prstGeom prst="rect">
                <a:avLst/>
              </a:prstGeom>
              <a:noFill/>
            </p:spPr>
            <p:txBody>
              <a:bodyPr wrap="square" rtlCol="0">
                <a:spAutoFit/>
              </a:bodyPr>
              <a:lstStyle/>
              <a:p>
                <a:r>
                  <a:rPr lang="en-GB" sz="1600"/>
                  <a:t>[MAT 2005 1B]</a:t>
                </a:r>
              </a:p>
              <a:p>
                <a:r>
                  <a:rPr lang="en-GB" sz="1600"/>
                  <a:t>The equation </a:t>
                </a:r>
                <a14:m>
                  <m:oMath xmlns:m="http://schemas.openxmlformats.org/officeDocument/2006/math">
                    <m:sSup>
                      <m:sSupPr>
                        <m:ctrlPr>
                          <a:rPr lang="en-GB" sz="1600" b="0" i="1" smtClean="0">
                            <a:latin typeface="Cambria Math" panose="02040503050406030204" pitchFamily="18" charset="0"/>
                          </a:rPr>
                        </m:ctrlPr>
                      </m:sSupPr>
                      <m:e>
                        <m:d>
                          <m:dPr>
                            <m:ctrlPr>
                              <a:rPr lang="en-GB" sz="1600" b="0" i="1" smtClean="0">
                                <a:latin typeface="Cambria Math" panose="02040503050406030204" pitchFamily="18" charset="0"/>
                              </a:rPr>
                            </m:ctrlPr>
                          </m:dPr>
                          <m:e>
                            <m:sSup>
                              <m:sSupPr>
                                <m:ctrlPr>
                                  <a:rPr lang="en-GB" sz="1600" b="0" i="1" smtClean="0">
                                    <a:latin typeface="Cambria Math" panose="02040503050406030204" pitchFamily="18" charset="0"/>
                                  </a:rPr>
                                </m:ctrlPr>
                              </m:sSupPr>
                              <m:e>
                                <m:r>
                                  <a:rPr lang="en-GB" sz="1600" b="0" i="1" smtClean="0">
                                    <a:latin typeface="Cambria Math" panose="02040503050406030204" pitchFamily="18" charset="0"/>
                                  </a:rPr>
                                  <m:t>𝑥</m:t>
                                </m:r>
                              </m:e>
                              <m:sup>
                                <m:r>
                                  <a:rPr lang="en-GB" sz="1600" b="0" i="1" smtClean="0">
                                    <a:latin typeface="Cambria Math" panose="02040503050406030204" pitchFamily="18" charset="0"/>
                                  </a:rPr>
                                  <m:t>2</m:t>
                                </m:r>
                              </m:sup>
                            </m:sSup>
                            <m:r>
                              <a:rPr lang="en-GB" sz="1600" b="0" i="1" smtClean="0">
                                <a:latin typeface="Cambria Math" panose="02040503050406030204" pitchFamily="18" charset="0"/>
                              </a:rPr>
                              <m:t>+1</m:t>
                            </m:r>
                          </m:e>
                        </m:d>
                      </m:e>
                      <m:sup>
                        <m:r>
                          <a:rPr lang="en-GB" sz="1600" b="0" i="1" smtClean="0">
                            <a:latin typeface="Cambria Math" panose="02040503050406030204" pitchFamily="18" charset="0"/>
                          </a:rPr>
                          <m:t>10</m:t>
                        </m:r>
                      </m:sup>
                    </m:sSup>
                    <m:r>
                      <a:rPr lang="en-GB" sz="1600" b="0" i="1" smtClean="0">
                        <a:latin typeface="Cambria Math" panose="02040503050406030204" pitchFamily="18" charset="0"/>
                      </a:rPr>
                      <m:t>=2</m:t>
                    </m:r>
                    <m:r>
                      <a:rPr lang="en-GB" sz="1600" b="0" i="1" smtClean="0">
                        <a:latin typeface="Cambria Math" panose="02040503050406030204" pitchFamily="18" charset="0"/>
                      </a:rPr>
                      <m:t>𝑥</m:t>
                    </m:r>
                    <m:r>
                      <a:rPr lang="en-GB" sz="1600" b="0" i="1" smtClean="0">
                        <a:latin typeface="Cambria Math" panose="02040503050406030204" pitchFamily="18" charset="0"/>
                      </a:rPr>
                      <m:t>−</m:t>
                    </m:r>
                    <m:sSup>
                      <m:sSupPr>
                        <m:ctrlPr>
                          <a:rPr lang="en-GB" sz="1600" b="0" i="1" smtClean="0">
                            <a:latin typeface="Cambria Math" panose="02040503050406030204" pitchFamily="18" charset="0"/>
                          </a:rPr>
                        </m:ctrlPr>
                      </m:sSupPr>
                      <m:e>
                        <m:r>
                          <a:rPr lang="en-GB" sz="1600" b="0" i="1" smtClean="0">
                            <a:latin typeface="Cambria Math" panose="02040503050406030204" pitchFamily="18" charset="0"/>
                          </a:rPr>
                          <m:t>𝑥</m:t>
                        </m:r>
                      </m:e>
                      <m:sup>
                        <m:r>
                          <a:rPr lang="en-GB" sz="1600" b="0" i="1" smtClean="0">
                            <a:latin typeface="Cambria Math" panose="02040503050406030204" pitchFamily="18" charset="0"/>
                          </a:rPr>
                          <m:t>2</m:t>
                        </m:r>
                      </m:sup>
                    </m:sSup>
                    <m:r>
                      <a:rPr lang="en-GB" sz="1600" b="0" i="1" smtClean="0">
                        <a:latin typeface="Cambria Math" panose="02040503050406030204" pitchFamily="18" charset="0"/>
                      </a:rPr>
                      <m:t>−2</m:t>
                    </m:r>
                  </m:oMath>
                </a14:m>
                <a:endParaRPr lang="en-GB" sz="1600"/>
              </a:p>
              <a:p>
                <a:pPr marL="342900" indent="-342900">
                  <a:buAutoNum type="alphaUcParenR"/>
                </a:pPr>
                <a:r>
                  <a:rPr lang="en-GB" sz="1600"/>
                  <a:t>has </a:t>
                </a:r>
                <a14:m>
                  <m:oMath xmlns:m="http://schemas.openxmlformats.org/officeDocument/2006/math">
                    <m:r>
                      <a:rPr lang="en-GB" sz="1600" b="0" i="1" smtClean="0">
                        <a:latin typeface="Cambria Math" panose="02040503050406030204" pitchFamily="18" charset="0"/>
                      </a:rPr>
                      <m:t>𝑥</m:t>
                    </m:r>
                    <m:r>
                      <a:rPr lang="en-GB" sz="1600" b="0" i="1" smtClean="0">
                        <a:latin typeface="Cambria Math" panose="02040503050406030204" pitchFamily="18" charset="0"/>
                      </a:rPr>
                      <m:t>=2</m:t>
                    </m:r>
                  </m:oMath>
                </a14:m>
                <a:r>
                  <a:rPr lang="en-GB" sz="1600"/>
                  <a:t> as a solution;</a:t>
                </a:r>
              </a:p>
              <a:p>
                <a:pPr marL="342900" indent="-342900">
                  <a:buAutoNum type="alphaUcParenR"/>
                </a:pPr>
                <a:r>
                  <a:rPr lang="en-GB" sz="1600"/>
                  <a:t>has no real solutions;</a:t>
                </a:r>
              </a:p>
              <a:p>
                <a:pPr marL="342900" indent="-342900">
                  <a:buAutoNum type="alphaUcParenR"/>
                </a:pPr>
                <a:r>
                  <a:rPr lang="en-GB" sz="1600"/>
                  <a:t>has an odd number of real solutions;</a:t>
                </a:r>
              </a:p>
              <a:p>
                <a:pPr marL="342900" indent="-342900">
                  <a:buAutoNum type="alphaUcParenR"/>
                </a:pPr>
                <a:r>
                  <a:rPr lang="en-GB" sz="1600"/>
                  <a:t>has twenty real solutions.</a:t>
                </a:r>
              </a:p>
            </p:txBody>
          </p:sp>
        </mc:Choice>
        <mc:Fallback>
          <p:sp>
            <p:nvSpPr>
              <p:cNvPr id="7" name="TextBox 6"/>
              <p:cNvSpPr txBox="1">
                <a:spLocks noRot="1" noChangeAspect="1" noMove="1" noResize="1" noEditPoints="1" noAdjustHandles="1" noChangeArrowheads="1" noChangeShapeType="1" noTextEdit="1"/>
              </p:cNvSpPr>
              <p:nvPr/>
            </p:nvSpPr>
            <p:spPr>
              <a:xfrm>
                <a:off x="305257" y="713146"/>
                <a:ext cx="4032448" cy="1569660"/>
              </a:xfrm>
              <a:prstGeom prst="rect">
                <a:avLst/>
              </a:prstGeom>
              <a:blipFill>
                <a:blip r:embed="rId4"/>
                <a:stretch>
                  <a:fillRect l="-943" t="-1613" b="-4032"/>
                </a:stretch>
              </a:blipFill>
            </p:spPr>
            <p:txBody>
              <a:bodyPr/>
              <a:lstStyle/>
              <a:p>
                <a:r>
                  <a:rPr lang="en-US">
                    <a:noFill/>
                  </a:rPr>
                  <a:t> </a:t>
                </a:r>
              </a:p>
            </p:txBody>
          </p:sp>
        </mc:Fallback>
      </mc:AlternateContent>
      <p:pic>
        <p:nvPicPr>
          <p:cNvPr id="8" name="Picture 7"/>
          <p:cNvPicPr>
            <a:picLocks noChangeAspect="1"/>
          </p:cNvPicPr>
          <p:nvPr/>
        </p:nvPicPr>
        <p:blipFill>
          <a:blip r:embed="rId5"/>
          <a:stretch>
            <a:fillRect/>
          </a:stretch>
        </p:blipFill>
        <p:spPr>
          <a:xfrm>
            <a:off x="276229" y="2316524"/>
            <a:ext cx="2400831" cy="1872208"/>
          </a:xfrm>
          <a:prstGeom prst="rect">
            <a:avLst/>
          </a:prstGeom>
        </p:spPr>
      </p:pic>
      <mc:AlternateContent xmlns:mc="http://schemas.openxmlformats.org/markup-compatibility/2006">
        <mc:Choice xmlns:a14="http://schemas.microsoft.com/office/drawing/2010/main" Requires="a14">
          <p:sp>
            <p:nvSpPr>
              <p:cNvPr id="9" name="TextBox 8"/>
              <p:cNvSpPr txBox="1"/>
              <p:nvPr/>
            </p:nvSpPr>
            <p:spPr>
              <a:xfrm>
                <a:off x="2735117" y="2178161"/>
                <a:ext cx="1732090" cy="3108543"/>
              </a:xfrm>
              <a:prstGeom prst="rect">
                <a:avLst/>
              </a:prstGeom>
              <a:noFill/>
            </p:spPr>
            <p:txBody>
              <a:bodyPr wrap="square" rtlCol="0">
                <a:spAutoFit/>
              </a:bodyPr>
              <a:lstStyle/>
              <a:p>
                <a:r>
                  <a:rPr lang="en-GB" sz="1400"/>
                  <a:t>To sketch </a:t>
                </a:r>
                <a14:m>
                  <m:oMath xmlns:m="http://schemas.openxmlformats.org/officeDocument/2006/math">
                    <m:r>
                      <a:rPr lang="en-GB" sz="1400" b="0" i="1" smtClean="0">
                        <a:latin typeface="Cambria Math" panose="02040503050406030204" pitchFamily="18" charset="0"/>
                      </a:rPr>
                      <m:t>𝑦</m:t>
                    </m:r>
                    <m:r>
                      <a:rPr lang="en-GB" sz="1400" b="0" i="1" smtClean="0">
                        <a:latin typeface="Cambria Math" panose="02040503050406030204" pitchFamily="18" charset="0"/>
                      </a:rPr>
                      <m:t>=</m:t>
                    </m:r>
                    <m:sSup>
                      <m:sSupPr>
                        <m:ctrlPr>
                          <a:rPr lang="en-GB" sz="1400" b="0" i="1" smtClean="0">
                            <a:latin typeface="Cambria Math" panose="02040503050406030204" pitchFamily="18" charset="0"/>
                          </a:rPr>
                        </m:ctrlPr>
                      </m:sSupPr>
                      <m:e>
                        <m:d>
                          <m:dPr>
                            <m:ctrlPr>
                              <a:rPr lang="en-GB" sz="1400" b="0" i="1" smtClean="0">
                                <a:latin typeface="Cambria Math" panose="02040503050406030204" pitchFamily="18" charset="0"/>
                              </a:rPr>
                            </m:ctrlPr>
                          </m:dPr>
                          <m:e>
                            <m:sSup>
                              <m:sSupPr>
                                <m:ctrlPr>
                                  <a:rPr lang="en-GB" sz="1400" b="0" i="1" smtClean="0">
                                    <a:latin typeface="Cambria Math" panose="02040503050406030204" pitchFamily="18" charset="0"/>
                                  </a:rPr>
                                </m:ctrlPr>
                              </m:sSupPr>
                              <m:e>
                                <m:r>
                                  <a:rPr lang="en-GB" sz="1400" b="0" i="1" smtClean="0">
                                    <a:latin typeface="Cambria Math" panose="02040503050406030204" pitchFamily="18" charset="0"/>
                                  </a:rPr>
                                  <m:t>𝑥</m:t>
                                </m:r>
                              </m:e>
                              <m:sup>
                                <m:r>
                                  <a:rPr lang="en-GB" sz="1400" b="0" i="1" smtClean="0">
                                    <a:latin typeface="Cambria Math" panose="02040503050406030204" pitchFamily="18" charset="0"/>
                                  </a:rPr>
                                  <m:t>2</m:t>
                                </m:r>
                              </m:sup>
                            </m:sSup>
                            <m:r>
                              <a:rPr lang="en-GB" sz="1400" b="0" i="1" smtClean="0">
                                <a:latin typeface="Cambria Math" panose="02040503050406030204" pitchFamily="18" charset="0"/>
                              </a:rPr>
                              <m:t>+1</m:t>
                            </m:r>
                          </m:e>
                        </m:d>
                      </m:e>
                      <m:sup>
                        <m:r>
                          <a:rPr lang="en-GB" sz="1400" b="0" i="1" smtClean="0">
                            <a:latin typeface="Cambria Math" panose="02040503050406030204" pitchFamily="18" charset="0"/>
                          </a:rPr>
                          <m:t>10</m:t>
                        </m:r>
                      </m:sup>
                    </m:sSup>
                  </m:oMath>
                </a14:m>
                <a:r>
                  <a:rPr lang="en-GB" sz="1400"/>
                  <a:t>, sketch </a:t>
                </a:r>
                <a14:m>
                  <m:oMath xmlns:m="http://schemas.openxmlformats.org/officeDocument/2006/math">
                    <m:r>
                      <a:rPr lang="en-GB" sz="1400" b="0" i="1" smtClean="0">
                        <a:latin typeface="Cambria Math" panose="02040503050406030204" pitchFamily="18" charset="0"/>
                      </a:rPr>
                      <m:t>𝑦</m:t>
                    </m:r>
                    <m:r>
                      <a:rPr lang="en-GB" sz="1400" b="0" i="1" smtClean="0">
                        <a:latin typeface="Cambria Math" panose="02040503050406030204" pitchFamily="18" charset="0"/>
                      </a:rPr>
                      <m:t>=</m:t>
                    </m:r>
                    <m:sSup>
                      <m:sSupPr>
                        <m:ctrlPr>
                          <a:rPr lang="en-GB" sz="1400" b="0" i="1" smtClean="0">
                            <a:latin typeface="Cambria Math" panose="02040503050406030204" pitchFamily="18" charset="0"/>
                          </a:rPr>
                        </m:ctrlPr>
                      </m:sSupPr>
                      <m:e>
                        <m:r>
                          <a:rPr lang="en-GB" sz="1400" b="0" i="1" smtClean="0">
                            <a:latin typeface="Cambria Math" panose="02040503050406030204" pitchFamily="18" charset="0"/>
                          </a:rPr>
                          <m:t>𝑥</m:t>
                        </m:r>
                      </m:e>
                      <m:sup>
                        <m:r>
                          <a:rPr lang="en-GB" sz="1400" b="0" i="1" smtClean="0">
                            <a:latin typeface="Cambria Math" panose="02040503050406030204" pitchFamily="18" charset="0"/>
                          </a:rPr>
                          <m:t>2</m:t>
                        </m:r>
                      </m:sup>
                    </m:sSup>
                    <m:r>
                      <a:rPr lang="en-GB" sz="1400" b="0" i="1" smtClean="0">
                        <a:latin typeface="Cambria Math" panose="02040503050406030204" pitchFamily="18" charset="0"/>
                      </a:rPr>
                      <m:t>+1</m:t>
                    </m:r>
                  </m:oMath>
                </a14:m>
                <a:r>
                  <a:rPr lang="en-GB" sz="1400"/>
                  <a:t>, then realise that as </a:t>
                </a:r>
                <a14:m>
                  <m:oMath xmlns:m="http://schemas.openxmlformats.org/officeDocument/2006/math">
                    <m:sSup>
                      <m:sSupPr>
                        <m:ctrlPr>
                          <a:rPr lang="en-GB" sz="1400" b="0" i="1" smtClean="0">
                            <a:latin typeface="Cambria Math" panose="02040503050406030204" pitchFamily="18" charset="0"/>
                          </a:rPr>
                        </m:ctrlPr>
                      </m:sSupPr>
                      <m:e>
                        <m:r>
                          <a:rPr lang="en-GB" sz="1400" b="0" i="1" smtClean="0">
                            <a:latin typeface="Cambria Math" panose="02040503050406030204" pitchFamily="18" charset="0"/>
                          </a:rPr>
                          <m:t>𝑥</m:t>
                        </m:r>
                      </m:e>
                      <m:sup>
                        <m:r>
                          <a:rPr lang="en-GB" sz="1400" b="0" i="1" smtClean="0">
                            <a:latin typeface="Cambria Math" panose="02040503050406030204" pitchFamily="18" charset="0"/>
                          </a:rPr>
                          <m:t>2</m:t>
                        </m:r>
                      </m:sup>
                    </m:sSup>
                    <m:r>
                      <a:rPr lang="en-GB" sz="1400" b="0" i="1" smtClean="0">
                        <a:latin typeface="Cambria Math" panose="02040503050406030204" pitchFamily="18" charset="0"/>
                      </a:rPr>
                      <m:t>+1</m:t>
                    </m:r>
                  </m:oMath>
                </a14:m>
                <a:r>
                  <a:rPr lang="en-GB" sz="1400"/>
                  <a:t> is always at least 1, raising it to a positive power (&gt;1) makes it go up more steeply. </a:t>
                </a:r>
                <a14:m>
                  <m:oMath xmlns:m="http://schemas.openxmlformats.org/officeDocument/2006/math">
                    <m:r>
                      <a:rPr lang="en-GB" sz="1400" b="0" i="1" smtClean="0">
                        <a:latin typeface="Cambria Math" panose="02040503050406030204" pitchFamily="18" charset="0"/>
                      </a:rPr>
                      <m:t>2</m:t>
                    </m:r>
                    <m:r>
                      <a:rPr lang="en-GB" sz="1400" b="0" i="1" smtClean="0">
                        <a:latin typeface="Cambria Math" panose="02040503050406030204" pitchFamily="18" charset="0"/>
                      </a:rPr>
                      <m:t>𝑥</m:t>
                    </m:r>
                    <m:r>
                      <a:rPr lang="en-GB" sz="1400" b="0" i="1" smtClean="0">
                        <a:latin typeface="Cambria Math" panose="02040503050406030204" pitchFamily="18" charset="0"/>
                      </a:rPr>
                      <m:t>−</m:t>
                    </m:r>
                    <m:sSup>
                      <m:sSupPr>
                        <m:ctrlPr>
                          <a:rPr lang="en-GB" sz="1400" b="0" i="1" smtClean="0">
                            <a:latin typeface="Cambria Math" panose="02040503050406030204" pitchFamily="18" charset="0"/>
                          </a:rPr>
                        </m:ctrlPr>
                      </m:sSupPr>
                      <m:e>
                        <m:r>
                          <a:rPr lang="en-GB" sz="1400" b="0" i="1" smtClean="0">
                            <a:latin typeface="Cambria Math" panose="02040503050406030204" pitchFamily="18" charset="0"/>
                          </a:rPr>
                          <m:t>𝑥</m:t>
                        </m:r>
                      </m:e>
                      <m:sup>
                        <m:r>
                          <a:rPr lang="en-GB" sz="1400" b="0" i="1" smtClean="0">
                            <a:latin typeface="Cambria Math" panose="02040503050406030204" pitchFamily="18" charset="0"/>
                          </a:rPr>
                          <m:t>2</m:t>
                        </m:r>
                      </m:sup>
                    </m:sSup>
                    <m:r>
                      <a:rPr lang="en-GB" sz="1400" b="0" i="1" smtClean="0">
                        <a:latin typeface="Cambria Math" panose="02040503050406030204" pitchFamily="18" charset="0"/>
                      </a:rPr>
                      <m:t>−2</m:t>
                    </m:r>
                  </m:oMath>
                </a14:m>
                <a:r>
                  <a:rPr lang="en-GB" sz="1400"/>
                  <a:t> we can sketch by completing the square, where we realise it is always negative.</a:t>
                </a:r>
              </a:p>
              <a:p>
                <a:r>
                  <a:rPr lang="en-GB" sz="1400" b="1"/>
                  <a:t>The answer is B.</a:t>
                </a:r>
              </a:p>
            </p:txBody>
          </p:sp>
        </mc:Choice>
        <mc:Fallback>
          <p:sp>
            <p:nvSpPr>
              <p:cNvPr id="9" name="TextBox 8"/>
              <p:cNvSpPr txBox="1">
                <a:spLocks noRot="1" noChangeAspect="1" noMove="1" noResize="1" noEditPoints="1" noAdjustHandles="1" noChangeArrowheads="1" noChangeShapeType="1" noTextEdit="1"/>
              </p:cNvSpPr>
              <p:nvPr/>
            </p:nvSpPr>
            <p:spPr>
              <a:xfrm>
                <a:off x="2735117" y="2178161"/>
                <a:ext cx="1732090" cy="3108543"/>
              </a:xfrm>
              <a:prstGeom prst="rect">
                <a:avLst/>
              </a:prstGeom>
              <a:blipFill>
                <a:blip r:embed="rId6"/>
                <a:stretch>
                  <a:fillRect l="-1460" t="-407" r="-3650" b="-162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1" name="TextBox 10"/>
              <p:cNvSpPr txBox="1"/>
              <p:nvPr/>
            </p:nvSpPr>
            <p:spPr>
              <a:xfrm>
                <a:off x="4827971" y="3691213"/>
                <a:ext cx="3703527" cy="830997"/>
              </a:xfrm>
              <a:prstGeom prst="rect">
                <a:avLst/>
              </a:prstGeom>
              <a:noFill/>
            </p:spPr>
            <p:txBody>
              <a:bodyPr wrap="square" rtlCol="0">
                <a:spAutoFit/>
              </a:bodyPr>
              <a:lstStyle/>
              <a:p>
                <a:r>
                  <a:rPr lang="en-GB" sz="1600"/>
                  <a:t>[MAT 2013 1D]</a:t>
                </a:r>
              </a:p>
              <a:p>
                <a:r>
                  <a:rPr lang="en-GB" sz="1600"/>
                  <a:t>Which of the following sketches is a graph of </a:t>
                </a:r>
                <a14:m>
                  <m:oMath xmlns:m="http://schemas.openxmlformats.org/officeDocument/2006/math">
                    <m:sSup>
                      <m:sSupPr>
                        <m:ctrlPr>
                          <a:rPr lang="en-GB" sz="1600" b="0" i="1" smtClean="0">
                            <a:latin typeface="Cambria Math" panose="02040503050406030204" pitchFamily="18" charset="0"/>
                          </a:rPr>
                        </m:ctrlPr>
                      </m:sSupPr>
                      <m:e>
                        <m:r>
                          <a:rPr lang="en-GB" sz="1600" b="0" i="1" smtClean="0">
                            <a:latin typeface="Cambria Math" panose="02040503050406030204" pitchFamily="18" charset="0"/>
                          </a:rPr>
                          <m:t>𝑥</m:t>
                        </m:r>
                      </m:e>
                      <m:sup>
                        <m:r>
                          <a:rPr lang="en-GB" sz="1600" b="0" i="1" smtClean="0">
                            <a:latin typeface="Cambria Math" panose="02040503050406030204" pitchFamily="18" charset="0"/>
                          </a:rPr>
                          <m:t>4</m:t>
                        </m:r>
                      </m:sup>
                    </m:sSup>
                    <m:r>
                      <a:rPr lang="en-GB" sz="1600" b="0" i="1" smtClean="0">
                        <a:latin typeface="Cambria Math" panose="02040503050406030204" pitchFamily="18" charset="0"/>
                      </a:rPr>
                      <m:t>−</m:t>
                    </m:r>
                    <m:sSup>
                      <m:sSupPr>
                        <m:ctrlPr>
                          <a:rPr lang="en-GB" sz="1600" b="0" i="1" smtClean="0">
                            <a:latin typeface="Cambria Math" panose="02040503050406030204" pitchFamily="18" charset="0"/>
                          </a:rPr>
                        </m:ctrlPr>
                      </m:sSupPr>
                      <m:e>
                        <m:r>
                          <a:rPr lang="en-GB" sz="1600" b="0" i="1" smtClean="0">
                            <a:latin typeface="Cambria Math" panose="02040503050406030204" pitchFamily="18" charset="0"/>
                          </a:rPr>
                          <m:t>𝑦</m:t>
                        </m:r>
                      </m:e>
                      <m:sup>
                        <m:r>
                          <a:rPr lang="en-GB" sz="1600" b="0" i="1" smtClean="0">
                            <a:latin typeface="Cambria Math" panose="02040503050406030204" pitchFamily="18" charset="0"/>
                          </a:rPr>
                          <m:t>2</m:t>
                        </m:r>
                      </m:sup>
                    </m:sSup>
                    <m:r>
                      <a:rPr lang="en-GB" sz="1600" b="0" i="1" smtClean="0">
                        <a:latin typeface="Cambria Math" panose="02040503050406030204" pitchFamily="18" charset="0"/>
                      </a:rPr>
                      <m:t>=2</m:t>
                    </m:r>
                    <m:r>
                      <a:rPr lang="en-GB" sz="1600" b="0" i="1" smtClean="0">
                        <a:latin typeface="Cambria Math" panose="02040503050406030204" pitchFamily="18" charset="0"/>
                      </a:rPr>
                      <m:t>𝑦</m:t>
                    </m:r>
                    <m:r>
                      <a:rPr lang="en-GB" sz="1600" b="0" i="1" smtClean="0">
                        <a:latin typeface="Cambria Math" panose="02040503050406030204" pitchFamily="18" charset="0"/>
                      </a:rPr>
                      <m:t>+1</m:t>
                    </m:r>
                  </m:oMath>
                </a14:m>
                <a:r>
                  <a:rPr lang="en-GB" sz="1600"/>
                  <a:t>?</a:t>
                </a:r>
              </a:p>
            </p:txBody>
          </p:sp>
        </mc:Choice>
        <mc:Fallback>
          <p:sp>
            <p:nvSpPr>
              <p:cNvPr id="11" name="TextBox 10"/>
              <p:cNvSpPr txBox="1">
                <a:spLocks noRot="1" noChangeAspect="1" noMove="1" noResize="1" noEditPoints="1" noAdjustHandles="1" noChangeArrowheads="1" noChangeShapeType="1" noTextEdit="1"/>
              </p:cNvSpPr>
              <p:nvPr/>
            </p:nvSpPr>
            <p:spPr>
              <a:xfrm>
                <a:off x="4827971" y="3691213"/>
                <a:ext cx="3703527" cy="830997"/>
              </a:xfrm>
              <a:prstGeom prst="rect">
                <a:avLst/>
              </a:prstGeom>
              <a:blipFill>
                <a:blip r:embed="rId7"/>
                <a:stretch>
                  <a:fillRect l="-1027" t="-1493" r="-342" b="-7463"/>
                </a:stretch>
              </a:blipFill>
            </p:spPr>
            <p:txBody>
              <a:bodyPr/>
              <a:lstStyle/>
              <a:p>
                <a:r>
                  <a:rPr lang="en-US">
                    <a:noFill/>
                  </a:rPr>
                  <a:t> </a:t>
                </a:r>
              </a:p>
            </p:txBody>
          </p:sp>
        </mc:Fallback>
      </mc:AlternateContent>
      <p:sp>
        <p:nvSpPr>
          <p:cNvPr id="12" name="Rectangle 11"/>
          <p:cNvSpPr/>
          <p:nvPr/>
        </p:nvSpPr>
        <p:spPr>
          <a:xfrm>
            <a:off x="17225" y="752334"/>
            <a:ext cx="288032" cy="369331"/>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a:t>1</a:t>
            </a:r>
          </a:p>
        </p:txBody>
      </p:sp>
      <p:sp>
        <p:nvSpPr>
          <p:cNvPr id="13" name="Rectangle 12"/>
          <p:cNvSpPr/>
          <p:nvPr/>
        </p:nvSpPr>
        <p:spPr>
          <a:xfrm>
            <a:off x="4237314" y="727624"/>
            <a:ext cx="288032" cy="369331"/>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a:t>2</a:t>
            </a:r>
          </a:p>
        </p:txBody>
      </p:sp>
      <mc:AlternateContent xmlns:mc="http://schemas.openxmlformats.org/markup-compatibility/2006">
        <mc:Choice xmlns:a14="http://schemas.microsoft.com/office/drawing/2010/main" Requires="a14">
          <p:sp>
            <p:nvSpPr>
              <p:cNvPr id="15" name="TextBox 14"/>
              <p:cNvSpPr txBox="1"/>
              <p:nvPr/>
            </p:nvSpPr>
            <p:spPr>
              <a:xfrm>
                <a:off x="7489371" y="5196227"/>
                <a:ext cx="1724299" cy="1568956"/>
              </a:xfrm>
              <a:prstGeom prst="rect">
                <a:avLst/>
              </a:prstGeom>
              <a:noFill/>
            </p:spPr>
            <p:txBody>
              <a:bodyPr wrap="square" rtlCol="0">
                <a:spAutoFit/>
              </a:bodyPr>
              <a:lstStyle/>
              <a:p>
                <a:pPr/>
                <a14:m>
                  <m:oMathPara xmlns:m="http://schemas.openxmlformats.org/officeDocument/2006/math">
                    <m:oMath>
                      <m:sSup>
                        <m:sSupPr>
                          <m:ctrlPr>
                            <a:rPr lang="en-GB" sz="1600" b="0" i="1" smtClean="0">
                              <a:latin typeface="Cambria Math" panose="02040503050406030204" pitchFamily="18" charset="0"/>
                            </a:rPr>
                          </m:ctrlPr>
                        </m:sSupPr>
                        <m:e>
                          <m:r>
                            <a:rPr lang="en-GB" sz="1600" b="0" i="1" smtClean="0">
                              <a:latin typeface="Cambria Math" panose="02040503050406030204" pitchFamily="18" charset="0"/>
                            </a:rPr>
                            <m:t>𝑥</m:t>
                          </m:r>
                        </m:e>
                        <m:sup>
                          <m:r>
                            <a:rPr lang="en-GB" sz="1600" b="0" i="1" smtClean="0">
                              <a:latin typeface="Cambria Math" panose="02040503050406030204" pitchFamily="18" charset="0"/>
                            </a:rPr>
                            <m:t>4</m:t>
                          </m:r>
                        </m:sup>
                      </m:sSup>
                      <m:r>
                        <a:rPr lang="en-GB" sz="1600" b="0" i="1" smtClean="0">
                          <a:latin typeface="Cambria Math" panose="02040503050406030204" pitchFamily="18" charset="0"/>
                        </a:rPr>
                        <m:t>=</m:t>
                      </m:r>
                      <m:sSup>
                        <m:sSupPr>
                          <m:ctrlPr>
                            <a:rPr lang="en-GB" sz="1600" b="0" i="1" smtClean="0">
                              <a:latin typeface="Cambria Math" panose="02040503050406030204" pitchFamily="18" charset="0"/>
                            </a:rPr>
                          </m:ctrlPr>
                        </m:sSupPr>
                        <m:e>
                          <m:r>
                            <a:rPr lang="en-GB" sz="1600" b="0" i="1" smtClean="0">
                              <a:latin typeface="Cambria Math" panose="02040503050406030204" pitchFamily="18" charset="0"/>
                            </a:rPr>
                            <m:t>𝑦</m:t>
                          </m:r>
                        </m:e>
                        <m:sup>
                          <m:r>
                            <a:rPr lang="en-GB" sz="1600" b="0" i="1" smtClean="0">
                              <a:latin typeface="Cambria Math" panose="02040503050406030204" pitchFamily="18" charset="0"/>
                            </a:rPr>
                            <m:t>2</m:t>
                          </m:r>
                        </m:sup>
                      </m:sSup>
                      <m:r>
                        <a:rPr lang="en-GB" sz="1600" b="0" i="1" smtClean="0">
                          <a:latin typeface="Cambria Math" panose="02040503050406030204" pitchFamily="18" charset="0"/>
                        </a:rPr>
                        <m:t>+2</m:t>
                      </m:r>
                      <m:r>
                        <a:rPr lang="en-GB" sz="1600" b="0" i="1" smtClean="0">
                          <a:latin typeface="Cambria Math" panose="02040503050406030204" pitchFamily="18" charset="0"/>
                        </a:rPr>
                        <m:t>𝑦</m:t>
                      </m:r>
                      <m:r>
                        <a:rPr lang="en-GB" sz="1600" b="0" i="1" smtClean="0">
                          <a:latin typeface="Cambria Math" panose="02040503050406030204" pitchFamily="18" charset="0"/>
                        </a:rPr>
                        <m:t>+1=</m:t>
                      </m:r>
                      <m:sSup>
                        <m:sSupPr>
                          <m:ctrlPr>
                            <a:rPr lang="en-GB" sz="1600" b="0" i="1" smtClean="0">
                              <a:latin typeface="Cambria Math" panose="02040503050406030204" pitchFamily="18" charset="0"/>
                            </a:rPr>
                          </m:ctrlPr>
                        </m:sSupPr>
                        <m:e>
                          <m:d>
                            <m:dPr>
                              <m:ctrlPr>
                                <a:rPr lang="en-GB" sz="1600" b="0" i="1" smtClean="0">
                                  <a:latin typeface="Cambria Math" panose="02040503050406030204" pitchFamily="18" charset="0"/>
                                </a:rPr>
                              </m:ctrlPr>
                            </m:dPr>
                            <m:e>
                              <m:r>
                                <a:rPr lang="en-GB" sz="1600" b="0" i="1" smtClean="0">
                                  <a:latin typeface="Cambria Math" panose="02040503050406030204" pitchFamily="18" charset="0"/>
                                </a:rPr>
                                <m:t>𝑦</m:t>
                              </m:r>
                              <m:r>
                                <a:rPr lang="en-GB" sz="1600" b="0" i="1" smtClean="0">
                                  <a:latin typeface="Cambria Math" panose="02040503050406030204" pitchFamily="18" charset="0"/>
                                </a:rPr>
                                <m:t>+1</m:t>
                              </m:r>
                            </m:e>
                          </m:d>
                        </m:e>
                        <m:sup>
                          <m:r>
                            <a:rPr lang="en-GB" sz="1600" b="0" i="1" smtClean="0">
                              <a:latin typeface="Cambria Math" panose="02040503050406030204" pitchFamily="18" charset="0"/>
                            </a:rPr>
                            <m:t>2</m:t>
                          </m:r>
                        </m:sup>
                      </m:sSup>
                    </m:oMath>
                    <m:oMath>
                      <m:r>
                        <a:rPr lang="en-GB" sz="1600" b="0" i="1" smtClean="0">
                          <a:latin typeface="Cambria Math" panose="02040503050406030204" pitchFamily="18" charset="0"/>
                        </a:rPr>
                        <m:t>∴</m:t>
                      </m:r>
                      <m:sSup>
                        <m:sSupPr>
                          <m:ctrlPr>
                            <a:rPr lang="en-GB" sz="1600" b="0" i="1" smtClean="0">
                              <a:latin typeface="Cambria Math" panose="02040503050406030204" pitchFamily="18" charset="0"/>
                            </a:rPr>
                          </m:ctrlPr>
                        </m:sSupPr>
                        <m:e>
                          <m:r>
                            <a:rPr lang="en-GB" sz="1600" b="0" i="1" smtClean="0">
                              <a:latin typeface="Cambria Math" panose="02040503050406030204" pitchFamily="18" charset="0"/>
                            </a:rPr>
                            <m:t>𝑥</m:t>
                          </m:r>
                        </m:e>
                        <m:sup>
                          <m:r>
                            <a:rPr lang="en-GB" sz="1600" b="0" i="1" smtClean="0">
                              <a:latin typeface="Cambria Math" panose="02040503050406030204" pitchFamily="18" charset="0"/>
                            </a:rPr>
                            <m:t>2</m:t>
                          </m:r>
                        </m:sup>
                      </m:sSup>
                      <m:r>
                        <a:rPr lang="en-GB" sz="1600" b="0" i="1" smtClean="0">
                          <a:latin typeface="Cambria Math" panose="02040503050406030204" pitchFamily="18" charset="0"/>
                        </a:rPr>
                        <m:t>=±(</m:t>
                      </m:r>
                      <m:r>
                        <a:rPr lang="en-GB" sz="1600" b="0" i="1" smtClean="0">
                          <a:latin typeface="Cambria Math" panose="02040503050406030204" pitchFamily="18" charset="0"/>
                        </a:rPr>
                        <m:t>𝑦</m:t>
                      </m:r>
                      <m:r>
                        <a:rPr lang="en-GB" sz="1600" b="0" i="1" smtClean="0">
                          <a:latin typeface="Cambria Math" panose="02040503050406030204" pitchFamily="18" charset="0"/>
                        </a:rPr>
                        <m:t>+1)</m:t>
                      </m:r>
                    </m:oMath>
                  </m:oMathPara>
                </a14:m>
                <a:endParaRPr lang="en-GB" sz="1600"/>
              </a:p>
              <a:p>
                <a:pPr/>
                <a:r>
                  <a:rPr lang="en-GB" sz="1600"/>
                  <a:t>i.e. </a:t>
                </a:r>
                <a14:m>
                  <m:oMath xmlns:m="http://schemas.openxmlformats.org/officeDocument/2006/math">
                    <m:r>
                      <a:rPr lang="en-GB" sz="1600" b="0" i="1" smtClean="0">
                        <a:latin typeface="Cambria Math" panose="02040503050406030204" pitchFamily="18" charset="0"/>
                      </a:rPr>
                      <m:t>𝑦</m:t>
                    </m:r>
                    <m:r>
                      <a:rPr lang="en-GB" sz="1600" b="0" i="1" smtClean="0">
                        <a:latin typeface="Cambria Math" panose="02040503050406030204" pitchFamily="18" charset="0"/>
                      </a:rPr>
                      <m:t>=</m:t>
                    </m:r>
                    <m:sSup>
                      <m:sSupPr>
                        <m:ctrlPr>
                          <a:rPr lang="en-GB" sz="1600" b="0" i="1" smtClean="0">
                            <a:latin typeface="Cambria Math" panose="02040503050406030204" pitchFamily="18" charset="0"/>
                          </a:rPr>
                        </m:ctrlPr>
                      </m:sSupPr>
                      <m:e>
                        <m:r>
                          <a:rPr lang="en-GB" sz="1600" b="0" i="1" smtClean="0">
                            <a:latin typeface="Cambria Math" panose="02040503050406030204" pitchFamily="18" charset="0"/>
                          </a:rPr>
                          <m:t>𝑥</m:t>
                        </m:r>
                      </m:e>
                      <m:sup>
                        <m:r>
                          <a:rPr lang="en-GB" sz="1600" b="0" i="1" smtClean="0">
                            <a:latin typeface="Cambria Math" panose="02040503050406030204" pitchFamily="18" charset="0"/>
                          </a:rPr>
                          <m:t>2</m:t>
                        </m:r>
                      </m:sup>
                    </m:sSup>
                    <m:r>
                      <a:rPr lang="en-GB" sz="1600" b="0" i="1" smtClean="0">
                        <a:latin typeface="Cambria Math" panose="02040503050406030204" pitchFamily="18" charset="0"/>
                      </a:rPr>
                      <m:t>−1 </m:t>
                    </m:r>
                  </m:oMath>
                </a14:m>
                <a:br>
                  <a:rPr lang="en-GB" sz="1600" b="0" i="1">
                    <a:latin typeface="Cambria Math" panose="02040503050406030204" pitchFamily="18" charset="0"/>
                  </a:rPr>
                </a:br>
                <a14:m>
                  <m:oMathPara xmlns:m="http://schemas.openxmlformats.org/officeDocument/2006/math">
                    <m:oMath>
                      <m:r>
                        <a:rPr lang="en-GB" sz="1600" b="0" i="1" smtClean="0">
                          <a:latin typeface="Cambria Math" panose="02040503050406030204" pitchFamily="18" charset="0"/>
                        </a:rPr>
                        <m:t>𝑜𝑟</m:t>
                      </m:r>
                      <m:r>
                        <a:rPr lang="en-GB" sz="1600" b="0" i="1" smtClean="0">
                          <a:latin typeface="Cambria Math" panose="02040503050406030204" pitchFamily="18" charset="0"/>
                        </a:rPr>
                        <m:t> </m:t>
                      </m:r>
                      <m:r>
                        <a:rPr lang="en-GB" sz="1600" b="0" i="1" smtClean="0">
                          <a:latin typeface="Cambria Math" panose="02040503050406030204" pitchFamily="18" charset="0"/>
                        </a:rPr>
                        <m:t>𝑦</m:t>
                      </m:r>
                      <m:r>
                        <a:rPr lang="en-GB" sz="1600" b="0" i="1" smtClean="0">
                          <a:latin typeface="Cambria Math" panose="02040503050406030204" pitchFamily="18" charset="0"/>
                        </a:rPr>
                        <m:t>=−</m:t>
                      </m:r>
                      <m:sSup>
                        <m:sSupPr>
                          <m:ctrlPr>
                            <a:rPr lang="en-GB" sz="1600" b="0" i="1" smtClean="0">
                              <a:latin typeface="Cambria Math" panose="02040503050406030204" pitchFamily="18" charset="0"/>
                            </a:rPr>
                          </m:ctrlPr>
                        </m:sSupPr>
                        <m:e>
                          <m:r>
                            <a:rPr lang="en-GB" sz="1600" b="0" i="1" smtClean="0">
                              <a:latin typeface="Cambria Math" panose="02040503050406030204" pitchFamily="18" charset="0"/>
                            </a:rPr>
                            <m:t>𝑥</m:t>
                          </m:r>
                        </m:e>
                        <m:sup>
                          <m:r>
                            <a:rPr lang="en-GB" sz="1600" b="0" i="1" smtClean="0">
                              <a:latin typeface="Cambria Math" panose="02040503050406030204" pitchFamily="18" charset="0"/>
                            </a:rPr>
                            <m:t>2</m:t>
                          </m:r>
                        </m:sup>
                      </m:sSup>
                      <m:r>
                        <a:rPr lang="en-GB" sz="1600" b="0" i="1" smtClean="0">
                          <a:latin typeface="Cambria Math" panose="02040503050406030204" pitchFamily="18" charset="0"/>
                        </a:rPr>
                        <m:t>−1</m:t>
                      </m:r>
                    </m:oMath>
                  </m:oMathPara>
                </a14:m>
                <a:endParaRPr lang="en-GB" sz="1600"/>
              </a:p>
              <a:p>
                <a:r>
                  <a:rPr lang="en-GB" sz="1600"/>
                  <a:t>Answer is (b).</a:t>
                </a:r>
              </a:p>
            </p:txBody>
          </p:sp>
        </mc:Choice>
        <mc:Fallback>
          <p:sp>
            <p:nvSpPr>
              <p:cNvPr id="15" name="TextBox 14"/>
              <p:cNvSpPr txBox="1">
                <a:spLocks noRot="1" noChangeAspect="1" noMove="1" noResize="1" noEditPoints="1" noAdjustHandles="1" noChangeArrowheads="1" noChangeShapeType="1" noTextEdit="1"/>
              </p:cNvSpPr>
              <p:nvPr/>
            </p:nvSpPr>
            <p:spPr>
              <a:xfrm>
                <a:off x="7489371" y="5196227"/>
                <a:ext cx="1724299" cy="1568956"/>
              </a:xfrm>
              <a:prstGeom prst="rect">
                <a:avLst/>
              </a:prstGeom>
              <a:blipFill>
                <a:blip r:embed="rId8"/>
                <a:stretch>
                  <a:fillRect l="-1460" b="-4000"/>
                </a:stretch>
              </a:blipFill>
            </p:spPr>
            <p:txBody>
              <a:bodyPr/>
              <a:lstStyle/>
              <a:p>
                <a:r>
                  <a:rPr lang="en-US">
                    <a:noFill/>
                  </a:rPr>
                  <a:t> </a:t>
                </a:r>
              </a:p>
            </p:txBody>
          </p:sp>
        </mc:Fallback>
      </mc:AlternateContent>
      <p:sp>
        <p:nvSpPr>
          <p:cNvPr id="16" name="Rectangle 15"/>
          <p:cNvSpPr/>
          <p:nvPr/>
        </p:nvSpPr>
        <p:spPr>
          <a:xfrm>
            <a:off x="208581" y="2212197"/>
            <a:ext cx="4200569" cy="3066684"/>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17" name="Rectangle 16"/>
          <p:cNvSpPr/>
          <p:nvPr/>
        </p:nvSpPr>
        <p:spPr>
          <a:xfrm>
            <a:off x="7535422" y="5123542"/>
            <a:ext cx="1579550" cy="1677639"/>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24" name="Rectangle 23"/>
          <p:cNvSpPr/>
          <p:nvPr/>
        </p:nvSpPr>
        <p:spPr>
          <a:xfrm>
            <a:off x="4442163" y="3898073"/>
            <a:ext cx="288032" cy="369331"/>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a:t>3</a:t>
            </a:r>
          </a:p>
        </p:txBody>
      </p:sp>
      <p:sp>
        <p:nvSpPr>
          <p:cNvPr id="25" name="Rectangle 24"/>
          <p:cNvSpPr/>
          <p:nvPr/>
        </p:nvSpPr>
        <p:spPr>
          <a:xfrm>
            <a:off x="4701501" y="1903784"/>
            <a:ext cx="4166727" cy="1695759"/>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Tree>
    <p:extLst>
      <p:ext uri="{BB962C8B-B14F-4D97-AF65-F5344CB8AC3E}">
        <p14:creationId xmlns:p14="http://schemas.microsoft.com/office/powerpoint/2010/main" val="4145520448"/>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6"/>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6"/>
                                        </p:tgtEl>
                                      </p:cBhvr>
                                    </p:animEffect>
                                    <p:set>
                                      <p:cBhvr>
                                        <p:cTn id="7" dur="1" fill="hold">
                                          <p:stCondLst>
                                            <p:cond delay="499"/>
                                          </p:stCondLst>
                                        </p:cTn>
                                        <p:tgtEl>
                                          <p:spTgt spid="16"/>
                                        </p:tgtEl>
                                        <p:attrNameLst>
                                          <p:attrName>style.visibility</p:attrName>
                                        </p:attrNameLst>
                                      </p:cBhvr>
                                      <p:to>
                                        <p:strVal val="hidden"/>
                                      </p:to>
                                    </p:set>
                                  </p:childTnLst>
                                </p:cTn>
                              </p:par>
                            </p:childTnLst>
                          </p:cTn>
                        </p:par>
                      </p:childTnLst>
                    </p:cTn>
                  </p:par>
                </p:childTnLst>
              </p:cTn>
              <p:nextCondLst>
                <p:cond evt="onClick" delay="0">
                  <p:tgtEl>
                    <p:spTgt spid="16"/>
                  </p:tgtEl>
                </p:cond>
              </p:nextCondLst>
            </p:seq>
            <p:seq concurrent="1" nextAc="seek">
              <p:cTn id="8" restart="whenNotActive" fill="hold" evtFilter="cancelBubble" nodeType="interactiveSeq">
                <p:stCondLst>
                  <p:cond evt="onClick" delay="0">
                    <p:tgtEl>
                      <p:spTgt spid="17"/>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7"/>
                                        </p:tgtEl>
                                      </p:cBhvr>
                                    </p:animEffect>
                                    <p:set>
                                      <p:cBhvr>
                                        <p:cTn id="13" dur="1" fill="hold">
                                          <p:stCondLst>
                                            <p:cond delay="499"/>
                                          </p:stCondLst>
                                        </p:cTn>
                                        <p:tgtEl>
                                          <p:spTgt spid="17"/>
                                        </p:tgtEl>
                                        <p:attrNameLst>
                                          <p:attrName>style.visibility</p:attrName>
                                        </p:attrNameLst>
                                      </p:cBhvr>
                                      <p:to>
                                        <p:strVal val="hidden"/>
                                      </p:to>
                                    </p:set>
                                  </p:childTnLst>
                                </p:cTn>
                              </p:par>
                            </p:childTnLst>
                          </p:cTn>
                        </p:par>
                      </p:childTnLst>
                    </p:cTn>
                  </p:par>
                </p:childTnLst>
              </p:cTn>
              <p:nextCondLst>
                <p:cond evt="onClick" delay="0">
                  <p:tgtEl>
                    <p:spTgt spid="17"/>
                  </p:tgtEl>
                </p:cond>
              </p:nextCondLst>
            </p:seq>
            <p:seq concurrent="1" nextAc="seek">
              <p:cTn id="14" restart="whenNotActive" fill="hold" evtFilter="cancelBubble" nodeType="interactiveSeq">
                <p:stCondLst>
                  <p:cond evt="onClick" delay="0">
                    <p:tgtEl>
                      <p:spTgt spid="25"/>
                    </p:tgtEl>
                  </p:cond>
                </p:stCondLst>
                <p:endSync evt="end" delay="0">
                  <p:rtn val="all"/>
                </p:endSync>
                <p:childTnLst>
                  <p:par>
                    <p:cTn id="15" fill="hold">
                      <p:stCondLst>
                        <p:cond delay="0"/>
                      </p:stCondLst>
                      <p:childTnLst>
                        <p:par>
                          <p:cTn id="16" fill="hold">
                            <p:stCondLst>
                              <p:cond delay="0"/>
                            </p:stCondLst>
                            <p:childTnLst>
                              <p:par>
                                <p:cTn id="17" presetID="10" presetClass="exit" presetSubtype="0" fill="hold" grpId="0" nodeType="clickEffect">
                                  <p:stCondLst>
                                    <p:cond delay="0"/>
                                  </p:stCondLst>
                                  <p:childTnLst>
                                    <p:animEffect transition="out" filter="fade">
                                      <p:cBhvr>
                                        <p:cTn id="18" dur="500"/>
                                        <p:tgtEl>
                                          <p:spTgt spid="25"/>
                                        </p:tgtEl>
                                      </p:cBhvr>
                                    </p:animEffect>
                                    <p:set>
                                      <p:cBhvr>
                                        <p:cTn id="19" dur="1" fill="hold">
                                          <p:stCondLst>
                                            <p:cond delay="499"/>
                                          </p:stCondLst>
                                        </p:cTn>
                                        <p:tgtEl>
                                          <p:spTgt spid="25"/>
                                        </p:tgtEl>
                                        <p:attrNameLst>
                                          <p:attrName>style.visibility</p:attrName>
                                        </p:attrNameLst>
                                      </p:cBhvr>
                                      <p:to>
                                        <p:strVal val="hidden"/>
                                      </p:to>
                                    </p:set>
                                  </p:childTnLst>
                                </p:cTn>
                              </p:par>
                            </p:childTnLst>
                          </p:cTn>
                        </p:par>
                      </p:childTnLst>
                    </p:cTn>
                  </p:par>
                </p:childTnLst>
              </p:cTn>
              <p:nextCondLst>
                <p:cond evt="onClick" delay="0">
                  <p:tgtEl>
                    <p:spTgt spid="25"/>
                  </p:tgtEl>
                </p:cond>
              </p:nextCondLst>
            </p:seq>
          </p:childTnLst>
        </p:cTn>
      </p:par>
    </p:tnLst>
    <p:bldLst>
      <p:bldP spid="16" grpId="0" animBg="1"/>
      <p:bldP spid="17" grpId="0" animBg="1"/>
      <p:bldP spid="25"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vert="horz" wrap="square" lIns="324000" tIns="45720" rIns="91440" bIns="45720" rtlCol="0" anchor="ctr">
              <a:spAutoFit/>
            </a:bodyPr>
            <a:lstStyle>
              <a:defPPr>
                <a:defRPr lang="en-US"/>
              </a:defPPr>
              <a:lvl1pPr>
                <a:spcBef>
                  <a:spcPct val="0"/>
                </a:spcBef>
                <a:buNone/>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a:t>Transformations of Functions</a:t>
              </a:r>
            </a:p>
          </p:txBody>
        </p:sp>
        <p:cxnSp>
          <p:nvCxnSpPr>
            <p:cNvPr id="4" name="Straight Connector 3"/>
            <p:cNvCxnSpPr/>
            <p:nvPr/>
          </p:nvCxnSpPr>
          <p:spPr>
            <a:xfrm>
              <a:off x="218" y="601079"/>
              <a:ext cx="9144000" cy="0"/>
            </a:xfrm>
            <a:prstGeom prst="line">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mc:Choice xmlns:a14="http://schemas.microsoft.com/office/drawing/2010/main" Requires="a14">
          <p:sp>
            <p:nvSpPr>
              <p:cNvPr id="5" name="TextBox 4"/>
              <p:cNvSpPr txBox="1"/>
              <p:nvPr/>
            </p:nvSpPr>
            <p:spPr>
              <a:xfrm>
                <a:off x="395536" y="836712"/>
                <a:ext cx="3024336" cy="461665"/>
              </a:xfrm>
              <a:prstGeom prst="rect">
                <a:avLst/>
              </a:prstGeom>
              <a:noFill/>
            </p:spPr>
            <p:txBody>
              <a:bodyPr wrap="square" rtlCol="0">
                <a:spAutoFit/>
              </a:bodyPr>
              <a:lstStyle/>
              <a:p>
                <a:r>
                  <a:rPr lang="en-GB" sz="2400"/>
                  <a:t>Suppose </a:t>
                </a:r>
                <a14:m>
                  <m:oMath xmlns:m="http://schemas.openxmlformats.org/officeDocument/2006/math">
                    <m:r>
                      <a:rPr lang="en-GB" sz="2400" b="0" i="1" smtClean="0">
                        <a:latin typeface="Cambria Math" panose="02040503050406030204" pitchFamily="18" charset="0"/>
                      </a:rPr>
                      <m:t>𝑓</m:t>
                    </m:r>
                    <m:d>
                      <m:dPr>
                        <m:ctrlPr>
                          <a:rPr lang="en-GB" sz="2400" b="0" i="1" smtClean="0">
                            <a:latin typeface="Cambria Math" panose="02040503050406030204" pitchFamily="18" charset="0"/>
                          </a:rPr>
                        </m:ctrlPr>
                      </m:dPr>
                      <m:e>
                        <m:r>
                          <a:rPr lang="en-GB" sz="2400" b="0" i="1" smtClean="0">
                            <a:latin typeface="Cambria Math" panose="02040503050406030204" pitchFamily="18" charset="0"/>
                          </a:rPr>
                          <m:t>𝑥</m:t>
                        </m:r>
                      </m:e>
                    </m:d>
                    <m:r>
                      <a:rPr lang="en-GB" sz="2400" b="0" i="1" smtClean="0">
                        <a:latin typeface="Cambria Math" panose="02040503050406030204" pitchFamily="18" charset="0"/>
                      </a:rPr>
                      <m:t>=</m:t>
                    </m:r>
                    <m:sSup>
                      <m:sSupPr>
                        <m:ctrlPr>
                          <a:rPr lang="en-GB" sz="2400" b="0" i="1" smtClean="0">
                            <a:latin typeface="Cambria Math" panose="02040503050406030204" pitchFamily="18" charset="0"/>
                          </a:rPr>
                        </m:ctrlPr>
                      </m:sSupPr>
                      <m:e>
                        <m:r>
                          <a:rPr lang="en-GB" sz="2400" b="0" i="1" smtClean="0">
                            <a:latin typeface="Cambria Math" panose="02040503050406030204" pitchFamily="18" charset="0"/>
                          </a:rPr>
                          <m:t>𝑥</m:t>
                        </m:r>
                      </m:e>
                      <m:sup>
                        <m:r>
                          <a:rPr lang="en-GB" sz="2400" b="0" i="1" smtClean="0">
                            <a:latin typeface="Cambria Math" panose="02040503050406030204" pitchFamily="18" charset="0"/>
                          </a:rPr>
                          <m:t>2</m:t>
                        </m:r>
                      </m:sup>
                    </m:sSup>
                  </m:oMath>
                </a14:m>
                <a:endParaRPr lang="en-GB" sz="2400" baseline="30000"/>
              </a:p>
            </p:txBody>
          </p:sp>
        </mc:Choice>
        <mc:Fallback>
          <p:sp>
            <p:nvSpPr>
              <p:cNvPr id="5" name="TextBox 4"/>
              <p:cNvSpPr txBox="1">
                <a:spLocks noRot="1" noChangeAspect="1" noMove="1" noResize="1" noEditPoints="1" noAdjustHandles="1" noChangeArrowheads="1" noChangeShapeType="1" noTextEdit="1"/>
              </p:cNvSpPr>
              <p:nvPr/>
            </p:nvSpPr>
            <p:spPr>
              <a:xfrm>
                <a:off x="395536" y="836712"/>
                <a:ext cx="3024336" cy="461665"/>
              </a:xfrm>
              <a:prstGeom prst="rect">
                <a:avLst/>
              </a:prstGeom>
              <a:blipFill>
                <a:blip r:embed="rId2"/>
                <a:stretch>
                  <a:fillRect l="-3347" t="-7895" b="-2894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 name="TextBox 5"/>
              <p:cNvSpPr txBox="1"/>
              <p:nvPr/>
            </p:nvSpPr>
            <p:spPr>
              <a:xfrm>
                <a:off x="5076056" y="836712"/>
                <a:ext cx="3744416" cy="461665"/>
              </a:xfrm>
              <a:prstGeom prst="rect">
                <a:avLst/>
              </a:prstGeom>
              <a:noFill/>
            </p:spPr>
            <p:txBody>
              <a:bodyPr wrap="square" rtlCol="0">
                <a:spAutoFit/>
              </a:bodyPr>
              <a:lstStyle/>
              <a:p>
                <a:r>
                  <a:rPr lang="en-GB" sz="2400"/>
                  <a:t>Then </a:t>
                </a:r>
                <a14:m>
                  <m:oMath xmlns:m="http://schemas.openxmlformats.org/officeDocument/2006/math">
                    <m:r>
                      <a:rPr lang="en-GB" sz="2400" b="0" i="1" smtClean="0">
                        <a:latin typeface="Cambria Math" panose="02040503050406030204" pitchFamily="18" charset="0"/>
                      </a:rPr>
                      <m:t>𝑓</m:t>
                    </m:r>
                    <m:d>
                      <m:dPr>
                        <m:ctrlPr>
                          <a:rPr lang="en-GB" sz="2400" b="0" i="1" smtClean="0">
                            <a:latin typeface="Cambria Math" panose="02040503050406030204" pitchFamily="18" charset="0"/>
                          </a:rPr>
                        </m:ctrlPr>
                      </m:dPr>
                      <m:e>
                        <m:r>
                          <a:rPr lang="en-GB" sz="2400" b="0" i="1" smtClean="0">
                            <a:latin typeface="Cambria Math" panose="02040503050406030204" pitchFamily="18" charset="0"/>
                          </a:rPr>
                          <m:t>𝑥</m:t>
                        </m:r>
                        <m:r>
                          <a:rPr lang="en-GB" sz="2400" b="0" i="1" smtClean="0">
                            <a:latin typeface="Cambria Math" panose="02040503050406030204" pitchFamily="18" charset="0"/>
                          </a:rPr>
                          <m:t>+2</m:t>
                        </m:r>
                      </m:e>
                    </m:d>
                    <m:r>
                      <a:rPr lang="en-GB" sz="2400" b="0" i="1" smtClean="0">
                        <a:latin typeface="Cambria Math" panose="02040503050406030204" pitchFamily="18" charset="0"/>
                      </a:rPr>
                      <m:t>=</m:t>
                    </m:r>
                    <m:sSup>
                      <m:sSupPr>
                        <m:ctrlPr>
                          <a:rPr lang="en-GB" sz="2400" b="0" i="1" smtClean="0">
                            <a:latin typeface="Cambria Math" panose="02040503050406030204" pitchFamily="18" charset="0"/>
                          </a:rPr>
                        </m:ctrlPr>
                      </m:sSupPr>
                      <m:e>
                        <m:d>
                          <m:dPr>
                            <m:ctrlPr>
                              <a:rPr lang="en-GB" sz="2400" b="0" i="1" smtClean="0">
                                <a:latin typeface="Cambria Math" panose="02040503050406030204" pitchFamily="18" charset="0"/>
                              </a:rPr>
                            </m:ctrlPr>
                          </m:dPr>
                          <m:e>
                            <m:r>
                              <a:rPr lang="en-GB" sz="2400" b="0" i="1" smtClean="0">
                                <a:latin typeface="Cambria Math" panose="02040503050406030204" pitchFamily="18" charset="0"/>
                              </a:rPr>
                              <m:t>𝑥</m:t>
                            </m:r>
                            <m:r>
                              <a:rPr lang="en-GB" sz="2400" b="0" i="1" smtClean="0">
                                <a:latin typeface="Cambria Math" panose="02040503050406030204" pitchFamily="18" charset="0"/>
                              </a:rPr>
                              <m:t>+2</m:t>
                            </m:r>
                          </m:e>
                        </m:d>
                      </m:e>
                      <m:sup>
                        <m:r>
                          <a:rPr lang="en-GB" sz="2400" b="0" i="1" smtClean="0">
                            <a:latin typeface="Cambria Math" panose="02040503050406030204" pitchFamily="18" charset="0"/>
                          </a:rPr>
                          <m:t>2</m:t>
                        </m:r>
                      </m:sup>
                    </m:sSup>
                  </m:oMath>
                </a14:m>
                <a:endParaRPr lang="en-GB" sz="2400" baseline="30000"/>
              </a:p>
            </p:txBody>
          </p:sp>
        </mc:Choice>
        <mc:Fallback>
          <p:sp>
            <p:nvSpPr>
              <p:cNvPr id="6" name="TextBox 5"/>
              <p:cNvSpPr txBox="1">
                <a:spLocks noRot="1" noChangeAspect="1" noMove="1" noResize="1" noEditPoints="1" noAdjustHandles="1" noChangeArrowheads="1" noChangeShapeType="1" noTextEdit="1"/>
              </p:cNvSpPr>
              <p:nvPr/>
            </p:nvSpPr>
            <p:spPr>
              <a:xfrm>
                <a:off x="5076056" y="836712"/>
                <a:ext cx="3744416" cy="461665"/>
              </a:xfrm>
              <a:prstGeom prst="rect">
                <a:avLst/>
              </a:prstGeom>
              <a:blipFill>
                <a:blip r:embed="rId3"/>
                <a:stretch>
                  <a:fillRect l="-2365" t="-7895" b="-28947"/>
                </a:stretch>
              </a:blipFill>
            </p:spPr>
            <p:txBody>
              <a:bodyPr/>
              <a:lstStyle/>
              <a:p>
                <a:r>
                  <a:rPr lang="en-US">
                    <a:noFill/>
                  </a:rPr>
                  <a:t> </a:t>
                </a:r>
              </a:p>
            </p:txBody>
          </p:sp>
        </mc:Fallback>
      </mc:AlternateContent>
      <p:cxnSp>
        <p:nvCxnSpPr>
          <p:cNvPr id="8" name="Straight Connector 7"/>
          <p:cNvCxnSpPr/>
          <p:nvPr/>
        </p:nvCxnSpPr>
        <p:spPr>
          <a:xfrm>
            <a:off x="4572000" y="908720"/>
            <a:ext cx="0" cy="4752528"/>
          </a:xfrm>
          <a:prstGeom prst="line">
            <a:avLst/>
          </a:prstGeom>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9" name="TextBox 8"/>
              <p:cNvSpPr txBox="1"/>
              <p:nvPr/>
            </p:nvSpPr>
            <p:spPr>
              <a:xfrm>
                <a:off x="395536" y="1988840"/>
                <a:ext cx="2520280" cy="461665"/>
              </a:xfrm>
              <a:prstGeom prst="rect">
                <a:avLst/>
              </a:prstGeom>
              <a:noFill/>
            </p:spPr>
            <p:txBody>
              <a:bodyPr wrap="square" rtlCol="0">
                <a:spAutoFit/>
              </a:bodyPr>
              <a:lstStyle/>
              <a:p>
                <a:r>
                  <a:rPr lang="en-GB" sz="2400"/>
                  <a:t>Sketch </a:t>
                </a:r>
                <a14:m>
                  <m:oMath xmlns:m="http://schemas.openxmlformats.org/officeDocument/2006/math">
                    <m:r>
                      <a:rPr lang="en-GB" sz="2400" b="0" i="1" smtClean="0">
                        <a:latin typeface="Cambria Math" panose="02040503050406030204" pitchFamily="18" charset="0"/>
                      </a:rPr>
                      <m:t>𝑦</m:t>
                    </m:r>
                    <m:r>
                      <a:rPr lang="en-GB" sz="2400" b="0" i="1" smtClean="0">
                        <a:latin typeface="Cambria Math" panose="02040503050406030204" pitchFamily="18" charset="0"/>
                      </a:rPr>
                      <m:t>=</m:t>
                    </m:r>
                    <m:r>
                      <a:rPr lang="en-GB" sz="2400" b="0" i="1" smtClean="0">
                        <a:latin typeface="Cambria Math" panose="02040503050406030204" pitchFamily="18" charset="0"/>
                      </a:rPr>
                      <m:t>𝑓</m:t>
                    </m:r>
                    <m:d>
                      <m:dPr>
                        <m:ctrlPr>
                          <a:rPr lang="en-GB" sz="2400" b="0" i="1" smtClean="0">
                            <a:latin typeface="Cambria Math" panose="02040503050406030204" pitchFamily="18" charset="0"/>
                          </a:rPr>
                        </m:ctrlPr>
                      </m:dPr>
                      <m:e>
                        <m:r>
                          <a:rPr lang="en-GB" sz="2400" b="0" i="1" smtClean="0">
                            <a:latin typeface="Cambria Math" panose="02040503050406030204" pitchFamily="18" charset="0"/>
                          </a:rPr>
                          <m:t>𝑥</m:t>
                        </m:r>
                      </m:e>
                    </m:d>
                  </m:oMath>
                </a14:m>
                <a:r>
                  <a:rPr lang="en-GB" sz="2400"/>
                  <a:t>:</a:t>
                </a:r>
                <a:endParaRPr lang="en-GB" sz="2400" baseline="30000"/>
              </a:p>
            </p:txBody>
          </p:sp>
        </mc:Choice>
        <mc:Fallback>
          <p:sp>
            <p:nvSpPr>
              <p:cNvPr id="9" name="TextBox 8"/>
              <p:cNvSpPr txBox="1">
                <a:spLocks noRot="1" noChangeAspect="1" noMove="1" noResize="1" noEditPoints="1" noAdjustHandles="1" noChangeArrowheads="1" noChangeShapeType="1" noTextEdit="1"/>
              </p:cNvSpPr>
              <p:nvPr/>
            </p:nvSpPr>
            <p:spPr>
              <a:xfrm>
                <a:off x="395536" y="1988840"/>
                <a:ext cx="2520280" cy="461665"/>
              </a:xfrm>
              <a:prstGeom prst="rect">
                <a:avLst/>
              </a:prstGeom>
              <a:blipFill>
                <a:blip r:embed="rId4"/>
                <a:stretch>
                  <a:fillRect l="-4020" t="-8108" b="-3243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 name="TextBox 9"/>
              <p:cNvSpPr txBox="1"/>
              <p:nvPr/>
            </p:nvSpPr>
            <p:spPr>
              <a:xfrm>
                <a:off x="5076056" y="1988840"/>
                <a:ext cx="2952328" cy="461665"/>
              </a:xfrm>
              <a:prstGeom prst="rect">
                <a:avLst/>
              </a:prstGeom>
              <a:noFill/>
            </p:spPr>
            <p:txBody>
              <a:bodyPr wrap="square" rtlCol="0">
                <a:spAutoFit/>
              </a:bodyPr>
              <a:lstStyle/>
              <a:p>
                <a:r>
                  <a:rPr lang="en-GB" sz="2400"/>
                  <a:t>Sketch </a:t>
                </a:r>
                <a14:m>
                  <m:oMath xmlns:m="http://schemas.openxmlformats.org/officeDocument/2006/math">
                    <m:r>
                      <a:rPr lang="en-GB" sz="2400" b="0" i="1" smtClean="0">
                        <a:latin typeface="Cambria Math" panose="02040503050406030204" pitchFamily="18" charset="0"/>
                      </a:rPr>
                      <m:t>𝑦</m:t>
                    </m:r>
                    <m:r>
                      <a:rPr lang="en-GB" sz="2400" b="0" i="1" smtClean="0">
                        <a:latin typeface="Cambria Math" panose="02040503050406030204" pitchFamily="18" charset="0"/>
                      </a:rPr>
                      <m:t>=</m:t>
                    </m:r>
                    <m:r>
                      <a:rPr lang="en-GB" sz="2400" b="0" i="1" smtClean="0">
                        <a:latin typeface="Cambria Math" panose="02040503050406030204" pitchFamily="18" charset="0"/>
                      </a:rPr>
                      <m:t>𝑓</m:t>
                    </m:r>
                    <m:r>
                      <a:rPr lang="en-GB" sz="2400" b="0" i="1" smtClean="0">
                        <a:latin typeface="Cambria Math" panose="02040503050406030204" pitchFamily="18" charset="0"/>
                      </a:rPr>
                      <m:t>(</m:t>
                    </m:r>
                    <m:r>
                      <a:rPr lang="en-GB" sz="2400" b="0" i="1" smtClean="0">
                        <a:latin typeface="Cambria Math" panose="02040503050406030204" pitchFamily="18" charset="0"/>
                      </a:rPr>
                      <m:t>𝑥</m:t>
                    </m:r>
                    <m:r>
                      <a:rPr lang="en-GB" sz="2400" b="0" i="1" smtClean="0">
                        <a:latin typeface="Cambria Math" panose="02040503050406030204" pitchFamily="18" charset="0"/>
                      </a:rPr>
                      <m:t>+2)</m:t>
                    </m:r>
                  </m:oMath>
                </a14:m>
                <a:endParaRPr lang="en-GB" sz="2400" baseline="30000"/>
              </a:p>
            </p:txBody>
          </p:sp>
        </mc:Choice>
        <mc:Fallback>
          <p:sp>
            <p:nvSpPr>
              <p:cNvPr id="10" name="TextBox 9"/>
              <p:cNvSpPr txBox="1">
                <a:spLocks noRot="1" noChangeAspect="1" noMove="1" noResize="1" noEditPoints="1" noAdjustHandles="1" noChangeArrowheads="1" noChangeShapeType="1" noTextEdit="1"/>
              </p:cNvSpPr>
              <p:nvPr/>
            </p:nvSpPr>
            <p:spPr>
              <a:xfrm>
                <a:off x="5076056" y="1988840"/>
                <a:ext cx="2952328" cy="461665"/>
              </a:xfrm>
              <a:prstGeom prst="rect">
                <a:avLst/>
              </a:prstGeom>
              <a:blipFill>
                <a:blip r:embed="rId5"/>
                <a:stretch>
                  <a:fillRect l="-2991" t="-8108" b="-32432"/>
                </a:stretch>
              </a:blipFill>
            </p:spPr>
            <p:txBody>
              <a:bodyPr/>
              <a:lstStyle/>
              <a:p>
                <a:r>
                  <a:rPr lang="en-US">
                    <a:noFill/>
                  </a:rPr>
                  <a:t> </a:t>
                </a:r>
              </a:p>
            </p:txBody>
          </p:sp>
        </mc:Fallback>
      </mc:AlternateContent>
      <p:sp>
        <p:nvSpPr>
          <p:cNvPr id="11" name="Down Arrow 10"/>
          <p:cNvSpPr/>
          <p:nvPr/>
        </p:nvSpPr>
        <p:spPr>
          <a:xfrm>
            <a:off x="2051720" y="1340768"/>
            <a:ext cx="360040" cy="576064"/>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12" name="Down Arrow 11"/>
          <p:cNvSpPr/>
          <p:nvPr/>
        </p:nvSpPr>
        <p:spPr>
          <a:xfrm>
            <a:off x="6372200" y="1340768"/>
            <a:ext cx="360040" cy="576064"/>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cxnSp>
        <p:nvCxnSpPr>
          <p:cNvPr id="14" name="Straight Arrow Connector 13"/>
          <p:cNvCxnSpPr/>
          <p:nvPr/>
        </p:nvCxnSpPr>
        <p:spPr>
          <a:xfrm>
            <a:off x="827584" y="5013176"/>
            <a:ext cx="2952328" cy="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5" name="Straight Arrow Connector 14"/>
          <p:cNvCxnSpPr/>
          <p:nvPr/>
        </p:nvCxnSpPr>
        <p:spPr>
          <a:xfrm flipV="1">
            <a:off x="2267744" y="3068960"/>
            <a:ext cx="0" cy="2664296"/>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18" name="Freeform 17"/>
          <p:cNvSpPr/>
          <p:nvPr/>
        </p:nvSpPr>
        <p:spPr>
          <a:xfrm>
            <a:off x="982175" y="3348888"/>
            <a:ext cx="2576223" cy="1665799"/>
          </a:xfrm>
          <a:custGeom>
            <a:avLst/>
            <a:gdLst>
              <a:gd name="connsiteX0" fmla="*/ 0 w 2576223"/>
              <a:gd name="connsiteY0" fmla="*/ 0 h 1665799"/>
              <a:gd name="connsiteX1" fmla="*/ 230588 w 2576223"/>
              <a:gd name="connsiteY1" fmla="*/ 707666 h 1665799"/>
              <a:gd name="connsiteX2" fmla="*/ 620202 w 2576223"/>
              <a:gd name="connsiteY2" fmla="*/ 1343770 h 1665799"/>
              <a:gd name="connsiteX3" fmla="*/ 1033670 w 2576223"/>
              <a:gd name="connsiteY3" fmla="*/ 1614115 h 1665799"/>
              <a:gd name="connsiteX4" fmla="*/ 1248355 w 2576223"/>
              <a:gd name="connsiteY4" fmla="*/ 1653871 h 1665799"/>
              <a:gd name="connsiteX5" fmla="*/ 1510748 w 2576223"/>
              <a:gd name="connsiteY5" fmla="*/ 1622066 h 1665799"/>
              <a:gd name="connsiteX6" fmla="*/ 1852654 w 2576223"/>
              <a:gd name="connsiteY6" fmla="*/ 1455088 h 1665799"/>
              <a:gd name="connsiteX7" fmla="*/ 2242268 w 2576223"/>
              <a:gd name="connsiteY7" fmla="*/ 1033669 h 1665799"/>
              <a:gd name="connsiteX8" fmla="*/ 2472856 w 2576223"/>
              <a:gd name="connsiteY8" fmla="*/ 453224 h 1665799"/>
              <a:gd name="connsiteX9" fmla="*/ 2576223 w 2576223"/>
              <a:gd name="connsiteY9" fmla="*/ 31805 h 1665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76223" h="1665799">
                <a:moveTo>
                  <a:pt x="0" y="0"/>
                </a:moveTo>
                <a:cubicBezTo>
                  <a:pt x="63610" y="241852"/>
                  <a:pt x="127221" y="483704"/>
                  <a:pt x="230588" y="707666"/>
                </a:cubicBezTo>
                <a:cubicBezTo>
                  <a:pt x="333955" y="931628"/>
                  <a:pt x="486355" y="1192695"/>
                  <a:pt x="620202" y="1343770"/>
                </a:cubicBezTo>
                <a:cubicBezTo>
                  <a:pt x="754049" y="1494845"/>
                  <a:pt x="928978" y="1562431"/>
                  <a:pt x="1033670" y="1614115"/>
                </a:cubicBezTo>
                <a:cubicBezTo>
                  <a:pt x="1138362" y="1665799"/>
                  <a:pt x="1168842" y="1652546"/>
                  <a:pt x="1248355" y="1653871"/>
                </a:cubicBezTo>
                <a:cubicBezTo>
                  <a:pt x="1327868" y="1655196"/>
                  <a:pt x="1410032" y="1655197"/>
                  <a:pt x="1510748" y="1622066"/>
                </a:cubicBezTo>
                <a:cubicBezTo>
                  <a:pt x="1611465" y="1588936"/>
                  <a:pt x="1730734" y="1553154"/>
                  <a:pt x="1852654" y="1455088"/>
                </a:cubicBezTo>
                <a:cubicBezTo>
                  <a:pt x="1974574" y="1357022"/>
                  <a:pt x="2138901" y="1200646"/>
                  <a:pt x="2242268" y="1033669"/>
                </a:cubicBezTo>
                <a:cubicBezTo>
                  <a:pt x="2345635" y="866692"/>
                  <a:pt x="2417197" y="620201"/>
                  <a:pt x="2472856" y="453224"/>
                </a:cubicBezTo>
                <a:cubicBezTo>
                  <a:pt x="2528515" y="286247"/>
                  <a:pt x="2552369" y="159026"/>
                  <a:pt x="2576223" y="31805"/>
                </a:cubicBezTo>
              </a:path>
            </a:pathLst>
          </a:custGeom>
          <a:effectLst/>
        </p:spPr>
        <p:style>
          <a:lnRef idx="2">
            <a:schemeClr val="accent1"/>
          </a:lnRef>
          <a:fillRef idx="0">
            <a:schemeClr val="accent1"/>
          </a:fillRef>
          <a:effectRef idx="1">
            <a:schemeClr val="accent1"/>
          </a:effectRef>
          <a:fontRef idx="minor">
            <a:schemeClr val="tx1"/>
          </a:fontRef>
        </p:style>
        <p:txBody>
          <a:bodyPr rtlCol="0" anchor="ctr"/>
          <a:lstStyle/>
          <a:p>
            <a:pPr algn="ctr"/>
            <a:r>
              <a:rPr lang="en-GB"/>
              <a:t> </a:t>
            </a:r>
          </a:p>
        </p:txBody>
      </p:sp>
      <p:sp>
        <p:nvSpPr>
          <p:cNvPr id="19" name="TextBox 18"/>
          <p:cNvSpPr txBox="1"/>
          <p:nvPr/>
        </p:nvSpPr>
        <p:spPr>
          <a:xfrm>
            <a:off x="3707904" y="4797152"/>
            <a:ext cx="360040" cy="369332"/>
          </a:xfrm>
          <a:prstGeom prst="rect">
            <a:avLst/>
          </a:prstGeom>
          <a:noFill/>
        </p:spPr>
        <p:txBody>
          <a:bodyPr wrap="square" rtlCol="0">
            <a:spAutoFit/>
          </a:bodyPr>
          <a:lstStyle/>
          <a:p>
            <a:r>
              <a:rPr lang="en-GB"/>
              <a:t>x</a:t>
            </a:r>
          </a:p>
        </p:txBody>
      </p:sp>
      <p:sp>
        <p:nvSpPr>
          <p:cNvPr id="20" name="TextBox 19"/>
          <p:cNvSpPr txBox="1"/>
          <p:nvPr/>
        </p:nvSpPr>
        <p:spPr>
          <a:xfrm>
            <a:off x="2051720" y="2780928"/>
            <a:ext cx="360040" cy="369332"/>
          </a:xfrm>
          <a:prstGeom prst="rect">
            <a:avLst/>
          </a:prstGeom>
          <a:noFill/>
        </p:spPr>
        <p:txBody>
          <a:bodyPr wrap="square" rtlCol="0">
            <a:spAutoFit/>
          </a:bodyPr>
          <a:lstStyle/>
          <a:p>
            <a:r>
              <a:rPr lang="en-GB"/>
              <a:t>y</a:t>
            </a:r>
          </a:p>
        </p:txBody>
      </p:sp>
      <mc:AlternateContent xmlns:mc="http://schemas.openxmlformats.org/markup-compatibility/2006">
        <mc:Choice xmlns:a14="http://schemas.microsoft.com/office/drawing/2010/main" Requires="a14">
          <p:sp>
            <p:nvSpPr>
              <p:cNvPr id="21" name="TextBox 20"/>
              <p:cNvSpPr txBox="1"/>
              <p:nvPr/>
            </p:nvSpPr>
            <p:spPr>
              <a:xfrm rot="17864820">
                <a:off x="2699362" y="3909345"/>
                <a:ext cx="975911" cy="362984"/>
              </a:xfrm>
              <a:prstGeom prst="rect">
                <a:avLst/>
              </a:prstGeom>
              <a:noFill/>
            </p:spPr>
            <p:txBody>
              <a:bodyPr wrap="square" rtlCol="0">
                <a:spAutoFit/>
              </a:bodyPr>
              <a:lstStyle/>
              <a:p>
                <a:pPr/>
                <a14:m>
                  <m:oMathPara xmlns:m="http://schemas.openxmlformats.org/officeDocument/2006/math">
                    <m:oMath>
                      <m:r>
                        <a:rPr lang="en-GB" i="1" dirty="0" smtClean="0">
                          <a:latin typeface="Cambria Math" panose="02040503050406030204" pitchFamily="18" charset="0"/>
                        </a:rPr>
                        <m:t>𝑦</m:t>
                      </m:r>
                      <m:r>
                        <a:rPr lang="en-GB" i="1" dirty="0" smtClean="0">
                          <a:latin typeface="Cambria Math" panose="02040503050406030204" pitchFamily="18" charset="0"/>
                        </a:rPr>
                        <m:t> = </m:t>
                      </m:r>
                      <m:r>
                        <a:rPr lang="en-GB" i="1" dirty="0" smtClean="0">
                          <a:latin typeface="Cambria Math" panose="02040503050406030204" pitchFamily="18" charset="0"/>
                        </a:rPr>
                        <m:t>𝑥</m:t>
                      </m:r>
                      <m:r>
                        <a:rPr lang="en-GB" i="1" baseline="30000" dirty="0" smtClean="0">
                          <a:latin typeface="Cambria Math" panose="02040503050406030204" pitchFamily="18" charset="0"/>
                        </a:rPr>
                        <m:t>2</m:t>
                      </m:r>
                    </m:oMath>
                  </m:oMathPara>
                </a14:m>
                <a:endParaRPr lang="en-GB" baseline="30000"/>
              </a:p>
            </p:txBody>
          </p:sp>
        </mc:Choice>
        <mc:Fallback>
          <p:sp>
            <p:nvSpPr>
              <p:cNvPr id="21" name="TextBox 20"/>
              <p:cNvSpPr txBox="1">
                <a:spLocks noRot="1" noChangeAspect="1" noMove="1" noResize="1" noEditPoints="1" noAdjustHandles="1" noChangeArrowheads="1" noChangeShapeType="1" noTextEdit="1"/>
              </p:cNvSpPr>
              <p:nvPr/>
            </p:nvSpPr>
            <p:spPr>
              <a:xfrm rot="17864820">
                <a:off x="2699362" y="3909345"/>
                <a:ext cx="975911" cy="362984"/>
              </a:xfrm>
              <a:prstGeom prst="rect">
                <a:avLst/>
              </a:prstGeom>
              <a:blipFill>
                <a:blip r:embed="rId6"/>
                <a:stretch>
                  <a:fillRect/>
                </a:stretch>
              </a:blipFill>
            </p:spPr>
            <p:txBody>
              <a:bodyPr/>
              <a:lstStyle/>
              <a:p>
                <a:r>
                  <a:rPr lang="en-US">
                    <a:noFill/>
                  </a:rPr>
                  <a:t> </a:t>
                </a:r>
              </a:p>
            </p:txBody>
          </p:sp>
        </mc:Fallback>
      </mc:AlternateContent>
      <p:cxnSp>
        <p:nvCxnSpPr>
          <p:cNvPr id="22" name="Straight Arrow Connector 21"/>
          <p:cNvCxnSpPr/>
          <p:nvPr/>
        </p:nvCxnSpPr>
        <p:spPr>
          <a:xfrm>
            <a:off x="5436096" y="5013176"/>
            <a:ext cx="2952328" cy="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23" name="Straight Arrow Connector 22"/>
          <p:cNvCxnSpPr/>
          <p:nvPr/>
        </p:nvCxnSpPr>
        <p:spPr>
          <a:xfrm flipV="1">
            <a:off x="6731114" y="3068960"/>
            <a:ext cx="0" cy="2664296"/>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24" name="Freeform 23"/>
          <p:cNvSpPr/>
          <p:nvPr/>
        </p:nvSpPr>
        <p:spPr>
          <a:xfrm>
            <a:off x="5076056" y="3356992"/>
            <a:ext cx="2576223" cy="1665799"/>
          </a:xfrm>
          <a:custGeom>
            <a:avLst/>
            <a:gdLst>
              <a:gd name="connsiteX0" fmla="*/ 0 w 2576223"/>
              <a:gd name="connsiteY0" fmla="*/ 0 h 1665799"/>
              <a:gd name="connsiteX1" fmla="*/ 230588 w 2576223"/>
              <a:gd name="connsiteY1" fmla="*/ 707666 h 1665799"/>
              <a:gd name="connsiteX2" fmla="*/ 620202 w 2576223"/>
              <a:gd name="connsiteY2" fmla="*/ 1343770 h 1665799"/>
              <a:gd name="connsiteX3" fmla="*/ 1033670 w 2576223"/>
              <a:gd name="connsiteY3" fmla="*/ 1614115 h 1665799"/>
              <a:gd name="connsiteX4" fmla="*/ 1248355 w 2576223"/>
              <a:gd name="connsiteY4" fmla="*/ 1653871 h 1665799"/>
              <a:gd name="connsiteX5" fmla="*/ 1510748 w 2576223"/>
              <a:gd name="connsiteY5" fmla="*/ 1622066 h 1665799"/>
              <a:gd name="connsiteX6" fmla="*/ 1852654 w 2576223"/>
              <a:gd name="connsiteY6" fmla="*/ 1455088 h 1665799"/>
              <a:gd name="connsiteX7" fmla="*/ 2242268 w 2576223"/>
              <a:gd name="connsiteY7" fmla="*/ 1033669 h 1665799"/>
              <a:gd name="connsiteX8" fmla="*/ 2472856 w 2576223"/>
              <a:gd name="connsiteY8" fmla="*/ 453224 h 1665799"/>
              <a:gd name="connsiteX9" fmla="*/ 2576223 w 2576223"/>
              <a:gd name="connsiteY9" fmla="*/ 31805 h 1665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76223" h="1665799">
                <a:moveTo>
                  <a:pt x="0" y="0"/>
                </a:moveTo>
                <a:cubicBezTo>
                  <a:pt x="63610" y="241852"/>
                  <a:pt x="127221" y="483704"/>
                  <a:pt x="230588" y="707666"/>
                </a:cubicBezTo>
                <a:cubicBezTo>
                  <a:pt x="333955" y="931628"/>
                  <a:pt x="486355" y="1192695"/>
                  <a:pt x="620202" y="1343770"/>
                </a:cubicBezTo>
                <a:cubicBezTo>
                  <a:pt x="754049" y="1494845"/>
                  <a:pt x="928978" y="1562431"/>
                  <a:pt x="1033670" y="1614115"/>
                </a:cubicBezTo>
                <a:cubicBezTo>
                  <a:pt x="1138362" y="1665799"/>
                  <a:pt x="1168842" y="1652546"/>
                  <a:pt x="1248355" y="1653871"/>
                </a:cubicBezTo>
                <a:cubicBezTo>
                  <a:pt x="1327868" y="1655196"/>
                  <a:pt x="1410032" y="1655197"/>
                  <a:pt x="1510748" y="1622066"/>
                </a:cubicBezTo>
                <a:cubicBezTo>
                  <a:pt x="1611465" y="1588936"/>
                  <a:pt x="1730734" y="1553154"/>
                  <a:pt x="1852654" y="1455088"/>
                </a:cubicBezTo>
                <a:cubicBezTo>
                  <a:pt x="1974574" y="1357022"/>
                  <a:pt x="2138901" y="1200646"/>
                  <a:pt x="2242268" y="1033669"/>
                </a:cubicBezTo>
                <a:cubicBezTo>
                  <a:pt x="2345635" y="866692"/>
                  <a:pt x="2417197" y="620201"/>
                  <a:pt x="2472856" y="453224"/>
                </a:cubicBezTo>
                <a:cubicBezTo>
                  <a:pt x="2528515" y="286247"/>
                  <a:pt x="2552369" y="159026"/>
                  <a:pt x="2576223" y="31805"/>
                </a:cubicBezTo>
              </a:path>
            </a:pathLst>
          </a:custGeom>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mc:AlternateContent xmlns:mc="http://schemas.openxmlformats.org/markup-compatibility/2006">
        <mc:Choice xmlns:a14="http://schemas.microsoft.com/office/drawing/2010/main" Requires="a14">
          <p:sp>
            <p:nvSpPr>
              <p:cNvPr id="25" name="TextBox 24"/>
              <p:cNvSpPr txBox="1"/>
              <p:nvPr/>
            </p:nvSpPr>
            <p:spPr>
              <a:xfrm>
                <a:off x="8316416" y="4797152"/>
                <a:ext cx="360040" cy="369332"/>
              </a:xfrm>
              <a:prstGeom prst="rect">
                <a:avLst/>
              </a:prstGeom>
              <a:noFill/>
            </p:spPr>
            <p:txBody>
              <a:bodyPr wrap="square" rtlCol="0">
                <a:spAutoFit/>
              </a:bodyPr>
              <a:lstStyle/>
              <a:p>
                <a:pPr/>
                <a14:m>
                  <m:oMathPara xmlns:m="http://schemas.openxmlformats.org/officeDocument/2006/math">
                    <m:oMath>
                      <m:r>
                        <a:rPr lang="en-GB" i="1" dirty="0" smtClean="0">
                          <a:latin typeface="Cambria Math" panose="02040503050406030204" pitchFamily="18" charset="0"/>
                        </a:rPr>
                        <m:t>𝑥</m:t>
                      </m:r>
                    </m:oMath>
                  </m:oMathPara>
                </a14:m>
                <a:endParaRPr lang="en-GB"/>
              </a:p>
            </p:txBody>
          </p:sp>
        </mc:Choice>
        <mc:Fallback>
          <p:sp>
            <p:nvSpPr>
              <p:cNvPr id="25" name="TextBox 24"/>
              <p:cNvSpPr txBox="1">
                <a:spLocks noRot="1" noChangeAspect="1" noMove="1" noResize="1" noEditPoints="1" noAdjustHandles="1" noChangeArrowheads="1" noChangeShapeType="1" noTextEdit="1"/>
              </p:cNvSpPr>
              <p:nvPr/>
            </p:nvSpPr>
            <p:spPr>
              <a:xfrm>
                <a:off x="8316416" y="4797152"/>
                <a:ext cx="360040"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6" name="TextBox 25"/>
              <p:cNvSpPr txBox="1"/>
              <p:nvPr/>
            </p:nvSpPr>
            <p:spPr>
              <a:xfrm>
                <a:off x="6457595" y="2708920"/>
                <a:ext cx="360040" cy="369332"/>
              </a:xfrm>
              <a:prstGeom prst="rect">
                <a:avLst/>
              </a:prstGeom>
              <a:noFill/>
            </p:spPr>
            <p:txBody>
              <a:bodyPr wrap="square" rtlCol="0">
                <a:spAutoFit/>
              </a:bodyPr>
              <a:lstStyle/>
              <a:p>
                <a:pPr/>
                <a14:m>
                  <m:oMathPara xmlns:m="http://schemas.openxmlformats.org/officeDocument/2006/math">
                    <m:oMath>
                      <m:r>
                        <a:rPr lang="en-GB" i="1" dirty="0" smtClean="0">
                          <a:latin typeface="Cambria Math" panose="02040503050406030204" pitchFamily="18" charset="0"/>
                        </a:rPr>
                        <m:t>𝑦</m:t>
                      </m:r>
                    </m:oMath>
                  </m:oMathPara>
                </a14:m>
                <a:endParaRPr lang="en-GB"/>
              </a:p>
            </p:txBody>
          </p:sp>
        </mc:Choice>
        <mc:Fallback>
          <p:sp>
            <p:nvSpPr>
              <p:cNvPr id="26" name="TextBox 25"/>
              <p:cNvSpPr txBox="1">
                <a:spLocks noRot="1" noChangeAspect="1" noMove="1" noResize="1" noEditPoints="1" noAdjustHandles="1" noChangeArrowheads="1" noChangeShapeType="1" noTextEdit="1"/>
              </p:cNvSpPr>
              <p:nvPr/>
            </p:nvSpPr>
            <p:spPr>
              <a:xfrm>
                <a:off x="6457595" y="2708920"/>
                <a:ext cx="360040" cy="369332"/>
              </a:xfrm>
              <a:prstGeom prst="rect">
                <a:avLst/>
              </a:prstGeom>
              <a:blipFill>
                <a:blip r:embed="rId8"/>
                <a:stretch>
                  <a:fillRect b="-666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7" name="TextBox 26"/>
              <p:cNvSpPr txBox="1"/>
              <p:nvPr/>
            </p:nvSpPr>
            <p:spPr>
              <a:xfrm rot="17864820">
                <a:off x="6775760" y="3900850"/>
                <a:ext cx="1729181" cy="362984"/>
              </a:xfrm>
              <a:prstGeom prst="rect">
                <a:avLst/>
              </a:prstGeom>
              <a:noFill/>
            </p:spPr>
            <p:txBody>
              <a:bodyPr wrap="square" rtlCol="0">
                <a:spAutoFit/>
              </a:bodyPr>
              <a:lstStyle/>
              <a:p>
                <a:pPr/>
                <a14:m>
                  <m:oMathPara xmlns:m="http://schemas.openxmlformats.org/officeDocument/2006/math">
                    <m:oMath>
                      <m:r>
                        <a:rPr lang="en-GB" i="1" dirty="0" smtClean="0">
                          <a:latin typeface="Cambria Math" panose="02040503050406030204" pitchFamily="18" charset="0"/>
                        </a:rPr>
                        <m:t>𝑦</m:t>
                      </m:r>
                      <m:r>
                        <a:rPr lang="en-GB" i="1" dirty="0" smtClean="0">
                          <a:latin typeface="Cambria Math" panose="02040503050406030204" pitchFamily="18" charset="0"/>
                        </a:rPr>
                        <m:t> = (</m:t>
                      </m:r>
                      <m:r>
                        <a:rPr lang="en-GB" i="1" dirty="0" smtClean="0">
                          <a:latin typeface="Cambria Math" panose="02040503050406030204" pitchFamily="18" charset="0"/>
                        </a:rPr>
                        <m:t>𝑥</m:t>
                      </m:r>
                      <m:r>
                        <a:rPr lang="en-GB" i="1" dirty="0" smtClean="0">
                          <a:latin typeface="Cambria Math" panose="02040503050406030204" pitchFamily="18" charset="0"/>
                        </a:rPr>
                        <m:t>+2)2</m:t>
                      </m:r>
                    </m:oMath>
                  </m:oMathPara>
                </a14:m>
                <a:endParaRPr lang="en-GB" baseline="30000"/>
              </a:p>
            </p:txBody>
          </p:sp>
        </mc:Choice>
        <mc:Fallback>
          <p:sp>
            <p:nvSpPr>
              <p:cNvPr id="27" name="TextBox 26"/>
              <p:cNvSpPr txBox="1">
                <a:spLocks noRot="1" noChangeAspect="1" noMove="1" noResize="1" noEditPoints="1" noAdjustHandles="1" noChangeArrowheads="1" noChangeShapeType="1" noTextEdit="1"/>
              </p:cNvSpPr>
              <p:nvPr/>
            </p:nvSpPr>
            <p:spPr>
              <a:xfrm rot="17864820">
                <a:off x="6775760" y="3900850"/>
                <a:ext cx="1729181" cy="362984"/>
              </a:xfrm>
              <a:prstGeom prst="rect">
                <a:avLst/>
              </a:prstGeom>
              <a:blipFill>
                <a:blip r:embed="rId9"/>
                <a:stretch>
                  <a:fillRect/>
                </a:stretch>
              </a:blipFill>
            </p:spPr>
            <p:txBody>
              <a:bodyPr/>
              <a:lstStyle/>
              <a:p>
                <a:r>
                  <a:rPr lang="en-US">
                    <a:noFill/>
                  </a:rPr>
                  <a:t> </a:t>
                </a:r>
              </a:p>
            </p:txBody>
          </p:sp>
        </mc:Fallback>
      </mc:AlternateContent>
      <p:sp>
        <p:nvSpPr>
          <p:cNvPr id="28" name="TextBox 27"/>
          <p:cNvSpPr txBox="1"/>
          <p:nvPr/>
        </p:nvSpPr>
        <p:spPr>
          <a:xfrm>
            <a:off x="6156176" y="5013176"/>
            <a:ext cx="432048" cy="369332"/>
          </a:xfrm>
          <a:prstGeom prst="rect">
            <a:avLst/>
          </a:prstGeom>
          <a:noFill/>
        </p:spPr>
        <p:txBody>
          <a:bodyPr wrap="square" rtlCol="0">
            <a:spAutoFit/>
          </a:bodyPr>
          <a:lstStyle/>
          <a:p>
            <a:r>
              <a:rPr lang="en-GB"/>
              <a:t>-2</a:t>
            </a:r>
          </a:p>
        </p:txBody>
      </p:sp>
      <mc:AlternateContent xmlns:mc="http://schemas.openxmlformats.org/markup-compatibility/2006">
        <mc:Choice xmlns:a14="http://schemas.microsoft.com/office/drawing/2010/main" Requires="a14">
          <p:sp>
            <p:nvSpPr>
              <p:cNvPr id="30" name="TextBox 29"/>
              <p:cNvSpPr txBox="1"/>
              <p:nvPr/>
            </p:nvSpPr>
            <p:spPr>
              <a:xfrm>
                <a:off x="108497" y="5905173"/>
                <a:ext cx="5544616" cy="707886"/>
              </a:xfrm>
              <a:prstGeom prst="rect">
                <a:avLst/>
              </a:prstGeom>
              <a:noFill/>
            </p:spPr>
            <p:txBody>
              <a:bodyPr wrap="square" rtlCol="0">
                <a:spAutoFit/>
              </a:bodyPr>
              <a:lstStyle/>
              <a:p>
                <a:r>
                  <a:rPr lang="en-GB" sz="2000"/>
                  <a:t>What do you notice about the relationship between the graphs of </a:t>
                </a:r>
                <a14:m>
                  <m:oMath xmlns:m="http://schemas.openxmlformats.org/officeDocument/2006/math">
                    <m:r>
                      <a:rPr lang="en-GB" sz="2000" b="0" i="1" smtClean="0">
                        <a:latin typeface="Cambria Math" panose="02040503050406030204" pitchFamily="18" charset="0"/>
                      </a:rPr>
                      <m:t>𝑦</m:t>
                    </m:r>
                    <m:r>
                      <a:rPr lang="en-GB" sz="2000" b="0" i="1" smtClean="0">
                        <a:latin typeface="Cambria Math" panose="02040503050406030204" pitchFamily="18" charset="0"/>
                      </a:rPr>
                      <m:t>=</m:t>
                    </m:r>
                    <m:r>
                      <a:rPr lang="en-GB" sz="2000" b="0" i="1" smtClean="0">
                        <a:latin typeface="Cambria Math" panose="02040503050406030204" pitchFamily="18" charset="0"/>
                      </a:rPr>
                      <m:t>𝑓</m:t>
                    </m:r>
                    <m:d>
                      <m:dPr>
                        <m:ctrlPr>
                          <a:rPr lang="en-GB" sz="2000" b="0" i="1" smtClean="0">
                            <a:latin typeface="Cambria Math" panose="02040503050406030204" pitchFamily="18" charset="0"/>
                          </a:rPr>
                        </m:ctrlPr>
                      </m:dPr>
                      <m:e>
                        <m:r>
                          <a:rPr lang="en-GB" sz="2000" b="0" i="1" smtClean="0">
                            <a:latin typeface="Cambria Math" panose="02040503050406030204" pitchFamily="18" charset="0"/>
                          </a:rPr>
                          <m:t>𝑥</m:t>
                        </m:r>
                      </m:e>
                    </m:d>
                  </m:oMath>
                </a14:m>
                <a:r>
                  <a:rPr lang="en-GB" sz="2000"/>
                  <a:t> and </a:t>
                </a:r>
                <a14:m>
                  <m:oMath xmlns:m="http://schemas.openxmlformats.org/officeDocument/2006/math">
                    <m:r>
                      <a:rPr lang="en-GB" sz="2000" b="0" i="1" smtClean="0">
                        <a:latin typeface="Cambria Math" panose="02040503050406030204" pitchFamily="18" charset="0"/>
                      </a:rPr>
                      <m:t>𝑦</m:t>
                    </m:r>
                    <m:r>
                      <a:rPr lang="en-GB" sz="2000" b="0" i="1" smtClean="0">
                        <a:latin typeface="Cambria Math" panose="02040503050406030204" pitchFamily="18" charset="0"/>
                      </a:rPr>
                      <m:t>=</m:t>
                    </m:r>
                    <m:r>
                      <a:rPr lang="en-GB" sz="2000" b="0" i="1" smtClean="0">
                        <a:latin typeface="Cambria Math" panose="02040503050406030204" pitchFamily="18" charset="0"/>
                      </a:rPr>
                      <m:t>𝑓</m:t>
                    </m:r>
                    <m:d>
                      <m:dPr>
                        <m:ctrlPr>
                          <a:rPr lang="en-GB" sz="2000" b="0" i="1" smtClean="0">
                            <a:latin typeface="Cambria Math" panose="02040503050406030204" pitchFamily="18" charset="0"/>
                          </a:rPr>
                        </m:ctrlPr>
                      </m:dPr>
                      <m:e>
                        <m:r>
                          <a:rPr lang="en-GB" sz="2000" b="0" i="1" smtClean="0">
                            <a:latin typeface="Cambria Math" panose="02040503050406030204" pitchFamily="18" charset="0"/>
                          </a:rPr>
                          <m:t>𝑥</m:t>
                        </m:r>
                        <m:r>
                          <a:rPr lang="en-GB" sz="2000" b="0" i="1" smtClean="0">
                            <a:latin typeface="Cambria Math" panose="02040503050406030204" pitchFamily="18" charset="0"/>
                          </a:rPr>
                          <m:t>+2</m:t>
                        </m:r>
                      </m:e>
                    </m:d>
                  </m:oMath>
                </a14:m>
                <a:r>
                  <a:rPr lang="en-GB" sz="2000"/>
                  <a:t>?</a:t>
                </a:r>
              </a:p>
            </p:txBody>
          </p:sp>
        </mc:Choice>
        <mc:Fallback>
          <p:sp>
            <p:nvSpPr>
              <p:cNvPr id="30" name="TextBox 29"/>
              <p:cNvSpPr txBox="1">
                <a:spLocks noRot="1" noChangeAspect="1" noMove="1" noResize="1" noEditPoints="1" noAdjustHandles="1" noChangeArrowheads="1" noChangeShapeType="1" noTextEdit="1"/>
              </p:cNvSpPr>
              <p:nvPr/>
            </p:nvSpPr>
            <p:spPr>
              <a:xfrm>
                <a:off x="108497" y="5905173"/>
                <a:ext cx="5544616" cy="707886"/>
              </a:xfrm>
              <a:prstGeom prst="rect">
                <a:avLst/>
              </a:prstGeom>
              <a:blipFill>
                <a:blip r:embed="rId10"/>
                <a:stretch>
                  <a:fillRect l="-1144" t="-5357" r="-2059" b="-14286"/>
                </a:stretch>
              </a:blipFill>
            </p:spPr>
            <p:txBody>
              <a:bodyPr/>
              <a:lstStyle/>
              <a:p>
                <a:r>
                  <a:rPr lang="en-US">
                    <a:noFill/>
                  </a:rPr>
                  <a:t> </a:t>
                </a:r>
              </a:p>
            </p:txBody>
          </p:sp>
        </mc:Fallback>
      </mc:AlternateContent>
      <p:sp>
        <p:nvSpPr>
          <p:cNvPr id="31" name="Rectangle 30"/>
          <p:cNvSpPr/>
          <p:nvPr/>
        </p:nvSpPr>
        <p:spPr>
          <a:xfrm>
            <a:off x="539552" y="2586755"/>
            <a:ext cx="3672408" cy="3168352"/>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33" name="Rectangle 32"/>
          <p:cNvSpPr/>
          <p:nvPr/>
        </p:nvSpPr>
        <p:spPr>
          <a:xfrm>
            <a:off x="7411888" y="747479"/>
            <a:ext cx="1408584" cy="571728"/>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mc:AlternateContent xmlns:mc="http://schemas.openxmlformats.org/markup-compatibility/2006">
        <mc:Choice xmlns:a14="http://schemas.microsoft.com/office/drawing/2010/main" Requires="a14">
          <p:sp>
            <p:nvSpPr>
              <p:cNvPr id="7" name="TextBox 6"/>
              <p:cNvSpPr txBox="1"/>
              <p:nvPr/>
            </p:nvSpPr>
            <p:spPr>
              <a:xfrm>
                <a:off x="6832284" y="2360014"/>
                <a:ext cx="2576223" cy="923330"/>
              </a:xfrm>
              <a:prstGeom prst="rect">
                <a:avLst/>
              </a:prstGeom>
              <a:noFill/>
            </p:spPr>
            <p:txBody>
              <a:bodyPr wrap="square" rtlCol="0">
                <a:spAutoFit/>
              </a:bodyPr>
              <a:lstStyle/>
              <a:p>
                <a:r>
                  <a:rPr lang="en-GB"/>
                  <a:t>We know </a:t>
                </a:r>
                <a14:m>
                  <m:oMath xmlns:m="http://schemas.openxmlformats.org/officeDocument/2006/math">
                    <m:r>
                      <a:rPr lang="en-GB" b="0" i="1" smtClean="0">
                        <a:latin typeface="Cambria Math" panose="02040503050406030204" pitchFamily="18" charset="0"/>
                      </a:rPr>
                      <m:t>𝑦</m:t>
                    </m:r>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d>
                          <m:dPr>
                            <m:ctrlPr>
                              <a:rPr lang="en-GB" b="0" i="1" smtClean="0">
                                <a:latin typeface="Cambria Math" panose="02040503050406030204" pitchFamily="18" charset="0"/>
                              </a:rPr>
                            </m:ctrlPr>
                          </m:dPr>
                          <m:e>
                            <m:r>
                              <a:rPr lang="en-GB" b="0" i="1" smtClean="0">
                                <a:latin typeface="Cambria Math" panose="02040503050406030204" pitchFamily="18" charset="0"/>
                              </a:rPr>
                              <m:t>𝑥</m:t>
                            </m:r>
                            <m:r>
                              <a:rPr lang="en-GB" b="0" i="1" smtClean="0">
                                <a:latin typeface="Cambria Math" panose="02040503050406030204" pitchFamily="18" charset="0"/>
                              </a:rPr>
                              <m:t>+2</m:t>
                            </m:r>
                          </m:e>
                        </m:d>
                      </m:e>
                      <m:sup>
                        <m:r>
                          <a:rPr lang="en-GB" b="0" i="1" smtClean="0">
                            <a:latin typeface="Cambria Math" panose="02040503050406030204" pitchFamily="18" charset="0"/>
                          </a:rPr>
                          <m:t>2</m:t>
                        </m:r>
                      </m:sup>
                    </m:sSup>
                  </m:oMath>
                </a14:m>
                <a:r>
                  <a:rPr lang="en-GB"/>
                  <a:t> has a root of -2 where the graph touches.</a:t>
                </a:r>
              </a:p>
            </p:txBody>
          </p:sp>
        </mc:Choice>
        <mc:Fallback>
          <p:sp>
            <p:nvSpPr>
              <p:cNvPr id="7" name="TextBox 6"/>
              <p:cNvSpPr txBox="1">
                <a:spLocks noRot="1" noChangeAspect="1" noMove="1" noResize="1" noEditPoints="1" noAdjustHandles="1" noChangeArrowheads="1" noChangeShapeType="1" noTextEdit="1"/>
              </p:cNvSpPr>
              <p:nvPr/>
            </p:nvSpPr>
            <p:spPr>
              <a:xfrm>
                <a:off x="6832284" y="2360014"/>
                <a:ext cx="2576223" cy="923330"/>
              </a:xfrm>
              <a:prstGeom prst="rect">
                <a:avLst/>
              </a:prstGeom>
              <a:blipFill>
                <a:blip r:embed="rId11"/>
                <a:stretch>
                  <a:fillRect l="-2463" t="-2703" b="-9459"/>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3" name="TextBox 12"/>
              <p:cNvSpPr txBox="1"/>
              <p:nvPr/>
            </p:nvSpPr>
            <p:spPr>
              <a:xfrm>
                <a:off x="6255657" y="5803010"/>
                <a:ext cx="2888342" cy="995401"/>
              </a:xfrm>
              <a:prstGeom prst="rect">
                <a:avLst/>
              </a:prstGeom>
              <a:noFill/>
            </p:spPr>
            <p:txBody>
              <a:bodyPr wrap="square" rtlCol="0">
                <a:spAutoFit/>
              </a:bodyPr>
              <a:lstStyle/>
              <a:p>
                <a:r>
                  <a:rPr lang="en-GB" sz="1600" b="1"/>
                  <a:t>The graph has been translated by </a:t>
                </a:r>
                <a14:m>
                  <m:oMath xmlns:m="http://schemas.openxmlformats.org/officeDocument/2006/math">
                    <m:d>
                      <m:dPr>
                        <m:ctrlPr>
                          <a:rPr lang="en-GB" sz="1600" b="1" i="1" smtClean="0">
                            <a:latin typeface="Cambria Math" panose="02040503050406030204" pitchFamily="18" charset="0"/>
                          </a:rPr>
                        </m:ctrlPr>
                      </m:dPr>
                      <m:e>
                        <m:m>
                          <m:mPr>
                            <m:plcHide m:val="on"/>
                            <m:mcs>
                              <m:mc>
                                <m:mcPr>
                                  <m:count m:val="1"/>
                                  <m:mcJc m:val="center"/>
                                </m:mcPr>
                              </m:mc>
                            </m:mcs>
                            <m:ctrlPr>
                              <a:rPr lang="en-GB" sz="1600" b="1" i="1" smtClean="0">
                                <a:latin typeface="Cambria Math" panose="02040503050406030204" pitchFamily="18" charset="0"/>
                              </a:rPr>
                            </m:ctrlPr>
                          </m:mPr>
                          <m:mr>
                            <m:e>
                              <m:r>
                                <a:rPr lang="en-GB" sz="1600" b="1" i="1" smtClean="0">
                                  <a:latin typeface="Cambria Math" panose="02040503050406030204" pitchFamily="18" charset="0"/>
                                </a:rPr>
                                <m:t>−</m:t>
                              </m:r>
                              <m:r>
                                <a:rPr lang="en-GB" sz="1600" b="1" i="1" smtClean="0">
                                  <a:latin typeface="Cambria Math" panose="02040503050406030204" pitchFamily="18" charset="0"/>
                                </a:rPr>
                                <m:t>𝟐</m:t>
                              </m:r>
                            </m:e>
                          </m:mr>
                          <m:mr>
                            <m:e>
                              <m:r>
                                <a:rPr lang="en-GB" sz="1600" b="1" i="1" smtClean="0">
                                  <a:latin typeface="Cambria Math" panose="02040503050406030204" pitchFamily="18" charset="0"/>
                                </a:rPr>
                                <m:t>𝟎</m:t>
                              </m:r>
                            </m:e>
                          </m:mr>
                        </m:m>
                      </m:e>
                    </m:d>
                  </m:oMath>
                </a14:m>
                <a:r>
                  <a:rPr lang="en-GB" sz="1600" b="1"/>
                  <a:t>, i.e. we have subtracted 2 from each </a:t>
                </a:r>
                <a14:m>
                  <m:oMath xmlns:m="http://schemas.openxmlformats.org/officeDocument/2006/math">
                    <m:r>
                      <a:rPr lang="en-GB" sz="1600" b="1" i="1" smtClean="0">
                        <a:latin typeface="Cambria Math" panose="02040503050406030204" pitchFamily="18" charset="0"/>
                      </a:rPr>
                      <m:t>𝒙</m:t>
                    </m:r>
                  </m:oMath>
                </a14:m>
                <a:r>
                  <a:rPr lang="en-GB" sz="1600" b="1"/>
                  <a:t> value.</a:t>
                </a:r>
              </a:p>
            </p:txBody>
          </p:sp>
        </mc:Choice>
        <mc:Fallback>
          <p:sp>
            <p:nvSpPr>
              <p:cNvPr id="13" name="TextBox 12"/>
              <p:cNvSpPr txBox="1">
                <a:spLocks noRot="1" noChangeAspect="1" noMove="1" noResize="1" noEditPoints="1" noAdjustHandles="1" noChangeArrowheads="1" noChangeShapeType="1" noTextEdit="1"/>
              </p:cNvSpPr>
              <p:nvPr/>
            </p:nvSpPr>
            <p:spPr>
              <a:xfrm>
                <a:off x="6255657" y="5803010"/>
                <a:ext cx="2888342" cy="995401"/>
              </a:xfrm>
              <a:prstGeom prst="rect">
                <a:avLst/>
              </a:prstGeom>
              <a:blipFill>
                <a:blip r:embed="rId12"/>
                <a:stretch>
                  <a:fillRect l="-877" t="-1250" b="-6250"/>
                </a:stretch>
              </a:blipFill>
            </p:spPr>
            <p:txBody>
              <a:bodyPr/>
              <a:lstStyle/>
              <a:p>
                <a:r>
                  <a:rPr lang="en-US">
                    <a:noFill/>
                  </a:rPr>
                  <a:t> </a:t>
                </a:r>
              </a:p>
            </p:txBody>
          </p:sp>
        </mc:Fallback>
      </mc:AlternateContent>
      <p:sp>
        <p:nvSpPr>
          <p:cNvPr id="34" name="Down Arrow 11"/>
          <p:cNvSpPr/>
          <p:nvPr/>
        </p:nvSpPr>
        <p:spPr>
          <a:xfrm rot="16200000">
            <a:off x="5798215" y="6025948"/>
            <a:ext cx="360040" cy="438730"/>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32" name="Rectangle 31"/>
          <p:cNvSpPr/>
          <p:nvPr/>
        </p:nvSpPr>
        <p:spPr>
          <a:xfrm>
            <a:off x="4894909" y="2423885"/>
            <a:ext cx="4191033" cy="3309257"/>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35" name="Rectangle 34"/>
          <p:cNvSpPr/>
          <p:nvPr/>
        </p:nvSpPr>
        <p:spPr>
          <a:xfrm>
            <a:off x="6308078" y="5821800"/>
            <a:ext cx="2734321" cy="970886"/>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Tree>
    <p:extLst>
      <p:ext uri="{BB962C8B-B14F-4D97-AF65-F5344CB8AC3E}">
        <p14:creationId xmlns:p14="http://schemas.microsoft.com/office/powerpoint/2010/main" val="3280304872"/>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31"/>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31"/>
                                        </p:tgtEl>
                                      </p:cBhvr>
                                    </p:animEffect>
                                    <p:set>
                                      <p:cBhvr>
                                        <p:cTn id="7" dur="1" fill="hold">
                                          <p:stCondLst>
                                            <p:cond delay="499"/>
                                          </p:stCondLst>
                                        </p:cTn>
                                        <p:tgtEl>
                                          <p:spTgt spid="31"/>
                                        </p:tgtEl>
                                        <p:attrNameLst>
                                          <p:attrName>style.visibility</p:attrName>
                                        </p:attrNameLst>
                                      </p:cBhvr>
                                      <p:to>
                                        <p:strVal val="hidden"/>
                                      </p:to>
                                    </p:set>
                                  </p:childTnLst>
                                </p:cTn>
                              </p:par>
                            </p:childTnLst>
                          </p:cTn>
                        </p:par>
                      </p:childTnLst>
                    </p:cTn>
                  </p:par>
                </p:childTnLst>
              </p:cTn>
              <p:nextCondLst>
                <p:cond evt="onClick" delay="0">
                  <p:tgtEl>
                    <p:spTgt spid="31"/>
                  </p:tgtEl>
                </p:cond>
              </p:nextCondLst>
            </p:seq>
            <p:seq concurrent="1" nextAc="seek">
              <p:cTn id="8" restart="whenNotActive" fill="hold" evtFilter="cancelBubble" nodeType="interactiveSeq">
                <p:stCondLst>
                  <p:cond evt="onClick" delay="0">
                    <p:tgtEl>
                      <p:spTgt spid="32"/>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32"/>
                                        </p:tgtEl>
                                      </p:cBhvr>
                                    </p:animEffect>
                                    <p:set>
                                      <p:cBhvr>
                                        <p:cTn id="13" dur="1" fill="hold">
                                          <p:stCondLst>
                                            <p:cond delay="499"/>
                                          </p:stCondLst>
                                        </p:cTn>
                                        <p:tgtEl>
                                          <p:spTgt spid="32"/>
                                        </p:tgtEl>
                                        <p:attrNameLst>
                                          <p:attrName>style.visibility</p:attrName>
                                        </p:attrNameLst>
                                      </p:cBhvr>
                                      <p:to>
                                        <p:strVal val="hidden"/>
                                      </p:to>
                                    </p:set>
                                  </p:childTnLst>
                                </p:cTn>
                              </p:par>
                            </p:childTnLst>
                          </p:cTn>
                        </p:par>
                      </p:childTnLst>
                    </p:cTn>
                  </p:par>
                </p:childTnLst>
              </p:cTn>
              <p:nextCondLst>
                <p:cond evt="onClick" delay="0">
                  <p:tgtEl>
                    <p:spTgt spid="32"/>
                  </p:tgtEl>
                </p:cond>
              </p:nextCondLst>
            </p:seq>
            <p:seq concurrent="1" nextAc="seek">
              <p:cTn id="14" restart="whenNotActive" fill="hold" evtFilter="cancelBubble" nodeType="interactiveSeq">
                <p:stCondLst>
                  <p:cond evt="onClick" delay="0">
                    <p:tgtEl>
                      <p:spTgt spid="33"/>
                    </p:tgtEl>
                  </p:cond>
                </p:stCondLst>
                <p:endSync evt="end" delay="0">
                  <p:rtn val="all"/>
                </p:endSync>
                <p:childTnLst>
                  <p:par>
                    <p:cTn id="15" fill="hold">
                      <p:stCondLst>
                        <p:cond delay="0"/>
                      </p:stCondLst>
                      <p:childTnLst>
                        <p:par>
                          <p:cTn id="16" fill="hold">
                            <p:stCondLst>
                              <p:cond delay="0"/>
                            </p:stCondLst>
                            <p:childTnLst>
                              <p:par>
                                <p:cTn id="17" presetID="10" presetClass="exit" presetSubtype="0" fill="hold" grpId="0" nodeType="clickEffect">
                                  <p:stCondLst>
                                    <p:cond delay="0"/>
                                  </p:stCondLst>
                                  <p:childTnLst>
                                    <p:animEffect transition="out" filter="fade">
                                      <p:cBhvr>
                                        <p:cTn id="18" dur="500"/>
                                        <p:tgtEl>
                                          <p:spTgt spid="33"/>
                                        </p:tgtEl>
                                      </p:cBhvr>
                                    </p:animEffect>
                                    <p:set>
                                      <p:cBhvr>
                                        <p:cTn id="19" dur="1" fill="hold">
                                          <p:stCondLst>
                                            <p:cond delay="499"/>
                                          </p:stCondLst>
                                        </p:cTn>
                                        <p:tgtEl>
                                          <p:spTgt spid="33"/>
                                        </p:tgtEl>
                                        <p:attrNameLst>
                                          <p:attrName>style.visibility</p:attrName>
                                        </p:attrNameLst>
                                      </p:cBhvr>
                                      <p:to>
                                        <p:strVal val="hidden"/>
                                      </p:to>
                                    </p:set>
                                  </p:childTnLst>
                                </p:cTn>
                              </p:par>
                            </p:childTnLst>
                          </p:cTn>
                        </p:par>
                      </p:childTnLst>
                    </p:cTn>
                  </p:par>
                </p:childTnLst>
              </p:cTn>
              <p:nextCondLst>
                <p:cond evt="onClick" delay="0">
                  <p:tgtEl>
                    <p:spTgt spid="33"/>
                  </p:tgtEl>
                </p:cond>
              </p:nextCondLst>
            </p:seq>
            <p:seq concurrent="1" nextAc="seek">
              <p:cTn id="20" restart="whenNotActive" fill="hold" evtFilter="cancelBubble" nodeType="interactiveSeq">
                <p:stCondLst>
                  <p:cond evt="onClick" delay="0">
                    <p:tgtEl>
                      <p:spTgt spid="35"/>
                    </p:tgtEl>
                  </p:cond>
                </p:stCondLst>
                <p:endSync evt="end" delay="0">
                  <p:rtn val="all"/>
                </p:endSync>
                <p:childTnLst>
                  <p:par>
                    <p:cTn id="21" fill="hold">
                      <p:stCondLst>
                        <p:cond delay="0"/>
                      </p:stCondLst>
                      <p:childTnLst>
                        <p:par>
                          <p:cTn id="22" fill="hold">
                            <p:stCondLst>
                              <p:cond delay="0"/>
                            </p:stCondLst>
                            <p:childTnLst>
                              <p:par>
                                <p:cTn id="23" presetID="10" presetClass="exit" presetSubtype="0" fill="hold" grpId="0" nodeType="clickEffect">
                                  <p:stCondLst>
                                    <p:cond delay="0"/>
                                  </p:stCondLst>
                                  <p:childTnLst>
                                    <p:animEffect transition="out" filter="fade">
                                      <p:cBhvr>
                                        <p:cTn id="24" dur="500"/>
                                        <p:tgtEl>
                                          <p:spTgt spid="35"/>
                                        </p:tgtEl>
                                      </p:cBhvr>
                                    </p:animEffect>
                                    <p:set>
                                      <p:cBhvr>
                                        <p:cTn id="25" dur="1" fill="hold">
                                          <p:stCondLst>
                                            <p:cond delay="499"/>
                                          </p:stCondLst>
                                        </p:cTn>
                                        <p:tgtEl>
                                          <p:spTgt spid="35"/>
                                        </p:tgtEl>
                                        <p:attrNameLst>
                                          <p:attrName>style.visibility</p:attrName>
                                        </p:attrNameLst>
                                      </p:cBhvr>
                                      <p:to>
                                        <p:strVal val="hidden"/>
                                      </p:to>
                                    </p:set>
                                  </p:childTnLst>
                                </p:cTn>
                              </p:par>
                            </p:childTnLst>
                          </p:cTn>
                        </p:par>
                      </p:childTnLst>
                    </p:cTn>
                  </p:par>
                </p:childTnLst>
              </p:cTn>
              <p:nextCondLst>
                <p:cond evt="onClick" delay="0">
                  <p:tgtEl>
                    <p:spTgt spid="35"/>
                  </p:tgtEl>
                </p:cond>
              </p:nextCondLst>
            </p:seq>
          </p:childTnLst>
        </p:cTn>
      </p:par>
    </p:tnLst>
    <p:bldLst>
      <p:bldP spid="31" grpId="0" animBg="1"/>
      <p:bldP spid="33" grpId="0" animBg="1"/>
      <p:bldP spid="32" grpId="0" animBg="1"/>
      <p:bldP spid="35"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vert="horz" wrap="square" lIns="324000" tIns="45720" rIns="91440" bIns="45720" rtlCol="0" anchor="ctr">
              <a:spAutoFit/>
            </a:bodyPr>
            <a:lstStyle>
              <a:defPPr>
                <a:defRPr lang="en-US"/>
              </a:defPPr>
              <a:lvl1pPr>
                <a:spcBef>
                  <a:spcPct val="0"/>
                </a:spcBef>
                <a:buNone/>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a:t>Transformations of Functions</a:t>
              </a:r>
            </a:p>
          </p:txBody>
        </p:sp>
        <p:cxnSp>
          <p:nvCxnSpPr>
            <p:cNvPr id="4" name="Straight Connector 3"/>
            <p:cNvCxnSpPr/>
            <p:nvPr/>
          </p:nvCxnSpPr>
          <p:spPr>
            <a:xfrm>
              <a:off x="218" y="601079"/>
              <a:ext cx="9144000" cy="0"/>
            </a:xfrm>
            <a:prstGeom prst="line">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cxnSp>
      </p:grpSp>
      <p:sp>
        <p:nvSpPr>
          <p:cNvPr id="5" name="TextBox 4"/>
          <p:cNvSpPr txBox="1"/>
          <p:nvPr/>
        </p:nvSpPr>
        <p:spPr>
          <a:xfrm>
            <a:off x="323528" y="764704"/>
            <a:ext cx="7128792" cy="646331"/>
          </a:xfrm>
          <a:prstGeom prst="rect">
            <a:avLst/>
          </a:prstGeom>
          <a:noFill/>
        </p:spPr>
        <p:txBody>
          <a:bodyPr wrap="square" rtlCol="0">
            <a:spAutoFit/>
          </a:bodyPr>
          <a:lstStyle/>
          <a:p>
            <a:r>
              <a:rPr lang="en-GB"/>
              <a:t>This is all you need to remember when considering how transforming your function transforms your graph...</a:t>
            </a:r>
          </a:p>
        </p:txBody>
      </p:sp>
      <p:sp>
        <p:nvSpPr>
          <p:cNvPr id="6" name="TextBox 5"/>
          <p:cNvSpPr txBox="1"/>
          <p:nvPr/>
        </p:nvSpPr>
        <p:spPr>
          <a:xfrm>
            <a:off x="2915816" y="1772816"/>
            <a:ext cx="2160240" cy="369332"/>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a:t>Affects which axis?</a:t>
            </a:r>
          </a:p>
        </p:txBody>
      </p:sp>
      <p:sp>
        <p:nvSpPr>
          <p:cNvPr id="7" name="TextBox 6"/>
          <p:cNvSpPr txBox="1"/>
          <p:nvPr/>
        </p:nvSpPr>
        <p:spPr>
          <a:xfrm>
            <a:off x="5076056" y="1772816"/>
            <a:ext cx="3240360" cy="369332"/>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a:t>What we expect or opposite?</a:t>
            </a:r>
          </a:p>
        </p:txBody>
      </p:sp>
      <mc:AlternateContent xmlns:mc="http://schemas.openxmlformats.org/markup-compatibility/2006">
        <mc:Choice xmlns:a14="http://schemas.microsoft.com/office/drawing/2010/main" Requires="a14">
          <p:sp>
            <p:nvSpPr>
              <p:cNvPr id="8" name="TextBox 7"/>
              <p:cNvSpPr txBox="1"/>
              <p:nvPr/>
            </p:nvSpPr>
            <p:spPr>
              <a:xfrm>
                <a:off x="755576" y="2132856"/>
                <a:ext cx="2160240" cy="369332"/>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a:t>Change </a:t>
                </a:r>
                <a:r>
                  <a:rPr lang="en-GB" b="1"/>
                  <a:t>inside</a:t>
                </a:r>
                <a:r>
                  <a:rPr lang="en-GB"/>
                  <a:t> </a:t>
                </a:r>
                <a14:m>
                  <m:oMath xmlns:m="http://schemas.openxmlformats.org/officeDocument/2006/math">
                    <m:r>
                      <a:rPr lang="en-GB" i="1" dirty="0" smtClean="0">
                        <a:latin typeface="Cambria Math" panose="02040503050406030204" pitchFamily="18" charset="0"/>
                      </a:rPr>
                      <m:t>𝑓</m:t>
                    </m:r>
                    <m:r>
                      <a:rPr lang="en-GB" i="1" dirty="0" smtClean="0">
                        <a:latin typeface="Cambria Math" panose="02040503050406030204" pitchFamily="18" charset="0"/>
                      </a:rPr>
                      <m:t>( )</m:t>
                    </m:r>
                  </m:oMath>
                </a14:m>
                <a:endParaRPr lang="en-GB"/>
              </a:p>
            </p:txBody>
          </p:sp>
        </mc:Choice>
        <mc:Fallback>
          <p:sp>
            <p:nvSpPr>
              <p:cNvPr id="8" name="TextBox 7"/>
              <p:cNvSpPr txBox="1">
                <a:spLocks noRot="1" noChangeAspect="1" noMove="1" noResize="1" noEditPoints="1" noAdjustHandles="1" noChangeArrowheads="1" noChangeShapeType="1" noTextEdit="1"/>
              </p:cNvSpPr>
              <p:nvPr/>
            </p:nvSpPr>
            <p:spPr>
              <a:xfrm>
                <a:off x="755576" y="2132856"/>
                <a:ext cx="2160240" cy="369332"/>
              </a:xfrm>
              <a:prstGeom prst="rect">
                <a:avLst/>
              </a:prstGeom>
              <a:blipFill>
                <a:blip r:embed="rId2"/>
                <a:stretch>
                  <a:fillRect l="-1734" t="-6452" b="-2258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 name="TextBox 8"/>
              <p:cNvSpPr txBox="1"/>
              <p:nvPr/>
            </p:nvSpPr>
            <p:spPr>
              <a:xfrm>
                <a:off x="755576" y="2564904"/>
                <a:ext cx="2160240" cy="369332"/>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a:t>Change </a:t>
                </a:r>
                <a:r>
                  <a:rPr lang="en-GB" b="1"/>
                  <a:t>outside</a:t>
                </a:r>
                <a:r>
                  <a:rPr lang="en-GB"/>
                  <a:t> </a:t>
                </a:r>
                <a14:m>
                  <m:oMath xmlns:m="http://schemas.openxmlformats.org/officeDocument/2006/math">
                    <m:r>
                      <a:rPr lang="en-GB" i="1" dirty="0" smtClean="0">
                        <a:latin typeface="Cambria Math" panose="02040503050406030204" pitchFamily="18" charset="0"/>
                      </a:rPr>
                      <m:t>𝑓</m:t>
                    </m:r>
                    <m:r>
                      <a:rPr lang="en-GB" i="1" dirty="0" smtClean="0">
                        <a:latin typeface="Cambria Math" panose="02040503050406030204" pitchFamily="18" charset="0"/>
                      </a:rPr>
                      <m:t>( )</m:t>
                    </m:r>
                  </m:oMath>
                </a14:m>
                <a:endParaRPr lang="en-GB"/>
              </a:p>
            </p:txBody>
          </p:sp>
        </mc:Choice>
        <mc:Fallback>
          <p:sp>
            <p:nvSpPr>
              <p:cNvPr id="9" name="TextBox 8"/>
              <p:cNvSpPr txBox="1">
                <a:spLocks noRot="1" noChangeAspect="1" noMove="1" noResize="1" noEditPoints="1" noAdjustHandles="1" noChangeArrowheads="1" noChangeShapeType="1" noTextEdit="1"/>
              </p:cNvSpPr>
              <p:nvPr/>
            </p:nvSpPr>
            <p:spPr>
              <a:xfrm>
                <a:off x="755576" y="2564904"/>
                <a:ext cx="2160240" cy="369332"/>
              </a:xfrm>
              <a:prstGeom prst="rect">
                <a:avLst/>
              </a:prstGeom>
              <a:blipFill>
                <a:blip r:embed="rId3"/>
                <a:stretch>
                  <a:fillRect l="-1734" t="-6452" b="-2580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 name="TextBox 9"/>
              <p:cNvSpPr txBox="1"/>
              <p:nvPr/>
            </p:nvSpPr>
            <p:spPr>
              <a:xfrm>
                <a:off x="3131840" y="2132856"/>
                <a:ext cx="1944216" cy="369332"/>
              </a:xfrm>
              <a:prstGeom prst="rect">
                <a:avLst/>
              </a:prstGeom>
              <a:noFill/>
            </p:spPr>
            <p:txBody>
              <a:bodyPr wrap="square" rtlCol="0">
                <a:spAutoFit/>
              </a:bodyPr>
              <a:lstStyle/>
              <a:p>
                <a:pPr/>
                <a14:m>
                  <m:oMathPara xmlns:m="http://schemas.openxmlformats.org/officeDocument/2006/math">
                    <m:oMathParaPr>
                      <m:jc m:val="left"/>
                    </m:oMathParaPr>
                    <m:oMath>
                      <m:r>
                        <a:rPr lang="en-GB" i="1" dirty="0" smtClean="0">
                          <a:latin typeface="Cambria Math" panose="02040503050406030204" pitchFamily="18" charset="0"/>
                        </a:rPr>
                        <m:t>𝑥</m:t>
                      </m:r>
                    </m:oMath>
                  </m:oMathPara>
                </a14:m>
                <a:endParaRPr lang="en-GB"/>
              </a:p>
            </p:txBody>
          </p:sp>
        </mc:Choice>
        <mc:Fallback>
          <p:sp>
            <p:nvSpPr>
              <p:cNvPr id="10" name="TextBox 9"/>
              <p:cNvSpPr txBox="1">
                <a:spLocks noRot="1" noChangeAspect="1" noMove="1" noResize="1" noEditPoints="1" noAdjustHandles="1" noChangeArrowheads="1" noChangeShapeType="1" noTextEdit="1"/>
              </p:cNvSpPr>
              <p:nvPr/>
            </p:nvSpPr>
            <p:spPr>
              <a:xfrm>
                <a:off x="3131840" y="2132856"/>
                <a:ext cx="1944216"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1" name="TextBox 10"/>
              <p:cNvSpPr txBox="1"/>
              <p:nvPr/>
            </p:nvSpPr>
            <p:spPr>
              <a:xfrm>
                <a:off x="3131840" y="2492896"/>
                <a:ext cx="1944216" cy="369332"/>
              </a:xfrm>
              <a:prstGeom prst="rect">
                <a:avLst/>
              </a:prstGeom>
              <a:noFill/>
            </p:spPr>
            <p:txBody>
              <a:bodyPr wrap="square" rtlCol="0">
                <a:spAutoFit/>
              </a:bodyPr>
              <a:lstStyle/>
              <a:p>
                <a:pPr/>
                <a14:m>
                  <m:oMathPara xmlns:m="http://schemas.openxmlformats.org/officeDocument/2006/math">
                    <m:oMathParaPr>
                      <m:jc m:val="left"/>
                    </m:oMathParaPr>
                    <m:oMath>
                      <m:r>
                        <a:rPr lang="en-GB" i="1" dirty="0" smtClean="0">
                          <a:latin typeface="Cambria Math" panose="02040503050406030204" pitchFamily="18" charset="0"/>
                        </a:rPr>
                        <m:t>𝑦</m:t>
                      </m:r>
                    </m:oMath>
                  </m:oMathPara>
                </a14:m>
                <a:endParaRPr lang="en-GB"/>
              </a:p>
            </p:txBody>
          </p:sp>
        </mc:Choice>
        <mc:Fallback>
          <p:sp>
            <p:nvSpPr>
              <p:cNvPr id="11" name="TextBox 10"/>
              <p:cNvSpPr txBox="1">
                <a:spLocks noRot="1" noChangeAspect="1" noMove="1" noResize="1" noEditPoints="1" noAdjustHandles="1" noChangeArrowheads="1" noChangeShapeType="1" noTextEdit="1"/>
              </p:cNvSpPr>
              <p:nvPr/>
            </p:nvSpPr>
            <p:spPr>
              <a:xfrm>
                <a:off x="3131840" y="2492896"/>
                <a:ext cx="1944216" cy="369332"/>
              </a:xfrm>
              <a:prstGeom prst="rect">
                <a:avLst/>
              </a:prstGeom>
              <a:blipFill>
                <a:blip r:embed="rId5"/>
                <a:stretch>
                  <a:fillRect b="-6667"/>
                </a:stretch>
              </a:blipFill>
            </p:spPr>
            <p:txBody>
              <a:bodyPr/>
              <a:lstStyle/>
              <a:p>
                <a:r>
                  <a:rPr lang="en-US">
                    <a:noFill/>
                  </a:rPr>
                  <a:t> </a:t>
                </a:r>
              </a:p>
            </p:txBody>
          </p:sp>
        </mc:Fallback>
      </mc:AlternateContent>
      <p:sp>
        <p:nvSpPr>
          <p:cNvPr id="12" name="TextBox 11"/>
          <p:cNvSpPr txBox="1"/>
          <p:nvPr/>
        </p:nvSpPr>
        <p:spPr>
          <a:xfrm>
            <a:off x="5148064" y="2132856"/>
            <a:ext cx="1944216" cy="369332"/>
          </a:xfrm>
          <a:prstGeom prst="rect">
            <a:avLst/>
          </a:prstGeom>
          <a:noFill/>
        </p:spPr>
        <p:txBody>
          <a:bodyPr wrap="square" rtlCol="0">
            <a:spAutoFit/>
          </a:bodyPr>
          <a:lstStyle/>
          <a:p>
            <a:r>
              <a:rPr lang="en-GB"/>
              <a:t>Opposite</a:t>
            </a:r>
          </a:p>
        </p:txBody>
      </p:sp>
      <p:sp>
        <p:nvSpPr>
          <p:cNvPr id="13" name="TextBox 12"/>
          <p:cNvSpPr txBox="1"/>
          <p:nvPr/>
        </p:nvSpPr>
        <p:spPr>
          <a:xfrm>
            <a:off x="5148064" y="2564904"/>
            <a:ext cx="1944216" cy="369332"/>
          </a:xfrm>
          <a:prstGeom prst="rect">
            <a:avLst/>
          </a:prstGeom>
          <a:noFill/>
        </p:spPr>
        <p:txBody>
          <a:bodyPr wrap="square" rtlCol="0">
            <a:spAutoFit/>
          </a:bodyPr>
          <a:lstStyle/>
          <a:p>
            <a:r>
              <a:rPr lang="en-GB"/>
              <a:t>What we expect</a:t>
            </a:r>
          </a:p>
        </p:txBody>
      </p:sp>
      <p:sp>
        <p:nvSpPr>
          <p:cNvPr id="14" name="TextBox 13"/>
          <p:cNvSpPr txBox="1"/>
          <p:nvPr/>
        </p:nvSpPr>
        <p:spPr>
          <a:xfrm>
            <a:off x="755576" y="1628800"/>
            <a:ext cx="432048" cy="369332"/>
          </a:xfrm>
          <a:prstGeom prst="rect">
            <a:avLst/>
          </a:prstGeom>
          <a:noFill/>
        </p:spPr>
        <p:txBody>
          <a:bodyPr wrap="square" rtlCol="0">
            <a:spAutoFit/>
          </a:bodyPr>
          <a:lstStyle/>
          <a:p>
            <a:r>
              <a:rPr lang="en-GB">
                <a:latin typeface="Wingdings" pitchFamily="2" charset="2"/>
              </a:rPr>
              <a:t>!</a:t>
            </a:r>
          </a:p>
        </p:txBody>
      </p:sp>
      <mc:AlternateContent xmlns:mc="http://schemas.openxmlformats.org/markup-compatibility/2006">
        <mc:Choice xmlns:a14="http://schemas.microsoft.com/office/drawing/2010/main" Requires="a14">
          <p:sp>
            <p:nvSpPr>
              <p:cNvPr id="15" name="TextBox 14"/>
              <p:cNvSpPr txBox="1"/>
              <p:nvPr/>
            </p:nvSpPr>
            <p:spPr>
              <a:xfrm>
                <a:off x="29028" y="3933056"/>
                <a:ext cx="2196863" cy="523220"/>
              </a:xfrm>
              <a:prstGeom prst="rect">
                <a:avLst/>
              </a:prstGeom>
              <a:noFill/>
            </p:spPr>
            <p:txBody>
              <a:bodyPr wrap="square" rtlCol="0">
                <a:spAutoFit/>
              </a:bodyPr>
              <a:lstStyle/>
              <a:p>
                <a:pPr/>
                <a14:m>
                  <m:oMathPara xmlns:m="http://schemas.openxmlformats.org/officeDocument/2006/math">
                    <m:oMath>
                      <m:r>
                        <a:rPr lang="en-GB" sz="2800" b="0" i="1" smtClean="0">
                          <a:latin typeface="Cambria Math" panose="02040503050406030204" pitchFamily="18" charset="0"/>
                        </a:rPr>
                        <m:t>𝑦</m:t>
                      </m:r>
                      <m:r>
                        <a:rPr lang="en-GB" sz="2800" b="0" i="1" smtClean="0">
                          <a:latin typeface="Cambria Math" panose="02040503050406030204" pitchFamily="18" charset="0"/>
                        </a:rPr>
                        <m:t>=</m:t>
                      </m:r>
                      <m:r>
                        <a:rPr lang="en-GB" sz="2800" b="0" i="1" smtClean="0">
                          <a:latin typeface="Cambria Math" panose="02040503050406030204" pitchFamily="18" charset="0"/>
                        </a:rPr>
                        <m:t>𝑓</m:t>
                      </m:r>
                      <m:d>
                        <m:dPr>
                          <m:ctrlPr>
                            <a:rPr lang="en-GB" sz="2800" b="0" i="1" smtClean="0">
                              <a:latin typeface="Cambria Math" panose="02040503050406030204" pitchFamily="18" charset="0"/>
                            </a:rPr>
                          </m:ctrlPr>
                        </m:dPr>
                        <m:e>
                          <m:r>
                            <a:rPr lang="en-GB" sz="2800" b="0" i="1" smtClean="0">
                              <a:latin typeface="Cambria Math" panose="02040503050406030204" pitchFamily="18" charset="0"/>
                            </a:rPr>
                            <m:t>𝑥</m:t>
                          </m:r>
                          <m:r>
                            <a:rPr lang="en-GB" sz="2800" b="0" i="1" smtClean="0">
                              <a:latin typeface="Cambria Math" panose="02040503050406030204" pitchFamily="18" charset="0"/>
                            </a:rPr>
                            <m:t>−3</m:t>
                          </m:r>
                        </m:e>
                      </m:d>
                    </m:oMath>
                  </m:oMathPara>
                </a14:m>
                <a:endParaRPr lang="en-GB" sz="2800"/>
              </a:p>
            </p:txBody>
          </p:sp>
        </mc:Choice>
        <mc:Fallback>
          <p:sp>
            <p:nvSpPr>
              <p:cNvPr id="15" name="TextBox 14"/>
              <p:cNvSpPr txBox="1">
                <a:spLocks noRot="1" noChangeAspect="1" noMove="1" noResize="1" noEditPoints="1" noAdjustHandles="1" noChangeArrowheads="1" noChangeShapeType="1" noTextEdit="1"/>
              </p:cNvSpPr>
              <p:nvPr/>
            </p:nvSpPr>
            <p:spPr>
              <a:xfrm>
                <a:off x="29028" y="3933056"/>
                <a:ext cx="2196863" cy="523220"/>
              </a:xfrm>
              <a:prstGeom prst="rect">
                <a:avLst/>
              </a:prstGeom>
              <a:blipFill>
                <a:blip r:embed="rId6"/>
                <a:stretch>
                  <a:fillRect l="-1149" b="-19048"/>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6" name="TextBox 15"/>
              <p:cNvSpPr txBox="1"/>
              <p:nvPr/>
            </p:nvSpPr>
            <p:spPr>
              <a:xfrm>
                <a:off x="3131840" y="3787913"/>
                <a:ext cx="3384376" cy="810799"/>
              </a:xfrm>
              <a:prstGeom prst="rect">
                <a:avLst/>
              </a:prstGeom>
              <a:noFill/>
            </p:spPr>
            <p:txBody>
              <a:bodyPr wrap="square" rtlCol="0">
                <a:spAutoFit/>
              </a:bodyPr>
              <a:lstStyle/>
              <a:p>
                <a:r>
                  <a:rPr lang="en-GB" sz="2800"/>
                  <a:t>Translation by </a:t>
                </a:r>
                <a14:m>
                  <m:oMath xmlns:m="http://schemas.openxmlformats.org/officeDocument/2006/math">
                    <m:d>
                      <m:dPr>
                        <m:ctrlPr>
                          <a:rPr lang="en-GB" sz="2800" b="0" i="1" smtClean="0">
                            <a:latin typeface="Cambria Math" panose="02040503050406030204" pitchFamily="18" charset="0"/>
                          </a:rPr>
                        </m:ctrlPr>
                      </m:dPr>
                      <m:e>
                        <m:m>
                          <m:mPr>
                            <m:plcHide m:val="on"/>
                            <m:mcs>
                              <m:mc>
                                <m:mcPr>
                                  <m:count m:val="1"/>
                                  <m:mcJc m:val="center"/>
                                </m:mcPr>
                              </m:mc>
                            </m:mcs>
                            <m:ctrlPr>
                              <a:rPr lang="en-GB" sz="2800" b="0" i="1" smtClean="0">
                                <a:latin typeface="Cambria Math" panose="02040503050406030204" pitchFamily="18" charset="0"/>
                              </a:rPr>
                            </m:ctrlPr>
                          </m:mPr>
                          <m:mr>
                            <m:e>
                              <m:r>
                                <a:rPr lang="en-GB" sz="2800" b="0" i="1" smtClean="0">
                                  <a:latin typeface="Cambria Math" panose="02040503050406030204" pitchFamily="18" charset="0"/>
                                </a:rPr>
                                <m:t>3</m:t>
                              </m:r>
                            </m:e>
                          </m:mr>
                          <m:mr>
                            <m:e>
                              <m:r>
                                <a:rPr lang="en-GB" sz="2800" b="0" i="1" smtClean="0">
                                  <a:latin typeface="Cambria Math" panose="02040503050406030204" pitchFamily="18" charset="0"/>
                                </a:rPr>
                                <m:t>0</m:t>
                              </m:r>
                            </m:e>
                          </m:mr>
                        </m:m>
                      </m:e>
                    </m:d>
                  </m:oMath>
                </a14:m>
                <a:endParaRPr lang="en-GB" sz="2800"/>
              </a:p>
            </p:txBody>
          </p:sp>
        </mc:Choice>
        <mc:Fallback>
          <p:sp>
            <p:nvSpPr>
              <p:cNvPr id="16" name="TextBox 15"/>
              <p:cNvSpPr txBox="1">
                <a:spLocks noRot="1" noChangeAspect="1" noMove="1" noResize="1" noEditPoints="1" noAdjustHandles="1" noChangeArrowheads="1" noChangeShapeType="1" noTextEdit="1"/>
              </p:cNvSpPr>
              <p:nvPr/>
            </p:nvSpPr>
            <p:spPr>
              <a:xfrm>
                <a:off x="3131840" y="3787913"/>
                <a:ext cx="3384376" cy="810799"/>
              </a:xfrm>
              <a:prstGeom prst="rect">
                <a:avLst/>
              </a:prstGeom>
              <a:blipFill>
                <a:blip r:embed="rId7"/>
                <a:stretch>
                  <a:fillRect l="-3731" b="-9375"/>
                </a:stretch>
              </a:blipFill>
            </p:spPr>
            <p:txBody>
              <a:bodyPr/>
              <a:lstStyle/>
              <a:p>
                <a:r>
                  <a:rPr lang="en-US">
                    <a:noFill/>
                  </a:rPr>
                  <a:t> </a:t>
                </a:r>
              </a:p>
            </p:txBody>
          </p:sp>
        </mc:Fallback>
      </mc:AlternateContent>
      <p:sp>
        <p:nvSpPr>
          <p:cNvPr id="17" name="Right Arrow 16"/>
          <p:cNvSpPr/>
          <p:nvPr/>
        </p:nvSpPr>
        <p:spPr>
          <a:xfrm>
            <a:off x="2267744" y="4077072"/>
            <a:ext cx="648072" cy="2880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mc:Choice xmlns:a14="http://schemas.microsoft.com/office/drawing/2010/main" Requires="a14">
          <p:sp>
            <p:nvSpPr>
              <p:cNvPr id="18" name="TextBox 17"/>
              <p:cNvSpPr txBox="1"/>
              <p:nvPr/>
            </p:nvSpPr>
            <p:spPr>
              <a:xfrm>
                <a:off x="-14514" y="4581128"/>
                <a:ext cx="2196863" cy="523220"/>
              </a:xfrm>
              <a:prstGeom prst="rect">
                <a:avLst/>
              </a:prstGeom>
              <a:noFill/>
            </p:spPr>
            <p:txBody>
              <a:bodyPr wrap="square" rtlCol="0">
                <a:spAutoFit/>
              </a:bodyPr>
              <a:lstStyle/>
              <a:p>
                <a:pPr/>
                <a14:m>
                  <m:oMathPara xmlns:m="http://schemas.openxmlformats.org/officeDocument/2006/math">
                    <m:oMath>
                      <m:r>
                        <a:rPr lang="en-GB" sz="2800" b="0" i="1" smtClean="0">
                          <a:latin typeface="Cambria Math" panose="02040503050406030204" pitchFamily="18" charset="0"/>
                        </a:rPr>
                        <m:t>𝑦</m:t>
                      </m:r>
                      <m:r>
                        <a:rPr lang="en-GB" sz="2800" b="0" i="1" smtClean="0">
                          <a:latin typeface="Cambria Math" panose="02040503050406030204" pitchFamily="18" charset="0"/>
                        </a:rPr>
                        <m:t>=</m:t>
                      </m:r>
                      <m:r>
                        <a:rPr lang="en-GB" sz="2800" b="0" i="1" smtClean="0">
                          <a:latin typeface="Cambria Math" panose="02040503050406030204" pitchFamily="18" charset="0"/>
                        </a:rPr>
                        <m:t>𝑓</m:t>
                      </m:r>
                      <m:d>
                        <m:dPr>
                          <m:ctrlPr>
                            <a:rPr lang="en-GB" sz="2800" b="0" i="1" smtClean="0">
                              <a:latin typeface="Cambria Math" panose="02040503050406030204" pitchFamily="18" charset="0"/>
                            </a:rPr>
                          </m:ctrlPr>
                        </m:dPr>
                        <m:e>
                          <m:r>
                            <a:rPr lang="en-GB" sz="2800" b="0" i="1" smtClean="0">
                              <a:latin typeface="Cambria Math" panose="02040503050406030204" pitchFamily="18" charset="0"/>
                            </a:rPr>
                            <m:t>𝑥</m:t>
                          </m:r>
                        </m:e>
                      </m:d>
                      <m:r>
                        <a:rPr lang="en-GB" sz="2800" b="0" i="1" smtClean="0">
                          <a:latin typeface="Cambria Math" panose="02040503050406030204" pitchFamily="18" charset="0"/>
                        </a:rPr>
                        <m:t>+4</m:t>
                      </m:r>
                    </m:oMath>
                  </m:oMathPara>
                </a14:m>
                <a:endParaRPr lang="en-GB" sz="2800"/>
              </a:p>
            </p:txBody>
          </p:sp>
        </mc:Choice>
        <mc:Fallback>
          <p:sp>
            <p:nvSpPr>
              <p:cNvPr id="18" name="TextBox 17"/>
              <p:cNvSpPr txBox="1">
                <a:spLocks noRot="1" noChangeAspect="1" noMove="1" noResize="1" noEditPoints="1" noAdjustHandles="1" noChangeArrowheads="1" noChangeShapeType="1" noTextEdit="1"/>
              </p:cNvSpPr>
              <p:nvPr/>
            </p:nvSpPr>
            <p:spPr>
              <a:xfrm>
                <a:off x="-14514" y="4581128"/>
                <a:ext cx="2196863" cy="523220"/>
              </a:xfrm>
              <a:prstGeom prst="rect">
                <a:avLst/>
              </a:prstGeom>
              <a:blipFill>
                <a:blip r:embed="rId8"/>
                <a:stretch>
                  <a:fillRect l="-1156" r="-1156" b="-19048"/>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9" name="TextBox 18"/>
              <p:cNvSpPr txBox="1"/>
              <p:nvPr/>
            </p:nvSpPr>
            <p:spPr>
              <a:xfrm>
                <a:off x="3131840" y="4581128"/>
                <a:ext cx="3384376" cy="807978"/>
              </a:xfrm>
              <a:prstGeom prst="rect">
                <a:avLst/>
              </a:prstGeom>
              <a:noFill/>
            </p:spPr>
            <p:txBody>
              <a:bodyPr wrap="square" rtlCol="0">
                <a:spAutoFit/>
              </a:bodyPr>
              <a:lstStyle/>
              <a:p>
                <a:r>
                  <a:rPr lang="en-GB" sz="2800"/>
                  <a:t>Translation by </a:t>
                </a:r>
                <a14:m>
                  <m:oMath xmlns:m="http://schemas.openxmlformats.org/officeDocument/2006/math">
                    <m:d>
                      <m:dPr>
                        <m:ctrlPr>
                          <a:rPr lang="en-GB" sz="2800" b="0" i="1" smtClean="0">
                            <a:latin typeface="Cambria Math" panose="02040503050406030204" pitchFamily="18" charset="0"/>
                          </a:rPr>
                        </m:ctrlPr>
                      </m:dPr>
                      <m:e>
                        <m:m>
                          <m:mPr>
                            <m:plcHide m:val="on"/>
                            <m:mcs>
                              <m:mc>
                                <m:mcPr>
                                  <m:count m:val="1"/>
                                  <m:mcJc m:val="center"/>
                                </m:mcPr>
                              </m:mc>
                            </m:mcs>
                            <m:ctrlPr>
                              <a:rPr lang="en-GB" sz="2800" b="0" i="1" smtClean="0">
                                <a:latin typeface="Cambria Math" panose="02040503050406030204" pitchFamily="18" charset="0"/>
                              </a:rPr>
                            </m:ctrlPr>
                          </m:mPr>
                          <m:mr>
                            <m:e>
                              <m:r>
                                <a:rPr lang="en-GB" sz="2800" b="0" i="1" smtClean="0">
                                  <a:latin typeface="Cambria Math" panose="02040503050406030204" pitchFamily="18" charset="0"/>
                                </a:rPr>
                                <m:t>0</m:t>
                              </m:r>
                            </m:e>
                          </m:mr>
                          <m:mr>
                            <m:e>
                              <m:r>
                                <a:rPr lang="en-GB" sz="2800" b="0" i="1" smtClean="0">
                                  <a:latin typeface="Cambria Math" panose="02040503050406030204" pitchFamily="18" charset="0"/>
                                </a:rPr>
                                <m:t>4</m:t>
                              </m:r>
                            </m:e>
                          </m:mr>
                        </m:m>
                      </m:e>
                    </m:d>
                  </m:oMath>
                </a14:m>
                <a:endParaRPr lang="en-GB" sz="2800"/>
              </a:p>
            </p:txBody>
          </p:sp>
        </mc:Choice>
        <mc:Fallback>
          <p:sp>
            <p:nvSpPr>
              <p:cNvPr id="19" name="TextBox 18"/>
              <p:cNvSpPr txBox="1">
                <a:spLocks noRot="1" noChangeAspect="1" noMove="1" noResize="1" noEditPoints="1" noAdjustHandles="1" noChangeArrowheads="1" noChangeShapeType="1" noTextEdit="1"/>
              </p:cNvSpPr>
              <p:nvPr/>
            </p:nvSpPr>
            <p:spPr>
              <a:xfrm>
                <a:off x="3131840" y="4581128"/>
                <a:ext cx="3384376" cy="807978"/>
              </a:xfrm>
              <a:prstGeom prst="rect">
                <a:avLst/>
              </a:prstGeom>
              <a:blipFill>
                <a:blip r:embed="rId9"/>
                <a:stretch>
                  <a:fillRect l="-3731" b="-9231"/>
                </a:stretch>
              </a:blipFill>
            </p:spPr>
            <p:txBody>
              <a:bodyPr/>
              <a:lstStyle/>
              <a:p>
                <a:r>
                  <a:rPr lang="en-US">
                    <a:noFill/>
                  </a:rPr>
                  <a:t> </a:t>
                </a:r>
              </a:p>
            </p:txBody>
          </p:sp>
        </mc:Fallback>
      </mc:AlternateContent>
      <p:sp>
        <p:nvSpPr>
          <p:cNvPr id="20" name="Right Arrow 19"/>
          <p:cNvSpPr/>
          <p:nvPr/>
        </p:nvSpPr>
        <p:spPr>
          <a:xfrm>
            <a:off x="2267744" y="4725144"/>
            <a:ext cx="648072" cy="2880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mc:Choice xmlns:a14="http://schemas.microsoft.com/office/drawing/2010/main" Requires="a14">
          <p:sp>
            <p:nvSpPr>
              <p:cNvPr id="21" name="TextBox 20"/>
              <p:cNvSpPr txBox="1"/>
              <p:nvPr/>
            </p:nvSpPr>
            <p:spPr>
              <a:xfrm>
                <a:off x="43543" y="5229200"/>
                <a:ext cx="2008177" cy="523220"/>
              </a:xfrm>
              <a:prstGeom prst="rect">
                <a:avLst/>
              </a:prstGeom>
              <a:noFill/>
            </p:spPr>
            <p:txBody>
              <a:bodyPr wrap="square" rtlCol="0">
                <a:spAutoFit/>
              </a:bodyPr>
              <a:lstStyle/>
              <a:p>
                <a:pPr/>
                <a14:m>
                  <m:oMathPara xmlns:m="http://schemas.openxmlformats.org/officeDocument/2006/math">
                    <m:oMath>
                      <m:r>
                        <a:rPr lang="en-GB" sz="2800" b="0" i="1" smtClean="0">
                          <a:latin typeface="Cambria Math" panose="02040503050406030204" pitchFamily="18" charset="0"/>
                        </a:rPr>
                        <m:t>𝑦</m:t>
                      </m:r>
                      <m:r>
                        <a:rPr lang="en-GB" sz="2800" b="0" i="1" smtClean="0">
                          <a:latin typeface="Cambria Math" panose="02040503050406030204" pitchFamily="18" charset="0"/>
                        </a:rPr>
                        <m:t>=</m:t>
                      </m:r>
                      <m:r>
                        <a:rPr lang="en-GB" sz="2800" b="0" i="1" smtClean="0">
                          <a:latin typeface="Cambria Math" panose="02040503050406030204" pitchFamily="18" charset="0"/>
                        </a:rPr>
                        <m:t>𝑓</m:t>
                      </m:r>
                      <m:d>
                        <m:dPr>
                          <m:ctrlPr>
                            <a:rPr lang="en-GB" sz="2800" b="0" i="1" smtClean="0">
                              <a:latin typeface="Cambria Math" panose="02040503050406030204" pitchFamily="18" charset="0"/>
                            </a:rPr>
                          </m:ctrlPr>
                        </m:dPr>
                        <m:e>
                          <m:r>
                            <a:rPr lang="en-GB" sz="2800" b="0" i="1" smtClean="0">
                              <a:latin typeface="Cambria Math" panose="02040503050406030204" pitchFamily="18" charset="0"/>
                            </a:rPr>
                            <m:t>5</m:t>
                          </m:r>
                          <m:r>
                            <a:rPr lang="en-GB" sz="2800" b="0" i="1" smtClean="0">
                              <a:latin typeface="Cambria Math" panose="02040503050406030204" pitchFamily="18" charset="0"/>
                            </a:rPr>
                            <m:t>𝑥</m:t>
                          </m:r>
                        </m:e>
                      </m:d>
                    </m:oMath>
                  </m:oMathPara>
                </a14:m>
                <a:endParaRPr lang="en-GB" sz="2800"/>
              </a:p>
            </p:txBody>
          </p:sp>
        </mc:Choice>
        <mc:Fallback>
          <p:sp>
            <p:nvSpPr>
              <p:cNvPr id="21" name="TextBox 20"/>
              <p:cNvSpPr txBox="1">
                <a:spLocks noRot="1" noChangeAspect="1" noMove="1" noResize="1" noEditPoints="1" noAdjustHandles="1" noChangeArrowheads="1" noChangeShapeType="1" noTextEdit="1"/>
              </p:cNvSpPr>
              <p:nvPr/>
            </p:nvSpPr>
            <p:spPr>
              <a:xfrm>
                <a:off x="43543" y="5229200"/>
                <a:ext cx="2008177" cy="523220"/>
              </a:xfrm>
              <a:prstGeom prst="rect">
                <a:avLst/>
              </a:prstGeom>
              <a:blipFill>
                <a:blip r:embed="rId10"/>
                <a:stretch>
                  <a:fillRect b="-16279"/>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2" name="TextBox 21"/>
              <p:cNvSpPr txBox="1"/>
              <p:nvPr/>
            </p:nvSpPr>
            <p:spPr>
              <a:xfrm>
                <a:off x="3131839" y="5229200"/>
                <a:ext cx="5736389" cy="703398"/>
              </a:xfrm>
              <a:prstGeom prst="rect">
                <a:avLst/>
              </a:prstGeom>
              <a:noFill/>
            </p:spPr>
            <p:txBody>
              <a:bodyPr wrap="square" rtlCol="0">
                <a:spAutoFit/>
              </a:bodyPr>
              <a:lstStyle/>
              <a:p>
                <a:r>
                  <a:rPr lang="en-GB" sz="2800"/>
                  <a:t>Stretch in </a:t>
                </a:r>
                <a14:m>
                  <m:oMath xmlns:m="http://schemas.openxmlformats.org/officeDocument/2006/math">
                    <m:r>
                      <a:rPr lang="en-GB" sz="2800" b="0" i="1" smtClean="0">
                        <a:latin typeface="Cambria Math" panose="02040503050406030204" pitchFamily="18" charset="0"/>
                      </a:rPr>
                      <m:t>𝑥</m:t>
                    </m:r>
                  </m:oMath>
                </a14:m>
                <a:r>
                  <a:rPr lang="en-GB" sz="2800" i="1"/>
                  <a:t>-</a:t>
                </a:r>
                <a:r>
                  <a:rPr lang="en-GB" sz="2800"/>
                  <a:t>direction by scale factor </a:t>
                </a:r>
                <a14:m>
                  <m:oMath xmlns:m="http://schemas.openxmlformats.org/officeDocument/2006/math">
                    <m:f>
                      <m:fPr>
                        <m:ctrlPr>
                          <a:rPr lang="en-GB" sz="2800" b="0" i="0" smtClean="0">
                            <a:latin typeface="Cambria Math" panose="02040503050406030204" pitchFamily="18" charset="0"/>
                          </a:rPr>
                        </m:ctrlPr>
                      </m:fPr>
                      <m:num>
                        <m:r>
                          <a:rPr lang="en-GB" sz="2800" b="0" i="0" smtClean="0">
                            <a:latin typeface="Cambria Math" panose="02040503050406030204" pitchFamily="18" charset="0"/>
                          </a:rPr>
                          <m:t>1</m:t>
                        </m:r>
                      </m:num>
                      <m:den>
                        <m:r>
                          <a:rPr lang="en-GB" sz="2800" b="0" i="0" smtClean="0">
                            <a:latin typeface="Cambria Math" panose="02040503050406030204" pitchFamily="18" charset="0"/>
                          </a:rPr>
                          <m:t>5</m:t>
                        </m:r>
                      </m:den>
                    </m:f>
                  </m:oMath>
                </a14:m>
                <a:endParaRPr lang="en-GB" sz="2800"/>
              </a:p>
            </p:txBody>
          </p:sp>
        </mc:Choice>
        <mc:Fallback>
          <p:sp>
            <p:nvSpPr>
              <p:cNvPr id="22" name="TextBox 21"/>
              <p:cNvSpPr txBox="1">
                <a:spLocks noRot="1" noChangeAspect="1" noMove="1" noResize="1" noEditPoints="1" noAdjustHandles="1" noChangeArrowheads="1" noChangeShapeType="1" noTextEdit="1"/>
              </p:cNvSpPr>
              <p:nvPr/>
            </p:nvSpPr>
            <p:spPr>
              <a:xfrm>
                <a:off x="3131839" y="5229200"/>
                <a:ext cx="5736389" cy="703398"/>
              </a:xfrm>
              <a:prstGeom prst="rect">
                <a:avLst/>
              </a:prstGeom>
              <a:blipFill>
                <a:blip r:embed="rId11"/>
                <a:stretch>
                  <a:fillRect l="-2208" b="-8772"/>
                </a:stretch>
              </a:blipFill>
            </p:spPr>
            <p:txBody>
              <a:bodyPr/>
              <a:lstStyle/>
              <a:p>
                <a:r>
                  <a:rPr lang="en-US">
                    <a:noFill/>
                  </a:rPr>
                  <a:t> </a:t>
                </a:r>
              </a:p>
            </p:txBody>
          </p:sp>
        </mc:Fallback>
      </mc:AlternateContent>
      <p:sp>
        <p:nvSpPr>
          <p:cNvPr id="23" name="Right Arrow 22"/>
          <p:cNvSpPr/>
          <p:nvPr/>
        </p:nvSpPr>
        <p:spPr>
          <a:xfrm>
            <a:off x="2267744" y="5373216"/>
            <a:ext cx="648072" cy="2880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mc:Choice xmlns:a14="http://schemas.microsoft.com/office/drawing/2010/main" Requires="a14">
          <p:sp>
            <p:nvSpPr>
              <p:cNvPr id="24" name="TextBox 23"/>
              <p:cNvSpPr txBox="1"/>
              <p:nvPr/>
            </p:nvSpPr>
            <p:spPr>
              <a:xfrm>
                <a:off x="116114" y="5877272"/>
                <a:ext cx="1834006" cy="523220"/>
              </a:xfrm>
              <a:prstGeom prst="rect">
                <a:avLst/>
              </a:prstGeom>
              <a:noFill/>
            </p:spPr>
            <p:txBody>
              <a:bodyPr wrap="square" rtlCol="0">
                <a:spAutoFit/>
              </a:bodyPr>
              <a:lstStyle/>
              <a:p>
                <a:pPr/>
                <a14:m>
                  <m:oMathPara xmlns:m="http://schemas.openxmlformats.org/officeDocument/2006/math">
                    <m:oMath>
                      <m:r>
                        <a:rPr lang="en-GB" sz="2800" b="0" i="1" smtClean="0">
                          <a:latin typeface="Cambria Math" panose="02040503050406030204" pitchFamily="18" charset="0"/>
                        </a:rPr>
                        <m:t>𝑦</m:t>
                      </m:r>
                      <m:r>
                        <a:rPr lang="en-GB" sz="2800" b="0" i="1" smtClean="0">
                          <a:latin typeface="Cambria Math" panose="02040503050406030204" pitchFamily="18" charset="0"/>
                        </a:rPr>
                        <m:t>=2</m:t>
                      </m:r>
                      <m:r>
                        <a:rPr lang="en-GB" sz="2800" b="0" i="1" smtClean="0">
                          <a:latin typeface="Cambria Math" panose="02040503050406030204" pitchFamily="18" charset="0"/>
                        </a:rPr>
                        <m:t>𝑓</m:t>
                      </m:r>
                      <m:d>
                        <m:dPr>
                          <m:ctrlPr>
                            <a:rPr lang="en-GB" sz="2800" b="0" i="1" smtClean="0">
                              <a:latin typeface="Cambria Math" panose="02040503050406030204" pitchFamily="18" charset="0"/>
                            </a:rPr>
                          </m:ctrlPr>
                        </m:dPr>
                        <m:e>
                          <m:r>
                            <a:rPr lang="en-GB" sz="2800" b="0" i="1" smtClean="0">
                              <a:latin typeface="Cambria Math" panose="02040503050406030204" pitchFamily="18" charset="0"/>
                            </a:rPr>
                            <m:t>𝑥</m:t>
                          </m:r>
                        </m:e>
                      </m:d>
                    </m:oMath>
                  </m:oMathPara>
                </a14:m>
                <a:endParaRPr lang="en-GB" sz="2800"/>
              </a:p>
            </p:txBody>
          </p:sp>
        </mc:Choice>
        <mc:Fallback>
          <p:sp>
            <p:nvSpPr>
              <p:cNvPr id="24" name="TextBox 23"/>
              <p:cNvSpPr txBox="1">
                <a:spLocks noRot="1" noChangeAspect="1" noMove="1" noResize="1" noEditPoints="1" noAdjustHandles="1" noChangeArrowheads="1" noChangeShapeType="1" noTextEdit="1"/>
              </p:cNvSpPr>
              <p:nvPr/>
            </p:nvSpPr>
            <p:spPr>
              <a:xfrm>
                <a:off x="116114" y="5877272"/>
                <a:ext cx="1834006" cy="523220"/>
              </a:xfrm>
              <a:prstGeom prst="rect">
                <a:avLst/>
              </a:prstGeom>
              <a:blipFill>
                <a:blip r:embed="rId12"/>
                <a:stretch>
                  <a:fillRect b="-16279"/>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5" name="TextBox 24"/>
              <p:cNvSpPr txBox="1"/>
              <p:nvPr/>
            </p:nvSpPr>
            <p:spPr>
              <a:xfrm>
                <a:off x="3131839" y="5877272"/>
                <a:ext cx="5952411" cy="523220"/>
              </a:xfrm>
              <a:prstGeom prst="rect">
                <a:avLst/>
              </a:prstGeom>
              <a:noFill/>
            </p:spPr>
            <p:txBody>
              <a:bodyPr wrap="square" rtlCol="0">
                <a:spAutoFit/>
              </a:bodyPr>
              <a:lstStyle/>
              <a:p>
                <a:r>
                  <a:rPr lang="en-GB" sz="2800"/>
                  <a:t>Stretch in </a:t>
                </a:r>
                <a14:m>
                  <m:oMath xmlns:m="http://schemas.openxmlformats.org/officeDocument/2006/math">
                    <m:r>
                      <a:rPr lang="en-GB" sz="2800" b="0" i="1" smtClean="0">
                        <a:latin typeface="Cambria Math" panose="02040503050406030204" pitchFamily="18" charset="0"/>
                      </a:rPr>
                      <m:t>𝑦</m:t>
                    </m:r>
                  </m:oMath>
                </a14:m>
                <a:r>
                  <a:rPr lang="en-GB" sz="2800" i="1"/>
                  <a:t>-</a:t>
                </a:r>
                <a:r>
                  <a:rPr lang="en-GB" sz="2800"/>
                  <a:t>direction by scale factor 2</a:t>
                </a:r>
                <a:endParaRPr lang="en-GB" sz="2800" i="1"/>
              </a:p>
            </p:txBody>
          </p:sp>
        </mc:Choice>
        <mc:Fallback>
          <p:sp>
            <p:nvSpPr>
              <p:cNvPr id="25" name="TextBox 24"/>
              <p:cNvSpPr txBox="1">
                <a:spLocks noRot="1" noChangeAspect="1" noMove="1" noResize="1" noEditPoints="1" noAdjustHandles="1" noChangeArrowheads="1" noChangeShapeType="1" noTextEdit="1"/>
              </p:cNvSpPr>
              <p:nvPr/>
            </p:nvSpPr>
            <p:spPr>
              <a:xfrm>
                <a:off x="3131839" y="5877272"/>
                <a:ext cx="5952411" cy="523220"/>
              </a:xfrm>
              <a:prstGeom prst="rect">
                <a:avLst/>
              </a:prstGeom>
              <a:blipFill>
                <a:blip r:embed="rId13"/>
                <a:stretch>
                  <a:fillRect l="-2128" t="-11628" b="-27907"/>
                </a:stretch>
              </a:blipFill>
            </p:spPr>
            <p:txBody>
              <a:bodyPr/>
              <a:lstStyle/>
              <a:p>
                <a:r>
                  <a:rPr lang="en-US">
                    <a:noFill/>
                  </a:rPr>
                  <a:t> </a:t>
                </a:r>
              </a:p>
            </p:txBody>
          </p:sp>
        </mc:Fallback>
      </mc:AlternateContent>
      <p:sp>
        <p:nvSpPr>
          <p:cNvPr id="26" name="Right Arrow 25"/>
          <p:cNvSpPr/>
          <p:nvPr/>
        </p:nvSpPr>
        <p:spPr>
          <a:xfrm>
            <a:off x="2267744" y="6021288"/>
            <a:ext cx="648072" cy="2880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Rectangle 26"/>
          <p:cNvSpPr/>
          <p:nvPr/>
        </p:nvSpPr>
        <p:spPr>
          <a:xfrm>
            <a:off x="2915816" y="2130712"/>
            <a:ext cx="2160240" cy="432048"/>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28" name="Rectangle 27"/>
          <p:cNvSpPr/>
          <p:nvPr/>
        </p:nvSpPr>
        <p:spPr>
          <a:xfrm>
            <a:off x="5076056" y="2132856"/>
            <a:ext cx="3240360" cy="432048"/>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29" name="Rectangle 28"/>
          <p:cNvSpPr/>
          <p:nvPr/>
        </p:nvSpPr>
        <p:spPr>
          <a:xfrm>
            <a:off x="2915816" y="2562760"/>
            <a:ext cx="2160240" cy="432048"/>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30" name="Rectangle 29"/>
          <p:cNvSpPr/>
          <p:nvPr/>
        </p:nvSpPr>
        <p:spPr>
          <a:xfrm>
            <a:off x="5076056" y="2564904"/>
            <a:ext cx="3240360" cy="432048"/>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31" name="Rectangle 30"/>
          <p:cNvSpPr/>
          <p:nvPr/>
        </p:nvSpPr>
        <p:spPr>
          <a:xfrm>
            <a:off x="3224718" y="3890896"/>
            <a:ext cx="4409796" cy="666590"/>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32" name="Rectangle 31"/>
          <p:cNvSpPr/>
          <p:nvPr/>
        </p:nvSpPr>
        <p:spPr>
          <a:xfrm>
            <a:off x="3224718" y="4642610"/>
            <a:ext cx="4409796" cy="698647"/>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33" name="Rectangle 32"/>
          <p:cNvSpPr/>
          <p:nvPr/>
        </p:nvSpPr>
        <p:spPr>
          <a:xfrm>
            <a:off x="3224718" y="5341257"/>
            <a:ext cx="5512882" cy="522514"/>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34" name="Rectangle 33"/>
          <p:cNvSpPr/>
          <p:nvPr/>
        </p:nvSpPr>
        <p:spPr>
          <a:xfrm>
            <a:off x="3224718" y="5931271"/>
            <a:ext cx="5512882" cy="406594"/>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35" name="TextBox 34"/>
          <p:cNvSpPr txBox="1"/>
          <p:nvPr/>
        </p:nvSpPr>
        <p:spPr>
          <a:xfrm>
            <a:off x="395536" y="3356992"/>
            <a:ext cx="4464496" cy="369332"/>
          </a:xfrm>
          <a:prstGeom prst="rect">
            <a:avLst/>
          </a:prstGeom>
          <a:noFill/>
        </p:spPr>
        <p:txBody>
          <a:bodyPr wrap="square" rtlCol="0">
            <a:spAutoFit/>
          </a:bodyPr>
          <a:lstStyle/>
          <a:p>
            <a:r>
              <a:rPr lang="en-GB"/>
              <a:t>Therefore...</a:t>
            </a:r>
          </a:p>
        </p:txBody>
      </p:sp>
    </p:spTree>
    <p:extLst>
      <p:ext uri="{BB962C8B-B14F-4D97-AF65-F5344CB8AC3E}">
        <p14:creationId xmlns:p14="http://schemas.microsoft.com/office/powerpoint/2010/main" val="3270981861"/>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7"/>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27"/>
                                        </p:tgtEl>
                                      </p:cBhvr>
                                    </p:animEffect>
                                    <p:set>
                                      <p:cBhvr>
                                        <p:cTn id="7" dur="1" fill="hold">
                                          <p:stCondLst>
                                            <p:cond delay="499"/>
                                          </p:stCondLst>
                                        </p:cTn>
                                        <p:tgtEl>
                                          <p:spTgt spid="27"/>
                                        </p:tgtEl>
                                        <p:attrNameLst>
                                          <p:attrName>style.visibility</p:attrName>
                                        </p:attrNameLst>
                                      </p:cBhvr>
                                      <p:to>
                                        <p:strVal val="hidden"/>
                                      </p:to>
                                    </p:set>
                                  </p:childTnLst>
                                </p:cTn>
                              </p:par>
                            </p:childTnLst>
                          </p:cTn>
                        </p:par>
                      </p:childTnLst>
                    </p:cTn>
                  </p:par>
                </p:childTnLst>
              </p:cTn>
              <p:nextCondLst>
                <p:cond evt="onClick" delay="0">
                  <p:tgtEl>
                    <p:spTgt spid="27"/>
                  </p:tgtEl>
                </p:cond>
              </p:nextCondLst>
            </p:seq>
            <p:seq concurrent="1" nextAc="seek">
              <p:cTn id="8" restart="whenNotActive" fill="hold" evtFilter="cancelBubble" nodeType="interactiveSeq">
                <p:stCondLst>
                  <p:cond evt="onClick" delay="0">
                    <p:tgtEl>
                      <p:spTgt spid="28"/>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28"/>
                                        </p:tgtEl>
                                      </p:cBhvr>
                                    </p:animEffect>
                                    <p:set>
                                      <p:cBhvr>
                                        <p:cTn id="13" dur="1" fill="hold">
                                          <p:stCondLst>
                                            <p:cond delay="499"/>
                                          </p:stCondLst>
                                        </p:cTn>
                                        <p:tgtEl>
                                          <p:spTgt spid="28"/>
                                        </p:tgtEl>
                                        <p:attrNameLst>
                                          <p:attrName>style.visibility</p:attrName>
                                        </p:attrNameLst>
                                      </p:cBhvr>
                                      <p:to>
                                        <p:strVal val="hidden"/>
                                      </p:to>
                                    </p:set>
                                  </p:childTnLst>
                                </p:cTn>
                              </p:par>
                            </p:childTnLst>
                          </p:cTn>
                        </p:par>
                      </p:childTnLst>
                    </p:cTn>
                  </p:par>
                </p:childTnLst>
              </p:cTn>
              <p:nextCondLst>
                <p:cond evt="onClick" delay="0">
                  <p:tgtEl>
                    <p:spTgt spid="28"/>
                  </p:tgtEl>
                </p:cond>
              </p:nextCondLst>
            </p:seq>
            <p:seq concurrent="1" nextAc="seek">
              <p:cTn id="14" restart="whenNotActive" fill="hold" evtFilter="cancelBubble" nodeType="interactiveSeq">
                <p:stCondLst>
                  <p:cond evt="onClick" delay="0">
                    <p:tgtEl>
                      <p:spTgt spid="29"/>
                    </p:tgtEl>
                  </p:cond>
                </p:stCondLst>
                <p:endSync evt="end" delay="0">
                  <p:rtn val="all"/>
                </p:endSync>
                <p:childTnLst>
                  <p:par>
                    <p:cTn id="15" fill="hold">
                      <p:stCondLst>
                        <p:cond delay="0"/>
                      </p:stCondLst>
                      <p:childTnLst>
                        <p:par>
                          <p:cTn id="16" fill="hold">
                            <p:stCondLst>
                              <p:cond delay="0"/>
                            </p:stCondLst>
                            <p:childTnLst>
                              <p:par>
                                <p:cTn id="17" presetID="10" presetClass="exit" presetSubtype="0" fill="hold" grpId="0" nodeType="clickEffect">
                                  <p:stCondLst>
                                    <p:cond delay="0"/>
                                  </p:stCondLst>
                                  <p:childTnLst>
                                    <p:animEffect transition="out" filter="fade">
                                      <p:cBhvr>
                                        <p:cTn id="18" dur="500"/>
                                        <p:tgtEl>
                                          <p:spTgt spid="29"/>
                                        </p:tgtEl>
                                      </p:cBhvr>
                                    </p:animEffect>
                                    <p:set>
                                      <p:cBhvr>
                                        <p:cTn id="19" dur="1" fill="hold">
                                          <p:stCondLst>
                                            <p:cond delay="499"/>
                                          </p:stCondLst>
                                        </p:cTn>
                                        <p:tgtEl>
                                          <p:spTgt spid="29"/>
                                        </p:tgtEl>
                                        <p:attrNameLst>
                                          <p:attrName>style.visibility</p:attrName>
                                        </p:attrNameLst>
                                      </p:cBhvr>
                                      <p:to>
                                        <p:strVal val="hidden"/>
                                      </p:to>
                                    </p:set>
                                  </p:childTnLst>
                                </p:cTn>
                              </p:par>
                            </p:childTnLst>
                          </p:cTn>
                        </p:par>
                      </p:childTnLst>
                    </p:cTn>
                  </p:par>
                </p:childTnLst>
              </p:cTn>
              <p:nextCondLst>
                <p:cond evt="onClick" delay="0">
                  <p:tgtEl>
                    <p:spTgt spid="29"/>
                  </p:tgtEl>
                </p:cond>
              </p:nextCondLst>
            </p:seq>
            <p:seq concurrent="1" nextAc="seek">
              <p:cTn id="20" restart="whenNotActive" fill="hold" evtFilter="cancelBubble" nodeType="interactiveSeq">
                <p:stCondLst>
                  <p:cond evt="onClick" delay="0">
                    <p:tgtEl>
                      <p:spTgt spid="30"/>
                    </p:tgtEl>
                  </p:cond>
                </p:stCondLst>
                <p:endSync evt="end" delay="0">
                  <p:rtn val="all"/>
                </p:endSync>
                <p:childTnLst>
                  <p:par>
                    <p:cTn id="21" fill="hold">
                      <p:stCondLst>
                        <p:cond delay="0"/>
                      </p:stCondLst>
                      <p:childTnLst>
                        <p:par>
                          <p:cTn id="22" fill="hold">
                            <p:stCondLst>
                              <p:cond delay="0"/>
                            </p:stCondLst>
                            <p:childTnLst>
                              <p:par>
                                <p:cTn id="23" presetID="10" presetClass="exit" presetSubtype="0" fill="hold" grpId="0" nodeType="clickEffect">
                                  <p:stCondLst>
                                    <p:cond delay="0"/>
                                  </p:stCondLst>
                                  <p:childTnLst>
                                    <p:animEffect transition="out" filter="fade">
                                      <p:cBhvr>
                                        <p:cTn id="24" dur="500"/>
                                        <p:tgtEl>
                                          <p:spTgt spid="30"/>
                                        </p:tgtEl>
                                      </p:cBhvr>
                                    </p:animEffect>
                                    <p:set>
                                      <p:cBhvr>
                                        <p:cTn id="25" dur="1" fill="hold">
                                          <p:stCondLst>
                                            <p:cond delay="499"/>
                                          </p:stCondLst>
                                        </p:cTn>
                                        <p:tgtEl>
                                          <p:spTgt spid="30"/>
                                        </p:tgtEl>
                                        <p:attrNameLst>
                                          <p:attrName>style.visibility</p:attrName>
                                        </p:attrNameLst>
                                      </p:cBhvr>
                                      <p:to>
                                        <p:strVal val="hidden"/>
                                      </p:to>
                                    </p:set>
                                  </p:childTnLst>
                                </p:cTn>
                              </p:par>
                            </p:childTnLst>
                          </p:cTn>
                        </p:par>
                      </p:childTnLst>
                    </p:cTn>
                  </p:par>
                </p:childTnLst>
              </p:cTn>
              <p:nextCondLst>
                <p:cond evt="onClick" delay="0">
                  <p:tgtEl>
                    <p:spTgt spid="30"/>
                  </p:tgtEl>
                </p:cond>
              </p:nextCondLst>
            </p:seq>
            <p:seq concurrent="1" nextAc="seek">
              <p:cTn id="26" restart="whenNotActive" fill="hold" evtFilter="cancelBubble" nodeType="interactiveSeq">
                <p:stCondLst>
                  <p:cond evt="onClick" delay="0">
                    <p:tgtEl>
                      <p:spTgt spid="31"/>
                    </p:tgtEl>
                  </p:cond>
                </p:stCondLst>
                <p:endSync evt="end" delay="0">
                  <p:rtn val="all"/>
                </p:endSync>
                <p:childTnLst>
                  <p:par>
                    <p:cTn id="27" fill="hold">
                      <p:stCondLst>
                        <p:cond delay="0"/>
                      </p:stCondLst>
                      <p:childTnLst>
                        <p:par>
                          <p:cTn id="28" fill="hold">
                            <p:stCondLst>
                              <p:cond delay="0"/>
                            </p:stCondLst>
                            <p:childTnLst>
                              <p:par>
                                <p:cTn id="29" presetID="10" presetClass="exit" presetSubtype="0" fill="hold" grpId="0" nodeType="clickEffect">
                                  <p:stCondLst>
                                    <p:cond delay="0"/>
                                  </p:stCondLst>
                                  <p:childTnLst>
                                    <p:animEffect transition="out" filter="fade">
                                      <p:cBhvr>
                                        <p:cTn id="30" dur="500"/>
                                        <p:tgtEl>
                                          <p:spTgt spid="31"/>
                                        </p:tgtEl>
                                      </p:cBhvr>
                                    </p:animEffect>
                                    <p:set>
                                      <p:cBhvr>
                                        <p:cTn id="31" dur="1" fill="hold">
                                          <p:stCondLst>
                                            <p:cond delay="499"/>
                                          </p:stCondLst>
                                        </p:cTn>
                                        <p:tgtEl>
                                          <p:spTgt spid="31"/>
                                        </p:tgtEl>
                                        <p:attrNameLst>
                                          <p:attrName>style.visibility</p:attrName>
                                        </p:attrNameLst>
                                      </p:cBhvr>
                                      <p:to>
                                        <p:strVal val="hidden"/>
                                      </p:to>
                                    </p:set>
                                  </p:childTnLst>
                                </p:cTn>
                              </p:par>
                            </p:childTnLst>
                          </p:cTn>
                        </p:par>
                      </p:childTnLst>
                    </p:cTn>
                  </p:par>
                </p:childTnLst>
              </p:cTn>
              <p:nextCondLst>
                <p:cond evt="onClick" delay="0">
                  <p:tgtEl>
                    <p:spTgt spid="31"/>
                  </p:tgtEl>
                </p:cond>
              </p:nextCondLst>
            </p:seq>
            <p:seq concurrent="1" nextAc="seek">
              <p:cTn id="32" restart="whenNotActive" fill="hold" evtFilter="cancelBubble" nodeType="interactiveSeq">
                <p:stCondLst>
                  <p:cond evt="onClick" delay="0">
                    <p:tgtEl>
                      <p:spTgt spid="32"/>
                    </p:tgtEl>
                  </p:cond>
                </p:stCondLst>
                <p:endSync evt="end" delay="0">
                  <p:rtn val="all"/>
                </p:endSync>
                <p:childTnLst>
                  <p:par>
                    <p:cTn id="33" fill="hold">
                      <p:stCondLst>
                        <p:cond delay="0"/>
                      </p:stCondLst>
                      <p:childTnLst>
                        <p:par>
                          <p:cTn id="34" fill="hold">
                            <p:stCondLst>
                              <p:cond delay="0"/>
                            </p:stCondLst>
                            <p:childTnLst>
                              <p:par>
                                <p:cTn id="35" presetID="10" presetClass="exit" presetSubtype="0" fill="hold" grpId="0" nodeType="clickEffect">
                                  <p:stCondLst>
                                    <p:cond delay="0"/>
                                  </p:stCondLst>
                                  <p:childTnLst>
                                    <p:animEffect transition="out" filter="fade">
                                      <p:cBhvr>
                                        <p:cTn id="36" dur="500"/>
                                        <p:tgtEl>
                                          <p:spTgt spid="32"/>
                                        </p:tgtEl>
                                      </p:cBhvr>
                                    </p:animEffect>
                                    <p:set>
                                      <p:cBhvr>
                                        <p:cTn id="37" dur="1" fill="hold">
                                          <p:stCondLst>
                                            <p:cond delay="499"/>
                                          </p:stCondLst>
                                        </p:cTn>
                                        <p:tgtEl>
                                          <p:spTgt spid="32"/>
                                        </p:tgtEl>
                                        <p:attrNameLst>
                                          <p:attrName>style.visibility</p:attrName>
                                        </p:attrNameLst>
                                      </p:cBhvr>
                                      <p:to>
                                        <p:strVal val="hidden"/>
                                      </p:to>
                                    </p:set>
                                  </p:childTnLst>
                                </p:cTn>
                              </p:par>
                            </p:childTnLst>
                          </p:cTn>
                        </p:par>
                      </p:childTnLst>
                    </p:cTn>
                  </p:par>
                </p:childTnLst>
              </p:cTn>
              <p:nextCondLst>
                <p:cond evt="onClick" delay="0">
                  <p:tgtEl>
                    <p:spTgt spid="32"/>
                  </p:tgtEl>
                </p:cond>
              </p:nextCondLst>
            </p:seq>
            <p:seq concurrent="1" nextAc="seek">
              <p:cTn id="38" restart="whenNotActive" fill="hold" evtFilter="cancelBubble" nodeType="interactiveSeq">
                <p:stCondLst>
                  <p:cond evt="onClick" delay="0">
                    <p:tgtEl>
                      <p:spTgt spid="33"/>
                    </p:tgtEl>
                  </p:cond>
                </p:stCondLst>
                <p:endSync evt="end" delay="0">
                  <p:rtn val="all"/>
                </p:endSync>
                <p:childTnLst>
                  <p:par>
                    <p:cTn id="39" fill="hold">
                      <p:stCondLst>
                        <p:cond delay="0"/>
                      </p:stCondLst>
                      <p:childTnLst>
                        <p:par>
                          <p:cTn id="40" fill="hold">
                            <p:stCondLst>
                              <p:cond delay="0"/>
                            </p:stCondLst>
                            <p:childTnLst>
                              <p:par>
                                <p:cTn id="41" presetID="10" presetClass="exit" presetSubtype="0" fill="hold" grpId="0" nodeType="clickEffect">
                                  <p:stCondLst>
                                    <p:cond delay="0"/>
                                  </p:stCondLst>
                                  <p:childTnLst>
                                    <p:animEffect transition="out" filter="fade">
                                      <p:cBhvr>
                                        <p:cTn id="42" dur="500"/>
                                        <p:tgtEl>
                                          <p:spTgt spid="33"/>
                                        </p:tgtEl>
                                      </p:cBhvr>
                                    </p:animEffect>
                                    <p:set>
                                      <p:cBhvr>
                                        <p:cTn id="43" dur="1" fill="hold">
                                          <p:stCondLst>
                                            <p:cond delay="499"/>
                                          </p:stCondLst>
                                        </p:cTn>
                                        <p:tgtEl>
                                          <p:spTgt spid="33"/>
                                        </p:tgtEl>
                                        <p:attrNameLst>
                                          <p:attrName>style.visibility</p:attrName>
                                        </p:attrNameLst>
                                      </p:cBhvr>
                                      <p:to>
                                        <p:strVal val="hidden"/>
                                      </p:to>
                                    </p:set>
                                  </p:childTnLst>
                                </p:cTn>
                              </p:par>
                            </p:childTnLst>
                          </p:cTn>
                        </p:par>
                      </p:childTnLst>
                    </p:cTn>
                  </p:par>
                </p:childTnLst>
              </p:cTn>
              <p:nextCondLst>
                <p:cond evt="onClick" delay="0">
                  <p:tgtEl>
                    <p:spTgt spid="33"/>
                  </p:tgtEl>
                </p:cond>
              </p:nextCondLst>
            </p:seq>
            <p:seq concurrent="1" nextAc="seek">
              <p:cTn id="44" restart="whenNotActive" fill="hold" evtFilter="cancelBubble" nodeType="interactiveSeq">
                <p:stCondLst>
                  <p:cond evt="onClick" delay="0">
                    <p:tgtEl>
                      <p:spTgt spid="34"/>
                    </p:tgtEl>
                  </p:cond>
                </p:stCondLst>
                <p:endSync evt="end" delay="0">
                  <p:rtn val="all"/>
                </p:endSync>
                <p:childTnLst>
                  <p:par>
                    <p:cTn id="45" fill="hold">
                      <p:stCondLst>
                        <p:cond delay="0"/>
                      </p:stCondLst>
                      <p:childTnLst>
                        <p:par>
                          <p:cTn id="46" fill="hold">
                            <p:stCondLst>
                              <p:cond delay="0"/>
                            </p:stCondLst>
                            <p:childTnLst>
                              <p:par>
                                <p:cTn id="47" presetID="10" presetClass="exit" presetSubtype="0" fill="hold" grpId="0" nodeType="clickEffect">
                                  <p:stCondLst>
                                    <p:cond delay="0"/>
                                  </p:stCondLst>
                                  <p:childTnLst>
                                    <p:animEffect transition="out" filter="fade">
                                      <p:cBhvr>
                                        <p:cTn id="48" dur="500"/>
                                        <p:tgtEl>
                                          <p:spTgt spid="34"/>
                                        </p:tgtEl>
                                      </p:cBhvr>
                                    </p:animEffect>
                                    <p:set>
                                      <p:cBhvr>
                                        <p:cTn id="49" dur="1" fill="hold">
                                          <p:stCondLst>
                                            <p:cond delay="499"/>
                                          </p:stCondLst>
                                        </p:cTn>
                                        <p:tgtEl>
                                          <p:spTgt spid="34"/>
                                        </p:tgtEl>
                                        <p:attrNameLst>
                                          <p:attrName>style.visibility</p:attrName>
                                        </p:attrNameLst>
                                      </p:cBhvr>
                                      <p:to>
                                        <p:strVal val="hidden"/>
                                      </p:to>
                                    </p:set>
                                  </p:childTnLst>
                                </p:cTn>
                              </p:par>
                            </p:childTnLst>
                          </p:cTn>
                        </p:par>
                      </p:childTnLst>
                    </p:cTn>
                  </p:par>
                </p:childTnLst>
              </p:cTn>
              <p:nextCondLst>
                <p:cond evt="onClick" delay="0">
                  <p:tgtEl>
                    <p:spTgt spid="34"/>
                  </p:tgtEl>
                </p:cond>
              </p:nextCondLst>
            </p:seq>
          </p:childTnLst>
        </p:cTn>
      </p:par>
    </p:tnLst>
    <p:bldLst>
      <p:bldP spid="27" grpId="0" animBg="1"/>
      <p:bldP spid="28" grpId="0" animBg="1"/>
      <p:bldP spid="29" grpId="0" animBg="1"/>
      <p:bldP spid="30" grpId="0" animBg="1"/>
      <p:bldP spid="31" grpId="0" animBg="1"/>
      <p:bldP spid="32" grpId="0" animBg="1"/>
      <p:bldP spid="33" grpId="0" animBg="1"/>
      <p:bldP spid="34"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vert="horz" wrap="square" lIns="324000" tIns="45720" rIns="91440" bIns="45720" rtlCol="0" anchor="ctr">
              <a:spAutoFit/>
            </a:bodyPr>
            <a:lstStyle>
              <a:defPPr>
                <a:defRPr lang="en-US"/>
              </a:defPPr>
              <a:lvl1pPr>
                <a:spcBef>
                  <a:spcPct val="0"/>
                </a:spcBef>
                <a:buNone/>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a:t>Sketching transformed graphs</a:t>
              </a:r>
            </a:p>
          </p:txBody>
        </p:sp>
        <p:cxnSp>
          <p:nvCxnSpPr>
            <p:cNvPr id="4" name="Straight Connector 3"/>
            <p:cNvCxnSpPr/>
            <p:nvPr/>
          </p:nvCxnSpPr>
          <p:spPr>
            <a:xfrm>
              <a:off x="218" y="601079"/>
              <a:ext cx="9144000" cy="0"/>
            </a:xfrm>
            <a:prstGeom prst="line">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mc:Choice xmlns:a14="http://schemas.microsoft.com/office/drawing/2010/main" Requires="a14">
          <p:sp>
            <p:nvSpPr>
              <p:cNvPr id="6" name="TextBox 5"/>
              <p:cNvSpPr txBox="1"/>
              <p:nvPr/>
            </p:nvSpPr>
            <p:spPr>
              <a:xfrm>
                <a:off x="251520" y="790951"/>
                <a:ext cx="3856023" cy="369332"/>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a:t>Sketch </a:t>
                </a:r>
                <a14:m>
                  <m:oMath xmlns:m="http://schemas.openxmlformats.org/officeDocument/2006/math">
                    <m:r>
                      <a:rPr lang="en-GB" b="0" i="1" smtClean="0">
                        <a:latin typeface="Cambria Math" panose="02040503050406030204" pitchFamily="18" charset="0"/>
                      </a:rPr>
                      <m:t>𝑦</m:t>
                    </m:r>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2</m:t>
                        </m:r>
                      </m:sup>
                    </m:sSup>
                    <m:r>
                      <a:rPr lang="en-GB" b="0" i="1" smtClean="0">
                        <a:latin typeface="Cambria Math" panose="02040503050406030204" pitchFamily="18" charset="0"/>
                      </a:rPr>
                      <m:t>+3</m:t>
                    </m:r>
                  </m:oMath>
                </a14:m>
                <a:endParaRPr lang="en-GB"/>
              </a:p>
            </p:txBody>
          </p:sp>
        </mc:Choice>
        <mc:Fallback>
          <p:sp>
            <p:nvSpPr>
              <p:cNvPr id="6" name="TextBox 5"/>
              <p:cNvSpPr txBox="1">
                <a:spLocks noRot="1" noChangeAspect="1" noMove="1" noResize="1" noEditPoints="1" noAdjustHandles="1" noChangeArrowheads="1" noChangeShapeType="1" noTextEdit="1"/>
              </p:cNvSpPr>
              <p:nvPr/>
            </p:nvSpPr>
            <p:spPr>
              <a:xfrm>
                <a:off x="251520" y="790951"/>
                <a:ext cx="3856023" cy="369332"/>
              </a:xfrm>
              <a:prstGeom prst="rect">
                <a:avLst/>
              </a:prstGeom>
              <a:blipFill>
                <a:blip r:embed="rId2"/>
                <a:stretch>
                  <a:fillRect b="-4878"/>
                </a:stretch>
              </a:blipFill>
              <a:effectLst>
                <a:outerShdw blurRad="63500" sx="102000" sy="102000" algn="ctr" rotWithShape="0">
                  <a:prstClr val="black">
                    <a:alpha val="40000"/>
                  </a:prstClr>
                </a:outerShdw>
              </a:effectLst>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 name="TextBox 6"/>
              <p:cNvSpPr txBox="1"/>
              <p:nvPr/>
            </p:nvSpPr>
            <p:spPr>
              <a:xfrm>
                <a:off x="221365" y="1383747"/>
                <a:ext cx="3871664" cy="1662250"/>
              </a:xfrm>
              <a:prstGeom prst="rect">
                <a:avLst/>
              </a:prstGeom>
              <a:noFill/>
            </p:spPr>
            <p:txBody>
              <a:bodyPr wrap="square" rtlCol="0">
                <a:spAutoFit/>
              </a:bodyPr>
              <a:lstStyle/>
              <a:p>
                <a:r>
                  <a:rPr lang="en-GB"/>
                  <a:t>If </a:t>
                </a:r>
                <a14:m>
                  <m:oMath xmlns:m="http://schemas.openxmlformats.org/officeDocument/2006/math">
                    <m:r>
                      <a:rPr lang="en-GB" b="0" i="1" smtClean="0">
                        <a:latin typeface="Cambria Math" panose="02040503050406030204" pitchFamily="18" charset="0"/>
                      </a:rPr>
                      <m:t>𝑦</m:t>
                    </m:r>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2</m:t>
                        </m:r>
                      </m:sup>
                    </m:sSup>
                  </m:oMath>
                </a14:m>
                <a:r>
                  <a:rPr lang="en-GB"/>
                  <a:t>, the +3 is ‘outside’ the squared function, so translation of </a:t>
                </a:r>
                <a14:m>
                  <m:oMath xmlns:m="http://schemas.openxmlformats.org/officeDocument/2006/math">
                    <m:d>
                      <m:dPr>
                        <m:ctrlPr>
                          <a:rPr lang="en-GB" b="0" i="1" smtClean="0">
                            <a:latin typeface="Cambria Math" panose="02040503050406030204" pitchFamily="18" charset="0"/>
                          </a:rPr>
                        </m:ctrlPr>
                      </m:dPr>
                      <m:e>
                        <m:m>
                          <m:mPr>
                            <m:plcHide m:val="on"/>
                            <m:mcs>
                              <m:mc>
                                <m:mcPr>
                                  <m:count m:val="1"/>
                                  <m:mcJc m:val="center"/>
                                </m:mcPr>
                              </m:mc>
                            </m:mcs>
                            <m:ctrlPr>
                              <a:rPr lang="en-GB" b="0" i="1" smtClean="0">
                                <a:latin typeface="Cambria Math" panose="02040503050406030204" pitchFamily="18" charset="0"/>
                              </a:rPr>
                            </m:ctrlPr>
                          </m:mPr>
                          <m:mr>
                            <m:e>
                              <m:r>
                                <a:rPr lang="en-GB" b="0" i="1" smtClean="0">
                                  <a:latin typeface="Cambria Math" panose="02040503050406030204" pitchFamily="18" charset="0"/>
                                </a:rPr>
                                <m:t>0</m:t>
                              </m:r>
                            </m:e>
                          </m:mr>
                          <m:mr>
                            <m:e>
                              <m:r>
                                <a:rPr lang="en-GB" b="0" i="1" smtClean="0">
                                  <a:latin typeface="Cambria Math" panose="02040503050406030204" pitchFamily="18" charset="0"/>
                                </a:rPr>
                                <m:t>3</m:t>
                              </m:r>
                            </m:e>
                          </m:mr>
                        </m:m>
                      </m:e>
                    </m:d>
                  </m:oMath>
                </a14:m>
                <a:r>
                  <a:rPr lang="en-GB"/>
                  <a:t>.</a:t>
                </a:r>
              </a:p>
              <a:p>
                <a:r>
                  <a:rPr lang="en-GB"/>
                  <a:t>Imagine a sketch of </a:t>
                </a:r>
                <a14:m>
                  <m:oMath xmlns:m="http://schemas.openxmlformats.org/officeDocument/2006/math">
                    <m:r>
                      <a:rPr lang="en-GB" b="0" i="1" smtClean="0">
                        <a:latin typeface="Cambria Math" panose="02040503050406030204" pitchFamily="18" charset="0"/>
                      </a:rPr>
                      <m:t>𝑦</m:t>
                    </m:r>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2</m:t>
                        </m:r>
                      </m:sup>
                    </m:sSup>
                  </m:oMath>
                </a14:m>
                <a:r>
                  <a:rPr lang="en-GB"/>
                  <a:t> and then do the translation, ensuring you adjust any intercepts with the axes.</a:t>
                </a:r>
              </a:p>
            </p:txBody>
          </p:sp>
        </mc:Choice>
        <mc:Fallback>
          <p:sp>
            <p:nvSpPr>
              <p:cNvPr id="7" name="TextBox 6"/>
              <p:cNvSpPr txBox="1">
                <a:spLocks noRot="1" noChangeAspect="1" noMove="1" noResize="1" noEditPoints="1" noAdjustHandles="1" noChangeArrowheads="1" noChangeShapeType="1" noTextEdit="1"/>
              </p:cNvSpPr>
              <p:nvPr/>
            </p:nvSpPr>
            <p:spPr>
              <a:xfrm>
                <a:off x="221365" y="1383747"/>
                <a:ext cx="3871664" cy="1662250"/>
              </a:xfrm>
              <a:prstGeom prst="rect">
                <a:avLst/>
              </a:prstGeom>
              <a:blipFill>
                <a:blip r:embed="rId3"/>
                <a:stretch>
                  <a:fillRect l="-1307" t="-752" r="-327" b="-4511"/>
                </a:stretch>
              </a:blipFill>
            </p:spPr>
            <p:txBody>
              <a:bodyPr/>
              <a:lstStyle/>
              <a:p>
                <a:r>
                  <a:rPr lang="en-US">
                    <a:noFill/>
                  </a:rPr>
                  <a:t> </a:t>
                </a:r>
              </a:p>
            </p:txBody>
          </p:sp>
        </mc:Fallback>
      </mc:AlternateContent>
      <p:cxnSp>
        <p:nvCxnSpPr>
          <p:cNvPr id="8" name="Straight Arrow Connector 7"/>
          <p:cNvCxnSpPr/>
          <p:nvPr/>
        </p:nvCxnSpPr>
        <p:spPr>
          <a:xfrm>
            <a:off x="742189" y="5695882"/>
            <a:ext cx="2952328" cy="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9" name="Straight Arrow Connector 8"/>
          <p:cNvCxnSpPr/>
          <p:nvPr/>
        </p:nvCxnSpPr>
        <p:spPr>
          <a:xfrm flipV="1">
            <a:off x="2182349" y="3751666"/>
            <a:ext cx="0" cy="2664296"/>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10" name="Freeform 17"/>
          <p:cNvSpPr/>
          <p:nvPr/>
        </p:nvSpPr>
        <p:spPr>
          <a:xfrm>
            <a:off x="925808" y="3596166"/>
            <a:ext cx="2576223" cy="1665799"/>
          </a:xfrm>
          <a:custGeom>
            <a:avLst/>
            <a:gdLst>
              <a:gd name="connsiteX0" fmla="*/ 0 w 2576223"/>
              <a:gd name="connsiteY0" fmla="*/ 0 h 1665799"/>
              <a:gd name="connsiteX1" fmla="*/ 230588 w 2576223"/>
              <a:gd name="connsiteY1" fmla="*/ 707666 h 1665799"/>
              <a:gd name="connsiteX2" fmla="*/ 620202 w 2576223"/>
              <a:gd name="connsiteY2" fmla="*/ 1343770 h 1665799"/>
              <a:gd name="connsiteX3" fmla="*/ 1033670 w 2576223"/>
              <a:gd name="connsiteY3" fmla="*/ 1614115 h 1665799"/>
              <a:gd name="connsiteX4" fmla="*/ 1248355 w 2576223"/>
              <a:gd name="connsiteY4" fmla="*/ 1653871 h 1665799"/>
              <a:gd name="connsiteX5" fmla="*/ 1510748 w 2576223"/>
              <a:gd name="connsiteY5" fmla="*/ 1622066 h 1665799"/>
              <a:gd name="connsiteX6" fmla="*/ 1852654 w 2576223"/>
              <a:gd name="connsiteY6" fmla="*/ 1455088 h 1665799"/>
              <a:gd name="connsiteX7" fmla="*/ 2242268 w 2576223"/>
              <a:gd name="connsiteY7" fmla="*/ 1033669 h 1665799"/>
              <a:gd name="connsiteX8" fmla="*/ 2472856 w 2576223"/>
              <a:gd name="connsiteY8" fmla="*/ 453224 h 1665799"/>
              <a:gd name="connsiteX9" fmla="*/ 2576223 w 2576223"/>
              <a:gd name="connsiteY9" fmla="*/ 31805 h 1665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76223" h="1665799">
                <a:moveTo>
                  <a:pt x="0" y="0"/>
                </a:moveTo>
                <a:cubicBezTo>
                  <a:pt x="63610" y="241852"/>
                  <a:pt x="127221" y="483704"/>
                  <a:pt x="230588" y="707666"/>
                </a:cubicBezTo>
                <a:cubicBezTo>
                  <a:pt x="333955" y="931628"/>
                  <a:pt x="486355" y="1192695"/>
                  <a:pt x="620202" y="1343770"/>
                </a:cubicBezTo>
                <a:cubicBezTo>
                  <a:pt x="754049" y="1494845"/>
                  <a:pt x="928978" y="1562431"/>
                  <a:pt x="1033670" y="1614115"/>
                </a:cubicBezTo>
                <a:cubicBezTo>
                  <a:pt x="1138362" y="1665799"/>
                  <a:pt x="1168842" y="1652546"/>
                  <a:pt x="1248355" y="1653871"/>
                </a:cubicBezTo>
                <a:cubicBezTo>
                  <a:pt x="1327868" y="1655196"/>
                  <a:pt x="1410032" y="1655197"/>
                  <a:pt x="1510748" y="1622066"/>
                </a:cubicBezTo>
                <a:cubicBezTo>
                  <a:pt x="1611465" y="1588936"/>
                  <a:pt x="1730734" y="1553154"/>
                  <a:pt x="1852654" y="1455088"/>
                </a:cubicBezTo>
                <a:cubicBezTo>
                  <a:pt x="1974574" y="1357022"/>
                  <a:pt x="2138901" y="1200646"/>
                  <a:pt x="2242268" y="1033669"/>
                </a:cubicBezTo>
                <a:cubicBezTo>
                  <a:pt x="2345635" y="866692"/>
                  <a:pt x="2417197" y="620201"/>
                  <a:pt x="2472856" y="453224"/>
                </a:cubicBezTo>
                <a:cubicBezTo>
                  <a:pt x="2528515" y="286247"/>
                  <a:pt x="2552369" y="159026"/>
                  <a:pt x="2576223" y="31805"/>
                </a:cubicBezTo>
              </a:path>
            </a:pathLst>
          </a:custGeom>
          <a:effectLst/>
        </p:spPr>
        <p:style>
          <a:lnRef idx="2">
            <a:schemeClr val="accent1"/>
          </a:lnRef>
          <a:fillRef idx="0">
            <a:schemeClr val="accent1"/>
          </a:fillRef>
          <a:effectRef idx="1">
            <a:schemeClr val="accent1"/>
          </a:effectRef>
          <a:fontRef idx="minor">
            <a:schemeClr val="tx1"/>
          </a:fontRef>
        </p:style>
        <p:txBody>
          <a:bodyPr rtlCol="0" anchor="ctr"/>
          <a:lstStyle/>
          <a:p>
            <a:pPr algn="ctr"/>
            <a:r>
              <a:rPr lang="en-GB"/>
              <a:t> </a:t>
            </a:r>
          </a:p>
        </p:txBody>
      </p:sp>
      <p:sp>
        <p:nvSpPr>
          <p:cNvPr id="11" name="TextBox 10"/>
          <p:cNvSpPr txBox="1"/>
          <p:nvPr/>
        </p:nvSpPr>
        <p:spPr>
          <a:xfrm>
            <a:off x="3622509" y="5479858"/>
            <a:ext cx="360040" cy="369332"/>
          </a:xfrm>
          <a:prstGeom prst="rect">
            <a:avLst/>
          </a:prstGeom>
          <a:noFill/>
        </p:spPr>
        <p:txBody>
          <a:bodyPr wrap="square" rtlCol="0">
            <a:spAutoFit/>
          </a:bodyPr>
          <a:lstStyle/>
          <a:p>
            <a:r>
              <a:rPr lang="en-GB"/>
              <a:t>x</a:t>
            </a:r>
          </a:p>
        </p:txBody>
      </p:sp>
      <p:sp>
        <p:nvSpPr>
          <p:cNvPr id="12" name="TextBox 11"/>
          <p:cNvSpPr txBox="1"/>
          <p:nvPr/>
        </p:nvSpPr>
        <p:spPr>
          <a:xfrm>
            <a:off x="1966325" y="3463634"/>
            <a:ext cx="360040" cy="369332"/>
          </a:xfrm>
          <a:prstGeom prst="rect">
            <a:avLst/>
          </a:prstGeom>
          <a:noFill/>
        </p:spPr>
        <p:txBody>
          <a:bodyPr wrap="square" rtlCol="0">
            <a:spAutoFit/>
          </a:bodyPr>
          <a:lstStyle/>
          <a:p>
            <a:r>
              <a:rPr lang="en-GB"/>
              <a:t>y</a:t>
            </a:r>
          </a:p>
        </p:txBody>
      </p:sp>
      <mc:AlternateContent xmlns:mc="http://schemas.openxmlformats.org/markup-compatibility/2006">
        <mc:Choice xmlns:a14="http://schemas.microsoft.com/office/drawing/2010/main" Requires="a14">
          <p:sp>
            <p:nvSpPr>
              <p:cNvPr id="13" name="TextBox 12"/>
              <p:cNvSpPr txBox="1"/>
              <p:nvPr/>
            </p:nvSpPr>
            <p:spPr>
              <a:xfrm rot="17864820">
                <a:off x="2237194" y="4170346"/>
                <a:ext cx="1462522" cy="369332"/>
              </a:xfrm>
              <a:prstGeom prst="rect">
                <a:avLst/>
              </a:prstGeom>
              <a:noFill/>
            </p:spPr>
            <p:txBody>
              <a:bodyPr wrap="square" rtlCol="0">
                <a:spAutoFit/>
              </a:bodyPr>
              <a:lstStyle/>
              <a:p>
                <a:pPr/>
                <a14:m>
                  <m:oMathPara xmlns:m="http://schemas.openxmlformats.org/officeDocument/2006/math">
                    <m:oMath>
                      <m:r>
                        <a:rPr lang="en-GB" b="0" i="1" smtClean="0">
                          <a:latin typeface="Cambria Math" panose="02040503050406030204" pitchFamily="18" charset="0"/>
                        </a:rPr>
                        <m:t>𝑦</m:t>
                      </m:r>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2</m:t>
                          </m:r>
                        </m:sup>
                      </m:sSup>
                      <m:r>
                        <a:rPr lang="en-GB" b="0" i="1" smtClean="0">
                          <a:latin typeface="Cambria Math" panose="02040503050406030204" pitchFamily="18" charset="0"/>
                        </a:rPr>
                        <m:t>+3</m:t>
                      </m:r>
                    </m:oMath>
                  </m:oMathPara>
                </a14:m>
                <a:endParaRPr lang="en-GB"/>
              </a:p>
            </p:txBody>
          </p:sp>
        </mc:Choice>
        <mc:Fallback>
          <p:sp>
            <p:nvSpPr>
              <p:cNvPr id="13" name="TextBox 12"/>
              <p:cNvSpPr txBox="1">
                <a:spLocks noRot="1" noChangeAspect="1" noMove="1" noResize="1" noEditPoints="1" noAdjustHandles="1" noChangeArrowheads="1" noChangeShapeType="1" noTextEdit="1"/>
              </p:cNvSpPr>
              <p:nvPr/>
            </p:nvSpPr>
            <p:spPr>
              <a:xfrm rot="17864820">
                <a:off x="2237194" y="4170346"/>
                <a:ext cx="1462522" cy="369332"/>
              </a:xfrm>
              <a:prstGeom prst="rect">
                <a:avLst/>
              </a:prstGeom>
              <a:blipFill>
                <a:blip r:embed="rId4"/>
                <a:stretch>
                  <a:fillRect/>
                </a:stretch>
              </a:blipFill>
            </p:spPr>
            <p:txBody>
              <a:bodyPr/>
              <a:lstStyle/>
              <a:p>
                <a:r>
                  <a:rPr lang="en-US">
                    <a:noFill/>
                  </a:rPr>
                  <a:t> </a:t>
                </a:r>
              </a:p>
            </p:txBody>
          </p:sp>
        </mc:Fallback>
      </mc:AlternateContent>
      <p:sp>
        <p:nvSpPr>
          <p:cNvPr id="15" name="TextBox 14"/>
          <p:cNvSpPr txBox="1"/>
          <p:nvPr/>
        </p:nvSpPr>
        <p:spPr>
          <a:xfrm>
            <a:off x="1923910" y="4928137"/>
            <a:ext cx="391609" cy="369332"/>
          </a:xfrm>
          <a:prstGeom prst="rect">
            <a:avLst/>
          </a:prstGeom>
          <a:noFill/>
        </p:spPr>
        <p:txBody>
          <a:bodyPr wrap="square" rtlCol="0">
            <a:spAutoFit/>
          </a:bodyPr>
          <a:lstStyle/>
          <a:p>
            <a:r>
              <a:rPr lang="en-GB"/>
              <a:t>3</a:t>
            </a:r>
          </a:p>
        </p:txBody>
      </p:sp>
      <p:sp>
        <p:nvSpPr>
          <p:cNvPr id="14" name="Rectangle 13"/>
          <p:cNvSpPr/>
          <p:nvPr/>
        </p:nvSpPr>
        <p:spPr>
          <a:xfrm>
            <a:off x="257709" y="1294689"/>
            <a:ext cx="3846286" cy="5087984"/>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mc:AlternateContent xmlns:mc="http://schemas.openxmlformats.org/markup-compatibility/2006">
        <mc:Choice xmlns:a14="http://schemas.microsoft.com/office/drawing/2010/main" Requires="a14">
          <p:sp>
            <p:nvSpPr>
              <p:cNvPr id="16" name="TextBox 15"/>
              <p:cNvSpPr txBox="1"/>
              <p:nvPr/>
            </p:nvSpPr>
            <p:spPr>
              <a:xfrm>
                <a:off x="4571428" y="732894"/>
                <a:ext cx="3856023" cy="484941"/>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a:t>Sketch </a:t>
                </a:r>
                <a14:m>
                  <m:oMath xmlns:m="http://schemas.openxmlformats.org/officeDocument/2006/math">
                    <m:r>
                      <a:rPr lang="en-GB" b="0" i="1" smtClean="0">
                        <a:latin typeface="Cambria Math" panose="02040503050406030204" pitchFamily="18" charset="0"/>
                      </a:rPr>
                      <m:t>𝑦</m:t>
                    </m:r>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2</m:t>
                        </m:r>
                      </m:num>
                      <m:den>
                        <m:r>
                          <a:rPr lang="en-GB" b="0" i="1" smtClean="0">
                            <a:latin typeface="Cambria Math" panose="02040503050406030204" pitchFamily="18" charset="0"/>
                          </a:rPr>
                          <m:t>𝑥</m:t>
                        </m:r>
                        <m:r>
                          <a:rPr lang="en-GB" b="0" i="1" smtClean="0">
                            <a:latin typeface="Cambria Math" panose="02040503050406030204" pitchFamily="18" charset="0"/>
                          </a:rPr>
                          <m:t>+1</m:t>
                        </m:r>
                      </m:den>
                    </m:f>
                  </m:oMath>
                </a14:m>
                <a:endParaRPr lang="en-GB"/>
              </a:p>
            </p:txBody>
          </p:sp>
        </mc:Choice>
        <mc:Fallback>
          <p:sp>
            <p:nvSpPr>
              <p:cNvPr id="16" name="TextBox 15"/>
              <p:cNvSpPr txBox="1">
                <a:spLocks noRot="1" noChangeAspect="1" noMove="1" noResize="1" noEditPoints="1" noAdjustHandles="1" noChangeArrowheads="1" noChangeShapeType="1" noTextEdit="1"/>
              </p:cNvSpPr>
              <p:nvPr/>
            </p:nvSpPr>
            <p:spPr>
              <a:xfrm>
                <a:off x="4571428" y="732894"/>
                <a:ext cx="3856023" cy="484941"/>
              </a:xfrm>
              <a:prstGeom prst="rect">
                <a:avLst/>
              </a:prstGeom>
              <a:blipFill>
                <a:blip r:embed="rId5"/>
                <a:stretch>
                  <a:fillRect/>
                </a:stretch>
              </a:blipFill>
              <a:effectLst>
                <a:outerShdw blurRad="63500" sx="102000" sy="102000" algn="ctr" rotWithShape="0">
                  <a:prstClr val="black">
                    <a:alpha val="40000"/>
                  </a:prstClr>
                </a:outerShdw>
              </a:effectLst>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 name="TextBox 16"/>
              <p:cNvSpPr txBox="1"/>
              <p:nvPr/>
            </p:nvSpPr>
            <p:spPr>
              <a:xfrm>
                <a:off x="4565928" y="1419251"/>
                <a:ext cx="4182536" cy="1315938"/>
              </a:xfrm>
              <a:prstGeom prst="rect">
                <a:avLst/>
              </a:prstGeom>
              <a:noFill/>
            </p:spPr>
            <p:txBody>
              <a:bodyPr wrap="square" rtlCol="0">
                <a:spAutoFit/>
              </a:bodyPr>
              <a:lstStyle/>
              <a:p>
                <a:r>
                  <a:rPr lang="en-GB"/>
                  <a:t>This looks like a reciprocal function </a:t>
                </a:r>
                <a14:m>
                  <m:oMath xmlns:m="http://schemas.openxmlformats.org/officeDocument/2006/math">
                    <m:r>
                      <a:rPr lang="en-GB" b="0" i="1" smtClean="0">
                        <a:latin typeface="Cambria Math" panose="02040503050406030204" pitchFamily="18" charset="0"/>
                      </a:rPr>
                      <m:t>𝑦</m:t>
                    </m:r>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2</m:t>
                        </m:r>
                      </m:num>
                      <m:den>
                        <m:r>
                          <a:rPr lang="en-GB" b="0" i="1" smtClean="0">
                            <a:latin typeface="Cambria Math" panose="02040503050406030204" pitchFamily="18" charset="0"/>
                          </a:rPr>
                          <m:t>𝑥</m:t>
                        </m:r>
                      </m:den>
                    </m:f>
                  </m:oMath>
                </a14:m>
                <a:r>
                  <a:rPr lang="en-GB"/>
                  <a:t>.</a:t>
                </a:r>
              </a:p>
              <a:p>
                <a:r>
                  <a:rPr lang="en-GB"/>
                  <a:t>The change of +1 is </a:t>
                </a:r>
                <a:r>
                  <a:rPr lang="en-GB" i="1"/>
                  <a:t>inside</a:t>
                </a:r>
                <a:r>
                  <a:rPr lang="en-GB"/>
                  <a:t> the reciprocal function, so we have a translation to the left by 1.</a:t>
                </a:r>
              </a:p>
            </p:txBody>
          </p:sp>
        </mc:Choice>
        <mc:Fallback>
          <p:sp>
            <p:nvSpPr>
              <p:cNvPr id="17" name="TextBox 16"/>
              <p:cNvSpPr txBox="1">
                <a:spLocks noRot="1" noChangeAspect="1" noMove="1" noResize="1" noEditPoints="1" noAdjustHandles="1" noChangeArrowheads="1" noChangeShapeType="1" noTextEdit="1"/>
              </p:cNvSpPr>
              <p:nvPr/>
            </p:nvSpPr>
            <p:spPr>
              <a:xfrm>
                <a:off x="4565928" y="1419251"/>
                <a:ext cx="4182536" cy="1315938"/>
              </a:xfrm>
              <a:prstGeom prst="rect">
                <a:avLst/>
              </a:prstGeom>
              <a:blipFill>
                <a:blip r:embed="rId6"/>
                <a:stretch>
                  <a:fillRect l="-1212" b="-6667"/>
                </a:stretch>
              </a:blipFill>
            </p:spPr>
            <p:txBody>
              <a:bodyPr/>
              <a:lstStyle/>
              <a:p>
                <a:r>
                  <a:rPr lang="en-US">
                    <a:noFill/>
                  </a:rPr>
                  <a:t> </a:t>
                </a:r>
              </a:p>
            </p:txBody>
          </p:sp>
        </mc:Fallback>
      </mc:AlternateContent>
      <p:cxnSp>
        <p:nvCxnSpPr>
          <p:cNvPr id="18" name="Straight Arrow Connector 17"/>
          <p:cNvCxnSpPr/>
          <p:nvPr/>
        </p:nvCxnSpPr>
        <p:spPr>
          <a:xfrm>
            <a:off x="5072239" y="4787958"/>
            <a:ext cx="2952328" cy="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9" name="Straight Arrow Connector 18"/>
          <p:cNvCxnSpPr/>
          <p:nvPr/>
        </p:nvCxnSpPr>
        <p:spPr>
          <a:xfrm flipV="1">
            <a:off x="6526913" y="3264656"/>
            <a:ext cx="0" cy="2664296"/>
          </a:xfrm>
          <a:prstGeom prst="straightConnector1">
            <a:avLst/>
          </a:prstGeom>
          <a:ln>
            <a:tailEnd type="arrow"/>
          </a:ln>
        </p:spPr>
        <p:style>
          <a:lnRef idx="2">
            <a:schemeClr val="dk1"/>
          </a:lnRef>
          <a:fillRef idx="0">
            <a:schemeClr val="dk1"/>
          </a:fillRef>
          <a:effectRef idx="1">
            <a:schemeClr val="dk1"/>
          </a:effectRef>
          <a:fontRef idx="minor">
            <a:schemeClr val="tx1"/>
          </a:fontRef>
        </p:style>
      </p:cxnSp>
      <mc:AlternateContent xmlns:mc="http://schemas.openxmlformats.org/markup-compatibility/2006">
        <mc:Choice xmlns:a14="http://schemas.microsoft.com/office/drawing/2010/main" Requires="a14">
          <p:sp>
            <p:nvSpPr>
              <p:cNvPr id="21" name="TextBox 20"/>
              <p:cNvSpPr txBox="1"/>
              <p:nvPr/>
            </p:nvSpPr>
            <p:spPr>
              <a:xfrm>
                <a:off x="7977706" y="4579696"/>
                <a:ext cx="360040" cy="369332"/>
              </a:xfrm>
              <a:prstGeom prst="rect">
                <a:avLst/>
              </a:prstGeom>
              <a:noFill/>
            </p:spPr>
            <p:txBody>
              <a:bodyPr wrap="square" rtlCol="0">
                <a:spAutoFit/>
              </a:bodyPr>
              <a:lstStyle/>
              <a:p>
                <a:pPr/>
                <a14:m>
                  <m:oMathPara xmlns:m="http://schemas.openxmlformats.org/officeDocument/2006/math">
                    <m:oMath>
                      <m:r>
                        <a:rPr lang="en-GB" i="1" dirty="0" smtClean="0">
                          <a:latin typeface="Cambria Math" panose="02040503050406030204" pitchFamily="18" charset="0"/>
                        </a:rPr>
                        <m:t>𝑥</m:t>
                      </m:r>
                    </m:oMath>
                  </m:oMathPara>
                </a14:m>
                <a:endParaRPr lang="en-GB"/>
              </a:p>
            </p:txBody>
          </p:sp>
        </mc:Choice>
        <mc:Fallback>
          <p:sp>
            <p:nvSpPr>
              <p:cNvPr id="21" name="TextBox 20"/>
              <p:cNvSpPr txBox="1">
                <a:spLocks noRot="1" noChangeAspect="1" noMove="1" noResize="1" noEditPoints="1" noAdjustHandles="1" noChangeArrowheads="1" noChangeShapeType="1" noTextEdit="1"/>
              </p:cNvSpPr>
              <p:nvPr/>
            </p:nvSpPr>
            <p:spPr>
              <a:xfrm>
                <a:off x="7977706" y="4579696"/>
                <a:ext cx="360040"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2" name="TextBox 21"/>
              <p:cNvSpPr txBox="1"/>
              <p:nvPr/>
            </p:nvSpPr>
            <p:spPr>
              <a:xfrm>
                <a:off x="6332154" y="2893082"/>
                <a:ext cx="360040" cy="369332"/>
              </a:xfrm>
              <a:prstGeom prst="rect">
                <a:avLst/>
              </a:prstGeom>
              <a:noFill/>
            </p:spPr>
            <p:txBody>
              <a:bodyPr wrap="square" rtlCol="0">
                <a:spAutoFit/>
              </a:bodyPr>
              <a:lstStyle/>
              <a:p>
                <a:pPr/>
                <a14:m>
                  <m:oMathPara xmlns:m="http://schemas.openxmlformats.org/officeDocument/2006/math">
                    <m:oMath>
                      <m:r>
                        <a:rPr lang="en-GB" i="1" dirty="0" smtClean="0">
                          <a:latin typeface="Cambria Math" panose="02040503050406030204" pitchFamily="18" charset="0"/>
                        </a:rPr>
                        <m:t>𝑦</m:t>
                      </m:r>
                    </m:oMath>
                  </m:oMathPara>
                </a14:m>
                <a:endParaRPr lang="en-GB"/>
              </a:p>
            </p:txBody>
          </p:sp>
        </mc:Choice>
        <mc:Fallback>
          <p:sp>
            <p:nvSpPr>
              <p:cNvPr id="22" name="TextBox 21"/>
              <p:cNvSpPr txBox="1">
                <a:spLocks noRot="1" noChangeAspect="1" noMove="1" noResize="1" noEditPoints="1" noAdjustHandles="1" noChangeArrowheads="1" noChangeShapeType="1" noTextEdit="1"/>
              </p:cNvSpPr>
              <p:nvPr/>
            </p:nvSpPr>
            <p:spPr>
              <a:xfrm>
                <a:off x="6332154" y="2893082"/>
                <a:ext cx="360040" cy="369332"/>
              </a:xfrm>
              <a:prstGeom prst="rect">
                <a:avLst/>
              </a:prstGeom>
              <a:blipFill>
                <a:blip r:embed="rId8"/>
                <a:stretch>
                  <a:fillRect b="-1034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3" name="TextBox 22"/>
              <p:cNvSpPr txBox="1"/>
              <p:nvPr/>
            </p:nvSpPr>
            <p:spPr>
              <a:xfrm rot="16200000">
                <a:off x="5210159" y="3364758"/>
                <a:ext cx="1462522" cy="307777"/>
              </a:xfrm>
              <a:prstGeom prst="rect">
                <a:avLst/>
              </a:prstGeom>
              <a:noFill/>
            </p:spPr>
            <p:txBody>
              <a:bodyPr wrap="square" rtlCol="0">
                <a:spAutoFit/>
              </a:bodyPr>
              <a:lstStyle/>
              <a:p>
                <a:pPr/>
                <a14:m>
                  <m:oMathPara xmlns:m="http://schemas.openxmlformats.org/officeDocument/2006/math">
                    <m:oMath>
                      <m:r>
                        <a:rPr lang="en-GB" sz="1400" b="0" i="1" smtClean="0">
                          <a:latin typeface="Cambria Math" panose="02040503050406030204" pitchFamily="18" charset="0"/>
                        </a:rPr>
                        <m:t>𝑥</m:t>
                      </m:r>
                      <m:r>
                        <a:rPr lang="en-GB" sz="1400" b="0" i="1" smtClean="0">
                          <a:latin typeface="Cambria Math" panose="02040503050406030204" pitchFamily="18" charset="0"/>
                        </a:rPr>
                        <m:t>=−1</m:t>
                      </m:r>
                    </m:oMath>
                  </m:oMathPara>
                </a14:m>
                <a:endParaRPr lang="en-GB"/>
              </a:p>
            </p:txBody>
          </p:sp>
        </mc:Choice>
        <mc:Fallback>
          <p:sp>
            <p:nvSpPr>
              <p:cNvPr id="23" name="TextBox 22"/>
              <p:cNvSpPr txBox="1">
                <a:spLocks noRot="1" noChangeAspect="1" noMove="1" noResize="1" noEditPoints="1" noAdjustHandles="1" noChangeArrowheads="1" noChangeShapeType="1" noTextEdit="1"/>
              </p:cNvSpPr>
              <p:nvPr/>
            </p:nvSpPr>
            <p:spPr>
              <a:xfrm rot="16200000">
                <a:off x="5210159" y="3364758"/>
                <a:ext cx="1462522" cy="307777"/>
              </a:xfrm>
              <a:prstGeom prst="rect">
                <a:avLst/>
              </a:prstGeom>
              <a:blipFill>
                <a:blip r:embed="rId9"/>
                <a:stretch>
                  <a:fillRect/>
                </a:stretch>
              </a:blipFill>
            </p:spPr>
            <p:txBody>
              <a:bodyPr/>
              <a:lstStyle/>
              <a:p>
                <a:r>
                  <a:rPr lang="en-US">
                    <a:noFill/>
                  </a:rPr>
                  <a:t> </a:t>
                </a:r>
              </a:p>
            </p:txBody>
          </p:sp>
        </mc:Fallback>
      </mc:AlternateContent>
      <p:sp>
        <p:nvSpPr>
          <p:cNvPr id="24" name="TextBox 23"/>
          <p:cNvSpPr txBox="1"/>
          <p:nvPr/>
        </p:nvSpPr>
        <p:spPr>
          <a:xfrm>
            <a:off x="6279107" y="4325687"/>
            <a:ext cx="391609" cy="369332"/>
          </a:xfrm>
          <a:prstGeom prst="rect">
            <a:avLst/>
          </a:prstGeom>
          <a:noFill/>
        </p:spPr>
        <p:txBody>
          <a:bodyPr wrap="square" rtlCol="0">
            <a:spAutoFit/>
          </a:bodyPr>
          <a:lstStyle/>
          <a:p>
            <a:r>
              <a:rPr lang="en-GB"/>
              <a:t>2</a:t>
            </a:r>
          </a:p>
        </p:txBody>
      </p:sp>
      <p:cxnSp>
        <p:nvCxnSpPr>
          <p:cNvPr id="26" name="Straight Connector 25"/>
          <p:cNvCxnSpPr/>
          <p:nvPr/>
        </p:nvCxnSpPr>
        <p:spPr>
          <a:xfrm>
            <a:off x="6086588" y="3230516"/>
            <a:ext cx="0" cy="2830882"/>
          </a:xfrm>
          <a:prstGeom prst="line">
            <a:avLst/>
          </a:prstGeom>
          <a:ln>
            <a:prstDash val="dash"/>
          </a:ln>
        </p:spPr>
        <p:style>
          <a:lnRef idx="1">
            <a:schemeClr val="dk1"/>
          </a:lnRef>
          <a:fillRef idx="0">
            <a:schemeClr val="dk1"/>
          </a:fillRef>
          <a:effectRef idx="0">
            <a:schemeClr val="dk1"/>
          </a:effectRef>
          <a:fontRef idx="minor">
            <a:schemeClr val="tx1"/>
          </a:fontRef>
        </p:style>
      </p:cxnSp>
      <p:sp>
        <p:nvSpPr>
          <p:cNvPr id="27" name="Freeform: Shape 26"/>
          <p:cNvSpPr/>
          <p:nvPr/>
        </p:nvSpPr>
        <p:spPr>
          <a:xfrm>
            <a:off x="6166884" y="3179135"/>
            <a:ext cx="1626781" cy="1552353"/>
          </a:xfrm>
          <a:custGeom>
            <a:avLst/>
            <a:gdLst>
              <a:gd name="connsiteX0" fmla="*/ 0 w 1626781"/>
              <a:gd name="connsiteY0" fmla="*/ 0 h 1552353"/>
              <a:gd name="connsiteX1" fmla="*/ 350874 w 1626781"/>
              <a:gd name="connsiteY1" fmla="*/ 1265274 h 1552353"/>
              <a:gd name="connsiteX2" fmla="*/ 1626781 w 1626781"/>
              <a:gd name="connsiteY2" fmla="*/ 1552353 h 1552353"/>
            </a:gdLst>
            <a:ahLst/>
            <a:cxnLst>
              <a:cxn ang="0">
                <a:pos x="connsiteX0" y="connsiteY0"/>
              </a:cxn>
              <a:cxn ang="0">
                <a:pos x="connsiteX1" y="connsiteY1"/>
              </a:cxn>
              <a:cxn ang="0">
                <a:pos x="connsiteX2" y="connsiteY2"/>
              </a:cxn>
            </a:cxnLst>
            <a:rect l="l" t="t" r="r" b="b"/>
            <a:pathLst>
              <a:path w="1626781" h="1552353">
                <a:moveTo>
                  <a:pt x="0" y="0"/>
                </a:moveTo>
                <a:cubicBezTo>
                  <a:pt x="39872" y="503274"/>
                  <a:pt x="79744" y="1006549"/>
                  <a:pt x="350874" y="1265274"/>
                </a:cubicBezTo>
                <a:cubicBezTo>
                  <a:pt x="622004" y="1523999"/>
                  <a:pt x="1124392" y="1538176"/>
                  <a:pt x="1626781" y="1552353"/>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Freeform: Shape 27"/>
          <p:cNvSpPr/>
          <p:nvPr/>
        </p:nvSpPr>
        <p:spPr>
          <a:xfrm>
            <a:off x="4901609" y="4848447"/>
            <a:ext cx="1127051" cy="1180213"/>
          </a:xfrm>
          <a:custGeom>
            <a:avLst/>
            <a:gdLst>
              <a:gd name="connsiteX0" fmla="*/ 0 w 1127051"/>
              <a:gd name="connsiteY0" fmla="*/ 0 h 1180213"/>
              <a:gd name="connsiteX1" fmla="*/ 882503 w 1127051"/>
              <a:gd name="connsiteY1" fmla="*/ 223283 h 1180213"/>
              <a:gd name="connsiteX2" fmla="*/ 1127051 w 1127051"/>
              <a:gd name="connsiteY2" fmla="*/ 1180213 h 1180213"/>
            </a:gdLst>
            <a:ahLst/>
            <a:cxnLst>
              <a:cxn ang="0">
                <a:pos x="connsiteX0" y="connsiteY0"/>
              </a:cxn>
              <a:cxn ang="0">
                <a:pos x="connsiteX1" y="connsiteY1"/>
              </a:cxn>
              <a:cxn ang="0">
                <a:pos x="connsiteX2" y="connsiteY2"/>
              </a:cxn>
            </a:cxnLst>
            <a:rect l="l" t="t" r="r" b="b"/>
            <a:pathLst>
              <a:path w="1127051" h="1180213">
                <a:moveTo>
                  <a:pt x="0" y="0"/>
                </a:moveTo>
                <a:cubicBezTo>
                  <a:pt x="347330" y="13290"/>
                  <a:pt x="694661" y="26581"/>
                  <a:pt x="882503" y="223283"/>
                </a:cubicBezTo>
                <a:cubicBezTo>
                  <a:pt x="1070345" y="419985"/>
                  <a:pt x="1098698" y="800099"/>
                  <a:pt x="1127051" y="1180213"/>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TextBox 28"/>
          <p:cNvSpPr txBox="1"/>
          <p:nvPr/>
        </p:nvSpPr>
        <p:spPr>
          <a:xfrm>
            <a:off x="7007219" y="2936240"/>
            <a:ext cx="1892232" cy="1384995"/>
          </a:xfrm>
          <a:prstGeom prst="rect">
            <a:avLst/>
          </a:prstGeom>
          <a:noFill/>
        </p:spPr>
        <p:txBody>
          <a:bodyPr wrap="square" rtlCol="0">
            <a:spAutoFit/>
          </a:bodyPr>
          <a:lstStyle/>
          <a:p>
            <a:r>
              <a:rPr lang="en-GB" sz="1400"/>
              <a:t>The transformation might result in new intercepts or roots. You can find these in the usual way. </a:t>
            </a:r>
            <a:r>
              <a:rPr lang="en-GB" sz="1400" b="1" u="sng"/>
              <a:t>Do not forget them!</a:t>
            </a:r>
          </a:p>
        </p:txBody>
      </p:sp>
      <p:cxnSp>
        <p:nvCxnSpPr>
          <p:cNvPr id="31" name="Straight Arrow Connector 30"/>
          <p:cNvCxnSpPr/>
          <p:nvPr/>
        </p:nvCxnSpPr>
        <p:spPr>
          <a:xfrm flipH="1">
            <a:off x="6655981" y="4005064"/>
            <a:ext cx="351238" cy="3330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32" name="TextBox 31"/>
              <p:cNvSpPr txBox="1"/>
              <p:nvPr/>
            </p:nvSpPr>
            <p:spPr>
              <a:xfrm>
                <a:off x="7001844" y="4985912"/>
                <a:ext cx="1892232" cy="1169551"/>
              </a:xfrm>
              <a:prstGeom prst="rect">
                <a:avLst/>
              </a:prstGeom>
              <a:noFill/>
            </p:spPr>
            <p:txBody>
              <a:bodyPr wrap="square" rtlCol="0">
                <a:spAutoFit/>
              </a:bodyPr>
              <a:lstStyle/>
              <a:p>
                <a:r>
                  <a:rPr lang="en-GB" sz="1400"/>
                  <a:t>The asymptotes were previously </a:t>
                </a:r>
                <a14:m>
                  <m:oMath xmlns:m="http://schemas.openxmlformats.org/officeDocument/2006/math">
                    <m:r>
                      <a:rPr lang="en-GB" sz="1400" b="0" i="1" smtClean="0">
                        <a:latin typeface="Cambria Math" panose="02040503050406030204" pitchFamily="18" charset="0"/>
                      </a:rPr>
                      <m:t>𝑥</m:t>
                    </m:r>
                    <m:r>
                      <a:rPr lang="en-GB" sz="1400" b="0" i="1" smtClean="0">
                        <a:latin typeface="Cambria Math" panose="02040503050406030204" pitchFamily="18" charset="0"/>
                      </a:rPr>
                      <m:t>=0</m:t>
                    </m:r>
                  </m:oMath>
                </a14:m>
                <a:r>
                  <a:rPr lang="en-GB" sz="1400"/>
                  <a:t> and </a:t>
                </a:r>
                <a14:m>
                  <m:oMath xmlns:m="http://schemas.openxmlformats.org/officeDocument/2006/math">
                    <m:r>
                      <a:rPr lang="en-GB" sz="1400" b="0" i="1" smtClean="0">
                        <a:latin typeface="Cambria Math" panose="02040503050406030204" pitchFamily="18" charset="0"/>
                      </a:rPr>
                      <m:t>𝑦</m:t>
                    </m:r>
                    <m:r>
                      <a:rPr lang="en-GB" sz="1400" b="0" i="1" smtClean="0">
                        <a:latin typeface="Cambria Math" panose="02040503050406030204" pitchFamily="18" charset="0"/>
                      </a:rPr>
                      <m:t>=0</m:t>
                    </m:r>
                  </m:oMath>
                </a14:m>
                <a:r>
                  <a:rPr lang="en-GB" sz="1400"/>
                  <a:t>. The latter is unaffected but the former is now </a:t>
                </a:r>
                <a14:m>
                  <m:oMath xmlns:m="http://schemas.openxmlformats.org/officeDocument/2006/math">
                    <m:r>
                      <a:rPr lang="en-GB" sz="1400" b="0" i="1" smtClean="0">
                        <a:latin typeface="Cambria Math" panose="02040503050406030204" pitchFamily="18" charset="0"/>
                      </a:rPr>
                      <m:t>𝑥</m:t>
                    </m:r>
                    <m:r>
                      <a:rPr lang="en-GB" sz="1400" b="0" i="1" smtClean="0">
                        <a:latin typeface="Cambria Math" panose="02040503050406030204" pitchFamily="18" charset="0"/>
                      </a:rPr>
                      <m:t>=−1</m:t>
                    </m:r>
                  </m:oMath>
                </a14:m>
                <a:r>
                  <a:rPr lang="en-GB" sz="1400"/>
                  <a:t>. </a:t>
                </a:r>
              </a:p>
            </p:txBody>
          </p:sp>
        </mc:Choice>
        <mc:Fallback>
          <p:sp>
            <p:nvSpPr>
              <p:cNvPr id="32" name="TextBox 31"/>
              <p:cNvSpPr txBox="1">
                <a:spLocks noRot="1" noChangeAspect="1" noMove="1" noResize="1" noEditPoints="1" noAdjustHandles="1" noChangeArrowheads="1" noChangeShapeType="1" noTextEdit="1"/>
              </p:cNvSpPr>
              <p:nvPr/>
            </p:nvSpPr>
            <p:spPr>
              <a:xfrm>
                <a:off x="7001844" y="4985912"/>
                <a:ext cx="1892232" cy="1169551"/>
              </a:xfrm>
              <a:prstGeom prst="rect">
                <a:avLst/>
              </a:prstGeom>
              <a:blipFill>
                <a:blip r:embed="rId10"/>
                <a:stretch>
                  <a:fillRect l="-1333" t="-1075" b="-5376"/>
                </a:stretch>
              </a:blipFill>
            </p:spPr>
            <p:txBody>
              <a:bodyPr/>
              <a:lstStyle/>
              <a:p>
                <a:r>
                  <a:rPr lang="en-US">
                    <a:noFill/>
                  </a:rPr>
                  <a:t> </a:t>
                </a:r>
              </a:p>
            </p:txBody>
          </p:sp>
        </mc:Fallback>
      </mc:AlternateContent>
      <p:sp>
        <p:nvSpPr>
          <p:cNvPr id="33" name="Rectangle 32"/>
          <p:cNvSpPr/>
          <p:nvPr/>
        </p:nvSpPr>
        <p:spPr>
          <a:xfrm>
            <a:off x="6432698" y="6146746"/>
            <a:ext cx="2614133" cy="523220"/>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a:spAutoFit/>
          </a:bodyPr>
          <a:lstStyle/>
          <a:p>
            <a:r>
              <a:rPr lang="en-GB" sz="1400"/>
              <a:t>Draw asymptotes using a dotted line and write its equation on it.</a:t>
            </a:r>
          </a:p>
        </p:txBody>
      </p:sp>
      <p:cxnSp>
        <p:nvCxnSpPr>
          <p:cNvPr id="34" name="Straight Arrow Connector 33"/>
          <p:cNvCxnSpPr/>
          <p:nvPr/>
        </p:nvCxnSpPr>
        <p:spPr>
          <a:xfrm flipH="1" flipV="1">
            <a:off x="6209414" y="5178056"/>
            <a:ext cx="721451" cy="31628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6" name="Rectangle 35"/>
          <p:cNvSpPr/>
          <p:nvPr/>
        </p:nvSpPr>
        <p:spPr>
          <a:xfrm>
            <a:off x="4565927" y="1351601"/>
            <a:ext cx="4514277" cy="5336277"/>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Tree>
    <p:extLst>
      <p:ext uri="{BB962C8B-B14F-4D97-AF65-F5344CB8AC3E}">
        <p14:creationId xmlns:p14="http://schemas.microsoft.com/office/powerpoint/2010/main" val="1284447944"/>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4"/>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4"/>
                                        </p:tgtEl>
                                      </p:cBhvr>
                                    </p:animEffect>
                                    <p:set>
                                      <p:cBhvr>
                                        <p:cTn id="7" dur="1" fill="hold">
                                          <p:stCondLst>
                                            <p:cond delay="499"/>
                                          </p:stCondLst>
                                        </p:cTn>
                                        <p:tgtEl>
                                          <p:spTgt spid="14"/>
                                        </p:tgtEl>
                                        <p:attrNameLst>
                                          <p:attrName>style.visibility</p:attrName>
                                        </p:attrNameLst>
                                      </p:cBhvr>
                                      <p:to>
                                        <p:strVal val="hidden"/>
                                      </p:to>
                                    </p:set>
                                  </p:childTnLst>
                                </p:cTn>
                              </p:par>
                            </p:childTnLst>
                          </p:cTn>
                        </p:par>
                      </p:childTnLst>
                    </p:cTn>
                  </p:par>
                </p:childTnLst>
              </p:cTn>
              <p:nextCondLst>
                <p:cond evt="onClick" delay="0">
                  <p:tgtEl>
                    <p:spTgt spid="14"/>
                  </p:tgtEl>
                </p:cond>
              </p:nextCondLst>
            </p:seq>
            <p:seq concurrent="1" nextAc="seek">
              <p:cTn id="8" restart="whenNotActive" fill="hold" evtFilter="cancelBubble" nodeType="interactiveSeq">
                <p:stCondLst>
                  <p:cond evt="onClick" delay="0">
                    <p:tgtEl>
                      <p:spTgt spid="36"/>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36"/>
                                        </p:tgtEl>
                                      </p:cBhvr>
                                    </p:animEffect>
                                    <p:set>
                                      <p:cBhvr>
                                        <p:cTn id="13" dur="1" fill="hold">
                                          <p:stCondLst>
                                            <p:cond delay="499"/>
                                          </p:stCondLst>
                                        </p:cTn>
                                        <p:tgtEl>
                                          <p:spTgt spid="36"/>
                                        </p:tgtEl>
                                        <p:attrNameLst>
                                          <p:attrName>style.visibility</p:attrName>
                                        </p:attrNameLst>
                                      </p:cBhvr>
                                      <p:to>
                                        <p:strVal val="hidden"/>
                                      </p:to>
                                    </p:set>
                                  </p:childTnLst>
                                </p:cTn>
                              </p:par>
                            </p:childTnLst>
                          </p:cTn>
                        </p:par>
                      </p:childTnLst>
                    </p:cTn>
                  </p:par>
                </p:childTnLst>
              </p:cTn>
              <p:nextCondLst>
                <p:cond evt="onClick" delay="0">
                  <p:tgtEl>
                    <p:spTgt spid="36"/>
                  </p:tgtEl>
                </p:cond>
              </p:nextCondLst>
            </p:seq>
          </p:childTnLst>
        </p:cTn>
      </p:par>
    </p:tnLst>
    <p:bldLst>
      <p:bldP spid="14" grpId="0" animBg="1"/>
      <p:bldP spid="36"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Freeform: Shape 18"/>
          <p:cNvSpPr/>
          <p:nvPr/>
        </p:nvSpPr>
        <p:spPr>
          <a:xfrm>
            <a:off x="595423" y="3402419"/>
            <a:ext cx="2317898" cy="1829136"/>
          </a:xfrm>
          <a:custGeom>
            <a:avLst/>
            <a:gdLst>
              <a:gd name="connsiteX0" fmla="*/ 0 w 2317898"/>
              <a:gd name="connsiteY0" fmla="*/ 0 h 1829136"/>
              <a:gd name="connsiteX1" fmla="*/ 829340 w 2317898"/>
              <a:gd name="connsiteY1" fmla="*/ 1531088 h 1829136"/>
              <a:gd name="connsiteX2" fmla="*/ 1222744 w 2317898"/>
              <a:gd name="connsiteY2" fmla="*/ 1828800 h 1829136"/>
              <a:gd name="connsiteX3" fmla="*/ 1626782 w 2317898"/>
              <a:gd name="connsiteY3" fmla="*/ 1520455 h 1829136"/>
              <a:gd name="connsiteX4" fmla="*/ 2317898 w 2317898"/>
              <a:gd name="connsiteY4" fmla="*/ 74428 h 18291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7898" h="1829136">
                <a:moveTo>
                  <a:pt x="0" y="0"/>
                </a:moveTo>
                <a:cubicBezTo>
                  <a:pt x="312774" y="613144"/>
                  <a:pt x="625549" y="1226288"/>
                  <a:pt x="829340" y="1531088"/>
                </a:cubicBezTo>
                <a:cubicBezTo>
                  <a:pt x="1033131" y="1835888"/>
                  <a:pt x="1089837" y="1830572"/>
                  <a:pt x="1222744" y="1828800"/>
                </a:cubicBezTo>
                <a:cubicBezTo>
                  <a:pt x="1355651" y="1827028"/>
                  <a:pt x="1444256" y="1812850"/>
                  <a:pt x="1626782" y="1520455"/>
                </a:cubicBezTo>
                <a:cubicBezTo>
                  <a:pt x="1809308" y="1228060"/>
                  <a:pt x="2063603" y="651244"/>
                  <a:pt x="2317898" y="74428"/>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vert="horz" wrap="square" lIns="324000" tIns="45720" rIns="91440" bIns="45720" rtlCol="0" anchor="ctr">
              <a:spAutoFit/>
            </a:bodyPr>
            <a:lstStyle>
              <a:defPPr>
                <a:defRPr lang="en-US"/>
              </a:defPPr>
              <a:lvl1pPr>
                <a:spcBef>
                  <a:spcPct val="0"/>
                </a:spcBef>
                <a:buNone/>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a:t>More Examples</a:t>
              </a:r>
            </a:p>
          </p:txBody>
        </p:sp>
        <p:cxnSp>
          <p:nvCxnSpPr>
            <p:cNvPr id="4" name="Straight Connector 3"/>
            <p:cNvCxnSpPr/>
            <p:nvPr/>
          </p:nvCxnSpPr>
          <p:spPr>
            <a:xfrm>
              <a:off x="218" y="601079"/>
              <a:ext cx="9144000" cy="0"/>
            </a:xfrm>
            <a:prstGeom prst="line">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mc:Choice xmlns:a14="http://schemas.microsoft.com/office/drawing/2010/main" Requires="a14">
          <p:sp>
            <p:nvSpPr>
              <p:cNvPr id="5" name="TextBox 4"/>
              <p:cNvSpPr txBox="1"/>
              <p:nvPr/>
            </p:nvSpPr>
            <p:spPr>
              <a:xfrm>
                <a:off x="251520" y="790951"/>
                <a:ext cx="3856023" cy="923330"/>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a:t>Sketch </a:t>
                </a:r>
                <a14:m>
                  <m:oMath xmlns:m="http://schemas.openxmlformats.org/officeDocument/2006/math">
                    <m:r>
                      <a:rPr lang="en-GB" b="0" i="1" smtClean="0">
                        <a:latin typeface="Cambria Math" panose="02040503050406030204" pitchFamily="18" charset="0"/>
                      </a:rPr>
                      <m:t>𝑦</m:t>
                    </m:r>
                    <m:r>
                      <a:rPr lang="en-GB" b="0" i="1" smtClean="0">
                        <a:latin typeface="Cambria Math" panose="02040503050406030204" pitchFamily="18" charset="0"/>
                      </a:rPr>
                      <m:t>=</m:t>
                    </m:r>
                    <m:r>
                      <a:rPr lang="en-GB" b="0" i="1" smtClean="0">
                        <a:latin typeface="Cambria Math" panose="02040503050406030204" pitchFamily="18" charset="0"/>
                      </a:rPr>
                      <m:t>𝑥</m:t>
                    </m:r>
                    <m:r>
                      <a:rPr lang="en-GB" b="0" i="1" smtClean="0">
                        <a:latin typeface="Cambria Math" panose="02040503050406030204" pitchFamily="18" charset="0"/>
                      </a:rPr>
                      <m:t>(</m:t>
                    </m:r>
                    <m:r>
                      <a:rPr lang="en-GB" b="0" i="1" smtClean="0">
                        <a:latin typeface="Cambria Math" panose="02040503050406030204" pitchFamily="18" charset="0"/>
                      </a:rPr>
                      <m:t>𝑥</m:t>
                    </m:r>
                    <m:r>
                      <a:rPr lang="en-GB" b="0" i="1" smtClean="0">
                        <a:latin typeface="Cambria Math" panose="02040503050406030204" pitchFamily="18" charset="0"/>
                      </a:rPr>
                      <m:t>+2)</m:t>
                    </m:r>
                  </m:oMath>
                </a14:m>
                <a:r>
                  <a:rPr lang="en-GB"/>
                  <a:t>. On the same axes, sketch </a:t>
                </a:r>
                <a14:m>
                  <m:oMath xmlns:m="http://schemas.openxmlformats.org/officeDocument/2006/math">
                    <m:r>
                      <a:rPr lang="en-GB" b="0" i="1" smtClean="0">
                        <a:latin typeface="Cambria Math" panose="02040503050406030204" pitchFamily="18" charset="0"/>
                      </a:rPr>
                      <m:t>𝑦</m:t>
                    </m:r>
                    <m:r>
                      <a:rPr lang="en-GB" b="0" i="1" smtClean="0">
                        <a:latin typeface="Cambria Math" panose="02040503050406030204" pitchFamily="18" charset="0"/>
                      </a:rPr>
                      <m:t>=</m:t>
                    </m:r>
                    <m:d>
                      <m:dPr>
                        <m:ctrlPr>
                          <a:rPr lang="en-GB" b="0" i="1" smtClean="0">
                            <a:latin typeface="Cambria Math" panose="02040503050406030204" pitchFamily="18" charset="0"/>
                          </a:rPr>
                        </m:ctrlPr>
                      </m:dPr>
                      <m:e>
                        <m:r>
                          <a:rPr lang="en-GB" b="0" i="1" smtClean="0">
                            <a:latin typeface="Cambria Math" panose="02040503050406030204" pitchFamily="18" charset="0"/>
                          </a:rPr>
                          <m:t>𝑥</m:t>
                        </m:r>
                        <m:r>
                          <a:rPr lang="en-GB" b="0" i="1" smtClean="0">
                            <a:latin typeface="Cambria Math" panose="02040503050406030204" pitchFamily="18" charset="0"/>
                          </a:rPr>
                          <m:t>−</m:t>
                        </m:r>
                        <m:r>
                          <a:rPr lang="en-GB" b="0" i="1" smtClean="0">
                            <a:latin typeface="Cambria Math" panose="02040503050406030204" pitchFamily="18" charset="0"/>
                          </a:rPr>
                          <m:t>𝑎</m:t>
                        </m:r>
                      </m:e>
                    </m:d>
                    <m:d>
                      <m:dPr>
                        <m:ctrlPr>
                          <a:rPr lang="en-GB" b="0" i="1" smtClean="0">
                            <a:latin typeface="Cambria Math" panose="02040503050406030204" pitchFamily="18" charset="0"/>
                          </a:rPr>
                        </m:ctrlPr>
                      </m:dPr>
                      <m:e>
                        <m:r>
                          <a:rPr lang="en-GB" b="0" i="1" smtClean="0">
                            <a:latin typeface="Cambria Math" panose="02040503050406030204" pitchFamily="18" charset="0"/>
                          </a:rPr>
                          <m:t>𝑥</m:t>
                        </m:r>
                        <m:r>
                          <a:rPr lang="en-GB" b="0" i="1" smtClean="0">
                            <a:latin typeface="Cambria Math" panose="02040503050406030204" pitchFamily="18" charset="0"/>
                          </a:rPr>
                          <m:t>−</m:t>
                        </m:r>
                        <m:r>
                          <a:rPr lang="en-GB" b="0" i="1" smtClean="0">
                            <a:latin typeface="Cambria Math" panose="02040503050406030204" pitchFamily="18" charset="0"/>
                          </a:rPr>
                          <m:t>𝑎</m:t>
                        </m:r>
                        <m:r>
                          <a:rPr lang="en-GB" b="0" i="1" smtClean="0">
                            <a:latin typeface="Cambria Math" panose="02040503050406030204" pitchFamily="18" charset="0"/>
                          </a:rPr>
                          <m:t>+2</m:t>
                        </m:r>
                      </m:e>
                    </m:d>
                  </m:oMath>
                </a14:m>
                <a:r>
                  <a:rPr lang="en-GB"/>
                  <a:t>, where </a:t>
                </a:r>
                <a14:m>
                  <m:oMath xmlns:m="http://schemas.openxmlformats.org/officeDocument/2006/math">
                    <m:r>
                      <a:rPr lang="en-GB" b="0" i="1" smtClean="0">
                        <a:latin typeface="Cambria Math" panose="02040503050406030204" pitchFamily="18" charset="0"/>
                      </a:rPr>
                      <m:t>𝑎</m:t>
                    </m:r>
                    <m:r>
                      <a:rPr lang="en-GB" b="0" i="1" smtClean="0">
                        <a:latin typeface="Cambria Math" panose="02040503050406030204" pitchFamily="18" charset="0"/>
                      </a:rPr>
                      <m:t>&gt;2</m:t>
                    </m:r>
                  </m:oMath>
                </a14:m>
                <a:r>
                  <a:rPr lang="en-GB"/>
                  <a:t>.</a:t>
                </a:r>
              </a:p>
            </p:txBody>
          </p:sp>
        </mc:Choice>
        <mc:Fallback>
          <p:sp>
            <p:nvSpPr>
              <p:cNvPr id="5" name="TextBox 4"/>
              <p:cNvSpPr txBox="1">
                <a:spLocks noRot="1" noChangeAspect="1" noMove="1" noResize="1" noEditPoints="1" noAdjustHandles="1" noChangeArrowheads="1" noChangeShapeType="1" noTextEdit="1"/>
              </p:cNvSpPr>
              <p:nvPr/>
            </p:nvSpPr>
            <p:spPr>
              <a:xfrm>
                <a:off x="251520" y="790951"/>
                <a:ext cx="3856023" cy="923330"/>
              </a:xfrm>
              <a:prstGeom prst="rect">
                <a:avLst/>
              </a:prstGeom>
              <a:blipFill>
                <a:blip r:embed="rId2"/>
                <a:stretch>
                  <a:fillRect b="-2353"/>
                </a:stretch>
              </a:blipFill>
              <a:effectLst>
                <a:outerShdw blurRad="63500" sx="102000" sy="102000" algn="ctr" rotWithShape="0">
                  <a:prstClr val="black">
                    <a:alpha val="40000"/>
                  </a:prstClr>
                </a:outerShdw>
              </a:effectLst>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 name="TextBox 5"/>
              <p:cNvSpPr txBox="1"/>
              <p:nvPr/>
            </p:nvSpPr>
            <p:spPr>
              <a:xfrm>
                <a:off x="279647" y="1749804"/>
                <a:ext cx="3871664" cy="1231106"/>
              </a:xfrm>
              <a:prstGeom prst="rect">
                <a:avLst/>
              </a:prstGeom>
              <a:noFill/>
            </p:spPr>
            <p:txBody>
              <a:bodyPr wrap="square" rtlCol="0">
                <a:spAutoFit/>
              </a:bodyPr>
              <a:lstStyle/>
              <a:p>
                <a:r>
                  <a:rPr lang="en-GB" sz="1400"/>
                  <a:t>The </a:t>
                </a:r>
                <a:r>
                  <a:rPr lang="en-GB" sz="1400" b="1" u="sng"/>
                  <a:t>input</a:t>
                </a:r>
                <a:r>
                  <a:rPr lang="en-GB" sz="1400"/>
                  <a:t> </a:t>
                </a:r>
                <a14:m>
                  <m:oMath xmlns:m="http://schemas.openxmlformats.org/officeDocument/2006/math">
                    <m:r>
                      <a:rPr lang="en-GB" sz="1400" b="0" i="1" smtClean="0">
                        <a:latin typeface="Cambria Math" panose="02040503050406030204" pitchFamily="18" charset="0"/>
                      </a:rPr>
                      <m:t>𝑥</m:t>
                    </m:r>
                  </m:oMath>
                </a14:m>
                <a:r>
                  <a:rPr lang="en-GB" sz="1400"/>
                  <a:t> has been replaced with </a:t>
                </a:r>
                <a14:m>
                  <m:oMath xmlns:m="http://schemas.openxmlformats.org/officeDocument/2006/math">
                    <m:r>
                      <a:rPr lang="en-GB" sz="1400" b="0" i="1" smtClean="0">
                        <a:latin typeface="Cambria Math" panose="02040503050406030204" pitchFamily="18" charset="0"/>
                      </a:rPr>
                      <m:t>𝑥</m:t>
                    </m:r>
                    <m:r>
                      <a:rPr lang="en-GB" sz="1400" b="0" i="1" smtClean="0">
                        <a:latin typeface="Cambria Math" panose="02040503050406030204" pitchFamily="18" charset="0"/>
                      </a:rPr>
                      <m:t>−</m:t>
                    </m:r>
                    <m:r>
                      <a:rPr lang="en-GB" sz="1400" b="0" i="1" smtClean="0">
                        <a:latin typeface="Cambria Math" panose="02040503050406030204" pitchFamily="18" charset="0"/>
                      </a:rPr>
                      <m:t>𝑎</m:t>
                    </m:r>
                  </m:oMath>
                </a14:m>
                <a:r>
                  <a:rPr lang="en-GB" sz="1400"/>
                  <a:t>, i.e. a change inside the function. We translate right by </a:t>
                </a:r>
                <a14:m>
                  <m:oMath xmlns:m="http://schemas.openxmlformats.org/officeDocument/2006/math">
                    <m:r>
                      <a:rPr lang="en-GB" sz="1400" b="0" i="1" smtClean="0">
                        <a:latin typeface="Cambria Math" panose="02040503050406030204" pitchFamily="18" charset="0"/>
                      </a:rPr>
                      <m:t>𝑎</m:t>
                    </m:r>
                  </m:oMath>
                </a14:m>
                <a:r>
                  <a:rPr lang="en-GB" sz="1400"/>
                  <a:t>. The significance of </a:t>
                </a:r>
                <a14:m>
                  <m:oMath xmlns:m="http://schemas.openxmlformats.org/officeDocument/2006/math">
                    <m:r>
                      <a:rPr lang="en-GB" sz="1400" b="0" i="1" smtClean="0">
                        <a:latin typeface="Cambria Math" panose="02040503050406030204" pitchFamily="18" charset="0"/>
                      </a:rPr>
                      <m:t>𝑎</m:t>
                    </m:r>
                    <m:r>
                      <a:rPr lang="en-GB" sz="1400" b="0" i="1" smtClean="0">
                        <a:latin typeface="Cambria Math" panose="02040503050406030204" pitchFamily="18" charset="0"/>
                      </a:rPr>
                      <m:t>&gt;2</m:t>
                    </m:r>
                  </m:oMath>
                </a14:m>
                <a:r>
                  <a:rPr lang="en-GB" sz="1400"/>
                  <a:t> is that the original root of -2 will now be positive.</a:t>
                </a:r>
              </a:p>
              <a:p>
                <a:endParaRPr lang="en-GB"/>
              </a:p>
            </p:txBody>
          </p:sp>
        </mc:Choice>
        <mc:Fallback>
          <p:sp>
            <p:nvSpPr>
              <p:cNvPr id="6" name="TextBox 5"/>
              <p:cNvSpPr txBox="1">
                <a:spLocks noRot="1" noChangeAspect="1" noMove="1" noResize="1" noEditPoints="1" noAdjustHandles="1" noChangeArrowheads="1" noChangeShapeType="1" noTextEdit="1"/>
              </p:cNvSpPr>
              <p:nvPr/>
            </p:nvSpPr>
            <p:spPr>
              <a:xfrm>
                <a:off x="279647" y="1749804"/>
                <a:ext cx="3871664" cy="1231106"/>
              </a:xfrm>
              <a:prstGeom prst="rect">
                <a:avLst/>
              </a:prstGeom>
              <a:blipFill>
                <a:blip r:embed="rId3"/>
                <a:stretch>
                  <a:fillRect l="-656" t="-1020"/>
                </a:stretch>
              </a:blipFill>
            </p:spPr>
            <p:txBody>
              <a:bodyPr/>
              <a:lstStyle/>
              <a:p>
                <a:r>
                  <a:rPr lang="en-US">
                    <a:noFill/>
                  </a:rPr>
                  <a:t> </a:t>
                </a:r>
              </a:p>
            </p:txBody>
          </p:sp>
        </mc:Fallback>
      </mc:AlternateContent>
      <p:cxnSp>
        <p:nvCxnSpPr>
          <p:cNvPr id="7" name="Straight Arrow Connector 6"/>
          <p:cNvCxnSpPr/>
          <p:nvPr/>
        </p:nvCxnSpPr>
        <p:spPr>
          <a:xfrm>
            <a:off x="487007" y="4930338"/>
            <a:ext cx="3516807" cy="755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8" name="Straight Arrow Connector 7"/>
          <p:cNvCxnSpPr/>
          <p:nvPr/>
        </p:nvCxnSpPr>
        <p:spPr>
          <a:xfrm flipV="1">
            <a:off x="2215479" y="3016433"/>
            <a:ext cx="0" cy="3508911"/>
          </a:xfrm>
          <a:prstGeom prst="straightConnector1">
            <a:avLst/>
          </a:prstGeom>
          <a:ln>
            <a:tailEnd type="arrow"/>
          </a:ln>
        </p:spPr>
        <p:style>
          <a:lnRef idx="2">
            <a:schemeClr val="dk1"/>
          </a:lnRef>
          <a:fillRef idx="0">
            <a:schemeClr val="dk1"/>
          </a:fillRef>
          <a:effectRef idx="1">
            <a:schemeClr val="dk1"/>
          </a:effectRef>
          <a:fontRef idx="minor">
            <a:schemeClr val="tx1"/>
          </a:fontRef>
        </p:style>
      </p:cxnSp>
      <mc:AlternateContent xmlns:mc="http://schemas.openxmlformats.org/markup-compatibility/2006">
        <mc:Choice xmlns:a14="http://schemas.microsoft.com/office/drawing/2010/main" Requires="a14">
          <p:sp>
            <p:nvSpPr>
              <p:cNvPr id="10" name="TextBox 9"/>
              <p:cNvSpPr txBox="1"/>
              <p:nvPr/>
            </p:nvSpPr>
            <p:spPr>
              <a:xfrm>
                <a:off x="3930853" y="4735579"/>
                <a:ext cx="360040" cy="369332"/>
              </a:xfrm>
              <a:prstGeom prst="rect">
                <a:avLst/>
              </a:prstGeom>
              <a:noFill/>
            </p:spPr>
            <p:txBody>
              <a:bodyPr wrap="square" rtlCol="0">
                <a:spAutoFit/>
              </a:bodyPr>
              <a:lstStyle/>
              <a:p>
                <a:pPr/>
                <a14:m>
                  <m:oMathPara xmlns:m="http://schemas.openxmlformats.org/officeDocument/2006/math">
                    <m:oMath>
                      <m:r>
                        <a:rPr lang="en-GB" i="1" dirty="0" smtClean="0">
                          <a:latin typeface="Cambria Math" panose="02040503050406030204" pitchFamily="18" charset="0"/>
                        </a:rPr>
                        <m:t>𝑥</m:t>
                      </m:r>
                    </m:oMath>
                  </m:oMathPara>
                </a14:m>
                <a:endParaRPr lang="en-GB"/>
              </a:p>
            </p:txBody>
          </p:sp>
        </mc:Choice>
        <mc:Fallback>
          <p:sp>
            <p:nvSpPr>
              <p:cNvPr id="10" name="TextBox 9"/>
              <p:cNvSpPr txBox="1">
                <a:spLocks noRot="1" noChangeAspect="1" noMove="1" noResize="1" noEditPoints="1" noAdjustHandles="1" noChangeArrowheads="1" noChangeShapeType="1" noTextEdit="1"/>
              </p:cNvSpPr>
              <p:nvPr/>
            </p:nvSpPr>
            <p:spPr>
              <a:xfrm>
                <a:off x="3930853" y="4735579"/>
                <a:ext cx="360040"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1" name="TextBox 10"/>
              <p:cNvSpPr txBox="1"/>
              <p:nvPr/>
            </p:nvSpPr>
            <p:spPr>
              <a:xfrm>
                <a:off x="2040753" y="2676825"/>
                <a:ext cx="360040" cy="369332"/>
              </a:xfrm>
              <a:prstGeom prst="rect">
                <a:avLst/>
              </a:prstGeom>
              <a:noFill/>
            </p:spPr>
            <p:txBody>
              <a:bodyPr wrap="square" rtlCol="0">
                <a:spAutoFit/>
              </a:bodyPr>
              <a:lstStyle/>
              <a:p>
                <a:pPr/>
                <a14:m>
                  <m:oMathPara xmlns:m="http://schemas.openxmlformats.org/officeDocument/2006/math">
                    <m:oMath>
                      <m:r>
                        <a:rPr lang="en-GB" i="1" dirty="0" smtClean="0">
                          <a:latin typeface="Cambria Math" panose="02040503050406030204" pitchFamily="18" charset="0"/>
                        </a:rPr>
                        <m:t>𝑦</m:t>
                      </m:r>
                    </m:oMath>
                  </m:oMathPara>
                </a14:m>
                <a:endParaRPr lang="en-GB"/>
              </a:p>
            </p:txBody>
          </p:sp>
        </mc:Choice>
        <mc:Fallback>
          <p:sp>
            <p:nvSpPr>
              <p:cNvPr id="11" name="TextBox 10"/>
              <p:cNvSpPr txBox="1">
                <a:spLocks noRot="1" noChangeAspect="1" noMove="1" noResize="1" noEditPoints="1" noAdjustHandles="1" noChangeArrowheads="1" noChangeShapeType="1" noTextEdit="1"/>
              </p:cNvSpPr>
              <p:nvPr/>
            </p:nvSpPr>
            <p:spPr>
              <a:xfrm>
                <a:off x="2040753" y="2676825"/>
                <a:ext cx="360040" cy="369332"/>
              </a:xfrm>
              <a:prstGeom prst="rect">
                <a:avLst/>
              </a:prstGeom>
              <a:blipFill>
                <a:blip r:embed="rId5"/>
                <a:stretch>
                  <a:fillRect b="-322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 name="TextBox 11"/>
              <p:cNvSpPr txBox="1"/>
              <p:nvPr/>
            </p:nvSpPr>
            <p:spPr>
              <a:xfrm rot="17653749">
                <a:off x="2182869" y="3684033"/>
                <a:ext cx="1462522" cy="276999"/>
              </a:xfrm>
              <a:prstGeom prst="rect">
                <a:avLst/>
              </a:prstGeom>
              <a:noFill/>
            </p:spPr>
            <p:txBody>
              <a:bodyPr wrap="square" rtlCol="0">
                <a:spAutoFit/>
              </a:bodyPr>
              <a:lstStyle/>
              <a:p>
                <a:pPr/>
                <a14:m>
                  <m:oMathPara xmlns:m="http://schemas.openxmlformats.org/officeDocument/2006/math">
                    <m:oMath>
                      <m:r>
                        <a:rPr lang="en-GB" sz="1200" b="0" i="1" smtClean="0">
                          <a:solidFill>
                            <a:schemeClr val="accent4"/>
                          </a:solidFill>
                          <a:latin typeface="Cambria Math" panose="02040503050406030204" pitchFamily="18" charset="0"/>
                        </a:rPr>
                        <m:t>𝑦</m:t>
                      </m:r>
                      <m:r>
                        <a:rPr lang="en-GB" sz="1200" b="0" i="1" smtClean="0">
                          <a:solidFill>
                            <a:schemeClr val="accent4"/>
                          </a:solidFill>
                          <a:latin typeface="Cambria Math" panose="02040503050406030204" pitchFamily="18" charset="0"/>
                        </a:rPr>
                        <m:t>=</m:t>
                      </m:r>
                      <m:r>
                        <a:rPr lang="en-GB" sz="1200" b="0" i="1" smtClean="0">
                          <a:solidFill>
                            <a:schemeClr val="accent4"/>
                          </a:solidFill>
                          <a:latin typeface="Cambria Math" panose="02040503050406030204" pitchFamily="18" charset="0"/>
                        </a:rPr>
                        <m:t>𝑥</m:t>
                      </m:r>
                      <m:d>
                        <m:dPr>
                          <m:ctrlPr>
                            <a:rPr lang="en-GB" sz="1200" b="0" i="1" smtClean="0">
                              <a:solidFill>
                                <a:schemeClr val="accent4"/>
                              </a:solidFill>
                              <a:latin typeface="Cambria Math" panose="02040503050406030204" pitchFamily="18" charset="0"/>
                            </a:rPr>
                          </m:ctrlPr>
                        </m:dPr>
                        <m:e>
                          <m:r>
                            <a:rPr lang="en-GB" sz="1200" b="0" i="1" smtClean="0">
                              <a:solidFill>
                                <a:schemeClr val="accent4"/>
                              </a:solidFill>
                              <a:latin typeface="Cambria Math" panose="02040503050406030204" pitchFamily="18" charset="0"/>
                            </a:rPr>
                            <m:t>𝑥</m:t>
                          </m:r>
                          <m:r>
                            <a:rPr lang="en-GB" sz="1200" b="0" i="1" smtClean="0">
                              <a:solidFill>
                                <a:schemeClr val="accent4"/>
                              </a:solidFill>
                              <a:latin typeface="Cambria Math" panose="02040503050406030204" pitchFamily="18" charset="0"/>
                            </a:rPr>
                            <m:t>+2</m:t>
                          </m:r>
                        </m:e>
                      </m:d>
                    </m:oMath>
                  </m:oMathPara>
                </a14:m>
                <a:endParaRPr lang="en-GB"/>
              </a:p>
            </p:txBody>
          </p:sp>
        </mc:Choice>
        <mc:Fallback>
          <p:sp>
            <p:nvSpPr>
              <p:cNvPr id="12" name="TextBox 11"/>
              <p:cNvSpPr txBox="1">
                <a:spLocks noRot="1" noChangeAspect="1" noMove="1" noResize="1" noEditPoints="1" noAdjustHandles="1" noChangeArrowheads="1" noChangeShapeType="1" noTextEdit="1"/>
              </p:cNvSpPr>
              <p:nvPr/>
            </p:nvSpPr>
            <p:spPr>
              <a:xfrm rot="17653749">
                <a:off x="2182869" y="3684033"/>
                <a:ext cx="1462522" cy="276999"/>
              </a:xfrm>
              <a:prstGeom prst="rect">
                <a:avLst/>
              </a:prstGeom>
              <a:blipFill>
                <a:blip r:embed="rId6"/>
                <a:stretch>
                  <a:fillRect/>
                </a:stretch>
              </a:blipFill>
            </p:spPr>
            <p:txBody>
              <a:bodyPr/>
              <a:lstStyle/>
              <a:p>
                <a:r>
                  <a:rPr lang="en-US">
                    <a:noFill/>
                  </a:rPr>
                  <a:t> </a:t>
                </a:r>
              </a:p>
            </p:txBody>
          </p:sp>
        </mc:Fallback>
      </mc:AlternateContent>
      <p:sp>
        <p:nvSpPr>
          <p:cNvPr id="13" name="TextBox 12"/>
          <p:cNvSpPr txBox="1"/>
          <p:nvPr/>
        </p:nvSpPr>
        <p:spPr>
          <a:xfrm>
            <a:off x="1164745" y="4877278"/>
            <a:ext cx="391609" cy="369332"/>
          </a:xfrm>
          <a:prstGeom prst="rect">
            <a:avLst/>
          </a:prstGeom>
          <a:noFill/>
        </p:spPr>
        <p:txBody>
          <a:bodyPr wrap="square" rtlCol="0">
            <a:spAutoFit/>
          </a:bodyPr>
          <a:lstStyle/>
          <a:p>
            <a:r>
              <a:rPr lang="en-GB"/>
              <a:t>-2</a:t>
            </a:r>
          </a:p>
        </p:txBody>
      </p:sp>
      <p:sp>
        <p:nvSpPr>
          <p:cNvPr id="20" name="Freeform: Shape 19"/>
          <p:cNvSpPr/>
          <p:nvPr/>
        </p:nvSpPr>
        <p:spPr>
          <a:xfrm>
            <a:off x="1668802" y="3409947"/>
            <a:ext cx="2317898" cy="1829136"/>
          </a:xfrm>
          <a:custGeom>
            <a:avLst/>
            <a:gdLst>
              <a:gd name="connsiteX0" fmla="*/ 0 w 2317898"/>
              <a:gd name="connsiteY0" fmla="*/ 0 h 1829136"/>
              <a:gd name="connsiteX1" fmla="*/ 829340 w 2317898"/>
              <a:gd name="connsiteY1" fmla="*/ 1531088 h 1829136"/>
              <a:gd name="connsiteX2" fmla="*/ 1222744 w 2317898"/>
              <a:gd name="connsiteY2" fmla="*/ 1828800 h 1829136"/>
              <a:gd name="connsiteX3" fmla="*/ 1626782 w 2317898"/>
              <a:gd name="connsiteY3" fmla="*/ 1520455 h 1829136"/>
              <a:gd name="connsiteX4" fmla="*/ 2317898 w 2317898"/>
              <a:gd name="connsiteY4" fmla="*/ 74428 h 18291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7898" h="1829136">
                <a:moveTo>
                  <a:pt x="0" y="0"/>
                </a:moveTo>
                <a:cubicBezTo>
                  <a:pt x="312774" y="613144"/>
                  <a:pt x="625549" y="1226288"/>
                  <a:pt x="829340" y="1531088"/>
                </a:cubicBezTo>
                <a:cubicBezTo>
                  <a:pt x="1033131" y="1835888"/>
                  <a:pt x="1089837" y="1830572"/>
                  <a:pt x="1222744" y="1828800"/>
                </a:cubicBezTo>
                <a:cubicBezTo>
                  <a:pt x="1355651" y="1827028"/>
                  <a:pt x="1444256" y="1812850"/>
                  <a:pt x="1626782" y="1520455"/>
                </a:cubicBezTo>
                <a:cubicBezTo>
                  <a:pt x="1809308" y="1228060"/>
                  <a:pt x="2063603" y="651244"/>
                  <a:pt x="2317898" y="74428"/>
                </a:cubicBezTo>
              </a:path>
            </a:pathLst>
          </a:cu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mc:Choice xmlns:a14="http://schemas.microsoft.com/office/drawing/2010/main" Requires="a14">
          <p:sp>
            <p:nvSpPr>
              <p:cNvPr id="21" name="TextBox 20"/>
              <p:cNvSpPr txBox="1"/>
              <p:nvPr/>
            </p:nvSpPr>
            <p:spPr>
              <a:xfrm rot="17708665">
                <a:off x="2743754" y="3767239"/>
                <a:ext cx="1815071" cy="276999"/>
              </a:xfrm>
              <a:prstGeom prst="rect">
                <a:avLst/>
              </a:prstGeom>
              <a:noFill/>
            </p:spPr>
            <p:txBody>
              <a:bodyPr wrap="square" rtlCol="0">
                <a:spAutoFit/>
              </a:bodyPr>
              <a:lstStyle/>
              <a:p>
                <a:pPr/>
                <a14:m>
                  <m:oMathPara xmlns:m="http://schemas.openxmlformats.org/officeDocument/2006/math">
                    <m:oMath>
                      <m:r>
                        <a:rPr lang="en-GB" sz="1200" b="0" i="1" smtClean="0">
                          <a:solidFill>
                            <a:schemeClr val="accent6"/>
                          </a:solidFill>
                          <a:latin typeface="Cambria Math" panose="02040503050406030204" pitchFamily="18" charset="0"/>
                        </a:rPr>
                        <m:t>𝑦</m:t>
                      </m:r>
                      <m:r>
                        <a:rPr lang="en-GB" sz="1200" b="0" i="1" smtClean="0">
                          <a:solidFill>
                            <a:schemeClr val="accent6"/>
                          </a:solidFill>
                          <a:latin typeface="Cambria Math" panose="02040503050406030204" pitchFamily="18" charset="0"/>
                        </a:rPr>
                        <m:t>=</m:t>
                      </m:r>
                      <m:d>
                        <m:dPr>
                          <m:ctrlPr>
                            <a:rPr lang="en-GB" sz="1200" b="0" i="1" smtClean="0">
                              <a:solidFill>
                                <a:schemeClr val="accent6"/>
                              </a:solidFill>
                              <a:latin typeface="Cambria Math" panose="02040503050406030204" pitchFamily="18" charset="0"/>
                            </a:rPr>
                          </m:ctrlPr>
                        </m:dPr>
                        <m:e>
                          <m:r>
                            <a:rPr lang="en-GB" sz="1200" b="0" i="1" smtClean="0">
                              <a:solidFill>
                                <a:schemeClr val="accent6"/>
                              </a:solidFill>
                              <a:latin typeface="Cambria Math" panose="02040503050406030204" pitchFamily="18" charset="0"/>
                            </a:rPr>
                            <m:t>𝑥</m:t>
                          </m:r>
                          <m:r>
                            <a:rPr lang="en-GB" sz="1200" b="0" i="1" smtClean="0">
                              <a:solidFill>
                                <a:schemeClr val="accent6"/>
                              </a:solidFill>
                              <a:latin typeface="Cambria Math" panose="02040503050406030204" pitchFamily="18" charset="0"/>
                            </a:rPr>
                            <m:t>−</m:t>
                          </m:r>
                          <m:r>
                            <a:rPr lang="en-GB" sz="1200" b="0" i="1" smtClean="0">
                              <a:solidFill>
                                <a:schemeClr val="accent6"/>
                              </a:solidFill>
                              <a:latin typeface="Cambria Math" panose="02040503050406030204" pitchFamily="18" charset="0"/>
                            </a:rPr>
                            <m:t>𝑎</m:t>
                          </m:r>
                        </m:e>
                      </m:d>
                      <m:d>
                        <m:dPr>
                          <m:ctrlPr>
                            <a:rPr lang="en-GB" sz="1200" b="0" i="1" smtClean="0">
                              <a:solidFill>
                                <a:schemeClr val="accent6"/>
                              </a:solidFill>
                              <a:latin typeface="Cambria Math" panose="02040503050406030204" pitchFamily="18" charset="0"/>
                            </a:rPr>
                          </m:ctrlPr>
                        </m:dPr>
                        <m:e>
                          <m:r>
                            <a:rPr lang="en-GB" sz="1200" b="0" i="1" smtClean="0">
                              <a:solidFill>
                                <a:schemeClr val="accent6"/>
                              </a:solidFill>
                              <a:latin typeface="Cambria Math" panose="02040503050406030204" pitchFamily="18" charset="0"/>
                            </a:rPr>
                            <m:t>𝑥</m:t>
                          </m:r>
                          <m:r>
                            <a:rPr lang="en-GB" sz="1200" b="0" i="1" smtClean="0">
                              <a:solidFill>
                                <a:schemeClr val="accent6"/>
                              </a:solidFill>
                              <a:latin typeface="Cambria Math" panose="02040503050406030204" pitchFamily="18" charset="0"/>
                            </a:rPr>
                            <m:t>−</m:t>
                          </m:r>
                          <m:r>
                            <a:rPr lang="en-GB" sz="1200" b="0" i="1" smtClean="0">
                              <a:solidFill>
                                <a:schemeClr val="accent6"/>
                              </a:solidFill>
                              <a:latin typeface="Cambria Math" panose="02040503050406030204" pitchFamily="18" charset="0"/>
                            </a:rPr>
                            <m:t>𝑎</m:t>
                          </m:r>
                          <m:r>
                            <a:rPr lang="en-GB" sz="1200" b="0" i="1" smtClean="0">
                              <a:solidFill>
                                <a:schemeClr val="accent6"/>
                              </a:solidFill>
                              <a:latin typeface="Cambria Math" panose="02040503050406030204" pitchFamily="18" charset="0"/>
                            </a:rPr>
                            <m:t>+2</m:t>
                          </m:r>
                        </m:e>
                      </m:d>
                    </m:oMath>
                  </m:oMathPara>
                </a14:m>
                <a:endParaRPr lang="en-GB"/>
              </a:p>
            </p:txBody>
          </p:sp>
        </mc:Choice>
        <mc:Fallback>
          <p:sp>
            <p:nvSpPr>
              <p:cNvPr id="21" name="TextBox 20"/>
              <p:cNvSpPr txBox="1">
                <a:spLocks noRot="1" noChangeAspect="1" noMove="1" noResize="1" noEditPoints="1" noAdjustHandles="1" noChangeArrowheads="1" noChangeShapeType="1" noTextEdit="1"/>
              </p:cNvSpPr>
              <p:nvPr/>
            </p:nvSpPr>
            <p:spPr>
              <a:xfrm rot="17708665">
                <a:off x="2743754" y="3767239"/>
                <a:ext cx="1815071" cy="276999"/>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2" name="TextBox 21"/>
              <p:cNvSpPr txBox="1"/>
              <p:nvPr/>
            </p:nvSpPr>
            <p:spPr>
              <a:xfrm>
                <a:off x="1301728" y="4338046"/>
                <a:ext cx="988179" cy="276999"/>
              </a:xfrm>
              <a:prstGeom prst="rect">
                <a:avLst/>
              </a:prstGeom>
              <a:noFill/>
            </p:spPr>
            <p:txBody>
              <a:bodyPr wrap="square" rtlCol="0">
                <a:spAutoFit/>
              </a:bodyPr>
              <a:lstStyle/>
              <a:p>
                <a:pPr/>
                <a14:m>
                  <m:oMathPara xmlns:m="http://schemas.openxmlformats.org/officeDocument/2006/math">
                    <m:oMath>
                      <m:r>
                        <a:rPr lang="en-GB" sz="1200" b="0" i="1" smtClean="0">
                          <a:latin typeface="Cambria Math" panose="02040503050406030204" pitchFamily="18" charset="0"/>
                        </a:rPr>
                        <m:t>−</m:t>
                      </m:r>
                      <m:r>
                        <a:rPr lang="en-GB" sz="1200" b="0" i="1" smtClean="0">
                          <a:latin typeface="Cambria Math" panose="02040503050406030204" pitchFamily="18" charset="0"/>
                        </a:rPr>
                        <m:t>𝑎</m:t>
                      </m:r>
                      <m:d>
                        <m:dPr>
                          <m:ctrlPr>
                            <a:rPr lang="en-GB" sz="1200" b="0" i="1" smtClean="0">
                              <a:latin typeface="Cambria Math" panose="02040503050406030204" pitchFamily="18" charset="0"/>
                            </a:rPr>
                          </m:ctrlPr>
                        </m:dPr>
                        <m:e>
                          <m:r>
                            <a:rPr lang="en-GB" sz="1200" b="0" i="1" smtClean="0">
                              <a:latin typeface="Cambria Math" panose="02040503050406030204" pitchFamily="18" charset="0"/>
                            </a:rPr>
                            <m:t>−</m:t>
                          </m:r>
                          <m:r>
                            <a:rPr lang="en-GB" sz="1200" b="0" i="1" smtClean="0">
                              <a:latin typeface="Cambria Math" panose="02040503050406030204" pitchFamily="18" charset="0"/>
                            </a:rPr>
                            <m:t>𝑎</m:t>
                          </m:r>
                          <m:r>
                            <a:rPr lang="en-GB" sz="1200" b="0" i="1" smtClean="0">
                              <a:latin typeface="Cambria Math" panose="02040503050406030204" pitchFamily="18" charset="0"/>
                            </a:rPr>
                            <m:t>+2</m:t>
                          </m:r>
                        </m:e>
                      </m:d>
                    </m:oMath>
                  </m:oMathPara>
                </a14:m>
                <a:endParaRPr lang="en-GB"/>
              </a:p>
            </p:txBody>
          </p:sp>
        </mc:Choice>
        <mc:Fallback>
          <p:sp>
            <p:nvSpPr>
              <p:cNvPr id="22" name="TextBox 21"/>
              <p:cNvSpPr txBox="1">
                <a:spLocks noRot="1" noChangeAspect="1" noMove="1" noResize="1" noEditPoints="1" noAdjustHandles="1" noChangeArrowheads="1" noChangeShapeType="1" noTextEdit="1"/>
              </p:cNvSpPr>
              <p:nvPr/>
            </p:nvSpPr>
            <p:spPr>
              <a:xfrm>
                <a:off x="1301728" y="4338046"/>
                <a:ext cx="988179" cy="276999"/>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3" name="TextBox 22"/>
              <p:cNvSpPr txBox="1"/>
              <p:nvPr/>
            </p:nvSpPr>
            <p:spPr>
              <a:xfrm>
                <a:off x="3140512" y="4871228"/>
                <a:ext cx="398663" cy="338554"/>
              </a:xfrm>
              <a:prstGeom prst="rect">
                <a:avLst/>
              </a:prstGeom>
              <a:noFill/>
            </p:spPr>
            <p:txBody>
              <a:bodyPr wrap="square" rtlCol="0">
                <a:spAutoFit/>
              </a:bodyPr>
              <a:lstStyle/>
              <a:p>
                <a:pPr/>
                <a14:m>
                  <m:oMathPara xmlns:m="http://schemas.openxmlformats.org/officeDocument/2006/math">
                    <m:oMath>
                      <m:r>
                        <a:rPr lang="en-GB" sz="1600" b="0" i="1" smtClean="0">
                          <a:latin typeface="Cambria Math" panose="02040503050406030204" pitchFamily="18" charset="0"/>
                        </a:rPr>
                        <m:t>𝑎</m:t>
                      </m:r>
                    </m:oMath>
                  </m:oMathPara>
                </a14:m>
                <a:endParaRPr lang="en-GB" sz="2400"/>
              </a:p>
            </p:txBody>
          </p:sp>
        </mc:Choice>
        <mc:Fallback>
          <p:sp>
            <p:nvSpPr>
              <p:cNvPr id="23" name="TextBox 22"/>
              <p:cNvSpPr txBox="1">
                <a:spLocks noRot="1" noChangeAspect="1" noMove="1" noResize="1" noEditPoints="1" noAdjustHandles="1" noChangeArrowheads="1" noChangeShapeType="1" noTextEdit="1"/>
              </p:cNvSpPr>
              <p:nvPr/>
            </p:nvSpPr>
            <p:spPr>
              <a:xfrm>
                <a:off x="3140512" y="4871228"/>
                <a:ext cx="398663" cy="338554"/>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4" name="TextBox 23"/>
              <p:cNvSpPr txBox="1"/>
              <p:nvPr/>
            </p:nvSpPr>
            <p:spPr>
              <a:xfrm>
                <a:off x="2218530" y="4892479"/>
                <a:ext cx="673525" cy="338554"/>
              </a:xfrm>
              <a:prstGeom prst="rect">
                <a:avLst/>
              </a:prstGeom>
              <a:noFill/>
            </p:spPr>
            <p:txBody>
              <a:bodyPr wrap="square" rtlCol="0">
                <a:spAutoFit/>
              </a:bodyPr>
              <a:lstStyle/>
              <a:p>
                <a:pPr/>
                <a14:m>
                  <m:oMathPara xmlns:m="http://schemas.openxmlformats.org/officeDocument/2006/math">
                    <m:oMath>
                      <m:r>
                        <a:rPr lang="en-GB" sz="1600" b="0" i="1" smtClean="0">
                          <a:latin typeface="Cambria Math" panose="02040503050406030204" pitchFamily="18" charset="0"/>
                        </a:rPr>
                        <m:t>𝑎</m:t>
                      </m:r>
                      <m:r>
                        <a:rPr lang="en-GB" sz="1600" b="0" i="1" smtClean="0">
                          <a:latin typeface="Cambria Math" panose="02040503050406030204" pitchFamily="18" charset="0"/>
                        </a:rPr>
                        <m:t>−2</m:t>
                      </m:r>
                    </m:oMath>
                  </m:oMathPara>
                </a14:m>
                <a:endParaRPr lang="en-GB" sz="2400"/>
              </a:p>
            </p:txBody>
          </p:sp>
        </mc:Choice>
        <mc:Fallback>
          <p:sp>
            <p:nvSpPr>
              <p:cNvPr id="24" name="TextBox 23"/>
              <p:cNvSpPr txBox="1">
                <a:spLocks noRot="1" noChangeAspect="1" noMove="1" noResize="1" noEditPoints="1" noAdjustHandles="1" noChangeArrowheads="1" noChangeShapeType="1" noTextEdit="1"/>
              </p:cNvSpPr>
              <p:nvPr/>
            </p:nvSpPr>
            <p:spPr>
              <a:xfrm>
                <a:off x="2218530" y="4892479"/>
                <a:ext cx="673525" cy="338554"/>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5" name="TextBox 24"/>
              <p:cNvSpPr txBox="1"/>
              <p:nvPr/>
            </p:nvSpPr>
            <p:spPr>
              <a:xfrm>
                <a:off x="389743" y="5496919"/>
                <a:ext cx="1778646" cy="830997"/>
              </a:xfrm>
              <a:prstGeom prst="rect">
                <a:avLst/>
              </a:prstGeom>
              <a:noFill/>
            </p:spPr>
            <p:txBody>
              <a:bodyPr wrap="square" rtlCol="0">
                <a:spAutoFit/>
              </a:bodyPr>
              <a:lstStyle/>
              <a:p>
                <a:r>
                  <a:rPr lang="en-GB" sz="1600"/>
                  <a:t>Note that our intercepts are in terms of </a:t>
                </a:r>
                <a14:m>
                  <m:oMath xmlns:m="http://schemas.openxmlformats.org/officeDocument/2006/math">
                    <m:r>
                      <a:rPr lang="en-GB" sz="1600" b="0" i="1" smtClean="0">
                        <a:latin typeface="Cambria Math" panose="02040503050406030204" pitchFamily="18" charset="0"/>
                      </a:rPr>
                      <m:t>𝑎</m:t>
                    </m:r>
                  </m:oMath>
                </a14:m>
                <a:r>
                  <a:rPr lang="en-GB" sz="1600"/>
                  <a:t>.</a:t>
                </a:r>
              </a:p>
            </p:txBody>
          </p:sp>
        </mc:Choice>
        <mc:Fallback>
          <p:sp>
            <p:nvSpPr>
              <p:cNvPr id="25" name="TextBox 24"/>
              <p:cNvSpPr txBox="1">
                <a:spLocks noRot="1" noChangeAspect="1" noMove="1" noResize="1" noEditPoints="1" noAdjustHandles="1" noChangeArrowheads="1" noChangeShapeType="1" noTextEdit="1"/>
              </p:cNvSpPr>
              <p:nvPr/>
            </p:nvSpPr>
            <p:spPr>
              <a:xfrm>
                <a:off x="389743" y="5496919"/>
                <a:ext cx="1778646" cy="830997"/>
              </a:xfrm>
              <a:prstGeom prst="rect">
                <a:avLst/>
              </a:prstGeom>
              <a:blipFill>
                <a:blip r:embed="rId11"/>
                <a:stretch>
                  <a:fillRect l="-1418" t="-1493" b="-7463"/>
                </a:stretch>
              </a:blipFill>
            </p:spPr>
            <p:txBody>
              <a:bodyPr/>
              <a:lstStyle/>
              <a:p>
                <a:r>
                  <a:rPr lang="en-US">
                    <a:noFill/>
                  </a:rPr>
                  <a:t> </a:t>
                </a:r>
              </a:p>
            </p:txBody>
          </p:sp>
        </mc:Fallback>
      </mc:AlternateContent>
      <p:sp>
        <p:nvSpPr>
          <p:cNvPr id="14" name="Rectangle 13"/>
          <p:cNvSpPr/>
          <p:nvPr/>
        </p:nvSpPr>
        <p:spPr>
          <a:xfrm>
            <a:off x="245246" y="1802455"/>
            <a:ext cx="3917032" cy="4794897"/>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mc:AlternateContent xmlns:mc="http://schemas.openxmlformats.org/markup-compatibility/2006">
        <mc:Choice xmlns:a14="http://schemas.microsoft.com/office/drawing/2010/main" Requires="a14">
          <p:sp>
            <p:nvSpPr>
              <p:cNvPr id="26" name="TextBox 25"/>
              <p:cNvSpPr txBox="1"/>
              <p:nvPr/>
            </p:nvSpPr>
            <p:spPr>
              <a:xfrm>
                <a:off x="4427983" y="790436"/>
                <a:ext cx="4397039" cy="923330"/>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a:t>Sketch </a:t>
                </a:r>
                <a14:m>
                  <m:oMath xmlns:m="http://schemas.openxmlformats.org/officeDocument/2006/math">
                    <m:r>
                      <a:rPr lang="en-GB" b="0" i="1" smtClean="0">
                        <a:latin typeface="Cambria Math" panose="02040503050406030204" pitchFamily="18" charset="0"/>
                      </a:rPr>
                      <m:t>𝑦</m:t>
                    </m:r>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2</m:t>
                        </m:r>
                      </m:sup>
                    </m:sSup>
                    <m:d>
                      <m:dPr>
                        <m:ctrlPr>
                          <a:rPr lang="en-GB" b="0" i="1" smtClean="0">
                            <a:latin typeface="Cambria Math" panose="02040503050406030204" pitchFamily="18" charset="0"/>
                          </a:rPr>
                        </m:ctrlPr>
                      </m:dPr>
                      <m:e>
                        <m:r>
                          <a:rPr lang="en-GB" b="0" i="1" smtClean="0">
                            <a:latin typeface="Cambria Math" panose="02040503050406030204" pitchFamily="18" charset="0"/>
                          </a:rPr>
                          <m:t>𝑥</m:t>
                        </m:r>
                        <m:r>
                          <a:rPr lang="en-GB" b="0" i="1" smtClean="0">
                            <a:latin typeface="Cambria Math" panose="02040503050406030204" pitchFamily="18" charset="0"/>
                          </a:rPr>
                          <m:t>−4</m:t>
                        </m:r>
                      </m:e>
                    </m:d>
                  </m:oMath>
                </a14:m>
                <a:r>
                  <a:rPr lang="en-GB"/>
                  <a:t>. On the same axes, sketch the graph with equation </a:t>
                </a:r>
              </a:p>
              <a:p>
                <a:pPr/>
                <a14:m>
                  <m:oMathPara xmlns:m="http://schemas.openxmlformats.org/officeDocument/2006/math">
                    <m:oMath>
                      <m:r>
                        <a:rPr lang="en-GB" b="0" i="1" smtClean="0">
                          <a:latin typeface="Cambria Math" panose="02040503050406030204" pitchFamily="18" charset="0"/>
                        </a:rPr>
                        <m:t>𝑦</m:t>
                      </m:r>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d>
                            <m:dPr>
                              <m:ctrlPr>
                                <a:rPr lang="en-GB" b="0" i="1" smtClean="0">
                                  <a:latin typeface="Cambria Math" panose="02040503050406030204" pitchFamily="18" charset="0"/>
                                </a:rPr>
                              </m:ctrlPr>
                            </m:dPr>
                            <m:e>
                              <m:r>
                                <a:rPr lang="en-GB" b="0" i="1" smtClean="0">
                                  <a:latin typeface="Cambria Math" panose="02040503050406030204" pitchFamily="18" charset="0"/>
                                </a:rPr>
                                <m:t>2</m:t>
                              </m:r>
                              <m:r>
                                <a:rPr lang="en-GB" b="0" i="1" smtClean="0">
                                  <a:latin typeface="Cambria Math" panose="02040503050406030204" pitchFamily="18" charset="0"/>
                                </a:rPr>
                                <m:t>𝑥</m:t>
                              </m:r>
                            </m:e>
                          </m:d>
                        </m:e>
                        <m:sup>
                          <m:r>
                            <a:rPr lang="en-GB" b="0" i="1" smtClean="0">
                              <a:latin typeface="Cambria Math" panose="02040503050406030204" pitchFamily="18" charset="0"/>
                            </a:rPr>
                            <m:t>2</m:t>
                          </m:r>
                        </m:sup>
                      </m:sSup>
                      <m:d>
                        <m:dPr>
                          <m:ctrlPr>
                            <a:rPr lang="en-GB" b="0" i="1" smtClean="0">
                              <a:latin typeface="Cambria Math" panose="02040503050406030204" pitchFamily="18" charset="0"/>
                            </a:rPr>
                          </m:ctrlPr>
                        </m:dPr>
                        <m:e>
                          <m:r>
                            <a:rPr lang="en-GB" b="0" i="1" smtClean="0">
                              <a:latin typeface="Cambria Math" panose="02040503050406030204" pitchFamily="18" charset="0"/>
                            </a:rPr>
                            <m:t>2</m:t>
                          </m:r>
                          <m:r>
                            <a:rPr lang="en-GB" b="0" i="1" smtClean="0">
                              <a:latin typeface="Cambria Math" panose="02040503050406030204" pitchFamily="18" charset="0"/>
                            </a:rPr>
                            <m:t>𝑥</m:t>
                          </m:r>
                          <m:r>
                            <a:rPr lang="en-GB" b="0" i="1" smtClean="0">
                              <a:latin typeface="Cambria Math" panose="02040503050406030204" pitchFamily="18" charset="0"/>
                            </a:rPr>
                            <m:t>−4</m:t>
                          </m:r>
                        </m:e>
                      </m:d>
                    </m:oMath>
                  </m:oMathPara>
                </a14:m>
                <a:endParaRPr lang="en-GB"/>
              </a:p>
            </p:txBody>
          </p:sp>
        </mc:Choice>
        <mc:Fallback>
          <p:sp>
            <p:nvSpPr>
              <p:cNvPr id="26" name="TextBox 25"/>
              <p:cNvSpPr txBox="1">
                <a:spLocks noRot="1" noChangeAspect="1" noMove="1" noResize="1" noEditPoints="1" noAdjustHandles="1" noChangeArrowheads="1" noChangeShapeType="1" noTextEdit="1"/>
              </p:cNvSpPr>
              <p:nvPr/>
            </p:nvSpPr>
            <p:spPr>
              <a:xfrm>
                <a:off x="4427983" y="790436"/>
                <a:ext cx="4397039" cy="923330"/>
              </a:xfrm>
              <a:prstGeom prst="rect">
                <a:avLst/>
              </a:prstGeom>
              <a:blipFill>
                <a:blip r:embed="rId12"/>
                <a:stretch>
                  <a:fillRect/>
                </a:stretch>
              </a:blipFill>
              <a:effectLst>
                <a:outerShdw blurRad="63500" sx="102000" sy="102000" algn="ctr" rotWithShape="0">
                  <a:prstClr val="black">
                    <a:alpha val="40000"/>
                  </a:prstClr>
                </a:outerShdw>
              </a:effectLst>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8" name="TextBox 27"/>
              <p:cNvSpPr txBox="1"/>
              <p:nvPr/>
            </p:nvSpPr>
            <p:spPr>
              <a:xfrm>
                <a:off x="4702528" y="1800073"/>
                <a:ext cx="3871664" cy="1231106"/>
              </a:xfrm>
              <a:prstGeom prst="rect">
                <a:avLst/>
              </a:prstGeom>
              <a:noFill/>
            </p:spPr>
            <p:txBody>
              <a:bodyPr wrap="square" rtlCol="0">
                <a:spAutoFit/>
              </a:bodyPr>
              <a:lstStyle/>
              <a:p>
                <a:r>
                  <a:rPr lang="en-GB" sz="1400"/>
                  <a:t>The </a:t>
                </a:r>
                <a:r>
                  <a:rPr lang="en-GB" sz="1400" b="1" u="sng"/>
                  <a:t>input</a:t>
                </a:r>
                <a:r>
                  <a:rPr lang="en-GB" sz="1400"/>
                  <a:t> </a:t>
                </a:r>
                <a14:m>
                  <m:oMath xmlns:m="http://schemas.openxmlformats.org/officeDocument/2006/math">
                    <m:r>
                      <a:rPr lang="en-GB" sz="1400" b="0" i="1" smtClean="0">
                        <a:latin typeface="Cambria Math" panose="02040503050406030204" pitchFamily="18" charset="0"/>
                      </a:rPr>
                      <m:t>𝑥</m:t>
                    </m:r>
                  </m:oMath>
                </a14:m>
                <a:r>
                  <a:rPr lang="en-GB" sz="1400"/>
                  <a:t> has been doubled to </a:t>
                </a:r>
                <a14:m>
                  <m:oMath xmlns:m="http://schemas.openxmlformats.org/officeDocument/2006/math">
                    <m:r>
                      <a:rPr lang="en-GB" sz="1400" b="0" i="1" smtClean="0">
                        <a:latin typeface="Cambria Math" panose="02040503050406030204" pitchFamily="18" charset="0"/>
                      </a:rPr>
                      <m:t>2</m:t>
                    </m:r>
                    <m:r>
                      <a:rPr lang="en-GB" sz="1400" b="0" i="1" smtClean="0">
                        <a:latin typeface="Cambria Math" panose="02040503050406030204" pitchFamily="18" charset="0"/>
                      </a:rPr>
                      <m:t>𝑥</m:t>
                    </m:r>
                  </m:oMath>
                </a14:m>
                <a:r>
                  <a:rPr lang="en-GB" sz="1400"/>
                  <a:t>, again a change inside the function, so we do the opposite and halve the </a:t>
                </a:r>
                <a14:m>
                  <m:oMath xmlns:m="http://schemas.openxmlformats.org/officeDocument/2006/math">
                    <m:r>
                      <a:rPr lang="en-GB" sz="1400" b="0" i="1" smtClean="0">
                        <a:latin typeface="Cambria Math" panose="02040503050406030204" pitchFamily="18" charset="0"/>
                      </a:rPr>
                      <m:t>𝑥</m:t>
                    </m:r>
                  </m:oMath>
                </a14:m>
                <a:r>
                  <a:rPr lang="en-GB" sz="1400"/>
                  <a:t> values.</a:t>
                </a:r>
              </a:p>
              <a:p>
                <a:r>
                  <a:rPr lang="en-GB" sz="1400"/>
                  <a:t>Ensure that 0 remains 0 and you halve any roots.</a:t>
                </a:r>
              </a:p>
              <a:p>
                <a:endParaRPr lang="en-GB"/>
              </a:p>
            </p:txBody>
          </p:sp>
        </mc:Choice>
        <mc:Fallback>
          <p:sp>
            <p:nvSpPr>
              <p:cNvPr id="28" name="TextBox 27"/>
              <p:cNvSpPr txBox="1">
                <a:spLocks noRot="1" noChangeAspect="1" noMove="1" noResize="1" noEditPoints="1" noAdjustHandles="1" noChangeArrowheads="1" noChangeShapeType="1" noTextEdit="1"/>
              </p:cNvSpPr>
              <p:nvPr/>
            </p:nvSpPr>
            <p:spPr>
              <a:xfrm>
                <a:off x="4702528" y="1800073"/>
                <a:ext cx="3871664" cy="1231106"/>
              </a:xfrm>
              <a:prstGeom prst="rect">
                <a:avLst/>
              </a:prstGeom>
              <a:blipFill>
                <a:blip r:embed="rId13"/>
                <a:stretch>
                  <a:fillRect l="-654" t="-1020"/>
                </a:stretch>
              </a:blipFill>
            </p:spPr>
            <p:txBody>
              <a:bodyPr/>
              <a:lstStyle/>
              <a:p>
                <a:r>
                  <a:rPr lang="en-US">
                    <a:noFill/>
                  </a:rPr>
                  <a:t> </a:t>
                </a:r>
              </a:p>
            </p:txBody>
          </p:sp>
        </mc:Fallback>
      </mc:AlternateContent>
      <p:cxnSp>
        <p:nvCxnSpPr>
          <p:cNvPr id="29" name="Straight Arrow Connector 28"/>
          <p:cNvCxnSpPr/>
          <p:nvPr/>
        </p:nvCxnSpPr>
        <p:spPr>
          <a:xfrm>
            <a:off x="4909888" y="4980607"/>
            <a:ext cx="3516807" cy="755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30" name="Straight Arrow Connector 29"/>
          <p:cNvCxnSpPr/>
          <p:nvPr/>
        </p:nvCxnSpPr>
        <p:spPr>
          <a:xfrm flipV="1">
            <a:off x="6638360" y="3066702"/>
            <a:ext cx="0" cy="3508911"/>
          </a:xfrm>
          <a:prstGeom prst="straightConnector1">
            <a:avLst/>
          </a:prstGeom>
          <a:ln>
            <a:tailEnd type="arrow"/>
          </a:ln>
        </p:spPr>
        <p:style>
          <a:lnRef idx="2">
            <a:schemeClr val="dk1"/>
          </a:lnRef>
          <a:fillRef idx="0">
            <a:schemeClr val="dk1"/>
          </a:fillRef>
          <a:effectRef idx="1">
            <a:schemeClr val="dk1"/>
          </a:effectRef>
          <a:fontRef idx="minor">
            <a:schemeClr val="tx1"/>
          </a:fontRef>
        </p:style>
      </p:cxnSp>
      <mc:AlternateContent xmlns:mc="http://schemas.openxmlformats.org/markup-compatibility/2006">
        <mc:Choice xmlns:a14="http://schemas.microsoft.com/office/drawing/2010/main" Requires="a14">
          <p:sp>
            <p:nvSpPr>
              <p:cNvPr id="31" name="TextBox 30"/>
              <p:cNvSpPr txBox="1"/>
              <p:nvPr/>
            </p:nvSpPr>
            <p:spPr>
              <a:xfrm>
                <a:off x="8353734" y="4785848"/>
                <a:ext cx="360040" cy="369332"/>
              </a:xfrm>
              <a:prstGeom prst="rect">
                <a:avLst/>
              </a:prstGeom>
              <a:noFill/>
            </p:spPr>
            <p:txBody>
              <a:bodyPr wrap="square" rtlCol="0">
                <a:spAutoFit/>
              </a:bodyPr>
              <a:lstStyle/>
              <a:p>
                <a:pPr/>
                <a14:m>
                  <m:oMathPara xmlns:m="http://schemas.openxmlformats.org/officeDocument/2006/math">
                    <m:oMath>
                      <m:r>
                        <a:rPr lang="en-GB" i="1" dirty="0" smtClean="0">
                          <a:latin typeface="Cambria Math" panose="02040503050406030204" pitchFamily="18" charset="0"/>
                        </a:rPr>
                        <m:t>𝑥</m:t>
                      </m:r>
                    </m:oMath>
                  </m:oMathPara>
                </a14:m>
                <a:endParaRPr lang="en-GB"/>
              </a:p>
            </p:txBody>
          </p:sp>
        </mc:Choice>
        <mc:Fallback>
          <p:sp>
            <p:nvSpPr>
              <p:cNvPr id="31" name="TextBox 30"/>
              <p:cNvSpPr txBox="1">
                <a:spLocks noRot="1" noChangeAspect="1" noMove="1" noResize="1" noEditPoints="1" noAdjustHandles="1" noChangeArrowheads="1" noChangeShapeType="1" noTextEdit="1"/>
              </p:cNvSpPr>
              <p:nvPr/>
            </p:nvSpPr>
            <p:spPr>
              <a:xfrm>
                <a:off x="8353734" y="4785848"/>
                <a:ext cx="360040" cy="369332"/>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2" name="TextBox 31"/>
              <p:cNvSpPr txBox="1"/>
              <p:nvPr/>
            </p:nvSpPr>
            <p:spPr>
              <a:xfrm>
                <a:off x="6463634" y="2727094"/>
                <a:ext cx="360040" cy="369332"/>
              </a:xfrm>
              <a:prstGeom prst="rect">
                <a:avLst/>
              </a:prstGeom>
              <a:noFill/>
            </p:spPr>
            <p:txBody>
              <a:bodyPr wrap="square" rtlCol="0">
                <a:spAutoFit/>
              </a:bodyPr>
              <a:lstStyle/>
              <a:p>
                <a:pPr/>
                <a14:m>
                  <m:oMathPara xmlns:m="http://schemas.openxmlformats.org/officeDocument/2006/math">
                    <m:oMath>
                      <m:r>
                        <a:rPr lang="en-GB" i="1" dirty="0" smtClean="0">
                          <a:latin typeface="Cambria Math" panose="02040503050406030204" pitchFamily="18" charset="0"/>
                        </a:rPr>
                        <m:t>𝑦</m:t>
                      </m:r>
                    </m:oMath>
                  </m:oMathPara>
                </a14:m>
                <a:endParaRPr lang="en-GB"/>
              </a:p>
            </p:txBody>
          </p:sp>
        </mc:Choice>
        <mc:Fallback>
          <p:sp>
            <p:nvSpPr>
              <p:cNvPr id="32" name="TextBox 31"/>
              <p:cNvSpPr txBox="1">
                <a:spLocks noRot="1" noChangeAspect="1" noMove="1" noResize="1" noEditPoints="1" noAdjustHandles="1" noChangeArrowheads="1" noChangeShapeType="1" noTextEdit="1"/>
              </p:cNvSpPr>
              <p:nvPr/>
            </p:nvSpPr>
            <p:spPr>
              <a:xfrm>
                <a:off x="6463634" y="2727094"/>
                <a:ext cx="360040" cy="369332"/>
              </a:xfrm>
              <a:prstGeom prst="rect">
                <a:avLst/>
              </a:prstGeom>
              <a:blipFill>
                <a:blip r:embed="rId15"/>
                <a:stretch>
                  <a:fillRect b="-100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3" name="TextBox 32"/>
              <p:cNvSpPr txBox="1"/>
              <p:nvPr/>
            </p:nvSpPr>
            <p:spPr>
              <a:xfrm rot="17268424">
                <a:off x="7254336" y="3893791"/>
                <a:ext cx="1462522" cy="276999"/>
              </a:xfrm>
              <a:prstGeom prst="rect">
                <a:avLst/>
              </a:prstGeom>
              <a:noFill/>
            </p:spPr>
            <p:txBody>
              <a:bodyPr wrap="square" rtlCol="0">
                <a:spAutoFit/>
              </a:bodyPr>
              <a:lstStyle/>
              <a:p>
                <a:pPr/>
                <a14:m>
                  <m:oMathPara xmlns:m="http://schemas.openxmlformats.org/officeDocument/2006/math">
                    <m:oMath>
                      <m:r>
                        <a:rPr lang="en-GB" sz="1200" b="0" i="1" smtClean="0">
                          <a:solidFill>
                            <a:schemeClr val="accent4"/>
                          </a:solidFill>
                          <a:latin typeface="Cambria Math" panose="02040503050406030204" pitchFamily="18" charset="0"/>
                        </a:rPr>
                        <m:t>𝑦</m:t>
                      </m:r>
                      <m:r>
                        <a:rPr lang="en-GB" sz="1200" b="0" i="1" smtClean="0">
                          <a:solidFill>
                            <a:schemeClr val="accent4"/>
                          </a:solidFill>
                          <a:latin typeface="Cambria Math" panose="02040503050406030204" pitchFamily="18" charset="0"/>
                        </a:rPr>
                        <m:t>=</m:t>
                      </m:r>
                      <m:sSup>
                        <m:sSupPr>
                          <m:ctrlPr>
                            <a:rPr lang="en-GB" sz="1200" b="0" i="1" smtClean="0">
                              <a:solidFill>
                                <a:schemeClr val="accent4"/>
                              </a:solidFill>
                              <a:latin typeface="Cambria Math" panose="02040503050406030204" pitchFamily="18" charset="0"/>
                            </a:rPr>
                          </m:ctrlPr>
                        </m:sSupPr>
                        <m:e>
                          <m:r>
                            <a:rPr lang="en-GB" sz="1200" b="0" i="1" smtClean="0">
                              <a:solidFill>
                                <a:schemeClr val="accent4"/>
                              </a:solidFill>
                              <a:latin typeface="Cambria Math" panose="02040503050406030204" pitchFamily="18" charset="0"/>
                            </a:rPr>
                            <m:t>𝑥</m:t>
                          </m:r>
                        </m:e>
                        <m:sup>
                          <m:r>
                            <a:rPr lang="en-GB" sz="1200" b="0" i="1" smtClean="0">
                              <a:solidFill>
                                <a:schemeClr val="accent4"/>
                              </a:solidFill>
                              <a:latin typeface="Cambria Math" panose="02040503050406030204" pitchFamily="18" charset="0"/>
                            </a:rPr>
                            <m:t>2</m:t>
                          </m:r>
                        </m:sup>
                      </m:sSup>
                      <m:d>
                        <m:dPr>
                          <m:ctrlPr>
                            <a:rPr lang="en-GB" sz="1200" b="0" i="1" smtClean="0">
                              <a:solidFill>
                                <a:schemeClr val="accent4"/>
                              </a:solidFill>
                              <a:latin typeface="Cambria Math" panose="02040503050406030204" pitchFamily="18" charset="0"/>
                            </a:rPr>
                          </m:ctrlPr>
                        </m:dPr>
                        <m:e>
                          <m:r>
                            <a:rPr lang="en-GB" sz="1200" b="0" i="1" smtClean="0">
                              <a:solidFill>
                                <a:schemeClr val="accent4"/>
                              </a:solidFill>
                              <a:latin typeface="Cambria Math" panose="02040503050406030204" pitchFamily="18" charset="0"/>
                            </a:rPr>
                            <m:t>𝑥</m:t>
                          </m:r>
                          <m:r>
                            <a:rPr lang="en-GB" sz="1200" b="0" i="1" smtClean="0">
                              <a:solidFill>
                                <a:schemeClr val="accent4"/>
                              </a:solidFill>
                              <a:latin typeface="Cambria Math" panose="02040503050406030204" pitchFamily="18" charset="0"/>
                            </a:rPr>
                            <m:t>−4</m:t>
                          </m:r>
                        </m:e>
                      </m:d>
                    </m:oMath>
                  </m:oMathPara>
                </a14:m>
                <a:endParaRPr lang="en-GB"/>
              </a:p>
            </p:txBody>
          </p:sp>
        </mc:Choice>
        <mc:Fallback>
          <p:sp>
            <p:nvSpPr>
              <p:cNvPr id="33" name="TextBox 32"/>
              <p:cNvSpPr txBox="1">
                <a:spLocks noRot="1" noChangeAspect="1" noMove="1" noResize="1" noEditPoints="1" noAdjustHandles="1" noChangeArrowheads="1" noChangeShapeType="1" noTextEdit="1"/>
              </p:cNvSpPr>
              <p:nvPr/>
            </p:nvSpPr>
            <p:spPr>
              <a:xfrm rot="17268424">
                <a:off x="7254336" y="3893791"/>
                <a:ext cx="1462522" cy="276999"/>
              </a:xfrm>
              <a:prstGeom prst="rect">
                <a:avLst/>
              </a:prstGeom>
              <a:blipFill>
                <a:blip r:embed="rId16"/>
                <a:stretch>
                  <a:fillRect/>
                </a:stretch>
              </a:blipFill>
            </p:spPr>
            <p:txBody>
              <a:bodyPr/>
              <a:lstStyle/>
              <a:p>
                <a:r>
                  <a:rPr lang="en-US">
                    <a:noFill/>
                  </a:rPr>
                  <a:t> </a:t>
                </a:r>
              </a:p>
            </p:txBody>
          </p:sp>
        </mc:Fallback>
      </mc:AlternateContent>
      <p:sp>
        <p:nvSpPr>
          <p:cNvPr id="34" name="TextBox 33"/>
          <p:cNvSpPr txBox="1"/>
          <p:nvPr/>
        </p:nvSpPr>
        <p:spPr>
          <a:xfrm>
            <a:off x="7707399" y="4944986"/>
            <a:ext cx="391609" cy="369332"/>
          </a:xfrm>
          <a:prstGeom prst="rect">
            <a:avLst/>
          </a:prstGeom>
          <a:noFill/>
        </p:spPr>
        <p:txBody>
          <a:bodyPr wrap="square" rtlCol="0">
            <a:spAutoFit/>
          </a:bodyPr>
          <a:lstStyle/>
          <a:p>
            <a:r>
              <a:rPr lang="en-GB"/>
              <a:t>4</a:t>
            </a:r>
          </a:p>
        </p:txBody>
      </p:sp>
      <mc:AlternateContent xmlns:mc="http://schemas.openxmlformats.org/markup-compatibility/2006">
        <mc:Choice xmlns:a14="http://schemas.microsoft.com/office/drawing/2010/main" Requires="a14">
          <p:sp>
            <p:nvSpPr>
              <p:cNvPr id="36" name="TextBox 35"/>
              <p:cNvSpPr txBox="1"/>
              <p:nvPr/>
            </p:nvSpPr>
            <p:spPr>
              <a:xfrm rot="16931640">
                <a:off x="6358562" y="3945099"/>
                <a:ext cx="1815071" cy="276999"/>
              </a:xfrm>
              <a:prstGeom prst="rect">
                <a:avLst/>
              </a:prstGeom>
              <a:noFill/>
            </p:spPr>
            <p:txBody>
              <a:bodyPr wrap="square" rtlCol="0">
                <a:spAutoFit/>
              </a:bodyPr>
              <a:lstStyle/>
              <a:p>
                <a:pPr/>
                <a14:m>
                  <m:oMathPara xmlns:m="http://schemas.openxmlformats.org/officeDocument/2006/math">
                    <m:oMath>
                      <m:r>
                        <a:rPr lang="en-GB" sz="1200" b="0" i="1" smtClean="0">
                          <a:solidFill>
                            <a:schemeClr val="accent6"/>
                          </a:solidFill>
                          <a:latin typeface="Cambria Math" panose="02040503050406030204" pitchFamily="18" charset="0"/>
                        </a:rPr>
                        <m:t>𝑦</m:t>
                      </m:r>
                      <m:r>
                        <a:rPr lang="en-GB" sz="1200" b="0" i="1" smtClean="0">
                          <a:solidFill>
                            <a:schemeClr val="accent6"/>
                          </a:solidFill>
                          <a:latin typeface="Cambria Math" panose="02040503050406030204" pitchFamily="18" charset="0"/>
                        </a:rPr>
                        <m:t>=</m:t>
                      </m:r>
                      <m:sSup>
                        <m:sSupPr>
                          <m:ctrlPr>
                            <a:rPr lang="en-GB" sz="1200" b="0" i="1" smtClean="0">
                              <a:solidFill>
                                <a:schemeClr val="accent6"/>
                              </a:solidFill>
                              <a:latin typeface="Cambria Math" panose="02040503050406030204" pitchFamily="18" charset="0"/>
                            </a:rPr>
                          </m:ctrlPr>
                        </m:sSupPr>
                        <m:e>
                          <m:d>
                            <m:dPr>
                              <m:ctrlPr>
                                <a:rPr lang="en-GB" sz="1200" b="0" i="1" smtClean="0">
                                  <a:solidFill>
                                    <a:schemeClr val="accent6"/>
                                  </a:solidFill>
                                  <a:latin typeface="Cambria Math" panose="02040503050406030204" pitchFamily="18" charset="0"/>
                                </a:rPr>
                              </m:ctrlPr>
                            </m:dPr>
                            <m:e>
                              <m:r>
                                <a:rPr lang="en-GB" sz="1200" b="0" i="1" smtClean="0">
                                  <a:solidFill>
                                    <a:schemeClr val="accent6"/>
                                  </a:solidFill>
                                  <a:latin typeface="Cambria Math" panose="02040503050406030204" pitchFamily="18" charset="0"/>
                                </a:rPr>
                                <m:t>2</m:t>
                              </m:r>
                              <m:r>
                                <a:rPr lang="en-GB" sz="1200" b="0" i="1" smtClean="0">
                                  <a:solidFill>
                                    <a:schemeClr val="accent6"/>
                                  </a:solidFill>
                                  <a:latin typeface="Cambria Math" panose="02040503050406030204" pitchFamily="18" charset="0"/>
                                </a:rPr>
                                <m:t>𝑥</m:t>
                              </m:r>
                            </m:e>
                          </m:d>
                        </m:e>
                        <m:sup>
                          <m:r>
                            <a:rPr lang="en-GB" sz="1200" b="0" i="1" smtClean="0">
                              <a:solidFill>
                                <a:schemeClr val="accent6"/>
                              </a:solidFill>
                              <a:latin typeface="Cambria Math" panose="02040503050406030204" pitchFamily="18" charset="0"/>
                            </a:rPr>
                            <m:t>2</m:t>
                          </m:r>
                        </m:sup>
                      </m:sSup>
                      <m:d>
                        <m:dPr>
                          <m:ctrlPr>
                            <a:rPr lang="en-GB" sz="1200" b="0" i="1" smtClean="0">
                              <a:solidFill>
                                <a:schemeClr val="accent6"/>
                              </a:solidFill>
                              <a:latin typeface="Cambria Math" panose="02040503050406030204" pitchFamily="18" charset="0"/>
                            </a:rPr>
                          </m:ctrlPr>
                        </m:dPr>
                        <m:e>
                          <m:r>
                            <a:rPr lang="en-GB" sz="1200" b="0" i="1" smtClean="0">
                              <a:solidFill>
                                <a:schemeClr val="accent6"/>
                              </a:solidFill>
                              <a:latin typeface="Cambria Math" panose="02040503050406030204" pitchFamily="18" charset="0"/>
                            </a:rPr>
                            <m:t>2</m:t>
                          </m:r>
                          <m:r>
                            <a:rPr lang="en-GB" sz="1200" b="0" i="1" smtClean="0">
                              <a:solidFill>
                                <a:schemeClr val="accent6"/>
                              </a:solidFill>
                              <a:latin typeface="Cambria Math" panose="02040503050406030204" pitchFamily="18" charset="0"/>
                            </a:rPr>
                            <m:t>𝑥</m:t>
                          </m:r>
                          <m:r>
                            <a:rPr lang="en-GB" sz="1200" b="0" i="1" smtClean="0">
                              <a:solidFill>
                                <a:schemeClr val="accent6"/>
                              </a:solidFill>
                              <a:latin typeface="Cambria Math" panose="02040503050406030204" pitchFamily="18" charset="0"/>
                            </a:rPr>
                            <m:t>−4</m:t>
                          </m:r>
                        </m:e>
                      </m:d>
                    </m:oMath>
                  </m:oMathPara>
                </a14:m>
                <a:endParaRPr lang="en-GB"/>
              </a:p>
            </p:txBody>
          </p:sp>
        </mc:Choice>
        <mc:Fallback>
          <p:sp>
            <p:nvSpPr>
              <p:cNvPr id="36" name="TextBox 35"/>
              <p:cNvSpPr txBox="1">
                <a:spLocks noRot="1" noChangeAspect="1" noMove="1" noResize="1" noEditPoints="1" noAdjustHandles="1" noChangeArrowheads="1" noChangeShapeType="1" noTextEdit="1"/>
              </p:cNvSpPr>
              <p:nvPr/>
            </p:nvSpPr>
            <p:spPr>
              <a:xfrm rot="16931640">
                <a:off x="6358562" y="3945099"/>
                <a:ext cx="1815071" cy="276999"/>
              </a:xfrm>
              <a:prstGeom prst="rect">
                <a:avLst/>
              </a:prstGeom>
              <a:blipFill>
                <a:blip r:embed="rId17"/>
                <a:stretch>
                  <a:fillRect/>
                </a:stretch>
              </a:blipFill>
            </p:spPr>
            <p:txBody>
              <a:bodyPr/>
              <a:lstStyle/>
              <a:p>
                <a:r>
                  <a:rPr lang="en-US">
                    <a:noFill/>
                  </a:rPr>
                  <a:t> </a:t>
                </a:r>
              </a:p>
            </p:txBody>
          </p:sp>
        </mc:Fallback>
      </mc:AlternateContent>
      <p:sp>
        <p:nvSpPr>
          <p:cNvPr id="42" name="Freeform: Shape 41"/>
          <p:cNvSpPr/>
          <p:nvPr/>
        </p:nvSpPr>
        <p:spPr>
          <a:xfrm>
            <a:off x="5443870" y="3551274"/>
            <a:ext cx="2828261" cy="2881423"/>
          </a:xfrm>
          <a:custGeom>
            <a:avLst/>
            <a:gdLst>
              <a:gd name="connsiteX0" fmla="*/ 0 w 2828261"/>
              <a:gd name="connsiteY0" fmla="*/ 2881423 h 2881423"/>
              <a:gd name="connsiteX1" fmla="*/ 1105786 w 2828261"/>
              <a:gd name="connsiteY1" fmla="*/ 1446028 h 2881423"/>
              <a:gd name="connsiteX2" fmla="*/ 1807535 w 2828261"/>
              <a:gd name="connsiteY2" fmla="*/ 1988288 h 2881423"/>
              <a:gd name="connsiteX3" fmla="*/ 2264735 w 2828261"/>
              <a:gd name="connsiteY3" fmla="*/ 1637414 h 2881423"/>
              <a:gd name="connsiteX4" fmla="*/ 2668772 w 2828261"/>
              <a:gd name="connsiteY4" fmla="*/ 606056 h 2881423"/>
              <a:gd name="connsiteX5" fmla="*/ 2828261 w 2828261"/>
              <a:gd name="connsiteY5" fmla="*/ 0 h 2881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28261" h="2881423">
                <a:moveTo>
                  <a:pt x="0" y="2881423"/>
                </a:moveTo>
                <a:cubicBezTo>
                  <a:pt x="402265" y="2238153"/>
                  <a:pt x="804530" y="1594884"/>
                  <a:pt x="1105786" y="1446028"/>
                </a:cubicBezTo>
                <a:cubicBezTo>
                  <a:pt x="1407042" y="1297172"/>
                  <a:pt x="1614377" y="1956390"/>
                  <a:pt x="1807535" y="1988288"/>
                </a:cubicBezTo>
                <a:cubicBezTo>
                  <a:pt x="2000693" y="2020186"/>
                  <a:pt x="2121195" y="1867786"/>
                  <a:pt x="2264735" y="1637414"/>
                </a:cubicBezTo>
                <a:cubicBezTo>
                  <a:pt x="2408275" y="1407042"/>
                  <a:pt x="2574851" y="878958"/>
                  <a:pt x="2668772" y="606056"/>
                </a:cubicBezTo>
                <a:cubicBezTo>
                  <a:pt x="2762693" y="333154"/>
                  <a:pt x="2795477" y="166577"/>
                  <a:pt x="2828261"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 name="Freeform: Shape 42"/>
          <p:cNvSpPr/>
          <p:nvPr/>
        </p:nvSpPr>
        <p:spPr>
          <a:xfrm>
            <a:off x="5972389" y="3547651"/>
            <a:ext cx="1554484" cy="2881423"/>
          </a:xfrm>
          <a:custGeom>
            <a:avLst/>
            <a:gdLst>
              <a:gd name="connsiteX0" fmla="*/ 0 w 2828261"/>
              <a:gd name="connsiteY0" fmla="*/ 2881423 h 2881423"/>
              <a:gd name="connsiteX1" fmla="*/ 1105786 w 2828261"/>
              <a:gd name="connsiteY1" fmla="*/ 1446028 h 2881423"/>
              <a:gd name="connsiteX2" fmla="*/ 1807535 w 2828261"/>
              <a:gd name="connsiteY2" fmla="*/ 1988288 h 2881423"/>
              <a:gd name="connsiteX3" fmla="*/ 2264735 w 2828261"/>
              <a:gd name="connsiteY3" fmla="*/ 1637414 h 2881423"/>
              <a:gd name="connsiteX4" fmla="*/ 2668772 w 2828261"/>
              <a:gd name="connsiteY4" fmla="*/ 606056 h 2881423"/>
              <a:gd name="connsiteX5" fmla="*/ 2828261 w 2828261"/>
              <a:gd name="connsiteY5" fmla="*/ 0 h 2881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28261" h="2881423">
                <a:moveTo>
                  <a:pt x="0" y="2881423"/>
                </a:moveTo>
                <a:cubicBezTo>
                  <a:pt x="402265" y="2238153"/>
                  <a:pt x="804530" y="1594884"/>
                  <a:pt x="1105786" y="1446028"/>
                </a:cubicBezTo>
                <a:cubicBezTo>
                  <a:pt x="1407042" y="1297172"/>
                  <a:pt x="1614377" y="1956390"/>
                  <a:pt x="1807535" y="1988288"/>
                </a:cubicBezTo>
                <a:cubicBezTo>
                  <a:pt x="2000693" y="2020186"/>
                  <a:pt x="2121195" y="1867786"/>
                  <a:pt x="2264735" y="1637414"/>
                </a:cubicBezTo>
                <a:cubicBezTo>
                  <a:pt x="2408275" y="1407042"/>
                  <a:pt x="2574851" y="878958"/>
                  <a:pt x="2668772" y="606056"/>
                </a:cubicBezTo>
                <a:cubicBezTo>
                  <a:pt x="2762693" y="333154"/>
                  <a:pt x="2795477" y="166577"/>
                  <a:pt x="2828261" y="0"/>
                </a:cubicBezTo>
              </a:path>
            </a:pathLst>
          </a:cu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4" name="TextBox 43"/>
          <p:cNvSpPr txBox="1"/>
          <p:nvPr/>
        </p:nvSpPr>
        <p:spPr>
          <a:xfrm>
            <a:off x="7185454" y="4937896"/>
            <a:ext cx="391609" cy="369332"/>
          </a:xfrm>
          <a:prstGeom prst="rect">
            <a:avLst/>
          </a:prstGeom>
          <a:noFill/>
        </p:spPr>
        <p:txBody>
          <a:bodyPr wrap="square" rtlCol="0">
            <a:spAutoFit/>
          </a:bodyPr>
          <a:lstStyle/>
          <a:p>
            <a:r>
              <a:rPr lang="en-GB"/>
              <a:t>2</a:t>
            </a:r>
          </a:p>
        </p:txBody>
      </p:sp>
      <p:sp>
        <p:nvSpPr>
          <p:cNvPr id="41" name="Rectangle 40"/>
          <p:cNvSpPr/>
          <p:nvPr/>
        </p:nvSpPr>
        <p:spPr>
          <a:xfrm>
            <a:off x="4432024" y="1823154"/>
            <a:ext cx="4392998" cy="4794897"/>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Tree>
    <p:extLst>
      <p:ext uri="{BB962C8B-B14F-4D97-AF65-F5344CB8AC3E}">
        <p14:creationId xmlns:p14="http://schemas.microsoft.com/office/powerpoint/2010/main" val="143956816"/>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4"/>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4"/>
                                        </p:tgtEl>
                                      </p:cBhvr>
                                    </p:animEffect>
                                    <p:set>
                                      <p:cBhvr>
                                        <p:cTn id="7" dur="1" fill="hold">
                                          <p:stCondLst>
                                            <p:cond delay="499"/>
                                          </p:stCondLst>
                                        </p:cTn>
                                        <p:tgtEl>
                                          <p:spTgt spid="14"/>
                                        </p:tgtEl>
                                        <p:attrNameLst>
                                          <p:attrName>style.visibility</p:attrName>
                                        </p:attrNameLst>
                                      </p:cBhvr>
                                      <p:to>
                                        <p:strVal val="hidden"/>
                                      </p:to>
                                    </p:set>
                                  </p:childTnLst>
                                </p:cTn>
                              </p:par>
                            </p:childTnLst>
                          </p:cTn>
                        </p:par>
                      </p:childTnLst>
                    </p:cTn>
                  </p:par>
                </p:childTnLst>
              </p:cTn>
              <p:nextCondLst>
                <p:cond evt="onClick" delay="0">
                  <p:tgtEl>
                    <p:spTgt spid="14"/>
                  </p:tgtEl>
                </p:cond>
              </p:nextCondLst>
            </p:seq>
            <p:seq concurrent="1" nextAc="seek">
              <p:cTn id="8" restart="whenNotActive" fill="hold" evtFilter="cancelBubble" nodeType="interactiveSeq">
                <p:stCondLst>
                  <p:cond evt="onClick" delay="0">
                    <p:tgtEl>
                      <p:spTgt spid="41"/>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41"/>
                                        </p:tgtEl>
                                      </p:cBhvr>
                                    </p:animEffect>
                                    <p:set>
                                      <p:cBhvr>
                                        <p:cTn id="13" dur="1" fill="hold">
                                          <p:stCondLst>
                                            <p:cond delay="499"/>
                                          </p:stCondLst>
                                        </p:cTn>
                                        <p:tgtEl>
                                          <p:spTgt spid="41"/>
                                        </p:tgtEl>
                                        <p:attrNameLst>
                                          <p:attrName>style.visibility</p:attrName>
                                        </p:attrNameLst>
                                      </p:cBhvr>
                                      <p:to>
                                        <p:strVal val="hidden"/>
                                      </p:to>
                                    </p:set>
                                  </p:childTnLst>
                                </p:cTn>
                              </p:par>
                            </p:childTnLst>
                          </p:cTn>
                        </p:par>
                      </p:childTnLst>
                    </p:cTn>
                  </p:par>
                </p:childTnLst>
              </p:cTn>
              <p:nextCondLst>
                <p:cond evt="onClick" delay="0">
                  <p:tgtEl>
                    <p:spTgt spid="41"/>
                  </p:tgtEl>
                </p:cond>
              </p:nextCondLst>
            </p:seq>
          </p:childTnLst>
        </p:cTn>
      </p:par>
    </p:tnLst>
    <p:bldLst>
      <p:bldP spid="14" grpId="0" animBg="1"/>
      <p:bldP spid="41"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vert="horz" wrap="square" lIns="324000" tIns="45720" rIns="91440" bIns="45720" rtlCol="0" anchor="ctr">
              <a:spAutoFit/>
            </a:bodyPr>
            <a:lstStyle>
              <a:defPPr>
                <a:defRPr lang="en-US"/>
              </a:defPPr>
              <a:lvl1pPr>
                <a:spcBef>
                  <a:spcPct val="0"/>
                </a:spcBef>
                <a:buNone/>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a:t>Reflections of Graphs</a:t>
              </a:r>
            </a:p>
          </p:txBody>
        </p:sp>
        <p:cxnSp>
          <p:nvCxnSpPr>
            <p:cNvPr id="4" name="Straight Connector 3"/>
            <p:cNvCxnSpPr/>
            <p:nvPr/>
          </p:nvCxnSpPr>
          <p:spPr>
            <a:xfrm>
              <a:off x="218" y="601079"/>
              <a:ext cx="9144000" cy="0"/>
            </a:xfrm>
            <a:prstGeom prst="line">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mc:Choice xmlns:a14="http://schemas.microsoft.com/office/drawing/2010/main" Requires="a14">
          <p:sp>
            <p:nvSpPr>
              <p:cNvPr id="5" name="TextBox 4"/>
              <p:cNvSpPr txBox="1"/>
              <p:nvPr/>
            </p:nvSpPr>
            <p:spPr>
              <a:xfrm>
                <a:off x="251520" y="790951"/>
                <a:ext cx="7056784" cy="369332"/>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a:t>If </a:t>
                </a:r>
                <a14:m>
                  <m:oMath xmlns:m="http://schemas.openxmlformats.org/officeDocument/2006/math">
                    <m:r>
                      <a:rPr lang="en-GB" b="0" i="1" smtClean="0">
                        <a:latin typeface="Cambria Math" panose="02040503050406030204" pitchFamily="18" charset="0"/>
                      </a:rPr>
                      <m:t>𝑦</m:t>
                    </m:r>
                    <m:r>
                      <a:rPr lang="en-GB" b="0" i="1" smtClean="0">
                        <a:latin typeface="Cambria Math" panose="02040503050406030204" pitchFamily="18" charset="0"/>
                      </a:rPr>
                      <m:t>=</m:t>
                    </m:r>
                    <m:r>
                      <a:rPr lang="en-GB" b="0" i="1" smtClean="0">
                        <a:latin typeface="Cambria Math" panose="02040503050406030204" pitchFamily="18" charset="0"/>
                      </a:rPr>
                      <m:t>𝑥</m:t>
                    </m:r>
                    <m:r>
                      <a:rPr lang="en-GB" b="0" i="1" smtClean="0">
                        <a:latin typeface="Cambria Math" panose="02040503050406030204" pitchFamily="18" charset="0"/>
                      </a:rPr>
                      <m:t>(</m:t>
                    </m:r>
                    <m:r>
                      <a:rPr lang="en-GB" b="0" i="1" smtClean="0">
                        <a:latin typeface="Cambria Math" panose="02040503050406030204" pitchFamily="18" charset="0"/>
                      </a:rPr>
                      <m:t>𝑥</m:t>
                    </m:r>
                    <m:r>
                      <a:rPr lang="en-GB" b="0" i="1" smtClean="0">
                        <a:latin typeface="Cambria Math" panose="02040503050406030204" pitchFamily="18" charset="0"/>
                      </a:rPr>
                      <m:t>+2)</m:t>
                    </m:r>
                  </m:oMath>
                </a14:m>
                <a:r>
                  <a:rPr lang="en-GB"/>
                  <a:t>, sketch </a:t>
                </a:r>
                <a14:m>
                  <m:oMath xmlns:m="http://schemas.openxmlformats.org/officeDocument/2006/math">
                    <m:r>
                      <a:rPr lang="en-GB" b="0" i="1" smtClean="0">
                        <a:latin typeface="Cambria Math" panose="02040503050406030204" pitchFamily="18" charset="0"/>
                      </a:rPr>
                      <m:t>𝑦</m:t>
                    </m:r>
                    <m:r>
                      <a:rPr lang="en-GB" b="0" i="1" smtClean="0">
                        <a:latin typeface="Cambria Math" panose="02040503050406030204" pitchFamily="18" charset="0"/>
                      </a:rPr>
                      <m:t>=</m:t>
                    </m:r>
                    <m:r>
                      <a:rPr lang="en-GB" b="0" i="1" smtClean="0">
                        <a:latin typeface="Cambria Math" panose="02040503050406030204" pitchFamily="18" charset="0"/>
                      </a:rPr>
                      <m:t>𝑓</m:t>
                    </m:r>
                    <m:r>
                      <a:rPr lang="en-GB" b="0" i="1" smtClean="0">
                        <a:latin typeface="Cambria Math" panose="02040503050406030204" pitchFamily="18" charset="0"/>
                      </a:rPr>
                      <m:t>(</m:t>
                    </m:r>
                    <m:r>
                      <a:rPr lang="en-GB" b="0" i="1" smtClean="0">
                        <a:latin typeface="Cambria Math" panose="02040503050406030204" pitchFamily="18" charset="0"/>
                      </a:rPr>
                      <m:t>𝑥</m:t>
                    </m:r>
                    <m:r>
                      <a:rPr lang="en-GB" b="0" i="1" smtClean="0">
                        <a:latin typeface="Cambria Math" panose="02040503050406030204" pitchFamily="18" charset="0"/>
                      </a:rPr>
                      <m:t>)</m:t>
                    </m:r>
                  </m:oMath>
                </a14:m>
                <a:r>
                  <a:rPr lang="en-GB"/>
                  <a:t> and </a:t>
                </a:r>
                <a14:m>
                  <m:oMath xmlns:m="http://schemas.openxmlformats.org/officeDocument/2006/math">
                    <m:r>
                      <a:rPr lang="en-GB" b="0" i="1" smtClean="0">
                        <a:latin typeface="Cambria Math" panose="02040503050406030204" pitchFamily="18" charset="0"/>
                      </a:rPr>
                      <m:t>𝑦</m:t>
                    </m:r>
                    <m:r>
                      <a:rPr lang="en-GB" b="0" i="1" smtClean="0">
                        <a:latin typeface="Cambria Math" panose="02040503050406030204" pitchFamily="18" charset="0"/>
                      </a:rPr>
                      <m:t>=−</m:t>
                    </m:r>
                    <m:r>
                      <a:rPr lang="en-GB" b="0" i="1" smtClean="0">
                        <a:latin typeface="Cambria Math" panose="02040503050406030204" pitchFamily="18" charset="0"/>
                      </a:rPr>
                      <m:t>𝑓</m:t>
                    </m:r>
                    <m:r>
                      <a:rPr lang="en-GB" b="0" i="1" smtClean="0">
                        <a:latin typeface="Cambria Math" panose="02040503050406030204" pitchFamily="18" charset="0"/>
                      </a:rPr>
                      <m:t>(</m:t>
                    </m:r>
                    <m:r>
                      <a:rPr lang="en-GB" b="0" i="1" smtClean="0">
                        <a:latin typeface="Cambria Math" panose="02040503050406030204" pitchFamily="18" charset="0"/>
                      </a:rPr>
                      <m:t>𝑥</m:t>
                    </m:r>
                    <m:r>
                      <a:rPr lang="en-GB" b="0" i="1" smtClean="0">
                        <a:latin typeface="Cambria Math" panose="02040503050406030204" pitchFamily="18" charset="0"/>
                      </a:rPr>
                      <m:t>)</m:t>
                    </m:r>
                  </m:oMath>
                </a14:m>
                <a:r>
                  <a:rPr lang="en-GB"/>
                  <a:t> on the same axes.</a:t>
                </a:r>
              </a:p>
            </p:txBody>
          </p:sp>
        </mc:Choice>
        <mc:Fallback>
          <p:sp>
            <p:nvSpPr>
              <p:cNvPr id="5" name="TextBox 4"/>
              <p:cNvSpPr txBox="1">
                <a:spLocks noRot="1" noChangeAspect="1" noMove="1" noResize="1" noEditPoints="1" noAdjustHandles="1" noChangeArrowheads="1" noChangeShapeType="1" noTextEdit="1"/>
              </p:cNvSpPr>
              <p:nvPr/>
            </p:nvSpPr>
            <p:spPr>
              <a:xfrm>
                <a:off x="251520" y="790951"/>
                <a:ext cx="7056784" cy="369332"/>
              </a:xfrm>
              <a:prstGeom prst="rect">
                <a:avLst/>
              </a:prstGeom>
              <a:blipFill>
                <a:blip r:embed="rId2"/>
                <a:stretch>
                  <a:fillRect b="-4878"/>
                </a:stretch>
              </a:blipFill>
              <a:effectLst>
                <a:outerShdw blurRad="63500" sx="102000" sy="102000" algn="ctr" rotWithShape="0">
                  <a:prstClr val="black">
                    <a:alpha val="40000"/>
                  </a:prstClr>
                </a:outerShdw>
              </a:effectLst>
            </p:spPr>
            <p:txBody>
              <a:bodyPr/>
              <a:lstStyle/>
              <a:p>
                <a:r>
                  <a:rPr lang="en-US">
                    <a:noFill/>
                  </a:rPr>
                  <a:t> </a:t>
                </a:r>
              </a:p>
            </p:txBody>
          </p:sp>
        </mc:Fallback>
      </mc:AlternateContent>
      <p:sp>
        <p:nvSpPr>
          <p:cNvPr id="6" name="Freeform: Shape 5"/>
          <p:cNvSpPr/>
          <p:nvPr/>
        </p:nvSpPr>
        <p:spPr>
          <a:xfrm>
            <a:off x="871870" y="3211033"/>
            <a:ext cx="2317898" cy="1829136"/>
          </a:xfrm>
          <a:custGeom>
            <a:avLst/>
            <a:gdLst>
              <a:gd name="connsiteX0" fmla="*/ 0 w 2317898"/>
              <a:gd name="connsiteY0" fmla="*/ 0 h 1829136"/>
              <a:gd name="connsiteX1" fmla="*/ 829340 w 2317898"/>
              <a:gd name="connsiteY1" fmla="*/ 1531088 h 1829136"/>
              <a:gd name="connsiteX2" fmla="*/ 1222744 w 2317898"/>
              <a:gd name="connsiteY2" fmla="*/ 1828800 h 1829136"/>
              <a:gd name="connsiteX3" fmla="*/ 1626782 w 2317898"/>
              <a:gd name="connsiteY3" fmla="*/ 1520455 h 1829136"/>
              <a:gd name="connsiteX4" fmla="*/ 2317898 w 2317898"/>
              <a:gd name="connsiteY4" fmla="*/ 74428 h 18291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7898" h="1829136">
                <a:moveTo>
                  <a:pt x="0" y="0"/>
                </a:moveTo>
                <a:cubicBezTo>
                  <a:pt x="312774" y="613144"/>
                  <a:pt x="625549" y="1226288"/>
                  <a:pt x="829340" y="1531088"/>
                </a:cubicBezTo>
                <a:cubicBezTo>
                  <a:pt x="1033131" y="1835888"/>
                  <a:pt x="1089837" y="1830572"/>
                  <a:pt x="1222744" y="1828800"/>
                </a:cubicBezTo>
                <a:cubicBezTo>
                  <a:pt x="1355651" y="1827028"/>
                  <a:pt x="1444256" y="1812850"/>
                  <a:pt x="1626782" y="1520455"/>
                </a:cubicBezTo>
                <a:cubicBezTo>
                  <a:pt x="1809308" y="1228060"/>
                  <a:pt x="2063603" y="651244"/>
                  <a:pt x="2317898" y="74428"/>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mc:Choice xmlns:a14="http://schemas.microsoft.com/office/drawing/2010/main" Requires="a14">
          <p:sp>
            <p:nvSpPr>
              <p:cNvPr id="7" name="TextBox 6"/>
              <p:cNvSpPr txBox="1"/>
              <p:nvPr/>
            </p:nvSpPr>
            <p:spPr>
              <a:xfrm>
                <a:off x="861178" y="1312323"/>
                <a:ext cx="3781364" cy="954107"/>
              </a:xfrm>
              <a:prstGeom prst="rect">
                <a:avLst/>
              </a:prstGeom>
              <a:noFill/>
            </p:spPr>
            <p:txBody>
              <a:bodyPr wrap="square" rtlCol="0">
                <a:spAutoFit/>
              </a:bodyPr>
              <a:lstStyle/>
              <a:p>
                <a:r>
                  <a:rPr lang="en-GB" sz="1400"/>
                  <a:t>You did this at GCSE. The minus is outside the function, so affects the output, i.e. the </a:t>
                </a:r>
                <a14:m>
                  <m:oMath xmlns:m="http://schemas.openxmlformats.org/officeDocument/2006/math">
                    <m:r>
                      <a:rPr lang="en-GB" sz="1400" b="0" i="1" smtClean="0">
                        <a:latin typeface="Cambria Math" panose="02040503050406030204" pitchFamily="18" charset="0"/>
                      </a:rPr>
                      <m:t>𝑦</m:t>
                    </m:r>
                  </m:oMath>
                </a14:m>
                <a:r>
                  <a:rPr lang="en-GB" sz="1400"/>
                  <a:t> value.</a:t>
                </a:r>
              </a:p>
              <a:p>
                <a:r>
                  <a:rPr lang="en-GB" sz="1400"/>
                  <a:t>The </a:t>
                </a:r>
                <a14:m>
                  <m:oMath xmlns:m="http://schemas.openxmlformats.org/officeDocument/2006/math">
                    <m:r>
                      <a:rPr lang="en-GB" sz="1400" b="0" i="1" smtClean="0">
                        <a:latin typeface="Cambria Math" panose="02040503050406030204" pitchFamily="18" charset="0"/>
                      </a:rPr>
                      <m:t>𝑦</m:t>
                    </m:r>
                  </m:oMath>
                </a14:m>
                <a:r>
                  <a:rPr lang="en-GB" sz="1400"/>
                  <a:t> values are negated, resulting in a reflection in the </a:t>
                </a:r>
                <a14:m>
                  <m:oMath xmlns:m="http://schemas.openxmlformats.org/officeDocument/2006/math">
                    <m:r>
                      <a:rPr lang="en-GB" sz="1400" b="0" i="1" smtClean="0">
                        <a:latin typeface="Cambria Math" panose="02040503050406030204" pitchFamily="18" charset="0"/>
                      </a:rPr>
                      <m:t>𝑥</m:t>
                    </m:r>
                  </m:oMath>
                </a14:m>
                <a:r>
                  <a:rPr lang="en-GB" sz="1400"/>
                  <a:t>-axis.</a:t>
                </a:r>
              </a:p>
            </p:txBody>
          </p:sp>
        </mc:Choice>
        <mc:Fallback>
          <p:sp>
            <p:nvSpPr>
              <p:cNvPr id="7" name="TextBox 6"/>
              <p:cNvSpPr txBox="1">
                <a:spLocks noRot="1" noChangeAspect="1" noMove="1" noResize="1" noEditPoints="1" noAdjustHandles="1" noChangeArrowheads="1" noChangeShapeType="1" noTextEdit="1"/>
              </p:cNvSpPr>
              <p:nvPr/>
            </p:nvSpPr>
            <p:spPr>
              <a:xfrm>
                <a:off x="861178" y="1312323"/>
                <a:ext cx="3781364" cy="954107"/>
              </a:xfrm>
              <a:prstGeom prst="rect">
                <a:avLst/>
              </a:prstGeom>
              <a:blipFill>
                <a:blip r:embed="rId3"/>
                <a:stretch>
                  <a:fillRect l="-334" t="-1316" r="-669" b="-6579"/>
                </a:stretch>
              </a:blipFill>
            </p:spPr>
            <p:txBody>
              <a:bodyPr/>
              <a:lstStyle/>
              <a:p>
                <a:r>
                  <a:rPr lang="en-US">
                    <a:noFill/>
                  </a:rPr>
                  <a:t> </a:t>
                </a:r>
              </a:p>
            </p:txBody>
          </p:sp>
        </mc:Fallback>
      </mc:AlternateContent>
      <p:cxnSp>
        <p:nvCxnSpPr>
          <p:cNvPr id="8" name="Straight Arrow Connector 7"/>
          <p:cNvCxnSpPr/>
          <p:nvPr/>
        </p:nvCxnSpPr>
        <p:spPr>
          <a:xfrm>
            <a:off x="763454" y="4738952"/>
            <a:ext cx="3516807" cy="755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9" name="Straight Arrow Connector 8"/>
          <p:cNvCxnSpPr/>
          <p:nvPr/>
        </p:nvCxnSpPr>
        <p:spPr>
          <a:xfrm flipV="1">
            <a:off x="2491926" y="2825047"/>
            <a:ext cx="0" cy="3508911"/>
          </a:xfrm>
          <a:prstGeom prst="straightConnector1">
            <a:avLst/>
          </a:prstGeom>
          <a:ln>
            <a:tailEnd type="arrow"/>
          </a:ln>
        </p:spPr>
        <p:style>
          <a:lnRef idx="2">
            <a:schemeClr val="dk1"/>
          </a:lnRef>
          <a:fillRef idx="0">
            <a:schemeClr val="dk1"/>
          </a:fillRef>
          <a:effectRef idx="1">
            <a:schemeClr val="dk1"/>
          </a:effectRef>
          <a:fontRef idx="minor">
            <a:schemeClr val="tx1"/>
          </a:fontRef>
        </p:style>
      </p:cxnSp>
      <mc:AlternateContent xmlns:mc="http://schemas.openxmlformats.org/markup-compatibility/2006">
        <mc:Choice xmlns:a14="http://schemas.microsoft.com/office/drawing/2010/main" Requires="a14">
          <p:sp>
            <p:nvSpPr>
              <p:cNvPr id="10" name="TextBox 9"/>
              <p:cNvSpPr txBox="1"/>
              <p:nvPr/>
            </p:nvSpPr>
            <p:spPr>
              <a:xfrm>
                <a:off x="2317200" y="2485439"/>
                <a:ext cx="360040" cy="369332"/>
              </a:xfrm>
              <a:prstGeom prst="rect">
                <a:avLst/>
              </a:prstGeom>
              <a:noFill/>
            </p:spPr>
            <p:txBody>
              <a:bodyPr wrap="square" rtlCol="0">
                <a:spAutoFit/>
              </a:bodyPr>
              <a:lstStyle/>
              <a:p>
                <a:pPr/>
                <a14:m>
                  <m:oMathPara xmlns:m="http://schemas.openxmlformats.org/officeDocument/2006/math">
                    <m:oMath>
                      <m:r>
                        <a:rPr lang="en-GB" i="1" dirty="0" smtClean="0">
                          <a:latin typeface="Cambria Math" panose="02040503050406030204" pitchFamily="18" charset="0"/>
                        </a:rPr>
                        <m:t>𝑦</m:t>
                      </m:r>
                    </m:oMath>
                  </m:oMathPara>
                </a14:m>
                <a:endParaRPr lang="en-GB"/>
              </a:p>
            </p:txBody>
          </p:sp>
        </mc:Choice>
        <mc:Fallback>
          <p:sp>
            <p:nvSpPr>
              <p:cNvPr id="10" name="TextBox 9"/>
              <p:cNvSpPr txBox="1">
                <a:spLocks noRot="1" noChangeAspect="1" noMove="1" noResize="1" noEditPoints="1" noAdjustHandles="1" noChangeArrowheads="1" noChangeShapeType="1" noTextEdit="1"/>
              </p:cNvSpPr>
              <p:nvPr/>
            </p:nvSpPr>
            <p:spPr>
              <a:xfrm>
                <a:off x="2317200" y="2485439"/>
                <a:ext cx="360040" cy="369332"/>
              </a:xfrm>
              <a:prstGeom prst="rect">
                <a:avLst/>
              </a:prstGeom>
              <a:blipFill>
                <a:blip r:embed="rId4"/>
                <a:stretch>
                  <a:fillRect b="-100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1" name="TextBox 10"/>
              <p:cNvSpPr txBox="1"/>
              <p:nvPr/>
            </p:nvSpPr>
            <p:spPr>
              <a:xfrm rot="17653749">
                <a:off x="2459316" y="3492647"/>
                <a:ext cx="1462522" cy="276999"/>
              </a:xfrm>
              <a:prstGeom prst="rect">
                <a:avLst/>
              </a:prstGeom>
              <a:noFill/>
            </p:spPr>
            <p:txBody>
              <a:bodyPr wrap="square" rtlCol="0">
                <a:spAutoFit/>
              </a:bodyPr>
              <a:lstStyle/>
              <a:p>
                <a:pPr/>
                <a14:m>
                  <m:oMathPara xmlns:m="http://schemas.openxmlformats.org/officeDocument/2006/math">
                    <m:oMath>
                      <m:r>
                        <a:rPr lang="en-GB" sz="1200" b="0" i="1" smtClean="0">
                          <a:solidFill>
                            <a:schemeClr val="accent4"/>
                          </a:solidFill>
                          <a:latin typeface="Cambria Math" panose="02040503050406030204" pitchFamily="18" charset="0"/>
                        </a:rPr>
                        <m:t>𝑦</m:t>
                      </m:r>
                      <m:r>
                        <a:rPr lang="en-GB" sz="1200" b="0" i="1" smtClean="0">
                          <a:solidFill>
                            <a:schemeClr val="accent4"/>
                          </a:solidFill>
                          <a:latin typeface="Cambria Math" panose="02040503050406030204" pitchFamily="18" charset="0"/>
                        </a:rPr>
                        <m:t>=</m:t>
                      </m:r>
                      <m:r>
                        <a:rPr lang="en-GB" sz="1200" b="0" i="1" smtClean="0">
                          <a:solidFill>
                            <a:schemeClr val="accent4"/>
                          </a:solidFill>
                          <a:latin typeface="Cambria Math" panose="02040503050406030204" pitchFamily="18" charset="0"/>
                        </a:rPr>
                        <m:t>𝑓</m:t>
                      </m:r>
                      <m:d>
                        <m:dPr>
                          <m:ctrlPr>
                            <a:rPr lang="en-GB" sz="1200" b="0" i="1" smtClean="0">
                              <a:solidFill>
                                <a:schemeClr val="accent4"/>
                              </a:solidFill>
                              <a:latin typeface="Cambria Math" panose="02040503050406030204" pitchFamily="18" charset="0"/>
                            </a:rPr>
                          </m:ctrlPr>
                        </m:dPr>
                        <m:e>
                          <m:r>
                            <a:rPr lang="en-GB" sz="1200" b="0" i="1" smtClean="0">
                              <a:solidFill>
                                <a:schemeClr val="accent4"/>
                              </a:solidFill>
                              <a:latin typeface="Cambria Math" panose="02040503050406030204" pitchFamily="18" charset="0"/>
                            </a:rPr>
                            <m:t>𝑥</m:t>
                          </m:r>
                        </m:e>
                      </m:d>
                    </m:oMath>
                  </m:oMathPara>
                </a14:m>
                <a:endParaRPr lang="en-GB"/>
              </a:p>
            </p:txBody>
          </p:sp>
        </mc:Choice>
        <mc:Fallback>
          <p:sp>
            <p:nvSpPr>
              <p:cNvPr id="11" name="TextBox 10"/>
              <p:cNvSpPr txBox="1">
                <a:spLocks noRot="1" noChangeAspect="1" noMove="1" noResize="1" noEditPoints="1" noAdjustHandles="1" noChangeArrowheads="1" noChangeShapeType="1" noTextEdit="1"/>
              </p:cNvSpPr>
              <p:nvPr/>
            </p:nvSpPr>
            <p:spPr>
              <a:xfrm rot="17653749">
                <a:off x="2459316" y="3492647"/>
                <a:ext cx="1462522" cy="276999"/>
              </a:xfrm>
              <a:prstGeom prst="rect">
                <a:avLst/>
              </a:prstGeom>
              <a:blipFill>
                <a:blip r:embed="rId5"/>
                <a:stretch>
                  <a:fillRect/>
                </a:stretch>
              </a:blipFill>
            </p:spPr>
            <p:txBody>
              <a:bodyPr/>
              <a:lstStyle/>
              <a:p>
                <a:r>
                  <a:rPr lang="en-US">
                    <a:noFill/>
                  </a:rPr>
                  <a:t> </a:t>
                </a:r>
              </a:p>
            </p:txBody>
          </p:sp>
        </mc:Fallback>
      </mc:AlternateContent>
      <p:sp>
        <p:nvSpPr>
          <p:cNvPr id="12" name="TextBox 11"/>
          <p:cNvSpPr txBox="1"/>
          <p:nvPr/>
        </p:nvSpPr>
        <p:spPr>
          <a:xfrm>
            <a:off x="1504988" y="4728422"/>
            <a:ext cx="391609" cy="369332"/>
          </a:xfrm>
          <a:prstGeom prst="rect">
            <a:avLst/>
          </a:prstGeom>
          <a:noFill/>
        </p:spPr>
        <p:txBody>
          <a:bodyPr wrap="square" rtlCol="0">
            <a:spAutoFit/>
          </a:bodyPr>
          <a:lstStyle/>
          <a:p>
            <a:r>
              <a:rPr lang="en-GB"/>
              <a:t>-2</a:t>
            </a:r>
          </a:p>
        </p:txBody>
      </p:sp>
      <mc:AlternateContent xmlns:mc="http://schemas.openxmlformats.org/markup-compatibility/2006">
        <mc:Choice xmlns:a14="http://schemas.microsoft.com/office/drawing/2010/main" Requires="a14">
          <p:sp>
            <p:nvSpPr>
              <p:cNvPr id="15" name="TextBox 14"/>
              <p:cNvSpPr txBox="1"/>
              <p:nvPr/>
            </p:nvSpPr>
            <p:spPr>
              <a:xfrm>
                <a:off x="1578175" y="4146660"/>
                <a:ext cx="988179" cy="276999"/>
              </a:xfrm>
              <a:prstGeom prst="rect">
                <a:avLst/>
              </a:prstGeom>
              <a:noFill/>
            </p:spPr>
            <p:txBody>
              <a:bodyPr wrap="square" rtlCol="0">
                <a:spAutoFit/>
              </a:bodyPr>
              <a:lstStyle/>
              <a:p>
                <a:pPr/>
                <a14:m>
                  <m:oMathPara xmlns:m="http://schemas.openxmlformats.org/officeDocument/2006/math">
                    <m:oMath>
                      <m:r>
                        <a:rPr lang="en-GB" sz="1200" b="1" i="1" smtClean="0">
                          <a:solidFill>
                            <a:schemeClr val="accent6"/>
                          </a:solidFill>
                          <a:latin typeface="Cambria Math" panose="02040503050406030204" pitchFamily="18" charset="0"/>
                        </a:rPr>
                        <m:t>𝒚</m:t>
                      </m:r>
                      <m:r>
                        <a:rPr lang="en-GB" sz="1200" b="1" i="1" smtClean="0">
                          <a:solidFill>
                            <a:schemeClr val="accent6"/>
                          </a:solidFill>
                          <a:latin typeface="Cambria Math" panose="02040503050406030204" pitchFamily="18" charset="0"/>
                        </a:rPr>
                        <m:t>=−</m:t>
                      </m:r>
                      <m:r>
                        <a:rPr lang="en-GB" sz="1200" b="1" i="1" smtClean="0">
                          <a:solidFill>
                            <a:schemeClr val="accent6"/>
                          </a:solidFill>
                          <a:latin typeface="Cambria Math" panose="02040503050406030204" pitchFamily="18" charset="0"/>
                        </a:rPr>
                        <m:t>𝒇</m:t>
                      </m:r>
                      <m:d>
                        <m:dPr>
                          <m:ctrlPr>
                            <a:rPr lang="en-GB" sz="1200" b="1" i="1" smtClean="0">
                              <a:solidFill>
                                <a:schemeClr val="accent6"/>
                              </a:solidFill>
                              <a:latin typeface="Cambria Math" panose="02040503050406030204" pitchFamily="18" charset="0"/>
                            </a:rPr>
                          </m:ctrlPr>
                        </m:dPr>
                        <m:e>
                          <m:r>
                            <a:rPr lang="en-GB" sz="1200" b="1" i="1" smtClean="0">
                              <a:solidFill>
                                <a:schemeClr val="accent6"/>
                              </a:solidFill>
                              <a:latin typeface="Cambria Math" panose="02040503050406030204" pitchFamily="18" charset="0"/>
                            </a:rPr>
                            <m:t>𝒙</m:t>
                          </m:r>
                        </m:e>
                      </m:d>
                    </m:oMath>
                  </m:oMathPara>
                </a14:m>
                <a:endParaRPr lang="en-GB" b="1"/>
              </a:p>
            </p:txBody>
          </p:sp>
        </mc:Choice>
        <mc:Fallback>
          <p:sp>
            <p:nvSpPr>
              <p:cNvPr id="15" name="TextBox 14"/>
              <p:cNvSpPr txBox="1">
                <a:spLocks noRot="1" noChangeAspect="1" noMove="1" noResize="1" noEditPoints="1" noAdjustHandles="1" noChangeArrowheads="1" noChangeShapeType="1" noTextEdit="1"/>
              </p:cNvSpPr>
              <p:nvPr/>
            </p:nvSpPr>
            <p:spPr>
              <a:xfrm>
                <a:off x="1578175" y="4146660"/>
                <a:ext cx="988179" cy="276999"/>
              </a:xfrm>
              <a:prstGeom prst="rect">
                <a:avLst/>
              </a:prstGeom>
              <a:blipFill>
                <a:blip r:embed="rId6"/>
                <a:stretch>
                  <a:fillRect b="-4348"/>
                </a:stretch>
              </a:blipFill>
            </p:spPr>
            <p:txBody>
              <a:bodyPr/>
              <a:lstStyle/>
              <a:p>
                <a:r>
                  <a:rPr lang="en-US">
                    <a:noFill/>
                  </a:rPr>
                  <a:t> </a:t>
                </a:r>
              </a:p>
            </p:txBody>
          </p:sp>
        </mc:Fallback>
      </mc:AlternateContent>
      <p:sp>
        <p:nvSpPr>
          <p:cNvPr id="20" name="Freeform: Shape 19"/>
          <p:cNvSpPr/>
          <p:nvPr/>
        </p:nvSpPr>
        <p:spPr>
          <a:xfrm flipV="1">
            <a:off x="884521" y="4434249"/>
            <a:ext cx="2317898" cy="1829136"/>
          </a:xfrm>
          <a:custGeom>
            <a:avLst/>
            <a:gdLst>
              <a:gd name="connsiteX0" fmla="*/ 0 w 2317898"/>
              <a:gd name="connsiteY0" fmla="*/ 0 h 1829136"/>
              <a:gd name="connsiteX1" fmla="*/ 829340 w 2317898"/>
              <a:gd name="connsiteY1" fmla="*/ 1531088 h 1829136"/>
              <a:gd name="connsiteX2" fmla="*/ 1222744 w 2317898"/>
              <a:gd name="connsiteY2" fmla="*/ 1828800 h 1829136"/>
              <a:gd name="connsiteX3" fmla="*/ 1626782 w 2317898"/>
              <a:gd name="connsiteY3" fmla="*/ 1520455 h 1829136"/>
              <a:gd name="connsiteX4" fmla="*/ 2317898 w 2317898"/>
              <a:gd name="connsiteY4" fmla="*/ 74428 h 18291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7898" h="1829136">
                <a:moveTo>
                  <a:pt x="0" y="0"/>
                </a:moveTo>
                <a:cubicBezTo>
                  <a:pt x="312774" y="613144"/>
                  <a:pt x="625549" y="1226288"/>
                  <a:pt x="829340" y="1531088"/>
                </a:cubicBezTo>
                <a:cubicBezTo>
                  <a:pt x="1033131" y="1835888"/>
                  <a:pt x="1089837" y="1830572"/>
                  <a:pt x="1222744" y="1828800"/>
                </a:cubicBezTo>
                <a:cubicBezTo>
                  <a:pt x="1355651" y="1827028"/>
                  <a:pt x="1444256" y="1812850"/>
                  <a:pt x="1626782" y="1520455"/>
                </a:cubicBezTo>
                <a:cubicBezTo>
                  <a:pt x="1809308" y="1228060"/>
                  <a:pt x="2063603" y="651244"/>
                  <a:pt x="2317898" y="74428"/>
                </a:cubicBezTo>
              </a:path>
            </a:pathLst>
          </a:cu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mc:Choice xmlns:a14="http://schemas.microsoft.com/office/drawing/2010/main" Requires="a14">
          <p:sp>
            <p:nvSpPr>
              <p:cNvPr id="21" name="TextBox 20"/>
              <p:cNvSpPr txBox="1"/>
              <p:nvPr/>
            </p:nvSpPr>
            <p:spPr>
              <a:xfrm>
                <a:off x="4238505" y="4583326"/>
                <a:ext cx="360040" cy="369332"/>
              </a:xfrm>
              <a:prstGeom prst="rect">
                <a:avLst/>
              </a:prstGeom>
              <a:noFill/>
            </p:spPr>
            <p:txBody>
              <a:bodyPr wrap="square" rtlCol="0">
                <a:spAutoFit/>
              </a:bodyPr>
              <a:lstStyle/>
              <a:p>
                <a:pPr/>
                <a14:m>
                  <m:oMathPara xmlns:m="http://schemas.openxmlformats.org/officeDocument/2006/math">
                    <m:oMath>
                      <m:r>
                        <a:rPr lang="en-GB" b="0" i="1" dirty="0" smtClean="0">
                          <a:latin typeface="Cambria Math" panose="02040503050406030204" pitchFamily="18" charset="0"/>
                        </a:rPr>
                        <m:t>𝑥</m:t>
                      </m:r>
                    </m:oMath>
                  </m:oMathPara>
                </a14:m>
                <a:endParaRPr lang="en-GB"/>
              </a:p>
            </p:txBody>
          </p:sp>
        </mc:Choice>
        <mc:Fallback>
          <p:sp>
            <p:nvSpPr>
              <p:cNvPr id="21" name="TextBox 20"/>
              <p:cNvSpPr txBox="1">
                <a:spLocks noRot="1" noChangeAspect="1" noMove="1" noResize="1" noEditPoints="1" noAdjustHandles="1" noChangeArrowheads="1" noChangeShapeType="1" noTextEdit="1"/>
              </p:cNvSpPr>
              <p:nvPr/>
            </p:nvSpPr>
            <p:spPr>
              <a:xfrm>
                <a:off x="4238505" y="4583326"/>
                <a:ext cx="360040" cy="369332"/>
              </a:xfrm>
              <a:prstGeom prst="rect">
                <a:avLst/>
              </a:prstGeom>
              <a:blipFill>
                <a:blip r:embed="rId7"/>
                <a:stretch>
                  <a:fillRect/>
                </a:stretch>
              </a:blipFill>
            </p:spPr>
            <p:txBody>
              <a:bodyPr/>
              <a:lstStyle/>
              <a:p>
                <a:r>
                  <a:rPr lang="en-US">
                    <a:noFill/>
                  </a:rPr>
                  <a:t> </a:t>
                </a:r>
              </a:p>
            </p:txBody>
          </p:sp>
        </mc:Fallback>
      </mc:AlternateContent>
      <p:sp>
        <p:nvSpPr>
          <p:cNvPr id="19" name="Rectangle 18"/>
          <p:cNvSpPr/>
          <p:nvPr/>
        </p:nvSpPr>
        <p:spPr>
          <a:xfrm>
            <a:off x="444585" y="1301735"/>
            <a:ext cx="4382595" cy="5141595"/>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Tree>
    <p:extLst>
      <p:ext uri="{BB962C8B-B14F-4D97-AF65-F5344CB8AC3E}">
        <p14:creationId xmlns:p14="http://schemas.microsoft.com/office/powerpoint/2010/main" val="2576034461"/>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9"/>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9"/>
                                        </p:tgtEl>
                                      </p:cBhvr>
                                    </p:animEffect>
                                    <p:set>
                                      <p:cBhvr>
                                        <p:cTn id="7" dur="1" fill="hold">
                                          <p:stCondLst>
                                            <p:cond delay="499"/>
                                          </p:stCondLst>
                                        </p:cTn>
                                        <p:tgtEl>
                                          <p:spTgt spid="19"/>
                                        </p:tgtEl>
                                        <p:attrNameLst>
                                          <p:attrName>style.visibility</p:attrName>
                                        </p:attrNameLst>
                                      </p:cBhvr>
                                      <p:to>
                                        <p:strVal val="hidden"/>
                                      </p:to>
                                    </p:set>
                                  </p:childTnLst>
                                </p:cTn>
                              </p:par>
                            </p:childTnLst>
                          </p:cTn>
                        </p:par>
                      </p:childTnLst>
                    </p:cTn>
                  </p:par>
                </p:childTnLst>
              </p:cTn>
              <p:nextCondLst>
                <p:cond evt="onClick" delay="0">
                  <p:tgtEl>
                    <p:spTgt spid="19"/>
                  </p:tgtEl>
                </p:cond>
              </p:nextCondLst>
            </p:seq>
          </p:childTnLst>
        </p:cTn>
      </p:par>
    </p:tnLst>
    <p:bldLst>
      <p:bldP spid="19"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vert="horz" wrap="square" lIns="324000" tIns="45720" rIns="91440" bIns="45720" rtlCol="0" anchor="ctr">
              <a:spAutoFit/>
            </a:bodyPr>
            <a:lstStyle>
              <a:defPPr>
                <a:defRPr lang="en-US"/>
              </a:defPPr>
              <a:lvl1pPr>
                <a:spcBef>
                  <a:spcPct val="0"/>
                </a:spcBef>
                <a:buNone/>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a:t>Test Your Understanding</a:t>
              </a:r>
            </a:p>
          </p:txBody>
        </p:sp>
        <p:cxnSp>
          <p:nvCxnSpPr>
            <p:cNvPr id="4" name="Straight Connector 3"/>
            <p:cNvCxnSpPr/>
            <p:nvPr/>
          </p:nvCxnSpPr>
          <p:spPr>
            <a:xfrm>
              <a:off x="218" y="601079"/>
              <a:ext cx="9144000" cy="0"/>
            </a:xfrm>
            <a:prstGeom prst="line">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mc:Choice xmlns:a14="http://schemas.microsoft.com/office/drawing/2010/main" Requires="a14">
          <p:sp>
            <p:nvSpPr>
              <p:cNvPr id="5" name="TextBox 4"/>
              <p:cNvSpPr txBox="1"/>
              <p:nvPr/>
            </p:nvSpPr>
            <p:spPr>
              <a:xfrm>
                <a:off x="395536" y="836712"/>
                <a:ext cx="3868120" cy="739883"/>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a:t>If </a:t>
                </a:r>
                <a14:m>
                  <m:oMath xmlns:m="http://schemas.openxmlformats.org/officeDocument/2006/math">
                    <m:r>
                      <a:rPr lang="en-GB" b="0" i="1" smtClean="0">
                        <a:latin typeface="Cambria Math" panose="02040503050406030204" pitchFamily="18" charset="0"/>
                      </a:rPr>
                      <m:t>𝑦</m:t>
                    </m:r>
                    <m:r>
                      <a:rPr lang="en-GB" b="0" i="1" smtClean="0">
                        <a:latin typeface="Cambria Math" panose="02040503050406030204" pitchFamily="18" charset="0"/>
                      </a:rPr>
                      <m:t>=(</m:t>
                    </m:r>
                    <m:r>
                      <a:rPr lang="en-GB" b="0" i="1" smtClean="0">
                        <a:latin typeface="Cambria Math" panose="02040503050406030204" pitchFamily="18" charset="0"/>
                      </a:rPr>
                      <m:t>𝑥</m:t>
                    </m:r>
                    <m:r>
                      <a:rPr lang="en-GB" b="0" i="1" smtClean="0">
                        <a:latin typeface="Cambria Math" panose="02040503050406030204" pitchFamily="18" charset="0"/>
                      </a:rPr>
                      <m:t>+1)(</m:t>
                    </m:r>
                    <m:r>
                      <a:rPr lang="en-GB" b="0" i="1" smtClean="0">
                        <a:latin typeface="Cambria Math" panose="02040503050406030204" pitchFamily="18" charset="0"/>
                      </a:rPr>
                      <m:t>𝑥</m:t>
                    </m:r>
                    <m:r>
                      <a:rPr lang="en-GB" b="0" i="1" smtClean="0">
                        <a:latin typeface="Cambria Math" panose="02040503050406030204" pitchFamily="18" charset="0"/>
                      </a:rPr>
                      <m:t>−2)</m:t>
                    </m:r>
                  </m:oMath>
                </a14:m>
                <a:r>
                  <a:rPr lang="en-GB"/>
                  <a:t>, sketch </a:t>
                </a:r>
                <a14:m>
                  <m:oMath xmlns:m="http://schemas.openxmlformats.org/officeDocument/2006/math">
                    <m:r>
                      <a:rPr lang="en-GB" b="0" i="1" smtClean="0">
                        <a:latin typeface="Cambria Math" panose="02040503050406030204" pitchFamily="18" charset="0"/>
                      </a:rPr>
                      <m:t>𝑦</m:t>
                    </m:r>
                    <m:r>
                      <a:rPr lang="en-GB" b="0" i="1" smtClean="0">
                        <a:latin typeface="Cambria Math" panose="02040503050406030204" pitchFamily="18" charset="0"/>
                      </a:rPr>
                      <m:t>=</m:t>
                    </m:r>
                    <m:r>
                      <a:rPr lang="en-GB" b="0" i="1" smtClean="0">
                        <a:latin typeface="Cambria Math" panose="02040503050406030204" pitchFamily="18" charset="0"/>
                      </a:rPr>
                      <m:t>𝑓</m:t>
                    </m:r>
                    <m:r>
                      <a:rPr lang="en-GB" b="0" i="1" smtClean="0">
                        <a:latin typeface="Cambria Math" panose="02040503050406030204" pitchFamily="18" charset="0"/>
                      </a:rPr>
                      <m:t>(</m:t>
                    </m:r>
                    <m:r>
                      <a:rPr lang="en-GB" b="0" i="1" smtClean="0">
                        <a:latin typeface="Cambria Math" panose="02040503050406030204" pitchFamily="18" charset="0"/>
                      </a:rPr>
                      <m:t>𝑥</m:t>
                    </m:r>
                    <m:r>
                      <a:rPr lang="en-GB" b="0" i="1" smtClean="0">
                        <a:latin typeface="Cambria Math" panose="02040503050406030204" pitchFamily="18" charset="0"/>
                      </a:rPr>
                      <m:t>)</m:t>
                    </m:r>
                  </m:oMath>
                </a14:m>
                <a:r>
                  <a:rPr lang="en-GB"/>
                  <a:t> and </a:t>
                </a:r>
                <a14:m>
                  <m:oMath xmlns:m="http://schemas.openxmlformats.org/officeDocument/2006/math">
                    <m:r>
                      <a:rPr lang="en-GB" b="0" i="1" smtClean="0">
                        <a:latin typeface="Cambria Math" panose="02040503050406030204" pitchFamily="18" charset="0"/>
                      </a:rPr>
                      <m:t>𝑦</m:t>
                    </m:r>
                    <m:r>
                      <a:rPr lang="en-GB" b="0" i="1" smtClean="0">
                        <a:latin typeface="Cambria Math" panose="02040503050406030204" pitchFamily="18" charset="0"/>
                      </a:rPr>
                      <m:t>=</m:t>
                    </m:r>
                    <m:r>
                      <a:rPr lang="en-GB" b="0" i="1" smtClean="0">
                        <a:latin typeface="Cambria Math" panose="02040503050406030204" pitchFamily="18" charset="0"/>
                      </a:rPr>
                      <m:t>𝑓</m:t>
                    </m:r>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𝑥</m:t>
                        </m:r>
                      </m:num>
                      <m:den>
                        <m:r>
                          <a:rPr lang="en-GB" b="0" i="1" smtClean="0">
                            <a:latin typeface="Cambria Math" panose="02040503050406030204" pitchFamily="18" charset="0"/>
                          </a:rPr>
                          <m:t>3</m:t>
                        </m:r>
                      </m:den>
                    </m:f>
                    <m:r>
                      <a:rPr lang="en-GB" b="0" i="1" smtClean="0">
                        <a:latin typeface="Cambria Math" panose="02040503050406030204" pitchFamily="18" charset="0"/>
                      </a:rPr>
                      <m:t>)</m:t>
                    </m:r>
                  </m:oMath>
                </a14:m>
                <a:r>
                  <a:rPr lang="en-GB"/>
                  <a:t> on the same axes.</a:t>
                </a:r>
              </a:p>
            </p:txBody>
          </p:sp>
        </mc:Choice>
        <mc:Fallback>
          <p:sp>
            <p:nvSpPr>
              <p:cNvPr id="5" name="TextBox 4"/>
              <p:cNvSpPr txBox="1">
                <a:spLocks noRot="1" noChangeAspect="1" noMove="1" noResize="1" noEditPoints="1" noAdjustHandles="1" noChangeArrowheads="1" noChangeShapeType="1" noTextEdit="1"/>
              </p:cNvSpPr>
              <p:nvPr/>
            </p:nvSpPr>
            <p:spPr>
              <a:xfrm>
                <a:off x="395536" y="836712"/>
                <a:ext cx="3868120" cy="739883"/>
              </a:xfrm>
              <a:prstGeom prst="rect">
                <a:avLst/>
              </a:prstGeom>
              <a:blipFill>
                <a:blip r:embed="rId2"/>
                <a:stretch>
                  <a:fillRect/>
                </a:stretch>
              </a:blipFill>
              <a:effectLst>
                <a:outerShdw blurRad="63500" sx="102000" sy="102000" algn="ctr" rotWithShape="0">
                  <a:prstClr val="black">
                    <a:alpha val="40000"/>
                  </a:prstClr>
                </a:outerShdw>
              </a:effectLst>
            </p:spPr>
            <p:txBody>
              <a:bodyPr/>
              <a:lstStyle/>
              <a:p>
                <a:r>
                  <a:rPr lang="en-US">
                    <a:noFill/>
                  </a:rPr>
                  <a:t> </a:t>
                </a:r>
              </a:p>
            </p:txBody>
          </p:sp>
        </mc:Fallback>
      </mc:AlternateContent>
      <p:sp>
        <p:nvSpPr>
          <p:cNvPr id="7" name="Freeform: Shape 6"/>
          <p:cNvSpPr/>
          <p:nvPr/>
        </p:nvSpPr>
        <p:spPr>
          <a:xfrm>
            <a:off x="315831" y="3519376"/>
            <a:ext cx="3937192" cy="1721224"/>
          </a:xfrm>
          <a:custGeom>
            <a:avLst/>
            <a:gdLst>
              <a:gd name="connsiteX0" fmla="*/ 0 w 2317898"/>
              <a:gd name="connsiteY0" fmla="*/ 0 h 1829136"/>
              <a:gd name="connsiteX1" fmla="*/ 829340 w 2317898"/>
              <a:gd name="connsiteY1" fmla="*/ 1531088 h 1829136"/>
              <a:gd name="connsiteX2" fmla="*/ 1222744 w 2317898"/>
              <a:gd name="connsiteY2" fmla="*/ 1828800 h 1829136"/>
              <a:gd name="connsiteX3" fmla="*/ 1626782 w 2317898"/>
              <a:gd name="connsiteY3" fmla="*/ 1520455 h 1829136"/>
              <a:gd name="connsiteX4" fmla="*/ 2317898 w 2317898"/>
              <a:gd name="connsiteY4" fmla="*/ 74428 h 18291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7898" h="1829136">
                <a:moveTo>
                  <a:pt x="0" y="0"/>
                </a:moveTo>
                <a:cubicBezTo>
                  <a:pt x="312774" y="613144"/>
                  <a:pt x="625549" y="1226288"/>
                  <a:pt x="829340" y="1531088"/>
                </a:cubicBezTo>
                <a:cubicBezTo>
                  <a:pt x="1033131" y="1835888"/>
                  <a:pt x="1089837" y="1830572"/>
                  <a:pt x="1222744" y="1828800"/>
                </a:cubicBezTo>
                <a:cubicBezTo>
                  <a:pt x="1355651" y="1827028"/>
                  <a:pt x="1444256" y="1812850"/>
                  <a:pt x="1626782" y="1520455"/>
                </a:cubicBezTo>
                <a:cubicBezTo>
                  <a:pt x="1809308" y="1228060"/>
                  <a:pt x="2063603" y="651244"/>
                  <a:pt x="2317898" y="74428"/>
                </a:cubicBezTo>
              </a:path>
            </a:pathLst>
          </a:cu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9" name="Straight Arrow Connector 8"/>
          <p:cNvCxnSpPr/>
          <p:nvPr/>
        </p:nvCxnSpPr>
        <p:spPr>
          <a:xfrm>
            <a:off x="483861" y="4333328"/>
            <a:ext cx="3516807" cy="755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0" name="Straight Arrow Connector 9"/>
          <p:cNvCxnSpPr/>
          <p:nvPr/>
        </p:nvCxnSpPr>
        <p:spPr>
          <a:xfrm flipH="1" flipV="1">
            <a:off x="2211572" y="3232297"/>
            <a:ext cx="761" cy="269603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mc:AlternateContent xmlns:mc="http://schemas.openxmlformats.org/markup-compatibility/2006">
        <mc:Choice xmlns:a14="http://schemas.microsoft.com/office/drawing/2010/main" Requires="a14">
          <p:sp>
            <p:nvSpPr>
              <p:cNvPr id="11" name="TextBox 10"/>
              <p:cNvSpPr txBox="1"/>
              <p:nvPr/>
            </p:nvSpPr>
            <p:spPr>
              <a:xfrm>
                <a:off x="2058872" y="2813461"/>
                <a:ext cx="360040" cy="369332"/>
              </a:xfrm>
              <a:prstGeom prst="rect">
                <a:avLst/>
              </a:prstGeom>
              <a:noFill/>
            </p:spPr>
            <p:txBody>
              <a:bodyPr wrap="square" rtlCol="0">
                <a:spAutoFit/>
              </a:bodyPr>
              <a:lstStyle/>
              <a:p>
                <a:pPr/>
                <a14:m>
                  <m:oMathPara xmlns:m="http://schemas.openxmlformats.org/officeDocument/2006/math">
                    <m:oMath>
                      <m:r>
                        <a:rPr lang="en-GB" i="1" dirty="0" smtClean="0">
                          <a:latin typeface="Cambria Math" panose="02040503050406030204" pitchFamily="18" charset="0"/>
                        </a:rPr>
                        <m:t>𝑦</m:t>
                      </m:r>
                    </m:oMath>
                  </m:oMathPara>
                </a14:m>
                <a:endParaRPr lang="en-GB"/>
              </a:p>
            </p:txBody>
          </p:sp>
        </mc:Choice>
        <mc:Fallback>
          <p:sp>
            <p:nvSpPr>
              <p:cNvPr id="11" name="TextBox 10"/>
              <p:cNvSpPr txBox="1">
                <a:spLocks noRot="1" noChangeAspect="1" noMove="1" noResize="1" noEditPoints="1" noAdjustHandles="1" noChangeArrowheads="1" noChangeShapeType="1" noTextEdit="1"/>
              </p:cNvSpPr>
              <p:nvPr/>
            </p:nvSpPr>
            <p:spPr>
              <a:xfrm>
                <a:off x="2058872" y="2813461"/>
                <a:ext cx="360040" cy="369332"/>
              </a:xfrm>
              <a:prstGeom prst="rect">
                <a:avLst/>
              </a:prstGeom>
              <a:blipFill>
                <a:blip r:embed="rId3"/>
                <a:stretch>
                  <a:fillRect b="-666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 name="TextBox 11"/>
              <p:cNvSpPr txBox="1"/>
              <p:nvPr/>
            </p:nvSpPr>
            <p:spPr>
              <a:xfrm rot="18596476">
                <a:off x="3249294" y="3663497"/>
                <a:ext cx="952042" cy="408573"/>
              </a:xfrm>
              <a:prstGeom prst="rect">
                <a:avLst/>
              </a:prstGeom>
              <a:noFill/>
            </p:spPr>
            <p:txBody>
              <a:bodyPr wrap="square" rtlCol="0">
                <a:spAutoFit/>
              </a:bodyPr>
              <a:lstStyle/>
              <a:p>
                <a:pPr/>
                <a14:m>
                  <m:oMathPara xmlns:m="http://schemas.openxmlformats.org/officeDocument/2006/math">
                    <m:oMath>
                      <m:r>
                        <a:rPr lang="en-GB" sz="1200" b="0" i="1" smtClean="0">
                          <a:solidFill>
                            <a:schemeClr val="accent6"/>
                          </a:solidFill>
                          <a:latin typeface="Cambria Math" panose="02040503050406030204" pitchFamily="18" charset="0"/>
                        </a:rPr>
                        <m:t>𝑦</m:t>
                      </m:r>
                      <m:r>
                        <a:rPr lang="en-GB" sz="1200" b="0" i="1" smtClean="0">
                          <a:solidFill>
                            <a:schemeClr val="accent6"/>
                          </a:solidFill>
                          <a:latin typeface="Cambria Math" panose="02040503050406030204" pitchFamily="18" charset="0"/>
                        </a:rPr>
                        <m:t>=</m:t>
                      </m:r>
                      <m:r>
                        <a:rPr lang="en-GB" sz="1200" b="0" i="1" smtClean="0">
                          <a:solidFill>
                            <a:schemeClr val="accent6"/>
                          </a:solidFill>
                          <a:latin typeface="Cambria Math" panose="02040503050406030204" pitchFamily="18" charset="0"/>
                        </a:rPr>
                        <m:t>𝑓</m:t>
                      </m:r>
                      <m:d>
                        <m:dPr>
                          <m:ctrlPr>
                            <a:rPr lang="en-GB" sz="1200" b="0" i="1" smtClean="0">
                              <a:solidFill>
                                <a:schemeClr val="accent6"/>
                              </a:solidFill>
                              <a:latin typeface="Cambria Math" panose="02040503050406030204" pitchFamily="18" charset="0"/>
                            </a:rPr>
                          </m:ctrlPr>
                        </m:dPr>
                        <m:e>
                          <m:f>
                            <m:fPr>
                              <m:ctrlPr>
                                <a:rPr lang="en-GB" sz="1200" b="0" i="1" smtClean="0">
                                  <a:solidFill>
                                    <a:schemeClr val="accent6"/>
                                  </a:solidFill>
                                  <a:latin typeface="Cambria Math" panose="02040503050406030204" pitchFamily="18" charset="0"/>
                                </a:rPr>
                              </m:ctrlPr>
                            </m:fPr>
                            <m:num>
                              <m:r>
                                <a:rPr lang="en-GB" sz="1200" b="0" i="1" smtClean="0">
                                  <a:solidFill>
                                    <a:schemeClr val="accent6"/>
                                  </a:solidFill>
                                  <a:latin typeface="Cambria Math" panose="02040503050406030204" pitchFamily="18" charset="0"/>
                                </a:rPr>
                                <m:t>𝑥</m:t>
                              </m:r>
                            </m:num>
                            <m:den>
                              <m:r>
                                <a:rPr lang="en-GB" sz="1200" b="0" i="1" smtClean="0">
                                  <a:solidFill>
                                    <a:schemeClr val="accent6"/>
                                  </a:solidFill>
                                  <a:latin typeface="Cambria Math" panose="02040503050406030204" pitchFamily="18" charset="0"/>
                                </a:rPr>
                                <m:t>3</m:t>
                              </m:r>
                            </m:den>
                          </m:f>
                        </m:e>
                      </m:d>
                    </m:oMath>
                  </m:oMathPara>
                </a14:m>
                <a:endParaRPr lang="en-GB">
                  <a:solidFill>
                    <a:schemeClr val="accent6"/>
                  </a:solidFill>
                </a:endParaRPr>
              </a:p>
            </p:txBody>
          </p:sp>
        </mc:Choice>
        <mc:Fallback>
          <p:sp>
            <p:nvSpPr>
              <p:cNvPr id="12" name="TextBox 11"/>
              <p:cNvSpPr txBox="1">
                <a:spLocks noRot="1" noChangeAspect="1" noMove="1" noResize="1" noEditPoints="1" noAdjustHandles="1" noChangeArrowheads="1" noChangeShapeType="1" noTextEdit="1"/>
              </p:cNvSpPr>
              <p:nvPr/>
            </p:nvSpPr>
            <p:spPr>
              <a:xfrm rot="18596476">
                <a:off x="3249294" y="3663497"/>
                <a:ext cx="952042" cy="408573"/>
              </a:xfrm>
              <a:prstGeom prst="rect">
                <a:avLst/>
              </a:prstGeom>
              <a:blipFill>
                <a:blip r:embed="rId4"/>
                <a:stretch>
                  <a:fillRect/>
                </a:stretch>
              </a:blipFill>
            </p:spPr>
            <p:txBody>
              <a:bodyPr/>
              <a:lstStyle/>
              <a:p>
                <a:r>
                  <a:rPr lang="en-US">
                    <a:noFill/>
                  </a:rPr>
                  <a:t> </a:t>
                </a:r>
              </a:p>
            </p:txBody>
          </p:sp>
        </mc:Fallback>
      </mc:AlternateContent>
      <p:sp>
        <p:nvSpPr>
          <p:cNvPr id="13" name="TextBox 12"/>
          <p:cNvSpPr txBox="1"/>
          <p:nvPr/>
        </p:nvSpPr>
        <p:spPr>
          <a:xfrm>
            <a:off x="1608167" y="4290900"/>
            <a:ext cx="391609" cy="369332"/>
          </a:xfrm>
          <a:prstGeom prst="rect">
            <a:avLst/>
          </a:prstGeom>
          <a:noFill/>
        </p:spPr>
        <p:txBody>
          <a:bodyPr wrap="square" rtlCol="0">
            <a:spAutoFit/>
          </a:bodyPr>
          <a:lstStyle/>
          <a:p>
            <a:r>
              <a:rPr lang="en-GB"/>
              <a:t>-1</a:t>
            </a:r>
          </a:p>
        </p:txBody>
      </p:sp>
      <mc:AlternateContent xmlns:mc="http://schemas.openxmlformats.org/markup-compatibility/2006">
        <mc:Choice xmlns:a14="http://schemas.microsoft.com/office/drawing/2010/main" Requires="a14">
          <p:sp>
            <p:nvSpPr>
              <p:cNvPr id="14" name="TextBox 13"/>
              <p:cNvSpPr txBox="1"/>
              <p:nvPr/>
            </p:nvSpPr>
            <p:spPr>
              <a:xfrm rot="17444776">
                <a:off x="2478861" y="3525890"/>
                <a:ext cx="988179" cy="276999"/>
              </a:xfrm>
              <a:prstGeom prst="rect">
                <a:avLst/>
              </a:prstGeom>
              <a:noFill/>
            </p:spPr>
            <p:txBody>
              <a:bodyPr wrap="square" rtlCol="0">
                <a:spAutoFit/>
              </a:bodyPr>
              <a:lstStyle/>
              <a:p>
                <a:pPr/>
                <a14:m>
                  <m:oMathPara xmlns:m="http://schemas.openxmlformats.org/officeDocument/2006/math">
                    <m:oMath>
                      <m:r>
                        <a:rPr lang="en-GB" sz="1200" b="1" i="1" smtClean="0">
                          <a:solidFill>
                            <a:schemeClr val="accent1"/>
                          </a:solidFill>
                          <a:latin typeface="Cambria Math" panose="02040503050406030204" pitchFamily="18" charset="0"/>
                        </a:rPr>
                        <m:t>𝒚</m:t>
                      </m:r>
                      <m:r>
                        <a:rPr lang="en-GB" sz="1200" b="1" i="1" smtClean="0">
                          <a:solidFill>
                            <a:schemeClr val="accent1"/>
                          </a:solidFill>
                          <a:latin typeface="Cambria Math" panose="02040503050406030204" pitchFamily="18" charset="0"/>
                        </a:rPr>
                        <m:t>=</m:t>
                      </m:r>
                      <m:r>
                        <a:rPr lang="en-GB" sz="1200" b="1" i="1" smtClean="0">
                          <a:solidFill>
                            <a:schemeClr val="accent1"/>
                          </a:solidFill>
                          <a:latin typeface="Cambria Math" panose="02040503050406030204" pitchFamily="18" charset="0"/>
                        </a:rPr>
                        <m:t>𝒇</m:t>
                      </m:r>
                      <m:r>
                        <a:rPr lang="en-GB" sz="1200" b="1" i="1" smtClean="0">
                          <a:solidFill>
                            <a:schemeClr val="accent1"/>
                          </a:solidFill>
                          <a:latin typeface="Cambria Math" panose="02040503050406030204" pitchFamily="18" charset="0"/>
                        </a:rPr>
                        <m:t>(</m:t>
                      </m:r>
                      <m:r>
                        <a:rPr lang="en-GB" sz="1200" b="1" i="1" smtClean="0">
                          <a:solidFill>
                            <a:schemeClr val="accent1"/>
                          </a:solidFill>
                          <a:latin typeface="Cambria Math" panose="02040503050406030204" pitchFamily="18" charset="0"/>
                        </a:rPr>
                        <m:t>𝒙</m:t>
                      </m:r>
                      <m:r>
                        <a:rPr lang="en-GB" sz="1200" b="1" i="1" smtClean="0">
                          <a:solidFill>
                            <a:schemeClr val="accent1"/>
                          </a:solidFill>
                          <a:latin typeface="Cambria Math" panose="02040503050406030204" pitchFamily="18" charset="0"/>
                        </a:rPr>
                        <m:t>)</m:t>
                      </m:r>
                    </m:oMath>
                  </m:oMathPara>
                </a14:m>
                <a:endParaRPr lang="en-GB" b="1">
                  <a:solidFill>
                    <a:schemeClr val="accent1"/>
                  </a:solidFill>
                </a:endParaRPr>
              </a:p>
            </p:txBody>
          </p:sp>
        </mc:Choice>
        <mc:Fallback>
          <p:sp>
            <p:nvSpPr>
              <p:cNvPr id="14" name="TextBox 13"/>
              <p:cNvSpPr txBox="1">
                <a:spLocks noRot="1" noChangeAspect="1" noMove="1" noResize="1" noEditPoints="1" noAdjustHandles="1" noChangeArrowheads="1" noChangeShapeType="1" noTextEdit="1"/>
              </p:cNvSpPr>
              <p:nvPr/>
            </p:nvSpPr>
            <p:spPr>
              <a:xfrm rot="17444776">
                <a:off x="2478861" y="3525890"/>
                <a:ext cx="988179" cy="276999"/>
              </a:xfrm>
              <a:prstGeom prst="rect">
                <a:avLst/>
              </a:prstGeom>
              <a:blipFill>
                <a:blip r:embed="rId5"/>
                <a:stretch>
                  <a:fillRect/>
                </a:stretch>
              </a:blipFill>
            </p:spPr>
            <p:txBody>
              <a:bodyPr/>
              <a:lstStyle/>
              <a:p>
                <a:r>
                  <a:rPr lang="en-US">
                    <a:noFill/>
                  </a:rPr>
                  <a:t> </a:t>
                </a:r>
              </a:p>
            </p:txBody>
          </p:sp>
        </mc:Fallback>
      </mc:AlternateContent>
      <p:sp>
        <p:nvSpPr>
          <p:cNvPr id="15" name="Freeform: Shape 14"/>
          <p:cNvSpPr/>
          <p:nvPr/>
        </p:nvSpPr>
        <p:spPr>
          <a:xfrm rot="10800000" flipV="1">
            <a:off x="1477923" y="3572539"/>
            <a:ext cx="1722476" cy="1668534"/>
          </a:xfrm>
          <a:custGeom>
            <a:avLst/>
            <a:gdLst>
              <a:gd name="connsiteX0" fmla="*/ 0 w 2317898"/>
              <a:gd name="connsiteY0" fmla="*/ 0 h 1829136"/>
              <a:gd name="connsiteX1" fmla="*/ 829340 w 2317898"/>
              <a:gd name="connsiteY1" fmla="*/ 1531088 h 1829136"/>
              <a:gd name="connsiteX2" fmla="*/ 1222744 w 2317898"/>
              <a:gd name="connsiteY2" fmla="*/ 1828800 h 1829136"/>
              <a:gd name="connsiteX3" fmla="*/ 1626782 w 2317898"/>
              <a:gd name="connsiteY3" fmla="*/ 1520455 h 1829136"/>
              <a:gd name="connsiteX4" fmla="*/ 2317898 w 2317898"/>
              <a:gd name="connsiteY4" fmla="*/ 74428 h 18291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7898" h="1829136">
                <a:moveTo>
                  <a:pt x="0" y="0"/>
                </a:moveTo>
                <a:cubicBezTo>
                  <a:pt x="312774" y="613144"/>
                  <a:pt x="625549" y="1226288"/>
                  <a:pt x="829340" y="1531088"/>
                </a:cubicBezTo>
                <a:cubicBezTo>
                  <a:pt x="1033131" y="1835888"/>
                  <a:pt x="1089837" y="1830572"/>
                  <a:pt x="1222744" y="1828800"/>
                </a:cubicBezTo>
                <a:cubicBezTo>
                  <a:pt x="1355651" y="1827028"/>
                  <a:pt x="1444256" y="1812850"/>
                  <a:pt x="1626782" y="1520455"/>
                </a:cubicBezTo>
                <a:cubicBezTo>
                  <a:pt x="1809308" y="1228060"/>
                  <a:pt x="2063603" y="651244"/>
                  <a:pt x="2317898" y="74428"/>
                </a:cubicBezTo>
              </a:path>
            </a:pathLst>
          </a:cu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mc:Choice xmlns:a14="http://schemas.microsoft.com/office/drawing/2010/main" Requires="a14">
          <p:sp>
            <p:nvSpPr>
              <p:cNvPr id="16" name="TextBox 15"/>
              <p:cNvSpPr txBox="1"/>
              <p:nvPr/>
            </p:nvSpPr>
            <p:spPr>
              <a:xfrm>
                <a:off x="3958912" y="4177702"/>
                <a:ext cx="360040" cy="369332"/>
              </a:xfrm>
              <a:prstGeom prst="rect">
                <a:avLst/>
              </a:prstGeom>
              <a:noFill/>
            </p:spPr>
            <p:txBody>
              <a:bodyPr wrap="square" rtlCol="0">
                <a:spAutoFit/>
              </a:bodyPr>
              <a:lstStyle/>
              <a:p>
                <a:pPr/>
                <a14:m>
                  <m:oMathPara xmlns:m="http://schemas.openxmlformats.org/officeDocument/2006/math">
                    <m:oMath>
                      <m:r>
                        <a:rPr lang="en-GB" b="0" i="1" dirty="0" smtClean="0">
                          <a:latin typeface="Cambria Math" panose="02040503050406030204" pitchFamily="18" charset="0"/>
                        </a:rPr>
                        <m:t>𝑥</m:t>
                      </m:r>
                    </m:oMath>
                  </m:oMathPara>
                </a14:m>
                <a:endParaRPr lang="en-GB"/>
              </a:p>
            </p:txBody>
          </p:sp>
        </mc:Choice>
        <mc:Fallback>
          <p:sp>
            <p:nvSpPr>
              <p:cNvPr id="16" name="TextBox 15"/>
              <p:cNvSpPr txBox="1">
                <a:spLocks noRot="1" noChangeAspect="1" noMove="1" noResize="1" noEditPoints="1" noAdjustHandles="1" noChangeArrowheads="1" noChangeShapeType="1" noTextEdit="1"/>
              </p:cNvSpPr>
              <p:nvPr/>
            </p:nvSpPr>
            <p:spPr>
              <a:xfrm>
                <a:off x="3958912" y="4177702"/>
                <a:ext cx="360040" cy="369332"/>
              </a:xfrm>
              <a:prstGeom prst="rect">
                <a:avLst/>
              </a:prstGeom>
              <a:blipFill>
                <a:blip r:embed="rId6"/>
                <a:stretch>
                  <a:fillRect/>
                </a:stretch>
              </a:blipFill>
            </p:spPr>
            <p:txBody>
              <a:bodyPr/>
              <a:lstStyle/>
              <a:p>
                <a:r>
                  <a:rPr lang="en-US">
                    <a:noFill/>
                  </a:rPr>
                  <a:t> </a:t>
                </a:r>
              </a:p>
            </p:txBody>
          </p:sp>
        </mc:Fallback>
      </mc:AlternateContent>
      <p:sp>
        <p:nvSpPr>
          <p:cNvPr id="18" name="TextBox 17"/>
          <p:cNvSpPr txBox="1"/>
          <p:nvPr/>
        </p:nvSpPr>
        <p:spPr>
          <a:xfrm>
            <a:off x="2623993" y="4300500"/>
            <a:ext cx="391609" cy="369332"/>
          </a:xfrm>
          <a:prstGeom prst="rect">
            <a:avLst/>
          </a:prstGeom>
          <a:noFill/>
        </p:spPr>
        <p:txBody>
          <a:bodyPr wrap="square" rtlCol="0">
            <a:spAutoFit/>
          </a:bodyPr>
          <a:lstStyle/>
          <a:p>
            <a:r>
              <a:rPr lang="en-GB"/>
              <a:t>2</a:t>
            </a:r>
          </a:p>
        </p:txBody>
      </p:sp>
      <p:sp>
        <p:nvSpPr>
          <p:cNvPr id="19" name="TextBox 18"/>
          <p:cNvSpPr txBox="1"/>
          <p:nvPr/>
        </p:nvSpPr>
        <p:spPr>
          <a:xfrm>
            <a:off x="3623934" y="4289650"/>
            <a:ext cx="391609" cy="369332"/>
          </a:xfrm>
          <a:prstGeom prst="rect">
            <a:avLst/>
          </a:prstGeom>
          <a:noFill/>
        </p:spPr>
        <p:txBody>
          <a:bodyPr wrap="square" rtlCol="0">
            <a:spAutoFit/>
          </a:bodyPr>
          <a:lstStyle/>
          <a:p>
            <a:r>
              <a:rPr lang="en-GB"/>
              <a:t>6</a:t>
            </a:r>
          </a:p>
        </p:txBody>
      </p:sp>
      <p:sp>
        <p:nvSpPr>
          <p:cNvPr id="20" name="TextBox 19"/>
          <p:cNvSpPr txBox="1"/>
          <p:nvPr/>
        </p:nvSpPr>
        <p:spPr>
          <a:xfrm>
            <a:off x="866004" y="4302422"/>
            <a:ext cx="391609" cy="369332"/>
          </a:xfrm>
          <a:prstGeom prst="rect">
            <a:avLst/>
          </a:prstGeom>
          <a:noFill/>
        </p:spPr>
        <p:txBody>
          <a:bodyPr wrap="square" rtlCol="0">
            <a:spAutoFit/>
          </a:bodyPr>
          <a:lstStyle/>
          <a:p>
            <a:r>
              <a:rPr lang="en-GB"/>
              <a:t>-3</a:t>
            </a:r>
          </a:p>
        </p:txBody>
      </p:sp>
      <mc:AlternateContent xmlns:mc="http://schemas.openxmlformats.org/markup-compatibility/2006">
        <mc:Choice xmlns:a14="http://schemas.microsoft.com/office/drawing/2010/main" Requires="a14">
          <p:sp>
            <p:nvSpPr>
              <p:cNvPr id="22" name="TextBox 21"/>
              <p:cNvSpPr txBox="1"/>
              <p:nvPr/>
            </p:nvSpPr>
            <p:spPr>
              <a:xfrm>
                <a:off x="4638824" y="794914"/>
                <a:ext cx="3868120" cy="1039515"/>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a:t>Sketch the graph of </a:t>
                </a:r>
                <a14:m>
                  <m:oMath xmlns:m="http://schemas.openxmlformats.org/officeDocument/2006/math">
                    <m:r>
                      <a:rPr lang="en-GB" b="0" i="1" smtClean="0">
                        <a:latin typeface="Cambria Math" panose="02040503050406030204" pitchFamily="18" charset="0"/>
                      </a:rPr>
                      <m:t>𝑦</m:t>
                    </m:r>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2</m:t>
                        </m:r>
                      </m:num>
                      <m:den>
                        <m:r>
                          <a:rPr lang="en-GB" b="0" i="1" smtClean="0">
                            <a:latin typeface="Cambria Math" panose="02040503050406030204" pitchFamily="18" charset="0"/>
                          </a:rPr>
                          <m:t>𝑥</m:t>
                        </m:r>
                      </m:den>
                    </m:f>
                    <m:r>
                      <a:rPr lang="en-GB" b="0" i="1" smtClean="0">
                        <a:latin typeface="Cambria Math" panose="02040503050406030204" pitchFamily="18" charset="0"/>
                      </a:rPr>
                      <m:t>+1</m:t>
                    </m:r>
                  </m:oMath>
                </a14:m>
                <a:r>
                  <a:rPr lang="en-GB"/>
                  <a:t>, ensuring you indicate any intercepts with the axes.</a:t>
                </a:r>
              </a:p>
            </p:txBody>
          </p:sp>
        </mc:Choice>
        <mc:Fallback>
          <p:sp>
            <p:nvSpPr>
              <p:cNvPr id="22" name="TextBox 21"/>
              <p:cNvSpPr txBox="1">
                <a:spLocks noRot="1" noChangeAspect="1" noMove="1" noResize="1" noEditPoints="1" noAdjustHandles="1" noChangeArrowheads="1" noChangeShapeType="1" noTextEdit="1"/>
              </p:cNvSpPr>
              <p:nvPr/>
            </p:nvSpPr>
            <p:spPr>
              <a:xfrm>
                <a:off x="4638824" y="794914"/>
                <a:ext cx="3868120" cy="1039515"/>
              </a:xfrm>
              <a:prstGeom prst="rect">
                <a:avLst/>
              </a:prstGeom>
              <a:blipFill>
                <a:blip r:embed="rId7"/>
                <a:stretch>
                  <a:fillRect b="-1053"/>
                </a:stretch>
              </a:blipFill>
              <a:effectLst>
                <a:outerShdw blurRad="63500" sx="102000" sy="102000" algn="ctr" rotWithShape="0">
                  <a:prstClr val="black">
                    <a:alpha val="40000"/>
                  </a:prstClr>
                </a:outerShdw>
              </a:effectLst>
            </p:spPr>
            <p:txBody>
              <a:bodyPr/>
              <a:lstStyle/>
              <a:p>
                <a:r>
                  <a:rPr lang="en-US">
                    <a:noFill/>
                  </a:rPr>
                  <a:t> </a:t>
                </a:r>
              </a:p>
            </p:txBody>
          </p:sp>
        </mc:Fallback>
      </mc:AlternateContent>
      <p:sp>
        <p:nvSpPr>
          <p:cNvPr id="23" name="TextBox 22"/>
          <p:cNvSpPr txBox="1"/>
          <p:nvPr/>
        </p:nvSpPr>
        <p:spPr>
          <a:xfrm>
            <a:off x="1892596" y="5114662"/>
            <a:ext cx="467832" cy="369332"/>
          </a:xfrm>
          <a:prstGeom prst="rect">
            <a:avLst/>
          </a:prstGeom>
          <a:noFill/>
        </p:spPr>
        <p:txBody>
          <a:bodyPr wrap="square" rtlCol="0">
            <a:spAutoFit/>
          </a:bodyPr>
          <a:lstStyle/>
          <a:p>
            <a:r>
              <a:rPr lang="en-GB"/>
              <a:t>-2</a:t>
            </a:r>
          </a:p>
        </p:txBody>
      </p:sp>
      <p:sp>
        <p:nvSpPr>
          <p:cNvPr id="17" name="Rectangle 16"/>
          <p:cNvSpPr/>
          <p:nvPr/>
        </p:nvSpPr>
        <p:spPr>
          <a:xfrm>
            <a:off x="341137" y="1957467"/>
            <a:ext cx="3929491" cy="4436072"/>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cxnSp>
        <p:nvCxnSpPr>
          <p:cNvPr id="25" name="Straight Arrow Connector 24"/>
          <p:cNvCxnSpPr/>
          <p:nvPr/>
        </p:nvCxnSpPr>
        <p:spPr>
          <a:xfrm>
            <a:off x="4807407" y="4333328"/>
            <a:ext cx="3516807" cy="755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26" name="Straight Arrow Connector 25"/>
          <p:cNvCxnSpPr/>
          <p:nvPr/>
        </p:nvCxnSpPr>
        <p:spPr>
          <a:xfrm flipH="1" flipV="1">
            <a:off x="6528391" y="2626242"/>
            <a:ext cx="7490" cy="3302094"/>
          </a:xfrm>
          <a:prstGeom prst="straightConnector1">
            <a:avLst/>
          </a:prstGeom>
          <a:ln>
            <a:tailEnd type="arrow"/>
          </a:ln>
        </p:spPr>
        <p:style>
          <a:lnRef idx="2">
            <a:schemeClr val="dk1"/>
          </a:lnRef>
          <a:fillRef idx="0">
            <a:schemeClr val="dk1"/>
          </a:fillRef>
          <a:effectRef idx="1">
            <a:schemeClr val="dk1"/>
          </a:effectRef>
          <a:fontRef idx="minor">
            <a:schemeClr val="tx1"/>
          </a:fontRef>
        </p:style>
      </p:cxnSp>
      <mc:AlternateContent xmlns:mc="http://schemas.openxmlformats.org/markup-compatibility/2006">
        <mc:Choice xmlns:a14="http://schemas.microsoft.com/office/drawing/2010/main" Requires="a14">
          <p:sp>
            <p:nvSpPr>
              <p:cNvPr id="27" name="TextBox 26"/>
              <p:cNvSpPr txBox="1"/>
              <p:nvPr/>
            </p:nvSpPr>
            <p:spPr>
              <a:xfrm>
                <a:off x="6350521" y="2228670"/>
                <a:ext cx="360040" cy="369332"/>
              </a:xfrm>
              <a:prstGeom prst="rect">
                <a:avLst/>
              </a:prstGeom>
              <a:noFill/>
            </p:spPr>
            <p:txBody>
              <a:bodyPr wrap="square" rtlCol="0">
                <a:spAutoFit/>
              </a:bodyPr>
              <a:lstStyle/>
              <a:p>
                <a:pPr/>
                <a14:m>
                  <m:oMathPara xmlns:m="http://schemas.openxmlformats.org/officeDocument/2006/math">
                    <m:oMath>
                      <m:r>
                        <a:rPr lang="en-GB" i="1" dirty="0" smtClean="0">
                          <a:latin typeface="Cambria Math" panose="02040503050406030204" pitchFamily="18" charset="0"/>
                        </a:rPr>
                        <m:t>𝑦</m:t>
                      </m:r>
                    </m:oMath>
                  </m:oMathPara>
                </a14:m>
                <a:endParaRPr lang="en-GB"/>
              </a:p>
            </p:txBody>
          </p:sp>
        </mc:Choice>
        <mc:Fallback>
          <p:sp>
            <p:nvSpPr>
              <p:cNvPr id="27" name="TextBox 26"/>
              <p:cNvSpPr txBox="1">
                <a:spLocks noRot="1" noChangeAspect="1" noMove="1" noResize="1" noEditPoints="1" noAdjustHandles="1" noChangeArrowheads="1" noChangeShapeType="1" noTextEdit="1"/>
              </p:cNvSpPr>
              <p:nvPr/>
            </p:nvSpPr>
            <p:spPr>
              <a:xfrm>
                <a:off x="6350521" y="2228670"/>
                <a:ext cx="360040" cy="369332"/>
              </a:xfrm>
              <a:prstGeom prst="rect">
                <a:avLst/>
              </a:prstGeom>
              <a:blipFill>
                <a:blip r:embed="rId3"/>
                <a:stretch>
                  <a:fillRect b="-666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0" name="TextBox 29"/>
              <p:cNvSpPr txBox="1"/>
              <p:nvPr/>
            </p:nvSpPr>
            <p:spPr>
              <a:xfrm>
                <a:off x="4760244" y="3577229"/>
                <a:ext cx="988179" cy="307777"/>
              </a:xfrm>
              <a:prstGeom prst="rect">
                <a:avLst/>
              </a:prstGeom>
              <a:noFill/>
            </p:spPr>
            <p:txBody>
              <a:bodyPr wrap="square" rtlCol="0">
                <a:spAutoFit/>
              </a:bodyPr>
              <a:lstStyle/>
              <a:p>
                <a:pPr/>
                <a14:m>
                  <m:oMathPara xmlns:m="http://schemas.openxmlformats.org/officeDocument/2006/math">
                    <m:oMath>
                      <m:r>
                        <a:rPr lang="en-GB" sz="1400" b="0" i="1" smtClean="0">
                          <a:solidFill>
                            <a:schemeClr val="tx1"/>
                          </a:solidFill>
                          <a:latin typeface="Cambria Math" panose="02040503050406030204" pitchFamily="18" charset="0"/>
                        </a:rPr>
                        <m:t>𝑦</m:t>
                      </m:r>
                      <m:r>
                        <a:rPr lang="en-GB" sz="1400" b="0" i="1" smtClean="0">
                          <a:solidFill>
                            <a:schemeClr val="tx1"/>
                          </a:solidFill>
                          <a:latin typeface="Cambria Math" panose="02040503050406030204" pitchFamily="18" charset="0"/>
                        </a:rPr>
                        <m:t>=1</m:t>
                      </m:r>
                    </m:oMath>
                  </m:oMathPara>
                </a14:m>
                <a:endParaRPr lang="en-GB" sz="1400">
                  <a:solidFill>
                    <a:schemeClr val="tx1"/>
                  </a:solidFill>
                </a:endParaRPr>
              </a:p>
            </p:txBody>
          </p:sp>
        </mc:Choice>
        <mc:Fallback>
          <p:sp>
            <p:nvSpPr>
              <p:cNvPr id="30" name="TextBox 29"/>
              <p:cNvSpPr txBox="1">
                <a:spLocks noRot="1" noChangeAspect="1" noMove="1" noResize="1" noEditPoints="1" noAdjustHandles="1" noChangeArrowheads="1" noChangeShapeType="1" noTextEdit="1"/>
              </p:cNvSpPr>
              <p:nvPr/>
            </p:nvSpPr>
            <p:spPr>
              <a:xfrm>
                <a:off x="4760244" y="3577229"/>
                <a:ext cx="988179" cy="307777"/>
              </a:xfrm>
              <a:prstGeom prst="rect">
                <a:avLst/>
              </a:prstGeom>
              <a:blipFill>
                <a:blip r:embed="rId8"/>
                <a:stretch>
                  <a:fillRect b="-40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2" name="TextBox 31"/>
              <p:cNvSpPr txBox="1"/>
              <p:nvPr/>
            </p:nvSpPr>
            <p:spPr>
              <a:xfrm>
                <a:off x="8282458" y="4177702"/>
                <a:ext cx="360040" cy="369332"/>
              </a:xfrm>
              <a:prstGeom prst="rect">
                <a:avLst/>
              </a:prstGeom>
              <a:noFill/>
            </p:spPr>
            <p:txBody>
              <a:bodyPr wrap="square" rtlCol="0">
                <a:spAutoFit/>
              </a:bodyPr>
              <a:lstStyle/>
              <a:p>
                <a:pPr/>
                <a14:m>
                  <m:oMathPara xmlns:m="http://schemas.openxmlformats.org/officeDocument/2006/math">
                    <m:oMath>
                      <m:r>
                        <a:rPr lang="en-GB" b="0" i="1" dirty="0" smtClean="0">
                          <a:latin typeface="Cambria Math" panose="02040503050406030204" pitchFamily="18" charset="0"/>
                        </a:rPr>
                        <m:t>𝑥</m:t>
                      </m:r>
                    </m:oMath>
                  </m:oMathPara>
                </a14:m>
                <a:endParaRPr lang="en-GB"/>
              </a:p>
            </p:txBody>
          </p:sp>
        </mc:Choice>
        <mc:Fallback>
          <p:sp>
            <p:nvSpPr>
              <p:cNvPr id="32" name="TextBox 31"/>
              <p:cNvSpPr txBox="1">
                <a:spLocks noRot="1" noChangeAspect="1" noMove="1" noResize="1" noEditPoints="1" noAdjustHandles="1" noChangeArrowheads="1" noChangeShapeType="1" noTextEdit="1"/>
              </p:cNvSpPr>
              <p:nvPr/>
            </p:nvSpPr>
            <p:spPr>
              <a:xfrm>
                <a:off x="8282458" y="4177702"/>
                <a:ext cx="360040" cy="369332"/>
              </a:xfrm>
              <a:prstGeom prst="rect">
                <a:avLst/>
              </a:prstGeom>
              <a:blipFill>
                <a:blip r:embed="rId9"/>
                <a:stretch>
                  <a:fillRect/>
                </a:stretch>
              </a:blipFill>
            </p:spPr>
            <p:txBody>
              <a:bodyPr/>
              <a:lstStyle/>
              <a:p>
                <a:r>
                  <a:rPr lang="en-US">
                    <a:noFill/>
                  </a:rPr>
                  <a:t> </a:t>
                </a:r>
              </a:p>
            </p:txBody>
          </p:sp>
        </mc:Fallback>
      </mc:AlternateContent>
      <p:cxnSp>
        <p:nvCxnSpPr>
          <p:cNvPr id="41" name="Straight Connector 40"/>
          <p:cNvCxnSpPr/>
          <p:nvPr/>
        </p:nvCxnSpPr>
        <p:spPr>
          <a:xfrm>
            <a:off x="4807407" y="3867783"/>
            <a:ext cx="3516807"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42" name="Freeform: Shape 41"/>
          <p:cNvSpPr/>
          <p:nvPr/>
        </p:nvSpPr>
        <p:spPr>
          <a:xfrm>
            <a:off x="6592186" y="2541181"/>
            <a:ext cx="1584251" cy="1297172"/>
          </a:xfrm>
          <a:custGeom>
            <a:avLst/>
            <a:gdLst>
              <a:gd name="connsiteX0" fmla="*/ 0 w 1584251"/>
              <a:gd name="connsiteY0" fmla="*/ 0 h 1297172"/>
              <a:gd name="connsiteX1" fmla="*/ 276447 w 1584251"/>
              <a:gd name="connsiteY1" fmla="*/ 988828 h 1297172"/>
              <a:gd name="connsiteX2" fmla="*/ 1584251 w 1584251"/>
              <a:gd name="connsiteY2" fmla="*/ 1297172 h 1297172"/>
            </a:gdLst>
            <a:ahLst/>
            <a:cxnLst>
              <a:cxn ang="0">
                <a:pos x="connsiteX0" y="connsiteY0"/>
              </a:cxn>
              <a:cxn ang="0">
                <a:pos x="connsiteX1" y="connsiteY1"/>
              </a:cxn>
              <a:cxn ang="0">
                <a:pos x="connsiteX2" y="connsiteY2"/>
              </a:cxn>
            </a:cxnLst>
            <a:rect l="l" t="t" r="r" b="b"/>
            <a:pathLst>
              <a:path w="1584251" h="1297172">
                <a:moveTo>
                  <a:pt x="0" y="0"/>
                </a:moveTo>
                <a:cubicBezTo>
                  <a:pt x="6202" y="386316"/>
                  <a:pt x="12405" y="772633"/>
                  <a:pt x="276447" y="988828"/>
                </a:cubicBezTo>
                <a:cubicBezTo>
                  <a:pt x="540489" y="1205023"/>
                  <a:pt x="1062370" y="1251097"/>
                  <a:pt x="1584251" y="1297172"/>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 name="Freeform: Shape 42"/>
          <p:cNvSpPr/>
          <p:nvPr/>
        </p:nvSpPr>
        <p:spPr>
          <a:xfrm>
            <a:off x="4816549" y="3912781"/>
            <a:ext cx="1648046" cy="1988289"/>
          </a:xfrm>
          <a:custGeom>
            <a:avLst/>
            <a:gdLst>
              <a:gd name="connsiteX0" fmla="*/ 0 w 1648046"/>
              <a:gd name="connsiteY0" fmla="*/ 0 h 1988289"/>
              <a:gd name="connsiteX1" fmla="*/ 1169581 w 1648046"/>
              <a:gd name="connsiteY1" fmla="*/ 510363 h 1988289"/>
              <a:gd name="connsiteX2" fmla="*/ 1648046 w 1648046"/>
              <a:gd name="connsiteY2" fmla="*/ 1988289 h 1988289"/>
              <a:gd name="connsiteX0" fmla="*/ 0 w 1648046"/>
              <a:gd name="connsiteY0" fmla="*/ 0 h 1988289"/>
              <a:gd name="connsiteX1" fmla="*/ 1169581 w 1648046"/>
              <a:gd name="connsiteY1" fmla="*/ 510363 h 1988289"/>
              <a:gd name="connsiteX2" fmla="*/ 1648046 w 1648046"/>
              <a:gd name="connsiteY2" fmla="*/ 1988289 h 1988289"/>
            </a:gdLst>
            <a:ahLst/>
            <a:cxnLst>
              <a:cxn ang="0">
                <a:pos x="connsiteX0" y="connsiteY0"/>
              </a:cxn>
              <a:cxn ang="0">
                <a:pos x="connsiteX1" y="connsiteY1"/>
              </a:cxn>
              <a:cxn ang="0">
                <a:pos x="connsiteX2" y="connsiteY2"/>
              </a:cxn>
            </a:cxnLst>
            <a:rect l="l" t="t" r="r" b="b"/>
            <a:pathLst>
              <a:path w="1648046" h="1988289">
                <a:moveTo>
                  <a:pt x="0" y="0"/>
                </a:moveTo>
                <a:cubicBezTo>
                  <a:pt x="468718" y="36328"/>
                  <a:pt x="894907" y="178982"/>
                  <a:pt x="1169581" y="510363"/>
                </a:cubicBezTo>
                <a:cubicBezTo>
                  <a:pt x="1444255" y="841744"/>
                  <a:pt x="1546150" y="1415016"/>
                  <a:pt x="1648046" y="1988289"/>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4" name="TextBox 43"/>
          <p:cNvSpPr txBox="1"/>
          <p:nvPr/>
        </p:nvSpPr>
        <p:spPr>
          <a:xfrm>
            <a:off x="5640571" y="4277090"/>
            <a:ext cx="505047" cy="369332"/>
          </a:xfrm>
          <a:prstGeom prst="rect">
            <a:avLst/>
          </a:prstGeom>
          <a:noFill/>
        </p:spPr>
        <p:txBody>
          <a:bodyPr wrap="square" rtlCol="0">
            <a:spAutoFit/>
          </a:bodyPr>
          <a:lstStyle/>
          <a:p>
            <a:r>
              <a:rPr lang="en-GB"/>
              <a:t>-2</a:t>
            </a:r>
          </a:p>
        </p:txBody>
      </p:sp>
      <mc:AlternateContent xmlns:mc="http://schemas.openxmlformats.org/markup-compatibility/2006">
        <mc:Choice xmlns:a14="http://schemas.microsoft.com/office/drawing/2010/main" Requires="a14">
          <p:sp>
            <p:nvSpPr>
              <p:cNvPr id="45" name="TextBox 44"/>
              <p:cNvSpPr txBox="1"/>
              <p:nvPr/>
            </p:nvSpPr>
            <p:spPr>
              <a:xfrm>
                <a:off x="4604336" y="5265424"/>
                <a:ext cx="2370622" cy="1117229"/>
              </a:xfrm>
              <a:prstGeom prst="rect">
                <a:avLst/>
              </a:prstGeom>
              <a:noFill/>
            </p:spPr>
            <p:txBody>
              <a:bodyPr wrap="square" rtlCol="0">
                <a:spAutoFit/>
              </a:bodyPr>
              <a:lstStyle/>
              <a:p>
                <a:r>
                  <a:rPr lang="en-GB" sz="1400"/>
                  <a:t>To get this new root:</a:t>
                </a:r>
              </a:p>
              <a:p>
                <a:pPr/>
                <a14:m>
                  <m:oMathPara xmlns:m="http://schemas.openxmlformats.org/officeDocument/2006/math">
                    <m:oMath>
                      <m:f>
                        <m:fPr>
                          <m:ctrlPr>
                            <a:rPr lang="en-GB" sz="1400" b="0" i="1" smtClean="0">
                              <a:latin typeface="Cambria Math" panose="02040503050406030204" pitchFamily="18" charset="0"/>
                            </a:rPr>
                          </m:ctrlPr>
                        </m:fPr>
                        <m:num>
                          <m:r>
                            <a:rPr lang="en-GB" sz="1400" b="0" i="1" smtClean="0">
                              <a:latin typeface="Cambria Math" panose="02040503050406030204" pitchFamily="18" charset="0"/>
                            </a:rPr>
                            <m:t>2</m:t>
                          </m:r>
                        </m:num>
                        <m:den>
                          <m:r>
                            <a:rPr lang="en-GB" sz="1400" b="0" i="1" smtClean="0">
                              <a:latin typeface="Cambria Math" panose="02040503050406030204" pitchFamily="18" charset="0"/>
                            </a:rPr>
                            <m:t>𝑥</m:t>
                          </m:r>
                        </m:den>
                      </m:f>
                      <m:r>
                        <a:rPr lang="en-GB" sz="1400" b="0" i="1" smtClean="0">
                          <a:latin typeface="Cambria Math" panose="02040503050406030204" pitchFamily="18" charset="0"/>
                        </a:rPr>
                        <m:t>+1=0</m:t>
                      </m:r>
                    </m:oMath>
                    <m:oMath>
                      <m:f>
                        <m:fPr>
                          <m:ctrlPr>
                            <a:rPr lang="en-GB" sz="1400" b="0" i="1" smtClean="0">
                              <a:latin typeface="Cambria Math" panose="02040503050406030204" pitchFamily="18" charset="0"/>
                            </a:rPr>
                          </m:ctrlPr>
                        </m:fPr>
                        <m:num>
                          <m:r>
                            <a:rPr lang="en-GB" sz="1400" b="0" i="1" smtClean="0">
                              <a:latin typeface="Cambria Math" panose="02040503050406030204" pitchFamily="18" charset="0"/>
                            </a:rPr>
                            <m:t>2</m:t>
                          </m:r>
                        </m:num>
                        <m:den>
                          <m:r>
                            <a:rPr lang="en-GB" sz="1400" b="0" i="1" smtClean="0">
                              <a:latin typeface="Cambria Math" panose="02040503050406030204" pitchFamily="18" charset="0"/>
                            </a:rPr>
                            <m:t>𝑥</m:t>
                          </m:r>
                        </m:den>
                      </m:f>
                      <m:r>
                        <a:rPr lang="en-GB" sz="1400" b="0" i="1" smtClean="0">
                          <a:latin typeface="Cambria Math" panose="02040503050406030204" pitchFamily="18" charset="0"/>
                        </a:rPr>
                        <m:t>=−1  →  </m:t>
                      </m:r>
                      <m:r>
                        <a:rPr lang="en-GB" sz="1400" b="0" i="1" smtClean="0">
                          <a:latin typeface="Cambria Math" panose="02040503050406030204" pitchFamily="18" charset="0"/>
                        </a:rPr>
                        <m:t>𝑥</m:t>
                      </m:r>
                      <m:r>
                        <a:rPr lang="en-GB" sz="1400" b="0" i="1" smtClean="0">
                          <a:latin typeface="Cambria Math" panose="02040503050406030204" pitchFamily="18" charset="0"/>
                        </a:rPr>
                        <m:t>=</m:t>
                      </m:r>
                      <m:f>
                        <m:fPr>
                          <m:ctrlPr>
                            <a:rPr lang="en-GB" sz="1400" b="0" i="1" smtClean="0">
                              <a:latin typeface="Cambria Math" panose="02040503050406030204" pitchFamily="18" charset="0"/>
                            </a:rPr>
                          </m:ctrlPr>
                        </m:fPr>
                        <m:num>
                          <m:r>
                            <a:rPr lang="en-GB" sz="1400" b="0" i="1" smtClean="0">
                              <a:latin typeface="Cambria Math" panose="02040503050406030204" pitchFamily="18" charset="0"/>
                            </a:rPr>
                            <m:t>2</m:t>
                          </m:r>
                        </m:num>
                        <m:den>
                          <m:r>
                            <a:rPr lang="en-GB" sz="1400" b="0" i="1" smtClean="0">
                              <a:latin typeface="Cambria Math" panose="02040503050406030204" pitchFamily="18" charset="0"/>
                            </a:rPr>
                            <m:t>−1</m:t>
                          </m:r>
                        </m:den>
                      </m:f>
                      <m:r>
                        <a:rPr lang="en-GB" sz="1400" b="0" i="1" smtClean="0">
                          <a:latin typeface="Cambria Math" panose="02040503050406030204" pitchFamily="18" charset="0"/>
                        </a:rPr>
                        <m:t>=−2</m:t>
                      </m:r>
                    </m:oMath>
                  </m:oMathPara>
                </a14:m>
                <a:endParaRPr lang="en-GB" sz="1400"/>
              </a:p>
            </p:txBody>
          </p:sp>
        </mc:Choice>
        <mc:Fallback>
          <p:sp>
            <p:nvSpPr>
              <p:cNvPr id="45" name="TextBox 44"/>
              <p:cNvSpPr txBox="1">
                <a:spLocks noRot="1" noChangeAspect="1" noMove="1" noResize="1" noEditPoints="1" noAdjustHandles="1" noChangeArrowheads="1" noChangeShapeType="1" noTextEdit="1"/>
              </p:cNvSpPr>
              <p:nvPr/>
            </p:nvSpPr>
            <p:spPr>
              <a:xfrm>
                <a:off x="4604336" y="5265424"/>
                <a:ext cx="2370622" cy="1117229"/>
              </a:xfrm>
              <a:prstGeom prst="rect">
                <a:avLst/>
              </a:prstGeom>
              <a:blipFill>
                <a:blip r:embed="rId10"/>
                <a:stretch>
                  <a:fillRect l="-1064" t="-1124" b="-1124"/>
                </a:stretch>
              </a:blipFill>
            </p:spPr>
            <p:txBody>
              <a:bodyPr/>
              <a:lstStyle/>
              <a:p>
                <a:r>
                  <a:rPr lang="en-US">
                    <a:noFill/>
                  </a:rPr>
                  <a:t> </a:t>
                </a:r>
              </a:p>
            </p:txBody>
          </p:sp>
        </mc:Fallback>
      </mc:AlternateContent>
      <p:cxnSp>
        <p:nvCxnSpPr>
          <p:cNvPr id="47" name="Straight Arrow Connector 46"/>
          <p:cNvCxnSpPr/>
          <p:nvPr/>
        </p:nvCxnSpPr>
        <p:spPr>
          <a:xfrm flipV="1">
            <a:off x="5613991" y="4646428"/>
            <a:ext cx="170121" cy="56352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7" name="Rectangle 36"/>
          <p:cNvSpPr/>
          <p:nvPr/>
        </p:nvSpPr>
        <p:spPr>
          <a:xfrm>
            <a:off x="4595192" y="1978971"/>
            <a:ext cx="3929491" cy="4436072"/>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Tree>
    <p:extLst>
      <p:ext uri="{BB962C8B-B14F-4D97-AF65-F5344CB8AC3E}">
        <p14:creationId xmlns:p14="http://schemas.microsoft.com/office/powerpoint/2010/main" val="1994493044"/>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7"/>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7"/>
                                        </p:tgtEl>
                                      </p:cBhvr>
                                    </p:animEffect>
                                    <p:set>
                                      <p:cBhvr>
                                        <p:cTn id="7" dur="1" fill="hold">
                                          <p:stCondLst>
                                            <p:cond delay="499"/>
                                          </p:stCondLst>
                                        </p:cTn>
                                        <p:tgtEl>
                                          <p:spTgt spid="17"/>
                                        </p:tgtEl>
                                        <p:attrNameLst>
                                          <p:attrName>style.visibility</p:attrName>
                                        </p:attrNameLst>
                                      </p:cBhvr>
                                      <p:to>
                                        <p:strVal val="hidden"/>
                                      </p:to>
                                    </p:set>
                                  </p:childTnLst>
                                </p:cTn>
                              </p:par>
                            </p:childTnLst>
                          </p:cTn>
                        </p:par>
                      </p:childTnLst>
                    </p:cTn>
                  </p:par>
                </p:childTnLst>
              </p:cTn>
              <p:nextCondLst>
                <p:cond evt="onClick" delay="0">
                  <p:tgtEl>
                    <p:spTgt spid="17"/>
                  </p:tgtEl>
                </p:cond>
              </p:nextCondLst>
            </p:seq>
            <p:seq concurrent="1" nextAc="seek">
              <p:cTn id="8" restart="whenNotActive" fill="hold" evtFilter="cancelBubble" nodeType="interactiveSeq">
                <p:stCondLst>
                  <p:cond evt="onClick" delay="0">
                    <p:tgtEl>
                      <p:spTgt spid="37"/>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37"/>
                                        </p:tgtEl>
                                      </p:cBhvr>
                                    </p:animEffect>
                                    <p:set>
                                      <p:cBhvr>
                                        <p:cTn id="13" dur="1" fill="hold">
                                          <p:stCondLst>
                                            <p:cond delay="499"/>
                                          </p:stCondLst>
                                        </p:cTn>
                                        <p:tgtEl>
                                          <p:spTgt spid="37"/>
                                        </p:tgtEl>
                                        <p:attrNameLst>
                                          <p:attrName>style.visibility</p:attrName>
                                        </p:attrNameLst>
                                      </p:cBhvr>
                                      <p:to>
                                        <p:strVal val="hidden"/>
                                      </p:to>
                                    </p:set>
                                  </p:childTnLst>
                                </p:cTn>
                              </p:par>
                            </p:childTnLst>
                          </p:cTn>
                        </p:par>
                      </p:childTnLst>
                    </p:cTn>
                  </p:par>
                </p:childTnLst>
              </p:cTn>
              <p:nextCondLst>
                <p:cond evt="onClick" delay="0">
                  <p:tgtEl>
                    <p:spTgt spid="37"/>
                  </p:tgtEl>
                </p:cond>
              </p:nextCondLst>
            </p:seq>
          </p:childTnLst>
        </p:cTn>
      </p:par>
    </p:tnLst>
    <p:bldLst>
      <p:bldP spid="17" grpId="0" animBg="1"/>
      <p:bldP spid="37"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87744"/>
            <a:chOff x="0" y="13335"/>
            <a:chExt cx="9144218" cy="587744"/>
          </a:xfrm>
        </p:grpSpPr>
        <p:sp>
          <p:nvSpPr>
            <p:cNvPr id="3" name="TextBox 32"/>
            <p:cNvSpPr txBox="1"/>
            <p:nvPr/>
          </p:nvSpPr>
          <p:spPr>
            <a:xfrm>
              <a:off x="0" y="13335"/>
              <a:ext cx="9144000" cy="584775"/>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vert="horz" wrap="square" lIns="324000" tIns="45720" rIns="91440" bIns="45720" rtlCol="0" anchor="ctr">
              <a:spAutoFit/>
            </a:bodyPr>
            <a:lstStyle>
              <a:defPPr>
                <a:defRPr lang="en-US"/>
              </a:defPPr>
              <a:lvl1pPr>
                <a:spcBef>
                  <a:spcPct val="0"/>
                </a:spcBef>
                <a:buNone/>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a:t>Exercise 4E – Pure Y1 page 74-75 (translations)</a:t>
              </a:r>
            </a:p>
          </p:txBody>
        </p:sp>
        <p:cxnSp>
          <p:nvCxnSpPr>
            <p:cNvPr id="4" name="Straight Connector 3"/>
            <p:cNvCxnSpPr/>
            <p:nvPr/>
          </p:nvCxnSpPr>
          <p:spPr>
            <a:xfrm>
              <a:off x="218" y="601079"/>
              <a:ext cx="9144000" cy="0"/>
            </a:xfrm>
            <a:prstGeom prst="line">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cxnSp>
      </p:grpSp>
      <p:pic>
        <p:nvPicPr>
          <p:cNvPr id="8" name="Picture 7">
            <a:extLst>
              <a:ext uri="{FF2B5EF4-FFF2-40B4-BE49-F238E27FC236}">
                <a16:creationId xmlns:a16="http://schemas.microsoft.com/office/drawing/2014/main" id="{E09D3C47-DBD9-BC7A-D13D-DE60F98D1712}"/>
              </a:ext>
            </a:extLst>
          </p:cNvPr>
          <p:cNvPicPr>
            <a:picLocks noChangeAspect="1"/>
          </p:cNvPicPr>
          <p:nvPr/>
        </p:nvPicPr>
        <p:blipFill>
          <a:blip r:embed="rId2"/>
          <a:stretch>
            <a:fillRect/>
          </a:stretch>
        </p:blipFill>
        <p:spPr>
          <a:xfrm>
            <a:off x="28759" y="619632"/>
            <a:ext cx="6123336" cy="1205532"/>
          </a:xfrm>
          <a:prstGeom prst="rect">
            <a:avLst/>
          </a:prstGeom>
        </p:spPr>
      </p:pic>
      <p:grpSp>
        <p:nvGrpSpPr>
          <p:cNvPr id="11" name="Group 10">
            <a:extLst>
              <a:ext uri="{FF2B5EF4-FFF2-40B4-BE49-F238E27FC236}">
                <a16:creationId xmlns:a16="http://schemas.microsoft.com/office/drawing/2014/main" id="{1234E109-8E75-015C-229F-CB3D9A46AEAA}"/>
              </a:ext>
            </a:extLst>
          </p:cNvPr>
          <p:cNvGrpSpPr/>
          <p:nvPr/>
        </p:nvGrpSpPr>
        <p:grpSpPr>
          <a:xfrm>
            <a:off x="28759" y="3513383"/>
            <a:ext cx="7650305" cy="863305"/>
            <a:chOff x="28759" y="3513383"/>
            <a:chExt cx="6271433" cy="707705"/>
          </a:xfrm>
        </p:grpSpPr>
        <p:pic>
          <p:nvPicPr>
            <p:cNvPr id="9" name="Picture 8">
              <a:extLst>
                <a:ext uri="{FF2B5EF4-FFF2-40B4-BE49-F238E27FC236}">
                  <a16:creationId xmlns:a16="http://schemas.microsoft.com/office/drawing/2014/main" id="{F799445A-DC4A-6F6A-B251-6FB9F961CFA3}"/>
                </a:ext>
              </a:extLst>
            </p:cNvPr>
            <p:cNvPicPr>
              <a:picLocks noChangeAspect="1"/>
            </p:cNvPicPr>
            <p:nvPr/>
          </p:nvPicPr>
          <p:blipFill>
            <a:blip r:embed="rId3"/>
            <a:stretch>
              <a:fillRect/>
            </a:stretch>
          </p:blipFill>
          <p:spPr>
            <a:xfrm>
              <a:off x="28759" y="3513383"/>
              <a:ext cx="6118444" cy="624331"/>
            </a:xfrm>
            <a:prstGeom prst="rect">
              <a:avLst/>
            </a:prstGeom>
          </p:spPr>
        </p:pic>
        <p:sp>
          <p:nvSpPr>
            <p:cNvPr id="10" name="Rectangle 9">
              <a:extLst>
                <a:ext uri="{FF2B5EF4-FFF2-40B4-BE49-F238E27FC236}">
                  <a16:creationId xmlns:a16="http://schemas.microsoft.com/office/drawing/2014/main" id="{8A464A00-DA8A-573C-5140-8FB796DC378A}"/>
                </a:ext>
              </a:extLst>
            </p:cNvPr>
            <p:cNvSpPr/>
            <p:nvPr/>
          </p:nvSpPr>
          <p:spPr>
            <a:xfrm>
              <a:off x="5868144" y="3861048"/>
              <a:ext cx="432048" cy="3600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12" name="Picture 11">
            <a:extLst>
              <a:ext uri="{FF2B5EF4-FFF2-40B4-BE49-F238E27FC236}">
                <a16:creationId xmlns:a16="http://schemas.microsoft.com/office/drawing/2014/main" id="{4F9607C2-B1FB-15E9-2BE8-C6B5B3F685EC}"/>
              </a:ext>
            </a:extLst>
          </p:cNvPr>
          <p:cNvPicPr>
            <a:picLocks noChangeAspect="1"/>
          </p:cNvPicPr>
          <p:nvPr/>
        </p:nvPicPr>
        <p:blipFill>
          <a:blip r:embed="rId4"/>
          <a:stretch>
            <a:fillRect/>
          </a:stretch>
        </p:blipFill>
        <p:spPr>
          <a:xfrm>
            <a:off x="251520" y="1987831"/>
            <a:ext cx="3733800" cy="1206500"/>
          </a:xfrm>
          <a:prstGeom prst="rect">
            <a:avLst/>
          </a:prstGeom>
        </p:spPr>
      </p:pic>
      <p:pic>
        <p:nvPicPr>
          <p:cNvPr id="13" name="Picture 12">
            <a:extLst>
              <a:ext uri="{FF2B5EF4-FFF2-40B4-BE49-F238E27FC236}">
                <a16:creationId xmlns:a16="http://schemas.microsoft.com/office/drawing/2014/main" id="{2EF70233-1197-1887-CBC7-F48B0133EEB4}"/>
              </a:ext>
            </a:extLst>
          </p:cNvPr>
          <p:cNvPicPr>
            <a:picLocks noChangeAspect="1"/>
          </p:cNvPicPr>
          <p:nvPr/>
        </p:nvPicPr>
        <p:blipFill>
          <a:blip r:embed="rId5"/>
          <a:stretch>
            <a:fillRect/>
          </a:stretch>
        </p:blipFill>
        <p:spPr>
          <a:xfrm>
            <a:off x="4562962" y="1987831"/>
            <a:ext cx="3733800" cy="1206500"/>
          </a:xfrm>
          <a:prstGeom prst="rect">
            <a:avLst/>
          </a:prstGeom>
        </p:spPr>
      </p:pic>
      <p:pic>
        <p:nvPicPr>
          <p:cNvPr id="14" name="Picture 13">
            <a:extLst>
              <a:ext uri="{FF2B5EF4-FFF2-40B4-BE49-F238E27FC236}">
                <a16:creationId xmlns:a16="http://schemas.microsoft.com/office/drawing/2014/main" id="{32CEBBE5-9F7B-C523-4972-5B1571831ADF}"/>
              </a:ext>
            </a:extLst>
          </p:cNvPr>
          <p:cNvPicPr>
            <a:picLocks noChangeAspect="1"/>
          </p:cNvPicPr>
          <p:nvPr/>
        </p:nvPicPr>
        <p:blipFill>
          <a:blip r:embed="rId6"/>
          <a:stretch>
            <a:fillRect/>
          </a:stretch>
        </p:blipFill>
        <p:spPr>
          <a:xfrm>
            <a:off x="224250" y="4581128"/>
            <a:ext cx="3733800" cy="1955800"/>
          </a:xfrm>
          <a:prstGeom prst="rect">
            <a:avLst/>
          </a:prstGeom>
        </p:spPr>
      </p:pic>
      <p:sp>
        <p:nvSpPr>
          <p:cNvPr id="15" name="Rectangle 14">
            <a:extLst>
              <a:ext uri="{FF2B5EF4-FFF2-40B4-BE49-F238E27FC236}">
                <a16:creationId xmlns:a16="http://schemas.microsoft.com/office/drawing/2014/main" id="{51A9E942-7573-55E4-BADF-EC90877ECCA1}"/>
              </a:ext>
            </a:extLst>
          </p:cNvPr>
          <p:cNvSpPr/>
          <p:nvPr/>
        </p:nvSpPr>
        <p:spPr>
          <a:xfrm>
            <a:off x="205747" y="1969842"/>
            <a:ext cx="3733801" cy="1387150"/>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a:t>
            </a:r>
          </a:p>
        </p:txBody>
      </p:sp>
      <p:sp>
        <p:nvSpPr>
          <p:cNvPr id="16" name="Rectangle 15">
            <a:extLst>
              <a:ext uri="{FF2B5EF4-FFF2-40B4-BE49-F238E27FC236}">
                <a16:creationId xmlns:a16="http://schemas.microsoft.com/office/drawing/2014/main" id="{7A26C12E-95DC-5297-7F2C-A56BE5E8B346}"/>
              </a:ext>
            </a:extLst>
          </p:cNvPr>
          <p:cNvSpPr/>
          <p:nvPr/>
        </p:nvSpPr>
        <p:spPr>
          <a:xfrm>
            <a:off x="4280302" y="1969842"/>
            <a:ext cx="3892098" cy="1387150"/>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b?</a:t>
            </a:r>
          </a:p>
        </p:txBody>
      </p:sp>
      <p:sp>
        <p:nvSpPr>
          <p:cNvPr id="17" name="Rectangle 16">
            <a:extLst>
              <a:ext uri="{FF2B5EF4-FFF2-40B4-BE49-F238E27FC236}">
                <a16:creationId xmlns:a16="http://schemas.microsoft.com/office/drawing/2014/main" id="{581A5E5D-93DC-979D-CB84-43C10124A0F9}"/>
              </a:ext>
            </a:extLst>
          </p:cNvPr>
          <p:cNvSpPr/>
          <p:nvPr/>
        </p:nvSpPr>
        <p:spPr>
          <a:xfrm>
            <a:off x="203354" y="4509120"/>
            <a:ext cx="3733801" cy="2232248"/>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Tree>
    <p:extLst>
      <p:ext uri="{BB962C8B-B14F-4D97-AF65-F5344CB8AC3E}">
        <p14:creationId xmlns:p14="http://schemas.microsoft.com/office/powerpoint/2010/main" val="76805135"/>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5"/>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5"/>
                                        </p:tgtEl>
                                      </p:cBhvr>
                                    </p:animEffect>
                                    <p:set>
                                      <p:cBhvr>
                                        <p:cTn id="7" dur="1" fill="hold">
                                          <p:stCondLst>
                                            <p:cond delay="499"/>
                                          </p:stCondLst>
                                        </p:cTn>
                                        <p:tgtEl>
                                          <p:spTgt spid="15"/>
                                        </p:tgtEl>
                                        <p:attrNameLst>
                                          <p:attrName>style.visibility</p:attrName>
                                        </p:attrNameLst>
                                      </p:cBhvr>
                                      <p:to>
                                        <p:strVal val="hidden"/>
                                      </p:to>
                                    </p:set>
                                  </p:childTnLst>
                                </p:cTn>
                              </p:par>
                            </p:childTnLst>
                          </p:cTn>
                        </p:par>
                      </p:childTnLst>
                    </p:cTn>
                  </p:par>
                </p:childTnLst>
              </p:cTn>
              <p:nextCondLst>
                <p:cond evt="onClick" delay="0">
                  <p:tgtEl>
                    <p:spTgt spid="15"/>
                  </p:tgtEl>
                </p:cond>
              </p:nextCondLst>
            </p:seq>
            <p:seq concurrent="1" nextAc="seek">
              <p:cTn id="8" restart="whenNotActive" fill="hold" evtFilter="cancelBubble" nodeType="interactiveSeq">
                <p:stCondLst>
                  <p:cond evt="onClick" delay="0">
                    <p:tgtEl>
                      <p:spTgt spid="16"/>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6"/>
                                        </p:tgtEl>
                                      </p:cBhvr>
                                    </p:animEffect>
                                    <p:set>
                                      <p:cBhvr>
                                        <p:cTn id="13" dur="1" fill="hold">
                                          <p:stCondLst>
                                            <p:cond delay="499"/>
                                          </p:stCondLst>
                                        </p:cTn>
                                        <p:tgtEl>
                                          <p:spTgt spid="16"/>
                                        </p:tgtEl>
                                        <p:attrNameLst>
                                          <p:attrName>style.visibility</p:attrName>
                                        </p:attrNameLst>
                                      </p:cBhvr>
                                      <p:to>
                                        <p:strVal val="hidden"/>
                                      </p:to>
                                    </p:set>
                                  </p:childTnLst>
                                </p:cTn>
                              </p:par>
                            </p:childTnLst>
                          </p:cTn>
                        </p:par>
                      </p:childTnLst>
                    </p:cTn>
                  </p:par>
                </p:childTnLst>
              </p:cTn>
              <p:nextCondLst>
                <p:cond evt="onClick" delay="0">
                  <p:tgtEl>
                    <p:spTgt spid="16"/>
                  </p:tgtEl>
                </p:cond>
              </p:nextCondLst>
            </p:seq>
            <p:seq concurrent="1" nextAc="seek">
              <p:cTn id="14" restart="whenNotActive" fill="hold" evtFilter="cancelBubble" nodeType="interactiveSeq">
                <p:stCondLst>
                  <p:cond evt="onClick" delay="0">
                    <p:tgtEl>
                      <p:spTgt spid="17"/>
                    </p:tgtEl>
                  </p:cond>
                </p:stCondLst>
                <p:endSync evt="end" delay="0">
                  <p:rtn val="all"/>
                </p:endSync>
                <p:childTnLst>
                  <p:par>
                    <p:cTn id="15" fill="hold">
                      <p:stCondLst>
                        <p:cond delay="0"/>
                      </p:stCondLst>
                      <p:childTnLst>
                        <p:par>
                          <p:cTn id="16" fill="hold">
                            <p:stCondLst>
                              <p:cond delay="0"/>
                            </p:stCondLst>
                            <p:childTnLst>
                              <p:par>
                                <p:cTn id="17" presetID="10" presetClass="exit" presetSubtype="0" fill="hold" grpId="0" nodeType="clickEffect">
                                  <p:stCondLst>
                                    <p:cond delay="0"/>
                                  </p:stCondLst>
                                  <p:childTnLst>
                                    <p:animEffect transition="out" filter="fade">
                                      <p:cBhvr>
                                        <p:cTn id="18" dur="500"/>
                                        <p:tgtEl>
                                          <p:spTgt spid="17"/>
                                        </p:tgtEl>
                                      </p:cBhvr>
                                    </p:animEffect>
                                    <p:set>
                                      <p:cBhvr>
                                        <p:cTn id="19" dur="1" fill="hold">
                                          <p:stCondLst>
                                            <p:cond delay="499"/>
                                          </p:stCondLst>
                                        </p:cTn>
                                        <p:tgtEl>
                                          <p:spTgt spid="17"/>
                                        </p:tgtEl>
                                        <p:attrNameLst>
                                          <p:attrName>style.visibility</p:attrName>
                                        </p:attrNameLst>
                                      </p:cBhvr>
                                      <p:to>
                                        <p:strVal val="hidden"/>
                                      </p:to>
                                    </p:set>
                                  </p:childTnLst>
                                </p:cTn>
                              </p:par>
                            </p:childTnLst>
                          </p:cTn>
                        </p:par>
                      </p:childTnLst>
                    </p:cTn>
                  </p:par>
                </p:childTnLst>
              </p:cTn>
              <p:nextCondLst>
                <p:cond evt="onClick" delay="0">
                  <p:tgtEl>
                    <p:spTgt spid="17"/>
                  </p:tgtEl>
                </p:cond>
              </p:nextCondLst>
            </p:seq>
          </p:childTnLst>
        </p:cTn>
      </p:par>
    </p:tnLst>
    <p:bldLst>
      <p:bldP spid="15" grpId="0" animBg="1"/>
      <p:bldP spid="16" grpId="0" animBg="1"/>
      <p:bldP spid="17"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32">
            <a:extLst>
              <a:ext uri="{FF2B5EF4-FFF2-40B4-BE49-F238E27FC236}">
                <a16:creationId xmlns:a16="http://schemas.microsoft.com/office/drawing/2014/main" id="{BAE8A969-A68D-CE7C-7567-5A588858ED5B}"/>
              </a:ext>
            </a:extLst>
          </p:cNvPr>
          <p:cNvSpPr txBox="1"/>
          <p:nvPr/>
        </p:nvSpPr>
        <p:spPr>
          <a:xfrm>
            <a:off x="0" y="0"/>
            <a:ext cx="9142856" cy="584775"/>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vert="horz" wrap="square" lIns="324000" tIns="45720" rIns="91440" bIns="45720" rtlCol="0" anchor="ctr">
            <a:spAutoFit/>
          </a:bodyPr>
          <a:lstStyle>
            <a:defPPr>
              <a:defRPr lang="en-US"/>
            </a:defPPr>
            <a:lvl1pPr>
              <a:spcBef>
                <a:spcPct val="0"/>
              </a:spcBef>
              <a:buNone/>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a:t>Exercise 4E – Pure Y1 page 74-75 (translations)</a:t>
            </a:r>
          </a:p>
        </p:txBody>
      </p:sp>
      <p:grpSp>
        <p:nvGrpSpPr>
          <p:cNvPr id="9" name="Group 8">
            <a:extLst>
              <a:ext uri="{FF2B5EF4-FFF2-40B4-BE49-F238E27FC236}">
                <a16:creationId xmlns:a16="http://schemas.microsoft.com/office/drawing/2014/main" id="{258C646B-5EAE-BDB7-0761-2F205D897228}"/>
              </a:ext>
            </a:extLst>
          </p:cNvPr>
          <p:cNvGrpSpPr/>
          <p:nvPr/>
        </p:nvGrpSpPr>
        <p:grpSpPr>
          <a:xfrm>
            <a:off x="107504" y="599127"/>
            <a:ext cx="4896544" cy="1036088"/>
            <a:chOff x="107504" y="599127"/>
            <a:chExt cx="4896544" cy="1036088"/>
          </a:xfrm>
        </p:grpSpPr>
        <p:pic>
          <p:nvPicPr>
            <p:cNvPr id="5" name="Picture 4">
              <a:extLst>
                <a:ext uri="{FF2B5EF4-FFF2-40B4-BE49-F238E27FC236}">
                  <a16:creationId xmlns:a16="http://schemas.microsoft.com/office/drawing/2014/main" id="{DC0C812C-DB7A-1EA9-0574-B5583D5F4AA4}"/>
                </a:ext>
              </a:extLst>
            </p:cNvPr>
            <p:cNvPicPr>
              <a:picLocks noChangeAspect="1"/>
            </p:cNvPicPr>
            <p:nvPr/>
          </p:nvPicPr>
          <p:blipFill>
            <a:blip r:embed="rId2"/>
            <a:stretch>
              <a:fillRect/>
            </a:stretch>
          </p:blipFill>
          <p:spPr>
            <a:xfrm>
              <a:off x="107504" y="605545"/>
              <a:ext cx="4799052" cy="1023252"/>
            </a:xfrm>
            <a:prstGeom prst="rect">
              <a:avLst/>
            </a:prstGeom>
          </p:spPr>
        </p:pic>
        <p:sp>
          <p:nvSpPr>
            <p:cNvPr id="6" name="Rectangle 5">
              <a:extLst>
                <a:ext uri="{FF2B5EF4-FFF2-40B4-BE49-F238E27FC236}">
                  <a16:creationId xmlns:a16="http://schemas.microsoft.com/office/drawing/2014/main" id="{64158780-4B15-3421-0BFF-8B9764F301BD}"/>
                </a:ext>
              </a:extLst>
            </p:cNvPr>
            <p:cNvSpPr/>
            <p:nvPr/>
          </p:nvSpPr>
          <p:spPr>
            <a:xfrm>
              <a:off x="4427984" y="599127"/>
              <a:ext cx="576064" cy="30959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F6F6CED8-2513-4129-94F5-19724B5FDC52}"/>
                </a:ext>
              </a:extLst>
            </p:cNvPr>
            <p:cNvSpPr/>
            <p:nvPr/>
          </p:nvSpPr>
          <p:spPr>
            <a:xfrm>
              <a:off x="4379238" y="1325622"/>
              <a:ext cx="576064" cy="30959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11" name="Picture 10">
            <a:extLst>
              <a:ext uri="{FF2B5EF4-FFF2-40B4-BE49-F238E27FC236}">
                <a16:creationId xmlns:a16="http://schemas.microsoft.com/office/drawing/2014/main" id="{9D3B3774-A892-00A1-2E18-30B5ABDAC1EB}"/>
              </a:ext>
            </a:extLst>
          </p:cNvPr>
          <p:cNvPicPr>
            <a:picLocks noChangeAspect="1"/>
          </p:cNvPicPr>
          <p:nvPr/>
        </p:nvPicPr>
        <p:blipFill>
          <a:blip r:embed="rId3"/>
          <a:stretch>
            <a:fillRect/>
          </a:stretch>
        </p:blipFill>
        <p:spPr>
          <a:xfrm>
            <a:off x="323528" y="1916832"/>
            <a:ext cx="3767908" cy="4693359"/>
          </a:xfrm>
          <a:prstGeom prst="rect">
            <a:avLst/>
          </a:prstGeom>
        </p:spPr>
      </p:pic>
      <p:pic>
        <p:nvPicPr>
          <p:cNvPr id="13" name="Picture 12">
            <a:extLst>
              <a:ext uri="{FF2B5EF4-FFF2-40B4-BE49-F238E27FC236}">
                <a16:creationId xmlns:a16="http://schemas.microsoft.com/office/drawing/2014/main" id="{36BEC717-7B11-30FF-2511-342081B25F80}"/>
              </a:ext>
            </a:extLst>
          </p:cNvPr>
          <p:cNvPicPr>
            <a:picLocks noChangeAspect="1"/>
          </p:cNvPicPr>
          <p:nvPr/>
        </p:nvPicPr>
        <p:blipFill>
          <a:blip r:embed="rId4"/>
          <a:stretch>
            <a:fillRect/>
          </a:stretch>
        </p:blipFill>
        <p:spPr>
          <a:xfrm>
            <a:off x="4235772" y="1844824"/>
            <a:ext cx="4584700" cy="2044700"/>
          </a:xfrm>
          <a:prstGeom prst="rect">
            <a:avLst/>
          </a:prstGeom>
        </p:spPr>
      </p:pic>
      <p:sp>
        <p:nvSpPr>
          <p:cNvPr id="14" name="Rectangle 13">
            <a:extLst>
              <a:ext uri="{FF2B5EF4-FFF2-40B4-BE49-F238E27FC236}">
                <a16:creationId xmlns:a16="http://schemas.microsoft.com/office/drawing/2014/main" id="{B5671DAF-6FDB-5754-62B8-27D10DE4CE6A}"/>
              </a:ext>
            </a:extLst>
          </p:cNvPr>
          <p:cNvSpPr/>
          <p:nvPr/>
        </p:nvSpPr>
        <p:spPr>
          <a:xfrm>
            <a:off x="205747" y="1898843"/>
            <a:ext cx="3885689" cy="4711348"/>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a:t>
            </a:r>
          </a:p>
        </p:txBody>
      </p:sp>
      <p:sp>
        <p:nvSpPr>
          <p:cNvPr id="15" name="Rectangle 14">
            <a:extLst>
              <a:ext uri="{FF2B5EF4-FFF2-40B4-BE49-F238E27FC236}">
                <a16:creationId xmlns:a16="http://schemas.microsoft.com/office/drawing/2014/main" id="{7C9B9FFD-8260-92B9-218A-68824217D836}"/>
              </a:ext>
            </a:extLst>
          </p:cNvPr>
          <p:cNvSpPr/>
          <p:nvPr/>
        </p:nvSpPr>
        <p:spPr>
          <a:xfrm>
            <a:off x="4235772" y="1898843"/>
            <a:ext cx="4584700" cy="4711348"/>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b?</a:t>
            </a:r>
          </a:p>
        </p:txBody>
      </p:sp>
    </p:spTree>
    <p:extLst>
      <p:ext uri="{BB962C8B-B14F-4D97-AF65-F5344CB8AC3E}">
        <p14:creationId xmlns:p14="http://schemas.microsoft.com/office/powerpoint/2010/main" val="4245759406"/>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4"/>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4"/>
                                        </p:tgtEl>
                                      </p:cBhvr>
                                    </p:animEffect>
                                    <p:set>
                                      <p:cBhvr>
                                        <p:cTn id="7" dur="1" fill="hold">
                                          <p:stCondLst>
                                            <p:cond delay="499"/>
                                          </p:stCondLst>
                                        </p:cTn>
                                        <p:tgtEl>
                                          <p:spTgt spid="14"/>
                                        </p:tgtEl>
                                        <p:attrNameLst>
                                          <p:attrName>style.visibility</p:attrName>
                                        </p:attrNameLst>
                                      </p:cBhvr>
                                      <p:to>
                                        <p:strVal val="hidden"/>
                                      </p:to>
                                    </p:set>
                                  </p:childTnLst>
                                </p:cTn>
                              </p:par>
                            </p:childTnLst>
                          </p:cTn>
                        </p:par>
                      </p:childTnLst>
                    </p:cTn>
                  </p:par>
                </p:childTnLst>
              </p:cTn>
              <p:nextCondLst>
                <p:cond evt="onClick" delay="0">
                  <p:tgtEl>
                    <p:spTgt spid="14"/>
                  </p:tgtEl>
                </p:cond>
              </p:nextCondLst>
            </p:seq>
            <p:seq concurrent="1" nextAc="seek">
              <p:cTn id="8" restart="whenNotActive" fill="hold" evtFilter="cancelBubble" nodeType="interactiveSeq">
                <p:stCondLst>
                  <p:cond evt="onClick" delay="0">
                    <p:tgtEl>
                      <p:spTgt spid="15"/>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5"/>
                                        </p:tgtEl>
                                      </p:cBhvr>
                                    </p:animEffect>
                                    <p:set>
                                      <p:cBhvr>
                                        <p:cTn id="13" dur="1" fill="hold">
                                          <p:stCondLst>
                                            <p:cond delay="499"/>
                                          </p:stCondLst>
                                        </p:cTn>
                                        <p:tgtEl>
                                          <p:spTgt spid="15"/>
                                        </p:tgtEl>
                                        <p:attrNameLst>
                                          <p:attrName>style.visibility</p:attrName>
                                        </p:attrNameLst>
                                      </p:cBhvr>
                                      <p:to>
                                        <p:strVal val="hidden"/>
                                      </p:to>
                                    </p:set>
                                  </p:childTnLst>
                                </p:cTn>
                              </p:par>
                            </p:childTnLst>
                          </p:cTn>
                        </p:par>
                      </p:childTnLst>
                    </p:cTn>
                  </p:par>
                </p:childTnLst>
              </p:cTn>
              <p:nextCondLst>
                <p:cond evt="onClick" delay="0">
                  <p:tgtEl>
                    <p:spTgt spid="15"/>
                  </p:tgtEl>
                </p:cond>
              </p:nextCondLst>
            </p:seq>
          </p:childTnLst>
        </p:cTn>
      </p:par>
    </p:tnLst>
    <p:bldLst>
      <p:bldP spid="14" grpId="0" animBg="1"/>
      <p:bldP spid="15"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DD3B4A2F-EBB2-8474-2BAE-64155776E5F3}"/>
              </a:ext>
            </a:extLst>
          </p:cNvPr>
          <p:cNvGrpSpPr/>
          <p:nvPr/>
        </p:nvGrpSpPr>
        <p:grpSpPr>
          <a:xfrm>
            <a:off x="107504" y="626979"/>
            <a:ext cx="6624736" cy="757928"/>
            <a:chOff x="107504" y="626979"/>
            <a:chExt cx="6624736" cy="757928"/>
          </a:xfrm>
        </p:grpSpPr>
        <p:pic>
          <p:nvPicPr>
            <p:cNvPr id="5" name="Picture 4">
              <a:extLst>
                <a:ext uri="{FF2B5EF4-FFF2-40B4-BE49-F238E27FC236}">
                  <a16:creationId xmlns:a16="http://schemas.microsoft.com/office/drawing/2014/main" id="{57EBA88F-A387-89C9-83F6-B4978E82F9B5}"/>
                </a:ext>
              </a:extLst>
            </p:cNvPr>
            <p:cNvPicPr>
              <a:picLocks noChangeAspect="1"/>
            </p:cNvPicPr>
            <p:nvPr/>
          </p:nvPicPr>
          <p:blipFill>
            <a:blip r:embed="rId2"/>
            <a:stretch>
              <a:fillRect/>
            </a:stretch>
          </p:blipFill>
          <p:spPr>
            <a:xfrm>
              <a:off x="107504" y="626979"/>
              <a:ext cx="6552725" cy="757928"/>
            </a:xfrm>
            <a:prstGeom prst="rect">
              <a:avLst/>
            </a:prstGeom>
          </p:spPr>
        </p:pic>
        <p:sp>
          <p:nvSpPr>
            <p:cNvPr id="6" name="Rectangle 5">
              <a:extLst>
                <a:ext uri="{FF2B5EF4-FFF2-40B4-BE49-F238E27FC236}">
                  <a16:creationId xmlns:a16="http://schemas.microsoft.com/office/drawing/2014/main" id="{B1F8E414-E100-595B-B827-0786887A6755}"/>
                </a:ext>
              </a:extLst>
            </p:cNvPr>
            <p:cNvSpPr/>
            <p:nvPr/>
          </p:nvSpPr>
          <p:spPr>
            <a:xfrm>
              <a:off x="6516216" y="626979"/>
              <a:ext cx="216024" cy="2817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a:extLst>
                <a:ext uri="{FF2B5EF4-FFF2-40B4-BE49-F238E27FC236}">
                  <a16:creationId xmlns:a16="http://schemas.microsoft.com/office/drawing/2014/main" id="{07EF3CBA-3422-00A5-2678-CF31746DA7AF}"/>
                </a:ext>
              </a:extLst>
            </p:cNvPr>
            <p:cNvSpPr/>
            <p:nvPr/>
          </p:nvSpPr>
          <p:spPr>
            <a:xfrm>
              <a:off x="6480211" y="1154089"/>
              <a:ext cx="216024" cy="2097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2" name="TextBox 32">
            <a:extLst>
              <a:ext uri="{FF2B5EF4-FFF2-40B4-BE49-F238E27FC236}">
                <a16:creationId xmlns:a16="http://schemas.microsoft.com/office/drawing/2014/main" id="{75967E21-D3C0-5A6C-1952-01077867900A}"/>
              </a:ext>
            </a:extLst>
          </p:cNvPr>
          <p:cNvSpPr txBox="1"/>
          <p:nvPr/>
        </p:nvSpPr>
        <p:spPr>
          <a:xfrm>
            <a:off x="0" y="0"/>
            <a:ext cx="9142856" cy="584775"/>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vert="horz" wrap="square" lIns="324000" tIns="45720" rIns="91440" bIns="45720" rtlCol="0" anchor="ctr">
            <a:spAutoFit/>
          </a:bodyPr>
          <a:lstStyle>
            <a:defPPr>
              <a:defRPr lang="en-US"/>
            </a:defPPr>
            <a:lvl1pPr>
              <a:spcBef>
                <a:spcPct val="0"/>
              </a:spcBef>
              <a:buNone/>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a:t>Exercise 4E – Pure Y1 page 74-75 (translations)</a:t>
            </a:r>
          </a:p>
        </p:txBody>
      </p:sp>
      <p:pic>
        <p:nvPicPr>
          <p:cNvPr id="14" name="Picture 13">
            <a:extLst>
              <a:ext uri="{FF2B5EF4-FFF2-40B4-BE49-F238E27FC236}">
                <a16:creationId xmlns:a16="http://schemas.microsoft.com/office/drawing/2014/main" id="{98A87042-14AA-AC2E-4E0C-4F42C26E861C}"/>
              </a:ext>
            </a:extLst>
          </p:cNvPr>
          <p:cNvPicPr>
            <a:picLocks noChangeAspect="1"/>
          </p:cNvPicPr>
          <p:nvPr/>
        </p:nvPicPr>
        <p:blipFill>
          <a:blip r:embed="rId3"/>
          <a:stretch>
            <a:fillRect/>
          </a:stretch>
        </p:blipFill>
        <p:spPr>
          <a:xfrm>
            <a:off x="395536" y="1700808"/>
            <a:ext cx="3678527" cy="4202534"/>
          </a:xfrm>
          <a:prstGeom prst="rect">
            <a:avLst/>
          </a:prstGeom>
        </p:spPr>
      </p:pic>
      <p:pic>
        <p:nvPicPr>
          <p:cNvPr id="15" name="Picture 14">
            <a:extLst>
              <a:ext uri="{FF2B5EF4-FFF2-40B4-BE49-F238E27FC236}">
                <a16:creationId xmlns:a16="http://schemas.microsoft.com/office/drawing/2014/main" id="{D3CDB3E7-8847-050B-BC6F-6FA7F668D948}"/>
              </a:ext>
            </a:extLst>
          </p:cNvPr>
          <p:cNvPicPr>
            <a:picLocks noChangeAspect="1"/>
          </p:cNvPicPr>
          <p:nvPr/>
        </p:nvPicPr>
        <p:blipFill>
          <a:blip r:embed="rId4"/>
          <a:stretch>
            <a:fillRect/>
          </a:stretch>
        </p:blipFill>
        <p:spPr>
          <a:xfrm>
            <a:off x="4073327" y="1606493"/>
            <a:ext cx="4813300" cy="2349500"/>
          </a:xfrm>
          <a:prstGeom prst="rect">
            <a:avLst/>
          </a:prstGeom>
        </p:spPr>
      </p:pic>
      <p:sp>
        <p:nvSpPr>
          <p:cNvPr id="16" name="Rectangle 15">
            <a:extLst>
              <a:ext uri="{FF2B5EF4-FFF2-40B4-BE49-F238E27FC236}">
                <a16:creationId xmlns:a16="http://schemas.microsoft.com/office/drawing/2014/main" id="{D7C92121-0A9E-DFD7-56C6-7817500AD839}"/>
              </a:ext>
            </a:extLst>
          </p:cNvPr>
          <p:cNvSpPr/>
          <p:nvPr/>
        </p:nvSpPr>
        <p:spPr>
          <a:xfrm>
            <a:off x="147690" y="1590445"/>
            <a:ext cx="3885689" cy="4711348"/>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a:t>
            </a:r>
          </a:p>
        </p:txBody>
      </p:sp>
      <p:sp>
        <p:nvSpPr>
          <p:cNvPr id="17" name="Rectangle 16">
            <a:extLst>
              <a:ext uri="{FF2B5EF4-FFF2-40B4-BE49-F238E27FC236}">
                <a16:creationId xmlns:a16="http://schemas.microsoft.com/office/drawing/2014/main" id="{B3834246-9507-BD75-0D95-B729397CF976}"/>
              </a:ext>
            </a:extLst>
          </p:cNvPr>
          <p:cNvSpPr/>
          <p:nvPr/>
        </p:nvSpPr>
        <p:spPr>
          <a:xfrm>
            <a:off x="4177715" y="1590445"/>
            <a:ext cx="4584700" cy="4711348"/>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b?</a:t>
            </a:r>
          </a:p>
        </p:txBody>
      </p:sp>
    </p:spTree>
    <p:extLst>
      <p:ext uri="{BB962C8B-B14F-4D97-AF65-F5344CB8AC3E}">
        <p14:creationId xmlns:p14="http://schemas.microsoft.com/office/powerpoint/2010/main" val="2363833712"/>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6"/>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6"/>
                                        </p:tgtEl>
                                      </p:cBhvr>
                                    </p:animEffect>
                                    <p:set>
                                      <p:cBhvr>
                                        <p:cTn id="7" dur="1" fill="hold">
                                          <p:stCondLst>
                                            <p:cond delay="499"/>
                                          </p:stCondLst>
                                        </p:cTn>
                                        <p:tgtEl>
                                          <p:spTgt spid="16"/>
                                        </p:tgtEl>
                                        <p:attrNameLst>
                                          <p:attrName>style.visibility</p:attrName>
                                        </p:attrNameLst>
                                      </p:cBhvr>
                                      <p:to>
                                        <p:strVal val="hidden"/>
                                      </p:to>
                                    </p:set>
                                  </p:childTnLst>
                                </p:cTn>
                              </p:par>
                            </p:childTnLst>
                          </p:cTn>
                        </p:par>
                      </p:childTnLst>
                    </p:cTn>
                  </p:par>
                </p:childTnLst>
              </p:cTn>
              <p:nextCondLst>
                <p:cond evt="onClick" delay="0">
                  <p:tgtEl>
                    <p:spTgt spid="16"/>
                  </p:tgtEl>
                </p:cond>
              </p:nextCondLst>
            </p:seq>
            <p:seq concurrent="1" nextAc="seek">
              <p:cTn id="8" restart="whenNotActive" fill="hold" evtFilter="cancelBubble" nodeType="interactiveSeq">
                <p:stCondLst>
                  <p:cond evt="onClick" delay="0">
                    <p:tgtEl>
                      <p:spTgt spid="17"/>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7"/>
                                        </p:tgtEl>
                                      </p:cBhvr>
                                    </p:animEffect>
                                    <p:set>
                                      <p:cBhvr>
                                        <p:cTn id="13" dur="1" fill="hold">
                                          <p:stCondLst>
                                            <p:cond delay="499"/>
                                          </p:stCondLst>
                                        </p:cTn>
                                        <p:tgtEl>
                                          <p:spTgt spid="17"/>
                                        </p:tgtEl>
                                        <p:attrNameLst>
                                          <p:attrName>style.visibility</p:attrName>
                                        </p:attrNameLst>
                                      </p:cBhvr>
                                      <p:to>
                                        <p:strVal val="hidden"/>
                                      </p:to>
                                    </p:set>
                                  </p:childTnLst>
                                </p:cTn>
                              </p:par>
                            </p:childTnLst>
                          </p:cTn>
                        </p:par>
                      </p:childTnLst>
                    </p:cTn>
                  </p:par>
                </p:childTnLst>
              </p:cTn>
              <p:nextCondLst>
                <p:cond evt="onClick" delay="0">
                  <p:tgtEl>
                    <p:spTgt spid="17"/>
                  </p:tgtEl>
                </p:cond>
              </p:nextCondLst>
            </p:seq>
          </p:childTnLst>
        </p:cTn>
      </p:par>
    </p:tnLst>
    <p:bldLst>
      <p:bldP spid="16" grpId="0" animBg="1"/>
      <p:bldP spid="17"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87744"/>
            <a:chOff x="0" y="13335"/>
            <a:chExt cx="9144218" cy="587744"/>
          </a:xfrm>
        </p:grpSpPr>
        <p:sp>
          <p:nvSpPr>
            <p:cNvPr id="3" name="TextBox 32"/>
            <p:cNvSpPr txBox="1"/>
            <p:nvPr/>
          </p:nvSpPr>
          <p:spPr>
            <a:xfrm>
              <a:off x="0" y="13335"/>
              <a:ext cx="9144000" cy="584775"/>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vert="horz" wrap="square" lIns="324000" tIns="45720" rIns="91440" bIns="45720" rtlCol="0" anchor="ctr">
              <a:spAutoFit/>
            </a:bodyPr>
            <a:lstStyle>
              <a:defPPr>
                <a:defRPr lang="en-US"/>
              </a:defPPr>
              <a:lvl1pPr>
                <a:spcBef>
                  <a:spcPct val="0"/>
                </a:spcBef>
                <a:buNone/>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a:t>Exercise 4F – Pure 1 Page 78 (stretches/reflections) </a:t>
              </a:r>
            </a:p>
          </p:txBody>
        </p:sp>
        <p:cxnSp>
          <p:nvCxnSpPr>
            <p:cNvPr id="4" name="Straight Connector 3"/>
            <p:cNvCxnSpPr/>
            <p:nvPr/>
          </p:nvCxnSpPr>
          <p:spPr>
            <a:xfrm>
              <a:off x="218" y="601079"/>
              <a:ext cx="9144000" cy="0"/>
            </a:xfrm>
            <a:prstGeom prst="line">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cxnSp>
      </p:grpSp>
      <p:sp>
        <p:nvSpPr>
          <p:cNvPr id="11" name="Rectangle 10">
            <a:extLst>
              <a:ext uri="{FF2B5EF4-FFF2-40B4-BE49-F238E27FC236}">
                <a16:creationId xmlns:a16="http://schemas.microsoft.com/office/drawing/2014/main" id="{3D8B3CAD-5A5D-4F34-1A3C-30FADD4F1DA0}"/>
              </a:ext>
            </a:extLst>
          </p:cNvPr>
          <p:cNvSpPr/>
          <p:nvPr/>
        </p:nvSpPr>
        <p:spPr>
          <a:xfrm>
            <a:off x="6516216" y="626980"/>
            <a:ext cx="216024" cy="2097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5" name="Picture 4">
            <a:extLst>
              <a:ext uri="{FF2B5EF4-FFF2-40B4-BE49-F238E27FC236}">
                <a16:creationId xmlns:a16="http://schemas.microsoft.com/office/drawing/2014/main" id="{24C351DA-DCEC-15FB-5A8F-C6BF9FFCE0BF}"/>
              </a:ext>
            </a:extLst>
          </p:cNvPr>
          <p:cNvPicPr>
            <a:picLocks noChangeAspect="1"/>
          </p:cNvPicPr>
          <p:nvPr/>
        </p:nvPicPr>
        <p:blipFill>
          <a:blip r:embed="rId2"/>
          <a:stretch>
            <a:fillRect/>
          </a:stretch>
        </p:blipFill>
        <p:spPr>
          <a:xfrm>
            <a:off x="-1143" y="579255"/>
            <a:ext cx="6107335" cy="1265570"/>
          </a:xfrm>
          <a:prstGeom prst="rect">
            <a:avLst/>
          </a:prstGeom>
        </p:spPr>
      </p:pic>
      <p:pic>
        <p:nvPicPr>
          <p:cNvPr id="6" name="Picture 5">
            <a:extLst>
              <a:ext uri="{FF2B5EF4-FFF2-40B4-BE49-F238E27FC236}">
                <a16:creationId xmlns:a16="http://schemas.microsoft.com/office/drawing/2014/main" id="{33C109E0-05A0-EB09-1DE7-5DAEBBECF9C1}"/>
              </a:ext>
            </a:extLst>
          </p:cNvPr>
          <p:cNvPicPr>
            <a:picLocks noChangeAspect="1"/>
          </p:cNvPicPr>
          <p:nvPr/>
        </p:nvPicPr>
        <p:blipFill>
          <a:blip r:embed="rId3"/>
          <a:stretch>
            <a:fillRect/>
          </a:stretch>
        </p:blipFill>
        <p:spPr>
          <a:xfrm>
            <a:off x="325760" y="1935228"/>
            <a:ext cx="3886200" cy="1104900"/>
          </a:xfrm>
          <a:prstGeom prst="rect">
            <a:avLst/>
          </a:prstGeom>
        </p:spPr>
      </p:pic>
      <p:pic>
        <p:nvPicPr>
          <p:cNvPr id="8" name="Picture 7">
            <a:extLst>
              <a:ext uri="{FF2B5EF4-FFF2-40B4-BE49-F238E27FC236}">
                <a16:creationId xmlns:a16="http://schemas.microsoft.com/office/drawing/2014/main" id="{A2ADFB1F-0BD2-9A7F-9092-CBD922529F14}"/>
              </a:ext>
            </a:extLst>
          </p:cNvPr>
          <p:cNvPicPr>
            <a:picLocks noChangeAspect="1"/>
          </p:cNvPicPr>
          <p:nvPr/>
        </p:nvPicPr>
        <p:blipFill>
          <a:blip r:embed="rId4"/>
          <a:stretch>
            <a:fillRect/>
          </a:stretch>
        </p:blipFill>
        <p:spPr>
          <a:xfrm>
            <a:off x="4718248" y="1902064"/>
            <a:ext cx="3886200" cy="1257300"/>
          </a:xfrm>
          <a:prstGeom prst="rect">
            <a:avLst/>
          </a:prstGeom>
        </p:spPr>
      </p:pic>
      <p:pic>
        <p:nvPicPr>
          <p:cNvPr id="9" name="Picture 8">
            <a:extLst>
              <a:ext uri="{FF2B5EF4-FFF2-40B4-BE49-F238E27FC236}">
                <a16:creationId xmlns:a16="http://schemas.microsoft.com/office/drawing/2014/main" id="{5E7B7C57-75DA-A521-0582-67FFE04DBF14}"/>
              </a:ext>
            </a:extLst>
          </p:cNvPr>
          <p:cNvPicPr>
            <a:picLocks noChangeAspect="1"/>
          </p:cNvPicPr>
          <p:nvPr/>
        </p:nvPicPr>
        <p:blipFill>
          <a:blip r:embed="rId5"/>
          <a:stretch>
            <a:fillRect/>
          </a:stretch>
        </p:blipFill>
        <p:spPr>
          <a:xfrm>
            <a:off x="181744" y="3169720"/>
            <a:ext cx="7772400" cy="954284"/>
          </a:xfrm>
          <a:prstGeom prst="rect">
            <a:avLst/>
          </a:prstGeom>
        </p:spPr>
      </p:pic>
      <p:pic>
        <p:nvPicPr>
          <p:cNvPr id="10" name="Picture 9">
            <a:extLst>
              <a:ext uri="{FF2B5EF4-FFF2-40B4-BE49-F238E27FC236}">
                <a16:creationId xmlns:a16="http://schemas.microsoft.com/office/drawing/2014/main" id="{34432AD4-CB03-A032-5D9F-40224AA19BF8}"/>
              </a:ext>
            </a:extLst>
          </p:cNvPr>
          <p:cNvPicPr>
            <a:picLocks noChangeAspect="1"/>
          </p:cNvPicPr>
          <p:nvPr/>
        </p:nvPicPr>
        <p:blipFill>
          <a:blip r:embed="rId6"/>
          <a:stretch>
            <a:fillRect/>
          </a:stretch>
        </p:blipFill>
        <p:spPr>
          <a:xfrm>
            <a:off x="251520" y="4245868"/>
            <a:ext cx="3886200" cy="1371600"/>
          </a:xfrm>
          <a:prstGeom prst="rect">
            <a:avLst/>
          </a:prstGeom>
        </p:spPr>
      </p:pic>
      <p:sp>
        <p:nvSpPr>
          <p:cNvPr id="12" name="Rectangle 11">
            <a:extLst>
              <a:ext uri="{FF2B5EF4-FFF2-40B4-BE49-F238E27FC236}">
                <a16:creationId xmlns:a16="http://schemas.microsoft.com/office/drawing/2014/main" id="{DD3ED697-37D3-5A55-912B-271CDFDCC717}"/>
              </a:ext>
            </a:extLst>
          </p:cNvPr>
          <p:cNvSpPr/>
          <p:nvPr/>
        </p:nvSpPr>
        <p:spPr>
          <a:xfrm>
            <a:off x="261194" y="1871425"/>
            <a:ext cx="4030215" cy="1265570"/>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a:t>
            </a:r>
          </a:p>
        </p:txBody>
      </p:sp>
      <p:sp>
        <p:nvSpPr>
          <p:cNvPr id="13" name="Rectangle 12">
            <a:extLst>
              <a:ext uri="{FF2B5EF4-FFF2-40B4-BE49-F238E27FC236}">
                <a16:creationId xmlns:a16="http://schemas.microsoft.com/office/drawing/2014/main" id="{D03F0448-43B4-32E8-EF5B-D67FF502B1DE}"/>
              </a:ext>
            </a:extLst>
          </p:cNvPr>
          <p:cNvSpPr/>
          <p:nvPr/>
        </p:nvSpPr>
        <p:spPr>
          <a:xfrm>
            <a:off x="4653682" y="1844824"/>
            <a:ext cx="4308574" cy="1314540"/>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b?</a:t>
            </a:r>
          </a:p>
        </p:txBody>
      </p:sp>
      <p:sp>
        <p:nvSpPr>
          <p:cNvPr id="14" name="Rectangle 13">
            <a:extLst>
              <a:ext uri="{FF2B5EF4-FFF2-40B4-BE49-F238E27FC236}">
                <a16:creationId xmlns:a16="http://schemas.microsoft.com/office/drawing/2014/main" id="{60ECC0E5-9C45-9419-0F35-8F8F6B7C69FB}"/>
              </a:ext>
            </a:extLst>
          </p:cNvPr>
          <p:cNvSpPr/>
          <p:nvPr/>
        </p:nvSpPr>
        <p:spPr>
          <a:xfrm>
            <a:off x="253752" y="4298883"/>
            <a:ext cx="4030215" cy="1265570"/>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Tree>
    <p:extLst>
      <p:ext uri="{BB962C8B-B14F-4D97-AF65-F5344CB8AC3E}">
        <p14:creationId xmlns:p14="http://schemas.microsoft.com/office/powerpoint/2010/main" val="1197402895"/>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2"/>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2"/>
                                        </p:tgtEl>
                                      </p:cBhvr>
                                    </p:animEffect>
                                    <p:set>
                                      <p:cBhvr>
                                        <p:cTn id="7" dur="1" fill="hold">
                                          <p:stCondLst>
                                            <p:cond delay="499"/>
                                          </p:stCondLst>
                                        </p:cTn>
                                        <p:tgtEl>
                                          <p:spTgt spid="12"/>
                                        </p:tgtEl>
                                        <p:attrNameLst>
                                          <p:attrName>style.visibility</p:attrName>
                                        </p:attrNameLst>
                                      </p:cBhvr>
                                      <p:to>
                                        <p:strVal val="hidden"/>
                                      </p:to>
                                    </p:set>
                                  </p:childTnLst>
                                </p:cTn>
                              </p:par>
                            </p:childTnLst>
                          </p:cTn>
                        </p:par>
                      </p:childTnLst>
                    </p:cTn>
                  </p:par>
                </p:childTnLst>
              </p:cTn>
              <p:nextCondLst>
                <p:cond evt="onClick" delay="0">
                  <p:tgtEl>
                    <p:spTgt spid="12"/>
                  </p:tgtEl>
                </p:cond>
              </p:nextCondLst>
            </p:seq>
            <p:seq concurrent="1" nextAc="seek">
              <p:cTn id="8" restart="whenNotActive" fill="hold" evtFilter="cancelBubble" nodeType="interactiveSeq">
                <p:stCondLst>
                  <p:cond evt="onClick" delay="0">
                    <p:tgtEl>
                      <p:spTgt spid="13"/>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3"/>
                                        </p:tgtEl>
                                      </p:cBhvr>
                                    </p:animEffect>
                                    <p:set>
                                      <p:cBhvr>
                                        <p:cTn id="13" dur="1" fill="hold">
                                          <p:stCondLst>
                                            <p:cond delay="499"/>
                                          </p:stCondLst>
                                        </p:cTn>
                                        <p:tgtEl>
                                          <p:spTgt spid="13"/>
                                        </p:tgtEl>
                                        <p:attrNameLst>
                                          <p:attrName>style.visibility</p:attrName>
                                        </p:attrNameLst>
                                      </p:cBhvr>
                                      <p:to>
                                        <p:strVal val="hidden"/>
                                      </p:to>
                                    </p:set>
                                  </p:childTnLst>
                                </p:cTn>
                              </p:par>
                            </p:childTnLst>
                          </p:cTn>
                        </p:par>
                      </p:childTnLst>
                    </p:cTn>
                  </p:par>
                </p:childTnLst>
              </p:cTn>
              <p:nextCondLst>
                <p:cond evt="onClick" delay="0">
                  <p:tgtEl>
                    <p:spTgt spid="13"/>
                  </p:tgtEl>
                </p:cond>
              </p:nextCondLst>
            </p:seq>
            <p:seq concurrent="1" nextAc="seek">
              <p:cTn id="14" restart="whenNotActive" fill="hold" evtFilter="cancelBubble" nodeType="interactiveSeq">
                <p:stCondLst>
                  <p:cond evt="onClick" delay="0">
                    <p:tgtEl>
                      <p:spTgt spid="14"/>
                    </p:tgtEl>
                  </p:cond>
                </p:stCondLst>
                <p:endSync evt="end" delay="0">
                  <p:rtn val="all"/>
                </p:endSync>
                <p:childTnLst>
                  <p:par>
                    <p:cTn id="15" fill="hold">
                      <p:stCondLst>
                        <p:cond delay="0"/>
                      </p:stCondLst>
                      <p:childTnLst>
                        <p:par>
                          <p:cTn id="16" fill="hold">
                            <p:stCondLst>
                              <p:cond delay="0"/>
                            </p:stCondLst>
                            <p:childTnLst>
                              <p:par>
                                <p:cTn id="17" presetID="10" presetClass="exit" presetSubtype="0" fill="hold" grpId="0" nodeType="clickEffect">
                                  <p:stCondLst>
                                    <p:cond delay="0"/>
                                  </p:stCondLst>
                                  <p:childTnLst>
                                    <p:animEffect transition="out" filter="fade">
                                      <p:cBhvr>
                                        <p:cTn id="18" dur="500"/>
                                        <p:tgtEl>
                                          <p:spTgt spid="14"/>
                                        </p:tgtEl>
                                      </p:cBhvr>
                                    </p:animEffect>
                                    <p:set>
                                      <p:cBhvr>
                                        <p:cTn id="19" dur="1" fill="hold">
                                          <p:stCondLst>
                                            <p:cond delay="499"/>
                                          </p:stCondLst>
                                        </p:cTn>
                                        <p:tgtEl>
                                          <p:spTgt spid="14"/>
                                        </p:tgtEl>
                                        <p:attrNameLst>
                                          <p:attrName>style.visibility</p:attrName>
                                        </p:attrNameLst>
                                      </p:cBhvr>
                                      <p:to>
                                        <p:strVal val="hidden"/>
                                      </p:to>
                                    </p:set>
                                  </p:childTnLst>
                                </p:cTn>
                              </p:par>
                            </p:childTnLst>
                          </p:cTn>
                        </p:par>
                      </p:childTnLst>
                    </p:cTn>
                  </p:par>
                </p:childTnLst>
              </p:cTn>
              <p:nextCondLst>
                <p:cond evt="onClick" delay="0">
                  <p:tgtEl>
                    <p:spTgt spid="14"/>
                  </p:tgtEl>
                </p:cond>
              </p:nextCondLst>
            </p:seq>
          </p:childTnLst>
        </p:cTn>
      </p:par>
    </p:tnLst>
    <p:bldLst>
      <p:bldP spid="12" grpId="0" animBg="1"/>
      <p:bldP spid="13" grpId="0" animBg="1"/>
      <p:bldP spid="14"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87744"/>
            <a:chOff x="0" y="13335"/>
            <a:chExt cx="9144218" cy="587744"/>
          </a:xfrm>
        </p:grpSpPr>
        <p:sp>
          <p:nvSpPr>
            <p:cNvPr id="3" name="TextBox 32"/>
            <p:cNvSpPr txBox="1"/>
            <p:nvPr/>
          </p:nvSpPr>
          <p:spPr>
            <a:xfrm>
              <a:off x="0" y="13335"/>
              <a:ext cx="9144000" cy="584775"/>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vert="horz" wrap="square" lIns="324000" tIns="45720" rIns="91440" bIns="45720" rtlCol="0" anchor="ctr">
              <a:spAutoFit/>
            </a:bodyPr>
            <a:lstStyle>
              <a:defPPr>
                <a:defRPr lang="en-US"/>
              </a:defPPr>
              <a:lvl1pPr>
                <a:spcBef>
                  <a:spcPct val="0"/>
                </a:spcBef>
                <a:buNone/>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a:t>Exercise 4F – Pure 1 Page 78 (stretches/reflections) </a:t>
              </a:r>
            </a:p>
          </p:txBody>
        </p:sp>
        <p:cxnSp>
          <p:nvCxnSpPr>
            <p:cNvPr id="4" name="Straight Connector 3"/>
            <p:cNvCxnSpPr/>
            <p:nvPr/>
          </p:nvCxnSpPr>
          <p:spPr>
            <a:xfrm>
              <a:off x="218" y="601079"/>
              <a:ext cx="9144000" cy="0"/>
            </a:xfrm>
            <a:prstGeom prst="line">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cxnSp>
      </p:grpSp>
      <p:sp>
        <p:nvSpPr>
          <p:cNvPr id="11" name="Rectangle 10">
            <a:extLst>
              <a:ext uri="{FF2B5EF4-FFF2-40B4-BE49-F238E27FC236}">
                <a16:creationId xmlns:a16="http://schemas.microsoft.com/office/drawing/2014/main" id="{3D8B3CAD-5A5D-4F34-1A3C-30FADD4F1DA0}"/>
              </a:ext>
            </a:extLst>
          </p:cNvPr>
          <p:cNvSpPr/>
          <p:nvPr/>
        </p:nvSpPr>
        <p:spPr>
          <a:xfrm>
            <a:off x="6516216" y="626980"/>
            <a:ext cx="216024" cy="2097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5" name="Picture 4">
            <a:extLst>
              <a:ext uri="{FF2B5EF4-FFF2-40B4-BE49-F238E27FC236}">
                <a16:creationId xmlns:a16="http://schemas.microsoft.com/office/drawing/2014/main" id="{E6F3E233-6A66-4C82-A2AF-E3B8B81D2287}"/>
              </a:ext>
            </a:extLst>
          </p:cNvPr>
          <p:cNvPicPr>
            <a:picLocks noChangeAspect="1"/>
          </p:cNvPicPr>
          <p:nvPr/>
        </p:nvPicPr>
        <p:blipFill>
          <a:blip r:embed="rId2"/>
          <a:stretch>
            <a:fillRect/>
          </a:stretch>
        </p:blipFill>
        <p:spPr>
          <a:xfrm>
            <a:off x="102840" y="626980"/>
            <a:ext cx="6629400" cy="965200"/>
          </a:xfrm>
          <a:prstGeom prst="rect">
            <a:avLst/>
          </a:prstGeom>
        </p:spPr>
      </p:pic>
      <p:pic>
        <p:nvPicPr>
          <p:cNvPr id="6" name="Picture 5">
            <a:extLst>
              <a:ext uri="{FF2B5EF4-FFF2-40B4-BE49-F238E27FC236}">
                <a16:creationId xmlns:a16="http://schemas.microsoft.com/office/drawing/2014/main" id="{81ADD59B-E8DC-26E3-070F-CF1A89143079}"/>
              </a:ext>
            </a:extLst>
          </p:cNvPr>
          <p:cNvPicPr>
            <a:picLocks noChangeAspect="1"/>
          </p:cNvPicPr>
          <p:nvPr/>
        </p:nvPicPr>
        <p:blipFill>
          <a:blip r:embed="rId3"/>
          <a:stretch>
            <a:fillRect/>
          </a:stretch>
        </p:blipFill>
        <p:spPr>
          <a:xfrm>
            <a:off x="428872" y="1852954"/>
            <a:ext cx="2667000" cy="2654300"/>
          </a:xfrm>
          <a:prstGeom prst="rect">
            <a:avLst/>
          </a:prstGeom>
        </p:spPr>
      </p:pic>
      <p:pic>
        <p:nvPicPr>
          <p:cNvPr id="8" name="Picture 7">
            <a:extLst>
              <a:ext uri="{FF2B5EF4-FFF2-40B4-BE49-F238E27FC236}">
                <a16:creationId xmlns:a16="http://schemas.microsoft.com/office/drawing/2014/main" id="{3E5BA07E-29E0-EB4A-00C8-B5B92611D301}"/>
              </a:ext>
            </a:extLst>
          </p:cNvPr>
          <p:cNvPicPr>
            <a:picLocks noChangeAspect="1"/>
          </p:cNvPicPr>
          <p:nvPr/>
        </p:nvPicPr>
        <p:blipFill>
          <a:blip r:embed="rId4"/>
          <a:stretch>
            <a:fillRect/>
          </a:stretch>
        </p:blipFill>
        <p:spPr>
          <a:xfrm>
            <a:off x="4139952" y="1844824"/>
            <a:ext cx="3949700" cy="3454400"/>
          </a:xfrm>
          <a:prstGeom prst="rect">
            <a:avLst/>
          </a:prstGeom>
        </p:spPr>
      </p:pic>
      <p:sp>
        <p:nvSpPr>
          <p:cNvPr id="9" name="Rectangle 8">
            <a:extLst>
              <a:ext uri="{FF2B5EF4-FFF2-40B4-BE49-F238E27FC236}">
                <a16:creationId xmlns:a16="http://schemas.microsoft.com/office/drawing/2014/main" id="{4E1D9592-EB5F-7AD0-EBC0-CDB65C96E767}"/>
              </a:ext>
            </a:extLst>
          </p:cNvPr>
          <p:cNvSpPr/>
          <p:nvPr/>
        </p:nvSpPr>
        <p:spPr>
          <a:xfrm>
            <a:off x="395536" y="1852954"/>
            <a:ext cx="3504684" cy="4711348"/>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a:t>
            </a:r>
          </a:p>
        </p:txBody>
      </p:sp>
      <p:sp>
        <p:nvSpPr>
          <p:cNvPr id="10" name="Rectangle 9">
            <a:extLst>
              <a:ext uri="{FF2B5EF4-FFF2-40B4-BE49-F238E27FC236}">
                <a16:creationId xmlns:a16="http://schemas.microsoft.com/office/drawing/2014/main" id="{55A8449A-44F2-4F7D-AB43-00F2A4266E54}"/>
              </a:ext>
            </a:extLst>
          </p:cNvPr>
          <p:cNvSpPr/>
          <p:nvPr/>
        </p:nvSpPr>
        <p:spPr>
          <a:xfrm>
            <a:off x="4139952" y="1860589"/>
            <a:ext cx="4135155" cy="4711348"/>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b?</a:t>
            </a:r>
          </a:p>
        </p:txBody>
      </p:sp>
    </p:spTree>
    <p:extLst>
      <p:ext uri="{BB962C8B-B14F-4D97-AF65-F5344CB8AC3E}">
        <p14:creationId xmlns:p14="http://schemas.microsoft.com/office/powerpoint/2010/main" val="2126617271"/>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9"/>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9"/>
                                        </p:tgtEl>
                                      </p:cBhvr>
                                    </p:animEffect>
                                    <p:set>
                                      <p:cBhvr>
                                        <p:cTn id="7" dur="1" fill="hold">
                                          <p:stCondLst>
                                            <p:cond delay="499"/>
                                          </p:stCondLst>
                                        </p:cTn>
                                        <p:tgtEl>
                                          <p:spTgt spid="9"/>
                                        </p:tgtEl>
                                        <p:attrNameLst>
                                          <p:attrName>style.visibility</p:attrName>
                                        </p:attrNameLst>
                                      </p:cBhvr>
                                      <p:to>
                                        <p:strVal val="hidden"/>
                                      </p:to>
                                    </p:set>
                                  </p:childTnLst>
                                </p:cTn>
                              </p:par>
                            </p:childTnLst>
                          </p:cTn>
                        </p:par>
                      </p:childTnLst>
                    </p:cTn>
                  </p:par>
                </p:childTnLst>
              </p:cTn>
              <p:nextCondLst>
                <p:cond evt="onClick" delay="0">
                  <p:tgtEl>
                    <p:spTgt spid="9"/>
                  </p:tgtEl>
                </p:cond>
              </p:nextCondLst>
            </p:seq>
            <p:seq concurrent="1" nextAc="seek">
              <p:cTn id="8" restart="whenNotActive" fill="hold" evtFilter="cancelBubble" nodeType="interactiveSeq">
                <p:stCondLst>
                  <p:cond evt="onClick" delay="0">
                    <p:tgtEl>
                      <p:spTgt spid="10"/>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0"/>
                                        </p:tgtEl>
                                      </p:cBhvr>
                                    </p:animEffect>
                                    <p:set>
                                      <p:cBhvr>
                                        <p:cTn id="13" dur="1" fill="hold">
                                          <p:stCondLst>
                                            <p:cond delay="499"/>
                                          </p:stCondLst>
                                        </p:cTn>
                                        <p:tgtEl>
                                          <p:spTgt spid="10"/>
                                        </p:tgtEl>
                                        <p:attrNameLst>
                                          <p:attrName>style.visibility</p:attrName>
                                        </p:attrNameLst>
                                      </p:cBhvr>
                                      <p:to>
                                        <p:strVal val="hidden"/>
                                      </p:to>
                                    </p:set>
                                  </p:childTnLst>
                                </p:cTn>
                              </p:par>
                            </p:childTnLst>
                          </p:cTn>
                        </p:par>
                      </p:childTnLst>
                    </p:cTn>
                  </p:par>
                </p:childTnLst>
              </p:cTn>
              <p:nextCondLst>
                <p:cond evt="onClick" delay="0">
                  <p:tgtEl>
                    <p:spTgt spid="10"/>
                  </p:tgtEl>
                </p:cond>
              </p:nextCondLst>
            </p:seq>
          </p:childTnLst>
        </p:cTn>
      </p:par>
    </p:tnLst>
    <p:bldLst>
      <p:bldP spid="9" grpId="0" animBg="1"/>
      <p:bldP spid="10"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vert="horz" wrap="square" lIns="324000" tIns="45720" rIns="91440" bIns="45720" rtlCol="0" anchor="ctr">
              <a:spAutoFit/>
            </a:bodyPr>
            <a:lstStyle>
              <a:defPPr>
                <a:defRPr lang="en-US"/>
              </a:defPPr>
              <a:lvl1pPr>
                <a:spcBef>
                  <a:spcPct val="0"/>
                </a:spcBef>
                <a:buNone/>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a:t>Effect of transformation on specific points</a:t>
              </a:r>
            </a:p>
          </p:txBody>
        </p:sp>
        <p:cxnSp>
          <p:nvCxnSpPr>
            <p:cNvPr id="4" name="Straight Connector 3"/>
            <p:cNvCxnSpPr/>
            <p:nvPr/>
          </p:nvCxnSpPr>
          <p:spPr>
            <a:xfrm>
              <a:off x="218" y="601079"/>
              <a:ext cx="9144000" cy="0"/>
            </a:xfrm>
            <a:prstGeom prst="line">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cxnSp>
      </p:grpSp>
      <p:sp>
        <p:nvSpPr>
          <p:cNvPr id="5" name="TextBox 4"/>
          <p:cNvSpPr txBox="1"/>
          <p:nvPr/>
        </p:nvSpPr>
        <p:spPr>
          <a:xfrm>
            <a:off x="323528" y="836712"/>
            <a:ext cx="7272808" cy="923330"/>
          </a:xfrm>
          <a:prstGeom prst="rect">
            <a:avLst/>
          </a:prstGeom>
          <a:noFill/>
        </p:spPr>
        <p:txBody>
          <a:bodyPr wrap="square" rtlCol="0">
            <a:spAutoFit/>
          </a:bodyPr>
          <a:lstStyle/>
          <a:p>
            <a:r>
              <a:rPr lang="en-GB"/>
              <a:t>Sometimes you will not be given the original function, but will be given a sketch with specific points and features you need to transform.</a:t>
            </a:r>
          </a:p>
          <a:p>
            <a:r>
              <a:rPr lang="en-GB"/>
              <a:t>Where would each of these points end up?</a:t>
            </a:r>
          </a:p>
        </p:txBody>
      </p:sp>
      <mc:AlternateContent xmlns:mc="http://schemas.openxmlformats.org/markup-compatibility/2006">
        <mc:Choice xmlns:a14="http://schemas.microsoft.com/office/drawing/2010/main" Requires="a14">
          <p:graphicFrame>
            <p:nvGraphicFramePr>
              <p:cNvPr id="6" name="Table 5"/>
              <p:cNvGraphicFramePr>
                <a:graphicFrameLocks noGrp="1"/>
              </p:cNvGraphicFramePr>
              <p:nvPr>
                <p:extLst>
                  <p:ext uri="{D42A27DB-BD31-4B8C-83A1-F6EECF244321}">
                    <p14:modId xmlns:p14="http://schemas.microsoft.com/office/powerpoint/2010/main" val="499370081"/>
                  </p:ext>
                </p:extLst>
              </p:nvPr>
            </p:nvGraphicFramePr>
            <p:xfrm>
              <a:off x="1446028" y="2270126"/>
              <a:ext cx="5266468" cy="3119057"/>
            </p:xfrm>
            <a:graphic>
              <a:graphicData uri="http://schemas.openxmlformats.org/drawingml/2006/table">
                <a:tbl>
                  <a:tblPr firstRow="1" bandRow="1">
                    <a:tableStyleId>{073A0DAA-6AF3-43AB-8588-CEC1D06C72B9}</a:tableStyleId>
                  </a:tblPr>
                  <a:tblGrid>
                    <a:gridCol w="1584251">
                      <a:extLst>
                        <a:ext uri="{9D8B030D-6E8A-4147-A177-3AD203B41FA5}">
                          <a16:colId xmlns:a16="http://schemas.microsoft.com/office/drawing/2014/main" val="20000"/>
                        </a:ext>
                      </a:extLst>
                    </a:gridCol>
                    <a:gridCol w="1212112">
                      <a:extLst>
                        <a:ext uri="{9D8B030D-6E8A-4147-A177-3AD203B41FA5}">
                          <a16:colId xmlns:a16="http://schemas.microsoft.com/office/drawing/2014/main" val="20001"/>
                        </a:ext>
                      </a:extLst>
                    </a:gridCol>
                    <a:gridCol w="1244009">
                      <a:extLst>
                        <a:ext uri="{9D8B030D-6E8A-4147-A177-3AD203B41FA5}">
                          <a16:colId xmlns:a16="http://schemas.microsoft.com/office/drawing/2014/main" val="20002"/>
                        </a:ext>
                      </a:extLst>
                    </a:gridCol>
                    <a:gridCol w="1226096">
                      <a:extLst>
                        <a:ext uri="{9D8B030D-6E8A-4147-A177-3AD203B41FA5}">
                          <a16:colId xmlns:a16="http://schemas.microsoft.com/office/drawing/2014/main" val="20003"/>
                        </a:ext>
                      </a:extLst>
                    </a:gridCol>
                  </a:tblGrid>
                  <a:tr h="370840">
                    <a:tc>
                      <a:txBody>
                        <a:bodyPr/>
                        <a:lstStyle/>
                        <a:p>
                          <a:pPr/>
                          <a14:m>
                            <m:oMathPara xmlns:m="http://schemas.openxmlformats.org/officeDocument/2006/math">
                              <m:oMath>
                                <m:r>
                                  <a:rPr lang="en-GB" b="1" i="1" smtClean="0">
                                    <a:latin typeface="Cambria Math" panose="02040503050406030204" pitchFamily="18" charset="0"/>
                                  </a:rPr>
                                  <m:t>𝒚</m:t>
                                </m:r>
                                <m:r>
                                  <a:rPr lang="en-GB" b="1" i="0" smtClean="0">
                                    <a:latin typeface="Cambria Math" panose="02040503050406030204" pitchFamily="18" charset="0"/>
                                  </a:rPr>
                                  <m:t>=</m:t>
                                </m:r>
                                <m:r>
                                  <a:rPr lang="en-GB" smtClean="0">
                                    <a:latin typeface="Cambria Math"/>
                                  </a:rPr>
                                  <m:t>𝑓</m:t>
                                </m:r>
                                <m:d>
                                  <m:dPr>
                                    <m:ctrlPr>
                                      <a:rPr lang="en-GB" smtClean="0">
                                        <a:latin typeface="Cambria Math"/>
                                      </a:rPr>
                                    </m:ctrlPr>
                                  </m:dPr>
                                  <m:e>
                                    <m:r>
                                      <a:rPr lang="en-GB" smtClean="0">
                                        <a:latin typeface="Cambria Math"/>
                                      </a:rPr>
                                      <m:t>𝑥</m:t>
                                    </m:r>
                                  </m:e>
                                </m:d>
                              </m:oMath>
                            </m:oMathPara>
                          </a14:m>
                          <a:endParaRPr lang="en-GB"/>
                        </a:p>
                      </a:txBody>
                      <a:tcPr/>
                    </a:tc>
                    <a:tc>
                      <a:txBody>
                        <a:bodyPr/>
                        <a:lstStyle/>
                        <a:p>
                          <a:pPr/>
                          <a14:m>
                            <m:oMathPara xmlns:m="http://schemas.openxmlformats.org/officeDocument/2006/math">
                              <m:oMath>
                                <m:d>
                                  <m:dPr>
                                    <m:ctrlPr>
                                      <a:rPr lang="en-GB" smtClean="0">
                                        <a:latin typeface="Cambria Math"/>
                                      </a:rPr>
                                    </m:ctrlPr>
                                  </m:dPr>
                                  <m:e>
                                    <m:r>
                                      <a:rPr lang="en-GB" smtClean="0">
                                        <a:latin typeface="Cambria Math"/>
                                      </a:rPr>
                                      <m:t>𝟒</m:t>
                                    </m:r>
                                    <m:r>
                                      <a:rPr lang="en-GB" smtClean="0">
                                        <a:latin typeface="Cambria Math"/>
                                      </a:rPr>
                                      <m:t>,</m:t>
                                    </m:r>
                                    <m:r>
                                      <a:rPr lang="en-GB" smtClean="0">
                                        <a:latin typeface="Cambria Math"/>
                                      </a:rPr>
                                      <m:t>𝟑</m:t>
                                    </m:r>
                                  </m:e>
                                </m:d>
                              </m:oMath>
                            </m:oMathPara>
                          </a14:m>
                          <a:endParaRPr lang="en-GB"/>
                        </a:p>
                      </a:txBody>
                      <a:tcPr/>
                    </a:tc>
                    <a:tc>
                      <a:txBody>
                        <a:bodyPr/>
                        <a:lstStyle/>
                        <a:p>
                          <a:pPr/>
                          <a14:m>
                            <m:oMathPara xmlns:m="http://schemas.openxmlformats.org/officeDocument/2006/math">
                              <m:oMath>
                                <m:d>
                                  <m:dPr>
                                    <m:ctrlPr>
                                      <a:rPr lang="en-GB" smtClean="0">
                                        <a:latin typeface="Cambria Math"/>
                                      </a:rPr>
                                    </m:ctrlPr>
                                  </m:dPr>
                                  <m:e>
                                    <m:r>
                                      <a:rPr lang="en-GB" smtClean="0">
                                        <a:latin typeface="Cambria Math"/>
                                      </a:rPr>
                                      <m:t>𝟏</m:t>
                                    </m:r>
                                    <m:r>
                                      <a:rPr lang="en-GB" smtClean="0">
                                        <a:latin typeface="Cambria Math"/>
                                      </a:rPr>
                                      <m:t>,</m:t>
                                    </m:r>
                                    <m:r>
                                      <a:rPr lang="en-GB" smtClean="0">
                                        <a:latin typeface="Cambria Math"/>
                                      </a:rPr>
                                      <m:t>𝟎</m:t>
                                    </m:r>
                                  </m:e>
                                </m:d>
                              </m:oMath>
                            </m:oMathPara>
                          </a14:m>
                          <a:endParaRPr lang="en-GB"/>
                        </a:p>
                      </a:txBody>
                      <a:tcPr/>
                    </a:tc>
                    <a:tc>
                      <a:txBody>
                        <a:bodyPr/>
                        <a:lstStyle/>
                        <a:p>
                          <a:pPr/>
                          <a14:m>
                            <m:oMathPara xmlns:m="http://schemas.openxmlformats.org/officeDocument/2006/math">
                              <m:oMath>
                                <m:d>
                                  <m:dPr>
                                    <m:ctrlPr>
                                      <a:rPr lang="en-GB" smtClean="0">
                                        <a:latin typeface="Cambria Math"/>
                                      </a:rPr>
                                    </m:ctrlPr>
                                  </m:dPr>
                                  <m:e>
                                    <m:r>
                                      <a:rPr lang="en-GB" smtClean="0">
                                        <a:latin typeface="Cambria Math"/>
                                      </a:rPr>
                                      <m:t>𝟔</m:t>
                                    </m:r>
                                    <m:r>
                                      <a:rPr lang="en-GB" smtClean="0">
                                        <a:latin typeface="Cambria Math"/>
                                      </a:rPr>
                                      <m:t>,−</m:t>
                                    </m:r>
                                    <m:r>
                                      <a:rPr lang="en-GB" smtClean="0">
                                        <a:latin typeface="Cambria Math"/>
                                      </a:rPr>
                                      <m:t>𝟒</m:t>
                                    </m:r>
                                  </m:e>
                                </m:d>
                              </m:oMath>
                            </m:oMathPara>
                          </a14:m>
                          <a:endParaRPr lang="en-GB"/>
                        </a:p>
                      </a:txBody>
                      <a:tcPr/>
                    </a:tc>
                    <a:extLst>
                      <a:ext uri="{0D108BD9-81ED-4DB2-BD59-A6C34878D82A}">
                        <a16:rowId xmlns:a16="http://schemas.microsoft.com/office/drawing/2014/main" val="10000"/>
                      </a:ext>
                    </a:extLst>
                  </a:tr>
                  <a:tr h="370840">
                    <a:tc>
                      <a:txBody>
                        <a:bodyPr/>
                        <a:lstStyle/>
                        <a:p>
                          <a:pPr/>
                          <a14:m>
                            <m:oMathPara xmlns:m="http://schemas.openxmlformats.org/officeDocument/2006/math">
                              <m:oMath>
                                <m:r>
                                  <a:rPr lang="en-GB" b="0" i="1" smtClean="0">
                                    <a:latin typeface="Cambria Math" panose="02040503050406030204" pitchFamily="18" charset="0"/>
                                  </a:rPr>
                                  <m:t>𝑦</m:t>
                                </m:r>
                                <m:r>
                                  <a:rPr lang="en-GB" b="0" i="0" smtClean="0">
                                    <a:latin typeface="Cambria Math" panose="02040503050406030204" pitchFamily="18" charset="0"/>
                                  </a:rPr>
                                  <m:t>=</m:t>
                                </m:r>
                                <m:r>
                                  <a:rPr lang="en-GB" smtClean="0">
                                    <a:latin typeface="Cambria Math"/>
                                  </a:rPr>
                                  <m:t>𝑓</m:t>
                                </m:r>
                                <m:d>
                                  <m:dPr>
                                    <m:ctrlPr>
                                      <a:rPr lang="en-GB" smtClean="0">
                                        <a:latin typeface="Cambria Math"/>
                                      </a:rPr>
                                    </m:ctrlPr>
                                  </m:dPr>
                                  <m:e>
                                    <m:r>
                                      <a:rPr lang="en-GB" smtClean="0">
                                        <a:latin typeface="Cambria Math"/>
                                      </a:rPr>
                                      <m:t>𝑥</m:t>
                                    </m:r>
                                    <m:r>
                                      <a:rPr lang="en-GB" smtClean="0">
                                        <a:latin typeface="Cambria Math"/>
                                      </a:rPr>
                                      <m:t>+1</m:t>
                                    </m:r>
                                  </m:e>
                                </m:d>
                              </m:oMath>
                            </m:oMathPara>
                          </a14:m>
                          <a:endParaRPr lang="en-GB"/>
                        </a:p>
                      </a:txBody>
                      <a:tcPr/>
                    </a:tc>
                    <a:tc>
                      <a:txBody>
                        <a:bodyPr/>
                        <a:lstStyle/>
                        <a:p>
                          <a:pPr/>
                          <a14:m>
                            <m:oMathPara xmlns:m="http://schemas.openxmlformats.org/officeDocument/2006/math">
                              <m:oMath>
                                <m:d>
                                  <m:dPr>
                                    <m:ctrlPr>
                                      <a:rPr lang="en-GB" smtClean="0">
                                        <a:latin typeface="Cambria Math"/>
                                      </a:rPr>
                                    </m:ctrlPr>
                                  </m:dPr>
                                  <m:e>
                                    <m:r>
                                      <a:rPr lang="en-GB" smtClean="0">
                                        <a:latin typeface="Cambria Math"/>
                                      </a:rPr>
                                      <m:t>3,3</m:t>
                                    </m:r>
                                  </m:e>
                                </m:d>
                              </m:oMath>
                            </m:oMathPara>
                          </a14:m>
                          <a:endParaRPr lang="en-GB"/>
                        </a:p>
                      </a:txBody>
                      <a:tcPr/>
                    </a:tc>
                    <a:tc>
                      <a:txBody>
                        <a:bodyPr/>
                        <a:lstStyle/>
                        <a:p>
                          <a:pPr/>
                          <a14:m>
                            <m:oMathPara xmlns:m="http://schemas.openxmlformats.org/officeDocument/2006/math">
                              <m:oMath>
                                <m:d>
                                  <m:dPr>
                                    <m:ctrlPr>
                                      <a:rPr lang="en-GB" smtClean="0">
                                        <a:latin typeface="Cambria Math"/>
                                      </a:rPr>
                                    </m:ctrlPr>
                                  </m:dPr>
                                  <m:e>
                                    <m:r>
                                      <a:rPr lang="en-GB" smtClean="0">
                                        <a:latin typeface="Cambria Math"/>
                                      </a:rPr>
                                      <m:t>0,0</m:t>
                                    </m:r>
                                  </m:e>
                                </m:d>
                              </m:oMath>
                            </m:oMathPara>
                          </a14:m>
                          <a:endParaRPr lang="en-GB"/>
                        </a:p>
                      </a:txBody>
                      <a:tcPr/>
                    </a:tc>
                    <a:tc>
                      <a:txBody>
                        <a:bodyPr/>
                        <a:lstStyle/>
                        <a:p>
                          <a:pPr/>
                          <a14:m>
                            <m:oMathPara xmlns:m="http://schemas.openxmlformats.org/officeDocument/2006/math">
                              <m:oMath>
                                <m:d>
                                  <m:dPr>
                                    <m:ctrlPr>
                                      <a:rPr lang="en-GB" smtClean="0">
                                        <a:latin typeface="Cambria Math"/>
                                      </a:rPr>
                                    </m:ctrlPr>
                                  </m:dPr>
                                  <m:e>
                                    <m:r>
                                      <a:rPr lang="en-GB" smtClean="0">
                                        <a:latin typeface="Cambria Math"/>
                                      </a:rPr>
                                      <m:t>5,−4</m:t>
                                    </m:r>
                                  </m:e>
                                </m:d>
                              </m:oMath>
                            </m:oMathPara>
                          </a14:m>
                          <a:endParaRPr lang="en-GB"/>
                        </a:p>
                      </a:txBody>
                      <a:tcPr/>
                    </a:tc>
                    <a:extLst>
                      <a:ext uri="{0D108BD9-81ED-4DB2-BD59-A6C34878D82A}">
                        <a16:rowId xmlns:a16="http://schemas.microsoft.com/office/drawing/2014/main" val="10001"/>
                      </a:ext>
                    </a:extLst>
                  </a:tr>
                  <a:tr h="370840">
                    <a:tc>
                      <a:txBody>
                        <a:bodyPr/>
                        <a:lstStyle/>
                        <a:p>
                          <a:pPr/>
                          <a14:m>
                            <m:oMathPara xmlns:m="http://schemas.openxmlformats.org/officeDocument/2006/math">
                              <m:oMath>
                                <m:r>
                                  <a:rPr lang="en-GB" b="0" i="1" smtClean="0">
                                    <a:latin typeface="Cambria Math" panose="02040503050406030204" pitchFamily="18" charset="0"/>
                                  </a:rPr>
                                  <m:t>𝑦</m:t>
                                </m:r>
                                <m:r>
                                  <a:rPr lang="en-GB" b="0" i="0" smtClean="0">
                                    <a:latin typeface="Cambria Math" panose="02040503050406030204" pitchFamily="18" charset="0"/>
                                  </a:rPr>
                                  <m:t>=</m:t>
                                </m:r>
                                <m:r>
                                  <a:rPr lang="en-GB" smtClean="0">
                                    <a:latin typeface="Cambria Math"/>
                                  </a:rPr>
                                  <m:t>𝑓</m:t>
                                </m:r>
                                <m:d>
                                  <m:dPr>
                                    <m:ctrlPr>
                                      <a:rPr lang="en-GB" smtClean="0">
                                        <a:latin typeface="Cambria Math"/>
                                      </a:rPr>
                                    </m:ctrlPr>
                                  </m:dPr>
                                  <m:e>
                                    <m:r>
                                      <a:rPr lang="en-GB" smtClean="0">
                                        <a:latin typeface="Cambria Math"/>
                                      </a:rPr>
                                      <m:t>2</m:t>
                                    </m:r>
                                    <m:r>
                                      <a:rPr lang="en-GB" smtClean="0">
                                        <a:latin typeface="Cambria Math"/>
                                      </a:rPr>
                                      <m:t>𝑥</m:t>
                                    </m:r>
                                  </m:e>
                                </m:d>
                              </m:oMath>
                            </m:oMathPara>
                          </a14:m>
                          <a:endParaRPr lang="en-GB"/>
                        </a:p>
                      </a:txBody>
                      <a:tcPr/>
                    </a:tc>
                    <a:tc>
                      <a:txBody>
                        <a:bodyPr/>
                        <a:lstStyle/>
                        <a:p>
                          <a:pPr/>
                          <a14:m>
                            <m:oMathPara xmlns:m="http://schemas.openxmlformats.org/officeDocument/2006/math">
                              <m:oMath>
                                <m:d>
                                  <m:dPr>
                                    <m:ctrlPr>
                                      <a:rPr lang="en-GB" smtClean="0">
                                        <a:latin typeface="Cambria Math"/>
                                      </a:rPr>
                                    </m:ctrlPr>
                                  </m:dPr>
                                  <m:e>
                                    <m:r>
                                      <a:rPr lang="en-GB" smtClean="0">
                                        <a:latin typeface="Cambria Math"/>
                                      </a:rPr>
                                      <m:t>2,3</m:t>
                                    </m:r>
                                  </m:e>
                                </m:d>
                              </m:oMath>
                            </m:oMathPara>
                          </a14:m>
                          <a:endParaRPr lang="en-GB"/>
                        </a:p>
                      </a:txBody>
                      <a:tcPr/>
                    </a:tc>
                    <a:tc>
                      <a:txBody>
                        <a:bodyPr/>
                        <a:lstStyle/>
                        <a:p>
                          <a:pPr/>
                          <a14:m>
                            <m:oMathPara xmlns:m="http://schemas.openxmlformats.org/officeDocument/2006/math">
                              <m:oMath>
                                <m:d>
                                  <m:dPr>
                                    <m:ctrlPr>
                                      <a:rPr lang="en-GB" smtClean="0">
                                        <a:latin typeface="Cambria Math"/>
                                      </a:rPr>
                                    </m:ctrlPr>
                                  </m:dPr>
                                  <m:e>
                                    <m:r>
                                      <a:rPr lang="en-GB" smtClean="0">
                                        <a:latin typeface="Cambria Math"/>
                                      </a:rPr>
                                      <m:t>0.5, 0</m:t>
                                    </m:r>
                                  </m:e>
                                </m:d>
                              </m:oMath>
                            </m:oMathPara>
                          </a14:m>
                          <a:endParaRPr lang="en-GB"/>
                        </a:p>
                      </a:txBody>
                      <a:tcPr/>
                    </a:tc>
                    <a:tc>
                      <a:txBody>
                        <a:bodyPr/>
                        <a:lstStyle/>
                        <a:p>
                          <a:pPr/>
                          <a14:m>
                            <m:oMathPara xmlns:m="http://schemas.openxmlformats.org/officeDocument/2006/math">
                              <m:oMath>
                                <m:d>
                                  <m:dPr>
                                    <m:ctrlPr>
                                      <a:rPr lang="en-GB" smtClean="0">
                                        <a:latin typeface="Cambria Math"/>
                                      </a:rPr>
                                    </m:ctrlPr>
                                  </m:dPr>
                                  <m:e>
                                    <m:r>
                                      <a:rPr lang="en-GB" smtClean="0">
                                        <a:latin typeface="Cambria Math"/>
                                      </a:rPr>
                                      <m:t>3, −4</m:t>
                                    </m:r>
                                  </m:e>
                                </m:d>
                              </m:oMath>
                            </m:oMathPara>
                          </a14:m>
                          <a:endParaRPr lang="en-GB"/>
                        </a:p>
                      </a:txBody>
                      <a:tcPr/>
                    </a:tc>
                    <a:extLst>
                      <a:ext uri="{0D108BD9-81ED-4DB2-BD59-A6C34878D82A}">
                        <a16:rowId xmlns:a16="http://schemas.microsoft.com/office/drawing/2014/main" val="10002"/>
                      </a:ext>
                    </a:extLst>
                  </a:tr>
                  <a:tr h="370840">
                    <a:tc>
                      <a:txBody>
                        <a:bodyPr/>
                        <a:lstStyle/>
                        <a:p>
                          <a:pPr/>
                          <a14:m>
                            <m:oMathPara xmlns:m="http://schemas.openxmlformats.org/officeDocument/2006/math">
                              <m:oMath>
                                <m:r>
                                  <a:rPr lang="en-GB" b="0" i="1" smtClean="0">
                                    <a:latin typeface="Cambria Math" panose="02040503050406030204" pitchFamily="18" charset="0"/>
                                  </a:rPr>
                                  <m:t>𝑦</m:t>
                                </m:r>
                                <m:r>
                                  <a:rPr lang="en-GB" b="0" i="0" smtClean="0">
                                    <a:latin typeface="Cambria Math" panose="02040503050406030204" pitchFamily="18" charset="0"/>
                                  </a:rPr>
                                  <m:t>=</m:t>
                                </m:r>
                                <m:r>
                                  <a:rPr lang="en-GB" smtClean="0">
                                    <a:latin typeface="Cambria Math"/>
                                  </a:rPr>
                                  <m:t>3</m:t>
                                </m:r>
                                <m:r>
                                  <a:rPr lang="en-GB" smtClean="0">
                                    <a:latin typeface="Cambria Math"/>
                                  </a:rPr>
                                  <m:t>𝑓</m:t>
                                </m:r>
                                <m:d>
                                  <m:dPr>
                                    <m:ctrlPr>
                                      <a:rPr lang="en-GB" smtClean="0">
                                        <a:latin typeface="Cambria Math"/>
                                      </a:rPr>
                                    </m:ctrlPr>
                                  </m:dPr>
                                  <m:e>
                                    <m:r>
                                      <a:rPr lang="en-GB" smtClean="0">
                                        <a:latin typeface="Cambria Math"/>
                                      </a:rPr>
                                      <m:t>𝑥</m:t>
                                    </m:r>
                                  </m:e>
                                </m:d>
                              </m:oMath>
                            </m:oMathPara>
                          </a14:m>
                          <a:endParaRPr lang="en-GB"/>
                        </a:p>
                      </a:txBody>
                      <a:tcPr/>
                    </a:tc>
                    <a:tc>
                      <a:txBody>
                        <a:bodyPr/>
                        <a:lstStyle/>
                        <a:p>
                          <a:pPr/>
                          <a14:m>
                            <m:oMathPara xmlns:m="http://schemas.openxmlformats.org/officeDocument/2006/math">
                              <m:oMath>
                                <m:d>
                                  <m:dPr>
                                    <m:ctrlPr>
                                      <a:rPr lang="en-GB" smtClean="0">
                                        <a:latin typeface="Cambria Math"/>
                                      </a:rPr>
                                    </m:ctrlPr>
                                  </m:dPr>
                                  <m:e>
                                    <m:r>
                                      <a:rPr lang="en-GB" smtClean="0">
                                        <a:latin typeface="Cambria Math"/>
                                      </a:rPr>
                                      <m:t>4,9</m:t>
                                    </m:r>
                                  </m:e>
                                </m:d>
                              </m:oMath>
                            </m:oMathPara>
                          </a14:m>
                          <a:endParaRPr lang="en-GB"/>
                        </a:p>
                      </a:txBody>
                      <a:tcPr/>
                    </a:tc>
                    <a:tc>
                      <a:txBody>
                        <a:bodyPr/>
                        <a:lstStyle/>
                        <a:p>
                          <a:pPr/>
                          <a14:m>
                            <m:oMathPara xmlns:m="http://schemas.openxmlformats.org/officeDocument/2006/math">
                              <m:oMath>
                                <m:d>
                                  <m:dPr>
                                    <m:ctrlPr>
                                      <a:rPr lang="en-GB" smtClean="0">
                                        <a:latin typeface="Cambria Math"/>
                                      </a:rPr>
                                    </m:ctrlPr>
                                  </m:dPr>
                                  <m:e>
                                    <m:r>
                                      <a:rPr lang="en-GB" smtClean="0">
                                        <a:latin typeface="Cambria Math"/>
                                      </a:rPr>
                                      <m:t>1,0</m:t>
                                    </m:r>
                                  </m:e>
                                </m:d>
                              </m:oMath>
                            </m:oMathPara>
                          </a14:m>
                          <a:endParaRPr lang="en-GB"/>
                        </a:p>
                      </a:txBody>
                      <a:tcPr/>
                    </a:tc>
                    <a:tc>
                      <a:txBody>
                        <a:bodyPr/>
                        <a:lstStyle/>
                        <a:p>
                          <a:pPr/>
                          <a14:m>
                            <m:oMathPara xmlns:m="http://schemas.openxmlformats.org/officeDocument/2006/math">
                              <m:oMath>
                                <m:d>
                                  <m:dPr>
                                    <m:ctrlPr>
                                      <a:rPr lang="en-GB" smtClean="0">
                                        <a:latin typeface="Cambria Math"/>
                                      </a:rPr>
                                    </m:ctrlPr>
                                  </m:dPr>
                                  <m:e>
                                    <m:r>
                                      <a:rPr lang="en-GB" smtClean="0">
                                        <a:latin typeface="Cambria Math"/>
                                      </a:rPr>
                                      <m:t>6,−12</m:t>
                                    </m:r>
                                  </m:e>
                                </m:d>
                              </m:oMath>
                            </m:oMathPara>
                          </a14:m>
                          <a:endParaRPr lang="en-GB"/>
                        </a:p>
                      </a:txBody>
                      <a:tcPr/>
                    </a:tc>
                    <a:extLst>
                      <a:ext uri="{0D108BD9-81ED-4DB2-BD59-A6C34878D82A}">
                        <a16:rowId xmlns:a16="http://schemas.microsoft.com/office/drawing/2014/main" val="10003"/>
                      </a:ext>
                    </a:extLst>
                  </a:tr>
                  <a:tr h="370840">
                    <a:tc>
                      <a:txBody>
                        <a:bodyPr/>
                        <a:lstStyle/>
                        <a:p>
                          <a:pPr/>
                          <a14:m>
                            <m:oMathPara xmlns:m="http://schemas.openxmlformats.org/officeDocument/2006/math">
                              <m:oMath>
                                <m:r>
                                  <a:rPr lang="en-GB" b="0" i="1" smtClean="0">
                                    <a:latin typeface="Cambria Math" panose="02040503050406030204" pitchFamily="18" charset="0"/>
                                  </a:rPr>
                                  <m:t>𝑦</m:t>
                                </m:r>
                                <m:r>
                                  <a:rPr lang="en-GB" b="0" i="0" smtClean="0">
                                    <a:latin typeface="Cambria Math" panose="02040503050406030204" pitchFamily="18" charset="0"/>
                                  </a:rPr>
                                  <m:t>=</m:t>
                                </m:r>
                                <m:r>
                                  <a:rPr lang="en-GB" smtClean="0">
                                    <a:latin typeface="Cambria Math"/>
                                  </a:rPr>
                                  <m:t>𝑓</m:t>
                                </m:r>
                                <m:d>
                                  <m:dPr>
                                    <m:ctrlPr>
                                      <a:rPr lang="en-GB" smtClean="0">
                                        <a:latin typeface="Cambria Math"/>
                                      </a:rPr>
                                    </m:ctrlPr>
                                  </m:dPr>
                                  <m:e>
                                    <m:r>
                                      <a:rPr lang="en-GB" smtClean="0">
                                        <a:latin typeface="Cambria Math"/>
                                      </a:rPr>
                                      <m:t>𝑥</m:t>
                                    </m:r>
                                  </m:e>
                                </m:d>
                                <m:r>
                                  <a:rPr lang="en-GB" smtClean="0">
                                    <a:latin typeface="Cambria Math"/>
                                  </a:rPr>
                                  <m:t>−1</m:t>
                                </m:r>
                              </m:oMath>
                            </m:oMathPara>
                          </a14:m>
                          <a:endParaRPr lang="en-GB"/>
                        </a:p>
                      </a:txBody>
                      <a:tcPr/>
                    </a:tc>
                    <a:tc>
                      <a:txBody>
                        <a:bodyPr/>
                        <a:lstStyle/>
                        <a:p>
                          <a:pPr/>
                          <a14:m>
                            <m:oMathPara xmlns:m="http://schemas.openxmlformats.org/officeDocument/2006/math">
                              <m:oMath>
                                <m:d>
                                  <m:dPr>
                                    <m:ctrlPr>
                                      <a:rPr lang="en-GB" smtClean="0">
                                        <a:latin typeface="Cambria Math"/>
                                      </a:rPr>
                                    </m:ctrlPr>
                                  </m:dPr>
                                  <m:e>
                                    <m:r>
                                      <a:rPr lang="en-GB" smtClean="0">
                                        <a:latin typeface="Cambria Math"/>
                                      </a:rPr>
                                      <m:t>4,2</m:t>
                                    </m:r>
                                  </m:e>
                                </m:d>
                              </m:oMath>
                            </m:oMathPara>
                          </a14:m>
                          <a:endParaRPr lang="en-GB"/>
                        </a:p>
                      </a:txBody>
                      <a:tcPr/>
                    </a:tc>
                    <a:tc>
                      <a:txBody>
                        <a:bodyPr/>
                        <a:lstStyle/>
                        <a:p>
                          <a:pPr/>
                          <a14:m>
                            <m:oMathPara xmlns:m="http://schemas.openxmlformats.org/officeDocument/2006/math">
                              <m:oMath>
                                <m:d>
                                  <m:dPr>
                                    <m:ctrlPr>
                                      <a:rPr lang="en-GB" smtClean="0">
                                        <a:latin typeface="Cambria Math"/>
                                      </a:rPr>
                                    </m:ctrlPr>
                                  </m:dPr>
                                  <m:e>
                                    <m:r>
                                      <a:rPr lang="en-GB" smtClean="0">
                                        <a:latin typeface="Cambria Math"/>
                                      </a:rPr>
                                      <m:t>1,−1</m:t>
                                    </m:r>
                                  </m:e>
                                </m:d>
                              </m:oMath>
                            </m:oMathPara>
                          </a14:m>
                          <a:endParaRPr lang="en-GB"/>
                        </a:p>
                      </a:txBody>
                      <a:tcPr/>
                    </a:tc>
                    <a:tc>
                      <a:txBody>
                        <a:bodyPr/>
                        <a:lstStyle/>
                        <a:p>
                          <a:pPr/>
                          <a14:m>
                            <m:oMathPara xmlns:m="http://schemas.openxmlformats.org/officeDocument/2006/math">
                              <m:oMath>
                                <m:d>
                                  <m:dPr>
                                    <m:ctrlPr>
                                      <a:rPr lang="en-GB" smtClean="0">
                                        <a:latin typeface="Cambria Math"/>
                                      </a:rPr>
                                    </m:ctrlPr>
                                  </m:dPr>
                                  <m:e>
                                    <m:r>
                                      <a:rPr lang="en-GB" smtClean="0">
                                        <a:latin typeface="Cambria Math"/>
                                      </a:rPr>
                                      <m:t>6,−5</m:t>
                                    </m:r>
                                  </m:e>
                                </m:d>
                              </m:oMath>
                            </m:oMathPara>
                          </a14:m>
                          <a:endParaRPr lang="en-GB"/>
                        </a:p>
                      </a:txBody>
                      <a:tcPr/>
                    </a:tc>
                    <a:extLst>
                      <a:ext uri="{0D108BD9-81ED-4DB2-BD59-A6C34878D82A}">
                        <a16:rowId xmlns:a16="http://schemas.microsoft.com/office/drawing/2014/main" val="10004"/>
                      </a:ext>
                    </a:extLst>
                  </a:tr>
                  <a:tr h="370840">
                    <a:tc>
                      <a:txBody>
                        <a:bodyPr/>
                        <a:lstStyle/>
                        <a:p>
                          <a:pPr/>
                          <a14:m>
                            <m:oMathPara xmlns:m="http://schemas.openxmlformats.org/officeDocument/2006/math">
                              <m:oMath>
                                <m:r>
                                  <a:rPr lang="en-GB" b="0" i="1" smtClean="0">
                                    <a:latin typeface="Cambria Math" panose="02040503050406030204" pitchFamily="18" charset="0"/>
                                  </a:rPr>
                                  <m:t>𝑦</m:t>
                                </m:r>
                                <m:r>
                                  <a:rPr lang="en-GB" b="0" i="0" smtClean="0">
                                    <a:latin typeface="Cambria Math" panose="02040503050406030204" pitchFamily="18" charset="0"/>
                                  </a:rPr>
                                  <m:t>=</m:t>
                                </m:r>
                                <m:r>
                                  <a:rPr lang="en-GB" smtClean="0">
                                    <a:latin typeface="Cambria Math"/>
                                  </a:rPr>
                                  <m:t>𝑓</m:t>
                                </m:r>
                                <m:d>
                                  <m:dPr>
                                    <m:ctrlPr>
                                      <a:rPr lang="en-GB" i="1" smtClean="0">
                                        <a:latin typeface="Cambria Math" panose="02040503050406030204" pitchFamily="18" charset="0"/>
                                      </a:rPr>
                                    </m:ctrlPr>
                                  </m:dPr>
                                  <m:e>
                                    <m:f>
                                      <m:fPr>
                                        <m:ctrlPr>
                                          <a:rPr lang="en-GB" smtClean="0">
                                            <a:latin typeface="Cambria Math"/>
                                          </a:rPr>
                                        </m:ctrlPr>
                                      </m:fPr>
                                      <m:num>
                                        <m:r>
                                          <a:rPr lang="en-GB" smtClean="0">
                                            <a:latin typeface="Cambria Math"/>
                                          </a:rPr>
                                          <m:t>𝑥</m:t>
                                        </m:r>
                                      </m:num>
                                      <m:den>
                                        <m:r>
                                          <a:rPr lang="en-GB" smtClean="0">
                                            <a:latin typeface="Cambria Math"/>
                                          </a:rPr>
                                          <m:t>4</m:t>
                                        </m:r>
                                      </m:den>
                                    </m:f>
                                  </m:e>
                                </m:d>
                              </m:oMath>
                            </m:oMathPara>
                          </a14:m>
                          <a:endParaRPr lang="en-GB"/>
                        </a:p>
                      </a:txBody>
                      <a:tcPr/>
                    </a:tc>
                    <a:tc>
                      <a:txBody>
                        <a:bodyPr/>
                        <a:lstStyle/>
                        <a:p>
                          <a:pPr/>
                          <a14:m>
                            <m:oMathPara xmlns:m="http://schemas.openxmlformats.org/officeDocument/2006/math">
                              <m:oMath>
                                <m:d>
                                  <m:dPr>
                                    <m:ctrlPr>
                                      <a:rPr lang="en-GB" smtClean="0">
                                        <a:latin typeface="Cambria Math"/>
                                      </a:rPr>
                                    </m:ctrlPr>
                                  </m:dPr>
                                  <m:e>
                                    <m:r>
                                      <a:rPr lang="en-GB" smtClean="0">
                                        <a:latin typeface="Cambria Math"/>
                                      </a:rPr>
                                      <m:t>1</m:t>
                                    </m:r>
                                    <m:r>
                                      <a:rPr lang="en-GB" b="0" i="0" smtClean="0">
                                        <a:latin typeface="Cambria Math" panose="02040503050406030204" pitchFamily="18" charset="0"/>
                                      </a:rPr>
                                      <m:t>6</m:t>
                                    </m:r>
                                    <m:r>
                                      <a:rPr lang="en-GB" smtClean="0">
                                        <a:latin typeface="Cambria Math"/>
                                      </a:rPr>
                                      <m:t>,3</m:t>
                                    </m:r>
                                  </m:e>
                                </m:d>
                              </m:oMath>
                            </m:oMathPara>
                          </a14:m>
                          <a:endParaRPr lang="en-GB"/>
                        </a:p>
                      </a:txBody>
                      <a:tcPr/>
                    </a:tc>
                    <a:tc>
                      <a:txBody>
                        <a:bodyPr/>
                        <a:lstStyle/>
                        <a:p>
                          <a:pPr/>
                          <a14:m>
                            <m:oMathPara xmlns:m="http://schemas.openxmlformats.org/officeDocument/2006/math">
                              <m:oMath>
                                <m:d>
                                  <m:dPr>
                                    <m:ctrlPr>
                                      <a:rPr lang="en-GB" smtClean="0">
                                        <a:latin typeface="Cambria Math"/>
                                      </a:rPr>
                                    </m:ctrlPr>
                                  </m:dPr>
                                  <m:e>
                                    <m:r>
                                      <a:rPr lang="en-GB" smtClean="0">
                                        <a:latin typeface="Cambria Math"/>
                                      </a:rPr>
                                      <m:t>4,0</m:t>
                                    </m:r>
                                  </m:e>
                                </m:d>
                              </m:oMath>
                            </m:oMathPara>
                          </a14:m>
                          <a:endParaRPr lang="en-GB"/>
                        </a:p>
                      </a:txBody>
                      <a:tcPr/>
                    </a:tc>
                    <a:tc>
                      <a:txBody>
                        <a:bodyPr/>
                        <a:lstStyle/>
                        <a:p>
                          <a:pPr/>
                          <a14:m>
                            <m:oMathPara xmlns:m="http://schemas.openxmlformats.org/officeDocument/2006/math">
                              <m:oMath>
                                <m:d>
                                  <m:dPr>
                                    <m:ctrlPr>
                                      <a:rPr lang="en-GB" smtClean="0">
                                        <a:latin typeface="Cambria Math"/>
                                      </a:rPr>
                                    </m:ctrlPr>
                                  </m:dPr>
                                  <m:e>
                                    <m:r>
                                      <a:rPr lang="en-GB" smtClean="0">
                                        <a:latin typeface="Cambria Math"/>
                                      </a:rPr>
                                      <m:t>24,−4</m:t>
                                    </m:r>
                                  </m:e>
                                </m:d>
                              </m:oMath>
                            </m:oMathPara>
                          </a14:m>
                          <a:endParaRPr lang="en-GB"/>
                        </a:p>
                      </a:txBody>
                      <a:tcPr/>
                    </a:tc>
                    <a:extLst>
                      <a:ext uri="{0D108BD9-81ED-4DB2-BD59-A6C34878D82A}">
                        <a16:rowId xmlns:a16="http://schemas.microsoft.com/office/drawing/2014/main" val="10005"/>
                      </a:ext>
                    </a:extLst>
                  </a:tr>
                  <a:tr h="370840">
                    <a:tc>
                      <a:txBody>
                        <a:bodyPr/>
                        <a:lstStyle/>
                        <a:p>
                          <a:pPr/>
                          <a14:m>
                            <m:oMathPara xmlns:m="http://schemas.openxmlformats.org/officeDocument/2006/math">
                              <m:oMath>
                                <m:r>
                                  <a:rPr lang="en-GB" b="0" i="1" smtClean="0">
                                    <a:latin typeface="Cambria Math" panose="02040503050406030204" pitchFamily="18" charset="0"/>
                                  </a:rPr>
                                  <m:t>𝑦</m:t>
                                </m:r>
                                <m:r>
                                  <a:rPr lang="en-GB" b="0" i="0" smtClean="0">
                                    <a:latin typeface="Cambria Math" panose="02040503050406030204" pitchFamily="18" charset="0"/>
                                  </a:rPr>
                                  <m:t>=</m:t>
                                </m:r>
                                <m:r>
                                  <a:rPr lang="en-GB" smtClean="0">
                                    <a:latin typeface="Cambria Math"/>
                                  </a:rPr>
                                  <m:t>𝑓</m:t>
                                </m:r>
                                <m:d>
                                  <m:dPr>
                                    <m:ctrlPr>
                                      <a:rPr lang="en-GB" smtClean="0">
                                        <a:latin typeface="Cambria Math"/>
                                      </a:rPr>
                                    </m:ctrlPr>
                                  </m:dPr>
                                  <m:e>
                                    <m:r>
                                      <a:rPr lang="en-GB" smtClean="0">
                                        <a:latin typeface="Cambria Math"/>
                                      </a:rPr>
                                      <m:t>−</m:t>
                                    </m:r>
                                    <m:r>
                                      <a:rPr lang="en-GB" smtClean="0">
                                        <a:latin typeface="Cambria Math"/>
                                      </a:rPr>
                                      <m:t>𝑥</m:t>
                                    </m:r>
                                  </m:e>
                                </m:d>
                              </m:oMath>
                            </m:oMathPara>
                          </a14:m>
                          <a:endParaRPr lang="en-GB"/>
                        </a:p>
                      </a:txBody>
                      <a:tcPr/>
                    </a:tc>
                    <a:tc>
                      <a:txBody>
                        <a:bodyPr/>
                        <a:lstStyle/>
                        <a:p>
                          <a:pPr/>
                          <a14:m>
                            <m:oMathPara xmlns:m="http://schemas.openxmlformats.org/officeDocument/2006/math">
                              <m:oMath>
                                <m:d>
                                  <m:dPr>
                                    <m:ctrlPr>
                                      <a:rPr lang="en-GB" smtClean="0">
                                        <a:latin typeface="Cambria Math"/>
                                      </a:rPr>
                                    </m:ctrlPr>
                                  </m:dPr>
                                  <m:e>
                                    <m:r>
                                      <a:rPr lang="en-GB" smtClean="0">
                                        <a:latin typeface="Cambria Math"/>
                                      </a:rPr>
                                      <m:t>−4,3</m:t>
                                    </m:r>
                                  </m:e>
                                </m:d>
                              </m:oMath>
                            </m:oMathPara>
                          </a14:m>
                          <a:endParaRPr lang="en-GB"/>
                        </a:p>
                      </a:txBody>
                      <a:tcPr/>
                    </a:tc>
                    <a:tc>
                      <a:txBody>
                        <a:bodyPr/>
                        <a:lstStyle/>
                        <a:p>
                          <a:pPr/>
                          <a14:m>
                            <m:oMathPara xmlns:m="http://schemas.openxmlformats.org/officeDocument/2006/math">
                              <m:oMath>
                                <m:d>
                                  <m:dPr>
                                    <m:ctrlPr>
                                      <a:rPr lang="en-GB" smtClean="0">
                                        <a:latin typeface="Cambria Math"/>
                                      </a:rPr>
                                    </m:ctrlPr>
                                  </m:dPr>
                                  <m:e>
                                    <m:r>
                                      <a:rPr lang="en-GB" smtClean="0">
                                        <a:latin typeface="Cambria Math"/>
                                      </a:rPr>
                                      <m:t>−1,0</m:t>
                                    </m:r>
                                  </m:e>
                                </m:d>
                              </m:oMath>
                            </m:oMathPara>
                          </a14:m>
                          <a:endParaRPr lang="en-GB"/>
                        </a:p>
                      </a:txBody>
                      <a:tcPr/>
                    </a:tc>
                    <a:tc>
                      <a:txBody>
                        <a:bodyPr/>
                        <a:lstStyle/>
                        <a:p>
                          <a:pPr/>
                          <a14:m>
                            <m:oMathPara xmlns:m="http://schemas.openxmlformats.org/officeDocument/2006/math">
                              <m:oMath>
                                <m:d>
                                  <m:dPr>
                                    <m:ctrlPr>
                                      <a:rPr lang="en-GB" smtClean="0">
                                        <a:latin typeface="Cambria Math"/>
                                      </a:rPr>
                                    </m:ctrlPr>
                                  </m:dPr>
                                  <m:e>
                                    <m:r>
                                      <a:rPr lang="en-GB" smtClean="0">
                                        <a:latin typeface="Cambria Math"/>
                                      </a:rPr>
                                      <m:t>−6,−4</m:t>
                                    </m:r>
                                  </m:e>
                                </m:d>
                              </m:oMath>
                            </m:oMathPara>
                          </a14:m>
                          <a:endParaRPr lang="en-GB"/>
                        </a:p>
                      </a:txBody>
                      <a:tcPr/>
                    </a:tc>
                    <a:extLst>
                      <a:ext uri="{0D108BD9-81ED-4DB2-BD59-A6C34878D82A}">
                        <a16:rowId xmlns:a16="http://schemas.microsoft.com/office/drawing/2014/main" val="10006"/>
                      </a:ext>
                    </a:extLst>
                  </a:tr>
                  <a:tr h="370840">
                    <a:tc>
                      <a:txBody>
                        <a:bodyPr/>
                        <a:lstStyle/>
                        <a:p>
                          <a:pPr/>
                          <a14:m>
                            <m:oMathPara xmlns:m="http://schemas.openxmlformats.org/officeDocument/2006/math">
                              <m:oMath>
                                <m:r>
                                  <a:rPr lang="en-GB" b="0" i="1" smtClean="0">
                                    <a:latin typeface="Cambria Math" panose="02040503050406030204" pitchFamily="18" charset="0"/>
                                  </a:rPr>
                                  <m:t>𝑦</m:t>
                                </m:r>
                                <m:r>
                                  <a:rPr lang="en-GB" b="0" i="0" smtClean="0">
                                    <a:latin typeface="Cambria Math" panose="02040503050406030204" pitchFamily="18" charset="0"/>
                                  </a:rPr>
                                  <m:t>=</m:t>
                                </m:r>
                                <m:r>
                                  <a:rPr lang="en-GB" smtClean="0">
                                    <a:latin typeface="Cambria Math"/>
                                  </a:rPr>
                                  <m:t>−</m:t>
                                </m:r>
                                <m:r>
                                  <a:rPr lang="en-GB" smtClean="0">
                                    <a:latin typeface="Cambria Math"/>
                                  </a:rPr>
                                  <m:t>𝑓</m:t>
                                </m:r>
                                <m:d>
                                  <m:dPr>
                                    <m:ctrlPr>
                                      <a:rPr lang="en-GB" smtClean="0">
                                        <a:latin typeface="Cambria Math"/>
                                      </a:rPr>
                                    </m:ctrlPr>
                                  </m:dPr>
                                  <m:e>
                                    <m:r>
                                      <a:rPr lang="en-GB" smtClean="0">
                                        <a:latin typeface="Cambria Math"/>
                                      </a:rPr>
                                      <m:t>𝑥</m:t>
                                    </m:r>
                                  </m:e>
                                </m:d>
                              </m:oMath>
                            </m:oMathPara>
                          </a14:m>
                          <a:endParaRPr lang="en-GB"/>
                        </a:p>
                      </a:txBody>
                      <a:tcPr/>
                    </a:tc>
                    <a:tc>
                      <a:txBody>
                        <a:bodyPr/>
                        <a:lstStyle/>
                        <a:p>
                          <a:pPr/>
                          <a14:m>
                            <m:oMathPara xmlns:m="http://schemas.openxmlformats.org/officeDocument/2006/math">
                              <m:oMath>
                                <m:d>
                                  <m:dPr>
                                    <m:ctrlPr>
                                      <a:rPr lang="en-GB" smtClean="0">
                                        <a:latin typeface="Cambria Math"/>
                                      </a:rPr>
                                    </m:ctrlPr>
                                  </m:dPr>
                                  <m:e>
                                    <m:r>
                                      <a:rPr lang="en-GB" smtClean="0">
                                        <a:latin typeface="Cambria Math"/>
                                      </a:rPr>
                                      <m:t>4,−3</m:t>
                                    </m:r>
                                  </m:e>
                                </m:d>
                              </m:oMath>
                            </m:oMathPara>
                          </a14:m>
                          <a:endParaRPr lang="en-GB"/>
                        </a:p>
                      </a:txBody>
                      <a:tcPr/>
                    </a:tc>
                    <a:tc>
                      <a:txBody>
                        <a:bodyPr/>
                        <a:lstStyle/>
                        <a:p>
                          <a:pPr/>
                          <a14:m>
                            <m:oMathPara xmlns:m="http://schemas.openxmlformats.org/officeDocument/2006/math">
                              <m:oMath>
                                <m:d>
                                  <m:dPr>
                                    <m:ctrlPr>
                                      <a:rPr lang="en-GB" smtClean="0">
                                        <a:latin typeface="Cambria Math"/>
                                      </a:rPr>
                                    </m:ctrlPr>
                                  </m:dPr>
                                  <m:e>
                                    <m:r>
                                      <a:rPr lang="en-GB" smtClean="0">
                                        <a:latin typeface="Cambria Math"/>
                                      </a:rPr>
                                      <m:t>1,0</m:t>
                                    </m:r>
                                  </m:e>
                                </m:d>
                              </m:oMath>
                            </m:oMathPara>
                          </a14:m>
                          <a:endParaRPr lang="en-GB"/>
                        </a:p>
                      </a:txBody>
                      <a:tcPr/>
                    </a:tc>
                    <a:tc>
                      <a:txBody>
                        <a:bodyPr/>
                        <a:lstStyle/>
                        <a:p>
                          <a:pPr/>
                          <a14:m>
                            <m:oMathPara xmlns:m="http://schemas.openxmlformats.org/officeDocument/2006/math">
                              <m:oMath>
                                <m:d>
                                  <m:dPr>
                                    <m:ctrlPr>
                                      <a:rPr lang="en-GB" smtClean="0">
                                        <a:latin typeface="Cambria Math"/>
                                      </a:rPr>
                                    </m:ctrlPr>
                                  </m:dPr>
                                  <m:e>
                                    <m:r>
                                      <a:rPr lang="en-GB" smtClean="0">
                                        <a:latin typeface="Cambria Math"/>
                                      </a:rPr>
                                      <m:t>6,4</m:t>
                                    </m:r>
                                  </m:e>
                                </m:d>
                              </m:oMath>
                            </m:oMathPara>
                          </a14:m>
                          <a:endParaRPr lang="en-GB"/>
                        </a:p>
                      </a:txBody>
                      <a:tcPr/>
                    </a:tc>
                    <a:extLst>
                      <a:ext uri="{0D108BD9-81ED-4DB2-BD59-A6C34878D82A}">
                        <a16:rowId xmlns:a16="http://schemas.microsoft.com/office/drawing/2014/main" val="10007"/>
                      </a:ext>
                    </a:extLst>
                  </a:tr>
                </a:tbl>
              </a:graphicData>
            </a:graphic>
          </p:graphicFrame>
        </mc:Choice>
        <mc:Fallback>
          <p:graphicFrame>
            <p:nvGraphicFramePr>
              <p:cNvPr id="6" name="Table 5"/>
              <p:cNvGraphicFramePr>
                <a:graphicFrameLocks noGrp="1"/>
              </p:cNvGraphicFramePr>
              <p:nvPr>
                <p:extLst>
                  <p:ext uri="{D42A27DB-BD31-4B8C-83A1-F6EECF244321}">
                    <p14:modId xmlns:p14="http://schemas.microsoft.com/office/powerpoint/2010/main" val="499370081"/>
                  </p:ext>
                </p:extLst>
              </p:nvPr>
            </p:nvGraphicFramePr>
            <p:xfrm>
              <a:off x="1446028" y="2270126"/>
              <a:ext cx="5266468" cy="3119057"/>
            </p:xfrm>
            <a:graphic>
              <a:graphicData uri="http://schemas.openxmlformats.org/drawingml/2006/table">
                <a:tbl>
                  <a:tblPr firstRow="1" bandRow="1">
                    <a:tableStyleId>{073A0DAA-6AF3-43AB-8588-CEC1D06C72B9}</a:tableStyleId>
                  </a:tblPr>
                  <a:tblGrid>
                    <a:gridCol w="1584251">
                      <a:extLst>
                        <a:ext uri="{9D8B030D-6E8A-4147-A177-3AD203B41FA5}">
                          <a16:colId xmlns:a16="http://schemas.microsoft.com/office/drawing/2014/main" val="20000"/>
                        </a:ext>
                      </a:extLst>
                    </a:gridCol>
                    <a:gridCol w="1212112">
                      <a:extLst>
                        <a:ext uri="{9D8B030D-6E8A-4147-A177-3AD203B41FA5}">
                          <a16:colId xmlns:a16="http://schemas.microsoft.com/office/drawing/2014/main" val="20001"/>
                        </a:ext>
                      </a:extLst>
                    </a:gridCol>
                    <a:gridCol w="1244009">
                      <a:extLst>
                        <a:ext uri="{9D8B030D-6E8A-4147-A177-3AD203B41FA5}">
                          <a16:colId xmlns:a16="http://schemas.microsoft.com/office/drawing/2014/main" val="20002"/>
                        </a:ext>
                      </a:extLst>
                    </a:gridCol>
                    <a:gridCol w="1226096">
                      <a:extLst>
                        <a:ext uri="{9D8B030D-6E8A-4147-A177-3AD203B41FA5}">
                          <a16:colId xmlns:a16="http://schemas.microsoft.com/office/drawing/2014/main" val="20003"/>
                        </a:ext>
                      </a:extLst>
                    </a:gridCol>
                  </a:tblGrid>
                  <a:tr h="370840">
                    <a:tc>
                      <a:txBody>
                        <a:bodyPr/>
                        <a:lstStyle/>
                        <a:p>
                          <a:endParaRPr lang="en-US"/>
                        </a:p>
                      </a:txBody>
                      <a:tcPr>
                        <a:blipFill>
                          <a:blip r:embed="rId2"/>
                          <a:stretch>
                            <a:fillRect r="-234400" b="-762069"/>
                          </a:stretch>
                        </a:blipFill>
                      </a:tcPr>
                    </a:tc>
                    <a:tc>
                      <a:txBody>
                        <a:bodyPr/>
                        <a:lstStyle/>
                        <a:p>
                          <a:endParaRPr lang="en-US"/>
                        </a:p>
                      </a:txBody>
                      <a:tcPr>
                        <a:blipFill>
                          <a:blip r:embed="rId2"/>
                          <a:stretch>
                            <a:fillRect l="-130208" r="-205208" b="-762069"/>
                          </a:stretch>
                        </a:blipFill>
                      </a:tcPr>
                    </a:tc>
                    <a:tc>
                      <a:txBody>
                        <a:bodyPr/>
                        <a:lstStyle/>
                        <a:p>
                          <a:endParaRPr lang="en-US"/>
                        </a:p>
                      </a:txBody>
                      <a:tcPr>
                        <a:blipFill>
                          <a:blip r:embed="rId2"/>
                          <a:stretch>
                            <a:fillRect l="-225510" r="-101020" b="-762069"/>
                          </a:stretch>
                        </a:blipFill>
                      </a:tcPr>
                    </a:tc>
                    <a:tc>
                      <a:txBody>
                        <a:bodyPr/>
                        <a:lstStyle/>
                        <a:p>
                          <a:endParaRPr lang="en-US"/>
                        </a:p>
                      </a:txBody>
                      <a:tcPr>
                        <a:blipFill>
                          <a:blip r:embed="rId2"/>
                          <a:stretch>
                            <a:fillRect l="-328866" r="-2062" b="-762069"/>
                          </a:stretch>
                        </a:blipFill>
                      </a:tcPr>
                    </a:tc>
                    <a:extLst>
                      <a:ext uri="{0D108BD9-81ED-4DB2-BD59-A6C34878D82A}">
                        <a16:rowId xmlns:a16="http://schemas.microsoft.com/office/drawing/2014/main" val="10000"/>
                      </a:ext>
                    </a:extLst>
                  </a:tr>
                  <a:tr h="370840">
                    <a:tc>
                      <a:txBody>
                        <a:bodyPr/>
                        <a:lstStyle/>
                        <a:p>
                          <a:endParaRPr lang="en-US"/>
                        </a:p>
                      </a:txBody>
                      <a:tcPr>
                        <a:blipFill>
                          <a:blip r:embed="rId2"/>
                          <a:stretch>
                            <a:fillRect t="-96667" r="-234400" b="-636667"/>
                          </a:stretch>
                        </a:blipFill>
                      </a:tcPr>
                    </a:tc>
                    <a:tc>
                      <a:txBody>
                        <a:bodyPr/>
                        <a:lstStyle/>
                        <a:p>
                          <a:endParaRPr lang="en-US"/>
                        </a:p>
                      </a:txBody>
                      <a:tcPr>
                        <a:blipFill>
                          <a:blip r:embed="rId2"/>
                          <a:stretch>
                            <a:fillRect l="-130208" t="-96667" r="-205208" b="-636667"/>
                          </a:stretch>
                        </a:blipFill>
                      </a:tcPr>
                    </a:tc>
                    <a:tc>
                      <a:txBody>
                        <a:bodyPr/>
                        <a:lstStyle/>
                        <a:p>
                          <a:endParaRPr lang="en-US"/>
                        </a:p>
                      </a:txBody>
                      <a:tcPr>
                        <a:blipFill>
                          <a:blip r:embed="rId2"/>
                          <a:stretch>
                            <a:fillRect l="-225510" t="-96667" r="-101020" b="-636667"/>
                          </a:stretch>
                        </a:blipFill>
                      </a:tcPr>
                    </a:tc>
                    <a:tc>
                      <a:txBody>
                        <a:bodyPr/>
                        <a:lstStyle/>
                        <a:p>
                          <a:endParaRPr lang="en-US"/>
                        </a:p>
                      </a:txBody>
                      <a:tcPr>
                        <a:blipFill>
                          <a:blip r:embed="rId2"/>
                          <a:stretch>
                            <a:fillRect l="-328866" t="-96667" r="-2062" b="-636667"/>
                          </a:stretch>
                        </a:blipFill>
                      </a:tcPr>
                    </a:tc>
                    <a:extLst>
                      <a:ext uri="{0D108BD9-81ED-4DB2-BD59-A6C34878D82A}">
                        <a16:rowId xmlns:a16="http://schemas.microsoft.com/office/drawing/2014/main" val="10001"/>
                      </a:ext>
                    </a:extLst>
                  </a:tr>
                  <a:tr h="370840">
                    <a:tc>
                      <a:txBody>
                        <a:bodyPr/>
                        <a:lstStyle/>
                        <a:p>
                          <a:endParaRPr lang="en-US"/>
                        </a:p>
                      </a:txBody>
                      <a:tcPr>
                        <a:blipFill>
                          <a:blip r:embed="rId2"/>
                          <a:stretch>
                            <a:fillRect t="-203448" r="-234400" b="-558621"/>
                          </a:stretch>
                        </a:blipFill>
                      </a:tcPr>
                    </a:tc>
                    <a:tc>
                      <a:txBody>
                        <a:bodyPr/>
                        <a:lstStyle/>
                        <a:p>
                          <a:endParaRPr lang="en-US"/>
                        </a:p>
                      </a:txBody>
                      <a:tcPr>
                        <a:blipFill>
                          <a:blip r:embed="rId2"/>
                          <a:stretch>
                            <a:fillRect l="-130208" t="-203448" r="-205208" b="-558621"/>
                          </a:stretch>
                        </a:blipFill>
                      </a:tcPr>
                    </a:tc>
                    <a:tc>
                      <a:txBody>
                        <a:bodyPr/>
                        <a:lstStyle/>
                        <a:p>
                          <a:endParaRPr lang="en-US"/>
                        </a:p>
                      </a:txBody>
                      <a:tcPr>
                        <a:blipFill>
                          <a:blip r:embed="rId2"/>
                          <a:stretch>
                            <a:fillRect l="-225510" t="-203448" r="-101020" b="-558621"/>
                          </a:stretch>
                        </a:blipFill>
                      </a:tcPr>
                    </a:tc>
                    <a:tc>
                      <a:txBody>
                        <a:bodyPr/>
                        <a:lstStyle/>
                        <a:p>
                          <a:endParaRPr lang="en-US"/>
                        </a:p>
                      </a:txBody>
                      <a:tcPr>
                        <a:blipFill>
                          <a:blip r:embed="rId2"/>
                          <a:stretch>
                            <a:fillRect l="-328866" t="-203448" r="-2062" b="-558621"/>
                          </a:stretch>
                        </a:blipFill>
                      </a:tcPr>
                    </a:tc>
                    <a:extLst>
                      <a:ext uri="{0D108BD9-81ED-4DB2-BD59-A6C34878D82A}">
                        <a16:rowId xmlns:a16="http://schemas.microsoft.com/office/drawing/2014/main" val="10002"/>
                      </a:ext>
                    </a:extLst>
                  </a:tr>
                  <a:tr h="370840">
                    <a:tc>
                      <a:txBody>
                        <a:bodyPr/>
                        <a:lstStyle/>
                        <a:p>
                          <a:endParaRPr lang="en-US"/>
                        </a:p>
                      </a:txBody>
                      <a:tcPr>
                        <a:blipFill>
                          <a:blip r:embed="rId2"/>
                          <a:stretch>
                            <a:fillRect t="-303448" r="-234400" b="-458621"/>
                          </a:stretch>
                        </a:blipFill>
                      </a:tcPr>
                    </a:tc>
                    <a:tc>
                      <a:txBody>
                        <a:bodyPr/>
                        <a:lstStyle/>
                        <a:p>
                          <a:endParaRPr lang="en-US"/>
                        </a:p>
                      </a:txBody>
                      <a:tcPr>
                        <a:blipFill>
                          <a:blip r:embed="rId2"/>
                          <a:stretch>
                            <a:fillRect l="-130208" t="-303448" r="-205208" b="-458621"/>
                          </a:stretch>
                        </a:blipFill>
                      </a:tcPr>
                    </a:tc>
                    <a:tc>
                      <a:txBody>
                        <a:bodyPr/>
                        <a:lstStyle/>
                        <a:p>
                          <a:endParaRPr lang="en-US"/>
                        </a:p>
                      </a:txBody>
                      <a:tcPr>
                        <a:blipFill>
                          <a:blip r:embed="rId2"/>
                          <a:stretch>
                            <a:fillRect l="-225510" t="-303448" r="-101020" b="-458621"/>
                          </a:stretch>
                        </a:blipFill>
                      </a:tcPr>
                    </a:tc>
                    <a:tc>
                      <a:txBody>
                        <a:bodyPr/>
                        <a:lstStyle/>
                        <a:p>
                          <a:endParaRPr lang="en-US"/>
                        </a:p>
                      </a:txBody>
                      <a:tcPr>
                        <a:blipFill>
                          <a:blip r:embed="rId2"/>
                          <a:stretch>
                            <a:fillRect l="-328866" t="-303448" r="-2062" b="-458621"/>
                          </a:stretch>
                        </a:blipFill>
                      </a:tcPr>
                    </a:tc>
                    <a:extLst>
                      <a:ext uri="{0D108BD9-81ED-4DB2-BD59-A6C34878D82A}">
                        <a16:rowId xmlns:a16="http://schemas.microsoft.com/office/drawing/2014/main" val="10003"/>
                      </a:ext>
                    </a:extLst>
                  </a:tr>
                  <a:tr h="370840">
                    <a:tc>
                      <a:txBody>
                        <a:bodyPr/>
                        <a:lstStyle/>
                        <a:p>
                          <a:endParaRPr lang="en-US"/>
                        </a:p>
                      </a:txBody>
                      <a:tcPr>
                        <a:blipFill>
                          <a:blip r:embed="rId2"/>
                          <a:stretch>
                            <a:fillRect t="-390000" r="-234400" b="-343333"/>
                          </a:stretch>
                        </a:blipFill>
                      </a:tcPr>
                    </a:tc>
                    <a:tc>
                      <a:txBody>
                        <a:bodyPr/>
                        <a:lstStyle/>
                        <a:p>
                          <a:endParaRPr lang="en-US"/>
                        </a:p>
                      </a:txBody>
                      <a:tcPr>
                        <a:blipFill>
                          <a:blip r:embed="rId2"/>
                          <a:stretch>
                            <a:fillRect l="-130208" t="-390000" r="-205208" b="-343333"/>
                          </a:stretch>
                        </a:blipFill>
                      </a:tcPr>
                    </a:tc>
                    <a:tc>
                      <a:txBody>
                        <a:bodyPr/>
                        <a:lstStyle/>
                        <a:p>
                          <a:endParaRPr lang="en-US"/>
                        </a:p>
                      </a:txBody>
                      <a:tcPr>
                        <a:blipFill>
                          <a:blip r:embed="rId2"/>
                          <a:stretch>
                            <a:fillRect l="-225510" t="-390000" r="-101020" b="-343333"/>
                          </a:stretch>
                        </a:blipFill>
                      </a:tcPr>
                    </a:tc>
                    <a:tc>
                      <a:txBody>
                        <a:bodyPr/>
                        <a:lstStyle/>
                        <a:p>
                          <a:endParaRPr lang="en-US"/>
                        </a:p>
                      </a:txBody>
                      <a:tcPr>
                        <a:blipFill>
                          <a:blip r:embed="rId2"/>
                          <a:stretch>
                            <a:fillRect l="-328866" t="-390000" r="-2062" b="-343333"/>
                          </a:stretch>
                        </a:blipFill>
                      </a:tcPr>
                    </a:tc>
                    <a:extLst>
                      <a:ext uri="{0D108BD9-81ED-4DB2-BD59-A6C34878D82A}">
                        <a16:rowId xmlns:a16="http://schemas.microsoft.com/office/drawing/2014/main" val="10004"/>
                      </a:ext>
                    </a:extLst>
                  </a:tr>
                  <a:tr h="523177">
                    <a:tc>
                      <a:txBody>
                        <a:bodyPr/>
                        <a:lstStyle/>
                        <a:p>
                          <a:endParaRPr lang="en-US"/>
                        </a:p>
                      </a:txBody>
                      <a:tcPr>
                        <a:blipFill>
                          <a:blip r:embed="rId2"/>
                          <a:stretch>
                            <a:fillRect t="-358537" r="-234400" b="-151220"/>
                          </a:stretch>
                        </a:blipFill>
                      </a:tcPr>
                    </a:tc>
                    <a:tc>
                      <a:txBody>
                        <a:bodyPr/>
                        <a:lstStyle/>
                        <a:p>
                          <a:endParaRPr lang="en-US"/>
                        </a:p>
                      </a:txBody>
                      <a:tcPr>
                        <a:blipFill>
                          <a:blip r:embed="rId2"/>
                          <a:stretch>
                            <a:fillRect l="-130208" t="-358537" r="-205208" b="-151220"/>
                          </a:stretch>
                        </a:blipFill>
                      </a:tcPr>
                    </a:tc>
                    <a:tc>
                      <a:txBody>
                        <a:bodyPr/>
                        <a:lstStyle/>
                        <a:p>
                          <a:endParaRPr lang="en-US"/>
                        </a:p>
                      </a:txBody>
                      <a:tcPr>
                        <a:blipFill>
                          <a:blip r:embed="rId2"/>
                          <a:stretch>
                            <a:fillRect l="-225510" t="-358537" r="-101020" b="-151220"/>
                          </a:stretch>
                        </a:blipFill>
                      </a:tcPr>
                    </a:tc>
                    <a:tc>
                      <a:txBody>
                        <a:bodyPr/>
                        <a:lstStyle/>
                        <a:p>
                          <a:endParaRPr lang="en-US"/>
                        </a:p>
                      </a:txBody>
                      <a:tcPr>
                        <a:blipFill>
                          <a:blip r:embed="rId2"/>
                          <a:stretch>
                            <a:fillRect l="-328866" t="-358537" r="-2062" b="-151220"/>
                          </a:stretch>
                        </a:blipFill>
                      </a:tcPr>
                    </a:tc>
                    <a:extLst>
                      <a:ext uri="{0D108BD9-81ED-4DB2-BD59-A6C34878D82A}">
                        <a16:rowId xmlns:a16="http://schemas.microsoft.com/office/drawing/2014/main" val="10005"/>
                      </a:ext>
                    </a:extLst>
                  </a:tr>
                  <a:tr h="370840">
                    <a:tc>
                      <a:txBody>
                        <a:bodyPr/>
                        <a:lstStyle/>
                        <a:p>
                          <a:endParaRPr lang="en-US"/>
                        </a:p>
                      </a:txBody>
                      <a:tcPr>
                        <a:blipFill>
                          <a:blip r:embed="rId2"/>
                          <a:stretch>
                            <a:fillRect t="-626667" r="-234400" b="-106667"/>
                          </a:stretch>
                        </a:blipFill>
                      </a:tcPr>
                    </a:tc>
                    <a:tc>
                      <a:txBody>
                        <a:bodyPr/>
                        <a:lstStyle/>
                        <a:p>
                          <a:endParaRPr lang="en-US"/>
                        </a:p>
                      </a:txBody>
                      <a:tcPr>
                        <a:blipFill>
                          <a:blip r:embed="rId2"/>
                          <a:stretch>
                            <a:fillRect l="-130208" t="-626667" r="-205208" b="-106667"/>
                          </a:stretch>
                        </a:blipFill>
                      </a:tcPr>
                    </a:tc>
                    <a:tc>
                      <a:txBody>
                        <a:bodyPr/>
                        <a:lstStyle/>
                        <a:p>
                          <a:endParaRPr lang="en-US"/>
                        </a:p>
                      </a:txBody>
                      <a:tcPr>
                        <a:blipFill>
                          <a:blip r:embed="rId2"/>
                          <a:stretch>
                            <a:fillRect l="-225510" t="-626667" r="-101020" b="-106667"/>
                          </a:stretch>
                        </a:blipFill>
                      </a:tcPr>
                    </a:tc>
                    <a:tc>
                      <a:txBody>
                        <a:bodyPr/>
                        <a:lstStyle/>
                        <a:p>
                          <a:endParaRPr lang="en-US"/>
                        </a:p>
                      </a:txBody>
                      <a:tcPr>
                        <a:blipFill>
                          <a:blip r:embed="rId2"/>
                          <a:stretch>
                            <a:fillRect l="-328866" t="-626667" r="-2062" b="-106667"/>
                          </a:stretch>
                        </a:blipFill>
                      </a:tcPr>
                    </a:tc>
                    <a:extLst>
                      <a:ext uri="{0D108BD9-81ED-4DB2-BD59-A6C34878D82A}">
                        <a16:rowId xmlns:a16="http://schemas.microsoft.com/office/drawing/2014/main" val="10006"/>
                      </a:ext>
                    </a:extLst>
                  </a:tr>
                  <a:tr h="370840">
                    <a:tc>
                      <a:txBody>
                        <a:bodyPr/>
                        <a:lstStyle/>
                        <a:p>
                          <a:endParaRPr lang="en-US"/>
                        </a:p>
                      </a:txBody>
                      <a:tcPr>
                        <a:blipFill>
                          <a:blip r:embed="rId2"/>
                          <a:stretch>
                            <a:fillRect t="-751724" r="-234400" b="-10345"/>
                          </a:stretch>
                        </a:blipFill>
                      </a:tcPr>
                    </a:tc>
                    <a:tc>
                      <a:txBody>
                        <a:bodyPr/>
                        <a:lstStyle/>
                        <a:p>
                          <a:endParaRPr lang="en-US"/>
                        </a:p>
                      </a:txBody>
                      <a:tcPr>
                        <a:blipFill>
                          <a:blip r:embed="rId2"/>
                          <a:stretch>
                            <a:fillRect l="-130208" t="-751724" r="-205208" b="-10345"/>
                          </a:stretch>
                        </a:blipFill>
                      </a:tcPr>
                    </a:tc>
                    <a:tc>
                      <a:txBody>
                        <a:bodyPr/>
                        <a:lstStyle/>
                        <a:p>
                          <a:endParaRPr lang="en-US"/>
                        </a:p>
                      </a:txBody>
                      <a:tcPr>
                        <a:blipFill>
                          <a:blip r:embed="rId2"/>
                          <a:stretch>
                            <a:fillRect l="-225510" t="-751724" r="-101020" b="-10345"/>
                          </a:stretch>
                        </a:blipFill>
                      </a:tcPr>
                    </a:tc>
                    <a:tc>
                      <a:txBody>
                        <a:bodyPr/>
                        <a:lstStyle/>
                        <a:p>
                          <a:endParaRPr lang="en-US"/>
                        </a:p>
                      </a:txBody>
                      <a:tcPr>
                        <a:blipFill>
                          <a:blip r:embed="rId2"/>
                          <a:stretch>
                            <a:fillRect l="-328866" t="-751724" r="-2062" b="-10345"/>
                          </a:stretch>
                        </a:blipFill>
                      </a:tcPr>
                    </a:tc>
                    <a:extLst>
                      <a:ext uri="{0D108BD9-81ED-4DB2-BD59-A6C34878D82A}">
                        <a16:rowId xmlns:a16="http://schemas.microsoft.com/office/drawing/2014/main" val="10007"/>
                      </a:ext>
                    </a:extLst>
                  </a:tr>
                </a:tbl>
              </a:graphicData>
            </a:graphic>
          </p:graphicFrame>
        </mc:Fallback>
      </mc:AlternateContent>
      <p:sp>
        <p:nvSpPr>
          <p:cNvPr id="7" name="Rectangle 6"/>
          <p:cNvSpPr/>
          <p:nvPr/>
        </p:nvSpPr>
        <p:spPr>
          <a:xfrm>
            <a:off x="3059831" y="2630166"/>
            <a:ext cx="1197843" cy="385936"/>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8" name="Rectangle 7"/>
          <p:cNvSpPr/>
          <p:nvPr/>
        </p:nvSpPr>
        <p:spPr>
          <a:xfrm>
            <a:off x="4257674" y="2630166"/>
            <a:ext cx="1228725" cy="385936"/>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9" name="Rectangle 8"/>
          <p:cNvSpPr/>
          <p:nvPr/>
        </p:nvSpPr>
        <p:spPr>
          <a:xfrm>
            <a:off x="5486399" y="2630166"/>
            <a:ext cx="1209675" cy="385936"/>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10" name="Rectangle 9"/>
          <p:cNvSpPr/>
          <p:nvPr/>
        </p:nvSpPr>
        <p:spPr>
          <a:xfrm>
            <a:off x="3059831" y="3016102"/>
            <a:ext cx="1197843" cy="385936"/>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11" name="Rectangle 10"/>
          <p:cNvSpPr/>
          <p:nvPr/>
        </p:nvSpPr>
        <p:spPr>
          <a:xfrm>
            <a:off x="4257674" y="3016102"/>
            <a:ext cx="1228725" cy="385936"/>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12" name="Rectangle 11"/>
          <p:cNvSpPr/>
          <p:nvPr/>
        </p:nvSpPr>
        <p:spPr>
          <a:xfrm>
            <a:off x="5486399" y="3016102"/>
            <a:ext cx="1209675" cy="385936"/>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13" name="Rectangle 12"/>
          <p:cNvSpPr/>
          <p:nvPr/>
        </p:nvSpPr>
        <p:spPr>
          <a:xfrm>
            <a:off x="3059831" y="3402038"/>
            <a:ext cx="1197843" cy="366539"/>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14" name="Rectangle 13"/>
          <p:cNvSpPr/>
          <p:nvPr/>
        </p:nvSpPr>
        <p:spPr>
          <a:xfrm>
            <a:off x="4257674" y="3402038"/>
            <a:ext cx="1228725" cy="366539"/>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15" name="Rectangle 14"/>
          <p:cNvSpPr/>
          <p:nvPr/>
        </p:nvSpPr>
        <p:spPr>
          <a:xfrm>
            <a:off x="5486399" y="3402038"/>
            <a:ext cx="1209675" cy="366539"/>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16" name="Rectangle 15"/>
          <p:cNvSpPr/>
          <p:nvPr/>
        </p:nvSpPr>
        <p:spPr>
          <a:xfrm>
            <a:off x="3059831" y="3766282"/>
            <a:ext cx="1197843" cy="366539"/>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17" name="Rectangle 16"/>
          <p:cNvSpPr/>
          <p:nvPr/>
        </p:nvSpPr>
        <p:spPr>
          <a:xfrm>
            <a:off x="4257674" y="3766282"/>
            <a:ext cx="1228725" cy="366539"/>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18" name="Rectangle 17"/>
          <p:cNvSpPr/>
          <p:nvPr/>
        </p:nvSpPr>
        <p:spPr>
          <a:xfrm>
            <a:off x="5486399" y="3766282"/>
            <a:ext cx="1209675" cy="366539"/>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19" name="Rectangle 18"/>
          <p:cNvSpPr/>
          <p:nvPr/>
        </p:nvSpPr>
        <p:spPr>
          <a:xfrm>
            <a:off x="3059829" y="4132820"/>
            <a:ext cx="1197843" cy="521581"/>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20" name="Rectangle 19"/>
          <p:cNvSpPr/>
          <p:nvPr/>
        </p:nvSpPr>
        <p:spPr>
          <a:xfrm>
            <a:off x="4257674" y="4132821"/>
            <a:ext cx="1228725" cy="521581"/>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21" name="Rectangle 20"/>
          <p:cNvSpPr/>
          <p:nvPr/>
        </p:nvSpPr>
        <p:spPr>
          <a:xfrm>
            <a:off x="5486399" y="4132821"/>
            <a:ext cx="1209675" cy="521581"/>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22" name="Rectangle 21"/>
          <p:cNvSpPr/>
          <p:nvPr/>
        </p:nvSpPr>
        <p:spPr>
          <a:xfrm>
            <a:off x="3059830" y="4654402"/>
            <a:ext cx="1197843" cy="428625"/>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23" name="Rectangle 22"/>
          <p:cNvSpPr/>
          <p:nvPr/>
        </p:nvSpPr>
        <p:spPr>
          <a:xfrm>
            <a:off x="4257673" y="4654402"/>
            <a:ext cx="1228725" cy="428625"/>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24" name="Rectangle 23"/>
          <p:cNvSpPr/>
          <p:nvPr/>
        </p:nvSpPr>
        <p:spPr>
          <a:xfrm>
            <a:off x="5486398" y="4654402"/>
            <a:ext cx="1209675" cy="428625"/>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25" name="Rectangle 24"/>
          <p:cNvSpPr/>
          <p:nvPr/>
        </p:nvSpPr>
        <p:spPr>
          <a:xfrm>
            <a:off x="3059830" y="5083028"/>
            <a:ext cx="1197843" cy="361950"/>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26" name="Rectangle 25"/>
          <p:cNvSpPr/>
          <p:nvPr/>
        </p:nvSpPr>
        <p:spPr>
          <a:xfrm>
            <a:off x="4257673" y="5083028"/>
            <a:ext cx="1228725" cy="361950"/>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27" name="Rectangle 26"/>
          <p:cNvSpPr/>
          <p:nvPr/>
        </p:nvSpPr>
        <p:spPr>
          <a:xfrm>
            <a:off x="5486398" y="5083028"/>
            <a:ext cx="1209675" cy="361950"/>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Tree>
    <p:extLst>
      <p:ext uri="{BB962C8B-B14F-4D97-AF65-F5344CB8AC3E}">
        <p14:creationId xmlns:p14="http://schemas.microsoft.com/office/powerpoint/2010/main" val="3147756504"/>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7"/>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7"/>
                                        </p:tgtEl>
                                      </p:cBhvr>
                                    </p:animEffect>
                                    <p:set>
                                      <p:cBhvr>
                                        <p:cTn id="7" dur="1" fill="hold">
                                          <p:stCondLst>
                                            <p:cond delay="499"/>
                                          </p:stCondLst>
                                        </p:cTn>
                                        <p:tgtEl>
                                          <p:spTgt spid="7"/>
                                        </p:tgtEl>
                                        <p:attrNameLst>
                                          <p:attrName>style.visibility</p:attrName>
                                        </p:attrNameLst>
                                      </p:cBhvr>
                                      <p:to>
                                        <p:strVal val="hidden"/>
                                      </p:to>
                                    </p:set>
                                  </p:childTnLst>
                                </p:cTn>
                              </p:par>
                            </p:childTnLst>
                          </p:cTn>
                        </p:par>
                      </p:childTnLst>
                    </p:cTn>
                  </p:par>
                </p:childTnLst>
              </p:cTn>
              <p:nextCondLst>
                <p:cond evt="onClick" delay="0">
                  <p:tgtEl>
                    <p:spTgt spid="7"/>
                  </p:tgtEl>
                </p:cond>
              </p:nextCondLst>
            </p:seq>
            <p:seq concurrent="1" nextAc="seek">
              <p:cTn id="8" restart="whenNotActive" fill="hold" evtFilter="cancelBubble" nodeType="interactiveSeq">
                <p:stCondLst>
                  <p:cond evt="onClick" delay="0">
                    <p:tgtEl>
                      <p:spTgt spid="8"/>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8"/>
                                        </p:tgtEl>
                                      </p:cBhvr>
                                    </p:animEffect>
                                    <p:set>
                                      <p:cBhvr>
                                        <p:cTn id="13" dur="1" fill="hold">
                                          <p:stCondLst>
                                            <p:cond delay="499"/>
                                          </p:stCondLst>
                                        </p:cTn>
                                        <p:tgtEl>
                                          <p:spTgt spid="8"/>
                                        </p:tgtEl>
                                        <p:attrNameLst>
                                          <p:attrName>style.visibility</p:attrName>
                                        </p:attrNameLst>
                                      </p:cBhvr>
                                      <p:to>
                                        <p:strVal val="hidden"/>
                                      </p:to>
                                    </p:set>
                                  </p:childTnLst>
                                </p:cTn>
                              </p:par>
                            </p:childTnLst>
                          </p:cTn>
                        </p:par>
                      </p:childTnLst>
                    </p:cTn>
                  </p:par>
                </p:childTnLst>
              </p:cTn>
              <p:nextCondLst>
                <p:cond evt="onClick" delay="0">
                  <p:tgtEl>
                    <p:spTgt spid="8"/>
                  </p:tgtEl>
                </p:cond>
              </p:nextCondLst>
            </p:seq>
            <p:seq concurrent="1" nextAc="seek">
              <p:cTn id="14" restart="whenNotActive" fill="hold" evtFilter="cancelBubble" nodeType="interactiveSeq">
                <p:stCondLst>
                  <p:cond evt="onClick" delay="0">
                    <p:tgtEl>
                      <p:spTgt spid="9"/>
                    </p:tgtEl>
                  </p:cond>
                </p:stCondLst>
                <p:endSync evt="end" delay="0">
                  <p:rtn val="all"/>
                </p:endSync>
                <p:childTnLst>
                  <p:par>
                    <p:cTn id="15" fill="hold">
                      <p:stCondLst>
                        <p:cond delay="0"/>
                      </p:stCondLst>
                      <p:childTnLst>
                        <p:par>
                          <p:cTn id="16" fill="hold">
                            <p:stCondLst>
                              <p:cond delay="0"/>
                            </p:stCondLst>
                            <p:childTnLst>
                              <p:par>
                                <p:cTn id="17" presetID="10" presetClass="exit" presetSubtype="0" fill="hold" grpId="0" nodeType="clickEffect">
                                  <p:stCondLst>
                                    <p:cond delay="0"/>
                                  </p:stCondLst>
                                  <p:childTnLst>
                                    <p:animEffect transition="out" filter="fade">
                                      <p:cBhvr>
                                        <p:cTn id="18" dur="500"/>
                                        <p:tgtEl>
                                          <p:spTgt spid="9"/>
                                        </p:tgtEl>
                                      </p:cBhvr>
                                    </p:animEffect>
                                    <p:set>
                                      <p:cBhvr>
                                        <p:cTn id="19" dur="1" fill="hold">
                                          <p:stCondLst>
                                            <p:cond delay="499"/>
                                          </p:stCondLst>
                                        </p:cTn>
                                        <p:tgtEl>
                                          <p:spTgt spid="9"/>
                                        </p:tgtEl>
                                        <p:attrNameLst>
                                          <p:attrName>style.visibility</p:attrName>
                                        </p:attrNameLst>
                                      </p:cBhvr>
                                      <p:to>
                                        <p:strVal val="hidden"/>
                                      </p:to>
                                    </p:set>
                                  </p:childTnLst>
                                </p:cTn>
                              </p:par>
                            </p:childTnLst>
                          </p:cTn>
                        </p:par>
                      </p:childTnLst>
                    </p:cTn>
                  </p:par>
                </p:childTnLst>
              </p:cTn>
              <p:nextCondLst>
                <p:cond evt="onClick" delay="0">
                  <p:tgtEl>
                    <p:spTgt spid="9"/>
                  </p:tgtEl>
                </p:cond>
              </p:nextCondLst>
            </p:seq>
            <p:seq concurrent="1" nextAc="seek">
              <p:cTn id="20" restart="whenNotActive" fill="hold" evtFilter="cancelBubble" nodeType="interactiveSeq">
                <p:stCondLst>
                  <p:cond evt="onClick" delay="0">
                    <p:tgtEl>
                      <p:spTgt spid="10"/>
                    </p:tgtEl>
                  </p:cond>
                </p:stCondLst>
                <p:endSync evt="end" delay="0">
                  <p:rtn val="all"/>
                </p:endSync>
                <p:childTnLst>
                  <p:par>
                    <p:cTn id="21" fill="hold">
                      <p:stCondLst>
                        <p:cond delay="0"/>
                      </p:stCondLst>
                      <p:childTnLst>
                        <p:par>
                          <p:cTn id="22" fill="hold">
                            <p:stCondLst>
                              <p:cond delay="0"/>
                            </p:stCondLst>
                            <p:childTnLst>
                              <p:par>
                                <p:cTn id="23" presetID="10" presetClass="exit" presetSubtype="0" fill="hold" grpId="0" nodeType="clickEffect">
                                  <p:stCondLst>
                                    <p:cond delay="0"/>
                                  </p:stCondLst>
                                  <p:childTnLst>
                                    <p:animEffect transition="out" filter="fade">
                                      <p:cBhvr>
                                        <p:cTn id="24" dur="500"/>
                                        <p:tgtEl>
                                          <p:spTgt spid="10"/>
                                        </p:tgtEl>
                                      </p:cBhvr>
                                    </p:animEffect>
                                    <p:set>
                                      <p:cBhvr>
                                        <p:cTn id="25" dur="1" fill="hold">
                                          <p:stCondLst>
                                            <p:cond delay="499"/>
                                          </p:stCondLst>
                                        </p:cTn>
                                        <p:tgtEl>
                                          <p:spTgt spid="10"/>
                                        </p:tgtEl>
                                        <p:attrNameLst>
                                          <p:attrName>style.visibility</p:attrName>
                                        </p:attrNameLst>
                                      </p:cBhvr>
                                      <p:to>
                                        <p:strVal val="hidden"/>
                                      </p:to>
                                    </p:set>
                                  </p:childTnLst>
                                </p:cTn>
                              </p:par>
                            </p:childTnLst>
                          </p:cTn>
                        </p:par>
                      </p:childTnLst>
                    </p:cTn>
                  </p:par>
                </p:childTnLst>
              </p:cTn>
              <p:nextCondLst>
                <p:cond evt="onClick" delay="0">
                  <p:tgtEl>
                    <p:spTgt spid="10"/>
                  </p:tgtEl>
                </p:cond>
              </p:nextCondLst>
            </p:seq>
            <p:seq concurrent="1" nextAc="seek">
              <p:cTn id="26" restart="whenNotActive" fill="hold" evtFilter="cancelBubble" nodeType="interactiveSeq">
                <p:stCondLst>
                  <p:cond evt="onClick" delay="0">
                    <p:tgtEl>
                      <p:spTgt spid="11"/>
                    </p:tgtEl>
                  </p:cond>
                </p:stCondLst>
                <p:endSync evt="end" delay="0">
                  <p:rtn val="all"/>
                </p:endSync>
                <p:childTnLst>
                  <p:par>
                    <p:cTn id="27" fill="hold">
                      <p:stCondLst>
                        <p:cond delay="0"/>
                      </p:stCondLst>
                      <p:childTnLst>
                        <p:par>
                          <p:cTn id="28" fill="hold">
                            <p:stCondLst>
                              <p:cond delay="0"/>
                            </p:stCondLst>
                            <p:childTnLst>
                              <p:par>
                                <p:cTn id="29" presetID="10" presetClass="exit" presetSubtype="0" fill="hold" grpId="0" nodeType="clickEffect">
                                  <p:stCondLst>
                                    <p:cond delay="0"/>
                                  </p:stCondLst>
                                  <p:childTnLst>
                                    <p:animEffect transition="out" filter="fade">
                                      <p:cBhvr>
                                        <p:cTn id="30" dur="500"/>
                                        <p:tgtEl>
                                          <p:spTgt spid="11"/>
                                        </p:tgtEl>
                                      </p:cBhvr>
                                    </p:animEffect>
                                    <p:set>
                                      <p:cBhvr>
                                        <p:cTn id="31" dur="1" fill="hold">
                                          <p:stCondLst>
                                            <p:cond delay="499"/>
                                          </p:stCondLst>
                                        </p:cTn>
                                        <p:tgtEl>
                                          <p:spTgt spid="11"/>
                                        </p:tgtEl>
                                        <p:attrNameLst>
                                          <p:attrName>style.visibility</p:attrName>
                                        </p:attrNameLst>
                                      </p:cBhvr>
                                      <p:to>
                                        <p:strVal val="hidden"/>
                                      </p:to>
                                    </p:set>
                                  </p:childTnLst>
                                </p:cTn>
                              </p:par>
                            </p:childTnLst>
                          </p:cTn>
                        </p:par>
                      </p:childTnLst>
                    </p:cTn>
                  </p:par>
                </p:childTnLst>
              </p:cTn>
              <p:nextCondLst>
                <p:cond evt="onClick" delay="0">
                  <p:tgtEl>
                    <p:spTgt spid="11"/>
                  </p:tgtEl>
                </p:cond>
              </p:nextCondLst>
            </p:seq>
            <p:seq concurrent="1" nextAc="seek">
              <p:cTn id="32" restart="whenNotActive" fill="hold" evtFilter="cancelBubble" nodeType="interactiveSeq">
                <p:stCondLst>
                  <p:cond evt="onClick" delay="0">
                    <p:tgtEl>
                      <p:spTgt spid="12"/>
                    </p:tgtEl>
                  </p:cond>
                </p:stCondLst>
                <p:endSync evt="end" delay="0">
                  <p:rtn val="all"/>
                </p:endSync>
                <p:childTnLst>
                  <p:par>
                    <p:cTn id="33" fill="hold">
                      <p:stCondLst>
                        <p:cond delay="0"/>
                      </p:stCondLst>
                      <p:childTnLst>
                        <p:par>
                          <p:cTn id="34" fill="hold">
                            <p:stCondLst>
                              <p:cond delay="0"/>
                            </p:stCondLst>
                            <p:childTnLst>
                              <p:par>
                                <p:cTn id="35" presetID="10" presetClass="exit" presetSubtype="0" fill="hold" grpId="0" nodeType="clickEffect">
                                  <p:stCondLst>
                                    <p:cond delay="0"/>
                                  </p:stCondLst>
                                  <p:childTnLst>
                                    <p:animEffect transition="out" filter="fade">
                                      <p:cBhvr>
                                        <p:cTn id="36" dur="500"/>
                                        <p:tgtEl>
                                          <p:spTgt spid="12"/>
                                        </p:tgtEl>
                                      </p:cBhvr>
                                    </p:animEffect>
                                    <p:set>
                                      <p:cBhvr>
                                        <p:cTn id="37" dur="1" fill="hold">
                                          <p:stCondLst>
                                            <p:cond delay="499"/>
                                          </p:stCondLst>
                                        </p:cTn>
                                        <p:tgtEl>
                                          <p:spTgt spid="12"/>
                                        </p:tgtEl>
                                        <p:attrNameLst>
                                          <p:attrName>style.visibility</p:attrName>
                                        </p:attrNameLst>
                                      </p:cBhvr>
                                      <p:to>
                                        <p:strVal val="hidden"/>
                                      </p:to>
                                    </p:set>
                                  </p:childTnLst>
                                </p:cTn>
                              </p:par>
                            </p:childTnLst>
                          </p:cTn>
                        </p:par>
                      </p:childTnLst>
                    </p:cTn>
                  </p:par>
                </p:childTnLst>
              </p:cTn>
              <p:nextCondLst>
                <p:cond evt="onClick" delay="0">
                  <p:tgtEl>
                    <p:spTgt spid="12"/>
                  </p:tgtEl>
                </p:cond>
              </p:nextCondLst>
            </p:seq>
            <p:seq concurrent="1" nextAc="seek">
              <p:cTn id="38" restart="whenNotActive" fill="hold" evtFilter="cancelBubble" nodeType="interactiveSeq">
                <p:stCondLst>
                  <p:cond evt="onClick" delay="0">
                    <p:tgtEl>
                      <p:spTgt spid="13"/>
                    </p:tgtEl>
                  </p:cond>
                </p:stCondLst>
                <p:endSync evt="end" delay="0">
                  <p:rtn val="all"/>
                </p:endSync>
                <p:childTnLst>
                  <p:par>
                    <p:cTn id="39" fill="hold">
                      <p:stCondLst>
                        <p:cond delay="0"/>
                      </p:stCondLst>
                      <p:childTnLst>
                        <p:par>
                          <p:cTn id="40" fill="hold">
                            <p:stCondLst>
                              <p:cond delay="0"/>
                            </p:stCondLst>
                            <p:childTnLst>
                              <p:par>
                                <p:cTn id="41" presetID="10" presetClass="exit" presetSubtype="0" fill="hold" grpId="0" nodeType="clickEffect">
                                  <p:stCondLst>
                                    <p:cond delay="0"/>
                                  </p:stCondLst>
                                  <p:childTnLst>
                                    <p:animEffect transition="out" filter="fade">
                                      <p:cBhvr>
                                        <p:cTn id="42" dur="500"/>
                                        <p:tgtEl>
                                          <p:spTgt spid="13"/>
                                        </p:tgtEl>
                                      </p:cBhvr>
                                    </p:animEffect>
                                    <p:set>
                                      <p:cBhvr>
                                        <p:cTn id="43" dur="1" fill="hold">
                                          <p:stCondLst>
                                            <p:cond delay="499"/>
                                          </p:stCondLst>
                                        </p:cTn>
                                        <p:tgtEl>
                                          <p:spTgt spid="13"/>
                                        </p:tgtEl>
                                        <p:attrNameLst>
                                          <p:attrName>style.visibility</p:attrName>
                                        </p:attrNameLst>
                                      </p:cBhvr>
                                      <p:to>
                                        <p:strVal val="hidden"/>
                                      </p:to>
                                    </p:set>
                                  </p:childTnLst>
                                </p:cTn>
                              </p:par>
                            </p:childTnLst>
                          </p:cTn>
                        </p:par>
                      </p:childTnLst>
                    </p:cTn>
                  </p:par>
                </p:childTnLst>
              </p:cTn>
              <p:nextCondLst>
                <p:cond evt="onClick" delay="0">
                  <p:tgtEl>
                    <p:spTgt spid="13"/>
                  </p:tgtEl>
                </p:cond>
              </p:nextCondLst>
            </p:seq>
            <p:seq concurrent="1" nextAc="seek">
              <p:cTn id="44" restart="whenNotActive" fill="hold" evtFilter="cancelBubble" nodeType="interactiveSeq">
                <p:stCondLst>
                  <p:cond evt="onClick" delay="0">
                    <p:tgtEl>
                      <p:spTgt spid="14"/>
                    </p:tgtEl>
                  </p:cond>
                </p:stCondLst>
                <p:endSync evt="end" delay="0">
                  <p:rtn val="all"/>
                </p:endSync>
                <p:childTnLst>
                  <p:par>
                    <p:cTn id="45" fill="hold">
                      <p:stCondLst>
                        <p:cond delay="0"/>
                      </p:stCondLst>
                      <p:childTnLst>
                        <p:par>
                          <p:cTn id="46" fill="hold">
                            <p:stCondLst>
                              <p:cond delay="0"/>
                            </p:stCondLst>
                            <p:childTnLst>
                              <p:par>
                                <p:cTn id="47" presetID="10" presetClass="exit" presetSubtype="0" fill="hold" grpId="0" nodeType="clickEffect">
                                  <p:stCondLst>
                                    <p:cond delay="0"/>
                                  </p:stCondLst>
                                  <p:childTnLst>
                                    <p:animEffect transition="out" filter="fade">
                                      <p:cBhvr>
                                        <p:cTn id="48" dur="500"/>
                                        <p:tgtEl>
                                          <p:spTgt spid="14"/>
                                        </p:tgtEl>
                                      </p:cBhvr>
                                    </p:animEffect>
                                    <p:set>
                                      <p:cBhvr>
                                        <p:cTn id="49" dur="1" fill="hold">
                                          <p:stCondLst>
                                            <p:cond delay="499"/>
                                          </p:stCondLst>
                                        </p:cTn>
                                        <p:tgtEl>
                                          <p:spTgt spid="14"/>
                                        </p:tgtEl>
                                        <p:attrNameLst>
                                          <p:attrName>style.visibility</p:attrName>
                                        </p:attrNameLst>
                                      </p:cBhvr>
                                      <p:to>
                                        <p:strVal val="hidden"/>
                                      </p:to>
                                    </p:set>
                                  </p:childTnLst>
                                </p:cTn>
                              </p:par>
                            </p:childTnLst>
                          </p:cTn>
                        </p:par>
                      </p:childTnLst>
                    </p:cTn>
                  </p:par>
                </p:childTnLst>
              </p:cTn>
              <p:nextCondLst>
                <p:cond evt="onClick" delay="0">
                  <p:tgtEl>
                    <p:spTgt spid="14"/>
                  </p:tgtEl>
                </p:cond>
              </p:nextCondLst>
            </p:seq>
            <p:seq concurrent="1" nextAc="seek">
              <p:cTn id="50" restart="whenNotActive" fill="hold" evtFilter="cancelBubble" nodeType="interactiveSeq">
                <p:stCondLst>
                  <p:cond evt="onClick" delay="0">
                    <p:tgtEl>
                      <p:spTgt spid="15"/>
                    </p:tgtEl>
                  </p:cond>
                </p:stCondLst>
                <p:endSync evt="end" delay="0">
                  <p:rtn val="all"/>
                </p:endSync>
                <p:childTnLst>
                  <p:par>
                    <p:cTn id="51" fill="hold">
                      <p:stCondLst>
                        <p:cond delay="0"/>
                      </p:stCondLst>
                      <p:childTnLst>
                        <p:par>
                          <p:cTn id="52" fill="hold">
                            <p:stCondLst>
                              <p:cond delay="0"/>
                            </p:stCondLst>
                            <p:childTnLst>
                              <p:par>
                                <p:cTn id="53" presetID="10" presetClass="exit" presetSubtype="0" fill="hold" grpId="0" nodeType="clickEffect">
                                  <p:stCondLst>
                                    <p:cond delay="0"/>
                                  </p:stCondLst>
                                  <p:childTnLst>
                                    <p:animEffect transition="out" filter="fade">
                                      <p:cBhvr>
                                        <p:cTn id="54" dur="500"/>
                                        <p:tgtEl>
                                          <p:spTgt spid="15"/>
                                        </p:tgtEl>
                                      </p:cBhvr>
                                    </p:animEffect>
                                    <p:set>
                                      <p:cBhvr>
                                        <p:cTn id="55" dur="1" fill="hold">
                                          <p:stCondLst>
                                            <p:cond delay="499"/>
                                          </p:stCondLst>
                                        </p:cTn>
                                        <p:tgtEl>
                                          <p:spTgt spid="15"/>
                                        </p:tgtEl>
                                        <p:attrNameLst>
                                          <p:attrName>style.visibility</p:attrName>
                                        </p:attrNameLst>
                                      </p:cBhvr>
                                      <p:to>
                                        <p:strVal val="hidden"/>
                                      </p:to>
                                    </p:set>
                                  </p:childTnLst>
                                </p:cTn>
                              </p:par>
                            </p:childTnLst>
                          </p:cTn>
                        </p:par>
                      </p:childTnLst>
                    </p:cTn>
                  </p:par>
                </p:childTnLst>
              </p:cTn>
              <p:nextCondLst>
                <p:cond evt="onClick" delay="0">
                  <p:tgtEl>
                    <p:spTgt spid="15"/>
                  </p:tgtEl>
                </p:cond>
              </p:nextCondLst>
            </p:seq>
            <p:seq concurrent="1" nextAc="seek">
              <p:cTn id="56" restart="whenNotActive" fill="hold" evtFilter="cancelBubble" nodeType="interactiveSeq">
                <p:stCondLst>
                  <p:cond evt="onClick" delay="0">
                    <p:tgtEl>
                      <p:spTgt spid="16"/>
                    </p:tgtEl>
                  </p:cond>
                </p:stCondLst>
                <p:endSync evt="end" delay="0">
                  <p:rtn val="all"/>
                </p:endSync>
                <p:childTnLst>
                  <p:par>
                    <p:cTn id="57" fill="hold">
                      <p:stCondLst>
                        <p:cond delay="0"/>
                      </p:stCondLst>
                      <p:childTnLst>
                        <p:par>
                          <p:cTn id="58" fill="hold">
                            <p:stCondLst>
                              <p:cond delay="0"/>
                            </p:stCondLst>
                            <p:childTnLst>
                              <p:par>
                                <p:cTn id="59" presetID="10" presetClass="exit" presetSubtype="0" fill="hold" grpId="0" nodeType="clickEffect">
                                  <p:stCondLst>
                                    <p:cond delay="0"/>
                                  </p:stCondLst>
                                  <p:childTnLst>
                                    <p:animEffect transition="out" filter="fade">
                                      <p:cBhvr>
                                        <p:cTn id="60" dur="500"/>
                                        <p:tgtEl>
                                          <p:spTgt spid="16"/>
                                        </p:tgtEl>
                                      </p:cBhvr>
                                    </p:animEffect>
                                    <p:set>
                                      <p:cBhvr>
                                        <p:cTn id="61" dur="1" fill="hold">
                                          <p:stCondLst>
                                            <p:cond delay="499"/>
                                          </p:stCondLst>
                                        </p:cTn>
                                        <p:tgtEl>
                                          <p:spTgt spid="16"/>
                                        </p:tgtEl>
                                        <p:attrNameLst>
                                          <p:attrName>style.visibility</p:attrName>
                                        </p:attrNameLst>
                                      </p:cBhvr>
                                      <p:to>
                                        <p:strVal val="hidden"/>
                                      </p:to>
                                    </p:set>
                                  </p:childTnLst>
                                </p:cTn>
                              </p:par>
                            </p:childTnLst>
                          </p:cTn>
                        </p:par>
                      </p:childTnLst>
                    </p:cTn>
                  </p:par>
                </p:childTnLst>
              </p:cTn>
              <p:nextCondLst>
                <p:cond evt="onClick" delay="0">
                  <p:tgtEl>
                    <p:spTgt spid="16"/>
                  </p:tgtEl>
                </p:cond>
              </p:nextCondLst>
            </p:seq>
            <p:seq concurrent="1" nextAc="seek">
              <p:cTn id="62" restart="whenNotActive" fill="hold" evtFilter="cancelBubble" nodeType="interactiveSeq">
                <p:stCondLst>
                  <p:cond evt="onClick" delay="0">
                    <p:tgtEl>
                      <p:spTgt spid="17"/>
                    </p:tgtEl>
                  </p:cond>
                </p:stCondLst>
                <p:endSync evt="end" delay="0">
                  <p:rtn val="all"/>
                </p:endSync>
                <p:childTnLst>
                  <p:par>
                    <p:cTn id="63" fill="hold">
                      <p:stCondLst>
                        <p:cond delay="0"/>
                      </p:stCondLst>
                      <p:childTnLst>
                        <p:par>
                          <p:cTn id="64" fill="hold">
                            <p:stCondLst>
                              <p:cond delay="0"/>
                            </p:stCondLst>
                            <p:childTnLst>
                              <p:par>
                                <p:cTn id="65" presetID="10" presetClass="exit" presetSubtype="0" fill="hold" grpId="0" nodeType="clickEffect">
                                  <p:stCondLst>
                                    <p:cond delay="0"/>
                                  </p:stCondLst>
                                  <p:childTnLst>
                                    <p:animEffect transition="out" filter="fade">
                                      <p:cBhvr>
                                        <p:cTn id="66" dur="500"/>
                                        <p:tgtEl>
                                          <p:spTgt spid="17"/>
                                        </p:tgtEl>
                                      </p:cBhvr>
                                    </p:animEffect>
                                    <p:set>
                                      <p:cBhvr>
                                        <p:cTn id="67" dur="1" fill="hold">
                                          <p:stCondLst>
                                            <p:cond delay="499"/>
                                          </p:stCondLst>
                                        </p:cTn>
                                        <p:tgtEl>
                                          <p:spTgt spid="17"/>
                                        </p:tgtEl>
                                        <p:attrNameLst>
                                          <p:attrName>style.visibility</p:attrName>
                                        </p:attrNameLst>
                                      </p:cBhvr>
                                      <p:to>
                                        <p:strVal val="hidden"/>
                                      </p:to>
                                    </p:set>
                                  </p:childTnLst>
                                </p:cTn>
                              </p:par>
                            </p:childTnLst>
                          </p:cTn>
                        </p:par>
                      </p:childTnLst>
                    </p:cTn>
                  </p:par>
                </p:childTnLst>
              </p:cTn>
              <p:nextCondLst>
                <p:cond evt="onClick" delay="0">
                  <p:tgtEl>
                    <p:spTgt spid="17"/>
                  </p:tgtEl>
                </p:cond>
              </p:nextCondLst>
            </p:seq>
            <p:seq concurrent="1" nextAc="seek">
              <p:cTn id="68" restart="whenNotActive" fill="hold" evtFilter="cancelBubble" nodeType="interactiveSeq">
                <p:stCondLst>
                  <p:cond evt="onClick" delay="0">
                    <p:tgtEl>
                      <p:spTgt spid="18"/>
                    </p:tgtEl>
                  </p:cond>
                </p:stCondLst>
                <p:endSync evt="end" delay="0">
                  <p:rtn val="all"/>
                </p:endSync>
                <p:childTnLst>
                  <p:par>
                    <p:cTn id="69" fill="hold">
                      <p:stCondLst>
                        <p:cond delay="0"/>
                      </p:stCondLst>
                      <p:childTnLst>
                        <p:par>
                          <p:cTn id="70" fill="hold">
                            <p:stCondLst>
                              <p:cond delay="0"/>
                            </p:stCondLst>
                            <p:childTnLst>
                              <p:par>
                                <p:cTn id="71" presetID="10" presetClass="exit" presetSubtype="0" fill="hold" grpId="0" nodeType="clickEffect">
                                  <p:stCondLst>
                                    <p:cond delay="0"/>
                                  </p:stCondLst>
                                  <p:childTnLst>
                                    <p:animEffect transition="out" filter="fade">
                                      <p:cBhvr>
                                        <p:cTn id="72" dur="500"/>
                                        <p:tgtEl>
                                          <p:spTgt spid="18"/>
                                        </p:tgtEl>
                                      </p:cBhvr>
                                    </p:animEffect>
                                    <p:set>
                                      <p:cBhvr>
                                        <p:cTn id="73" dur="1" fill="hold">
                                          <p:stCondLst>
                                            <p:cond delay="499"/>
                                          </p:stCondLst>
                                        </p:cTn>
                                        <p:tgtEl>
                                          <p:spTgt spid="18"/>
                                        </p:tgtEl>
                                        <p:attrNameLst>
                                          <p:attrName>style.visibility</p:attrName>
                                        </p:attrNameLst>
                                      </p:cBhvr>
                                      <p:to>
                                        <p:strVal val="hidden"/>
                                      </p:to>
                                    </p:set>
                                  </p:childTnLst>
                                </p:cTn>
                              </p:par>
                            </p:childTnLst>
                          </p:cTn>
                        </p:par>
                      </p:childTnLst>
                    </p:cTn>
                  </p:par>
                </p:childTnLst>
              </p:cTn>
              <p:nextCondLst>
                <p:cond evt="onClick" delay="0">
                  <p:tgtEl>
                    <p:spTgt spid="18"/>
                  </p:tgtEl>
                </p:cond>
              </p:nextCondLst>
            </p:seq>
            <p:seq concurrent="1" nextAc="seek">
              <p:cTn id="74" restart="whenNotActive" fill="hold" evtFilter="cancelBubble" nodeType="interactiveSeq">
                <p:stCondLst>
                  <p:cond evt="onClick" delay="0">
                    <p:tgtEl>
                      <p:spTgt spid="19"/>
                    </p:tgtEl>
                  </p:cond>
                </p:stCondLst>
                <p:endSync evt="end" delay="0">
                  <p:rtn val="all"/>
                </p:endSync>
                <p:childTnLst>
                  <p:par>
                    <p:cTn id="75" fill="hold">
                      <p:stCondLst>
                        <p:cond delay="0"/>
                      </p:stCondLst>
                      <p:childTnLst>
                        <p:par>
                          <p:cTn id="76" fill="hold">
                            <p:stCondLst>
                              <p:cond delay="0"/>
                            </p:stCondLst>
                            <p:childTnLst>
                              <p:par>
                                <p:cTn id="77" presetID="10" presetClass="exit" presetSubtype="0" fill="hold" grpId="0" nodeType="clickEffect">
                                  <p:stCondLst>
                                    <p:cond delay="0"/>
                                  </p:stCondLst>
                                  <p:childTnLst>
                                    <p:animEffect transition="out" filter="fade">
                                      <p:cBhvr>
                                        <p:cTn id="78" dur="500"/>
                                        <p:tgtEl>
                                          <p:spTgt spid="19"/>
                                        </p:tgtEl>
                                      </p:cBhvr>
                                    </p:animEffect>
                                    <p:set>
                                      <p:cBhvr>
                                        <p:cTn id="79" dur="1" fill="hold">
                                          <p:stCondLst>
                                            <p:cond delay="499"/>
                                          </p:stCondLst>
                                        </p:cTn>
                                        <p:tgtEl>
                                          <p:spTgt spid="19"/>
                                        </p:tgtEl>
                                        <p:attrNameLst>
                                          <p:attrName>style.visibility</p:attrName>
                                        </p:attrNameLst>
                                      </p:cBhvr>
                                      <p:to>
                                        <p:strVal val="hidden"/>
                                      </p:to>
                                    </p:set>
                                  </p:childTnLst>
                                </p:cTn>
                              </p:par>
                            </p:childTnLst>
                          </p:cTn>
                        </p:par>
                      </p:childTnLst>
                    </p:cTn>
                  </p:par>
                </p:childTnLst>
              </p:cTn>
              <p:nextCondLst>
                <p:cond evt="onClick" delay="0">
                  <p:tgtEl>
                    <p:spTgt spid="19"/>
                  </p:tgtEl>
                </p:cond>
              </p:nextCondLst>
            </p:seq>
            <p:seq concurrent="1" nextAc="seek">
              <p:cTn id="80" restart="whenNotActive" fill="hold" evtFilter="cancelBubble" nodeType="interactiveSeq">
                <p:stCondLst>
                  <p:cond evt="onClick" delay="0">
                    <p:tgtEl>
                      <p:spTgt spid="20"/>
                    </p:tgtEl>
                  </p:cond>
                </p:stCondLst>
                <p:endSync evt="end" delay="0">
                  <p:rtn val="all"/>
                </p:endSync>
                <p:childTnLst>
                  <p:par>
                    <p:cTn id="81" fill="hold">
                      <p:stCondLst>
                        <p:cond delay="0"/>
                      </p:stCondLst>
                      <p:childTnLst>
                        <p:par>
                          <p:cTn id="82" fill="hold">
                            <p:stCondLst>
                              <p:cond delay="0"/>
                            </p:stCondLst>
                            <p:childTnLst>
                              <p:par>
                                <p:cTn id="83" presetID="10" presetClass="exit" presetSubtype="0" fill="hold" grpId="0" nodeType="clickEffect">
                                  <p:stCondLst>
                                    <p:cond delay="0"/>
                                  </p:stCondLst>
                                  <p:childTnLst>
                                    <p:animEffect transition="out" filter="fade">
                                      <p:cBhvr>
                                        <p:cTn id="84" dur="500"/>
                                        <p:tgtEl>
                                          <p:spTgt spid="20"/>
                                        </p:tgtEl>
                                      </p:cBhvr>
                                    </p:animEffect>
                                    <p:set>
                                      <p:cBhvr>
                                        <p:cTn id="85" dur="1" fill="hold">
                                          <p:stCondLst>
                                            <p:cond delay="499"/>
                                          </p:stCondLst>
                                        </p:cTn>
                                        <p:tgtEl>
                                          <p:spTgt spid="20"/>
                                        </p:tgtEl>
                                        <p:attrNameLst>
                                          <p:attrName>style.visibility</p:attrName>
                                        </p:attrNameLst>
                                      </p:cBhvr>
                                      <p:to>
                                        <p:strVal val="hidden"/>
                                      </p:to>
                                    </p:set>
                                  </p:childTnLst>
                                </p:cTn>
                              </p:par>
                            </p:childTnLst>
                          </p:cTn>
                        </p:par>
                      </p:childTnLst>
                    </p:cTn>
                  </p:par>
                </p:childTnLst>
              </p:cTn>
              <p:nextCondLst>
                <p:cond evt="onClick" delay="0">
                  <p:tgtEl>
                    <p:spTgt spid="20"/>
                  </p:tgtEl>
                </p:cond>
              </p:nextCondLst>
            </p:seq>
            <p:seq concurrent="1" nextAc="seek">
              <p:cTn id="86" restart="whenNotActive" fill="hold" evtFilter="cancelBubble" nodeType="interactiveSeq">
                <p:stCondLst>
                  <p:cond evt="onClick" delay="0">
                    <p:tgtEl>
                      <p:spTgt spid="21"/>
                    </p:tgtEl>
                  </p:cond>
                </p:stCondLst>
                <p:endSync evt="end" delay="0">
                  <p:rtn val="all"/>
                </p:endSync>
                <p:childTnLst>
                  <p:par>
                    <p:cTn id="87" fill="hold">
                      <p:stCondLst>
                        <p:cond delay="0"/>
                      </p:stCondLst>
                      <p:childTnLst>
                        <p:par>
                          <p:cTn id="88" fill="hold">
                            <p:stCondLst>
                              <p:cond delay="0"/>
                            </p:stCondLst>
                            <p:childTnLst>
                              <p:par>
                                <p:cTn id="89" presetID="10" presetClass="exit" presetSubtype="0" fill="hold" grpId="0" nodeType="clickEffect">
                                  <p:stCondLst>
                                    <p:cond delay="0"/>
                                  </p:stCondLst>
                                  <p:childTnLst>
                                    <p:animEffect transition="out" filter="fade">
                                      <p:cBhvr>
                                        <p:cTn id="90" dur="500"/>
                                        <p:tgtEl>
                                          <p:spTgt spid="21"/>
                                        </p:tgtEl>
                                      </p:cBhvr>
                                    </p:animEffect>
                                    <p:set>
                                      <p:cBhvr>
                                        <p:cTn id="91" dur="1" fill="hold">
                                          <p:stCondLst>
                                            <p:cond delay="499"/>
                                          </p:stCondLst>
                                        </p:cTn>
                                        <p:tgtEl>
                                          <p:spTgt spid="21"/>
                                        </p:tgtEl>
                                        <p:attrNameLst>
                                          <p:attrName>style.visibility</p:attrName>
                                        </p:attrNameLst>
                                      </p:cBhvr>
                                      <p:to>
                                        <p:strVal val="hidden"/>
                                      </p:to>
                                    </p:set>
                                  </p:childTnLst>
                                </p:cTn>
                              </p:par>
                            </p:childTnLst>
                          </p:cTn>
                        </p:par>
                      </p:childTnLst>
                    </p:cTn>
                  </p:par>
                </p:childTnLst>
              </p:cTn>
              <p:nextCondLst>
                <p:cond evt="onClick" delay="0">
                  <p:tgtEl>
                    <p:spTgt spid="21"/>
                  </p:tgtEl>
                </p:cond>
              </p:nextCondLst>
            </p:seq>
            <p:seq concurrent="1" nextAc="seek">
              <p:cTn id="92" restart="whenNotActive" fill="hold" evtFilter="cancelBubble" nodeType="interactiveSeq">
                <p:stCondLst>
                  <p:cond evt="onClick" delay="0">
                    <p:tgtEl>
                      <p:spTgt spid="22"/>
                    </p:tgtEl>
                  </p:cond>
                </p:stCondLst>
                <p:endSync evt="end" delay="0">
                  <p:rtn val="all"/>
                </p:endSync>
                <p:childTnLst>
                  <p:par>
                    <p:cTn id="93" fill="hold">
                      <p:stCondLst>
                        <p:cond delay="0"/>
                      </p:stCondLst>
                      <p:childTnLst>
                        <p:par>
                          <p:cTn id="94" fill="hold">
                            <p:stCondLst>
                              <p:cond delay="0"/>
                            </p:stCondLst>
                            <p:childTnLst>
                              <p:par>
                                <p:cTn id="95" presetID="10" presetClass="exit" presetSubtype="0" fill="hold" grpId="0" nodeType="clickEffect">
                                  <p:stCondLst>
                                    <p:cond delay="0"/>
                                  </p:stCondLst>
                                  <p:childTnLst>
                                    <p:animEffect transition="out" filter="fade">
                                      <p:cBhvr>
                                        <p:cTn id="96" dur="500"/>
                                        <p:tgtEl>
                                          <p:spTgt spid="22"/>
                                        </p:tgtEl>
                                      </p:cBhvr>
                                    </p:animEffect>
                                    <p:set>
                                      <p:cBhvr>
                                        <p:cTn id="97" dur="1" fill="hold">
                                          <p:stCondLst>
                                            <p:cond delay="499"/>
                                          </p:stCondLst>
                                        </p:cTn>
                                        <p:tgtEl>
                                          <p:spTgt spid="22"/>
                                        </p:tgtEl>
                                        <p:attrNameLst>
                                          <p:attrName>style.visibility</p:attrName>
                                        </p:attrNameLst>
                                      </p:cBhvr>
                                      <p:to>
                                        <p:strVal val="hidden"/>
                                      </p:to>
                                    </p:set>
                                  </p:childTnLst>
                                </p:cTn>
                              </p:par>
                            </p:childTnLst>
                          </p:cTn>
                        </p:par>
                      </p:childTnLst>
                    </p:cTn>
                  </p:par>
                </p:childTnLst>
              </p:cTn>
              <p:nextCondLst>
                <p:cond evt="onClick" delay="0">
                  <p:tgtEl>
                    <p:spTgt spid="22"/>
                  </p:tgtEl>
                </p:cond>
              </p:nextCondLst>
            </p:seq>
            <p:seq concurrent="1" nextAc="seek">
              <p:cTn id="98" restart="whenNotActive" fill="hold" evtFilter="cancelBubble" nodeType="interactiveSeq">
                <p:stCondLst>
                  <p:cond evt="onClick" delay="0">
                    <p:tgtEl>
                      <p:spTgt spid="23"/>
                    </p:tgtEl>
                  </p:cond>
                </p:stCondLst>
                <p:endSync evt="end" delay="0">
                  <p:rtn val="all"/>
                </p:endSync>
                <p:childTnLst>
                  <p:par>
                    <p:cTn id="99" fill="hold">
                      <p:stCondLst>
                        <p:cond delay="0"/>
                      </p:stCondLst>
                      <p:childTnLst>
                        <p:par>
                          <p:cTn id="100" fill="hold">
                            <p:stCondLst>
                              <p:cond delay="0"/>
                            </p:stCondLst>
                            <p:childTnLst>
                              <p:par>
                                <p:cTn id="101" presetID="10" presetClass="exit" presetSubtype="0" fill="hold" grpId="0" nodeType="clickEffect">
                                  <p:stCondLst>
                                    <p:cond delay="0"/>
                                  </p:stCondLst>
                                  <p:childTnLst>
                                    <p:animEffect transition="out" filter="fade">
                                      <p:cBhvr>
                                        <p:cTn id="102" dur="500"/>
                                        <p:tgtEl>
                                          <p:spTgt spid="23"/>
                                        </p:tgtEl>
                                      </p:cBhvr>
                                    </p:animEffect>
                                    <p:set>
                                      <p:cBhvr>
                                        <p:cTn id="103" dur="1" fill="hold">
                                          <p:stCondLst>
                                            <p:cond delay="499"/>
                                          </p:stCondLst>
                                        </p:cTn>
                                        <p:tgtEl>
                                          <p:spTgt spid="23"/>
                                        </p:tgtEl>
                                        <p:attrNameLst>
                                          <p:attrName>style.visibility</p:attrName>
                                        </p:attrNameLst>
                                      </p:cBhvr>
                                      <p:to>
                                        <p:strVal val="hidden"/>
                                      </p:to>
                                    </p:set>
                                  </p:childTnLst>
                                </p:cTn>
                              </p:par>
                            </p:childTnLst>
                          </p:cTn>
                        </p:par>
                      </p:childTnLst>
                    </p:cTn>
                  </p:par>
                </p:childTnLst>
              </p:cTn>
              <p:nextCondLst>
                <p:cond evt="onClick" delay="0">
                  <p:tgtEl>
                    <p:spTgt spid="23"/>
                  </p:tgtEl>
                </p:cond>
              </p:nextCondLst>
            </p:seq>
            <p:seq concurrent="1" nextAc="seek">
              <p:cTn id="104" restart="whenNotActive" fill="hold" evtFilter="cancelBubble" nodeType="interactiveSeq">
                <p:stCondLst>
                  <p:cond evt="onClick" delay="0">
                    <p:tgtEl>
                      <p:spTgt spid="24"/>
                    </p:tgtEl>
                  </p:cond>
                </p:stCondLst>
                <p:endSync evt="end" delay="0">
                  <p:rtn val="all"/>
                </p:endSync>
                <p:childTnLst>
                  <p:par>
                    <p:cTn id="105" fill="hold">
                      <p:stCondLst>
                        <p:cond delay="0"/>
                      </p:stCondLst>
                      <p:childTnLst>
                        <p:par>
                          <p:cTn id="106" fill="hold">
                            <p:stCondLst>
                              <p:cond delay="0"/>
                            </p:stCondLst>
                            <p:childTnLst>
                              <p:par>
                                <p:cTn id="107" presetID="10" presetClass="exit" presetSubtype="0" fill="hold" grpId="0" nodeType="clickEffect">
                                  <p:stCondLst>
                                    <p:cond delay="0"/>
                                  </p:stCondLst>
                                  <p:childTnLst>
                                    <p:animEffect transition="out" filter="fade">
                                      <p:cBhvr>
                                        <p:cTn id="108" dur="500"/>
                                        <p:tgtEl>
                                          <p:spTgt spid="24"/>
                                        </p:tgtEl>
                                      </p:cBhvr>
                                    </p:animEffect>
                                    <p:set>
                                      <p:cBhvr>
                                        <p:cTn id="109" dur="1" fill="hold">
                                          <p:stCondLst>
                                            <p:cond delay="499"/>
                                          </p:stCondLst>
                                        </p:cTn>
                                        <p:tgtEl>
                                          <p:spTgt spid="24"/>
                                        </p:tgtEl>
                                        <p:attrNameLst>
                                          <p:attrName>style.visibility</p:attrName>
                                        </p:attrNameLst>
                                      </p:cBhvr>
                                      <p:to>
                                        <p:strVal val="hidden"/>
                                      </p:to>
                                    </p:set>
                                  </p:childTnLst>
                                </p:cTn>
                              </p:par>
                            </p:childTnLst>
                          </p:cTn>
                        </p:par>
                      </p:childTnLst>
                    </p:cTn>
                  </p:par>
                </p:childTnLst>
              </p:cTn>
              <p:nextCondLst>
                <p:cond evt="onClick" delay="0">
                  <p:tgtEl>
                    <p:spTgt spid="24"/>
                  </p:tgtEl>
                </p:cond>
              </p:nextCondLst>
            </p:seq>
            <p:seq concurrent="1" nextAc="seek">
              <p:cTn id="110" restart="whenNotActive" fill="hold" evtFilter="cancelBubble" nodeType="interactiveSeq">
                <p:stCondLst>
                  <p:cond evt="onClick" delay="0">
                    <p:tgtEl>
                      <p:spTgt spid="25"/>
                    </p:tgtEl>
                  </p:cond>
                </p:stCondLst>
                <p:endSync evt="end" delay="0">
                  <p:rtn val="all"/>
                </p:endSync>
                <p:childTnLst>
                  <p:par>
                    <p:cTn id="111" fill="hold">
                      <p:stCondLst>
                        <p:cond delay="0"/>
                      </p:stCondLst>
                      <p:childTnLst>
                        <p:par>
                          <p:cTn id="112" fill="hold">
                            <p:stCondLst>
                              <p:cond delay="0"/>
                            </p:stCondLst>
                            <p:childTnLst>
                              <p:par>
                                <p:cTn id="113" presetID="10" presetClass="exit" presetSubtype="0" fill="hold" grpId="0" nodeType="clickEffect">
                                  <p:stCondLst>
                                    <p:cond delay="0"/>
                                  </p:stCondLst>
                                  <p:childTnLst>
                                    <p:animEffect transition="out" filter="fade">
                                      <p:cBhvr>
                                        <p:cTn id="114" dur="500"/>
                                        <p:tgtEl>
                                          <p:spTgt spid="25"/>
                                        </p:tgtEl>
                                      </p:cBhvr>
                                    </p:animEffect>
                                    <p:set>
                                      <p:cBhvr>
                                        <p:cTn id="115" dur="1" fill="hold">
                                          <p:stCondLst>
                                            <p:cond delay="499"/>
                                          </p:stCondLst>
                                        </p:cTn>
                                        <p:tgtEl>
                                          <p:spTgt spid="25"/>
                                        </p:tgtEl>
                                        <p:attrNameLst>
                                          <p:attrName>style.visibility</p:attrName>
                                        </p:attrNameLst>
                                      </p:cBhvr>
                                      <p:to>
                                        <p:strVal val="hidden"/>
                                      </p:to>
                                    </p:set>
                                  </p:childTnLst>
                                </p:cTn>
                              </p:par>
                            </p:childTnLst>
                          </p:cTn>
                        </p:par>
                      </p:childTnLst>
                    </p:cTn>
                  </p:par>
                </p:childTnLst>
              </p:cTn>
              <p:nextCondLst>
                <p:cond evt="onClick" delay="0">
                  <p:tgtEl>
                    <p:spTgt spid="25"/>
                  </p:tgtEl>
                </p:cond>
              </p:nextCondLst>
            </p:seq>
            <p:seq concurrent="1" nextAc="seek">
              <p:cTn id="116" restart="whenNotActive" fill="hold" evtFilter="cancelBubble" nodeType="interactiveSeq">
                <p:stCondLst>
                  <p:cond evt="onClick" delay="0">
                    <p:tgtEl>
                      <p:spTgt spid="26"/>
                    </p:tgtEl>
                  </p:cond>
                </p:stCondLst>
                <p:endSync evt="end" delay="0">
                  <p:rtn val="all"/>
                </p:endSync>
                <p:childTnLst>
                  <p:par>
                    <p:cTn id="117" fill="hold">
                      <p:stCondLst>
                        <p:cond delay="0"/>
                      </p:stCondLst>
                      <p:childTnLst>
                        <p:par>
                          <p:cTn id="118" fill="hold">
                            <p:stCondLst>
                              <p:cond delay="0"/>
                            </p:stCondLst>
                            <p:childTnLst>
                              <p:par>
                                <p:cTn id="119" presetID="10" presetClass="exit" presetSubtype="0" fill="hold" grpId="0" nodeType="clickEffect">
                                  <p:stCondLst>
                                    <p:cond delay="0"/>
                                  </p:stCondLst>
                                  <p:childTnLst>
                                    <p:animEffect transition="out" filter="fade">
                                      <p:cBhvr>
                                        <p:cTn id="120" dur="500"/>
                                        <p:tgtEl>
                                          <p:spTgt spid="26"/>
                                        </p:tgtEl>
                                      </p:cBhvr>
                                    </p:animEffect>
                                    <p:set>
                                      <p:cBhvr>
                                        <p:cTn id="121" dur="1" fill="hold">
                                          <p:stCondLst>
                                            <p:cond delay="499"/>
                                          </p:stCondLst>
                                        </p:cTn>
                                        <p:tgtEl>
                                          <p:spTgt spid="26"/>
                                        </p:tgtEl>
                                        <p:attrNameLst>
                                          <p:attrName>style.visibility</p:attrName>
                                        </p:attrNameLst>
                                      </p:cBhvr>
                                      <p:to>
                                        <p:strVal val="hidden"/>
                                      </p:to>
                                    </p:set>
                                  </p:childTnLst>
                                </p:cTn>
                              </p:par>
                            </p:childTnLst>
                          </p:cTn>
                        </p:par>
                      </p:childTnLst>
                    </p:cTn>
                  </p:par>
                </p:childTnLst>
              </p:cTn>
              <p:nextCondLst>
                <p:cond evt="onClick" delay="0">
                  <p:tgtEl>
                    <p:spTgt spid="26"/>
                  </p:tgtEl>
                </p:cond>
              </p:nextCondLst>
            </p:seq>
            <p:seq concurrent="1" nextAc="seek">
              <p:cTn id="122" restart="whenNotActive" fill="hold" evtFilter="cancelBubble" nodeType="interactiveSeq">
                <p:stCondLst>
                  <p:cond evt="onClick" delay="0">
                    <p:tgtEl>
                      <p:spTgt spid="27"/>
                    </p:tgtEl>
                  </p:cond>
                </p:stCondLst>
                <p:endSync evt="end" delay="0">
                  <p:rtn val="all"/>
                </p:endSync>
                <p:childTnLst>
                  <p:par>
                    <p:cTn id="123" fill="hold">
                      <p:stCondLst>
                        <p:cond delay="0"/>
                      </p:stCondLst>
                      <p:childTnLst>
                        <p:par>
                          <p:cTn id="124" fill="hold">
                            <p:stCondLst>
                              <p:cond delay="0"/>
                            </p:stCondLst>
                            <p:childTnLst>
                              <p:par>
                                <p:cTn id="125" presetID="10" presetClass="exit" presetSubtype="0" fill="hold" grpId="0" nodeType="clickEffect">
                                  <p:stCondLst>
                                    <p:cond delay="0"/>
                                  </p:stCondLst>
                                  <p:childTnLst>
                                    <p:animEffect transition="out" filter="fade">
                                      <p:cBhvr>
                                        <p:cTn id="126" dur="500"/>
                                        <p:tgtEl>
                                          <p:spTgt spid="27"/>
                                        </p:tgtEl>
                                      </p:cBhvr>
                                    </p:animEffect>
                                    <p:set>
                                      <p:cBhvr>
                                        <p:cTn id="127" dur="1" fill="hold">
                                          <p:stCondLst>
                                            <p:cond delay="499"/>
                                          </p:stCondLst>
                                        </p:cTn>
                                        <p:tgtEl>
                                          <p:spTgt spid="27"/>
                                        </p:tgtEl>
                                        <p:attrNameLst>
                                          <p:attrName>style.visibility</p:attrName>
                                        </p:attrNameLst>
                                      </p:cBhvr>
                                      <p:to>
                                        <p:strVal val="hidden"/>
                                      </p:to>
                                    </p:set>
                                  </p:childTnLst>
                                </p:cTn>
                              </p:par>
                            </p:childTnLst>
                          </p:cTn>
                        </p:par>
                      </p:childTnLst>
                    </p:cTn>
                  </p:par>
                </p:childTnLst>
              </p:cTn>
              <p:nextCondLst>
                <p:cond evt="onClick" delay="0">
                  <p:tgtEl>
                    <p:spTgt spid="27"/>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308914" y="1031358"/>
            <a:ext cx="5113691" cy="5793132"/>
          </a:xfrm>
          <a:prstGeom prst="rect">
            <a:avLst/>
          </a:prstGeom>
          <a:effectLst>
            <a:outerShdw blurRad="63500" sx="102000" sy="102000" algn="ctr" rotWithShape="0">
              <a:prstClr val="black">
                <a:alpha val="40000"/>
              </a:prstClr>
            </a:outerShdw>
          </a:effectLst>
        </p:spPr>
      </p:pic>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vert="horz" wrap="square" lIns="324000" tIns="45720" rIns="91440" bIns="45720" rtlCol="0" anchor="ctr">
              <a:spAutoFit/>
            </a:bodyPr>
            <a:lstStyle>
              <a:defPPr>
                <a:defRPr lang="en-US"/>
              </a:defPPr>
              <a:lvl1pPr>
                <a:spcBef>
                  <a:spcPct val="0"/>
                </a:spcBef>
                <a:buNone/>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a:t>Test Your Understanding</a:t>
              </a:r>
            </a:p>
          </p:txBody>
        </p:sp>
        <p:cxnSp>
          <p:nvCxnSpPr>
            <p:cNvPr id="4" name="Straight Connector 3"/>
            <p:cNvCxnSpPr/>
            <p:nvPr/>
          </p:nvCxnSpPr>
          <p:spPr>
            <a:xfrm>
              <a:off x="218" y="601079"/>
              <a:ext cx="9144000" cy="0"/>
            </a:xfrm>
            <a:prstGeom prst="line">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cxnSp>
      </p:grpSp>
      <p:sp>
        <p:nvSpPr>
          <p:cNvPr id="6" name="TextBox 5"/>
          <p:cNvSpPr txBox="1"/>
          <p:nvPr/>
        </p:nvSpPr>
        <p:spPr>
          <a:xfrm>
            <a:off x="274981" y="704282"/>
            <a:ext cx="2592288" cy="36933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r>
              <a:rPr lang="en-GB"/>
              <a:t>Edexcel C1 May 2012 Q10</a:t>
            </a:r>
          </a:p>
        </p:txBody>
      </p:sp>
      <p:pic>
        <p:nvPicPr>
          <p:cNvPr id="8" name="Picture 7"/>
          <p:cNvPicPr>
            <a:picLocks noChangeAspect="1"/>
          </p:cNvPicPr>
          <p:nvPr/>
        </p:nvPicPr>
        <p:blipFill>
          <a:blip r:embed="rId3"/>
          <a:stretch>
            <a:fillRect/>
          </a:stretch>
        </p:blipFill>
        <p:spPr>
          <a:xfrm>
            <a:off x="5724128" y="1741936"/>
            <a:ext cx="2971800" cy="4371975"/>
          </a:xfrm>
          <a:prstGeom prst="rect">
            <a:avLst/>
          </a:prstGeom>
        </p:spPr>
      </p:pic>
      <p:sp>
        <p:nvSpPr>
          <p:cNvPr id="9" name="Rectangle 8"/>
          <p:cNvSpPr/>
          <p:nvPr/>
        </p:nvSpPr>
        <p:spPr>
          <a:xfrm>
            <a:off x="6214065" y="1648047"/>
            <a:ext cx="2036800" cy="294166"/>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10" name="Rectangle 9"/>
          <p:cNvSpPr/>
          <p:nvPr/>
        </p:nvSpPr>
        <p:spPr>
          <a:xfrm>
            <a:off x="6214064" y="2036101"/>
            <a:ext cx="2579061" cy="1876679"/>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11" name="Rectangle 10"/>
          <p:cNvSpPr/>
          <p:nvPr/>
        </p:nvSpPr>
        <p:spPr>
          <a:xfrm>
            <a:off x="6214063" y="3944453"/>
            <a:ext cx="2579061" cy="1876679"/>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
        <p:nvSpPr>
          <p:cNvPr id="12" name="Rectangle 11"/>
          <p:cNvSpPr/>
          <p:nvPr/>
        </p:nvSpPr>
        <p:spPr>
          <a:xfrm>
            <a:off x="6214062" y="5821132"/>
            <a:ext cx="2579061" cy="324452"/>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t>
            </a:r>
          </a:p>
        </p:txBody>
      </p:sp>
    </p:spTree>
    <p:extLst>
      <p:ext uri="{BB962C8B-B14F-4D97-AF65-F5344CB8AC3E}">
        <p14:creationId xmlns:p14="http://schemas.microsoft.com/office/powerpoint/2010/main" val="3842869809"/>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9"/>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9"/>
                                        </p:tgtEl>
                                      </p:cBhvr>
                                    </p:animEffect>
                                    <p:set>
                                      <p:cBhvr>
                                        <p:cTn id="7" dur="1" fill="hold">
                                          <p:stCondLst>
                                            <p:cond delay="499"/>
                                          </p:stCondLst>
                                        </p:cTn>
                                        <p:tgtEl>
                                          <p:spTgt spid="9"/>
                                        </p:tgtEl>
                                        <p:attrNameLst>
                                          <p:attrName>style.visibility</p:attrName>
                                        </p:attrNameLst>
                                      </p:cBhvr>
                                      <p:to>
                                        <p:strVal val="hidden"/>
                                      </p:to>
                                    </p:set>
                                  </p:childTnLst>
                                </p:cTn>
                              </p:par>
                            </p:childTnLst>
                          </p:cTn>
                        </p:par>
                      </p:childTnLst>
                    </p:cTn>
                  </p:par>
                </p:childTnLst>
              </p:cTn>
              <p:nextCondLst>
                <p:cond evt="onClick" delay="0">
                  <p:tgtEl>
                    <p:spTgt spid="9"/>
                  </p:tgtEl>
                </p:cond>
              </p:nextCondLst>
            </p:seq>
            <p:seq concurrent="1" nextAc="seek">
              <p:cTn id="8" restart="whenNotActive" fill="hold" evtFilter="cancelBubble" nodeType="interactiveSeq">
                <p:stCondLst>
                  <p:cond evt="onClick" delay="0">
                    <p:tgtEl>
                      <p:spTgt spid="10"/>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0"/>
                                        </p:tgtEl>
                                      </p:cBhvr>
                                    </p:animEffect>
                                    <p:set>
                                      <p:cBhvr>
                                        <p:cTn id="13" dur="1" fill="hold">
                                          <p:stCondLst>
                                            <p:cond delay="499"/>
                                          </p:stCondLst>
                                        </p:cTn>
                                        <p:tgtEl>
                                          <p:spTgt spid="10"/>
                                        </p:tgtEl>
                                        <p:attrNameLst>
                                          <p:attrName>style.visibility</p:attrName>
                                        </p:attrNameLst>
                                      </p:cBhvr>
                                      <p:to>
                                        <p:strVal val="hidden"/>
                                      </p:to>
                                    </p:set>
                                  </p:childTnLst>
                                </p:cTn>
                              </p:par>
                            </p:childTnLst>
                          </p:cTn>
                        </p:par>
                      </p:childTnLst>
                    </p:cTn>
                  </p:par>
                </p:childTnLst>
              </p:cTn>
              <p:nextCondLst>
                <p:cond evt="onClick" delay="0">
                  <p:tgtEl>
                    <p:spTgt spid="10"/>
                  </p:tgtEl>
                </p:cond>
              </p:nextCondLst>
            </p:seq>
            <p:seq concurrent="1" nextAc="seek">
              <p:cTn id="14" restart="whenNotActive" fill="hold" evtFilter="cancelBubble" nodeType="interactiveSeq">
                <p:stCondLst>
                  <p:cond evt="onClick" delay="0">
                    <p:tgtEl>
                      <p:spTgt spid="11"/>
                    </p:tgtEl>
                  </p:cond>
                </p:stCondLst>
                <p:endSync evt="end" delay="0">
                  <p:rtn val="all"/>
                </p:endSync>
                <p:childTnLst>
                  <p:par>
                    <p:cTn id="15" fill="hold">
                      <p:stCondLst>
                        <p:cond delay="0"/>
                      </p:stCondLst>
                      <p:childTnLst>
                        <p:par>
                          <p:cTn id="16" fill="hold">
                            <p:stCondLst>
                              <p:cond delay="0"/>
                            </p:stCondLst>
                            <p:childTnLst>
                              <p:par>
                                <p:cTn id="17" presetID="10" presetClass="exit" presetSubtype="0" fill="hold" grpId="0" nodeType="clickEffect">
                                  <p:stCondLst>
                                    <p:cond delay="0"/>
                                  </p:stCondLst>
                                  <p:childTnLst>
                                    <p:animEffect transition="out" filter="fade">
                                      <p:cBhvr>
                                        <p:cTn id="18" dur="500"/>
                                        <p:tgtEl>
                                          <p:spTgt spid="11"/>
                                        </p:tgtEl>
                                      </p:cBhvr>
                                    </p:animEffect>
                                    <p:set>
                                      <p:cBhvr>
                                        <p:cTn id="19" dur="1" fill="hold">
                                          <p:stCondLst>
                                            <p:cond delay="499"/>
                                          </p:stCondLst>
                                        </p:cTn>
                                        <p:tgtEl>
                                          <p:spTgt spid="11"/>
                                        </p:tgtEl>
                                        <p:attrNameLst>
                                          <p:attrName>style.visibility</p:attrName>
                                        </p:attrNameLst>
                                      </p:cBhvr>
                                      <p:to>
                                        <p:strVal val="hidden"/>
                                      </p:to>
                                    </p:set>
                                  </p:childTnLst>
                                </p:cTn>
                              </p:par>
                            </p:childTnLst>
                          </p:cTn>
                        </p:par>
                      </p:childTnLst>
                    </p:cTn>
                  </p:par>
                </p:childTnLst>
              </p:cTn>
              <p:nextCondLst>
                <p:cond evt="onClick" delay="0">
                  <p:tgtEl>
                    <p:spTgt spid="11"/>
                  </p:tgtEl>
                </p:cond>
              </p:nextCondLst>
            </p:seq>
            <p:seq concurrent="1" nextAc="seek">
              <p:cTn id="20" restart="whenNotActive" fill="hold" evtFilter="cancelBubble" nodeType="interactiveSeq">
                <p:stCondLst>
                  <p:cond evt="onClick" delay="0">
                    <p:tgtEl>
                      <p:spTgt spid="12"/>
                    </p:tgtEl>
                  </p:cond>
                </p:stCondLst>
                <p:endSync evt="end" delay="0">
                  <p:rtn val="all"/>
                </p:endSync>
                <p:childTnLst>
                  <p:par>
                    <p:cTn id="21" fill="hold">
                      <p:stCondLst>
                        <p:cond delay="0"/>
                      </p:stCondLst>
                      <p:childTnLst>
                        <p:par>
                          <p:cTn id="22" fill="hold">
                            <p:stCondLst>
                              <p:cond delay="0"/>
                            </p:stCondLst>
                            <p:childTnLst>
                              <p:par>
                                <p:cTn id="23" presetID="10" presetClass="exit" presetSubtype="0" fill="hold" grpId="0" nodeType="clickEffect">
                                  <p:stCondLst>
                                    <p:cond delay="0"/>
                                  </p:stCondLst>
                                  <p:childTnLst>
                                    <p:animEffect transition="out" filter="fade">
                                      <p:cBhvr>
                                        <p:cTn id="24" dur="500"/>
                                        <p:tgtEl>
                                          <p:spTgt spid="12"/>
                                        </p:tgtEl>
                                      </p:cBhvr>
                                    </p:animEffect>
                                    <p:set>
                                      <p:cBhvr>
                                        <p:cTn id="25" dur="1" fill="hold">
                                          <p:stCondLst>
                                            <p:cond delay="499"/>
                                          </p:stCondLst>
                                        </p:cTn>
                                        <p:tgtEl>
                                          <p:spTgt spid="12"/>
                                        </p:tgtEl>
                                        <p:attrNameLst>
                                          <p:attrName>style.visibility</p:attrName>
                                        </p:attrNameLst>
                                      </p:cBhvr>
                                      <p:to>
                                        <p:strVal val="hidden"/>
                                      </p:to>
                                    </p:set>
                                  </p:childTnLst>
                                </p:cTn>
                              </p:par>
                            </p:childTnLst>
                          </p:cTn>
                        </p:par>
                      </p:childTnLst>
                    </p:cTn>
                  </p:par>
                </p:childTnLst>
              </p:cTn>
              <p:nextCondLst>
                <p:cond evt="onClick" delay="0">
                  <p:tgtEl>
                    <p:spTgt spid="12"/>
                  </p:tgtEl>
                </p:cond>
              </p:nextCondLst>
            </p:seq>
          </p:childTnLst>
        </p:cTn>
      </p:par>
    </p:tnLst>
    <p:bldLst>
      <p:bldP spid="9" grpId="0" animBg="1"/>
      <p:bldP spid="10" grpId="0" animBg="1"/>
      <p:bldP spid="11" grpId="0" animBg="1"/>
      <p:bldP spid="12"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vert="horz" wrap="square" lIns="324000" tIns="45720" rIns="91440" bIns="45720" rtlCol="0" anchor="ctr">
              <a:spAutoFit/>
            </a:bodyPr>
            <a:lstStyle>
              <a:defPPr>
                <a:defRPr lang="en-US"/>
              </a:defPPr>
              <a:lvl1pPr>
                <a:spcBef>
                  <a:spcPct val="0"/>
                </a:spcBef>
                <a:buNone/>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a:t>Exercise 4G Pure Y1 Pages 80</a:t>
              </a:r>
            </a:p>
          </p:txBody>
        </p:sp>
        <p:cxnSp>
          <p:nvCxnSpPr>
            <p:cNvPr id="4" name="Straight Connector 3"/>
            <p:cNvCxnSpPr/>
            <p:nvPr/>
          </p:nvCxnSpPr>
          <p:spPr>
            <a:xfrm>
              <a:off x="218" y="601079"/>
              <a:ext cx="9144000" cy="0"/>
            </a:xfrm>
            <a:prstGeom prst="line">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cxnSp>
      </p:grpSp>
      <p:grpSp>
        <p:nvGrpSpPr>
          <p:cNvPr id="15" name="Group 14">
            <a:extLst>
              <a:ext uri="{FF2B5EF4-FFF2-40B4-BE49-F238E27FC236}">
                <a16:creationId xmlns:a16="http://schemas.microsoft.com/office/drawing/2014/main" id="{2EBB8526-CD7F-6EA0-87B2-CDAE796227E5}"/>
              </a:ext>
            </a:extLst>
          </p:cNvPr>
          <p:cNvGrpSpPr/>
          <p:nvPr/>
        </p:nvGrpSpPr>
        <p:grpSpPr>
          <a:xfrm>
            <a:off x="107504" y="631322"/>
            <a:ext cx="6480720" cy="1291406"/>
            <a:chOff x="107504" y="631322"/>
            <a:chExt cx="6480720" cy="1291406"/>
          </a:xfrm>
        </p:grpSpPr>
        <p:pic>
          <p:nvPicPr>
            <p:cNvPr id="12" name="Picture 11">
              <a:extLst>
                <a:ext uri="{FF2B5EF4-FFF2-40B4-BE49-F238E27FC236}">
                  <a16:creationId xmlns:a16="http://schemas.microsoft.com/office/drawing/2014/main" id="{C263F0E0-A3C2-870D-A1FC-FBE9DBB39F3C}"/>
                </a:ext>
              </a:extLst>
            </p:cNvPr>
            <p:cNvPicPr>
              <a:picLocks noChangeAspect="1"/>
            </p:cNvPicPr>
            <p:nvPr/>
          </p:nvPicPr>
          <p:blipFill>
            <a:blip r:embed="rId2"/>
            <a:stretch>
              <a:fillRect/>
            </a:stretch>
          </p:blipFill>
          <p:spPr>
            <a:xfrm>
              <a:off x="107504" y="631322"/>
              <a:ext cx="6264694" cy="1291406"/>
            </a:xfrm>
            <a:prstGeom prst="rect">
              <a:avLst/>
            </a:prstGeom>
          </p:spPr>
        </p:pic>
        <p:sp>
          <p:nvSpPr>
            <p:cNvPr id="13" name="Rectangle 12">
              <a:extLst>
                <a:ext uri="{FF2B5EF4-FFF2-40B4-BE49-F238E27FC236}">
                  <a16:creationId xmlns:a16="http://schemas.microsoft.com/office/drawing/2014/main" id="{23BC32F2-91FA-90CE-C643-61EB6AFBD997}"/>
                </a:ext>
              </a:extLst>
            </p:cNvPr>
            <p:cNvSpPr/>
            <p:nvPr/>
          </p:nvSpPr>
          <p:spPr>
            <a:xfrm>
              <a:off x="6228184" y="1175489"/>
              <a:ext cx="360040" cy="16527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DA3C1CD5-C41F-7553-263C-3943CBE7090F}"/>
                </a:ext>
              </a:extLst>
            </p:cNvPr>
            <p:cNvSpPr/>
            <p:nvPr/>
          </p:nvSpPr>
          <p:spPr>
            <a:xfrm>
              <a:off x="6120171" y="1704099"/>
              <a:ext cx="360040" cy="16527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16" name="Picture 15">
            <a:extLst>
              <a:ext uri="{FF2B5EF4-FFF2-40B4-BE49-F238E27FC236}">
                <a16:creationId xmlns:a16="http://schemas.microsoft.com/office/drawing/2014/main" id="{B9FE91E9-22C3-3684-98EA-56773C436FCA}"/>
              </a:ext>
            </a:extLst>
          </p:cNvPr>
          <p:cNvPicPr>
            <a:picLocks noChangeAspect="1"/>
          </p:cNvPicPr>
          <p:nvPr/>
        </p:nvPicPr>
        <p:blipFill>
          <a:blip r:embed="rId3"/>
          <a:stretch>
            <a:fillRect/>
          </a:stretch>
        </p:blipFill>
        <p:spPr>
          <a:xfrm>
            <a:off x="251520" y="2060848"/>
            <a:ext cx="3898900" cy="1447800"/>
          </a:xfrm>
          <a:prstGeom prst="rect">
            <a:avLst/>
          </a:prstGeom>
        </p:spPr>
      </p:pic>
      <p:pic>
        <p:nvPicPr>
          <p:cNvPr id="17" name="Picture 16">
            <a:extLst>
              <a:ext uri="{FF2B5EF4-FFF2-40B4-BE49-F238E27FC236}">
                <a16:creationId xmlns:a16="http://schemas.microsoft.com/office/drawing/2014/main" id="{68963B90-ECB4-3281-BA90-77B3DA690405}"/>
              </a:ext>
            </a:extLst>
          </p:cNvPr>
          <p:cNvPicPr>
            <a:picLocks noChangeAspect="1"/>
          </p:cNvPicPr>
          <p:nvPr/>
        </p:nvPicPr>
        <p:blipFill>
          <a:blip r:embed="rId4"/>
          <a:stretch>
            <a:fillRect/>
          </a:stretch>
        </p:blipFill>
        <p:spPr>
          <a:xfrm>
            <a:off x="4571428" y="2080614"/>
            <a:ext cx="3898900" cy="3822700"/>
          </a:xfrm>
          <a:prstGeom prst="rect">
            <a:avLst/>
          </a:prstGeom>
        </p:spPr>
      </p:pic>
      <p:sp>
        <p:nvSpPr>
          <p:cNvPr id="18" name="Rectangle 17">
            <a:extLst>
              <a:ext uri="{FF2B5EF4-FFF2-40B4-BE49-F238E27FC236}">
                <a16:creationId xmlns:a16="http://schemas.microsoft.com/office/drawing/2014/main" id="{BB2617EC-A424-0CC6-8A15-955947F2C167}"/>
              </a:ext>
            </a:extLst>
          </p:cNvPr>
          <p:cNvSpPr/>
          <p:nvPr/>
        </p:nvSpPr>
        <p:spPr>
          <a:xfrm>
            <a:off x="251520" y="2080614"/>
            <a:ext cx="3898900" cy="3724650"/>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a:t>
            </a:r>
          </a:p>
        </p:txBody>
      </p:sp>
      <p:sp>
        <p:nvSpPr>
          <p:cNvPr id="19" name="Rectangle 18">
            <a:extLst>
              <a:ext uri="{FF2B5EF4-FFF2-40B4-BE49-F238E27FC236}">
                <a16:creationId xmlns:a16="http://schemas.microsoft.com/office/drawing/2014/main" id="{9F7557F4-D1AD-D4FE-73AE-4493A82AA6AC}"/>
              </a:ext>
            </a:extLst>
          </p:cNvPr>
          <p:cNvSpPr/>
          <p:nvPr/>
        </p:nvSpPr>
        <p:spPr>
          <a:xfrm>
            <a:off x="4530761" y="2080614"/>
            <a:ext cx="3898900" cy="3724650"/>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b?</a:t>
            </a:r>
          </a:p>
        </p:txBody>
      </p:sp>
    </p:spTree>
    <p:extLst>
      <p:ext uri="{BB962C8B-B14F-4D97-AF65-F5344CB8AC3E}">
        <p14:creationId xmlns:p14="http://schemas.microsoft.com/office/powerpoint/2010/main" val="2445520401"/>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8"/>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8"/>
                                        </p:tgtEl>
                                      </p:cBhvr>
                                    </p:animEffect>
                                    <p:set>
                                      <p:cBhvr>
                                        <p:cTn id="7" dur="1" fill="hold">
                                          <p:stCondLst>
                                            <p:cond delay="499"/>
                                          </p:stCondLst>
                                        </p:cTn>
                                        <p:tgtEl>
                                          <p:spTgt spid="18"/>
                                        </p:tgtEl>
                                        <p:attrNameLst>
                                          <p:attrName>style.visibility</p:attrName>
                                        </p:attrNameLst>
                                      </p:cBhvr>
                                      <p:to>
                                        <p:strVal val="hidden"/>
                                      </p:to>
                                    </p:set>
                                  </p:childTnLst>
                                </p:cTn>
                              </p:par>
                            </p:childTnLst>
                          </p:cTn>
                        </p:par>
                      </p:childTnLst>
                    </p:cTn>
                  </p:par>
                </p:childTnLst>
              </p:cTn>
              <p:nextCondLst>
                <p:cond evt="onClick" delay="0">
                  <p:tgtEl>
                    <p:spTgt spid="18"/>
                  </p:tgtEl>
                </p:cond>
              </p:nextCondLst>
            </p:seq>
            <p:seq concurrent="1" nextAc="seek">
              <p:cTn id="8" restart="whenNotActive" fill="hold" evtFilter="cancelBubble" nodeType="interactiveSeq">
                <p:stCondLst>
                  <p:cond evt="onClick" delay="0">
                    <p:tgtEl>
                      <p:spTgt spid="19"/>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9"/>
                                        </p:tgtEl>
                                      </p:cBhvr>
                                    </p:animEffect>
                                    <p:set>
                                      <p:cBhvr>
                                        <p:cTn id="13" dur="1" fill="hold">
                                          <p:stCondLst>
                                            <p:cond delay="499"/>
                                          </p:stCondLst>
                                        </p:cTn>
                                        <p:tgtEl>
                                          <p:spTgt spid="19"/>
                                        </p:tgtEl>
                                        <p:attrNameLst>
                                          <p:attrName>style.visibility</p:attrName>
                                        </p:attrNameLst>
                                      </p:cBhvr>
                                      <p:to>
                                        <p:strVal val="hidden"/>
                                      </p:to>
                                    </p:set>
                                  </p:childTnLst>
                                </p:cTn>
                              </p:par>
                            </p:childTnLst>
                          </p:cTn>
                        </p:par>
                      </p:childTnLst>
                    </p:cTn>
                  </p:par>
                </p:childTnLst>
              </p:cTn>
              <p:nextCondLst>
                <p:cond evt="onClick" delay="0">
                  <p:tgtEl>
                    <p:spTgt spid="19"/>
                  </p:tgtEl>
                </p:cond>
              </p:nextCondLst>
            </p:seq>
          </p:childTnLst>
        </p:cTn>
      </p:par>
    </p:tnLst>
    <p:bldLst>
      <p:bldP spid="18" grpId="0" animBg="1"/>
      <p:bldP spid="19"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solidFill>
              <a:srgbClr val="17375E">
                <a:alpha val="0"/>
              </a:srgbClr>
            </a:solidFill>
            <a:ln>
              <a:noFill/>
            </a:ln>
          </p:spPr>
          <p:style>
            <a:lnRef idx="2">
              <a:schemeClr val="dk1">
                <a:shade val="50000"/>
              </a:schemeClr>
            </a:lnRef>
            <a:fillRef idx="1">
              <a:schemeClr val="dk1"/>
            </a:fillRef>
            <a:effectRef idx="0">
              <a:schemeClr val="dk1"/>
            </a:effectRef>
            <a:fontRef idx="minor">
              <a:schemeClr val="lt1"/>
            </a:fontRef>
          </p:style>
          <p:txBody>
            <a:bodyPr vert="horz" wrap="square" lIns="324000" tIns="45720" rIns="91440" bIns="45720" rtlCol="0" anchor="ctr">
              <a:spAutoFit/>
            </a:bodyPr>
            <a:lstStyle>
              <a:defPPr>
                <a:defRPr lang="en-US"/>
              </a:defPPr>
              <a:lvl1pPr>
                <a:spcBef>
                  <a:spcPct val="0"/>
                </a:spcBef>
                <a:buNone/>
                <a:defRPr sz="3200">
                  <a:latin typeface="+mj-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a:t>Exercise 4G Pure Y1 Pages 80</a:t>
              </a:r>
            </a:p>
          </p:txBody>
        </p:sp>
        <p:cxnSp>
          <p:nvCxnSpPr>
            <p:cNvPr id="4" name="Straight Connector 3"/>
            <p:cNvCxnSpPr/>
            <p:nvPr/>
          </p:nvCxnSpPr>
          <p:spPr>
            <a:xfrm>
              <a:off x="218" y="601079"/>
              <a:ext cx="9144000" cy="0"/>
            </a:xfrm>
            <a:prstGeom prst="line">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cxnSp>
      </p:grpSp>
      <p:pic>
        <p:nvPicPr>
          <p:cNvPr id="9" name="Picture 8">
            <a:extLst>
              <a:ext uri="{FF2B5EF4-FFF2-40B4-BE49-F238E27FC236}">
                <a16:creationId xmlns:a16="http://schemas.microsoft.com/office/drawing/2014/main" id="{78D0303B-A8E6-5500-6489-29FBA4A40190}"/>
              </a:ext>
            </a:extLst>
          </p:cNvPr>
          <p:cNvPicPr>
            <a:picLocks noChangeAspect="1"/>
          </p:cNvPicPr>
          <p:nvPr/>
        </p:nvPicPr>
        <p:blipFill>
          <a:blip r:embed="rId2"/>
          <a:stretch>
            <a:fillRect/>
          </a:stretch>
        </p:blipFill>
        <p:spPr>
          <a:xfrm>
            <a:off x="610242" y="2042973"/>
            <a:ext cx="2057579" cy="2393054"/>
          </a:xfrm>
          <a:prstGeom prst="rect">
            <a:avLst/>
          </a:prstGeom>
        </p:spPr>
      </p:pic>
      <p:pic>
        <p:nvPicPr>
          <p:cNvPr id="10" name="Picture 9">
            <a:extLst>
              <a:ext uri="{FF2B5EF4-FFF2-40B4-BE49-F238E27FC236}">
                <a16:creationId xmlns:a16="http://schemas.microsoft.com/office/drawing/2014/main" id="{2041DFC0-7C45-36E2-62CE-F38918E2D99E}"/>
              </a:ext>
            </a:extLst>
          </p:cNvPr>
          <p:cNvPicPr>
            <a:picLocks noChangeAspect="1"/>
          </p:cNvPicPr>
          <p:nvPr/>
        </p:nvPicPr>
        <p:blipFill>
          <a:blip r:embed="rId3"/>
          <a:stretch>
            <a:fillRect/>
          </a:stretch>
        </p:blipFill>
        <p:spPr>
          <a:xfrm>
            <a:off x="674818" y="4509120"/>
            <a:ext cx="1899748" cy="2208194"/>
          </a:xfrm>
          <a:prstGeom prst="rect">
            <a:avLst/>
          </a:prstGeom>
        </p:spPr>
      </p:pic>
      <p:pic>
        <p:nvPicPr>
          <p:cNvPr id="12" name="Picture 11">
            <a:extLst>
              <a:ext uri="{FF2B5EF4-FFF2-40B4-BE49-F238E27FC236}">
                <a16:creationId xmlns:a16="http://schemas.microsoft.com/office/drawing/2014/main" id="{4AE936B2-A3FE-3F5C-73FB-09D9528A3946}"/>
              </a:ext>
            </a:extLst>
          </p:cNvPr>
          <p:cNvPicPr>
            <a:picLocks noChangeAspect="1"/>
          </p:cNvPicPr>
          <p:nvPr/>
        </p:nvPicPr>
        <p:blipFill>
          <a:blip r:embed="rId4"/>
          <a:stretch>
            <a:fillRect/>
          </a:stretch>
        </p:blipFill>
        <p:spPr>
          <a:xfrm>
            <a:off x="3207430" y="1998981"/>
            <a:ext cx="1905083" cy="2481038"/>
          </a:xfrm>
          <a:prstGeom prst="rect">
            <a:avLst/>
          </a:prstGeom>
        </p:spPr>
      </p:pic>
      <p:grpSp>
        <p:nvGrpSpPr>
          <p:cNvPr id="30" name="Group 29">
            <a:extLst>
              <a:ext uri="{FF2B5EF4-FFF2-40B4-BE49-F238E27FC236}">
                <a16:creationId xmlns:a16="http://schemas.microsoft.com/office/drawing/2014/main" id="{6205776B-1C58-C107-439F-4031371F8591}"/>
              </a:ext>
            </a:extLst>
          </p:cNvPr>
          <p:cNvGrpSpPr/>
          <p:nvPr/>
        </p:nvGrpSpPr>
        <p:grpSpPr>
          <a:xfrm>
            <a:off x="448441" y="715503"/>
            <a:ext cx="5133393" cy="1189420"/>
            <a:chOff x="448442" y="715503"/>
            <a:chExt cx="4096512" cy="949172"/>
          </a:xfrm>
        </p:grpSpPr>
        <p:pic>
          <p:nvPicPr>
            <p:cNvPr id="17" name="Picture 16">
              <a:extLst>
                <a:ext uri="{FF2B5EF4-FFF2-40B4-BE49-F238E27FC236}">
                  <a16:creationId xmlns:a16="http://schemas.microsoft.com/office/drawing/2014/main" id="{48215FA8-CF75-469F-22C1-ACFFB106CD7D}"/>
                </a:ext>
              </a:extLst>
            </p:cNvPr>
            <p:cNvPicPr>
              <a:picLocks noChangeAspect="1"/>
            </p:cNvPicPr>
            <p:nvPr/>
          </p:nvPicPr>
          <p:blipFill>
            <a:blip r:embed="rId5"/>
            <a:stretch>
              <a:fillRect/>
            </a:stretch>
          </p:blipFill>
          <p:spPr>
            <a:xfrm>
              <a:off x="448442" y="715503"/>
              <a:ext cx="3995936" cy="730027"/>
            </a:xfrm>
            <a:prstGeom prst="rect">
              <a:avLst/>
            </a:prstGeom>
          </p:spPr>
        </p:pic>
        <p:grpSp>
          <p:nvGrpSpPr>
            <p:cNvPr id="21" name="Group 20">
              <a:extLst>
                <a:ext uri="{FF2B5EF4-FFF2-40B4-BE49-F238E27FC236}">
                  <a16:creationId xmlns:a16="http://schemas.microsoft.com/office/drawing/2014/main" id="{1A1B5F5F-80EF-0362-3703-C8DDFC447A30}"/>
                </a:ext>
              </a:extLst>
            </p:cNvPr>
            <p:cNvGrpSpPr/>
            <p:nvPr/>
          </p:nvGrpSpPr>
          <p:grpSpPr>
            <a:xfrm>
              <a:off x="627954" y="1460744"/>
              <a:ext cx="3917000" cy="203931"/>
              <a:chOff x="172409" y="1454075"/>
              <a:chExt cx="3917000" cy="203931"/>
            </a:xfrm>
          </p:grpSpPr>
          <p:pic>
            <p:nvPicPr>
              <p:cNvPr id="18" name="Picture 17">
                <a:extLst>
                  <a:ext uri="{FF2B5EF4-FFF2-40B4-BE49-F238E27FC236}">
                    <a16:creationId xmlns:a16="http://schemas.microsoft.com/office/drawing/2014/main" id="{9DAFFC80-6F9C-C60D-2DBD-A5DD835371AA}"/>
                  </a:ext>
                </a:extLst>
              </p:cNvPr>
              <p:cNvPicPr>
                <a:picLocks noChangeAspect="1"/>
              </p:cNvPicPr>
              <p:nvPr/>
            </p:nvPicPr>
            <p:blipFill>
              <a:blip r:embed="rId6"/>
              <a:stretch>
                <a:fillRect/>
              </a:stretch>
            </p:blipFill>
            <p:spPr>
              <a:xfrm>
                <a:off x="172409" y="1454075"/>
                <a:ext cx="1447263" cy="192526"/>
              </a:xfrm>
              <a:prstGeom prst="rect">
                <a:avLst/>
              </a:prstGeom>
            </p:spPr>
          </p:pic>
          <p:pic>
            <p:nvPicPr>
              <p:cNvPr id="19" name="Picture 18">
                <a:extLst>
                  <a:ext uri="{FF2B5EF4-FFF2-40B4-BE49-F238E27FC236}">
                    <a16:creationId xmlns:a16="http://schemas.microsoft.com/office/drawing/2014/main" id="{D93625F6-91B3-B3F0-CD4E-1365F508F2A3}"/>
                  </a:ext>
                </a:extLst>
              </p:cNvPr>
              <p:cNvPicPr>
                <a:picLocks noChangeAspect="1"/>
              </p:cNvPicPr>
              <p:nvPr/>
            </p:nvPicPr>
            <p:blipFill>
              <a:blip r:embed="rId7"/>
              <a:stretch>
                <a:fillRect/>
              </a:stretch>
            </p:blipFill>
            <p:spPr>
              <a:xfrm>
                <a:off x="1691680" y="1458761"/>
                <a:ext cx="1447263" cy="192526"/>
              </a:xfrm>
              <a:prstGeom prst="rect">
                <a:avLst/>
              </a:prstGeom>
            </p:spPr>
          </p:pic>
          <p:pic>
            <p:nvPicPr>
              <p:cNvPr id="20" name="Picture 19">
                <a:extLst>
                  <a:ext uri="{FF2B5EF4-FFF2-40B4-BE49-F238E27FC236}">
                    <a16:creationId xmlns:a16="http://schemas.microsoft.com/office/drawing/2014/main" id="{493FD8E0-47D8-1278-3B00-9F566E1CEF5A}"/>
                  </a:ext>
                </a:extLst>
              </p:cNvPr>
              <p:cNvPicPr>
                <a:picLocks noChangeAspect="1"/>
              </p:cNvPicPr>
              <p:nvPr/>
            </p:nvPicPr>
            <p:blipFill>
              <a:blip r:embed="rId8"/>
              <a:stretch>
                <a:fillRect/>
              </a:stretch>
            </p:blipFill>
            <p:spPr>
              <a:xfrm>
                <a:off x="3210951" y="1457413"/>
                <a:ext cx="878458" cy="200593"/>
              </a:xfrm>
              <a:prstGeom prst="rect">
                <a:avLst/>
              </a:prstGeom>
            </p:spPr>
          </p:pic>
        </p:grpSp>
      </p:grpSp>
      <p:pic>
        <p:nvPicPr>
          <p:cNvPr id="22" name="Picture 21">
            <a:extLst>
              <a:ext uri="{FF2B5EF4-FFF2-40B4-BE49-F238E27FC236}">
                <a16:creationId xmlns:a16="http://schemas.microsoft.com/office/drawing/2014/main" id="{9C72A610-4425-2A93-8AA6-1AF8B955A6A1}"/>
              </a:ext>
            </a:extLst>
          </p:cNvPr>
          <p:cNvPicPr>
            <a:picLocks noChangeAspect="1"/>
          </p:cNvPicPr>
          <p:nvPr/>
        </p:nvPicPr>
        <p:blipFill rotWithShape="1">
          <a:blip r:embed="rId9"/>
          <a:srcRect t="4804"/>
          <a:stretch/>
        </p:blipFill>
        <p:spPr>
          <a:xfrm>
            <a:off x="5737861" y="707647"/>
            <a:ext cx="1024508" cy="1319896"/>
          </a:xfrm>
          <a:prstGeom prst="rect">
            <a:avLst/>
          </a:prstGeom>
        </p:spPr>
      </p:pic>
      <p:pic>
        <p:nvPicPr>
          <p:cNvPr id="23" name="Picture 22">
            <a:extLst>
              <a:ext uri="{FF2B5EF4-FFF2-40B4-BE49-F238E27FC236}">
                <a16:creationId xmlns:a16="http://schemas.microsoft.com/office/drawing/2014/main" id="{79E3B83A-A26E-FB38-D1FD-98CCF983D637}"/>
              </a:ext>
            </a:extLst>
          </p:cNvPr>
          <p:cNvPicPr>
            <a:picLocks noChangeAspect="1"/>
          </p:cNvPicPr>
          <p:nvPr/>
        </p:nvPicPr>
        <p:blipFill>
          <a:blip r:embed="rId10"/>
          <a:stretch>
            <a:fillRect/>
          </a:stretch>
        </p:blipFill>
        <p:spPr>
          <a:xfrm>
            <a:off x="3203847" y="4564363"/>
            <a:ext cx="1976859" cy="2208194"/>
          </a:xfrm>
          <a:prstGeom prst="rect">
            <a:avLst/>
          </a:prstGeom>
        </p:spPr>
      </p:pic>
      <p:pic>
        <p:nvPicPr>
          <p:cNvPr id="24" name="Picture 23">
            <a:extLst>
              <a:ext uri="{FF2B5EF4-FFF2-40B4-BE49-F238E27FC236}">
                <a16:creationId xmlns:a16="http://schemas.microsoft.com/office/drawing/2014/main" id="{4FC36153-C067-8743-5BBA-1534B1DA7B84}"/>
              </a:ext>
            </a:extLst>
          </p:cNvPr>
          <p:cNvPicPr>
            <a:picLocks noChangeAspect="1"/>
          </p:cNvPicPr>
          <p:nvPr/>
        </p:nvPicPr>
        <p:blipFill>
          <a:blip r:embed="rId11"/>
          <a:stretch>
            <a:fillRect/>
          </a:stretch>
        </p:blipFill>
        <p:spPr>
          <a:xfrm>
            <a:off x="5394573" y="1979461"/>
            <a:ext cx="2345779" cy="3082156"/>
          </a:xfrm>
          <a:prstGeom prst="rect">
            <a:avLst/>
          </a:prstGeom>
        </p:spPr>
      </p:pic>
      <p:sp>
        <p:nvSpPr>
          <p:cNvPr id="25" name="Rectangle 24">
            <a:extLst>
              <a:ext uri="{FF2B5EF4-FFF2-40B4-BE49-F238E27FC236}">
                <a16:creationId xmlns:a16="http://schemas.microsoft.com/office/drawing/2014/main" id="{BDC99CFD-33DF-18DB-2F41-9112E9348B68}"/>
              </a:ext>
            </a:extLst>
          </p:cNvPr>
          <p:cNvSpPr/>
          <p:nvPr/>
        </p:nvSpPr>
        <p:spPr>
          <a:xfrm>
            <a:off x="539552" y="1998981"/>
            <a:ext cx="2293208" cy="2474687"/>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a?</a:t>
            </a:r>
          </a:p>
        </p:txBody>
      </p:sp>
      <p:sp>
        <p:nvSpPr>
          <p:cNvPr id="26" name="Rectangle 25">
            <a:extLst>
              <a:ext uri="{FF2B5EF4-FFF2-40B4-BE49-F238E27FC236}">
                <a16:creationId xmlns:a16="http://schemas.microsoft.com/office/drawing/2014/main" id="{7E892ED5-B19C-0A06-89D6-E8C04AE05E3D}"/>
              </a:ext>
            </a:extLst>
          </p:cNvPr>
          <p:cNvSpPr/>
          <p:nvPr/>
        </p:nvSpPr>
        <p:spPr>
          <a:xfrm>
            <a:off x="2949881" y="1998980"/>
            <a:ext cx="2345779" cy="2474687"/>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c?</a:t>
            </a:r>
          </a:p>
        </p:txBody>
      </p:sp>
      <p:sp>
        <p:nvSpPr>
          <p:cNvPr id="27" name="Rectangle 26">
            <a:extLst>
              <a:ext uri="{FF2B5EF4-FFF2-40B4-BE49-F238E27FC236}">
                <a16:creationId xmlns:a16="http://schemas.microsoft.com/office/drawing/2014/main" id="{1A107244-2657-D1B3-E213-2CE9D60D0C29}"/>
              </a:ext>
            </a:extLst>
          </p:cNvPr>
          <p:cNvSpPr/>
          <p:nvPr/>
        </p:nvSpPr>
        <p:spPr>
          <a:xfrm>
            <a:off x="5390993" y="2004490"/>
            <a:ext cx="2295391" cy="4768066"/>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e?</a:t>
            </a:r>
          </a:p>
        </p:txBody>
      </p:sp>
      <p:sp>
        <p:nvSpPr>
          <p:cNvPr id="28" name="Rectangle 27">
            <a:extLst>
              <a:ext uri="{FF2B5EF4-FFF2-40B4-BE49-F238E27FC236}">
                <a16:creationId xmlns:a16="http://schemas.microsoft.com/office/drawing/2014/main" id="{D40213E2-938F-4B3C-B7BE-120B42747671}"/>
              </a:ext>
            </a:extLst>
          </p:cNvPr>
          <p:cNvSpPr/>
          <p:nvPr/>
        </p:nvSpPr>
        <p:spPr>
          <a:xfrm>
            <a:off x="539552" y="4548205"/>
            <a:ext cx="2293208" cy="2224351"/>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b?</a:t>
            </a:r>
          </a:p>
        </p:txBody>
      </p:sp>
      <p:sp>
        <p:nvSpPr>
          <p:cNvPr id="29" name="Rectangle 28">
            <a:extLst>
              <a:ext uri="{FF2B5EF4-FFF2-40B4-BE49-F238E27FC236}">
                <a16:creationId xmlns:a16="http://schemas.microsoft.com/office/drawing/2014/main" id="{3E4FCB9E-D8B6-0BFE-7C6C-CF5C394718F4}"/>
              </a:ext>
            </a:extLst>
          </p:cNvPr>
          <p:cNvSpPr/>
          <p:nvPr/>
        </p:nvSpPr>
        <p:spPr>
          <a:xfrm>
            <a:off x="2946301" y="4548205"/>
            <a:ext cx="2345779" cy="2224351"/>
          </a:xfrm>
          <a:prstGeom prst="rect">
            <a:avLst/>
          </a:prstGeom>
          <a:solidFill>
            <a:schemeClr val="accent1">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a:t>d?</a:t>
            </a:r>
          </a:p>
        </p:txBody>
      </p:sp>
    </p:spTree>
    <p:extLst>
      <p:ext uri="{BB962C8B-B14F-4D97-AF65-F5344CB8AC3E}">
        <p14:creationId xmlns:p14="http://schemas.microsoft.com/office/powerpoint/2010/main" val="1718507266"/>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5"/>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25"/>
                                        </p:tgtEl>
                                      </p:cBhvr>
                                    </p:animEffect>
                                    <p:set>
                                      <p:cBhvr>
                                        <p:cTn id="7" dur="1" fill="hold">
                                          <p:stCondLst>
                                            <p:cond delay="499"/>
                                          </p:stCondLst>
                                        </p:cTn>
                                        <p:tgtEl>
                                          <p:spTgt spid="25"/>
                                        </p:tgtEl>
                                        <p:attrNameLst>
                                          <p:attrName>style.visibility</p:attrName>
                                        </p:attrNameLst>
                                      </p:cBhvr>
                                      <p:to>
                                        <p:strVal val="hidden"/>
                                      </p:to>
                                    </p:set>
                                  </p:childTnLst>
                                </p:cTn>
                              </p:par>
                            </p:childTnLst>
                          </p:cTn>
                        </p:par>
                      </p:childTnLst>
                    </p:cTn>
                  </p:par>
                </p:childTnLst>
              </p:cTn>
              <p:nextCondLst>
                <p:cond evt="onClick" delay="0">
                  <p:tgtEl>
                    <p:spTgt spid="25"/>
                  </p:tgtEl>
                </p:cond>
              </p:nextCondLst>
            </p:seq>
            <p:seq concurrent="1" nextAc="seek">
              <p:cTn id="8" restart="whenNotActive" fill="hold" evtFilter="cancelBubble" nodeType="interactiveSeq">
                <p:stCondLst>
                  <p:cond evt="onClick" delay="0">
                    <p:tgtEl>
                      <p:spTgt spid="26"/>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26"/>
                                        </p:tgtEl>
                                      </p:cBhvr>
                                    </p:animEffect>
                                    <p:set>
                                      <p:cBhvr>
                                        <p:cTn id="13" dur="1" fill="hold">
                                          <p:stCondLst>
                                            <p:cond delay="499"/>
                                          </p:stCondLst>
                                        </p:cTn>
                                        <p:tgtEl>
                                          <p:spTgt spid="26"/>
                                        </p:tgtEl>
                                        <p:attrNameLst>
                                          <p:attrName>style.visibility</p:attrName>
                                        </p:attrNameLst>
                                      </p:cBhvr>
                                      <p:to>
                                        <p:strVal val="hidden"/>
                                      </p:to>
                                    </p:set>
                                  </p:childTnLst>
                                </p:cTn>
                              </p:par>
                            </p:childTnLst>
                          </p:cTn>
                        </p:par>
                      </p:childTnLst>
                    </p:cTn>
                  </p:par>
                </p:childTnLst>
              </p:cTn>
              <p:nextCondLst>
                <p:cond evt="onClick" delay="0">
                  <p:tgtEl>
                    <p:spTgt spid="26"/>
                  </p:tgtEl>
                </p:cond>
              </p:nextCondLst>
            </p:seq>
            <p:seq concurrent="1" nextAc="seek">
              <p:cTn id="14" restart="whenNotActive" fill="hold" evtFilter="cancelBubble" nodeType="interactiveSeq">
                <p:stCondLst>
                  <p:cond evt="onClick" delay="0">
                    <p:tgtEl>
                      <p:spTgt spid="27"/>
                    </p:tgtEl>
                  </p:cond>
                </p:stCondLst>
                <p:endSync evt="end" delay="0">
                  <p:rtn val="all"/>
                </p:endSync>
                <p:childTnLst>
                  <p:par>
                    <p:cTn id="15" fill="hold">
                      <p:stCondLst>
                        <p:cond delay="0"/>
                      </p:stCondLst>
                      <p:childTnLst>
                        <p:par>
                          <p:cTn id="16" fill="hold">
                            <p:stCondLst>
                              <p:cond delay="0"/>
                            </p:stCondLst>
                            <p:childTnLst>
                              <p:par>
                                <p:cTn id="17" presetID="10" presetClass="exit" presetSubtype="0" fill="hold" grpId="0" nodeType="clickEffect">
                                  <p:stCondLst>
                                    <p:cond delay="0"/>
                                  </p:stCondLst>
                                  <p:childTnLst>
                                    <p:animEffect transition="out" filter="fade">
                                      <p:cBhvr>
                                        <p:cTn id="18" dur="500"/>
                                        <p:tgtEl>
                                          <p:spTgt spid="27"/>
                                        </p:tgtEl>
                                      </p:cBhvr>
                                    </p:animEffect>
                                    <p:set>
                                      <p:cBhvr>
                                        <p:cTn id="19" dur="1" fill="hold">
                                          <p:stCondLst>
                                            <p:cond delay="499"/>
                                          </p:stCondLst>
                                        </p:cTn>
                                        <p:tgtEl>
                                          <p:spTgt spid="27"/>
                                        </p:tgtEl>
                                        <p:attrNameLst>
                                          <p:attrName>style.visibility</p:attrName>
                                        </p:attrNameLst>
                                      </p:cBhvr>
                                      <p:to>
                                        <p:strVal val="hidden"/>
                                      </p:to>
                                    </p:set>
                                  </p:childTnLst>
                                </p:cTn>
                              </p:par>
                            </p:childTnLst>
                          </p:cTn>
                        </p:par>
                      </p:childTnLst>
                    </p:cTn>
                  </p:par>
                </p:childTnLst>
              </p:cTn>
              <p:nextCondLst>
                <p:cond evt="onClick" delay="0">
                  <p:tgtEl>
                    <p:spTgt spid="27"/>
                  </p:tgtEl>
                </p:cond>
              </p:nextCondLst>
            </p:seq>
            <p:seq concurrent="1" nextAc="seek">
              <p:cTn id="20" restart="whenNotActive" fill="hold" evtFilter="cancelBubble" nodeType="interactiveSeq">
                <p:stCondLst>
                  <p:cond evt="onClick" delay="0">
                    <p:tgtEl>
                      <p:spTgt spid="28"/>
                    </p:tgtEl>
                  </p:cond>
                </p:stCondLst>
                <p:endSync evt="end" delay="0">
                  <p:rtn val="all"/>
                </p:endSync>
                <p:childTnLst>
                  <p:par>
                    <p:cTn id="21" fill="hold">
                      <p:stCondLst>
                        <p:cond delay="0"/>
                      </p:stCondLst>
                      <p:childTnLst>
                        <p:par>
                          <p:cTn id="22" fill="hold">
                            <p:stCondLst>
                              <p:cond delay="0"/>
                            </p:stCondLst>
                            <p:childTnLst>
                              <p:par>
                                <p:cTn id="23" presetID="10" presetClass="exit" presetSubtype="0" fill="hold" grpId="0" nodeType="clickEffect">
                                  <p:stCondLst>
                                    <p:cond delay="0"/>
                                  </p:stCondLst>
                                  <p:childTnLst>
                                    <p:animEffect transition="out" filter="fade">
                                      <p:cBhvr>
                                        <p:cTn id="24" dur="500"/>
                                        <p:tgtEl>
                                          <p:spTgt spid="28"/>
                                        </p:tgtEl>
                                      </p:cBhvr>
                                    </p:animEffect>
                                    <p:set>
                                      <p:cBhvr>
                                        <p:cTn id="25" dur="1" fill="hold">
                                          <p:stCondLst>
                                            <p:cond delay="499"/>
                                          </p:stCondLst>
                                        </p:cTn>
                                        <p:tgtEl>
                                          <p:spTgt spid="28"/>
                                        </p:tgtEl>
                                        <p:attrNameLst>
                                          <p:attrName>style.visibility</p:attrName>
                                        </p:attrNameLst>
                                      </p:cBhvr>
                                      <p:to>
                                        <p:strVal val="hidden"/>
                                      </p:to>
                                    </p:set>
                                  </p:childTnLst>
                                </p:cTn>
                              </p:par>
                            </p:childTnLst>
                          </p:cTn>
                        </p:par>
                      </p:childTnLst>
                    </p:cTn>
                  </p:par>
                </p:childTnLst>
              </p:cTn>
              <p:nextCondLst>
                <p:cond evt="onClick" delay="0">
                  <p:tgtEl>
                    <p:spTgt spid="28"/>
                  </p:tgtEl>
                </p:cond>
              </p:nextCondLst>
            </p:seq>
            <p:seq concurrent="1" nextAc="seek">
              <p:cTn id="26" restart="whenNotActive" fill="hold" evtFilter="cancelBubble" nodeType="interactiveSeq">
                <p:stCondLst>
                  <p:cond evt="onClick" delay="0">
                    <p:tgtEl>
                      <p:spTgt spid="29"/>
                    </p:tgtEl>
                  </p:cond>
                </p:stCondLst>
                <p:endSync evt="end" delay="0">
                  <p:rtn val="all"/>
                </p:endSync>
                <p:childTnLst>
                  <p:par>
                    <p:cTn id="27" fill="hold">
                      <p:stCondLst>
                        <p:cond delay="0"/>
                      </p:stCondLst>
                      <p:childTnLst>
                        <p:par>
                          <p:cTn id="28" fill="hold">
                            <p:stCondLst>
                              <p:cond delay="0"/>
                            </p:stCondLst>
                            <p:childTnLst>
                              <p:par>
                                <p:cTn id="29" presetID="10" presetClass="exit" presetSubtype="0" fill="hold" grpId="0" nodeType="clickEffect">
                                  <p:stCondLst>
                                    <p:cond delay="0"/>
                                  </p:stCondLst>
                                  <p:childTnLst>
                                    <p:animEffect transition="out" filter="fade">
                                      <p:cBhvr>
                                        <p:cTn id="30" dur="500"/>
                                        <p:tgtEl>
                                          <p:spTgt spid="29"/>
                                        </p:tgtEl>
                                      </p:cBhvr>
                                    </p:animEffect>
                                    <p:set>
                                      <p:cBhvr>
                                        <p:cTn id="31" dur="1" fill="hold">
                                          <p:stCondLst>
                                            <p:cond delay="499"/>
                                          </p:stCondLst>
                                        </p:cTn>
                                        <p:tgtEl>
                                          <p:spTgt spid="29"/>
                                        </p:tgtEl>
                                        <p:attrNameLst>
                                          <p:attrName>style.visibility</p:attrName>
                                        </p:attrNameLst>
                                      </p:cBhvr>
                                      <p:to>
                                        <p:strVal val="hidden"/>
                                      </p:to>
                                    </p:set>
                                  </p:childTnLst>
                                </p:cTn>
                              </p:par>
                            </p:childTnLst>
                          </p:cTn>
                        </p:par>
                      </p:childTnLst>
                    </p:cTn>
                  </p:par>
                </p:childTnLst>
              </p:cTn>
              <p:nextCondLst>
                <p:cond evt="onClick" delay="0">
                  <p:tgtEl>
                    <p:spTgt spid="29"/>
                  </p:tgtEl>
                </p:cond>
              </p:nextCondLst>
            </p:seq>
          </p:childTnLst>
        </p:cTn>
      </p:par>
    </p:tnLst>
    <p:bldLst>
      <p:bldP spid="25" grpId="0" animBg="1"/>
      <p:bldP spid="26" grpId="0" animBg="1"/>
      <p:bldP spid="27" grpId="0" animBg="1"/>
      <p:bldP spid="28" grpId="0" animBg="1"/>
      <p:bldP spid="29" grpId="0" animBg="1"/>
    </p:bldLst>
  </p:timing>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chemeClr val="bg1"/>
          </a:solid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4632</Words>
  <Application>Microsoft Macintosh PowerPoint</Application>
  <PresentationFormat>On-screen Show (4:3)</PresentationFormat>
  <Paragraphs>792</Paragraphs>
  <Slides>48</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48</vt:i4>
      </vt:variant>
    </vt:vector>
  </HeadingPairs>
  <TitlesOfParts>
    <vt:vector size="53" baseType="lpstr">
      <vt:lpstr>Arial</vt:lpstr>
      <vt:lpstr>Calibri</vt:lpstr>
      <vt:lpstr>Cambria Math</vt:lpstr>
      <vt:lpstr>Wingdings</vt:lpstr>
      <vt:lpstr>1_Office Theme</vt:lpstr>
      <vt:lpstr>Pure Y1 Ch 4 Graphs and Transformations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RM plc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Frost J</dc:creator>
  <cp:lastModifiedBy>A Lamagna</cp:lastModifiedBy>
  <cp:revision>1</cp:revision>
  <dcterms:created xsi:type="dcterms:W3CDTF">2013-02-28T07:36:55Z</dcterms:created>
  <dcterms:modified xsi:type="dcterms:W3CDTF">2026-10-13T07:38:26Z</dcterms:modified>
</cp:coreProperties>
</file>