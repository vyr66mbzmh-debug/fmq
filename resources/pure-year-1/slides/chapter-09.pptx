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0"/>
  </p:notesMasterIdLst>
  <p:sldIdLst>
    <p:sldId id="257" r:id="rId2"/>
    <p:sldId id="682" r:id="rId3"/>
    <p:sldId id="483" r:id="rId4"/>
    <p:sldId id="639" r:id="rId5"/>
    <p:sldId id="680" r:id="rId6"/>
    <p:sldId id="681" r:id="rId7"/>
    <p:sldId id="640" r:id="rId8"/>
    <p:sldId id="642" r:id="rId9"/>
    <p:sldId id="643" r:id="rId10"/>
    <p:sldId id="645" r:id="rId11"/>
    <p:sldId id="644" r:id="rId12"/>
    <p:sldId id="646" r:id="rId13"/>
    <p:sldId id="683" r:id="rId14"/>
    <p:sldId id="691" r:id="rId15"/>
    <p:sldId id="618" r:id="rId16"/>
    <p:sldId id="650" r:id="rId17"/>
    <p:sldId id="651" r:id="rId18"/>
    <p:sldId id="652" r:id="rId19"/>
    <p:sldId id="693" r:id="rId20"/>
    <p:sldId id="695" r:id="rId21"/>
    <p:sldId id="694" r:id="rId22"/>
    <p:sldId id="653" r:id="rId23"/>
    <p:sldId id="656" r:id="rId24"/>
    <p:sldId id="657" r:id="rId25"/>
    <p:sldId id="685" r:id="rId26"/>
    <p:sldId id="696" r:id="rId27"/>
    <p:sldId id="660" r:id="rId28"/>
    <p:sldId id="661" r:id="rId29"/>
    <p:sldId id="658" r:id="rId30"/>
    <p:sldId id="686" r:id="rId31"/>
    <p:sldId id="697" r:id="rId32"/>
    <p:sldId id="662" r:id="rId33"/>
    <p:sldId id="663" r:id="rId34"/>
    <p:sldId id="667" r:id="rId35"/>
    <p:sldId id="668" r:id="rId36"/>
    <p:sldId id="669" r:id="rId37"/>
    <p:sldId id="659" r:id="rId38"/>
    <p:sldId id="670" r:id="rId39"/>
    <p:sldId id="688" r:id="rId40"/>
    <p:sldId id="698" r:id="rId41"/>
    <p:sldId id="699" r:id="rId42"/>
    <p:sldId id="677" r:id="rId43"/>
    <p:sldId id="678" r:id="rId44"/>
    <p:sldId id="671" r:id="rId45"/>
    <p:sldId id="672" r:id="rId46"/>
    <p:sldId id="673" r:id="rId47"/>
    <p:sldId id="674" r:id="rId48"/>
    <p:sldId id="675" r:id="rId49"/>
    <p:sldId id="676" r:id="rId50"/>
    <p:sldId id="664" r:id="rId51"/>
    <p:sldId id="665" r:id="rId52"/>
    <p:sldId id="679" r:id="rId53"/>
    <p:sldId id="701" r:id="rId54"/>
    <p:sldId id="702" r:id="rId55"/>
    <p:sldId id="703" r:id="rId56"/>
    <p:sldId id="689" r:id="rId57"/>
    <p:sldId id="648" r:id="rId58"/>
    <p:sldId id="655" r:id="rId5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61" autoAdjust="0"/>
    <p:restoredTop sz="96405" autoAdjust="0"/>
  </p:normalViewPr>
  <p:slideViewPr>
    <p:cSldViewPr>
      <p:cViewPr varScale="1">
        <p:scale>
          <a:sx n="131" d="100"/>
          <a:sy n="131" d="100"/>
        </p:scale>
        <p:origin x="280" y="184"/>
      </p:cViewPr>
      <p:guideLst>
        <p:guide orient="horz" pos="2160"/>
        <p:guide pos="384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 Lamagna" userId="51ffa61b-81bf-4463-bdeb-7e3f3f1f8945" providerId="ADAL" clId="{E7E6A3DC-5665-E24A-AB7D-F3184E29F206}"/>
    <pc:docChg chg="undo custSel modSld">
      <pc:chgData name="A Lamagna" userId="51ffa61b-81bf-4463-bdeb-7e3f3f1f8945" providerId="ADAL" clId="{E7E6A3DC-5665-E24A-AB7D-F3184E29F206}" dt="2023-11-07T17:46:44.601" v="31" actId="20577"/>
      <pc:docMkLst>
        <pc:docMk/>
      </pc:docMkLst>
      <pc:sldChg chg="modSp mod">
        <pc:chgData name="A Lamagna" userId="51ffa61b-81bf-4463-bdeb-7e3f3f1f8945" providerId="ADAL" clId="{E7E6A3DC-5665-E24A-AB7D-F3184E29F206}" dt="2023-11-07T17:43:48.949" v="4" actId="1076"/>
        <pc:sldMkLst>
          <pc:docMk/>
          <pc:sldMk cId="3309097057" sldId="257"/>
        </pc:sldMkLst>
        <pc:spChg chg="mod">
          <ac:chgData name="A Lamagna" userId="51ffa61b-81bf-4463-bdeb-7e3f3f1f8945" providerId="ADAL" clId="{E7E6A3DC-5665-E24A-AB7D-F3184E29F206}" dt="2023-11-07T17:43:48.949" v="4" actId="1076"/>
          <ac:spMkLst>
            <pc:docMk/>
            <pc:sldMk cId="3309097057" sldId="257"/>
            <ac:spMk id="2" creationId="{00000000-0000-0000-0000-000000000000}"/>
          </ac:spMkLst>
        </pc:spChg>
      </pc:sldChg>
      <pc:sldChg chg="modSp mod">
        <pc:chgData name="A Lamagna" userId="51ffa61b-81bf-4463-bdeb-7e3f3f1f8945" providerId="ADAL" clId="{E7E6A3DC-5665-E24A-AB7D-F3184E29F206}" dt="2023-11-07T17:46:44.601" v="31" actId="20577"/>
        <pc:sldMkLst>
          <pc:docMk/>
          <pc:sldMk cId="1638698457" sldId="639"/>
        </pc:sldMkLst>
        <pc:spChg chg="mod">
          <ac:chgData name="A Lamagna" userId="51ffa61b-81bf-4463-bdeb-7e3f3f1f8945" providerId="ADAL" clId="{E7E6A3DC-5665-E24A-AB7D-F3184E29F206}" dt="2023-11-07T17:46:42.873" v="29" actId="20577"/>
          <ac:spMkLst>
            <pc:docMk/>
            <pc:sldMk cId="1638698457" sldId="639"/>
            <ac:spMk id="8" creationId="{00000000-0000-0000-0000-000000000000}"/>
          </ac:spMkLst>
        </pc:spChg>
        <pc:spChg chg="mod">
          <ac:chgData name="A Lamagna" userId="51ffa61b-81bf-4463-bdeb-7e3f3f1f8945" providerId="ADAL" clId="{E7E6A3DC-5665-E24A-AB7D-F3184E29F206}" dt="2023-11-07T17:46:44.601" v="31" actId="20577"/>
          <ac:spMkLst>
            <pc:docMk/>
            <pc:sldMk cId="1638698457" sldId="639"/>
            <ac:spMk id="22" creationId="{00000000-0000-0000-0000-000000000000}"/>
          </ac:spMkLst>
        </pc:spChg>
      </pc:sldChg>
      <pc:sldChg chg="modSp mod">
        <pc:chgData name="A Lamagna" userId="51ffa61b-81bf-4463-bdeb-7e3f3f1f8945" providerId="ADAL" clId="{E7E6A3DC-5665-E24A-AB7D-F3184E29F206}" dt="2023-11-07T17:45:24.791" v="18" actId="14100"/>
        <pc:sldMkLst>
          <pc:docMk/>
          <pc:sldMk cId="160551390" sldId="640"/>
        </pc:sldMkLst>
        <pc:spChg chg="mod">
          <ac:chgData name="A Lamagna" userId="51ffa61b-81bf-4463-bdeb-7e3f3f1f8945" providerId="ADAL" clId="{E7E6A3DC-5665-E24A-AB7D-F3184E29F206}" dt="2023-11-07T17:44:40.574" v="15" actId="1076"/>
          <ac:spMkLst>
            <pc:docMk/>
            <pc:sldMk cId="160551390" sldId="640"/>
            <ac:spMk id="5" creationId="{00000000-0000-0000-0000-000000000000}"/>
          </ac:spMkLst>
        </pc:spChg>
        <pc:spChg chg="mod">
          <ac:chgData name="A Lamagna" userId="51ffa61b-81bf-4463-bdeb-7e3f3f1f8945" providerId="ADAL" clId="{E7E6A3DC-5665-E24A-AB7D-F3184E29F206}" dt="2023-11-07T17:44:45.631" v="16" actId="1076"/>
          <ac:spMkLst>
            <pc:docMk/>
            <pc:sldMk cId="160551390" sldId="640"/>
            <ac:spMk id="11" creationId="{00000000-0000-0000-0000-000000000000}"/>
          </ac:spMkLst>
        </pc:spChg>
        <pc:spChg chg="mod">
          <ac:chgData name="A Lamagna" userId="51ffa61b-81bf-4463-bdeb-7e3f3f1f8945" providerId="ADAL" clId="{E7E6A3DC-5665-E24A-AB7D-F3184E29F206}" dt="2023-11-07T17:44:45.631" v="16" actId="1076"/>
          <ac:spMkLst>
            <pc:docMk/>
            <pc:sldMk cId="160551390" sldId="640"/>
            <ac:spMk id="12" creationId="{00000000-0000-0000-0000-000000000000}"/>
          </ac:spMkLst>
        </pc:spChg>
        <pc:spChg chg="mod">
          <ac:chgData name="A Lamagna" userId="51ffa61b-81bf-4463-bdeb-7e3f3f1f8945" providerId="ADAL" clId="{E7E6A3DC-5665-E24A-AB7D-F3184E29F206}" dt="2023-11-07T17:44:45.631" v="16" actId="1076"/>
          <ac:spMkLst>
            <pc:docMk/>
            <pc:sldMk cId="160551390" sldId="640"/>
            <ac:spMk id="13" creationId="{00000000-0000-0000-0000-000000000000}"/>
          </ac:spMkLst>
        </pc:spChg>
        <pc:spChg chg="mod">
          <ac:chgData name="A Lamagna" userId="51ffa61b-81bf-4463-bdeb-7e3f3f1f8945" providerId="ADAL" clId="{E7E6A3DC-5665-E24A-AB7D-F3184E29F206}" dt="2023-11-07T17:44:45.631" v="16" actId="1076"/>
          <ac:spMkLst>
            <pc:docMk/>
            <pc:sldMk cId="160551390" sldId="640"/>
            <ac:spMk id="14" creationId="{00000000-0000-0000-0000-000000000000}"/>
          </ac:spMkLst>
        </pc:spChg>
        <pc:spChg chg="mod">
          <ac:chgData name="A Lamagna" userId="51ffa61b-81bf-4463-bdeb-7e3f3f1f8945" providerId="ADAL" clId="{E7E6A3DC-5665-E24A-AB7D-F3184E29F206}" dt="2023-11-07T17:44:45.631" v="16" actId="1076"/>
          <ac:spMkLst>
            <pc:docMk/>
            <pc:sldMk cId="160551390" sldId="640"/>
            <ac:spMk id="15" creationId="{00000000-0000-0000-0000-000000000000}"/>
          </ac:spMkLst>
        </pc:spChg>
        <pc:spChg chg="mod">
          <ac:chgData name="A Lamagna" userId="51ffa61b-81bf-4463-bdeb-7e3f3f1f8945" providerId="ADAL" clId="{E7E6A3DC-5665-E24A-AB7D-F3184E29F206}" dt="2023-11-07T17:44:45.631" v="16" actId="1076"/>
          <ac:spMkLst>
            <pc:docMk/>
            <pc:sldMk cId="160551390" sldId="640"/>
            <ac:spMk id="17" creationId="{00000000-0000-0000-0000-000000000000}"/>
          </ac:spMkLst>
        </pc:spChg>
        <pc:spChg chg="mod">
          <ac:chgData name="A Lamagna" userId="51ffa61b-81bf-4463-bdeb-7e3f3f1f8945" providerId="ADAL" clId="{E7E6A3DC-5665-E24A-AB7D-F3184E29F206}" dt="2023-11-07T17:44:45.631" v="16" actId="1076"/>
          <ac:spMkLst>
            <pc:docMk/>
            <pc:sldMk cId="160551390" sldId="640"/>
            <ac:spMk id="25" creationId="{00000000-0000-0000-0000-000000000000}"/>
          </ac:spMkLst>
        </pc:spChg>
        <pc:spChg chg="mod">
          <ac:chgData name="A Lamagna" userId="51ffa61b-81bf-4463-bdeb-7e3f3f1f8945" providerId="ADAL" clId="{E7E6A3DC-5665-E24A-AB7D-F3184E29F206}" dt="2023-11-07T17:44:45.631" v="16" actId="1076"/>
          <ac:spMkLst>
            <pc:docMk/>
            <pc:sldMk cId="160551390" sldId="640"/>
            <ac:spMk id="26" creationId="{00000000-0000-0000-0000-000000000000}"/>
          </ac:spMkLst>
        </pc:spChg>
        <pc:spChg chg="mod">
          <ac:chgData name="A Lamagna" userId="51ffa61b-81bf-4463-bdeb-7e3f3f1f8945" providerId="ADAL" clId="{E7E6A3DC-5665-E24A-AB7D-F3184E29F206}" dt="2023-11-07T17:44:45.631" v="16" actId="1076"/>
          <ac:spMkLst>
            <pc:docMk/>
            <pc:sldMk cId="160551390" sldId="640"/>
            <ac:spMk id="27" creationId="{00000000-0000-0000-0000-000000000000}"/>
          </ac:spMkLst>
        </pc:spChg>
        <pc:spChg chg="mod">
          <ac:chgData name="A Lamagna" userId="51ffa61b-81bf-4463-bdeb-7e3f3f1f8945" providerId="ADAL" clId="{E7E6A3DC-5665-E24A-AB7D-F3184E29F206}" dt="2023-11-07T17:44:45.631" v="16" actId="1076"/>
          <ac:spMkLst>
            <pc:docMk/>
            <pc:sldMk cId="160551390" sldId="640"/>
            <ac:spMk id="28" creationId="{00000000-0000-0000-0000-000000000000}"/>
          </ac:spMkLst>
        </pc:spChg>
        <pc:spChg chg="mod">
          <ac:chgData name="A Lamagna" userId="51ffa61b-81bf-4463-bdeb-7e3f3f1f8945" providerId="ADAL" clId="{E7E6A3DC-5665-E24A-AB7D-F3184E29F206}" dt="2023-11-07T17:44:45.631" v="16" actId="1076"/>
          <ac:spMkLst>
            <pc:docMk/>
            <pc:sldMk cId="160551390" sldId="640"/>
            <ac:spMk id="29" creationId="{00000000-0000-0000-0000-000000000000}"/>
          </ac:spMkLst>
        </pc:spChg>
        <pc:spChg chg="mod">
          <ac:chgData name="A Lamagna" userId="51ffa61b-81bf-4463-bdeb-7e3f3f1f8945" providerId="ADAL" clId="{E7E6A3DC-5665-E24A-AB7D-F3184E29F206}" dt="2023-11-07T17:44:45.631" v="16" actId="1076"/>
          <ac:spMkLst>
            <pc:docMk/>
            <pc:sldMk cId="160551390" sldId="640"/>
            <ac:spMk id="30" creationId="{00000000-0000-0000-0000-000000000000}"/>
          </ac:spMkLst>
        </pc:spChg>
        <pc:spChg chg="mod">
          <ac:chgData name="A Lamagna" userId="51ffa61b-81bf-4463-bdeb-7e3f3f1f8945" providerId="ADAL" clId="{E7E6A3DC-5665-E24A-AB7D-F3184E29F206}" dt="2023-11-07T17:44:45.631" v="16" actId="1076"/>
          <ac:spMkLst>
            <pc:docMk/>
            <pc:sldMk cId="160551390" sldId="640"/>
            <ac:spMk id="31" creationId="{00000000-0000-0000-0000-000000000000}"/>
          </ac:spMkLst>
        </pc:spChg>
        <pc:spChg chg="mod">
          <ac:chgData name="A Lamagna" userId="51ffa61b-81bf-4463-bdeb-7e3f3f1f8945" providerId="ADAL" clId="{E7E6A3DC-5665-E24A-AB7D-F3184E29F206}" dt="2023-11-07T17:44:45.631" v="16" actId="1076"/>
          <ac:spMkLst>
            <pc:docMk/>
            <pc:sldMk cId="160551390" sldId="640"/>
            <ac:spMk id="35" creationId="{00000000-0000-0000-0000-000000000000}"/>
          </ac:spMkLst>
        </pc:spChg>
        <pc:spChg chg="mod">
          <ac:chgData name="A Lamagna" userId="51ffa61b-81bf-4463-bdeb-7e3f3f1f8945" providerId="ADAL" clId="{E7E6A3DC-5665-E24A-AB7D-F3184E29F206}" dt="2023-11-07T17:44:45.631" v="16" actId="1076"/>
          <ac:spMkLst>
            <pc:docMk/>
            <pc:sldMk cId="160551390" sldId="640"/>
            <ac:spMk id="37" creationId="{00000000-0000-0000-0000-000000000000}"/>
          </ac:spMkLst>
        </pc:spChg>
        <pc:spChg chg="mod">
          <ac:chgData name="A Lamagna" userId="51ffa61b-81bf-4463-bdeb-7e3f3f1f8945" providerId="ADAL" clId="{E7E6A3DC-5665-E24A-AB7D-F3184E29F206}" dt="2023-11-07T17:44:45.631" v="16" actId="1076"/>
          <ac:spMkLst>
            <pc:docMk/>
            <pc:sldMk cId="160551390" sldId="640"/>
            <ac:spMk id="38" creationId="{00000000-0000-0000-0000-000000000000}"/>
          </ac:spMkLst>
        </pc:spChg>
        <pc:spChg chg="mod">
          <ac:chgData name="A Lamagna" userId="51ffa61b-81bf-4463-bdeb-7e3f3f1f8945" providerId="ADAL" clId="{E7E6A3DC-5665-E24A-AB7D-F3184E29F206}" dt="2023-11-07T17:44:45.631" v="16" actId="1076"/>
          <ac:spMkLst>
            <pc:docMk/>
            <pc:sldMk cId="160551390" sldId="640"/>
            <ac:spMk id="44" creationId="{00000000-0000-0000-0000-000000000000}"/>
          </ac:spMkLst>
        </pc:spChg>
        <pc:spChg chg="mod">
          <ac:chgData name="A Lamagna" userId="51ffa61b-81bf-4463-bdeb-7e3f3f1f8945" providerId="ADAL" clId="{E7E6A3DC-5665-E24A-AB7D-F3184E29F206}" dt="2023-11-07T17:44:45.631" v="16" actId="1076"/>
          <ac:spMkLst>
            <pc:docMk/>
            <pc:sldMk cId="160551390" sldId="640"/>
            <ac:spMk id="48" creationId="{00000000-0000-0000-0000-000000000000}"/>
          </ac:spMkLst>
        </pc:spChg>
        <pc:spChg chg="mod">
          <ac:chgData name="A Lamagna" userId="51ffa61b-81bf-4463-bdeb-7e3f3f1f8945" providerId="ADAL" clId="{E7E6A3DC-5665-E24A-AB7D-F3184E29F206}" dt="2023-11-07T17:45:24.791" v="18" actId="14100"/>
          <ac:spMkLst>
            <pc:docMk/>
            <pc:sldMk cId="160551390" sldId="640"/>
            <ac:spMk id="49" creationId="{00000000-0000-0000-0000-000000000000}"/>
          </ac:spMkLst>
        </pc:spChg>
        <pc:spChg chg="mod">
          <ac:chgData name="A Lamagna" userId="51ffa61b-81bf-4463-bdeb-7e3f3f1f8945" providerId="ADAL" clId="{E7E6A3DC-5665-E24A-AB7D-F3184E29F206}" dt="2023-11-07T17:44:45.631" v="16" actId="1076"/>
          <ac:spMkLst>
            <pc:docMk/>
            <pc:sldMk cId="160551390" sldId="640"/>
            <ac:spMk id="50" creationId="{00000000-0000-0000-0000-000000000000}"/>
          </ac:spMkLst>
        </pc:spChg>
        <pc:spChg chg="mod">
          <ac:chgData name="A Lamagna" userId="51ffa61b-81bf-4463-bdeb-7e3f3f1f8945" providerId="ADAL" clId="{E7E6A3DC-5665-E24A-AB7D-F3184E29F206}" dt="2023-11-07T17:44:45.631" v="16" actId="1076"/>
          <ac:spMkLst>
            <pc:docMk/>
            <pc:sldMk cId="160551390" sldId="640"/>
            <ac:spMk id="51" creationId="{00000000-0000-0000-0000-000000000000}"/>
          </ac:spMkLst>
        </pc:spChg>
        <pc:spChg chg="mod">
          <ac:chgData name="A Lamagna" userId="51ffa61b-81bf-4463-bdeb-7e3f3f1f8945" providerId="ADAL" clId="{E7E6A3DC-5665-E24A-AB7D-F3184E29F206}" dt="2023-11-07T17:44:45.631" v="16" actId="1076"/>
          <ac:spMkLst>
            <pc:docMk/>
            <pc:sldMk cId="160551390" sldId="640"/>
            <ac:spMk id="52" creationId="{00000000-0000-0000-0000-000000000000}"/>
          </ac:spMkLst>
        </pc:spChg>
        <pc:spChg chg="mod">
          <ac:chgData name="A Lamagna" userId="51ffa61b-81bf-4463-bdeb-7e3f3f1f8945" providerId="ADAL" clId="{E7E6A3DC-5665-E24A-AB7D-F3184E29F206}" dt="2023-11-07T17:44:45.631" v="16" actId="1076"/>
          <ac:spMkLst>
            <pc:docMk/>
            <pc:sldMk cId="160551390" sldId="640"/>
            <ac:spMk id="53" creationId="{00000000-0000-0000-0000-000000000000}"/>
          </ac:spMkLst>
        </pc:spChg>
        <pc:spChg chg="mod">
          <ac:chgData name="A Lamagna" userId="51ffa61b-81bf-4463-bdeb-7e3f3f1f8945" providerId="ADAL" clId="{E7E6A3DC-5665-E24A-AB7D-F3184E29F206}" dt="2023-11-07T17:44:45.631" v="16" actId="1076"/>
          <ac:spMkLst>
            <pc:docMk/>
            <pc:sldMk cId="160551390" sldId="640"/>
            <ac:spMk id="54" creationId="{00000000-0000-0000-0000-000000000000}"/>
          </ac:spMkLst>
        </pc:spChg>
        <pc:spChg chg="mod">
          <ac:chgData name="A Lamagna" userId="51ffa61b-81bf-4463-bdeb-7e3f3f1f8945" providerId="ADAL" clId="{E7E6A3DC-5665-E24A-AB7D-F3184E29F206}" dt="2023-11-07T17:44:45.631" v="16" actId="1076"/>
          <ac:spMkLst>
            <pc:docMk/>
            <pc:sldMk cId="160551390" sldId="640"/>
            <ac:spMk id="55" creationId="{00000000-0000-0000-0000-000000000000}"/>
          </ac:spMkLst>
        </pc:spChg>
        <pc:spChg chg="mod">
          <ac:chgData name="A Lamagna" userId="51ffa61b-81bf-4463-bdeb-7e3f3f1f8945" providerId="ADAL" clId="{E7E6A3DC-5665-E24A-AB7D-F3184E29F206}" dt="2023-11-07T17:44:45.631" v="16" actId="1076"/>
          <ac:spMkLst>
            <pc:docMk/>
            <pc:sldMk cId="160551390" sldId="640"/>
            <ac:spMk id="56" creationId="{00000000-0000-0000-0000-000000000000}"/>
          </ac:spMkLst>
        </pc:spChg>
        <pc:spChg chg="mod">
          <ac:chgData name="A Lamagna" userId="51ffa61b-81bf-4463-bdeb-7e3f3f1f8945" providerId="ADAL" clId="{E7E6A3DC-5665-E24A-AB7D-F3184E29F206}" dt="2023-11-07T17:44:45.631" v="16" actId="1076"/>
          <ac:spMkLst>
            <pc:docMk/>
            <pc:sldMk cId="160551390" sldId="640"/>
            <ac:spMk id="57" creationId="{00000000-0000-0000-0000-000000000000}"/>
          </ac:spMkLst>
        </pc:spChg>
        <pc:spChg chg="mod">
          <ac:chgData name="A Lamagna" userId="51ffa61b-81bf-4463-bdeb-7e3f3f1f8945" providerId="ADAL" clId="{E7E6A3DC-5665-E24A-AB7D-F3184E29F206}" dt="2023-11-07T17:44:45.631" v="16" actId="1076"/>
          <ac:spMkLst>
            <pc:docMk/>
            <pc:sldMk cId="160551390" sldId="640"/>
            <ac:spMk id="60" creationId="{00000000-0000-0000-0000-000000000000}"/>
          </ac:spMkLst>
        </pc:spChg>
        <pc:spChg chg="mod">
          <ac:chgData name="A Lamagna" userId="51ffa61b-81bf-4463-bdeb-7e3f3f1f8945" providerId="ADAL" clId="{E7E6A3DC-5665-E24A-AB7D-F3184E29F206}" dt="2023-11-07T17:44:45.631" v="16" actId="1076"/>
          <ac:spMkLst>
            <pc:docMk/>
            <pc:sldMk cId="160551390" sldId="640"/>
            <ac:spMk id="61" creationId="{00000000-0000-0000-0000-000000000000}"/>
          </ac:spMkLst>
        </pc:spChg>
        <pc:spChg chg="mod">
          <ac:chgData name="A Lamagna" userId="51ffa61b-81bf-4463-bdeb-7e3f3f1f8945" providerId="ADAL" clId="{E7E6A3DC-5665-E24A-AB7D-F3184E29F206}" dt="2023-11-07T17:44:45.631" v="16" actId="1076"/>
          <ac:spMkLst>
            <pc:docMk/>
            <pc:sldMk cId="160551390" sldId="640"/>
            <ac:spMk id="62" creationId="{00000000-0000-0000-0000-000000000000}"/>
          </ac:spMkLst>
        </pc:spChg>
        <pc:spChg chg="mod">
          <ac:chgData name="A Lamagna" userId="51ffa61b-81bf-4463-bdeb-7e3f3f1f8945" providerId="ADAL" clId="{E7E6A3DC-5665-E24A-AB7D-F3184E29F206}" dt="2023-11-07T17:44:45.631" v="16" actId="1076"/>
          <ac:spMkLst>
            <pc:docMk/>
            <pc:sldMk cId="160551390" sldId="640"/>
            <ac:spMk id="63" creationId="{00000000-0000-0000-0000-000000000000}"/>
          </ac:spMkLst>
        </pc:spChg>
        <pc:grpChg chg="mod">
          <ac:chgData name="A Lamagna" userId="51ffa61b-81bf-4463-bdeb-7e3f3f1f8945" providerId="ADAL" clId="{E7E6A3DC-5665-E24A-AB7D-F3184E29F206}" dt="2023-11-07T17:44:45.631" v="16" actId="1076"/>
          <ac:grpSpMkLst>
            <pc:docMk/>
            <pc:sldMk cId="160551390" sldId="640"/>
            <ac:grpSpMk id="32" creationId="{00000000-0000-0000-0000-000000000000}"/>
          </ac:grpSpMkLst>
        </pc:grpChg>
        <pc:grpChg chg="mod">
          <ac:chgData name="A Lamagna" userId="51ffa61b-81bf-4463-bdeb-7e3f3f1f8945" providerId="ADAL" clId="{E7E6A3DC-5665-E24A-AB7D-F3184E29F206}" dt="2023-11-07T17:44:45.631" v="16" actId="1076"/>
          <ac:grpSpMkLst>
            <pc:docMk/>
            <pc:sldMk cId="160551390" sldId="640"/>
            <ac:grpSpMk id="45" creationId="{00000000-0000-0000-0000-000000000000}"/>
          </ac:grpSpMkLst>
        </pc:grpChg>
        <pc:cxnChg chg="mod">
          <ac:chgData name="A Lamagna" userId="51ffa61b-81bf-4463-bdeb-7e3f3f1f8945" providerId="ADAL" clId="{E7E6A3DC-5665-E24A-AB7D-F3184E29F206}" dt="2023-11-07T17:44:45.631" v="16" actId="1076"/>
          <ac:cxnSpMkLst>
            <pc:docMk/>
            <pc:sldMk cId="160551390" sldId="640"/>
            <ac:cxnSpMk id="7" creationId="{00000000-0000-0000-0000-000000000000}"/>
          </ac:cxnSpMkLst>
        </pc:cxnChg>
        <pc:cxnChg chg="mod">
          <ac:chgData name="A Lamagna" userId="51ffa61b-81bf-4463-bdeb-7e3f3f1f8945" providerId="ADAL" clId="{E7E6A3DC-5665-E24A-AB7D-F3184E29F206}" dt="2023-11-07T17:44:45.631" v="16" actId="1076"/>
          <ac:cxnSpMkLst>
            <pc:docMk/>
            <pc:sldMk cId="160551390" sldId="640"/>
            <ac:cxnSpMk id="9" creationId="{00000000-0000-0000-0000-000000000000}"/>
          </ac:cxnSpMkLst>
        </pc:cxnChg>
        <pc:cxnChg chg="mod">
          <ac:chgData name="A Lamagna" userId="51ffa61b-81bf-4463-bdeb-7e3f3f1f8945" providerId="ADAL" clId="{E7E6A3DC-5665-E24A-AB7D-F3184E29F206}" dt="2023-11-07T17:44:45.631" v="16" actId="1076"/>
          <ac:cxnSpMkLst>
            <pc:docMk/>
            <pc:sldMk cId="160551390" sldId="640"/>
            <ac:cxnSpMk id="18" creationId="{00000000-0000-0000-0000-000000000000}"/>
          </ac:cxnSpMkLst>
        </pc:cxnChg>
        <pc:cxnChg chg="mod">
          <ac:chgData name="A Lamagna" userId="51ffa61b-81bf-4463-bdeb-7e3f3f1f8945" providerId="ADAL" clId="{E7E6A3DC-5665-E24A-AB7D-F3184E29F206}" dt="2023-11-07T17:44:45.631" v="16" actId="1076"/>
          <ac:cxnSpMkLst>
            <pc:docMk/>
            <pc:sldMk cId="160551390" sldId="640"/>
            <ac:cxnSpMk id="20" creationId="{00000000-0000-0000-0000-000000000000}"/>
          </ac:cxnSpMkLst>
        </pc:cxnChg>
        <pc:cxnChg chg="mod">
          <ac:chgData name="A Lamagna" userId="51ffa61b-81bf-4463-bdeb-7e3f3f1f8945" providerId="ADAL" clId="{E7E6A3DC-5665-E24A-AB7D-F3184E29F206}" dt="2023-11-07T17:44:45.631" v="16" actId="1076"/>
          <ac:cxnSpMkLst>
            <pc:docMk/>
            <pc:sldMk cId="160551390" sldId="640"/>
            <ac:cxnSpMk id="23" creationId="{00000000-0000-0000-0000-000000000000}"/>
          </ac:cxnSpMkLst>
        </pc:cxnChg>
        <pc:cxnChg chg="mod">
          <ac:chgData name="A Lamagna" userId="51ffa61b-81bf-4463-bdeb-7e3f3f1f8945" providerId="ADAL" clId="{E7E6A3DC-5665-E24A-AB7D-F3184E29F206}" dt="2023-11-07T17:44:45.631" v="16" actId="1076"/>
          <ac:cxnSpMkLst>
            <pc:docMk/>
            <pc:sldMk cId="160551390" sldId="640"/>
            <ac:cxnSpMk id="39" creationId="{00000000-0000-0000-0000-000000000000}"/>
          </ac:cxnSpMkLst>
        </pc:cxnChg>
        <pc:cxnChg chg="mod">
          <ac:chgData name="A Lamagna" userId="51ffa61b-81bf-4463-bdeb-7e3f3f1f8945" providerId="ADAL" clId="{E7E6A3DC-5665-E24A-AB7D-F3184E29F206}" dt="2023-11-07T17:44:45.631" v="16" actId="1076"/>
          <ac:cxnSpMkLst>
            <pc:docMk/>
            <pc:sldMk cId="160551390" sldId="640"/>
            <ac:cxnSpMk id="41" creationId="{00000000-0000-0000-0000-000000000000}"/>
          </ac:cxnSpMkLst>
        </pc:cxnChg>
      </pc:sldChg>
      <pc:sldChg chg="modSp mod">
        <pc:chgData name="A Lamagna" userId="51ffa61b-81bf-4463-bdeb-7e3f3f1f8945" providerId="ADAL" clId="{E7E6A3DC-5665-E24A-AB7D-F3184E29F206}" dt="2023-11-07T17:45:44.382" v="23" actId="14100"/>
        <pc:sldMkLst>
          <pc:docMk/>
          <pc:sldMk cId="4215843253" sldId="642"/>
        </pc:sldMkLst>
        <pc:spChg chg="mod">
          <ac:chgData name="A Lamagna" userId="51ffa61b-81bf-4463-bdeb-7e3f3f1f8945" providerId="ADAL" clId="{E7E6A3DC-5665-E24A-AB7D-F3184E29F206}" dt="2023-11-07T17:45:33.845" v="20" actId="14100"/>
          <ac:spMkLst>
            <pc:docMk/>
            <pc:sldMk cId="4215843253" sldId="642"/>
            <ac:spMk id="13" creationId="{00000000-0000-0000-0000-000000000000}"/>
          </ac:spMkLst>
        </pc:spChg>
        <pc:spChg chg="mod">
          <ac:chgData name="A Lamagna" userId="51ffa61b-81bf-4463-bdeb-7e3f3f1f8945" providerId="ADAL" clId="{E7E6A3DC-5665-E24A-AB7D-F3184E29F206}" dt="2023-11-07T17:45:42.397" v="22" actId="14100"/>
          <ac:spMkLst>
            <pc:docMk/>
            <pc:sldMk cId="4215843253" sldId="642"/>
            <ac:spMk id="15" creationId="{00000000-0000-0000-0000-000000000000}"/>
          </ac:spMkLst>
        </pc:spChg>
        <pc:spChg chg="mod">
          <ac:chgData name="A Lamagna" userId="51ffa61b-81bf-4463-bdeb-7e3f3f1f8945" providerId="ADAL" clId="{E7E6A3DC-5665-E24A-AB7D-F3184E29F206}" dt="2023-11-07T17:45:44.382" v="23" actId="14100"/>
          <ac:spMkLst>
            <pc:docMk/>
            <pc:sldMk cId="4215843253" sldId="642"/>
            <ac:spMk id="1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07/11/2023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07/11/2023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F00D4E3A-76D7-C10F-BC00-CA403FA46644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12192000" cy="599126"/>
          </a:xfrm>
          <a:prstGeom prst="rect">
            <a:avLst/>
          </a:prstGeom>
          <a:solidFill>
            <a:srgbClr val="17375E"/>
          </a:solidFill>
        </p:spPr>
        <p:txBody>
          <a:bodyPr vert="horz" lIns="0" tIns="0" rIns="14400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rgbClr val="1737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177B05-5D28-4021-9BD2-A7A72850B659}" type="slidenum">
              <a:rPr lang="en-GB" sz="1600" i="0" smtClean="0">
                <a:solidFill>
                  <a:schemeClr val="bg1"/>
                </a:solidFill>
              </a:rPr>
              <a:pPr algn="r"/>
              <a:t>‹#›</a:t>
            </a:fld>
            <a:endParaRPr lang="en-GB" sz="1600" i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rgbClr val="2330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693991"/>
            <a:ext cx="10363200" cy="1470025"/>
          </a:xfrm>
        </p:spPr>
        <p:txBody>
          <a:bodyPr>
            <a:noAutofit/>
          </a:bodyPr>
          <a:lstStyle>
            <a:lvl1pPr>
              <a:defRPr sz="45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39229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07/11/2023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60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2" Type="http://schemas.openxmlformats.org/officeDocument/2006/relationships/image" Target="../media/image43.png"/><Relationship Id="rId16" Type="http://schemas.openxmlformats.org/officeDocument/2006/relationships/image" Target="../media/image5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5" Type="http://schemas.openxmlformats.org/officeDocument/2006/relationships/image" Target="../media/image5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Relationship Id="rId14" Type="http://schemas.openxmlformats.org/officeDocument/2006/relationships/image" Target="../media/image5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58.png"/><Relationship Id="rId7" Type="http://schemas.openxmlformats.org/officeDocument/2006/relationships/image" Target="../media/image60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59.png"/><Relationship Id="rId4" Type="http://schemas.openxmlformats.org/officeDocument/2006/relationships/oleObject" Target="../embeddings/oleObject2.bin"/><Relationship Id="rId9" Type="http://schemas.openxmlformats.org/officeDocument/2006/relationships/image" Target="../media/image6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0.png"/><Relationship Id="rId3" Type="http://schemas.openxmlformats.org/officeDocument/2006/relationships/image" Target="../media/image64.png"/><Relationship Id="rId7" Type="http://schemas.openxmlformats.org/officeDocument/2006/relationships/image" Target="../media/image460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11" Type="http://schemas.openxmlformats.org/officeDocument/2006/relationships/image" Target="../media/image68.png"/><Relationship Id="rId5" Type="http://schemas.openxmlformats.org/officeDocument/2006/relationships/image" Target="../media/image66.png"/><Relationship Id="rId10" Type="http://schemas.openxmlformats.org/officeDocument/2006/relationships/image" Target="../media/image490.png"/><Relationship Id="rId4" Type="http://schemas.openxmlformats.org/officeDocument/2006/relationships/image" Target="../media/image65.png"/><Relationship Id="rId9" Type="http://schemas.openxmlformats.org/officeDocument/2006/relationships/image" Target="../media/image48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image" Target="../media/image88.png"/><Relationship Id="rId18" Type="http://schemas.openxmlformats.org/officeDocument/2006/relationships/image" Target="../media/image93.png"/><Relationship Id="rId3" Type="http://schemas.openxmlformats.org/officeDocument/2006/relationships/image" Target="../media/image78.png"/><Relationship Id="rId7" Type="http://schemas.openxmlformats.org/officeDocument/2006/relationships/image" Target="../media/image82.png"/><Relationship Id="rId12" Type="http://schemas.openxmlformats.org/officeDocument/2006/relationships/image" Target="../media/image87.png"/><Relationship Id="rId17" Type="http://schemas.openxmlformats.org/officeDocument/2006/relationships/image" Target="../media/image92.png"/><Relationship Id="rId2" Type="http://schemas.openxmlformats.org/officeDocument/2006/relationships/image" Target="../media/image77.png"/><Relationship Id="rId16" Type="http://schemas.openxmlformats.org/officeDocument/2006/relationships/image" Target="../media/image9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1.png"/><Relationship Id="rId11" Type="http://schemas.openxmlformats.org/officeDocument/2006/relationships/image" Target="../media/image86.png"/><Relationship Id="rId5" Type="http://schemas.openxmlformats.org/officeDocument/2006/relationships/image" Target="../media/image80.png"/><Relationship Id="rId15" Type="http://schemas.openxmlformats.org/officeDocument/2006/relationships/image" Target="../media/image90.png"/><Relationship Id="rId10" Type="http://schemas.openxmlformats.org/officeDocument/2006/relationships/image" Target="../media/image85.png"/><Relationship Id="rId4" Type="http://schemas.openxmlformats.org/officeDocument/2006/relationships/image" Target="../media/image79.png"/><Relationship Id="rId9" Type="http://schemas.openxmlformats.org/officeDocument/2006/relationships/image" Target="../media/image84.png"/><Relationship Id="rId14" Type="http://schemas.openxmlformats.org/officeDocument/2006/relationships/image" Target="../media/image8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105.png"/><Relationship Id="rId3" Type="http://schemas.openxmlformats.org/officeDocument/2006/relationships/image" Target="../media/image95.png"/><Relationship Id="rId7" Type="http://schemas.openxmlformats.org/officeDocument/2006/relationships/image" Target="../media/image99.png"/><Relationship Id="rId12" Type="http://schemas.openxmlformats.org/officeDocument/2006/relationships/image" Target="../media/image104.png"/><Relationship Id="rId2" Type="http://schemas.openxmlformats.org/officeDocument/2006/relationships/image" Target="../media/image94.png"/><Relationship Id="rId16" Type="http://schemas.openxmlformats.org/officeDocument/2006/relationships/image" Target="../media/image10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8.png"/><Relationship Id="rId11" Type="http://schemas.openxmlformats.org/officeDocument/2006/relationships/image" Target="../media/image103.png"/><Relationship Id="rId5" Type="http://schemas.openxmlformats.org/officeDocument/2006/relationships/image" Target="../media/image97.png"/><Relationship Id="rId15" Type="http://schemas.openxmlformats.org/officeDocument/2006/relationships/image" Target="../media/image107.png"/><Relationship Id="rId10" Type="http://schemas.openxmlformats.org/officeDocument/2006/relationships/image" Target="../media/image102.png"/><Relationship Id="rId4" Type="http://schemas.openxmlformats.org/officeDocument/2006/relationships/image" Target="../media/image96.png"/><Relationship Id="rId9" Type="http://schemas.openxmlformats.org/officeDocument/2006/relationships/image" Target="../media/image101.png"/><Relationship Id="rId14" Type="http://schemas.openxmlformats.org/officeDocument/2006/relationships/image" Target="../media/image10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2.png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png"/><Relationship Id="rId3" Type="http://schemas.openxmlformats.org/officeDocument/2006/relationships/image" Target="../media/image118.png"/><Relationship Id="rId7" Type="http://schemas.openxmlformats.org/officeDocument/2006/relationships/image" Target="../media/image122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1.png"/><Relationship Id="rId5" Type="http://schemas.openxmlformats.org/officeDocument/2006/relationships/image" Target="../media/image120.png"/><Relationship Id="rId4" Type="http://schemas.openxmlformats.org/officeDocument/2006/relationships/image" Target="../media/image1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2.png"/><Relationship Id="rId4" Type="http://schemas.openxmlformats.org/officeDocument/2006/relationships/image" Target="../media/image1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6.png"/><Relationship Id="rId4" Type="http://schemas.openxmlformats.org/officeDocument/2006/relationships/image" Target="../media/image1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5.png"/><Relationship Id="rId5" Type="http://schemas.openxmlformats.org/officeDocument/2006/relationships/image" Target="../media/image144.png"/><Relationship Id="rId4" Type="http://schemas.openxmlformats.org/officeDocument/2006/relationships/image" Target="../media/image14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png"/><Relationship Id="rId13" Type="http://schemas.openxmlformats.org/officeDocument/2006/relationships/image" Target="../media/image157.png"/><Relationship Id="rId18" Type="http://schemas.openxmlformats.org/officeDocument/2006/relationships/image" Target="../media/image162.png"/><Relationship Id="rId3" Type="http://schemas.openxmlformats.org/officeDocument/2006/relationships/image" Target="../media/image147.png"/><Relationship Id="rId7" Type="http://schemas.openxmlformats.org/officeDocument/2006/relationships/image" Target="../media/image151.png"/><Relationship Id="rId12" Type="http://schemas.openxmlformats.org/officeDocument/2006/relationships/image" Target="../media/image156.png"/><Relationship Id="rId17" Type="http://schemas.openxmlformats.org/officeDocument/2006/relationships/image" Target="../media/image161.png"/><Relationship Id="rId2" Type="http://schemas.openxmlformats.org/officeDocument/2006/relationships/image" Target="../media/image146.png"/><Relationship Id="rId16" Type="http://schemas.openxmlformats.org/officeDocument/2006/relationships/image" Target="../media/image1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0.png"/><Relationship Id="rId11" Type="http://schemas.openxmlformats.org/officeDocument/2006/relationships/image" Target="../media/image155.png"/><Relationship Id="rId5" Type="http://schemas.openxmlformats.org/officeDocument/2006/relationships/image" Target="../media/image149.png"/><Relationship Id="rId15" Type="http://schemas.openxmlformats.org/officeDocument/2006/relationships/image" Target="../media/image159.png"/><Relationship Id="rId10" Type="http://schemas.openxmlformats.org/officeDocument/2006/relationships/image" Target="../media/image154.png"/><Relationship Id="rId4" Type="http://schemas.openxmlformats.org/officeDocument/2006/relationships/image" Target="../media/image148.png"/><Relationship Id="rId9" Type="http://schemas.openxmlformats.org/officeDocument/2006/relationships/image" Target="../media/image153.png"/><Relationship Id="rId14" Type="http://schemas.openxmlformats.org/officeDocument/2006/relationships/image" Target="../media/image14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png"/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7.png"/><Relationship Id="rId5" Type="http://schemas.openxmlformats.org/officeDocument/2006/relationships/image" Target="../media/image166.png"/><Relationship Id="rId4" Type="http://schemas.openxmlformats.org/officeDocument/2006/relationships/image" Target="../media/image16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8.png"/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4.png"/><Relationship Id="rId3" Type="http://schemas.openxmlformats.org/officeDocument/2006/relationships/image" Target="../media/image179.png"/><Relationship Id="rId7" Type="http://schemas.openxmlformats.org/officeDocument/2006/relationships/image" Target="../media/image183.png"/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2.png"/><Relationship Id="rId11" Type="http://schemas.openxmlformats.org/officeDocument/2006/relationships/image" Target="../media/image187.png"/><Relationship Id="rId5" Type="http://schemas.openxmlformats.org/officeDocument/2006/relationships/image" Target="../media/image181.png"/><Relationship Id="rId10" Type="http://schemas.openxmlformats.org/officeDocument/2006/relationships/image" Target="../media/image186.png"/><Relationship Id="rId4" Type="http://schemas.openxmlformats.org/officeDocument/2006/relationships/image" Target="../media/image180.png"/><Relationship Id="rId9" Type="http://schemas.openxmlformats.org/officeDocument/2006/relationships/image" Target="../media/image18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8.png"/><Relationship Id="rId2" Type="http://schemas.openxmlformats.org/officeDocument/2006/relationships/image" Target="../media/image176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2.png"/><Relationship Id="rId4" Type="http://schemas.openxmlformats.org/officeDocument/2006/relationships/image" Target="../media/image19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4.png"/><Relationship Id="rId2" Type="http://schemas.openxmlformats.org/officeDocument/2006/relationships/image" Target="../media/image19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5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3.png"/><Relationship Id="rId13" Type="http://schemas.openxmlformats.org/officeDocument/2006/relationships/image" Target="../media/image208.png"/><Relationship Id="rId3" Type="http://schemas.openxmlformats.org/officeDocument/2006/relationships/image" Target="../media/image198.png"/><Relationship Id="rId7" Type="http://schemas.openxmlformats.org/officeDocument/2006/relationships/image" Target="../media/image202.png"/><Relationship Id="rId12" Type="http://schemas.openxmlformats.org/officeDocument/2006/relationships/image" Target="../media/image207.png"/><Relationship Id="rId17" Type="http://schemas.openxmlformats.org/officeDocument/2006/relationships/image" Target="../media/image212.png"/><Relationship Id="rId2" Type="http://schemas.openxmlformats.org/officeDocument/2006/relationships/image" Target="../media/image197.png"/><Relationship Id="rId16" Type="http://schemas.openxmlformats.org/officeDocument/2006/relationships/image" Target="../media/image2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1.png"/><Relationship Id="rId11" Type="http://schemas.openxmlformats.org/officeDocument/2006/relationships/image" Target="../media/image206.png"/><Relationship Id="rId5" Type="http://schemas.openxmlformats.org/officeDocument/2006/relationships/image" Target="../media/image200.png"/><Relationship Id="rId15" Type="http://schemas.openxmlformats.org/officeDocument/2006/relationships/image" Target="../media/image210.png"/><Relationship Id="rId10" Type="http://schemas.openxmlformats.org/officeDocument/2006/relationships/image" Target="../media/image205.png"/><Relationship Id="rId4" Type="http://schemas.openxmlformats.org/officeDocument/2006/relationships/image" Target="../media/image199.png"/><Relationship Id="rId9" Type="http://schemas.openxmlformats.org/officeDocument/2006/relationships/image" Target="../media/image204.png"/><Relationship Id="rId14" Type="http://schemas.openxmlformats.org/officeDocument/2006/relationships/image" Target="../media/image20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4.png"/><Relationship Id="rId7" Type="http://schemas.openxmlformats.org/officeDocument/2006/relationships/image" Target="../media/image218.png"/><Relationship Id="rId2" Type="http://schemas.openxmlformats.org/officeDocument/2006/relationships/image" Target="../media/image2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7.png"/><Relationship Id="rId5" Type="http://schemas.openxmlformats.org/officeDocument/2006/relationships/image" Target="../media/image216.png"/><Relationship Id="rId4" Type="http://schemas.openxmlformats.org/officeDocument/2006/relationships/image" Target="../media/image21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7" Type="http://schemas.openxmlformats.org/officeDocument/2006/relationships/image" Target="../media/image224.png"/><Relationship Id="rId12" Type="http://schemas.openxmlformats.org/officeDocument/2006/relationships/image" Target="../media/image225.png"/><Relationship Id="rId2" Type="http://schemas.openxmlformats.org/officeDocument/2006/relationships/image" Target="../media/image2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3.png"/><Relationship Id="rId11" Type="http://schemas.openxmlformats.org/officeDocument/2006/relationships/image" Target="../media/image1640.png"/><Relationship Id="rId5" Type="http://schemas.openxmlformats.org/officeDocument/2006/relationships/image" Target="../media/image222.png"/><Relationship Id="rId4" Type="http://schemas.openxmlformats.org/officeDocument/2006/relationships/image" Target="../media/image221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2.png"/><Relationship Id="rId3" Type="http://schemas.openxmlformats.org/officeDocument/2006/relationships/image" Target="../media/image227.png"/><Relationship Id="rId7" Type="http://schemas.openxmlformats.org/officeDocument/2006/relationships/image" Target="../media/image231.png"/><Relationship Id="rId2" Type="http://schemas.openxmlformats.org/officeDocument/2006/relationships/image" Target="../media/image2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0.png"/><Relationship Id="rId5" Type="http://schemas.openxmlformats.org/officeDocument/2006/relationships/image" Target="../media/image229.png"/><Relationship Id="rId10" Type="http://schemas.openxmlformats.org/officeDocument/2006/relationships/image" Target="../media/image234.png"/><Relationship Id="rId4" Type="http://schemas.openxmlformats.org/officeDocument/2006/relationships/image" Target="../media/image228.png"/><Relationship Id="rId9" Type="http://schemas.openxmlformats.org/officeDocument/2006/relationships/image" Target="../media/image233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1.png"/><Relationship Id="rId3" Type="http://schemas.openxmlformats.org/officeDocument/2006/relationships/image" Target="../media/image236.png"/><Relationship Id="rId7" Type="http://schemas.openxmlformats.org/officeDocument/2006/relationships/image" Target="../media/image240.png"/><Relationship Id="rId12" Type="http://schemas.openxmlformats.org/officeDocument/2006/relationships/image" Target="../media/image245.png"/><Relationship Id="rId2" Type="http://schemas.openxmlformats.org/officeDocument/2006/relationships/image" Target="../media/image2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9.png"/><Relationship Id="rId11" Type="http://schemas.openxmlformats.org/officeDocument/2006/relationships/image" Target="../media/image244.png"/><Relationship Id="rId5" Type="http://schemas.openxmlformats.org/officeDocument/2006/relationships/image" Target="../media/image238.png"/><Relationship Id="rId10" Type="http://schemas.openxmlformats.org/officeDocument/2006/relationships/image" Target="../media/image243.png"/><Relationship Id="rId4" Type="http://schemas.openxmlformats.org/officeDocument/2006/relationships/image" Target="../media/image237.png"/><Relationship Id="rId9" Type="http://schemas.openxmlformats.org/officeDocument/2006/relationships/image" Target="../media/image24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6.png"/><Relationship Id="rId2" Type="http://schemas.openxmlformats.org/officeDocument/2006/relationships/image" Target="../media/image19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9.png"/><Relationship Id="rId2" Type="http://schemas.openxmlformats.org/officeDocument/2006/relationships/image" Target="../media/image24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2.png"/><Relationship Id="rId7" Type="http://schemas.openxmlformats.org/officeDocument/2006/relationships/image" Target="../media/image256.png"/><Relationship Id="rId2" Type="http://schemas.openxmlformats.org/officeDocument/2006/relationships/image" Target="../media/image25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5.png"/><Relationship Id="rId5" Type="http://schemas.openxmlformats.org/officeDocument/2006/relationships/image" Target="../media/image254.png"/><Relationship Id="rId4" Type="http://schemas.openxmlformats.org/officeDocument/2006/relationships/image" Target="../media/image25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8.png"/><Relationship Id="rId2" Type="http://schemas.openxmlformats.org/officeDocument/2006/relationships/image" Target="../media/image25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image" Target="../media/image261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4.png"/><Relationship Id="rId2" Type="http://schemas.openxmlformats.org/officeDocument/2006/relationships/image" Target="../media/image262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6.png"/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8.png"/><Relationship Id="rId2" Type="http://schemas.openxmlformats.org/officeDocument/2006/relationships/image" Target="../media/image265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5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image" Target="../media/image267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1.png"/><Relationship Id="rId2" Type="http://schemas.openxmlformats.org/officeDocument/2006/relationships/image" Target="../media/image26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3.png"/><Relationship Id="rId4" Type="http://schemas.openxmlformats.org/officeDocument/2006/relationships/image" Target="../media/image272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0.png"/><Relationship Id="rId13" Type="http://schemas.openxmlformats.org/officeDocument/2006/relationships/image" Target="../media/image285.png"/><Relationship Id="rId18" Type="http://schemas.openxmlformats.org/officeDocument/2006/relationships/image" Target="../media/image290.png"/><Relationship Id="rId3" Type="http://schemas.openxmlformats.org/officeDocument/2006/relationships/image" Target="../media/image275.png"/><Relationship Id="rId7" Type="http://schemas.openxmlformats.org/officeDocument/2006/relationships/image" Target="../media/image279.png"/><Relationship Id="rId12" Type="http://schemas.openxmlformats.org/officeDocument/2006/relationships/image" Target="../media/image284.png"/><Relationship Id="rId17" Type="http://schemas.openxmlformats.org/officeDocument/2006/relationships/image" Target="../media/image289.png"/><Relationship Id="rId2" Type="http://schemas.openxmlformats.org/officeDocument/2006/relationships/image" Target="../media/image274.png"/><Relationship Id="rId16" Type="http://schemas.openxmlformats.org/officeDocument/2006/relationships/image" Target="../media/image28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8.png"/><Relationship Id="rId11" Type="http://schemas.openxmlformats.org/officeDocument/2006/relationships/image" Target="../media/image283.png"/><Relationship Id="rId5" Type="http://schemas.openxmlformats.org/officeDocument/2006/relationships/image" Target="../media/image277.png"/><Relationship Id="rId15" Type="http://schemas.openxmlformats.org/officeDocument/2006/relationships/image" Target="../media/image287.png"/><Relationship Id="rId10" Type="http://schemas.openxmlformats.org/officeDocument/2006/relationships/image" Target="../media/image282.png"/><Relationship Id="rId4" Type="http://schemas.openxmlformats.org/officeDocument/2006/relationships/image" Target="../media/image276.png"/><Relationship Id="rId9" Type="http://schemas.openxmlformats.org/officeDocument/2006/relationships/image" Target="../media/image281.png"/><Relationship Id="rId14" Type="http://schemas.openxmlformats.org/officeDocument/2006/relationships/image" Target="../media/image286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0.png"/><Relationship Id="rId13" Type="http://schemas.openxmlformats.org/officeDocument/2006/relationships/image" Target="../media/image296.png"/><Relationship Id="rId18" Type="http://schemas.openxmlformats.org/officeDocument/2006/relationships/image" Target="../media/image301.png"/><Relationship Id="rId3" Type="http://schemas.openxmlformats.org/officeDocument/2006/relationships/image" Target="../media/image275.png"/><Relationship Id="rId7" Type="http://schemas.openxmlformats.org/officeDocument/2006/relationships/image" Target="../media/image279.png"/><Relationship Id="rId12" Type="http://schemas.openxmlformats.org/officeDocument/2006/relationships/image" Target="../media/image295.png"/><Relationship Id="rId17" Type="http://schemas.openxmlformats.org/officeDocument/2006/relationships/image" Target="../media/image300.png"/><Relationship Id="rId2" Type="http://schemas.openxmlformats.org/officeDocument/2006/relationships/image" Target="../media/image291.png"/><Relationship Id="rId16" Type="http://schemas.openxmlformats.org/officeDocument/2006/relationships/image" Target="../media/image29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8.png"/><Relationship Id="rId11" Type="http://schemas.openxmlformats.org/officeDocument/2006/relationships/image" Target="../media/image294.png"/><Relationship Id="rId5" Type="http://schemas.openxmlformats.org/officeDocument/2006/relationships/image" Target="../media/image277.png"/><Relationship Id="rId15" Type="http://schemas.openxmlformats.org/officeDocument/2006/relationships/image" Target="../media/image298.png"/><Relationship Id="rId10" Type="http://schemas.openxmlformats.org/officeDocument/2006/relationships/image" Target="../media/image293.png"/><Relationship Id="rId19" Type="http://schemas.openxmlformats.org/officeDocument/2006/relationships/image" Target="../media/image302.png"/><Relationship Id="rId4" Type="http://schemas.openxmlformats.org/officeDocument/2006/relationships/image" Target="../media/image276.png"/><Relationship Id="rId9" Type="http://schemas.openxmlformats.org/officeDocument/2006/relationships/image" Target="../media/image292.png"/><Relationship Id="rId14" Type="http://schemas.openxmlformats.org/officeDocument/2006/relationships/image" Target="../media/image297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3.png"/><Relationship Id="rId2" Type="http://schemas.openxmlformats.org/officeDocument/2006/relationships/image" Target="../media/image26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5.png"/><Relationship Id="rId4" Type="http://schemas.openxmlformats.org/officeDocument/2006/relationships/image" Target="../media/image304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7.png"/><Relationship Id="rId2" Type="http://schemas.openxmlformats.org/officeDocument/2006/relationships/image" Target="../media/image30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8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9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3.png"/><Relationship Id="rId2" Type="http://schemas.openxmlformats.org/officeDocument/2006/relationships/image" Target="../media/image3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6.png"/><Relationship Id="rId5" Type="http://schemas.openxmlformats.org/officeDocument/2006/relationships/image" Target="../media/image315.png"/><Relationship Id="rId4" Type="http://schemas.openxmlformats.org/officeDocument/2006/relationships/image" Target="../media/image314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51584" y="1772816"/>
            <a:ext cx="6840760" cy="2279456"/>
          </a:xfrm>
        </p:spPr>
        <p:txBody>
          <a:bodyPr/>
          <a:lstStyle/>
          <a:p>
            <a:r>
              <a:rPr lang="en-GB" sz="6000" dirty="0"/>
              <a:t>Y1 Chapter 9</a:t>
            </a:r>
            <a:br>
              <a:rPr lang="en-GB" sz="6000" b="1" dirty="0"/>
            </a:br>
            <a:r>
              <a:rPr lang="en-GB" sz="6000" b="1" dirty="0"/>
              <a:t>Trigonometric Ratios</a:t>
            </a:r>
            <a:endParaRPr lang="en-GB" sz="6000" dirty="0"/>
          </a:p>
        </p:txBody>
      </p:sp>
    </p:spTree>
    <p:extLst>
      <p:ext uri="{BB962C8B-B14F-4D97-AF65-F5344CB8AC3E}">
        <p14:creationId xmlns:p14="http://schemas.microsoft.com/office/powerpoint/2010/main" val="3309097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Starters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84D4F45-C449-98D6-58E9-DD6271F773CB}"/>
                  </a:ext>
                </a:extLst>
              </p:cNvPr>
              <p:cNvSpPr txBox="1"/>
              <p:nvPr/>
            </p:nvSpPr>
            <p:spPr>
              <a:xfrm>
                <a:off x="2208000" y="1196752"/>
                <a:ext cx="7776000" cy="46618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rabicParenR"/>
                </a:pPr>
                <a:r>
                  <a:rPr lang="en-GB" dirty="0"/>
                  <a:t>Use trigonometry to find the lengths of the marked sides.</a:t>
                </a:r>
              </a:p>
              <a:p>
                <a:pPr marL="342900" indent="-342900">
                  <a:buAutoNum type="arabicParenR"/>
                </a:pPr>
                <a:endParaRPr lang="en-GB" dirty="0"/>
              </a:p>
              <a:p>
                <a:pPr marL="342900" indent="-342900">
                  <a:buAutoNum type="arabicParenR"/>
                </a:pPr>
                <a:endParaRPr lang="en-GB" dirty="0"/>
              </a:p>
              <a:p>
                <a:pPr marL="342900" indent="-342900">
                  <a:buAutoNum type="arabicParenR"/>
                </a:pPr>
                <a:endParaRPr lang="en-GB" dirty="0"/>
              </a:p>
              <a:p>
                <a:pPr marL="342900" indent="-342900">
                  <a:buAutoNum type="arabicParenR"/>
                </a:pPr>
                <a:endParaRPr lang="en-GB" dirty="0"/>
              </a:p>
              <a:p>
                <a:pPr marL="342900" indent="-342900">
                  <a:buAutoNum type="arabicParenR"/>
                </a:pPr>
                <a:r>
                  <a:rPr lang="en-GB" dirty="0"/>
                  <a:t>Find the sizes of the angles marked.</a:t>
                </a:r>
              </a:p>
              <a:p>
                <a:pPr marL="342900" indent="-342900">
                  <a:buAutoNum type="arabicParenR"/>
                </a:pPr>
                <a:endParaRPr lang="en-GB" dirty="0"/>
              </a:p>
              <a:p>
                <a:pPr marL="342900" indent="-342900">
                  <a:buAutoNum type="arabicParenR"/>
                </a:pPr>
                <a:endParaRPr lang="en-GB" dirty="0"/>
              </a:p>
              <a:p>
                <a:pPr marL="342900" indent="-342900">
                  <a:buAutoNum type="arabicParenR"/>
                </a:pPr>
                <a:endParaRPr lang="en-GB" dirty="0"/>
              </a:p>
              <a:p>
                <a:pPr marL="342900" indent="-342900">
                  <a:buAutoNum type="arabicParenR"/>
                </a:pPr>
                <a:endParaRPr lang="en-GB" dirty="0"/>
              </a:p>
              <a:p>
                <a:pPr marL="342900" indent="-342900">
                  <a:buAutoNum type="arabicParenR"/>
                </a:pPr>
                <a:endParaRPr lang="en-GB" dirty="0"/>
              </a:p>
              <a:p>
                <a:pPr marL="342900" indent="-342900">
                  <a:buAutoNum type="arabicParenR"/>
                </a:pP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GB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GB" i="1">
                        <a:latin typeface="Cambria Math"/>
                      </a:rPr>
                      <m:t>+3</m:t>
                    </m:r>
                    <m:r>
                      <a:rPr lang="en-GB" i="1">
                        <a:latin typeface="Cambria Math"/>
                      </a:rPr>
                      <m:t>𝑥</m:t>
                    </m:r>
                  </m:oMath>
                </a14:m>
                <a:r>
                  <a:rPr lang="en-GB" dirty="0"/>
                  <a:t>. Sketch the graphs of:</a:t>
                </a:r>
              </a:p>
              <a:p>
                <a:pPr marL="800100" lvl="1" indent="-342900">
                  <a:buFont typeface="+mj-lt"/>
                  <a:buAutoNum type="alphaLcParenR"/>
                </a:pP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/>
                      </a:rPr>
                      <m:t>𝑦</m:t>
                    </m:r>
                    <m:r>
                      <a:rPr lang="en-GB" i="1">
                        <a:latin typeface="Cambria Math"/>
                      </a:rPr>
                      <m:t>=</m:t>
                    </m:r>
                    <m:r>
                      <a:rPr lang="en-GB" i="1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/>
                          </a:rPr>
                          <m:t>𝑥</m:t>
                        </m:r>
                      </m:e>
                    </m:d>
                  </m:oMath>
                </a14:m>
                <a:endParaRPr lang="en-GB" dirty="0"/>
              </a:p>
              <a:p>
                <a:pPr marL="800100" lvl="1" indent="-342900">
                  <a:buFont typeface="+mj-lt"/>
                  <a:buAutoNum type="alphaLcParenR"/>
                </a:pP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/>
                      </a:rPr>
                      <m:t>𝑦</m:t>
                    </m:r>
                    <m:r>
                      <a:rPr lang="en-GB" i="1">
                        <a:latin typeface="Cambria Math"/>
                      </a:rPr>
                      <m:t>=</m:t>
                    </m:r>
                    <m:r>
                      <a:rPr lang="en-GB" i="1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/>
                          </a:rPr>
                          <m:t>𝑥</m:t>
                        </m:r>
                        <m:r>
                          <a:rPr lang="en-GB" i="1">
                            <a:latin typeface="Cambria Math"/>
                          </a:rPr>
                          <m:t>+2</m:t>
                        </m:r>
                      </m:e>
                    </m:d>
                  </m:oMath>
                </a14:m>
                <a:endParaRPr lang="en-GB" dirty="0"/>
              </a:p>
              <a:p>
                <a:pPr marL="800100" lvl="1" indent="-342900">
                  <a:buFont typeface="+mj-lt"/>
                  <a:buAutoNum type="alphaLcParenR"/>
                </a:pP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/>
                      </a:rPr>
                      <m:t>𝑦</m:t>
                    </m:r>
                    <m:r>
                      <a:rPr lang="en-GB" i="1">
                        <a:latin typeface="Cambria Math"/>
                      </a:rPr>
                      <m:t>=</m:t>
                    </m:r>
                    <m:r>
                      <a:rPr lang="en-GB" i="1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GB" i="1">
                        <a:latin typeface="Cambria Math"/>
                      </a:rPr>
                      <m:t>−3</m:t>
                    </m:r>
                  </m:oMath>
                </a14:m>
                <a:endParaRPr lang="en-GB" dirty="0"/>
              </a:p>
              <a:p>
                <a:pPr marL="800100" lvl="1" indent="-342900">
                  <a:buFont typeface="+mj-lt"/>
                  <a:buAutoNum type="alphaLcParenR"/>
                </a:pP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/>
                      </a:rPr>
                      <m:t>𝑦</m:t>
                    </m:r>
                    <m:r>
                      <a:rPr lang="en-GB" i="1">
                        <a:latin typeface="Cambria Math"/>
                      </a:rPr>
                      <m:t>=</m:t>
                    </m:r>
                    <m:r>
                      <a:rPr lang="en-GB" i="1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i="1"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GB" i="1">
                                <a:latin typeface="Cambria Math"/>
                              </a:rPr>
                              <m:t>2</m:t>
                            </m:r>
                          </m:den>
                        </m:f>
                        <m:r>
                          <a:rPr lang="en-GB" i="1">
                            <a:latin typeface="Cambria Math"/>
                          </a:rPr>
                          <m:t>𝑥</m:t>
                        </m:r>
                      </m:e>
                    </m:d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84D4F45-C449-98D6-58E9-DD6271F773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8000" y="1196752"/>
                <a:ext cx="7776000" cy="4661854"/>
              </a:xfrm>
              <a:prstGeom prst="rect">
                <a:avLst/>
              </a:prstGeom>
              <a:blipFill>
                <a:blip r:embed="rId2"/>
                <a:stretch>
                  <a:fillRect l="-627" t="-6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CCBEE89-2AF1-C293-A2A7-22C5EC8322EF}"/>
                  </a:ext>
                </a:extLst>
              </p:cNvPr>
              <p:cNvSpPr txBox="1"/>
              <p:nvPr/>
            </p:nvSpPr>
            <p:spPr>
              <a:xfrm>
                <a:off x="2228487" y="1340769"/>
                <a:ext cx="7776000" cy="46969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GB" dirty="0">
                  <a:solidFill>
                    <a:srgbClr val="FF0000"/>
                  </a:solidFill>
                </a:endParaRPr>
              </a:p>
              <a:p>
                <a:r>
                  <a:rPr lang="en-GB" dirty="0">
                    <a:solidFill>
                      <a:srgbClr val="FF0000"/>
                    </a:solidFill>
                  </a:rPr>
                  <a:t>					a)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rgbClr val="FF0000"/>
                        </a:solidFill>
                        <a:latin typeface="Cambria Math"/>
                      </a:rPr>
                      <m:t>3.10 </m:t>
                    </m:r>
                    <m:r>
                      <a:rPr lang="en-GB" i="1">
                        <a:solidFill>
                          <a:srgbClr val="FF0000"/>
                        </a:solidFill>
                        <a:latin typeface="Cambria Math"/>
                      </a:rPr>
                      <m:t>𝑐𝑚</m:t>
                    </m:r>
                  </m:oMath>
                </a14:m>
                <a:endParaRPr lang="en-GB" dirty="0">
                  <a:solidFill>
                    <a:srgbClr val="FF0000"/>
                  </a:solidFill>
                </a:endParaRPr>
              </a:p>
              <a:p>
                <a:endParaRPr lang="en-GB" dirty="0">
                  <a:solidFill>
                    <a:srgbClr val="FF0000"/>
                  </a:solidFill>
                </a:endParaRPr>
              </a:p>
              <a:p>
                <a:r>
                  <a:rPr lang="en-GB" dirty="0">
                    <a:solidFill>
                      <a:srgbClr val="FF0000"/>
                    </a:solidFill>
                  </a:rPr>
                  <a:t>					b)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rgbClr val="FF0000"/>
                        </a:solidFill>
                        <a:latin typeface="Cambria Math"/>
                      </a:rPr>
                      <m:t>9.05 </m:t>
                    </m:r>
                    <m:r>
                      <a:rPr lang="en-GB" i="1">
                        <a:solidFill>
                          <a:srgbClr val="FF0000"/>
                        </a:solidFill>
                        <a:latin typeface="Cambria Math"/>
                      </a:rPr>
                      <m:t>𝑐𝑚</m:t>
                    </m:r>
                  </m:oMath>
                </a14:m>
                <a:endParaRPr lang="en-GB" dirty="0">
                  <a:solidFill>
                    <a:srgbClr val="FF0000"/>
                  </a:solidFill>
                </a:endParaRPr>
              </a:p>
              <a:p>
                <a:endParaRPr lang="en-GB" dirty="0">
                  <a:solidFill>
                    <a:srgbClr val="FF0000"/>
                  </a:solidFill>
                </a:endParaRPr>
              </a:p>
              <a:p>
                <a:endParaRPr lang="en-GB" dirty="0">
                  <a:solidFill>
                    <a:srgbClr val="FF0000"/>
                  </a:solidFill>
                </a:endParaRPr>
              </a:p>
              <a:p>
                <a:r>
                  <a:rPr lang="en-GB" dirty="0">
                    <a:solidFill>
                      <a:srgbClr val="FF0000"/>
                    </a:solidFill>
                  </a:rPr>
                  <a:t>					a)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rgbClr val="FF0000"/>
                        </a:solidFill>
                        <a:latin typeface="Cambria Math"/>
                      </a:rPr>
                      <m:t>25.8</m:t>
                    </m:r>
                    <m:r>
                      <a:rPr lang="en-GB" i="1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°</m:t>
                    </m:r>
                  </m:oMath>
                </a14:m>
                <a:endParaRPr lang="en-GB" dirty="0">
                  <a:solidFill>
                    <a:srgbClr val="FF0000"/>
                  </a:solidFill>
                  <a:ea typeface="Cambria Math"/>
                </a:endParaRPr>
              </a:p>
              <a:p>
                <a:endParaRPr lang="en-GB" dirty="0">
                  <a:solidFill>
                    <a:srgbClr val="FF0000"/>
                  </a:solidFill>
                </a:endParaRPr>
              </a:p>
              <a:p>
                <a:r>
                  <a:rPr lang="en-GB" dirty="0">
                    <a:solidFill>
                      <a:srgbClr val="FF0000"/>
                    </a:solidFill>
                  </a:rPr>
                  <a:t>					b)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rgbClr val="FF0000"/>
                        </a:solidFill>
                        <a:latin typeface="Cambria Math"/>
                      </a:rPr>
                      <m:t>77.2</m:t>
                    </m:r>
                    <m:r>
                      <a:rPr lang="en-GB" i="1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°</m:t>
                    </m:r>
                  </m:oMath>
                </a14:m>
                <a:endParaRPr lang="en-GB" dirty="0">
                  <a:solidFill>
                    <a:srgbClr val="FF0000"/>
                  </a:solidFill>
                  <a:ea typeface="Cambria Math"/>
                </a:endParaRPr>
              </a:p>
              <a:p>
                <a:endParaRPr lang="en-GB" dirty="0">
                  <a:solidFill>
                    <a:srgbClr val="FF0000"/>
                  </a:solidFill>
                </a:endParaRPr>
              </a:p>
              <a:p>
                <a:endParaRPr lang="en-GB" dirty="0">
                  <a:solidFill>
                    <a:srgbClr val="FF0000"/>
                  </a:solidFill>
                </a:endParaRPr>
              </a:p>
              <a:p>
                <a:r>
                  <a:rPr lang="en-GB" dirty="0">
                    <a:solidFill>
                      <a:srgbClr val="FF0000"/>
                    </a:solidFill>
                  </a:rPr>
                  <a:t>					Points of intersection at:</a:t>
                </a:r>
              </a:p>
              <a:p>
                <a:r>
                  <a:rPr lang="en-GB" dirty="0">
                    <a:solidFill>
                      <a:srgbClr val="FF0000"/>
                    </a:solidFill>
                  </a:rPr>
                  <a:t>				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solidFill>
                              <a:srgbClr val="FF0000"/>
                            </a:solidFill>
                            <a:latin typeface="Cambria Math"/>
                          </a:rPr>
                          <m:t>−3,0</m:t>
                        </m:r>
                      </m:e>
                    </m:d>
                    <m:r>
                      <a:rPr lang="en-GB" i="1">
                        <a:solidFill>
                          <a:srgbClr val="FF0000"/>
                        </a:solidFill>
                        <a:latin typeface="Cambria Math"/>
                      </a:rPr>
                      <m:t>, </m:t>
                    </m:r>
                    <m:d>
                      <m:dPr>
                        <m:ctrlPr>
                          <a:rPr lang="en-GB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solidFill>
                              <a:srgbClr val="FF0000"/>
                            </a:solidFill>
                            <a:latin typeface="Cambria Math"/>
                          </a:rPr>
                          <m:t>0,0</m:t>
                        </m:r>
                      </m:e>
                    </m:d>
                  </m:oMath>
                </a14:m>
                <a:endParaRPr lang="en-GB" dirty="0">
                  <a:solidFill>
                    <a:srgbClr val="FF0000"/>
                  </a:solidFill>
                </a:endParaRPr>
              </a:p>
              <a:p>
                <a:r>
                  <a:rPr lang="en-GB" dirty="0">
                    <a:solidFill>
                      <a:srgbClr val="FF0000"/>
                    </a:solidFill>
                  </a:rPr>
                  <a:t>				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solidFill>
                              <a:srgbClr val="FF0000"/>
                            </a:solidFill>
                            <a:latin typeface="Cambria Math"/>
                          </a:rPr>
                          <m:t>−5,0</m:t>
                        </m:r>
                      </m:e>
                    </m:d>
                    <m:r>
                      <a:rPr lang="en-GB" i="1">
                        <a:solidFill>
                          <a:srgbClr val="FF0000"/>
                        </a:solidFill>
                        <a:latin typeface="Cambria Math"/>
                      </a:rPr>
                      <m:t>, </m:t>
                    </m:r>
                    <m:d>
                      <m:dPr>
                        <m:ctrlPr>
                          <a:rPr lang="en-GB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solidFill>
                              <a:srgbClr val="FF0000"/>
                            </a:solidFill>
                            <a:latin typeface="Cambria Math"/>
                          </a:rPr>
                          <m:t>−2,0</m:t>
                        </m:r>
                      </m:e>
                    </m:d>
                    <m:r>
                      <a:rPr lang="en-GB" i="1">
                        <a:solidFill>
                          <a:srgbClr val="FF0000"/>
                        </a:solidFill>
                        <a:latin typeface="Cambria Math"/>
                      </a:rPr>
                      <m:t>,(0,10)</m:t>
                    </m:r>
                  </m:oMath>
                </a14:m>
                <a:endParaRPr lang="en-GB" dirty="0">
                  <a:solidFill>
                    <a:srgbClr val="FF0000"/>
                  </a:solidFill>
                </a:endParaRPr>
              </a:p>
              <a:p>
                <a:r>
                  <a:rPr lang="en-GB" dirty="0">
                    <a:solidFill>
                      <a:srgbClr val="FF0000"/>
                    </a:solidFill>
                  </a:rPr>
                  <a:t>				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GB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−3</m:t>
                            </m:r>
                            <m:r>
                              <a:rPr lang="en-GB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±</m:t>
                            </m:r>
                            <m:rad>
                              <m:radPr>
                                <m:degHide m:val="on"/>
                                <m:ctrlPr>
                                  <a:rPr lang="en-GB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GB" i="1">
                                    <a:solidFill>
                                      <a:srgbClr val="FF0000"/>
                                    </a:solidFill>
                                    <a:latin typeface="Cambria Math"/>
                                    <a:ea typeface="Cambria Math"/>
                                  </a:rPr>
                                  <m:t>21</m:t>
                                </m:r>
                              </m:e>
                            </m:rad>
                          </m:num>
                          <m:den>
                            <m:r>
                              <a:rPr lang="en-GB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GB" i="1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,</m:t>
                    </m:r>
                    <m:d>
                      <m:dPr>
                        <m:ctrlPr>
                          <a:rPr lang="en-GB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solidFill>
                              <a:srgbClr val="FF0000"/>
                            </a:solidFill>
                            <a:latin typeface="Cambria Math"/>
                          </a:rPr>
                          <m:t>0,−3</m:t>
                        </m:r>
                      </m:e>
                    </m:d>
                  </m:oMath>
                </a14:m>
                <a:endParaRPr lang="en-GB" dirty="0">
                  <a:solidFill>
                    <a:srgbClr val="FF0000"/>
                  </a:solidFill>
                </a:endParaRPr>
              </a:p>
              <a:p>
                <a:r>
                  <a:rPr lang="en-GB" dirty="0">
                    <a:solidFill>
                      <a:srgbClr val="FF0000"/>
                    </a:solidFill>
                  </a:rPr>
                  <a:t>				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solidFill>
                              <a:srgbClr val="FF0000"/>
                            </a:solidFill>
                            <a:latin typeface="Cambria Math"/>
                          </a:rPr>
                          <m:t>−6,0</m:t>
                        </m:r>
                      </m:e>
                    </m:d>
                    <m:r>
                      <a:rPr lang="en-GB" i="1">
                        <a:solidFill>
                          <a:srgbClr val="FF0000"/>
                        </a:solidFill>
                        <a:latin typeface="Cambria Math"/>
                      </a:rPr>
                      <m:t>,(0,0)</m:t>
                    </m:r>
                  </m:oMath>
                </a14:m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CCBEE89-2AF1-C293-A2A7-22C5EC8322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8487" y="1340769"/>
                <a:ext cx="7776000" cy="4696927"/>
              </a:xfrm>
              <a:prstGeom prst="rect">
                <a:avLst/>
              </a:prstGeom>
              <a:blipFill>
                <a:blip r:embed="rId3"/>
                <a:stretch>
                  <a:fillRect b="-1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2">
            <a:extLst>
              <a:ext uri="{FF2B5EF4-FFF2-40B4-BE49-F238E27FC236}">
                <a16:creationId xmlns:a16="http://schemas.microsoft.com/office/drawing/2014/main" id="{04AAC08F-3F52-C558-679E-1F84870EA9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1624" y="1604655"/>
            <a:ext cx="3816424" cy="9875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3">
            <a:extLst>
              <a:ext uri="{FF2B5EF4-FFF2-40B4-BE49-F238E27FC236}">
                <a16:creationId xmlns:a16="http://schemas.microsoft.com/office/drawing/2014/main" id="{EA36EC46-B7AE-67C0-2F07-9FA14ACB5F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1626" y="2952214"/>
            <a:ext cx="3816423" cy="1196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72603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Chapter Overview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6" name="TextBox 5"/>
          <p:cNvSpPr txBox="1"/>
          <p:nvPr/>
        </p:nvSpPr>
        <p:spPr>
          <a:xfrm>
            <a:off x="2386866" y="2385363"/>
            <a:ext cx="2793605" cy="1477328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7" name="TextBox 6"/>
          <p:cNvSpPr txBox="1"/>
          <p:nvPr/>
        </p:nvSpPr>
        <p:spPr>
          <a:xfrm>
            <a:off x="2408641" y="1994473"/>
            <a:ext cx="2771829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1</a:t>
            </a:r>
            <a:r>
              <a:rPr lang="en-GB" dirty="0"/>
              <a:t>: Sine/Cosine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086158" y="5157516"/>
                <a:ext cx="3744416" cy="36933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Sketch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r>
                  <a:rPr lang="en-GB" dirty="0"/>
                  <a:t> for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≤360°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6158" y="5157516"/>
                <a:ext cx="3744416" cy="369332"/>
              </a:xfrm>
              <a:prstGeom prst="rect">
                <a:avLst/>
              </a:prstGeom>
              <a:blipFill>
                <a:blip r:embed="rId2"/>
                <a:stretch>
                  <a:fillRect b="-3529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4086158" y="4788184"/>
            <a:ext cx="3744416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3</a:t>
            </a:r>
            <a:r>
              <a:rPr lang="en-GB" dirty="0"/>
              <a:t>: Graphs of Sine/Cosine/Tangent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826813" y="2701305"/>
                <a:ext cx="4248472" cy="120032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>
                        <a:latin typeface="Cambria Math" panose="02040503050406030204" pitchFamily="18" charset="0"/>
                      </a:rPr>
                      <m:t>Δ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𝐴𝐵𝐶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𝐴𝐵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=5</m:t>
                    </m:r>
                    <m:r>
                      <a:rPr lang="en-GB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𝐵𝐶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𝐴𝐵𝐶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i="1" dirty="0"/>
                  <a:t>. </a:t>
                </a:r>
                <a:r>
                  <a:rPr lang="en-GB" dirty="0"/>
                  <a:t>Given that the area of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𝐴𝐵𝐶</m:t>
                    </m:r>
                  </m:oMath>
                </a14:m>
                <a:r>
                  <a:rPr lang="en-GB" i="1" dirty="0"/>
                  <a:t> </a:t>
                </a:r>
                <a:r>
                  <a:rPr lang="en-GB" dirty="0"/>
                  <a:t>is 12cm</a:t>
                </a:r>
                <a:r>
                  <a:rPr lang="en-GB" baseline="30000" dirty="0"/>
                  <a:t>2</a:t>
                </a:r>
                <a:r>
                  <a:rPr lang="en-GB" dirty="0"/>
                  <a:t> and that</a:t>
                </a:r>
                <a:r>
                  <a:rPr lang="en-GB" i="1" dirty="0"/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𝐴𝐶</m:t>
                    </m:r>
                  </m:oMath>
                </a14:m>
                <a:r>
                  <a:rPr lang="en-GB" i="1" dirty="0"/>
                  <a:t> </a:t>
                </a:r>
                <a:r>
                  <a:rPr lang="en-GB" dirty="0"/>
                  <a:t>is the longest side, find the value of</a:t>
                </a:r>
                <a:r>
                  <a:rPr lang="en-GB" i="1" dirty="0"/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i="1" dirty="0"/>
                  <a:t>.</a:t>
                </a: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6813" y="2701305"/>
                <a:ext cx="4248472" cy="1200329"/>
              </a:xfrm>
              <a:prstGeom prst="rect">
                <a:avLst/>
              </a:prstGeom>
              <a:blipFill>
                <a:blip r:embed="rId3"/>
                <a:stretch>
                  <a:fillRect b="-448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5826813" y="2341264"/>
            <a:ext cx="4248472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2</a:t>
            </a:r>
            <a:r>
              <a:rPr lang="en-GB" dirty="0"/>
              <a:t>: Areas of Triangles</a:t>
            </a:r>
          </a:p>
        </p:txBody>
      </p:sp>
      <p:sp>
        <p:nvSpPr>
          <p:cNvPr id="5" name="Freeform: Shape 4"/>
          <p:cNvSpPr/>
          <p:nvPr/>
        </p:nvSpPr>
        <p:spPr>
          <a:xfrm>
            <a:off x="2534093" y="2558608"/>
            <a:ext cx="1329070" cy="935665"/>
          </a:xfrm>
          <a:custGeom>
            <a:avLst/>
            <a:gdLst>
              <a:gd name="connsiteX0" fmla="*/ 425302 w 1329070"/>
              <a:gd name="connsiteY0" fmla="*/ 0 h 935665"/>
              <a:gd name="connsiteX1" fmla="*/ 0 w 1329070"/>
              <a:gd name="connsiteY1" fmla="*/ 935665 h 935665"/>
              <a:gd name="connsiteX2" fmla="*/ 1329070 w 1329070"/>
              <a:gd name="connsiteY2" fmla="*/ 935665 h 935665"/>
              <a:gd name="connsiteX3" fmla="*/ 425302 w 1329070"/>
              <a:gd name="connsiteY3" fmla="*/ 0 h 935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9070" h="935665">
                <a:moveTo>
                  <a:pt x="425302" y="0"/>
                </a:moveTo>
                <a:lnTo>
                  <a:pt x="0" y="935665"/>
                </a:lnTo>
                <a:lnTo>
                  <a:pt x="1329070" y="935665"/>
                </a:lnTo>
                <a:lnTo>
                  <a:pt x="425302" y="0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Freeform: Shape 7"/>
          <p:cNvSpPr/>
          <p:nvPr/>
        </p:nvSpPr>
        <p:spPr>
          <a:xfrm>
            <a:off x="2640419" y="3232741"/>
            <a:ext cx="159489" cy="265814"/>
          </a:xfrm>
          <a:custGeom>
            <a:avLst/>
            <a:gdLst>
              <a:gd name="connsiteX0" fmla="*/ 0 w 159489"/>
              <a:gd name="connsiteY0" fmla="*/ 0 h 265814"/>
              <a:gd name="connsiteX1" fmla="*/ 116959 w 159489"/>
              <a:gd name="connsiteY1" fmla="*/ 116958 h 265814"/>
              <a:gd name="connsiteX2" fmla="*/ 159489 w 159489"/>
              <a:gd name="connsiteY2" fmla="*/ 265814 h 265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9489" h="265814">
                <a:moveTo>
                  <a:pt x="0" y="0"/>
                </a:moveTo>
                <a:cubicBezTo>
                  <a:pt x="45189" y="36328"/>
                  <a:pt x="90378" y="72656"/>
                  <a:pt x="116959" y="116958"/>
                </a:cubicBezTo>
                <a:cubicBezTo>
                  <a:pt x="143540" y="161260"/>
                  <a:pt x="151514" y="213537"/>
                  <a:pt x="159489" y="265814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681827" y="3103262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60°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1827" y="3103262"/>
                <a:ext cx="360040" cy="369332"/>
              </a:xfrm>
              <a:prstGeom prst="rect">
                <a:avLst/>
              </a:prstGeom>
              <a:blipFill>
                <a:blip r:embed="rId4"/>
                <a:stretch>
                  <a:fillRect r="-4237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318216" y="2700543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8216" y="2700543"/>
                <a:ext cx="36004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2460398" y="2696536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0398" y="2696536"/>
                <a:ext cx="36004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2766731" y="3439006"/>
                <a:ext cx="7615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6731" y="3439006"/>
                <a:ext cx="76150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653613" y="2849544"/>
                <a:ext cx="15268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Determine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3613" y="2849544"/>
                <a:ext cx="1526859" cy="369332"/>
              </a:xfrm>
              <a:prstGeom prst="rect">
                <a:avLst/>
              </a:prstGeom>
              <a:blipFill>
                <a:blip r:embed="rId8"/>
                <a:stretch>
                  <a:fillRect l="-3187" t="-8197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1919537" y="836713"/>
            <a:ext cx="81557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There is technically no new content in this chapter since GCSE.</a:t>
            </a:r>
          </a:p>
          <a:p>
            <a:r>
              <a:rPr lang="en-GB" dirty="0"/>
              <a:t>However, the problems might be more involved than at GCSE level.</a:t>
            </a:r>
          </a:p>
        </p:txBody>
      </p:sp>
    </p:spTree>
    <p:extLst>
      <p:ext uri="{BB962C8B-B14F-4D97-AF65-F5344CB8AC3E}">
        <p14:creationId xmlns:p14="http://schemas.microsoft.com/office/powerpoint/2010/main" val="3808051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RECAP: Right-Angled Trigonometry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27" name="Group 26"/>
          <p:cNvGrpSpPr/>
          <p:nvPr/>
        </p:nvGrpSpPr>
        <p:grpSpPr>
          <a:xfrm>
            <a:off x="2207568" y="1052736"/>
            <a:ext cx="2520280" cy="1440160"/>
            <a:chOff x="683568" y="1052736"/>
            <a:chExt cx="2520280" cy="1440160"/>
          </a:xfrm>
        </p:grpSpPr>
        <p:sp>
          <p:nvSpPr>
            <p:cNvPr id="6" name="Right Triangle 5"/>
            <p:cNvSpPr/>
            <p:nvPr/>
          </p:nvSpPr>
          <p:spPr>
            <a:xfrm>
              <a:off x="683568" y="1052736"/>
              <a:ext cx="2520280" cy="1440160"/>
            </a:xfrm>
            <a:prstGeom prst="rt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/>
            <p:cNvSpPr/>
            <p:nvPr/>
          </p:nvSpPr>
          <p:spPr>
            <a:xfrm>
              <a:off x="683568" y="2204864"/>
              <a:ext cx="288032" cy="2880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147045" y="1330136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err="1"/>
              <a:t>hyp</a:t>
            </a:r>
            <a:endParaRPr lang="en-GB" dirty="0"/>
          </a:p>
        </p:txBody>
      </p:sp>
      <p:sp>
        <p:nvSpPr>
          <p:cNvPr id="19" name="TextBox 18"/>
          <p:cNvSpPr txBox="1"/>
          <p:nvPr/>
        </p:nvSpPr>
        <p:spPr>
          <a:xfrm>
            <a:off x="2927648" y="2520278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err="1"/>
              <a:t>adj</a:t>
            </a:r>
            <a:endParaRPr lang="en-GB" dirty="0"/>
          </a:p>
        </p:txBody>
      </p:sp>
      <p:sp>
        <p:nvSpPr>
          <p:cNvPr id="22" name="TextBox 21"/>
          <p:cNvSpPr txBox="1"/>
          <p:nvPr/>
        </p:nvSpPr>
        <p:spPr>
          <a:xfrm>
            <a:off x="1521661" y="1667570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err="1"/>
              <a:t>opp</a:t>
            </a:r>
            <a:endParaRPr lang="en-GB" dirty="0"/>
          </a:p>
        </p:txBody>
      </p:sp>
      <p:sp>
        <p:nvSpPr>
          <p:cNvPr id="16" name="Freeform: Shape 15"/>
          <p:cNvSpPr/>
          <p:nvPr/>
        </p:nvSpPr>
        <p:spPr>
          <a:xfrm>
            <a:off x="4001386" y="2126512"/>
            <a:ext cx="106326" cy="350874"/>
          </a:xfrm>
          <a:custGeom>
            <a:avLst/>
            <a:gdLst>
              <a:gd name="connsiteX0" fmla="*/ 106326 w 106326"/>
              <a:gd name="connsiteY0" fmla="*/ 0 h 350874"/>
              <a:gd name="connsiteX1" fmla="*/ 21265 w 106326"/>
              <a:gd name="connsiteY1" fmla="*/ 191386 h 350874"/>
              <a:gd name="connsiteX2" fmla="*/ 0 w 106326"/>
              <a:gd name="connsiteY2" fmla="*/ 350874 h 350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6326" h="350874">
                <a:moveTo>
                  <a:pt x="106326" y="0"/>
                </a:moveTo>
                <a:cubicBezTo>
                  <a:pt x="72656" y="66453"/>
                  <a:pt x="38986" y="132907"/>
                  <a:pt x="21265" y="191386"/>
                </a:cubicBezTo>
                <a:cubicBezTo>
                  <a:pt x="3544" y="249865"/>
                  <a:pt x="1772" y="300369"/>
                  <a:pt x="0" y="350874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543090" y="2126512"/>
                <a:ext cx="5965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3090" y="2126512"/>
                <a:ext cx="59652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4901341" y="959463"/>
                <a:ext cx="5472608" cy="13249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You are probably familiar with the formula: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</a:rPr>
                          <m:t>𝑜𝑝𝑝</m:t>
                        </m:r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</a:rPr>
                          <m:t>h𝑦𝑝</m:t>
                        </m:r>
                      </m:den>
                    </m:f>
                  </m:oMath>
                </a14:m>
                <a:endParaRPr lang="en-GB" dirty="0"/>
              </a:p>
              <a:p>
                <a:r>
                  <a:rPr lang="en-GB" dirty="0"/>
                  <a:t>But what is the </a:t>
                </a:r>
                <a:r>
                  <a:rPr lang="en-GB" i="1" dirty="0"/>
                  <a:t>conceptual</a:t>
                </a:r>
                <a:r>
                  <a:rPr lang="en-GB" dirty="0"/>
                  <a:t> definition of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𝑠𝑖𝑛</m:t>
                    </m:r>
                  </m:oMath>
                </a14:m>
                <a:r>
                  <a:rPr lang="en-GB" dirty="0"/>
                  <a:t> ?</a:t>
                </a:r>
              </a:p>
              <a:p>
                <a:r>
                  <a:rPr lang="en-GB" b="1" dirty="0"/>
                  <a:t>sin is a </a:t>
                </a:r>
                <a:r>
                  <a:rPr lang="en-GB" b="1" u="sng" dirty="0"/>
                  <a:t>function</a:t>
                </a:r>
                <a:r>
                  <a:rPr lang="en-GB" b="1" dirty="0"/>
                  <a:t> which </a:t>
                </a:r>
                <a:r>
                  <a:rPr lang="en-GB" b="1" u="sng" dirty="0"/>
                  <a:t>inputs an angle</a:t>
                </a:r>
                <a:r>
                  <a:rPr lang="en-GB" b="1" dirty="0"/>
                  <a:t> and gives the </a:t>
                </a:r>
                <a:r>
                  <a:rPr lang="en-GB" b="1" u="sng" dirty="0"/>
                  <a:t>ratio</a:t>
                </a:r>
                <a:r>
                  <a:rPr lang="en-GB" b="1" dirty="0"/>
                  <a:t> between the opposite and hypotenuse.</a:t>
                </a: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1341" y="959463"/>
                <a:ext cx="5472608" cy="1324914"/>
              </a:xfrm>
              <a:prstGeom prst="rect">
                <a:avLst/>
              </a:prstGeom>
              <a:blipFill>
                <a:blip r:embed="rId3"/>
                <a:stretch>
                  <a:fillRect l="-891" b="-59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5336019" y="2391321"/>
            <a:ext cx="4238797" cy="73866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dirty="0"/>
              <a:t>Remember that a ratio just means the ‘relative size’ between quantities (in this case lengths). For this reason, sin/cos/tan are known as “trigonometric ratios”.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33950" y="1718084"/>
            <a:ext cx="5042934" cy="5466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grpSp>
        <p:nvGrpSpPr>
          <p:cNvPr id="28" name="Group 27"/>
          <p:cNvGrpSpPr/>
          <p:nvPr/>
        </p:nvGrpSpPr>
        <p:grpSpPr>
          <a:xfrm rot="8891050">
            <a:off x="1933033" y="4013677"/>
            <a:ext cx="2142495" cy="1055989"/>
            <a:chOff x="683568" y="1052736"/>
            <a:chExt cx="2520280" cy="1440160"/>
          </a:xfrm>
        </p:grpSpPr>
        <p:sp>
          <p:nvSpPr>
            <p:cNvPr id="29" name="Right Triangle 28"/>
            <p:cNvSpPr/>
            <p:nvPr/>
          </p:nvSpPr>
          <p:spPr>
            <a:xfrm>
              <a:off x="683568" y="1052736"/>
              <a:ext cx="2520280" cy="1440160"/>
            </a:xfrm>
            <a:prstGeom prst="rt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683568" y="2204864"/>
              <a:ext cx="288032" cy="2880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1" name="Freeform: Shape 30"/>
          <p:cNvSpPr/>
          <p:nvPr/>
        </p:nvSpPr>
        <p:spPr>
          <a:xfrm>
            <a:off x="2263775" y="4359275"/>
            <a:ext cx="104775" cy="247650"/>
          </a:xfrm>
          <a:custGeom>
            <a:avLst/>
            <a:gdLst>
              <a:gd name="connsiteX0" fmla="*/ 0 w 104775"/>
              <a:gd name="connsiteY0" fmla="*/ 0 h 247650"/>
              <a:gd name="connsiteX1" fmla="*/ 85725 w 104775"/>
              <a:gd name="connsiteY1" fmla="*/ 133350 h 247650"/>
              <a:gd name="connsiteX2" fmla="*/ 104775 w 104775"/>
              <a:gd name="connsiteY2" fmla="*/ 24765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4775" h="247650">
                <a:moveTo>
                  <a:pt x="0" y="0"/>
                </a:moveTo>
                <a:cubicBezTo>
                  <a:pt x="34131" y="46037"/>
                  <a:pt x="68263" y="92075"/>
                  <a:pt x="85725" y="133350"/>
                </a:cubicBezTo>
                <a:cubicBezTo>
                  <a:pt x="103188" y="174625"/>
                  <a:pt x="103981" y="211137"/>
                  <a:pt x="104775" y="24765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2283312" y="4230505"/>
                <a:ext cx="5965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20°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3312" y="4230505"/>
                <a:ext cx="59652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/>
          <p:cNvSpPr txBox="1"/>
          <p:nvPr/>
        </p:nvSpPr>
        <p:spPr>
          <a:xfrm>
            <a:off x="2579266" y="3644433"/>
            <a:ext cx="351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2997808" y="4512628"/>
                <a:ext cx="3512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7808" y="4512628"/>
                <a:ext cx="35125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4425826" y="3459767"/>
                <a:ext cx="1367580" cy="36933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Find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5826" y="3459767"/>
                <a:ext cx="1367580" cy="369332"/>
              </a:xfrm>
              <a:prstGeom prst="rect">
                <a:avLst/>
              </a:prstGeom>
              <a:blipFill>
                <a:blip r:embed="rId6"/>
                <a:stretch>
                  <a:fillRect b="-4762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4222455" y="3927229"/>
                <a:ext cx="2800350" cy="10506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e>
                          </m:d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func>
                            <m:func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20</m:t>
                                  </m:r>
                                </m:e>
                              </m:d>
                            </m:e>
                          </m:func>
                        </m:den>
                      </m:f>
                      <m:r>
                        <a:rPr lang="en-GB" sz="1600" i="1">
                          <a:latin typeface="Cambria Math" panose="02040503050406030204" pitchFamily="18" charset="0"/>
                        </a:rPr>
                        <m:t>=11.7 (3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𝑠𝑓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2455" y="3927229"/>
                <a:ext cx="2800350" cy="105060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6914726" y="3384718"/>
                <a:ext cx="3615891" cy="612412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b="1" dirty="0"/>
                  <a:t>Tip</a:t>
                </a:r>
                <a:r>
                  <a:rPr lang="en-GB" sz="1400" dirty="0"/>
                  <a:t>: You can swap the thing you’re dividing by and the result. e.g.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GB" sz="1400" i="1">
                        <a:latin typeface="Cambria Math" panose="02040503050406030204" pitchFamily="18" charset="0"/>
                      </a:rPr>
                      <m:t>=4 →</m:t>
                    </m:r>
                    <m:f>
                      <m:f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GB" sz="1400" i="1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GB" sz="1400" dirty="0"/>
                  <a:t>. </a:t>
                </a: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4726" y="3384718"/>
                <a:ext cx="3615891" cy="612412"/>
              </a:xfrm>
              <a:prstGeom prst="rect">
                <a:avLst/>
              </a:prstGeom>
              <a:blipFill>
                <a:blip r:embed="rId8"/>
                <a:stretch>
                  <a:fillRect l="-168" b="-9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/>
          <p:cNvCxnSpPr/>
          <p:nvPr/>
        </p:nvCxnSpPr>
        <p:spPr>
          <a:xfrm flipH="1">
            <a:off x="5793407" y="3944680"/>
            <a:ext cx="1121301" cy="5679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0" name="Group 39"/>
          <p:cNvGrpSpPr/>
          <p:nvPr/>
        </p:nvGrpSpPr>
        <p:grpSpPr>
          <a:xfrm rot="10800000">
            <a:off x="1894467" y="5482817"/>
            <a:ext cx="2142495" cy="1055989"/>
            <a:chOff x="683568" y="1052736"/>
            <a:chExt cx="2520280" cy="1440160"/>
          </a:xfrm>
        </p:grpSpPr>
        <p:sp>
          <p:nvSpPr>
            <p:cNvPr id="41" name="Right Triangle 40"/>
            <p:cNvSpPr/>
            <p:nvPr/>
          </p:nvSpPr>
          <p:spPr>
            <a:xfrm>
              <a:off x="683568" y="1052736"/>
              <a:ext cx="2520280" cy="1440160"/>
            </a:xfrm>
            <a:prstGeom prst="rt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683568" y="2204864"/>
              <a:ext cx="288032" cy="2880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4409729" y="5328610"/>
                <a:ext cx="1367580" cy="36933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Find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9729" y="5328610"/>
                <a:ext cx="1367580" cy="369332"/>
              </a:xfrm>
              <a:prstGeom prst="rect">
                <a:avLst/>
              </a:prstGeom>
              <a:blipFill>
                <a:blip r:embed="rId9"/>
                <a:stretch>
                  <a:fillRect b="-3529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Freeform: Shape 44"/>
          <p:cNvSpPr/>
          <p:nvPr/>
        </p:nvSpPr>
        <p:spPr>
          <a:xfrm>
            <a:off x="3670300" y="6233300"/>
            <a:ext cx="355600" cy="116700"/>
          </a:xfrm>
          <a:custGeom>
            <a:avLst/>
            <a:gdLst>
              <a:gd name="connsiteX0" fmla="*/ 0 w 355600"/>
              <a:gd name="connsiteY0" fmla="*/ 116700 h 116700"/>
              <a:gd name="connsiteX1" fmla="*/ 139700 w 355600"/>
              <a:gd name="connsiteY1" fmla="*/ 15100 h 116700"/>
              <a:gd name="connsiteX2" fmla="*/ 355600 w 355600"/>
              <a:gd name="connsiteY2" fmla="*/ 2400 h 11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5600" h="116700">
                <a:moveTo>
                  <a:pt x="0" y="116700"/>
                </a:moveTo>
                <a:cubicBezTo>
                  <a:pt x="40216" y="75425"/>
                  <a:pt x="80433" y="34150"/>
                  <a:pt x="139700" y="15100"/>
                </a:cubicBezTo>
                <a:cubicBezTo>
                  <a:pt x="198967" y="-3950"/>
                  <a:pt x="277283" y="-775"/>
                  <a:pt x="355600" y="240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3467708" y="5909704"/>
                <a:ext cx="5965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7708" y="5909704"/>
                <a:ext cx="596520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4047716" y="5770774"/>
                <a:ext cx="3512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7716" y="5770774"/>
                <a:ext cx="351259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2974328" y="5114051"/>
                <a:ext cx="3512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4328" y="5114051"/>
                <a:ext cx="351259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4129867" y="5679355"/>
                <a:ext cx="2800350" cy="11131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d>
                            <m:d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e>
                            <m:sup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=59.0°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9867" y="5679355"/>
                <a:ext cx="2800350" cy="111319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6930217" y="4771414"/>
                <a:ext cx="3600400" cy="1815882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b="1" dirty="0"/>
                  <a:t>reflections</a:t>
                </a:r>
                <a:r>
                  <a:rPr lang="en-GB" sz="1400" dirty="0"/>
                  <a:t>: You may have been taught “use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𝑡𝑎</m:t>
                    </m:r>
                    <m:sSup>
                      <m:sSup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GB" sz="1400" dirty="0"/>
                  <a:t> whenever you’re finding an angle”, and therefore write the second line directly. It is preferable to always write the first line, then see the problem as a ‘changing the subject’ one. We need to remove the tan on front of the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sz="1400" dirty="0"/>
                  <a:t>, so apply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𝑡𝑎</m:t>
                    </m:r>
                    <m:sSup>
                      <m:sSup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GB" sz="1400" dirty="0"/>
                  <a:t> to each side of the equation to ‘cancel out’ the tan on the LHS.</a:t>
                </a:r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0217" y="4771414"/>
                <a:ext cx="3600400" cy="1815882"/>
              </a:xfrm>
              <a:prstGeom prst="rect">
                <a:avLst/>
              </a:prstGeom>
              <a:blipFill>
                <a:blip r:embed="rId14"/>
                <a:stretch>
                  <a:fillRect l="-168" b="-16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Rectangle 50"/>
          <p:cNvSpPr/>
          <p:nvPr/>
        </p:nvSpPr>
        <p:spPr>
          <a:xfrm>
            <a:off x="4495108" y="3901481"/>
            <a:ext cx="2314437" cy="104499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471614" y="5722748"/>
            <a:ext cx="2314437" cy="104499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638698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37" grpId="0" animBg="1"/>
      <p:bldP spid="50" grpId="0" animBg="1"/>
      <p:bldP spid="51" grpId="0" animBg="1"/>
      <p:bldP spid="5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Proof of Cosine Rule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cxnSp>
        <p:nvCxnSpPr>
          <p:cNvPr id="6" name="Straight Connector 5"/>
          <p:cNvCxnSpPr/>
          <p:nvPr/>
        </p:nvCxnSpPr>
        <p:spPr>
          <a:xfrm>
            <a:off x="3686335" y="3286111"/>
            <a:ext cx="417646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6456041" y="908721"/>
            <a:ext cx="1406759" cy="23773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3686336" y="908719"/>
            <a:ext cx="2769705" cy="23773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6456041" y="908719"/>
            <a:ext cx="1" cy="2377393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6456040" y="2996952"/>
            <a:ext cx="28803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6744072" y="2996952"/>
            <a:ext cx="1" cy="2891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4906182" y="1567425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6182" y="1567425"/>
                <a:ext cx="36004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7159419" y="1728082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9419" y="1728082"/>
                <a:ext cx="36004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6424142" y="2065170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4142" y="2065170"/>
                <a:ext cx="36004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4977273" y="3286110"/>
                <a:ext cx="8210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7273" y="3286110"/>
                <a:ext cx="82101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6748912" y="3246024"/>
                <a:ext cx="8210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8912" y="3246024"/>
                <a:ext cx="82101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2063552" y="1052737"/>
                <a:ext cx="266429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We want to use Pythagoras, so split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dirty="0"/>
                  <a:t> into two so that we get two right-angled triangles.</a:t>
                </a: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3552" y="1052737"/>
                <a:ext cx="2664296" cy="1200329"/>
              </a:xfrm>
              <a:prstGeom prst="rect">
                <a:avLst/>
              </a:prstGeom>
              <a:blipFill>
                <a:blip r:embed="rId7"/>
                <a:stretch>
                  <a:fillRect l="-2059" t="-3046" b="-71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234412" y="4040891"/>
                <a:ext cx="5722033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By Pythagoras: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dirty="0"/>
              </a:p>
              <a:p>
                <a:r>
                  <a:rPr lang="en-GB" dirty="0"/>
                  <a:t>Subtracting to eliminate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GB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𝑐𝑥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But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𝑏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func>
                    <m:r>
                      <a:rPr lang="en-GB" i="1">
                        <a:latin typeface="Cambria Math" panose="02040503050406030204" pitchFamily="18" charset="0"/>
                      </a:rPr>
                      <m:t>∴</m:t>
                    </m:r>
                  </m:oMath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𝑏𝑐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4412" y="4040891"/>
                <a:ext cx="5722033" cy="1754326"/>
              </a:xfrm>
              <a:prstGeom prst="rect">
                <a:avLst/>
              </a:prstGeom>
              <a:blipFill>
                <a:blip r:embed="rId8"/>
                <a:stretch>
                  <a:fillRect l="-959" t="-20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3323876" y="3141531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3876" y="3141531"/>
                <a:ext cx="36004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Freeform: Shape 29"/>
          <p:cNvSpPr/>
          <p:nvPr/>
        </p:nvSpPr>
        <p:spPr>
          <a:xfrm>
            <a:off x="4107713" y="2902688"/>
            <a:ext cx="172483" cy="382772"/>
          </a:xfrm>
          <a:custGeom>
            <a:avLst/>
            <a:gdLst>
              <a:gd name="connsiteX0" fmla="*/ 0 w 172483"/>
              <a:gd name="connsiteY0" fmla="*/ 0 h 382772"/>
              <a:gd name="connsiteX1" fmla="*/ 148855 w 172483"/>
              <a:gd name="connsiteY1" fmla="*/ 212652 h 382772"/>
              <a:gd name="connsiteX2" fmla="*/ 170121 w 172483"/>
              <a:gd name="connsiteY2" fmla="*/ 382772 h 382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2483" h="382772">
                <a:moveTo>
                  <a:pt x="0" y="0"/>
                </a:moveTo>
                <a:cubicBezTo>
                  <a:pt x="60251" y="74428"/>
                  <a:pt x="120502" y="148857"/>
                  <a:pt x="148855" y="212652"/>
                </a:cubicBezTo>
                <a:cubicBezTo>
                  <a:pt x="177209" y="276447"/>
                  <a:pt x="173665" y="329609"/>
                  <a:pt x="170121" y="382772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4618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Proof of Sine Rule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cxnSp>
        <p:nvCxnSpPr>
          <p:cNvPr id="6" name="Straight Connector 5"/>
          <p:cNvCxnSpPr/>
          <p:nvPr/>
        </p:nvCxnSpPr>
        <p:spPr>
          <a:xfrm>
            <a:off x="5158393" y="3562086"/>
            <a:ext cx="417646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7928099" y="1184696"/>
            <a:ext cx="1406759" cy="23773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5158394" y="1184694"/>
            <a:ext cx="2769705" cy="23773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7928099" y="1184694"/>
            <a:ext cx="1" cy="2377393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7928098" y="3272927"/>
            <a:ext cx="28803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8216130" y="3272927"/>
            <a:ext cx="1" cy="2891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6378240" y="1843400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8240" y="1843400"/>
                <a:ext cx="36004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8631477" y="2004057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1477" y="2004057"/>
                <a:ext cx="36004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7896200" y="2341145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6200" y="2341145"/>
                <a:ext cx="36004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6927796" y="3753471"/>
                <a:ext cx="8210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7796" y="3753471"/>
                <a:ext cx="82101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1999756" y="1105899"/>
                <a:ext cx="3206008" cy="147732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/>
                  <a:t>The idea is that we can use the common length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>
                        <a:latin typeface="Cambria Math" panose="02040503050406030204" pitchFamily="18" charset="0"/>
                      </a:rPr>
                      <m:t>Δ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𝐴𝐶𝑋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𝑋𝐵𝐶</m:t>
                    </m:r>
                  </m:oMath>
                </a14:m>
                <a:r>
                  <a:rPr lang="en-GB" dirty="0"/>
                  <a:t>, i.e.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GB" dirty="0"/>
                  <a:t>, to connect the two triangles, and therefore connect their angles/length.</a:t>
                </a: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9756" y="1105899"/>
                <a:ext cx="3206008" cy="1477328"/>
              </a:xfrm>
              <a:prstGeom prst="rect">
                <a:avLst/>
              </a:prstGeom>
              <a:blipFill>
                <a:blip r:embed="rId6"/>
                <a:stretch>
                  <a:fillRect l="-1132" t="-1215" b="-445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079346" y="4490234"/>
                <a:ext cx="5722033" cy="14492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Using basic trigonometry:</a:t>
                </a:r>
              </a:p>
              <a:p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𝑎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func>
                  </m:oMath>
                </a14:m>
                <a:r>
                  <a:rPr lang="en-GB" dirty="0"/>
                  <a:t>       and   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𝑏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func>
                  </m:oMath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𝑎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𝑏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∴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func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9346" y="4490234"/>
                <a:ext cx="5722033" cy="1449243"/>
              </a:xfrm>
              <a:prstGeom prst="rect">
                <a:avLst/>
              </a:prstGeom>
              <a:blipFill>
                <a:blip r:embed="rId7"/>
                <a:stretch>
                  <a:fillRect l="-852" t="-25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4795934" y="3417506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5934" y="3417506"/>
                <a:ext cx="36004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/>
          <p:nvPr/>
        </p:nvCxnSpPr>
        <p:spPr>
          <a:xfrm>
            <a:off x="5155974" y="3850634"/>
            <a:ext cx="406826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9345126" y="3386258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5126" y="3386258"/>
                <a:ext cx="36004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7917829" y="955349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7829" y="955349"/>
                <a:ext cx="360040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7743971" y="3527715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3971" y="3527715"/>
                <a:ext cx="36004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4371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Just for your interest…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1373998" y="704576"/>
            <a:ext cx="74168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Why does “cosine” contains the word “sine”?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1736514" y="2391412"/>
            <a:ext cx="2483467" cy="2899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2855640" y="1772816"/>
            <a:ext cx="1223772" cy="75392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Freeform: Shape 10"/>
          <p:cNvSpPr/>
          <p:nvPr/>
        </p:nvSpPr>
        <p:spPr>
          <a:xfrm>
            <a:off x="3302208" y="2250292"/>
            <a:ext cx="170121" cy="340241"/>
          </a:xfrm>
          <a:custGeom>
            <a:avLst/>
            <a:gdLst>
              <a:gd name="connsiteX0" fmla="*/ 0 w 170121"/>
              <a:gd name="connsiteY0" fmla="*/ 0 h 340241"/>
              <a:gd name="connsiteX1" fmla="*/ 138223 w 170121"/>
              <a:gd name="connsiteY1" fmla="*/ 180753 h 340241"/>
              <a:gd name="connsiteX2" fmla="*/ 170121 w 170121"/>
              <a:gd name="connsiteY2" fmla="*/ 340241 h 340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0121" h="340241">
                <a:moveTo>
                  <a:pt x="0" y="0"/>
                </a:moveTo>
                <a:cubicBezTo>
                  <a:pt x="54935" y="62023"/>
                  <a:pt x="109870" y="124046"/>
                  <a:pt x="138223" y="180753"/>
                </a:cubicBezTo>
                <a:cubicBezTo>
                  <a:pt x="166577" y="237460"/>
                  <a:pt x="168349" y="288850"/>
                  <a:pt x="170121" y="340241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reeform: Shape 11"/>
          <p:cNvSpPr/>
          <p:nvPr/>
        </p:nvSpPr>
        <p:spPr>
          <a:xfrm>
            <a:off x="2472869" y="2243694"/>
            <a:ext cx="712381" cy="229881"/>
          </a:xfrm>
          <a:custGeom>
            <a:avLst/>
            <a:gdLst>
              <a:gd name="connsiteX0" fmla="*/ 712381 w 712381"/>
              <a:gd name="connsiteY0" fmla="*/ 81026 h 229881"/>
              <a:gd name="connsiteX1" fmla="*/ 393404 w 712381"/>
              <a:gd name="connsiteY1" fmla="*/ 6598 h 229881"/>
              <a:gd name="connsiteX2" fmla="*/ 0 w 712381"/>
              <a:gd name="connsiteY2" fmla="*/ 229881 h 229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12381" h="229881">
                <a:moveTo>
                  <a:pt x="712381" y="81026"/>
                </a:moveTo>
                <a:cubicBezTo>
                  <a:pt x="612257" y="31407"/>
                  <a:pt x="512134" y="-18211"/>
                  <a:pt x="393404" y="6598"/>
                </a:cubicBezTo>
                <a:cubicBezTo>
                  <a:pt x="274674" y="31407"/>
                  <a:pt x="137337" y="130644"/>
                  <a:pt x="0" y="229881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2641783" y="1849016"/>
                <a:ext cx="4901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1783" y="1849016"/>
                <a:ext cx="49012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3370408" y="2138454"/>
                <a:ext cx="4901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0408" y="2138454"/>
                <a:ext cx="49012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2117637" y="2883016"/>
                <a:ext cx="252028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Supplementary Angles</a:t>
                </a:r>
              </a:p>
              <a:p>
                <a:pPr algn="ctr"/>
                <a:r>
                  <a:rPr lang="en-GB" dirty="0"/>
                  <a:t>add to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180°</m:t>
                    </m:r>
                  </m:oMath>
                </a14:m>
                <a:endParaRPr lang="en-GB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7637" y="2883016"/>
                <a:ext cx="2520280" cy="646331"/>
              </a:xfrm>
              <a:prstGeom prst="rect">
                <a:avLst/>
              </a:prstGeom>
              <a:blipFill>
                <a:blip r:embed="rId4"/>
                <a:stretch>
                  <a:fillRect l="-2000" t="-5882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4615366" y="2883016"/>
                <a:ext cx="252028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Complementary Angles</a:t>
                </a:r>
              </a:p>
              <a:p>
                <a:pPr algn="ctr"/>
                <a:r>
                  <a:rPr lang="en-GB" dirty="0"/>
                  <a:t>add to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90°</m:t>
                    </m:r>
                  </m:oMath>
                </a14:m>
                <a:endParaRPr lang="en-GB" dirty="0"/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5366" y="2883016"/>
                <a:ext cx="2520280" cy="646331"/>
              </a:xfrm>
              <a:prstGeom prst="rect">
                <a:avLst/>
              </a:prstGeom>
              <a:blipFill>
                <a:blip r:embed="rId5"/>
                <a:stretch>
                  <a:fillRect l="-2000" t="-5882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/>
          <p:cNvCxnSpPr/>
          <p:nvPr/>
        </p:nvCxnSpPr>
        <p:spPr>
          <a:xfrm>
            <a:off x="4977978" y="2553876"/>
            <a:ext cx="1025499" cy="1800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H="1">
            <a:off x="6003476" y="1553450"/>
            <a:ext cx="217552" cy="11804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5643437" y="1661846"/>
            <a:ext cx="360041" cy="10720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Freeform: Shape 24"/>
          <p:cNvSpPr/>
          <p:nvPr/>
        </p:nvSpPr>
        <p:spPr>
          <a:xfrm>
            <a:off x="5702868" y="2452610"/>
            <a:ext cx="205740" cy="228600"/>
          </a:xfrm>
          <a:custGeom>
            <a:avLst/>
            <a:gdLst>
              <a:gd name="connsiteX0" fmla="*/ 0 w 205740"/>
              <a:gd name="connsiteY0" fmla="*/ 228600 h 228600"/>
              <a:gd name="connsiteX1" fmla="*/ 83820 w 205740"/>
              <a:gd name="connsiteY1" fmla="*/ 76200 h 228600"/>
              <a:gd name="connsiteX2" fmla="*/ 205740 w 205740"/>
              <a:gd name="connsiteY2" fmla="*/ 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5740" h="228600">
                <a:moveTo>
                  <a:pt x="0" y="228600"/>
                </a:moveTo>
                <a:cubicBezTo>
                  <a:pt x="24765" y="171450"/>
                  <a:pt x="49530" y="114300"/>
                  <a:pt x="83820" y="76200"/>
                </a:cubicBezTo>
                <a:cubicBezTo>
                  <a:pt x="118110" y="38100"/>
                  <a:pt x="161925" y="19050"/>
                  <a:pt x="205740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Freeform: Shape 25"/>
          <p:cNvSpPr/>
          <p:nvPr/>
        </p:nvSpPr>
        <p:spPr>
          <a:xfrm>
            <a:off x="5885748" y="2376282"/>
            <a:ext cx="182880" cy="22989"/>
          </a:xfrm>
          <a:custGeom>
            <a:avLst/>
            <a:gdLst>
              <a:gd name="connsiteX0" fmla="*/ 0 w 182880"/>
              <a:gd name="connsiteY0" fmla="*/ 22989 h 22989"/>
              <a:gd name="connsiteX1" fmla="*/ 99060 w 182880"/>
              <a:gd name="connsiteY1" fmla="*/ 129 h 22989"/>
              <a:gd name="connsiteX2" fmla="*/ 182880 w 182880"/>
              <a:gd name="connsiteY2" fmla="*/ 15369 h 22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2880" h="22989">
                <a:moveTo>
                  <a:pt x="0" y="22989"/>
                </a:moveTo>
                <a:cubicBezTo>
                  <a:pt x="34290" y="12194"/>
                  <a:pt x="68580" y="1399"/>
                  <a:pt x="99060" y="129"/>
                </a:cubicBezTo>
                <a:cubicBezTo>
                  <a:pt x="129540" y="-1141"/>
                  <a:pt x="156210" y="7114"/>
                  <a:pt x="182880" y="15369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/>
              <p:cNvSpPr txBox="1"/>
              <p:nvPr/>
            </p:nvSpPr>
            <p:spPr>
              <a:xfrm>
                <a:off x="5420795" y="2230715"/>
                <a:ext cx="4901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0795" y="2230715"/>
                <a:ext cx="49012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/>
              <p:cNvSpPr txBox="1"/>
              <p:nvPr/>
            </p:nvSpPr>
            <p:spPr>
              <a:xfrm>
                <a:off x="5730902" y="2002115"/>
                <a:ext cx="4901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0902" y="2002115"/>
                <a:ext cx="49012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Arrow: Right 26"/>
          <p:cNvSpPr/>
          <p:nvPr/>
        </p:nvSpPr>
        <p:spPr>
          <a:xfrm>
            <a:off x="7067264" y="2144251"/>
            <a:ext cx="576064" cy="32316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/>
          <p:cNvSpPr txBox="1"/>
          <p:nvPr/>
        </p:nvSpPr>
        <p:spPr>
          <a:xfrm>
            <a:off x="7866358" y="2901261"/>
            <a:ext cx="24886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Therefore these angles are complementary.</a:t>
            </a:r>
          </a:p>
        </p:txBody>
      </p:sp>
      <p:grpSp>
        <p:nvGrpSpPr>
          <p:cNvPr id="32" name="Group 31"/>
          <p:cNvGrpSpPr/>
          <p:nvPr/>
        </p:nvGrpSpPr>
        <p:grpSpPr>
          <a:xfrm>
            <a:off x="8305967" y="1660661"/>
            <a:ext cx="1644962" cy="1025603"/>
            <a:chOff x="683568" y="1052736"/>
            <a:chExt cx="2520280" cy="1440160"/>
          </a:xfrm>
        </p:grpSpPr>
        <p:sp>
          <p:nvSpPr>
            <p:cNvPr id="33" name="Right Triangle 32"/>
            <p:cNvSpPr/>
            <p:nvPr/>
          </p:nvSpPr>
          <p:spPr>
            <a:xfrm>
              <a:off x="683568" y="1052736"/>
              <a:ext cx="2520280" cy="1440160"/>
            </a:xfrm>
            <a:prstGeom prst="rt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683568" y="2204864"/>
              <a:ext cx="288032" cy="2880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1" name="Freeform: Shape 30"/>
          <p:cNvSpPr/>
          <p:nvPr/>
        </p:nvSpPr>
        <p:spPr>
          <a:xfrm>
            <a:off x="8309085" y="1815719"/>
            <a:ext cx="228600" cy="144780"/>
          </a:xfrm>
          <a:custGeom>
            <a:avLst/>
            <a:gdLst>
              <a:gd name="connsiteX0" fmla="*/ 0 w 228600"/>
              <a:gd name="connsiteY0" fmla="*/ 144780 h 144780"/>
              <a:gd name="connsiteX1" fmla="*/ 137160 w 228600"/>
              <a:gd name="connsiteY1" fmla="*/ 91440 h 144780"/>
              <a:gd name="connsiteX2" fmla="*/ 228600 w 228600"/>
              <a:gd name="connsiteY2" fmla="*/ 0 h 144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8600" h="144780">
                <a:moveTo>
                  <a:pt x="0" y="144780"/>
                </a:moveTo>
                <a:cubicBezTo>
                  <a:pt x="49530" y="130175"/>
                  <a:pt x="99060" y="115570"/>
                  <a:pt x="137160" y="91440"/>
                </a:cubicBezTo>
                <a:cubicBezTo>
                  <a:pt x="175260" y="67310"/>
                  <a:pt x="201930" y="33655"/>
                  <a:pt x="228600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Freeform: Shape 34"/>
          <p:cNvSpPr/>
          <p:nvPr/>
        </p:nvSpPr>
        <p:spPr>
          <a:xfrm>
            <a:off x="9503985" y="2455799"/>
            <a:ext cx="70020" cy="220980"/>
          </a:xfrm>
          <a:custGeom>
            <a:avLst/>
            <a:gdLst>
              <a:gd name="connsiteX0" fmla="*/ 70020 w 70020"/>
              <a:gd name="connsiteY0" fmla="*/ 0 h 220980"/>
              <a:gd name="connsiteX1" fmla="*/ 9060 w 70020"/>
              <a:gd name="connsiteY1" fmla="*/ 121920 h 220980"/>
              <a:gd name="connsiteX2" fmla="*/ 1440 w 70020"/>
              <a:gd name="connsiteY2" fmla="*/ 220980 h 220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020" h="220980">
                <a:moveTo>
                  <a:pt x="70020" y="0"/>
                </a:moveTo>
                <a:cubicBezTo>
                  <a:pt x="45255" y="42545"/>
                  <a:pt x="20490" y="85090"/>
                  <a:pt x="9060" y="121920"/>
                </a:cubicBezTo>
                <a:cubicBezTo>
                  <a:pt x="-2370" y="158750"/>
                  <a:pt x="-465" y="189865"/>
                  <a:pt x="1440" y="22098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/>
              <p:cNvSpPr txBox="1"/>
              <p:nvPr/>
            </p:nvSpPr>
            <p:spPr>
              <a:xfrm>
                <a:off x="8248900" y="1875138"/>
                <a:ext cx="4901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8900" y="1875138"/>
                <a:ext cx="49012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/>
              <p:cNvSpPr txBox="1"/>
              <p:nvPr/>
            </p:nvSpPr>
            <p:spPr>
              <a:xfrm>
                <a:off x="9110662" y="2309318"/>
                <a:ext cx="4901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0662" y="2309318"/>
                <a:ext cx="490126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/>
          <p:cNvCxnSpPr/>
          <p:nvPr/>
        </p:nvCxnSpPr>
        <p:spPr>
          <a:xfrm flipH="1" flipV="1">
            <a:off x="8577273" y="2244470"/>
            <a:ext cx="205068" cy="6567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V="1">
            <a:off x="8884481" y="2516760"/>
            <a:ext cx="300905" cy="3534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44"/>
          <p:cNvGrpSpPr/>
          <p:nvPr/>
        </p:nvGrpSpPr>
        <p:grpSpPr>
          <a:xfrm>
            <a:off x="6565449" y="4137861"/>
            <a:ext cx="1644962" cy="1025603"/>
            <a:chOff x="683568" y="1052736"/>
            <a:chExt cx="2520280" cy="1440160"/>
          </a:xfrm>
        </p:grpSpPr>
        <p:sp>
          <p:nvSpPr>
            <p:cNvPr id="46" name="Right Triangle 45"/>
            <p:cNvSpPr/>
            <p:nvPr/>
          </p:nvSpPr>
          <p:spPr>
            <a:xfrm>
              <a:off x="683568" y="1052736"/>
              <a:ext cx="2520280" cy="1440160"/>
            </a:xfrm>
            <a:prstGeom prst="rt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683568" y="2204864"/>
              <a:ext cx="288032" cy="2880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44" name="Freeform: Shape 43"/>
          <p:cNvSpPr/>
          <p:nvPr/>
        </p:nvSpPr>
        <p:spPr>
          <a:xfrm>
            <a:off x="6564356" y="4299089"/>
            <a:ext cx="266700" cy="142875"/>
          </a:xfrm>
          <a:custGeom>
            <a:avLst/>
            <a:gdLst>
              <a:gd name="connsiteX0" fmla="*/ 0 w 266700"/>
              <a:gd name="connsiteY0" fmla="*/ 142875 h 142875"/>
              <a:gd name="connsiteX1" fmla="*/ 152400 w 266700"/>
              <a:gd name="connsiteY1" fmla="*/ 95250 h 142875"/>
              <a:gd name="connsiteX2" fmla="*/ 266700 w 266700"/>
              <a:gd name="connsiteY2" fmla="*/ 0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6700" h="142875">
                <a:moveTo>
                  <a:pt x="0" y="142875"/>
                </a:moveTo>
                <a:cubicBezTo>
                  <a:pt x="53975" y="130968"/>
                  <a:pt x="107950" y="119062"/>
                  <a:pt x="152400" y="95250"/>
                </a:cubicBezTo>
                <a:cubicBezTo>
                  <a:pt x="196850" y="71438"/>
                  <a:pt x="231775" y="35719"/>
                  <a:pt x="266700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Freeform: Shape 47"/>
          <p:cNvSpPr/>
          <p:nvPr/>
        </p:nvSpPr>
        <p:spPr>
          <a:xfrm>
            <a:off x="7764506" y="4937263"/>
            <a:ext cx="57150" cy="228600"/>
          </a:xfrm>
          <a:custGeom>
            <a:avLst/>
            <a:gdLst>
              <a:gd name="connsiteX0" fmla="*/ 0 w 57150"/>
              <a:gd name="connsiteY0" fmla="*/ 228600 h 228600"/>
              <a:gd name="connsiteX1" fmla="*/ 9525 w 57150"/>
              <a:gd name="connsiteY1" fmla="*/ 104775 h 228600"/>
              <a:gd name="connsiteX2" fmla="*/ 57150 w 57150"/>
              <a:gd name="connsiteY2" fmla="*/ 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150" h="228600">
                <a:moveTo>
                  <a:pt x="0" y="228600"/>
                </a:moveTo>
                <a:cubicBezTo>
                  <a:pt x="0" y="185737"/>
                  <a:pt x="0" y="142875"/>
                  <a:pt x="9525" y="104775"/>
                </a:cubicBezTo>
                <a:cubicBezTo>
                  <a:pt x="19050" y="66675"/>
                  <a:pt x="38100" y="33337"/>
                  <a:pt x="57150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/>
              <p:cNvSpPr txBox="1"/>
              <p:nvPr/>
            </p:nvSpPr>
            <p:spPr>
              <a:xfrm>
                <a:off x="6544741" y="4375625"/>
                <a:ext cx="4901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50°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4741" y="4375625"/>
                <a:ext cx="490126" cy="369332"/>
              </a:xfrm>
              <a:prstGeom prst="rect">
                <a:avLst/>
              </a:prstGeom>
              <a:blipFill>
                <a:blip r:embed="rId9"/>
                <a:stretch>
                  <a:fillRect r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/>
              <p:cNvSpPr txBox="1"/>
              <p:nvPr/>
            </p:nvSpPr>
            <p:spPr>
              <a:xfrm>
                <a:off x="7313165" y="4792325"/>
                <a:ext cx="4901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40°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3165" y="4792325"/>
                <a:ext cx="490126" cy="369332"/>
              </a:xfrm>
              <a:prstGeom prst="rect">
                <a:avLst/>
              </a:prstGeom>
              <a:blipFill>
                <a:blip r:embed="rId10"/>
                <a:stretch>
                  <a:fillRect r="-2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/>
              <p:cNvSpPr txBox="1"/>
              <p:nvPr/>
            </p:nvSpPr>
            <p:spPr>
              <a:xfrm>
                <a:off x="7034867" y="5214756"/>
                <a:ext cx="4901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4867" y="5214756"/>
                <a:ext cx="490126" cy="369332"/>
              </a:xfrm>
              <a:prstGeom prst="rect">
                <a:avLst/>
              </a:prstGeom>
              <a:blipFill>
                <a:blip r:embed="rId11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/>
              <p:cNvSpPr txBox="1"/>
              <p:nvPr/>
            </p:nvSpPr>
            <p:spPr>
              <a:xfrm>
                <a:off x="6168333" y="4518500"/>
                <a:ext cx="4901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8333" y="4518500"/>
                <a:ext cx="490126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/>
              <p:cNvSpPr txBox="1"/>
              <p:nvPr/>
            </p:nvSpPr>
            <p:spPr>
              <a:xfrm>
                <a:off x="7251136" y="4185859"/>
                <a:ext cx="4901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1136" y="4185859"/>
                <a:ext cx="490126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/>
              <p:cNvSpPr txBox="1"/>
              <p:nvPr/>
            </p:nvSpPr>
            <p:spPr>
              <a:xfrm>
                <a:off x="8256653" y="3961695"/>
                <a:ext cx="1750437" cy="5648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50</m:t>
                              </m:r>
                            </m:e>
                          </m:d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num>
                        <m:den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𝒛</m:t>
                          </m:r>
                        </m:den>
                      </m:f>
                    </m:oMath>
                  </m:oMathPara>
                </a14:m>
                <a:endParaRPr lang="en-GB" b="1" dirty="0"/>
              </a:p>
            </p:txBody>
          </p:sp>
        </mc:Choice>
        <mc:Fallback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6653" y="3961695"/>
                <a:ext cx="1750437" cy="564898"/>
              </a:xfrm>
              <a:prstGeom prst="rect">
                <a:avLst/>
              </a:prstGeom>
              <a:blipFill>
                <a:blip r:embed="rId14"/>
                <a:stretch>
                  <a:fillRect b="-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/>
              <p:cNvSpPr txBox="1"/>
              <p:nvPr/>
            </p:nvSpPr>
            <p:spPr>
              <a:xfrm>
                <a:off x="8283342" y="4581113"/>
                <a:ext cx="1750437" cy="5648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40</m:t>
                              </m:r>
                            </m:e>
                          </m:d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num>
                        <m:den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𝒛</m:t>
                          </m:r>
                        </m:den>
                      </m:f>
                    </m:oMath>
                  </m:oMathPara>
                </a14:m>
                <a:endParaRPr lang="en-GB" b="1" dirty="0"/>
              </a:p>
            </p:txBody>
          </p:sp>
        </mc:Choice>
        <mc:Fallback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3342" y="4581113"/>
                <a:ext cx="1750437" cy="564898"/>
              </a:xfrm>
              <a:prstGeom prst="rect">
                <a:avLst/>
              </a:prstGeom>
              <a:blipFill>
                <a:blip r:embed="rId15"/>
                <a:stretch>
                  <a:fillRect b="-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/>
              <p:cNvSpPr txBox="1"/>
              <p:nvPr/>
            </p:nvSpPr>
            <p:spPr>
              <a:xfrm>
                <a:off x="8116555" y="5237877"/>
                <a:ext cx="234861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>
                          <a:latin typeface="Cambria Math" panose="02040503050406030204" pitchFamily="18" charset="0"/>
                        </a:rPr>
                        <m:t>∴</m:t>
                      </m:r>
                      <m:func>
                        <m:func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d>
                            <m:d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𝟓𝟎</m:t>
                              </m:r>
                            </m:e>
                          </m:d>
                        </m:e>
                      </m:func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d>
                            <m:d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𝟒𝟎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GB" b="1" dirty="0"/>
              </a:p>
            </p:txBody>
          </p:sp>
        </mc:Choice>
        <mc:Fallback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6555" y="5237877"/>
                <a:ext cx="2348612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Box 48"/>
          <p:cNvSpPr txBox="1"/>
          <p:nvPr/>
        </p:nvSpPr>
        <p:spPr>
          <a:xfrm>
            <a:off x="1691800" y="3671402"/>
            <a:ext cx="4100125" cy="92333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i.e. The </a:t>
            </a:r>
            <a:r>
              <a:rPr lang="en-GB" b="1" dirty="0"/>
              <a:t>cosine</a:t>
            </a:r>
            <a:r>
              <a:rPr lang="en-GB" dirty="0"/>
              <a:t> of an angle is the </a:t>
            </a:r>
            <a:r>
              <a:rPr lang="en-GB" b="1" dirty="0"/>
              <a:t>sine</a:t>
            </a:r>
            <a:r>
              <a:rPr lang="en-GB" dirty="0"/>
              <a:t> of the </a:t>
            </a:r>
            <a:r>
              <a:rPr lang="en-GB" b="1" dirty="0"/>
              <a:t>complementary</a:t>
            </a:r>
            <a:r>
              <a:rPr lang="en-GB" dirty="0"/>
              <a:t> angle.</a:t>
            </a:r>
          </a:p>
          <a:p>
            <a:r>
              <a:rPr lang="en-GB" dirty="0"/>
              <a:t>Hence </a:t>
            </a:r>
            <a:r>
              <a:rPr lang="en-GB" b="1" dirty="0"/>
              <a:t>cosine = COMPLEMENTARY SINE</a:t>
            </a:r>
          </a:p>
        </p:txBody>
      </p:sp>
      <p:sp>
        <p:nvSpPr>
          <p:cNvPr id="60" name="Arrow: Right 59"/>
          <p:cNvSpPr/>
          <p:nvPr/>
        </p:nvSpPr>
        <p:spPr>
          <a:xfrm rot="7815011">
            <a:off x="7640895" y="3685449"/>
            <a:ext cx="450925" cy="32316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Arrow: Right 60"/>
          <p:cNvSpPr/>
          <p:nvPr/>
        </p:nvSpPr>
        <p:spPr>
          <a:xfrm rot="10800000">
            <a:off x="5434151" y="4903923"/>
            <a:ext cx="450925" cy="32316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" name="Rectangle 61"/>
          <p:cNvSpPr/>
          <p:nvPr/>
        </p:nvSpPr>
        <p:spPr>
          <a:xfrm>
            <a:off x="9534635" y="3902103"/>
            <a:ext cx="717550" cy="60601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534635" y="4544751"/>
            <a:ext cx="717550" cy="60601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60551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15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6" fill="hold">
                      <p:stCondLst>
                        <p:cond delay="0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121" restart="whenNotActive" fill="hold" evtFilter="cancelBubble" nodeType="interactiveSeq">
                <p:stCondLst>
                  <p:cond evt="onClick" delay="0">
                    <p:tgtEl>
                      <p:spTgt spid="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2" fill="hold">
                      <p:stCondLst>
                        <p:cond delay="0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00"/>
                            </p:stCondLst>
                            <p:childTnLst>
                              <p:par>
                                <p:cTn id="13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00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3"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/>
      <p:bldP spid="15" grpId="0"/>
      <p:bldP spid="14" grpId="0"/>
      <p:bldP spid="17" grpId="0"/>
      <p:bldP spid="25" grpId="0" animBg="1"/>
      <p:bldP spid="26" grpId="0" animBg="1"/>
      <p:bldP spid="28" grpId="0"/>
      <p:bldP spid="29" grpId="0"/>
      <p:bldP spid="27" grpId="0" animBg="1"/>
      <p:bldP spid="30" grpId="0"/>
      <p:bldP spid="31" grpId="0" animBg="1"/>
      <p:bldP spid="35" grpId="0" animBg="1"/>
      <p:bldP spid="37" grpId="0"/>
      <p:bldP spid="38" grpId="0"/>
      <p:bldP spid="44" grpId="0" animBg="1"/>
      <p:bldP spid="48" grpId="0" animBg="1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49" grpId="0" animBg="1"/>
      <p:bldP spid="60" grpId="0" animBg="1"/>
      <p:bldP spid="61" grpId="0" animBg="1"/>
      <p:bldP spid="62" grpId="0" animBg="1"/>
      <p:bldP spid="62" grpId="1" animBg="1"/>
      <p:bldP spid="63" grpId="0" animBg="1"/>
      <p:bldP spid="63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OVERVIEW: Finding missing sides and angles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1977054"/>
              </p:ext>
            </p:extLst>
          </p:nvPr>
        </p:nvGraphicFramePr>
        <p:xfrm>
          <a:off x="2180794" y="1662899"/>
          <a:ext cx="6029113" cy="470535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88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0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8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303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You have</a:t>
                      </a:r>
                      <a:endParaRPr lang="en-GB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You want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Use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#1: Two angle-side opposite pairs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GB" sz="2000" dirty="0">
                        <a:effectLst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Missing angle</a:t>
                      </a:r>
                      <a:r>
                        <a:rPr lang="en-GB" sz="2000" baseline="0" dirty="0">
                          <a:effectLst/>
                        </a:rPr>
                        <a:t> or side in one pair</a:t>
                      </a:r>
                      <a:endParaRPr lang="en-GB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Sine rule</a:t>
                      </a:r>
                      <a:endParaRPr lang="en-GB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25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#2 Two sides known and a missing side opposite a known angle</a:t>
                      </a:r>
                      <a:endParaRPr lang="en-GB" sz="28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GB" sz="800" dirty="0">
                        <a:effectLst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Remaining side</a:t>
                      </a:r>
                      <a:endParaRPr lang="en-GB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Cosine rule</a:t>
                      </a:r>
                      <a:endParaRPr lang="en-GB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542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#3 All three sides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GB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GB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An angle</a:t>
                      </a:r>
                      <a:endParaRPr lang="en-GB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Cosine rule</a:t>
                      </a:r>
                      <a:endParaRPr lang="en-GB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485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#4 Two sides known and a missing side </a:t>
                      </a:r>
                      <a:r>
                        <a:rPr lang="en-GB" sz="2000" u="sng" dirty="0">
                          <a:effectLst/>
                        </a:rPr>
                        <a:t>not</a:t>
                      </a:r>
                      <a:r>
                        <a:rPr lang="en-GB" sz="2000" dirty="0">
                          <a:effectLst/>
                        </a:rPr>
                        <a:t> opposite known angle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Remaining side</a:t>
                      </a:r>
                      <a:endParaRPr lang="en-GB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Sine rule twice</a:t>
                      </a:r>
                      <a:endParaRPr lang="en-GB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4459769"/>
              </p:ext>
            </p:extLst>
          </p:nvPr>
        </p:nvGraphicFramePr>
        <p:xfrm>
          <a:off x="8414267" y="4271946"/>
          <a:ext cx="1227377" cy="11777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1580952" imgH="1514686" progId="Paint.Picture">
                  <p:embed/>
                </p:oleObj>
              </mc:Choice>
              <mc:Fallback>
                <p:oleObj name="Bitmap Image" r:id="rId2" imgW="1580952" imgH="1514686" progId="Paint.Picture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14267" y="4271946"/>
                        <a:ext cx="1227377" cy="117778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9868954"/>
              </p:ext>
            </p:extLst>
          </p:nvPr>
        </p:nvGraphicFramePr>
        <p:xfrm>
          <a:off x="8703484" y="3155053"/>
          <a:ext cx="1103753" cy="11168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4" imgW="1409897" imgH="1448002" progId="Paint.Picture">
                  <p:embed/>
                </p:oleObj>
              </mc:Choice>
              <mc:Fallback>
                <p:oleObj name="Bitmap Image" r:id="rId4" imgW="1409897" imgH="1448002" progId="Paint.Picture">
                  <p:embed/>
                  <p:pic>
                    <p:nvPicPr>
                      <p:cNvPr id="1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03484" y="3155053"/>
                        <a:ext cx="1103753" cy="111689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5045893"/>
              </p:ext>
            </p:extLst>
          </p:nvPr>
        </p:nvGraphicFramePr>
        <p:xfrm>
          <a:off x="8502438" y="5449733"/>
          <a:ext cx="1304799" cy="12758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6" imgW="1590897" imgH="1542857" progId="Paint.Picture">
                  <p:embed/>
                </p:oleObj>
              </mc:Choice>
              <mc:Fallback>
                <p:oleObj name="Bitmap Image" r:id="rId6" imgW="1590897" imgH="1542857" progId="Paint.Picture">
                  <p:embed/>
                  <p:pic>
                    <p:nvPicPr>
                      <p:cNvPr id="11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02438" y="5449733"/>
                        <a:ext cx="1304799" cy="127580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9061251"/>
              </p:ext>
            </p:extLst>
          </p:nvPr>
        </p:nvGraphicFramePr>
        <p:xfrm>
          <a:off x="8561040" y="1633307"/>
          <a:ext cx="1224136" cy="12987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8" imgW="1504762" imgH="1580952" progId="Paint.Picture">
                  <p:embed/>
                </p:oleObj>
              </mc:Choice>
              <mc:Fallback>
                <p:oleObj name="Bitmap Image" r:id="rId8" imgW="1504762" imgH="1580952" progId="Paint.Picture">
                  <p:embed/>
                  <p:pic>
                    <p:nvPicPr>
                      <p:cNvPr id="12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61040" y="1633307"/>
                        <a:ext cx="1224136" cy="129877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2"/>
          <p:cNvSpPr/>
          <p:nvPr/>
        </p:nvSpPr>
        <p:spPr>
          <a:xfrm>
            <a:off x="6579508" y="1943817"/>
            <a:ext cx="1619250" cy="10751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79507" y="3018971"/>
            <a:ext cx="1619250" cy="120628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79507" y="4225251"/>
            <a:ext cx="1619250" cy="10751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79507" y="5300405"/>
            <a:ext cx="1619250" cy="10678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60442" y="721695"/>
            <a:ext cx="7560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When triangles are not right-angled, we can no longer use simple trigonometric ratios, and must use the cosine and sine rules.</a:t>
            </a:r>
          </a:p>
        </p:txBody>
      </p:sp>
    </p:spTree>
    <p:extLst>
      <p:ext uri="{BB962C8B-B14F-4D97-AF65-F5344CB8AC3E}">
        <p14:creationId xmlns:p14="http://schemas.microsoft.com/office/powerpoint/2010/main" val="4215843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Cosine Rule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1886857" y="701519"/>
            <a:ext cx="8781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We use the </a:t>
            </a:r>
            <a:r>
              <a:rPr lang="en-GB" b="1" dirty="0"/>
              <a:t>cosine rule </a:t>
            </a:r>
            <a:r>
              <a:rPr lang="en-GB" dirty="0"/>
              <a:t>whenever we have </a:t>
            </a:r>
            <a:r>
              <a:rPr lang="en-GB" b="1" dirty="0"/>
              <a:t>three sides </a:t>
            </a:r>
            <a:r>
              <a:rPr lang="en-GB" dirty="0"/>
              <a:t>(and an angle) involved.</a:t>
            </a:r>
          </a:p>
        </p:txBody>
      </p:sp>
      <p:sp>
        <p:nvSpPr>
          <p:cNvPr id="6" name="Freeform 5"/>
          <p:cNvSpPr/>
          <p:nvPr/>
        </p:nvSpPr>
        <p:spPr>
          <a:xfrm>
            <a:off x="2543175" y="2124075"/>
            <a:ext cx="2838450" cy="4019550"/>
          </a:xfrm>
          <a:custGeom>
            <a:avLst/>
            <a:gdLst>
              <a:gd name="connsiteX0" fmla="*/ 161925 w 2838450"/>
              <a:gd name="connsiteY0" fmla="*/ 4019550 h 4019550"/>
              <a:gd name="connsiteX1" fmla="*/ 0 w 2838450"/>
              <a:gd name="connsiteY1" fmla="*/ 1447800 h 4019550"/>
              <a:gd name="connsiteX2" fmla="*/ 2838450 w 2838450"/>
              <a:gd name="connsiteY2" fmla="*/ 0 h 4019550"/>
              <a:gd name="connsiteX3" fmla="*/ 161925 w 2838450"/>
              <a:gd name="connsiteY3" fmla="*/ 4019550 h 401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8450" h="4019550">
                <a:moveTo>
                  <a:pt x="161925" y="4019550"/>
                </a:moveTo>
                <a:lnTo>
                  <a:pt x="0" y="1447800"/>
                </a:lnTo>
                <a:lnTo>
                  <a:pt x="2838450" y="0"/>
                </a:lnTo>
                <a:lnTo>
                  <a:pt x="161925" y="4019550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Freeform 6"/>
          <p:cNvSpPr/>
          <p:nvPr/>
        </p:nvSpPr>
        <p:spPr>
          <a:xfrm>
            <a:off x="2581276" y="3409950"/>
            <a:ext cx="334873" cy="628650"/>
          </a:xfrm>
          <a:custGeom>
            <a:avLst/>
            <a:gdLst>
              <a:gd name="connsiteX0" fmla="*/ 0 w 334873"/>
              <a:gd name="connsiteY0" fmla="*/ 628650 h 628650"/>
              <a:gd name="connsiteX1" fmla="*/ 190500 w 334873"/>
              <a:gd name="connsiteY1" fmla="*/ 523875 h 628650"/>
              <a:gd name="connsiteX2" fmla="*/ 323850 w 334873"/>
              <a:gd name="connsiteY2" fmla="*/ 314325 h 628650"/>
              <a:gd name="connsiteX3" fmla="*/ 323850 w 334873"/>
              <a:gd name="connsiteY3" fmla="*/ 171450 h 628650"/>
              <a:gd name="connsiteX4" fmla="*/ 295275 w 334873"/>
              <a:gd name="connsiteY4" fmla="*/ 0 h 62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4873" h="628650">
                <a:moveTo>
                  <a:pt x="0" y="628650"/>
                </a:moveTo>
                <a:cubicBezTo>
                  <a:pt x="68262" y="602456"/>
                  <a:pt x="136525" y="576262"/>
                  <a:pt x="190500" y="523875"/>
                </a:cubicBezTo>
                <a:cubicBezTo>
                  <a:pt x="244475" y="471487"/>
                  <a:pt x="301625" y="373062"/>
                  <a:pt x="323850" y="314325"/>
                </a:cubicBezTo>
                <a:cubicBezTo>
                  <a:pt x="346075" y="255588"/>
                  <a:pt x="328612" y="223837"/>
                  <a:pt x="323850" y="171450"/>
                </a:cubicBezTo>
                <a:cubicBezTo>
                  <a:pt x="319088" y="119063"/>
                  <a:pt x="307181" y="59531"/>
                  <a:pt x="295275" y="0"/>
                </a:cubicBezTo>
              </a:path>
            </a:pathLst>
          </a:cu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11141" y="2492897"/>
                <a:ext cx="6480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/>
                        </a:rPr>
                        <m:t>15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1141" y="2492897"/>
                <a:ext cx="648072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933203" y="4653137"/>
                <a:ext cx="6480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/>
                        </a:rPr>
                        <m:t>12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3203" y="4653137"/>
                <a:ext cx="648072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820772" y="3572219"/>
                <a:ext cx="83263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/>
                        </a:rPr>
                        <m:t>115°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0772" y="3572219"/>
                <a:ext cx="832631" cy="461665"/>
              </a:xfrm>
              <a:prstGeom prst="rect">
                <a:avLst/>
              </a:prstGeom>
              <a:blipFill>
                <a:blip r:embed="rId4"/>
                <a:stretch>
                  <a:fillRect l="-1471" r="-14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869904" y="4191472"/>
                <a:ext cx="6480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9904" y="4191472"/>
                <a:ext cx="648072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879976" y="2303067"/>
                <a:ext cx="3889004" cy="8309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2400" b="1" dirty="0"/>
                  <a:t>Cosine Rule: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GB" sz="24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GB" sz="2400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/>
                            </a:rPr>
                            <m:t>𝑏</m:t>
                          </m:r>
                        </m:e>
                        <m:sup>
                          <m:r>
                            <a:rPr lang="en-GB" sz="24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GB" sz="2400" i="1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/>
                            </a:rPr>
                            <m:t>𝑐</m:t>
                          </m:r>
                        </m:e>
                        <m:sup>
                          <m:r>
                            <a:rPr lang="en-GB" sz="24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GB" sz="2400" i="1">
                          <a:latin typeface="Cambria Math"/>
                        </a:rPr>
                        <m:t>−2</m:t>
                      </m:r>
                      <m:r>
                        <a:rPr lang="en-GB" sz="2400" i="1">
                          <a:latin typeface="Cambria Math"/>
                        </a:rPr>
                        <m:t>𝑏𝑐</m:t>
                      </m:r>
                      <m:func>
                        <m:func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400">
                              <a:latin typeface="Cambria Math"/>
                            </a:rPr>
                            <m:t>cos</m:t>
                          </m:r>
                        </m:fName>
                        <m:e>
                          <m:r>
                            <a:rPr lang="en-GB" sz="2400" i="1">
                              <a:latin typeface="Cambria Math"/>
                            </a:rPr>
                            <m:t>𝐴</m:t>
                          </m:r>
                        </m:e>
                      </m:func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9976" y="2303067"/>
                <a:ext cx="3889004" cy="83099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/>
          <p:cNvGrpSpPr/>
          <p:nvPr/>
        </p:nvGrpSpPr>
        <p:grpSpPr>
          <a:xfrm>
            <a:off x="2056918" y="2237849"/>
            <a:ext cx="2742939" cy="2369120"/>
            <a:chOff x="532917" y="2237849"/>
            <a:chExt cx="2742939" cy="23691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2843808" y="3803050"/>
                  <a:ext cx="432048" cy="369332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GB" i="1">
                            <a:latin typeface="Cambria Math"/>
                          </a:rPr>
                          <m:t>𝑎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43808" y="3803050"/>
                  <a:ext cx="432048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1558194" y="3293115"/>
                  <a:ext cx="432048" cy="369332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GB" i="1">
                            <a:latin typeface="Cambria Math"/>
                          </a:rPr>
                          <m:t>𝐴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8194" y="3293115"/>
                  <a:ext cx="432048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/>
                <p:cNvSpPr txBox="1"/>
                <p:nvPr/>
              </p:nvSpPr>
              <p:spPr>
                <a:xfrm>
                  <a:off x="2411760" y="2237849"/>
                  <a:ext cx="432048" cy="369332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GB" i="1">
                            <a:latin typeface="Cambria Math"/>
                          </a:rPr>
                          <m:t>𝑏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1760" y="2237849"/>
                  <a:ext cx="432048" cy="369332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532917" y="4237637"/>
                  <a:ext cx="432048" cy="369332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GB" i="1">
                            <a:latin typeface="Cambria Math"/>
                          </a:rPr>
                          <m:t>𝑐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2917" y="4237637"/>
                  <a:ext cx="432048" cy="369332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5435836" y="3443200"/>
                <a:ext cx="4939375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The only angle in formula is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2000" dirty="0"/>
                  <a:t>, so label angle in diagram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2000" dirty="0"/>
                  <a:t>, label opposite side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2000" dirty="0"/>
                  <a:t>, and so on (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sz="2000" dirty="0"/>
                  <a:t> and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sz="2000" dirty="0"/>
                  <a:t> can go either way).</a:t>
                </a:r>
              </a:p>
              <a:p>
                <a:endParaRPr lang="en-GB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15</m:t>
                          </m:r>
                        </m:e>
                        <m:sup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12</m:t>
                          </m:r>
                        </m:e>
                        <m:sup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i="1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2×15×12×</m:t>
                          </m:r>
                          <m:func>
                            <m:func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00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115</m:t>
                              </m:r>
                            </m:e>
                          </m:func>
                        </m:e>
                      </m:d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i="1">
                          <a:latin typeface="Cambria Math" panose="02040503050406030204" pitchFamily="18" charset="0"/>
                        </a:rPr>
                        <m:t>=521.14257…</m:t>
                      </m:r>
                    </m:oMath>
                    <m:oMath xmlns:m="http://schemas.openxmlformats.org/officeDocument/2006/math">
                      <m:r>
                        <a:rPr lang="en-GB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=22.83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836" y="3443200"/>
                <a:ext cx="4939375" cy="2246769"/>
              </a:xfrm>
              <a:prstGeom prst="rect">
                <a:avLst/>
              </a:prstGeom>
              <a:blipFill>
                <a:blip r:embed="rId11"/>
                <a:stretch>
                  <a:fillRect l="-1358" t="-1630" r="-123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/>
          <p:cNvSpPr/>
          <p:nvPr/>
        </p:nvSpPr>
        <p:spPr>
          <a:xfrm>
            <a:off x="5479152" y="3443199"/>
            <a:ext cx="4897175" cy="107750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How are sides labelled ? 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0268" y="4520705"/>
            <a:ext cx="4897175" cy="107750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Calculation?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2508" y="1861841"/>
            <a:ext cx="24070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Proof at end of PowerPoint.</a:t>
            </a:r>
          </a:p>
        </p:txBody>
      </p:sp>
      <p:cxnSp>
        <p:nvCxnSpPr>
          <p:cNvPr id="20" name="Straight Arrow Connector 19"/>
          <p:cNvCxnSpPr>
            <a:stCxn id="13" idx="2"/>
          </p:cNvCxnSpPr>
          <p:nvPr/>
        </p:nvCxnSpPr>
        <p:spPr>
          <a:xfrm flipH="1">
            <a:off x="9120337" y="2169618"/>
            <a:ext cx="165673" cy="3232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8983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</p:childTnLst>
        </p:cTn>
      </p:par>
    </p:tnLst>
    <p:bldLst>
      <p:bldP spid="19" grpId="0" animBg="1"/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Dealing with Missing Angles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6" name="Freeform 5"/>
          <p:cNvSpPr/>
          <p:nvPr/>
        </p:nvSpPr>
        <p:spPr>
          <a:xfrm>
            <a:off x="2253321" y="2747898"/>
            <a:ext cx="2471057" cy="1796143"/>
          </a:xfrm>
          <a:custGeom>
            <a:avLst/>
            <a:gdLst>
              <a:gd name="connsiteX0" fmla="*/ 359228 w 2471057"/>
              <a:gd name="connsiteY0" fmla="*/ 76200 h 1796143"/>
              <a:gd name="connsiteX1" fmla="*/ 0 w 2471057"/>
              <a:gd name="connsiteY1" fmla="*/ 1796143 h 1796143"/>
              <a:gd name="connsiteX2" fmla="*/ 2471057 w 2471057"/>
              <a:gd name="connsiteY2" fmla="*/ 0 h 1796143"/>
              <a:gd name="connsiteX3" fmla="*/ 359228 w 2471057"/>
              <a:gd name="connsiteY3" fmla="*/ 76200 h 1796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1057" h="1796143">
                <a:moveTo>
                  <a:pt x="359228" y="76200"/>
                </a:moveTo>
                <a:lnTo>
                  <a:pt x="0" y="1796143"/>
                </a:lnTo>
                <a:lnTo>
                  <a:pt x="2471057" y="0"/>
                </a:lnTo>
                <a:lnTo>
                  <a:pt x="359228" y="76200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240791" y="2311015"/>
                <a:ext cx="57606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91" y="2311015"/>
                <a:ext cx="576064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937636" y="3269232"/>
                <a:ext cx="57606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>
                          <a:latin typeface="Cambria Math"/>
                        </a:rPr>
                        <m:t>4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7636" y="3269232"/>
                <a:ext cx="576064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293954" y="3663775"/>
                <a:ext cx="57606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>
                          <a:latin typeface="Cambria Math"/>
                        </a:rPr>
                        <m:t>9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3954" y="3663775"/>
                <a:ext cx="576064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481551" y="2835135"/>
                <a:ext cx="57606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/>
                        </a:rPr>
                        <m:t>𝛼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1551" y="2835135"/>
                <a:ext cx="576064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Freeform 10"/>
          <p:cNvSpPr/>
          <p:nvPr/>
        </p:nvSpPr>
        <p:spPr>
          <a:xfrm>
            <a:off x="3929721" y="2758783"/>
            <a:ext cx="185057" cy="446314"/>
          </a:xfrm>
          <a:custGeom>
            <a:avLst/>
            <a:gdLst>
              <a:gd name="connsiteX0" fmla="*/ 0 w 185057"/>
              <a:gd name="connsiteY0" fmla="*/ 0 h 446314"/>
              <a:gd name="connsiteX1" fmla="*/ 32657 w 185057"/>
              <a:gd name="connsiteY1" fmla="*/ 206829 h 446314"/>
              <a:gd name="connsiteX2" fmla="*/ 97971 w 185057"/>
              <a:gd name="connsiteY2" fmla="*/ 359229 h 446314"/>
              <a:gd name="connsiteX3" fmla="*/ 185057 w 185057"/>
              <a:gd name="connsiteY3" fmla="*/ 446314 h 446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57" h="446314">
                <a:moveTo>
                  <a:pt x="0" y="0"/>
                </a:moveTo>
                <a:cubicBezTo>
                  <a:pt x="8164" y="73479"/>
                  <a:pt x="16329" y="146958"/>
                  <a:pt x="32657" y="206829"/>
                </a:cubicBezTo>
                <a:cubicBezTo>
                  <a:pt x="48985" y="266700"/>
                  <a:pt x="72571" y="319315"/>
                  <a:pt x="97971" y="359229"/>
                </a:cubicBezTo>
                <a:cubicBezTo>
                  <a:pt x="123371" y="399143"/>
                  <a:pt x="154214" y="422728"/>
                  <a:pt x="185057" y="446314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989624" y="3645968"/>
                <a:ext cx="3888432" cy="20660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>
                              <a:latin typeface="Cambria Math"/>
                            </a:rPr>
                            <m:t>𝟒</m:t>
                          </m:r>
                        </m:e>
                        <m:sup>
                          <m:r>
                            <a:rPr lang="en-GB" b="1" i="1">
                              <a:latin typeface="Cambria Math"/>
                            </a:rPr>
                            <m:t>𝟐</m:t>
                          </m:r>
                        </m:sup>
                      </m:sSup>
                      <m:r>
                        <a:rPr lang="en-GB" b="1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>
                              <a:latin typeface="Cambria Math"/>
                            </a:rPr>
                            <m:t>𝟕</m:t>
                          </m:r>
                        </m:e>
                        <m:sup>
                          <m:r>
                            <a:rPr lang="en-GB" b="1" i="1">
                              <a:latin typeface="Cambria Math"/>
                            </a:rPr>
                            <m:t>𝟐</m:t>
                          </m:r>
                        </m:sup>
                      </m:sSup>
                      <m:r>
                        <a:rPr lang="en-GB" b="1" i="1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>
                              <a:latin typeface="Cambria Math"/>
                            </a:rPr>
                            <m:t>𝟗</m:t>
                          </m:r>
                        </m:e>
                        <m:sup>
                          <m:r>
                            <a:rPr lang="en-GB" b="1" i="1">
                              <a:latin typeface="Cambria Math"/>
                            </a:rPr>
                            <m:t>𝟐</m:t>
                          </m:r>
                        </m:sup>
                      </m:sSup>
                      <m:r>
                        <a:rPr lang="en-GB" b="1" i="1">
                          <a:latin typeface="Cambria Math"/>
                        </a:rPr>
                        <m:t>−</m:t>
                      </m:r>
                      <m:d>
                        <m:d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>
                              <a:latin typeface="Cambria Math"/>
                            </a:rPr>
                            <m:t>𝟐</m:t>
                          </m:r>
                          <m:r>
                            <a:rPr lang="en-GB" b="1" i="1">
                              <a:latin typeface="Cambria Math"/>
                            </a:rPr>
                            <m:t>×</m:t>
                          </m:r>
                          <m:r>
                            <a:rPr lang="en-GB" b="1" i="1">
                              <a:latin typeface="Cambria Math"/>
                            </a:rPr>
                            <m:t>𝟕</m:t>
                          </m:r>
                          <m:r>
                            <a:rPr lang="en-GB" b="1" i="1">
                              <a:latin typeface="Cambria Math"/>
                            </a:rPr>
                            <m:t>×</m:t>
                          </m:r>
                          <m:r>
                            <a:rPr lang="en-GB" b="1" i="1">
                              <a:latin typeface="Cambria Math"/>
                            </a:rPr>
                            <m:t>𝟗</m:t>
                          </m:r>
                          <m:r>
                            <a:rPr lang="en-GB" b="1" i="1">
                              <a:latin typeface="Cambria Math"/>
                            </a:rPr>
                            <m:t>×</m:t>
                          </m:r>
                          <m:func>
                            <m:func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>
                                  <a:latin typeface="Cambria Math"/>
                                </a:rPr>
                                <m:t>𝐜𝐨𝐬</m:t>
                              </m:r>
                            </m:fName>
                            <m:e>
                              <m:r>
                                <a:rPr lang="en-GB" b="1" i="1">
                                  <a:latin typeface="Cambria Math"/>
                                </a:rPr>
                                <m:t>𝜶</m:t>
                              </m:r>
                            </m:e>
                          </m:func>
                        </m:e>
                      </m:d>
                    </m:oMath>
                    <m:oMath xmlns:m="http://schemas.openxmlformats.org/officeDocument/2006/math">
                      <m:r>
                        <a:rPr lang="en-GB" b="1" i="1">
                          <a:latin typeface="Cambria Math"/>
                        </a:rPr>
                        <m:t>𝟏𝟔</m:t>
                      </m:r>
                      <m:r>
                        <a:rPr lang="en-GB" b="1" i="1">
                          <a:latin typeface="Cambria Math"/>
                        </a:rPr>
                        <m:t>=</m:t>
                      </m:r>
                      <m:r>
                        <a:rPr lang="en-GB" b="1" i="1">
                          <a:latin typeface="Cambria Math"/>
                        </a:rPr>
                        <m:t>𝟏𝟑𝟎</m:t>
                      </m:r>
                      <m:r>
                        <a:rPr lang="en-GB" b="1" i="1">
                          <a:latin typeface="Cambria Math"/>
                        </a:rPr>
                        <m:t>−</m:t>
                      </m:r>
                      <m:r>
                        <a:rPr lang="en-GB" b="1" i="1">
                          <a:latin typeface="Cambria Math"/>
                        </a:rPr>
                        <m:t>𝟏𝟐𝟔</m:t>
                      </m:r>
                      <m:func>
                        <m:func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>
                              <a:latin typeface="Cambria Math"/>
                            </a:rPr>
                            <m:t>𝐜𝐨𝐬</m:t>
                          </m:r>
                        </m:fName>
                        <m:e>
                          <m:r>
                            <a:rPr lang="en-GB" b="1" i="1">
                              <a:latin typeface="Cambria Math"/>
                            </a:rPr>
                            <m:t>𝜶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b="1" i="1">
                          <a:latin typeface="Cambria Math"/>
                        </a:rPr>
                        <m:t>𝟏𝟐𝟔</m:t>
                      </m:r>
                      <m:func>
                        <m:func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>
                              <a:latin typeface="Cambria Math"/>
                            </a:rPr>
                            <m:t>𝐜𝐨𝐬</m:t>
                          </m:r>
                        </m:fName>
                        <m:e>
                          <m:r>
                            <a:rPr lang="en-GB" b="1" i="1">
                              <a:latin typeface="Cambria Math"/>
                            </a:rPr>
                            <m:t>𝜶</m:t>
                          </m:r>
                        </m:e>
                      </m:func>
                      <m:r>
                        <a:rPr lang="en-GB" b="1" i="1">
                          <a:latin typeface="Cambria Math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𝟏𝟑𝟎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𝟏𝟔</m:t>
                      </m:r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>
                              <a:latin typeface="Cambria Math"/>
                            </a:rPr>
                            <m:t>𝐜𝐨𝐬</m:t>
                          </m:r>
                        </m:fName>
                        <m:e>
                          <m:r>
                            <a:rPr lang="en-GB" b="1" i="1">
                              <a:latin typeface="Cambria Math"/>
                            </a:rPr>
                            <m:t>𝜶</m:t>
                          </m:r>
                        </m:e>
                      </m:func>
                      <m:r>
                        <a:rPr lang="en-GB" b="1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>
                              <a:latin typeface="Cambria Math"/>
                            </a:rPr>
                            <m:t>𝟏𝟏𝟒</m:t>
                          </m:r>
                        </m:num>
                        <m:den>
                          <m:r>
                            <a:rPr lang="en-GB" b="1" i="1">
                              <a:latin typeface="Cambria Math"/>
                            </a:rPr>
                            <m:t>𝟏𝟐𝟔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GB" b="1" i="1">
                          <a:latin typeface="Cambria Math"/>
                        </a:rPr>
                        <m:t>𝜶</m:t>
                      </m:r>
                      <m:r>
                        <a:rPr lang="en-GB" b="1" i="1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>
                                  <a:latin typeface="Cambria Math"/>
                                </a:rPr>
                                <m:t>𝐜𝐨𝐬</m:t>
                              </m:r>
                            </m:e>
                            <m:sup>
                              <m:r>
                                <a:rPr lang="en-GB" b="1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GB" b="1" i="1">
                                  <a:latin typeface="Cambria Math"/>
                                </a:rPr>
                                <m:t>𝟏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1" i="1">
                                      <a:latin typeface="Cambria Math"/>
                                    </a:rPr>
                                    <m:t>𝟏𝟏𝟒</m:t>
                                  </m:r>
                                </m:num>
                                <m:den>
                                  <m:r>
                                    <a:rPr lang="en-GB" b="1" i="1">
                                      <a:latin typeface="Cambria Math"/>
                                    </a:rPr>
                                    <m:t>𝟏𝟐𝟔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GB" b="1" i="1">
                          <a:latin typeface="Cambria Math"/>
                        </a:rPr>
                        <m:t>=</m:t>
                      </m:r>
                      <m:r>
                        <a:rPr lang="en-GB" b="1" i="1">
                          <a:latin typeface="Cambria Math"/>
                        </a:rPr>
                        <m:t>𝟐𝟓</m:t>
                      </m:r>
                      <m:r>
                        <a:rPr lang="en-GB" b="1" i="1">
                          <a:latin typeface="Cambria Math"/>
                        </a:rPr>
                        <m:t>.</m:t>
                      </m:r>
                      <m:r>
                        <a:rPr lang="en-GB" b="1" i="1">
                          <a:latin typeface="Cambria Math"/>
                        </a:rPr>
                        <m:t>𝟐</m:t>
                      </m:r>
                      <m:r>
                        <a:rPr lang="en-GB" b="1" i="1">
                          <a:latin typeface="Cambria Math"/>
                        </a:rPr>
                        <m:t>°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9624" y="3645968"/>
                <a:ext cx="3888432" cy="206607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8858495" y="3455698"/>
            <a:ext cx="1737272" cy="46166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200" dirty="0"/>
              <a:t>Label sides then substitute into formula.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0024" y="3974639"/>
            <a:ext cx="1978568" cy="27699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200" dirty="0"/>
              <a:t>Simplify each bit of formula.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0024" y="4318994"/>
            <a:ext cx="1978568" cy="46166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200" i="1" dirty="0"/>
              <a:t>Rearrange “swapping” thing you’re subtracting and result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08675" y="3552059"/>
            <a:ext cx="3634832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09698" y="3938172"/>
            <a:ext cx="2987824" cy="3059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09698" y="4244084"/>
            <a:ext cx="2987824" cy="3059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09698" y="4553599"/>
            <a:ext cx="2987824" cy="123338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2888162" y="1484784"/>
                <a:ext cx="6088158" cy="53296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b="1" i="1">
                              <a:latin typeface="Cambria Math"/>
                            </a:rPr>
                            <m:t>𝒂</m:t>
                          </m:r>
                        </m:e>
                        <m:sup>
                          <m:r>
                            <a:rPr lang="en-GB" sz="2800" b="1" i="1">
                              <a:latin typeface="Cambria Math"/>
                            </a:rPr>
                            <m:t>𝟐</m:t>
                          </m:r>
                        </m:sup>
                      </m:sSup>
                      <m:r>
                        <a:rPr lang="en-GB" sz="2800" b="1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GB" sz="28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b="1" i="1">
                              <a:latin typeface="Cambria Math"/>
                            </a:rPr>
                            <m:t>𝒃</m:t>
                          </m:r>
                        </m:e>
                        <m:sup>
                          <m:r>
                            <a:rPr lang="en-GB" sz="2800" b="1" i="1">
                              <a:latin typeface="Cambria Math"/>
                            </a:rPr>
                            <m:t>𝟐</m:t>
                          </m:r>
                        </m:sup>
                      </m:sSup>
                      <m:r>
                        <a:rPr lang="en-GB" sz="2800" b="1" i="1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GB" sz="28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b="1" i="1">
                              <a:latin typeface="Cambria Math"/>
                            </a:rPr>
                            <m:t>𝒄</m:t>
                          </m:r>
                        </m:e>
                        <m:sup>
                          <m:r>
                            <a:rPr lang="en-GB" sz="2800" b="1" i="1">
                              <a:latin typeface="Cambria Math"/>
                            </a:rPr>
                            <m:t>𝟐</m:t>
                          </m:r>
                        </m:sup>
                      </m:sSup>
                      <m:r>
                        <a:rPr lang="en-GB" sz="2800" b="1" i="1">
                          <a:latin typeface="Cambria Math"/>
                        </a:rPr>
                        <m:t>−</m:t>
                      </m:r>
                      <m:r>
                        <a:rPr lang="en-GB" sz="2800" b="1" i="1">
                          <a:latin typeface="Cambria Math"/>
                        </a:rPr>
                        <m:t>𝟐</m:t>
                      </m:r>
                      <m:r>
                        <a:rPr lang="en-GB" sz="2800" b="1" i="1">
                          <a:latin typeface="Cambria Math"/>
                        </a:rPr>
                        <m:t>𝒃𝒄</m:t>
                      </m:r>
                      <m:func>
                        <m:funcPr>
                          <m:ctrlPr>
                            <a:rPr lang="en-GB" sz="28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2800" b="1">
                              <a:latin typeface="Cambria Math"/>
                            </a:rPr>
                            <m:t>𝐜𝐨𝐬</m:t>
                          </m:r>
                        </m:fName>
                        <m:e>
                          <m:r>
                            <a:rPr lang="en-GB" sz="2800" b="1" i="1">
                              <a:latin typeface="Cambria Math"/>
                            </a:rPr>
                            <m:t>𝑨</m:t>
                          </m:r>
                        </m:e>
                      </m:func>
                    </m:oMath>
                  </m:oMathPara>
                </a14:m>
                <a:endParaRPr lang="en-GB" sz="2800" b="1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8162" y="1484784"/>
                <a:ext cx="6088158" cy="53296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3025214" y="764704"/>
          <a:ext cx="6029113" cy="50631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8065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4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8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303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You have</a:t>
                      </a:r>
                      <a:endParaRPr lang="en-GB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You want</a:t>
                      </a:r>
                      <a:endParaRPr lang="en-GB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Use</a:t>
                      </a:r>
                      <a:endParaRPr lang="en-GB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42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All three sides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An angle</a:t>
                      </a:r>
                      <a:endParaRPr lang="en-GB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Cosine rule</a:t>
                      </a:r>
                      <a:endParaRPr lang="en-GB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234224" y="2466824"/>
                <a:ext cx="3993805" cy="646331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200" b="1" dirty="0"/>
                  <a:t>Tip:</a:t>
                </a:r>
                <a:r>
                  <a:rPr lang="en-GB" sz="1200" dirty="0"/>
                  <a:t> The brackets are not needed, but students who forget about BIDMAS see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2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sz="1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200" i="1"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  <m:sup>
                            <m:r>
                              <a:rPr lang="en-GB" sz="1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GB" sz="1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200" i="1"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  <m:sup>
                            <m:r>
                              <a:rPr lang="en-GB" sz="1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−2×7×9</m:t>
                        </m:r>
                      </m:e>
                    </m:d>
                    <m:func>
                      <m:func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2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func>
                  </m:oMath>
                </a14:m>
                <a:r>
                  <a:rPr lang="en-GB" sz="1200" dirty="0"/>
                  <a:t> and hence incorrectly simplify to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16=4</m:t>
                    </m:r>
                    <m:func>
                      <m:func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2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func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4224" y="2466824"/>
                <a:ext cx="3993805" cy="646331"/>
              </a:xfrm>
              <a:prstGeom prst="rect">
                <a:avLst/>
              </a:prstGeom>
              <a:blipFill>
                <a:blip r:embed="rId8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/>
          <p:cNvCxnSpPr/>
          <p:nvPr/>
        </p:nvCxnSpPr>
        <p:spPr>
          <a:xfrm flipH="1">
            <a:off x="7084829" y="3108965"/>
            <a:ext cx="207483" cy="3359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2087527" y="5875202"/>
                <a:ext cx="8071922" cy="60426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300" b="1" dirty="0"/>
                  <a:t>Textbook Note</a:t>
                </a:r>
                <a:r>
                  <a:rPr lang="en-GB" sz="1300" dirty="0"/>
                  <a:t>: The textbook presents the rearrangement of the cosine rule: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3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3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sz="13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func>
                    <m:r>
                      <a:rPr lang="en-GB" sz="13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3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GB" sz="13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3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GB" sz="13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1300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GB" sz="13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3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GB" sz="13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1300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GB" sz="13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3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GB" sz="13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GB" sz="13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sz="1300" i="1">
                            <a:latin typeface="Cambria Math" panose="02040503050406030204" pitchFamily="18" charset="0"/>
                          </a:rPr>
                          <m:t>𝑏𝑐</m:t>
                        </m:r>
                      </m:den>
                    </m:f>
                  </m:oMath>
                </a14:m>
                <a:r>
                  <a:rPr lang="en-GB" sz="1300" dirty="0"/>
                  <a:t> to find missing angles. It is not advisable to memorise this</a:t>
                </a: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7527" y="5875202"/>
                <a:ext cx="8071922" cy="604268"/>
              </a:xfrm>
              <a:prstGeom prst="rect">
                <a:avLst/>
              </a:prstGeom>
              <a:blipFill>
                <a:blip r:embed="rId9"/>
                <a:stretch>
                  <a:fillRect r="-376" b="-58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9373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5" grpId="0" animBg="1"/>
      <p:bldP spid="2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Harder Ones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Freeform: Shape 4"/>
          <p:cNvSpPr/>
          <p:nvPr/>
        </p:nvSpPr>
        <p:spPr>
          <a:xfrm>
            <a:off x="2119041" y="1156612"/>
            <a:ext cx="2923953" cy="1913860"/>
          </a:xfrm>
          <a:custGeom>
            <a:avLst/>
            <a:gdLst>
              <a:gd name="connsiteX0" fmla="*/ 0 w 2923953"/>
              <a:gd name="connsiteY0" fmla="*/ 1701209 h 1913860"/>
              <a:gd name="connsiteX1" fmla="*/ 1052623 w 2923953"/>
              <a:gd name="connsiteY1" fmla="*/ 0 h 1913860"/>
              <a:gd name="connsiteX2" fmla="*/ 2923953 w 2923953"/>
              <a:gd name="connsiteY2" fmla="*/ 1913860 h 1913860"/>
              <a:gd name="connsiteX3" fmla="*/ 0 w 2923953"/>
              <a:gd name="connsiteY3" fmla="*/ 1701209 h 1913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23953" h="1913860">
                <a:moveTo>
                  <a:pt x="0" y="1701209"/>
                </a:moveTo>
                <a:lnTo>
                  <a:pt x="1052623" y="0"/>
                </a:lnTo>
                <a:lnTo>
                  <a:pt x="2923953" y="1913860"/>
                </a:lnTo>
                <a:lnTo>
                  <a:pt x="0" y="1701209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Freeform: Shape 5"/>
          <p:cNvSpPr/>
          <p:nvPr/>
        </p:nvSpPr>
        <p:spPr>
          <a:xfrm>
            <a:off x="2387593" y="2432525"/>
            <a:ext cx="171737" cy="438912"/>
          </a:xfrm>
          <a:custGeom>
            <a:avLst/>
            <a:gdLst>
              <a:gd name="connsiteX0" fmla="*/ 0 w 171737"/>
              <a:gd name="connsiteY0" fmla="*/ 0 h 438912"/>
              <a:gd name="connsiteX1" fmla="*/ 146304 w 171737"/>
              <a:gd name="connsiteY1" fmla="*/ 219456 h 438912"/>
              <a:gd name="connsiteX2" fmla="*/ 170688 w 171737"/>
              <a:gd name="connsiteY2" fmla="*/ 438912 h 438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1737" h="438912">
                <a:moveTo>
                  <a:pt x="0" y="0"/>
                </a:moveTo>
                <a:cubicBezTo>
                  <a:pt x="58928" y="73152"/>
                  <a:pt x="117856" y="146304"/>
                  <a:pt x="146304" y="219456"/>
                </a:cubicBezTo>
                <a:cubicBezTo>
                  <a:pt x="174752" y="292608"/>
                  <a:pt x="172720" y="365760"/>
                  <a:pt x="170688" y="438912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330488" y="2367389"/>
                <a:ext cx="9579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60°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0488" y="2367389"/>
                <a:ext cx="95792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226148" y="1618387"/>
                <a:ext cx="46624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6148" y="1618387"/>
                <a:ext cx="46624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940192" y="1634482"/>
                <a:ext cx="9193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0192" y="1634482"/>
                <a:ext cx="91933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017236" y="3016106"/>
                <a:ext cx="8577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+8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7236" y="3016106"/>
                <a:ext cx="85778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283454" y="1465525"/>
                <a:ext cx="5181600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+8</m:t>
                              </m:r>
                            </m:e>
                          </m:d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+8</m:t>
                          </m:r>
                        </m:e>
                      </m:d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60°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4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+1=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+16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+64−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−8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3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−12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−63=0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−21=0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+3</m:t>
                          </m:r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−7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3454" y="1465525"/>
                <a:ext cx="5181600" cy="175432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544840" y="908844"/>
                <a:ext cx="3168352" cy="36933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Determine the value of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4840" y="908844"/>
                <a:ext cx="3168352" cy="369332"/>
              </a:xfrm>
              <a:prstGeom prst="rect">
                <a:avLst/>
              </a:prstGeom>
              <a:blipFill>
                <a:blip r:embed="rId7"/>
                <a:stretch>
                  <a:fillRect b="-3529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5565875" y="1456559"/>
            <a:ext cx="4778597" cy="176329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 flipV="1">
            <a:off x="2336792" y="4047108"/>
            <a:ext cx="0" cy="2376264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2336792" y="4445000"/>
            <a:ext cx="596908" cy="19783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2349492" y="4980766"/>
            <a:ext cx="2471936" cy="14426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2921002" y="4460216"/>
            <a:ext cx="1900427" cy="52055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3354863" y="4337718"/>
                <a:ext cx="8496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𝑘𝑚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4863" y="4337718"/>
                <a:ext cx="849674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2624615" y="4092065"/>
                <a:ext cx="5412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4615" y="4092065"/>
                <a:ext cx="541231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4686544" y="4794917"/>
                <a:ext cx="5412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6544" y="4794917"/>
                <a:ext cx="541231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Freeform: Shape 27"/>
          <p:cNvSpPr/>
          <p:nvPr/>
        </p:nvSpPr>
        <p:spPr>
          <a:xfrm>
            <a:off x="2336506" y="5941237"/>
            <a:ext cx="446567" cy="223284"/>
          </a:xfrm>
          <a:custGeom>
            <a:avLst/>
            <a:gdLst>
              <a:gd name="connsiteX0" fmla="*/ 0 w 446567"/>
              <a:gd name="connsiteY0" fmla="*/ 0 h 223284"/>
              <a:gd name="connsiteX1" fmla="*/ 255181 w 446567"/>
              <a:gd name="connsiteY1" fmla="*/ 85061 h 223284"/>
              <a:gd name="connsiteX2" fmla="*/ 446567 w 446567"/>
              <a:gd name="connsiteY2" fmla="*/ 223284 h 22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46567" h="223284">
                <a:moveTo>
                  <a:pt x="0" y="0"/>
                </a:moveTo>
                <a:cubicBezTo>
                  <a:pt x="90376" y="23923"/>
                  <a:pt x="180753" y="47847"/>
                  <a:pt x="255181" y="85061"/>
                </a:cubicBezTo>
                <a:cubicBezTo>
                  <a:pt x="329609" y="122275"/>
                  <a:pt x="388088" y="172779"/>
                  <a:pt x="446567" y="223284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2351689" y="5669159"/>
                <a:ext cx="6600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60°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1689" y="5669159"/>
                <a:ext cx="660096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1979999" y="6451932"/>
                <a:ext cx="5412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9999" y="6451932"/>
                <a:ext cx="541231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2071326" y="3793862"/>
                <a:ext cx="54123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1326" y="3793862"/>
                <a:ext cx="541231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Freeform: Shape 31"/>
          <p:cNvSpPr/>
          <p:nvPr/>
        </p:nvSpPr>
        <p:spPr>
          <a:xfrm>
            <a:off x="2325873" y="5473405"/>
            <a:ext cx="276447" cy="74428"/>
          </a:xfrm>
          <a:custGeom>
            <a:avLst/>
            <a:gdLst>
              <a:gd name="connsiteX0" fmla="*/ 0 w 276447"/>
              <a:gd name="connsiteY0" fmla="*/ 0 h 74428"/>
              <a:gd name="connsiteX1" fmla="*/ 148856 w 276447"/>
              <a:gd name="connsiteY1" fmla="*/ 31897 h 74428"/>
              <a:gd name="connsiteX2" fmla="*/ 276447 w 276447"/>
              <a:gd name="connsiteY2" fmla="*/ 74428 h 74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6447" h="74428">
                <a:moveTo>
                  <a:pt x="0" y="0"/>
                </a:moveTo>
                <a:cubicBezTo>
                  <a:pt x="51391" y="9746"/>
                  <a:pt x="102782" y="19492"/>
                  <a:pt x="148856" y="31897"/>
                </a:cubicBezTo>
                <a:cubicBezTo>
                  <a:pt x="194930" y="44302"/>
                  <a:pt x="235688" y="59365"/>
                  <a:pt x="276447" y="74428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2197451" y="5098135"/>
                <a:ext cx="6600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18°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7451" y="5098135"/>
                <a:ext cx="660096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2682557" y="4917915"/>
                <a:ext cx="6600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4.8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𝑘𝑚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2557" y="4917915"/>
                <a:ext cx="660096" cy="369332"/>
              </a:xfrm>
              <a:prstGeom prst="rect">
                <a:avLst/>
              </a:prstGeom>
              <a:blipFill>
                <a:blip r:embed="rId15"/>
                <a:stretch>
                  <a:fillRect r="-222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3400433" y="5779753"/>
                <a:ext cx="6600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8 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𝑘𝑚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0433" y="5779753"/>
                <a:ext cx="660096" cy="369332"/>
              </a:xfrm>
              <a:prstGeom prst="rect">
                <a:avLst/>
              </a:prstGeom>
              <a:blipFill>
                <a:blip r:embed="rId16"/>
                <a:stretch>
                  <a:fillRect r="-27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5426174" y="4769518"/>
                <a:ext cx="481002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𝟖</m:t>
                          </m:r>
                        </m:e>
                        <m:sup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𝟖</m:t>
                          </m:r>
                        </m:e>
                        <m:sup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b="1" i="1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𝟖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𝟖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×</m:t>
                          </m:r>
                          <m:func>
                            <m:func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>
                                  <a:latin typeface="Cambria Math" panose="02040503050406030204" pitchFamily="18" charset="0"/>
                                </a:rPr>
                                <m:t>𝐜𝐨𝐬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  <m:t>𝟒𝟐</m:t>
                                  </m:r>
                                  <m: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  <m:t>°</m:t>
                                  </m:r>
                                </m:e>
                              </m:d>
                            </m:e>
                          </m:func>
                        </m:e>
                      </m:d>
                    </m:oMath>
                    <m:oMath xmlns:m="http://schemas.openxmlformats.org/officeDocument/2006/math">
                      <m:r>
                        <a:rPr lang="en-GB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𝟒𝟕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   (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𝒔𝒇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b="1" dirty="0"/>
              </a:p>
              <a:p>
                <a:endParaRPr lang="en-GB" b="1" dirty="0"/>
              </a:p>
              <a:p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en-GB" b="1" dirty="0"/>
                  <a:t> is 5.47 km from coastguard station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GB" b="1" dirty="0"/>
                  <a:t>.</a:t>
                </a: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6174" y="4769518"/>
                <a:ext cx="4810026" cy="1200329"/>
              </a:xfrm>
              <a:prstGeom prst="rect">
                <a:avLst/>
              </a:prstGeom>
              <a:blipFill>
                <a:blip r:embed="rId17"/>
                <a:stretch>
                  <a:fillRect b="-76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/>
          <p:cNvSpPr/>
          <p:nvPr/>
        </p:nvSpPr>
        <p:spPr>
          <a:xfrm>
            <a:off x="1878092" y="3813219"/>
            <a:ext cx="8333910" cy="296472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4362015" y="3454187"/>
                <a:ext cx="6016470" cy="92333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[From textbook] Coastguard station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dirty="0"/>
                  <a:t> is 8 km, on a bearing of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060°</m:t>
                    </m:r>
                  </m:oMath>
                </a14:m>
                <a:r>
                  <a:rPr lang="en-GB" dirty="0"/>
                  <a:t>, from coastguard station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dirty="0"/>
                  <a:t>. A ship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dirty="0"/>
                  <a:t> is 4.8 km on a bearing of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018°</m:t>
                    </m:r>
                  </m:oMath>
                </a14:m>
                <a:r>
                  <a:rPr lang="en-GB" dirty="0"/>
                  <a:t>, away from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dirty="0"/>
                  <a:t>. Calculate how far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dirty="0"/>
                  <a:t> is from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2015" y="3454187"/>
                <a:ext cx="6016470" cy="923330"/>
              </a:xfrm>
              <a:prstGeom prst="rect">
                <a:avLst/>
              </a:prstGeom>
              <a:blipFill>
                <a:blip r:embed="rId18"/>
                <a:stretch>
                  <a:fillRect b="-1714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8713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</p:childTnLst>
        </p:cTn>
      </p:par>
    </p:tnLst>
    <p:bldLst>
      <p:bldP spid="13" grpId="0" animBg="1"/>
      <p:bldP spid="3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Freeform 1"/>
          <p:cNvSpPr/>
          <p:nvPr/>
        </p:nvSpPr>
        <p:spPr>
          <a:xfrm>
            <a:off x="2152019" y="892413"/>
            <a:ext cx="1600200" cy="2100943"/>
          </a:xfrm>
          <a:custGeom>
            <a:avLst/>
            <a:gdLst>
              <a:gd name="connsiteX0" fmla="*/ 0 w 1600200"/>
              <a:gd name="connsiteY0" fmla="*/ 1621971 h 2100943"/>
              <a:gd name="connsiteX1" fmla="*/ 1600200 w 1600200"/>
              <a:gd name="connsiteY1" fmla="*/ 2100943 h 2100943"/>
              <a:gd name="connsiteX2" fmla="*/ 1589314 w 1600200"/>
              <a:gd name="connsiteY2" fmla="*/ 0 h 2100943"/>
              <a:gd name="connsiteX3" fmla="*/ 0 w 1600200"/>
              <a:gd name="connsiteY3" fmla="*/ 1621971 h 2100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0200" h="2100943">
                <a:moveTo>
                  <a:pt x="0" y="1621971"/>
                </a:moveTo>
                <a:lnTo>
                  <a:pt x="1600200" y="2100943"/>
                </a:lnTo>
                <a:cubicBezTo>
                  <a:pt x="1596571" y="1400629"/>
                  <a:pt x="1592943" y="700314"/>
                  <a:pt x="1589314" y="0"/>
                </a:cubicBezTo>
                <a:lnTo>
                  <a:pt x="0" y="1621971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Freeform 2"/>
          <p:cNvSpPr/>
          <p:nvPr/>
        </p:nvSpPr>
        <p:spPr>
          <a:xfrm>
            <a:off x="3299631" y="2544865"/>
            <a:ext cx="435429" cy="304800"/>
          </a:xfrm>
          <a:custGeom>
            <a:avLst/>
            <a:gdLst>
              <a:gd name="connsiteX0" fmla="*/ 0 w 435429"/>
              <a:gd name="connsiteY0" fmla="*/ 304800 h 304800"/>
              <a:gd name="connsiteX1" fmla="*/ 76200 w 435429"/>
              <a:gd name="connsiteY1" fmla="*/ 152400 h 304800"/>
              <a:gd name="connsiteX2" fmla="*/ 228600 w 435429"/>
              <a:gd name="connsiteY2" fmla="*/ 43543 h 304800"/>
              <a:gd name="connsiteX3" fmla="*/ 435429 w 435429"/>
              <a:gd name="connsiteY3" fmla="*/ 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429" h="304800">
                <a:moveTo>
                  <a:pt x="0" y="304800"/>
                </a:moveTo>
                <a:cubicBezTo>
                  <a:pt x="19050" y="250371"/>
                  <a:pt x="38100" y="195943"/>
                  <a:pt x="76200" y="152400"/>
                </a:cubicBezTo>
                <a:cubicBezTo>
                  <a:pt x="114300" y="108857"/>
                  <a:pt x="168729" y="68943"/>
                  <a:pt x="228600" y="43543"/>
                </a:cubicBezTo>
                <a:cubicBezTo>
                  <a:pt x="288471" y="18143"/>
                  <a:pt x="361950" y="9071"/>
                  <a:pt x="435429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132376" y="2250763"/>
                <a:ext cx="3943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70°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2376" y="2250763"/>
                <a:ext cx="394303" cy="369332"/>
              </a:xfrm>
              <a:prstGeom prst="rect">
                <a:avLst/>
              </a:prstGeom>
              <a:blipFill>
                <a:blip r:embed="rId2"/>
                <a:stretch>
                  <a:fillRect r="-2923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557817" y="1321571"/>
                <a:ext cx="3943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7817" y="1321571"/>
                <a:ext cx="39430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723645" y="1785716"/>
                <a:ext cx="3943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3645" y="1785716"/>
                <a:ext cx="39430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574518" y="2642965"/>
                <a:ext cx="3943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/>
                        </a:rPr>
                        <m:t>6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4518" y="2642965"/>
                <a:ext cx="39430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104724" y="3181383"/>
                <a:ext cx="1728192" cy="369332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=6.36°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4724" y="3181383"/>
                <a:ext cx="172819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2890725" y="3190682"/>
            <a:ext cx="914567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41366" y="892413"/>
            <a:ext cx="366464" cy="37377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/>
              <a:t>1</a:t>
            </a:r>
            <a:endParaRPr lang="en-GB" b="1" dirty="0"/>
          </a:p>
        </p:txBody>
      </p:sp>
      <p:sp>
        <p:nvSpPr>
          <p:cNvPr id="14" name="Rectangle 13"/>
          <p:cNvSpPr/>
          <p:nvPr/>
        </p:nvSpPr>
        <p:spPr>
          <a:xfrm>
            <a:off x="7230999" y="1266682"/>
            <a:ext cx="366464" cy="37377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3</a:t>
            </a:r>
          </a:p>
        </p:txBody>
      </p:sp>
      <p:sp>
        <p:nvSpPr>
          <p:cNvPr id="15" name="Freeform: Shape 14"/>
          <p:cNvSpPr/>
          <p:nvPr/>
        </p:nvSpPr>
        <p:spPr>
          <a:xfrm>
            <a:off x="8285843" y="1244600"/>
            <a:ext cx="1930400" cy="2336800"/>
          </a:xfrm>
          <a:custGeom>
            <a:avLst/>
            <a:gdLst>
              <a:gd name="connsiteX0" fmla="*/ 0 w 1930400"/>
              <a:gd name="connsiteY0" fmla="*/ 2336800 h 2336800"/>
              <a:gd name="connsiteX1" fmla="*/ 1930400 w 1930400"/>
              <a:gd name="connsiteY1" fmla="*/ 1079500 h 2336800"/>
              <a:gd name="connsiteX2" fmla="*/ 444500 w 1930400"/>
              <a:gd name="connsiteY2" fmla="*/ 0 h 2336800"/>
              <a:gd name="connsiteX3" fmla="*/ 0 w 1930400"/>
              <a:gd name="connsiteY3" fmla="*/ 2336800 h 233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30400" h="2336800">
                <a:moveTo>
                  <a:pt x="0" y="2336800"/>
                </a:moveTo>
                <a:lnTo>
                  <a:pt x="1930400" y="1079500"/>
                </a:lnTo>
                <a:lnTo>
                  <a:pt x="444500" y="0"/>
                </a:lnTo>
                <a:lnTo>
                  <a:pt x="0" y="2336800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Freeform: Shape 15"/>
          <p:cNvSpPr/>
          <p:nvPr/>
        </p:nvSpPr>
        <p:spPr>
          <a:xfrm>
            <a:off x="8374743" y="3086100"/>
            <a:ext cx="317500" cy="215900"/>
          </a:xfrm>
          <a:custGeom>
            <a:avLst/>
            <a:gdLst>
              <a:gd name="connsiteX0" fmla="*/ 0 w 317500"/>
              <a:gd name="connsiteY0" fmla="*/ 0 h 215900"/>
              <a:gd name="connsiteX1" fmla="*/ 203200 w 317500"/>
              <a:gd name="connsiteY1" fmla="*/ 76200 h 215900"/>
              <a:gd name="connsiteX2" fmla="*/ 317500 w 317500"/>
              <a:gd name="connsiteY2" fmla="*/ 215900 h 215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7500" h="215900">
                <a:moveTo>
                  <a:pt x="0" y="0"/>
                </a:moveTo>
                <a:cubicBezTo>
                  <a:pt x="75141" y="20108"/>
                  <a:pt x="150283" y="40217"/>
                  <a:pt x="203200" y="76200"/>
                </a:cubicBezTo>
                <a:cubicBezTo>
                  <a:pt x="256117" y="112183"/>
                  <a:pt x="286808" y="164041"/>
                  <a:pt x="317500" y="21590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8472360" y="2781300"/>
                <a:ext cx="3943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60°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2360" y="2781300"/>
                <a:ext cx="394303" cy="369332"/>
              </a:xfrm>
              <a:prstGeom prst="rect">
                <a:avLst/>
              </a:prstGeom>
              <a:blipFill>
                <a:blip r:embed="rId7"/>
                <a:stretch>
                  <a:fillRect r="-2923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9280851" y="1403371"/>
                <a:ext cx="101794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−3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0851" y="1403371"/>
                <a:ext cx="101794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9264704" y="2918341"/>
                <a:ext cx="4721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4704" y="2918341"/>
                <a:ext cx="47211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7546069" y="2236134"/>
                <a:ext cx="9167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6069" y="2236134"/>
                <a:ext cx="91676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8285843" y="3781135"/>
                <a:ext cx="1728192" cy="369332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5843" y="3781135"/>
                <a:ext cx="1728192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/>
          <p:cNvSpPr/>
          <p:nvPr/>
        </p:nvSpPr>
        <p:spPr>
          <a:xfrm>
            <a:off x="9247765" y="3778039"/>
            <a:ext cx="717654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23" name="Freeform: Shape 22"/>
          <p:cNvSpPr/>
          <p:nvPr/>
        </p:nvSpPr>
        <p:spPr>
          <a:xfrm>
            <a:off x="5089388" y="2962123"/>
            <a:ext cx="1999544" cy="1948745"/>
          </a:xfrm>
          <a:custGeom>
            <a:avLst/>
            <a:gdLst>
              <a:gd name="connsiteX0" fmla="*/ 723900 w 1828800"/>
              <a:gd name="connsiteY0" fmla="*/ 0 h 2692400"/>
              <a:gd name="connsiteX1" fmla="*/ 0 w 1828800"/>
              <a:gd name="connsiteY1" fmla="*/ 2120900 h 2692400"/>
              <a:gd name="connsiteX2" fmla="*/ 1828800 w 1828800"/>
              <a:gd name="connsiteY2" fmla="*/ 2692400 h 2692400"/>
              <a:gd name="connsiteX3" fmla="*/ 723900 w 1828800"/>
              <a:gd name="connsiteY3" fmla="*/ 0 h 2692400"/>
              <a:gd name="connsiteX0" fmla="*/ 1308100 w 2413000"/>
              <a:gd name="connsiteY0" fmla="*/ 12700 h 2705100"/>
              <a:gd name="connsiteX1" fmla="*/ 0 w 2413000"/>
              <a:gd name="connsiteY1" fmla="*/ 0 h 2705100"/>
              <a:gd name="connsiteX2" fmla="*/ 2413000 w 2413000"/>
              <a:gd name="connsiteY2" fmla="*/ 2705100 h 2705100"/>
              <a:gd name="connsiteX3" fmla="*/ 1308100 w 2413000"/>
              <a:gd name="connsiteY3" fmla="*/ 12700 h 2705100"/>
              <a:gd name="connsiteX0" fmla="*/ 1446389 w 1446389"/>
              <a:gd name="connsiteY0" fmla="*/ 12700 h 2163234"/>
              <a:gd name="connsiteX1" fmla="*/ 138289 w 1446389"/>
              <a:gd name="connsiteY1" fmla="*/ 0 h 2163234"/>
              <a:gd name="connsiteX2" fmla="*/ 0 w 1446389"/>
              <a:gd name="connsiteY2" fmla="*/ 2163234 h 2163234"/>
              <a:gd name="connsiteX3" fmla="*/ 1446389 w 1446389"/>
              <a:gd name="connsiteY3" fmla="*/ 12700 h 2163234"/>
              <a:gd name="connsiteX0" fmla="*/ 1999544 w 1999544"/>
              <a:gd name="connsiteY0" fmla="*/ 12700 h 1948745"/>
              <a:gd name="connsiteX1" fmla="*/ 691444 w 1999544"/>
              <a:gd name="connsiteY1" fmla="*/ 0 h 1948745"/>
              <a:gd name="connsiteX2" fmla="*/ 0 w 1999544"/>
              <a:gd name="connsiteY2" fmla="*/ 1948745 h 1948745"/>
              <a:gd name="connsiteX3" fmla="*/ 1999544 w 1999544"/>
              <a:gd name="connsiteY3" fmla="*/ 12700 h 1948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9544" h="1948745">
                <a:moveTo>
                  <a:pt x="1999544" y="12700"/>
                </a:moveTo>
                <a:lnTo>
                  <a:pt x="691444" y="0"/>
                </a:lnTo>
                <a:lnTo>
                  <a:pt x="0" y="1948745"/>
                </a:lnTo>
                <a:lnTo>
                  <a:pt x="1999544" y="12700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/>
          <p:cNvSpPr/>
          <p:nvPr/>
        </p:nvSpPr>
        <p:spPr>
          <a:xfrm>
            <a:off x="4617981" y="2879909"/>
            <a:ext cx="366464" cy="37377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2</a:t>
            </a:r>
          </a:p>
        </p:txBody>
      </p:sp>
      <p:sp>
        <p:nvSpPr>
          <p:cNvPr id="25" name="Freeform: Shape 24"/>
          <p:cNvSpPr/>
          <p:nvPr/>
        </p:nvSpPr>
        <p:spPr>
          <a:xfrm>
            <a:off x="5651863" y="2979057"/>
            <a:ext cx="541020" cy="350520"/>
          </a:xfrm>
          <a:custGeom>
            <a:avLst/>
            <a:gdLst>
              <a:gd name="connsiteX0" fmla="*/ 0 w 541020"/>
              <a:gd name="connsiteY0" fmla="*/ 350520 h 350520"/>
              <a:gd name="connsiteX1" fmla="*/ 297180 w 541020"/>
              <a:gd name="connsiteY1" fmla="*/ 274320 h 350520"/>
              <a:gd name="connsiteX2" fmla="*/ 541020 w 541020"/>
              <a:gd name="connsiteY2" fmla="*/ 0 h 350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1020" h="350520">
                <a:moveTo>
                  <a:pt x="0" y="350520"/>
                </a:moveTo>
                <a:cubicBezTo>
                  <a:pt x="103505" y="341630"/>
                  <a:pt x="207010" y="332740"/>
                  <a:pt x="297180" y="274320"/>
                </a:cubicBezTo>
                <a:cubicBezTo>
                  <a:pt x="387350" y="215900"/>
                  <a:pt x="464185" y="107950"/>
                  <a:pt x="541020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5125660" y="3494694"/>
                <a:ext cx="3943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5660" y="3494694"/>
                <a:ext cx="394303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6295714" y="2623445"/>
                <a:ext cx="3943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5714" y="2623445"/>
                <a:ext cx="394303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6115635" y="3848941"/>
                <a:ext cx="3943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35" y="3848941"/>
                <a:ext cx="394303" cy="369332"/>
              </a:xfrm>
              <a:prstGeom prst="rect">
                <a:avLst/>
              </a:prstGeom>
              <a:blipFill>
                <a:blip r:embed="rId14"/>
                <a:stretch>
                  <a:fillRect r="-923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5064658" y="5182404"/>
                <a:ext cx="1728192" cy="369332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=124.2°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4658" y="5182404"/>
                <a:ext cx="1728192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/>
          <p:cNvSpPr/>
          <p:nvPr/>
        </p:nvSpPr>
        <p:spPr>
          <a:xfrm>
            <a:off x="5830229" y="5182404"/>
            <a:ext cx="914567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5830229" y="3209121"/>
                <a:ext cx="3943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0229" y="3209121"/>
                <a:ext cx="394303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4559923" y="5703100"/>
            <a:ext cx="29729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Note</a:t>
            </a:r>
            <a:r>
              <a:rPr lang="en-GB" dirty="0"/>
              <a:t>: You will get an obtuse angle whenever you inverse cos of a negative value.</a:t>
            </a:r>
          </a:p>
        </p:txBody>
      </p:sp>
    </p:spTree>
    <p:extLst>
      <p:ext uri="{BB962C8B-B14F-4D97-AF65-F5344CB8AC3E}">
        <p14:creationId xmlns:p14="http://schemas.microsoft.com/office/powerpoint/2010/main" val="1651567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</p:childTnLst>
        </p:cTn>
      </p:par>
    </p:tnLst>
    <p:bldLst>
      <p:bldP spid="12" grpId="0" animBg="1"/>
      <p:bldP spid="22" grpId="0" animBg="1"/>
      <p:bldP spid="30" grpId="0" animBg="1"/>
      <p:bldP spid="3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0"/>
            <a:ext cx="9143074" cy="1077218"/>
            <a:chOff x="0" y="13335"/>
            <a:chExt cx="9144218" cy="1077218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1077218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9A – Y1 pages 177-179</a:t>
              </a:r>
            </a:p>
            <a:p>
              <a:r>
                <a:rPr lang="en-GB" dirty="0"/>
                <a:t> 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A4824D14-E1B7-F0E4-DD4D-266FC8DE6B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4867" y="4219587"/>
            <a:ext cx="3544044" cy="21424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240ECA2-0A9F-95F8-F271-6901055A22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5347" y="4399376"/>
            <a:ext cx="2520280" cy="1782865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B5D24884-592C-DB3F-E552-3A12145454FB}"/>
              </a:ext>
            </a:extLst>
          </p:cNvPr>
          <p:cNvGrpSpPr/>
          <p:nvPr/>
        </p:nvGrpSpPr>
        <p:grpSpPr>
          <a:xfrm>
            <a:off x="6888088" y="836712"/>
            <a:ext cx="2160240" cy="2547854"/>
            <a:chOff x="5796136" y="764705"/>
            <a:chExt cx="1796085" cy="2118358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AC502E1-8BB6-6F1D-2A4A-048EAEEABF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b="19444"/>
            <a:stretch/>
          </p:blipFill>
          <p:spPr>
            <a:xfrm>
              <a:off x="5796136" y="764705"/>
              <a:ext cx="1796085" cy="2088232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E69ECAE-5E90-560D-450A-28277D83ABF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7597" t="80232" r="44339"/>
            <a:stretch/>
          </p:blipFill>
          <p:spPr>
            <a:xfrm>
              <a:off x="6876256" y="2370624"/>
              <a:ext cx="504057" cy="512439"/>
            </a:xfrm>
            <a:prstGeom prst="rect">
              <a:avLst/>
            </a:prstGeom>
          </p:spPr>
        </p:pic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731D12E6-AF9D-194B-1E51-23CD7EDF8831}"/>
              </a:ext>
            </a:extLst>
          </p:cNvPr>
          <p:cNvSpPr/>
          <p:nvPr/>
        </p:nvSpPr>
        <p:spPr>
          <a:xfrm>
            <a:off x="6528049" y="692697"/>
            <a:ext cx="3816423" cy="265563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F693B8B-D2DA-CACB-7B2D-4B1327ED47E4}"/>
              </a:ext>
            </a:extLst>
          </p:cNvPr>
          <p:cNvSpPr/>
          <p:nvPr/>
        </p:nvSpPr>
        <p:spPr>
          <a:xfrm>
            <a:off x="2063553" y="4219587"/>
            <a:ext cx="7180107" cy="229559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2FCD564-E473-17E8-C490-787C10BD54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3512" y="659753"/>
            <a:ext cx="4672282" cy="158107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A23B5AB-9369-4198-2624-91A1CD03F2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03512" y="3483517"/>
            <a:ext cx="5494270" cy="611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044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0"/>
            <a:ext cx="9143074" cy="1077218"/>
            <a:chOff x="0" y="13335"/>
            <a:chExt cx="9144218" cy="1077218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1077218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9A – Y1 pages 177-179</a:t>
              </a:r>
            </a:p>
            <a:p>
              <a:r>
                <a:rPr lang="en-GB" dirty="0"/>
                <a:t> 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64A2A037-8374-4131-1777-7245EB6728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520" y="692696"/>
            <a:ext cx="7772400" cy="23289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939A529-25A6-EBF4-666E-0C18E5F1E1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281" y="3429001"/>
            <a:ext cx="4176464" cy="188813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14DAD98-D871-B1B5-A091-C771E76C9D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5907" y="3300908"/>
            <a:ext cx="3204198" cy="2722693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C8325D7-6870-9331-091F-E7F5AD354004}"/>
              </a:ext>
            </a:extLst>
          </p:cNvPr>
          <p:cNvSpPr/>
          <p:nvPr/>
        </p:nvSpPr>
        <p:spPr>
          <a:xfrm>
            <a:off x="2077502" y="3126562"/>
            <a:ext cx="3816423" cy="303874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E6806D-5D58-5D6C-1D13-E28298505262}"/>
              </a:ext>
            </a:extLst>
          </p:cNvPr>
          <p:cNvSpPr/>
          <p:nvPr/>
        </p:nvSpPr>
        <p:spPr>
          <a:xfrm>
            <a:off x="6009795" y="3126561"/>
            <a:ext cx="3816423" cy="303874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 </a:t>
            </a:r>
          </a:p>
        </p:txBody>
      </p:sp>
    </p:spTree>
    <p:extLst>
      <p:ext uri="{BB962C8B-B14F-4D97-AF65-F5344CB8AC3E}">
        <p14:creationId xmlns:p14="http://schemas.microsoft.com/office/powerpoint/2010/main" val="1355524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>
                  <a:solidFill>
                    <a:srgbClr val="FF0000"/>
                  </a:solidFill>
                </a:rPr>
                <a:t>Extension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919536" y="908720"/>
                <a:ext cx="8034036" cy="181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i="1" dirty="0"/>
                  <a:t>[STEP I 2009 Q4i]</a:t>
                </a:r>
              </a:p>
              <a:p>
                <a:r>
                  <a:rPr lang="en-GB" sz="1600" dirty="0"/>
                  <a:t>The sides of a triangle have lengths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GB" sz="1600" dirty="0"/>
                  <a:t>,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GB" sz="1600" dirty="0"/>
                  <a:t>, where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GB" sz="1600" dirty="0"/>
                  <a:t>. The largest and smallest angles of the triangle are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GB" sz="1600" dirty="0"/>
                  <a:t> respectively. Show by means of the cosine rule that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4</m:t>
                      </m:r>
                      <m:d>
                        <m:d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1−</m:t>
                          </m:r>
                          <m:func>
                            <m:func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func>
                        </m:e>
                      </m:d>
                      <m:d>
                        <m:d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1−</m:t>
                          </m:r>
                          <m:func>
                            <m:func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func>
                        </m:e>
                      </m:d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en-GB" sz="1600" dirty="0"/>
              </a:p>
              <a:p>
                <a:pPr marL="342900" indent="-342900">
                  <a:buAutoNum type="alphaUcParenR"/>
                </a:pPr>
                <a:endParaRPr lang="en-GB" sz="1600" dirty="0"/>
              </a:p>
              <a:p>
                <a:r>
                  <a:rPr lang="en-GB" sz="1600" b="1" dirty="0"/>
                  <a:t>Note that the longest side of a triangle is opposite the largest angle, and the shortest opposite the smallest angle. Thus: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9536" y="908720"/>
                <a:ext cx="8034036" cy="1815882"/>
              </a:xfrm>
              <a:prstGeom prst="rect">
                <a:avLst/>
              </a:prstGeom>
              <a:blipFill>
                <a:blip r:embed="rId2"/>
                <a:stretch>
                  <a:fillRect l="-455" t="-1007" b="-33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1686850" y="1020224"/>
            <a:ext cx="216024" cy="21591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10" name="Freeform: Shape 9"/>
          <p:cNvSpPr/>
          <p:nvPr/>
        </p:nvSpPr>
        <p:spPr>
          <a:xfrm>
            <a:off x="2008969" y="3658853"/>
            <a:ext cx="1959428" cy="943428"/>
          </a:xfrm>
          <a:custGeom>
            <a:avLst/>
            <a:gdLst>
              <a:gd name="connsiteX0" fmla="*/ 0 w 1959428"/>
              <a:gd name="connsiteY0" fmla="*/ 943428 h 943428"/>
              <a:gd name="connsiteX1" fmla="*/ 290286 w 1959428"/>
              <a:gd name="connsiteY1" fmla="*/ 0 h 943428"/>
              <a:gd name="connsiteX2" fmla="*/ 1959428 w 1959428"/>
              <a:gd name="connsiteY2" fmla="*/ 420914 h 943428"/>
              <a:gd name="connsiteX3" fmla="*/ 0 w 1959428"/>
              <a:gd name="connsiteY3" fmla="*/ 943428 h 943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9428" h="943428">
                <a:moveTo>
                  <a:pt x="0" y="943428"/>
                </a:moveTo>
                <a:lnTo>
                  <a:pt x="290286" y="0"/>
                </a:lnTo>
                <a:lnTo>
                  <a:pt x="1959428" y="420914"/>
                </a:lnTo>
                <a:lnTo>
                  <a:pt x="0" y="943428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 rot="20691149">
                <a:off x="2203081" y="4390497"/>
                <a:ext cx="93610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691149">
                <a:off x="2203081" y="4390497"/>
                <a:ext cx="936104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 rot="17353807">
                <a:off x="1495948" y="3895416"/>
                <a:ext cx="93610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353807">
                <a:off x="1495948" y="3895416"/>
                <a:ext cx="936104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834619" y="3534233"/>
                <a:ext cx="61988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4619" y="3534233"/>
                <a:ext cx="619883" cy="307777"/>
              </a:xfrm>
              <a:prstGeom prst="rect">
                <a:avLst/>
              </a:prstGeom>
              <a:blipFill>
                <a:blip r:embed="rId5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Freeform: Shape 13"/>
          <p:cNvSpPr/>
          <p:nvPr/>
        </p:nvSpPr>
        <p:spPr>
          <a:xfrm>
            <a:off x="2238476" y="3749568"/>
            <a:ext cx="368300" cy="140921"/>
          </a:xfrm>
          <a:custGeom>
            <a:avLst/>
            <a:gdLst>
              <a:gd name="connsiteX0" fmla="*/ 0 w 368300"/>
              <a:gd name="connsiteY0" fmla="*/ 139700 h 140921"/>
              <a:gd name="connsiteX1" fmla="*/ 215900 w 368300"/>
              <a:gd name="connsiteY1" fmla="*/ 120650 h 140921"/>
              <a:gd name="connsiteX2" fmla="*/ 368300 w 368300"/>
              <a:gd name="connsiteY2" fmla="*/ 0 h 140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8300" h="140921">
                <a:moveTo>
                  <a:pt x="0" y="139700"/>
                </a:moveTo>
                <a:cubicBezTo>
                  <a:pt x="77258" y="141816"/>
                  <a:pt x="154517" y="143933"/>
                  <a:pt x="215900" y="120650"/>
                </a:cubicBezTo>
                <a:cubicBezTo>
                  <a:pt x="277283" y="97367"/>
                  <a:pt x="322791" y="48683"/>
                  <a:pt x="368300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247902" y="3807939"/>
                <a:ext cx="49666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7902" y="3807939"/>
                <a:ext cx="496660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144559" y="3924264"/>
                <a:ext cx="49666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4559" y="3924264"/>
                <a:ext cx="496660" cy="307777"/>
              </a:xfrm>
              <a:prstGeom prst="rect">
                <a:avLst/>
              </a:prstGeom>
              <a:blipFill>
                <a:blip r:embed="rId7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Freeform: Shape 16"/>
          <p:cNvSpPr/>
          <p:nvPr/>
        </p:nvSpPr>
        <p:spPr>
          <a:xfrm>
            <a:off x="3495776" y="3984517"/>
            <a:ext cx="57150" cy="215900"/>
          </a:xfrm>
          <a:custGeom>
            <a:avLst/>
            <a:gdLst>
              <a:gd name="connsiteX0" fmla="*/ 0 w 57150"/>
              <a:gd name="connsiteY0" fmla="*/ 215900 h 215900"/>
              <a:gd name="connsiteX1" fmla="*/ 19050 w 57150"/>
              <a:gd name="connsiteY1" fmla="*/ 88900 h 215900"/>
              <a:gd name="connsiteX2" fmla="*/ 57150 w 57150"/>
              <a:gd name="connsiteY2" fmla="*/ 0 h 215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150" h="215900">
                <a:moveTo>
                  <a:pt x="0" y="215900"/>
                </a:moveTo>
                <a:cubicBezTo>
                  <a:pt x="4762" y="170391"/>
                  <a:pt x="9525" y="124883"/>
                  <a:pt x="19050" y="88900"/>
                </a:cubicBezTo>
                <a:cubicBezTo>
                  <a:pt x="28575" y="52917"/>
                  <a:pt x="42862" y="26458"/>
                  <a:pt x="57150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2684142" y="4471654"/>
                <a:ext cx="4018136" cy="963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b="1" i="1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  <m:r>
                                <a:rPr lang="en-GB" sz="14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4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</m:d>
                        </m:e>
                        <m:sup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400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400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b="1" i="1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  <m:r>
                                <a:rPr lang="en-GB" sz="14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4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</m:d>
                        </m:e>
                        <m:sup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400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𝒑</m:t>
                      </m:r>
                      <m:d>
                        <m:dPr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</m:d>
                      <m:func>
                        <m:funcPr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1400" b="1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func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b="1" i="1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  <m:r>
                                <a:rPr lang="en-GB" sz="14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4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</m:d>
                        </m:e>
                        <m:sup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400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400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b="1" i="1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  <m:r>
                                <a:rPr lang="en-GB" sz="14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4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</m:d>
                        </m:e>
                        <m:sup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400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𝒑</m:t>
                      </m:r>
                      <m:d>
                        <m:dPr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</m:d>
                      <m:func>
                        <m:funcPr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1400" b="1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𝜶</m:t>
                          </m:r>
                        </m:e>
                      </m:func>
                    </m:oMath>
                  </m:oMathPara>
                </a14:m>
                <a:endParaRPr lang="en-GB" sz="1400" b="1" dirty="0"/>
              </a:p>
              <a:p>
                <a:r>
                  <a:rPr lang="en-GB" sz="1400" b="1" dirty="0"/>
                  <a:t>We can manipulate and combine these two equations to get the desired equation above.</a:t>
                </a: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4142" y="4471654"/>
                <a:ext cx="4018136" cy="963725"/>
              </a:xfrm>
              <a:prstGeom prst="rect">
                <a:avLst/>
              </a:prstGeom>
              <a:blipFill>
                <a:blip r:embed="rId8"/>
                <a:stretch>
                  <a:fillRect l="-455" b="-56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1778168" y="2174811"/>
            <a:ext cx="7926715" cy="358802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851233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The Sine Rule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Freeform 4"/>
          <p:cNvSpPr/>
          <p:nvPr/>
        </p:nvSpPr>
        <p:spPr>
          <a:xfrm>
            <a:off x="2351584" y="908721"/>
            <a:ext cx="4086970" cy="3768919"/>
          </a:xfrm>
          <a:custGeom>
            <a:avLst/>
            <a:gdLst>
              <a:gd name="connsiteX0" fmla="*/ 0 w 4086970"/>
              <a:gd name="connsiteY0" fmla="*/ 2592126 h 3768919"/>
              <a:gd name="connsiteX1" fmla="*/ 1773141 w 4086970"/>
              <a:gd name="connsiteY1" fmla="*/ 0 h 3768919"/>
              <a:gd name="connsiteX2" fmla="*/ 4086970 w 4086970"/>
              <a:gd name="connsiteY2" fmla="*/ 3768919 h 3768919"/>
              <a:gd name="connsiteX3" fmla="*/ 0 w 4086970"/>
              <a:gd name="connsiteY3" fmla="*/ 2592126 h 3768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86970" h="3768919">
                <a:moveTo>
                  <a:pt x="0" y="2592126"/>
                </a:moveTo>
                <a:lnTo>
                  <a:pt x="1773141" y="0"/>
                </a:lnTo>
                <a:lnTo>
                  <a:pt x="4086970" y="3768919"/>
                </a:lnTo>
                <a:lnTo>
                  <a:pt x="0" y="2592126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Freeform 5"/>
          <p:cNvSpPr/>
          <p:nvPr/>
        </p:nvSpPr>
        <p:spPr>
          <a:xfrm>
            <a:off x="3751013" y="1465313"/>
            <a:ext cx="739472" cy="102041"/>
          </a:xfrm>
          <a:custGeom>
            <a:avLst/>
            <a:gdLst>
              <a:gd name="connsiteX0" fmla="*/ 0 w 739472"/>
              <a:gd name="connsiteY0" fmla="*/ 0 h 102041"/>
              <a:gd name="connsiteX1" fmla="*/ 127221 w 739472"/>
              <a:gd name="connsiteY1" fmla="*/ 71562 h 102041"/>
              <a:gd name="connsiteX2" fmla="*/ 445273 w 739472"/>
              <a:gd name="connsiteY2" fmla="*/ 95415 h 102041"/>
              <a:gd name="connsiteX3" fmla="*/ 739472 w 739472"/>
              <a:gd name="connsiteY3" fmla="*/ 31805 h 102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472" h="102041">
                <a:moveTo>
                  <a:pt x="0" y="0"/>
                </a:moveTo>
                <a:cubicBezTo>
                  <a:pt x="26504" y="27830"/>
                  <a:pt x="53009" y="55660"/>
                  <a:pt x="127221" y="71562"/>
                </a:cubicBezTo>
                <a:cubicBezTo>
                  <a:pt x="201433" y="87464"/>
                  <a:pt x="343231" y="102041"/>
                  <a:pt x="445273" y="95415"/>
                </a:cubicBezTo>
                <a:cubicBezTo>
                  <a:pt x="547315" y="88789"/>
                  <a:pt x="643393" y="60297"/>
                  <a:pt x="739472" y="31805"/>
                </a:cubicBezTo>
              </a:path>
            </a:pathLst>
          </a:cu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/>
          <p:cNvSpPr txBox="1"/>
          <p:nvPr/>
        </p:nvSpPr>
        <p:spPr>
          <a:xfrm>
            <a:off x="3688579" y="1546286"/>
            <a:ext cx="864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65</a:t>
            </a:r>
            <a:r>
              <a:rPr lang="en-GB" sz="2400" dirty="0">
                <a:latin typeface="Calibri"/>
              </a:rPr>
              <a:t>°</a:t>
            </a:r>
            <a:endParaRPr lang="en-GB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3040507" y="2914438"/>
            <a:ext cx="72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85</a:t>
            </a:r>
            <a:r>
              <a:rPr lang="en-GB" sz="2400" dirty="0">
                <a:latin typeface="Calibri"/>
              </a:rPr>
              <a:t>°</a:t>
            </a:r>
            <a:endParaRPr lang="en-GB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4912715" y="3634518"/>
            <a:ext cx="864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30</a:t>
            </a:r>
            <a:r>
              <a:rPr lang="en-GB" sz="2400" dirty="0">
                <a:latin typeface="Calibri"/>
              </a:rPr>
              <a:t>°</a:t>
            </a:r>
            <a:endParaRPr lang="en-GB" sz="2400" dirty="0"/>
          </a:p>
        </p:txBody>
      </p:sp>
      <p:sp>
        <p:nvSpPr>
          <p:cNvPr id="10" name="Freeform 9"/>
          <p:cNvSpPr/>
          <p:nvPr/>
        </p:nvSpPr>
        <p:spPr>
          <a:xfrm>
            <a:off x="2741198" y="2912450"/>
            <a:ext cx="320702" cy="811033"/>
          </a:xfrm>
          <a:custGeom>
            <a:avLst/>
            <a:gdLst>
              <a:gd name="connsiteX0" fmla="*/ 0 w 320702"/>
              <a:gd name="connsiteY0" fmla="*/ 0 h 811033"/>
              <a:gd name="connsiteX1" fmla="*/ 159026 w 320702"/>
              <a:gd name="connsiteY1" fmla="*/ 119270 h 811033"/>
              <a:gd name="connsiteX2" fmla="*/ 294198 w 320702"/>
              <a:gd name="connsiteY2" fmla="*/ 318052 h 811033"/>
              <a:gd name="connsiteX3" fmla="*/ 318052 w 320702"/>
              <a:gd name="connsiteY3" fmla="*/ 628153 h 811033"/>
              <a:gd name="connsiteX4" fmla="*/ 294198 w 320702"/>
              <a:gd name="connsiteY4" fmla="*/ 811033 h 811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0702" h="811033">
                <a:moveTo>
                  <a:pt x="0" y="0"/>
                </a:moveTo>
                <a:cubicBezTo>
                  <a:pt x="54996" y="33130"/>
                  <a:pt x="109993" y="66261"/>
                  <a:pt x="159026" y="119270"/>
                </a:cubicBezTo>
                <a:cubicBezTo>
                  <a:pt x="208059" y="172279"/>
                  <a:pt x="267694" y="233238"/>
                  <a:pt x="294198" y="318052"/>
                </a:cubicBezTo>
                <a:cubicBezTo>
                  <a:pt x="320702" y="402866"/>
                  <a:pt x="318052" y="545990"/>
                  <a:pt x="318052" y="628153"/>
                </a:cubicBezTo>
                <a:cubicBezTo>
                  <a:pt x="318052" y="710316"/>
                  <a:pt x="306125" y="760674"/>
                  <a:pt x="294198" y="811033"/>
                </a:cubicBezTo>
              </a:path>
            </a:pathLst>
          </a:cu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reeform 10"/>
          <p:cNvSpPr/>
          <p:nvPr/>
        </p:nvSpPr>
        <p:spPr>
          <a:xfrm>
            <a:off x="5468496" y="3747336"/>
            <a:ext cx="397565" cy="659958"/>
          </a:xfrm>
          <a:custGeom>
            <a:avLst/>
            <a:gdLst>
              <a:gd name="connsiteX0" fmla="*/ 0 w 397565"/>
              <a:gd name="connsiteY0" fmla="*/ 659958 h 659958"/>
              <a:gd name="connsiteX1" fmla="*/ 47708 w 397565"/>
              <a:gd name="connsiteY1" fmla="*/ 453224 h 659958"/>
              <a:gd name="connsiteX2" fmla="*/ 190831 w 397565"/>
              <a:gd name="connsiteY2" fmla="*/ 182880 h 659958"/>
              <a:gd name="connsiteX3" fmla="*/ 397565 w 397565"/>
              <a:gd name="connsiteY3" fmla="*/ 0 h 659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7565" h="659958">
                <a:moveTo>
                  <a:pt x="0" y="659958"/>
                </a:moveTo>
                <a:cubicBezTo>
                  <a:pt x="7951" y="596347"/>
                  <a:pt x="15903" y="532737"/>
                  <a:pt x="47708" y="453224"/>
                </a:cubicBezTo>
                <a:cubicBezTo>
                  <a:pt x="79513" y="373711"/>
                  <a:pt x="132522" y="258417"/>
                  <a:pt x="190831" y="182880"/>
                </a:cubicBezTo>
                <a:cubicBezTo>
                  <a:pt x="249141" y="107343"/>
                  <a:pt x="323353" y="53671"/>
                  <a:pt x="397565" y="0"/>
                </a:cubicBezTo>
              </a:path>
            </a:pathLst>
          </a:cu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/>
          <p:cNvSpPr txBox="1"/>
          <p:nvPr/>
        </p:nvSpPr>
        <p:spPr>
          <a:xfrm>
            <a:off x="5056731" y="1978334"/>
            <a:ext cx="7920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0427" y="1690302"/>
            <a:ext cx="10081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5.02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4563" y="4138574"/>
            <a:ext cx="10081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9.10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88088" y="1196752"/>
            <a:ext cx="2880320" cy="147732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For this triangle, try calculating each side divided by the sin of its opposite angle. What do you notice in all three cases?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6806513" y="3038648"/>
                <a:ext cx="3600400" cy="134126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800" dirty="0">
                    <a:latin typeface="Wingdings" panose="05000000000000000000" pitchFamily="2" charset="2"/>
                  </a:rPr>
                  <a:t>!</a:t>
                </a:r>
                <a:r>
                  <a:rPr lang="en-GB" sz="2800" dirty="0"/>
                  <a:t> Sine Rule: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func>
                            <m:func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8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func>
                        </m:den>
                      </m:f>
                      <m:r>
                        <a:rPr lang="en-GB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func>
                            <m:func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8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func>
                        </m:den>
                      </m:f>
                      <m:r>
                        <a:rPr lang="en-GB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func>
                            <m:func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8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6513" y="3038648"/>
                <a:ext cx="3600400" cy="1341265"/>
              </a:xfrm>
              <a:prstGeom prst="rect">
                <a:avLst/>
              </a:prstGeom>
              <a:blipFill>
                <a:blip r:embed="rId2"/>
                <a:stretch>
                  <a:fillRect l="-641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Group 25"/>
          <p:cNvGrpSpPr/>
          <p:nvPr/>
        </p:nvGrpSpPr>
        <p:grpSpPr>
          <a:xfrm>
            <a:off x="3040507" y="1186246"/>
            <a:ext cx="2376264" cy="3702025"/>
            <a:chOff x="1547664" y="1700808"/>
            <a:chExt cx="2376264" cy="3702025"/>
          </a:xfrm>
        </p:grpSpPr>
        <p:sp>
          <p:nvSpPr>
            <p:cNvPr id="19" name="TextBox 18"/>
            <p:cNvSpPr txBox="1"/>
            <p:nvPr/>
          </p:nvSpPr>
          <p:spPr>
            <a:xfrm>
              <a:off x="3491880" y="1988840"/>
              <a:ext cx="432048" cy="461665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GB" sz="2400" dirty="0"/>
                <a:t>c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691680" y="3789040"/>
              <a:ext cx="432048" cy="461665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GB" sz="2400" dirty="0"/>
                <a:t>C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547664" y="1700808"/>
              <a:ext cx="432048" cy="461665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GB" sz="2400" dirty="0"/>
                <a:t>b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491880" y="3717032"/>
              <a:ext cx="432048" cy="461665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GB" sz="2400" dirty="0"/>
                <a:t>B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059832" y="4941168"/>
              <a:ext cx="432048" cy="461665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GB" sz="2400" dirty="0"/>
                <a:t>a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627784" y="2420888"/>
              <a:ext cx="432048" cy="461665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GB" sz="2400" dirty="0"/>
                <a:t>A</a:t>
              </a:r>
            </a:p>
          </p:txBody>
        </p:sp>
      </p:grpSp>
      <p:sp>
        <p:nvSpPr>
          <p:cNvPr id="25" name="Rectangle 24"/>
          <p:cNvSpPr/>
          <p:nvPr/>
        </p:nvSpPr>
        <p:spPr>
          <a:xfrm>
            <a:off x="6817346" y="3038648"/>
            <a:ext cx="3589567" cy="13412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3143673" y="5229200"/>
          <a:ext cx="6029113" cy="132791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528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8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303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You have</a:t>
                      </a:r>
                      <a:endParaRPr lang="en-GB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You want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Use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#1: Two angle-side opposite pairs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GB" sz="2000" dirty="0">
                        <a:effectLst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Missing angle</a:t>
                      </a:r>
                      <a:r>
                        <a:rPr lang="en-GB" sz="2000" baseline="0" dirty="0">
                          <a:effectLst/>
                        </a:rPr>
                        <a:t> or side in one pair</a:t>
                      </a:r>
                      <a:endParaRPr lang="en-GB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Sine rule</a:t>
                      </a:r>
                      <a:endParaRPr lang="en-GB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8886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Examples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Freeform 4"/>
          <p:cNvSpPr/>
          <p:nvPr/>
        </p:nvSpPr>
        <p:spPr>
          <a:xfrm>
            <a:off x="2279577" y="1186871"/>
            <a:ext cx="2965837" cy="2011680"/>
          </a:xfrm>
          <a:custGeom>
            <a:avLst/>
            <a:gdLst>
              <a:gd name="connsiteX0" fmla="*/ 0 w 2965837"/>
              <a:gd name="connsiteY0" fmla="*/ 2011680 h 2011680"/>
              <a:gd name="connsiteX1" fmla="*/ 2965837 w 2965837"/>
              <a:gd name="connsiteY1" fmla="*/ 1192696 h 2011680"/>
              <a:gd name="connsiteX2" fmla="*/ 1431235 w 2965837"/>
              <a:gd name="connsiteY2" fmla="*/ 0 h 2011680"/>
              <a:gd name="connsiteX3" fmla="*/ 0 w 2965837"/>
              <a:gd name="connsiteY3" fmla="*/ 2011680 h 2011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65837" h="2011680">
                <a:moveTo>
                  <a:pt x="0" y="2011680"/>
                </a:moveTo>
                <a:lnTo>
                  <a:pt x="2965837" y="1192696"/>
                </a:lnTo>
                <a:lnTo>
                  <a:pt x="1431235" y="0"/>
                </a:lnTo>
                <a:lnTo>
                  <a:pt x="0" y="2011680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Freeform 5"/>
          <p:cNvSpPr/>
          <p:nvPr/>
        </p:nvSpPr>
        <p:spPr>
          <a:xfrm>
            <a:off x="2645336" y="2697620"/>
            <a:ext cx="278296" cy="333955"/>
          </a:xfrm>
          <a:custGeom>
            <a:avLst/>
            <a:gdLst>
              <a:gd name="connsiteX0" fmla="*/ 278296 w 278296"/>
              <a:gd name="connsiteY0" fmla="*/ 333955 h 333955"/>
              <a:gd name="connsiteX1" fmla="*/ 238539 w 278296"/>
              <a:gd name="connsiteY1" fmla="*/ 222637 h 333955"/>
              <a:gd name="connsiteX2" fmla="*/ 95416 w 278296"/>
              <a:gd name="connsiteY2" fmla="*/ 55659 h 333955"/>
              <a:gd name="connsiteX3" fmla="*/ 0 w 278296"/>
              <a:gd name="connsiteY3" fmla="*/ 0 h 333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8296" h="333955">
                <a:moveTo>
                  <a:pt x="278296" y="333955"/>
                </a:moveTo>
                <a:cubicBezTo>
                  <a:pt x="273657" y="301487"/>
                  <a:pt x="269019" y="269019"/>
                  <a:pt x="238539" y="222637"/>
                </a:cubicBezTo>
                <a:cubicBezTo>
                  <a:pt x="208059" y="176255"/>
                  <a:pt x="135172" y="92765"/>
                  <a:pt x="95416" y="55659"/>
                </a:cubicBezTo>
                <a:cubicBezTo>
                  <a:pt x="55660" y="18553"/>
                  <a:pt x="27830" y="9276"/>
                  <a:pt x="0" y="0"/>
                </a:cubicBezTo>
              </a:path>
            </a:pathLst>
          </a:cu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/>
          <p:cNvSpPr txBox="1"/>
          <p:nvPr/>
        </p:nvSpPr>
        <p:spPr>
          <a:xfrm>
            <a:off x="2702090" y="2454375"/>
            <a:ext cx="72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45</a:t>
            </a:r>
            <a:r>
              <a:rPr lang="en-GB" sz="2400" dirty="0">
                <a:latin typeface="Calibri"/>
              </a:rPr>
              <a:t>°</a:t>
            </a:r>
            <a:endParaRPr lang="en-GB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4358274" y="1230239"/>
            <a:ext cx="7920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50162" y="2814415"/>
            <a:ext cx="12961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11.27</a:t>
            </a:r>
          </a:p>
        </p:txBody>
      </p:sp>
      <p:sp>
        <p:nvSpPr>
          <p:cNvPr id="10" name="Freeform 9"/>
          <p:cNvSpPr/>
          <p:nvPr/>
        </p:nvSpPr>
        <p:spPr>
          <a:xfrm>
            <a:off x="3496126" y="1473118"/>
            <a:ext cx="572494" cy="106018"/>
          </a:xfrm>
          <a:custGeom>
            <a:avLst/>
            <a:gdLst>
              <a:gd name="connsiteX0" fmla="*/ 0 w 572494"/>
              <a:gd name="connsiteY0" fmla="*/ 23854 h 106018"/>
              <a:gd name="connsiteX1" fmla="*/ 166977 w 572494"/>
              <a:gd name="connsiteY1" fmla="*/ 95416 h 106018"/>
              <a:gd name="connsiteX2" fmla="*/ 405516 w 572494"/>
              <a:gd name="connsiteY2" fmla="*/ 87465 h 106018"/>
              <a:gd name="connsiteX3" fmla="*/ 572494 w 572494"/>
              <a:gd name="connsiteY3" fmla="*/ 0 h 106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2494" h="106018">
                <a:moveTo>
                  <a:pt x="0" y="23854"/>
                </a:moveTo>
                <a:cubicBezTo>
                  <a:pt x="49695" y="54334"/>
                  <a:pt x="99391" y="84814"/>
                  <a:pt x="166977" y="95416"/>
                </a:cubicBezTo>
                <a:cubicBezTo>
                  <a:pt x="234563" y="106018"/>
                  <a:pt x="337930" y="103368"/>
                  <a:pt x="405516" y="87465"/>
                </a:cubicBezTo>
                <a:cubicBezTo>
                  <a:pt x="473102" y="71562"/>
                  <a:pt x="522798" y="35781"/>
                  <a:pt x="572494" y="0"/>
                </a:cubicBezTo>
              </a:path>
            </a:pathLst>
          </a:cu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/>
          <p:cNvSpPr txBox="1"/>
          <p:nvPr/>
        </p:nvSpPr>
        <p:spPr>
          <a:xfrm>
            <a:off x="3422170" y="1590279"/>
            <a:ext cx="72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85</a:t>
            </a:r>
            <a:r>
              <a:rPr lang="en-GB" sz="2400" dirty="0">
                <a:latin typeface="Calibri"/>
              </a:rPr>
              <a:t>°</a:t>
            </a:r>
            <a:endParaRPr lang="en-GB" sz="2400" dirty="0"/>
          </a:p>
        </p:txBody>
      </p:sp>
      <p:sp>
        <p:nvSpPr>
          <p:cNvPr id="12" name="Rectangle 11"/>
          <p:cNvSpPr/>
          <p:nvPr/>
        </p:nvSpPr>
        <p:spPr>
          <a:xfrm>
            <a:off x="3422170" y="2886422"/>
            <a:ext cx="1008112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8034" y="1086222"/>
            <a:ext cx="648072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/>
              <a:t>Q1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143673" y="5229200"/>
          <a:ext cx="6029113" cy="132791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528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8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303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You have</a:t>
                      </a:r>
                      <a:endParaRPr lang="en-GB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You want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Use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#1: Two angle-side opposite pairs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GB" sz="2000" dirty="0">
                        <a:effectLst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Missing angle</a:t>
                      </a:r>
                      <a:r>
                        <a:rPr lang="en-GB" sz="2000" baseline="0" dirty="0">
                          <a:effectLst/>
                        </a:rPr>
                        <a:t> or side in one pair</a:t>
                      </a:r>
                      <a:endParaRPr lang="en-GB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Sine rule</a:t>
                      </a:r>
                      <a:endParaRPr lang="en-GB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Freeform 14"/>
          <p:cNvSpPr/>
          <p:nvPr/>
        </p:nvSpPr>
        <p:spPr>
          <a:xfrm>
            <a:off x="6928361" y="1374254"/>
            <a:ext cx="2160240" cy="2160241"/>
          </a:xfrm>
          <a:custGeom>
            <a:avLst/>
            <a:gdLst>
              <a:gd name="connsiteX0" fmla="*/ 0 w 2965837"/>
              <a:gd name="connsiteY0" fmla="*/ 2011680 h 2011680"/>
              <a:gd name="connsiteX1" fmla="*/ 2965837 w 2965837"/>
              <a:gd name="connsiteY1" fmla="*/ 1192696 h 2011680"/>
              <a:gd name="connsiteX2" fmla="*/ 1431235 w 2965837"/>
              <a:gd name="connsiteY2" fmla="*/ 0 h 2011680"/>
              <a:gd name="connsiteX3" fmla="*/ 0 w 2965837"/>
              <a:gd name="connsiteY3" fmla="*/ 2011680 h 2011680"/>
              <a:gd name="connsiteX0" fmla="*/ 0 w 2965837"/>
              <a:gd name="connsiteY0" fmla="*/ 2040321 h 2040321"/>
              <a:gd name="connsiteX1" fmla="*/ 2965837 w 2965837"/>
              <a:gd name="connsiteY1" fmla="*/ 1221337 h 2040321"/>
              <a:gd name="connsiteX2" fmla="*/ 1214602 w 2965837"/>
              <a:gd name="connsiteY2" fmla="*/ 0 h 2040321"/>
              <a:gd name="connsiteX3" fmla="*/ 0 w 2965837"/>
              <a:gd name="connsiteY3" fmla="*/ 2040321 h 2040321"/>
              <a:gd name="connsiteX0" fmla="*/ 0 w 2399307"/>
              <a:gd name="connsiteY0" fmla="*/ 2160241 h 2160241"/>
              <a:gd name="connsiteX1" fmla="*/ 2399307 w 2399307"/>
              <a:gd name="connsiteY1" fmla="*/ 1221337 h 2160241"/>
              <a:gd name="connsiteX2" fmla="*/ 648072 w 2399307"/>
              <a:gd name="connsiteY2" fmla="*/ 0 h 2160241"/>
              <a:gd name="connsiteX3" fmla="*/ 0 w 2399307"/>
              <a:gd name="connsiteY3" fmla="*/ 2160241 h 2160241"/>
              <a:gd name="connsiteX0" fmla="*/ 0 w 2376264"/>
              <a:gd name="connsiteY0" fmla="*/ 2160241 h 2160241"/>
              <a:gd name="connsiteX1" fmla="*/ 2376264 w 2376264"/>
              <a:gd name="connsiteY1" fmla="*/ 864097 h 2160241"/>
              <a:gd name="connsiteX2" fmla="*/ 648072 w 2376264"/>
              <a:gd name="connsiteY2" fmla="*/ 0 h 2160241"/>
              <a:gd name="connsiteX3" fmla="*/ 0 w 2376264"/>
              <a:gd name="connsiteY3" fmla="*/ 2160241 h 2160241"/>
              <a:gd name="connsiteX0" fmla="*/ 0 w 2160240"/>
              <a:gd name="connsiteY0" fmla="*/ 2160241 h 2160241"/>
              <a:gd name="connsiteX1" fmla="*/ 2160240 w 2160240"/>
              <a:gd name="connsiteY1" fmla="*/ 1 h 2160241"/>
              <a:gd name="connsiteX2" fmla="*/ 648072 w 2160240"/>
              <a:gd name="connsiteY2" fmla="*/ 0 h 2160241"/>
              <a:gd name="connsiteX3" fmla="*/ 0 w 2160240"/>
              <a:gd name="connsiteY3" fmla="*/ 2160241 h 2160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0240" h="2160241">
                <a:moveTo>
                  <a:pt x="0" y="2160241"/>
                </a:moveTo>
                <a:lnTo>
                  <a:pt x="2160240" y="1"/>
                </a:lnTo>
                <a:lnTo>
                  <a:pt x="648072" y="0"/>
                </a:lnTo>
                <a:lnTo>
                  <a:pt x="0" y="2160241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/>
          <p:cNvSpPr txBox="1"/>
          <p:nvPr/>
        </p:nvSpPr>
        <p:spPr>
          <a:xfrm>
            <a:off x="7576433" y="1662286"/>
            <a:ext cx="7920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100</a:t>
            </a:r>
            <a:r>
              <a:rPr lang="en-GB" sz="2400" dirty="0">
                <a:latin typeface="Calibri"/>
              </a:rPr>
              <a:t>°</a:t>
            </a:r>
            <a:endParaRPr lang="en-GB" sz="2400" dirty="0"/>
          </a:p>
        </p:txBody>
      </p:sp>
      <p:sp>
        <p:nvSpPr>
          <p:cNvPr id="17" name="TextBox 16"/>
          <p:cNvSpPr txBox="1"/>
          <p:nvPr/>
        </p:nvSpPr>
        <p:spPr>
          <a:xfrm>
            <a:off x="7936473" y="798190"/>
            <a:ext cx="7920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8481" y="2310358"/>
            <a:ext cx="12961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15.76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2377" y="2526382"/>
            <a:ext cx="72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30</a:t>
            </a:r>
            <a:r>
              <a:rPr lang="en-GB" sz="2400" dirty="0">
                <a:latin typeface="Calibri"/>
              </a:rPr>
              <a:t>°</a:t>
            </a:r>
            <a:endParaRPr lang="en-GB" sz="2400" dirty="0"/>
          </a:p>
        </p:txBody>
      </p:sp>
      <p:sp>
        <p:nvSpPr>
          <p:cNvPr id="20" name="Rectangle 19"/>
          <p:cNvSpPr/>
          <p:nvPr/>
        </p:nvSpPr>
        <p:spPr>
          <a:xfrm>
            <a:off x="8080489" y="2382365"/>
            <a:ext cx="1008112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4345" y="942205"/>
            <a:ext cx="648072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/>
              <a:t>Q2</a:t>
            </a:r>
          </a:p>
        </p:txBody>
      </p:sp>
      <p:sp>
        <p:nvSpPr>
          <p:cNvPr id="22" name="Freeform 21"/>
          <p:cNvSpPr/>
          <p:nvPr/>
        </p:nvSpPr>
        <p:spPr>
          <a:xfrm>
            <a:off x="7449577" y="1377256"/>
            <a:ext cx="485030" cy="429371"/>
          </a:xfrm>
          <a:custGeom>
            <a:avLst/>
            <a:gdLst>
              <a:gd name="connsiteX0" fmla="*/ 0 w 485030"/>
              <a:gd name="connsiteY0" fmla="*/ 429371 h 429371"/>
              <a:gd name="connsiteX1" fmla="*/ 206734 w 485030"/>
              <a:gd name="connsiteY1" fmla="*/ 413468 h 429371"/>
              <a:gd name="connsiteX2" fmla="*/ 405517 w 485030"/>
              <a:gd name="connsiteY2" fmla="*/ 270345 h 429371"/>
              <a:gd name="connsiteX3" fmla="*/ 485030 w 485030"/>
              <a:gd name="connsiteY3" fmla="*/ 0 h 429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5030" h="429371">
                <a:moveTo>
                  <a:pt x="0" y="429371"/>
                </a:moveTo>
                <a:lnTo>
                  <a:pt x="206734" y="413468"/>
                </a:lnTo>
                <a:cubicBezTo>
                  <a:pt x="274320" y="386964"/>
                  <a:pt x="359134" y="339256"/>
                  <a:pt x="405517" y="270345"/>
                </a:cubicBezTo>
                <a:cubicBezTo>
                  <a:pt x="451900" y="201434"/>
                  <a:pt x="468465" y="100717"/>
                  <a:pt x="485030" y="0"/>
                </a:cubicBezTo>
              </a:path>
            </a:pathLst>
          </a:cu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Freeform 22"/>
          <p:cNvSpPr/>
          <p:nvPr/>
        </p:nvSpPr>
        <p:spPr>
          <a:xfrm>
            <a:off x="7115622" y="2853549"/>
            <a:ext cx="302150" cy="201433"/>
          </a:xfrm>
          <a:custGeom>
            <a:avLst/>
            <a:gdLst>
              <a:gd name="connsiteX0" fmla="*/ 0 w 302150"/>
              <a:gd name="connsiteY0" fmla="*/ 2650 h 201433"/>
              <a:gd name="connsiteX1" fmla="*/ 111318 w 302150"/>
              <a:gd name="connsiteY1" fmla="*/ 18553 h 201433"/>
              <a:gd name="connsiteX2" fmla="*/ 254442 w 302150"/>
              <a:gd name="connsiteY2" fmla="*/ 113968 h 201433"/>
              <a:gd name="connsiteX3" fmla="*/ 302150 w 302150"/>
              <a:gd name="connsiteY3" fmla="*/ 201433 h 201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2150" h="201433">
                <a:moveTo>
                  <a:pt x="0" y="2650"/>
                </a:moveTo>
                <a:cubicBezTo>
                  <a:pt x="34455" y="1325"/>
                  <a:pt x="68911" y="0"/>
                  <a:pt x="111318" y="18553"/>
                </a:cubicBezTo>
                <a:cubicBezTo>
                  <a:pt x="153725" y="37106"/>
                  <a:pt x="222637" y="83488"/>
                  <a:pt x="254442" y="113968"/>
                </a:cubicBezTo>
                <a:cubicBezTo>
                  <a:pt x="286247" y="144448"/>
                  <a:pt x="294198" y="172940"/>
                  <a:pt x="302150" y="201433"/>
                </a:cubicBezTo>
              </a:path>
            </a:pathLst>
          </a:cu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Freeform 23"/>
          <p:cNvSpPr/>
          <p:nvPr/>
        </p:nvSpPr>
        <p:spPr>
          <a:xfrm>
            <a:off x="8562761" y="1377255"/>
            <a:ext cx="190831" cy="326004"/>
          </a:xfrm>
          <a:custGeom>
            <a:avLst/>
            <a:gdLst>
              <a:gd name="connsiteX0" fmla="*/ 0 w 190831"/>
              <a:gd name="connsiteY0" fmla="*/ 0 h 326004"/>
              <a:gd name="connsiteX1" fmla="*/ 31805 w 190831"/>
              <a:gd name="connsiteY1" fmla="*/ 151075 h 326004"/>
              <a:gd name="connsiteX2" fmla="*/ 127220 w 190831"/>
              <a:gd name="connsiteY2" fmla="*/ 286247 h 326004"/>
              <a:gd name="connsiteX3" fmla="*/ 190831 w 190831"/>
              <a:gd name="connsiteY3" fmla="*/ 326004 h 326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831" h="326004">
                <a:moveTo>
                  <a:pt x="0" y="0"/>
                </a:moveTo>
                <a:cubicBezTo>
                  <a:pt x="5301" y="51683"/>
                  <a:pt x="10602" y="103367"/>
                  <a:pt x="31805" y="151075"/>
                </a:cubicBezTo>
                <a:cubicBezTo>
                  <a:pt x="53008" y="198783"/>
                  <a:pt x="100716" y="257092"/>
                  <a:pt x="127220" y="286247"/>
                </a:cubicBezTo>
                <a:cubicBezTo>
                  <a:pt x="153724" y="315402"/>
                  <a:pt x="190831" y="326004"/>
                  <a:pt x="190831" y="326004"/>
                </a:cubicBezTo>
              </a:path>
            </a:pathLst>
          </a:cu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/>
          <p:cNvSpPr txBox="1"/>
          <p:nvPr/>
        </p:nvSpPr>
        <p:spPr>
          <a:xfrm>
            <a:off x="8080489" y="1374254"/>
            <a:ext cx="72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50</a:t>
            </a:r>
            <a:r>
              <a:rPr lang="en-GB" sz="2400" dirty="0">
                <a:latin typeface="Calibri"/>
              </a:rPr>
              <a:t>°</a:t>
            </a:r>
            <a:endParaRPr lang="en-GB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2702090" y="3534495"/>
                <a:ext cx="2673830" cy="14158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num>
                        <m:den>
                          <m:func>
                            <m:func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>
                                  <a:latin typeface="Cambria Math" panose="02040503050406030204" pitchFamily="18" charset="0"/>
                                </a:rPr>
                                <m:t>𝐬𝐢𝐧</m:t>
                              </m:r>
                            </m:fName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𝟖𝟓</m:t>
                              </m:r>
                            </m:e>
                          </m:func>
                        </m:den>
                      </m:f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𝟖</m:t>
                          </m:r>
                        </m:num>
                        <m:den>
                          <m:func>
                            <m:func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>
                                  <a:latin typeface="Cambria Math" panose="02040503050406030204" pitchFamily="18" charset="0"/>
                                </a:rPr>
                                <m:t>𝐬𝐢𝐧</m:t>
                              </m:r>
                            </m:fName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𝟒𝟓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br>
                  <a:rPr lang="en-GB" b="1" dirty="0"/>
                </a:br>
                <a:endParaRPr lang="en-GB" b="1" dirty="0"/>
              </a:p>
              <a:p>
                <a:endParaRPr lang="en-GB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𝟖</m:t>
                          </m:r>
                          <m:func>
                            <m:func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>
                                  <a:latin typeface="Cambria Math" panose="02040503050406030204" pitchFamily="18" charset="0"/>
                                </a:rPr>
                                <m:t>𝐬𝐢𝐧</m:t>
                              </m:r>
                            </m:fName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𝟖𝟓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>
                                  <a:latin typeface="Cambria Math" panose="02040503050406030204" pitchFamily="18" charset="0"/>
                                </a:rPr>
                                <m:t>𝐬𝐢𝐧</m:t>
                              </m:r>
                            </m:fName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𝟒𝟓</m:t>
                              </m:r>
                            </m:e>
                          </m:func>
                        </m:den>
                      </m:f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𝟏𝟏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𝟐𝟕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2090" y="3534495"/>
                <a:ext cx="2673830" cy="141583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6928361" y="3547149"/>
                <a:ext cx="2673830" cy="14158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num>
                        <m:den>
                          <m:func>
                            <m:func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>
                                  <a:latin typeface="Cambria Math" panose="02040503050406030204" pitchFamily="18" charset="0"/>
                                </a:rPr>
                                <m:t>𝐬𝐢𝐧</m:t>
                              </m:r>
                            </m:fName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𝟏𝟎𝟎</m:t>
                              </m:r>
                            </m:e>
                          </m:func>
                        </m:den>
                      </m:f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𝟖</m:t>
                          </m:r>
                        </m:num>
                        <m:den>
                          <m:func>
                            <m:func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>
                                  <a:latin typeface="Cambria Math" panose="02040503050406030204" pitchFamily="18" charset="0"/>
                                </a:rPr>
                                <m:t>𝐬𝐢𝐧</m:t>
                              </m:r>
                            </m:fName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𝟑𝟎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br>
                  <a:rPr lang="en-GB" b="1" dirty="0"/>
                </a:br>
                <a:endParaRPr lang="en-GB" b="1" dirty="0"/>
              </a:p>
              <a:p>
                <a:endParaRPr lang="en-GB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𝟖</m:t>
                          </m:r>
                          <m:func>
                            <m:func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>
                                  <a:latin typeface="Cambria Math" panose="02040503050406030204" pitchFamily="18" charset="0"/>
                                </a:rPr>
                                <m:t>𝐬𝐢𝐧</m:t>
                              </m:r>
                            </m:fName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𝟏𝟎𝟎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>
                                  <a:latin typeface="Cambria Math" panose="02040503050406030204" pitchFamily="18" charset="0"/>
                                </a:rPr>
                                <m:t>𝐬𝐢𝐧</m:t>
                              </m:r>
                            </m:fName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𝟑𝟎</m:t>
                              </m:r>
                            </m:e>
                          </m:func>
                        </m:den>
                      </m:f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𝟏𝟓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𝟕𝟔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8361" y="3547149"/>
                <a:ext cx="2673830" cy="14158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4762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  <p:bldLst>
      <p:bldP spid="12" grpId="0" animBg="1"/>
      <p:bldP spid="20" grpId="0" animBg="1"/>
      <p:bldP spid="26" grpId="0"/>
      <p:bldP spid="2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3469676" y="4679201"/>
                <a:ext cx="2749458" cy="20437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85</m:t>
                              </m:r>
                            </m:e>
                          </m:func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5</m:t>
                          </m:r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85</m:t>
                              </m:r>
                            </m:e>
                          </m:func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  <m:func>
                                    <m:func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GB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85</m:t>
                                      </m:r>
                                    </m:e>
                                  </m:func>
                                </m:num>
                                <m:den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=56.11°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9676" y="4679201"/>
                <a:ext cx="2749458" cy="204370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Examples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15" name="Freeform 14"/>
          <p:cNvSpPr/>
          <p:nvPr/>
        </p:nvSpPr>
        <p:spPr>
          <a:xfrm>
            <a:off x="2662576" y="2729000"/>
            <a:ext cx="2355273" cy="2170546"/>
          </a:xfrm>
          <a:custGeom>
            <a:avLst/>
            <a:gdLst>
              <a:gd name="connsiteX0" fmla="*/ 683491 w 2355273"/>
              <a:gd name="connsiteY0" fmla="*/ 2170546 h 2170546"/>
              <a:gd name="connsiteX1" fmla="*/ 0 w 2355273"/>
              <a:gd name="connsiteY1" fmla="*/ 332509 h 2170546"/>
              <a:gd name="connsiteX2" fmla="*/ 2355273 w 2355273"/>
              <a:gd name="connsiteY2" fmla="*/ 0 h 2170546"/>
              <a:gd name="connsiteX3" fmla="*/ 683491 w 2355273"/>
              <a:gd name="connsiteY3" fmla="*/ 2170546 h 2170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55273" h="2170546">
                <a:moveTo>
                  <a:pt x="683491" y="2170546"/>
                </a:moveTo>
                <a:lnTo>
                  <a:pt x="0" y="332509"/>
                </a:lnTo>
                <a:lnTo>
                  <a:pt x="2355273" y="0"/>
                </a:lnTo>
                <a:lnTo>
                  <a:pt x="683491" y="2170546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/>
          <p:cNvSpPr txBox="1"/>
          <p:nvPr/>
        </p:nvSpPr>
        <p:spPr>
          <a:xfrm>
            <a:off x="3004022" y="3149750"/>
            <a:ext cx="7085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85</a:t>
            </a:r>
            <a:r>
              <a:rPr lang="en-GB" sz="2400" dirty="0">
                <a:latin typeface="Calibri"/>
              </a:rPr>
              <a:t>°</a:t>
            </a:r>
            <a:endParaRPr lang="en-GB" sz="2400" dirty="0"/>
          </a:p>
        </p:txBody>
      </p:sp>
      <p:sp>
        <p:nvSpPr>
          <p:cNvPr id="28" name="TextBox 27"/>
          <p:cNvSpPr txBox="1"/>
          <p:nvPr/>
        </p:nvSpPr>
        <p:spPr>
          <a:xfrm>
            <a:off x="3920883" y="3796787"/>
            <a:ext cx="7920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44819" y="2299935"/>
            <a:ext cx="7920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19" name="Freeform 18"/>
          <p:cNvSpPr/>
          <p:nvPr/>
        </p:nvSpPr>
        <p:spPr>
          <a:xfrm>
            <a:off x="3176403" y="4367081"/>
            <a:ext cx="489527" cy="103934"/>
          </a:xfrm>
          <a:custGeom>
            <a:avLst/>
            <a:gdLst>
              <a:gd name="connsiteX0" fmla="*/ 0 w 489527"/>
              <a:gd name="connsiteY0" fmla="*/ 85462 h 103934"/>
              <a:gd name="connsiteX1" fmla="*/ 166255 w 489527"/>
              <a:gd name="connsiteY1" fmla="*/ 2334 h 103934"/>
              <a:gd name="connsiteX2" fmla="*/ 378691 w 489527"/>
              <a:gd name="connsiteY2" fmla="*/ 30043 h 103934"/>
              <a:gd name="connsiteX3" fmla="*/ 489527 w 489527"/>
              <a:gd name="connsiteY3" fmla="*/ 103934 h 103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9527" h="103934">
                <a:moveTo>
                  <a:pt x="0" y="85462"/>
                </a:moveTo>
                <a:cubicBezTo>
                  <a:pt x="51570" y="48516"/>
                  <a:pt x="103140" y="11570"/>
                  <a:pt x="166255" y="2334"/>
                </a:cubicBezTo>
                <a:cubicBezTo>
                  <a:pt x="229370" y="-6902"/>
                  <a:pt x="324812" y="13110"/>
                  <a:pt x="378691" y="30043"/>
                </a:cubicBezTo>
                <a:cubicBezTo>
                  <a:pt x="432570" y="46976"/>
                  <a:pt x="461048" y="75455"/>
                  <a:pt x="489527" y="103934"/>
                </a:cubicBezTo>
              </a:path>
            </a:pathLst>
          </a:cu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Freeform 29"/>
          <p:cNvSpPr/>
          <p:nvPr/>
        </p:nvSpPr>
        <p:spPr>
          <a:xfrm>
            <a:off x="2843894" y="3002434"/>
            <a:ext cx="320257" cy="526473"/>
          </a:xfrm>
          <a:custGeom>
            <a:avLst/>
            <a:gdLst>
              <a:gd name="connsiteX0" fmla="*/ 0 w 320257"/>
              <a:gd name="connsiteY0" fmla="*/ 526473 h 526473"/>
              <a:gd name="connsiteX1" fmla="*/ 120073 w 320257"/>
              <a:gd name="connsiteY1" fmla="*/ 461819 h 526473"/>
              <a:gd name="connsiteX2" fmla="*/ 249382 w 320257"/>
              <a:gd name="connsiteY2" fmla="*/ 295564 h 526473"/>
              <a:gd name="connsiteX3" fmla="*/ 314036 w 320257"/>
              <a:gd name="connsiteY3" fmla="*/ 55419 h 526473"/>
              <a:gd name="connsiteX4" fmla="*/ 314036 w 320257"/>
              <a:gd name="connsiteY4" fmla="*/ 0 h 5264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0257" h="526473">
                <a:moveTo>
                  <a:pt x="0" y="526473"/>
                </a:moveTo>
                <a:cubicBezTo>
                  <a:pt x="39254" y="513388"/>
                  <a:pt x="78509" y="500304"/>
                  <a:pt x="120073" y="461819"/>
                </a:cubicBezTo>
                <a:cubicBezTo>
                  <a:pt x="161637" y="423334"/>
                  <a:pt x="217055" y="363297"/>
                  <a:pt x="249382" y="295564"/>
                </a:cubicBezTo>
                <a:cubicBezTo>
                  <a:pt x="281709" y="227831"/>
                  <a:pt x="303260" y="104680"/>
                  <a:pt x="314036" y="55419"/>
                </a:cubicBezTo>
                <a:cubicBezTo>
                  <a:pt x="324812" y="6158"/>
                  <a:pt x="319424" y="3079"/>
                  <a:pt x="314036" y="0"/>
                </a:cubicBezTo>
              </a:path>
            </a:pathLst>
          </a:cu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TextBox 30"/>
          <p:cNvSpPr txBox="1"/>
          <p:nvPr/>
        </p:nvSpPr>
        <p:spPr>
          <a:xfrm>
            <a:off x="2929616" y="3814274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56.11</a:t>
            </a:r>
            <a:r>
              <a:rPr lang="en-GB" sz="2400" dirty="0">
                <a:latin typeface="Calibri"/>
              </a:rPr>
              <a:t>°</a:t>
            </a:r>
            <a:endParaRPr lang="en-GB" sz="2400" dirty="0"/>
          </a:p>
        </p:txBody>
      </p:sp>
      <p:sp>
        <p:nvSpPr>
          <p:cNvPr id="32" name="Rectangle 31"/>
          <p:cNvSpPr/>
          <p:nvPr/>
        </p:nvSpPr>
        <p:spPr>
          <a:xfrm>
            <a:off x="2921194" y="3816595"/>
            <a:ext cx="1008112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34374" y="2515377"/>
            <a:ext cx="648072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/>
              <a:t>Q3</a:t>
            </a:r>
          </a:p>
        </p:txBody>
      </p:sp>
      <p:sp>
        <p:nvSpPr>
          <p:cNvPr id="34" name="Freeform 33"/>
          <p:cNvSpPr/>
          <p:nvPr/>
        </p:nvSpPr>
        <p:spPr>
          <a:xfrm>
            <a:off x="6756536" y="2515378"/>
            <a:ext cx="3500582" cy="1348509"/>
          </a:xfrm>
          <a:custGeom>
            <a:avLst/>
            <a:gdLst>
              <a:gd name="connsiteX0" fmla="*/ 0 w 3500582"/>
              <a:gd name="connsiteY0" fmla="*/ 1200727 h 1348509"/>
              <a:gd name="connsiteX1" fmla="*/ 1117600 w 3500582"/>
              <a:gd name="connsiteY1" fmla="*/ 0 h 1348509"/>
              <a:gd name="connsiteX2" fmla="*/ 3500582 w 3500582"/>
              <a:gd name="connsiteY2" fmla="*/ 1348509 h 1348509"/>
              <a:gd name="connsiteX3" fmla="*/ 0 w 3500582"/>
              <a:gd name="connsiteY3" fmla="*/ 1200727 h 1348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00582" h="1348509">
                <a:moveTo>
                  <a:pt x="0" y="1200727"/>
                </a:moveTo>
                <a:lnTo>
                  <a:pt x="1117600" y="0"/>
                </a:lnTo>
                <a:lnTo>
                  <a:pt x="3500582" y="1348509"/>
                </a:lnTo>
                <a:lnTo>
                  <a:pt x="0" y="1200727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Freeform 34"/>
          <p:cNvSpPr/>
          <p:nvPr/>
        </p:nvSpPr>
        <p:spPr>
          <a:xfrm>
            <a:off x="7117417" y="3333146"/>
            <a:ext cx="190948" cy="415637"/>
          </a:xfrm>
          <a:custGeom>
            <a:avLst/>
            <a:gdLst>
              <a:gd name="connsiteX0" fmla="*/ 184727 w 190948"/>
              <a:gd name="connsiteY0" fmla="*/ 415637 h 415637"/>
              <a:gd name="connsiteX1" fmla="*/ 184727 w 190948"/>
              <a:gd name="connsiteY1" fmla="*/ 230909 h 415637"/>
              <a:gd name="connsiteX2" fmla="*/ 120072 w 190948"/>
              <a:gd name="connsiteY2" fmla="*/ 83127 h 415637"/>
              <a:gd name="connsiteX3" fmla="*/ 0 w 190948"/>
              <a:gd name="connsiteY3" fmla="*/ 0 h 41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948" h="415637">
                <a:moveTo>
                  <a:pt x="184727" y="415637"/>
                </a:moveTo>
                <a:cubicBezTo>
                  <a:pt x="190115" y="350982"/>
                  <a:pt x="195503" y="286327"/>
                  <a:pt x="184727" y="230909"/>
                </a:cubicBezTo>
                <a:cubicBezTo>
                  <a:pt x="173951" y="175491"/>
                  <a:pt x="150860" y="121612"/>
                  <a:pt x="120072" y="83127"/>
                </a:cubicBezTo>
                <a:cubicBezTo>
                  <a:pt x="89284" y="44642"/>
                  <a:pt x="0" y="0"/>
                  <a:pt x="0" y="0"/>
                </a:cubicBezTo>
              </a:path>
            </a:pathLst>
          </a:cu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/>
          <p:cNvSpPr txBox="1"/>
          <p:nvPr/>
        </p:nvSpPr>
        <p:spPr>
          <a:xfrm>
            <a:off x="8725782" y="2505886"/>
            <a:ext cx="7920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1857914" y="754084"/>
                <a:ext cx="8280920" cy="1406795"/>
              </a:xfrm>
              <a:prstGeom prst="rect">
                <a:avLst/>
              </a:prstGeom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2200" dirty="0"/>
                  <a:t>When you have a missing angle, it’s better to reciprocate to get: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2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sz="2200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sz="2200" b="1">
                                  <a:latin typeface="Cambria Math"/>
                                </a:rPr>
                                <m:t>𝐬𝐢𝐧</m:t>
                              </m:r>
                            </m:fName>
                            <m:e>
                              <m:r>
                                <a:rPr lang="en-GB" sz="2200" b="1" i="1">
                                  <a:latin typeface="Cambria Math"/>
                                </a:rPr>
                                <m:t>𝑨</m:t>
                              </m:r>
                            </m:e>
                          </m:func>
                        </m:num>
                        <m:den>
                          <m:r>
                            <a:rPr lang="en-GB" sz="2200" b="1" i="1">
                              <a:latin typeface="Cambria Math"/>
                            </a:rPr>
                            <m:t>𝒂</m:t>
                          </m:r>
                        </m:den>
                      </m:f>
                      <m:r>
                        <a:rPr lang="en-GB" sz="2200" b="1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22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sz="2200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sz="2200" b="1">
                                  <a:latin typeface="Cambria Math"/>
                                </a:rPr>
                                <m:t>𝐬𝐢𝐧</m:t>
                              </m:r>
                            </m:fName>
                            <m:e>
                              <m:r>
                                <a:rPr lang="en-GB" sz="2200" b="1" i="1">
                                  <a:latin typeface="Cambria Math"/>
                                </a:rPr>
                                <m:t>𝑩</m:t>
                              </m:r>
                            </m:e>
                          </m:func>
                        </m:num>
                        <m:den>
                          <m:r>
                            <a:rPr lang="en-GB" sz="2200" b="1" i="1">
                              <a:latin typeface="Cambria Math"/>
                            </a:rPr>
                            <m:t>𝒃</m:t>
                          </m:r>
                        </m:den>
                      </m:f>
                    </m:oMath>
                  </m:oMathPara>
                </a14:m>
                <a:endParaRPr lang="en-GB" sz="2200" b="1" dirty="0"/>
              </a:p>
              <a:p>
                <a:r>
                  <a:rPr lang="en-GB" sz="2200" dirty="0"/>
                  <a:t>i.e. in general put the missing value in the numerator.</a:t>
                </a: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7914" y="754084"/>
                <a:ext cx="8280920" cy="1406795"/>
              </a:xfrm>
              <a:prstGeom prst="rect">
                <a:avLst/>
              </a:prstGeom>
              <a:blipFill>
                <a:blip r:embed="rId3"/>
                <a:stretch>
                  <a:fillRect b="-1953"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/>
          <p:cNvSpPr txBox="1"/>
          <p:nvPr/>
        </p:nvSpPr>
        <p:spPr>
          <a:xfrm>
            <a:off x="7214824" y="3251690"/>
            <a:ext cx="1148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40.33</a:t>
            </a:r>
            <a:r>
              <a:rPr lang="en-GB" sz="2400" dirty="0">
                <a:latin typeface="Calibri"/>
              </a:rPr>
              <a:t>°</a:t>
            </a:r>
            <a:endParaRPr lang="en-GB" sz="2400" dirty="0"/>
          </a:p>
        </p:txBody>
      </p:sp>
      <p:sp>
        <p:nvSpPr>
          <p:cNvPr id="40" name="TextBox 39"/>
          <p:cNvSpPr txBox="1"/>
          <p:nvPr/>
        </p:nvSpPr>
        <p:spPr>
          <a:xfrm>
            <a:off x="7764648" y="3713068"/>
            <a:ext cx="7920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10</a:t>
            </a:r>
          </a:p>
        </p:txBody>
      </p:sp>
      <p:sp>
        <p:nvSpPr>
          <p:cNvPr id="41" name="Freeform 40"/>
          <p:cNvSpPr/>
          <p:nvPr/>
        </p:nvSpPr>
        <p:spPr>
          <a:xfrm>
            <a:off x="7624170" y="2798274"/>
            <a:ext cx="738909" cy="155149"/>
          </a:xfrm>
          <a:custGeom>
            <a:avLst/>
            <a:gdLst>
              <a:gd name="connsiteX0" fmla="*/ 0 w 738909"/>
              <a:gd name="connsiteY0" fmla="*/ 9237 h 155149"/>
              <a:gd name="connsiteX1" fmla="*/ 212436 w 738909"/>
              <a:gd name="connsiteY1" fmla="*/ 120073 h 155149"/>
              <a:gd name="connsiteX2" fmla="*/ 498764 w 738909"/>
              <a:gd name="connsiteY2" fmla="*/ 147782 h 155149"/>
              <a:gd name="connsiteX3" fmla="*/ 738909 w 738909"/>
              <a:gd name="connsiteY3" fmla="*/ 0 h 155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8909" h="155149">
                <a:moveTo>
                  <a:pt x="0" y="9237"/>
                </a:moveTo>
                <a:cubicBezTo>
                  <a:pt x="64654" y="53109"/>
                  <a:pt x="129309" y="96982"/>
                  <a:pt x="212436" y="120073"/>
                </a:cubicBezTo>
                <a:cubicBezTo>
                  <a:pt x="295563" y="143164"/>
                  <a:pt x="411019" y="167794"/>
                  <a:pt x="498764" y="147782"/>
                </a:cubicBezTo>
                <a:cubicBezTo>
                  <a:pt x="586509" y="127770"/>
                  <a:pt x="662709" y="63885"/>
                  <a:pt x="738909" y="0"/>
                </a:cubicBezTo>
              </a:path>
            </a:pathLst>
          </a:cu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TextBox 41"/>
          <p:cNvSpPr txBox="1"/>
          <p:nvPr/>
        </p:nvSpPr>
        <p:spPr>
          <a:xfrm>
            <a:off x="7548625" y="2918917"/>
            <a:ext cx="11771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126</a:t>
            </a:r>
            <a:r>
              <a:rPr lang="en-GB" sz="2400" dirty="0">
                <a:latin typeface="Calibri"/>
              </a:rPr>
              <a:t>°</a:t>
            </a:r>
            <a:endParaRPr lang="en-GB" sz="2400" dirty="0"/>
          </a:p>
        </p:txBody>
      </p:sp>
      <p:sp>
        <p:nvSpPr>
          <p:cNvPr id="43" name="Rectangle 42"/>
          <p:cNvSpPr/>
          <p:nvPr/>
        </p:nvSpPr>
        <p:spPr>
          <a:xfrm>
            <a:off x="7357722" y="3356961"/>
            <a:ext cx="989182" cy="3054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30062" y="2460007"/>
            <a:ext cx="648072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/>
              <a:t>Q4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7241968" y="4679200"/>
                <a:ext cx="2749458" cy="20347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126°</m:t>
                              </m:r>
                            </m:e>
                          </m:func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8</m:t>
                          </m:r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126</m:t>
                              </m:r>
                            </m:e>
                          </m:func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  <m:func>
                                    <m:func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GB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126</m:t>
                                      </m:r>
                                    </m:e>
                                  </m:func>
                                </m:num>
                                <m:den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=40.33°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1968" y="4679200"/>
                <a:ext cx="2749458" cy="203478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04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</p:childTnLst>
        </p:cTn>
      </p:par>
    </p:tnLst>
    <p:bldLst>
      <p:bldP spid="46" grpId="0"/>
      <p:bldP spid="32" grpId="0" animBg="1"/>
      <p:bldP spid="43" grpId="0" animBg="1"/>
      <p:bldP spid="4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9B – Y1 pages 181-183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05FFE1B3-92CA-2290-BEC9-13B329A9A8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5" y="692696"/>
            <a:ext cx="4999381" cy="144015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A41AA3B-A918-C22C-46D6-E2B4D75218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8044" y="2483903"/>
            <a:ext cx="2808312" cy="362818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090BE14-5C41-4FEB-3DE1-4B1F310D26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0582" y="2458362"/>
            <a:ext cx="3266494" cy="161870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93F05F8-11F8-D43E-4E14-5702AF9654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8679" y="4536792"/>
            <a:ext cx="3508102" cy="1738436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919A321B-925D-83DA-2E72-A664A9426847}"/>
              </a:ext>
            </a:extLst>
          </p:cNvPr>
          <p:cNvSpPr/>
          <p:nvPr/>
        </p:nvSpPr>
        <p:spPr>
          <a:xfrm>
            <a:off x="5970566" y="2321211"/>
            <a:ext cx="3878448" cy="18998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65A2601-AEB4-5F01-8D18-1975AC9EEE50}"/>
              </a:ext>
            </a:extLst>
          </p:cNvPr>
          <p:cNvSpPr/>
          <p:nvPr/>
        </p:nvSpPr>
        <p:spPr>
          <a:xfrm>
            <a:off x="5964205" y="4546601"/>
            <a:ext cx="3878448" cy="18998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09605E4-06C7-014F-E9A3-98A572C2F2DB}"/>
              </a:ext>
            </a:extLst>
          </p:cNvPr>
          <p:cNvSpPr/>
          <p:nvPr/>
        </p:nvSpPr>
        <p:spPr>
          <a:xfrm>
            <a:off x="1991544" y="2321210"/>
            <a:ext cx="3878448" cy="41252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DIAGRAM? </a:t>
            </a:r>
          </a:p>
        </p:txBody>
      </p:sp>
    </p:spTree>
    <p:extLst>
      <p:ext uri="{BB962C8B-B14F-4D97-AF65-F5344CB8AC3E}">
        <p14:creationId xmlns:p14="http://schemas.microsoft.com/office/powerpoint/2010/main" val="3947933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9B – Y1 pages 181-183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549C0A0-51D9-7785-4E4F-EE3BA5598F9F}"/>
              </a:ext>
            </a:extLst>
          </p:cNvPr>
          <p:cNvGrpSpPr/>
          <p:nvPr/>
        </p:nvGrpSpPr>
        <p:grpSpPr>
          <a:xfrm>
            <a:off x="1824017" y="692696"/>
            <a:ext cx="4053140" cy="1008112"/>
            <a:chOff x="323528" y="3284984"/>
            <a:chExt cx="5412432" cy="134620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3E6E645-1865-24B7-9B1E-2580F89A81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3528" y="3284984"/>
              <a:ext cx="4559300" cy="13462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5371C29-F805-C8A2-AD4E-056257C4E6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11960" y="4120913"/>
              <a:ext cx="1524000" cy="431800"/>
            </a:xfrm>
            <a:prstGeom prst="rect">
              <a:avLst/>
            </a:prstGeom>
          </p:spPr>
        </p:pic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275C9405-718F-8CE5-E8FA-9FDF642F25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3127" y="1904004"/>
            <a:ext cx="2421942" cy="48438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BEB9A34-2042-2CBA-13AB-B8FB8CAA1B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0456" y="2235671"/>
            <a:ext cx="3143762" cy="2238438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68E9BAA-B100-9E38-0C43-6AF70C2DE353}"/>
              </a:ext>
            </a:extLst>
          </p:cNvPr>
          <p:cNvCxnSpPr/>
          <p:nvPr/>
        </p:nvCxnSpPr>
        <p:spPr>
          <a:xfrm>
            <a:off x="5759471" y="2048020"/>
            <a:ext cx="0" cy="45365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11ADA999-42E6-0983-DBC6-682FAA03EAB4}"/>
              </a:ext>
            </a:extLst>
          </p:cNvPr>
          <p:cNvSpPr/>
          <p:nvPr/>
        </p:nvSpPr>
        <p:spPr>
          <a:xfrm>
            <a:off x="2207569" y="1895586"/>
            <a:ext cx="7926715" cy="485229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530396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9B – Y1 pages 181-183 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9368D8FC-8551-5CA1-68DF-977CCE2517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528" y="692697"/>
            <a:ext cx="7272808" cy="19181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A1B552B-FC53-C759-68CC-68F6D69961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6636" y="2852936"/>
            <a:ext cx="4033499" cy="38404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7751210-37BA-8A1D-0E5C-BCFE1F7A67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2025" y="2924944"/>
            <a:ext cx="3737659" cy="58432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90B4DEE-0557-23CA-29B5-A1C2744372D0}"/>
              </a:ext>
            </a:extLst>
          </p:cNvPr>
          <p:cNvSpPr/>
          <p:nvPr/>
        </p:nvSpPr>
        <p:spPr>
          <a:xfrm>
            <a:off x="1991544" y="2846754"/>
            <a:ext cx="3878448" cy="38404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61F92B-0D4E-C945-FE5B-E8DE8AB230A7}"/>
              </a:ext>
            </a:extLst>
          </p:cNvPr>
          <p:cNvSpPr/>
          <p:nvPr/>
        </p:nvSpPr>
        <p:spPr>
          <a:xfrm>
            <a:off x="6171235" y="2846754"/>
            <a:ext cx="3878448" cy="38404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 </a:t>
            </a:r>
          </a:p>
        </p:txBody>
      </p:sp>
    </p:spTree>
    <p:extLst>
      <p:ext uri="{BB962C8B-B14F-4D97-AF65-F5344CB8AC3E}">
        <p14:creationId xmlns:p14="http://schemas.microsoft.com/office/powerpoint/2010/main" val="3484665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>
                  <a:solidFill>
                    <a:srgbClr val="FF0000"/>
                  </a:solidFill>
                </a:rPr>
                <a:t>Extension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967769" y="990236"/>
                <a:ext cx="4290764" cy="44396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i="1" dirty="0"/>
                  <a:t>[MAT 2011 1E]</a:t>
                </a:r>
              </a:p>
              <a:p>
                <a:r>
                  <a:rPr lang="en-GB" sz="1600" dirty="0"/>
                  <a:t>The circle in the diagram has centre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sz="1600" dirty="0"/>
                  <a:t>. Three angles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GB" sz="1600" dirty="0"/>
                  <a:t> are also indicated.</a:t>
                </a:r>
              </a:p>
              <a:p>
                <a:endParaRPr lang="en-GB" sz="1600" dirty="0"/>
              </a:p>
              <a:p>
                <a:endParaRPr lang="en-GB" sz="1600" dirty="0"/>
              </a:p>
              <a:p>
                <a:endParaRPr lang="en-GB" sz="1600" dirty="0"/>
              </a:p>
              <a:p>
                <a:endParaRPr lang="en-GB" sz="1600" dirty="0"/>
              </a:p>
              <a:p>
                <a:endParaRPr lang="en-GB" sz="1600" dirty="0"/>
              </a:p>
              <a:p>
                <a:endParaRPr lang="en-GB" sz="1600" dirty="0"/>
              </a:p>
              <a:p>
                <a:endParaRPr lang="en-GB" sz="1600" dirty="0"/>
              </a:p>
              <a:p>
                <a:endParaRPr lang="en-GB" sz="1600" dirty="0"/>
              </a:p>
              <a:p>
                <a:endParaRPr lang="en-GB" sz="1600" dirty="0"/>
              </a:p>
              <a:p>
                <a:r>
                  <a:rPr lang="en-GB" sz="1600" dirty="0"/>
                  <a:t>The angles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GB" sz="1600" dirty="0"/>
                  <a:t> are related by the equation:</a:t>
                </a:r>
              </a:p>
              <a:p>
                <a:pPr marL="342900" indent="-342900">
                  <a:buAutoNum type="alphaUcParenR"/>
                </a:pPr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𝑐𝑜𝑠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𝑠𝑖𝑛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1600" dirty="0"/>
              </a:p>
              <a:p>
                <a:pPr marL="342900" indent="-342900">
                  <a:buAutoNum type="alphaUcParenR"/>
                </a:pPr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𝑠𝑖𝑛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𝑠𝑖𝑛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𝑠𝑖𝑛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endParaRPr lang="en-GB" sz="1600" dirty="0"/>
              </a:p>
              <a:p>
                <a:pPr marL="342900" indent="-342900">
                  <a:buAutoNum type="alphaUcParenR"/>
                </a:pPr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𝑠𝑖𝑛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𝑐𝑜𝑠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𝑠𝑖𝑛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endParaRPr lang="en-GB" sz="1600" dirty="0"/>
              </a:p>
              <a:p>
                <a:pPr marL="342900" indent="-342900">
                  <a:buAutoNum type="alphaUcParenR"/>
                </a:pPr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𝑠𝑖𝑛</m:t>
                    </m:r>
                    <m:d>
                      <m:d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d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𝑐𝑜𝑠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𝑠𝑖𝑛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769" y="990236"/>
                <a:ext cx="4290764" cy="4439677"/>
              </a:xfrm>
              <a:prstGeom prst="rect">
                <a:avLst/>
              </a:prstGeom>
              <a:blipFill>
                <a:blip r:embed="rId2"/>
                <a:stretch>
                  <a:fillRect l="-852" t="-41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/>
          <p:cNvSpPr/>
          <p:nvPr/>
        </p:nvSpPr>
        <p:spPr>
          <a:xfrm>
            <a:off x="1675925" y="1078915"/>
            <a:ext cx="216024" cy="21591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6507" y="1772311"/>
            <a:ext cx="2953894" cy="215184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6649735" y="1224857"/>
                <a:ext cx="3816424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b="1" dirty="0"/>
                  <a:t>If we draw a vertical line down from </a:t>
                </a:r>
                <a14:m>
                  <m:oMath xmlns:m="http://schemas.openxmlformats.org/officeDocument/2006/math">
                    <m:r>
                      <a:rPr lang="en-GB" sz="1600" b="1" i="1"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en-GB" sz="1600" b="1" dirty="0"/>
                  <a:t>, we have two triangles with a common length. This common lengths allows us to relate the two triangles. Let the radius be 1. </a:t>
                </a: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9735" y="1224857"/>
                <a:ext cx="3816424" cy="1077218"/>
              </a:xfrm>
              <a:prstGeom prst="rect">
                <a:avLst/>
              </a:prstGeom>
              <a:blipFill>
                <a:blip r:embed="rId4"/>
                <a:stretch>
                  <a:fillRect l="-958" t="-1695" r="-160" b="-62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6" name="Picture 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4502" y="2282246"/>
            <a:ext cx="2415480" cy="175962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671674" y="2687012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66542" y="3385771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8786485" y="3235985"/>
            <a:ext cx="0" cy="7048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H="1">
            <a:off x="8681711" y="3840823"/>
            <a:ext cx="10477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V="1">
            <a:off x="8681711" y="3845586"/>
            <a:ext cx="1" cy="928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8020194" y="3217440"/>
                <a:ext cx="4320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0194" y="3217440"/>
                <a:ext cx="43204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6670999" y="4096343"/>
                <a:ext cx="3674539" cy="17998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b="1" dirty="0"/>
                  <a:t>Using bottom triangle: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𝒙</m:t>
                      </m:r>
                      <m:func>
                        <m:funcPr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1400" b="1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𝜶</m:t>
                          </m:r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   →  </m:t>
                          </m:r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GB" sz="14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func>
                                <m:funcPr>
                                  <m:ctrlPr>
                                    <a:rPr lang="en-GB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GB" sz="1400" b="1">
                                      <a:latin typeface="Cambria Math" panose="02040503050406030204" pitchFamily="18" charset="0"/>
                                    </a:rPr>
                                    <m:t>𝐬𝐢𝐧</m:t>
                                  </m:r>
                                </m:fName>
                                <m:e>
                                  <m:r>
                                    <a:rPr lang="en-GB" sz="1400" b="1" i="1">
                                      <a:latin typeface="Cambria Math" panose="02040503050406030204" pitchFamily="18" charset="0"/>
                                    </a:rPr>
                                    <m:t>𝜶</m:t>
                                  </m:r>
                                </m:e>
                              </m:func>
                            </m:den>
                          </m:f>
                        </m:e>
                      </m:func>
                    </m:oMath>
                  </m:oMathPara>
                </a14:m>
                <a:endParaRPr lang="en-GB" sz="1400" b="1" dirty="0"/>
              </a:p>
              <a:p>
                <a:r>
                  <a:rPr lang="en-GB" sz="1400" b="1" dirty="0"/>
                  <a:t>Using sine rule on top: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num>
                        <m:den>
                          <m:func>
                            <m:funcPr>
                              <m:ctrlPr>
                                <a:rPr lang="en-GB" sz="1400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sz="1400" b="1">
                                  <a:latin typeface="Cambria Math" panose="02040503050406030204" pitchFamily="18" charset="0"/>
                                </a:rPr>
                                <m:t>𝐬𝐢𝐧</m:t>
                              </m:r>
                            </m:fName>
                            <m:e>
                              <m:r>
                                <a:rPr lang="en-GB" sz="1400" b="1" i="1">
                                  <a:latin typeface="Cambria Math" panose="02040503050406030204" pitchFamily="18" charset="0"/>
                                </a:rPr>
                                <m:t>𝜸</m:t>
                              </m:r>
                            </m:e>
                          </m:func>
                        </m:den>
                      </m:f>
                      <m:r>
                        <a:rPr lang="en-GB" sz="14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func>
                            <m:funcPr>
                              <m:ctrlPr>
                                <a:rPr lang="en-GB" sz="1400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sz="1400" b="1">
                                  <a:latin typeface="Cambria Math" panose="02040503050406030204" pitchFamily="18" charset="0"/>
                                </a:rPr>
                                <m:t>𝐬𝐢𝐧</m:t>
                              </m:r>
                            </m:fName>
                            <m:e>
                              <m:r>
                                <a:rPr lang="en-GB" sz="1400" b="1" i="1"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GB" sz="1400" b="1" dirty="0"/>
              </a:p>
              <a:p>
                <a:r>
                  <a:rPr lang="en-GB" sz="1400" b="1" dirty="0"/>
                  <a:t>Substituting in </a:t>
                </a:r>
                <a14:m>
                  <m:oMath xmlns:m="http://schemas.openxmlformats.org/officeDocument/2006/math">
                    <m:r>
                      <a:rPr lang="en-GB" sz="1400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sz="1400" b="1" dirty="0"/>
                  <a:t> from the first equation, and rearranging, we obtain (B).</a:t>
                </a: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0999" y="4096343"/>
                <a:ext cx="3674539" cy="1799852"/>
              </a:xfrm>
              <a:prstGeom prst="rect">
                <a:avLst/>
              </a:prstGeom>
              <a:blipFill>
                <a:blip r:embed="rId6"/>
                <a:stretch>
                  <a:fillRect l="-498" t="-678" b="-271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Rectangle 52"/>
          <p:cNvSpPr/>
          <p:nvPr/>
        </p:nvSpPr>
        <p:spPr>
          <a:xfrm>
            <a:off x="6600057" y="1175489"/>
            <a:ext cx="3816421" cy="472070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920300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</p:childTnLst>
        </p:cTn>
      </p:par>
    </p:tnLst>
    <p:bldLst>
      <p:bldP spid="5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The ‘Ambiguous Case’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cxnSp>
        <p:nvCxnSpPr>
          <p:cNvPr id="7" name="Straight Connector 6"/>
          <p:cNvCxnSpPr/>
          <p:nvPr/>
        </p:nvCxnSpPr>
        <p:spPr>
          <a:xfrm>
            <a:off x="1934092" y="4079292"/>
            <a:ext cx="417646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1934092" y="1198972"/>
            <a:ext cx="2412268" cy="28803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Freeform 10"/>
          <p:cNvSpPr/>
          <p:nvPr/>
        </p:nvSpPr>
        <p:spPr>
          <a:xfrm>
            <a:off x="2345885" y="3595522"/>
            <a:ext cx="227830" cy="508000"/>
          </a:xfrm>
          <a:custGeom>
            <a:avLst/>
            <a:gdLst>
              <a:gd name="connsiteX0" fmla="*/ 0 w 227830"/>
              <a:gd name="connsiteY0" fmla="*/ 0 h 508000"/>
              <a:gd name="connsiteX1" fmla="*/ 138546 w 227830"/>
              <a:gd name="connsiteY1" fmla="*/ 138545 h 508000"/>
              <a:gd name="connsiteX2" fmla="*/ 221673 w 227830"/>
              <a:gd name="connsiteY2" fmla="*/ 360218 h 508000"/>
              <a:gd name="connsiteX3" fmla="*/ 221673 w 227830"/>
              <a:gd name="connsiteY3" fmla="*/ 508000 h 50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7830" h="508000">
                <a:moveTo>
                  <a:pt x="0" y="0"/>
                </a:moveTo>
                <a:cubicBezTo>
                  <a:pt x="50800" y="39254"/>
                  <a:pt x="101601" y="78509"/>
                  <a:pt x="138546" y="138545"/>
                </a:cubicBezTo>
                <a:cubicBezTo>
                  <a:pt x="175491" y="198581"/>
                  <a:pt x="207819" y="298642"/>
                  <a:pt x="221673" y="360218"/>
                </a:cubicBezTo>
                <a:cubicBezTo>
                  <a:pt x="235528" y="421794"/>
                  <a:pt x="221673" y="508000"/>
                  <a:pt x="221673" y="50800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558416" y="4103522"/>
                <a:ext cx="7513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/>
                        </a:rPr>
                        <m:t>𝐵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8416" y="4103522"/>
                <a:ext cx="751353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970684" y="829640"/>
                <a:ext cx="7513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0684" y="829640"/>
                <a:ext cx="75135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/>
          <p:cNvCxnSpPr/>
          <p:nvPr/>
        </p:nvCxnSpPr>
        <p:spPr>
          <a:xfrm flipH="1" flipV="1">
            <a:off x="4346360" y="1198972"/>
            <a:ext cx="972108" cy="288032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3374252" y="1198972"/>
            <a:ext cx="972108" cy="288032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2660250" y="2094966"/>
                <a:ext cx="7513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/>
                        </a:rPr>
                        <m:t>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0250" y="2094966"/>
                <a:ext cx="75135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1963572" y="3712480"/>
                <a:ext cx="7513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/>
                        </a:rPr>
                        <m:t>44°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3572" y="3712480"/>
                <a:ext cx="75135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6095428" y="802268"/>
                <a:ext cx="432083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Suppose you are told that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/>
                      </a:rPr>
                      <m:t>𝐴𝐵</m:t>
                    </m:r>
                    <m:r>
                      <a:rPr lang="en-GB" i="1">
                        <a:latin typeface="Cambria Math"/>
                      </a:rPr>
                      <m:t>=4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/>
                      </a:rPr>
                      <m:t>𝐴𝐶</m:t>
                    </m:r>
                    <m:r>
                      <a:rPr lang="en-GB" i="1">
                        <a:latin typeface="Cambria Math"/>
                      </a:rPr>
                      <m:t>=3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/>
                      </a:rPr>
                      <m:t>∠</m:t>
                    </m:r>
                    <m:r>
                      <a:rPr lang="en-GB" i="1">
                        <a:latin typeface="Cambria Math"/>
                      </a:rPr>
                      <m:t>𝐴𝐵𝐶</m:t>
                    </m:r>
                    <m:r>
                      <a:rPr lang="en-GB" i="1">
                        <a:latin typeface="Cambria Math"/>
                      </a:rPr>
                      <m:t>=44°</m:t>
                    </m:r>
                  </m:oMath>
                </a14:m>
                <a:r>
                  <a:rPr lang="en-GB" dirty="0"/>
                  <a:t>. What are the possible values of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/>
                      </a:rPr>
                      <m:t>∠</m:t>
                    </m:r>
                    <m:r>
                      <a:rPr lang="en-GB" i="1">
                        <a:latin typeface="Cambria Math"/>
                      </a:rPr>
                      <m:t>𝐴𝐶𝐵</m:t>
                    </m:r>
                  </m:oMath>
                </a14:m>
                <a:r>
                  <a:rPr lang="en-GB" dirty="0"/>
                  <a:t>?</a:t>
                </a: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428" y="802268"/>
                <a:ext cx="4320834" cy="923330"/>
              </a:xfrm>
              <a:prstGeom prst="rect">
                <a:avLst/>
              </a:prstGeom>
              <a:blipFill>
                <a:blip r:embed="rId6"/>
                <a:stretch>
                  <a:fillRect l="-1269" t="-3974" b="-993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6095428" y="1841879"/>
                <a:ext cx="421320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i="1" dirty="0">
                        <a:latin typeface="Cambria Math"/>
                      </a:rPr>
                      <m:t>𝐶</m:t>
                    </m:r>
                  </m:oMath>
                </a14:m>
                <a:r>
                  <a:rPr lang="en-GB" dirty="0"/>
                  <a:t> is somewhere on the horizontal line. There’s two ways in which the length could be 3. Using the sine rule:</a:t>
                </a: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428" y="1841879"/>
                <a:ext cx="4213202" cy="923330"/>
              </a:xfrm>
              <a:prstGeom prst="rect">
                <a:avLst/>
              </a:prstGeom>
              <a:blipFill>
                <a:blip r:embed="rId7"/>
                <a:stretch>
                  <a:fillRect l="-1302" t="-3289" r="-1447" b="-92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7025615" y="2782908"/>
                <a:ext cx="2460461" cy="8897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>
                                  <a:latin typeface="Cambria Math" panose="02040503050406030204" pitchFamily="18" charset="0"/>
                                </a:rPr>
                                <m:t>𝐬𝐢𝐧</m:t>
                              </m:r>
                            </m:fName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e>
                          </m:func>
                        </m:num>
                        <m:den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>
                                  <a:latin typeface="Cambria Math" panose="02040503050406030204" pitchFamily="18" charset="0"/>
                                </a:rPr>
                                <m:t>𝐬𝐢𝐧</m:t>
                              </m:r>
                            </m:fName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𝟒𝟒</m:t>
                              </m:r>
                            </m:e>
                          </m:func>
                        </m:num>
                        <m:den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GB" b="1" i="1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>
                                  <a:latin typeface="Cambria Math" panose="02040503050406030204" pitchFamily="18" charset="0"/>
                                </a:rPr>
                                <m:t>𝐬𝐢𝐧</m:t>
                              </m:r>
                            </m:e>
                            <m:sup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</m:fName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en-GB" b="1" i="1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𝟗𝟐𝟔𝟐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5615" y="2782908"/>
                <a:ext cx="2460461" cy="889731"/>
              </a:xfrm>
              <a:prstGeom prst="rect">
                <a:avLst/>
              </a:prstGeom>
              <a:blipFill>
                <a:blip r:embed="rId8"/>
                <a:stretch>
                  <a:fillRect b="-62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3184516" y="4139488"/>
                <a:ext cx="4320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4516" y="4139488"/>
                <a:ext cx="432048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5102444" y="4151300"/>
                <a:ext cx="4320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2444" y="4151300"/>
                <a:ext cx="432048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6221568" y="3817305"/>
                <a:ext cx="4217833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Your calculator will give the acute angle of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67.9°</m:t>
                    </m:r>
                  </m:oMath>
                </a14:m>
                <a:r>
                  <a:rPr lang="en-GB" dirty="0"/>
                  <a:t> (i.e.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/>
                  <a:t>). But if we look at a graph of sin, we can see there’s actually a second value for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fName>
                      <m:e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0.9262</m:t>
                            </m:r>
                          </m:e>
                        </m:d>
                      </m:e>
                    </m:func>
                  </m:oMath>
                </a14:m>
                <a:r>
                  <a:rPr lang="en-GB" dirty="0"/>
                  <a:t>, corresponding to angle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1568" y="3817305"/>
                <a:ext cx="4217833" cy="1477328"/>
              </a:xfrm>
              <a:prstGeom prst="rect">
                <a:avLst/>
              </a:prstGeom>
              <a:blipFill>
                <a:blip r:embed="rId11"/>
                <a:stretch>
                  <a:fillRect l="-1301" t="-2058" r="-434" b="-53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3609122" y="2640716"/>
                <a:ext cx="7513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9122" y="2640716"/>
                <a:ext cx="751353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4707923" y="2629300"/>
                <a:ext cx="7513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7923" y="2629300"/>
                <a:ext cx="751353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reeform: Shape 4"/>
          <p:cNvSpPr/>
          <p:nvPr/>
        </p:nvSpPr>
        <p:spPr>
          <a:xfrm>
            <a:off x="3000057" y="3641489"/>
            <a:ext cx="510363" cy="414670"/>
          </a:xfrm>
          <a:custGeom>
            <a:avLst/>
            <a:gdLst>
              <a:gd name="connsiteX0" fmla="*/ 0 w 510363"/>
              <a:gd name="connsiteY0" fmla="*/ 414670 h 414670"/>
              <a:gd name="connsiteX1" fmla="*/ 148856 w 510363"/>
              <a:gd name="connsiteY1" fmla="*/ 116958 h 414670"/>
              <a:gd name="connsiteX2" fmla="*/ 510363 w 510363"/>
              <a:gd name="connsiteY2" fmla="*/ 0 h 414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0363" h="414670">
                <a:moveTo>
                  <a:pt x="0" y="414670"/>
                </a:moveTo>
                <a:cubicBezTo>
                  <a:pt x="31898" y="300370"/>
                  <a:pt x="63796" y="186070"/>
                  <a:pt x="148856" y="116958"/>
                </a:cubicBezTo>
                <a:cubicBezTo>
                  <a:pt x="233916" y="47846"/>
                  <a:pt x="372139" y="23923"/>
                  <a:pt x="510363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Freeform: Shape 5"/>
          <p:cNvSpPr/>
          <p:nvPr/>
        </p:nvSpPr>
        <p:spPr>
          <a:xfrm>
            <a:off x="4892652" y="3641489"/>
            <a:ext cx="265814" cy="425302"/>
          </a:xfrm>
          <a:custGeom>
            <a:avLst/>
            <a:gdLst>
              <a:gd name="connsiteX0" fmla="*/ 0 w 265814"/>
              <a:gd name="connsiteY0" fmla="*/ 425302 h 425302"/>
              <a:gd name="connsiteX1" fmla="*/ 74428 w 265814"/>
              <a:gd name="connsiteY1" fmla="*/ 180753 h 425302"/>
              <a:gd name="connsiteX2" fmla="*/ 265814 w 265814"/>
              <a:gd name="connsiteY2" fmla="*/ 0 h 425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5814" h="425302">
                <a:moveTo>
                  <a:pt x="0" y="425302"/>
                </a:moveTo>
                <a:cubicBezTo>
                  <a:pt x="15063" y="338469"/>
                  <a:pt x="30126" y="251637"/>
                  <a:pt x="74428" y="180753"/>
                </a:cubicBezTo>
                <a:cubicBezTo>
                  <a:pt x="118730" y="109869"/>
                  <a:pt x="192272" y="54934"/>
                  <a:pt x="265814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77304" y="4611697"/>
            <a:ext cx="2258657" cy="209869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700146" y="5611390"/>
                <a:ext cx="59643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180°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0146" y="5611390"/>
                <a:ext cx="596432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3800496" y="5602027"/>
                <a:ext cx="59643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67.9°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0496" y="5602027"/>
                <a:ext cx="596432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4249724" y="5608562"/>
                <a:ext cx="59643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112.1°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9724" y="5608562"/>
                <a:ext cx="596432" cy="27699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Connector 32"/>
          <p:cNvCxnSpPr/>
          <p:nvPr/>
        </p:nvCxnSpPr>
        <p:spPr>
          <a:xfrm>
            <a:off x="4116389" y="4908551"/>
            <a:ext cx="1587" cy="714375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4538664" y="4900613"/>
            <a:ext cx="9305" cy="71093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3718271" y="4906848"/>
            <a:ext cx="1745904" cy="1703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210602" y="4818617"/>
            <a:ext cx="7914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0.9262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6477811" y="5397490"/>
                <a:ext cx="3672408" cy="1323439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latin typeface="Wingdings" panose="05000000000000000000" pitchFamily="2" charset="2"/>
                  </a:rPr>
                  <a:t>!</a:t>
                </a:r>
                <a:r>
                  <a:rPr lang="en-GB" sz="1600" dirty="0"/>
                  <a:t> The sine rule produces two possible solutions for a missing angle: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GB" sz="1600"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⁡(180°−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600" dirty="0"/>
              </a:p>
              <a:p>
                <a:r>
                  <a:rPr lang="en-GB" sz="1600" dirty="0"/>
                  <a:t>Whether we use the acute or obtuse angle depends on context.</a:t>
                </a: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811" y="5397490"/>
                <a:ext cx="3672408" cy="1323439"/>
              </a:xfrm>
              <a:prstGeom prst="rect">
                <a:avLst/>
              </a:prstGeom>
              <a:blipFill>
                <a:blip r:embed="rId18"/>
                <a:stretch>
                  <a:fillRect l="-660" t="-901" b="-36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6120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9" grpId="0"/>
      <p:bldP spid="20" grpId="0"/>
      <p:bldP spid="21" grpId="0"/>
      <p:bldP spid="27" grpId="0"/>
      <p:bldP spid="29" grpId="0"/>
      <p:bldP spid="5" grpId="0" animBg="1"/>
      <p:bldP spid="6" grpId="0" animBg="1"/>
      <p:bldP spid="10" grpId="0"/>
      <p:bldP spid="31" grpId="0"/>
      <p:bldP spid="32" grpId="0"/>
      <p:bldP spid="41" grpId="0"/>
      <p:bldP spid="4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10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11" name="Straight Connector 10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19" name="Group 18"/>
          <p:cNvGrpSpPr/>
          <p:nvPr/>
        </p:nvGrpSpPr>
        <p:grpSpPr>
          <a:xfrm rot="19354352">
            <a:off x="2091009" y="1272152"/>
            <a:ext cx="3611418" cy="1468582"/>
            <a:chOff x="662660" y="2126232"/>
            <a:chExt cx="3611418" cy="1468582"/>
          </a:xfrm>
        </p:grpSpPr>
        <p:sp>
          <p:nvSpPr>
            <p:cNvPr id="2" name="Freeform 1"/>
            <p:cNvSpPr/>
            <p:nvPr/>
          </p:nvSpPr>
          <p:spPr>
            <a:xfrm>
              <a:off x="662660" y="2126232"/>
              <a:ext cx="3611418" cy="1468582"/>
            </a:xfrm>
            <a:custGeom>
              <a:avLst/>
              <a:gdLst>
                <a:gd name="connsiteX0" fmla="*/ 0 w 3611418"/>
                <a:gd name="connsiteY0" fmla="*/ 0 h 1468582"/>
                <a:gd name="connsiteX1" fmla="*/ 1819563 w 3611418"/>
                <a:gd name="connsiteY1" fmla="*/ 1468582 h 1468582"/>
                <a:gd name="connsiteX2" fmla="*/ 3611418 w 3611418"/>
                <a:gd name="connsiteY2" fmla="*/ 1154545 h 1468582"/>
                <a:gd name="connsiteX3" fmla="*/ 0 w 3611418"/>
                <a:gd name="connsiteY3" fmla="*/ 0 h 1468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11418" h="1468582">
                  <a:moveTo>
                    <a:pt x="0" y="0"/>
                  </a:moveTo>
                  <a:lnTo>
                    <a:pt x="1819563" y="1468582"/>
                  </a:lnTo>
                  <a:lnTo>
                    <a:pt x="3611418" y="115454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" name="Freeform 2"/>
            <p:cNvSpPr/>
            <p:nvPr/>
          </p:nvSpPr>
          <p:spPr>
            <a:xfrm>
              <a:off x="1292588" y="2401052"/>
              <a:ext cx="212436" cy="249382"/>
            </a:xfrm>
            <a:custGeom>
              <a:avLst/>
              <a:gdLst>
                <a:gd name="connsiteX0" fmla="*/ 0 w 212436"/>
                <a:gd name="connsiteY0" fmla="*/ 249382 h 249382"/>
                <a:gd name="connsiteX1" fmla="*/ 147782 w 212436"/>
                <a:gd name="connsiteY1" fmla="*/ 129309 h 249382"/>
                <a:gd name="connsiteX2" fmla="*/ 212436 w 212436"/>
                <a:gd name="connsiteY2" fmla="*/ 0 h 249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2436" h="249382">
                  <a:moveTo>
                    <a:pt x="0" y="249382"/>
                  </a:moveTo>
                  <a:cubicBezTo>
                    <a:pt x="56188" y="210127"/>
                    <a:pt x="112376" y="170873"/>
                    <a:pt x="147782" y="129309"/>
                  </a:cubicBezTo>
                  <a:cubicBezTo>
                    <a:pt x="183188" y="87745"/>
                    <a:pt x="197812" y="43872"/>
                    <a:pt x="212436" y="0"/>
                  </a:cubicBezTo>
                </a:path>
              </a:pathLst>
            </a:cu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2831997" y="2142872"/>
                <a:ext cx="6078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20°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1997" y="2142872"/>
                <a:ext cx="607888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3120029" y="2574920"/>
                <a:ext cx="4320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0029" y="2574920"/>
                <a:ext cx="43204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3552077" y="1494800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20229" y="1854840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5</a:t>
            </a:r>
          </a:p>
        </p:txBody>
      </p:sp>
      <p:sp>
        <p:nvSpPr>
          <p:cNvPr id="25" name="Freeform 24"/>
          <p:cNvSpPr/>
          <p:nvPr/>
        </p:nvSpPr>
        <p:spPr>
          <a:xfrm>
            <a:off x="3983949" y="2251786"/>
            <a:ext cx="604299" cy="314077"/>
          </a:xfrm>
          <a:custGeom>
            <a:avLst/>
            <a:gdLst>
              <a:gd name="connsiteX0" fmla="*/ 0 w 604299"/>
              <a:gd name="connsiteY0" fmla="*/ 314077 h 314077"/>
              <a:gd name="connsiteX1" fmla="*/ 63610 w 604299"/>
              <a:gd name="connsiteY1" fmla="*/ 107343 h 314077"/>
              <a:gd name="connsiteX2" fmla="*/ 278295 w 604299"/>
              <a:gd name="connsiteY2" fmla="*/ 11927 h 314077"/>
              <a:gd name="connsiteX3" fmla="*/ 492981 w 604299"/>
              <a:gd name="connsiteY3" fmla="*/ 35781 h 314077"/>
              <a:gd name="connsiteX4" fmla="*/ 604299 w 604299"/>
              <a:gd name="connsiteY4" fmla="*/ 67586 h 314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299" h="314077">
                <a:moveTo>
                  <a:pt x="0" y="314077"/>
                </a:moveTo>
                <a:cubicBezTo>
                  <a:pt x="8613" y="235889"/>
                  <a:pt x="17227" y="157701"/>
                  <a:pt x="63610" y="107343"/>
                </a:cubicBezTo>
                <a:cubicBezTo>
                  <a:pt x="109993" y="56985"/>
                  <a:pt x="206733" y="23854"/>
                  <a:pt x="278295" y="11927"/>
                </a:cubicBezTo>
                <a:cubicBezTo>
                  <a:pt x="349857" y="0"/>
                  <a:pt x="438647" y="26505"/>
                  <a:pt x="492981" y="35781"/>
                </a:cubicBezTo>
                <a:cubicBezTo>
                  <a:pt x="547315" y="45057"/>
                  <a:pt x="575807" y="56321"/>
                  <a:pt x="604299" y="67586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4077132" y="1920224"/>
                <a:ext cx="4320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7132" y="1920224"/>
                <a:ext cx="43204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5903770" y="922486"/>
                <a:ext cx="4104456" cy="92333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Given that the angle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dirty="0"/>
                  <a:t> is obtuse, determine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dirty="0"/>
                  <a:t> and hence determine the length of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3770" y="922486"/>
                <a:ext cx="4104456" cy="923330"/>
              </a:xfrm>
              <a:prstGeom prst="rect">
                <a:avLst/>
              </a:prstGeom>
              <a:blipFill>
                <a:blip r:embed="rId5"/>
                <a:stretch>
                  <a:fillRect b="-1136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916470" y="2146177"/>
                <a:ext cx="4104456" cy="34254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20°</m:t>
                              </m:r>
                            </m:e>
                          </m:func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  <m:func>
                                    <m:func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GB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20°</m:t>
                                      </m:r>
                                    </m:e>
                                  </m:func>
                                </m:num>
                                <m:den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=43.1602°</m:t>
                      </m:r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=180°−43.1602°=136.8398°</m:t>
                      </m:r>
                    </m:oMath>
                  </m:oMathPara>
                </a14:m>
                <a:br>
                  <a:rPr lang="en-GB" dirty="0"/>
                </a:br>
                <a:endParaRPr lang="en-GB" dirty="0"/>
              </a:p>
              <a:p>
                <a:r>
                  <a:rPr lang="en-GB" dirty="0"/>
                  <a:t>The other angle is: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180°−136.8398°−20°=23.1602°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Using sine rule again: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23.1602°</m:t>
                              </m:r>
                            </m:e>
                          </m:func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20°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=5.75 (3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𝑠𝑓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6470" y="2146177"/>
                <a:ext cx="4104456" cy="3425425"/>
              </a:xfrm>
              <a:prstGeom prst="rect">
                <a:avLst/>
              </a:prstGeom>
              <a:blipFill>
                <a:blip r:embed="rId6"/>
                <a:stretch>
                  <a:fillRect l="-1337" b="-71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/>
          <p:cNvSpPr/>
          <p:nvPr/>
        </p:nvSpPr>
        <p:spPr>
          <a:xfrm>
            <a:off x="5924886" y="1845816"/>
            <a:ext cx="4083341" cy="39594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2338650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</p:childTnLst>
        </p:cTn>
      </p:par>
    </p:tnLst>
    <p:bldLst>
      <p:bldP spid="2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9C – Y1 pages 184-185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7E14558B-CEC9-B2EE-CE15-D41AC8D6B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512" y="621315"/>
            <a:ext cx="7772400" cy="5405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DCFA2D1-4ACD-7621-B9EC-6535BF2479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1544" y="1484784"/>
            <a:ext cx="3091130" cy="50851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FAE4E2-6033-DDB5-3BF6-854429249D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7968" y="3212976"/>
            <a:ext cx="3363258" cy="2102036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3796B22-856F-4B88-05BF-6D461D7755A4}"/>
              </a:ext>
            </a:extLst>
          </p:cNvPr>
          <p:cNvCxnSpPr/>
          <p:nvPr/>
        </p:nvCxnSpPr>
        <p:spPr>
          <a:xfrm>
            <a:off x="5375920" y="2708920"/>
            <a:ext cx="0" cy="37444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AE52DE6A-C21D-C7F5-F6EB-1D19A61E6D98}"/>
              </a:ext>
            </a:extLst>
          </p:cNvPr>
          <p:cNvSpPr/>
          <p:nvPr/>
        </p:nvSpPr>
        <p:spPr>
          <a:xfrm>
            <a:off x="1844611" y="1484784"/>
            <a:ext cx="7923798" cy="518457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403666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9C – Y1 pages 184-185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2B426089-F1B5-7829-C000-1C220EF2B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512" y="678246"/>
            <a:ext cx="7772400" cy="5405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8B65D00-9267-86C2-3313-DDEDB1B49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5520" y="1484784"/>
            <a:ext cx="4177038" cy="23042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32A4DE-F4CD-4607-CCF7-15F8B0BF57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4032" y="1626218"/>
            <a:ext cx="3897362" cy="432564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F80C868-33D3-C08A-0C4E-975D594962E7}"/>
              </a:ext>
            </a:extLst>
          </p:cNvPr>
          <p:cNvSpPr/>
          <p:nvPr/>
        </p:nvSpPr>
        <p:spPr>
          <a:xfrm>
            <a:off x="1844611" y="1484784"/>
            <a:ext cx="8283837" cy="453650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196743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9C – Y1 pages 184-185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8A229885-59DF-B1EF-0083-A43CED55F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5640" y="3048373"/>
            <a:ext cx="2521074" cy="361840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07CCBB42-7CC2-8D8C-CCBC-1098B8D7028F}"/>
              </a:ext>
            </a:extLst>
          </p:cNvPr>
          <p:cNvGrpSpPr/>
          <p:nvPr/>
        </p:nvGrpSpPr>
        <p:grpSpPr>
          <a:xfrm>
            <a:off x="1703512" y="600727"/>
            <a:ext cx="7772400" cy="2329855"/>
            <a:chOff x="179512" y="600726"/>
            <a:chExt cx="7772400" cy="232985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4FBB735-1E33-731D-DCBD-5B01504C9D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9512" y="600726"/>
              <a:ext cx="7772400" cy="2329855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AC9E979-6C91-062E-9D4B-07F70C8CC60E}"/>
                </a:ext>
              </a:extLst>
            </p:cNvPr>
            <p:cNvSpPr/>
            <p:nvPr/>
          </p:nvSpPr>
          <p:spPr>
            <a:xfrm>
              <a:off x="3563888" y="2132856"/>
              <a:ext cx="792088" cy="2160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ADC49DF-4B51-7880-AD3B-5DCC96A074E3}"/>
                </a:ext>
              </a:extLst>
            </p:cNvPr>
            <p:cNvSpPr/>
            <p:nvPr/>
          </p:nvSpPr>
          <p:spPr>
            <a:xfrm>
              <a:off x="3563888" y="2641864"/>
              <a:ext cx="792088" cy="2160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997C5B19-885A-6011-C7C7-5E0DBD2D1E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2024" y="3120381"/>
            <a:ext cx="3062520" cy="50405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F76B940-FA13-FAF3-F6D7-121E2D4B30E5}"/>
              </a:ext>
            </a:extLst>
          </p:cNvPr>
          <p:cNvSpPr/>
          <p:nvPr/>
        </p:nvSpPr>
        <p:spPr>
          <a:xfrm>
            <a:off x="2279576" y="3068961"/>
            <a:ext cx="3878448" cy="35978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75BF0B-62D1-453B-AEF3-9887FFCCA8EC}"/>
              </a:ext>
            </a:extLst>
          </p:cNvPr>
          <p:cNvSpPr/>
          <p:nvPr/>
        </p:nvSpPr>
        <p:spPr>
          <a:xfrm>
            <a:off x="6322008" y="3068960"/>
            <a:ext cx="3878448" cy="35978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 </a:t>
            </a:r>
          </a:p>
        </p:txBody>
      </p:sp>
    </p:spTree>
    <p:extLst>
      <p:ext uri="{BB962C8B-B14F-4D97-AF65-F5344CB8AC3E}">
        <p14:creationId xmlns:p14="http://schemas.microsoft.com/office/powerpoint/2010/main" val="4214043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Area of Non Right-Angled Triangles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423592" y="4725144"/>
                <a:ext cx="7056784" cy="977704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800" dirty="0"/>
                  <a:t>Area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800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GB" sz="2800" i="1"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GB" sz="2800" i="1">
                        <a:latin typeface="Cambria Math"/>
                      </a:rPr>
                      <m:t>𝑎</m:t>
                    </m:r>
                    <m:r>
                      <a:rPr lang="en-GB" sz="2800" i="1">
                        <a:latin typeface="Cambria Math"/>
                      </a:rPr>
                      <m:t> </m:t>
                    </m:r>
                    <m:r>
                      <a:rPr lang="en-GB" sz="2800" i="1">
                        <a:latin typeface="Cambria Math"/>
                      </a:rPr>
                      <m:t>𝑏</m:t>
                    </m:r>
                    <m:func>
                      <m:funcPr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800">
                            <a:latin typeface="Cambria Math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800" i="1">
                                <a:latin typeface="Cambria Math"/>
                              </a:rPr>
                              <m:t>𝐶</m:t>
                            </m:r>
                          </m:e>
                        </m:d>
                      </m:e>
                    </m:func>
                  </m:oMath>
                </a14:m>
                <a:endParaRPr lang="en-GB" dirty="0"/>
              </a:p>
              <a:p>
                <a:pPr algn="ctr"/>
                <a:r>
                  <a:rPr lang="en-GB" dirty="0"/>
                  <a:t>where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dirty="0"/>
                  <a:t> is the angle between two sides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3592" y="4725144"/>
                <a:ext cx="7056784" cy="977704"/>
              </a:xfrm>
              <a:prstGeom prst="rect">
                <a:avLst/>
              </a:prstGeom>
              <a:blipFill>
                <a:blip r:embed="rId2"/>
                <a:stretch>
                  <a:fillRect b="-727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reeform 7"/>
          <p:cNvSpPr/>
          <p:nvPr/>
        </p:nvSpPr>
        <p:spPr>
          <a:xfrm>
            <a:off x="2783632" y="980728"/>
            <a:ext cx="4587902" cy="3339548"/>
          </a:xfrm>
          <a:custGeom>
            <a:avLst/>
            <a:gdLst>
              <a:gd name="connsiteX0" fmla="*/ 0 w 4587902"/>
              <a:gd name="connsiteY0" fmla="*/ 1693628 h 3339548"/>
              <a:gd name="connsiteX1" fmla="*/ 2417196 w 4587902"/>
              <a:gd name="connsiteY1" fmla="*/ 0 h 3339548"/>
              <a:gd name="connsiteX2" fmla="*/ 4587902 w 4587902"/>
              <a:gd name="connsiteY2" fmla="*/ 3339548 h 3339548"/>
              <a:gd name="connsiteX3" fmla="*/ 0 w 4587902"/>
              <a:gd name="connsiteY3" fmla="*/ 1693628 h 3339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902" h="3339548">
                <a:moveTo>
                  <a:pt x="0" y="1693628"/>
                </a:moveTo>
                <a:lnTo>
                  <a:pt x="2417196" y="0"/>
                </a:lnTo>
                <a:lnTo>
                  <a:pt x="4587902" y="3339548"/>
                </a:lnTo>
                <a:lnTo>
                  <a:pt x="0" y="1693628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form 8"/>
          <p:cNvSpPr/>
          <p:nvPr/>
        </p:nvSpPr>
        <p:spPr>
          <a:xfrm>
            <a:off x="3317426" y="2296142"/>
            <a:ext cx="180229" cy="644056"/>
          </a:xfrm>
          <a:custGeom>
            <a:avLst/>
            <a:gdLst>
              <a:gd name="connsiteX0" fmla="*/ 151074 w 180229"/>
              <a:gd name="connsiteY0" fmla="*/ 644056 h 644056"/>
              <a:gd name="connsiteX1" fmla="*/ 174928 w 180229"/>
              <a:gd name="connsiteY1" fmla="*/ 429370 h 644056"/>
              <a:gd name="connsiteX2" fmla="*/ 119269 w 180229"/>
              <a:gd name="connsiteY2" fmla="*/ 214685 h 644056"/>
              <a:gd name="connsiteX3" fmla="*/ 0 w 180229"/>
              <a:gd name="connsiteY3" fmla="*/ 0 h 644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0229" h="644056">
                <a:moveTo>
                  <a:pt x="151074" y="644056"/>
                </a:moveTo>
                <a:cubicBezTo>
                  <a:pt x="165651" y="572494"/>
                  <a:pt x="180229" y="500932"/>
                  <a:pt x="174928" y="429370"/>
                </a:cubicBezTo>
                <a:cubicBezTo>
                  <a:pt x="169627" y="357808"/>
                  <a:pt x="148424" y="286247"/>
                  <a:pt x="119269" y="214685"/>
                </a:cubicBezTo>
                <a:cubicBezTo>
                  <a:pt x="90114" y="143123"/>
                  <a:pt x="45057" y="71561"/>
                  <a:pt x="0" y="0"/>
                </a:cubicBezTo>
              </a:path>
            </a:pathLst>
          </a:cu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/>
          <p:cNvSpPr txBox="1"/>
          <p:nvPr/>
        </p:nvSpPr>
        <p:spPr>
          <a:xfrm>
            <a:off x="3503712" y="2348881"/>
            <a:ext cx="72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59°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75720" y="1196753"/>
            <a:ext cx="7920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3cm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51784" y="3501009"/>
            <a:ext cx="7920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7cm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4072" y="1628801"/>
            <a:ext cx="37079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Area = 0.5 x 3 x 7 x sin(59)</a:t>
            </a:r>
          </a:p>
          <a:p>
            <a:r>
              <a:rPr lang="en-GB" sz="2400" dirty="0"/>
              <a:t>          = 9.00cm</a:t>
            </a:r>
            <a:r>
              <a:rPr lang="en-GB" sz="2400" baseline="30000" dirty="0"/>
              <a:t>2</a:t>
            </a:r>
            <a:r>
              <a:rPr lang="en-GB" sz="2400" dirty="0"/>
              <a:t> 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2783632" y="980728"/>
            <a:ext cx="4587902" cy="3339548"/>
            <a:chOff x="1259632" y="980728"/>
            <a:chExt cx="4587902" cy="3339548"/>
          </a:xfrm>
        </p:grpSpPr>
        <p:cxnSp>
          <p:nvCxnSpPr>
            <p:cNvPr id="18" name="Straight Connector 17"/>
            <p:cNvCxnSpPr>
              <a:stCxn id="8" idx="0"/>
              <a:endCxn id="8" idx="1"/>
            </p:cNvCxnSpPr>
            <p:nvPr/>
          </p:nvCxnSpPr>
          <p:spPr>
            <a:xfrm flipV="1">
              <a:off x="1259632" y="980728"/>
              <a:ext cx="2417197" cy="1693628"/>
            </a:xfrm>
            <a:prstGeom prst="line">
              <a:avLst/>
            </a:prstGeom>
            <a:ln w="76200"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>
              <a:stCxn id="8" idx="0"/>
              <a:endCxn id="8" idx="2"/>
            </p:cNvCxnSpPr>
            <p:nvPr/>
          </p:nvCxnSpPr>
          <p:spPr>
            <a:xfrm>
              <a:off x="1259632" y="2674356"/>
              <a:ext cx="4587902" cy="1645920"/>
            </a:xfrm>
            <a:prstGeom prst="line">
              <a:avLst/>
            </a:prstGeom>
            <a:ln w="76200"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 25"/>
            <p:cNvSpPr/>
            <p:nvPr/>
          </p:nvSpPr>
          <p:spPr>
            <a:xfrm>
              <a:off x="1795493" y="2276872"/>
              <a:ext cx="180229" cy="644056"/>
            </a:xfrm>
            <a:custGeom>
              <a:avLst/>
              <a:gdLst>
                <a:gd name="connsiteX0" fmla="*/ 151074 w 180229"/>
                <a:gd name="connsiteY0" fmla="*/ 644056 h 644056"/>
                <a:gd name="connsiteX1" fmla="*/ 174928 w 180229"/>
                <a:gd name="connsiteY1" fmla="*/ 429370 h 644056"/>
                <a:gd name="connsiteX2" fmla="*/ 119269 w 180229"/>
                <a:gd name="connsiteY2" fmla="*/ 214685 h 644056"/>
                <a:gd name="connsiteX3" fmla="*/ 0 w 180229"/>
                <a:gd name="connsiteY3" fmla="*/ 0 h 6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0229" h="644056">
                  <a:moveTo>
                    <a:pt x="151074" y="644056"/>
                  </a:moveTo>
                  <a:cubicBezTo>
                    <a:pt x="165651" y="572494"/>
                    <a:pt x="180229" y="500932"/>
                    <a:pt x="174928" y="429370"/>
                  </a:cubicBezTo>
                  <a:cubicBezTo>
                    <a:pt x="169627" y="357808"/>
                    <a:pt x="148424" y="286247"/>
                    <a:pt x="119269" y="214685"/>
                  </a:cubicBezTo>
                  <a:cubicBezTo>
                    <a:pt x="90114" y="143123"/>
                    <a:pt x="45057" y="71561"/>
                    <a:pt x="0" y="0"/>
                  </a:cubicBezTo>
                </a:path>
              </a:pathLst>
            </a:custGeom>
            <a:ln w="76200"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1847528" y="4725144"/>
            <a:ext cx="5040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Wingdings" pitchFamily="2" charset="2"/>
              </a:rPr>
              <a:t>!</a:t>
            </a:r>
            <a:endParaRPr lang="en-GB" dirty="0">
              <a:latin typeface="Wingdings" pitchFamily="2" charset="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7464152" y="1700808"/>
            <a:ext cx="2592288" cy="72008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73410" y="5935633"/>
            <a:ext cx="55868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/>
              <a:t>Tip</a:t>
            </a:r>
            <a:r>
              <a:rPr lang="en-GB" sz="1600" dirty="0"/>
              <a:t>: You shouldn’t have to label sides/angles before using the formula. Just remember that the angle is </a:t>
            </a:r>
            <a:r>
              <a:rPr lang="en-GB" sz="1600" u="sng" dirty="0"/>
              <a:t>between the two sides</a:t>
            </a:r>
            <a:r>
              <a:rPr lang="en-GB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58203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</p:childTnLst>
        </p:cTn>
      </p:par>
    </p:tnLst>
    <p:bldLst>
      <p:bldP spid="2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Freeform: Shape 4"/>
          <p:cNvSpPr/>
          <p:nvPr/>
        </p:nvSpPr>
        <p:spPr>
          <a:xfrm>
            <a:off x="2470299" y="1414131"/>
            <a:ext cx="2966483" cy="2073349"/>
          </a:xfrm>
          <a:custGeom>
            <a:avLst/>
            <a:gdLst>
              <a:gd name="connsiteX0" fmla="*/ 2296632 w 2966483"/>
              <a:gd name="connsiteY0" fmla="*/ 0 h 2073349"/>
              <a:gd name="connsiteX1" fmla="*/ 0 w 2966483"/>
              <a:gd name="connsiteY1" fmla="*/ 1052623 h 2073349"/>
              <a:gd name="connsiteX2" fmla="*/ 2966483 w 2966483"/>
              <a:gd name="connsiteY2" fmla="*/ 2073349 h 2073349"/>
              <a:gd name="connsiteX3" fmla="*/ 2296632 w 2966483"/>
              <a:gd name="connsiteY3" fmla="*/ 0 h 2073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66483" h="2073349">
                <a:moveTo>
                  <a:pt x="2296632" y="0"/>
                </a:moveTo>
                <a:lnTo>
                  <a:pt x="0" y="1052623"/>
                </a:lnTo>
                <a:lnTo>
                  <a:pt x="2966483" y="2073349"/>
                </a:lnTo>
                <a:lnTo>
                  <a:pt x="2296632" y="0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Freeform: Shape 5"/>
          <p:cNvSpPr/>
          <p:nvPr/>
        </p:nvSpPr>
        <p:spPr>
          <a:xfrm>
            <a:off x="3065721" y="2179675"/>
            <a:ext cx="63876" cy="499731"/>
          </a:xfrm>
          <a:custGeom>
            <a:avLst/>
            <a:gdLst>
              <a:gd name="connsiteX0" fmla="*/ 0 w 63876"/>
              <a:gd name="connsiteY0" fmla="*/ 0 h 499731"/>
              <a:gd name="connsiteX1" fmla="*/ 63795 w 63876"/>
              <a:gd name="connsiteY1" fmla="*/ 233917 h 499731"/>
              <a:gd name="connsiteX2" fmla="*/ 10632 w 63876"/>
              <a:gd name="connsiteY2" fmla="*/ 499731 h 499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876" h="499731">
                <a:moveTo>
                  <a:pt x="0" y="0"/>
                </a:moveTo>
                <a:cubicBezTo>
                  <a:pt x="31011" y="75314"/>
                  <a:pt x="62023" y="150629"/>
                  <a:pt x="63795" y="233917"/>
                </a:cubicBezTo>
                <a:cubicBezTo>
                  <a:pt x="65567" y="317205"/>
                  <a:pt x="38099" y="408468"/>
                  <a:pt x="10632" y="499731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128199" y="1420036"/>
                <a:ext cx="11521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8199" y="1420036"/>
                <a:ext cx="1152128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128199" y="3118147"/>
                <a:ext cx="11521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+3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8199" y="3118147"/>
                <a:ext cx="115212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065722" y="2249330"/>
                <a:ext cx="81577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30°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5722" y="2249330"/>
                <a:ext cx="81577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903770" y="922487"/>
                <a:ext cx="4104456" cy="646331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The area of this triangle is 10.</a:t>
                </a:r>
              </a:p>
              <a:p>
                <a:r>
                  <a:rPr lang="en-GB" dirty="0"/>
                  <a:t>Determine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3770" y="922487"/>
                <a:ext cx="4104456" cy="646331"/>
              </a:xfrm>
              <a:prstGeom prst="rect">
                <a:avLst/>
              </a:prstGeom>
              <a:blipFill>
                <a:blip r:embed="rId5"/>
                <a:stretch>
                  <a:fillRect b="-2308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253068" y="1672410"/>
                <a:ext cx="2808312" cy="22375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+3</m:t>
                          </m:r>
                        </m:e>
                      </m:d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30°</m:t>
                              </m:r>
                            </m:e>
                          </m:d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=10</m:t>
                      </m:r>
                    </m:oMath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+3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=10</m:t>
                      </m:r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+3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=40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−40=0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+8</m:t>
                          </m:r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−5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br>
                  <a:rPr lang="en-GB" dirty="0"/>
                </a:br>
                <a:r>
                  <a:rPr lang="en-GB" dirty="0"/>
                  <a:t>As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>
                        <a:latin typeface="Cambria Math" panose="02040503050406030204" pitchFamily="18" charset="0"/>
                      </a:rPr>
                      <m:t>&gt;0,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3068" y="1672410"/>
                <a:ext cx="2808312" cy="2237536"/>
              </a:xfrm>
              <a:prstGeom prst="rect">
                <a:avLst/>
              </a:prstGeom>
              <a:blipFill>
                <a:blip r:embed="rId6"/>
                <a:stretch>
                  <a:fillRect l="-1957" b="-354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903770" y="4293097"/>
                <a:ext cx="4104456" cy="646331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The area of this triangle is also 10.</a:t>
                </a:r>
              </a:p>
              <a:p>
                <a:r>
                  <a:rPr lang="en-GB" dirty="0"/>
                  <a:t>If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dirty="0"/>
                  <a:t> is obtuse, determine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3770" y="4293097"/>
                <a:ext cx="4104456" cy="646331"/>
              </a:xfrm>
              <a:prstGeom prst="rect">
                <a:avLst/>
              </a:prstGeom>
              <a:blipFill>
                <a:blip r:embed="rId7"/>
                <a:stretch>
                  <a:fillRect b="-2308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Freeform: Shape 12"/>
          <p:cNvSpPr/>
          <p:nvPr/>
        </p:nvSpPr>
        <p:spPr>
          <a:xfrm>
            <a:off x="2503225" y="4215941"/>
            <a:ext cx="3062176" cy="1754373"/>
          </a:xfrm>
          <a:custGeom>
            <a:avLst/>
            <a:gdLst>
              <a:gd name="connsiteX0" fmla="*/ 2296632 w 2966483"/>
              <a:gd name="connsiteY0" fmla="*/ 0 h 2073349"/>
              <a:gd name="connsiteX1" fmla="*/ 0 w 2966483"/>
              <a:gd name="connsiteY1" fmla="*/ 1052623 h 2073349"/>
              <a:gd name="connsiteX2" fmla="*/ 2966483 w 2966483"/>
              <a:gd name="connsiteY2" fmla="*/ 2073349 h 2073349"/>
              <a:gd name="connsiteX3" fmla="*/ 2296632 w 2966483"/>
              <a:gd name="connsiteY3" fmla="*/ 0 h 2073349"/>
              <a:gd name="connsiteX0" fmla="*/ 1467293 w 2966483"/>
              <a:gd name="connsiteY0" fmla="*/ 0 h 2052084"/>
              <a:gd name="connsiteX1" fmla="*/ 0 w 2966483"/>
              <a:gd name="connsiteY1" fmla="*/ 1031358 h 2052084"/>
              <a:gd name="connsiteX2" fmla="*/ 2966483 w 2966483"/>
              <a:gd name="connsiteY2" fmla="*/ 2052084 h 2052084"/>
              <a:gd name="connsiteX3" fmla="*/ 1467293 w 2966483"/>
              <a:gd name="connsiteY3" fmla="*/ 0 h 2052084"/>
              <a:gd name="connsiteX0" fmla="*/ 1467293 w 3062176"/>
              <a:gd name="connsiteY0" fmla="*/ 0 h 1754373"/>
              <a:gd name="connsiteX1" fmla="*/ 0 w 3062176"/>
              <a:gd name="connsiteY1" fmla="*/ 1031358 h 1754373"/>
              <a:gd name="connsiteX2" fmla="*/ 3062176 w 3062176"/>
              <a:gd name="connsiteY2" fmla="*/ 1754373 h 1754373"/>
              <a:gd name="connsiteX3" fmla="*/ 1467293 w 3062176"/>
              <a:gd name="connsiteY3" fmla="*/ 0 h 1754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62176" h="1754373">
                <a:moveTo>
                  <a:pt x="1467293" y="0"/>
                </a:moveTo>
                <a:lnTo>
                  <a:pt x="0" y="1031358"/>
                </a:lnTo>
                <a:lnTo>
                  <a:pt x="3062176" y="1754373"/>
                </a:lnTo>
                <a:lnTo>
                  <a:pt x="1467293" y="0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562935" y="4318300"/>
                <a:ext cx="11521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2935" y="4318300"/>
                <a:ext cx="115212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151784" y="4483182"/>
                <a:ext cx="11521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1784" y="4483182"/>
                <a:ext cx="1152128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Freeform: Shape 15"/>
          <p:cNvSpPr/>
          <p:nvPr/>
        </p:nvSpPr>
        <p:spPr>
          <a:xfrm>
            <a:off x="3533553" y="4497573"/>
            <a:ext cx="723014" cy="139307"/>
          </a:xfrm>
          <a:custGeom>
            <a:avLst/>
            <a:gdLst>
              <a:gd name="connsiteX0" fmla="*/ 0 w 723014"/>
              <a:gd name="connsiteY0" fmla="*/ 0 h 139307"/>
              <a:gd name="connsiteX1" fmla="*/ 361507 w 723014"/>
              <a:gd name="connsiteY1" fmla="*/ 138223 h 139307"/>
              <a:gd name="connsiteX2" fmla="*/ 723014 w 723014"/>
              <a:gd name="connsiteY2" fmla="*/ 53163 h 1393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23014" h="139307">
                <a:moveTo>
                  <a:pt x="0" y="0"/>
                </a:moveTo>
                <a:cubicBezTo>
                  <a:pt x="120502" y="64681"/>
                  <a:pt x="241005" y="129363"/>
                  <a:pt x="361507" y="138223"/>
                </a:cubicBezTo>
                <a:cubicBezTo>
                  <a:pt x="482009" y="147083"/>
                  <a:pt x="602511" y="100123"/>
                  <a:pt x="723014" y="53163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340261" y="4685176"/>
                <a:ext cx="11521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0261" y="4685176"/>
                <a:ext cx="1152128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6105275" y="5071862"/>
                <a:ext cx="3361246" cy="14083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×5×6×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=10</m:t>
                      </m:r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=180°−41.8°=138.2°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5275" y="5071862"/>
                <a:ext cx="3361246" cy="14083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/>
          <p:cNvSpPr/>
          <p:nvPr/>
        </p:nvSpPr>
        <p:spPr>
          <a:xfrm>
            <a:off x="5903770" y="1568817"/>
            <a:ext cx="4104456" cy="234112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03770" y="4939427"/>
            <a:ext cx="4104456" cy="169002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1890952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9D – Y1 pages 186-187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A21D9418-36EF-5D58-6CBE-6CBD055B8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512" y="599127"/>
            <a:ext cx="7772400" cy="13374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526F7A2-402F-37FC-57C3-31B71F2E8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5680" y="2204864"/>
            <a:ext cx="3156806" cy="444155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AE12E1D-D4B0-EE83-772D-CDED3A1C3851}"/>
              </a:ext>
            </a:extLst>
          </p:cNvPr>
          <p:cNvSpPr/>
          <p:nvPr/>
        </p:nvSpPr>
        <p:spPr>
          <a:xfrm>
            <a:off x="2999656" y="2210904"/>
            <a:ext cx="4104456" cy="44355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1839505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9D – Y1 pages 186-187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9E35ED4E-B090-BB51-61E9-3DEA35B9B5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4" y="629360"/>
            <a:ext cx="7772400" cy="1599213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46E74C23-7AB5-E368-2D71-B2E1383D9BC3}"/>
              </a:ext>
            </a:extLst>
          </p:cNvPr>
          <p:cNvGrpSpPr/>
          <p:nvPr/>
        </p:nvGrpSpPr>
        <p:grpSpPr>
          <a:xfrm>
            <a:off x="2495601" y="2774845"/>
            <a:ext cx="3135697" cy="3168352"/>
            <a:chOff x="611560" y="2420888"/>
            <a:chExt cx="3135697" cy="316835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F701B32-4717-28F1-76FB-3283CFF82E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1560" y="2420888"/>
              <a:ext cx="3135697" cy="252028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396020E-14B7-BB05-AB20-8F91A9EFFA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99592" y="4941168"/>
              <a:ext cx="2701703" cy="648072"/>
            </a:xfrm>
            <a:prstGeom prst="rect">
              <a:avLst/>
            </a:prstGeom>
          </p:spPr>
        </p:pic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B7872A13-D060-AD48-AC09-AA7D03D94E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3993" y="2846854"/>
            <a:ext cx="3815781" cy="302082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E03B96E-D616-48B2-03FB-7EBCA45F25E7}"/>
              </a:ext>
            </a:extLst>
          </p:cNvPr>
          <p:cNvSpPr/>
          <p:nvPr/>
        </p:nvSpPr>
        <p:spPr>
          <a:xfrm>
            <a:off x="2063552" y="2630829"/>
            <a:ext cx="3878448" cy="35978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8ED9B4-8972-27B3-2B90-2CD1EDEA464E}"/>
              </a:ext>
            </a:extLst>
          </p:cNvPr>
          <p:cNvSpPr/>
          <p:nvPr/>
        </p:nvSpPr>
        <p:spPr>
          <a:xfrm>
            <a:off x="6105984" y="2630828"/>
            <a:ext cx="3878448" cy="35978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 </a:t>
            </a:r>
          </a:p>
        </p:txBody>
      </p:sp>
    </p:spTree>
    <p:extLst>
      <p:ext uri="{BB962C8B-B14F-4D97-AF65-F5344CB8AC3E}">
        <p14:creationId xmlns:p14="http://schemas.microsoft.com/office/powerpoint/2010/main" val="2492045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9D – Y1 pages 186-187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FD839B27-F8EB-9AF6-83D1-1D33DD959F55}"/>
              </a:ext>
            </a:extLst>
          </p:cNvPr>
          <p:cNvGrpSpPr/>
          <p:nvPr/>
        </p:nvGrpSpPr>
        <p:grpSpPr>
          <a:xfrm>
            <a:off x="1703512" y="692697"/>
            <a:ext cx="5544616" cy="1253271"/>
            <a:chOff x="179512" y="692696"/>
            <a:chExt cx="5544616" cy="125327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436363D-AA7E-1188-6682-0D651D7C47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9512" y="692696"/>
              <a:ext cx="5328592" cy="1253271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3F91886-3684-CA24-F994-927B02F2CFFF}"/>
                </a:ext>
              </a:extLst>
            </p:cNvPr>
            <p:cNvSpPr/>
            <p:nvPr/>
          </p:nvSpPr>
          <p:spPr>
            <a:xfrm>
              <a:off x="4211960" y="692696"/>
              <a:ext cx="1512168" cy="7200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BFDAF6B3-551B-2820-7DD8-B8BD7A5F5B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1544" y="2564904"/>
            <a:ext cx="4275002" cy="33843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0D3B8EF-2471-A5ED-EF55-B2CB61A11C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428" y="2585720"/>
            <a:ext cx="3596936" cy="239464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74F7C4C-A6FC-D4F5-A9F8-76AFA53BC249}"/>
              </a:ext>
            </a:extLst>
          </p:cNvPr>
          <p:cNvSpPr/>
          <p:nvPr/>
        </p:nvSpPr>
        <p:spPr>
          <a:xfrm>
            <a:off x="2063552" y="2630829"/>
            <a:ext cx="3878448" cy="35978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FA9531-5F7B-C16F-B58D-C57EC0602B2C}"/>
              </a:ext>
            </a:extLst>
          </p:cNvPr>
          <p:cNvSpPr/>
          <p:nvPr/>
        </p:nvSpPr>
        <p:spPr>
          <a:xfrm>
            <a:off x="6105984" y="2630828"/>
            <a:ext cx="3878448" cy="35978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 </a:t>
            </a:r>
          </a:p>
        </p:txBody>
      </p:sp>
    </p:spTree>
    <p:extLst>
      <p:ext uri="{BB962C8B-B14F-4D97-AF65-F5344CB8AC3E}">
        <p14:creationId xmlns:p14="http://schemas.microsoft.com/office/powerpoint/2010/main" val="931347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Sin or cosine rule?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Freeform 4"/>
          <p:cNvSpPr/>
          <p:nvPr/>
        </p:nvSpPr>
        <p:spPr>
          <a:xfrm>
            <a:off x="2149493" y="1923028"/>
            <a:ext cx="2004291" cy="1062182"/>
          </a:xfrm>
          <a:custGeom>
            <a:avLst/>
            <a:gdLst>
              <a:gd name="connsiteX0" fmla="*/ 563418 w 2004291"/>
              <a:gd name="connsiteY0" fmla="*/ 0 h 1062182"/>
              <a:gd name="connsiteX1" fmla="*/ 0 w 2004291"/>
              <a:gd name="connsiteY1" fmla="*/ 1062182 h 1062182"/>
              <a:gd name="connsiteX2" fmla="*/ 2004291 w 2004291"/>
              <a:gd name="connsiteY2" fmla="*/ 443346 h 1062182"/>
              <a:gd name="connsiteX3" fmla="*/ 563418 w 2004291"/>
              <a:gd name="connsiteY3" fmla="*/ 0 h 1062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4291" h="1062182">
                <a:moveTo>
                  <a:pt x="563418" y="0"/>
                </a:moveTo>
                <a:lnTo>
                  <a:pt x="0" y="1062182"/>
                </a:lnTo>
                <a:lnTo>
                  <a:pt x="2004291" y="443346"/>
                </a:lnTo>
                <a:lnTo>
                  <a:pt x="563418" y="0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Freeform 5"/>
          <p:cNvSpPr/>
          <p:nvPr/>
        </p:nvSpPr>
        <p:spPr>
          <a:xfrm>
            <a:off x="2590878" y="2027287"/>
            <a:ext cx="397164" cy="168546"/>
          </a:xfrm>
          <a:custGeom>
            <a:avLst/>
            <a:gdLst>
              <a:gd name="connsiteX0" fmla="*/ 0 w 397164"/>
              <a:gd name="connsiteY0" fmla="*/ 147781 h 168546"/>
              <a:gd name="connsiteX1" fmla="*/ 157019 w 397164"/>
              <a:gd name="connsiteY1" fmla="*/ 166254 h 168546"/>
              <a:gd name="connsiteX2" fmla="*/ 332510 w 397164"/>
              <a:gd name="connsiteY2" fmla="*/ 101600 h 168546"/>
              <a:gd name="connsiteX3" fmla="*/ 397164 w 397164"/>
              <a:gd name="connsiteY3" fmla="*/ 0 h 168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7164" h="168546">
                <a:moveTo>
                  <a:pt x="0" y="147781"/>
                </a:moveTo>
                <a:cubicBezTo>
                  <a:pt x="50800" y="160866"/>
                  <a:pt x="101601" y="173951"/>
                  <a:pt x="157019" y="166254"/>
                </a:cubicBezTo>
                <a:cubicBezTo>
                  <a:pt x="212437" y="158557"/>
                  <a:pt x="292486" y="129309"/>
                  <a:pt x="332510" y="101600"/>
                </a:cubicBezTo>
                <a:cubicBezTo>
                  <a:pt x="372534" y="73891"/>
                  <a:pt x="384849" y="36945"/>
                  <a:pt x="397164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Freeform 6"/>
          <p:cNvSpPr/>
          <p:nvPr/>
        </p:nvSpPr>
        <p:spPr>
          <a:xfrm>
            <a:off x="3652903" y="2230488"/>
            <a:ext cx="27866" cy="295563"/>
          </a:xfrm>
          <a:custGeom>
            <a:avLst/>
            <a:gdLst>
              <a:gd name="connsiteX0" fmla="*/ 27866 w 27866"/>
              <a:gd name="connsiteY0" fmla="*/ 0 h 295563"/>
              <a:gd name="connsiteX1" fmla="*/ 157 w 27866"/>
              <a:gd name="connsiteY1" fmla="*/ 138545 h 295563"/>
              <a:gd name="connsiteX2" fmla="*/ 18630 w 27866"/>
              <a:gd name="connsiteY2" fmla="*/ 295563 h 295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866" h="295563">
                <a:moveTo>
                  <a:pt x="27866" y="0"/>
                </a:moveTo>
                <a:cubicBezTo>
                  <a:pt x="14781" y="44642"/>
                  <a:pt x="1696" y="89285"/>
                  <a:pt x="157" y="138545"/>
                </a:cubicBezTo>
                <a:cubicBezTo>
                  <a:pt x="-1382" y="187805"/>
                  <a:pt x="8624" y="241684"/>
                  <a:pt x="18630" y="295563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563170" y="2114456"/>
                <a:ext cx="7513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/>
                        </a:rPr>
                        <m:t>100°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3170" y="2114456"/>
                <a:ext cx="751353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151638" y="2193602"/>
                <a:ext cx="7513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/>
                        </a:rPr>
                        <m:t>𝑎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1638" y="2193602"/>
                <a:ext cx="75135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813125" y="2734155"/>
                <a:ext cx="7513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/>
                        </a:rPr>
                        <m:t>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3125" y="2734155"/>
                <a:ext cx="75135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839526" y="2114456"/>
                <a:ext cx="7513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/>
                        </a:rPr>
                        <m:t>3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9526" y="2114456"/>
                <a:ext cx="75135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Freeform 11"/>
          <p:cNvSpPr/>
          <p:nvPr/>
        </p:nvSpPr>
        <p:spPr>
          <a:xfrm>
            <a:off x="2077486" y="3934305"/>
            <a:ext cx="2004291" cy="1062182"/>
          </a:xfrm>
          <a:custGeom>
            <a:avLst/>
            <a:gdLst>
              <a:gd name="connsiteX0" fmla="*/ 563418 w 2004291"/>
              <a:gd name="connsiteY0" fmla="*/ 0 h 1062182"/>
              <a:gd name="connsiteX1" fmla="*/ 0 w 2004291"/>
              <a:gd name="connsiteY1" fmla="*/ 1062182 h 1062182"/>
              <a:gd name="connsiteX2" fmla="*/ 2004291 w 2004291"/>
              <a:gd name="connsiteY2" fmla="*/ 443346 h 1062182"/>
              <a:gd name="connsiteX3" fmla="*/ 563418 w 2004291"/>
              <a:gd name="connsiteY3" fmla="*/ 0 h 1062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4291" h="1062182">
                <a:moveTo>
                  <a:pt x="563418" y="0"/>
                </a:moveTo>
                <a:lnTo>
                  <a:pt x="0" y="1062182"/>
                </a:lnTo>
                <a:lnTo>
                  <a:pt x="2004291" y="443346"/>
                </a:lnTo>
                <a:lnTo>
                  <a:pt x="563418" y="0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Freeform 13"/>
          <p:cNvSpPr/>
          <p:nvPr/>
        </p:nvSpPr>
        <p:spPr>
          <a:xfrm>
            <a:off x="3580896" y="4241765"/>
            <a:ext cx="27866" cy="295563"/>
          </a:xfrm>
          <a:custGeom>
            <a:avLst/>
            <a:gdLst>
              <a:gd name="connsiteX0" fmla="*/ 27866 w 27866"/>
              <a:gd name="connsiteY0" fmla="*/ 0 h 295563"/>
              <a:gd name="connsiteX1" fmla="*/ 157 w 27866"/>
              <a:gd name="connsiteY1" fmla="*/ 138545 h 295563"/>
              <a:gd name="connsiteX2" fmla="*/ 18630 w 27866"/>
              <a:gd name="connsiteY2" fmla="*/ 295563 h 295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866" h="295563">
                <a:moveTo>
                  <a:pt x="27866" y="0"/>
                </a:moveTo>
                <a:cubicBezTo>
                  <a:pt x="14781" y="44642"/>
                  <a:pt x="1696" y="89285"/>
                  <a:pt x="157" y="138545"/>
                </a:cubicBezTo>
                <a:cubicBezTo>
                  <a:pt x="-1382" y="187805"/>
                  <a:pt x="8624" y="241684"/>
                  <a:pt x="18630" y="295563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988043" y="4184377"/>
                <a:ext cx="7513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/>
                        </a:rPr>
                        <m:t>40°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8043" y="4184377"/>
                <a:ext cx="75135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294007" y="4396600"/>
                <a:ext cx="7513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/>
                        </a:rPr>
                        <m:t>45°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4007" y="4396600"/>
                <a:ext cx="75135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1767519" y="4125733"/>
                <a:ext cx="7513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7519" y="4125733"/>
                <a:ext cx="75135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2971545" y="3800721"/>
                <a:ext cx="7513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/>
                        </a:rPr>
                        <m:t>3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545" y="3800721"/>
                <a:ext cx="751353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Freeform 19"/>
          <p:cNvSpPr/>
          <p:nvPr/>
        </p:nvSpPr>
        <p:spPr>
          <a:xfrm>
            <a:off x="6217688" y="4022618"/>
            <a:ext cx="2004291" cy="1062182"/>
          </a:xfrm>
          <a:custGeom>
            <a:avLst/>
            <a:gdLst>
              <a:gd name="connsiteX0" fmla="*/ 563418 w 2004291"/>
              <a:gd name="connsiteY0" fmla="*/ 0 h 1062182"/>
              <a:gd name="connsiteX1" fmla="*/ 0 w 2004291"/>
              <a:gd name="connsiteY1" fmla="*/ 1062182 h 1062182"/>
              <a:gd name="connsiteX2" fmla="*/ 2004291 w 2004291"/>
              <a:gd name="connsiteY2" fmla="*/ 443346 h 1062182"/>
              <a:gd name="connsiteX3" fmla="*/ 563418 w 2004291"/>
              <a:gd name="connsiteY3" fmla="*/ 0 h 1062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4291" h="1062182">
                <a:moveTo>
                  <a:pt x="563418" y="0"/>
                </a:moveTo>
                <a:lnTo>
                  <a:pt x="0" y="1062182"/>
                </a:lnTo>
                <a:lnTo>
                  <a:pt x="2004291" y="443346"/>
                </a:lnTo>
                <a:lnTo>
                  <a:pt x="563418" y="0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Freeform 20"/>
          <p:cNvSpPr/>
          <p:nvPr/>
        </p:nvSpPr>
        <p:spPr>
          <a:xfrm>
            <a:off x="7721098" y="4330078"/>
            <a:ext cx="27866" cy="295563"/>
          </a:xfrm>
          <a:custGeom>
            <a:avLst/>
            <a:gdLst>
              <a:gd name="connsiteX0" fmla="*/ 27866 w 27866"/>
              <a:gd name="connsiteY0" fmla="*/ 0 h 295563"/>
              <a:gd name="connsiteX1" fmla="*/ 157 w 27866"/>
              <a:gd name="connsiteY1" fmla="*/ 138545 h 295563"/>
              <a:gd name="connsiteX2" fmla="*/ 18630 w 27866"/>
              <a:gd name="connsiteY2" fmla="*/ 295563 h 295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866" h="295563">
                <a:moveTo>
                  <a:pt x="27866" y="0"/>
                </a:moveTo>
                <a:cubicBezTo>
                  <a:pt x="14781" y="44642"/>
                  <a:pt x="1696" y="89285"/>
                  <a:pt x="157" y="138545"/>
                </a:cubicBezTo>
                <a:cubicBezTo>
                  <a:pt x="-1382" y="187805"/>
                  <a:pt x="8624" y="241684"/>
                  <a:pt x="18630" y="295563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7128245" y="4272690"/>
                <a:ext cx="7513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/>
                        </a:rPr>
                        <m:t>𝑎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8245" y="4272690"/>
                <a:ext cx="751353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6881320" y="4833745"/>
                <a:ext cx="7513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/>
                        </a:rPr>
                        <m:t>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1320" y="4833745"/>
                <a:ext cx="751353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5907721" y="4214046"/>
                <a:ext cx="7513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/>
                        </a:rPr>
                        <m:t>2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7721" y="4214046"/>
                <a:ext cx="751353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7111747" y="3889034"/>
                <a:ext cx="7513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/>
                        </a:rPr>
                        <m:t>3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1747" y="3889034"/>
                <a:ext cx="751353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Freeform 25"/>
          <p:cNvSpPr/>
          <p:nvPr/>
        </p:nvSpPr>
        <p:spPr>
          <a:xfrm>
            <a:off x="6151979" y="1802009"/>
            <a:ext cx="2004291" cy="1062182"/>
          </a:xfrm>
          <a:custGeom>
            <a:avLst/>
            <a:gdLst>
              <a:gd name="connsiteX0" fmla="*/ 563418 w 2004291"/>
              <a:gd name="connsiteY0" fmla="*/ 0 h 1062182"/>
              <a:gd name="connsiteX1" fmla="*/ 0 w 2004291"/>
              <a:gd name="connsiteY1" fmla="*/ 1062182 h 1062182"/>
              <a:gd name="connsiteX2" fmla="*/ 2004291 w 2004291"/>
              <a:gd name="connsiteY2" fmla="*/ 443346 h 1062182"/>
              <a:gd name="connsiteX3" fmla="*/ 563418 w 2004291"/>
              <a:gd name="connsiteY3" fmla="*/ 0 h 1062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4291" h="1062182">
                <a:moveTo>
                  <a:pt x="563418" y="0"/>
                </a:moveTo>
                <a:lnTo>
                  <a:pt x="0" y="1062182"/>
                </a:lnTo>
                <a:lnTo>
                  <a:pt x="2004291" y="443346"/>
                </a:lnTo>
                <a:lnTo>
                  <a:pt x="563418" y="0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Freeform 26"/>
          <p:cNvSpPr/>
          <p:nvPr/>
        </p:nvSpPr>
        <p:spPr>
          <a:xfrm>
            <a:off x="7655389" y="2109469"/>
            <a:ext cx="27866" cy="295563"/>
          </a:xfrm>
          <a:custGeom>
            <a:avLst/>
            <a:gdLst>
              <a:gd name="connsiteX0" fmla="*/ 27866 w 27866"/>
              <a:gd name="connsiteY0" fmla="*/ 0 h 295563"/>
              <a:gd name="connsiteX1" fmla="*/ 157 w 27866"/>
              <a:gd name="connsiteY1" fmla="*/ 138545 h 295563"/>
              <a:gd name="connsiteX2" fmla="*/ 18630 w 27866"/>
              <a:gd name="connsiteY2" fmla="*/ 295563 h 295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866" h="295563">
                <a:moveTo>
                  <a:pt x="27866" y="0"/>
                </a:moveTo>
                <a:cubicBezTo>
                  <a:pt x="14781" y="44642"/>
                  <a:pt x="1696" y="89285"/>
                  <a:pt x="157" y="138545"/>
                </a:cubicBezTo>
                <a:cubicBezTo>
                  <a:pt x="-1382" y="187805"/>
                  <a:pt x="8624" y="241684"/>
                  <a:pt x="18630" y="295563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7062536" y="2052081"/>
                <a:ext cx="7513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/>
                        </a:rPr>
                        <m:t>40°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2536" y="2052081"/>
                <a:ext cx="751353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6815611" y="2613136"/>
                <a:ext cx="7513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/>
                        </a:rPr>
                        <m:t>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5611" y="2613136"/>
                <a:ext cx="751353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5842012" y="1993437"/>
                <a:ext cx="7513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2012" y="1993437"/>
                <a:ext cx="751353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7046038" y="1668425"/>
                <a:ext cx="7513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/>
                        </a:rPr>
                        <m:t>3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6038" y="1668425"/>
                <a:ext cx="751353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ectangle 33"/>
          <p:cNvSpPr/>
          <p:nvPr/>
        </p:nvSpPr>
        <p:spPr>
          <a:xfrm>
            <a:off x="1826794" y="1124169"/>
            <a:ext cx="1227436" cy="47138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GB" sz="2800" dirty="0"/>
              <a:t>Sine</a:t>
            </a:r>
          </a:p>
        </p:txBody>
      </p:sp>
      <p:sp>
        <p:nvSpPr>
          <p:cNvPr id="13" name="Freeform 12"/>
          <p:cNvSpPr/>
          <p:nvPr/>
        </p:nvSpPr>
        <p:spPr>
          <a:xfrm>
            <a:off x="2290619" y="4590474"/>
            <a:ext cx="230909" cy="277091"/>
          </a:xfrm>
          <a:custGeom>
            <a:avLst/>
            <a:gdLst>
              <a:gd name="connsiteX0" fmla="*/ 0 w 230909"/>
              <a:gd name="connsiteY0" fmla="*/ 0 h 277091"/>
              <a:gd name="connsiteX1" fmla="*/ 120073 w 230909"/>
              <a:gd name="connsiteY1" fmla="*/ 46182 h 277091"/>
              <a:gd name="connsiteX2" fmla="*/ 203200 w 230909"/>
              <a:gd name="connsiteY2" fmla="*/ 157018 h 277091"/>
              <a:gd name="connsiteX3" fmla="*/ 230909 w 230909"/>
              <a:gd name="connsiteY3" fmla="*/ 277091 h 277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909" h="277091">
                <a:moveTo>
                  <a:pt x="0" y="0"/>
                </a:moveTo>
                <a:cubicBezTo>
                  <a:pt x="43103" y="10006"/>
                  <a:pt x="86206" y="20012"/>
                  <a:pt x="120073" y="46182"/>
                </a:cubicBezTo>
                <a:cubicBezTo>
                  <a:pt x="153940" y="72352"/>
                  <a:pt x="184727" y="118533"/>
                  <a:pt x="203200" y="157018"/>
                </a:cubicBezTo>
                <a:cubicBezTo>
                  <a:pt x="221673" y="195503"/>
                  <a:pt x="226291" y="236297"/>
                  <a:pt x="230909" y="27709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/>
          <p:cNvSpPr txBox="1"/>
          <p:nvPr/>
        </p:nvSpPr>
        <p:spPr>
          <a:xfrm>
            <a:off x="5032665" y="679986"/>
            <a:ext cx="54287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Recall that whenever we have </a:t>
            </a:r>
            <a:r>
              <a:rPr lang="en-GB" sz="1600" b="1" dirty="0"/>
              <a:t>two “side-angle pairs</a:t>
            </a:r>
            <a:r>
              <a:rPr lang="en-GB" sz="1600" dirty="0"/>
              <a:t>” involved, use sine rule. If there’s </a:t>
            </a:r>
            <a:r>
              <a:rPr lang="en-GB" sz="1600" b="1" dirty="0"/>
              <a:t>3 sides </a:t>
            </a:r>
            <a:r>
              <a:rPr lang="en-GB" sz="1600" dirty="0"/>
              <a:t>involved, we can use cosine rule. Sine rule is generally easier to use than cosine rule.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88800" y="1124169"/>
            <a:ext cx="1227436" cy="47138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GB" sz="2800" dirty="0"/>
              <a:t>Cosine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27266" y="5279704"/>
            <a:ext cx="1227436" cy="47138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GB" sz="2800" dirty="0"/>
              <a:t>Sine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89272" y="5279704"/>
            <a:ext cx="1227436" cy="47138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GB" sz="2800" dirty="0"/>
              <a:t>Cosine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08479" y="2628001"/>
            <a:ext cx="1227436" cy="47138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GB" sz="2800" dirty="0"/>
              <a:t>Cosine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724003" y="2628001"/>
            <a:ext cx="1227436" cy="47138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GB" sz="2800" dirty="0"/>
              <a:t>Sine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067731" y="5130063"/>
            <a:ext cx="1227436" cy="47138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GB" sz="2800" dirty="0"/>
              <a:t>Cosine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683255" y="5130063"/>
            <a:ext cx="1227436" cy="47138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GB" sz="2800" dirty="0"/>
              <a:t>Sine</a:t>
            </a:r>
          </a:p>
        </p:txBody>
      </p:sp>
    </p:spTree>
    <p:extLst>
      <p:ext uri="{BB962C8B-B14F-4D97-AF65-F5344CB8AC3E}">
        <p14:creationId xmlns:p14="http://schemas.microsoft.com/office/powerpoint/2010/main" val="345389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8CFF19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4F4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8CFF19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4F4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8CFF19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4F4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8CFF19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4F4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</p:childTnLst>
        </p:cTn>
      </p:par>
    </p:tnLst>
    <p:bldLst>
      <p:bldP spid="34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Using sine rule twice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83633" y="692696"/>
          <a:ext cx="6029113" cy="132791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528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8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303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You have</a:t>
                      </a:r>
                      <a:endParaRPr lang="en-GB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You want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Use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485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#4 Two sides known and a missing side </a:t>
                      </a:r>
                      <a:r>
                        <a:rPr lang="en-GB" sz="2000" u="sng" dirty="0">
                          <a:effectLst/>
                        </a:rPr>
                        <a:t>not</a:t>
                      </a:r>
                      <a:r>
                        <a:rPr lang="en-GB" sz="2000" dirty="0">
                          <a:effectLst/>
                        </a:rPr>
                        <a:t> opposite known angle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Remaining side</a:t>
                      </a:r>
                      <a:endParaRPr lang="en-GB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Sine rule twice</a:t>
                      </a:r>
                      <a:endParaRPr lang="en-GB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Freeform 5"/>
          <p:cNvSpPr/>
          <p:nvPr/>
        </p:nvSpPr>
        <p:spPr>
          <a:xfrm>
            <a:off x="2427383" y="3029639"/>
            <a:ext cx="4263528" cy="2500828"/>
          </a:xfrm>
          <a:custGeom>
            <a:avLst/>
            <a:gdLst>
              <a:gd name="connsiteX0" fmla="*/ 958468 w 4263528"/>
              <a:gd name="connsiteY0" fmla="*/ 0 h 2500828"/>
              <a:gd name="connsiteX1" fmla="*/ 0 w 4263528"/>
              <a:gd name="connsiteY1" fmla="*/ 2500828 h 2500828"/>
              <a:gd name="connsiteX2" fmla="*/ 4263528 w 4263528"/>
              <a:gd name="connsiteY2" fmla="*/ 749147 h 2500828"/>
              <a:gd name="connsiteX3" fmla="*/ 958468 w 4263528"/>
              <a:gd name="connsiteY3" fmla="*/ 0 h 2500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63528" h="2500828">
                <a:moveTo>
                  <a:pt x="958468" y="0"/>
                </a:moveTo>
                <a:lnTo>
                  <a:pt x="0" y="2500828"/>
                </a:lnTo>
                <a:lnTo>
                  <a:pt x="4263528" y="749147"/>
                </a:lnTo>
                <a:lnTo>
                  <a:pt x="958468" y="0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Freeform 6"/>
          <p:cNvSpPr/>
          <p:nvPr/>
        </p:nvSpPr>
        <p:spPr>
          <a:xfrm>
            <a:off x="5736318" y="3580483"/>
            <a:ext cx="84260" cy="572877"/>
          </a:xfrm>
          <a:custGeom>
            <a:avLst/>
            <a:gdLst>
              <a:gd name="connsiteX0" fmla="*/ 84260 w 84260"/>
              <a:gd name="connsiteY0" fmla="*/ 0 h 572877"/>
              <a:gd name="connsiteX1" fmla="*/ 7142 w 84260"/>
              <a:gd name="connsiteY1" fmla="*/ 231354 h 572877"/>
              <a:gd name="connsiteX2" fmla="*/ 7142 w 84260"/>
              <a:gd name="connsiteY2" fmla="*/ 495759 h 572877"/>
              <a:gd name="connsiteX3" fmla="*/ 40193 w 84260"/>
              <a:gd name="connsiteY3" fmla="*/ 572877 h 5728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260" h="572877">
                <a:moveTo>
                  <a:pt x="84260" y="0"/>
                </a:moveTo>
                <a:cubicBezTo>
                  <a:pt x="52127" y="74363"/>
                  <a:pt x="19995" y="148727"/>
                  <a:pt x="7142" y="231354"/>
                </a:cubicBezTo>
                <a:cubicBezTo>
                  <a:pt x="-5711" y="313981"/>
                  <a:pt x="1633" y="438839"/>
                  <a:pt x="7142" y="495759"/>
                </a:cubicBezTo>
                <a:cubicBezTo>
                  <a:pt x="12650" y="552680"/>
                  <a:pt x="26421" y="562778"/>
                  <a:pt x="40193" y="572877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655840" y="2852937"/>
                <a:ext cx="7920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5840" y="2852937"/>
                <a:ext cx="792088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241609" y="4725145"/>
                <a:ext cx="7920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1609" y="4725145"/>
                <a:ext cx="792088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207568" y="3818389"/>
                <a:ext cx="7920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7568" y="3818389"/>
                <a:ext cx="792088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944230" y="3687230"/>
                <a:ext cx="7920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32°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4230" y="3687230"/>
                <a:ext cx="792088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816080" y="2420888"/>
                <a:ext cx="3851920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Given there is just one angle involved, you might attempt to use the cosine rule:</a:t>
                </a:r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  <m:sup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  <m:sup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b="1" i="1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×</m:t>
                          </m:r>
                          <m:func>
                            <m:func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>
                                  <a:latin typeface="Cambria Math" panose="02040503050406030204" pitchFamily="18" charset="0"/>
                                </a:rPr>
                                <m:t>𝐜𝐨𝐬</m:t>
                              </m:r>
                            </m:fName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𝟑𝟐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GB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1" i="1"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𝟏𝟔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𝒙</m:t>
                      </m:r>
                      <m:func>
                        <m:func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𝟑𝟐</m:t>
                          </m:r>
                        </m:e>
                      </m:func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6080" y="2420888"/>
                <a:ext cx="3851920" cy="1754326"/>
              </a:xfrm>
              <a:prstGeom prst="rect">
                <a:avLst/>
              </a:prstGeom>
              <a:blipFill>
                <a:blip r:embed="rId6"/>
                <a:stretch>
                  <a:fillRect l="-1266" t="-17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839055" y="4756306"/>
                <a:ext cx="4447945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This is a quadratic equation!</a:t>
                </a:r>
              </a:p>
              <a:p>
                <a:r>
                  <a:rPr lang="en-GB" b="1" dirty="0"/>
                  <a:t>It’s possible to solve this using the quadratic formula (using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𝟖</m:t>
                    </m:r>
                    <m:func>
                      <m:func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GB" b="1">
                            <a:latin typeface="Cambria Math" panose="02040503050406030204" pitchFamily="18" charset="0"/>
                          </a:rPr>
                          <m:t>𝐜𝐨𝐬</m:t>
                        </m:r>
                      </m:fName>
                      <m:e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𝟑𝟐</m:t>
                        </m:r>
                      </m:e>
                    </m:func>
                    <m:r>
                      <a:rPr lang="en-GB" b="1" i="1">
                        <a:latin typeface="Cambria Math" panose="02040503050406030204" pitchFamily="18" charset="0"/>
                      </a:rPr>
                      <m:t> , </m:t>
                    </m:r>
                  </m:oMath>
                </a14:m>
                <a:br>
                  <a:rPr lang="en-GB" b="1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𝟕</m:t>
                    </m:r>
                  </m:oMath>
                </a14:m>
                <a:r>
                  <a:rPr lang="en-GB" b="1" dirty="0"/>
                  <a:t>). However, this is a bit fiddly and not the primary method expected in the exam…</a:t>
                </a: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9055" y="4756306"/>
                <a:ext cx="4447945" cy="1477328"/>
              </a:xfrm>
              <a:prstGeom prst="rect">
                <a:avLst/>
              </a:prstGeom>
              <a:blipFill>
                <a:blip r:embed="rId7"/>
                <a:stretch>
                  <a:fillRect l="-1233" t="-2058" b="-53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/>
          <p:cNvSpPr/>
          <p:nvPr/>
        </p:nvSpPr>
        <p:spPr>
          <a:xfrm>
            <a:off x="6816080" y="3385640"/>
            <a:ext cx="3744416" cy="72008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1661075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Using sine rule twice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83633" y="692696"/>
          <a:ext cx="6029113" cy="132791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528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8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303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You have</a:t>
                      </a:r>
                      <a:endParaRPr lang="en-GB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You want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Use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485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#4 Two sides known and a missing side </a:t>
                      </a:r>
                      <a:r>
                        <a:rPr lang="en-GB" sz="2000" u="sng" dirty="0">
                          <a:effectLst/>
                        </a:rPr>
                        <a:t>not</a:t>
                      </a:r>
                      <a:r>
                        <a:rPr lang="en-GB" sz="2000" dirty="0">
                          <a:effectLst/>
                        </a:rPr>
                        <a:t> opposite known angle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Remaining side</a:t>
                      </a:r>
                      <a:endParaRPr lang="en-GB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Sine rule twice</a:t>
                      </a:r>
                      <a:endParaRPr lang="en-GB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Freeform 5"/>
          <p:cNvSpPr/>
          <p:nvPr/>
        </p:nvSpPr>
        <p:spPr>
          <a:xfrm>
            <a:off x="4223792" y="3140968"/>
            <a:ext cx="4263528" cy="2500828"/>
          </a:xfrm>
          <a:custGeom>
            <a:avLst/>
            <a:gdLst>
              <a:gd name="connsiteX0" fmla="*/ 958468 w 4263528"/>
              <a:gd name="connsiteY0" fmla="*/ 0 h 2500828"/>
              <a:gd name="connsiteX1" fmla="*/ 0 w 4263528"/>
              <a:gd name="connsiteY1" fmla="*/ 2500828 h 2500828"/>
              <a:gd name="connsiteX2" fmla="*/ 4263528 w 4263528"/>
              <a:gd name="connsiteY2" fmla="*/ 749147 h 2500828"/>
              <a:gd name="connsiteX3" fmla="*/ 958468 w 4263528"/>
              <a:gd name="connsiteY3" fmla="*/ 0 h 2500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63528" h="2500828">
                <a:moveTo>
                  <a:pt x="958468" y="0"/>
                </a:moveTo>
                <a:lnTo>
                  <a:pt x="0" y="2500828"/>
                </a:lnTo>
                <a:lnTo>
                  <a:pt x="4263528" y="749147"/>
                </a:lnTo>
                <a:lnTo>
                  <a:pt x="958468" y="0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Freeform 6"/>
          <p:cNvSpPr/>
          <p:nvPr/>
        </p:nvSpPr>
        <p:spPr>
          <a:xfrm>
            <a:off x="7532727" y="3691812"/>
            <a:ext cx="84260" cy="572877"/>
          </a:xfrm>
          <a:custGeom>
            <a:avLst/>
            <a:gdLst>
              <a:gd name="connsiteX0" fmla="*/ 84260 w 84260"/>
              <a:gd name="connsiteY0" fmla="*/ 0 h 572877"/>
              <a:gd name="connsiteX1" fmla="*/ 7142 w 84260"/>
              <a:gd name="connsiteY1" fmla="*/ 231354 h 572877"/>
              <a:gd name="connsiteX2" fmla="*/ 7142 w 84260"/>
              <a:gd name="connsiteY2" fmla="*/ 495759 h 572877"/>
              <a:gd name="connsiteX3" fmla="*/ 40193 w 84260"/>
              <a:gd name="connsiteY3" fmla="*/ 572877 h 5728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260" h="572877">
                <a:moveTo>
                  <a:pt x="84260" y="0"/>
                </a:moveTo>
                <a:cubicBezTo>
                  <a:pt x="52127" y="74363"/>
                  <a:pt x="19995" y="148727"/>
                  <a:pt x="7142" y="231354"/>
                </a:cubicBezTo>
                <a:cubicBezTo>
                  <a:pt x="-5711" y="313981"/>
                  <a:pt x="1633" y="438839"/>
                  <a:pt x="7142" y="495759"/>
                </a:cubicBezTo>
                <a:cubicBezTo>
                  <a:pt x="12650" y="552680"/>
                  <a:pt x="26421" y="562778"/>
                  <a:pt x="40193" y="572877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344595" y="3008099"/>
                <a:ext cx="7920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4595" y="3008099"/>
                <a:ext cx="792088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6038018" y="4836474"/>
                <a:ext cx="7920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8018" y="4836474"/>
                <a:ext cx="792088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003977" y="3929718"/>
                <a:ext cx="7920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3977" y="3929718"/>
                <a:ext cx="792088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740639" y="3798559"/>
                <a:ext cx="7920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32°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0639" y="3798559"/>
                <a:ext cx="792088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103187" y="3086452"/>
                <a:ext cx="354270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𝟏𝟖𝟎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𝟑𝟐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𝟒𝟒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𝟗𝟓𝟓𝟔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𝟏𝟎𝟑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𝟎𝟒𝟒𝟒</m:t>
                      </m:r>
                    </m:oMath>
                  </m:oMathPara>
                </a14:m>
                <a:endParaRPr lang="en-GB" sz="1600" b="1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3187" y="3086452"/>
                <a:ext cx="3542707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/>
          <p:cNvGrpSpPr/>
          <p:nvPr/>
        </p:nvGrpSpPr>
        <p:grpSpPr>
          <a:xfrm>
            <a:off x="1631505" y="3754086"/>
            <a:ext cx="2970271" cy="1475115"/>
            <a:chOff x="389203" y="2029193"/>
            <a:chExt cx="2970271" cy="1475115"/>
          </a:xfrm>
        </p:grpSpPr>
        <p:sp>
          <p:nvSpPr>
            <p:cNvPr id="15" name="TextBox 14"/>
            <p:cNvSpPr txBox="1"/>
            <p:nvPr/>
          </p:nvSpPr>
          <p:spPr>
            <a:xfrm>
              <a:off x="389203" y="2029193"/>
              <a:ext cx="2508028" cy="646331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GB" dirty="0"/>
                <a:t>1: We could use the sine rule to find this angle.</a:t>
              </a:r>
            </a:p>
          </p:txBody>
        </p:sp>
        <p:cxnSp>
          <p:nvCxnSpPr>
            <p:cNvPr id="17" name="Straight Arrow Connector 16"/>
            <p:cNvCxnSpPr>
              <a:stCxn id="15" idx="2"/>
            </p:cNvCxnSpPr>
            <p:nvPr/>
          </p:nvCxnSpPr>
          <p:spPr>
            <a:xfrm>
              <a:off x="1643217" y="2675524"/>
              <a:ext cx="1716257" cy="82878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5" name="Group 24"/>
          <p:cNvGrpSpPr/>
          <p:nvPr/>
        </p:nvGrpSpPr>
        <p:grpSpPr>
          <a:xfrm>
            <a:off x="5467611" y="2348880"/>
            <a:ext cx="4980116" cy="890050"/>
            <a:chOff x="-2861145" y="1516079"/>
            <a:chExt cx="4980116" cy="890050"/>
          </a:xfrm>
        </p:grpSpPr>
        <p:sp>
          <p:nvSpPr>
            <p:cNvPr id="26" name="TextBox 25"/>
            <p:cNvSpPr txBox="1"/>
            <p:nvPr/>
          </p:nvSpPr>
          <p:spPr>
            <a:xfrm>
              <a:off x="-1121389" y="1516079"/>
              <a:ext cx="3240360" cy="646331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GB" dirty="0"/>
                <a:t>2: Which means we would then know this angle.</a:t>
              </a:r>
            </a:p>
          </p:txBody>
        </p:sp>
        <p:cxnSp>
          <p:nvCxnSpPr>
            <p:cNvPr id="27" name="Straight Arrow Connector 26"/>
            <p:cNvCxnSpPr>
              <a:stCxn id="26" idx="1"/>
            </p:cNvCxnSpPr>
            <p:nvPr/>
          </p:nvCxnSpPr>
          <p:spPr>
            <a:xfrm flipH="1">
              <a:off x="-2861145" y="1839245"/>
              <a:ext cx="1739756" cy="56688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1631504" y="4784335"/>
                <a:ext cx="2088232" cy="8897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func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32</m:t>
                              </m:r>
                            </m:e>
                          </m:func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=44.9556°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1504" y="4784335"/>
                <a:ext cx="2088232" cy="8897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Group 34"/>
          <p:cNvGrpSpPr/>
          <p:nvPr/>
        </p:nvGrpSpPr>
        <p:grpSpPr>
          <a:xfrm>
            <a:off x="6600056" y="4488740"/>
            <a:ext cx="3849514" cy="646331"/>
            <a:chOff x="-1730543" y="1516079"/>
            <a:chExt cx="3849514" cy="6463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/>
                <p:cNvSpPr txBox="1"/>
                <p:nvPr/>
              </p:nvSpPr>
              <p:spPr>
                <a:xfrm>
                  <a:off x="-1121389" y="1516079"/>
                  <a:ext cx="3240360" cy="646331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en-GB" dirty="0"/>
                    <a:t>3: Using the sine rule a second time allows us to find </a:t>
                  </a:r>
                  <a14:m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36" name="TextBox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121389" y="1516079"/>
                  <a:ext cx="3240360" cy="646331"/>
                </a:xfrm>
                <a:prstGeom prst="rect">
                  <a:avLst/>
                </a:prstGeom>
                <a:blipFill rotWithShape="0">
                  <a:blip r:embed="rId11"/>
                  <a:stretch>
                    <a:fillRect l="-1308" t="-2727" b="-11818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7" name="Straight Arrow Connector 36"/>
            <p:cNvCxnSpPr>
              <a:stCxn id="36" idx="1"/>
            </p:cNvCxnSpPr>
            <p:nvPr/>
          </p:nvCxnSpPr>
          <p:spPr>
            <a:xfrm flipH="1">
              <a:off x="-1730543" y="1839245"/>
              <a:ext cx="609154" cy="21064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7228765" y="5176171"/>
                <a:ext cx="2958616" cy="9783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func>
                            <m:func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0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103.0444</m:t>
                              </m:r>
                            </m:e>
                          </m:func>
                        </m:den>
                      </m:f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func>
                            <m:func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0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32</m:t>
                              </m:r>
                            </m:e>
                          </m:func>
                        </m:den>
                      </m:f>
                    </m:oMath>
                    <m:oMath xmlns:m="http://schemas.openxmlformats.org/officeDocument/2006/math">
                      <m:r>
                        <a:rPr lang="en-GB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=5.52 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 3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𝑠𝑓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8765" y="5176171"/>
                <a:ext cx="2958616" cy="978345"/>
              </a:xfrm>
              <a:prstGeom prst="rect">
                <a:avLst/>
              </a:prstGeom>
              <a:blipFill>
                <a:blip r:embed="rId12"/>
                <a:stretch>
                  <a:fillRect b="-49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/>
          <p:cNvSpPr txBox="1"/>
          <p:nvPr/>
        </p:nvSpPr>
        <p:spPr>
          <a:xfrm>
            <a:off x="1919536" y="2276873"/>
            <a:ext cx="576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latin typeface="Wingdings" panose="05000000000000000000" pitchFamily="2" charset="2"/>
              </a:rPr>
              <a:t>!</a:t>
            </a:r>
            <a:endParaRPr lang="en-GB" dirty="0">
              <a:latin typeface="Wingdings" panose="05000000000000000000" pitchFamily="2" charset="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1764734" y="4636082"/>
            <a:ext cx="1738979" cy="103798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2913" y="3051051"/>
            <a:ext cx="3134815" cy="35856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16327" y="5177321"/>
            <a:ext cx="2922809" cy="103798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2802668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</p:childTnLst>
        </p:cTn>
      </p:par>
    </p:tnLst>
    <p:bldLst>
      <p:bldP spid="12" grpId="0"/>
      <p:bldP spid="39" grpId="0"/>
      <p:bldP spid="42" grpId="0" animBg="1"/>
      <p:bldP spid="43" grpId="0" animBg="1"/>
      <p:bldP spid="43" grpId="1" animBg="1"/>
      <p:bldP spid="46" grpId="0" animBg="1"/>
      <p:bldP spid="46" grpId="1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Freeform 4"/>
          <p:cNvSpPr/>
          <p:nvPr/>
        </p:nvSpPr>
        <p:spPr>
          <a:xfrm>
            <a:off x="2229080" y="1333042"/>
            <a:ext cx="4450814" cy="2423711"/>
          </a:xfrm>
          <a:custGeom>
            <a:avLst/>
            <a:gdLst>
              <a:gd name="connsiteX0" fmla="*/ 683045 w 4450814"/>
              <a:gd name="connsiteY0" fmla="*/ 0 h 2423711"/>
              <a:gd name="connsiteX1" fmla="*/ 0 w 4450814"/>
              <a:gd name="connsiteY1" fmla="*/ 2423711 h 2423711"/>
              <a:gd name="connsiteX2" fmla="*/ 4450814 w 4450814"/>
              <a:gd name="connsiteY2" fmla="*/ 561860 h 2423711"/>
              <a:gd name="connsiteX3" fmla="*/ 683045 w 4450814"/>
              <a:gd name="connsiteY3" fmla="*/ 0 h 2423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50814" h="2423711">
                <a:moveTo>
                  <a:pt x="683045" y="0"/>
                </a:moveTo>
                <a:lnTo>
                  <a:pt x="0" y="2423711"/>
                </a:lnTo>
                <a:lnTo>
                  <a:pt x="4450814" y="561860"/>
                </a:lnTo>
                <a:lnTo>
                  <a:pt x="683045" y="0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Freeform 5"/>
          <p:cNvSpPr/>
          <p:nvPr/>
        </p:nvSpPr>
        <p:spPr>
          <a:xfrm>
            <a:off x="5447929" y="3416522"/>
            <a:ext cx="4208443" cy="2148289"/>
          </a:xfrm>
          <a:custGeom>
            <a:avLst/>
            <a:gdLst>
              <a:gd name="connsiteX0" fmla="*/ 2159306 w 4208443"/>
              <a:gd name="connsiteY0" fmla="*/ 0 h 2148289"/>
              <a:gd name="connsiteX1" fmla="*/ 0 w 4208443"/>
              <a:gd name="connsiteY1" fmla="*/ 2148289 h 2148289"/>
              <a:gd name="connsiteX2" fmla="*/ 4208443 w 4208443"/>
              <a:gd name="connsiteY2" fmla="*/ 1972019 h 2148289"/>
              <a:gd name="connsiteX3" fmla="*/ 2159306 w 4208443"/>
              <a:gd name="connsiteY3" fmla="*/ 0 h 2148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8443" h="2148289">
                <a:moveTo>
                  <a:pt x="2159306" y="0"/>
                </a:moveTo>
                <a:lnTo>
                  <a:pt x="0" y="2148289"/>
                </a:lnTo>
                <a:lnTo>
                  <a:pt x="4208443" y="1972019"/>
                </a:lnTo>
                <a:lnTo>
                  <a:pt x="2159306" y="0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Freeform 6"/>
          <p:cNvSpPr/>
          <p:nvPr/>
        </p:nvSpPr>
        <p:spPr>
          <a:xfrm>
            <a:off x="2394333" y="3128790"/>
            <a:ext cx="497830" cy="352540"/>
          </a:xfrm>
          <a:custGeom>
            <a:avLst/>
            <a:gdLst>
              <a:gd name="connsiteX0" fmla="*/ 0 w 497830"/>
              <a:gd name="connsiteY0" fmla="*/ 0 h 352540"/>
              <a:gd name="connsiteX1" fmla="*/ 264404 w 497830"/>
              <a:gd name="connsiteY1" fmla="*/ 77118 h 352540"/>
              <a:gd name="connsiteX2" fmla="*/ 473725 w 497830"/>
              <a:gd name="connsiteY2" fmla="*/ 297456 h 352540"/>
              <a:gd name="connsiteX3" fmla="*/ 484742 w 497830"/>
              <a:gd name="connsiteY3" fmla="*/ 352540 h 352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7830" h="352540">
                <a:moveTo>
                  <a:pt x="0" y="0"/>
                </a:moveTo>
                <a:cubicBezTo>
                  <a:pt x="92725" y="13771"/>
                  <a:pt x="185450" y="27542"/>
                  <a:pt x="264404" y="77118"/>
                </a:cubicBezTo>
                <a:cubicBezTo>
                  <a:pt x="343358" y="126694"/>
                  <a:pt x="437002" y="251552"/>
                  <a:pt x="473725" y="297456"/>
                </a:cubicBezTo>
                <a:cubicBezTo>
                  <a:pt x="510448" y="343360"/>
                  <a:pt x="497595" y="347950"/>
                  <a:pt x="484742" y="35254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Freeform 7"/>
          <p:cNvSpPr/>
          <p:nvPr/>
        </p:nvSpPr>
        <p:spPr>
          <a:xfrm>
            <a:off x="8806149" y="4858439"/>
            <a:ext cx="297456" cy="583894"/>
          </a:xfrm>
          <a:custGeom>
            <a:avLst/>
            <a:gdLst>
              <a:gd name="connsiteX0" fmla="*/ 297456 w 297456"/>
              <a:gd name="connsiteY0" fmla="*/ 0 h 583894"/>
              <a:gd name="connsiteX1" fmla="*/ 77118 w 297456"/>
              <a:gd name="connsiteY1" fmla="*/ 253388 h 583894"/>
              <a:gd name="connsiteX2" fmla="*/ 22034 w 297456"/>
              <a:gd name="connsiteY2" fmla="*/ 484742 h 583894"/>
              <a:gd name="connsiteX3" fmla="*/ 0 w 297456"/>
              <a:gd name="connsiteY3" fmla="*/ 583894 h 583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7456" h="583894">
                <a:moveTo>
                  <a:pt x="297456" y="0"/>
                </a:moveTo>
                <a:cubicBezTo>
                  <a:pt x="210239" y="86299"/>
                  <a:pt x="123022" y="172598"/>
                  <a:pt x="77118" y="253388"/>
                </a:cubicBezTo>
                <a:cubicBezTo>
                  <a:pt x="31214" y="334178"/>
                  <a:pt x="34887" y="429658"/>
                  <a:pt x="22034" y="484742"/>
                </a:cubicBezTo>
                <a:cubicBezTo>
                  <a:pt x="9181" y="539826"/>
                  <a:pt x="4590" y="561860"/>
                  <a:pt x="0" y="583894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611461" y="2820319"/>
                <a:ext cx="7920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61°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1461" y="2820319"/>
                <a:ext cx="792088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8191856" y="4811075"/>
                <a:ext cx="7920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53°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1856" y="4811075"/>
                <a:ext cx="792088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134291" y="2897958"/>
                <a:ext cx="7920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4291" y="2897958"/>
                <a:ext cx="792088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4397570" y="1084422"/>
                <a:ext cx="7920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7570" y="1084422"/>
                <a:ext cx="792088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851160" y="1855572"/>
                <a:ext cx="7920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1160" y="1855572"/>
                <a:ext cx="792088" cy="461665"/>
              </a:xfrm>
              <a:prstGeom prst="rect">
                <a:avLst/>
              </a:prstGeom>
              <a:blipFill>
                <a:blip r:embed="rId6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8445687" y="3751766"/>
                <a:ext cx="7920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5687" y="3751766"/>
                <a:ext cx="792088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6044175" y="3774540"/>
                <a:ext cx="7920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4175" y="3774540"/>
                <a:ext cx="792088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6836263" y="1239685"/>
                <a:ext cx="236488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3600" i="1">
                          <a:latin typeface="Cambria Math" panose="02040503050406030204" pitchFamily="18" charset="0"/>
                        </a:rPr>
                        <m:t>=6.97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6263" y="1239685"/>
                <a:ext cx="2364886" cy="64633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2310809" y="5150387"/>
                <a:ext cx="274676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i="1">
                          <a:latin typeface="Cambria Math" panose="02040503050406030204" pitchFamily="18" charset="0"/>
                        </a:rPr>
                        <m:t>𝐴𝑟𝑒𝑎</m:t>
                      </m:r>
                      <m:r>
                        <a:rPr lang="en-GB" sz="3600" i="1">
                          <a:latin typeface="Cambria Math" panose="02040503050406030204" pitchFamily="18" charset="0"/>
                        </a:rPr>
                        <m:t>=6.00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0809" y="5150387"/>
                <a:ext cx="2746764" cy="64633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/>
          <p:cNvSpPr/>
          <p:nvPr/>
        </p:nvSpPr>
        <p:spPr>
          <a:xfrm>
            <a:off x="8052441" y="1148375"/>
            <a:ext cx="1185335" cy="7376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69374" y="5058055"/>
            <a:ext cx="1105901" cy="7376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3109670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Problem Solving With Sine/Cosine Rule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846956" y="764704"/>
                <a:ext cx="8496944" cy="181588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[From Textbook] The diagram shows the locations of four mobile phone masts in a field,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𝐵𝐶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=75 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sz="1600" dirty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𝐶𝐷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=80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sz="1600" dirty="0"/>
                  <a:t>, angle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𝐵𝐶𝐷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=55°</m:t>
                    </m:r>
                  </m:oMath>
                </a14:m>
                <a:r>
                  <a:rPr lang="en-GB" sz="1600" dirty="0"/>
                  <a:t> and angle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𝐴𝐷𝐶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=140°</m:t>
                    </m:r>
                  </m:oMath>
                </a14:m>
                <a:r>
                  <a:rPr lang="en-GB" sz="1600" dirty="0"/>
                  <a:t>.</a:t>
                </a:r>
              </a:p>
              <a:p>
                <a:r>
                  <a:rPr lang="en-GB" sz="1600" dirty="0"/>
                  <a:t>In order that the masts do not interfere with each other, they must be at least 70m apart.</a:t>
                </a:r>
              </a:p>
              <a:p>
                <a:r>
                  <a:rPr lang="en-GB" sz="1600" dirty="0"/>
                  <a:t>Given that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1600" dirty="0"/>
                  <a:t> is the minimum distance from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GB" sz="1600" dirty="0"/>
                  <a:t>, find:</a:t>
                </a:r>
              </a:p>
              <a:p>
                <a:pPr marL="342900" indent="-342900">
                  <a:buAutoNum type="alphaLcParenR"/>
                </a:pPr>
                <a:r>
                  <a:rPr lang="en-GB" sz="1600" dirty="0"/>
                  <a:t>The distance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1600" dirty="0"/>
                  <a:t> is from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GB" sz="1600" dirty="0"/>
              </a:p>
              <a:p>
                <a:pPr marL="342900" indent="-342900">
                  <a:buAutoNum type="alphaLcParenR"/>
                </a:pPr>
                <a:r>
                  <a:rPr lang="en-GB" sz="1600" dirty="0"/>
                  <a:t>The angle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𝐵𝐴𝐷</m:t>
                    </m:r>
                  </m:oMath>
                </a14:m>
                <a:endParaRPr lang="en-GB" sz="1600" dirty="0"/>
              </a:p>
              <a:p>
                <a:pPr marL="342900" indent="-342900">
                  <a:buAutoNum type="alphaLcParenR"/>
                </a:pPr>
                <a:r>
                  <a:rPr lang="en-GB" sz="1600" dirty="0"/>
                  <a:t>The area enclosed by the four masts.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6956" y="764704"/>
                <a:ext cx="8496944" cy="181588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reeform: Shape 5"/>
          <p:cNvSpPr/>
          <p:nvPr/>
        </p:nvSpPr>
        <p:spPr>
          <a:xfrm>
            <a:off x="1954808" y="3183498"/>
            <a:ext cx="3381153" cy="2402958"/>
          </a:xfrm>
          <a:custGeom>
            <a:avLst/>
            <a:gdLst>
              <a:gd name="connsiteX0" fmla="*/ 0 w 3381153"/>
              <a:gd name="connsiteY0" fmla="*/ 1307805 h 2402958"/>
              <a:gd name="connsiteX1" fmla="*/ 2105246 w 3381153"/>
              <a:gd name="connsiteY1" fmla="*/ 0 h 2402958"/>
              <a:gd name="connsiteX2" fmla="*/ 3381153 w 3381153"/>
              <a:gd name="connsiteY2" fmla="*/ 1010093 h 2402958"/>
              <a:gd name="connsiteX3" fmla="*/ 1435395 w 3381153"/>
              <a:gd name="connsiteY3" fmla="*/ 2402958 h 2402958"/>
              <a:gd name="connsiteX4" fmla="*/ 0 w 3381153"/>
              <a:gd name="connsiteY4" fmla="*/ 1307805 h 2402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81153" h="2402958">
                <a:moveTo>
                  <a:pt x="0" y="1307805"/>
                </a:moveTo>
                <a:lnTo>
                  <a:pt x="2105246" y="0"/>
                </a:lnTo>
                <a:lnTo>
                  <a:pt x="3381153" y="1010093"/>
                </a:lnTo>
                <a:lnTo>
                  <a:pt x="1435395" y="2402958"/>
                </a:lnTo>
                <a:lnTo>
                  <a:pt x="0" y="1307805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Straight Connector 7"/>
          <p:cNvCxnSpPr>
            <a:stCxn id="6" idx="1"/>
            <a:endCxn id="6" idx="3"/>
          </p:cNvCxnSpPr>
          <p:nvPr/>
        </p:nvCxnSpPr>
        <p:spPr>
          <a:xfrm flipH="1">
            <a:off x="3390203" y="3183498"/>
            <a:ext cx="669851" cy="240295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Freeform: Shape 8"/>
          <p:cNvSpPr/>
          <p:nvPr/>
        </p:nvSpPr>
        <p:spPr>
          <a:xfrm>
            <a:off x="3103124" y="5245132"/>
            <a:ext cx="627321" cy="139307"/>
          </a:xfrm>
          <a:custGeom>
            <a:avLst/>
            <a:gdLst>
              <a:gd name="connsiteX0" fmla="*/ 0 w 627321"/>
              <a:gd name="connsiteY0" fmla="*/ 139307 h 139307"/>
              <a:gd name="connsiteX1" fmla="*/ 318977 w 627321"/>
              <a:gd name="connsiteY1" fmla="*/ 1084 h 139307"/>
              <a:gd name="connsiteX2" fmla="*/ 627321 w 627321"/>
              <a:gd name="connsiteY2" fmla="*/ 86144 h 1393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27321" h="139307">
                <a:moveTo>
                  <a:pt x="0" y="139307"/>
                </a:moveTo>
                <a:cubicBezTo>
                  <a:pt x="107212" y="74625"/>
                  <a:pt x="214424" y="9944"/>
                  <a:pt x="318977" y="1084"/>
                </a:cubicBezTo>
                <a:cubicBezTo>
                  <a:pt x="423531" y="-7777"/>
                  <a:pt x="525426" y="39183"/>
                  <a:pt x="627321" y="86144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205712" y="4883203"/>
                <a:ext cx="648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140°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5712" y="4883203"/>
                <a:ext cx="648072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419216" y="4015645"/>
                <a:ext cx="648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55°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216" y="4015645"/>
                <a:ext cx="64807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Freeform: Shape 11"/>
          <p:cNvSpPr/>
          <p:nvPr/>
        </p:nvSpPr>
        <p:spPr>
          <a:xfrm>
            <a:off x="4942489" y="3938410"/>
            <a:ext cx="74495" cy="489098"/>
          </a:xfrm>
          <a:custGeom>
            <a:avLst/>
            <a:gdLst>
              <a:gd name="connsiteX0" fmla="*/ 74495 w 74495"/>
              <a:gd name="connsiteY0" fmla="*/ 0 h 489098"/>
              <a:gd name="connsiteX1" fmla="*/ 68 w 74495"/>
              <a:gd name="connsiteY1" fmla="*/ 255181 h 489098"/>
              <a:gd name="connsiteX2" fmla="*/ 63863 w 74495"/>
              <a:gd name="connsiteY2" fmla="*/ 489098 h 489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4495" h="489098">
                <a:moveTo>
                  <a:pt x="74495" y="0"/>
                </a:moveTo>
                <a:cubicBezTo>
                  <a:pt x="38167" y="86832"/>
                  <a:pt x="1840" y="173665"/>
                  <a:pt x="68" y="255181"/>
                </a:cubicBezTo>
                <a:cubicBezTo>
                  <a:pt x="-1704" y="336697"/>
                  <a:pt x="31079" y="412897"/>
                  <a:pt x="63863" y="489098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4581271" y="3336409"/>
                <a:ext cx="648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75 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1271" y="3336409"/>
                <a:ext cx="648072" cy="369332"/>
              </a:xfrm>
              <a:prstGeom prst="rect">
                <a:avLst/>
              </a:prstGeom>
              <a:blipFill>
                <a:blip r:embed="rId5"/>
                <a:stretch>
                  <a:fillRect r="-9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4312891" y="4890166"/>
                <a:ext cx="648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80 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2891" y="4890166"/>
                <a:ext cx="64807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060402" y="5015106"/>
                <a:ext cx="648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70 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0402" y="5015106"/>
                <a:ext cx="648072" cy="369332"/>
              </a:xfrm>
              <a:prstGeom prst="rect">
                <a:avLst/>
              </a:prstGeom>
              <a:blipFill>
                <a:blip r:embed="rId7"/>
                <a:stretch>
                  <a:fillRect r="-9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056857" y="5586456"/>
                <a:ext cx="648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6857" y="5586456"/>
                <a:ext cx="64807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1466223" y="4242842"/>
                <a:ext cx="648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6223" y="4242842"/>
                <a:ext cx="64807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724727" y="2875257"/>
                <a:ext cx="648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4727" y="2875257"/>
                <a:ext cx="648072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4976139" y="4195338"/>
                <a:ext cx="648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6139" y="4195338"/>
                <a:ext cx="648072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5426149" y="2843360"/>
                <a:ext cx="5199321" cy="41836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GB" sz="1600" dirty="0"/>
                  <a:t>Using triangle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𝐵𝐶𝐷</m:t>
                    </m:r>
                  </m:oMath>
                </a14:m>
                <a:r>
                  <a:rPr lang="en-GB" sz="1600" dirty="0"/>
                  <a:t>:</a:t>
                </a:r>
                <a:br>
                  <a:rPr lang="en-GB" sz="1600" dirty="0"/>
                </a:br>
                <a:r>
                  <a:rPr lang="en-GB" sz="1600" dirty="0"/>
                  <a:t>   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𝐵</m:t>
                    </m:r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6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80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600" i="1">
                        <a:latin typeface="Cambria Math" panose="02040503050406030204" pitchFamily="18" charset="0"/>
                      </a:rPr>
                      <m:t>−2×75×80×</m:t>
                    </m:r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55°</m:t>
                        </m:r>
                      </m:e>
                    </m:func>
                  </m:oMath>
                </a14:m>
                <a:br>
                  <a:rPr lang="en-GB" sz="160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𝐵𝐷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=71.708…</m:t>
                      </m:r>
                    </m:oMath>
                  </m:oMathPara>
                </a14:m>
                <a:br>
                  <a:rPr lang="en-GB" sz="1600" dirty="0"/>
                </a:br>
                <a:r>
                  <a:rPr lang="en-GB" sz="1600" dirty="0"/>
                  <a:t>    Then use sine rule to find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∠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𝐵𝐷𝐶</m:t>
                    </m:r>
                  </m:oMath>
                </a14:m>
                <a:r>
                  <a:rPr lang="en-GB" sz="1600" dirty="0"/>
                  <a:t>:</a:t>
                </a:r>
                <a:br>
                  <a:rPr lang="en-GB" sz="1600" dirty="0"/>
                </a:br>
                <a:r>
                  <a:rPr lang="en-GB" sz="1600" dirty="0"/>
                  <a:t>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160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en-GB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∠</m:t>
                                </m:r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𝐵𝐷𝐶</m:t>
                                </m:r>
                              </m:e>
                            </m:d>
                          </m:e>
                        </m:func>
                      </m:num>
                      <m:den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75</m:t>
                        </m:r>
                      </m:den>
                    </m:f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160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en-GB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55</m:t>
                                </m:r>
                              </m:e>
                            </m:d>
                          </m:e>
                        </m:func>
                      </m:num>
                      <m:den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71.708</m:t>
                        </m:r>
                      </m:den>
                    </m:f>
                    <m:r>
                      <a:rPr lang="en-GB" sz="1600" i="1">
                        <a:latin typeface="Cambria Math" panose="02040503050406030204" pitchFamily="18" charset="0"/>
                      </a:rPr>
                      <m:t>    →   ∠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𝐵𝐷𝐶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=58.954</m:t>
                    </m:r>
                  </m:oMath>
                </a14:m>
                <a:endParaRPr lang="en-GB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∴∠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𝐵𝐷𝐴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=81.045…</m:t>
                      </m:r>
                    </m:oMath>
                  </m:oMathPara>
                </a14:m>
                <a:endParaRPr lang="en-GB" sz="1600" dirty="0"/>
              </a:p>
              <a:p>
                <a:endParaRPr lang="en-GB" sz="1600" dirty="0"/>
              </a:p>
              <a:p>
                <a:r>
                  <a:rPr lang="en-GB" sz="1600" dirty="0"/>
                  <a:t>We can then use cosine rule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𝐴𝐵𝐷</m:t>
                    </m:r>
                  </m:oMath>
                </a14:m>
                <a:r>
                  <a:rPr lang="en-GB" sz="16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70</m:t>
                          </m:r>
                        </m:e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71.708</m:t>
                          </m:r>
                        </m:e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600" i="1">
                          <a:latin typeface="Cambria Math" panose="02040503050406030204" pitchFamily="18" charset="0"/>
                        </a:rPr>
                        <m:t>−2×70×71.708×</m:t>
                      </m:r>
                      <m:r>
                        <m:rPr>
                          <m:sty m:val="p"/>
                        </m:rPr>
                        <a:rPr lang="en-GB" sz="1600">
                          <a:latin typeface="Cambria Math" panose="02040503050406030204" pitchFamily="18" charset="0"/>
                        </a:rPr>
                        <m:t>cos</m:t>
                      </m:r>
                      <m:d>
                        <m:d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>
                              <a:latin typeface="Cambria Math" panose="02040503050406030204" pitchFamily="18" charset="0"/>
                            </a:rPr>
                            <m:t>81.045</m:t>
                          </m:r>
                        </m:e>
                      </m:d>
                    </m:oMath>
                  </m:oMathPara>
                </a14:m>
                <a:endParaRPr lang="en-GB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𝐴𝐵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=92.1 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𝑠𝑓</m:t>
                          </m:r>
                        </m:e>
                      </m:d>
                    </m:oMath>
                  </m:oMathPara>
                </a14:m>
                <a:endParaRPr lang="en-GB" sz="1600" dirty="0"/>
              </a:p>
              <a:p>
                <a:endParaRPr lang="en-GB" sz="1600" dirty="0"/>
              </a:p>
              <a:p>
                <a:r>
                  <a:rPr lang="en-GB" sz="1600" dirty="0"/>
                  <a:t>Using sine rule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𝐴𝐵𝐷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, ∠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𝐵𝐴𝐷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=50.3° (3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𝑠𝑓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1600" dirty="0"/>
              </a:p>
              <a:p>
                <a:endParaRPr lang="en-GB" sz="1600" dirty="0"/>
              </a:p>
              <a:p>
                <a:r>
                  <a:rPr lang="en-GB" sz="1600" dirty="0"/>
                  <a:t>By adding areas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𝐴𝐵𝐷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𝐵𝐷𝐶</m:t>
                    </m:r>
                  </m:oMath>
                </a14:m>
                <a:r>
                  <a:rPr lang="en-GB" sz="16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𝐴𝑟𝑒𝑎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𝐴𝐵𝐶𝐷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=4940 </m:t>
                      </m:r>
                      <m:sSup>
                        <m:sSup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600" i="1">
                          <a:latin typeface="Cambria Math" panose="02040503050406030204" pitchFamily="18" charset="0"/>
                        </a:rPr>
                        <m:t>  (3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𝑠𝑓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600" dirty="0"/>
              </a:p>
              <a:p>
                <a:pPr marL="342900" indent="-342900">
                  <a:buAutoNum type="alphaLcParenR"/>
                </a:pPr>
                <a:endParaRPr lang="en-GB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6149" y="2843360"/>
                <a:ext cx="5199321" cy="4183646"/>
              </a:xfrm>
              <a:prstGeom prst="rect">
                <a:avLst/>
              </a:prstGeom>
              <a:blipFill>
                <a:blip r:embed="rId12"/>
                <a:stretch>
                  <a:fillRect l="-586" t="-4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/>
          <p:cNvSpPr/>
          <p:nvPr/>
        </p:nvSpPr>
        <p:spPr>
          <a:xfrm>
            <a:off x="5184246" y="2864625"/>
            <a:ext cx="268672" cy="30824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57476" y="5684302"/>
            <a:ext cx="268672" cy="30824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41715" y="6189369"/>
            <a:ext cx="268672" cy="30824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68679" y="2845377"/>
            <a:ext cx="5029200" cy="263039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38549" y="5684301"/>
            <a:ext cx="5059330" cy="41878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13247" y="6189368"/>
            <a:ext cx="5059330" cy="55167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1081967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9E – Y1 page 189-191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2160B1CA-51DF-24DB-B88D-8742CFE9F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520" y="663563"/>
            <a:ext cx="8687351" cy="5991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16573F-83EA-A41E-338F-9C29301002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1585" y="1859566"/>
            <a:ext cx="3562847" cy="44106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14B3DF1-5FCA-70FF-7671-9781E4C6F77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089"/>
          <a:stretch/>
        </p:blipFill>
        <p:spPr>
          <a:xfrm>
            <a:off x="6672064" y="3645024"/>
            <a:ext cx="2520280" cy="2560952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AF356A5-0A2B-DA43-05D9-BD6CDAE25CC1}"/>
              </a:ext>
            </a:extLst>
          </p:cNvPr>
          <p:cNvCxnSpPr/>
          <p:nvPr/>
        </p:nvCxnSpPr>
        <p:spPr>
          <a:xfrm>
            <a:off x="6312024" y="2636912"/>
            <a:ext cx="0" cy="34563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409D375D-5EE4-121B-0AC8-4CF71CBB0B1C}"/>
              </a:ext>
            </a:extLst>
          </p:cNvPr>
          <p:cNvSpPr/>
          <p:nvPr/>
        </p:nvSpPr>
        <p:spPr>
          <a:xfrm>
            <a:off x="1991544" y="1687838"/>
            <a:ext cx="8064896" cy="476549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2851790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9E – Y1 page 189-191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67311EE6-30E1-D838-79BF-A65B139E2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528" y="692696"/>
            <a:ext cx="6048672" cy="9513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D083EA-6067-C01C-9057-0EA87746D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7569" y="1988840"/>
            <a:ext cx="2457793" cy="43916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2A59A14-C0E5-6C73-9B6F-0DF21DAC7E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2955" y="2204864"/>
            <a:ext cx="2667372" cy="155279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6BF2720-42E3-0B15-8381-665A95155A4B}"/>
              </a:ext>
            </a:extLst>
          </p:cNvPr>
          <p:cNvSpPr/>
          <p:nvPr/>
        </p:nvSpPr>
        <p:spPr>
          <a:xfrm>
            <a:off x="2150762" y="1988840"/>
            <a:ext cx="3585199" cy="439163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0EA42B-0D2C-1FB7-B567-685EE0FB2572}"/>
              </a:ext>
            </a:extLst>
          </p:cNvPr>
          <p:cNvSpPr/>
          <p:nvPr/>
        </p:nvSpPr>
        <p:spPr>
          <a:xfrm>
            <a:off x="6023993" y="1988840"/>
            <a:ext cx="3585199" cy="439163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 </a:t>
            </a:r>
          </a:p>
        </p:txBody>
      </p:sp>
    </p:spTree>
    <p:extLst>
      <p:ext uri="{BB962C8B-B14F-4D97-AF65-F5344CB8AC3E}">
        <p14:creationId xmlns:p14="http://schemas.microsoft.com/office/powerpoint/2010/main" val="1968514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9E – Y1 page 189-191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19D8913-0AB0-87C8-455E-ED2F8E67F068}"/>
              </a:ext>
            </a:extLst>
          </p:cNvPr>
          <p:cNvGrpSpPr/>
          <p:nvPr/>
        </p:nvGrpSpPr>
        <p:grpSpPr>
          <a:xfrm>
            <a:off x="1775521" y="650242"/>
            <a:ext cx="5645867" cy="2041622"/>
            <a:chOff x="251520" y="650242"/>
            <a:chExt cx="5645867" cy="204162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BFDCC9A-ABB5-D728-C02E-C1446933B3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1520" y="764703"/>
              <a:ext cx="3240360" cy="1927161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3B443A0-AC5A-4F4C-56C2-B726429497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81565" y="650242"/>
              <a:ext cx="2215822" cy="2041622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CC8B71-F7DC-17B5-33B2-05CF345A1975}"/>
                </a:ext>
              </a:extLst>
            </p:cNvPr>
            <p:cNvSpPr/>
            <p:nvPr/>
          </p:nvSpPr>
          <p:spPr>
            <a:xfrm>
              <a:off x="2987824" y="1772816"/>
              <a:ext cx="720080" cy="2160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2E443A6-EDBD-172F-6CC8-D5C1C67A7663}"/>
                </a:ext>
              </a:extLst>
            </p:cNvPr>
            <p:cNvSpPr/>
            <p:nvPr/>
          </p:nvSpPr>
          <p:spPr>
            <a:xfrm>
              <a:off x="2987824" y="2234189"/>
              <a:ext cx="720080" cy="2160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626A3694-6AE8-0B5C-A937-8FB02AC028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1455" y="2815955"/>
            <a:ext cx="2592288" cy="3990652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AF3E3485-4702-0B09-5609-6D519175EB5F}"/>
              </a:ext>
            </a:extLst>
          </p:cNvPr>
          <p:cNvGrpSpPr/>
          <p:nvPr/>
        </p:nvGrpSpPr>
        <p:grpSpPr>
          <a:xfrm>
            <a:off x="4501912" y="3011053"/>
            <a:ext cx="3034249" cy="2204289"/>
            <a:chOff x="2961485" y="3070867"/>
            <a:chExt cx="3034249" cy="2204289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081C3CBD-D4D1-F133-CE97-01346D99E51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961485" y="3070867"/>
              <a:ext cx="2935902" cy="716266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94821153-1BD3-A51E-62AD-83BFC33B502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7894"/>
            <a:stretch/>
          </p:blipFill>
          <p:spPr>
            <a:xfrm>
              <a:off x="3259428" y="3809131"/>
              <a:ext cx="2736306" cy="1466025"/>
            </a:xfrm>
            <a:prstGeom prst="rect">
              <a:avLst/>
            </a:prstGeom>
          </p:spPr>
        </p:pic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9E9E2A6F-E32C-635A-F5EE-8811972E23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1388" y="954143"/>
            <a:ext cx="3255943" cy="566598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7C1D7F7C-69A9-5C46-664D-636BA9697E8F}"/>
              </a:ext>
            </a:extLst>
          </p:cNvPr>
          <p:cNvSpPr/>
          <p:nvPr/>
        </p:nvSpPr>
        <p:spPr>
          <a:xfrm>
            <a:off x="1789644" y="2815955"/>
            <a:ext cx="2624938" cy="392350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B11210D-F4A2-8233-AB49-60B63C62E2CD}"/>
              </a:ext>
            </a:extLst>
          </p:cNvPr>
          <p:cNvSpPr/>
          <p:nvPr/>
        </p:nvSpPr>
        <p:spPr>
          <a:xfrm>
            <a:off x="4456282" y="2815955"/>
            <a:ext cx="2935862" cy="392350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BD87966-5C1C-676F-67E0-80CFC95692EF}"/>
              </a:ext>
            </a:extLst>
          </p:cNvPr>
          <p:cNvSpPr/>
          <p:nvPr/>
        </p:nvSpPr>
        <p:spPr>
          <a:xfrm>
            <a:off x="7458814" y="887781"/>
            <a:ext cx="3173690" cy="58516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c? </a:t>
            </a:r>
          </a:p>
        </p:txBody>
      </p:sp>
    </p:spTree>
    <p:extLst>
      <p:ext uri="{BB962C8B-B14F-4D97-AF65-F5344CB8AC3E}">
        <p14:creationId xmlns:p14="http://schemas.microsoft.com/office/powerpoint/2010/main" val="3521895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9E – Y1 page 189-191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E115D0F0-0639-4174-53A2-E7329451EF89}"/>
              </a:ext>
            </a:extLst>
          </p:cNvPr>
          <p:cNvGrpSpPr/>
          <p:nvPr/>
        </p:nvGrpSpPr>
        <p:grpSpPr>
          <a:xfrm>
            <a:off x="1775520" y="628225"/>
            <a:ext cx="6984776" cy="1762779"/>
            <a:chOff x="251520" y="628224"/>
            <a:chExt cx="6984776" cy="176277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03E9A4A-4162-66E8-0E3A-B3FEA67DCC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1520" y="628224"/>
              <a:ext cx="6984776" cy="1762779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FDB4F4D-9335-A70E-E91F-AE28EBD7A568}"/>
                </a:ext>
              </a:extLst>
            </p:cNvPr>
            <p:cNvSpPr/>
            <p:nvPr/>
          </p:nvSpPr>
          <p:spPr>
            <a:xfrm>
              <a:off x="3743908" y="980728"/>
              <a:ext cx="827520" cy="2880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8C8ECBBE-688C-26FF-2F40-C906DC59BE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4780" y="2564905"/>
            <a:ext cx="3158888" cy="40601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67F6691-2FFC-510E-2CDF-D796F93363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428" y="2660587"/>
            <a:ext cx="3629532" cy="372479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81C6E35-E2FF-5643-39AC-87663F16F8E4}"/>
              </a:ext>
            </a:extLst>
          </p:cNvPr>
          <p:cNvCxnSpPr/>
          <p:nvPr/>
        </p:nvCxnSpPr>
        <p:spPr>
          <a:xfrm>
            <a:off x="5591944" y="2564904"/>
            <a:ext cx="0" cy="39604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5644FED0-1B5B-375B-F77D-74B945D6ED62}"/>
              </a:ext>
            </a:extLst>
          </p:cNvPr>
          <p:cNvSpPr/>
          <p:nvPr/>
        </p:nvSpPr>
        <p:spPr>
          <a:xfrm>
            <a:off x="2142244" y="2492896"/>
            <a:ext cx="7770180" cy="422590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474509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>
                  <a:solidFill>
                    <a:srgbClr val="FF0000"/>
                  </a:solidFill>
                </a:rPr>
                <a:t>Extension Problem 1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959470" y="821208"/>
                <a:ext cx="3848498" cy="284847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[AEA 2009 Q5a] The sides of the triangle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𝐴𝐵𝐶</m:t>
                    </m:r>
                  </m:oMath>
                </a14:m>
                <a:r>
                  <a:rPr lang="en-GB" sz="1600" dirty="0"/>
                  <a:t> have lengths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𝐵𝐶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𝐴𝐶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𝐴𝐵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sz="1600" dirty="0"/>
                  <a:t>, where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sz="1600" dirty="0"/>
                  <a:t>. The sizes of the angles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sz="1600" dirty="0"/>
                  <a:t> form an arithmetic sequence.</a:t>
                </a:r>
              </a:p>
              <a:p>
                <a:pPr marL="400050" indent="-400050">
                  <a:buAutoNum type="romanLcParenBoth"/>
                </a:pPr>
                <a:r>
                  <a:rPr lang="en-GB" sz="1600" dirty="0"/>
                  <a:t>Show that the area of triangle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𝐴𝐵𝐶</m:t>
                    </m:r>
                  </m:oMath>
                </a14:m>
                <a:r>
                  <a:rPr lang="en-GB" sz="1600" dirty="0"/>
                  <a:t> is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𝑎𝑐</m:t>
                    </m:r>
                    <m:f>
                      <m:f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GB" sz="1600" dirty="0"/>
                  <a:t>.</a:t>
                </a:r>
              </a:p>
              <a:p>
                <a:r>
                  <a:rPr lang="en-GB" sz="1600" dirty="0"/>
                  <a:t>Given that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func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15</m:t>
                            </m:r>
                          </m:e>
                        </m:rad>
                      </m:num>
                      <m:den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GB" sz="1600" dirty="0"/>
                  <a:t>, find</a:t>
                </a:r>
              </a:p>
              <a:p>
                <a:r>
                  <a:rPr lang="en-GB" sz="1600" dirty="0"/>
                  <a:t>(ii)  the value of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sz="1600" dirty="0"/>
                  <a:t>,</a:t>
                </a:r>
              </a:p>
              <a:p>
                <a:r>
                  <a:rPr lang="en-GB" sz="1600" dirty="0"/>
                  <a:t>(iii) the value of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sz="1600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9470" y="821208"/>
                <a:ext cx="3848498" cy="284847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8174" y="916682"/>
            <a:ext cx="4520460" cy="416850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81C678C-EE0A-E5EE-28C2-CEF47389B0EB}"/>
              </a:ext>
            </a:extLst>
          </p:cNvPr>
          <p:cNvSpPr/>
          <p:nvPr/>
        </p:nvSpPr>
        <p:spPr>
          <a:xfrm>
            <a:off x="5977418" y="821209"/>
            <a:ext cx="4561217" cy="46545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296786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7888" y="1704112"/>
            <a:ext cx="5602514" cy="4423037"/>
          </a:xfrm>
          <a:prstGeom prst="rect">
            <a:avLst/>
          </a:prstGeom>
        </p:spPr>
      </p:pic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Extension Problem 2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767364" y="799984"/>
                <a:ext cx="3320525" cy="5327164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[STEP I 2006 Q8] Note that the volume of a tetrahedron is equal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GB" sz="16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𝑎𝑟𝑒𝑎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𝑏𝑎𝑠𝑒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h𝑒𝑖𝑔h𝑡</m:t>
                    </m:r>
                  </m:oMath>
                </a14:m>
                <a:endParaRPr lang="en-GB" sz="1600" dirty="0"/>
              </a:p>
              <a:p>
                <a:r>
                  <a:rPr lang="en-GB" sz="1600" dirty="0"/>
                  <a:t>The points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sz="1600" dirty="0"/>
                  <a:t> have coordinates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0,0,0</m:t>
                        </m:r>
                      </m:e>
                    </m:d>
                    <m:r>
                      <a:rPr lang="en-GB" sz="1600" i="1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,0,0</m:t>
                        </m:r>
                      </m:e>
                    </m:d>
                    <m:r>
                      <a:rPr lang="en-GB" sz="1600" i="1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,0</m:t>
                        </m:r>
                      </m:e>
                    </m:d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(0,0,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600" dirty="0"/>
                  <a:t> respectively, where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sz="1600" dirty="0"/>
                  <a:t> are positive.</a:t>
                </a:r>
              </a:p>
              <a:p>
                <a:pPr marL="400050" indent="-400050">
                  <a:buAutoNum type="romanLcParenBoth"/>
                </a:pPr>
                <a:r>
                  <a:rPr lang="en-GB" sz="1600" dirty="0"/>
                  <a:t>Find, in terms of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sz="1600" dirty="0"/>
                  <a:t> the volume of the tetrahedron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𝑂𝐴𝐵𝐶</m:t>
                    </m:r>
                  </m:oMath>
                </a14:m>
                <a:r>
                  <a:rPr lang="en-GB" sz="1600" dirty="0"/>
                  <a:t>.</a:t>
                </a:r>
              </a:p>
              <a:p>
                <a:pPr marL="400050" indent="-400050">
                  <a:buAutoNum type="romanLcParenBoth"/>
                </a:pPr>
                <a:r>
                  <a:rPr lang="en-GB" sz="1600" dirty="0"/>
                  <a:t>Let angle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𝐴𝐶𝐵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sz="1600" dirty="0"/>
                  <a:t>. Show that</a:t>
                </a:r>
                <a:br>
                  <a:rPr lang="en-GB" sz="1600" dirty="0"/>
                </a:br>
                <a14:m>
                  <m:oMath xmlns:m="http://schemas.openxmlformats.org/officeDocument/2006/math"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GB" sz="1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GB" sz="16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d>
                                  <m:dPr>
                                    <m:ctrlPr>
                                      <a:rPr lang="en-GB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GB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GB" sz="1600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p>
                                        <m:r>
                                          <a:rPr lang="en-GB" sz="16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GB" sz="16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en-GB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GB" sz="1600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p>
                                        <m:r>
                                          <a:rPr lang="en-GB" sz="16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  <m:d>
                                  <m:dPr>
                                    <m:ctrlPr>
                                      <a:rPr lang="en-GB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GB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GB" sz="1600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p>
                                        <m:r>
                                          <a:rPr lang="en-GB" sz="16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GB" sz="16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en-GB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GB" sz="1600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p>
                                        <m:r>
                                          <a:rPr lang="en-GB" sz="16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</m:rad>
                          </m:den>
                        </m:f>
                      </m:e>
                    </m:func>
                  </m:oMath>
                </a14:m>
                <a:br>
                  <a:rPr lang="en-GB" sz="1600" dirty="0"/>
                </a:br>
                <a:r>
                  <a:rPr lang="en-GB" sz="1600" dirty="0"/>
                  <a:t>and find, in terms of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sz="1600" dirty="0"/>
                  <a:t>, the area of triangle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𝐴𝐵𝐶</m:t>
                    </m:r>
                  </m:oMath>
                </a14:m>
                <a:r>
                  <a:rPr lang="en-GB" sz="1600" dirty="0"/>
                  <a:t>.</a:t>
                </a:r>
                <a:br>
                  <a:rPr lang="en-GB" sz="1600" dirty="0"/>
                </a:br>
                <a:r>
                  <a:rPr lang="en-GB" sz="1600" dirty="0"/>
                  <a:t>Hence show that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GB" sz="1600" dirty="0"/>
                  <a:t>, the perpendicular distance of the origin from the triangle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𝐴𝐵𝐶</m:t>
                    </m:r>
                  </m:oMath>
                </a14:m>
                <a:r>
                  <a:rPr lang="en-GB" sz="1600" dirty="0"/>
                  <a:t>, satisfies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GB" sz="16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GB" sz="16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GB" sz="1600" dirty="0"/>
              </a:p>
              <a:p>
                <a:pPr marL="400050" indent="-400050">
                  <a:buAutoNum type="romanLcParenBoth"/>
                </a:pPr>
                <a:endParaRPr lang="en-GB" sz="16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7364" y="799984"/>
                <a:ext cx="3320525" cy="53271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8724900" y="2638426"/>
            <a:ext cx="1781174" cy="43088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050" dirty="0"/>
              <a:t>This is FM content, but see a few lines below.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8553450" y="2790826"/>
            <a:ext cx="209550" cy="66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EB09FA59-16EF-A748-6BD3-6782912079FA}"/>
              </a:ext>
            </a:extLst>
          </p:cNvPr>
          <p:cNvSpPr/>
          <p:nvPr/>
        </p:nvSpPr>
        <p:spPr>
          <a:xfrm>
            <a:off x="5158751" y="799984"/>
            <a:ext cx="5472607" cy="532716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386689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Sin Graph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1847528" y="692696"/>
            <a:ext cx="468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What does it look like?</a:t>
            </a:r>
          </a:p>
        </p:txBody>
      </p:sp>
      <p:pic>
        <p:nvPicPr>
          <p:cNvPr id="15362" name="Picture 2" descr="Graph Plo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63552" y="1268761"/>
            <a:ext cx="8096250" cy="5000625"/>
          </a:xfrm>
          <a:prstGeom prst="rect">
            <a:avLst/>
          </a:prstGeom>
          <a:noFill/>
        </p:spPr>
      </p:pic>
      <p:sp>
        <p:nvSpPr>
          <p:cNvPr id="64" name="TextBox 63"/>
          <p:cNvSpPr txBox="1"/>
          <p:nvPr/>
        </p:nvSpPr>
        <p:spPr>
          <a:xfrm>
            <a:off x="6744072" y="3789040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90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08168" y="378904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180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44272" y="378904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270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408368" y="378904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360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871864" y="3717032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-90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935760" y="3717032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-180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999656" y="3717032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-270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35560" y="3717032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-360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385360" y="1143905"/>
                <a:ext cx="2893888" cy="923330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/>
                  <a:t>Key Features: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Repeats every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360°</m:t>
                    </m:r>
                  </m:oMath>
                </a14:m>
                <a:r>
                  <a:rPr lang="en-GB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Range: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−1&lt;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GB" i="1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5360" y="1143905"/>
                <a:ext cx="2893888" cy="923330"/>
              </a:xfrm>
              <a:prstGeom prst="rect">
                <a:avLst/>
              </a:prstGeom>
              <a:blipFill>
                <a:blip r:embed="rId3"/>
                <a:stretch>
                  <a:fillRect l="-1464" t="-2581" b="-83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Rectangle 71"/>
          <p:cNvSpPr/>
          <p:nvPr/>
        </p:nvSpPr>
        <p:spPr>
          <a:xfrm>
            <a:off x="1524000" y="980728"/>
            <a:ext cx="9142856" cy="573325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687729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</p:childTnLst>
        </p:cTn>
      </p:par>
    </p:tnLst>
    <p:bldLst>
      <p:bldP spid="72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Sin Graph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1847528" y="692696"/>
            <a:ext cx="468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What do the following graphs look like?</a:t>
            </a:r>
          </a:p>
        </p:txBody>
      </p:sp>
      <p:pic>
        <p:nvPicPr>
          <p:cNvPr id="15362" name="Picture 2" descr="Graph Plo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63552" y="1268761"/>
            <a:ext cx="8096250" cy="5000625"/>
          </a:xfrm>
          <a:prstGeom prst="rect">
            <a:avLst/>
          </a:prstGeom>
          <a:noFill/>
        </p:spPr>
      </p:pic>
      <p:sp>
        <p:nvSpPr>
          <p:cNvPr id="64" name="TextBox 63"/>
          <p:cNvSpPr txBox="1"/>
          <p:nvPr/>
        </p:nvSpPr>
        <p:spPr>
          <a:xfrm>
            <a:off x="6744072" y="3789040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90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08168" y="378904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180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44272" y="378904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270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408368" y="378904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360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871864" y="3717032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-90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935760" y="3717032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-180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999656" y="3717032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-270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35560" y="3717032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-360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19536" y="5157193"/>
            <a:ext cx="7560840" cy="6463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Suppose we know that </a:t>
            </a:r>
            <a:r>
              <a:rPr lang="en-GB" b="1" dirty="0"/>
              <a:t>sin(30) = 0.5</a:t>
            </a:r>
            <a:r>
              <a:rPr lang="en-GB" dirty="0"/>
              <a:t>. By thinking about symmetry in the graph, how could we work out: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19536" y="5949281"/>
            <a:ext cx="2160240" cy="46166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2400" dirty="0"/>
              <a:t>sin(150) = 0.5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7808" y="5949281"/>
            <a:ext cx="2160240" cy="46166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2400" dirty="0"/>
              <a:t>sin(-30) = -0.5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6080" y="5949281"/>
            <a:ext cx="2160240" cy="46166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2400" dirty="0"/>
              <a:t>sin(210) = -0.5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81680" y="5949280"/>
            <a:ext cx="798096" cy="4718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79440" y="5949280"/>
            <a:ext cx="854616" cy="4718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48320" y="5949280"/>
            <a:ext cx="818520" cy="4718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684092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 descr="Graph Plo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09488" y="1252241"/>
            <a:ext cx="8096250" cy="5000625"/>
          </a:xfrm>
          <a:prstGeom prst="rect">
            <a:avLst/>
          </a:prstGeom>
          <a:noFill/>
        </p:spPr>
      </p:pic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Cos Graph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1847528" y="692696"/>
            <a:ext cx="468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What do the following graphs look like?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44072" y="3789040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90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08168" y="378904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180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44272" y="378904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270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408368" y="378904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360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871864" y="3717032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-90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935760" y="3717032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-180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999656" y="3717032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-270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35560" y="3717032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-360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7084516" y="1263948"/>
                <a:ext cx="2893888" cy="923330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/>
                  <a:t>Key Features: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Repeats every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360°</m:t>
                    </m:r>
                  </m:oMath>
                </a14:m>
                <a:r>
                  <a:rPr lang="en-GB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Range: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−1&lt;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GB" i="1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4516" y="1263948"/>
                <a:ext cx="2893888" cy="923330"/>
              </a:xfrm>
              <a:prstGeom prst="rect">
                <a:avLst/>
              </a:prstGeom>
              <a:blipFill>
                <a:blip r:embed="rId3"/>
                <a:stretch>
                  <a:fillRect l="-1253" t="-1923" b="-76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/>
          <p:cNvSpPr/>
          <p:nvPr/>
        </p:nvSpPr>
        <p:spPr>
          <a:xfrm>
            <a:off x="1524000" y="1124744"/>
            <a:ext cx="9142856" cy="573325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954770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 descr="Graph Plo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09488" y="1252241"/>
            <a:ext cx="8096250" cy="5000625"/>
          </a:xfrm>
          <a:prstGeom prst="rect">
            <a:avLst/>
          </a:prstGeom>
          <a:noFill/>
        </p:spPr>
      </p:pic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Cos Graph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1847528" y="692696"/>
            <a:ext cx="468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What does it look like?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44072" y="3789040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90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08168" y="378904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180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44272" y="378904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270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408368" y="378904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360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871864" y="3717032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-90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935760" y="3717032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-180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999656" y="3717032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-270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35560" y="3717032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-360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19536" y="5157193"/>
            <a:ext cx="7560840" cy="6463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Suppose we know that </a:t>
            </a:r>
            <a:r>
              <a:rPr lang="en-GB" b="1" dirty="0" err="1"/>
              <a:t>cos</a:t>
            </a:r>
            <a:r>
              <a:rPr lang="en-GB" b="1" dirty="0"/>
              <a:t>(60) = 0.5</a:t>
            </a:r>
            <a:r>
              <a:rPr lang="en-GB" dirty="0"/>
              <a:t>. By thinking about symmetry in the graph, how could we work out: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19536" y="5949281"/>
            <a:ext cx="2160240" cy="46166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2400" dirty="0" err="1"/>
              <a:t>cos</a:t>
            </a:r>
            <a:r>
              <a:rPr lang="en-GB" sz="2400" dirty="0"/>
              <a:t>(120) = -0.5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7808" y="5949281"/>
            <a:ext cx="2160240" cy="46166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2400" dirty="0" err="1"/>
              <a:t>cos</a:t>
            </a:r>
            <a:r>
              <a:rPr lang="en-GB" sz="2400" dirty="0"/>
              <a:t>(-60) = 0.5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6080" y="5949281"/>
            <a:ext cx="2160240" cy="46166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2400" dirty="0" err="1"/>
              <a:t>cos</a:t>
            </a:r>
            <a:r>
              <a:rPr lang="en-GB" sz="2400" dirty="0"/>
              <a:t>(240) = -0.5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87688" y="5949280"/>
            <a:ext cx="798096" cy="4718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89992" y="5953728"/>
            <a:ext cx="854616" cy="4718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84232" y="5949280"/>
            <a:ext cx="818520" cy="4718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967829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 descr="Graph Plo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81208" y="1300521"/>
            <a:ext cx="8096250" cy="5000625"/>
          </a:xfrm>
          <a:prstGeom prst="rect">
            <a:avLst/>
          </a:prstGeom>
          <a:noFill/>
        </p:spPr>
      </p:pic>
      <p:cxnSp>
        <p:nvCxnSpPr>
          <p:cNvPr id="24" name="Straight Connector 23"/>
          <p:cNvCxnSpPr/>
          <p:nvPr/>
        </p:nvCxnSpPr>
        <p:spPr>
          <a:xfrm>
            <a:off x="7002512" y="1310288"/>
            <a:ext cx="0" cy="4896544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8832304" y="1340768"/>
            <a:ext cx="0" cy="4896544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5231904" y="1340768"/>
            <a:ext cx="0" cy="4896544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3359696" y="1340768"/>
            <a:ext cx="0" cy="4896544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Tan Graph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1847528" y="692696"/>
            <a:ext cx="468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What does it look like?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44072" y="3789040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90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08168" y="378904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180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44272" y="378904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270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408368" y="378904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360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871864" y="3717032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-90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935760" y="3717032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-180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999656" y="3717032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-270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35560" y="3717032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-360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6807200" y="4909592"/>
                <a:ext cx="3630488" cy="1754326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/>
                  <a:t>Key Features: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Repeats every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𝟏𝟖𝟎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GB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Roots: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0,180°,−180°, …</m:t>
                    </m:r>
                  </m:oMath>
                </a14:m>
                <a:endParaRPr lang="en-GB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Range: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GB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GB" dirty="0"/>
                  <a:t> (i.e. no min/max value!)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Asymptotes: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=±90°, ±270°,…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7200" y="4909592"/>
                <a:ext cx="3630488" cy="1754326"/>
              </a:xfrm>
              <a:prstGeom prst="rect">
                <a:avLst/>
              </a:prstGeom>
              <a:blipFill>
                <a:blip r:embed="rId3"/>
                <a:stretch>
                  <a:fillRect l="-1169" t="-1027" b="-37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 27"/>
          <p:cNvSpPr/>
          <p:nvPr/>
        </p:nvSpPr>
        <p:spPr>
          <a:xfrm>
            <a:off x="1524000" y="1124744"/>
            <a:ext cx="9144000" cy="573325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654310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 descr="Graph Plo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81208" y="1300521"/>
            <a:ext cx="8096250" cy="5000625"/>
          </a:xfrm>
          <a:prstGeom prst="rect">
            <a:avLst/>
          </a:prstGeom>
          <a:noFill/>
        </p:spPr>
      </p:pic>
      <p:cxnSp>
        <p:nvCxnSpPr>
          <p:cNvPr id="24" name="Straight Connector 23"/>
          <p:cNvCxnSpPr/>
          <p:nvPr/>
        </p:nvCxnSpPr>
        <p:spPr>
          <a:xfrm>
            <a:off x="7002512" y="1310288"/>
            <a:ext cx="0" cy="4896544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8832304" y="1340768"/>
            <a:ext cx="0" cy="4896544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5231904" y="1340768"/>
            <a:ext cx="0" cy="4896544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3359696" y="1340768"/>
            <a:ext cx="0" cy="4896544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Tan Graph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1847528" y="692696"/>
            <a:ext cx="468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What does it look like?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44072" y="3789040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90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08168" y="378904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180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44272" y="378904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270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408368" y="378904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360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871864" y="3717032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-90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935760" y="3717032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-180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999656" y="3717032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-270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35560" y="3717032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-360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919536" y="4992092"/>
                <a:ext cx="7560840" cy="77809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/>
                  <a:t>Suppose we know that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30°</m:t>
                            </m:r>
                          </m:e>
                        </m:d>
                      </m:e>
                    </m:func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lang="en-GB" dirty="0"/>
                  <a:t>. By thinking about symmetry in the graph, how could we work out: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9536" y="4992092"/>
                <a:ext cx="7560840" cy="778098"/>
              </a:xfrm>
              <a:prstGeom prst="rect">
                <a:avLst/>
              </a:prstGeom>
              <a:blipFill>
                <a:blip r:embed="rId3"/>
                <a:stretch>
                  <a:fillRect l="-563" b="-98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1739900" y="5847681"/>
                <a:ext cx="2641600" cy="855299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400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d>
                            <m:d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−30°</m:t>
                              </m:r>
                            </m:e>
                          </m:d>
                        </m:e>
                      </m:func>
                      <m:r>
                        <a:rPr lang="en-GB" sz="2400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9900" y="5847681"/>
                <a:ext cx="2641600" cy="8552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4532908" y="5860381"/>
                <a:ext cx="2566392" cy="855299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400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d>
                            <m:d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150°</m:t>
                              </m:r>
                            </m:e>
                          </m:d>
                        </m:e>
                      </m:func>
                      <m:r>
                        <a:rPr lang="en-GB" sz="2400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2908" y="5860381"/>
                <a:ext cx="2566392" cy="8552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/>
          <p:cNvSpPr/>
          <p:nvPr/>
        </p:nvSpPr>
        <p:spPr>
          <a:xfrm>
            <a:off x="3559832" y="5850369"/>
            <a:ext cx="796268" cy="8044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19814" y="5861807"/>
            <a:ext cx="792187" cy="83109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417164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Transforming Trigonometric Graphs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1775520" y="725206"/>
            <a:ext cx="79928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There is no new theory here: just use your knowledge of transforming graphs, i.e. whether the transformation occurs ‘inside’ the function (i.e. input modified) or ‘outside’ the function (i.e. output modified).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733042" y="1917268"/>
                <a:ext cx="3543652" cy="36933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Sketch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=4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≤360°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3042" y="1917268"/>
                <a:ext cx="3543652" cy="369332"/>
              </a:xfrm>
              <a:prstGeom prst="rect">
                <a:avLst/>
              </a:prstGeom>
              <a:blipFill>
                <a:blip r:embed="rId2"/>
                <a:stretch>
                  <a:fillRect b="-4762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/>
          <p:nvPr/>
        </p:nvCxnSpPr>
        <p:spPr>
          <a:xfrm flipV="1">
            <a:off x="2203376" y="2789436"/>
            <a:ext cx="0" cy="2376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2203376" y="4077072"/>
            <a:ext cx="28845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058296" y="3882256"/>
                <a:ext cx="3392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8296" y="3882256"/>
                <a:ext cx="33920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033774" y="2437492"/>
                <a:ext cx="3392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3774" y="2437492"/>
                <a:ext cx="339204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676952" y="4061833"/>
                <a:ext cx="4320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90°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6952" y="4061833"/>
                <a:ext cx="43204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325974" y="4061832"/>
                <a:ext cx="4320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180°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5974" y="4061832"/>
                <a:ext cx="432048" cy="307777"/>
              </a:xfrm>
              <a:prstGeom prst="rect">
                <a:avLst/>
              </a:prstGeom>
              <a:blipFill>
                <a:blip r:embed="rId6"/>
                <a:stretch>
                  <a:fillRect r="-2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936649" y="4061831"/>
                <a:ext cx="4320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270°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6649" y="4061831"/>
                <a:ext cx="432048" cy="307777"/>
              </a:xfrm>
              <a:prstGeom prst="rect">
                <a:avLst/>
              </a:prstGeom>
              <a:blipFill>
                <a:blip r:embed="rId7"/>
                <a:stretch>
                  <a:fillRect r="-183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4549821" y="4061831"/>
                <a:ext cx="4320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360°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9821" y="4061831"/>
                <a:ext cx="432048" cy="307777"/>
              </a:xfrm>
              <a:prstGeom prst="rect">
                <a:avLst/>
              </a:prstGeom>
              <a:blipFill>
                <a:blip r:embed="rId8"/>
                <a:stretch>
                  <a:fillRect r="-183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Freeform: Shape 17"/>
          <p:cNvSpPr/>
          <p:nvPr/>
        </p:nvSpPr>
        <p:spPr>
          <a:xfrm>
            <a:off x="2194560" y="3223251"/>
            <a:ext cx="2606040" cy="1714517"/>
          </a:xfrm>
          <a:custGeom>
            <a:avLst/>
            <a:gdLst>
              <a:gd name="connsiteX0" fmla="*/ 0 w 2606040"/>
              <a:gd name="connsiteY0" fmla="*/ 845831 h 1714513"/>
              <a:gd name="connsiteX1" fmla="*/ 647700 w 2606040"/>
              <a:gd name="connsiteY1" fmla="*/ 11 h 1714513"/>
              <a:gd name="connsiteX2" fmla="*/ 1363980 w 2606040"/>
              <a:gd name="connsiteY2" fmla="*/ 861071 h 1714513"/>
              <a:gd name="connsiteX3" fmla="*/ 1981200 w 2606040"/>
              <a:gd name="connsiteY3" fmla="*/ 1714511 h 1714513"/>
              <a:gd name="connsiteX4" fmla="*/ 2606040 w 2606040"/>
              <a:gd name="connsiteY4" fmla="*/ 853451 h 1714513"/>
              <a:gd name="connsiteX0" fmla="*/ 0 w 2606040"/>
              <a:gd name="connsiteY0" fmla="*/ 845831 h 1714516"/>
              <a:gd name="connsiteX1" fmla="*/ 647700 w 2606040"/>
              <a:gd name="connsiteY1" fmla="*/ 11 h 1714516"/>
              <a:gd name="connsiteX2" fmla="*/ 1363980 w 2606040"/>
              <a:gd name="connsiteY2" fmla="*/ 861071 h 1714516"/>
              <a:gd name="connsiteX3" fmla="*/ 1981200 w 2606040"/>
              <a:gd name="connsiteY3" fmla="*/ 1714511 h 1714516"/>
              <a:gd name="connsiteX4" fmla="*/ 2606040 w 2606040"/>
              <a:gd name="connsiteY4" fmla="*/ 853451 h 1714516"/>
              <a:gd name="connsiteX0" fmla="*/ 0 w 2606040"/>
              <a:gd name="connsiteY0" fmla="*/ 845831 h 1714517"/>
              <a:gd name="connsiteX1" fmla="*/ 647700 w 2606040"/>
              <a:gd name="connsiteY1" fmla="*/ 11 h 1714517"/>
              <a:gd name="connsiteX2" fmla="*/ 1363980 w 2606040"/>
              <a:gd name="connsiteY2" fmla="*/ 861071 h 1714517"/>
              <a:gd name="connsiteX3" fmla="*/ 1981200 w 2606040"/>
              <a:gd name="connsiteY3" fmla="*/ 1714511 h 1714517"/>
              <a:gd name="connsiteX4" fmla="*/ 2606040 w 2606040"/>
              <a:gd name="connsiteY4" fmla="*/ 853451 h 1714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06040" h="1714517">
                <a:moveTo>
                  <a:pt x="0" y="845831"/>
                </a:moveTo>
                <a:cubicBezTo>
                  <a:pt x="210185" y="421651"/>
                  <a:pt x="420370" y="-2529"/>
                  <a:pt x="647700" y="11"/>
                </a:cubicBezTo>
                <a:cubicBezTo>
                  <a:pt x="875030" y="2551"/>
                  <a:pt x="1164590" y="186701"/>
                  <a:pt x="1363980" y="861071"/>
                </a:cubicBezTo>
                <a:cubicBezTo>
                  <a:pt x="1563370" y="1535441"/>
                  <a:pt x="1774190" y="1715781"/>
                  <a:pt x="1981200" y="1714511"/>
                </a:cubicBezTo>
                <a:cubicBezTo>
                  <a:pt x="2188210" y="1713241"/>
                  <a:pt x="2397125" y="1283346"/>
                  <a:pt x="2606040" y="853451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1835367" y="3113421"/>
                <a:ext cx="4320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367" y="3113421"/>
                <a:ext cx="432048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1817750" y="4635071"/>
                <a:ext cx="4320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7750" y="4635071"/>
                <a:ext cx="432048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5518780" y="1914986"/>
                <a:ext cx="4356224" cy="36933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Sketch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+45°</m:t>
                            </m:r>
                          </m:e>
                        </m:d>
                      </m:e>
                    </m:func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≤360°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8780" y="1914986"/>
                <a:ext cx="4356224" cy="369332"/>
              </a:xfrm>
              <a:prstGeom prst="rect">
                <a:avLst/>
              </a:prstGeom>
              <a:blipFill>
                <a:blip r:embed="rId11"/>
                <a:stretch>
                  <a:fillRect b="-3529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/>
          <p:cNvCxnSpPr/>
          <p:nvPr/>
        </p:nvCxnSpPr>
        <p:spPr>
          <a:xfrm flipV="1">
            <a:off x="6680880" y="2819733"/>
            <a:ext cx="0" cy="2376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5581650" y="4105276"/>
            <a:ext cx="3983742" cy="20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9535800" y="3912553"/>
                <a:ext cx="3392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5800" y="3912553"/>
                <a:ext cx="339204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6511278" y="2467789"/>
                <a:ext cx="3392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1278" y="2467789"/>
                <a:ext cx="339204" cy="369332"/>
              </a:xfrm>
              <a:prstGeom prst="rect">
                <a:avLst/>
              </a:prstGeom>
              <a:blipFill>
                <a:blip r:embed="rId1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7154456" y="4092130"/>
                <a:ext cx="4320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90°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4456" y="4092130"/>
                <a:ext cx="43204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7803478" y="4092129"/>
                <a:ext cx="4320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180°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3478" y="4092129"/>
                <a:ext cx="432048" cy="307777"/>
              </a:xfrm>
              <a:prstGeom prst="rect">
                <a:avLst/>
              </a:prstGeom>
              <a:blipFill>
                <a:blip r:embed="rId6"/>
                <a:stretch>
                  <a:fillRect r="-183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8414153" y="4092128"/>
                <a:ext cx="4320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270°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4153" y="4092128"/>
                <a:ext cx="432048" cy="307777"/>
              </a:xfrm>
              <a:prstGeom prst="rect">
                <a:avLst/>
              </a:prstGeom>
              <a:blipFill>
                <a:blip r:embed="rId7"/>
                <a:stretch>
                  <a:fillRect r="-183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9027325" y="4092128"/>
                <a:ext cx="4320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360°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7325" y="4092128"/>
                <a:ext cx="432048" cy="307777"/>
              </a:xfrm>
              <a:prstGeom prst="rect">
                <a:avLst/>
              </a:prstGeom>
              <a:blipFill>
                <a:blip r:embed="rId8"/>
                <a:stretch>
                  <a:fillRect r="-183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Freeform: Shape 29"/>
          <p:cNvSpPr/>
          <p:nvPr/>
        </p:nvSpPr>
        <p:spPr>
          <a:xfrm>
            <a:off x="5643146" y="3266208"/>
            <a:ext cx="2606040" cy="1714517"/>
          </a:xfrm>
          <a:custGeom>
            <a:avLst/>
            <a:gdLst>
              <a:gd name="connsiteX0" fmla="*/ 0 w 2606040"/>
              <a:gd name="connsiteY0" fmla="*/ 845831 h 1714513"/>
              <a:gd name="connsiteX1" fmla="*/ 647700 w 2606040"/>
              <a:gd name="connsiteY1" fmla="*/ 11 h 1714513"/>
              <a:gd name="connsiteX2" fmla="*/ 1363980 w 2606040"/>
              <a:gd name="connsiteY2" fmla="*/ 861071 h 1714513"/>
              <a:gd name="connsiteX3" fmla="*/ 1981200 w 2606040"/>
              <a:gd name="connsiteY3" fmla="*/ 1714511 h 1714513"/>
              <a:gd name="connsiteX4" fmla="*/ 2606040 w 2606040"/>
              <a:gd name="connsiteY4" fmla="*/ 853451 h 1714513"/>
              <a:gd name="connsiteX0" fmla="*/ 0 w 2606040"/>
              <a:gd name="connsiteY0" fmla="*/ 845831 h 1714516"/>
              <a:gd name="connsiteX1" fmla="*/ 647700 w 2606040"/>
              <a:gd name="connsiteY1" fmla="*/ 11 h 1714516"/>
              <a:gd name="connsiteX2" fmla="*/ 1363980 w 2606040"/>
              <a:gd name="connsiteY2" fmla="*/ 861071 h 1714516"/>
              <a:gd name="connsiteX3" fmla="*/ 1981200 w 2606040"/>
              <a:gd name="connsiteY3" fmla="*/ 1714511 h 1714516"/>
              <a:gd name="connsiteX4" fmla="*/ 2606040 w 2606040"/>
              <a:gd name="connsiteY4" fmla="*/ 853451 h 1714516"/>
              <a:gd name="connsiteX0" fmla="*/ 0 w 2606040"/>
              <a:gd name="connsiteY0" fmla="*/ 845831 h 1714517"/>
              <a:gd name="connsiteX1" fmla="*/ 647700 w 2606040"/>
              <a:gd name="connsiteY1" fmla="*/ 11 h 1714517"/>
              <a:gd name="connsiteX2" fmla="*/ 1363980 w 2606040"/>
              <a:gd name="connsiteY2" fmla="*/ 861071 h 1714517"/>
              <a:gd name="connsiteX3" fmla="*/ 1981200 w 2606040"/>
              <a:gd name="connsiteY3" fmla="*/ 1714511 h 1714517"/>
              <a:gd name="connsiteX4" fmla="*/ 2606040 w 2606040"/>
              <a:gd name="connsiteY4" fmla="*/ 853451 h 1714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06040" h="1714517">
                <a:moveTo>
                  <a:pt x="0" y="845831"/>
                </a:moveTo>
                <a:cubicBezTo>
                  <a:pt x="210185" y="421651"/>
                  <a:pt x="420370" y="-2529"/>
                  <a:pt x="647700" y="11"/>
                </a:cubicBezTo>
                <a:cubicBezTo>
                  <a:pt x="875030" y="2551"/>
                  <a:pt x="1164590" y="186701"/>
                  <a:pt x="1363980" y="861071"/>
                </a:cubicBezTo>
                <a:cubicBezTo>
                  <a:pt x="1563370" y="1535441"/>
                  <a:pt x="1774190" y="1715781"/>
                  <a:pt x="1981200" y="1714511"/>
                </a:cubicBezTo>
                <a:cubicBezTo>
                  <a:pt x="2188210" y="1713241"/>
                  <a:pt x="2397125" y="1283346"/>
                  <a:pt x="2606040" y="853451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6312871" y="3143718"/>
                <a:ext cx="4320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2871" y="3143718"/>
                <a:ext cx="432048" cy="30777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6295254" y="4665368"/>
                <a:ext cx="4320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5254" y="4665368"/>
                <a:ext cx="432048" cy="30777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Freeform: Shape 32"/>
          <p:cNvSpPr/>
          <p:nvPr/>
        </p:nvSpPr>
        <p:spPr>
          <a:xfrm>
            <a:off x="8244318" y="3266208"/>
            <a:ext cx="1363980" cy="861071"/>
          </a:xfrm>
          <a:custGeom>
            <a:avLst/>
            <a:gdLst>
              <a:gd name="connsiteX0" fmla="*/ 0 w 2606040"/>
              <a:gd name="connsiteY0" fmla="*/ 845831 h 1714513"/>
              <a:gd name="connsiteX1" fmla="*/ 647700 w 2606040"/>
              <a:gd name="connsiteY1" fmla="*/ 11 h 1714513"/>
              <a:gd name="connsiteX2" fmla="*/ 1363980 w 2606040"/>
              <a:gd name="connsiteY2" fmla="*/ 861071 h 1714513"/>
              <a:gd name="connsiteX3" fmla="*/ 1981200 w 2606040"/>
              <a:gd name="connsiteY3" fmla="*/ 1714511 h 1714513"/>
              <a:gd name="connsiteX4" fmla="*/ 2606040 w 2606040"/>
              <a:gd name="connsiteY4" fmla="*/ 853451 h 1714513"/>
              <a:gd name="connsiteX0" fmla="*/ 0 w 2606040"/>
              <a:gd name="connsiteY0" fmla="*/ 845831 h 1714516"/>
              <a:gd name="connsiteX1" fmla="*/ 647700 w 2606040"/>
              <a:gd name="connsiteY1" fmla="*/ 11 h 1714516"/>
              <a:gd name="connsiteX2" fmla="*/ 1363980 w 2606040"/>
              <a:gd name="connsiteY2" fmla="*/ 861071 h 1714516"/>
              <a:gd name="connsiteX3" fmla="*/ 1981200 w 2606040"/>
              <a:gd name="connsiteY3" fmla="*/ 1714511 h 1714516"/>
              <a:gd name="connsiteX4" fmla="*/ 2606040 w 2606040"/>
              <a:gd name="connsiteY4" fmla="*/ 853451 h 1714516"/>
              <a:gd name="connsiteX0" fmla="*/ 0 w 2606040"/>
              <a:gd name="connsiteY0" fmla="*/ 845831 h 1714517"/>
              <a:gd name="connsiteX1" fmla="*/ 647700 w 2606040"/>
              <a:gd name="connsiteY1" fmla="*/ 11 h 1714517"/>
              <a:gd name="connsiteX2" fmla="*/ 1363980 w 2606040"/>
              <a:gd name="connsiteY2" fmla="*/ 861071 h 1714517"/>
              <a:gd name="connsiteX3" fmla="*/ 1981200 w 2606040"/>
              <a:gd name="connsiteY3" fmla="*/ 1714511 h 1714517"/>
              <a:gd name="connsiteX4" fmla="*/ 2606040 w 2606040"/>
              <a:gd name="connsiteY4" fmla="*/ 853451 h 1714517"/>
              <a:gd name="connsiteX0" fmla="*/ 0 w 1981200"/>
              <a:gd name="connsiteY0" fmla="*/ 845831 h 1714517"/>
              <a:gd name="connsiteX1" fmla="*/ 647700 w 1981200"/>
              <a:gd name="connsiteY1" fmla="*/ 11 h 1714517"/>
              <a:gd name="connsiteX2" fmla="*/ 1363980 w 1981200"/>
              <a:gd name="connsiteY2" fmla="*/ 861071 h 1714517"/>
              <a:gd name="connsiteX3" fmla="*/ 1981200 w 1981200"/>
              <a:gd name="connsiteY3" fmla="*/ 1714511 h 1714517"/>
              <a:gd name="connsiteX0" fmla="*/ 0 w 1363980"/>
              <a:gd name="connsiteY0" fmla="*/ 845831 h 861071"/>
              <a:gd name="connsiteX1" fmla="*/ 647700 w 1363980"/>
              <a:gd name="connsiteY1" fmla="*/ 11 h 861071"/>
              <a:gd name="connsiteX2" fmla="*/ 1363980 w 1363980"/>
              <a:gd name="connsiteY2" fmla="*/ 861071 h 861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63980" h="861071">
                <a:moveTo>
                  <a:pt x="0" y="845831"/>
                </a:moveTo>
                <a:cubicBezTo>
                  <a:pt x="210185" y="421651"/>
                  <a:pt x="420370" y="-2529"/>
                  <a:pt x="647700" y="11"/>
                </a:cubicBezTo>
                <a:cubicBezTo>
                  <a:pt x="875030" y="2551"/>
                  <a:pt x="1164590" y="186701"/>
                  <a:pt x="1363980" y="861071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5783449" y="4101653"/>
                <a:ext cx="4320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−90°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3449" y="4101653"/>
                <a:ext cx="432048" cy="307777"/>
              </a:xfrm>
              <a:prstGeom prst="rect">
                <a:avLst/>
              </a:prstGeom>
              <a:blipFill>
                <a:blip r:embed="rId16"/>
                <a:stretch>
                  <a:fillRect r="-267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Arrow: Right 37"/>
          <p:cNvSpPr/>
          <p:nvPr/>
        </p:nvSpPr>
        <p:spPr>
          <a:xfrm rot="10800000">
            <a:off x="7154456" y="2837121"/>
            <a:ext cx="432048" cy="38612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7500780" y="2875222"/>
                <a:ext cx="61452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45°</m:t>
                      </m:r>
                    </m:oMath>
                  </m:oMathPara>
                </a14:m>
                <a:endParaRPr lang="en-GB" sz="1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0780" y="2875222"/>
                <a:ext cx="614521" cy="30777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Arrow: Up-Down 39"/>
          <p:cNvSpPr/>
          <p:nvPr/>
        </p:nvSpPr>
        <p:spPr>
          <a:xfrm>
            <a:off x="3715649" y="2806825"/>
            <a:ext cx="221001" cy="459383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3867476" y="2844598"/>
                <a:ext cx="61452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×4</m:t>
                      </m:r>
                    </m:oMath>
                  </m:oMathPara>
                </a14:m>
                <a:endParaRPr lang="en-GB" sz="1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7476" y="2844598"/>
                <a:ext cx="614521" cy="30777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Rectangle 41"/>
          <p:cNvSpPr/>
          <p:nvPr/>
        </p:nvSpPr>
        <p:spPr>
          <a:xfrm>
            <a:off x="1733290" y="2273538"/>
            <a:ext cx="3543404" cy="353172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18780" y="2273538"/>
            <a:ext cx="4356224" cy="353172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645014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</p:childTnLst>
        </p:cTn>
      </p:par>
    </p:tnLst>
    <p:bldLst>
      <p:bldP spid="42" grpId="0" animBg="1"/>
      <p:bldP spid="43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Transforming Trigonometric Graphs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919536" y="990823"/>
                <a:ext cx="3744416" cy="36933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Sketch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=−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≤360°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9536" y="990823"/>
                <a:ext cx="3744416" cy="369332"/>
              </a:xfrm>
              <a:prstGeom prst="rect">
                <a:avLst/>
              </a:prstGeom>
              <a:blipFill>
                <a:blip r:embed="rId2"/>
                <a:stretch>
                  <a:fillRect b="-4762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/>
          <p:cNvCxnSpPr/>
          <p:nvPr/>
        </p:nvCxnSpPr>
        <p:spPr>
          <a:xfrm flipV="1">
            <a:off x="2203376" y="2789436"/>
            <a:ext cx="0" cy="2376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2203376" y="4077072"/>
            <a:ext cx="28845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058296" y="3882256"/>
                <a:ext cx="3392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8296" y="3882256"/>
                <a:ext cx="33920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033774" y="2437492"/>
                <a:ext cx="3392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3774" y="2437492"/>
                <a:ext cx="339204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676952" y="4061833"/>
                <a:ext cx="4320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90°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6952" y="4061833"/>
                <a:ext cx="43204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325974" y="4061832"/>
                <a:ext cx="4320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180°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5974" y="4061832"/>
                <a:ext cx="432048" cy="307777"/>
              </a:xfrm>
              <a:prstGeom prst="rect">
                <a:avLst/>
              </a:prstGeom>
              <a:blipFill>
                <a:blip r:embed="rId6"/>
                <a:stretch>
                  <a:fillRect r="-2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936649" y="4061831"/>
                <a:ext cx="4320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270°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6649" y="4061831"/>
                <a:ext cx="432048" cy="307777"/>
              </a:xfrm>
              <a:prstGeom prst="rect">
                <a:avLst/>
              </a:prstGeom>
              <a:blipFill>
                <a:blip r:embed="rId7"/>
                <a:stretch>
                  <a:fillRect r="-183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4549821" y="4061831"/>
                <a:ext cx="4320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360°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9821" y="4061831"/>
                <a:ext cx="432048" cy="307777"/>
              </a:xfrm>
              <a:prstGeom prst="rect">
                <a:avLst/>
              </a:prstGeom>
              <a:blipFill>
                <a:blip r:embed="rId8"/>
                <a:stretch>
                  <a:fillRect r="-183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Arrow: Up-Down 16"/>
          <p:cNvSpPr/>
          <p:nvPr/>
        </p:nvSpPr>
        <p:spPr>
          <a:xfrm>
            <a:off x="3855349" y="1905125"/>
            <a:ext cx="221001" cy="459383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4007176" y="1942898"/>
                <a:ext cx="88232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×(−1)</m:t>
                      </m:r>
                    </m:oMath>
                  </m:oMathPara>
                </a14:m>
                <a:endParaRPr lang="en-GB" sz="1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7176" y="1942898"/>
                <a:ext cx="882325" cy="307777"/>
              </a:xfrm>
              <a:prstGeom prst="rect">
                <a:avLst/>
              </a:prstGeom>
              <a:blipFill>
                <a:blip r:embed="rId9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Connector 20"/>
          <p:cNvCxnSpPr/>
          <p:nvPr/>
        </p:nvCxnSpPr>
        <p:spPr>
          <a:xfrm>
            <a:off x="2876848" y="2721620"/>
            <a:ext cx="0" cy="249445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4151784" y="2708920"/>
            <a:ext cx="0" cy="249445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Freeform: Shape 22"/>
          <p:cNvSpPr/>
          <p:nvPr/>
        </p:nvSpPr>
        <p:spPr>
          <a:xfrm>
            <a:off x="2197100" y="4064000"/>
            <a:ext cx="627100" cy="1168400"/>
          </a:xfrm>
          <a:custGeom>
            <a:avLst/>
            <a:gdLst>
              <a:gd name="connsiteX0" fmla="*/ 0 w 627100"/>
              <a:gd name="connsiteY0" fmla="*/ 0 h 1168400"/>
              <a:gd name="connsiteX1" fmla="*/ 393700 w 627100"/>
              <a:gd name="connsiteY1" fmla="*/ 469900 h 1168400"/>
              <a:gd name="connsiteX2" fmla="*/ 596900 w 627100"/>
              <a:gd name="connsiteY2" fmla="*/ 965200 h 1168400"/>
              <a:gd name="connsiteX3" fmla="*/ 622300 w 627100"/>
              <a:gd name="connsiteY3" fmla="*/ 1168400 h 116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7100" h="1168400">
                <a:moveTo>
                  <a:pt x="0" y="0"/>
                </a:moveTo>
                <a:cubicBezTo>
                  <a:pt x="147108" y="154516"/>
                  <a:pt x="294217" y="309033"/>
                  <a:pt x="393700" y="469900"/>
                </a:cubicBezTo>
                <a:cubicBezTo>
                  <a:pt x="493183" y="630767"/>
                  <a:pt x="558800" y="848783"/>
                  <a:pt x="596900" y="965200"/>
                </a:cubicBezTo>
                <a:cubicBezTo>
                  <a:pt x="635000" y="1081617"/>
                  <a:pt x="628650" y="1125008"/>
                  <a:pt x="622300" y="116840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Freeform: Shape 23"/>
          <p:cNvSpPr/>
          <p:nvPr/>
        </p:nvSpPr>
        <p:spPr>
          <a:xfrm>
            <a:off x="2959100" y="2641600"/>
            <a:ext cx="1130300" cy="2527300"/>
          </a:xfrm>
          <a:custGeom>
            <a:avLst/>
            <a:gdLst>
              <a:gd name="connsiteX0" fmla="*/ 0 w 1130300"/>
              <a:gd name="connsiteY0" fmla="*/ 0 h 2527300"/>
              <a:gd name="connsiteX1" fmla="*/ 330200 w 1130300"/>
              <a:gd name="connsiteY1" fmla="*/ 939800 h 2527300"/>
              <a:gd name="connsiteX2" fmla="*/ 584200 w 1130300"/>
              <a:gd name="connsiteY2" fmla="*/ 1447800 h 2527300"/>
              <a:gd name="connsiteX3" fmla="*/ 1028700 w 1130300"/>
              <a:gd name="connsiteY3" fmla="*/ 2070100 h 2527300"/>
              <a:gd name="connsiteX4" fmla="*/ 1130300 w 1130300"/>
              <a:gd name="connsiteY4" fmla="*/ 2527300 h 2527300"/>
              <a:gd name="connsiteX0" fmla="*/ 0 w 1130300"/>
              <a:gd name="connsiteY0" fmla="*/ 0 h 2527300"/>
              <a:gd name="connsiteX1" fmla="*/ 266700 w 1130300"/>
              <a:gd name="connsiteY1" fmla="*/ 939800 h 2527300"/>
              <a:gd name="connsiteX2" fmla="*/ 584200 w 1130300"/>
              <a:gd name="connsiteY2" fmla="*/ 1447800 h 2527300"/>
              <a:gd name="connsiteX3" fmla="*/ 1028700 w 1130300"/>
              <a:gd name="connsiteY3" fmla="*/ 2070100 h 2527300"/>
              <a:gd name="connsiteX4" fmla="*/ 1130300 w 1130300"/>
              <a:gd name="connsiteY4" fmla="*/ 2527300 h 2527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0300" h="2527300">
                <a:moveTo>
                  <a:pt x="0" y="0"/>
                </a:moveTo>
                <a:cubicBezTo>
                  <a:pt x="116416" y="349250"/>
                  <a:pt x="169333" y="698500"/>
                  <a:pt x="266700" y="939800"/>
                </a:cubicBezTo>
                <a:cubicBezTo>
                  <a:pt x="364067" y="1181100"/>
                  <a:pt x="457200" y="1259417"/>
                  <a:pt x="584200" y="1447800"/>
                </a:cubicBezTo>
                <a:cubicBezTo>
                  <a:pt x="711200" y="1636183"/>
                  <a:pt x="937683" y="1890183"/>
                  <a:pt x="1028700" y="2070100"/>
                </a:cubicBezTo>
                <a:cubicBezTo>
                  <a:pt x="1119717" y="2250017"/>
                  <a:pt x="1125008" y="2388658"/>
                  <a:pt x="1130300" y="252730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Freeform: Shape 24"/>
          <p:cNvSpPr/>
          <p:nvPr/>
        </p:nvSpPr>
        <p:spPr>
          <a:xfrm>
            <a:off x="4229100" y="2679700"/>
            <a:ext cx="546100" cy="1422400"/>
          </a:xfrm>
          <a:custGeom>
            <a:avLst/>
            <a:gdLst>
              <a:gd name="connsiteX0" fmla="*/ 0 w 546100"/>
              <a:gd name="connsiteY0" fmla="*/ 0 h 1422400"/>
              <a:gd name="connsiteX1" fmla="*/ 266700 w 546100"/>
              <a:gd name="connsiteY1" fmla="*/ 990600 h 1422400"/>
              <a:gd name="connsiteX2" fmla="*/ 546100 w 546100"/>
              <a:gd name="connsiteY2" fmla="*/ 1422400 h 142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6100" h="1422400">
                <a:moveTo>
                  <a:pt x="0" y="0"/>
                </a:moveTo>
                <a:cubicBezTo>
                  <a:pt x="87841" y="376766"/>
                  <a:pt x="175683" y="753533"/>
                  <a:pt x="266700" y="990600"/>
                </a:cubicBezTo>
                <a:cubicBezTo>
                  <a:pt x="357717" y="1227667"/>
                  <a:pt x="451908" y="1325033"/>
                  <a:pt x="546100" y="142240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/>
          <p:cNvSpPr/>
          <p:nvPr/>
        </p:nvSpPr>
        <p:spPr>
          <a:xfrm>
            <a:off x="1919536" y="1360155"/>
            <a:ext cx="3744416" cy="415707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6240016" y="985391"/>
                <a:ext cx="3744416" cy="50687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Sketch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≤360°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0016" y="985391"/>
                <a:ext cx="3744416" cy="50687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/>
          <p:cNvCxnSpPr/>
          <p:nvPr/>
        </p:nvCxnSpPr>
        <p:spPr>
          <a:xfrm flipV="1">
            <a:off x="6798505" y="2396862"/>
            <a:ext cx="0" cy="2376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6798505" y="3684498"/>
            <a:ext cx="28845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9653425" y="3489682"/>
                <a:ext cx="3392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3425" y="3489682"/>
                <a:ext cx="339204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6628903" y="2044918"/>
                <a:ext cx="3392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8903" y="2044918"/>
                <a:ext cx="339204" cy="369332"/>
              </a:xfrm>
              <a:prstGeom prst="rect">
                <a:avLst/>
              </a:prstGeom>
              <a:blipFill>
                <a:blip r:embed="rId12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7272081" y="3669259"/>
                <a:ext cx="4320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90°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2081" y="3669259"/>
                <a:ext cx="432048" cy="30777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7921103" y="3669258"/>
                <a:ext cx="4320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180°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1103" y="3669258"/>
                <a:ext cx="432048" cy="307777"/>
              </a:xfrm>
              <a:prstGeom prst="rect">
                <a:avLst/>
              </a:prstGeom>
              <a:blipFill>
                <a:blip r:embed="rId14"/>
                <a:stretch>
                  <a:fillRect r="-183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8531778" y="3669257"/>
                <a:ext cx="4320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270°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1778" y="3669257"/>
                <a:ext cx="432048" cy="307777"/>
              </a:xfrm>
              <a:prstGeom prst="rect">
                <a:avLst/>
              </a:prstGeom>
              <a:blipFill>
                <a:blip r:embed="rId15"/>
                <a:stretch>
                  <a:fillRect r="-2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9144950" y="3669257"/>
                <a:ext cx="4320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360°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950" y="3669257"/>
                <a:ext cx="432048" cy="307777"/>
              </a:xfrm>
              <a:prstGeom prst="rect">
                <a:avLst/>
              </a:prstGeom>
              <a:blipFill>
                <a:blip r:embed="rId16"/>
                <a:stretch>
                  <a:fillRect r="-183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Freeform: Shape 34"/>
          <p:cNvSpPr/>
          <p:nvPr/>
        </p:nvSpPr>
        <p:spPr>
          <a:xfrm>
            <a:off x="6789689" y="2830677"/>
            <a:ext cx="2568289" cy="861071"/>
          </a:xfrm>
          <a:custGeom>
            <a:avLst/>
            <a:gdLst>
              <a:gd name="connsiteX0" fmla="*/ 0 w 2606040"/>
              <a:gd name="connsiteY0" fmla="*/ 845831 h 1714513"/>
              <a:gd name="connsiteX1" fmla="*/ 647700 w 2606040"/>
              <a:gd name="connsiteY1" fmla="*/ 11 h 1714513"/>
              <a:gd name="connsiteX2" fmla="*/ 1363980 w 2606040"/>
              <a:gd name="connsiteY2" fmla="*/ 861071 h 1714513"/>
              <a:gd name="connsiteX3" fmla="*/ 1981200 w 2606040"/>
              <a:gd name="connsiteY3" fmla="*/ 1714511 h 1714513"/>
              <a:gd name="connsiteX4" fmla="*/ 2606040 w 2606040"/>
              <a:gd name="connsiteY4" fmla="*/ 853451 h 1714513"/>
              <a:gd name="connsiteX0" fmla="*/ 0 w 2606040"/>
              <a:gd name="connsiteY0" fmla="*/ 845831 h 1714516"/>
              <a:gd name="connsiteX1" fmla="*/ 647700 w 2606040"/>
              <a:gd name="connsiteY1" fmla="*/ 11 h 1714516"/>
              <a:gd name="connsiteX2" fmla="*/ 1363980 w 2606040"/>
              <a:gd name="connsiteY2" fmla="*/ 861071 h 1714516"/>
              <a:gd name="connsiteX3" fmla="*/ 1981200 w 2606040"/>
              <a:gd name="connsiteY3" fmla="*/ 1714511 h 1714516"/>
              <a:gd name="connsiteX4" fmla="*/ 2606040 w 2606040"/>
              <a:gd name="connsiteY4" fmla="*/ 853451 h 1714516"/>
              <a:gd name="connsiteX0" fmla="*/ 0 w 2606040"/>
              <a:gd name="connsiteY0" fmla="*/ 845831 h 1714517"/>
              <a:gd name="connsiteX1" fmla="*/ 647700 w 2606040"/>
              <a:gd name="connsiteY1" fmla="*/ 11 h 1714517"/>
              <a:gd name="connsiteX2" fmla="*/ 1363980 w 2606040"/>
              <a:gd name="connsiteY2" fmla="*/ 861071 h 1714517"/>
              <a:gd name="connsiteX3" fmla="*/ 1981200 w 2606040"/>
              <a:gd name="connsiteY3" fmla="*/ 1714511 h 1714517"/>
              <a:gd name="connsiteX4" fmla="*/ 2606040 w 2606040"/>
              <a:gd name="connsiteY4" fmla="*/ 853451 h 1714517"/>
              <a:gd name="connsiteX0" fmla="*/ 0 w 2606040"/>
              <a:gd name="connsiteY0" fmla="*/ 845831 h 922707"/>
              <a:gd name="connsiteX1" fmla="*/ 647700 w 2606040"/>
              <a:gd name="connsiteY1" fmla="*/ 11 h 922707"/>
              <a:gd name="connsiteX2" fmla="*/ 1363980 w 2606040"/>
              <a:gd name="connsiteY2" fmla="*/ 861071 h 922707"/>
              <a:gd name="connsiteX3" fmla="*/ 2606040 w 2606040"/>
              <a:gd name="connsiteY3" fmla="*/ 853451 h 922707"/>
              <a:gd name="connsiteX0" fmla="*/ 0 w 1363980"/>
              <a:gd name="connsiteY0" fmla="*/ 845831 h 861071"/>
              <a:gd name="connsiteX1" fmla="*/ 647700 w 1363980"/>
              <a:gd name="connsiteY1" fmla="*/ 11 h 861071"/>
              <a:gd name="connsiteX2" fmla="*/ 1363980 w 1363980"/>
              <a:gd name="connsiteY2" fmla="*/ 861071 h 861071"/>
              <a:gd name="connsiteX0" fmla="*/ 0 w 1363980"/>
              <a:gd name="connsiteY0" fmla="*/ 845831 h 861071"/>
              <a:gd name="connsiteX1" fmla="*/ 647700 w 1363980"/>
              <a:gd name="connsiteY1" fmla="*/ 11 h 861071"/>
              <a:gd name="connsiteX2" fmla="*/ 1363980 w 1363980"/>
              <a:gd name="connsiteY2" fmla="*/ 861071 h 861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63980" h="861071">
                <a:moveTo>
                  <a:pt x="0" y="845831"/>
                </a:moveTo>
                <a:cubicBezTo>
                  <a:pt x="210185" y="421651"/>
                  <a:pt x="420370" y="-2529"/>
                  <a:pt x="647700" y="11"/>
                </a:cubicBezTo>
                <a:cubicBezTo>
                  <a:pt x="875030" y="2551"/>
                  <a:pt x="1017356" y="-43169"/>
                  <a:pt x="1363980" y="861071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6430496" y="2720847"/>
                <a:ext cx="4320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0496" y="2720847"/>
                <a:ext cx="432048" cy="30777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6412879" y="4242497"/>
                <a:ext cx="4320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2879" y="4242497"/>
                <a:ext cx="432048" cy="30777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Arrow: Up-Down 37"/>
          <p:cNvSpPr/>
          <p:nvPr/>
        </p:nvSpPr>
        <p:spPr>
          <a:xfrm rot="5400000">
            <a:off x="8475878" y="2236451"/>
            <a:ext cx="221001" cy="459383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8703905" y="2286924"/>
                <a:ext cx="61452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×2</m:t>
                      </m:r>
                    </m:oMath>
                  </m:oMathPara>
                </a14:m>
                <a:endParaRPr lang="en-GB" sz="1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3905" y="2286924"/>
                <a:ext cx="614521" cy="30777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Rectangle 39"/>
          <p:cNvSpPr/>
          <p:nvPr/>
        </p:nvSpPr>
        <p:spPr>
          <a:xfrm>
            <a:off x="6220134" y="1495348"/>
            <a:ext cx="3764298" cy="402188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881842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</p:childTnLst>
        </p:cTn>
      </p:par>
    </p:tnLst>
    <p:bldLst>
      <p:bldP spid="19" grpId="0" animBg="1"/>
      <p:bldP spid="40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9F – Y1 Page 194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2E638474-1399-8F23-7B63-D7525BB88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668399"/>
            <a:ext cx="7277100" cy="15621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3C978DC-5FCF-3B3D-4D0A-4D3116A2B6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505" y="2391848"/>
            <a:ext cx="3807057" cy="20743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729059-3E6B-0B2D-E226-4ACDE683E7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3513" y="4466152"/>
            <a:ext cx="3168037" cy="22346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8593502-0FF0-40BE-5B06-ED1CD889F8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5609" y="2528900"/>
            <a:ext cx="3830266" cy="234025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BE5ED11-F7F4-E9C0-083F-B8E56FF0087D}"/>
              </a:ext>
            </a:extLst>
          </p:cNvPr>
          <p:cNvSpPr/>
          <p:nvPr/>
        </p:nvSpPr>
        <p:spPr>
          <a:xfrm>
            <a:off x="1629802" y="2391848"/>
            <a:ext cx="3890134" cy="211727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1?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E69942-00D7-EC1A-AAD7-3B752C846282}"/>
              </a:ext>
            </a:extLst>
          </p:cNvPr>
          <p:cNvSpPr/>
          <p:nvPr/>
        </p:nvSpPr>
        <p:spPr>
          <a:xfrm>
            <a:off x="1623375" y="4583558"/>
            <a:ext cx="3890134" cy="211727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2?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993155-0770-7E2C-3089-CF9E5F7BCCFE}"/>
              </a:ext>
            </a:extLst>
          </p:cNvPr>
          <p:cNvSpPr/>
          <p:nvPr/>
        </p:nvSpPr>
        <p:spPr>
          <a:xfrm>
            <a:off x="5735960" y="2391848"/>
            <a:ext cx="4248472" cy="430898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3?</a:t>
            </a:r>
          </a:p>
        </p:txBody>
      </p:sp>
    </p:spTree>
    <p:extLst>
      <p:ext uri="{BB962C8B-B14F-4D97-AF65-F5344CB8AC3E}">
        <p14:creationId xmlns:p14="http://schemas.microsoft.com/office/powerpoint/2010/main" val="2993197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9G – Y1 Pages 197-198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634708B-049B-B977-9EA3-3E8AB2C41516}"/>
              </a:ext>
            </a:extLst>
          </p:cNvPr>
          <p:cNvGrpSpPr/>
          <p:nvPr/>
        </p:nvGrpSpPr>
        <p:grpSpPr>
          <a:xfrm>
            <a:off x="1534433" y="586565"/>
            <a:ext cx="7079607" cy="1710905"/>
            <a:chOff x="179512" y="620688"/>
            <a:chExt cx="7772400" cy="187833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C38C6DE-E5E9-0DCF-C886-7BE795185F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9512" y="620688"/>
              <a:ext cx="7772400" cy="187833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DC9B0E9-130F-4543-644B-29D251411AC7}"/>
                </a:ext>
              </a:extLst>
            </p:cNvPr>
            <p:cNvSpPr/>
            <p:nvPr/>
          </p:nvSpPr>
          <p:spPr>
            <a:xfrm>
              <a:off x="2411760" y="1700808"/>
              <a:ext cx="792088" cy="2160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966054B-8856-5755-C336-42DFC3456A7B}"/>
                </a:ext>
              </a:extLst>
            </p:cNvPr>
            <p:cNvSpPr/>
            <p:nvPr/>
          </p:nvSpPr>
          <p:spPr>
            <a:xfrm>
              <a:off x="7092280" y="2243138"/>
              <a:ext cx="792088" cy="2160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23223147-9AA9-5249-8377-0888564449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9537" y="2502574"/>
            <a:ext cx="2949887" cy="12033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1FCC610-3449-AF87-6ACC-D9EEBB919D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9937" y="2502574"/>
            <a:ext cx="2076717" cy="679987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00CCAB7-FA01-A5C3-4795-46252C40AF88}"/>
              </a:ext>
            </a:extLst>
          </p:cNvPr>
          <p:cNvSpPr/>
          <p:nvPr/>
        </p:nvSpPr>
        <p:spPr>
          <a:xfrm>
            <a:off x="1886964" y="2382304"/>
            <a:ext cx="3187272" cy="173472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C9485F-2F95-EA53-D57F-CD4F7AA026CE}"/>
              </a:ext>
            </a:extLst>
          </p:cNvPr>
          <p:cNvSpPr/>
          <p:nvPr/>
        </p:nvSpPr>
        <p:spPr>
          <a:xfrm>
            <a:off x="6240016" y="4112951"/>
            <a:ext cx="3187272" cy="173472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</p:spTree>
    <p:extLst>
      <p:ext uri="{BB962C8B-B14F-4D97-AF65-F5344CB8AC3E}">
        <p14:creationId xmlns:p14="http://schemas.microsoft.com/office/powerpoint/2010/main" val="1099589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9G – Y1 Pages 197-198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2C99637-426F-547C-620B-946021F85403}"/>
              </a:ext>
            </a:extLst>
          </p:cNvPr>
          <p:cNvGrpSpPr/>
          <p:nvPr/>
        </p:nvGrpSpPr>
        <p:grpSpPr>
          <a:xfrm>
            <a:off x="1703512" y="692697"/>
            <a:ext cx="7772400" cy="1961605"/>
            <a:chOff x="179512" y="692696"/>
            <a:chExt cx="7772400" cy="196160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485E795-EEEF-F425-2C32-5C9995DDBD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9512" y="692696"/>
              <a:ext cx="7772400" cy="1961605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FC4B1D3-751E-4BE7-491E-BEFE1A83F159}"/>
                </a:ext>
              </a:extLst>
            </p:cNvPr>
            <p:cNvSpPr/>
            <p:nvPr/>
          </p:nvSpPr>
          <p:spPr>
            <a:xfrm>
              <a:off x="2627784" y="1702311"/>
              <a:ext cx="792088" cy="2160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EC44743-68AF-D46C-EA58-C4AE6F299110}"/>
                </a:ext>
              </a:extLst>
            </p:cNvPr>
            <p:cNvSpPr/>
            <p:nvPr/>
          </p:nvSpPr>
          <p:spPr>
            <a:xfrm>
              <a:off x="1979712" y="2438277"/>
              <a:ext cx="792088" cy="2160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89564762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9G – Y1 Pages 197-198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90AE188F-96DF-D574-F3A0-99ACE93FCA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4" y="620689"/>
            <a:ext cx="7772400" cy="1291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96346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ttp://www.drfrostmaths.com/uploads/users/15949/images/img-15949-1496929053-75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0498" y="1638293"/>
            <a:ext cx="4119430" cy="2865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/>
          <p:cNvGrpSpPr/>
          <p:nvPr/>
        </p:nvGrpSpPr>
        <p:grpSpPr>
          <a:xfrm>
            <a:off x="152400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Extension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875431" y="908721"/>
                <a:ext cx="2609180" cy="28007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i="1" dirty="0"/>
                  <a:t>[MAT 2013 1B]</a:t>
                </a:r>
                <a:r>
                  <a:rPr lang="en-GB" sz="1600" dirty="0"/>
                  <a:t> The graph of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sz="1600" dirty="0"/>
                  <a:t> is reflected first in the line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GB" sz="1600" dirty="0"/>
                  <a:t> and then in the line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GB" sz="1600" dirty="0"/>
                  <a:t>. The resulting graph has equation:</a:t>
                </a:r>
              </a:p>
              <a:p>
                <a:pPr marL="342900" indent="-342900">
                  <a:buAutoNum type="alphaUcParenR"/>
                </a:pPr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endParaRPr lang="en-GB" sz="1600" dirty="0"/>
              </a:p>
              <a:p>
                <a:pPr marL="342900" indent="-342900">
                  <a:buAutoNum type="alphaUcParenR"/>
                </a:pPr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=2+</m:t>
                    </m:r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endParaRPr lang="en-GB" sz="1600" dirty="0"/>
              </a:p>
              <a:p>
                <a:pPr marL="342900" indent="-342900">
                  <a:buAutoNum type="alphaUcParenR"/>
                </a:pPr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=4+</m:t>
                    </m:r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endParaRPr lang="en-GB" sz="1600" dirty="0"/>
              </a:p>
              <a:p>
                <a:pPr marL="342900" indent="-342900">
                  <a:buAutoNum type="alphaUcParenR"/>
                </a:pPr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=2−</m:t>
                    </m:r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endParaRPr lang="en-GB" sz="1600" dirty="0"/>
              </a:p>
              <a:p>
                <a:pPr marL="342900" indent="-342900">
                  <a:buAutoNum type="alphaUcParenR"/>
                </a:pPr>
                <a:endParaRPr lang="en-GB" sz="1600" dirty="0"/>
              </a:p>
              <a:p>
                <a:r>
                  <a:rPr lang="en-GB" sz="1600" b="1" dirty="0"/>
                  <a:t>Solution: C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5431" y="908721"/>
                <a:ext cx="2609180" cy="2800767"/>
              </a:xfrm>
              <a:prstGeom prst="rect">
                <a:avLst/>
              </a:prstGeom>
              <a:blipFill>
                <a:blip r:embed="rId3"/>
                <a:stretch>
                  <a:fillRect l="-1402" t="-652" b="-17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846211" y="3696531"/>
                <a:ext cx="4405188" cy="21326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i="1" dirty="0"/>
                  <a:t>[MAT 2011 1D]</a:t>
                </a:r>
                <a:r>
                  <a:rPr lang="en-GB" sz="1600" dirty="0"/>
                  <a:t> What fraction of the interval </a:t>
                </a:r>
                <a:br>
                  <a:rPr lang="en-GB" sz="1600" dirty="0"/>
                </a:b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≤360°</m:t>
                    </m:r>
                  </m:oMath>
                </a14:m>
                <a:r>
                  <a:rPr lang="en-GB" sz="1600" dirty="0"/>
                  <a:t> is one (or both) of the inequalities: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1600" i="1">
                          <a:latin typeface="Cambria Math" panose="02040503050406030204" pitchFamily="18" charset="0"/>
                        </a:rPr>
                        <m:t>,  </m:t>
                      </m:r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br>
                  <a:rPr lang="en-GB" sz="1600" dirty="0"/>
                </a:br>
                <a:r>
                  <a:rPr lang="en-GB" sz="1600" dirty="0"/>
                  <a:t>true?</a:t>
                </a:r>
              </a:p>
              <a:p>
                <a:endParaRPr lang="en-GB" sz="1600" dirty="0"/>
              </a:p>
              <a:p>
                <a:r>
                  <a:rPr lang="en-GB" sz="1600" b="1" dirty="0"/>
                  <a:t>Solution: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𝟏𝟑</m:t>
                        </m:r>
                      </m:num>
                      <m:den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𝟐𝟒</m:t>
                        </m:r>
                      </m:den>
                    </m:f>
                  </m:oMath>
                </a14:m>
                <a:r>
                  <a:rPr lang="en-GB" sz="1600" b="1" dirty="0"/>
                  <a:t> (this is clear if you draw the graphs </a:t>
                </a:r>
                <a14:m>
                  <m:oMath xmlns:m="http://schemas.openxmlformats.org/officeDocument/2006/math">
                    <m:r>
                      <a:rPr lang="en-GB" sz="1600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1600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GB" sz="1600" b="1">
                            <a:latin typeface="Cambria Math" panose="02040503050406030204" pitchFamily="18" charset="0"/>
                          </a:rPr>
                          <m:t>𝐬𝐢𝐧</m:t>
                        </m:r>
                      </m:fName>
                      <m:e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func>
                  </m:oMath>
                </a14:m>
                <a:r>
                  <a:rPr lang="en-GB" sz="1600" b="1" dirty="0"/>
                  <a:t> and </a:t>
                </a:r>
                <a14:m>
                  <m:oMath xmlns:m="http://schemas.openxmlformats.org/officeDocument/2006/math">
                    <m:r>
                      <a:rPr lang="en-GB" sz="1600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1600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GB" sz="1600" b="1">
                            <a:latin typeface="Cambria Math" panose="02040503050406030204" pitchFamily="18" charset="0"/>
                          </a:rPr>
                          <m:t>𝐬𝐢𝐧</m:t>
                        </m:r>
                      </m:fName>
                      <m:e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func>
                  </m:oMath>
                </a14:m>
                <a:r>
                  <a:rPr lang="en-GB" sz="1600" b="1" dirty="0"/>
                  <a:t> on the same axes)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6211" y="3696531"/>
                <a:ext cx="4405188" cy="2132635"/>
              </a:xfrm>
              <a:prstGeom prst="rect">
                <a:avLst/>
              </a:prstGeom>
              <a:blipFill>
                <a:blip r:embed="rId4"/>
                <a:stretch>
                  <a:fillRect l="-831" t="-857" b="-31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6068787" y="948395"/>
                <a:ext cx="382456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i="1" dirty="0"/>
                  <a:t>[MAT 2007 1G]</a:t>
                </a:r>
                <a:r>
                  <a:rPr lang="en-GB" sz="1600" dirty="0"/>
                  <a:t> On which of the axes is a sketch of the graph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8787" y="948395"/>
                <a:ext cx="3824560" cy="830997"/>
              </a:xfrm>
              <a:prstGeom prst="rect">
                <a:avLst/>
              </a:prstGeom>
              <a:blipFill>
                <a:blip r:embed="rId5"/>
                <a:stretch>
                  <a:fillRect l="-957" t="-2206" b="-73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368405" y="4461748"/>
                <a:ext cx="4211007" cy="13946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sz="1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GB" sz="14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1400" b="1" i="1">
                            <a:latin typeface="Cambria Math" panose="02040503050406030204" pitchFamily="18" charset="0"/>
                          </a:rPr>
                          <m:t>𝒙</m:t>
                        </m:r>
                      </m:sup>
                    </m:sSup>
                  </m:oMath>
                </a14:m>
                <a:r>
                  <a:rPr lang="en-GB" sz="1400" b="1" dirty="0"/>
                  <a:t> and </a:t>
                </a:r>
                <a14:m>
                  <m:oMath xmlns:m="http://schemas.openxmlformats.org/officeDocument/2006/math">
                    <m:r>
                      <a:rPr lang="en-GB" sz="1400" b="1" i="1">
                        <a:latin typeface="Cambria Math" panose="02040503050406030204" pitchFamily="18" charset="0"/>
                      </a:rPr>
                      <m:t>𝒔</m:t>
                    </m:r>
                    <m:sSup>
                      <m:sSupPr>
                        <m:ctrlPr>
                          <a:rPr lang="en-GB" sz="1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1" i="1">
                            <a:latin typeface="Cambria Math" panose="02040503050406030204" pitchFamily="18" charset="0"/>
                          </a:rPr>
                          <m:t>𝒊𝒏</m:t>
                        </m:r>
                      </m:e>
                      <m:sup>
                        <m:r>
                          <a:rPr lang="en-GB" sz="14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GB" sz="1400" b="1" dirty="0"/>
                  <a:t> are always positive eliminating (b). When </a:t>
                </a:r>
                <a14:m>
                  <m:oMath xmlns:m="http://schemas.openxmlformats.org/officeDocument/2006/math">
                    <m:r>
                      <a:rPr lang="en-GB" sz="14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GB" sz="1400" b="1" dirty="0"/>
                  <a:t> eliminating (d). Multiplying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GB" sz="14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1400" b="1" i="1">
                            <a:latin typeface="Cambria Math" panose="02040503050406030204" pitchFamily="18" charset="0"/>
                          </a:rPr>
                          <m:t>𝒙</m:t>
                        </m:r>
                      </m:sup>
                    </m:sSup>
                  </m:oMath>
                </a14:m>
                <a:r>
                  <a:rPr lang="en-GB" sz="1400" b="1" dirty="0"/>
                  <a:t> causes the amplitude of the peaks to go down as </a:t>
                </a:r>
                <a14:m>
                  <m:oMath xmlns:m="http://schemas.openxmlformats.org/officeDocument/2006/math">
                    <m:r>
                      <a:rPr lang="en-GB" sz="1400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sz="1400" b="1" dirty="0"/>
                  <a:t> increases.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GB" sz="14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GB" sz="1400" b="1" dirty="0"/>
                  <a:t> increases more rapidly as </a:t>
                </a:r>
                <a14:m>
                  <m:oMath xmlns:m="http://schemas.openxmlformats.org/officeDocument/2006/math">
                    <m:r>
                      <a:rPr lang="en-GB" sz="1400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sz="1400" b="1" dirty="0"/>
                  <a:t> increases, hence reducing the wavelength (i.e. distance between peaks). The answer is therefore (a).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8405" y="4461748"/>
                <a:ext cx="4211007" cy="1394613"/>
              </a:xfrm>
              <a:prstGeom prst="rect">
                <a:avLst/>
              </a:prstGeom>
              <a:blipFill>
                <a:blip r:embed="rId6"/>
                <a:stretch>
                  <a:fillRect l="-435" t="-437" b="-34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1894743" y="5134849"/>
            <a:ext cx="4102036" cy="70068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14103" y="3283375"/>
            <a:ext cx="2134703" cy="40679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28018" y="4504277"/>
            <a:ext cx="4087599" cy="13323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76281" y="971352"/>
            <a:ext cx="268672" cy="30824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55407" y="3759325"/>
            <a:ext cx="268672" cy="30824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80678" y="964743"/>
            <a:ext cx="268672" cy="30824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860551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APPENDIX :: Proof of Cosine Rule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cxnSp>
        <p:nvCxnSpPr>
          <p:cNvPr id="6" name="Straight Connector 5"/>
          <p:cNvCxnSpPr/>
          <p:nvPr/>
        </p:nvCxnSpPr>
        <p:spPr>
          <a:xfrm>
            <a:off x="3686335" y="3286111"/>
            <a:ext cx="417646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6456041" y="908721"/>
            <a:ext cx="1406759" cy="23773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3686336" y="908719"/>
            <a:ext cx="2769705" cy="23773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6456041" y="908719"/>
            <a:ext cx="1" cy="2377393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6456040" y="2996952"/>
            <a:ext cx="28803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6744072" y="2996952"/>
            <a:ext cx="1" cy="2891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4906182" y="1567425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6182" y="1567425"/>
                <a:ext cx="36004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7159419" y="1728082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9419" y="1728082"/>
                <a:ext cx="36004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6424142" y="2065170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4142" y="2065170"/>
                <a:ext cx="36004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4977273" y="3286110"/>
                <a:ext cx="8210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7273" y="3286110"/>
                <a:ext cx="82101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6748912" y="3246024"/>
                <a:ext cx="8210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8912" y="3246024"/>
                <a:ext cx="82101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2063552" y="1052737"/>
                <a:ext cx="266429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We want to use Pythagoras, so split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dirty="0"/>
                  <a:t> into two so that we get two right-angled triangles.</a:t>
                </a: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3552" y="1052737"/>
                <a:ext cx="2664296" cy="1200329"/>
              </a:xfrm>
              <a:prstGeom prst="rect">
                <a:avLst/>
              </a:prstGeom>
              <a:blipFill>
                <a:blip r:embed="rId7"/>
                <a:stretch>
                  <a:fillRect l="-2059" t="-3046" b="-71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234412" y="4040891"/>
                <a:ext cx="5722033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By Pythagoras: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dirty="0"/>
              </a:p>
              <a:p>
                <a:r>
                  <a:rPr lang="en-GB" dirty="0"/>
                  <a:t>Subtracting to eliminate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GB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𝑐𝑥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But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𝑏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func>
                    <m:r>
                      <a:rPr lang="en-GB" i="1">
                        <a:latin typeface="Cambria Math" panose="02040503050406030204" pitchFamily="18" charset="0"/>
                      </a:rPr>
                      <m:t>∴</m:t>
                    </m:r>
                  </m:oMath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𝑏𝑐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4412" y="4040891"/>
                <a:ext cx="5722033" cy="1754326"/>
              </a:xfrm>
              <a:prstGeom prst="rect">
                <a:avLst/>
              </a:prstGeom>
              <a:blipFill>
                <a:blip r:embed="rId8"/>
                <a:stretch>
                  <a:fillRect l="-959" t="-20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3323876" y="3141531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3876" y="3141531"/>
                <a:ext cx="36004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Freeform: Shape 29"/>
          <p:cNvSpPr/>
          <p:nvPr/>
        </p:nvSpPr>
        <p:spPr>
          <a:xfrm>
            <a:off x="4107713" y="2902688"/>
            <a:ext cx="172483" cy="382772"/>
          </a:xfrm>
          <a:custGeom>
            <a:avLst/>
            <a:gdLst>
              <a:gd name="connsiteX0" fmla="*/ 0 w 172483"/>
              <a:gd name="connsiteY0" fmla="*/ 0 h 382772"/>
              <a:gd name="connsiteX1" fmla="*/ 148855 w 172483"/>
              <a:gd name="connsiteY1" fmla="*/ 212652 h 382772"/>
              <a:gd name="connsiteX2" fmla="*/ 170121 w 172483"/>
              <a:gd name="connsiteY2" fmla="*/ 382772 h 382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2483" h="382772">
                <a:moveTo>
                  <a:pt x="0" y="0"/>
                </a:moveTo>
                <a:cubicBezTo>
                  <a:pt x="60251" y="74428"/>
                  <a:pt x="120502" y="148857"/>
                  <a:pt x="148855" y="212652"/>
                </a:cubicBezTo>
                <a:cubicBezTo>
                  <a:pt x="177209" y="276447"/>
                  <a:pt x="173665" y="329609"/>
                  <a:pt x="170121" y="382772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032436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APPENDIX :: Proof of Sine Rule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cxnSp>
        <p:nvCxnSpPr>
          <p:cNvPr id="6" name="Straight Connector 5"/>
          <p:cNvCxnSpPr/>
          <p:nvPr/>
        </p:nvCxnSpPr>
        <p:spPr>
          <a:xfrm>
            <a:off x="5158393" y="3562086"/>
            <a:ext cx="417646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7928099" y="1184696"/>
            <a:ext cx="1406759" cy="23773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5158394" y="1184694"/>
            <a:ext cx="2769705" cy="23773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7928099" y="1184694"/>
            <a:ext cx="1" cy="2377393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7928098" y="3272927"/>
            <a:ext cx="28803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8216130" y="3272927"/>
            <a:ext cx="1" cy="2891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6378240" y="1843400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8240" y="1843400"/>
                <a:ext cx="36004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8631477" y="2004057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1477" y="2004057"/>
                <a:ext cx="36004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7896200" y="2341145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6200" y="2341145"/>
                <a:ext cx="36004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6927796" y="3753471"/>
                <a:ext cx="8210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7796" y="3753471"/>
                <a:ext cx="82101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1999756" y="1105899"/>
                <a:ext cx="3206008" cy="147732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/>
                  <a:t>The idea is that we can use the common length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>
                        <a:latin typeface="Cambria Math" panose="02040503050406030204" pitchFamily="18" charset="0"/>
                      </a:rPr>
                      <m:t>Δ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𝐴𝐶𝑋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𝑋𝐵𝐶</m:t>
                    </m:r>
                  </m:oMath>
                </a14:m>
                <a:r>
                  <a:rPr lang="en-GB" dirty="0"/>
                  <a:t>, i.e.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GB" dirty="0"/>
                  <a:t>, to connect the two triangles, and therefore connect their angles/length.</a:t>
                </a: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9756" y="1105899"/>
                <a:ext cx="3206008" cy="1477328"/>
              </a:xfrm>
              <a:prstGeom prst="rect">
                <a:avLst/>
              </a:prstGeom>
              <a:blipFill>
                <a:blip r:embed="rId6"/>
                <a:stretch>
                  <a:fillRect l="-1132" t="-1215" b="-445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079346" y="4490234"/>
                <a:ext cx="5722033" cy="14492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Using basic trigonometry:</a:t>
                </a:r>
              </a:p>
              <a:p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𝑎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func>
                  </m:oMath>
                </a14:m>
                <a:r>
                  <a:rPr lang="en-GB" dirty="0"/>
                  <a:t>       and   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𝑏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func>
                  </m:oMath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𝑎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𝑏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∴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func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9346" y="4490234"/>
                <a:ext cx="5722033" cy="1449243"/>
              </a:xfrm>
              <a:prstGeom prst="rect">
                <a:avLst/>
              </a:prstGeom>
              <a:blipFill>
                <a:blip r:embed="rId7"/>
                <a:stretch>
                  <a:fillRect l="-852" t="-25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4795934" y="3417506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5934" y="3417506"/>
                <a:ext cx="36004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/>
          <p:nvPr/>
        </p:nvCxnSpPr>
        <p:spPr>
          <a:xfrm>
            <a:off x="5155974" y="3850634"/>
            <a:ext cx="406826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9345126" y="3386258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5126" y="3386258"/>
                <a:ext cx="36004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7917829" y="955349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7829" y="955349"/>
                <a:ext cx="360040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7743971" y="3527715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3971" y="3527715"/>
                <a:ext cx="36004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49544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bg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29882</TotalTime>
  <Words>3974</Words>
  <Application>Microsoft Macintosh PowerPoint</Application>
  <PresentationFormat>Widescreen</PresentationFormat>
  <Paragraphs>766</Paragraphs>
  <Slides>58</Slides>
  <Notes>0</Notes>
  <HiddenSlides>2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4" baseType="lpstr">
      <vt:lpstr>Arial</vt:lpstr>
      <vt:lpstr>Calibri</vt:lpstr>
      <vt:lpstr>Cambria Math</vt:lpstr>
      <vt:lpstr>Wingdings</vt:lpstr>
      <vt:lpstr>Office Theme</vt:lpstr>
      <vt:lpstr>Bitmap Image</vt:lpstr>
      <vt:lpstr>Y1 Chapter 9 Trigonometric Ratios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A Lamagna</cp:lastModifiedBy>
  <cp:revision>1117</cp:revision>
  <dcterms:created xsi:type="dcterms:W3CDTF">2013-02-28T07:36:55Z</dcterms:created>
  <dcterms:modified xsi:type="dcterms:W3CDTF">2023-11-07T18:27:51Z</dcterms:modified>
</cp:coreProperties>
</file>