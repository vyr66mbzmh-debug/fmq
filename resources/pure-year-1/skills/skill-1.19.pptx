
<file path=[Content_Types].xml><?xml version="1.0" encoding="utf-8"?>
<ns0:Types xmlns:ns0="http://schemas.openxmlformats.org/package/2006/content-types">
  <ns0:Default Extension="emf" ContentType="image/x-emf"/>
  <ns0:Default Extension="png" ContentType="image/png"/>
  <ns0:Default Extension="rels" ContentType="application/vnd.openxmlformats-package.relationships+xml"/>
  <ns0:Default Extension="xml" ContentType="application/xml"/>
  <ns0:Override PartName="/ppt/c4/ppt/slideMasters/slideMaster1.xml" ContentType="application/vnd.openxmlformats-officedocument.presentationml.slideMaster+xml"/>
  <ns0:Override PartName="/ppt/c4/ppt/slides/slide34.xml" ContentType="application/vnd.openxmlformats-officedocument.presentationml.slide+xml"/>
  <ns0:Override PartName="/ppt/c4/ppt/slides/slide35.xml" ContentType="application/vnd.openxmlformats-officedocument.presentationml.slide+xml"/>
  <ns0:Override PartName="/ppt/c4/ppt/slides/slide36.xml" ContentType="application/vnd.openxmlformats-officedocument.presentationml.slide+xml"/>
  <ns0:Override PartName="/ppt/c4/ppt/slides/slide37.xml" ContentType="application/vnd.openxmlformats-officedocument.presentationml.slide+xml"/>
  <ns0:Override PartName="/ppt/c4/ppt/slides/slide38.xml" ContentType="application/vnd.openxmlformats-officedocument.presentationml.slide+xml"/>
  <ns0:Override PartName="/ppt/c4/ppt/slides/slide39.xml" ContentType="application/vnd.openxmlformats-officedocument.presentationml.slide+xml"/>
  <ns0:Override PartName="/ppt/c4/ppt/slides/slide40.xml" ContentType="application/vnd.openxmlformats-officedocument.presentationml.slide+xml"/>
  <ns0:Override PartName="/ppt/c4/ppt/slides/slide41.xml" ContentType="application/vnd.openxmlformats-officedocument.presentationml.slide+xml"/>
  <ns0:Override PartName="/ppt/c4/ppt/slides/slide42.xml" ContentType="application/vnd.openxmlformats-officedocument.presentationml.slide+xml"/>
  <ns0:Override PartName="/ppt/c4/ppt/slides/slide43.xml" ContentType="application/vnd.openxmlformats-officedocument.presentationml.slide+xml"/>
  <ns0:Override PartName="/ppt/c4/ppt/slides/slide44.xml" ContentType="application/vnd.openxmlformats-officedocument.presentationml.slide+xml"/>
  <ns0:Override PartName="/ppt/c4/ppt/slides/slide45.xml" ContentType="application/vnd.openxmlformats-officedocument.presentationml.slide+xml"/>
  <ns0:Override PartName="/ppt/c4/ppt/slides/slide46.xml" ContentType="application/vnd.openxmlformats-officedocument.presentationml.slide+xml"/>
  <ns0:Override PartName="/ppt/c4/ppt/slides/slide47.xml" ContentType="application/vnd.openxmlformats-officedocument.presentationml.slide+xml"/>
  <ns0:Override PartName="/ppt/c4/ppt/slides/slide48.xml" ContentType="application/vnd.openxmlformats-officedocument.presentationml.slide+xml"/>
  <ns0:Override PartName="/ppt/c4/ppt/notesMasters/notesMaster1.xml" ContentType="application/vnd.openxmlformats-officedocument.presentationml.notesMaster+xml"/>
  <ns0:Override PartName="/ppt/c4/ppt/theme/theme1.xml" ContentType="application/vnd.openxmlformats-officedocument.theme+xml"/>
  <ns0:Override PartName="/ppt/c4/ppt/slideLayouts/slideLayout1.xml" ContentType="application/vnd.openxmlformats-officedocument.presentationml.slideLayout+xml"/>
  <ns0:Override PartName="/ppt/c4/ppt/slideLayouts/slideLayout2.xml" ContentType="application/vnd.openxmlformats-officedocument.presentationml.slideLayout+xml"/>
  <ns0:Override PartName="/ppt/c4/ppt/slideLayouts/slideLayout3.xml" ContentType="application/vnd.openxmlformats-officedocument.presentationml.slideLayout+xml"/>
  <ns0:Override PartName="/ppt/c4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048" r:id="rId16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4/ppt/slides/slide34.xml" /><ns0:Relationship Id="rId2" Type="http://schemas.openxmlformats.org/officeDocument/2006/relationships/slide" Target="c4/ppt/slides/slide35.xml" /><ns0:Relationship Id="rId3" Type="http://schemas.openxmlformats.org/officeDocument/2006/relationships/slide" Target="c4/ppt/slides/slide36.xml" /><ns0:Relationship Id="rId4" Type="http://schemas.openxmlformats.org/officeDocument/2006/relationships/slide" Target="c4/ppt/slides/slide37.xml" /><ns0:Relationship Id="rId5" Type="http://schemas.openxmlformats.org/officeDocument/2006/relationships/slide" Target="c4/ppt/slides/slide38.xml" /><ns0:Relationship Id="rId6" Type="http://schemas.openxmlformats.org/officeDocument/2006/relationships/slide" Target="c4/ppt/slides/slide39.xml" /><ns0:Relationship Id="rId7" Type="http://schemas.openxmlformats.org/officeDocument/2006/relationships/slide" Target="c4/ppt/slides/slide40.xml" /><ns0:Relationship Id="rId8" Type="http://schemas.openxmlformats.org/officeDocument/2006/relationships/slide" Target="c4/ppt/slides/slide41.xml" /><ns0:Relationship Id="rId9" Type="http://schemas.openxmlformats.org/officeDocument/2006/relationships/slide" Target="c4/ppt/slides/slide42.xml" /><ns0:Relationship Id="rId10" Type="http://schemas.openxmlformats.org/officeDocument/2006/relationships/slide" Target="c4/ppt/slides/slide43.xml" /><ns0:Relationship Id="rId11" Type="http://schemas.openxmlformats.org/officeDocument/2006/relationships/slide" Target="c4/ppt/slides/slide44.xml" /><ns0:Relationship Id="rId12" Type="http://schemas.openxmlformats.org/officeDocument/2006/relationships/slide" Target="c4/ppt/slides/slide45.xml" /><ns0:Relationship Id="rId13" Type="http://schemas.openxmlformats.org/officeDocument/2006/relationships/slide" Target="c4/ppt/slides/slide46.xml" /><ns0:Relationship Id="rId14" Type="http://schemas.openxmlformats.org/officeDocument/2006/relationships/slide" Target="c4/ppt/slides/slide47.xml" /><ns0:Relationship Id="rId15" Type="http://schemas.openxmlformats.org/officeDocument/2006/relationships/slide" Target="c4/ppt/slides/slide48.xml" /><ns0:Relationship Id="rId16" Type="http://schemas.openxmlformats.org/officeDocument/2006/relationships/slideMaster" Target="c4/ppt/slideMasters/slideMaster1.xml" /><ns0:Relationship Id="rId17" Type="http://schemas.openxmlformats.org/officeDocument/2006/relationships/notesMaster" Target="c4/ppt/notesMasters/notesMaster1.xml" /></ns0:Relationships>
</file>

<file path=ppt/c4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4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13/10/2026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4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4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4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4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90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539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2F630-5B3C-7CD4-714F-EBE8672B649B}"/>
              </a:ext>
            </a:extLst>
          </p:cNvPr>
          <p:cNvSpPr/>
          <p:nvPr userDrawn="1"/>
        </p:nvSpPr>
        <p:spPr>
          <a:xfrm>
            <a:off x="8428871" y="188640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62"/>
          </a:p>
        </p:txBody>
      </p:sp>
    </p:spTree>
    <p:extLst>
      <p:ext uri="{BB962C8B-B14F-4D97-AF65-F5344CB8AC3E}">
        <p14:creationId xmlns:p14="http://schemas.microsoft.com/office/powerpoint/2010/main" val="2805543805"/>
      </p:ext>
    </p:extLst>
  </p:cSld>
  <p:clrMapOvr>
    <a:masterClrMapping/>
  </p:clrMapOvr>
</p:sldLayout>
</file>

<file path=ppt/c4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13/10/2026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236634"/>
      </p:ext>
    </p:extLst>
  </p:cSld>
  <p:clrMapOvr>
    <a:masterClrMapping/>
  </p:clrMapOvr>
</p:sldLayout>
</file>

<file path=ppt/c4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612116"/>
      </p:ext>
    </p:extLst>
  </p:cSld>
  <p:clrMapOvr>
    <a:masterClrMapping/>
  </p:clrMapOvr>
</p:sldLayout>
</file>

<file path=ppt/c4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4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2ED294D-B0C8-4542-E684-B53C7860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126"/>
            <a:ext cx="82296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5F76BD1-7557-D06F-3AB0-B42B271D5D21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32923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477" i="0" smtClean="0">
                <a:solidFill>
                  <a:schemeClr val="bg1"/>
                </a:solidFill>
              </a:rPr>
              <a:pPr algn="r"/>
              <a:t>‹#›</a:t>
            </a:fld>
            <a:endParaRPr lang="en-GB" sz="1477" i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49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</p:sldLayoutIdLst>
  <p:txStyles>
    <p:titleStyle>
      <a:lvl1pPr algn="ctr" defTabSz="844083" rtl="0" eaLnBrk="1" latinLnBrk="0" hangingPunct="1"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31" indent="-316531" algn="l" defTabSz="844083" rtl="0" eaLnBrk="1" latinLnBrk="0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defTabSz="844083" rtl="0" eaLnBrk="1" latinLnBrk="0" hangingPunct="1">
        <a:spcBef>
          <a:spcPct val="20000"/>
        </a:spcBef>
        <a:buFont typeface="Arial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0" hangingPunct="1">
        <a:spcBef>
          <a:spcPct val="20000"/>
        </a:spcBef>
        <a:buFont typeface="Arial" pitchFamily="34" charset="0"/>
        <a:buChar char="–"/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0" hangingPunct="1">
        <a:spcBef>
          <a:spcPct val="20000"/>
        </a:spcBef>
        <a:buFont typeface="Arial" pitchFamily="34" charset="0"/>
        <a:buChar char="»"/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4/ppt/slides/_rels/slide34.xml.rels><?xml version='1.0' encoding='utf-8'?>
<ns0:Relationships xmlns:ns0="http://schemas.openxmlformats.org/package/2006/relationships"><ns0:Relationship Id="rId8" Type="http://schemas.openxmlformats.org/officeDocument/2006/relationships/image" Target="../media/image201.png" /><ns0:Relationship Id="rId3" Type="http://schemas.openxmlformats.org/officeDocument/2006/relationships/image" Target="../media/image196.png" /><ns0:Relationship Id="rId7" Type="http://schemas.openxmlformats.org/officeDocument/2006/relationships/image" Target="../media/image200.png" /><ns0:Relationship Id="rId12" Type="http://schemas.openxmlformats.org/officeDocument/2006/relationships/image" Target="../media/image205.png" /><ns0:Relationship Id="rId2" Type="http://schemas.openxmlformats.org/officeDocument/2006/relationships/image" Target="../media/image195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99.png" /><ns0:Relationship Id="rId11" Type="http://schemas.openxmlformats.org/officeDocument/2006/relationships/image" Target="../media/image204.png" /><ns0:Relationship Id="rId5" Type="http://schemas.openxmlformats.org/officeDocument/2006/relationships/image" Target="../media/image198.png" /><ns0:Relationship Id="rId10" Type="http://schemas.openxmlformats.org/officeDocument/2006/relationships/image" Target="../media/image203.png" /><ns0:Relationship Id="rId4" Type="http://schemas.openxmlformats.org/officeDocument/2006/relationships/image" Target="../media/image197.png" /><ns0:Relationship Id="rId9" Type="http://schemas.openxmlformats.org/officeDocument/2006/relationships/image" Target="../media/image202.png" /></ns0:Relationships>
</file>

<file path=ppt/c4/ppt/slides/_rels/slide35.xml.rels><?xml version='1.0' encoding='utf-8'?>
<ns0:Relationships xmlns:ns0="http://schemas.openxmlformats.org/package/2006/relationships"><ns0:Relationship Id="rId8" Type="http://schemas.openxmlformats.org/officeDocument/2006/relationships/image" Target="../media/image212.png" /><ns0:Relationship Id="rId13" Type="http://schemas.openxmlformats.org/officeDocument/2006/relationships/image" Target="../media/image217.png" /><ns0:Relationship Id="rId3" Type="http://schemas.openxmlformats.org/officeDocument/2006/relationships/image" Target="../media/image207.png" /><ns0:Relationship Id="rId7" Type="http://schemas.openxmlformats.org/officeDocument/2006/relationships/image" Target="../media/image211.png" /><ns0:Relationship Id="rId12" Type="http://schemas.openxmlformats.org/officeDocument/2006/relationships/image" Target="../media/image216.png" /><ns0:Relationship Id="rId2" Type="http://schemas.openxmlformats.org/officeDocument/2006/relationships/image" Target="../media/image206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10.png" /><ns0:Relationship Id="rId11" Type="http://schemas.openxmlformats.org/officeDocument/2006/relationships/image" Target="../media/image215.png" /><ns0:Relationship Id="rId5" Type="http://schemas.openxmlformats.org/officeDocument/2006/relationships/image" Target="../media/image209.png" /><ns0:Relationship Id="rId10" Type="http://schemas.openxmlformats.org/officeDocument/2006/relationships/image" Target="../media/image214.png" /><ns0:Relationship Id="rId4" Type="http://schemas.openxmlformats.org/officeDocument/2006/relationships/image" Target="../media/image208.png" /><ns0:Relationship Id="rId9" Type="http://schemas.openxmlformats.org/officeDocument/2006/relationships/image" Target="../media/image213.png" /></ns0:Relationships>
</file>

<file path=ppt/c4/ppt/slides/_rels/slide36.xml.rels><?xml version='1.0' encoding='utf-8'?>
<ns0:Relationships xmlns:ns0="http://schemas.openxmlformats.org/package/2006/relationships"><ns0:Relationship Id="rId8" Type="http://schemas.openxmlformats.org/officeDocument/2006/relationships/image" Target="../media/image224.png" /><ns0:Relationship Id="rId3" Type="http://schemas.openxmlformats.org/officeDocument/2006/relationships/image" Target="../media/image219.png" /><ns0:Relationship Id="rId7" Type="http://schemas.openxmlformats.org/officeDocument/2006/relationships/image" Target="../media/image223.png" /><ns0:Relationship Id="rId2" Type="http://schemas.openxmlformats.org/officeDocument/2006/relationships/image" Target="../media/image218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22.png" /><ns0:Relationship Id="rId5" Type="http://schemas.openxmlformats.org/officeDocument/2006/relationships/image" Target="../media/image221.png" /><ns0:Relationship Id="rId10" Type="http://schemas.openxmlformats.org/officeDocument/2006/relationships/image" Target="../media/image226.png" /><ns0:Relationship Id="rId4" Type="http://schemas.openxmlformats.org/officeDocument/2006/relationships/image" Target="../media/image220.png" /><ns0:Relationship Id="rId9" Type="http://schemas.openxmlformats.org/officeDocument/2006/relationships/image" Target="../media/image225.png" /></ns0:Relationships>
</file>

<file path=ppt/c4/ppt/slides/_rels/slide37.xml.rels><?xml version='1.0' encoding='utf-8'?>
<ns0:Relationships xmlns:ns0="http://schemas.openxmlformats.org/package/2006/relationships"><ns0:Relationship Id="rId8" Type="http://schemas.openxmlformats.org/officeDocument/2006/relationships/image" Target="../media/image233.png" /><ns0:Relationship Id="rId13" Type="http://schemas.openxmlformats.org/officeDocument/2006/relationships/image" Target="../media/image238.png" /><ns0:Relationship Id="rId3" Type="http://schemas.openxmlformats.org/officeDocument/2006/relationships/image" Target="../media/image228.png" /><ns0:Relationship Id="rId7" Type="http://schemas.openxmlformats.org/officeDocument/2006/relationships/image" Target="../media/image232.png" /><ns0:Relationship Id="rId12" Type="http://schemas.openxmlformats.org/officeDocument/2006/relationships/image" Target="../media/image237.png" /><ns0:Relationship Id="rId17" Type="http://schemas.openxmlformats.org/officeDocument/2006/relationships/image" Target="../media/image242.png" /><ns0:Relationship Id="rId2" Type="http://schemas.openxmlformats.org/officeDocument/2006/relationships/image" Target="../media/image227.png" /><ns0:Relationship Id="rId16" Type="http://schemas.openxmlformats.org/officeDocument/2006/relationships/image" Target="../media/image24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31.png" /><ns0:Relationship Id="rId11" Type="http://schemas.openxmlformats.org/officeDocument/2006/relationships/image" Target="../media/image236.png" /><ns0:Relationship Id="rId5" Type="http://schemas.openxmlformats.org/officeDocument/2006/relationships/image" Target="../media/image230.png" /><ns0:Relationship Id="rId15" Type="http://schemas.openxmlformats.org/officeDocument/2006/relationships/image" Target="../media/image240.png" /><ns0:Relationship Id="rId10" Type="http://schemas.openxmlformats.org/officeDocument/2006/relationships/image" Target="../media/image235.png" /><ns0:Relationship Id="rId4" Type="http://schemas.openxmlformats.org/officeDocument/2006/relationships/image" Target="../media/image229.png" /><ns0:Relationship Id="rId9" Type="http://schemas.openxmlformats.org/officeDocument/2006/relationships/image" Target="../media/image234.png" /><ns0:Relationship Id="rId14" Type="http://schemas.openxmlformats.org/officeDocument/2006/relationships/image" Target="../media/image239.png" /></ns0:Relationships>
</file>

<file path=ppt/c4/ppt/slides/_rels/slide38.xml.rels><?xml version='1.0' encoding='utf-8'?>
<ns0:Relationships xmlns:ns0="http://schemas.openxmlformats.org/package/2006/relationships"><ns0:Relationship Id="rId3" Type="http://schemas.openxmlformats.org/officeDocument/2006/relationships/image" Target="../media/image244.png" /><ns0:Relationship Id="rId7" Type="http://schemas.openxmlformats.org/officeDocument/2006/relationships/image" Target="../media/image248.png" /><ns0:Relationship Id="rId2" Type="http://schemas.openxmlformats.org/officeDocument/2006/relationships/image" Target="../media/image243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47.png" /><ns0:Relationship Id="rId5" Type="http://schemas.openxmlformats.org/officeDocument/2006/relationships/image" Target="../media/image246.png" /><ns0:Relationship Id="rId4" Type="http://schemas.openxmlformats.org/officeDocument/2006/relationships/image" Target="../media/image245.png" /></ns0:Relationships>
</file>

<file path=ppt/c4/ppt/slides/_rels/slide39.xml.rels><?xml version='1.0' encoding='utf-8'?>
<ns0:Relationships xmlns:ns0="http://schemas.openxmlformats.org/package/2006/relationships"><ns0:Relationship Id="rId8" Type="http://schemas.openxmlformats.org/officeDocument/2006/relationships/image" Target="../media/image254.png" /><ns0:Relationship Id="rId3" Type="http://schemas.openxmlformats.org/officeDocument/2006/relationships/image" Target="../media/image250.png" /><ns0:Relationship Id="rId7" Type="http://schemas.openxmlformats.org/officeDocument/2006/relationships/image" Target="../media/image253.png" /><ns0:Relationship Id="rId2" Type="http://schemas.openxmlformats.org/officeDocument/2006/relationships/image" Target="../media/image249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39.png" /><ns0:Relationship Id="rId5" Type="http://schemas.openxmlformats.org/officeDocument/2006/relationships/image" Target="../media/image252.png" /><ns0:Relationship Id="rId10" Type="http://schemas.openxmlformats.org/officeDocument/2006/relationships/image" Target="../media/image256.png" /><ns0:Relationship Id="rId4" Type="http://schemas.openxmlformats.org/officeDocument/2006/relationships/image" Target="../media/image251.png" /><ns0:Relationship Id="rId9" Type="http://schemas.openxmlformats.org/officeDocument/2006/relationships/image" Target="../media/image255.png" /></ns0:Relationships>
</file>

<file path=ppt/c4/ppt/slides/_rels/slide40.xml.rels><?xml version='1.0' encoding='utf-8'?>
<ns0:Relationships xmlns:ns0="http://schemas.openxmlformats.org/package/2006/relationships"><ns0:Relationship Id="rId3" Type="http://schemas.openxmlformats.org/officeDocument/2006/relationships/image" Target="../media/image258.png" /><ns0:Relationship Id="rId2" Type="http://schemas.openxmlformats.org/officeDocument/2006/relationships/image" Target="../media/image25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61.png" /><ns0:Relationship Id="rId5" Type="http://schemas.openxmlformats.org/officeDocument/2006/relationships/image" Target="../media/image260.png" /><ns0:Relationship Id="rId4" Type="http://schemas.openxmlformats.org/officeDocument/2006/relationships/image" Target="../media/image259.png" /></ns0:Relationships>
</file>

<file path=ppt/c4/ppt/slides/_rels/slide41.xml.rels><?xml version='1.0' encoding='utf-8'?>
<ns0:Relationships xmlns:ns0="http://schemas.openxmlformats.org/package/2006/relationships"><ns0:Relationship Id="rId3" Type="http://schemas.openxmlformats.org/officeDocument/2006/relationships/image" Target="../media/image263.png" /><ns0:Relationship Id="rId2" Type="http://schemas.openxmlformats.org/officeDocument/2006/relationships/image" Target="../media/image262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264.png" /></ns0:Relationships>
</file>

<file path=ppt/c4/ppt/slides/_rels/slide42.xml.rels><?xml version='1.0' encoding='utf-8'?>
<ns0:Relationships xmlns:ns0="http://schemas.openxmlformats.org/package/2006/relationships"><ns0:Relationship Id="rId3" Type="http://schemas.openxmlformats.org/officeDocument/2006/relationships/image" Target="../media/image266.png" /><ns0:Relationship Id="rId2" Type="http://schemas.openxmlformats.org/officeDocument/2006/relationships/image" Target="../media/image265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267.png" /></ns0:Relationships>
</file>

<file path=ppt/c4/ppt/slides/_rels/slide43.xml.rels><?xml version='1.0' encoding='utf-8'?>
<ns0:Relationships xmlns:ns0="http://schemas.openxmlformats.org/package/2006/relationships"><ns0:Relationship Id="rId3" Type="http://schemas.openxmlformats.org/officeDocument/2006/relationships/image" Target="../media/image269.png" /><ns0:Relationship Id="rId2" Type="http://schemas.openxmlformats.org/officeDocument/2006/relationships/image" Target="../media/image268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72.png" /><ns0:Relationship Id="rId5" Type="http://schemas.openxmlformats.org/officeDocument/2006/relationships/image" Target="../media/image271.png" /><ns0:Relationship Id="rId4" Type="http://schemas.openxmlformats.org/officeDocument/2006/relationships/image" Target="../media/image270.png" /></ns0:Relationships>
</file>

<file path=ppt/c4/ppt/slides/_rels/slide44.xml.rels><?xml version='1.0' encoding='utf-8'?>
<ns0:Relationships xmlns:ns0="http://schemas.openxmlformats.org/package/2006/relationships"><ns0:Relationship Id="rId3" Type="http://schemas.openxmlformats.org/officeDocument/2006/relationships/image" Target="../media/image274.png" /><ns0:Relationship Id="rId2" Type="http://schemas.openxmlformats.org/officeDocument/2006/relationships/image" Target="../media/image273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275.png" /></ns0:Relationships>
</file>

<file path=ppt/c4/ppt/slides/_rels/slide45.xml.rels><?xml version='1.0' encoding='utf-8'?>
<ns0:Relationships xmlns:ns0="http://schemas.openxmlformats.org/package/2006/relationships"><ns0:Relationship Id="rId2" Type="http://schemas.openxmlformats.org/officeDocument/2006/relationships/image" Target="../media/image276.png" /><ns0:Relationship Id="rId1" Type="http://schemas.openxmlformats.org/officeDocument/2006/relationships/slideLayout" Target="../slideLayouts/slideLayout2.xml" /></ns0:Relationships>
</file>

<file path=ppt/c4/ppt/slides/_rels/slide46.xml.rels><?xml version='1.0' encoding='utf-8'?>
<ns0:Relationships xmlns:ns0="http://schemas.openxmlformats.org/package/2006/relationships"><ns0:Relationship Id="rId3" Type="http://schemas.openxmlformats.org/officeDocument/2006/relationships/image" Target="../media/image278.png" /><ns0:Relationship Id="rId2" Type="http://schemas.openxmlformats.org/officeDocument/2006/relationships/image" Target="../media/image277.png" /><ns0:Relationship Id="rId1" Type="http://schemas.openxmlformats.org/officeDocument/2006/relationships/slideLayout" Target="../slideLayouts/slideLayout2.xml" /></ns0:Relationships>
</file>

<file path=ppt/c4/ppt/slides/_rels/slide47.xml.rels><?xml version='1.0' encoding='utf-8'?>
<ns0:Relationships xmlns:ns0="http://schemas.openxmlformats.org/package/2006/relationships"><ns0:Relationship Id="rId3" Type="http://schemas.openxmlformats.org/officeDocument/2006/relationships/image" Target="../media/image280.png" /><ns0:Relationship Id="rId2" Type="http://schemas.openxmlformats.org/officeDocument/2006/relationships/image" Target="../media/image279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image281.png" /></ns0:Relationships>
</file>

<file path=ppt/c4/ppt/slides/_rels/slide48.xml.rels><?xml version='1.0' encoding='utf-8'?>
<ns0:Relationships xmlns:ns0="http://schemas.openxmlformats.org/package/2006/relationships"><ns0:Relationship Id="rId8" Type="http://schemas.openxmlformats.org/officeDocument/2006/relationships/image" Target="../media/image288.png" /><ns0:Relationship Id="rId3" Type="http://schemas.openxmlformats.org/officeDocument/2006/relationships/image" Target="../media/image283.png" /><ns0:Relationship Id="rId7" Type="http://schemas.openxmlformats.org/officeDocument/2006/relationships/image" Target="../media/image287.png" /><ns0:Relationship Id="rId2" Type="http://schemas.openxmlformats.org/officeDocument/2006/relationships/image" Target="../media/image282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286.png" /><ns0:Relationship Id="rId11" Type="http://schemas.openxmlformats.org/officeDocument/2006/relationships/image" Target="../media/image291.png" /><ns0:Relationship Id="rId5" Type="http://schemas.openxmlformats.org/officeDocument/2006/relationships/image" Target="../media/image285.png" /><ns0:Relationship Id="rId10" Type="http://schemas.openxmlformats.org/officeDocument/2006/relationships/image" Target="../media/image290.png" /><ns0:Relationship Id="rId4" Type="http://schemas.openxmlformats.org/officeDocument/2006/relationships/image" Target="../media/image284.png" /><ns0:Relationship Id="rId9" Type="http://schemas.openxmlformats.org/officeDocument/2006/relationships/image" Target="../media/image289.png" /></ns0:Relationships>
</file>

<file path=ppt/c4/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Transformations of Functions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95536" y="836712"/>
                <a:ext cx="30243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/>
                  <a:t>Suppose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400" baseline="3000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36712"/>
                <a:ext cx="3024336" cy="461665"/>
              </a:xfrm>
              <a:prstGeom prst="rect">
                <a:avLst/>
              </a:prstGeom>
              <a:blipFill>
                <a:blip r:embed="rId2"/>
                <a:stretch>
                  <a:fillRect l="-3347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076056" y="836712"/>
                <a:ext cx="37444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/>
                  <a:t>Then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400" baseline="3000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836712"/>
                <a:ext cx="3744416" cy="461665"/>
              </a:xfrm>
              <a:prstGeom prst="rect">
                <a:avLst/>
              </a:prstGeom>
              <a:blipFill>
                <a:blip r:embed="rId3"/>
                <a:stretch>
                  <a:fillRect l="-2365" t="-7895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/>
          <p:cNvCxnSpPr/>
          <p:nvPr/>
        </p:nvCxnSpPr>
        <p:spPr>
          <a:xfrm>
            <a:off x="4572000" y="908720"/>
            <a:ext cx="0" cy="47525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395536" y="1988840"/>
                <a:ext cx="25202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/>
                  <a:t>Sketch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/>
                  <a:t>:</a:t>
                </a:r>
                <a:endParaRPr lang="en-GB" sz="2400" baseline="3000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988840"/>
                <a:ext cx="2520280" cy="461665"/>
              </a:xfrm>
              <a:prstGeom prst="rect">
                <a:avLst/>
              </a:prstGeom>
              <a:blipFill>
                <a:blip r:embed="rId4"/>
                <a:stretch>
                  <a:fillRect l="-4020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5076056" y="1988840"/>
                <a:ext cx="29523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/>
                  <a:t>Sketch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+2)</m:t>
                    </m:r>
                  </m:oMath>
                </a14:m>
                <a:endParaRPr lang="en-GB" sz="2400" baseline="3000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1988840"/>
                <a:ext cx="2952328" cy="461665"/>
              </a:xfrm>
              <a:prstGeom prst="rect">
                <a:avLst/>
              </a:prstGeom>
              <a:blipFill>
                <a:blip r:embed="rId5"/>
                <a:stretch>
                  <a:fillRect l="-2991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own Arrow 10"/>
          <p:cNvSpPr/>
          <p:nvPr/>
        </p:nvSpPr>
        <p:spPr>
          <a:xfrm>
            <a:off x="2051720" y="1340768"/>
            <a:ext cx="360040" cy="57606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Down Arrow 11"/>
          <p:cNvSpPr/>
          <p:nvPr/>
        </p:nvSpPr>
        <p:spPr>
          <a:xfrm>
            <a:off x="6372200" y="1340768"/>
            <a:ext cx="360040" cy="57606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827584" y="5013176"/>
            <a:ext cx="29523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267744" y="3068960"/>
            <a:ext cx="0" cy="26642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982175" y="3348888"/>
            <a:ext cx="2576223" cy="1665799"/>
          </a:xfrm>
          <a:custGeom>
            <a:avLst/>
            <a:gdLst>
              <a:gd name="connsiteX0" fmla="*/ 0 w 2576223"/>
              <a:gd name="connsiteY0" fmla="*/ 0 h 1665799"/>
              <a:gd name="connsiteX1" fmla="*/ 230588 w 2576223"/>
              <a:gd name="connsiteY1" fmla="*/ 707666 h 1665799"/>
              <a:gd name="connsiteX2" fmla="*/ 620202 w 2576223"/>
              <a:gd name="connsiteY2" fmla="*/ 1343770 h 1665799"/>
              <a:gd name="connsiteX3" fmla="*/ 1033670 w 2576223"/>
              <a:gd name="connsiteY3" fmla="*/ 1614115 h 1665799"/>
              <a:gd name="connsiteX4" fmla="*/ 1248355 w 2576223"/>
              <a:gd name="connsiteY4" fmla="*/ 1653871 h 1665799"/>
              <a:gd name="connsiteX5" fmla="*/ 1510748 w 2576223"/>
              <a:gd name="connsiteY5" fmla="*/ 1622066 h 1665799"/>
              <a:gd name="connsiteX6" fmla="*/ 1852654 w 2576223"/>
              <a:gd name="connsiteY6" fmla="*/ 1455088 h 1665799"/>
              <a:gd name="connsiteX7" fmla="*/ 2242268 w 2576223"/>
              <a:gd name="connsiteY7" fmla="*/ 1033669 h 1665799"/>
              <a:gd name="connsiteX8" fmla="*/ 2472856 w 2576223"/>
              <a:gd name="connsiteY8" fmla="*/ 453224 h 1665799"/>
              <a:gd name="connsiteX9" fmla="*/ 2576223 w 2576223"/>
              <a:gd name="connsiteY9" fmla="*/ 31805 h 1665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76223" h="1665799">
                <a:moveTo>
                  <a:pt x="0" y="0"/>
                </a:moveTo>
                <a:cubicBezTo>
                  <a:pt x="63610" y="241852"/>
                  <a:pt x="127221" y="483704"/>
                  <a:pt x="230588" y="707666"/>
                </a:cubicBezTo>
                <a:cubicBezTo>
                  <a:pt x="333955" y="931628"/>
                  <a:pt x="486355" y="1192695"/>
                  <a:pt x="620202" y="1343770"/>
                </a:cubicBezTo>
                <a:cubicBezTo>
                  <a:pt x="754049" y="1494845"/>
                  <a:pt x="928978" y="1562431"/>
                  <a:pt x="1033670" y="1614115"/>
                </a:cubicBezTo>
                <a:cubicBezTo>
                  <a:pt x="1138362" y="1665799"/>
                  <a:pt x="1168842" y="1652546"/>
                  <a:pt x="1248355" y="1653871"/>
                </a:cubicBezTo>
                <a:cubicBezTo>
                  <a:pt x="1327868" y="1655196"/>
                  <a:pt x="1410032" y="1655197"/>
                  <a:pt x="1510748" y="1622066"/>
                </a:cubicBezTo>
                <a:cubicBezTo>
                  <a:pt x="1611465" y="1588936"/>
                  <a:pt x="1730734" y="1553154"/>
                  <a:pt x="1852654" y="1455088"/>
                </a:cubicBezTo>
                <a:cubicBezTo>
                  <a:pt x="1974574" y="1357022"/>
                  <a:pt x="2138901" y="1200646"/>
                  <a:pt x="2242268" y="1033669"/>
                </a:cubicBezTo>
                <a:cubicBezTo>
                  <a:pt x="2345635" y="866692"/>
                  <a:pt x="2417197" y="620201"/>
                  <a:pt x="2472856" y="453224"/>
                </a:cubicBezTo>
                <a:cubicBezTo>
                  <a:pt x="2528515" y="286247"/>
                  <a:pt x="2552369" y="159026"/>
                  <a:pt x="2576223" y="31805"/>
                </a:cubicBezTo>
              </a:path>
            </a:pathLst>
          </a:cu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/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7904" y="479715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1720" y="278092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 rot="17864820">
                <a:off x="2699362" y="3909345"/>
                <a:ext cx="975911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baseline="3000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64820">
                <a:off x="2699362" y="3909345"/>
                <a:ext cx="975911" cy="362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>
            <a:off x="5436096" y="5013176"/>
            <a:ext cx="29523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6731114" y="3068960"/>
            <a:ext cx="0" cy="26642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5076056" y="3356992"/>
            <a:ext cx="2576223" cy="1665799"/>
          </a:xfrm>
          <a:custGeom>
            <a:avLst/>
            <a:gdLst>
              <a:gd name="connsiteX0" fmla="*/ 0 w 2576223"/>
              <a:gd name="connsiteY0" fmla="*/ 0 h 1665799"/>
              <a:gd name="connsiteX1" fmla="*/ 230588 w 2576223"/>
              <a:gd name="connsiteY1" fmla="*/ 707666 h 1665799"/>
              <a:gd name="connsiteX2" fmla="*/ 620202 w 2576223"/>
              <a:gd name="connsiteY2" fmla="*/ 1343770 h 1665799"/>
              <a:gd name="connsiteX3" fmla="*/ 1033670 w 2576223"/>
              <a:gd name="connsiteY3" fmla="*/ 1614115 h 1665799"/>
              <a:gd name="connsiteX4" fmla="*/ 1248355 w 2576223"/>
              <a:gd name="connsiteY4" fmla="*/ 1653871 h 1665799"/>
              <a:gd name="connsiteX5" fmla="*/ 1510748 w 2576223"/>
              <a:gd name="connsiteY5" fmla="*/ 1622066 h 1665799"/>
              <a:gd name="connsiteX6" fmla="*/ 1852654 w 2576223"/>
              <a:gd name="connsiteY6" fmla="*/ 1455088 h 1665799"/>
              <a:gd name="connsiteX7" fmla="*/ 2242268 w 2576223"/>
              <a:gd name="connsiteY7" fmla="*/ 1033669 h 1665799"/>
              <a:gd name="connsiteX8" fmla="*/ 2472856 w 2576223"/>
              <a:gd name="connsiteY8" fmla="*/ 453224 h 1665799"/>
              <a:gd name="connsiteX9" fmla="*/ 2576223 w 2576223"/>
              <a:gd name="connsiteY9" fmla="*/ 31805 h 1665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76223" h="1665799">
                <a:moveTo>
                  <a:pt x="0" y="0"/>
                </a:moveTo>
                <a:cubicBezTo>
                  <a:pt x="63610" y="241852"/>
                  <a:pt x="127221" y="483704"/>
                  <a:pt x="230588" y="707666"/>
                </a:cubicBezTo>
                <a:cubicBezTo>
                  <a:pt x="333955" y="931628"/>
                  <a:pt x="486355" y="1192695"/>
                  <a:pt x="620202" y="1343770"/>
                </a:cubicBezTo>
                <a:cubicBezTo>
                  <a:pt x="754049" y="1494845"/>
                  <a:pt x="928978" y="1562431"/>
                  <a:pt x="1033670" y="1614115"/>
                </a:cubicBezTo>
                <a:cubicBezTo>
                  <a:pt x="1138362" y="1665799"/>
                  <a:pt x="1168842" y="1652546"/>
                  <a:pt x="1248355" y="1653871"/>
                </a:cubicBezTo>
                <a:cubicBezTo>
                  <a:pt x="1327868" y="1655196"/>
                  <a:pt x="1410032" y="1655197"/>
                  <a:pt x="1510748" y="1622066"/>
                </a:cubicBezTo>
                <a:cubicBezTo>
                  <a:pt x="1611465" y="1588936"/>
                  <a:pt x="1730734" y="1553154"/>
                  <a:pt x="1852654" y="1455088"/>
                </a:cubicBezTo>
                <a:cubicBezTo>
                  <a:pt x="1974574" y="1357022"/>
                  <a:pt x="2138901" y="1200646"/>
                  <a:pt x="2242268" y="1033669"/>
                </a:cubicBezTo>
                <a:cubicBezTo>
                  <a:pt x="2345635" y="866692"/>
                  <a:pt x="2417197" y="620201"/>
                  <a:pt x="2472856" y="453224"/>
                </a:cubicBezTo>
                <a:cubicBezTo>
                  <a:pt x="2528515" y="286247"/>
                  <a:pt x="2552369" y="159026"/>
                  <a:pt x="2576223" y="31805"/>
                </a:cubicBezTo>
              </a:path>
            </a:pathLst>
          </a:cu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8316416" y="479715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416" y="4797152"/>
                <a:ext cx="36004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6457595" y="270892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595" y="2708920"/>
                <a:ext cx="360040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 rot="17864820">
                <a:off x="6775760" y="3900850"/>
                <a:ext cx="1729181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(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+2)2</m:t>
                      </m:r>
                    </m:oMath>
                  </m:oMathPara>
                </a14:m>
                <a:endParaRPr lang="en-GB" baseline="30000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64820">
                <a:off x="6775760" y="3900850"/>
                <a:ext cx="1729181" cy="3629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6156176" y="501317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108497" y="5905173"/>
                <a:ext cx="55446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/>
                  <a:t>What do you notice about the relationship between the graphs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000"/>
                  <a:t>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GB" sz="2000"/>
                  <a:t>?</a:t>
                </a: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97" y="5905173"/>
                <a:ext cx="5544616" cy="707886"/>
              </a:xfrm>
              <a:prstGeom prst="rect">
                <a:avLst/>
              </a:prstGeom>
              <a:blipFill>
                <a:blip r:embed="rId10"/>
                <a:stretch>
                  <a:fillRect l="-1144" t="-5357" r="-2059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539552" y="2586755"/>
            <a:ext cx="3672408" cy="31683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11888" y="747479"/>
            <a:ext cx="1408584" cy="5717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832284" y="2360014"/>
                <a:ext cx="257622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We know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/>
                  <a:t> has a root of -2 where the graph touches.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284" y="2360014"/>
                <a:ext cx="2576223" cy="923330"/>
              </a:xfrm>
              <a:prstGeom prst="rect">
                <a:avLst/>
              </a:prstGeom>
              <a:blipFill>
                <a:blip r:embed="rId11"/>
                <a:stretch>
                  <a:fillRect l="-2463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255657" y="5803010"/>
                <a:ext cx="2888342" cy="995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/>
                  <a:t>The graph has been translated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6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mr>
                          <m:m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1600" b="1"/>
                  <a:t>, i.e. we have subtracted 2 from each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1600" b="1"/>
                  <a:t> value.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657" y="5803010"/>
                <a:ext cx="2888342" cy="995401"/>
              </a:xfrm>
              <a:prstGeom prst="rect">
                <a:avLst/>
              </a:prstGeom>
              <a:blipFill>
                <a:blip r:embed="rId12"/>
                <a:stretch>
                  <a:fillRect l="-877" t="-125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Down Arrow 11"/>
          <p:cNvSpPr/>
          <p:nvPr/>
        </p:nvSpPr>
        <p:spPr>
          <a:xfrm rot="16200000">
            <a:off x="5798215" y="6025948"/>
            <a:ext cx="360040" cy="43873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4894909" y="2423885"/>
            <a:ext cx="4191033" cy="3309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8078" y="5821800"/>
            <a:ext cx="2734321" cy="970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8030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  <p:bldLst>
      <p:bldP spid="31" grpId="0" animBg="1"/>
      <p:bldP spid="33" grpId="0" animBg="1"/>
      <p:bldP spid="32" grpId="0" animBg="1"/>
      <p:bldP spid="35" grpId="0" animBg="1"/>
    </p:bldLst>
  </p:timing>
</p:sld>
</file>

<file path=ppt/c4/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Transformations of Functions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23528" y="764704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This is all you need to remember when considering how transforming your function transforms your graph...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15816" y="1772816"/>
            <a:ext cx="216024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/>
              <a:t>Affects which axis?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6056" y="1772816"/>
            <a:ext cx="324036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/>
              <a:t>What we expect or opposite?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55576" y="2132856"/>
                <a:ext cx="2160240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/>
                  <a:t>Change </a:t>
                </a:r>
                <a:r>
                  <a:rPr lang="en-GB" b="1"/>
                  <a:t>inside</a:t>
                </a:r>
                <a:r>
                  <a:rPr lang="en-GB"/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 )</m:t>
                    </m:r>
                  </m:oMath>
                </a14:m>
                <a:endParaRPr lang="en-GB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132856"/>
                <a:ext cx="2160240" cy="369332"/>
              </a:xfrm>
              <a:prstGeom prst="rect">
                <a:avLst/>
              </a:prstGeom>
              <a:blipFill>
                <a:blip r:embed="rId2"/>
                <a:stretch>
                  <a:fillRect l="-1734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55576" y="2564904"/>
                <a:ext cx="2160240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/>
                  <a:t>Change </a:t>
                </a:r>
                <a:r>
                  <a:rPr lang="en-GB" b="1"/>
                  <a:t>outside</a:t>
                </a:r>
                <a:r>
                  <a:rPr lang="en-GB"/>
                  <a:t>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 )</m:t>
                    </m:r>
                  </m:oMath>
                </a14:m>
                <a:endParaRPr lang="en-GB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564904"/>
                <a:ext cx="2160240" cy="369332"/>
              </a:xfrm>
              <a:prstGeom prst="rect">
                <a:avLst/>
              </a:prstGeom>
              <a:blipFill>
                <a:blip r:embed="rId3"/>
                <a:stretch>
                  <a:fillRect l="-1734" t="-6452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131840" y="2132856"/>
                <a:ext cx="1944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32856"/>
                <a:ext cx="19442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131840" y="2492896"/>
                <a:ext cx="1944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492896"/>
                <a:ext cx="194421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148064" y="2132856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Opposite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64" y="2564904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What we 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576" y="162880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latin typeface="Wingdings" pitchFamily="2" charset="2"/>
              </a:rPr>
              <a:t>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9028" y="3933056"/>
                <a:ext cx="21968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</m:oMath>
                  </m:oMathPara>
                </a14:m>
                <a:endParaRPr lang="en-GB" sz="280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8" y="3933056"/>
                <a:ext cx="2196863" cy="523220"/>
              </a:xfrm>
              <a:prstGeom prst="rect">
                <a:avLst/>
              </a:prstGeom>
              <a:blipFill>
                <a:blip r:embed="rId6"/>
                <a:stretch>
                  <a:fillRect l="-1149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131840" y="3787913"/>
                <a:ext cx="3384376" cy="810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/>
                  <a:t>Translation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80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3787913"/>
                <a:ext cx="3384376" cy="810799"/>
              </a:xfrm>
              <a:prstGeom prst="rect">
                <a:avLst/>
              </a:prstGeom>
              <a:blipFill>
                <a:blip r:embed="rId7"/>
                <a:stretch>
                  <a:fillRect l="-3731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16"/>
          <p:cNvSpPr/>
          <p:nvPr/>
        </p:nvSpPr>
        <p:spPr>
          <a:xfrm>
            <a:off x="2267744" y="4077072"/>
            <a:ext cx="64807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-14514" y="4581128"/>
                <a:ext cx="21968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GB" sz="280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514" y="4581128"/>
                <a:ext cx="2196863" cy="523220"/>
              </a:xfrm>
              <a:prstGeom prst="rect">
                <a:avLst/>
              </a:prstGeom>
              <a:blipFill>
                <a:blip r:embed="rId8"/>
                <a:stretch>
                  <a:fillRect l="-1156" r="-1156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131840" y="4581128"/>
                <a:ext cx="3384376" cy="80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/>
                  <a:t>Translation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80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581128"/>
                <a:ext cx="3384376" cy="807978"/>
              </a:xfrm>
              <a:prstGeom prst="rect">
                <a:avLst/>
              </a:prstGeom>
              <a:blipFill>
                <a:blip r:embed="rId9"/>
                <a:stretch>
                  <a:fillRect l="-3731"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Arrow 19"/>
          <p:cNvSpPr/>
          <p:nvPr/>
        </p:nvSpPr>
        <p:spPr>
          <a:xfrm>
            <a:off x="2267744" y="4725144"/>
            <a:ext cx="64807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3543" y="5229200"/>
                <a:ext cx="200817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280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3" y="5229200"/>
                <a:ext cx="2008177" cy="523220"/>
              </a:xfrm>
              <a:prstGeom prst="rect">
                <a:avLst/>
              </a:prstGeom>
              <a:blipFill>
                <a:blip r:embed="rId10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131839" y="5229200"/>
                <a:ext cx="5736389" cy="7033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/>
                  <a:t>Stretch in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800" i="1"/>
                  <a:t>-</a:t>
                </a:r>
                <a:r>
                  <a:rPr lang="en-GB" sz="2800"/>
                  <a:t>direction by scale factor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28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GB" sz="280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39" y="5229200"/>
                <a:ext cx="5736389" cy="703398"/>
              </a:xfrm>
              <a:prstGeom prst="rect">
                <a:avLst/>
              </a:prstGeom>
              <a:blipFill>
                <a:blip r:embed="rId11"/>
                <a:stretch>
                  <a:fillRect l="-2208" b="-8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ight Arrow 22"/>
          <p:cNvSpPr/>
          <p:nvPr/>
        </p:nvSpPr>
        <p:spPr>
          <a:xfrm>
            <a:off x="2267744" y="5373216"/>
            <a:ext cx="64807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116114" y="5877272"/>
                <a:ext cx="183400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280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14" y="5877272"/>
                <a:ext cx="1834006" cy="523220"/>
              </a:xfrm>
              <a:prstGeom prst="rect">
                <a:avLst/>
              </a:prstGeom>
              <a:blipFill>
                <a:blip r:embed="rId12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3131839" y="5877272"/>
                <a:ext cx="595241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/>
                  <a:t>Stretch in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800" i="1"/>
                  <a:t>-</a:t>
                </a:r>
                <a:r>
                  <a:rPr lang="en-GB" sz="2800"/>
                  <a:t>direction by scale factor 2</a:t>
                </a:r>
                <a:endParaRPr lang="en-GB" sz="2800" i="1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39" y="5877272"/>
                <a:ext cx="5952411" cy="523220"/>
              </a:xfrm>
              <a:prstGeom prst="rect">
                <a:avLst/>
              </a:prstGeom>
              <a:blipFill>
                <a:blip r:embed="rId13"/>
                <a:stretch>
                  <a:fillRect l="-2128" t="-11628" b="-27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ight Arrow 25"/>
          <p:cNvSpPr/>
          <p:nvPr/>
        </p:nvSpPr>
        <p:spPr>
          <a:xfrm>
            <a:off x="2267744" y="6021288"/>
            <a:ext cx="64807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2915816" y="2130712"/>
            <a:ext cx="2160240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6056" y="2132856"/>
            <a:ext cx="3240360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15816" y="2562760"/>
            <a:ext cx="2160240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6056" y="2564904"/>
            <a:ext cx="3240360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24718" y="3890896"/>
            <a:ext cx="4409796" cy="6665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24718" y="4642610"/>
            <a:ext cx="4409796" cy="698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24718" y="5341257"/>
            <a:ext cx="5512882" cy="5225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24718" y="5931271"/>
            <a:ext cx="5512882" cy="406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536" y="3356992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Therefore...</a:t>
            </a:r>
          </a:p>
        </p:txBody>
      </p:sp>
    </p:spTree>
    <p:extLst>
      <p:ext uri="{BB962C8B-B14F-4D97-AF65-F5344CB8AC3E}">
        <p14:creationId xmlns:p14="http://schemas.microsoft.com/office/powerpoint/2010/main" val="327098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c4/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Sketching transformed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51520" y="790951"/>
                <a:ext cx="3856023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GB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90951"/>
                <a:ext cx="3856023" cy="369332"/>
              </a:xfrm>
              <a:prstGeom prst="rect">
                <a:avLst/>
              </a:prstGeom>
              <a:blipFill>
                <a:blip r:embed="rId2"/>
                <a:stretch>
                  <a:fillRect b="-487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21365" y="1383747"/>
                <a:ext cx="3871664" cy="1662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/>
                  <a:t>, the +3 is ‘outside’ the squared function, so translation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/>
                  <a:t>.</a:t>
                </a:r>
              </a:p>
              <a:p>
                <a:r>
                  <a:rPr lang="en-GB"/>
                  <a:t>Imagine a sketch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/>
                  <a:t> and then do the translation, ensuring you adjust any intercepts with the axes.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365" y="1383747"/>
                <a:ext cx="3871664" cy="1662250"/>
              </a:xfrm>
              <a:prstGeom prst="rect">
                <a:avLst/>
              </a:prstGeom>
              <a:blipFill>
                <a:blip r:embed="rId3"/>
                <a:stretch>
                  <a:fillRect l="-1307" t="-752" r="-327" b="-4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742189" y="5695882"/>
            <a:ext cx="29523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182349" y="3751666"/>
            <a:ext cx="0" cy="26642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Freeform 17"/>
          <p:cNvSpPr/>
          <p:nvPr/>
        </p:nvSpPr>
        <p:spPr>
          <a:xfrm>
            <a:off x="925808" y="3596166"/>
            <a:ext cx="2576223" cy="1665799"/>
          </a:xfrm>
          <a:custGeom>
            <a:avLst/>
            <a:gdLst>
              <a:gd name="connsiteX0" fmla="*/ 0 w 2576223"/>
              <a:gd name="connsiteY0" fmla="*/ 0 h 1665799"/>
              <a:gd name="connsiteX1" fmla="*/ 230588 w 2576223"/>
              <a:gd name="connsiteY1" fmla="*/ 707666 h 1665799"/>
              <a:gd name="connsiteX2" fmla="*/ 620202 w 2576223"/>
              <a:gd name="connsiteY2" fmla="*/ 1343770 h 1665799"/>
              <a:gd name="connsiteX3" fmla="*/ 1033670 w 2576223"/>
              <a:gd name="connsiteY3" fmla="*/ 1614115 h 1665799"/>
              <a:gd name="connsiteX4" fmla="*/ 1248355 w 2576223"/>
              <a:gd name="connsiteY4" fmla="*/ 1653871 h 1665799"/>
              <a:gd name="connsiteX5" fmla="*/ 1510748 w 2576223"/>
              <a:gd name="connsiteY5" fmla="*/ 1622066 h 1665799"/>
              <a:gd name="connsiteX6" fmla="*/ 1852654 w 2576223"/>
              <a:gd name="connsiteY6" fmla="*/ 1455088 h 1665799"/>
              <a:gd name="connsiteX7" fmla="*/ 2242268 w 2576223"/>
              <a:gd name="connsiteY7" fmla="*/ 1033669 h 1665799"/>
              <a:gd name="connsiteX8" fmla="*/ 2472856 w 2576223"/>
              <a:gd name="connsiteY8" fmla="*/ 453224 h 1665799"/>
              <a:gd name="connsiteX9" fmla="*/ 2576223 w 2576223"/>
              <a:gd name="connsiteY9" fmla="*/ 31805 h 1665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76223" h="1665799">
                <a:moveTo>
                  <a:pt x="0" y="0"/>
                </a:moveTo>
                <a:cubicBezTo>
                  <a:pt x="63610" y="241852"/>
                  <a:pt x="127221" y="483704"/>
                  <a:pt x="230588" y="707666"/>
                </a:cubicBezTo>
                <a:cubicBezTo>
                  <a:pt x="333955" y="931628"/>
                  <a:pt x="486355" y="1192695"/>
                  <a:pt x="620202" y="1343770"/>
                </a:cubicBezTo>
                <a:cubicBezTo>
                  <a:pt x="754049" y="1494845"/>
                  <a:pt x="928978" y="1562431"/>
                  <a:pt x="1033670" y="1614115"/>
                </a:cubicBezTo>
                <a:cubicBezTo>
                  <a:pt x="1138362" y="1665799"/>
                  <a:pt x="1168842" y="1652546"/>
                  <a:pt x="1248355" y="1653871"/>
                </a:cubicBezTo>
                <a:cubicBezTo>
                  <a:pt x="1327868" y="1655196"/>
                  <a:pt x="1410032" y="1655197"/>
                  <a:pt x="1510748" y="1622066"/>
                </a:cubicBezTo>
                <a:cubicBezTo>
                  <a:pt x="1611465" y="1588936"/>
                  <a:pt x="1730734" y="1553154"/>
                  <a:pt x="1852654" y="1455088"/>
                </a:cubicBezTo>
                <a:cubicBezTo>
                  <a:pt x="1974574" y="1357022"/>
                  <a:pt x="2138901" y="1200646"/>
                  <a:pt x="2242268" y="1033669"/>
                </a:cubicBezTo>
                <a:cubicBezTo>
                  <a:pt x="2345635" y="866692"/>
                  <a:pt x="2417197" y="620201"/>
                  <a:pt x="2472856" y="453224"/>
                </a:cubicBezTo>
                <a:cubicBezTo>
                  <a:pt x="2528515" y="286247"/>
                  <a:pt x="2552369" y="159026"/>
                  <a:pt x="2576223" y="31805"/>
                </a:cubicBezTo>
              </a:path>
            </a:pathLst>
          </a:cu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/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2509" y="547985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6325" y="346363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 rot="17864820">
                <a:off x="2237194" y="4170346"/>
                <a:ext cx="14625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64820">
                <a:off x="2237194" y="4170346"/>
                <a:ext cx="146252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923910" y="4928137"/>
            <a:ext cx="39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709" y="1294689"/>
            <a:ext cx="3846286" cy="50879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4571428" y="732894"/>
                <a:ext cx="3856023" cy="48494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GB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732894"/>
                <a:ext cx="3856023" cy="4849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565928" y="1419251"/>
                <a:ext cx="4182536" cy="13159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This looks like a reciprocal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/>
                  <a:t>.</a:t>
                </a:r>
              </a:p>
              <a:p>
                <a:r>
                  <a:rPr lang="en-GB"/>
                  <a:t>The change of +1 is </a:t>
                </a:r>
                <a:r>
                  <a:rPr lang="en-GB" i="1"/>
                  <a:t>inside</a:t>
                </a:r>
                <a:r>
                  <a:rPr lang="en-GB"/>
                  <a:t> the reciprocal function, so we have a translation to the left by 1.</a:t>
                </a: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928" y="1419251"/>
                <a:ext cx="4182536" cy="1315938"/>
              </a:xfrm>
              <a:prstGeom prst="rect">
                <a:avLst/>
              </a:prstGeom>
              <a:blipFill>
                <a:blip r:embed="rId6"/>
                <a:stretch>
                  <a:fillRect l="-121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>
            <a:off x="5072239" y="4787958"/>
            <a:ext cx="29523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6526913" y="3264656"/>
            <a:ext cx="0" cy="26642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7977706" y="4579696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706" y="4579696"/>
                <a:ext cx="36004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6332154" y="289308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154" y="2893082"/>
                <a:ext cx="360040" cy="369332"/>
              </a:xfrm>
              <a:prstGeom prst="rect">
                <a:avLst/>
              </a:prstGeom>
              <a:blipFill>
                <a:blip r:embed="rId8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 rot="16200000">
                <a:off x="5210159" y="3364758"/>
                <a:ext cx="146252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210159" y="3364758"/>
                <a:ext cx="1462522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6279107" y="4325687"/>
            <a:ext cx="39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2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6086588" y="3230516"/>
            <a:ext cx="0" cy="283088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Freeform: Shape 26"/>
          <p:cNvSpPr/>
          <p:nvPr/>
        </p:nvSpPr>
        <p:spPr>
          <a:xfrm>
            <a:off x="6166884" y="3179135"/>
            <a:ext cx="1626781" cy="1552353"/>
          </a:xfrm>
          <a:custGeom>
            <a:avLst/>
            <a:gdLst>
              <a:gd name="connsiteX0" fmla="*/ 0 w 1626781"/>
              <a:gd name="connsiteY0" fmla="*/ 0 h 1552353"/>
              <a:gd name="connsiteX1" fmla="*/ 350874 w 1626781"/>
              <a:gd name="connsiteY1" fmla="*/ 1265274 h 1552353"/>
              <a:gd name="connsiteX2" fmla="*/ 1626781 w 1626781"/>
              <a:gd name="connsiteY2" fmla="*/ 1552353 h 1552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6781" h="1552353">
                <a:moveTo>
                  <a:pt x="0" y="0"/>
                </a:moveTo>
                <a:cubicBezTo>
                  <a:pt x="39872" y="503274"/>
                  <a:pt x="79744" y="1006549"/>
                  <a:pt x="350874" y="1265274"/>
                </a:cubicBezTo>
                <a:cubicBezTo>
                  <a:pt x="622004" y="1523999"/>
                  <a:pt x="1124392" y="1538176"/>
                  <a:pt x="1626781" y="155235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reeform: Shape 27"/>
          <p:cNvSpPr/>
          <p:nvPr/>
        </p:nvSpPr>
        <p:spPr>
          <a:xfrm>
            <a:off x="4901609" y="4848447"/>
            <a:ext cx="1127051" cy="1180213"/>
          </a:xfrm>
          <a:custGeom>
            <a:avLst/>
            <a:gdLst>
              <a:gd name="connsiteX0" fmla="*/ 0 w 1127051"/>
              <a:gd name="connsiteY0" fmla="*/ 0 h 1180213"/>
              <a:gd name="connsiteX1" fmla="*/ 882503 w 1127051"/>
              <a:gd name="connsiteY1" fmla="*/ 223283 h 1180213"/>
              <a:gd name="connsiteX2" fmla="*/ 1127051 w 1127051"/>
              <a:gd name="connsiteY2" fmla="*/ 1180213 h 118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7051" h="1180213">
                <a:moveTo>
                  <a:pt x="0" y="0"/>
                </a:moveTo>
                <a:cubicBezTo>
                  <a:pt x="347330" y="13290"/>
                  <a:pt x="694661" y="26581"/>
                  <a:pt x="882503" y="223283"/>
                </a:cubicBezTo>
                <a:cubicBezTo>
                  <a:pt x="1070345" y="419985"/>
                  <a:pt x="1098698" y="800099"/>
                  <a:pt x="1127051" y="118021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/>
          <p:cNvSpPr txBox="1"/>
          <p:nvPr/>
        </p:nvSpPr>
        <p:spPr>
          <a:xfrm>
            <a:off x="7007219" y="2936240"/>
            <a:ext cx="18922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The transformation might result in new intercepts or roots. You can find these in the usual way. </a:t>
            </a:r>
            <a:r>
              <a:rPr lang="en-GB" sz="1400" b="1" u="sng"/>
              <a:t>Do not forget them!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6655981" y="4005064"/>
            <a:ext cx="351238" cy="333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7001844" y="4985912"/>
                <a:ext cx="1892232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/>
                  <a:t>The asymptotes were previously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/>
                  <a:t> and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/>
                  <a:t>. The latter is unaffected but the former is now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GB" sz="1400"/>
                  <a:t>. </a:t>
                </a:r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844" y="4985912"/>
                <a:ext cx="1892232" cy="1169551"/>
              </a:xfrm>
              <a:prstGeom prst="rect">
                <a:avLst/>
              </a:prstGeom>
              <a:blipFill>
                <a:blip r:embed="rId10"/>
                <a:stretch>
                  <a:fillRect l="-1333" t="-1075" b="-5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/>
          <p:cNvSpPr/>
          <p:nvPr/>
        </p:nvSpPr>
        <p:spPr>
          <a:xfrm>
            <a:off x="6432698" y="6146746"/>
            <a:ext cx="2614133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400"/>
              <a:t>Draw asymptotes using a dotted line and write its equation on it.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 flipV="1">
            <a:off x="6209414" y="5178056"/>
            <a:ext cx="721451" cy="316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565927" y="1351601"/>
            <a:ext cx="4514277" cy="53362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8444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14" grpId="0" animBg="1"/>
      <p:bldP spid="36" grpId="0" animBg="1"/>
    </p:bldLst>
  </p:timing>
</p:sld>
</file>

<file path=ppt/c4/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/>
          <p:cNvSpPr/>
          <p:nvPr/>
        </p:nvSpPr>
        <p:spPr>
          <a:xfrm>
            <a:off x="595423" y="3402419"/>
            <a:ext cx="2317898" cy="1829136"/>
          </a:xfrm>
          <a:custGeom>
            <a:avLst/>
            <a:gdLst>
              <a:gd name="connsiteX0" fmla="*/ 0 w 2317898"/>
              <a:gd name="connsiteY0" fmla="*/ 0 h 1829136"/>
              <a:gd name="connsiteX1" fmla="*/ 829340 w 2317898"/>
              <a:gd name="connsiteY1" fmla="*/ 1531088 h 1829136"/>
              <a:gd name="connsiteX2" fmla="*/ 1222744 w 2317898"/>
              <a:gd name="connsiteY2" fmla="*/ 1828800 h 1829136"/>
              <a:gd name="connsiteX3" fmla="*/ 1626782 w 2317898"/>
              <a:gd name="connsiteY3" fmla="*/ 1520455 h 1829136"/>
              <a:gd name="connsiteX4" fmla="*/ 2317898 w 2317898"/>
              <a:gd name="connsiteY4" fmla="*/ 74428 h 1829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7898" h="1829136">
                <a:moveTo>
                  <a:pt x="0" y="0"/>
                </a:moveTo>
                <a:cubicBezTo>
                  <a:pt x="312774" y="613144"/>
                  <a:pt x="625549" y="1226288"/>
                  <a:pt x="829340" y="1531088"/>
                </a:cubicBezTo>
                <a:cubicBezTo>
                  <a:pt x="1033131" y="1835888"/>
                  <a:pt x="1089837" y="1830572"/>
                  <a:pt x="1222744" y="1828800"/>
                </a:cubicBezTo>
                <a:cubicBezTo>
                  <a:pt x="1355651" y="1827028"/>
                  <a:pt x="1444256" y="1812850"/>
                  <a:pt x="1626782" y="1520455"/>
                </a:cubicBezTo>
                <a:cubicBezTo>
                  <a:pt x="1809308" y="1228060"/>
                  <a:pt x="2063603" y="651244"/>
                  <a:pt x="2317898" y="7442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More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51520" y="790951"/>
                <a:ext cx="3856023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+2)</m:t>
                    </m:r>
                  </m:oMath>
                </a14:m>
                <a:r>
                  <a:rPr lang="en-GB"/>
                  <a:t>. On the same axes,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GB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GB"/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90951"/>
                <a:ext cx="3856023" cy="923330"/>
              </a:xfrm>
              <a:prstGeom prst="rect">
                <a:avLst/>
              </a:prstGeom>
              <a:blipFill>
                <a:blip r:embed="rId2"/>
                <a:stretch>
                  <a:fillRect b="-235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79647" y="1749804"/>
                <a:ext cx="3871664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/>
                  <a:t>The </a:t>
                </a:r>
                <a:r>
                  <a:rPr lang="en-GB" sz="1400" b="1" u="sng"/>
                  <a:t>input</a:t>
                </a:r>
                <a:r>
                  <a:rPr lang="en-GB" sz="1400"/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/>
                  <a:t> has been replaced with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/>
                  <a:t>, i.e. a change inside the function. We translate right by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400"/>
                  <a:t>. The significance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GB" sz="1400"/>
                  <a:t> is that the original root of -2 will now be positive.</a:t>
                </a:r>
              </a:p>
              <a:p>
                <a:endParaRPr lang="en-GB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47" y="1749804"/>
                <a:ext cx="3871664" cy="1231106"/>
              </a:xfrm>
              <a:prstGeom prst="rect">
                <a:avLst/>
              </a:prstGeom>
              <a:blipFill>
                <a:blip r:embed="rId3"/>
                <a:stretch>
                  <a:fillRect l="-656" t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487007" y="4930338"/>
            <a:ext cx="3516807" cy="75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215479" y="3016433"/>
            <a:ext cx="0" cy="35089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930853" y="473557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853" y="4735579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040753" y="267682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753" y="2676825"/>
                <a:ext cx="360040" cy="369332"/>
              </a:xfrm>
              <a:prstGeom prst="rect">
                <a:avLst/>
              </a:prstGeom>
              <a:blipFill>
                <a:blip r:embed="rId5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 rot="17653749">
                <a:off x="2182869" y="3684033"/>
                <a:ext cx="14625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sz="1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653749">
                <a:off x="2182869" y="3684033"/>
                <a:ext cx="146252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164745" y="4877278"/>
            <a:ext cx="39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-2</a:t>
            </a:r>
          </a:p>
        </p:txBody>
      </p:sp>
      <p:sp>
        <p:nvSpPr>
          <p:cNvPr id="20" name="Freeform: Shape 19"/>
          <p:cNvSpPr/>
          <p:nvPr/>
        </p:nvSpPr>
        <p:spPr>
          <a:xfrm>
            <a:off x="1668802" y="3409947"/>
            <a:ext cx="2317898" cy="1829136"/>
          </a:xfrm>
          <a:custGeom>
            <a:avLst/>
            <a:gdLst>
              <a:gd name="connsiteX0" fmla="*/ 0 w 2317898"/>
              <a:gd name="connsiteY0" fmla="*/ 0 h 1829136"/>
              <a:gd name="connsiteX1" fmla="*/ 829340 w 2317898"/>
              <a:gd name="connsiteY1" fmla="*/ 1531088 h 1829136"/>
              <a:gd name="connsiteX2" fmla="*/ 1222744 w 2317898"/>
              <a:gd name="connsiteY2" fmla="*/ 1828800 h 1829136"/>
              <a:gd name="connsiteX3" fmla="*/ 1626782 w 2317898"/>
              <a:gd name="connsiteY3" fmla="*/ 1520455 h 1829136"/>
              <a:gd name="connsiteX4" fmla="*/ 2317898 w 2317898"/>
              <a:gd name="connsiteY4" fmla="*/ 74428 h 1829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7898" h="1829136">
                <a:moveTo>
                  <a:pt x="0" y="0"/>
                </a:moveTo>
                <a:cubicBezTo>
                  <a:pt x="312774" y="613144"/>
                  <a:pt x="625549" y="1226288"/>
                  <a:pt x="829340" y="1531088"/>
                </a:cubicBezTo>
                <a:cubicBezTo>
                  <a:pt x="1033131" y="1835888"/>
                  <a:pt x="1089837" y="1830572"/>
                  <a:pt x="1222744" y="1828800"/>
                </a:cubicBezTo>
                <a:cubicBezTo>
                  <a:pt x="1355651" y="1827028"/>
                  <a:pt x="1444256" y="1812850"/>
                  <a:pt x="1626782" y="1520455"/>
                </a:cubicBezTo>
                <a:cubicBezTo>
                  <a:pt x="1809308" y="1228060"/>
                  <a:pt x="2063603" y="651244"/>
                  <a:pt x="2317898" y="74428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 rot="17708665">
                <a:off x="2743754" y="3767239"/>
                <a:ext cx="18150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d>
                        <m:dPr>
                          <m:ctrlP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708665">
                <a:off x="2743754" y="3767239"/>
                <a:ext cx="1815071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1301728" y="4338046"/>
                <a:ext cx="98817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28" y="4338046"/>
                <a:ext cx="988179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140512" y="4871228"/>
                <a:ext cx="39866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sz="240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512" y="4871228"/>
                <a:ext cx="39866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218530" y="4892479"/>
                <a:ext cx="67352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GB" sz="240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530" y="4892479"/>
                <a:ext cx="673525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389743" y="5496919"/>
                <a:ext cx="177864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/>
                  <a:t>Note that our intercepts are in terms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1600"/>
                  <a:t>.</a:t>
                </a: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43" y="5496919"/>
                <a:ext cx="1778646" cy="830997"/>
              </a:xfrm>
              <a:prstGeom prst="rect">
                <a:avLst/>
              </a:prstGeom>
              <a:blipFill>
                <a:blip r:embed="rId11"/>
                <a:stretch>
                  <a:fillRect l="-1418" t="-1493"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245246" y="1802455"/>
            <a:ext cx="3917032" cy="47948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427983" y="790436"/>
                <a:ext cx="4397039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</m:oMath>
                </a14:m>
                <a:r>
                  <a:rPr lang="en-GB"/>
                  <a:t>. On the same axes, sketch the graph with equation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3" y="790436"/>
                <a:ext cx="4397039" cy="9233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4702528" y="1800073"/>
                <a:ext cx="3871664" cy="12311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/>
                  <a:t>The </a:t>
                </a:r>
                <a:r>
                  <a:rPr lang="en-GB" sz="1400" b="1" u="sng"/>
                  <a:t>input</a:t>
                </a:r>
                <a:r>
                  <a:rPr lang="en-GB" sz="1400"/>
                  <a:t>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/>
                  <a:t> has been doubled to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/>
                  <a:t>, again a change inside the function, so we do the opposite and halve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/>
                  <a:t> values.</a:t>
                </a:r>
              </a:p>
              <a:p>
                <a:r>
                  <a:rPr lang="en-GB" sz="1400"/>
                  <a:t>Ensure that 0 remains 0 and you halve any roots.</a:t>
                </a:r>
              </a:p>
              <a:p>
                <a:endParaRPr lang="en-GB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528" y="1800073"/>
                <a:ext cx="3871664" cy="1231106"/>
              </a:xfrm>
              <a:prstGeom prst="rect">
                <a:avLst/>
              </a:prstGeom>
              <a:blipFill>
                <a:blip r:embed="rId13"/>
                <a:stretch>
                  <a:fillRect l="-654" t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>
            <a:off x="4909888" y="4980607"/>
            <a:ext cx="3516807" cy="75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6638360" y="3066702"/>
            <a:ext cx="0" cy="35089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8353734" y="4785848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734" y="4785848"/>
                <a:ext cx="36004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6463634" y="2727094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634" y="2727094"/>
                <a:ext cx="360040" cy="369332"/>
              </a:xfrm>
              <a:prstGeom prst="rect">
                <a:avLst/>
              </a:prstGeom>
              <a:blipFill>
                <a:blip r:embed="rId1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 rot="17268424">
                <a:off x="7254336" y="3893791"/>
                <a:ext cx="14625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sz="1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68424">
                <a:off x="7254336" y="3893791"/>
                <a:ext cx="1462522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7707399" y="4944986"/>
            <a:ext cx="39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 rot="16931640">
                <a:off x="6358562" y="3945099"/>
                <a:ext cx="18150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931640">
                <a:off x="6358562" y="3945099"/>
                <a:ext cx="1815071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Freeform: Shape 41"/>
          <p:cNvSpPr/>
          <p:nvPr/>
        </p:nvSpPr>
        <p:spPr>
          <a:xfrm>
            <a:off x="5443870" y="3551274"/>
            <a:ext cx="2828261" cy="2881423"/>
          </a:xfrm>
          <a:custGeom>
            <a:avLst/>
            <a:gdLst>
              <a:gd name="connsiteX0" fmla="*/ 0 w 2828261"/>
              <a:gd name="connsiteY0" fmla="*/ 2881423 h 2881423"/>
              <a:gd name="connsiteX1" fmla="*/ 1105786 w 2828261"/>
              <a:gd name="connsiteY1" fmla="*/ 1446028 h 2881423"/>
              <a:gd name="connsiteX2" fmla="*/ 1807535 w 2828261"/>
              <a:gd name="connsiteY2" fmla="*/ 1988288 h 2881423"/>
              <a:gd name="connsiteX3" fmla="*/ 2264735 w 2828261"/>
              <a:gd name="connsiteY3" fmla="*/ 1637414 h 2881423"/>
              <a:gd name="connsiteX4" fmla="*/ 2668772 w 2828261"/>
              <a:gd name="connsiteY4" fmla="*/ 606056 h 2881423"/>
              <a:gd name="connsiteX5" fmla="*/ 2828261 w 2828261"/>
              <a:gd name="connsiteY5" fmla="*/ 0 h 288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28261" h="2881423">
                <a:moveTo>
                  <a:pt x="0" y="2881423"/>
                </a:moveTo>
                <a:cubicBezTo>
                  <a:pt x="402265" y="2238153"/>
                  <a:pt x="804530" y="1594884"/>
                  <a:pt x="1105786" y="1446028"/>
                </a:cubicBezTo>
                <a:cubicBezTo>
                  <a:pt x="1407042" y="1297172"/>
                  <a:pt x="1614377" y="1956390"/>
                  <a:pt x="1807535" y="1988288"/>
                </a:cubicBezTo>
                <a:cubicBezTo>
                  <a:pt x="2000693" y="2020186"/>
                  <a:pt x="2121195" y="1867786"/>
                  <a:pt x="2264735" y="1637414"/>
                </a:cubicBezTo>
                <a:cubicBezTo>
                  <a:pt x="2408275" y="1407042"/>
                  <a:pt x="2574851" y="878958"/>
                  <a:pt x="2668772" y="606056"/>
                </a:cubicBezTo>
                <a:cubicBezTo>
                  <a:pt x="2762693" y="333154"/>
                  <a:pt x="2795477" y="166577"/>
                  <a:pt x="2828261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Freeform: Shape 42"/>
          <p:cNvSpPr/>
          <p:nvPr/>
        </p:nvSpPr>
        <p:spPr>
          <a:xfrm>
            <a:off x="5972389" y="3547651"/>
            <a:ext cx="1554484" cy="2881423"/>
          </a:xfrm>
          <a:custGeom>
            <a:avLst/>
            <a:gdLst>
              <a:gd name="connsiteX0" fmla="*/ 0 w 2828261"/>
              <a:gd name="connsiteY0" fmla="*/ 2881423 h 2881423"/>
              <a:gd name="connsiteX1" fmla="*/ 1105786 w 2828261"/>
              <a:gd name="connsiteY1" fmla="*/ 1446028 h 2881423"/>
              <a:gd name="connsiteX2" fmla="*/ 1807535 w 2828261"/>
              <a:gd name="connsiteY2" fmla="*/ 1988288 h 2881423"/>
              <a:gd name="connsiteX3" fmla="*/ 2264735 w 2828261"/>
              <a:gd name="connsiteY3" fmla="*/ 1637414 h 2881423"/>
              <a:gd name="connsiteX4" fmla="*/ 2668772 w 2828261"/>
              <a:gd name="connsiteY4" fmla="*/ 606056 h 2881423"/>
              <a:gd name="connsiteX5" fmla="*/ 2828261 w 2828261"/>
              <a:gd name="connsiteY5" fmla="*/ 0 h 288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28261" h="2881423">
                <a:moveTo>
                  <a:pt x="0" y="2881423"/>
                </a:moveTo>
                <a:cubicBezTo>
                  <a:pt x="402265" y="2238153"/>
                  <a:pt x="804530" y="1594884"/>
                  <a:pt x="1105786" y="1446028"/>
                </a:cubicBezTo>
                <a:cubicBezTo>
                  <a:pt x="1407042" y="1297172"/>
                  <a:pt x="1614377" y="1956390"/>
                  <a:pt x="1807535" y="1988288"/>
                </a:cubicBezTo>
                <a:cubicBezTo>
                  <a:pt x="2000693" y="2020186"/>
                  <a:pt x="2121195" y="1867786"/>
                  <a:pt x="2264735" y="1637414"/>
                </a:cubicBezTo>
                <a:cubicBezTo>
                  <a:pt x="2408275" y="1407042"/>
                  <a:pt x="2574851" y="878958"/>
                  <a:pt x="2668772" y="606056"/>
                </a:cubicBezTo>
                <a:cubicBezTo>
                  <a:pt x="2762693" y="333154"/>
                  <a:pt x="2795477" y="166577"/>
                  <a:pt x="2828261" y="0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/>
          <p:cNvSpPr txBox="1"/>
          <p:nvPr/>
        </p:nvSpPr>
        <p:spPr>
          <a:xfrm>
            <a:off x="7185454" y="4937896"/>
            <a:ext cx="39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2024" y="1823154"/>
            <a:ext cx="4392998" cy="47948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395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14" grpId="0" animBg="1"/>
      <p:bldP spid="41" grpId="0" animBg="1"/>
    </p:bldLst>
  </p:timing>
</p:sld>
</file>

<file path=ppt/c4/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Reflections of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51520" y="790951"/>
                <a:ext cx="7056784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+2)</m:t>
                    </m:r>
                  </m:oMath>
                </a14:m>
                <a:r>
                  <a:rPr lang="en-GB"/>
                  <a:t>,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/>
                  <a:t> on the same axes.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790951"/>
                <a:ext cx="7056784" cy="369332"/>
              </a:xfrm>
              <a:prstGeom prst="rect">
                <a:avLst/>
              </a:prstGeom>
              <a:blipFill>
                <a:blip r:embed="rId2"/>
                <a:stretch>
                  <a:fillRect b="-487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: Shape 5"/>
          <p:cNvSpPr/>
          <p:nvPr/>
        </p:nvSpPr>
        <p:spPr>
          <a:xfrm>
            <a:off x="871870" y="3211033"/>
            <a:ext cx="2317898" cy="1829136"/>
          </a:xfrm>
          <a:custGeom>
            <a:avLst/>
            <a:gdLst>
              <a:gd name="connsiteX0" fmla="*/ 0 w 2317898"/>
              <a:gd name="connsiteY0" fmla="*/ 0 h 1829136"/>
              <a:gd name="connsiteX1" fmla="*/ 829340 w 2317898"/>
              <a:gd name="connsiteY1" fmla="*/ 1531088 h 1829136"/>
              <a:gd name="connsiteX2" fmla="*/ 1222744 w 2317898"/>
              <a:gd name="connsiteY2" fmla="*/ 1828800 h 1829136"/>
              <a:gd name="connsiteX3" fmla="*/ 1626782 w 2317898"/>
              <a:gd name="connsiteY3" fmla="*/ 1520455 h 1829136"/>
              <a:gd name="connsiteX4" fmla="*/ 2317898 w 2317898"/>
              <a:gd name="connsiteY4" fmla="*/ 74428 h 1829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7898" h="1829136">
                <a:moveTo>
                  <a:pt x="0" y="0"/>
                </a:moveTo>
                <a:cubicBezTo>
                  <a:pt x="312774" y="613144"/>
                  <a:pt x="625549" y="1226288"/>
                  <a:pt x="829340" y="1531088"/>
                </a:cubicBezTo>
                <a:cubicBezTo>
                  <a:pt x="1033131" y="1835888"/>
                  <a:pt x="1089837" y="1830572"/>
                  <a:pt x="1222744" y="1828800"/>
                </a:cubicBezTo>
                <a:cubicBezTo>
                  <a:pt x="1355651" y="1827028"/>
                  <a:pt x="1444256" y="1812850"/>
                  <a:pt x="1626782" y="1520455"/>
                </a:cubicBezTo>
                <a:cubicBezTo>
                  <a:pt x="1809308" y="1228060"/>
                  <a:pt x="2063603" y="651244"/>
                  <a:pt x="2317898" y="7442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861178" y="1312323"/>
                <a:ext cx="378136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/>
                  <a:t>You did this at GCSE. The minus is outside the function, so affects the output, i.e.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/>
                  <a:t> value.</a:t>
                </a:r>
              </a:p>
              <a:p>
                <a:r>
                  <a:rPr lang="en-GB" sz="1400"/>
                  <a:t>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/>
                  <a:t> values are negated, resulting in a reflection in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/>
                  <a:t>-axis.</a:t>
                </a: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178" y="1312323"/>
                <a:ext cx="3781364" cy="954107"/>
              </a:xfrm>
              <a:prstGeom prst="rect">
                <a:avLst/>
              </a:prstGeom>
              <a:blipFill>
                <a:blip r:embed="rId3"/>
                <a:stretch>
                  <a:fillRect l="-334" t="-1316" r="-669"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763454" y="4738952"/>
            <a:ext cx="3516807" cy="75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491926" y="2825047"/>
            <a:ext cx="0" cy="35089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317200" y="248543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200" y="2485439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 rot="17653749">
                <a:off x="2459316" y="3492647"/>
                <a:ext cx="14625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653749">
                <a:off x="2459316" y="3492647"/>
                <a:ext cx="146252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504988" y="4728422"/>
            <a:ext cx="39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578175" y="4146660"/>
                <a:ext cx="98817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2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2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GB" b="1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175" y="4146660"/>
                <a:ext cx="988179" cy="276999"/>
              </a:xfrm>
              <a:prstGeom prst="rect">
                <a:avLst/>
              </a:prstGeom>
              <a:blipFill>
                <a:blip r:embed="rId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: Shape 19"/>
          <p:cNvSpPr/>
          <p:nvPr/>
        </p:nvSpPr>
        <p:spPr>
          <a:xfrm flipV="1">
            <a:off x="884521" y="4434249"/>
            <a:ext cx="2317898" cy="1829136"/>
          </a:xfrm>
          <a:custGeom>
            <a:avLst/>
            <a:gdLst>
              <a:gd name="connsiteX0" fmla="*/ 0 w 2317898"/>
              <a:gd name="connsiteY0" fmla="*/ 0 h 1829136"/>
              <a:gd name="connsiteX1" fmla="*/ 829340 w 2317898"/>
              <a:gd name="connsiteY1" fmla="*/ 1531088 h 1829136"/>
              <a:gd name="connsiteX2" fmla="*/ 1222744 w 2317898"/>
              <a:gd name="connsiteY2" fmla="*/ 1828800 h 1829136"/>
              <a:gd name="connsiteX3" fmla="*/ 1626782 w 2317898"/>
              <a:gd name="connsiteY3" fmla="*/ 1520455 h 1829136"/>
              <a:gd name="connsiteX4" fmla="*/ 2317898 w 2317898"/>
              <a:gd name="connsiteY4" fmla="*/ 74428 h 1829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7898" h="1829136">
                <a:moveTo>
                  <a:pt x="0" y="0"/>
                </a:moveTo>
                <a:cubicBezTo>
                  <a:pt x="312774" y="613144"/>
                  <a:pt x="625549" y="1226288"/>
                  <a:pt x="829340" y="1531088"/>
                </a:cubicBezTo>
                <a:cubicBezTo>
                  <a:pt x="1033131" y="1835888"/>
                  <a:pt x="1089837" y="1830572"/>
                  <a:pt x="1222744" y="1828800"/>
                </a:cubicBezTo>
                <a:cubicBezTo>
                  <a:pt x="1355651" y="1827028"/>
                  <a:pt x="1444256" y="1812850"/>
                  <a:pt x="1626782" y="1520455"/>
                </a:cubicBezTo>
                <a:cubicBezTo>
                  <a:pt x="1809308" y="1228060"/>
                  <a:pt x="2063603" y="651244"/>
                  <a:pt x="2317898" y="74428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238505" y="4583326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505" y="4583326"/>
                <a:ext cx="36004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444585" y="1301735"/>
            <a:ext cx="4382595" cy="5141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7603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c4/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95536" y="836712"/>
                <a:ext cx="3868120" cy="73988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+1)(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GB"/>
                  <a:t>,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/>
                  <a:t> on the same axes.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36712"/>
                <a:ext cx="3868120" cy="7398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/>
          <p:cNvSpPr/>
          <p:nvPr/>
        </p:nvSpPr>
        <p:spPr>
          <a:xfrm>
            <a:off x="315831" y="3519376"/>
            <a:ext cx="3937192" cy="1721224"/>
          </a:xfrm>
          <a:custGeom>
            <a:avLst/>
            <a:gdLst>
              <a:gd name="connsiteX0" fmla="*/ 0 w 2317898"/>
              <a:gd name="connsiteY0" fmla="*/ 0 h 1829136"/>
              <a:gd name="connsiteX1" fmla="*/ 829340 w 2317898"/>
              <a:gd name="connsiteY1" fmla="*/ 1531088 h 1829136"/>
              <a:gd name="connsiteX2" fmla="*/ 1222744 w 2317898"/>
              <a:gd name="connsiteY2" fmla="*/ 1828800 h 1829136"/>
              <a:gd name="connsiteX3" fmla="*/ 1626782 w 2317898"/>
              <a:gd name="connsiteY3" fmla="*/ 1520455 h 1829136"/>
              <a:gd name="connsiteX4" fmla="*/ 2317898 w 2317898"/>
              <a:gd name="connsiteY4" fmla="*/ 74428 h 1829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7898" h="1829136">
                <a:moveTo>
                  <a:pt x="0" y="0"/>
                </a:moveTo>
                <a:cubicBezTo>
                  <a:pt x="312774" y="613144"/>
                  <a:pt x="625549" y="1226288"/>
                  <a:pt x="829340" y="1531088"/>
                </a:cubicBezTo>
                <a:cubicBezTo>
                  <a:pt x="1033131" y="1835888"/>
                  <a:pt x="1089837" y="1830572"/>
                  <a:pt x="1222744" y="1828800"/>
                </a:cubicBezTo>
                <a:cubicBezTo>
                  <a:pt x="1355651" y="1827028"/>
                  <a:pt x="1444256" y="1812850"/>
                  <a:pt x="1626782" y="1520455"/>
                </a:cubicBezTo>
                <a:cubicBezTo>
                  <a:pt x="1809308" y="1228060"/>
                  <a:pt x="2063603" y="651244"/>
                  <a:pt x="2317898" y="74428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83861" y="4333328"/>
            <a:ext cx="3516807" cy="75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2211572" y="3232297"/>
            <a:ext cx="761" cy="26960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058872" y="2813461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872" y="2813461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 rot="18596476">
                <a:off x="3249294" y="3663497"/>
                <a:ext cx="952042" cy="408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GB" sz="12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596476">
                <a:off x="3249294" y="3663497"/>
                <a:ext cx="952042" cy="4085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608167" y="4290900"/>
            <a:ext cx="39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 rot="17444776">
                <a:off x="2478861" y="3525890"/>
                <a:ext cx="98817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GB" sz="1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1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444776">
                <a:off x="2478861" y="3525890"/>
                <a:ext cx="988179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/>
          <p:cNvSpPr/>
          <p:nvPr/>
        </p:nvSpPr>
        <p:spPr>
          <a:xfrm rot="10800000" flipV="1">
            <a:off x="1477923" y="3572539"/>
            <a:ext cx="1722476" cy="1668534"/>
          </a:xfrm>
          <a:custGeom>
            <a:avLst/>
            <a:gdLst>
              <a:gd name="connsiteX0" fmla="*/ 0 w 2317898"/>
              <a:gd name="connsiteY0" fmla="*/ 0 h 1829136"/>
              <a:gd name="connsiteX1" fmla="*/ 829340 w 2317898"/>
              <a:gd name="connsiteY1" fmla="*/ 1531088 h 1829136"/>
              <a:gd name="connsiteX2" fmla="*/ 1222744 w 2317898"/>
              <a:gd name="connsiteY2" fmla="*/ 1828800 h 1829136"/>
              <a:gd name="connsiteX3" fmla="*/ 1626782 w 2317898"/>
              <a:gd name="connsiteY3" fmla="*/ 1520455 h 1829136"/>
              <a:gd name="connsiteX4" fmla="*/ 2317898 w 2317898"/>
              <a:gd name="connsiteY4" fmla="*/ 74428 h 1829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7898" h="1829136">
                <a:moveTo>
                  <a:pt x="0" y="0"/>
                </a:moveTo>
                <a:cubicBezTo>
                  <a:pt x="312774" y="613144"/>
                  <a:pt x="625549" y="1226288"/>
                  <a:pt x="829340" y="1531088"/>
                </a:cubicBezTo>
                <a:cubicBezTo>
                  <a:pt x="1033131" y="1835888"/>
                  <a:pt x="1089837" y="1830572"/>
                  <a:pt x="1222744" y="1828800"/>
                </a:cubicBezTo>
                <a:cubicBezTo>
                  <a:pt x="1355651" y="1827028"/>
                  <a:pt x="1444256" y="1812850"/>
                  <a:pt x="1626782" y="1520455"/>
                </a:cubicBezTo>
                <a:cubicBezTo>
                  <a:pt x="1809308" y="1228060"/>
                  <a:pt x="2063603" y="651244"/>
                  <a:pt x="2317898" y="74428"/>
                </a:cubicBez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958912" y="417770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912" y="4177702"/>
                <a:ext cx="3600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2623993" y="4300500"/>
            <a:ext cx="39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934" y="4289650"/>
            <a:ext cx="39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004" y="4302422"/>
            <a:ext cx="39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4638824" y="794914"/>
                <a:ext cx="3868120" cy="103951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the graph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/>
                  <a:t>, ensuring you indicate any intercepts with the axes.</a:t>
                </a: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824" y="794914"/>
                <a:ext cx="3868120" cy="1039515"/>
              </a:xfrm>
              <a:prstGeom prst="rect">
                <a:avLst/>
              </a:prstGeom>
              <a:blipFill>
                <a:blip r:embed="rId7"/>
                <a:stretch>
                  <a:fillRect b="-105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1892596" y="5114662"/>
            <a:ext cx="46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137" y="1957467"/>
            <a:ext cx="3929491" cy="4436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807407" y="4333328"/>
            <a:ext cx="3516807" cy="75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6528391" y="2626242"/>
            <a:ext cx="7490" cy="33020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6350521" y="222867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521" y="2228670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4760244" y="3577229"/>
                <a:ext cx="9881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14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44" y="3577229"/>
                <a:ext cx="988179" cy="307777"/>
              </a:xfrm>
              <a:prstGeom prst="rect">
                <a:avLst/>
              </a:prstGeom>
              <a:blipFill>
                <a:blip r:embed="rId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8282458" y="4177702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2458" y="4177702"/>
                <a:ext cx="36004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/>
          <p:cNvCxnSpPr/>
          <p:nvPr/>
        </p:nvCxnSpPr>
        <p:spPr>
          <a:xfrm>
            <a:off x="4807407" y="3867783"/>
            <a:ext cx="351680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form: Shape 41"/>
          <p:cNvSpPr/>
          <p:nvPr/>
        </p:nvSpPr>
        <p:spPr>
          <a:xfrm>
            <a:off x="6592186" y="2541181"/>
            <a:ext cx="1584251" cy="1297172"/>
          </a:xfrm>
          <a:custGeom>
            <a:avLst/>
            <a:gdLst>
              <a:gd name="connsiteX0" fmla="*/ 0 w 1584251"/>
              <a:gd name="connsiteY0" fmla="*/ 0 h 1297172"/>
              <a:gd name="connsiteX1" fmla="*/ 276447 w 1584251"/>
              <a:gd name="connsiteY1" fmla="*/ 988828 h 1297172"/>
              <a:gd name="connsiteX2" fmla="*/ 1584251 w 1584251"/>
              <a:gd name="connsiteY2" fmla="*/ 1297172 h 129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4251" h="1297172">
                <a:moveTo>
                  <a:pt x="0" y="0"/>
                </a:moveTo>
                <a:cubicBezTo>
                  <a:pt x="6202" y="386316"/>
                  <a:pt x="12405" y="772633"/>
                  <a:pt x="276447" y="988828"/>
                </a:cubicBezTo>
                <a:cubicBezTo>
                  <a:pt x="540489" y="1205023"/>
                  <a:pt x="1062370" y="1251097"/>
                  <a:pt x="1584251" y="129717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Freeform: Shape 42"/>
          <p:cNvSpPr/>
          <p:nvPr/>
        </p:nvSpPr>
        <p:spPr>
          <a:xfrm>
            <a:off x="4816549" y="3912781"/>
            <a:ext cx="1648046" cy="1988289"/>
          </a:xfrm>
          <a:custGeom>
            <a:avLst/>
            <a:gdLst>
              <a:gd name="connsiteX0" fmla="*/ 0 w 1648046"/>
              <a:gd name="connsiteY0" fmla="*/ 0 h 1988289"/>
              <a:gd name="connsiteX1" fmla="*/ 1169581 w 1648046"/>
              <a:gd name="connsiteY1" fmla="*/ 510363 h 1988289"/>
              <a:gd name="connsiteX2" fmla="*/ 1648046 w 1648046"/>
              <a:gd name="connsiteY2" fmla="*/ 1988289 h 1988289"/>
              <a:gd name="connsiteX0" fmla="*/ 0 w 1648046"/>
              <a:gd name="connsiteY0" fmla="*/ 0 h 1988289"/>
              <a:gd name="connsiteX1" fmla="*/ 1169581 w 1648046"/>
              <a:gd name="connsiteY1" fmla="*/ 510363 h 1988289"/>
              <a:gd name="connsiteX2" fmla="*/ 1648046 w 1648046"/>
              <a:gd name="connsiteY2" fmla="*/ 1988289 h 198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8046" h="1988289">
                <a:moveTo>
                  <a:pt x="0" y="0"/>
                </a:moveTo>
                <a:cubicBezTo>
                  <a:pt x="468718" y="36328"/>
                  <a:pt x="894907" y="178982"/>
                  <a:pt x="1169581" y="510363"/>
                </a:cubicBezTo>
                <a:cubicBezTo>
                  <a:pt x="1444255" y="841744"/>
                  <a:pt x="1546150" y="1415016"/>
                  <a:pt x="1648046" y="198828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/>
          <p:cNvSpPr txBox="1"/>
          <p:nvPr/>
        </p:nvSpPr>
        <p:spPr>
          <a:xfrm>
            <a:off x="5640571" y="4277090"/>
            <a:ext cx="50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4604336" y="5265424"/>
                <a:ext cx="2370622" cy="1117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/>
                  <a:t>To get this new root:</a:t>
                </a: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  <m:oMath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=−1  →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GB" sz="1400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336" y="5265424"/>
                <a:ext cx="2370622" cy="1117229"/>
              </a:xfrm>
              <a:prstGeom prst="rect">
                <a:avLst/>
              </a:prstGeom>
              <a:blipFill>
                <a:blip r:embed="rId10"/>
                <a:stretch>
                  <a:fillRect l="-1064" t="-1124" b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/>
          <p:nvPr/>
        </p:nvCxnSpPr>
        <p:spPr>
          <a:xfrm flipV="1">
            <a:off x="5613991" y="4646428"/>
            <a:ext cx="170121" cy="563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595192" y="1978971"/>
            <a:ext cx="3929491" cy="4436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94493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  <p:bldLst>
      <p:bldP spid="17" grpId="0" animBg="1"/>
      <p:bldP spid="37" grpId="0" animBg="1"/>
    </p:bldLst>
  </p:timing>
</p:sld>
</file>

<file path=ppt/c4/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Exercise 4E – Pure Y1 page 74-75 (translations)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09D3C47-DBD9-BC7A-D13D-DE60F98D1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9" y="619632"/>
            <a:ext cx="6123336" cy="120553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234E109-8E75-015C-229F-CB3D9A46AEAA}"/>
              </a:ext>
            </a:extLst>
          </p:cNvPr>
          <p:cNvGrpSpPr/>
          <p:nvPr/>
        </p:nvGrpSpPr>
        <p:grpSpPr>
          <a:xfrm>
            <a:off x="28759" y="3513383"/>
            <a:ext cx="7650305" cy="863305"/>
            <a:chOff x="28759" y="3513383"/>
            <a:chExt cx="6271433" cy="70770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99445A-DC4A-6F6A-B251-6FB9F961C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759" y="3513383"/>
              <a:ext cx="6118444" cy="624331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A464A00-DA8A-573C-5140-8FB796DC378A}"/>
                </a:ext>
              </a:extLst>
            </p:cNvPr>
            <p:cNvSpPr/>
            <p:nvPr/>
          </p:nvSpPr>
          <p:spPr>
            <a:xfrm>
              <a:off x="5868144" y="3861048"/>
              <a:ext cx="432048" cy="360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4F9607C2-B1FB-15E9-2BE8-C6B5B3F68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1987831"/>
            <a:ext cx="3733800" cy="1206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F70233-1197-1887-CBC7-F48B0133E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962" y="1987831"/>
            <a:ext cx="3733800" cy="1206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CEBBE5-9F7B-C523-4972-5B1571831A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250" y="4581128"/>
            <a:ext cx="3733800" cy="19558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1A9E942-7573-55E4-BADF-EC90877ECCA1}"/>
              </a:ext>
            </a:extLst>
          </p:cNvPr>
          <p:cNvSpPr/>
          <p:nvPr/>
        </p:nvSpPr>
        <p:spPr>
          <a:xfrm>
            <a:off x="205747" y="1969842"/>
            <a:ext cx="3733801" cy="1387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26C12E-95DC-5297-7F2C-A56BE5E8B346}"/>
              </a:ext>
            </a:extLst>
          </p:cNvPr>
          <p:cNvSpPr/>
          <p:nvPr/>
        </p:nvSpPr>
        <p:spPr>
          <a:xfrm>
            <a:off x="4280302" y="1969842"/>
            <a:ext cx="3892098" cy="1387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b?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1A5E5D-93DC-979D-CB84-43C10124A0F9}"/>
              </a:ext>
            </a:extLst>
          </p:cNvPr>
          <p:cNvSpPr/>
          <p:nvPr/>
        </p:nvSpPr>
        <p:spPr>
          <a:xfrm>
            <a:off x="203354" y="4509120"/>
            <a:ext cx="3733801" cy="22322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680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c4/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2">
            <a:extLst>
              <a:ext uri="{FF2B5EF4-FFF2-40B4-BE49-F238E27FC236}">
                <a16:creationId xmlns:a16="http://schemas.microsoft.com/office/drawing/2014/main" id="{BAE8A969-A68D-CE7C-7567-5A588858ED5B}"/>
              </a:ext>
            </a:extLst>
          </p:cNvPr>
          <p:cNvSpPr txBox="1"/>
          <p:nvPr/>
        </p:nvSpPr>
        <p:spPr>
          <a:xfrm>
            <a:off x="0" y="0"/>
            <a:ext cx="9142856" cy="584775"/>
          </a:xfrm>
          <a:prstGeom prst="rect">
            <a:avLst/>
          </a:prstGeom>
          <a:solidFill>
            <a:srgbClr val="17375E">
              <a:alpha val="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32400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3200"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Exercise 4E – Pure Y1 page 74-75 (translations)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58C646B-5EAE-BDB7-0761-2F205D897228}"/>
              </a:ext>
            </a:extLst>
          </p:cNvPr>
          <p:cNvGrpSpPr/>
          <p:nvPr/>
        </p:nvGrpSpPr>
        <p:grpSpPr>
          <a:xfrm>
            <a:off x="107504" y="599127"/>
            <a:ext cx="4896544" cy="1036088"/>
            <a:chOff x="107504" y="599127"/>
            <a:chExt cx="4896544" cy="10360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C0C812C-DB7A-1EA9-0574-B5583D5F4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605545"/>
              <a:ext cx="4799052" cy="102325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4158780-4B15-3421-0BFF-8B9764F301BD}"/>
                </a:ext>
              </a:extLst>
            </p:cNvPr>
            <p:cNvSpPr/>
            <p:nvPr/>
          </p:nvSpPr>
          <p:spPr>
            <a:xfrm>
              <a:off x="4427984" y="599127"/>
              <a:ext cx="576064" cy="3095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F6CED8-2513-4129-94F5-19724B5FDC52}"/>
                </a:ext>
              </a:extLst>
            </p:cNvPr>
            <p:cNvSpPr/>
            <p:nvPr/>
          </p:nvSpPr>
          <p:spPr>
            <a:xfrm>
              <a:off x="4379238" y="1325622"/>
              <a:ext cx="576064" cy="3095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D3B3774-A892-00A1-2E18-30B5ABDAC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916832"/>
            <a:ext cx="3767908" cy="46933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BEC717-7B11-30FF-2511-342081B25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772" y="1844824"/>
            <a:ext cx="4584700" cy="20447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5671DAF-6FDB-5754-62B8-27D10DE4CE6A}"/>
              </a:ext>
            </a:extLst>
          </p:cNvPr>
          <p:cNvSpPr/>
          <p:nvPr/>
        </p:nvSpPr>
        <p:spPr>
          <a:xfrm>
            <a:off x="205747" y="1898843"/>
            <a:ext cx="3885689" cy="47113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9B9FFD-8260-92B9-218A-68824217D836}"/>
              </a:ext>
            </a:extLst>
          </p:cNvPr>
          <p:cNvSpPr/>
          <p:nvPr/>
        </p:nvSpPr>
        <p:spPr>
          <a:xfrm>
            <a:off x="4235772" y="1898843"/>
            <a:ext cx="4584700" cy="47113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424575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c4/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D3B4A2F-EBB2-8474-2BAE-64155776E5F3}"/>
              </a:ext>
            </a:extLst>
          </p:cNvPr>
          <p:cNvGrpSpPr/>
          <p:nvPr/>
        </p:nvGrpSpPr>
        <p:grpSpPr>
          <a:xfrm>
            <a:off x="107504" y="626979"/>
            <a:ext cx="6624736" cy="757928"/>
            <a:chOff x="107504" y="626979"/>
            <a:chExt cx="6624736" cy="75792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7EBA88F-A387-89C9-83F6-B4978E82F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626979"/>
              <a:ext cx="6552725" cy="757928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1F8E414-E100-595B-B827-0786887A6755}"/>
                </a:ext>
              </a:extLst>
            </p:cNvPr>
            <p:cNvSpPr/>
            <p:nvPr/>
          </p:nvSpPr>
          <p:spPr>
            <a:xfrm>
              <a:off x="6516216" y="626979"/>
              <a:ext cx="216024" cy="2817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EF3CBA-3422-00A5-2678-CF31746DA7AF}"/>
                </a:ext>
              </a:extLst>
            </p:cNvPr>
            <p:cNvSpPr/>
            <p:nvPr/>
          </p:nvSpPr>
          <p:spPr>
            <a:xfrm>
              <a:off x="6480211" y="1154089"/>
              <a:ext cx="216024" cy="2097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2" name="TextBox 32">
            <a:extLst>
              <a:ext uri="{FF2B5EF4-FFF2-40B4-BE49-F238E27FC236}">
                <a16:creationId xmlns:a16="http://schemas.microsoft.com/office/drawing/2014/main" id="{75967E21-D3C0-5A6C-1952-01077867900A}"/>
              </a:ext>
            </a:extLst>
          </p:cNvPr>
          <p:cNvSpPr txBox="1"/>
          <p:nvPr/>
        </p:nvSpPr>
        <p:spPr>
          <a:xfrm>
            <a:off x="0" y="0"/>
            <a:ext cx="9142856" cy="584775"/>
          </a:xfrm>
          <a:prstGeom prst="rect">
            <a:avLst/>
          </a:prstGeom>
          <a:solidFill>
            <a:srgbClr val="17375E">
              <a:alpha val="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324000" tIns="45720" rIns="91440" bIns="45720" rtlCol="0" anchor="ctr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3200"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Exercise 4E – Pure Y1 page 74-75 (translations)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A87042-14AA-AC2E-4E0C-4F42C26E8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700808"/>
            <a:ext cx="3678527" cy="42025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CDB3E7-8847-050B-BC6F-6FA7F668D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327" y="1606493"/>
            <a:ext cx="4813300" cy="23495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7C92121-0A9E-DFD7-56C6-7817500AD839}"/>
              </a:ext>
            </a:extLst>
          </p:cNvPr>
          <p:cNvSpPr/>
          <p:nvPr/>
        </p:nvSpPr>
        <p:spPr>
          <a:xfrm>
            <a:off x="147690" y="1590445"/>
            <a:ext cx="3885689" cy="47113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834246-9507-BD75-0D95-B729397CF976}"/>
              </a:ext>
            </a:extLst>
          </p:cNvPr>
          <p:cNvSpPr/>
          <p:nvPr/>
        </p:nvSpPr>
        <p:spPr>
          <a:xfrm>
            <a:off x="4177715" y="1590445"/>
            <a:ext cx="4584700" cy="47113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236383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c4/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Exercise 4F – Pure 1 Page 78 (stretches/reflections)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D8B3CAD-5A5D-4F34-1A3C-30FADD4F1DA0}"/>
              </a:ext>
            </a:extLst>
          </p:cNvPr>
          <p:cNvSpPr/>
          <p:nvPr/>
        </p:nvSpPr>
        <p:spPr>
          <a:xfrm>
            <a:off x="6516216" y="626980"/>
            <a:ext cx="216024" cy="209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C351DA-DCEC-15FB-5A8F-C6BF9FFCE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" y="579255"/>
            <a:ext cx="6107335" cy="12655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C109E0-05A0-EB09-1DE7-5DAEBBECF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60" y="1935228"/>
            <a:ext cx="3886200" cy="1104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ADFB1F-0BD2-9A7F-9092-CBD922529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248" y="1902064"/>
            <a:ext cx="3886200" cy="1257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7B7C57-75DA-A521-0582-67FFE04DBF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744" y="3169720"/>
            <a:ext cx="7772400" cy="9542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432AD4-CB03-A032-5D9F-40224AA19B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520" y="4245868"/>
            <a:ext cx="3886200" cy="1371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3ED697-37D3-5A55-912B-271CDFDCC717}"/>
              </a:ext>
            </a:extLst>
          </p:cNvPr>
          <p:cNvSpPr/>
          <p:nvPr/>
        </p:nvSpPr>
        <p:spPr>
          <a:xfrm>
            <a:off x="261194" y="1871425"/>
            <a:ext cx="4030215" cy="12655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3F0448-43B4-32E8-EF5B-D67FF502B1DE}"/>
              </a:ext>
            </a:extLst>
          </p:cNvPr>
          <p:cNvSpPr/>
          <p:nvPr/>
        </p:nvSpPr>
        <p:spPr>
          <a:xfrm>
            <a:off x="4653682" y="1844824"/>
            <a:ext cx="4308574" cy="13145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b?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ECC0E5-9C45-9419-0F35-8F8F6B7C69FB}"/>
              </a:ext>
            </a:extLst>
          </p:cNvPr>
          <p:cNvSpPr/>
          <p:nvPr/>
        </p:nvSpPr>
        <p:spPr>
          <a:xfrm>
            <a:off x="253752" y="4298883"/>
            <a:ext cx="4030215" cy="12655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97402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c4/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Exercise 4F – Pure 1 Page 78 (stretches/reflections) 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D8B3CAD-5A5D-4F34-1A3C-30FADD4F1DA0}"/>
              </a:ext>
            </a:extLst>
          </p:cNvPr>
          <p:cNvSpPr/>
          <p:nvPr/>
        </p:nvSpPr>
        <p:spPr>
          <a:xfrm>
            <a:off x="6516216" y="626980"/>
            <a:ext cx="216024" cy="209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3E233-6A66-4C82-A2AF-E3B8B81D2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40" y="626980"/>
            <a:ext cx="6629400" cy="965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ADD59B-E8DC-26E3-070F-CF1A89143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72" y="1852954"/>
            <a:ext cx="2667000" cy="2654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5BA07E-29E0-EB4A-00C8-B5B92611D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1844824"/>
            <a:ext cx="3949700" cy="345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E1D9592-EB5F-7AD0-EBC0-CDB65C96E767}"/>
              </a:ext>
            </a:extLst>
          </p:cNvPr>
          <p:cNvSpPr/>
          <p:nvPr/>
        </p:nvSpPr>
        <p:spPr>
          <a:xfrm>
            <a:off x="395536" y="1852954"/>
            <a:ext cx="3504684" cy="47113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A8449A-44F2-4F7D-AB43-00F2A4266E54}"/>
              </a:ext>
            </a:extLst>
          </p:cNvPr>
          <p:cNvSpPr/>
          <p:nvPr/>
        </p:nvSpPr>
        <p:spPr>
          <a:xfrm>
            <a:off x="4139952" y="1860589"/>
            <a:ext cx="4135155" cy="47113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212661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4/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Effect of transformation on specific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23528" y="836712"/>
            <a:ext cx="727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Sometimes you will not be given the original function, but will be given a sketch with specific points and features you need to transform.</a:t>
            </a:r>
          </a:p>
          <a:p>
            <a:r>
              <a:rPr lang="en-GB"/>
              <a:t>Where would each of these points end up?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9370081"/>
                  </p:ext>
                </p:extLst>
              </p:nvPr>
            </p:nvGraphicFramePr>
            <p:xfrm>
              <a:off x="1446028" y="2270126"/>
              <a:ext cx="5266468" cy="3119057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842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121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440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260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r>
                                  <a:rPr lang="en-GB" b="1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mtClean="0">
                                    <a:latin typeface="Cambria Math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𝟒</m:t>
                                    </m:r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𝟏</m:t>
                                    </m:r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,</m:t>
                                    </m:r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𝟔</m:t>
                                    </m:r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,−</m:t>
                                    </m:r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𝟒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mtClean="0">
                                    <a:latin typeface="Cambria Math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+1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3,3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0,0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5,−4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mtClean="0">
                                    <a:latin typeface="Cambria Math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2,3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0.5, 0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3, −4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mtClean="0"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GB" smtClean="0">
                                    <a:latin typeface="Cambria Math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4,9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1,0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6,−12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mtClean="0">
                                    <a:latin typeface="Cambria Math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GB" smtClean="0">
                                    <a:latin typeface="Cambria Math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4,2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1,−1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6,−5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mtClean="0">
                                    <a:latin typeface="Cambria Math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GB" smtClean="0">
                                            <a:latin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GB" smtClean="0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GB" smtClean="0">
                                            <a:latin typeface="Cambria Math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,3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4,0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24,−4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mtClean="0">
                                    <a:latin typeface="Cambria Math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−4,3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−1,0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−6,−4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GB" smtClean="0">
                                    <a:latin typeface="Cambria Math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4,−3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1,0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GB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mtClean="0">
                                        <a:latin typeface="Cambria Math"/>
                                      </a:rPr>
                                      <m:t>6,4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9370081"/>
                  </p:ext>
                </p:extLst>
              </p:nvPr>
            </p:nvGraphicFramePr>
            <p:xfrm>
              <a:off x="1446028" y="2270126"/>
              <a:ext cx="5266468" cy="3119057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842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121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440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260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r="-234400" b="-762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0208" r="-205208" b="-762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510" r="-101020" b="-7620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8866" r="-2062" b="-7620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96667" r="-234400" b="-6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0208" t="-96667" r="-205208" b="-6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510" t="-96667" r="-101020" b="-6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8866" t="-96667" r="-2062" b="-63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203448" r="-234400" b="-5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0208" t="-203448" r="-205208" b="-5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510" t="-203448" r="-101020" b="-5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8866" t="-203448" r="-2062" b="-558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03448" r="-234400" b="-4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0208" t="-303448" r="-205208" b="-4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510" t="-303448" r="-101020" b="-4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8866" t="-303448" r="-2062" b="-458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90000" r="-234400" b="-3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0208" t="-390000" r="-205208" b="-3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510" t="-390000" r="-101020" b="-3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8866" t="-390000" r="-2062" b="-34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31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58537" r="-234400" b="-1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0208" t="-358537" r="-205208" b="-1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510" t="-358537" r="-101020" b="-15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8866" t="-358537" r="-2062" b="-15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626667" r="-234400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0208" t="-626667" r="-205208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510" t="-626667" r="-101020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8866" t="-626667" r="-2062" b="-1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751724" r="-234400" b="-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0208" t="-751724" r="-205208" b="-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510" t="-751724" r="-101020" b="-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28866" t="-751724" r="-2062" b="-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>
          <a:xfrm>
            <a:off x="3059831" y="2630166"/>
            <a:ext cx="1197843" cy="385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7674" y="2630166"/>
            <a:ext cx="1228725" cy="385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399" y="2630166"/>
            <a:ext cx="1209675" cy="385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59831" y="3016102"/>
            <a:ext cx="1197843" cy="385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7674" y="3016102"/>
            <a:ext cx="1228725" cy="385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399" y="3016102"/>
            <a:ext cx="1209675" cy="3859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59831" y="3402038"/>
            <a:ext cx="1197843" cy="3665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7674" y="3402038"/>
            <a:ext cx="1228725" cy="3665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399" y="3402038"/>
            <a:ext cx="1209675" cy="3665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9831" y="3766282"/>
            <a:ext cx="1197843" cy="3665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7674" y="3766282"/>
            <a:ext cx="1228725" cy="3665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399" y="3766282"/>
            <a:ext cx="1209675" cy="3665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59829" y="4132820"/>
            <a:ext cx="1197843" cy="5215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7674" y="4132821"/>
            <a:ext cx="1228725" cy="5215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399" y="4132821"/>
            <a:ext cx="1209675" cy="5215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59830" y="4654402"/>
            <a:ext cx="1197843" cy="428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7673" y="4654402"/>
            <a:ext cx="1228725" cy="428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398" y="4654402"/>
            <a:ext cx="1209675" cy="428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59830" y="5083028"/>
            <a:ext cx="1197843" cy="361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7673" y="5083028"/>
            <a:ext cx="1228725" cy="361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398" y="5083028"/>
            <a:ext cx="1209675" cy="361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4775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c4/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14" y="1031358"/>
            <a:ext cx="5113691" cy="57931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274981" y="704282"/>
            <a:ext cx="259228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/>
              <a:t>Edexcel C1 May 2012 Q10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1741936"/>
            <a:ext cx="2971800" cy="43719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4065" y="1648047"/>
            <a:ext cx="2036800" cy="294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4064" y="2036101"/>
            <a:ext cx="2579061" cy="18766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4063" y="3944453"/>
            <a:ext cx="2579061" cy="18766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4062" y="5821132"/>
            <a:ext cx="2579061" cy="3244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4286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c4/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Exercise 4G Pure Y1 Pages 80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BB8526-CD7F-6EA0-87B2-CDAE796227E5}"/>
              </a:ext>
            </a:extLst>
          </p:cNvPr>
          <p:cNvGrpSpPr/>
          <p:nvPr/>
        </p:nvGrpSpPr>
        <p:grpSpPr>
          <a:xfrm>
            <a:off x="107504" y="631322"/>
            <a:ext cx="6480720" cy="1291406"/>
            <a:chOff x="107504" y="631322"/>
            <a:chExt cx="6480720" cy="129140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263F0E0-A3C2-870D-A1FC-FBE9DBB39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631322"/>
              <a:ext cx="6264694" cy="129140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3BC32F2-91FA-90CE-C643-61EB6AFBD997}"/>
                </a:ext>
              </a:extLst>
            </p:cNvPr>
            <p:cNvSpPr/>
            <p:nvPr/>
          </p:nvSpPr>
          <p:spPr>
            <a:xfrm>
              <a:off x="6228184" y="1175489"/>
              <a:ext cx="360040" cy="1652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A3C1CD5-C41F-7553-263C-3943CBE7090F}"/>
                </a:ext>
              </a:extLst>
            </p:cNvPr>
            <p:cNvSpPr/>
            <p:nvPr/>
          </p:nvSpPr>
          <p:spPr>
            <a:xfrm>
              <a:off x="6120171" y="1704099"/>
              <a:ext cx="360040" cy="1652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B9FE91E9-22C3-3684-98EA-56773C436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060848"/>
            <a:ext cx="3898900" cy="1447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963B90-ECB4-3281-BA90-77B3DA690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428" y="2080614"/>
            <a:ext cx="3898900" cy="38227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B2617EC-A424-0CC6-8A15-955947F2C167}"/>
              </a:ext>
            </a:extLst>
          </p:cNvPr>
          <p:cNvSpPr/>
          <p:nvPr/>
        </p:nvSpPr>
        <p:spPr>
          <a:xfrm>
            <a:off x="251520" y="2080614"/>
            <a:ext cx="3898900" cy="3724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7557F4-D1AD-D4FE-73AE-4493A82AA6AC}"/>
              </a:ext>
            </a:extLst>
          </p:cNvPr>
          <p:cNvSpPr/>
          <p:nvPr/>
        </p:nvSpPr>
        <p:spPr>
          <a:xfrm>
            <a:off x="4530761" y="2080614"/>
            <a:ext cx="3898900" cy="37246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244552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c4/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Exercise 4G Pure Y1 Pages 80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8D0303B-A8E6-5500-6489-29FBA4A40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42" y="2042973"/>
            <a:ext cx="2057579" cy="2393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41DFC0-7C45-36E2-62CE-F38918E2D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18" y="4509120"/>
            <a:ext cx="1899748" cy="22081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E936B2-A3FE-3F5C-73FB-09D9528A3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7430" y="1998981"/>
            <a:ext cx="1905083" cy="248103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6205776B-1C58-C107-439F-4031371F8591}"/>
              </a:ext>
            </a:extLst>
          </p:cNvPr>
          <p:cNvGrpSpPr/>
          <p:nvPr/>
        </p:nvGrpSpPr>
        <p:grpSpPr>
          <a:xfrm>
            <a:off x="448441" y="715503"/>
            <a:ext cx="5133393" cy="1189420"/>
            <a:chOff x="448442" y="715503"/>
            <a:chExt cx="4096512" cy="949172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8215FA8-CF75-469F-22C1-ACFFB106C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8442" y="715503"/>
              <a:ext cx="3995936" cy="730027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A1B5F5F-80EF-0362-3703-C8DDFC447A30}"/>
                </a:ext>
              </a:extLst>
            </p:cNvPr>
            <p:cNvGrpSpPr/>
            <p:nvPr/>
          </p:nvGrpSpPr>
          <p:grpSpPr>
            <a:xfrm>
              <a:off x="627954" y="1460744"/>
              <a:ext cx="3917000" cy="203931"/>
              <a:chOff x="172409" y="1454075"/>
              <a:chExt cx="3917000" cy="203931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9DAFFC80-6F9C-C60D-2DBD-A5DD835371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2409" y="1454075"/>
                <a:ext cx="1447263" cy="192526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D93625F6-91B3-B3F0-CD4E-1365F508F2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91680" y="1458761"/>
                <a:ext cx="1447263" cy="192526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493FD8E0-47D8-1278-3B00-9F566E1CEF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10951" y="1457413"/>
                <a:ext cx="878458" cy="200593"/>
              </a:xfrm>
              <a:prstGeom prst="rect">
                <a:avLst/>
              </a:prstGeom>
            </p:spPr>
          </p:pic>
        </p:grp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9C72A610-4425-2A93-8AA6-1AF8B955A6A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4804"/>
          <a:stretch/>
        </p:blipFill>
        <p:spPr>
          <a:xfrm>
            <a:off x="5737861" y="707647"/>
            <a:ext cx="1024508" cy="131989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9E3B83A-A26E-FB38-D1FD-98CCF983D6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3847" y="4564363"/>
            <a:ext cx="1976859" cy="220819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FC36153-C067-8743-5BBA-1534B1DA7B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4573" y="1979461"/>
            <a:ext cx="2345779" cy="308215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DC99CFD-33DF-18DB-2F41-9112E9348B68}"/>
              </a:ext>
            </a:extLst>
          </p:cNvPr>
          <p:cNvSpPr/>
          <p:nvPr/>
        </p:nvSpPr>
        <p:spPr>
          <a:xfrm>
            <a:off x="539552" y="1998981"/>
            <a:ext cx="2293208" cy="24746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892ED5-B19C-0A06-89D6-E8C04AE05E3D}"/>
              </a:ext>
            </a:extLst>
          </p:cNvPr>
          <p:cNvSpPr/>
          <p:nvPr/>
        </p:nvSpPr>
        <p:spPr>
          <a:xfrm>
            <a:off x="2949881" y="1998980"/>
            <a:ext cx="2345779" cy="24746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c?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107244-2657-D1B3-E213-2CE9D60D0C29}"/>
              </a:ext>
            </a:extLst>
          </p:cNvPr>
          <p:cNvSpPr/>
          <p:nvPr/>
        </p:nvSpPr>
        <p:spPr>
          <a:xfrm>
            <a:off x="5390993" y="2004490"/>
            <a:ext cx="2295391" cy="47680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e?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0213E2-938F-4B3C-B7BE-120B42747671}"/>
              </a:ext>
            </a:extLst>
          </p:cNvPr>
          <p:cNvSpPr/>
          <p:nvPr/>
        </p:nvSpPr>
        <p:spPr>
          <a:xfrm>
            <a:off x="539552" y="4548205"/>
            <a:ext cx="2293208" cy="2224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b?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4FCB9E-D8B6-0BFE-7C6C-CF5C394718F4}"/>
              </a:ext>
            </a:extLst>
          </p:cNvPr>
          <p:cNvSpPr/>
          <p:nvPr/>
        </p:nvSpPr>
        <p:spPr>
          <a:xfrm>
            <a:off x="2946301" y="4548205"/>
            <a:ext cx="2345779" cy="2224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171850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c4/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4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