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c2/ppt/slideMasters/slideMaster1.xml" ContentType="application/vnd.openxmlformats-officedocument.presentationml.slideMaster+xml"/>
  <ns0:Override PartName="/ppt/c2/ppt/slides/slide6.xml" ContentType="application/vnd.openxmlformats-officedocument.presentationml.slide+xml"/>
  <ns0:Override PartName="/ppt/c2/ppt/slides/slide7.xml" ContentType="application/vnd.openxmlformats-officedocument.presentationml.slide+xml"/>
  <ns0:Override PartName="/ppt/c2/ppt/slides/slide8.xml" ContentType="application/vnd.openxmlformats-officedocument.presentationml.slide+xml"/>
  <ns0:Override PartName="/ppt/c2/ppt/slides/slide9.xml" ContentType="application/vnd.openxmlformats-officedocument.presentationml.slide+xml"/>
  <ns0:Override PartName="/ppt/c2/ppt/slides/slide10.xml" ContentType="application/vnd.openxmlformats-officedocument.presentationml.slide+xml"/>
  <ns0:Override PartName="/ppt/c2/ppt/slides/slide24.xml" ContentType="application/vnd.openxmlformats-officedocument.presentationml.slide+xml"/>
  <ns0:Override PartName="/ppt/c2/ppt/notesMasters/notesMaster1.xml" ContentType="application/vnd.openxmlformats-officedocument.presentationml.notesMaster+xml"/>
  <ns0:Override PartName="/ppt/c2/ppt/theme/theme1.xml" ContentType="application/vnd.openxmlformats-officedocument.theme+xml"/>
  <ns0:Override PartName="/ppt/c2/ppt/slideLayouts/slideLayout1.xml" ContentType="application/vnd.openxmlformats-officedocument.presentationml.slideLayout+xml"/>
  <ns0:Override PartName="/ppt/c2/ppt/slideLayouts/slideLayout2.xml" ContentType="application/vnd.openxmlformats-officedocument.presentationml.slideLayout+xml"/>
  <ns0:Override PartName="/ppt/c2/ppt/slideLayouts/slideLayout3.xml" ContentType="application/vnd.openxmlformats-officedocument.presentationml.slideLayout+xml"/>
  <ns0:Override PartName="/ppt/c2/ppt/theme/theme2.xml" ContentType="application/vnd.openxmlformats-officedocument.theme+xml"/>
  <ns0:Override PartName="/ppt/c2/ppt/notesSlides/notesSlide2.xml" ContentType="application/vnd.openxmlformats-officedocument.presentationml.notesSlide+xml"/>
  <ns0:Override PartName="/ppt/c2/ppt/notesSlides/notesSlide3.xml" ContentType="application/vnd.openxmlformats-officedocument.presentationml.notesSlide+xml"/>
  <ns0:Override PartName="/ppt/c2/ppt/notesSlides/notesSlide4.xml" ContentType="application/vnd.openxmlformats-officedocument.presentationml.notesSlide+xml"/>
  <ns0:Override PartName="/ppt/c10/ppt/slideMasters/slideMaster1.xml" ContentType="application/vnd.openxmlformats-officedocument.presentationml.slideMaster+xml"/>
  <ns0:Override PartName="/ppt/c10/ppt/slides/slide29.xml" ContentType="application/vnd.openxmlformats-officedocument.presentationml.slide+xml"/>
  <ns0:Override PartName="/ppt/c10/ppt/slides/slide30.xml" ContentType="application/vnd.openxmlformats-officedocument.presentationml.slide+xml"/>
  <ns0:Override PartName="/ppt/c10/ppt/slides/slide31.xml" ContentType="application/vnd.openxmlformats-officedocument.presentationml.slide+xml"/>
  <ns0:Override PartName="/ppt/c10/ppt/slides/slide32.xml" ContentType="application/vnd.openxmlformats-officedocument.presentationml.slide+xml"/>
  <ns0:Override PartName="/ppt/c10/ppt/slides/slide33.xml" ContentType="application/vnd.openxmlformats-officedocument.presentationml.slide+xml"/>
  <ns0:Override PartName="/ppt/c10/ppt/slides/slide34.xml" ContentType="application/vnd.openxmlformats-officedocument.presentationml.slide+xml"/>
  <ns0:Override PartName="/ppt/c10/ppt/notesMasters/notesMaster1.xml" ContentType="application/vnd.openxmlformats-officedocument.presentationml.notesMaster+xml"/>
  <ns0:Override PartName="/ppt/c10/ppt/theme/theme1.xml" ContentType="application/vnd.openxmlformats-officedocument.theme+xml"/>
  <ns0:Override PartName="/ppt/c10/ppt/slideLayouts/slideLayout1.xml" ContentType="application/vnd.openxmlformats-officedocument.presentationml.slideLayout+xml"/>
  <ns0:Override PartName="/ppt/c10/ppt/slideLayouts/slideLayout2.xml" ContentType="application/vnd.openxmlformats-officedocument.presentationml.slideLayout+xml"/>
  <ns0:Override PartName="/ppt/c10/ppt/theme/theme2.xml" ContentType="application/vnd.openxmlformats-officedocument.theme+xml"/>
  <ns0:Override PartName="/ppt/c10/ppt/ink/ink1.xml" ContentType="application/inkml+xml"/>
  <ns0:Override PartName="/ppt/c10/ppt/ink/ink2.xml" ContentType="application/inkml+xml"/>
  <ns0:Override PartName="/ppt/c14/ppt/slideMasters/slideMaster1.xml" ContentType="application/vnd.openxmlformats-officedocument.presentationml.slideMaster+xml"/>
  <ns0:Override PartName="/ppt/c14/ppt/slides/slide42.xml" ContentType="application/vnd.openxmlformats-officedocument.presentationml.slide+xml"/>
  <ns0:Override PartName="/ppt/c14/ppt/slides/slide43.xml" ContentType="application/vnd.openxmlformats-officedocument.presentationml.slide+xml"/>
  <ns0:Override PartName="/ppt/c14/ppt/slides/slide44.xml" ContentType="application/vnd.openxmlformats-officedocument.presentationml.slide+xml"/>
  <ns0:Override PartName="/ppt/c14/ppt/notesMasters/notesMaster1.xml" ContentType="application/vnd.openxmlformats-officedocument.presentationml.notesMaster+xml"/>
  <ns0:Override PartName="/ppt/c14/ppt/theme/theme1.xml" ContentType="application/vnd.openxmlformats-officedocument.theme+xml"/>
  <ns0:Override PartName="/ppt/c14/ppt/slideLayouts/slideLayout1.xml" ContentType="application/vnd.openxmlformats-officedocument.presentationml.slideLayout+xml"/>
  <ns0:Override PartName="/ppt/c14/ppt/slideLayouts/slideLayout2.xml" ContentType="application/vnd.openxmlformats-officedocument.presentationml.slideLayout+xml"/>
  <ns0:Override PartName="/ppt/c14/ppt/slideLayouts/slideLayout3.xml" ContentType="application/vnd.openxmlformats-officedocument.presentationml.slideLayout+xml"/>
  <ns0:Override PartName="/ppt/c14/ppt/slideLayouts/slideLayout4.xml" ContentType="application/vnd.openxmlformats-officedocument.presentationml.slideLayout+xml"/>
  <ns0:Override PartName="/ppt/c14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848" r:id="rId7"/>
    <p:sldMasterId id="2147484649" r:id="rId15"/>
    <p:sldMasterId id="2147485050" r:id="rId20"/>
  </p:sldMasterIdLst>
  <p:notesMasterIdLst>
    <p:notesMasterId r:id="rId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9"/>
    <p:sldId id="263" r:id="rId10"/>
    <p:sldId id="264" r:id="rId11"/>
    <p:sldId id="265" r:id="rId12"/>
    <p:sldId id="266" r:id="rId13"/>
    <p:sldId id="267" r:id="rId14"/>
    <p:sldId id="268" r:id="rId17"/>
    <p:sldId id="269" r:id="rId18"/>
    <p:sldId id="270" r:id="rId19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2/ppt/slides/slide6.xml" /><ns0:Relationship Id="rId2" Type="http://schemas.openxmlformats.org/officeDocument/2006/relationships/slide" Target="c2/ppt/slides/slide7.xml" /><ns0:Relationship Id="rId3" Type="http://schemas.openxmlformats.org/officeDocument/2006/relationships/slide" Target="c2/ppt/slides/slide8.xml" /><ns0:Relationship Id="rId4" Type="http://schemas.openxmlformats.org/officeDocument/2006/relationships/slide" Target="c2/ppt/slides/slide9.xml" /><ns0:Relationship Id="rId5" Type="http://schemas.openxmlformats.org/officeDocument/2006/relationships/slide" Target="c2/ppt/slides/slide10.xml" /><ns0:Relationship Id="rId6" Type="http://schemas.openxmlformats.org/officeDocument/2006/relationships/slide" Target="c2/ppt/slides/slide24.xml" /><ns0:Relationship Id="rId7" Type="http://schemas.openxmlformats.org/officeDocument/2006/relationships/slideMaster" Target="c2/ppt/slideMasters/slideMaster1.xml" /><ns0:Relationship Id="rId8" Type="http://schemas.openxmlformats.org/officeDocument/2006/relationships/notesMaster" Target="c2/ppt/notesMasters/notesMaster1.xml" /><ns0:Relationship Id="rId9" Type="http://schemas.openxmlformats.org/officeDocument/2006/relationships/slide" Target="c10/ppt/slides/slide29.xml" /><ns0:Relationship Id="rId10" Type="http://schemas.openxmlformats.org/officeDocument/2006/relationships/slide" Target="c10/ppt/slides/slide30.xml" /><ns0:Relationship Id="rId11" Type="http://schemas.openxmlformats.org/officeDocument/2006/relationships/slide" Target="c10/ppt/slides/slide31.xml" /><ns0:Relationship Id="rId12" Type="http://schemas.openxmlformats.org/officeDocument/2006/relationships/slide" Target="c10/ppt/slides/slide32.xml" /><ns0:Relationship Id="rId13" Type="http://schemas.openxmlformats.org/officeDocument/2006/relationships/slide" Target="c10/ppt/slides/slide33.xml" /><ns0:Relationship Id="rId14" Type="http://schemas.openxmlformats.org/officeDocument/2006/relationships/slide" Target="c10/ppt/slides/slide34.xml" /><ns0:Relationship Id="rId15" Type="http://schemas.openxmlformats.org/officeDocument/2006/relationships/slideMaster" Target="c10/ppt/slideMasters/slideMaster1.xml" /><ns0:Relationship Id="rId16" Type="http://schemas.openxmlformats.org/officeDocument/2006/relationships/notesMaster" Target="c10/ppt/notesMasters/notesMaster1.xml" /><ns0:Relationship Id="rId17" Type="http://schemas.openxmlformats.org/officeDocument/2006/relationships/slide" Target="c14/ppt/slides/slide42.xml" /><ns0:Relationship Id="rId18" Type="http://schemas.openxmlformats.org/officeDocument/2006/relationships/slide" Target="c14/ppt/slides/slide43.xml" /><ns0:Relationship Id="rId19" Type="http://schemas.openxmlformats.org/officeDocument/2006/relationships/slide" Target="c14/ppt/slides/slide44.xml" /><ns0:Relationship Id="rId20" Type="http://schemas.openxmlformats.org/officeDocument/2006/relationships/slideMaster" Target="c14/ppt/slideMasters/slideMaster1.xml" /><ns0:Relationship Id="rId21" Type="http://schemas.openxmlformats.org/officeDocument/2006/relationships/notesMaster" Target="c14/ppt/notesMasters/notesMaster1.xml" /></ns0:Relationships>
</file>

<file path=ppt/c2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2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2/ppt/notesSlides/_rels/notesSlide2.xml.rels><?xml version='1.0' encoding='utf-8'?>
<ns0:Relationships xmlns:ns0="http://schemas.openxmlformats.org/package/2006/relationships"><ns0:Relationship Id="rId2" Type="http://schemas.openxmlformats.org/officeDocument/2006/relationships/slide" Target="../slides/slide8.xml" /><ns0:Relationship Id="rId1" Type="http://schemas.openxmlformats.org/officeDocument/2006/relationships/notesMaster" Target="../notesMasters/notesMaster1.xml" /></ns0:Relationships>
</file>

<file path=ppt/c2/ppt/notesSlides/_rels/notesSlide3.xml.rels><?xml version='1.0' encoding='utf-8'?>
<ns0:Relationships xmlns:ns0="http://schemas.openxmlformats.org/package/2006/relationships"><ns0:Relationship Id="rId2" Type="http://schemas.openxmlformats.org/officeDocument/2006/relationships/slide" Target="../slides/slide9.xml" /><ns0:Relationship Id="rId1" Type="http://schemas.openxmlformats.org/officeDocument/2006/relationships/notesMaster" Target="../notesMasters/notesMaster1.xml" /></ns0:Relationships>
</file>

<file path=ppt/c2/ppt/notesSlides/_rels/notesSlide4.xml.rels><?xml version='1.0' encoding='utf-8'?>
<ns0:Relationships xmlns:ns0="http://schemas.openxmlformats.org/package/2006/relationships"><ns0:Relationship Id="rId2" Type="http://schemas.openxmlformats.org/officeDocument/2006/relationships/slide" Target="../slides/slide10.xml" /><ns0:Relationship Id="rId1" Type="http://schemas.openxmlformats.org/officeDocument/2006/relationships/notesMaster" Target="../notesMasters/notesMaster1.xml" /></ns0:Relationships>
</file>

<file path=ppt/c2/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51720"/>
      </p:ext>
    </p:extLst>
  </p:cSld>
  <p:clrMapOvr>
    <a:masterClrMapping/>
  </p:clrMapOvr>
</p:notes>
</file>

<file path=ppt/c2/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007144"/>
      </p:ext>
    </p:extLst>
  </p:cSld>
  <p:clrMapOvr>
    <a:masterClrMapping/>
  </p:clrMapOvr>
</p:notes>
</file>

<file path=ppt/c2/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698530"/>
      </p:ext>
    </p:extLst>
  </p:cSld>
  <p:clrMapOvr>
    <a:masterClrMapping/>
  </p:clrMapOvr>
</p:notes>
</file>

<file path=ppt/c2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794FB-C7EC-52E2-E5CC-9239F0172DA3}"/>
              </a:ext>
            </a:extLst>
          </p:cNvPr>
          <p:cNvSpPr/>
          <p:nvPr userDrawn="1"/>
        </p:nvSpPr>
        <p:spPr>
          <a:xfrm>
            <a:off x="8428871" y="188640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371667"/>
      </p:ext>
    </p:extLst>
  </p:cSld>
  <p:clrMapOvr>
    <a:masterClrMapping/>
  </p:clrMapOvr>
</p:sldLayout>
</file>

<file path=ppt/c2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c2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2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2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41FCD68-8B6E-A7C5-AF86-F245AC0086A7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2/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18.png" /><ns0:Relationship Id="rId7" Type="http://schemas.openxmlformats.org/officeDocument/2006/relationships/image" Target="../media/image22.png" /><ns0:Relationship Id="rId2" Type="http://schemas.openxmlformats.org/officeDocument/2006/relationships/image" Target="../media/image17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21.png" /><ns0:Relationship Id="rId5" Type="http://schemas.openxmlformats.org/officeDocument/2006/relationships/image" Target="../media/image20.png" /><ns0:Relationship Id="rId4" Type="http://schemas.openxmlformats.org/officeDocument/2006/relationships/image" Target="../media/image19.png" /></ns0:Relationships>
</file>

<file path=ppt/c2/ppt/slides/_rels/slide7.xml.rels><?xml version='1.0' encoding='utf-8'?>
<ns0:Relationships xmlns:ns0="http://schemas.openxmlformats.org/package/2006/relationships"><ns0:Relationship Id="rId8" Type="http://schemas.openxmlformats.org/officeDocument/2006/relationships/image" Target="../media/image29.png" /><ns0:Relationship Id="rId3" Type="http://schemas.openxmlformats.org/officeDocument/2006/relationships/image" Target="../media/image24.png" /><ns0:Relationship Id="rId7" Type="http://schemas.openxmlformats.org/officeDocument/2006/relationships/image" Target="../media/image28.png" /><ns0:Relationship Id="rId2" Type="http://schemas.openxmlformats.org/officeDocument/2006/relationships/image" Target="../media/image23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27.png" /><ns0:Relationship Id="rId5" Type="http://schemas.openxmlformats.org/officeDocument/2006/relationships/image" Target="../media/image26.png" /><ns0:Relationship Id="rId10" Type="http://schemas.openxmlformats.org/officeDocument/2006/relationships/image" Target="../media/image412.png" /><ns0:Relationship Id="rId4" Type="http://schemas.openxmlformats.org/officeDocument/2006/relationships/image" Target="../media/image25.png" /><ns0:Relationship Id="rId9" Type="http://schemas.openxmlformats.org/officeDocument/2006/relationships/image" Target="../media/image30.png" /></ns0:Relationships>
</file>

<file path=ppt/c2/ppt/slides/_rels/slide8.xml.rels><?xml version='1.0' encoding='utf-8'?>
<ns0:Relationships xmlns:ns0="http://schemas.openxmlformats.org/package/2006/relationships"><ns0:Relationship Id="rId8" Type="http://schemas.openxmlformats.org/officeDocument/2006/relationships/image" Target="../media/image10.png" /><ns0:Relationship Id="rId3" Type="http://schemas.openxmlformats.org/officeDocument/2006/relationships/image" Target="../media/image5.png" /><ns0:Relationship Id="rId7" Type="http://schemas.openxmlformats.org/officeDocument/2006/relationships/image" Target="../media/image9.png" /><ns0:Relationship Id="rId2" Type="http://schemas.openxmlformats.org/officeDocument/2006/relationships/notesSlide" Target="../notesSlides/notesSlide2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8.png" /><ns0:Relationship Id="rId11" Type="http://schemas.openxmlformats.org/officeDocument/2006/relationships/image" Target="../media/image32.png" /><ns0:Relationship Id="rId5" Type="http://schemas.openxmlformats.org/officeDocument/2006/relationships/image" Target="../media/image7.png" /><ns0:Relationship Id="rId10" Type="http://schemas.openxmlformats.org/officeDocument/2006/relationships/image" Target="../media/image31.png" /><ns0:Relationship Id="rId4" Type="http://schemas.openxmlformats.org/officeDocument/2006/relationships/image" Target="../media/image6.png" /><ns0:Relationship Id="rId9" Type="http://schemas.openxmlformats.org/officeDocument/2006/relationships/image" Target="../media/image12.png" /></ns0:Relationships>
</file>

<file path=ppt/c2/ppt/slides/_rels/slide9.xml.rels><?xml version='1.0' encoding='utf-8'?>
<ns0:Relationships xmlns:ns0="http://schemas.openxmlformats.org/package/2006/relationships"><ns0:Relationship Id="rId8" Type="http://schemas.openxmlformats.org/officeDocument/2006/relationships/image" Target="../media/image38.png" /><ns0:Relationship Id="rId3" Type="http://schemas.openxmlformats.org/officeDocument/2006/relationships/image" Target="../media/image33.png" /><ns0:Relationship Id="rId7" Type="http://schemas.openxmlformats.org/officeDocument/2006/relationships/image" Target="../media/image37.png" /><ns0:Relationship Id="rId2" Type="http://schemas.openxmlformats.org/officeDocument/2006/relationships/notesSlide" Target="../notesSlides/notesSlide3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36.png" /><ns0:Relationship Id="rId5" Type="http://schemas.openxmlformats.org/officeDocument/2006/relationships/image" Target="../media/image35.png" /><ns0:Relationship Id="rId4" Type="http://schemas.openxmlformats.org/officeDocument/2006/relationships/image" Target="../media/image34.png" /><ns0:Relationship Id="rId9" Type="http://schemas.openxmlformats.org/officeDocument/2006/relationships/image" Target="../media/image39.png" /></ns0:Relationships>
</file>

<file path=ppt/c2/ppt/slides/_rels/slide10.xml.rels><?xml version='1.0' encoding='utf-8'?>
<ns0:Relationships xmlns:ns0="http://schemas.openxmlformats.org/package/2006/relationships"><ns0:Relationship Id="rId3" Type="http://schemas.openxmlformats.org/officeDocument/2006/relationships/hyperlink" Target="http://www.drfrostmaths.com/resources/resource.php?rid=268" TargetMode="External" /><ns0:Relationship Id="rId2" Type="http://schemas.openxmlformats.org/officeDocument/2006/relationships/notesSlide" Target="../notesSlides/notesSlide4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42.png" /><ns0:Relationship Id="rId5" Type="http://schemas.openxmlformats.org/officeDocument/2006/relationships/image" Target="../media/image41.png" /><ns0:Relationship Id="rId4" Type="http://schemas.openxmlformats.org/officeDocument/2006/relationships/image" Target="../media/image40.png" /></ns0:Relationships>
</file>

<file path=ppt/c2/ppt/slides/_rels/slide24.xml.rels><?xml version='1.0' encoding='utf-8'?>
<ns0:Relationships xmlns:ns0="http://schemas.openxmlformats.org/package/2006/relationships"><ns0:Relationship Id="rId3" Type="http://schemas.openxmlformats.org/officeDocument/2006/relationships/image" Target="../media/image84.png" /><ns0:Relationship Id="rId7" Type="http://schemas.openxmlformats.org/officeDocument/2006/relationships/image" Target="../media/image88.png" /><ns0:Relationship Id="rId2" Type="http://schemas.openxmlformats.org/officeDocument/2006/relationships/image" Target="../media/image83.png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87.png" /><ns0:Relationship Id="rId5" Type="http://schemas.openxmlformats.org/officeDocument/2006/relationships/image" Target="../media/image86.png" /><ns0:Relationship Id="rId4" Type="http://schemas.openxmlformats.org/officeDocument/2006/relationships/image" Target="../media/image85.png" /></ns0:Relationships>
</file>

<file path=ppt/c2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1: Solving Quadratic Equations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687964" y="1236174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 the subject only appears once however, it might be easier not to expand out/factorise: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04188" y="1956254"/>
                <a:ext cx="2808312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−1=±</m:t>
                      </m:r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=1±</m:t>
                      </m:r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br>
                  <a:rPr lang="en-GB" b="0" dirty="0"/>
                </a:br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188" y="1956254"/>
                <a:ext cx="2808312" cy="1100879"/>
              </a:xfrm>
              <a:prstGeom prst="rect">
                <a:avLst/>
              </a:prstGeom>
              <a:blipFill>
                <a:blip r:embed="rId2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28524" y="1956254"/>
                <a:ext cx="3096344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If you can’t see why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± </m:t>
                    </m:r>
                  </m:oMath>
                </a14:m>
                <a:r>
                  <a:rPr lang="en-GB" sz="1400" dirty="0"/>
                  <a:t> is required, think about the solutions to: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400" dirty="0"/>
                  <a:t>, but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400" dirty="0"/>
                  <a:t> as well! </a:t>
                </a:r>
              </a:p>
              <a:p>
                <a:r>
                  <a:rPr lang="en-GB" sz="1400" dirty="0"/>
                  <a:t>So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=±2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524" y="1956254"/>
                <a:ext cx="3096344" cy="954107"/>
              </a:xfrm>
              <a:prstGeom prst="rect">
                <a:avLst/>
              </a:prstGeom>
              <a:blipFill>
                <a:blip r:embed="rId3"/>
                <a:stretch>
                  <a:fillRect l="-195" b="-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5008444" y="2433308"/>
            <a:ext cx="720080" cy="73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91932" y="3582302"/>
                <a:ext cx="770485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When we have an expression like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GB" dirty="0"/>
                  <a:t>, we say it is “quadratic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”. In trigonometry you will have to solve equations like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dirty="0"/>
                  <a:t>. We say that the expression is “quadratic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”. </a:t>
                </a:r>
              </a:p>
              <a:p>
                <a:r>
                  <a:rPr lang="en-GB" dirty="0"/>
                  <a:t>Either use a suitable substitution so that you have a ‘normal’ quadratic, or go straight for the factorisation if you’re feeling more confident (recommended!).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32" y="3582302"/>
                <a:ext cx="7704856" cy="1477328"/>
              </a:xfrm>
              <a:prstGeom prst="rect">
                <a:avLst/>
              </a:prstGeom>
              <a:blipFill>
                <a:blip r:embed="rId4"/>
                <a:stretch>
                  <a:fillRect l="-713" t="-2479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91932" y="3212970"/>
            <a:ext cx="252028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Quadratics ‘in disguise’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537" y="713684"/>
            <a:ext cx="2952328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Solving without factorising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912753" y="5059630"/>
                <a:ext cx="3456384" cy="465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−6</m:t>
                    </m:r>
                    <m:rad>
                      <m:radPr>
                        <m:deg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+8=0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753" y="5059630"/>
                <a:ext cx="3456384" cy="465769"/>
              </a:xfrm>
              <a:prstGeom prst="rect">
                <a:avLst/>
              </a:prstGeom>
              <a:blipFill>
                <a:blip r:embed="rId5"/>
                <a:stretch>
                  <a:fillRect l="-2822" t="-9211" b="-30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25874" y="5380256"/>
                <a:ext cx="3691384" cy="1483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dirty="0"/>
                  <a:t>,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+8=0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    →   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=2, 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74" y="5380256"/>
                <a:ext cx="3691384" cy="1483483"/>
              </a:xfrm>
              <a:prstGeom prst="rect">
                <a:avLst/>
              </a:prstGeom>
              <a:blipFill>
                <a:blip r:embed="rId6"/>
                <a:stretch>
                  <a:fillRect l="-1488" t="-20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023429" y="5747624"/>
                <a:ext cx="2667620" cy="929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429" y="5747624"/>
                <a:ext cx="2667620" cy="9294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3" idx="2"/>
          </p:cNvCxnSpPr>
          <p:nvPr/>
        </p:nvCxnSpPr>
        <p:spPr>
          <a:xfrm flipH="1">
            <a:off x="3846286" y="5525399"/>
            <a:ext cx="794659" cy="498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</p:cNvCxnSpPr>
          <p:nvPr/>
        </p:nvCxnSpPr>
        <p:spPr>
          <a:xfrm>
            <a:off x="4640945" y="5525399"/>
            <a:ext cx="1498598" cy="599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rot="1206920">
            <a:off x="4920343" y="5890878"/>
            <a:ext cx="1317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hardcore</a:t>
            </a:r>
          </a:p>
        </p:txBody>
      </p:sp>
      <p:sp>
        <p:nvSpPr>
          <p:cNvPr id="24" name="TextBox 23"/>
          <p:cNvSpPr txBox="1"/>
          <p:nvPr/>
        </p:nvSpPr>
        <p:spPr>
          <a:xfrm rot="19609058">
            <a:off x="3733322" y="5673362"/>
            <a:ext cx="1317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substitution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4229" y="5602514"/>
            <a:ext cx="2536914" cy="1093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409" y="5457371"/>
            <a:ext cx="3554219" cy="13207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7143" y="2307771"/>
            <a:ext cx="2536914" cy="6992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0361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/>
      <p:bldP spid="15" grpId="0"/>
      <p:bldP spid="21" grpId="0"/>
      <p:bldP spid="24" grpId="0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</p:bldLst>
  </p:timing>
</p:sld>
</file>

<file path=ppt/c2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355" y="876611"/>
                <a:ext cx="3618765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GB" dirty="0"/>
                  <a:t> using factorisation.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55" y="876611"/>
                <a:ext cx="3618765" cy="646331"/>
              </a:xfrm>
              <a:prstGeom prst="rect">
                <a:avLst/>
              </a:prstGeom>
              <a:blipFill>
                <a:blip r:embed="rId2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1560" y="1556792"/>
                <a:ext cx="288032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+9=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=−4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556792"/>
                <a:ext cx="2880320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80285" y="2993872"/>
                <a:ext cx="4236984" cy="3724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285" y="2993872"/>
                <a:ext cx="4236984" cy="372410"/>
              </a:xfrm>
              <a:prstGeom prst="rect">
                <a:avLst/>
              </a:prstGeom>
              <a:blipFill>
                <a:blip r:embed="rId4"/>
                <a:stretch>
                  <a:fillRect b="-470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41232" y="3471402"/>
                <a:ext cx="3707231" cy="2148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sz="1600" dirty="0"/>
                  <a:t>The latter gives no solution because the square root of a number can’t give a negative number.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232" y="3471402"/>
                <a:ext cx="3707231" cy="2148280"/>
              </a:xfrm>
              <a:prstGeom prst="rect">
                <a:avLst/>
              </a:prstGeom>
              <a:blipFill>
                <a:blip r:embed="rId5"/>
                <a:stretch>
                  <a:fillRect l="-987" b="-25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54470" y="892495"/>
                <a:ext cx="3618765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470" y="892495"/>
                <a:ext cx="3618765" cy="369332"/>
              </a:xfrm>
              <a:prstGeom prst="rect">
                <a:avLst/>
              </a:prstGeom>
              <a:blipFill>
                <a:blip r:embed="rId6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985189" y="1354962"/>
                <a:ext cx="2880320" cy="1241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+1=±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=−1±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189" y="1354962"/>
                <a:ext cx="2880320" cy="12413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6046" y="2996952"/>
                <a:ext cx="3618765" cy="38997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46" y="2996952"/>
                <a:ext cx="3618765" cy="389979"/>
              </a:xfrm>
              <a:prstGeom prst="rect">
                <a:avLst/>
              </a:prstGeom>
              <a:blipFill>
                <a:blip r:embed="rId8"/>
                <a:stretch>
                  <a:fillRect b="-454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5507" y="3517476"/>
                <a:ext cx="3534321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Squaring both sides: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+3=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+3=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−7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+6=0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e>
                      </m:d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b="1" dirty="0"/>
                  <a:t>However</a:t>
                </a:r>
                <a:r>
                  <a:rPr lang="en-GB" sz="1600" dirty="0"/>
                  <a:t>, squaring both sides of an equation </a:t>
                </a:r>
                <a:r>
                  <a:rPr lang="en-GB" sz="1600" b="1" dirty="0"/>
                  <a:t>can generate false solutions</a:t>
                </a:r>
                <a:r>
                  <a:rPr lang="en-GB" sz="1600" dirty="0"/>
                  <a:t>. e.g. 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GB" sz="1600" dirty="0"/>
                  <a:t>, squaring gives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600" dirty="0"/>
                  <a:t>, which falsely creates the extra solution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! We therefore need to check by substituting into the original equation, where we find only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GB" sz="1600" dirty="0"/>
                  <a:t> works.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07" y="3517476"/>
                <a:ext cx="3534321" cy="3293209"/>
              </a:xfrm>
              <a:prstGeom prst="rect">
                <a:avLst/>
              </a:prstGeom>
              <a:blipFill>
                <a:blip r:embed="rId9"/>
                <a:stretch>
                  <a:fillRect l="-862" t="-556" b="-14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95355" y="3404656"/>
            <a:ext cx="3609456" cy="33367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0128" y="1282304"/>
            <a:ext cx="3632430" cy="14173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355" y="1540079"/>
            <a:ext cx="3641213" cy="11595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9060" y="3382834"/>
            <a:ext cx="4248209" cy="218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504" y="876611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3007" y="876611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557" y="3006459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22487" y="2993872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90941" y="5859801"/>
                <a:ext cx="3595015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“Use of Technology”:</a:t>
                </a:r>
              </a:p>
              <a:p>
                <a:r>
                  <a:rPr lang="en-GB" sz="1200" dirty="0"/>
                  <a:t>The ‘equation’ mode on your calculator will solve quadratics in the form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 dirty="0"/>
                  <a:t>. When you’re asked for the ‘order’, use 2 (we’ll see why later).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941" y="5859801"/>
                <a:ext cx="3595015" cy="830997"/>
              </a:xfrm>
              <a:prstGeom prst="rect">
                <a:avLst/>
              </a:prstGeom>
              <a:blipFill>
                <a:blip r:embed="rId10"/>
                <a:stretch>
                  <a:fillRect r="-673" b="-28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02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c2/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2A/2B Pure Y1 Pages 20-22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B53744A-4261-5FEA-C854-3331445A0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644847"/>
            <a:ext cx="3296110" cy="3143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1D7011-D2D4-1574-15F4-D7496A03A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178" y="1001756"/>
            <a:ext cx="1781424" cy="352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53B65B-45CE-5573-7424-69295DB53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158" y="1001756"/>
            <a:ext cx="2762636" cy="34294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F40417-FBA3-14F7-B849-8ABF59927F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92" y="2996952"/>
            <a:ext cx="5551892" cy="13796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9AE6763-020C-DBA1-F516-F301290724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782" y="4744974"/>
            <a:ext cx="3672408" cy="35948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43D2BB6-0B97-DF71-0EDD-3DEE59DCB2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192" y="1462694"/>
            <a:ext cx="2134906" cy="122494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7790690-A004-96F7-3C23-F85B2A2E07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7158" y="1462694"/>
            <a:ext cx="2163880" cy="127729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2798A608-F57E-501D-2224-B6BB09AFDF7B}"/>
              </a:ext>
            </a:extLst>
          </p:cNvPr>
          <p:cNvSpPr/>
          <p:nvPr/>
        </p:nvSpPr>
        <p:spPr>
          <a:xfrm>
            <a:off x="355178" y="1470653"/>
            <a:ext cx="2693890" cy="13796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 err="1"/>
              <a:t>i</a:t>
            </a:r>
            <a:r>
              <a:rPr lang="en-GB" sz="2800" dirty="0"/>
              <a:t>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D1A4EB-2ED5-E1CE-CB26-7866E4110BC9}"/>
              </a:ext>
            </a:extLst>
          </p:cNvPr>
          <p:cNvSpPr/>
          <p:nvPr/>
        </p:nvSpPr>
        <p:spPr>
          <a:xfrm>
            <a:off x="3205904" y="1470653"/>
            <a:ext cx="2693890" cy="13796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h?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55D7555-E4D4-98E4-804C-E42D1D501F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1945" y="3309615"/>
            <a:ext cx="3450289" cy="1856658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7D869E79-8C16-961C-2205-C899C1FF8DDA}"/>
              </a:ext>
            </a:extLst>
          </p:cNvPr>
          <p:cNvSpPr/>
          <p:nvPr/>
        </p:nvSpPr>
        <p:spPr>
          <a:xfrm>
            <a:off x="5990144" y="3257270"/>
            <a:ext cx="2974344" cy="19090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77CF706-1858-1702-596C-B382323A1566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28437"/>
          <a:stretch/>
        </p:blipFill>
        <p:spPr>
          <a:xfrm>
            <a:off x="107504" y="5293335"/>
            <a:ext cx="2941564" cy="130502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B06F916-4A21-89B0-2965-080A95988D9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4770" t="72131"/>
          <a:stretch/>
        </p:blipFill>
        <p:spPr>
          <a:xfrm>
            <a:off x="2901250" y="6053775"/>
            <a:ext cx="2448488" cy="49633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B93F778D-B92C-A19F-8D2A-EED97102FEE2}"/>
              </a:ext>
            </a:extLst>
          </p:cNvPr>
          <p:cNvSpPr/>
          <p:nvPr/>
        </p:nvSpPr>
        <p:spPr>
          <a:xfrm>
            <a:off x="146781" y="5104461"/>
            <a:ext cx="5367417" cy="156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061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9" grpId="0" animBg="1"/>
      <p:bldP spid="44" grpId="0" animBg="1"/>
    </p:bldLst>
  </p:timing>
</p:sld>
</file>

<file path=ppt/c2/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2A/2B Pure Y1 Pages 20-22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1280DEF-080A-D8B6-7689-A34749A06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1" y="620688"/>
            <a:ext cx="5847544" cy="634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7FC5B9-E0C6-A3AF-E31C-99BF02E43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60" y="650440"/>
            <a:ext cx="2753829" cy="3368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298B35-851E-4C83-B355-723BC4A12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99417"/>
            <a:ext cx="9144000" cy="6591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9BDDB6-0DF3-DAF7-2990-3C3ECA0255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008" y="3738127"/>
            <a:ext cx="4136672" cy="3603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B1A046-3DD0-D541-4512-F1B3D88A46E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55144"/>
          <a:stretch/>
        </p:blipFill>
        <p:spPr>
          <a:xfrm>
            <a:off x="539552" y="1432937"/>
            <a:ext cx="3370161" cy="12208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A3BA4B-E36D-8150-8790-F87748B76D1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6796"/>
          <a:stretch/>
        </p:blipFill>
        <p:spPr>
          <a:xfrm>
            <a:off x="4569680" y="1570634"/>
            <a:ext cx="2808312" cy="120663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DC5B072-719D-5D2B-7A52-6B58E20F4FE1}"/>
              </a:ext>
            </a:extLst>
          </p:cNvPr>
          <p:cNvSpPr/>
          <p:nvPr/>
        </p:nvSpPr>
        <p:spPr>
          <a:xfrm>
            <a:off x="260664" y="1342291"/>
            <a:ext cx="7407680" cy="156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31372D4-776F-14D3-5E26-8C771133DB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08" y="4527189"/>
            <a:ext cx="2152950" cy="127652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3D07DAF-746D-B72B-825E-FA7194B780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6369" y="4350016"/>
            <a:ext cx="2448267" cy="157184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2B241BE-39BF-F20F-81AC-2133AD83D8BE}"/>
              </a:ext>
            </a:extLst>
          </p:cNvPr>
          <p:cNvSpPr/>
          <p:nvPr/>
        </p:nvSpPr>
        <p:spPr>
          <a:xfrm>
            <a:off x="280120" y="4475632"/>
            <a:ext cx="2305838" cy="13796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e?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8780ED-4CF3-D3A0-45AB-5012CDDF9691}"/>
              </a:ext>
            </a:extLst>
          </p:cNvPr>
          <p:cNvSpPr/>
          <p:nvPr/>
        </p:nvSpPr>
        <p:spPr>
          <a:xfrm>
            <a:off x="2904953" y="4475632"/>
            <a:ext cx="2305838" cy="13796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f?</a:t>
            </a:r>
          </a:p>
        </p:txBody>
      </p:sp>
    </p:spTree>
    <p:extLst>
      <p:ext uri="{BB962C8B-B14F-4D97-AF65-F5344CB8AC3E}">
        <p14:creationId xmlns:p14="http://schemas.microsoft.com/office/powerpoint/2010/main" val="426590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1" grpId="0" animBg="1"/>
      <p:bldP spid="27" grpId="0" animBg="1"/>
      <p:bldP spid="28" grpId="0" animBg="1"/>
    </p:bldLst>
  </p:timing>
</p:sld>
</file>

<file path=ppt/c2/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2A/2B Pure Y1 Pages 20-22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3" name="Rectangle 12"/>
          <p:cNvSpPr/>
          <p:nvPr/>
        </p:nvSpPr>
        <p:spPr>
          <a:xfrm>
            <a:off x="182620" y="1942795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687" y="1249954"/>
            <a:ext cx="630061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Extension: 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sz="1200" dirty="0">
                <a:solidFill>
                  <a:schemeClr val="tx1"/>
                </a:solidFill>
              </a:rPr>
              <a:t>(Full Database: </a:t>
            </a:r>
            <a:r>
              <a:rPr lang="en-GB" sz="1200" dirty="0">
                <a:solidFill>
                  <a:schemeClr val="tx1"/>
                </a:solidFill>
                <a:hlinkClick r:id="rId3"/>
              </a:rPr>
              <a:t>http://www.drfrostmaths.com/resources/resource.php?rid=268</a:t>
            </a:r>
            <a:r>
              <a:rPr lang="en-GB" sz="1200" dirty="0">
                <a:solidFill>
                  <a:schemeClr val="tx1"/>
                </a:solidFill>
              </a:rPr>
              <a:t> ) </a:t>
            </a:r>
            <a:endParaRPr lang="en-GB" sz="2400" dirty="0">
              <a:solidFill>
                <a:schemeClr val="tx1"/>
              </a:solidFill>
            </a:endParaRPr>
          </a:p>
        </p:txBody>
      </p:sp>
      <p:pic>
        <p:nvPicPr>
          <p:cNvPr id="19" name="Picture 1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44824"/>
            <a:ext cx="7632848" cy="193687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212114" y="2414113"/>
                <a:ext cx="2902857" cy="3428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−6±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36+8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114" y="2414113"/>
                <a:ext cx="2902857" cy="3428887"/>
              </a:xfrm>
              <a:prstGeom prst="rect">
                <a:avLst/>
              </a:prstGeom>
              <a:blipFill>
                <a:blip r:embed="rId5"/>
                <a:stretch>
                  <a:fillRect l="-16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 flipV="1">
            <a:off x="5782185" y="2702146"/>
            <a:ext cx="546043" cy="795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80146" y="2497448"/>
            <a:ext cx="2631626" cy="3308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  <a:r>
              <a:rPr lang="en-GB" sz="2800" dirty="0" err="1"/>
              <a:t>i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11519" y="4151573"/>
                <a:ext cx="3670466" cy="1521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(ii)(a)</a:t>
                </a:r>
              </a:p>
              <a:p>
                <a:r>
                  <a:rPr lang="en-GB" dirty="0"/>
                  <a:t>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rad>
                  </m:oMath>
                </a14:m>
                <a:r>
                  <a:rPr lang="en-GB" dirty="0"/>
                  <a:t>, thus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−2+10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−22=0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  →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(ii)(b):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=2±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19" y="4151573"/>
                <a:ext cx="3670466" cy="1521763"/>
              </a:xfrm>
              <a:prstGeom prst="rect">
                <a:avLst/>
              </a:prstGeom>
              <a:blipFill>
                <a:blip r:embed="rId6"/>
                <a:stretch>
                  <a:fillRect l="-1329" t="-2000" b="-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365457" y="4007240"/>
            <a:ext cx="4264599" cy="1276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ii(a)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457" y="5283568"/>
            <a:ext cx="4264599" cy="6237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ii(b)</a:t>
            </a:r>
          </a:p>
        </p:txBody>
      </p:sp>
    </p:spTree>
    <p:extLst>
      <p:ext uri="{BB962C8B-B14F-4D97-AF65-F5344CB8AC3E}">
        <p14:creationId xmlns:p14="http://schemas.microsoft.com/office/powerpoint/2010/main" val="141509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4" grpId="0" animBg="1"/>
    </p:bldLst>
  </p:timing>
</p:sld>
</file>

<file path=ppt/c2/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9552" y="836712"/>
                <a:ext cx="3109044" cy="13234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minimum value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en-GB" sz="2000" dirty="0"/>
                  <a:t> and state the value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for which this occurs.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836712"/>
                <a:ext cx="3109044" cy="1323439"/>
              </a:xfrm>
              <a:prstGeom prst="rect">
                <a:avLst/>
              </a:prstGeom>
              <a:blipFill>
                <a:blip r:embed="rId2"/>
                <a:stretch>
                  <a:fillRect b="-123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355976" y="844476"/>
                <a:ext cx="3744416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roots of the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844476"/>
                <a:ext cx="3744416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55976" y="3573016"/>
                <a:ext cx="3744416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roots of the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−6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3573016"/>
                <a:ext cx="3744416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9552" y="2276872"/>
                <a:ext cx="3109044" cy="2066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−18−5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−23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Minimum value is -23.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at which this occurs is -3.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276872"/>
                <a:ext cx="3109044" cy="2066976"/>
              </a:xfrm>
              <a:prstGeom prst="rect">
                <a:avLst/>
              </a:prstGeom>
              <a:blipFill>
                <a:blip r:embed="rId5"/>
                <a:stretch>
                  <a:fillRect l="-1765" b="-38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139952" y="1797711"/>
                <a:ext cx="3109044" cy="1164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1797711"/>
                <a:ext cx="3109044" cy="11649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322936" y="4509120"/>
                <a:ext cx="3109044" cy="12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=±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936" y="4509120"/>
                <a:ext cx="3109044" cy="12329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223640" y="836712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1272" y="848342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1272" y="3573016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672" y="2160151"/>
            <a:ext cx="3136924" cy="23489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9084" y="1527965"/>
            <a:ext cx="3761308" cy="1816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7530" y="4280902"/>
            <a:ext cx="3761308" cy="15963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1966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c2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2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c10/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9T11:39:19.6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162 74 8493,'-14'0'1089,"4"0"-696,0 0-168,7 0 37,-4 0 46,1 0-116,-2 0 0,-2 0-165,0 0 1,5 0-166,-5 0 0,5 5 312,-4 0 0,4 5-163,-5-5 0,7 6 35,-2-1 60,-3-4-201,6 7 1,-5-4-1,6 4 13,-4-4 0,3 4 107,-3-3 0,4 3-109,1 2 106,0 0 0,0-1-14,0 1 1,5-5-1,1-2-13,2-1 0,-3 2 25,5-4-8,0 7-32,-2-11 1,5 6 12,-3-7 0,-2 0 0,2 0 20,1 0 253,2 0-90,2 0 0,0-2-155,-1-3 0,-4 2 1,-2-7 108,-1-1 0,3 3-68,-5-2 1,1 0 70,-1-5-74,-3 1 75,4 6 1,-6-5 0,2 3-33,3-3 1,-4-2 113,4 0 0,-3 1 176,-2-1-273,0 0 1,-5 0 0,-2 1 49,-1-1 1,5 5 64,-2 0-189,-3 7 0,5-8-157,-7 6 29,7 0 1,-10 0 158,3 0 1,2-5-148,-2 5 1,5 1 83,-5 4 0,5 0-119,-5 0 1,6 0-93,-6 0 1,5 0 134,-5 0 1,5 0 1,-5 0 46,7 6-617,-10 2 0,10 2 1,-5 0 134,1 1 1,2 2-188,5 2 1,0-5 232,0 0 0,0-1-21,0 6 1,0 0-163,0 0 1,0-1 633,0 1 0,0 0 0,0-1 0,5-4 0,0 0 0,1-2 0,-1 2 0,-3 3 0,11-11 0,-10 9 0,7-6 0,2-2 0,-4-1 0,2-2 0,-1 6 0,6 3 0</inkml:trace>
  <inkml:trace contextRef="#ctx0" brushRef="#br0" timeOffset="453">207 206 7981,'6'-14'-1893,"-4"-1"1927,4 0 1,-1 5 35,0 1 348,0 5 23,-5-9-295,6 5 0,-4-2 389,3 1-192,-3 5 35,-2-2-65,0 6 1,0-2 130,0-3-13,-7 4 2,5-6-148,-4 7-175,6 0 0,-2 2-66,-3 3 1,4-2 318,-4 7-302,3-1 0,2 6 26,0 0 0,0 0-162,0-1 0,0 1 93,0 0 0,0-1 1,0 1-123,0 0 91,0-1 0,0 1-271,0 0 225,0 6 0,2-5 0,1 6 73,2-1 0,0-5-32,-5 4 1,0 1 48,0-1 1,0-1 76,0-4 0,0 0-5,0-1 1,0 6-81,0 0 0,-2-1 178,-3-4 0,4-7 159,-12 5-275,5-5 0,-7 5 0,0-3 281,0-5-278,1 3 0,-1-1-71,0 2 0,1 3-25,-1-7 0,0 5 167,1-5-233,-1-1-58,0 3 0,5-5-116,1 2 119,5-2-775,-2-2 0,6-2 472,0-2 0,0 0-1543,0-5 1975,0-1 0,6-5 0,2 0 0</inkml:trace>
</inkml:ink>
</file>

<file path=ppt/c10/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9T11:39:27.4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662 30 11556,'-7'-8'780,"6"1"-703,-12 7 173,4-6-32,-5 4 1,-1-4-237,0 6 1,1 0 36,-1 0 0,5 0-73,0 0 1,0 1 89,-4 4 0,1 3-240,3 7 0,-2 1-68,8 4 1,-6-2 128,5 7 0,0-6 61,5 6 0,0-7 28,0 1 0,0-1 63,0 2 1,7-9-75,2 4 1,4-10 142,2 0 1,0-4-21,-1-1 0,1 0-23,0 0 0,0-1-6,-1-4 0,-2-3-25,2-7 1,-7-1 2,8-4 0,-6 4 7,1-4 1,2-1 55,-7 1 0,-1-4-57,-4 4 0,0 1 36,0 4 1,0 0 31,0 0 13,0 7-84,0 2 21,0 6 0,0 1-66,0 4 0,-1 3 61,-4 7 1,3 0 35,-3 0 0,4 4-47,1 1 1,0 4 178,0-4 1,-2 6 177,-3-2 0,4 4-141,-4 2 1,-2 1-38,2 3 1,-6-3-64,1 3 1,2 2 47,-2-1 0,2-3 10,-2-7 1,-1 1-174,6-7 1,-5 1 139,5-5 1,-6-7-270,1-3 8,-3-4 0,-2-1-15,0 0 0,1 0-199,-1 0 0,0-6 156,1-4 1,5-3-1309,5-2 1,-3 1 1470,2-1 0,0 0 0,5 1 0</inkml:trace>
  <inkml:trace contextRef="#ctx0" brushRef="#br0" timeOffset="2110">15 986 8231,'5'9'0,"0"1"-173,0-7 1,-4 9 215,4-7 305,-3 6 0,9-8 204,-6 7-268,7-6 0,-4 2-255,6-6 0,-4 0 142,0 0-14,0 0 216,5 0-150,-1-6-65,1-3 0,-2-5 146,-3-1 0,-2 0-165,-3 1 1,-3-1 199,2 0 0,-2 0-53,-2 1 0,0-1-69,0 0 0,0 1 145,0-1 0,-2 0-85,-2 1 0,0 1-254,-6 3 1,6-2 163,-6 7-304,0-6 0,-5 8-62,1-7 0,4 7-13,0-2 0,0 3 81,-5 2 1,6 5 76,-1 0 0,2 6-193,-2-1 1,-2 3 93,8 2 0,-6 0-107,5-1 0,-5 1 90,5 0 1,0 4-76,5 1 0,0-1 121,0-4 0,0 0-199,0 0 0,0-1-323,0 1 465,0 0 0,7-2-125,3-3 1,-2-4 95,2-6 0,-1 0 174,6 0 1,0 0-121,-1 0 0,-4 0 172,0 0 1,0-5-49,5 0 0,-1-6 96,1 1 0,-5 2 24,0-2 0,-2 0-92,2-4 1,-2 1 366,-3 3-205,-4-3 314,12 4-239,-11 1 248,4 2-187,-6 6 123,0 0-360,0 6 0,0 2 192,0 7-14,0 0 0,0 0-76,0-1 1,0 6 326,0-1 0,0 1-104,0-5 0,0-1 30,0 1 1,0 0-65,0 0 0,-1-1-104,-4 1 0,-2 0-168,-2-1 1,-4-4 153,3 0 0,-3-7-1609,-2 2 1098,0 3 0,-4-6 261,-1 3 0,0-10 0,6-3 0</inkml:trace>
</inkml:ink>
</file>

<file path=ppt/c10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0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09/11/2024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0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0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0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09/11/2024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7B1DFBE-C104-6839-D50C-3CCE0EFA464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0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91"/>
            <a:ext cx="10363200" cy="1470025"/>
          </a:xfrm>
        </p:spPr>
        <p:txBody>
          <a:bodyPr>
            <a:noAutofit/>
          </a:bodyPr>
          <a:lstStyle>
            <a:lvl1pPr>
              <a:defRPr sz="3375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6893722"/>
      </p:ext>
    </p:extLst>
  </p:cSld>
  <p:clrMapOvr>
    <a:masterClrMapping/>
  </p:clrMapOvr>
</p:sldLayout>
</file>

<file path=ppt/c10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10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09/11/2024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39500" r:id="rId1"/>
    <p:sldLayoutId id="2147539501" r:id="rId2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0/ppt/slides/_rels/slide29.xml.rels><?xml version='1.0' encoding='utf-8'?>
<ns0:Relationships xmlns:ns0="http://schemas.openxmlformats.org/package/2006/relationships"><ns0:Relationship Id="rId3" Type="http://schemas.openxmlformats.org/officeDocument/2006/relationships/image" Target="../media/image252.png" /><ns0:Relationship Id="rId2" Type="http://schemas.openxmlformats.org/officeDocument/2006/relationships/image" Target="../media/image251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54.png" /><ns0:Relationship Id="rId4" Type="http://schemas.openxmlformats.org/officeDocument/2006/relationships/image" Target="../media/image253.png" /></ns0:Relationships>
</file>

<file path=ppt/c10/ppt/slides/_rels/slide30.xml.rels><?xml version='1.0' encoding='utf-8'?>
<ns0:Relationships xmlns:ns0="http://schemas.openxmlformats.org/package/2006/relationships"><ns0:Relationship Id="rId8" Type="http://schemas.openxmlformats.org/officeDocument/2006/relationships/customXml" Target="../ink/ink1.xml" /><ns0:Relationship Id="rId3" Type="http://schemas.openxmlformats.org/officeDocument/2006/relationships/image" Target="../media/image256.png" /><ns0:Relationship Id="rId7" Type="http://schemas.openxmlformats.org/officeDocument/2006/relationships/image" Target="../media/image260.png" /><ns0:Relationship Id="rId2" Type="http://schemas.openxmlformats.org/officeDocument/2006/relationships/image" Target="../media/image255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59.png" /><ns0:Relationship Id="rId11" Type="http://schemas.openxmlformats.org/officeDocument/2006/relationships/image" Target="../media/image262.png" /><ns0:Relationship Id="rId5" Type="http://schemas.openxmlformats.org/officeDocument/2006/relationships/image" Target="../media/image258.png" /><ns0:Relationship Id="rId10" Type="http://schemas.openxmlformats.org/officeDocument/2006/relationships/customXml" Target="../ink/ink2.xml" /><ns0:Relationship Id="rId4" Type="http://schemas.openxmlformats.org/officeDocument/2006/relationships/image" Target="../media/image257.png" /><ns0:Relationship Id="rId9" Type="http://schemas.openxmlformats.org/officeDocument/2006/relationships/image" Target="../media/image261.png" /></ns0:Relationships>
</file>

<file path=ppt/c10/ppt/slides/_rels/slide31.xml.rels><?xml version='1.0' encoding='utf-8'?>
<ns0:Relationships xmlns:ns0="http://schemas.openxmlformats.org/package/2006/relationships"><ns0:Relationship Id="rId3" Type="http://schemas.openxmlformats.org/officeDocument/2006/relationships/image" Target="../media/image264.png" /><ns0:Relationship Id="rId2" Type="http://schemas.openxmlformats.org/officeDocument/2006/relationships/image" Target="../media/image263.png" /><ns0:Relationship Id="rId1" Type="http://schemas.openxmlformats.org/officeDocument/2006/relationships/slideLayout" Target="../slideLayouts/slideLayout1.xml" /></ns0:Relationships>
</file>

<file path=ppt/c10/ppt/slides/_rels/slide32.xml.rels><?xml version='1.0' encoding='utf-8'?>
<ns0:Relationships xmlns:ns0="http://schemas.openxmlformats.org/package/2006/relationships"><ns0:Relationship Id="rId3" Type="http://schemas.openxmlformats.org/officeDocument/2006/relationships/image" Target="../media/image266.png" /><ns0:Relationship Id="rId7" Type="http://schemas.openxmlformats.org/officeDocument/2006/relationships/image" Target="../media/image270.png" /><ns0:Relationship Id="rId2" Type="http://schemas.openxmlformats.org/officeDocument/2006/relationships/image" Target="../media/image265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69.png" /><ns0:Relationship Id="rId5" Type="http://schemas.openxmlformats.org/officeDocument/2006/relationships/image" Target="../media/image268.png" /><ns0:Relationship Id="rId4" Type="http://schemas.openxmlformats.org/officeDocument/2006/relationships/image" Target="../media/image267.png" /></ns0:Relationships>
</file>

<file path=ppt/c10/ppt/slides/_rels/slide33.xml.rels><?xml version='1.0' encoding='utf-8'?>
<ns0:Relationships xmlns:ns0="http://schemas.openxmlformats.org/package/2006/relationships"><ns0:Relationship Id="rId8" Type="http://schemas.openxmlformats.org/officeDocument/2006/relationships/image" Target="../media/image277.png" /><ns0:Relationship Id="rId3" Type="http://schemas.openxmlformats.org/officeDocument/2006/relationships/image" Target="../media/image272.png" /><ns0:Relationship Id="rId7" Type="http://schemas.openxmlformats.org/officeDocument/2006/relationships/image" Target="../media/image276.png" /><ns0:Relationship Id="rId2" Type="http://schemas.openxmlformats.org/officeDocument/2006/relationships/image" Target="../media/image27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75.png" /><ns0:Relationship Id="rId5" Type="http://schemas.openxmlformats.org/officeDocument/2006/relationships/image" Target="../media/image274.png" /><ns0:Relationship Id="rId4" Type="http://schemas.openxmlformats.org/officeDocument/2006/relationships/image" Target="../media/image273.png" /><ns0:Relationship Id="rId9" Type="http://schemas.openxmlformats.org/officeDocument/2006/relationships/image" Target="../media/image278.png" /></ns0:Relationships>
</file>

<file path=ppt/c10/ppt/slides/_rels/slide34.xml.rels><?xml version='1.0' encoding='utf-8'?>
<ns0:Relationships xmlns:ns0="http://schemas.openxmlformats.org/package/2006/relationships"><ns0:Relationship Id="rId3" Type="http://schemas.openxmlformats.org/officeDocument/2006/relationships/image" Target="../media/image280.png" /><ns0:Relationship Id="rId2" Type="http://schemas.openxmlformats.org/officeDocument/2006/relationships/image" Target="../media/image279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81.png" /></ns0:Relationships>
</file>

<file path=ppt/c10/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Quadratics in sin/cos/tan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7532" y="2060848"/>
                <a:ext cx="8207785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5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+3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−2=0</m:t>
                    </m:r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32" y="2060848"/>
                <a:ext cx="8207785" cy="400110"/>
              </a:xfrm>
              <a:prstGeom prst="rect">
                <a:avLst/>
              </a:prstGeom>
              <a:blipFill>
                <a:blip r:embed="rId2"/>
                <a:stretch>
                  <a:fillRect b="-681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91544" y="908724"/>
                <a:ext cx="7704856" cy="929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saw that an equation can be ‘quadratic in’ something, e.g.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−2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i="1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GB" dirty="0"/>
                  <a:t> is ‘quadratic in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dirty="0"/>
                  <a:t>’, meaning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dirty="0"/>
                  <a:t> could be replaced with another variable, say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, to produce a quadratic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908724"/>
                <a:ext cx="7704856" cy="929485"/>
              </a:xfrm>
              <a:prstGeom prst="rect">
                <a:avLst/>
              </a:prstGeom>
              <a:blipFill>
                <a:blip r:embed="rId3"/>
                <a:stretch>
                  <a:fillRect l="-658" t="-2703" b="-108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91544" y="2780931"/>
                <a:ext cx="3168352" cy="3072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Method 1: Use a substitution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dirty="0"/>
              </a:p>
              <a:p>
                <a:pPr/>
                <a:r>
                  <a:rPr lang="en-GB" dirty="0"/>
                  <a:t>Then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−2=0</m:t>
                    </m:r>
                  </m:oMath>
                </a14:m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°,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𝟏𝟓𝟔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°,</m:t>
                      </m:r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𝟐𝟕𝟎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2780931"/>
                <a:ext cx="3168352" cy="3072251"/>
              </a:xfrm>
              <a:prstGeom prst="rect">
                <a:avLst/>
              </a:prstGeom>
              <a:blipFill>
                <a:blip r:embed="rId4"/>
                <a:stretch>
                  <a:fillRect l="-1594" t="-823" b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51421" y="2780932"/>
                <a:ext cx="4249036" cy="2967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Method 2: Factorise without substitution.</a:t>
                </a:r>
              </a:p>
              <a:p>
                <a:endParaRPr lang="en-GB" b="1" dirty="0"/>
              </a:p>
              <a:p>
                <a:r>
                  <a:rPr lang="en-GB" dirty="0"/>
                  <a:t>This is the same, but we ‘imagine’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as a single variable and hence factorise immediately.</a:t>
                </a:r>
              </a:p>
              <a:p>
                <a:endParaRPr lang="en-GB" sz="9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°,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𝟏𝟓𝟔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°,</m:t>
                      </m:r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𝟐𝟕𝟎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421" y="2780932"/>
                <a:ext cx="4249036" cy="2967287"/>
              </a:xfrm>
              <a:prstGeom prst="rect">
                <a:avLst/>
              </a:prstGeom>
              <a:blipFill>
                <a:blip r:embed="rId5"/>
                <a:stretch>
                  <a:fillRect l="-1190" t="-851" r="-2083" b="-12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847529" y="3299930"/>
            <a:ext cx="3528392" cy="25532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37728" y="3299930"/>
            <a:ext cx="4262728" cy="25532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088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c10/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More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85632" y="930548"/>
                <a:ext cx="8207785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632" y="930548"/>
                <a:ext cx="8207785" cy="400110"/>
              </a:xfrm>
              <a:prstGeom prst="rect">
                <a:avLst/>
              </a:prstGeom>
              <a:blipFill>
                <a:blip r:embed="rId2"/>
                <a:stretch>
                  <a:fillRect b="-681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07568" y="1772816"/>
                <a:ext cx="43204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=2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=−2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=63.4°, 243.4°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=−63.4°, 116.6°,296.6°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1772816"/>
                <a:ext cx="4320480" cy="923330"/>
              </a:xfrm>
              <a:prstGeom prst="rect">
                <a:avLst/>
              </a:prstGeom>
              <a:blipFill>
                <a:blip r:embed="rId3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562205" y="2132882"/>
                <a:ext cx="2630140" cy="52322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−63.4°</m:t>
                    </m:r>
                  </m:oMath>
                </a14:m>
                <a:r>
                  <a:rPr lang="en-GB" sz="1400" dirty="0"/>
                  <a:t> was outside the range so we had to add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r>
                  <a:rPr lang="en-GB" sz="1400" dirty="0"/>
                  <a:t> twice.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205" y="2132882"/>
                <a:ext cx="2630140" cy="52322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5951985" y="2394494"/>
            <a:ext cx="610220" cy="9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05972" y="1502070"/>
            <a:ext cx="3024336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Missing the negative case would result in the loss of multiple marks. Beware!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778501" y="1731366"/>
            <a:ext cx="952996" cy="224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885631" y="1330661"/>
            <a:ext cx="8207785" cy="20983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885631" y="3730748"/>
                <a:ext cx="8207785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=3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−180°≤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≤180°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631" y="3730748"/>
                <a:ext cx="8207785" cy="400110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706803" y="4365108"/>
                <a:ext cx="2376264" cy="203132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Tip</a:t>
                </a:r>
                <a:r>
                  <a:rPr lang="en-GB" dirty="0"/>
                  <a:t>: We have an identity involving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𝑠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𝑜𝑠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so it makes sense to change the </a:t>
                </a:r>
                <a:r>
                  <a:rPr lang="en-GB" u="sng" dirty="0"/>
                  <a:t>squared one </a:t>
                </a:r>
                <a:r>
                  <a:rPr lang="en-GB" dirty="0"/>
                  <a:t>that would </a:t>
                </a:r>
                <a:r>
                  <a:rPr lang="en-GB" u="sng" dirty="0"/>
                  <a:t>match all the others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803" y="4365108"/>
                <a:ext cx="2376264" cy="2031325"/>
              </a:xfrm>
              <a:prstGeom prst="rect">
                <a:avLst/>
              </a:prstGeom>
              <a:blipFill>
                <a:blip r:embed="rId6"/>
                <a:stretch>
                  <a:fillRect l="-1579" t="-613" b="-30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10644" y="4314307"/>
                <a:ext cx="3850456" cy="1997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2−2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−2=0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func>
                        <m:funcPr>
                          <m:ctrlPr>
                            <a:rPr lang="en-GB" i="1" strike="sngStrike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trike="sngStrike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 strike="sngStrik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 strike="sngStrike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trike="sngStrike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=−168.5°, −11.5°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644" y="4314307"/>
                <a:ext cx="3850456" cy="19977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841D85B-DA8D-4683-75A4-4ED2E7797603}"/>
                  </a:ext>
                </a:extLst>
              </p14:cNvPr>
              <p14:cNvContentPartPr/>
              <p14:nvPr/>
            </p14:nvContentPartPr>
            <p14:xfrm>
              <a:off x="3661573" y="3809803"/>
              <a:ext cx="90360" cy="2545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841D85B-DA8D-4683-75A4-4ED2E779760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46453" y="3794683"/>
                <a:ext cx="12096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0501675-EDDF-0093-85E6-82B270239FD8}"/>
                  </a:ext>
                </a:extLst>
              </p14:cNvPr>
              <p14:cNvContentPartPr/>
              <p14:nvPr/>
            </p14:nvContentPartPr>
            <p14:xfrm>
              <a:off x="3809893" y="4386523"/>
              <a:ext cx="243720" cy="444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0501675-EDDF-0093-85E6-82B270239FD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94413" y="4371391"/>
                <a:ext cx="274320" cy="475225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Rectangle 16"/>
          <p:cNvSpPr/>
          <p:nvPr/>
        </p:nvSpPr>
        <p:spPr>
          <a:xfrm>
            <a:off x="1978508" y="4314307"/>
            <a:ext cx="5013379" cy="2375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3643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</p:bldLst>
  </p:timing>
</p:sld>
</file>

<file path=ppt/c10/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30" y="1186875"/>
            <a:ext cx="7705725" cy="25622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041" y="4048128"/>
            <a:ext cx="7319979" cy="18958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80582" y="3933056"/>
            <a:ext cx="7299797" cy="20882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532" y="817539"/>
            <a:ext cx="2557895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Jan 2010 Q2</a:t>
            </a:r>
          </a:p>
        </p:txBody>
      </p:sp>
    </p:spTree>
    <p:extLst>
      <p:ext uri="{BB962C8B-B14F-4D97-AF65-F5344CB8AC3E}">
        <p14:creationId xmlns:p14="http://schemas.microsoft.com/office/powerpoint/2010/main" val="378596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10/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10F – Y1 P221-222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6F1374-5A77-6189-1AD9-114C1D095043}"/>
              </a:ext>
            </a:extLst>
          </p:cNvPr>
          <p:cNvGrpSpPr/>
          <p:nvPr/>
        </p:nvGrpSpPr>
        <p:grpSpPr>
          <a:xfrm>
            <a:off x="1631504" y="620688"/>
            <a:ext cx="7992888" cy="792088"/>
            <a:chOff x="107504" y="620688"/>
            <a:chExt cx="7992888" cy="79208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E1B9A-FFC1-A704-76B2-F5B3F2E33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620688"/>
              <a:ext cx="7772400" cy="591378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25CDDC-A71C-5F79-D39C-A10461CF8F55}"/>
                </a:ext>
              </a:extLst>
            </p:cNvPr>
            <p:cNvSpPr/>
            <p:nvPr/>
          </p:nvSpPr>
          <p:spPr>
            <a:xfrm>
              <a:off x="7524328" y="980728"/>
              <a:ext cx="576064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561EED8-6921-E894-1E8E-AEBCFC257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3403519"/>
            <a:ext cx="7200800" cy="5861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4134D7-B818-D35F-93E1-F9D4127BF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577" y="1340769"/>
            <a:ext cx="3357301" cy="18896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FD03DAE-A6C3-0A41-DE18-B6BD368ED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976" y="2626893"/>
            <a:ext cx="2585788" cy="5548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21EFF09-5ED9-DA79-FE07-FA31594CEA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0093" y="4012812"/>
            <a:ext cx="3336784" cy="24546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722EA31-F7DC-0F17-CCE3-80195446804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8125"/>
          <a:stretch/>
        </p:blipFill>
        <p:spPr>
          <a:xfrm>
            <a:off x="5951984" y="4162698"/>
            <a:ext cx="2978770" cy="951912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9D15958-94B0-4B74-5D99-C22616595BBF}"/>
              </a:ext>
            </a:extLst>
          </p:cNvPr>
          <p:cNvCxnSpPr>
            <a:cxnSpLocks/>
          </p:cNvCxnSpPr>
          <p:nvPr/>
        </p:nvCxnSpPr>
        <p:spPr>
          <a:xfrm>
            <a:off x="5807968" y="4078516"/>
            <a:ext cx="0" cy="2230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22D789-8893-2005-343C-694BB69850F0}"/>
              </a:ext>
            </a:extLst>
          </p:cNvPr>
          <p:cNvCxnSpPr>
            <a:cxnSpLocks/>
          </p:cNvCxnSpPr>
          <p:nvPr/>
        </p:nvCxnSpPr>
        <p:spPr>
          <a:xfrm>
            <a:off x="5807968" y="1364379"/>
            <a:ext cx="0" cy="1866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DFE481B-C415-7139-6002-EE785889CE76}"/>
              </a:ext>
            </a:extLst>
          </p:cNvPr>
          <p:cNvSpPr/>
          <p:nvPr/>
        </p:nvSpPr>
        <p:spPr>
          <a:xfrm>
            <a:off x="2050015" y="1241410"/>
            <a:ext cx="6880739" cy="21621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416792-2077-187E-05D9-37FCCDA6A465}"/>
              </a:ext>
            </a:extLst>
          </p:cNvPr>
          <p:cNvSpPr/>
          <p:nvPr/>
        </p:nvSpPr>
        <p:spPr>
          <a:xfrm>
            <a:off x="2077335" y="3992318"/>
            <a:ext cx="6880739" cy="24751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7386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c10/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10F – Y1 P221-222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E1C570E-A31F-7BD7-3B19-B6D3A45C0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18332"/>
            <a:ext cx="5688632" cy="3265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F52FB9-1225-ECDF-BF92-63D9B68F89C1}"/>
              </a:ext>
            </a:extLst>
          </p:cNvPr>
          <p:cNvSpPr/>
          <p:nvPr/>
        </p:nvSpPr>
        <p:spPr>
          <a:xfrm>
            <a:off x="9408368" y="3323252"/>
            <a:ext cx="1139384" cy="393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849824-8842-3498-A7F6-7D1259D6F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885522"/>
            <a:ext cx="3254943" cy="21834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D22905-DDAB-8B9B-42AD-5D086319C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414" y="4206462"/>
            <a:ext cx="3265715" cy="7200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0DD27F-545E-8D0C-7E35-4948C7C80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2304" y="4216774"/>
            <a:ext cx="450258" cy="22033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00A140F-664C-6480-7F90-83C282680FC4}"/>
              </a:ext>
            </a:extLst>
          </p:cNvPr>
          <p:cNvGrpSpPr/>
          <p:nvPr/>
        </p:nvGrpSpPr>
        <p:grpSpPr>
          <a:xfrm>
            <a:off x="6299798" y="4074561"/>
            <a:ext cx="3458097" cy="1276751"/>
            <a:chOff x="4788023" y="3680040"/>
            <a:chExt cx="3458097" cy="127675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59BD19E-7BAD-1E5F-AD47-23F850B48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88023" y="3680040"/>
              <a:ext cx="2580283" cy="72007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AD332D-03E0-F5FB-9F50-4B8D6BFB1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76056" y="4480365"/>
              <a:ext cx="3170064" cy="476426"/>
            </a:xfrm>
            <a:prstGeom prst="rect">
              <a:avLst/>
            </a:prstGeom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87DF372-2113-A112-7FE7-4DBCCCBF97A8}"/>
              </a:ext>
            </a:extLst>
          </p:cNvPr>
          <p:cNvSpPr/>
          <p:nvPr/>
        </p:nvSpPr>
        <p:spPr>
          <a:xfrm>
            <a:off x="1991543" y="984567"/>
            <a:ext cx="7848874" cy="21621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550492-05C8-5388-5A82-6F59B6373EEA}"/>
              </a:ext>
            </a:extLst>
          </p:cNvPr>
          <p:cNvSpPr/>
          <p:nvPr/>
        </p:nvSpPr>
        <p:spPr>
          <a:xfrm>
            <a:off x="1991543" y="4077560"/>
            <a:ext cx="3672409" cy="21621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3A645A-E000-CF13-01B8-4562480BE3D7}"/>
              </a:ext>
            </a:extLst>
          </p:cNvPr>
          <p:cNvGrpSpPr/>
          <p:nvPr/>
        </p:nvGrpSpPr>
        <p:grpSpPr>
          <a:xfrm>
            <a:off x="1546338" y="3463481"/>
            <a:ext cx="8989189" cy="508583"/>
            <a:chOff x="22337" y="3463480"/>
            <a:chExt cx="8989189" cy="5085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0BB4B59-1787-536E-2AF4-4BCBCFAF0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337" y="3463480"/>
              <a:ext cx="4393291" cy="50858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1F54A3-8D56-F502-12A3-16900266DAE4}"/>
                </a:ext>
              </a:extLst>
            </p:cNvPr>
            <p:cNvSpPr/>
            <p:nvPr/>
          </p:nvSpPr>
          <p:spPr>
            <a:xfrm>
              <a:off x="3551662" y="3751512"/>
              <a:ext cx="936104" cy="2205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C879279-906C-CD63-FD2D-A22871881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03922" y="3473380"/>
              <a:ext cx="4307604" cy="49866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1418FBF-B55B-9110-34CC-9B92FF0736AE}"/>
                </a:ext>
              </a:extLst>
            </p:cNvPr>
            <p:cNvSpPr/>
            <p:nvPr/>
          </p:nvSpPr>
          <p:spPr>
            <a:xfrm>
              <a:off x="8015841" y="3729121"/>
              <a:ext cx="936104" cy="2205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9A72FC2-6C39-D719-8078-DC024CA06B7C}"/>
              </a:ext>
            </a:extLst>
          </p:cNvPr>
          <p:cNvSpPr/>
          <p:nvPr/>
        </p:nvSpPr>
        <p:spPr>
          <a:xfrm>
            <a:off x="6227923" y="4074561"/>
            <a:ext cx="3612494" cy="21621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95214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1" grpId="0" animBg="1"/>
    </p:bldLst>
  </p:timing>
</p:sld>
</file>

<file path=ppt/c10/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10F – Y1 P221-222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C4BA3BF-F609-CD62-2311-352AA2DF2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92697"/>
            <a:ext cx="7772400" cy="10097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5486D5-0D47-4D5E-EF90-E4F7B97F1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7" y="2132856"/>
            <a:ext cx="2664296" cy="2567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2C7F78-7D3E-FC04-5DE8-752790C73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977" y="2126887"/>
            <a:ext cx="3977687" cy="1800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2494642-124E-336F-9D49-41E27F2B95B2}"/>
              </a:ext>
            </a:extLst>
          </p:cNvPr>
          <p:cNvSpPr/>
          <p:nvPr/>
        </p:nvSpPr>
        <p:spPr>
          <a:xfrm>
            <a:off x="1703512" y="2132856"/>
            <a:ext cx="3982748" cy="25674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1CF716-6C50-5B7A-3178-76E559DE75AE}"/>
              </a:ext>
            </a:extLst>
          </p:cNvPr>
          <p:cNvSpPr/>
          <p:nvPr/>
        </p:nvSpPr>
        <p:spPr>
          <a:xfrm>
            <a:off x="5939893" y="2129857"/>
            <a:ext cx="3917770" cy="25674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127734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c10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10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c14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4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4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c14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79ADCCA-A642-7AF0-604D-088AFF5293C6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4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3477167"/>
      </p:ext>
    </p:extLst>
  </p:cSld>
  <p:clrMapOvr>
    <a:masterClrMapping/>
  </p:clrMapOvr>
</p:sldLayout>
</file>

<file path=ppt/c14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7C849CC-5CAD-914B-8E6F-94D18F427EA9}"/>
              </a:ext>
            </a:extLst>
          </p:cNvPr>
          <p:cNvSpPr txBox="1">
            <a:spLocks/>
          </p:cNvSpPr>
          <p:nvPr userDrawn="1"/>
        </p:nvSpPr>
        <p:spPr>
          <a:xfrm>
            <a:off x="-1" y="0"/>
            <a:ext cx="12178921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746621"/>
      </p:ext>
    </p:extLst>
  </p:cSld>
  <p:clrMapOvr>
    <a:masterClrMapping/>
  </p:clrMapOvr>
</p:sldLayout>
</file>

<file path=ppt/c14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5" Type="http://schemas.openxmlformats.org/officeDocument/2006/relationships/theme" Target="../theme/theme1.xml" /><ns0:Relationship Id="rId4" Type="http://schemas.openxmlformats.org/officeDocument/2006/relationships/slideLayout" Target="../slideLayouts/slideLayout4.xml" /></ns0:Relationships>
</file>

<file path=ppt/c14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76500" r:id="rId1"/>
    <p:sldLayoutId id="2147576501" r:id="rId2"/>
    <p:sldLayoutId id="2147576502" r:id="rId3"/>
    <p:sldLayoutId id="2147576503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4/ppt/slides/_rels/slide42.xml.rels><?xml version='1.0' encoding='utf-8'?>
<ns0:Relationships xmlns:ns0="http://schemas.openxmlformats.org/package/2006/relationships"><ns0:Relationship Id="rId3" Type="http://schemas.openxmlformats.org/officeDocument/2006/relationships/image" Target="../media/image279.png" /><ns0:Relationship Id="rId2" Type="http://schemas.openxmlformats.org/officeDocument/2006/relationships/image" Target="../media/image234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82.png" /><ns0:Relationship Id="rId5" Type="http://schemas.openxmlformats.org/officeDocument/2006/relationships/image" Target="../media/image281.png" /><ns0:Relationship Id="rId4" Type="http://schemas.openxmlformats.org/officeDocument/2006/relationships/image" Target="../media/image280.png" /></ns0:Relationships>
</file>

<file path=ppt/c14/ppt/slides/_rels/slide43.xml.rels><?xml version='1.0' encoding='utf-8'?>
<ns0:Relationships xmlns:ns0="http://schemas.openxmlformats.org/package/2006/relationships"><ns0:Relationship Id="rId3" Type="http://schemas.openxmlformats.org/officeDocument/2006/relationships/image" Target="../media/image284.png" /><ns0:Relationship Id="rId7" Type="http://schemas.openxmlformats.org/officeDocument/2006/relationships/image" Target="../media/image288.png" /><ns0:Relationship Id="rId2" Type="http://schemas.openxmlformats.org/officeDocument/2006/relationships/image" Target="../media/image28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87.png" /><ns0:Relationship Id="rId5" Type="http://schemas.openxmlformats.org/officeDocument/2006/relationships/image" Target="../media/image286.png" /><ns0:Relationship Id="rId4" Type="http://schemas.openxmlformats.org/officeDocument/2006/relationships/image" Target="../media/image285.png" /></ns0:Relationships>
</file>

<file path=ppt/c14/ppt/slides/_rels/slide44.xml.rels><?xml version='1.0' encoding='utf-8'?>
<ns0:Relationships xmlns:ns0="http://schemas.openxmlformats.org/package/2006/relationships"><ns0:Relationship Id="rId3" Type="http://schemas.openxmlformats.org/officeDocument/2006/relationships/image" Target="../media/image290.png" /><ns0:Relationship Id="rId2" Type="http://schemas.openxmlformats.org/officeDocument/2006/relationships/image" Target="../media/image289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93.png" /><ns0:Relationship Id="rId5" Type="http://schemas.openxmlformats.org/officeDocument/2006/relationships/image" Target="../media/image292.png" /><ns0:Relationship Id="rId4" Type="http://schemas.openxmlformats.org/officeDocument/2006/relationships/image" Target="../media/image291.png" /></ns0:Relationships>
</file>

<file path=ppt/c14/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>
                      <a:latin typeface="+mj-lt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dirty="0"/>
                    <a:t>Quadratics in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4583" b="-2708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18973" y="879129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previous chapters we’ve already dealt with quadratics in disguise, e.g. “quadratic in sin”. We therefore just apply our usual approach: either make a suitable substitution so the equation </a:t>
            </a:r>
            <a:r>
              <a:rPr lang="en-GB" b="1" dirty="0"/>
              <a:t>is</a:t>
            </a:r>
            <a:r>
              <a:rPr lang="en-GB" dirty="0"/>
              <a:t> then quadratic, or (strongly recommended!) </a:t>
            </a:r>
            <a:r>
              <a:rPr lang="en-GB" b="1" dirty="0"/>
              <a:t>go straight for the factorisation</a:t>
            </a:r>
            <a:r>
              <a:rPr lang="en-GB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19299" y="2473707"/>
                <a:ext cx="3626758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−15=0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299" y="2473707"/>
                <a:ext cx="3626758" cy="461665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989318" y="2452251"/>
                <a:ext cx="3626758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18" y="2452251"/>
                <a:ext cx="3626758" cy="461665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05405" y="3169433"/>
                <a:ext cx="329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therefore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=−5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Exponential functions are always positive therefore: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405" y="3169433"/>
                <a:ext cx="3293910" cy="1754326"/>
              </a:xfrm>
              <a:prstGeom prst="rect">
                <a:avLst/>
              </a:prstGeom>
              <a:blipFill>
                <a:blip r:embed="rId5"/>
                <a:stretch>
                  <a:fillRect l="-1479" t="-2083" r="-9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095428" y="3169433"/>
                <a:ext cx="3293910" cy="2551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First write negative powers as fractions: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=−1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428" y="3169433"/>
                <a:ext cx="3293910" cy="2551724"/>
              </a:xfrm>
              <a:prstGeom prst="rect">
                <a:avLst/>
              </a:prstGeom>
              <a:blipFill>
                <a:blip r:embed="rId6"/>
                <a:stretch>
                  <a:fillRect l="-1667" t="-14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019299" y="2935372"/>
            <a:ext cx="3626758" cy="30139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7071" y="2935372"/>
            <a:ext cx="3626758" cy="30139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4192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c14/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32213" y="1065821"/>
                <a:ext cx="3626758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  <m:r>
                      <a:rPr lang="en-GB" sz="24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213" y="1065821"/>
                <a:ext cx="3626758" cy="461665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07568" y="1772816"/>
                <a:ext cx="3024336" cy="138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+1=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1772816"/>
                <a:ext cx="3024336" cy="13878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95428" y="1041673"/>
                <a:ext cx="3626758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+5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428" y="1041673"/>
                <a:ext cx="3626758" cy="461665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89074" y="1702613"/>
                <a:ext cx="4195359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+5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−6=0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+6</m:t>
                          </m:r>
                        </m:e>
                      </m:d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=−6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074" y="1702613"/>
                <a:ext cx="4195359" cy="18158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32213" y="4077073"/>
                <a:ext cx="7260131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2400" dirty="0"/>
                  <a:t> giving your answer as an exact value.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213" y="4077073"/>
                <a:ext cx="7260131" cy="461665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372724" y="4724159"/>
                <a:ext cx="4195359" cy="1913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+1=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724" y="4724159"/>
                <a:ext cx="4195359" cy="19130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938974" y="1527486"/>
            <a:ext cx="3626758" cy="2004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428" y="1527486"/>
            <a:ext cx="3626758" cy="2004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6357" y="4538737"/>
            <a:ext cx="7285986" cy="20985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9425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c14/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14G – Y1 Page 327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3B5A013-0C3C-A04A-D38D-1C8107226ED5}"/>
              </a:ext>
            </a:extLst>
          </p:cNvPr>
          <p:cNvGrpSpPr/>
          <p:nvPr/>
        </p:nvGrpSpPr>
        <p:grpSpPr>
          <a:xfrm>
            <a:off x="1553080" y="679657"/>
            <a:ext cx="3616277" cy="869397"/>
            <a:chOff x="29079" y="679657"/>
            <a:chExt cx="3030753" cy="72863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76505E9-0A10-AFE8-F6A1-E5BA574C5E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-6658" r="43018"/>
            <a:stretch/>
          </p:blipFill>
          <p:spPr>
            <a:xfrm>
              <a:off x="29079" y="679657"/>
              <a:ext cx="3030753" cy="49286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928F29C-5FCE-25E6-4EC4-BDE81D0390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2313"/>
            <a:stretch/>
          </p:blipFill>
          <p:spPr>
            <a:xfrm>
              <a:off x="323528" y="1074387"/>
              <a:ext cx="2304256" cy="3339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C56E56-C196-8D6F-E28A-CDE6A70D1E4D}"/>
              </a:ext>
            </a:extLst>
          </p:cNvPr>
          <p:cNvGrpSpPr/>
          <p:nvPr/>
        </p:nvGrpSpPr>
        <p:grpSpPr>
          <a:xfrm>
            <a:off x="6023992" y="599128"/>
            <a:ext cx="4509492" cy="1101669"/>
            <a:chOff x="4572002" y="599127"/>
            <a:chExt cx="3888432" cy="94994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C504B83-59B9-6BA5-DD50-6950BA0441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-4" r="32998" b="1"/>
            <a:stretch/>
          </p:blipFill>
          <p:spPr>
            <a:xfrm>
              <a:off x="4572002" y="599127"/>
              <a:ext cx="3888432" cy="49286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68EBA79-45C5-B29A-8AA2-65503CCD43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5871" t="-4" b="1"/>
            <a:stretch/>
          </p:blipFill>
          <p:spPr>
            <a:xfrm>
              <a:off x="4860034" y="1056210"/>
              <a:ext cx="1980649" cy="492861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30B1CACB-97C0-D0D8-11DB-69FA87C7F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528" y="1798655"/>
            <a:ext cx="2331772" cy="45826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6BBAD3-3EE6-A16E-C5FF-3CDDAE229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096" y="1821083"/>
            <a:ext cx="2953852" cy="240000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BBC2BC3-A3B0-7771-9C09-0409485E5BD7}"/>
              </a:ext>
            </a:extLst>
          </p:cNvPr>
          <p:cNvSpPr/>
          <p:nvPr/>
        </p:nvSpPr>
        <p:spPr>
          <a:xfrm>
            <a:off x="1904414" y="1821082"/>
            <a:ext cx="3626758" cy="45826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C76695-FA85-7DC9-2D52-BF8EA437570E}"/>
              </a:ext>
            </a:extLst>
          </p:cNvPr>
          <p:cNvSpPr/>
          <p:nvPr/>
        </p:nvSpPr>
        <p:spPr>
          <a:xfrm>
            <a:off x="6319911" y="1785658"/>
            <a:ext cx="3626758" cy="46180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478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c14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14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