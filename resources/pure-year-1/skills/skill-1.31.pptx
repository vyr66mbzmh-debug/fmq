
<file path=[Content_Types].xml><?xml version="1.0" encoding="utf-8"?>
<ns0:Types xmlns:ns0="http://schemas.openxmlformats.org/package/2006/content-types">
  <ns0:Default Extension="png" ContentType="image/png"/>
  <ns0:Default Extension="rels" ContentType="application/vnd.openxmlformats-package.relationships+xml"/>
  <ns0:Default Extension="xml" ContentType="application/xml"/>
  <ns0:Override PartName="/ppt/c12/ppt/slideMasters/slideMaster1.xml" ContentType="application/vnd.openxmlformats-officedocument.presentationml.slideMaster+xml"/>
  <ns0:Override PartName="/ppt/c12/ppt/slides/slide14.xml" ContentType="application/vnd.openxmlformats-officedocument.presentationml.slide+xml"/>
  <ns0:Override PartName="/ppt/c12/ppt/slides/slide15.xml" ContentType="application/vnd.openxmlformats-officedocument.presentationml.slide+xml"/>
  <ns0:Override PartName="/ppt/c12/ppt/slides/slide16.xml" ContentType="application/vnd.openxmlformats-officedocument.presentationml.slide+xml"/>
  <ns0:Override PartName="/ppt/c12/ppt/slides/slide17.xml" ContentType="application/vnd.openxmlformats-officedocument.presentationml.slide+xml"/>
  <ns0:Override PartName="/ppt/c12/ppt/slides/slide18.xml" ContentType="application/vnd.openxmlformats-officedocument.presentationml.slide+xml"/>
  <ns0:Override PartName="/ppt/c12/ppt/slides/slide19.xml" ContentType="application/vnd.openxmlformats-officedocument.presentationml.slide+xml"/>
  <ns0:Override PartName="/ppt/c12/ppt/slides/slide20.xml" ContentType="application/vnd.openxmlformats-officedocument.presentationml.slide+xml"/>
  <ns0:Override PartName="/ppt/c12/ppt/slides/slide21.xml" ContentType="application/vnd.openxmlformats-officedocument.presentationml.slide+xml"/>
  <ns0:Override PartName="/ppt/c12/ppt/slides/slide22.xml" ContentType="application/vnd.openxmlformats-officedocument.presentationml.slide+xml"/>
  <ns0:Override PartName="/ppt/c12/ppt/slides/slide23.xml" ContentType="application/vnd.openxmlformats-officedocument.presentationml.slide+xml"/>
  <ns0:Override PartName="/ppt/c12/ppt/slides/slide24.xml" ContentType="application/vnd.openxmlformats-officedocument.presentationml.slide+xml"/>
  <ns0:Override PartName="/ppt/c12/ppt/slides/slide25.xml" ContentType="application/vnd.openxmlformats-officedocument.presentationml.slide+xml"/>
  <ns0:Override PartName="/ppt/c12/ppt/slides/slide26.xml" ContentType="application/vnd.openxmlformats-officedocument.presentationml.slide+xml"/>
  <ns0:Override PartName="/ppt/c12/ppt/slides/slide27.xml" ContentType="application/vnd.openxmlformats-officedocument.presentationml.slide+xml"/>
  <ns0:Override PartName="/ppt/c12/ppt/slides/slide42.xml" ContentType="application/vnd.openxmlformats-officedocument.presentationml.slide+xml"/>
  <ns0:Override PartName="/ppt/c12/ppt/slides/slide43.xml" ContentType="application/vnd.openxmlformats-officedocument.presentationml.slide+xml"/>
  <ns0:Override PartName="/ppt/c12/ppt/slides/slide44.xml" ContentType="application/vnd.openxmlformats-officedocument.presentationml.slide+xml"/>
  <ns0:Override PartName="/ppt/c12/ppt/slides/slide45.xml" ContentType="application/vnd.openxmlformats-officedocument.presentationml.slide+xml"/>
  <ns0:Override PartName="/ppt/c12/ppt/slides/slide46.xml" ContentType="application/vnd.openxmlformats-officedocument.presentationml.slide+xml"/>
  <ns0:Override PartName="/ppt/c12/ppt/slides/slide47.xml" ContentType="application/vnd.openxmlformats-officedocument.presentationml.slide+xml"/>
  <ns0:Override PartName="/ppt/c12/ppt/notesMasters/notesMaster1.xml" ContentType="application/vnd.openxmlformats-officedocument.presentationml.notesMaster+xml"/>
  <ns0:Override PartName="/ppt/c12/ppt/theme/theme1.xml" ContentType="application/vnd.openxmlformats-officedocument.theme+xml"/>
  <ns0:Override PartName="/ppt/c12/ppt/slideLayouts/slideLayout1.xml" ContentType="application/vnd.openxmlformats-officedocument.presentationml.slideLayout+xml"/>
  <ns0:Override PartName="/ppt/c12/ppt/slideLayouts/slideLayout2.xml" ContentType="application/vnd.openxmlformats-officedocument.presentationml.slideLayout+xml"/>
  <ns0:Override PartName="/ppt/c12/ppt/theme/theme2.xml" ContentType="application/vnd.openxmlformats-officedocument.them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4848" r:id="rId21"/>
  </p:sldMasterIdLst>
  <p:notesMasterIdLst>
    <p:notesMasterId r:id="rId2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6858000" type="screen4x3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12/ppt/slides/slide14.xml" /><ns0:Relationship Id="rId2" Type="http://schemas.openxmlformats.org/officeDocument/2006/relationships/slide" Target="c12/ppt/slides/slide15.xml" /><ns0:Relationship Id="rId3" Type="http://schemas.openxmlformats.org/officeDocument/2006/relationships/slide" Target="c12/ppt/slides/slide16.xml" /><ns0:Relationship Id="rId4" Type="http://schemas.openxmlformats.org/officeDocument/2006/relationships/slide" Target="c12/ppt/slides/slide17.xml" /><ns0:Relationship Id="rId5" Type="http://schemas.openxmlformats.org/officeDocument/2006/relationships/slide" Target="c12/ppt/slides/slide18.xml" /><ns0:Relationship Id="rId6" Type="http://schemas.openxmlformats.org/officeDocument/2006/relationships/slide" Target="c12/ppt/slides/slide19.xml" /><ns0:Relationship Id="rId7" Type="http://schemas.openxmlformats.org/officeDocument/2006/relationships/slide" Target="c12/ppt/slides/slide20.xml" /><ns0:Relationship Id="rId8" Type="http://schemas.openxmlformats.org/officeDocument/2006/relationships/slide" Target="c12/ppt/slides/slide21.xml" /><ns0:Relationship Id="rId9" Type="http://schemas.openxmlformats.org/officeDocument/2006/relationships/slide" Target="c12/ppt/slides/slide22.xml" /><ns0:Relationship Id="rId10" Type="http://schemas.openxmlformats.org/officeDocument/2006/relationships/slide" Target="c12/ppt/slides/slide23.xml" /><ns0:Relationship Id="rId11" Type="http://schemas.openxmlformats.org/officeDocument/2006/relationships/slide" Target="c12/ppt/slides/slide24.xml" /><ns0:Relationship Id="rId12" Type="http://schemas.openxmlformats.org/officeDocument/2006/relationships/slide" Target="c12/ppt/slides/slide25.xml" /><ns0:Relationship Id="rId13" Type="http://schemas.openxmlformats.org/officeDocument/2006/relationships/slide" Target="c12/ppt/slides/slide26.xml" /><ns0:Relationship Id="rId14" Type="http://schemas.openxmlformats.org/officeDocument/2006/relationships/slide" Target="c12/ppt/slides/slide27.xml" /><ns0:Relationship Id="rId15" Type="http://schemas.openxmlformats.org/officeDocument/2006/relationships/slide" Target="c12/ppt/slides/slide42.xml" /><ns0:Relationship Id="rId16" Type="http://schemas.openxmlformats.org/officeDocument/2006/relationships/slide" Target="c12/ppt/slides/slide43.xml" /><ns0:Relationship Id="rId17" Type="http://schemas.openxmlformats.org/officeDocument/2006/relationships/slide" Target="c12/ppt/slides/slide44.xml" /><ns0:Relationship Id="rId18" Type="http://schemas.openxmlformats.org/officeDocument/2006/relationships/slide" Target="c12/ppt/slides/slide45.xml" /><ns0:Relationship Id="rId19" Type="http://schemas.openxmlformats.org/officeDocument/2006/relationships/slide" Target="c12/ppt/slides/slide46.xml" /><ns0:Relationship Id="rId20" Type="http://schemas.openxmlformats.org/officeDocument/2006/relationships/slide" Target="c12/ppt/slides/slide47.xml" /><ns0:Relationship Id="rId21" Type="http://schemas.openxmlformats.org/officeDocument/2006/relationships/slideMaster" Target="c12/ppt/slideMasters/slideMaster1.xml" /><ns0:Relationship Id="rId22" Type="http://schemas.openxmlformats.org/officeDocument/2006/relationships/notesMaster" Target="c12/ppt/notesMasters/notesMaster1.xml" /></ns0:Relationships>
</file>

<file path=ppt/c12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12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30/12/2023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12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2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2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30/12/2023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1839891"/>
      </p:ext>
    </p:extLst>
  </p:cSld>
  <p:clrMapOvr>
    <a:masterClrMapping/>
  </p:clrMapOvr>
</p:sldLayout>
</file>

<file path=ppt/c12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17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88"/>
            <a:ext cx="7772400" cy="1470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ECDDC1-0B0A-6E37-1995-A8CC6B0F35AF}"/>
              </a:ext>
            </a:extLst>
          </p:cNvPr>
          <p:cNvSpPr/>
          <p:nvPr userDrawn="1"/>
        </p:nvSpPr>
        <p:spPr>
          <a:xfrm>
            <a:off x="8458200" y="116632"/>
            <a:ext cx="648072" cy="43204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7130973"/>
      </p:ext>
    </p:extLst>
  </p:cSld>
  <p:clrMapOvr>
    <a:masterClrMapping/>
  </p:clrMapOvr>
</p:sldLayout>
</file>

<file path=ppt/c12/ppt/slideMasters/_rels/slideMaster1.xml.rels><?xml version='1.0' encoding='utf-8'?>
<ns0:Relationships xmlns:ns0="http://schemas.openxmlformats.org/package/2006/relationships"><ns0:Relationship Id="rId3" Type="http://schemas.openxmlformats.org/officeDocument/2006/relationships/theme" Target="../theme/theme1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/ns0:Relationships>
</file>

<file path=ppt/c12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30/12/2023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6BE1C5E-5248-9158-42CE-6786A1D85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9126"/>
            <a:ext cx="8229600" cy="818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46619E1-8E5E-BED0-8159-D618D0F5B26B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144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968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12/ppt/slides/_rels/slide14.xml.rels><?xml version='1.0' encoding='utf-8'?>
<ns0:Relationships xmlns:ns0="http://schemas.openxmlformats.org/package/2006/relationships"><ns0:Relationship Id="rId8" Type="http://schemas.openxmlformats.org/officeDocument/2006/relationships/image" Target="../media/image75.png" /><ns0:Relationship Id="rId3" Type="http://schemas.openxmlformats.org/officeDocument/2006/relationships/image" Target="../media/image70.png" /><ns0:Relationship Id="rId7" Type="http://schemas.openxmlformats.org/officeDocument/2006/relationships/image" Target="../media/image74.png" /><ns0:Relationship Id="rId2" Type="http://schemas.openxmlformats.org/officeDocument/2006/relationships/image" Target="../media/image631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73.png" /><ns0:Relationship Id="rId11" Type="http://schemas.openxmlformats.org/officeDocument/2006/relationships/image" Target="../media/image78.png" /><ns0:Relationship Id="rId5" Type="http://schemas.openxmlformats.org/officeDocument/2006/relationships/image" Target="../media/image72.png" /><ns0:Relationship Id="rId10" Type="http://schemas.openxmlformats.org/officeDocument/2006/relationships/image" Target="../media/image77.png" /><ns0:Relationship Id="rId4" Type="http://schemas.openxmlformats.org/officeDocument/2006/relationships/image" Target="../media/image71.png" /><ns0:Relationship Id="rId9" Type="http://schemas.openxmlformats.org/officeDocument/2006/relationships/image" Target="../media/image640.png" /></ns0:Relationships>
</file>

<file path=ppt/c12/ppt/slides/_rels/slide15.xml.rels><?xml version='1.0' encoding='utf-8'?>
<ns0:Relationships xmlns:ns0="http://schemas.openxmlformats.org/package/2006/relationships"><ns0:Relationship Id="rId3" Type="http://schemas.openxmlformats.org/officeDocument/2006/relationships/image" Target="../media/image80.png" /><ns0:Relationship Id="rId2" Type="http://schemas.openxmlformats.org/officeDocument/2006/relationships/image" Target="../media/image79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76.png" /><ns0:Relationship Id="rId5" Type="http://schemas.openxmlformats.org/officeDocument/2006/relationships/image" Target="../media/image82.png" /><ns0:Relationship Id="rId4" Type="http://schemas.openxmlformats.org/officeDocument/2006/relationships/image" Target="../media/image81.png" /></ns0:Relationships>
</file>

<file path=ppt/c12/ppt/slides/_rels/slide16.xml.rels><?xml version='1.0' encoding='utf-8'?>
<ns0:Relationships xmlns:ns0="http://schemas.openxmlformats.org/package/2006/relationships"><ns0:Relationship Id="rId3" Type="http://schemas.openxmlformats.org/officeDocument/2006/relationships/image" Target="../media/image85.png" /><ns0:Relationship Id="rId2" Type="http://schemas.openxmlformats.org/officeDocument/2006/relationships/image" Target="../media/image84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88.png" /><ns0:Relationship Id="rId5" Type="http://schemas.openxmlformats.org/officeDocument/2006/relationships/image" Target="../media/image87.png" /><ns0:Relationship Id="rId4" Type="http://schemas.openxmlformats.org/officeDocument/2006/relationships/image" Target="../media/image86.png" /></ns0:Relationships>
</file>

<file path=ppt/c12/ppt/slides/_rels/slide17.xml.rels><?xml version='1.0' encoding='utf-8'?>
<ns0:Relationships xmlns:ns0="http://schemas.openxmlformats.org/package/2006/relationships"><ns0:Relationship Id="rId8" Type="http://schemas.openxmlformats.org/officeDocument/2006/relationships/image" Target="../media/image95.png" /><ns0:Relationship Id="rId3" Type="http://schemas.openxmlformats.org/officeDocument/2006/relationships/image" Target="../media/image90.png" /><ns0:Relationship Id="rId7" Type="http://schemas.openxmlformats.org/officeDocument/2006/relationships/image" Target="../media/image94.png" /><ns0:Relationship Id="rId2" Type="http://schemas.openxmlformats.org/officeDocument/2006/relationships/image" Target="../media/image89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93.png" /><ns0:Relationship Id="rId5" Type="http://schemas.openxmlformats.org/officeDocument/2006/relationships/image" Target="../media/image92.png" /><ns0:Relationship Id="rId4" Type="http://schemas.openxmlformats.org/officeDocument/2006/relationships/image" Target="../media/image91.png" /></ns0:Relationships>
</file>

<file path=ppt/c12/ppt/slides/_rels/slide18.xml.rels><?xml version='1.0' encoding='utf-8'?>
<ns0:Relationships xmlns:ns0="http://schemas.openxmlformats.org/package/2006/relationships"><ns0:Relationship Id="rId8" Type="http://schemas.openxmlformats.org/officeDocument/2006/relationships/image" Target="../media/image102.png" /><ns0:Relationship Id="rId3" Type="http://schemas.openxmlformats.org/officeDocument/2006/relationships/image" Target="../media/image83.png" /><ns0:Relationship Id="rId7" Type="http://schemas.openxmlformats.org/officeDocument/2006/relationships/image" Target="../media/image101.png" /><ns0:Relationship Id="rId2" Type="http://schemas.openxmlformats.org/officeDocument/2006/relationships/image" Target="../media/image96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00.png" /><ns0:Relationship Id="rId5" Type="http://schemas.openxmlformats.org/officeDocument/2006/relationships/image" Target="../media/image99.png" /><ns0:Relationship Id="rId4" Type="http://schemas.openxmlformats.org/officeDocument/2006/relationships/image" Target="../media/image98.png" /></ns0:Relationships>
</file>

<file path=ppt/c12/ppt/slides/_rels/slide19.xml.rels><?xml version='1.0' encoding='utf-8'?>
<ns0:Relationships xmlns:ns0="http://schemas.openxmlformats.org/package/2006/relationships"><ns0:Relationship Id="rId3" Type="http://schemas.openxmlformats.org/officeDocument/2006/relationships/image" Target="../media/image104.png" /><ns0:Relationship Id="rId2" Type="http://schemas.openxmlformats.org/officeDocument/2006/relationships/image" Target="../media/image103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106.png" /><ns0:Relationship Id="rId4" Type="http://schemas.openxmlformats.org/officeDocument/2006/relationships/image" Target="../media/image105.png" /></ns0:Relationships>
</file>

<file path=ppt/c12/ppt/slides/_rels/slide20.xml.rels><?xml version='1.0' encoding='utf-8'?>
<ns0:Relationships xmlns:ns0="http://schemas.openxmlformats.org/package/2006/relationships"><ns0:Relationship Id="rId3" Type="http://schemas.openxmlformats.org/officeDocument/2006/relationships/image" Target="../media/image97.png" /><ns0:Relationship Id="rId2" Type="http://schemas.openxmlformats.org/officeDocument/2006/relationships/image" Target="../media/image69.png" /><ns0:Relationship Id="rId1" Type="http://schemas.openxmlformats.org/officeDocument/2006/relationships/slideLayout" Target="../slideLayouts/slideLayout1.xml" /></ns0:Relationships>
</file>

<file path=ppt/c12/ppt/slides/_rels/slide21.xml.rels><?xml version='1.0' encoding='utf-8'?>
<ns0:Relationships xmlns:ns0="http://schemas.openxmlformats.org/package/2006/relationships"><ns0:Relationship Id="rId3" Type="http://schemas.openxmlformats.org/officeDocument/2006/relationships/image" Target="../media/image108.png" /><ns0:Relationship Id="rId2" Type="http://schemas.openxmlformats.org/officeDocument/2006/relationships/image" Target="../media/image107.png" /><ns0:Relationship Id="rId1" Type="http://schemas.openxmlformats.org/officeDocument/2006/relationships/slideLayout" Target="../slideLayouts/slideLayout1.xml" /></ns0:Relationships>
</file>

<file path=ppt/c12/ppt/slides/_rels/slide22.xml.rels><?xml version='1.0' encoding='utf-8'?>
<ns0:Relationships xmlns:ns0="http://schemas.openxmlformats.org/package/2006/relationships"><ns0:Relationship Id="rId3" Type="http://schemas.openxmlformats.org/officeDocument/2006/relationships/image" Target="../media/image110.png" /><ns0:Relationship Id="rId2" Type="http://schemas.openxmlformats.org/officeDocument/2006/relationships/image" Target="../media/image109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112.png" /><ns0:Relationship Id="rId4" Type="http://schemas.openxmlformats.org/officeDocument/2006/relationships/image" Target="../media/image111.png" /></ns0:Relationships>
</file>

<file path=ppt/c12/ppt/slides/_rels/slide23.xml.rels><?xml version='1.0' encoding='utf-8'?>
<ns0:Relationships xmlns:ns0="http://schemas.openxmlformats.org/package/2006/relationships"><ns0:Relationship Id="rId8" Type="http://schemas.openxmlformats.org/officeDocument/2006/relationships/image" Target="../media/image113.png" /><ns0:Relationship Id="rId3" Type="http://schemas.openxmlformats.org/officeDocument/2006/relationships/image" Target="../media/image1080.png" /><ns0:Relationship Id="rId7" Type="http://schemas.openxmlformats.org/officeDocument/2006/relationships/image" Target="../media/image1120.png" /><ns0:Relationship Id="rId2" Type="http://schemas.openxmlformats.org/officeDocument/2006/relationships/image" Target="../media/image1070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110.png" /><ns0:Relationship Id="rId5" Type="http://schemas.openxmlformats.org/officeDocument/2006/relationships/image" Target="../media/image1100.png" /><ns0:Relationship Id="rId4" Type="http://schemas.openxmlformats.org/officeDocument/2006/relationships/image" Target="../media/image1090.png" /></ns0:Relationships>
</file>

<file path=ppt/c12/ppt/slides/_rels/slide24.xml.rels><?xml version='1.0' encoding='utf-8'?>
<ns0:Relationships xmlns:ns0="http://schemas.openxmlformats.org/package/2006/relationships"><ns0:Relationship Id="rId3" Type="http://schemas.openxmlformats.org/officeDocument/2006/relationships/image" Target="../media/image115.png" /><ns0:Relationship Id="rId2" Type="http://schemas.openxmlformats.org/officeDocument/2006/relationships/image" Target="../media/image114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116.png" /></ns0:Relationships>
</file>

<file path=ppt/c12/ppt/slides/_rels/slide25.xml.rels><?xml version='1.0' encoding='utf-8'?>
<ns0:Relationships xmlns:ns0="http://schemas.openxmlformats.org/package/2006/relationships"><ns0:Relationship Id="rId3" Type="http://schemas.openxmlformats.org/officeDocument/2006/relationships/image" Target="../media/image118.png" /><ns0:Relationship Id="rId2" Type="http://schemas.openxmlformats.org/officeDocument/2006/relationships/image" Target="../media/image117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119.png" /></ns0:Relationships>
</file>

<file path=ppt/c12/ppt/slides/_rels/slide26.xml.rels><?xml version='1.0' encoding='utf-8'?>
<ns0:Relationships xmlns:ns0="http://schemas.openxmlformats.org/package/2006/relationships"><ns0:Relationship Id="rId3" Type="http://schemas.openxmlformats.org/officeDocument/2006/relationships/image" Target="../media/image121.png" /><ns0:Relationship Id="rId2" Type="http://schemas.openxmlformats.org/officeDocument/2006/relationships/image" Target="../media/image120.png" /><ns0:Relationship Id="rId1" Type="http://schemas.openxmlformats.org/officeDocument/2006/relationships/slideLayout" Target="../slideLayouts/slideLayout1.xml" /></ns0:Relationships>
</file>

<file path=ppt/c12/ppt/slides/_rels/slide27.xml.rels><?xml version='1.0' encoding='utf-8'?>
<ns0:Relationships xmlns:ns0="http://schemas.openxmlformats.org/package/2006/relationships"><ns0:Relationship Id="rId2" Type="http://schemas.openxmlformats.org/officeDocument/2006/relationships/image" Target="../media/image1191.png" /><ns0:Relationship Id="rId1" Type="http://schemas.openxmlformats.org/officeDocument/2006/relationships/slideLayout" Target="../slideLayouts/slideLayout1.xml" /></ns0:Relationships>
</file>

<file path=ppt/c12/ppt/slides/_rels/slide42.xml.rels><?xml version='1.0' encoding='utf-8'?>
<ns0:Relationships xmlns:ns0="http://schemas.openxmlformats.org/package/2006/relationships"><ns0:Relationship Id="rId8" Type="http://schemas.openxmlformats.org/officeDocument/2006/relationships/image" Target="../media/image155.png" /><ns0:Relationship Id="rId3" Type="http://schemas.openxmlformats.org/officeDocument/2006/relationships/image" Target="../media/image1500.png" /><ns0:Relationship Id="rId7" Type="http://schemas.openxmlformats.org/officeDocument/2006/relationships/image" Target="../media/image154.png" /><ns0:Relationship Id="rId12" Type="http://schemas.openxmlformats.org/officeDocument/2006/relationships/image" Target="../media/image159.png" /><ns0:Relationship Id="rId2" Type="http://schemas.openxmlformats.org/officeDocument/2006/relationships/image" Target="../media/image1490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53.png" /><ns0:Relationship Id="rId11" Type="http://schemas.openxmlformats.org/officeDocument/2006/relationships/image" Target="../media/image158.png" /><ns0:Relationship Id="rId5" Type="http://schemas.openxmlformats.org/officeDocument/2006/relationships/image" Target="../media/image1520.png" /><ns0:Relationship Id="rId10" Type="http://schemas.openxmlformats.org/officeDocument/2006/relationships/image" Target="../media/image157.png" /><ns0:Relationship Id="rId4" Type="http://schemas.openxmlformats.org/officeDocument/2006/relationships/image" Target="../media/image1510.png" /><ns0:Relationship Id="rId9" Type="http://schemas.openxmlformats.org/officeDocument/2006/relationships/image" Target="../media/image156.png" /></ns0:Relationships>
</file>

<file path=ppt/c12/ppt/slides/_rels/slide43.xml.rels><?xml version='1.0' encoding='utf-8'?>
<ns0:Relationships xmlns:ns0="http://schemas.openxmlformats.org/package/2006/relationships"><ns0:Relationship Id="rId2" Type="http://schemas.openxmlformats.org/officeDocument/2006/relationships/image" Target="../media/image160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63.png" /><ns0:Relationship Id="rId5" Type="http://schemas.openxmlformats.org/officeDocument/2006/relationships/image" Target="../media/image162.png" /><ns0:Relationship Id="rId4" Type="http://schemas.openxmlformats.org/officeDocument/2006/relationships/image" Target="../media/image161.png" /></ns0:Relationships>
</file>

<file path=ppt/c12/ppt/slides/_rels/slide44.xml.rels><?xml version='1.0' encoding='utf-8'?>
<ns0:Relationships xmlns:ns0="http://schemas.openxmlformats.org/package/2006/relationships"><ns0:Relationship Id="rId3" Type="http://schemas.openxmlformats.org/officeDocument/2006/relationships/image" Target="../media/image165.png" /><ns0:Relationship Id="rId2" Type="http://schemas.openxmlformats.org/officeDocument/2006/relationships/image" Target="../media/image164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167.png" /><ns0:Relationship Id="rId4" Type="http://schemas.openxmlformats.org/officeDocument/2006/relationships/image" Target="../media/image166.png" /></ns0:Relationships>
</file>

<file path=ppt/c12/ppt/slides/_rels/slide45.xml.rels><?xml version='1.0' encoding='utf-8'?>
<ns0:Relationships xmlns:ns0="http://schemas.openxmlformats.org/package/2006/relationships"><ns0:Relationship Id="rId3" Type="http://schemas.openxmlformats.org/officeDocument/2006/relationships/image" Target="../media/image169.png" /><ns0:Relationship Id="rId2" Type="http://schemas.openxmlformats.org/officeDocument/2006/relationships/image" Target="../media/image168.png" /><ns0:Relationship Id="rId1" Type="http://schemas.openxmlformats.org/officeDocument/2006/relationships/slideLayout" Target="../slideLayouts/slideLayout1.xml" /></ns0:Relationships>
</file>

<file path=ppt/c12/ppt/slides/_rels/slide46.xml.rels><?xml version='1.0' encoding='utf-8'?>
<ns0:Relationships xmlns:ns0="http://schemas.openxmlformats.org/package/2006/relationships"><ns0:Relationship Id="rId3" Type="http://schemas.openxmlformats.org/officeDocument/2006/relationships/image" Target="../media/image171.png" /><ns0:Relationship Id="rId2" Type="http://schemas.openxmlformats.org/officeDocument/2006/relationships/image" Target="../media/image170.png" /><ns0:Relationship Id="rId1" Type="http://schemas.openxmlformats.org/officeDocument/2006/relationships/slideLayout" Target="../slideLayouts/slideLayout1.xml" /></ns0:Relationships>
</file>

<file path=ppt/c12/ppt/slides/_rels/slide47.xml.rels><?xml version='1.0' encoding='utf-8'?>
<ns0:Relationships xmlns:ns0="http://schemas.openxmlformats.org/package/2006/relationships"><ns0:Relationship Id="rId3" Type="http://schemas.openxmlformats.org/officeDocument/2006/relationships/image" Target="../media/image173.png" /><ns0:Relationship Id="rId2" Type="http://schemas.openxmlformats.org/officeDocument/2006/relationships/image" Target="../media/image172.png" /><ns0:Relationship Id="rId1" Type="http://schemas.openxmlformats.org/officeDocument/2006/relationships/slideLayout" Target="../slideLayouts/slideLayout1.xml" /></ns0:Relationships>
</file>

<file path=ppt/c12/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solidFill>
                  <a:srgbClr val="17375E">
                    <a:alpha val="0"/>
                  </a:srgbClr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vert="horz" wrap="square" lIns="324000" tIns="45720" rIns="91440" bIns="45720" rtlCol="0" anchor="ctr">
                  <a:spAutoFit/>
                </a:bodyPr>
                <a:lstStyle>
                  <a:defPPr>
                    <a:defRPr lang="en-US"/>
                  </a:defPPr>
                  <a:lvl1pPr>
                    <a:spcBef>
                      <a:spcPct val="0"/>
                    </a:spcBef>
                    <a:buNone/>
                    <a:defRPr sz="3200"/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dirty="0"/>
                    <a:t>Differentiating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blipFill>
                  <a:blip r:embed="rId2"/>
                  <a:stretch>
                    <a:fillRect t="-12500" b="-291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9843" y="762284"/>
                <a:ext cx="712879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Thankfully, there’s a quick way to differentiate terms of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dirty="0"/>
                  <a:t> (where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is a constant) with having to use first principles every time: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843" y="762284"/>
                <a:ext cx="7128792" cy="646331"/>
              </a:xfrm>
              <a:prstGeom prst="rect">
                <a:avLst/>
              </a:prstGeom>
              <a:blipFill>
                <a:blip r:embed="rId3"/>
                <a:stretch>
                  <a:fillRect l="-684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095818" y="1655858"/>
                <a:ext cx="5996098" cy="76828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!"/>
                </a:pPr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dirty="0"/>
                  <a:t>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𝑛𝑎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dirty="0"/>
                  <a:t> (where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are constants)</a:t>
                </a:r>
              </a:p>
              <a:p>
                <a:r>
                  <a:rPr lang="en-GB" dirty="0"/>
                  <a:t>i.e. multiply by the power and reduce the power by 1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818" y="1655858"/>
                <a:ext cx="5996098" cy="768287"/>
              </a:xfrm>
              <a:prstGeom prst="rect">
                <a:avLst/>
              </a:prstGeom>
              <a:blipFill>
                <a:blip r:embed="rId4"/>
                <a:stretch>
                  <a:fillRect l="-709"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39552" y="2708920"/>
            <a:ext cx="1656184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Examples: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2301" y="3261300"/>
                <a:ext cx="2772013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01" y="3261300"/>
                <a:ext cx="2772013" cy="6182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4410606" y="3335727"/>
            <a:ext cx="26642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Power is 5, so multiply by 5 then reduce power by 5.</a:t>
            </a:r>
          </a:p>
        </p:txBody>
      </p:sp>
      <p:cxnSp>
        <p:nvCxnSpPr>
          <p:cNvPr id="11" name="Straight Arrow Connector 10"/>
          <p:cNvCxnSpPr>
            <a:stCxn id="9" idx="1"/>
          </p:cNvCxnSpPr>
          <p:nvPr/>
        </p:nvCxnSpPr>
        <p:spPr>
          <a:xfrm flipH="1" flipV="1">
            <a:off x="3657600" y="3561907"/>
            <a:ext cx="753006" cy="35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00026" y="3946828"/>
                <a:ext cx="3317922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26" y="3946828"/>
                <a:ext cx="3317922" cy="6109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 flipV="1">
            <a:off x="3648434" y="4220521"/>
            <a:ext cx="753006" cy="35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385090" y="3861844"/>
                <a:ext cx="3024700" cy="618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The power need not be an integer!</a:t>
                </a:r>
              </a:p>
              <a:p>
                <a:r>
                  <a:rPr lang="en-GB" sz="1400" dirty="0"/>
                  <a:t>Remember to 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400" dirty="0"/>
                  <a:t> not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endParaRPr lang="en-GB" sz="1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5090" y="3861844"/>
                <a:ext cx="3024700" cy="618054"/>
              </a:xfrm>
              <a:prstGeom prst="rect">
                <a:avLst/>
              </a:prstGeom>
              <a:blipFill>
                <a:blip r:embed="rId7"/>
                <a:stretch>
                  <a:fillRect l="-604" t="-1980" b="-29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43915" y="4651914"/>
                <a:ext cx="3033979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15" y="4651914"/>
                <a:ext cx="3033979" cy="6182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06326" y="5363195"/>
                <a:ext cx="4136066" cy="566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26" y="5363195"/>
                <a:ext cx="4136066" cy="56669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923827" y="4511132"/>
                <a:ext cx="3744416" cy="212615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Why would it be incorrect to say that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p>
                    </m:sSup>
                  </m:oMath>
                </a14:m>
                <a:r>
                  <a:rPr lang="en-GB" sz="1400" b="1" dirty="0"/>
                  <a:t> differentiates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𝒅𝒚</m:t>
                        </m:r>
                      </m:num>
                      <m:den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𝒅𝒙</m:t>
                        </m:r>
                      </m:den>
                    </m:f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GB" sz="1400" b="1" dirty="0"/>
                  <a:t>?</a:t>
                </a:r>
              </a:p>
              <a:p>
                <a:r>
                  <a:rPr lang="en-GB" sz="1400" dirty="0"/>
                  <a:t>The rule only works when the base is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and the power is a constant. Neither is true here! Note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sz="1400" dirty="0"/>
                  <a:t> is “a power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” whereas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400" dirty="0"/>
                  <a:t> is an exponential term (which you will encounter more in Chp14), and therefore differentiate differently. You will learn how to differentiate exponential terms in Year 2.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827" y="4511132"/>
                <a:ext cx="3744416" cy="212615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2809261" y="3163894"/>
            <a:ext cx="688851" cy="6531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47875" y="3952203"/>
            <a:ext cx="1450237" cy="6531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38376" y="4699679"/>
            <a:ext cx="1259736" cy="5634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95849" y="5335999"/>
            <a:ext cx="582119" cy="5634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3905" y="5357265"/>
            <a:ext cx="1573618" cy="5634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39552" y="6127657"/>
                <a:ext cx="3681461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6127657"/>
                <a:ext cx="3681461" cy="61824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1962127" y="6144897"/>
            <a:ext cx="582119" cy="5634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45220" y="6134264"/>
            <a:ext cx="1332134" cy="5634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92042" y="5114443"/>
            <a:ext cx="3603372" cy="14566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61908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</p:bldLst>
  </p:timing>
</p:sld>
</file>

<file path=ppt/c12/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83567" y="1156054"/>
                <a:ext cx="2772013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𝟕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7" y="1156054"/>
                <a:ext cx="2772013" cy="6182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10700" y="1774300"/>
                <a:ext cx="2899606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𝟑𝟎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00" y="1774300"/>
                <a:ext cx="2899606" cy="6182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57079" y="2572162"/>
                <a:ext cx="4153144" cy="7729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79" y="2572162"/>
                <a:ext cx="4153144" cy="7729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65693" y="3657103"/>
                <a:ext cx="3823535" cy="618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693" y="3657103"/>
                <a:ext cx="3823535" cy="6184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854898" y="1042174"/>
            <a:ext cx="1196107" cy="680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02959" y="1774300"/>
            <a:ext cx="1786270" cy="680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4707" y="2667113"/>
            <a:ext cx="1522647" cy="680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60428" y="3659866"/>
            <a:ext cx="1828799" cy="680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42139" y="4542702"/>
                <a:ext cx="4493387" cy="618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49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p>
                          </m:sSup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=7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→ 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𝟒𝟗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39" y="4542702"/>
                <a:ext cx="4493387" cy="6184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4389227" y="4489699"/>
            <a:ext cx="979223" cy="680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06592" y="4480841"/>
            <a:ext cx="603962" cy="680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22774" y="2662052"/>
            <a:ext cx="603962" cy="680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569" y="1364010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0569" y="1949817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0569" y="2916548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0569" y="3833184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0569" y="4736596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7937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c12/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Differentiating Multiple Terms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59379" y="1046469"/>
                <a:ext cx="5211271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Differentiate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9379" y="1046469"/>
                <a:ext cx="5211271" cy="461665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97022" y="2273499"/>
                <a:ext cx="2416300" cy="16780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First thing to note:</a:t>
                </a:r>
              </a:p>
              <a:p>
                <a:r>
                  <a:rPr lang="en-GB" sz="1600" dirty="0"/>
                  <a:t>If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600" dirty="0"/>
                  <a:t>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GB" sz="1600" dirty="0"/>
              </a:p>
              <a:p>
                <a:r>
                  <a:rPr lang="en-GB" sz="1600" dirty="0"/>
                  <a:t>i.e. </a:t>
                </a:r>
                <a:r>
                  <a:rPr lang="en-GB" sz="1600" b="1" dirty="0"/>
                  <a:t>differentiate each term individually in a sum/subtraction</a:t>
                </a:r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022" y="2273499"/>
                <a:ext cx="2416300" cy="1678023"/>
              </a:xfrm>
              <a:prstGeom prst="rect">
                <a:avLst/>
              </a:prstGeom>
              <a:blipFill>
                <a:blip r:embed="rId3"/>
                <a:stretch>
                  <a:fillRect l="-1515" t="-1091" b="-4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 flipV="1">
            <a:off x="2123728" y="1628800"/>
            <a:ext cx="1224136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743201" y="2483217"/>
                <a:ext cx="2954822" cy="793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1" y="2483217"/>
                <a:ext cx="2954822" cy="7936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4125434" y="2543447"/>
            <a:ext cx="435934" cy="86960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61368" y="2545451"/>
            <a:ext cx="627320" cy="86960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09953" y="2543447"/>
            <a:ext cx="627320" cy="86960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3" name="Arrow: Down 12"/>
          <p:cNvSpPr/>
          <p:nvPr/>
        </p:nvSpPr>
        <p:spPr>
          <a:xfrm>
            <a:off x="4246484" y="1756159"/>
            <a:ext cx="122789" cy="50068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Down 13"/>
          <p:cNvSpPr/>
          <p:nvPr/>
        </p:nvSpPr>
        <p:spPr>
          <a:xfrm>
            <a:off x="4851781" y="1756159"/>
            <a:ext cx="122789" cy="50068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Down 14"/>
          <p:cNvSpPr/>
          <p:nvPr/>
        </p:nvSpPr>
        <p:spPr>
          <a:xfrm>
            <a:off x="5462973" y="1756159"/>
            <a:ext cx="122789" cy="50068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85875" y="4511540"/>
                <a:ext cx="3777780" cy="2037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Therefore applying the usual rule: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Alternatively, if you compare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to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1600" dirty="0"/>
                  <a:t>, it’s clear that the gradient is fixed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875" y="4511540"/>
                <a:ext cx="3777780" cy="2037161"/>
              </a:xfrm>
              <a:prstGeom prst="rect">
                <a:avLst/>
              </a:prstGeom>
              <a:blipFill>
                <a:blip r:embed="rId5"/>
                <a:stretch>
                  <a:fillRect l="-969" b="-29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 flipH="1">
            <a:off x="2743202" y="3540642"/>
            <a:ext cx="2009551" cy="896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624502" y="4582719"/>
                <a:ext cx="3777780" cy="1790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=3=3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Therefore applying the usual rule: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=0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Alternatively, if you sketch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sz="1600" dirty="0"/>
                  <a:t>, the line is horizontal, so the gradient is 0.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502" y="4582719"/>
                <a:ext cx="3777780" cy="1790939"/>
              </a:xfrm>
              <a:prstGeom prst="rect">
                <a:avLst/>
              </a:prstGeom>
              <a:blipFill>
                <a:blip r:embed="rId6"/>
                <a:stretch>
                  <a:fillRect l="-969" r="-1939" b="-34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/>
          <p:nvPr/>
        </p:nvCxnSpPr>
        <p:spPr>
          <a:xfrm>
            <a:off x="5507665" y="3540642"/>
            <a:ext cx="835609" cy="7688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5835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6" grpId="0"/>
      <p:bldP spid="20" grpId="0"/>
    </p:bldLst>
  </p:timing>
</p:sld>
</file>

<file path=ppt/c12/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 err="1"/>
                <a:t>Quickfire</a:t>
              </a:r>
              <a:r>
                <a:rPr lang="en-GB" dirty="0"/>
                <a:t> Questions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28114" y="1134789"/>
                <a:ext cx="3782107" cy="618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114" y="1134789"/>
                <a:ext cx="3782107" cy="6184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515117" y="1342745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117" y="1928552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117" y="2895283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5117" y="3811919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5117" y="4715331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943147" y="1882850"/>
                <a:ext cx="3782107" cy="618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=4−9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𝟐𝟕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47" y="1882850"/>
                <a:ext cx="3782107" cy="618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943147" y="2630911"/>
                <a:ext cx="3782107" cy="618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     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47" y="2630911"/>
                <a:ext cx="3782107" cy="618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928113" y="3649369"/>
                <a:ext cx="3782107" cy="618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  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113" y="3649369"/>
                <a:ext cx="3782107" cy="6184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943147" y="4494250"/>
                <a:ext cx="4204917" cy="618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=6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𝑝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𝒑𝒙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47" y="4494250"/>
                <a:ext cx="4204917" cy="6184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/>
          <p:cNvSpPr/>
          <p:nvPr/>
        </p:nvSpPr>
        <p:spPr>
          <a:xfrm>
            <a:off x="3657601" y="1022991"/>
            <a:ext cx="967562" cy="7207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34410" y="1818988"/>
            <a:ext cx="967562" cy="7207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19872" y="2628265"/>
            <a:ext cx="967562" cy="7207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19872" y="3598213"/>
            <a:ext cx="967562" cy="7207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49136" y="4443094"/>
            <a:ext cx="967562" cy="7207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890013" y="4090008"/>
                <a:ext cx="180238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(where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200" dirty="0"/>
                  <a:t> is a constant)</a:t>
                </a:r>
                <a:endParaRPr lang="en-GB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013" y="4090008"/>
                <a:ext cx="1802387" cy="276999"/>
              </a:xfrm>
              <a:prstGeom prst="rect">
                <a:avLst/>
              </a:prstGeom>
              <a:blipFill>
                <a:blip r:embed="rId7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890012" y="4974189"/>
                <a:ext cx="180238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(where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200" dirty="0"/>
                  <a:t> is a constant)</a:t>
                </a:r>
                <a:endParaRPr lang="en-GB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012" y="4974189"/>
                <a:ext cx="1802387" cy="276999"/>
              </a:xfrm>
              <a:prstGeom prst="rect">
                <a:avLst/>
              </a:prstGeom>
              <a:blipFill>
                <a:blip r:embed="rId8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820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c12/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Harder 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49556" y="823185"/>
                <a:ext cx="8432938" cy="126868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700" dirty="0"/>
                  <a:t>Let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=4</m:t>
                    </m:r>
                    <m:sSup>
                      <m:sSup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−8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GB" sz="1700" dirty="0"/>
              </a:p>
              <a:p>
                <a:pPr marL="457200" indent="-457200">
                  <a:buAutoNum type="alphaLcParenR"/>
                </a:pPr>
                <a:r>
                  <a:rPr lang="en-GB" sz="1700" dirty="0"/>
                  <a:t>Find the gradient of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700" dirty="0"/>
                  <a:t> at the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</m:oMath>
                </a14:m>
                <a:endParaRPr lang="en-GB" sz="1700" dirty="0"/>
              </a:p>
              <a:p>
                <a:pPr marL="457200" indent="-457200">
                  <a:buAutoNum type="alphaLcParenR"/>
                </a:pPr>
                <a:r>
                  <a:rPr lang="en-GB" sz="1700" dirty="0"/>
                  <a:t>Find the coordinates of the point on the graph of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700" dirty="0"/>
                  <a:t> where the gradient is 8.</a:t>
                </a:r>
              </a:p>
              <a:p>
                <a:pPr marL="457200" indent="-457200">
                  <a:buAutoNum type="alphaLcParenR"/>
                </a:pPr>
                <a:r>
                  <a:rPr lang="en-GB" sz="1700" dirty="0"/>
                  <a:t>Find the gradient of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700" dirty="0"/>
                  <a:t> at the points where the curve meets the line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−5</m:t>
                    </m:r>
                  </m:oMath>
                </a14:m>
                <a:r>
                  <a:rPr lang="en-GB" sz="17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556" y="823185"/>
                <a:ext cx="8432938" cy="12686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45896" y="2431520"/>
                <a:ext cx="3177518" cy="783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=8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−8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=8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−8=−4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896" y="2431520"/>
                <a:ext cx="3177518" cy="783869"/>
              </a:xfrm>
              <a:prstGeom prst="rect">
                <a:avLst/>
              </a:prstGeom>
              <a:blipFill>
                <a:blip r:embed="rId3"/>
                <a:stretch>
                  <a:fillRect l="-1533" b="-39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730020" y="2671229"/>
                <a:ext cx="377602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Remember that the ‘gradient function’ allows you to find the gradient for a particular value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020" y="2671229"/>
                <a:ext cx="3776025" cy="523220"/>
              </a:xfrm>
              <a:prstGeom prst="rect">
                <a:avLst/>
              </a:prstGeom>
              <a:blipFill>
                <a:blip r:embed="rId4"/>
                <a:stretch>
                  <a:fillRect l="-485" t="-2326" r="-1616" b="-116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H="1">
            <a:off x="4040372" y="2924944"/>
            <a:ext cx="675644" cy="30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75964" y="3532863"/>
                <a:ext cx="317751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8=8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−8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−8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+3=3</m:t>
                      </m:r>
                    </m:oMath>
                  </m:oMathPara>
                </a14:m>
                <a:endParaRPr lang="en-GB" b="0" dirty="0"/>
              </a:p>
              <a:p>
                <a:r>
                  <a:rPr lang="en-GB" dirty="0"/>
                  <a:t>Point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2,3</m:t>
                        </m:r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964" y="3532863"/>
                <a:ext cx="3177518" cy="1200329"/>
              </a:xfrm>
              <a:prstGeom prst="rect">
                <a:avLst/>
              </a:prstGeom>
              <a:blipFill>
                <a:blip r:embed="rId5"/>
                <a:stretch>
                  <a:fillRect l="-1533" b="-76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655591" y="3558810"/>
                <a:ext cx="4392715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This example is important!</a:t>
                </a:r>
              </a:p>
              <a:p>
                <a:r>
                  <a:rPr lang="en-GB" sz="1400" dirty="0"/>
                  <a:t>Previously you used a value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to get the gradient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400" dirty="0"/>
                  <a:t>. This time we’re </a:t>
                </a:r>
                <a:r>
                  <a:rPr lang="en-GB" sz="1400" b="1" dirty="0"/>
                  <a:t>doing the opposite</a:t>
                </a:r>
                <a:r>
                  <a:rPr lang="en-GB" sz="1400" dirty="0"/>
                  <a:t>: using a known gradient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400" dirty="0"/>
                  <a:t> to get the value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. We therefore substitute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400" dirty="0"/>
                  <a:t> for 8.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591" y="3558810"/>
                <a:ext cx="4392715" cy="1169551"/>
              </a:xfrm>
              <a:prstGeom prst="rect">
                <a:avLst/>
              </a:prstGeom>
              <a:blipFill>
                <a:blip r:embed="rId6"/>
                <a:stretch>
                  <a:fillRect l="-417" t="-1042" r="-1111" b="-4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>
            <a:off x="4035826" y="3742660"/>
            <a:ext cx="578704" cy="28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87526" y="2459163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7525" y="3558810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7525" y="5025754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45895" y="4973860"/>
                <a:ext cx="3549657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First find point of intersection: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−8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+3=4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Solving, we obtain: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b="0" i="0" dirty="0">
                    <a:latin typeface="+mj-lt"/>
                  </a:rPr>
                  <a:t> 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=1,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=2,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895" y="4973860"/>
                <a:ext cx="3549657" cy="1477328"/>
              </a:xfrm>
              <a:prstGeom prst="rect">
                <a:avLst/>
              </a:prstGeom>
              <a:blipFill>
                <a:blip r:embed="rId7"/>
                <a:stretch>
                  <a:fillRect l="-1372" t="-2479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/>
          <p:nvPr/>
        </p:nvCxnSpPr>
        <p:spPr>
          <a:xfrm flipH="1" flipV="1">
            <a:off x="4040372" y="4295554"/>
            <a:ext cx="584791" cy="648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590149" y="4814653"/>
                <a:ext cx="377602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Once you have your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, you need to work out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.</a:t>
                </a:r>
              </a:p>
              <a:p>
                <a:r>
                  <a:rPr lang="en-GB" sz="1400" b="1" dirty="0"/>
                  <a:t>Ensure you use the correct equation!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149" y="4814653"/>
                <a:ext cx="3776025" cy="523220"/>
              </a:xfrm>
              <a:prstGeom prst="rect">
                <a:avLst/>
              </a:prstGeom>
              <a:blipFill>
                <a:blip r:embed="rId8"/>
                <a:stretch>
                  <a:fillRect l="-485" t="-2326" b="-104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673885" y="2459163"/>
            <a:ext cx="3192040" cy="7859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4455" y="3562267"/>
            <a:ext cx="3192040" cy="116890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4455" y="5030916"/>
            <a:ext cx="3480072" cy="141995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93960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22" grpId="0"/>
      <p:bldP spid="23" grpId="0" animBg="1"/>
      <p:bldP spid="24" grpId="0" animBg="1"/>
      <p:bldP spid="25" grpId="0" animBg="1"/>
    </p:bldLst>
  </p:timing>
</p:sld>
</file>

<file path=ppt/c12/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49556" y="823185"/>
                <a:ext cx="8432938" cy="113877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700" dirty="0"/>
                  <a:t>Let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endParaRPr lang="en-GB" sz="1700" b="0" dirty="0"/>
              </a:p>
              <a:p>
                <a:pPr marL="342900" indent="-342900">
                  <a:buAutoNum type="alphaLcParenR"/>
                </a:pPr>
                <a:r>
                  <a:rPr lang="en-GB" sz="1700" dirty="0"/>
                  <a:t>Find the gradient of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700" dirty="0"/>
                  <a:t> at the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1,−1</m:t>
                        </m:r>
                      </m:e>
                    </m:d>
                  </m:oMath>
                </a14:m>
                <a:endParaRPr lang="en-GB" sz="1700" dirty="0"/>
              </a:p>
              <a:p>
                <a:pPr marL="457200" indent="-457200">
                  <a:buAutoNum type="alphaLcParenR"/>
                </a:pPr>
                <a:r>
                  <a:rPr lang="en-GB" sz="1700" dirty="0"/>
                  <a:t>Find the coordinates of the point on the graph of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700" dirty="0"/>
                  <a:t> where the gradient is 5.</a:t>
                </a:r>
              </a:p>
              <a:p>
                <a:pPr marL="457200" indent="-457200">
                  <a:buAutoNum type="alphaLcParenR"/>
                </a:pPr>
                <a:r>
                  <a:rPr lang="en-GB" sz="1700" dirty="0"/>
                  <a:t>Find the gradient of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700" dirty="0"/>
                  <a:t> at the points where the curve meets the line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=2−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7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556" y="823185"/>
                <a:ext cx="8432938" cy="11387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698396" y="2266420"/>
                <a:ext cx="317751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−4=−2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396" y="2266420"/>
                <a:ext cx="3177518" cy="646331"/>
              </a:xfrm>
              <a:prstGeom prst="rect">
                <a:avLst/>
              </a:prstGeom>
              <a:blipFill>
                <a:blip r:embed="rId3"/>
                <a:stretch>
                  <a:fillRect l="-172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728464" y="3050263"/>
                <a:ext cx="3177518" cy="1979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5=2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b="0" dirty="0"/>
              </a:p>
              <a:p>
                <a:r>
                  <a:rPr lang="en-GB" dirty="0"/>
                  <a:t>Point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17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8464" y="3050263"/>
                <a:ext cx="3177518" cy="1979516"/>
              </a:xfrm>
              <a:prstGeom prst="rect">
                <a:avLst/>
              </a:prstGeom>
              <a:blipFill>
                <a:blip r:embed="rId4"/>
                <a:stretch>
                  <a:fillRect l="-1727" b="-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1340026" y="2294063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0025" y="3101610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65425" y="5254354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685695" y="5227860"/>
                <a:ext cx="354965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+2=2−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b="0" dirty="0"/>
              </a:p>
              <a:p>
                <a:r>
                  <a:rPr lang="en-GB" dirty="0"/>
                  <a:t>Solving: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b="0" i="0" dirty="0">
                    <a:latin typeface="+mj-lt"/>
                  </a:rPr>
                  <a:t> 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=0,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=−4</m:t>
                    </m:r>
                  </m:oMath>
                </a14:m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=3,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695" y="5227860"/>
                <a:ext cx="3549657" cy="1200329"/>
              </a:xfrm>
              <a:prstGeom prst="rect">
                <a:avLst/>
              </a:prstGeom>
              <a:blipFill>
                <a:blip r:embed="rId5"/>
                <a:stretch>
                  <a:fillRect l="-1546" b="-76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1617464" y="2294063"/>
            <a:ext cx="3192040" cy="6777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17464" y="3089837"/>
            <a:ext cx="3192040" cy="19399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12380" y="5244963"/>
            <a:ext cx="3480072" cy="12701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24955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c12/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7176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12D – Pearson Pure Y1 page </a:t>
              </a:r>
              <a:r>
                <a:rPr lang="en-GB" sz="3200" dirty="0"/>
                <a:t>265-266</a:t>
              </a:r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0EE84D7-9C08-DF9D-DA65-15BCF61C3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23745"/>
            <a:ext cx="8208912" cy="6162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041915-0D64-83F7-5BDA-91F7C8BE0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556792"/>
            <a:ext cx="4744488" cy="481849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9358E2D-B30F-91AC-9F62-E2CC299D13A2}"/>
              </a:ext>
            </a:extLst>
          </p:cNvPr>
          <p:cNvSpPr/>
          <p:nvPr/>
        </p:nvSpPr>
        <p:spPr>
          <a:xfrm>
            <a:off x="683568" y="1489059"/>
            <a:ext cx="4888504" cy="48862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1529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c12/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7176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12D – Pearson Pure Y1 page </a:t>
              </a:r>
              <a:r>
                <a:rPr lang="en-GB" sz="3200" dirty="0"/>
                <a:t>265-266</a:t>
              </a:r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19EA7BA-30CF-8D84-EA5B-20A4F2C81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2" y="629358"/>
            <a:ext cx="8860967" cy="6712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D416BF-9569-D82E-E843-0D2231D73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621165"/>
            <a:ext cx="4706218" cy="462201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74C4706-3D98-D26D-CC4A-E113101F0F16}"/>
              </a:ext>
            </a:extLst>
          </p:cNvPr>
          <p:cNvSpPr/>
          <p:nvPr/>
        </p:nvSpPr>
        <p:spPr>
          <a:xfrm>
            <a:off x="683568" y="1489059"/>
            <a:ext cx="4888504" cy="48862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72137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c12/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7176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12D – Pearson Pure Y1 page </a:t>
              </a:r>
              <a:r>
                <a:rPr lang="en-GB" sz="3200" dirty="0"/>
                <a:t>265-266</a:t>
              </a:r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B9A68CF-A801-B645-6881-4BBF8FF7C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3" y="621046"/>
            <a:ext cx="7772400" cy="13819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010023-6849-8778-A8D4-CE63E018C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2038585"/>
            <a:ext cx="3183053" cy="3600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02A8A5-62AC-DED3-938F-AB6DC144F17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4011"/>
          <a:stretch/>
        </p:blipFill>
        <p:spPr>
          <a:xfrm>
            <a:off x="5724128" y="2146548"/>
            <a:ext cx="2952328" cy="34121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B17C80-53D7-B062-2BA1-1152120D38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0362" y="5001694"/>
            <a:ext cx="1541016" cy="175115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C27C3DA-E481-1082-E9E1-DFCC50E5D4AF}"/>
              </a:ext>
            </a:extLst>
          </p:cNvPr>
          <p:cNvSpPr/>
          <p:nvPr/>
        </p:nvSpPr>
        <p:spPr>
          <a:xfrm>
            <a:off x="323528" y="2025879"/>
            <a:ext cx="4507850" cy="464348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F3195D-DCB7-583F-06A8-8251CD10521D}"/>
              </a:ext>
            </a:extLst>
          </p:cNvPr>
          <p:cNvSpPr/>
          <p:nvPr/>
        </p:nvSpPr>
        <p:spPr>
          <a:xfrm>
            <a:off x="5148064" y="2025880"/>
            <a:ext cx="3528392" cy="265060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B1ED3A-2BBF-1DFB-6CCE-6FBC9513C1DE}"/>
              </a:ext>
            </a:extLst>
          </p:cNvPr>
          <p:cNvSpPr/>
          <p:nvPr/>
        </p:nvSpPr>
        <p:spPr>
          <a:xfrm>
            <a:off x="5149802" y="4820055"/>
            <a:ext cx="3528392" cy="184930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</p:spTree>
    <p:extLst>
      <p:ext uri="{BB962C8B-B14F-4D97-AF65-F5344CB8AC3E}">
        <p14:creationId xmlns:p14="http://schemas.microsoft.com/office/powerpoint/2010/main" val="2720597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c12/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Differentiating Harder Expressions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2444" y="845220"/>
                <a:ext cx="77768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If your expression isn’t a sum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sz="2000" dirty="0"/>
                  <a:t> terms, simply manipulate it until it is!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444" y="845220"/>
                <a:ext cx="7776864" cy="400110"/>
              </a:xfrm>
              <a:prstGeom prst="rect">
                <a:avLst/>
              </a:prstGeom>
              <a:blipFill>
                <a:blip r:embed="rId2"/>
                <a:stretch>
                  <a:fillRect l="-863" t="-9231" b="-2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70384" y="1683916"/>
            <a:ext cx="2982416" cy="40011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dirty="0"/>
              <a:t>1. Turn roots into powers: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432696" y="1620416"/>
                <a:ext cx="4320480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2696" y="1620416"/>
                <a:ext cx="4320480" cy="6182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543548" y="2342725"/>
                <a:ext cx="4320480" cy="670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g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→ 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548" y="2342725"/>
                <a:ext cx="4320480" cy="6701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326728" y="3140968"/>
            <a:ext cx="2982416" cy="40011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dirty="0"/>
              <a:t>2. Split up fractions.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518520" y="3206018"/>
                <a:ext cx="4320480" cy="1306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→ 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8520" y="3206018"/>
                <a:ext cx="4320480" cy="13065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335980" y="4737844"/>
            <a:ext cx="2982416" cy="40011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dirty="0"/>
              <a:t>3. Expand out brackets.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747120" y="4686292"/>
                <a:ext cx="4320480" cy="895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→ 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7120" y="4686292"/>
                <a:ext cx="4320480" cy="8954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52624" y="5794786"/>
            <a:ext cx="2982416" cy="707886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dirty="0"/>
              <a:t>4. Beware of numbers in denominators!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758828" y="5962562"/>
                <a:ext cx="4320480" cy="612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→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8828" y="5962562"/>
                <a:ext cx="4320480" cy="612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456536" y="5340430"/>
                <a:ext cx="1571352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NOT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dirty="0"/>
                  <a:t>!!!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536" y="5340430"/>
                <a:ext cx="1571352" cy="369332"/>
              </a:xfrm>
              <a:prstGeom prst="rect">
                <a:avLst/>
              </a:prstGeom>
              <a:blipFill>
                <a:blip r:embed="rId8"/>
                <a:stretch>
                  <a:fillRect l="-2290" t="-4615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>
            <a:stCxn id="15" idx="1"/>
          </p:cNvCxnSpPr>
          <p:nvPr/>
        </p:nvCxnSpPr>
        <p:spPr>
          <a:xfrm flipH="1">
            <a:off x="5292080" y="5525096"/>
            <a:ext cx="1164456" cy="437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970140" y="2334694"/>
            <a:ext cx="567060" cy="622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70140" y="1623839"/>
            <a:ext cx="541660" cy="622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53880" y="3173842"/>
            <a:ext cx="2404220" cy="77585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70140" y="3949699"/>
            <a:ext cx="1938660" cy="5715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660" y="4610779"/>
            <a:ext cx="1396740" cy="4565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78400" y="5054600"/>
            <a:ext cx="1130300" cy="5207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12570" y="1623839"/>
            <a:ext cx="695734" cy="622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6906" y="2334694"/>
            <a:ext cx="930393" cy="622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88290" y="5941267"/>
            <a:ext cx="723510" cy="7516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45330" y="5893111"/>
            <a:ext cx="925470" cy="7516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89449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c12/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44984" y="934616"/>
            <a:ext cx="2982416" cy="40011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dirty="0"/>
              <a:t>Differentiate the following.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50268" y="1628800"/>
                <a:ext cx="5637956" cy="670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                          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268" y="1628800"/>
                <a:ext cx="5637956" cy="6701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24744" y="2531473"/>
                <a:ext cx="5425256" cy="6481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2+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         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744" y="2531473"/>
                <a:ext cx="5425256" cy="6481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12168" y="3480869"/>
                <a:ext cx="7431732" cy="751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1+2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num>
                                <m:den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         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168" y="3480869"/>
                <a:ext cx="7431732" cy="7511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049140" y="1547638"/>
            <a:ext cx="3818260" cy="7383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60960" y="2478389"/>
            <a:ext cx="3818260" cy="7383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3660" y="3455603"/>
            <a:ext cx="5627340" cy="7480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94774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c12/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7176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12E – Pearson Pure Y1 page </a:t>
              </a:r>
              <a:r>
                <a:rPr lang="en-GB" sz="3200" dirty="0"/>
                <a:t>267-268</a:t>
              </a:r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C054427-8D3E-24C9-4C9E-C2E8B30AA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7" y="601620"/>
            <a:ext cx="8766101" cy="14592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4F5FE5-B73E-98FE-C97F-91B0950D6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492896"/>
            <a:ext cx="2841030" cy="27938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CAD2EF-1811-F892-1EC0-CDDCCD685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2" y="2276872"/>
            <a:ext cx="2506191" cy="432791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055E96-F870-9B82-831C-A8CB7BCFBB19}"/>
              </a:ext>
            </a:extLst>
          </p:cNvPr>
          <p:cNvCxnSpPr/>
          <p:nvPr/>
        </p:nvCxnSpPr>
        <p:spPr>
          <a:xfrm>
            <a:off x="4283968" y="2204864"/>
            <a:ext cx="0" cy="4392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B737D67-AAE8-E577-B8A3-4FD62F71C1FD}"/>
              </a:ext>
            </a:extLst>
          </p:cNvPr>
          <p:cNvSpPr/>
          <p:nvPr/>
        </p:nvSpPr>
        <p:spPr>
          <a:xfrm>
            <a:off x="465708" y="2201010"/>
            <a:ext cx="7850708" cy="44683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10885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c12/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7176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12E – Pearson Pure Y1 page </a:t>
              </a:r>
              <a:r>
                <a:rPr lang="en-GB" sz="3200" dirty="0"/>
                <a:t>267-268</a:t>
              </a:r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F0931EF-1C24-64CC-304D-A9ADDA61F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6552728" cy="19481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354D29-2EE9-7059-E3A3-EC09982668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624"/>
          <a:stretch/>
        </p:blipFill>
        <p:spPr>
          <a:xfrm>
            <a:off x="683568" y="2924943"/>
            <a:ext cx="5256584" cy="307560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CAC9544-CE1A-E652-E4DB-9B6D442B17EA}"/>
              </a:ext>
            </a:extLst>
          </p:cNvPr>
          <p:cNvSpPr/>
          <p:nvPr/>
        </p:nvSpPr>
        <p:spPr>
          <a:xfrm>
            <a:off x="539552" y="4869160"/>
            <a:ext cx="5760640" cy="17865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DB7FC7-F440-DD02-B8CA-1AC2C532865A}"/>
              </a:ext>
            </a:extLst>
          </p:cNvPr>
          <p:cNvSpPr/>
          <p:nvPr/>
        </p:nvSpPr>
        <p:spPr>
          <a:xfrm>
            <a:off x="539552" y="3014752"/>
            <a:ext cx="5760640" cy="17865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</p:spTree>
    <p:extLst>
      <p:ext uri="{BB962C8B-B14F-4D97-AF65-F5344CB8AC3E}">
        <p14:creationId xmlns:p14="http://schemas.microsoft.com/office/powerpoint/2010/main" val="1631704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c12/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Extension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51520" y="404664"/>
                <a:ext cx="7434783" cy="47019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i="1" dirty="0"/>
              </a:p>
              <a:p>
                <a:r>
                  <a:rPr lang="en-GB" i="1" dirty="0"/>
                  <a:t>[MAT 2013 1E]</a:t>
                </a:r>
              </a:p>
              <a:p>
                <a:r>
                  <a:rPr lang="en-GB" dirty="0"/>
                  <a:t>The expression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GB" dirty="0"/>
              </a:p>
              <a:p>
                <a:r>
                  <a:rPr lang="en-GB" dirty="0"/>
                  <a:t>is a polynomial of degree:</a:t>
                </a:r>
              </a:p>
              <a:p>
                <a:pPr marL="342900" indent="-342900">
                  <a:buAutoNum type="alphaUcParenR"/>
                </a:pPr>
                <a:r>
                  <a:rPr lang="en-GB" dirty="0"/>
                  <a:t>9</a:t>
                </a:r>
              </a:p>
              <a:p>
                <a:pPr marL="342900" indent="-342900">
                  <a:buAutoNum type="alphaUcParenR"/>
                </a:pPr>
                <a:r>
                  <a:rPr lang="en-GB" dirty="0"/>
                  <a:t>8</a:t>
                </a:r>
              </a:p>
              <a:p>
                <a:pPr marL="342900" indent="-342900">
                  <a:buAutoNum type="alphaUcParenR"/>
                </a:pPr>
                <a:r>
                  <a:rPr lang="en-GB" dirty="0"/>
                  <a:t>7</a:t>
                </a:r>
              </a:p>
              <a:p>
                <a:pPr marL="342900" indent="-342900">
                  <a:buAutoNum type="alphaUcParenR"/>
                </a:pPr>
                <a:r>
                  <a:rPr lang="en-GB" dirty="0"/>
                  <a:t>less than 7</a:t>
                </a:r>
              </a:p>
              <a:p>
                <a:pPr marL="342900" indent="-342900">
                  <a:buAutoNum type="alphaUcParenR"/>
                </a:pPr>
                <a:endParaRPr lang="en-GB" dirty="0"/>
              </a:p>
              <a:p>
                <a:r>
                  <a:rPr lang="en-GB" b="1" dirty="0"/>
                  <a:t>Full expansion is not needed. The highest power term in the first polynomial is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𝟏𝟔</m:t>
                    </m:r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  <m:r>
                      <a:rPr lang="en-GB" b="1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  <m:r>
                      <a:rPr lang="en-GB" b="1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𝟏𝟔</m:t>
                    </m:r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</m:sup>
                    </m:sSup>
                  </m:oMath>
                </a14:m>
                <a:r>
                  <a:rPr lang="en-GB" b="1" dirty="0"/>
                  <a:t>, differentiating twice to give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𝟏𝟔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𝟗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𝟖</m:t>
                            </m:r>
                          </m:e>
                        </m:d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</m:sup>
                    </m:sSup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sup>
                    </m:sSup>
                  </m:oMath>
                </a14:m>
                <a:r>
                  <a:rPr lang="en-GB" b="1" dirty="0"/>
                  <a:t>.</a:t>
                </a:r>
              </a:p>
              <a:p>
                <a:r>
                  <a:rPr lang="en-GB" b="1" dirty="0"/>
                  <a:t>The highest power term in the second polynomial is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𝟏𝟔</m:t>
                    </m:r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  <m:r>
                      <a:rPr lang="en-GB" b="1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𝟗</m:t>
                    </m:r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𝟏𝟔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</m:e>
                    </m:d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</m:sup>
                    </m:sSup>
                  </m:oMath>
                </a14:m>
                <a:r>
                  <a:rPr lang="en-GB" b="1" dirty="0"/>
                  <a:t>, differentiating once to give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𝟏𝟔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</m:e>
                    </m:d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sup>
                    </m:sSup>
                  </m:oMath>
                </a14:m>
                <a:r>
                  <a:rPr lang="en-GB" b="1" dirty="0"/>
                  <a:t>. These terms cancel leaving a polynomial of order (at most) 6. The answer is (D).</a:t>
                </a:r>
              </a:p>
              <a:p>
                <a:pPr marL="342900" indent="-342900">
                  <a:buAutoNum type="alphaUcParenR"/>
                </a:pPr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404664"/>
                <a:ext cx="7434783" cy="4701928"/>
              </a:xfrm>
              <a:prstGeom prst="rect">
                <a:avLst/>
              </a:prstGeom>
              <a:blipFill>
                <a:blip r:embed="rId2"/>
                <a:stretch>
                  <a:fillRect l="-681" r="-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3779912" y="1858269"/>
            <a:ext cx="4824536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dirty="0"/>
              <a:t>This just means “differentiate twice”.  The ‘second derivative’ comes later in this chapter.</a:t>
            </a:r>
          </a:p>
        </p:txBody>
      </p:sp>
      <p:cxnSp>
        <p:nvCxnSpPr>
          <p:cNvPr id="11" name="Straight Arrow Connector 10"/>
          <p:cNvCxnSpPr>
            <a:cxnSpLocks/>
          </p:cNvCxnSpPr>
          <p:nvPr/>
        </p:nvCxnSpPr>
        <p:spPr>
          <a:xfrm flipH="1" flipV="1">
            <a:off x="2171329" y="1290216"/>
            <a:ext cx="1536575" cy="914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51520" y="3027737"/>
            <a:ext cx="7541428" cy="17378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008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c12/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Second Order Derivatives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45747" y="791762"/>
            <a:ext cx="81369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When you differentiate once, the expression you get is known as the </a:t>
            </a:r>
            <a:r>
              <a:rPr lang="en-GB" b="1" dirty="0"/>
              <a:t>first derivative</a:t>
            </a:r>
            <a:r>
              <a:rPr lang="en-GB" dirty="0"/>
              <a:t>.</a:t>
            </a:r>
          </a:p>
          <a:p>
            <a:r>
              <a:rPr lang="en-GB" dirty="0"/>
              <a:t>Unsurprisingly, when we differentiate a second time, the resulting expression is known as the </a:t>
            </a:r>
            <a:r>
              <a:rPr lang="en-GB" b="1" dirty="0"/>
              <a:t>second derivative</a:t>
            </a:r>
            <a:r>
              <a:rPr lang="en-GB" dirty="0"/>
              <a:t>. And so on…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38919" y="3369605"/>
                <a:ext cx="1440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919" y="3369605"/>
                <a:ext cx="1440160" cy="36933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359011" y="2681861"/>
                <a:ext cx="1440160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011" y="2681861"/>
                <a:ext cx="1440160" cy="6182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359011" y="3547843"/>
                <a:ext cx="1440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′=4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011" y="3547843"/>
                <a:ext cx="1440160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361945" y="4164911"/>
                <a:ext cx="1440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945" y="4164911"/>
                <a:ext cx="144016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519251" y="2681861"/>
                <a:ext cx="1440160" cy="6481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251" y="2681861"/>
                <a:ext cx="1440160" cy="6481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519251" y="3547843"/>
                <a:ext cx="1440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′′=12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251" y="3547843"/>
                <a:ext cx="1440160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522185" y="4164911"/>
                <a:ext cx="1440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2185" y="4164911"/>
                <a:ext cx="1440160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438919" y="5292042"/>
                <a:ext cx="1440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919" y="5292042"/>
                <a:ext cx="1440160" cy="369332"/>
              </a:xfrm>
              <a:prstGeom prst="rect">
                <a:avLst/>
              </a:prstGeom>
              <a:blipFill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310688" y="5288809"/>
                <a:ext cx="1440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0688" y="5288809"/>
                <a:ext cx="1440160" cy="369332"/>
              </a:xfrm>
              <a:prstGeom prst="rect">
                <a:avLst/>
              </a:prstGeom>
              <a:blipFill>
                <a:blip r:embed="rId10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447242" y="5244266"/>
                <a:ext cx="16234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′′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242" y="5244266"/>
                <a:ext cx="1623409" cy="369332"/>
              </a:xfrm>
              <a:prstGeom prst="rect">
                <a:avLst/>
              </a:prstGeom>
              <a:blipFill>
                <a:blip r:embed="rId11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rrow: Right 15"/>
          <p:cNvSpPr/>
          <p:nvPr/>
        </p:nvSpPr>
        <p:spPr>
          <a:xfrm rot="20068808">
            <a:off x="2825916" y="3138602"/>
            <a:ext cx="551940" cy="22428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rrow: Right 16"/>
          <p:cNvSpPr/>
          <p:nvPr/>
        </p:nvSpPr>
        <p:spPr>
          <a:xfrm rot="554370">
            <a:off x="2824434" y="3570724"/>
            <a:ext cx="551940" cy="22428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row: Right 17"/>
          <p:cNvSpPr/>
          <p:nvPr/>
        </p:nvSpPr>
        <p:spPr>
          <a:xfrm rot="1979714">
            <a:off x="2733691" y="3976384"/>
            <a:ext cx="551940" cy="22428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Arrow: Right 18"/>
          <p:cNvSpPr/>
          <p:nvPr/>
        </p:nvSpPr>
        <p:spPr>
          <a:xfrm>
            <a:off x="4852467" y="2943685"/>
            <a:ext cx="551940" cy="22428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Arrow: Right 19"/>
          <p:cNvSpPr/>
          <p:nvPr/>
        </p:nvSpPr>
        <p:spPr>
          <a:xfrm>
            <a:off x="4852467" y="3626795"/>
            <a:ext cx="551940" cy="22428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Right 20"/>
          <p:cNvSpPr/>
          <p:nvPr/>
        </p:nvSpPr>
        <p:spPr>
          <a:xfrm>
            <a:off x="4872713" y="4295549"/>
            <a:ext cx="551940" cy="22428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Arrow: Right 21"/>
          <p:cNvSpPr/>
          <p:nvPr/>
        </p:nvSpPr>
        <p:spPr>
          <a:xfrm>
            <a:off x="2847305" y="5369440"/>
            <a:ext cx="459421" cy="21298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Arrow: Right 22"/>
          <p:cNvSpPr/>
          <p:nvPr/>
        </p:nvSpPr>
        <p:spPr>
          <a:xfrm>
            <a:off x="4929031" y="5366984"/>
            <a:ext cx="459421" cy="21298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 rot="19885247">
            <a:off x="2579976" y="2866925"/>
            <a:ext cx="815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Leibniz’s</a:t>
            </a:r>
          </a:p>
        </p:txBody>
      </p:sp>
      <p:sp>
        <p:nvSpPr>
          <p:cNvPr id="25" name="TextBox 24"/>
          <p:cNvSpPr txBox="1"/>
          <p:nvPr/>
        </p:nvSpPr>
        <p:spPr>
          <a:xfrm rot="2086670">
            <a:off x="2420344" y="4167335"/>
            <a:ext cx="904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Newton’s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75274" y="4985302"/>
            <a:ext cx="10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Lagrange’s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129" y="1999473"/>
            <a:ext cx="1863272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Original Function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97373" y="2004721"/>
            <a:ext cx="1653122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First Derivative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0467" y="2004721"/>
            <a:ext cx="1942386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Second Derivative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45747" y="5861655"/>
                <a:ext cx="8136904" cy="801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You can similarly have the third derivative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dirty="0"/>
                  <a:t>), although this is no longer in the A Level syllabus. We’ll see why might use the second derivative soon…</a:t>
                </a: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47" y="5861655"/>
                <a:ext cx="8136904" cy="801181"/>
              </a:xfrm>
              <a:prstGeom prst="rect">
                <a:avLst/>
              </a:prstGeom>
              <a:blipFill>
                <a:blip r:embed="rId12"/>
                <a:stretch>
                  <a:fillRect l="-674" b="-114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389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c12/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Just for your interest…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140" y="804814"/>
                <a:ext cx="6192688" cy="1195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800" dirty="0"/>
                  <a:t>How does the notation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sz="2800" dirty="0"/>
                  <a:t> work?</a:t>
                </a:r>
              </a:p>
              <a:p>
                <a:pPr algn="ctr"/>
                <a:r>
                  <a:rPr lang="en-GB" sz="2800" dirty="0"/>
                  <a:t>Why are the squareds where they are?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40" y="804814"/>
                <a:ext cx="6192688" cy="1195071"/>
              </a:xfrm>
              <a:prstGeom prst="rect">
                <a:avLst/>
              </a:prstGeom>
              <a:blipFill>
                <a:blip r:embed="rId2"/>
                <a:stretch>
                  <a:fillRect b="-137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Right 5"/>
          <p:cNvSpPr/>
          <p:nvPr/>
        </p:nvSpPr>
        <p:spPr>
          <a:xfrm>
            <a:off x="4397211" y="3086630"/>
            <a:ext cx="504056" cy="2917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95660" y="2369497"/>
                <a:ext cx="3706440" cy="2291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Suppose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Then when we write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dirty="0"/>
                  <a:t>, we’re effectively doing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dirty="0"/>
                  <a:t> (by substitution), although this would typically be written: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60" y="2369497"/>
                <a:ext cx="3706440" cy="2291589"/>
              </a:xfrm>
              <a:prstGeom prst="rect">
                <a:avLst/>
              </a:prstGeom>
              <a:blipFill>
                <a:blip r:embed="rId4"/>
                <a:stretch>
                  <a:fillRect l="-1480" t="-15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164480" y="2335828"/>
                <a:ext cx="3706440" cy="2125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(…)</m:t>
                    </m:r>
                  </m:oMath>
                </a14:m>
                <a:r>
                  <a:rPr lang="en-GB" dirty="0"/>
                  <a:t> notation is quite handy, because it behaves as a function and allows us to write the original expression and the derivative within a single equation: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480" y="2335828"/>
                <a:ext cx="3706440" cy="2125197"/>
              </a:xfrm>
              <a:prstGeom prst="rect">
                <a:avLst/>
              </a:prstGeom>
              <a:blipFill>
                <a:blip r:embed="rId5"/>
                <a:stretch>
                  <a:fillRect l="-13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rrow: Right 22"/>
          <p:cNvSpPr/>
          <p:nvPr/>
        </p:nvSpPr>
        <p:spPr>
          <a:xfrm rot="7777920">
            <a:off x="4930037" y="4315141"/>
            <a:ext cx="504056" cy="2917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476039" y="4881205"/>
                <a:ext cx="5892324" cy="1790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Therefore, if we wanted to differentiate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twice, we’d do: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6039" y="4881205"/>
                <a:ext cx="5892324" cy="1790618"/>
              </a:xfrm>
              <a:prstGeom prst="rect">
                <a:avLst/>
              </a:prstGeom>
              <a:blipFill>
                <a:blip r:embed="rId6"/>
                <a:stretch>
                  <a:fillRect l="-827" t="-20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/>
          <p:cNvCxnSpPr/>
          <p:nvPr/>
        </p:nvCxnSpPr>
        <p:spPr>
          <a:xfrm>
            <a:off x="852860" y="4760013"/>
            <a:ext cx="35124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6519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22" grpId="0"/>
      <p:bldP spid="23" grpId="0" animBg="1"/>
      <p:bldP spid="24" grpId="0"/>
    </p:bldLst>
  </p:timing>
</p:sld>
</file>

<file path=ppt/c12/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3958" y="842504"/>
                <a:ext cx="3633251" cy="57246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If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sz="2000" dirty="0"/>
                  <a:t>, 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58" y="842504"/>
                <a:ext cx="3633251" cy="5724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571428" y="842504"/>
                <a:ext cx="3633251" cy="55899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If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=3</m:t>
                    </m:r>
                    <m:rad>
                      <m:radPr>
                        <m:degHide m:val="on"/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lang="en-GB" sz="2000" dirty="0"/>
                  <a:t>, find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′′(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428" y="842504"/>
                <a:ext cx="3633251" cy="558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39552" y="1700808"/>
                <a:ext cx="3096344" cy="2528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=15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−8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=60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This could also be written 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60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700808"/>
                <a:ext cx="3096344" cy="2528513"/>
              </a:xfrm>
              <a:prstGeom prst="rect">
                <a:avLst/>
              </a:prstGeom>
              <a:blipFill>
                <a:blip r:embed="rId4"/>
                <a:stretch>
                  <a:fillRect l="-17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644008" y="1644546"/>
                <a:ext cx="3096344" cy="1648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008" y="1644546"/>
                <a:ext cx="3096344" cy="16481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345927" y="1414968"/>
            <a:ext cx="3641282" cy="3526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67412" y="1414968"/>
            <a:ext cx="3641282" cy="3526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81163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c12/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60283" y="885035"/>
                <a:ext cx="5911917" cy="57246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If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=5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lang="en-GB" sz="2000" dirty="0"/>
                  <a:t>, 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283" y="885035"/>
                <a:ext cx="5911917" cy="5724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99592" y="1844824"/>
                <a:ext cx="5616624" cy="1694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=15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=30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844824"/>
                <a:ext cx="5616624" cy="16944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460282" y="1480194"/>
            <a:ext cx="5911917" cy="27408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78107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c12/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12H – Pearson Pure Y1 page 272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12A8C6C-952A-40CA-2BAF-FCA2CBDFF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3" y="616732"/>
            <a:ext cx="7200801" cy="8187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183F44-6FFE-7957-FC7F-A8C20C532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1723137"/>
            <a:ext cx="3073772" cy="341172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36C9ADC-1ACA-23F8-D362-1DA3295CED44}"/>
              </a:ext>
            </a:extLst>
          </p:cNvPr>
          <p:cNvSpPr/>
          <p:nvPr/>
        </p:nvSpPr>
        <p:spPr>
          <a:xfrm>
            <a:off x="460282" y="1480194"/>
            <a:ext cx="5983926" cy="39650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24572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c12/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12H – Pearson Pure Y1 page 272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5D3E3C7E-095B-72D4-4CA6-46A9BB82E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03283"/>
            <a:ext cx="4621875" cy="6654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202D13-BBC1-F0D2-72CE-69C164446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311" y="1513460"/>
            <a:ext cx="3937868" cy="35770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C785C95-C230-A9A6-783C-3E2F93771DC4}"/>
              </a:ext>
            </a:extLst>
          </p:cNvPr>
          <p:cNvSpPr/>
          <p:nvPr/>
        </p:nvSpPr>
        <p:spPr>
          <a:xfrm>
            <a:off x="460282" y="1480194"/>
            <a:ext cx="5983926" cy="39650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38750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c12/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c12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