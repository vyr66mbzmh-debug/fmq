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c2/ppt/slideMasters/slideMaster1.xml" ContentType="application/vnd.openxmlformats-officedocument.presentationml.slideMaster+xml"/>
  <ns0:Override PartName="/ppt/c2/ppt/slides/slide35.xml" ContentType="application/vnd.openxmlformats-officedocument.presentationml.slide+xml"/>
  <ns0:Override PartName="/ppt/c2/ppt/slides/slide36.xml" ContentType="application/vnd.openxmlformats-officedocument.presentationml.slide+xml"/>
  <ns0:Override PartName="/ppt/c2/ppt/slides/slide37.xml" ContentType="application/vnd.openxmlformats-officedocument.presentationml.slide+xml"/>
  <ns0:Override PartName="/ppt/c2/ppt/slides/slide38.xml" ContentType="application/vnd.openxmlformats-officedocument.presentationml.slide+xml"/>
  <ns0:Override PartName="/ppt/c2/ppt/slides/slide39.xml" ContentType="application/vnd.openxmlformats-officedocument.presentationml.slide+xml"/>
  <ns0:Override PartName="/ppt/c2/ppt/slides/slide40.xml" ContentType="application/vnd.openxmlformats-officedocument.presentationml.slide+xml"/>
  <ns0:Override PartName="/ppt/c2/ppt/slides/slide41.xml" ContentType="application/vnd.openxmlformats-officedocument.presentationml.slide+xml"/>
  <ns0:Override PartName="/ppt/c2/ppt/slides/slide42.xml" ContentType="application/vnd.openxmlformats-officedocument.presentationml.slide+xml"/>
  <ns0:Override PartName="/ppt/c2/ppt/slides/slide43.xml" ContentType="application/vnd.openxmlformats-officedocument.presentationml.slide+xml"/>
  <ns0:Override PartName="/ppt/c2/ppt/slides/slide44.xml" ContentType="application/vnd.openxmlformats-officedocument.presentationml.slide+xml"/>
  <ns0:Override PartName="/ppt/c2/ppt/slides/slide45.xml" ContentType="application/vnd.openxmlformats-officedocument.presentationml.slide+xml"/>
  <ns0:Override PartName="/ppt/c2/ppt/notesMasters/notesMaster1.xml" ContentType="application/vnd.openxmlformats-officedocument.presentationml.notesMaster+xml"/>
  <ns0:Override PartName="/ppt/c2/ppt/theme/theme1.xml" ContentType="application/vnd.openxmlformats-officedocument.theme+xml"/>
  <ns0:Override PartName="/ppt/c2/ppt/slideLayouts/slideLayout1.xml" ContentType="application/vnd.openxmlformats-officedocument.presentationml.slideLayout+xml"/>
  <ns0:Override PartName="/ppt/c2/ppt/slideLayouts/slideLayout2.xml" ContentType="application/vnd.openxmlformats-officedocument.presentationml.slideLayout+xml"/>
  <ns0:Override PartName="/ppt/c2/ppt/slideLayouts/slideLayout3.xml" ContentType="application/vnd.openxmlformats-officedocument.presentationml.slideLayout+xml"/>
  <ns0:Override PartName="/ppt/c2/ppt/theme/theme2.xml" ContentType="application/vnd.openxmlformats-officedocument.theme+xml"/>
  <ns0:Override PartName="/ppt/c2/ppt/notesSlides/notesSlide10.xml" ContentType="application/vnd.openxmlformats-officedocument.presentationml.notesSlide+xml"/>
  <ns0:Override PartName="/ppt/c2/ppt/notesSlides/notesSlide11.xml" ContentType="application/vnd.openxmlformats-officedocument.presentationml.notesSlide+xml"/>
  <ns0:Override PartName="/ppt/c2/ppt/notesSlides/notesSlide12.xml" ContentType="application/vnd.openxmlformats-officedocument.presentationml.notesSlide+xml"/>
  <ns0:Override PartName="/ppt/c2/ppt/notesSlides/notesSlide13.xml" ContentType="application/vnd.openxmlformats-officedocument.presentationml.notesSlid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3848" r:id="rId12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2/ppt/slides/slide35.xml" /><ns0:Relationship Id="rId2" Type="http://schemas.openxmlformats.org/officeDocument/2006/relationships/slide" Target="c2/ppt/slides/slide36.xml" /><ns0:Relationship Id="rId3" Type="http://schemas.openxmlformats.org/officeDocument/2006/relationships/slide" Target="c2/ppt/slides/slide37.xml" /><ns0:Relationship Id="rId4" Type="http://schemas.openxmlformats.org/officeDocument/2006/relationships/slide" Target="c2/ppt/slides/slide38.xml" /><ns0:Relationship Id="rId5" Type="http://schemas.openxmlformats.org/officeDocument/2006/relationships/slide" Target="c2/ppt/slides/slide39.xml" /><ns0:Relationship Id="rId6" Type="http://schemas.openxmlformats.org/officeDocument/2006/relationships/slide" Target="c2/ppt/slides/slide40.xml" /><ns0:Relationship Id="rId7" Type="http://schemas.openxmlformats.org/officeDocument/2006/relationships/slide" Target="c2/ppt/slides/slide41.xml" /><ns0:Relationship Id="rId8" Type="http://schemas.openxmlformats.org/officeDocument/2006/relationships/slide" Target="c2/ppt/slides/slide42.xml" /><ns0:Relationship Id="rId9" Type="http://schemas.openxmlformats.org/officeDocument/2006/relationships/slide" Target="c2/ppt/slides/slide43.xml" /><ns0:Relationship Id="rId10" Type="http://schemas.openxmlformats.org/officeDocument/2006/relationships/slide" Target="c2/ppt/slides/slide44.xml" /><ns0:Relationship Id="rId11" Type="http://schemas.openxmlformats.org/officeDocument/2006/relationships/slide" Target="c2/ppt/slides/slide45.xml" /><ns0:Relationship Id="rId12" Type="http://schemas.openxmlformats.org/officeDocument/2006/relationships/slideMaster" Target="c2/ppt/slideMasters/slideMaster1.xml" /><ns0:Relationship Id="rId13" Type="http://schemas.openxmlformats.org/officeDocument/2006/relationships/notesMaster" Target="c2/ppt/notesMasters/notesMaster1.xml" /></ns0:Relationships>
</file>

<file path=ppt/c2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2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2/ppt/notesSlides/_rels/notesSlide10.xml.rels><?xml version='1.0' encoding='utf-8'?>
<ns0:Relationships xmlns:ns0="http://schemas.openxmlformats.org/package/2006/relationships"><ns0:Relationship Id="rId2" Type="http://schemas.openxmlformats.org/officeDocument/2006/relationships/slide" Target="../slides/slide41.xml" /><ns0:Relationship Id="rId1" Type="http://schemas.openxmlformats.org/officeDocument/2006/relationships/notesMaster" Target="../notesMasters/notesMaster1.xml" /></ns0:Relationships>
</file>

<file path=ppt/c2/ppt/notesSlides/_rels/notesSlide11.xml.rels><?xml version='1.0' encoding='utf-8'?>
<ns0:Relationships xmlns:ns0="http://schemas.openxmlformats.org/package/2006/relationships"><ns0:Relationship Id="rId2" Type="http://schemas.openxmlformats.org/officeDocument/2006/relationships/slide" Target="../slides/slide42.xml" /><ns0:Relationship Id="rId1" Type="http://schemas.openxmlformats.org/officeDocument/2006/relationships/notesMaster" Target="../notesMasters/notesMaster1.xml" /></ns0:Relationships>
</file>

<file path=ppt/c2/ppt/notesSlides/_rels/notesSlide12.xml.rels><?xml version='1.0' encoding='utf-8'?>
<ns0:Relationships xmlns:ns0="http://schemas.openxmlformats.org/package/2006/relationships"><ns0:Relationship Id="rId2" Type="http://schemas.openxmlformats.org/officeDocument/2006/relationships/slide" Target="../slides/slide43.xml" /><ns0:Relationship Id="rId1" Type="http://schemas.openxmlformats.org/officeDocument/2006/relationships/notesMaster" Target="../notesMasters/notesMaster1.xml" /></ns0:Relationships>
</file>

<file path=ppt/c2/ppt/notesSlides/_rels/notesSlide13.xml.rels><?xml version='1.0' encoding='utf-8'?>
<ns0:Relationships xmlns:ns0="http://schemas.openxmlformats.org/package/2006/relationships"><ns0:Relationship Id="rId2" Type="http://schemas.openxmlformats.org/officeDocument/2006/relationships/slide" Target="../slides/slide45.xml" /><ns0:Relationship Id="rId1" Type="http://schemas.openxmlformats.org/officeDocument/2006/relationships/notesMaster" Target="../notesMasters/notesMaster1.xml" /></ns0:Relationships>
</file>

<file path=ppt/c2/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6926101"/>
      </p:ext>
    </p:extLst>
  </p:cSld>
  <p:clrMapOvr>
    <a:masterClrMapping/>
  </p:clrMapOvr>
</p:notes>
</file>

<file path=ppt/c2/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746075"/>
      </p:ext>
    </p:extLst>
  </p:cSld>
  <p:clrMapOvr>
    <a:masterClrMapping/>
  </p:clrMapOvr>
</p:notes>
</file>

<file path=ppt/c2/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7510994"/>
      </p:ext>
    </p:extLst>
  </p:cSld>
  <p:clrMapOvr>
    <a:masterClrMapping/>
  </p:clrMapOvr>
</p:notes>
</file>

<file path=ppt/c2/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1363534"/>
      </p:ext>
    </p:extLst>
  </p:cSld>
  <p:clrMapOvr>
    <a:masterClrMapping/>
  </p:clrMapOvr>
</p:notes>
</file>

<file path=ppt/c2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2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2/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2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233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8"/>
            <a:ext cx="7772400" cy="1470025"/>
          </a:xfr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2794FB-C7EC-52E2-E5CC-9239F0172DA3}"/>
              </a:ext>
            </a:extLst>
          </p:cNvPr>
          <p:cNvSpPr/>
          <p:nvPr userDrawn="1"/>
        </p:nvSpPr>
        <p:spPr>
          <a:xfrm>
            <a:off x="8428871" y="188640"/>
            <a:ext cx="648072" cy="432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9371667"/>
      </p:ext>
    </p:extLst>
  </p:cSld>
  <p:clrMapOvr>
    <a:masterClrMapping/>
  </p:clrMapOvr>
</p:sldLayout>
</file>

<file path=ppt/c2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c2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c2/ppt/slideMasters/_rels/slideMaster1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ns0:Relationship Id="rId4" Type="http://schemas.openxmlformats.org/officeDocument/2006/relationships/theme" Target="../theme/theme1.xml" /></ns0:Relationships>
</file>

<file path=ppt/c2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796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341FCD68-8B6E-A7C5-AF86-F245AC0086A7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144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  <p:sldLayoutId id="2147500102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2/ppt/slides/_rels/slide35.xml.rels><?xml version='1.0' encoding='utf-8'?>
<ns0:Relationships xmlns:ns0="http://schemas.openxmlformats.org/package/2006/relationships"><ns0:Relationship Id="rId2" Type="http://schemas.openxmlformats.org/officeDocument/2006/relationships/image" Target="../media/image1330.png" /><ns0:Relationship Id="rId1" Type="http://schemas.openxmlformats.org/officeDocument/2006/relationships/slideLayout" Target="../slideLayouts/slideLayout3.xml" /></ns0:Relationships>
</file>

<file path=ppt/c2/ppt/slides/_rels/slide36.xml.rels><?xml version='1.0' encoding='utf-8'?>
<ns0:Relationships xmlns:ns0="http://schemas.openxmlformats.org/package/2006/relationships"><ns0:Relationship Id="rId3" Type="http://schemas.openxmlformats.org/officeDocument/2006/relationships/image" Target="../media/image1350.png" /><ns0:Relationship Id="rId2" Type="http://schemas.openxmlformats.org/officeDocument/2006/relationships/image" Target="../media/image1340.png" /><ns0:Relationship Id="rId1" Type="http://schemas.openxmlformats.org/officeDocument/2006/relationships/slideLayout" Target="../slideLayouts/slideLayout3.xml" /><ns0:Relationship Id="rId5" Type="http://schemas.openxmlformats.org/officeDocument/2006/relationships/image" Target="../media/image712.png" /><ns0:Relationship Id="rId4" Type="http://schemas.openxmlformats.org/officeDocument/2006/relationships/image" Target="../media/image1360.png" /></ns0:Relationships>
</file>

<file path=ppt/c2/ppt/slides/_rels/slide37.xml.rels><?xml version='1.0' encoding='utf-8'?>
<ns0:Relationships xmlns:ns0="http://schemas.openxmlformats.org/package/2006/relationships"><ns0:Relationship Id="rId8" Type="http://schemas.openxmlformats.org/officeDocument/2006/relationships/image" Target="../media/image144.png" /><ns0:Relationship Id="rId3" Type="http://schemas.openxmlformats.org/officeDocument/2006/relationships/image" Target="../media/image1390.png" /><ns0:Relationship Id="rId7" Type="http://schemas.openxmlformats.org/officeDocument/2006/relationships/image" Target="../media/image143.png" /><ns0:Relationship Id="rId2" Type="http://schemas.openxmlformats.org/officeDocument/2006/relationships/image" Target="../media/image1380.png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142.png" /><ns0:Relationship Id="rId5" Type="http://schemas.openxmlformats.org/officeDocument/2006/relationships/image" Target="../media/image141.png" /><ns0:Relationship Id="rId10" Type="http://schemas.openxmlformats.org/officeDocument/2006/relationships/image" Target="../media/image146.png" /><ns0:Relationship Id="rId4" Type="http://schemas.openxmlformats.org/officeDocument/2006/relationships/image" Target="../media/image1400.png" /><ns0:Relationship Id="rId9" Type="http://schemas.openxmlformats.org/officeDocument/2006/relationships/image" Target="../media/image145.png" /></ns0:Relationships>
</file>

<file path=ppt/c2/ppt/slides/_rels/slide38.xml.rels><?xml version='1.0' encoding='utf-8'?>
<ns0:Relationships xmlns:ns0="http://schemas.openxmlformats.org/package/2006/relationships"><ns0:Relationship Id="rId8" Type="http://schemas.openxmlformats.org/officeDocument/2006/relationships/image" Target="../media/image152.png" /><ns0:Relationship Id="rId3" Type="http://schemas.openxmlformats.org/officeDocument/2006/relationships/image" Target="../media/image147.png" /><ns0:Relationship Id="rId7" Type="http://schemas.openxmlformats.org/officeDocument/2006/relationships/image" Target="../media/image151.png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150.png" /><ns0:Relationship Id="rId5" Type="http://schemas.openxmlformats.org/officeDocument/2006/relationships/image" Target="../media/image149.png" /><ns0:Relationship Id="rId10" Type="http://schemas.openxmlformats.org/officeDocument/2006/relationships/image" Target="../media/image154.png" /><ns0:Relationship Id="rId4" Type="http://schemas.openxmlformats.org/officeDocument/2006/relationships/image" Target="../media/image148.png" /><ns0:Relationship Id="rId9" Type="http://schemas.openxmlformats.org/officeDocument/2006/relationships/image" Target="../media/image153.png" /></ns0:Relationships>
</file>

<file path=ppt/c2/ppt/slides/_rels/slide3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3.xml" /></ns0:Relationships>
</file>

<file path=ppt/c2/ppt/slides/_rels/slide40.xml.rels><?xml version='1.0' encoding='utf-8'?>
<ns0:Relationships xmlns:ns0="http://schemas.openxmlformats.org/package/2006/relationships"><ns0:Relationship Id="rId2" Type="http://schemas.openxmlformats.org/officeDocument/2006/relationships/image" Target="../media/image155.png" /><ns0:Relationship Id="rId1" Type="http://schemas.openxmlformats.org/officeDocument/2006/relationships/slideLayout" Target="../slideLayouts/slideLayout3.xml" /><ns0:Relationship Id="rId5" Type="http://schemas.openxmlformats.org/officeDocument/2006/relationships/image" Target="../media/image1010.png" /></ns0:Relationships>
</file>

<file path=ppt/c2/ppt/slides/_rels/slide41.xml.rels><?xml version='1.0' encoding='utf-8'?>
<ns0:Relationships xmlns:ns0="http://schemas.openxmlformats.org/package/2006/relationships"><ns0:Relationship Id="rId3" Type="http://schemas.openxmlformats.org/officeDocument/2006/relationships/image" Target="../media/image156.png" /><ns0:Relationship Id="rId2" Type="http://schemas.openxmlformats.org/officeDocument/2006/relationships/notesSlide" Target="../notesSlides/notesSlide10.xml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159.png" /><ns0:Relationship Id="rId5" Type="http://schemas.openxmlformats.org/officeDocument/2006/relationships/image" Target="../media/image158.png" /><ns0:Relationship Id="rId4" Type="http://schemas.openxmlformats.org/officeDocument/2006/relationships/image" Target="../media/image157.png" /></ns0:Relationships>
</file>

<file path=ppt/c2/ppt/slides/_rels/slide42.xml.rels><?xml version='1.0' encoding='utf-8'?>
<ns0:Relationships xmlns:ns0="http://schemas.openxmlformats.org/package/2006/relationships"><ns0:Relationship Id="rId3" Type="http://schemas.openxmlformats.org/officeDocument/2006/relationships/image" Target="../media/image160.png" /><ns0:Relationship Id="rId2" Type="http://schemas.openxmlformats.org/officeDocument/2006/relationships/notesSlide" Target="../notesSlides/notesSlide11.xml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163.png" /><ns0:Relationship Id="rId5" Type="http://schemas.openxmlformats.org/officeDocument/2006/relationships/image" Target="../media/image162.png" /><ns0:Relationship Id="rId4" Type="http://schemas.openxmlformats.org/officeDocument/2006/relationships/image" Target="../media/image161.png" /></ns0:Relationships>
</file>

<file path=ppt/c2/ppt/slides/_rels/slide43.xml.rels><?xml version='1.0' encoding='utf-8'?>
<ns0:Relationships xmlns:ns0="http://schemas.openxmlformats.org/package/2006/relationships"><ns0:Relationship Id="rId8" Type="http://schemas.openxmlformats.org/officeDocument/2006/relationships/image" Target="../media/image169.png" /><ns0:Relationship Id="rId3" Type="http://schemas.openxmlformats.org/officeDocument/2006/relationships/image" Target="../media/image164.png" /><ns0:Relationship Id="rId7" Type="http://schemas.openxmlformats.org/officeDocument/2006/relationships/image" Target="../media/image168.png" /><ns0:Relationship Id="rId2" Type="http://schemas.openxmlformats.org/officeDocument/2006/relationships/notesSlide" Target="../notesSlides/notesSlide12.xml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167.png" /><ns0:Relationship Id="rId5" Type="http://schemas.openxmlformats.org/officeDocument/2006/relationships/image" Target="../media/image166.png" /><ns0:Relationship Id="rId4" Type="http://schemas.openxmlformats.org/officeDocument/2006/relationships/image" Target="../media/image165.png" /></ns0:Relationships>
</file>

<file path=ppt/c2/ppt/slides/_rels/slide44.xml.rels><?xml version='1.0' encoding='utf-8'?>
<ns0:Relationships xmlns:ns0="http://schemas.openxmlformats.org/package/2006/relationships"><ns0:Relationship Id="rId3" Type="http://schemas.openxmlformats.org/officeDocument/2006/relationships/image" Target="../media/image1560.png" /><ns0:Relationship Id="rId2" Type="http://schemas.openxmlformats.org/officeDocument/2006/relationships/image" Target="../media/image170.png" /><ns0:Relationship Id="rId1" Type="http://schemas.openxmlformats.org/officeDocument/2006/relationships/slideLayout" Target="../slideLayouts/slideLayout3.xml" /><ns0:Relationship Id="rId5" Type="http://schemas.openxmlformats.org/officeDocument/2006/relationships/image" Target="../media/image1580.png" /><ns0:Relationship Id="rId4" Type="http://schemas.openxmlformats.org/officeDocument/2006/relationships/image" Target="../media/image1570.png" /></ns0:Relationships>
</file>

<file path=ppt/c2/ppt/slides/_rels/slide45.xml.rels><?xml version='1.0' encoding='utf-8'?>
<ns0:Relationships xmlns:ns0="http://schemas.openxmlformats.org/package/2006/relationships"><ns0:Relationship Id="rId3" Type="http://schemas.openxmlformats.org/officeDocument/2006/relationships/image" Target="../media/image1590.png" /><ns0:Relationship Id="rId2" Type="http://schemas.openxmlformats.org/officeDocument/2006/relationships/notesSlide" Target="../notesSlides/notesSlide13.xml" /><ns0:Relationship Id="rId1" Type="http://schemas.openxmlformats.org/officeDocument/2006/relationships/slideLayout" Target="../slideLayouts/slideLayout3.xml" /><ns0:Relationship Id="rId5" Type="http://schemas.openxmlformats.org/officeDocument/2006/relationships/image" Target="../media/image1610.png" /><ns0:Relationship Id="rId4" Type="http://schemas.openxmlformats.org/officeDocument/2006/relationships/image" Target="../media/image1600.png" /></ns0:Relationships>
</file>

<file path=ppt/c2/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1454" y="956038"/>
            <a:ext cx="8352928" cy="46166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400" dirty="0"/>
              <a:t>How many </a:t>
            </a:r>
            <a:r>
              <a:rPr lang="en-GB" sz="2400" b="1" dirty="0"/>
              <a:t>distinct</a:t>
            </a:r>
            <a:r>
              <a:rPr lang="en-GB" sz="2400" dirty="0"/>
              <a:t> real solutions do each of the following have?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94409" y="1915141"/>
                <a:ext cx="8712968" cy="25438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−12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+36=0</m:t>
                    </m:r>
                  </m:oMath>
                </a14:m>
                <a:r>
                  <a:rPr lang="en-GB" sz="2800" dirty="0"/>
                  <a:t>	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800" b="1" i="1" smtClean="0"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en-GB" sz="2800" b="1" dirty="0"/>
                  <a:t> (1 distinct solution)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+3=0</m:t>
                    </m:r>
                  </m:oMath>
                </a14:m>
                <a:r>
                  <a:rPr lang="en-GB" sz="2800" dirty="0"/>
                  <a:t>		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−1±</m:t>
                        </m:r>
                        <m:rad>
                          <m:radPr>
                            <m:degHide m:val="on"/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−11</m:t>
                            </m:r>
                          </m:e>
                        </m:rad>
                      </m:num>
                      <m:den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br>
                  <a:rPr lang="en-GB" sz="2800" b="1" dirty="0"/>
                </a:br>
                <a:r>
                  <a:rPr lang="en-GB" sz="2800" b="1" dirty="0"/>
                  <a:t>                                            We can’t square root -11,</a:t>
                </a:r>
                <a:br>
                  <a:rPr lang="en-GB" sz="2800" b="1" dirty="0"/>
                </a:br>
                <a:r>
                  <a:rPr lang="en-GB" sz="2800" b="1" dirty="0"/>
                  <a:t>                                            Therefore no real solutions.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lang="en-GB" sz="2800" dirty="0"/>
                  <a:t>		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8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2800" b="1" i="1" smtClean="0"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GB" sz="28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r>
                  <a:rPr lang="en-GB" sz="2800" b="1" dirty="0"/>
                  <a:t> (2 distinct solutions)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409" y="1915141"/>
                <a:ext cx="8712968" cy="2543838"/>
              </a:xfrm>
              <a:prstGeom prst="rect">
                <a:avLst/>
              </a:prstGeom>
              <a:blipFill>
                <a:blip r:embed="rId2"/>
                <a:stretch>
                  <a:fillRect t="-2158" r="-770" b="-59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3948822" y="1890334"/>
            <a:ext cx="5050034" cy="536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8" name="Rectangle 7"/>
          <p:cNvSpPr/>
          <p:nvPr/>
        </p:nvSpPr>
        <p:spPr>
          <a:xfrm>
            <a:off x="3954885" y="2417185"/>
            <a:ext cx="5043972" cy="14291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3948821" y="3846286"/>
            <a:ext cx="5050035" cy="637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11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Starter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2384745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c2/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5: The Discriminant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66972" y="3660668"/>
                <a:ext cx="8208912" cy="15946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Looking at this formula, when in general do you think we have:</a:t>
                </a:r>
              </a:p>
              <a:p>
                <a:pPr marL="342900" indent="-342900">
                  <a:buFont typeface="Arial" pitchFamily="34" charset="0"/>
                  <a:buChar char="•"/>
                </a:pPr>
                <a:r>
                  <a:rPr lang="en-GB" sz="2400" dirty="0"/>
                  <a:t>No real roots?      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𝒂𝒄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sz="2400" b="1" dirty="0"/>
              </a:p>
              <a:p>
                <a:pPr marL="342900" indent="-342900">
                  <a:buFont typeface="Arial" pitchFamily="34" charset="0"/>
                  <a:buChar char="•"/>
                </a:pPr>
                <a:r>
                  <a:rPr lang="en-GB" sz="2400" dirty="0"/>
                  <a:t>Equal roots?      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𝒂𝒄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sz="2400" b="1" dirty="0"/>
              </a:p>
              <a:p>
                <a:pPr marL="342900" indent="-342900">
                  <a:buFont typeface="Arial" pitchFamily="34" charset="0"/>
                  <a:buChar char="•"/>
                </a:pPr>
                <a:r>
                  <a:rPr lang="en-GB" sz="2400" dirty="0"/>
                  <a:t>Two distinct roots?   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𝒂𝒄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72" y="3660668"/>
                <a:ext cx="8208912" cy="1594667"/>
              </a:xfrm>
              <a:prstGeom prst="rect">
                <a:avLst/>
              </a:prstGeom>
              <a:blipFill>
                <a:blip r:embed="rId2"/>
                <a:stretch>
                  <a:fillRect l="-1189" t="-3065" b="-80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276890" y="1200160"/>
                <a:ext cx="5004910" cy="1638654"/>
              </a:xfrm>
              <a:prstGeom prst="rect">
                <a:avLst/>
              </a:prstGeom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3200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/>
                        </a:rPr>
                        <m:t>𝑥</m:t>
                      </m:r>
                      <m:r>
                        <a:rPr lang="en-GB" sz="3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/>
                            </a:rPr>
                            <m:t>𝑏</m:t>
                          </m:r>
                          <m:r>
                            <a:rPr lang="en-GB" sz="3200" b="0" i="1" smtClean="0">
                              <a:latin typeface="Cambria Math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b="0" i="1" smtClean="0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GB" sz="32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3200" b="0" i="1" smtClean="0">
                                  <a:latin typeface="Cambria Math"/>
                                </a:rPr>
                                <m:t>−4</m:t>
                              </m:r>
                              <m:r>
                                <a:rPr lang="en-GB" sz="3200" b="0" i="1" smtClean="0">
                                  <a:latin typeface="Cambria Math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GB" sz="3200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GB" sz="3200" b="0" i="1" smtClean="0">
                              <a:latin typeface="Cambria Math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890" y="1200160"/>
                <a:ext cx="5004910" cy="16386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896999" y="6068462"/>
                <a:ext cx="5256584" cy="46166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400" i="1" baseline="30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 – 4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/>
                  <a:t>is known as the discriminant.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999" y="6068462"/>
                <a:ext cx="5256584" cy="461665"/>
              </a:xfrm>
              <a:prstGeom prst="rect">
                <a:avLst/>
              </a:prstGeom>
              <a:blipFill>
                <a:blip r:embed="rId4"/>
                <a:stretch>
                  <a:fillRect t="-7500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3973256" y="4064704"/>
            <a:ext cx="2462323" cy="3661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3256" y="4430815"/>
            <a:ext cx="2462323" cy="3661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3255" y="4796926"/>
            <a:ext cx="2462323" cy="3661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1" name="Right Brace 10"/>
          <p:cNvSpPr/>
          <p:nvPr/>
        </p:nvSpPr>
        <p:spPr>
          <a:xfrm>
            <a:off x="7038451" y="4093027"/>
            <a:ext cx="125837" cy="1098333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7120745" y="4386567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Wingdings" panose="05000000000000000000" pitchFamily="2" charset="2"/>
              </a:rPr>
              <a:t>!</a:t>
            </a:r>
            <a:endParaRPr lang="en-GB" dirty="0">
              <a:latin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507066" y="853501"/>
                <a:ext cx="2425013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/>
                  <a:t>Note</a:t>
                </a:r>
                <a:r>
                  <a:rPr lang="en-GB" dirty="0"/>
                  <a:t>: Roots of a </a:t>
                </a:r>
                <a:r>
                  <a:rPr lang="en-GB" b="1" u="sng" dirty="0"/>
                  <a:t>function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 are the values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such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. </a:t>
                </a:r>
              </a:p>
              <a:p>
                <a:r>
                  <a:rPr lang="en-GB" dirty="0"/>
                  <a:t>Similarly the roots of an </a:t>
                </a:r>
                <a:r>
                  <a:rPr lang="en-GB" b="1" u="sng" dirty="0"/>
                  <a:t>equation</a:t>
                </a:r>
                <a:r>
                  <a:rPr lang="en-GB" dirty="0"/>
                  <a:t> are solutions to an equation in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7066" y="853501"/>
                <a:ext cx="2425013" cy="2308324"/>
              </a:xfrm>
              <a:prstGeom prst="rect">
                <a:avLst/>
              </a:prstGeom>
              <a:blipFill>
                <a:blip r:embed="rId5"/>
                <a:stretch>
                  <a:fillRect l="-2010" t="-1319" r="-3266" b="-31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4978400" y="5356935"/>
            <a:ext cx="3953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Because adding 0 or subtracting 0 in the quadratic formula gives the same value.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6502400" y="4659086"/>
            <a:ext cx="301848" cy="6978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603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4" grpId="0"/>
    </p:bldLst>
  </p:timing>
</p:sld>
</file>

<file path=ppt/c2/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5: The Discriminant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5" name="Straight Arrow Connector 4"/>
          <p:cNvCxnSpPr/>
          <p:nvPr/>
        </p:nvCxnSpPr>
        <p:spPr>
          <a:xfrm>
            <a:off x="562113" y="2564769"/>
            <a:ext cx="2689087" cy="1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1742976" y="1102917"/>
            <a:ext cx="0" cy="23255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Freeform 3"/>
          <p:cNvSpPr/>
          <p:nvPr/>
        </p:nvSpPr>
        <p:spPr>
          <a:xfrm>
            <a:off x="699209" y="1103086"/>
            <a:ext cx="2551991" cy="1755963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194248" y="2355439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248" y="2355439"/>
                <a:ext cx="28803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562901" y="731556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901" y="731556"/>
                <a:ext cx="288032" cy="369332"/>
              </a:xfrm>
              <a:prstGeom prst="rect">
                <a:avLst/>
              </a:prstGeom>
              <a:blipFill>
                <a:blip r:embed="rId3"/>
                <a:stretch>
                  <a:fillRect r="-4167"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01216" y="3996713"/>
                <a:ext cx="288032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𝒂𝒄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216" y="3996713"/>
                <a:ext cx="2880320" cy="5329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122741" y="3621024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Distinct real roots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1262743" y="2641600"/>
            <a:ext cx="116114" cy="1001486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1843314" y="2641600"/>
            <a:ext cx="827315" cy="104503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6048109" y="1868083"/>
            <a:ext cx="2689087" cy="1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7199943" y="1102917"/>
            <a:ext cx="0" cy="23255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Freeform 3"/>
          <p:cNvSpPr/>
          <p:nvPr/>
        </p:nvSpPr>
        <p:spPr>
          <a:xfrm rot="10800000">
            <a:off x="6431947" y="1872343"/>
            <a:ext cx="2551991" cy="1755963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8767329" y="1658753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7329" y="1658753"/>
                <a:ext cx="28803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019868" y="731556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9868" y="731556"/>
                <a:ext cx="288032" cy="369332"/>
              </a:xfrm>
              <a:prstGeom prst="rect">
                <a:avLst/>
              </a:prstGeom>
              <a:blipFill>
                <a:blip r:embed="rId6"/>
                <a:stretch>
                  <a:fillRect r="-6383"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904926" y="4011227"/>
                <a:ext cx="288032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𝒂𝒄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4926" y="4011227"/>
                <a:ext cx="2880320" cy="53296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6139542" y="3621024"/>
            <a:ext cx="2320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Equal roots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7300281" y="2061029"/>
            <a:ext cx="363262" cy="1625601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2986384" y="5328435"/>
            <a:ext cx="2689087" cy="1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4256147" y="3308303"/>
            <a:ext cx="0" cy="23255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Freeform 3"/>
          <p:cNvSpPr/>
          <p:nvPr/>
        </p:nvSpPr>
        <p:spPr>
          <a:xfrm>
            <a:off x="3212380" y="3308472"/>
            <a:ext cx="2551991" cy="1755963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5643919" y="5145025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3919" y="5145025"/>
                <a:ext cx="2880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4076072" y="2936942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072" y="2936942"/>
                <a:ext cx="288032" cy="369332"/>
              </a:xfrm>
              <a:prstGeom prst="rect">
                <a:avLst/>
              </a:prstGeom>
              <a:blipFill>
                <a:blip r:embed="rId9"/>
                <a:stretch>
                  <a:fillRect r="-6383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714387" y="6202099"/>
                <a:ext cx="288032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𝒂𝒄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4387" y="6202099"/>
                <a:ext cx="2880320" cy="5329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/>
          <p:cNvSpPr txBox="1"/>
          <p:nvPr/>
        </p:nvSpPr>
        <p:spPr>
          <a:xfrm>
            <a:off x="2635912" y="5826410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No real roots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44680" y="1230412"/>
            <a:ext cx="1656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We say the graph “touches” the axis.</a:t>
            </a:r>
          </a:p>
        </p:txBody>
      </p:sp>
    </p:spTree>
    <p:extLst>
      <p:ext uri="{BB962C8B-B14F-4D97-AF65-F5344CB8AC3E}">
        <p14:creationId xmlns:p14="http://schemas.microsoft.com/office/powerpoint/2010/main" val="1773958153"/>
      </p:ext>
    </p:extLst>
  </p:cSld>
  <p:clrMapOvr>
    <a:masterClrMapping/>
  </p:clrMapOvr>
</p:sld>
</file>

<file path=ppt/c2/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Just for your interest…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533400" y="787684"/>
            <a:ext cx="688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Why do we say “Equal Roots” not “One root”?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97596" y="1474561"/>
                <a:ext cx="273119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−12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+36=0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96" y="1474561"/>
                <a:ext cx="2731197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68737" y="1912579"/>
                <a:ext cx="3794260" cy="16466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Using the quadratic formula gives us the same value in both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sz="1600" dirty="0"/>
                  <a:t> cases: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endParaRPr lang="en-GB" sz="500" dirty="0"/>
              </a:p>
              <a:p>
                <a:r>
                  <a:rPr lang="en-GB" sz="1600" dirty="0"/>
                  <a:t>You might wonder why we say “</a:t>
                </a:r>
                <a:r>
                  <a:rPr lang="en-GB" sz="1600" i="1" dirty="0"/>
                  <a:t>it has one repeated root</a:t>
                </a:r>
                <a:r>
                  <a:rPr lang="en-GB" sz="1600" dirty="0"/>
                  <a:t>” or “</a:t>
                </a:r>
                <a:r>
                  <a:rPr lang="en-GB" sz="1600" i="1" dirty="0"/>
                  <a:t>it has equal roots</a:t>
                </a:r>
                <a:r>
                  <a:rPr lang="en-GB" sz="1600" dirty="0"/>
                  <a:t>”, i.e. indicating we have </a:t>
                </a:r>
                <a:r>
                  <a:rPr lang="en-GB" sz="1600" b="1" u="sng" dirty="0"/>
                  <a:t>2 roots</a:t>
                </a:r>
                <a:r>
                  <a:rPr lang="en-GB" sz="1600" dirty="0"/>
                  <a:t> (but with the same value). Why not say it has 1 root?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737" y="1912579"/>
                <a:ext cx="3794260" cy="1646605"/>
              </a:xfrm>
              <a:prstGeom prst="rect">
                <a:avLst/>
              </a:prstGeom>
              <a:blipFill>
                <a:blip r:embed="rId4"/>
                <a:stretch>
                  <a:fillRect l="-803" t="-1111" b="-40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984248" y="2377393"/>
                <a:ext cx="3457881" cy="70788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“Every polynomial of order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000" dirty="0"/>
                  <a:t> has exactly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000" dirty="0"/>
                  <a:t> roots.”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4248" y="2377393"/>
                <a:ext cx="3457881" cy="707886"/>
              </a:xfrm>
              <a:prstGeom prst="rect">
                <a:avLst/>
              </a:prstGeom>
              <a:blipFill>
                <a:blip r:embed="rId5"/>
                <a:stretch>
                  <a:fillRect b="-3571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155998" y="3504799"/>
                <a:ext cx="180348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A </a:t>
                </a:r>
                <a:r>
                  <a:rPr lang="en-GB" sz="1200" b="1" dirty="0"/>
                  <a:t>polynomial</a:t>
                </a:r>
                <a:r>
                  <a:rPr lang="en-GB" sz="1200" dirty="0"/>
                  <a:t> is an expression with </a:t>
                </a:r>
                <a:br>
                  <a:rPr lang="en-GB" sz="1200" dirty="0"/>
                </a:br>
                <a:r>
                  <a:rPr lang="en-GB" sz="1200" dirty="0"/>
                  <a:t>non-negative integer powers of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dirty="0"/>
                  <a:t>, i.e. </a:t>
                </a:r>
                <a:endParaRPr lang="en-GB" sz="12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GB" sz="1200" dirty="0"/>
              </a:p>
              <a:p>
                <a:r>
                  <a:rPr lang="en-GB" sz="1200" dirty="0"/>
                  <a:t>All linear, quadratic and cubic expressions are examples of polynomials.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998" y="3504799"/>
                <a:ext cx="1803487" cy="1569660"/>
              </a:xfrm>
              <a:prstGeom prst="rect">
                <a:avLst/>
              </a:prstGeom>
              <a:blipFill>
                <a:blip r:embed="rId6"/>
                <a:stretch>
                  <a:fillRect l="-338" t="-389" b="-23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 flipV="1">
            <a:off x="5271881" y="3320345"/>
            <a:ext cx="180652" cy="207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904575" y="3608585"/>
                <a:ext cx="113126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The </a:t>
                </a:r>
                <a:r>
                  <a:rPr lang="en-GB" sz="1200" b="1" dirty="0"/>
                  <a:t>order</a:t>
                </a:r>
                <a:r>
                  <a:rPr lang="en-GB" sz="1200" dirty="0"/>
                  <a:t> of a polynomial is its highest power of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dirty="0"/>
                  <a:t>. So the order of a quadratic is 2, and a cubic 3.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4575" y="3608585"/>
                <a:ext cx="1131260" cy="1384995"/>
              </a:xfrm>
              <a:prstGeom prst="rect">
                <a:avLst/>
              </a:prstGeom>
              <a:blipFill>
                <a:blip r:embed="rId7"/>
                <a:stretch>
                  <a:fillRect l="-541" t="-441" b="-26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V="1">
            <a:off x="6423377" y="3286477"/>
            <a:ext cx="135467" cy="293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089422" y="3422301"/>
                <a:ext cx="1958363" cy="3619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These roots might be repeated or might not be ‘real’ roots.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rad>
                  </m:oMath>
                </a14:m>
                <a:r>
                  <a:rPr lang="en-GB" sz="1200" dirty="0"/>
                  <a:t> is known as a </a:t>
                </a:r>
                <a:r>
                  <a:rPr lang="en-GB" sz="1200" b="1" dirty="0"/>
                  <a:t>complex number</a:t>
                </a:r>
                <a:r>
                  <a:rPr lang="en-GB" sz="1200" dirty="0"/>
                  <a:t>, which you will encounter if you do FM. But </a:t>
                </a:r>
                <a:r>
                  <a:rPr lang="en-GB" sz="1200" b="1" dirty="0"/>
                  <a:t>it is still a value</a:t>
                </a:r>
                <a:r>
                  <a:rPr lang="en-GB" sz="1200" dirty="0"/>
                  <a:t>!</a:t>
                </a:r>
              </a:p>
              <a:p>
                <a:endParaRPr lang="en-GB" sz="300" dirty="0"/>
              </a:p>
              <a:p>
                <a:r>
                  <a:rPr lang="en-GB" sz="1200" dirty="0"/>
                  <a:t>The theorem means that a quadratic (order 2) will </a:t>
                </a:r>
                <a:r>
                  <a:rPr lang="en-GB" sz="1200" b="1" u="sng" dirty="0"/>
                  <a:t>always</a:t>
                </a:r>
                <a:r>
                  <a:rPr lang="en-GB" sz="1200" dirty="0"/>
                  <a:t> have 2 roots. This is why you should say “no </a:t>
                </a:r>
                <a:r>
                  <a:rPr lang="en-GB" sz="1200" b="1" dirty="0"/>
                  <a:t>real</a:t>
                </a:r>
                <a:r>
                  <a:rPr lang="en-GB" sz="1200" dirty="0"/>
                  <a:t> roots” 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GB" sz="1200" dirty="0"/>
                  <a:t> rather than “no roots”, because there are still roots – it’s just they’re not ‘real’! Similarly we must say “</a:t>
                </a:r>
                <a:r>
                  <a:rPr lang="en-GB" sz="1200" i="1" dirty="0"/>
                  <a:t>equal roots</a:t>
                </a:r>
                <a:r>
                  <a:rPr lang="en-GB" sz="1200" dirty="0"/>
                  <a:t>” because there are still 2 roots.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422" y="3422301"/>
                <a:ext cx="1958363" cy="3619004"/>
              </a:xfrm>
              <a:prstGeom prst="rect">
                <a:avLst/>
              </a:prstGeom>
              <a:blipFill>
                <a:blip r:embed="rId8"/>
                <a:stretch>
                  <a:fillRect l="-312" r="-12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H="1" flipV="1">
            <a:off x="7636277" y="3184879"/>
            <a:ext cx="186923" cy="201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984247" y="1726618"/>
            <a:ext cx="3457881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GB" dirty="0"/>
              <a:t>It is due to the </a:t>
            </a:r>
            <a:r>
              <a:rPr lang="en-GB" b="1" dirty="0"/>
              <a:t>Fundamental Theorem of Algebra</a:t>
            </a:r>
            <a:r>
              <a:rPr lang="en-GB" dirty="0"/>
              <a:t>:</a:t>
            </a:r>
          </a:p>
        </p:txBody>
      </p:sp>
      <p:sp>
        <p:nvSpPr>
          <p:cNvPr id="21" name="Arrow: Right 20"/>
          <p:cNvSpPr/>
          <p:nvPr/>
        </p:nvSpPr>
        <p:spPr>
          <a:xfrm>
            <a:off x="4237424" y="2205772"/>
            <a:ext cx="504056" cy="29830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16912" y="3691326"/>
                <a:ext cx="3947087" cy="308353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Despite the theorem being a simple statement, it was only until 1806 that it was first proven by </a:t>
                </a:r>
                <a:r>
                  <a:rPr lang="en-GB" sz="1200" b="1" dirty="0"/>
                  <a:t>Argand</a:t>
                </a:r>
                <a:r>
                  <a:rPr lang="en-GB" sz="1200" dirty="0"/>
                  <a:t>. Clearly by using the quadratic formula we can show a quadratic equation has 2 roots. We can use similar formulas to show that a cubic has 3 roots and a quartic 4 roots. But there is </a:t>
                </a:r>
                <a:r>
                  <a:rPr lang="en-GB" sz="1200" b="1" dirty="0"/>
                  <a:t>provably</a:t>
                </a:r>
                <a:r>
                  <a:rPr lang="en-GB" sz="1200" dirty="0"/>
                  <a:t> no such formulae for order 5 (quintics) and beyond. So we have to prove for example that 5 roots exist for a quintic, despite us having no way to find these exact roots!</a:t>
                </a:r>
              </a:p>
              <a:p>
                <a:endParaRPr lang="en-GB" sz="600" dirty="0"/>
              </a:p>
              <a:p>
                <a:r>
                  <a:rPr lang="en-GB" sz="1200" b="1" dirty="0"/>
                  <a:t>One side result of the Fundamental Theorem of Algebra is that every polynomial can be written as a </a:t>
                </a:r>
                <a:r>
                  <a:rPr lang="en-GB" sz="1200" b="1" u="sng" dirty="0"/>
                  <a:t>product of linear and/or quadratic expressions</a:t>
                </a:r>
                <a:r>
                  <a:rPr lang="en-GB" sz="1200" b="1" dirty="0"/>
                  <a:t>.</a:t>
                </a:r>
              </a:p>
              <a:p>
                <a:endParaRPr lang="en-GB" sz="600" b="1" dirty="0"/>
              </a:p>
              <a:p>
                <a:r>
                  <a:rPr lang="en-GB" sz="1200" dirty="0"/>
                  <a:t>Leibniz claimed in 1702 that a polynomial of the form </a:t>
                </a:r>
                <a:br>
                  <a:rPr lang="en-GB" sz="120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1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GB" sz="1200" dirty="0"/>
                  <a:t> cannot be written in this way. He then got completely burned by Euler in 1742 who managed to do so: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ad>
                            <m:radPr>
                              <m:degHide m:val="on"/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ad>
                            <m:radPr>
                              <m:degHide m:val="on"/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12" y="3691326"/>
                <a:ext cx="3947087" cy="308353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/>
          <p:cNvCxnSpPr/>
          <p:nvPr/>
        </p:nvCxnSpPr>
        <p:spPr>
          <a:xfrm flipV="1">
            <a:off x="7025957" y="5382440"/>
            <a:ext cx="0" cy="11848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Arrow: Right 31"/>
          <p:cNvSpPr/>
          <p:nvPr/>
        </p:nvSpPr>
        <p:spPr>
          <a:xfrm>
            <a:off x="3918776" y="5744098"/>
            <a:ext cx="314559" cy="3041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4284319" y="5322582"/>
                <a:ext cx="2591938" cy="138499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sz="1200" dirty="0"/>
                  <a:t>There are various other ‘Fundamental Laws’. The ‘</a:t>
                </a:r>
                <a:r>
                  <a:rPr lang="en-GB" sz="1200" b="1" dirty="0"/>
                  <a:t>FL of Arithmetic</a:t>
                </a:r>
                <a:r>
                  <a:rPr lang="en-GB" sz="1200" dirty="0"/>
                  <a:t>’ you encountered at KS3, which states that “</a:t>
                </a:r>
                <a:r>
                  <a:rPr lang="en-GB" sz="1200" i="1" dirty="0"/>
                  <a:t>every positive integer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GB" sz="1200" i="1" dirty="0"/>
                  <a:t> can be written as a product of primes in one way only</a:t>
                </a:r>
                <a:r>
                  <a:rPr lang="en-GB" sz="1200" dirty="0"/>
                  <a:t>”. You will encounter the ‘</a:t>
                </a:r>
                <a:r>
                  <a:rPr lang="en-GB" sz="1200" b="1" dirty="0"/>
                  <a:t>FL of Calculus</a:t>
                </a:r>
                <a:r>
                  <a:rPr lang="en-GB" sz="1200" dirty="0"/>
                  <a:t>’ in Chapter 13.</a:t>
                </a: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319" y="5322582"/>
                <a:ext cx="2591938" cy="1384995"/>
              </a:xfrm>
              <a:prstGeom prst="rect">
                <a:avLst/>
              </a:prstGeom>
              <a:blipFill>
                <a:blip r:embed="rId10"/>
                <a:stretch>
                  <a:fillRect b="-17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rrow: Right 21"/>
          <p:cNvSpPr/>
          <p:nvPr/>
        </p:nvSpPr>
        <p:spPr>
          <a:xfrm rot="10800000">
            <a:off x="4027525" y="5057422"/>
            <a:ext cx="2869986" cy="19341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002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/>
      <p:bldP spid="12" grpId="0"/>
      <p:bldP spid="14" grpId="0"/>
      <p:bldP spid="16" grpId="0" animBg="1"/>
      <p:bldP spid="21" grpId="0" animBg="1"/>
      <p:bldP spid="23" grpId="0" animBg="1"/>
      <p:bldP spid="32" grpId="0" animBg="1"/>
      <p:bldP spid="33" grpId="0" animBg="1"/>
      <p:bldP spid="22" grpId="0" animBg="1"/>
    </p:bldLst>
  </p:timing>
</p:sld>
</file>

<file path=ppt/c2/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 err="1"/>
                <a:t>Quickfire</a:t>
              </a:r>
              <a:r>
                <a:rPr lang="en-GB" dirty="0"/>
                <a:t> Questions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0171" y="1657828"/>
                <a:ext cx="310297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+4=0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1" y="1657828"/>
                <a:ext cx="310297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67544" y="1124744"/>
            <a:ext cx="2808312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Equation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5856" y="1124744"/>
            <a:ext cx="2808312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Discriminant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9654" y="761886"/>
            <a:ext cx="2817790" cy="83099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Number of Distinct Real Roots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275856" y="1628800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−7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1628800"/>
                <a:ext cx="2736304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156176" y="1628800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1628800"/>
                <a:ext cx="2736304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90171" y="2521924"/>
                <a:ext cx="311748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+1=0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1" y="2521924"/>
                <a:ext cx="3117485" cy="58477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203848" y="2492896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2492896"/>
                <a:ext cx="2736304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156176" y="2492896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2492896"/>
                <a:ext cx="2736304" cy="5847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90171" y="3458028"/>
                <a:ext cx="308845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+4=0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1" y="3458028"/>
                <a:ext cx="3088457" cy="58477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03848" y="3356992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3356992"/>
                <a:ext cx="2736304" cy="58477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156176" y="3356992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3356992"/>
                <a:ext cx="2736304" cy="58477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-29029" y="4394132"/>
                <a:ext cx="332377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−3=0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9029" y="4394132"/>
                <a:ext cx="3323772" cy="58477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03848" y="4365104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365104"/>
                <a:ext cx="2736304" cy="58477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156176" y="4381996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4381996"/>
                <a:ext cx="2736304" cy="584775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90171" y="5330236"/>
                <a:ext cx="323359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−4−3</m:t>
                      </m:r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1" y="5330236"/>
                <a:ext cx="3233599" cy="584775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203848" y="5301208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−47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5301208"/>
                <a:ext cx="2736304" cy="584775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156176" y="5334992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5334992"/>
                <a:ext cx="2736304" cy="584775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90172" y="6122324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1−</m:t>
                      </m:r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2" y="6122324"/>
                <a:ext cx="2736304" cy="584775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203848" y="6093296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6093296"/>
                <a:ext cx="2736304" cy="584775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156176" y="6093296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6093296"/>
                <a:ext cx="2736304" cy="584775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>
            <a:off x="467544" y="2348880"/>
            <a:ext cx="842493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67544" y="3212976"/>
            <a:ext cx="842493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67544" y="4149080"/>
            <a:ext cx="842493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67544" y="5157192"/>
            <a:ext cx="842493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467544" y="6021288"/>
            <a:ext cx="842493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270820" y="1605459"/>
            <a:ext cx="2808312" cy="720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79132" y="1605459"/>
            <a:ext cx="2808312" cy="720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70820" y="2325539"/>
            <a:ext cx="2808312" cy="864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79132" y="2325539"/>
            <a:ext cx="2808312" cy="864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70820" y="3189635"/>
            <a:ext cx="2808312" cy="9361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79132" y="3189635"/>
            <a:ext cx="2808312" cy="9361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70820" y="4125739"/>
            <a:ext cx="2808312" cy="1008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9132" y="4125739"/>
            <a:ext cx="2808312" cy="1008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70820" y="5133851"/>
            <a:ext cx="2808312" cy="864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79132" y="5133851"/>
            <a:ext cx="2808312" cy="864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70820" y="5970563"/>
            <a:ext cx="2808312" cy="6754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79132" y="5970563"/>
            <a:ext cx="2808312" cy="6754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91667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c2/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980728"/>
            <a:ext cx="8105775" cy="1571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3" name="Group 2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Problems involving the discriminant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67544" y="3212976"/>
                <a:ext cx="6552728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GB" sz="2400" dirty="0"/>
                  <a:t>a)   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=1,  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    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br>
                  <a:rPr lang="en-GB" sz="2400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−12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−16=0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−4=0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212976"/>
                <a:ext cx="6552728" cy="2308324"/>
              </a:xfrm>
              <a:prstGeom prst="rect">
                <a:avLst/>
              </a:prstGeom>
              <a:blipFill rotWithShape="0">
                <a:blip r:embed="rId3"/>
                <a:stretch>
                  <a:fillRect l="-1488" t="-2111" b="-13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7544" y="5607371"/>
                <a:ext cx="655272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GB" sz="2400" dirty="0"/>
                  <a:t>b) When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sz="2400" dirty="0"/>
                  <a:t>: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+8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+16=0</m:t>
                    </m:r>
                  </m:oMath>
                </a14:m>
                <a:br>
                  <a:rPr lang="en-GB" sz="2400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=0,  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5607371"/>
                <a:ext cx="6552728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1488" t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1595587" y="3158852"/>
            <a:ext cx="334813" cy="5040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1882476" y="3641584"/>
            <a:ext cx="3769643" cy="18797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0523" y="3187699"/>
            <a:ext cx="555277" cy="4286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88494" y="3136900"/>
            <a:ext cx="850206" cy="4952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2567" y="5629441"/>
            <a:ext cx="4743490" cy="8729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084168" y="3212976"/>
                <a:ext cx="2736304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Tip:</a:t>
                </a:r>
                <a:r>
                  <a:rPr lang="en-GB" dirty="0"/>
                  <a:t> Always start by writing out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 explicitly.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168" y="3212976"/>
                <a:ext cx="2736304" cy="646331"/>
              </a:xfrm>
              <a:prstGeom prst="rect">
                <a:avLst/>
              </a:prstGeom>
              <a:blipFill>
                <a:blip r:embed="rId5"/>
                <a:stretch>
                  <a:fillRect l="-1325" t="-2727" r="-1545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222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c2/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2G Pure Y1 Page 32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9DFD094-DBE3-3C07-248E-F66EFDF8F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721367"/>
            <a:ext cx="6368636" cy="46550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FA87549-9A9D-AB49-6FA5-6711F6B10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00" y="3417884"/>
            <a:ext cx="6948264" cy="28746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0329049-2C91-8061-4A69-ED8E61365A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640" y="1157209"/>
            <a:ext cx="3010320" cy="21529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6CA235B-71B9-CCE4-11AA-BED51BC953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1640" y="4082462"/>
            <a:ext cx="3353268" cy="159089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F7EFE9F-4532-EFE2-FAA2-59BC4E3488EF}"/>
              </a:ext>
            </a:extLst>
          </p:cNvPr>
          <p:cNvSpPr/>
          <p:nvPr/>
        </p:nvSpPr>
        <p:spPr>
          <a:xfrm>
            <a:off x="1007801" y="1184641"/>
            <a:ext cx="3769643" cy="21255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4DE333-154D-1026-11EF-5A461B97309B}"/>
              </a:ext>
            </a:extLst>
          </p:cNvPr>
          <p:cNvSpPr/>
          <p:nvPr/>
        </p:nvSpPr>
        <p:spPr>
          <a:xfrm>
            <a:off x="1007800" y="3967246"/>
            <a:ext cx="3769643" cy="21255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39654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c2/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2G Pure Y1 Page 32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F6045C3-AB38-E11E-64E7-243A1CD7D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694369"/>
            <a:ext cx="6660232" cy="4925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7EDD53-E1C4-6AE5-A64D-A54938919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92" y="3519974"/>
            <a:ext cx="6767736" cy="3836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E1748A-F208-9478-0DAE-7DDAA3DE64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3648" y="1162921"/>
            <a:ext cx="3286584" cy="22196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374772A-9688-FF6D-E5A6-4C04E2DC8C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0332" y="3880791"/>
            <a:ext cx="3153215" cy="198147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FCF47C3-B170-7C36-9960-402FDA46BA68}"/>
              </a:ext>
            </a:extLst>
          </p:cNvPr>
          <p:cNvSpPr/>
          <p:nvPr/>
        </p:nvSpPr>
        <p:spPr>
          <a:xfrm>
            <a:off x="1259633" y="1203452"/>
            <a:ext cx="3168352" cy="22196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7AF6BE-6053-DBE1-1032-7B80A8479EBE}"/>
              </a:ext>
            </a:extLst>
          </p:cNvPr>
          <p:cNvSpPr/>
          <p:nvPr/>
        </p:nvSpPr>
        <p:spPr>
          <a:xfrm>
            <a:off x="1259633" y="3880791"/>
            <a:ext cx="3168352" cy="22196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2383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c2/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2G Pure Y1 Page 32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2705312-FDAC-7B42-B882-132C3DE7B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92" y="764704"/>
            <a:ext cx="5652120" cy="67645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DC8B2F7-3B51-7755-E484-745B1210D153}"/>
              </a:ext>
            </a:extLst>
          </p:cNvPr>
          <p:cNvGrpSpPr/>
          <p:nvPr/>
        </p:nvGrpSpPr>
        <p:grpSpPr>
          <a:xfrm>
            <a:off x="124673" y="3685868"/>
            <a:ext cx="4735359" cy="1149605"/>
            <a:chOff x="124673" y="3225634"/>
            <a:chExt cx="4735359" cy="114960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39656B4-7D5C-BFB8-58A1-BB9A3A4001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6179"/>
            <a:stretch/>
          </p:blipFill>
          <p:spPr>
            <a:xfrm>
              <a:off x="124673" y="3225634"/>
              <a:ext cx="4303312" cy="1149605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849EC5-3BC8-9648-32C2-7D48B3998DE2}"/>
                </a:ext>
              </a:extLst>
            </p:cNvPr>
            <p:cNvSpPr/>
            <p:nvPr/>
          </p:nvSpPr>
          <p:spPr>
            <a:xfrm>
              <a:off x="3923928" y="3573016"/>
              <a:ext cx="936104" cy="2274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6F002AD-FDE6-5B99-7995-00346C638A1A}"/>
                </a:ext>
              </a:extLst>
            </p:cNvPr>
            <p:cNvSpPr/>
            <p:nvPr/>
          </p:nvSpPr>
          <p:spPr>
            <a:xfrm>
              <a:off x="3923928" y="4056003"/>
              <a:ext cx="936104" cy="2274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AB8BC223-C747-6422-39FF-77718184EF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544" y="1487610"/>
            <a:ext cx="2748131" cy="203596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68F7569-5AA9-90EB-4E67-073CD1E7FC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7984" y="1552477"/>
            <a:ext cx="2232248" cy="158849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DD8FBDD-12A4-F540-EF16-17061D2F34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528" y="4997768"/>
            <a:ext cx="2896004" cy="109552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A6EB2C4-840B-60A4-8B5E-7C096EC76A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1960" y="4853036"/>
            <a:ext cx="4039164" cy="1133633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79D1511-209D-7706-0FC6-8462D5F0E245}"/>
              </a:ext>
            </a:extLst>
          </p:cNvPr>
          <p:cNvSpPr/>
          <p:nvPr/>
        </p:nvSpPr>
        <p:spPr>
          <a:xfrm>
            <a:off x="323528" y="1512151"/>
            <a:ext cx="3744416" cy="1986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a?</a:t>
            </a:r>
            <a:endParaRPr lang="en-GB" sz="28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0F29CD-FFD8-9F23-A42D-691C1B3B5A6D}"/>
              </a:ext>
            </a:extLst>
          </p:cNvPr>
          <p:cNvSpPr/>
          <p:nvPr/>
        </p:nvSpPr>
        <p:spPr>
          <a:xfrm>
            <a:off x="323528" y="4835473"/>
            <a:ext cx="3744416" cy="15799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a?</a:t>
            </a:r>
            <a:endParaRPr lang="en-GB" sz="28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3C3E3-387C-2BEC-DEE8-A77BA77E1300}"/>
              </a:ext>
            </a:extLst>
          </p:cNvPr>
          <p:cNvSpPr/>
          <p:nvPr/>
        </p:nvSpPr>
        <p:spPr>
          <a:xfrm>
            <a:off x="4277252" y="1528036"/>
            <a:ext cx="4089388" cy="1986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A72F2F-DEDE-2FBF-32B2-788C8C31CCA9}"/>
              </a:ext>
            </a:extLst>
          </p:cNvPr>
          <p:cNvSpPr/>
          <p:nvPr/>
        </p:nvSpPr>
        <p:spPr>
          <a:xfrm>
            <a:off x="4299036" y="4775267"/>
            <a:ext cx="4089388" cy="16401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1726178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</p:bldLst>
  </p:timing>
</p:sld>
</file>

<file path=ppt/c2/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39552" y="763168"/>
                <a:ext cx="7705428" cy="10618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1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GB" sz="2100" b="0" i="1" smtClean="0">
                          <a:latin typeface="Cambria Math" panose="02040503050406030204" pitchFamily="18" charset="0"/>
                        </a:rPr>
                        <m:t>𝑘𝑥</m:t>
                      </m:r>
                      <m:r>
                        <a:rPr lang="en-GB" sz="21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1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21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100" b="0" i="1" smtClean="0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r>
                        <a:rPr lang="en-GB" sz="2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2100" dirty="0"/>
              </a:p>
              <a:p>
                <a:r>
                  <a:rPr lang="en-GB" sz="2100" dirty="0"/>
                  <a:t>where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100" dirty="0"/>
                  <a:t> </a:t>
                </a:r>
                <a:r>
                  <a:rPr lang="en-GB" sz="2100"/>
                  <a:t>is a constant.</a:t>
                </a:r>
                <a:endParaRPr lang="en-GB" sz="2100" dirty="0"/>
              </a:p>
              <a:p>
                <a:r>
                  <a:rPr lang="en-GB" sz="2100" dirty="0"/>
                  <a:t>Given that this equation has equal roots, determine the value of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100" dirty="0"/>
                  <a:t>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763168"/>
                <a:ext cx="7705428" cy="1061829"/>
              </a:xfrm>
              <a:prstGeom prst="rect">
                <a:avLst/>
              </a:prstGeom>
              <a:blipFill>
                <a:blip r:embed="rId2"/>
                <a:stretch>
                  <a:fillRect b="-300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885078" y="1892739"/>
                <a:ext cx="5256584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=1,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25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−40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−20=0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−8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−4=0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078" y="1892739"/>
                <a:ext cx="5256584" cy="23083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73756" y="4365104"/>
                <a:ext cx="8395344" cy="73866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100" dirty="0"/>
                  <a:t>Find the range of values of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100" dirty="0"/>
                  <a:t> for which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1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1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100" i="1">
                        <a:latin typeface="Cambria Math" panose="02040503050406030204" pitchFamily="18" charset="0"/>
                      </a:rPr>
                      <m:t>+6</m:t>
                    </m:r>
                    <m:r>
                      <a:rPr lang="en-GB" sz="21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1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1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1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100" dirty="0"/>
                  <a:t> has two distinct real solutions.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756" y="4365104"/>
                <a:ext cx="8395344" cy="738664"/>
              </a:xfrm>
              <a:prstGeom prst="rect">
                <a:avLst/>
              </a:prstGeom>
              <a:blipFill>
                <a:blip r:embed="rId4"/>
                <a:stretch>
                  <a:fillRect b="-482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900021" y="5171510"/>
                <a:ext cx="432048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=1,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=6,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36−4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=36−4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36&gt;4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&lt;9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021" y="5171510"/>
                <a:ext cx="4320480" cy="15696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132408" y="5171510"/>
            <a:ext cx="4455816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32407" y="1904515"/>
            <a:ext cx="5327935" cy="22175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91884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c2/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2G Pure Y1 Page 32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208475" y="2102892"/>
                <a:ext cx="2964960" cy="4433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[MAT 2011 1B] A rectangle has perimeter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600" dirty="0"/>
                  <a:t> and area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. The values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 must satisfy:</a:t>
                </a:r>
              </a:p>
              <a:p>
                <a:pPr marL="342900" indent="-342900">
                  <a:buAutoNum type="alphaUcParenR"/>
                </a:pPr>
                <a:r>
                  <a:rPr lang="en-GB" sz="16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GB" sz="1600" b="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&gt;2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≥16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𝑃𝐴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endParaRPr lang="en-GB" sz="1600" dirty="0"/>
              </a:p>
              <a:p>
                <a:r>
                  <a:rPr lang="en-GB" sz="1400" b="1" dirty="0"/>
                  <a:t>Let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1400" b="1" dirty="0"/>
                  <a:t> and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sz="1400" b="1" dirty="0"/>
                  <a:t> be the width and height. Then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𝒙𝒚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sz="1400" b="1" dirty="0"/>
                  <a:t>. Substituting: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num>
                            <m:den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𝑷𝒙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𝑷𝒙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1400" b="1" dirty="0"/>
              </a:p>
              <a:p>
                <a:r>
                  <a:rPr lang="en-GB" sz="1400" b="1" dirty="0"/>
                  <a:t>Discriminant: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en-GB" sz="1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</m:d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𝟒</m:t>
                      </m:r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475" y="2102892"/>
                <a:ext cx="2964960" cy="4433650"/>
              </a:xfrm>
              <a:prstGeom prst="rect">
                <a:avLst/>
              </a:prstGeom>
              <a:blipFill>
                <a:blip r:embed="rId3"/>
                <a:stretch>
                  <a:fillRect l="-1027" t="-4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689268" y="2140992"/>
                <a:ext cx="2440225" cy="4770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[MAT 2006 1B] The equation </a:t>
                </a:r>
                <a:br>
                  <a:rPr lang="en-GB" sz="160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2+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en-GB" sz="1600" dirty="0"/>
                  <a:t> has how many real root(s)?</a:t>
                </a:r>
              </a:p>
              <a:p>
                <a:pPr marL="342900" indent="-342900">
                  <a:buAutoNum type="alphaUcParenR"/>
                </a:pPr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=±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br>
                  <a:rPr lang="en-GB" sz="1600" b="1" dirty="0"/>
                </a:br>
                <a:endParaRPr lang="en-GB" sz="1600" b="1" dirty="0"/>
              </a:p>
              <a:p>
                <a:r>
                  <a:rPr lang="en-GB" sz="1600" b="1" dirty="0"/>
                  <a:t>First case: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br>
                  <a:rPr lang="en-GB" sz="1600" b="1" dirty="0"/>
                </a:br>
                <a:endParaRPr lang="en-GB" sz="1600" b="1" dirty="0"/>
              </a:p>
              <a:p>
                <a:r>
                  <a:rPr lang="en-GB" sz="1600" b="1" dirty="0"/>
                  <a:t>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𝒂𝒄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sz="1600" b="1" dirty="0"/>
                  <a:t> no real roots.</a:t>
                </a:r>
              </a:p>
              <a:p>
                <a:endParaRPr lang="en-GB" sz="1600" b="1" dirty="0"/>
              </a:p>
              <a:p>
                <a:r>
                  <a:rPr lang="en-GB" sz="1600" b="1" dirty="0"/>
                  <a:t>Second case: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𝒐𝒓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GB" sz="1600" b="1" dirty="0"/>
              </a:p>
              <a:p>
                <a:endParaRPr lang="en-GB" sz="1000" b="1" dirty="0"/>
              </a:p>
              <a:p>
                <a:r>
                  <a:rPr lang="en-GB" sz="1600" b="1" dirty="0"/>
                  <a:t>So 2 distinct real roots.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268" y="2140992"/>
                <a:ext cx="2440225" cy="4770537"/>
              </a:xfrm>
              <a:prstGeom prst="rect">
                <a:avLst/>
              </a:prstGeom>
              <a:blipFill>
                <a:blip r:embed="rId4"/>
                <a:stretch>
                  <a:fillRect l="-1250" t="-3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80478" y="2192502"/>
            <a:ext cx="216881" cy="2366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85659" y="2250918"/>
            <a:ext cx="216881" cy="2366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91594" y="2199864"/>
            <a:ext cx="216881" cy="2366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2540" y="3378554"/>
            <a:ext cx="2241060" cy="34032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475" y="4077072"/>
            <a:ext cx="2891982" cy="25559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507" y="1815232"/>
            <a:ext cx="2449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 Questions: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58627" y="2120324"/>
                <a:ext cx="3218178" cy="47862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[MAT 2009 1C] Given a real constant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1600" dirty="0"/>
                  <a:t>, the equation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Has four real solutions (including possible repeated roots) for:</a:t>
                </a:r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GB" sz="1600" b="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≤−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all values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GB" sz="1600" dirty="0"/>
              </a:p>
              <a:p>
                <a:endParaRPr lang="en-GB" sz="1600" b="1" dirty="0"/>
              </a:p>
              <a:p>
                <a:r>
                  <a:rPr lang="en-GB" sz="1400" b="1" dirty="0"/>
                  <a:t>Square rooting: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=±(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400" b="1" dirty="0"/>
              </a:p>
              <a:p>
                <a:r>
                  <a:rPr lang="en-GB" sz="1400" b="1" dirty="0"/>
                  <a:t>Case 1: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1400" b="1" dirty="0"/>
              </a:p>
              <a:p>
                <a:r>
                  <a:rPr lang="en-GB" sz="1400" b="1" dirty="0"/>
                  <a:t>Discriminant: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∴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endParaRPr lang="en-GB" sz="1400" b="1" dirty="0"/>
              </a:p>
              <a:p>
                <a:r>
                  <a:rPr lang="en-GB" sz="1400" b="1" dirty="0"/>
                  <a:t>Case 2: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1400" b="1" dirty="0"/>
              </a:p>
              <a:p>
                <a:r>
                  <a:rPr lang="en-GB" sz="1400" b="1" dirty="0"/>
                  <a:t>Discriminant: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∴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≥−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endParaRPr lang="en-GB" sz="1400" b="1" dirty="0"/>
              </a:p>
              <a:p>
                <a:r>
                  <a:rPr lang="en-GB" sz="1400" b="1" dirty="0"/>
                  <a:t>Answer is B.</a:t>
                </a:r>
                <a:endParaRPr lang="en-GB" sz="1600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27" y="2120324"/>
                <a:ext cx="3218178" cy="4786247"/>
              </a:xfrm>
              <a:prstGeom prst="rect">
                <a:avLst/>
              </a:prstGeom>
              <a:blipFill>
                <a:blip r:embed="rId5"/>
                <a:stretch>
                  <a:fillRect l="-947" t="-382" r="-1136" b="-3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281524" y="4781550"/>
            <a:ext cx="2976026" cy="20423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29685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3" grpId="0" animBg="1"/>
    </p:bldLst>
  </p:timing>
</p:sld>
</file>

<file path=ppt/c2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2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