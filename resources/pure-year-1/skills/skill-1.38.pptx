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70.xml" ContentType="application/vnd.openxmlformats-officedocument.presentationml.slide+xml"/>
  <ns0:Override PartName="/ppt/c12/ppt/slides/slide71.xml" ContentType="application/vnd.openxmlformats-officedocument.presentationml.slide+xml"/>
  <ns0:Override PartName="/ppt/c12/ppt/slides/slide72.xml" ContentType="application/vnd.openxmlformats-officedocument.presentationml.slide+xml"/>
  <ns0:Override PartName="/ppt/c12/ppt/slides/slide73.xml" ContentType="application/vnd.openxmlformats-officedocument.presentationml.slide+xml"/>
  <ns0:Override PartName="/ppt/c12/ppt/slides/slide74.xml" ContentType="application/vnd.openxmlformats-officedocument.presentationml.slide+xml"/>
  <ns0:Override PartName="/ppt/c12/ppt/slides/slide75.xml" ContentType="application/vnd.openxmlformats-officedocument.presentationml.slide+xml"/>
  <ns0:Override PartName="/ppt/c12/ppt/slides/slide76.xml" ContentType="application/vnd.openxmlformats-officedocument.presentationml.slide+xml"/>
  <ns0:Override PartName="/ppt/c12/ppt/slides/slide77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c13/ppt/slideMasters/slideMaster1.xml" ContentType="application/vnd.openxmlformats-officedocument.presentationml.slideMaster+xml"/>
  <ns0:Override PartName="/ppt/c13/ppt/slides/slide19.xml" ContentType="application/vnd.openxmlformats-officedocument.presentationml.slide+xml"/>
  <ns0:Override PartName="/ppt/c13/ppt/slides/slide20.xml" ContentType="application/vnd.openxmlformats-officedocument.presentationml.slide+xml"/>
  <ns0:Override PartName="/ppt/c13/ppt/slides/slide21.xml" ContentType="application/vnd.openxmlformats-officedocument.presentationml.slide+xml"/>
  <ns0:Override PartName="/ppt/c13/ppt/slides/slide22.xml" ContentType="application/vnd.openxmlformats-officedocument.presentationml.slide+xml"/>
  <ns0:Override PartName="/ppt/c13/ppt/slides/slide23.xml" ContentType="application/vnd.openxmlformats-officedocument.presentationml.slide+xml"/>
  <ns0:Override PartName="/ppt/c13/ppt/slides/slide24.xml" ContentType="application/vnd.openxmlformats-officedocument.presentationml.slide+xml"/>
  <ns0:Override PartName="/ppt/c13/ppt/notesMasters/notesMaster1.xml" ContentType="application/vnd.openxmlformats-officedocument.presentationml.notesMaster+xml"/>
  <ns0:Override PartName="/ppt/c13/ppt/theme/theme1.xml" ContentType="application/vnd.openxmlformats-officedocument.theme+xml"/>
  <ns0:Override PartName="/ppt/c13/ppt/slideLayouts/slideLayout1.xml" ContentType="application/vnd.openxmlformats-officedocument.presentationml.slideLayout+xml"/>
  <ns0:Override PartName="/ppt/c13/ppt/slideLayouts/slideLayout2.xml" ContentType="application/vnd.openxmlformats-officedocument.presentationml.slideLayout+xml"/>
  <ns0:Override PartName="/ppt/c13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9"/>
    <p:sldMasterId id="2147484949" r:id="rId17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70.xml" /><ns0:Relationship Id="rId2" Type="http://schemas.openxmlformats.org/officeDocument/2006/relationships/slide" Target="c12/ppt/slides/slide71.xml" /><ns0:Relationship Id="rId3" Type="http://schemas.openxmlformats.org/officeDocument/2006/relationships/slide" Target="c12/ppt/slides/slide72.xml" /><ns0:Relationship Id="rId4" Type="http://schemas.openxmlformats.org/officeDocument/2006/relationships/slide" Target="c12/ppt/slides/slide73.xml" /><ns0:Relationship Id="rId5" Type="http://schemas.openxmlformats.org/officeDocument/2006/relationships/slide" Target="c12/ppt/slides/slide74.xml" /><ns0:Relationship Id="rId6" Type="http://schemas.openxmlformats.org/officeDocument/2006/relationships/slide" Target="c12/ppt/slides/slide75.xml" /><ns0:Relationship Id="rId7" Type="http://schemas.openxmlformats.org/officeDocument/2006/relationships/slide" Target="c12/ppt/slides/slide76.xml" /><ns0:Relationship Id="rId8" Type="http://schemas.openxmlformats.org/officeDocument/2006/relationships/slide" Target="c12/ppt/slides/slide77.xml" /><ns0:Relationship Id="rId9" Type="http://schemas.openxmlformats.org/officeDocument/2006/relationships/slideMaster" Target="c12/ppt/slideMasters/slideMaster1.xml" /><ns0:Relationship Id="rId10" Type="http://schemas.openxmlformats.org/officeDocument/2006/relationships/notesMaster" Target="c12/ppt/notesMasters/notesMaster1.xml" /><ns0:Relationship Id="rId11" Type="http://schemas.openxmlformats.org/officeDocument/2006/relationships/slide" Target="c13/ppt/slides/slide19.xml" /><ns0:Relationship Id="rId12" Type="http://schemas.openxmlformats.org/officeDocument/2006/relationships/slide" Target="c13/ppt/slides/slide20.xml" /><ns0:Relationship Id="rId13" Type="http://schemas.openxmlformats.org/officeDocument/2006/relationships/slide" Target="c13/ppt/slides/slide21.xml" /><ns0:Relationship Id="rId14" Type="http://schemas.openxmlformats.org/officeDocument/2006/relationships/slide" Target="c13/ppt/slides/slide22.xml" /><ns0:Relationship Id="rId15" Type="http://schemas.openxmlformats.org/officeDocument/2006/relationships/slide" Target="c13/ppt/slides/slide23.xml" /><ns0:Relationship Id="rId16" Type="http://schemas.openxmlformats.org/officeDocument/2006/relationships/slide" Target="c13/ppt/slides/slide24.xml" /><ns0:Relationship Id="rId17" Type="http://schemas.openxmlformats.org/officeDocument/2006/relationships/slideMaster" Target="c13/ppt/slideMasters/slideMaster1.xml" /><ns0:Relationship Id="rId18" Type="http://schemas.openxmlformats.org/officeDocument/2006/relationships/notesMaster" Target="c13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70.xml.rels><?xml version='1.0' encoding='utf-8'?>
<ns0:Relationships xmlns:ns0="http://schemas.openxmlformats.org/package/2006/relationships"><ns0:Relationship Id="rId3" Type="http://schemas.openxmlformats.org/officeDocument/2006/relationships/image" Target="../media/image2430.png" /><ns0:Relationship Id="rId2" Type="http://schemas.openxmlformats.org/officeDocument/2006/relationships/image" Target="../media/image242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45.png" /><ns0:Relationship Id="rId4" Type="http://schemas.openxmlformats.org/officeDocument/2006/relationships/image" Target="../media/image244.png" /></ns0:Relationships>
</file>

<file path=ppt/c12/ppt/slides/_rels/slide71.xml.rels><?xml version='1.0' encoding='utf-8'?>
<ns0:Relationships xmlns:ns0="http://schemas.openxmlformats.org/package/2006/relationships"><ns0:Relationship Id="rId3" Type="http://schemas.openxmlformats.org/officeDocument/2006/relationships/image" Target="../media/image247.png" /><ns0:Relationship Id="rId2" Type="http://schemas.openxmlformats.org/officeDocument/2006/relationships/image" Target="../media/image246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48.png" /></ns0:Relationships>
</file>

<file path=ppt/c12/ppt/slides/_rels/slide72.xml.rels><?xml version='1.0' encoding='utf-8'?>
<ns0:Relationships xmlns:ns0="http://schemas.openxmlformats.org/package/2006/relationships"><ns0:Relationship Id="rId8" Type="http://schemas.openxmlformats.org/officeDocument/2006/relationships/image" Target="../media/image255.png" /><ns0:Relationship Id="rId3" Type="http://schemas.openxmlformats.org/officeDocument/2006/relationships/image" Target="../media/image250.png" /><ns0:Relationship Id="rId7" Type="http://schemas.openxmlformats.org/officeDocument/2006/relationships/image" Target="../media/image254.png" /><ns0:Relationship Id="rId2" Type="http://schemas.openxmlformats.org/officeDocument/2006/relationships/image" Target="../media/image24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3.png" /><ns0:Relationship Id="rId5" Type="http://schemas.openxmlformats.org/officeDocument/2006/relationships/image" Target="../media/image252.png" /><ns0:Relationship Id="rId4" Type="http://schemas.openxmlformats.org/officeDocument/2006/relationships/image" Target="../media/image251.png" /><ns0:Relationship Id="rId9" Type="http://schemas.openxmlformats.org/officeDocument/2006/relationships/image" Target="../media/image256.png" /></ns0:Relationships>
</file>

<file path=ppt/c12/ppt/slides/_rels/slide73.xml.rels><?xml version='1.0' encoding='utf-8'?>
<ns0:Relationships xmlns:ns0="http://schemas.openxmlformats.org/package/2006/relationships"><ns0:Relationship Id="rId3" Type="http://schemas.openxmlformats.org/officeDocument/2006/relationships/image" Target="../media/image258.png" /><ns0:Relationship Id="rId2" Type="http://schemas.openxmlformats.org/officeDocument/2006/relationships/image" Target="../media/image25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60.png" /><ns0:Relationship Id="rId4" Type="http://schemas.openxmlformats.org/officeDocument/2006/relationships/image" Target="../media/image259.png" /></ns0:Relationships>
</file>

<file path=ppt/c12/ppt/slides/_rels/slide74.xml.rels><?xml version='1.0' encoding='utf-8'?>
<ns0:Relationships xmlns:ns0="http://schemas.openxmlformats.org/package/2006/relationships"><ns0:Relationship Id="rId3" Type="http://schemas.openxmlformats.org/officeDocument/2006/relationships/image" Target="../media/image262.png" /><ns0:Relationship Id="rId2" Type="http://schemas.openxmlformats.org/officeDocument/2006/relationships/image" Target="../media/image26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63.png" /></ns0:Relationships>
</file>

<file path=ppt/c12/ppt/slides/_rels/slide75.xml.rels><?xml version='1.0' encoding='utf-8'?>
<ns0:Relationships xmlns:ns0="http://schemas.openxmlformats.org/package/2006/relationships"><ns0:Relationship Id="rId3" Type="http://schemas.openxmlformats.org/officeDocument/2006/relationships/image" Target="../media/image265.png" /><ns0:Relationship Id="rId2" Type="http://schemas.openxmlformats.org/officeDocument/2006/relationships/image" Target="../media/image264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66.png" /></ns0:Relationships>
</file>

<file path=ppt/c12/ppt/slides/_rels/slide76.xml.rels><?xml version='1.0' encoding='utf-8'?>
<ns0:Relationships xmlns:ns0="http://schemas.openxmlformats.org/package/2006/relationships"><ns0:Relationship Id="rId3" Type="http://schemas.openxmlformats.org/officeDocument/2006/relationships/image" Target="../media/image268.png" /><ns0:Relationship Id="rId2" Type="http://schemas.openxmlformats.org/officeDocument/2006/relationships/image" Target="../media/image26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70.png" /><ns0:Relationship Id="rId4" Type="http://schemas.openxmlformats.org/officeDocument/2006/relationships/image" Target="../media/image269.png" /></ns0:Relationships>
</file>

<file path=ppt/c12/ppt/slides/_rels/slide77.xml.rels><?xml version='1.0' encoding='utf-8'?>
<ns0:Relationships xmlns:ns0="http://schemas.openxmlformats.org/package/2006/relationships"><ns0:Relationship Id="rId3" Type="http://schemas.openxmlformats.org/officeDocument/2006/relationships/image" Target="../media/image272.png" /><ns0:Relationship Id="rId2" Type="http://schemas.openxmlformats.org/officeDocument/2006/relationships/image" Target="../media/image271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73.png" /></ns0:Relationships>
</file>

<file path=ppt/c12/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07804" y="2636912"/>
            <a:ext cx="3528392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These are examples of </a:t>
            </a:r>
            <a:r>
              <a:rPr lang="en-GB" b="1" dirty="0"/>
              <a:t>optimisation problems</a:t>
            </a:r>
            <a:r>
              <a:rPr lang="en-GB" dirty="0"/>
              <a:t>: we’re trying to maximise/minimise some quantity by choosing an appropriate value of a variable that we can control.</a:t>
            </a:r>
          </a:p>
        </p:txBody>
      </p:sp>
      <p:grpSp>
        <p:nvGrpSpPr>
          <p:cNvPr id="6" name="Group 5"/>
          <p:cNvGrpSpPr/>
          <p:nvPr/>
        </p:nvGrpSpPr>
        <p:grpSpPr>
          <a:xfrm rot="19612270">
            <a:off x="197931" y="1582482"/>
            <a:ext cx="1512168" cy="1224136"/>
            <a:chOff x="1619672" y="4581128"/>
            <a:chExt cx="2016224" cy="1512168"/>
          </a:xfrm>
        </p:grpSpPr>
        <p:sp>
          <p:nvSpPr>
            <p:cNvPr id="4" name="Snip Single Corner Rectangle 3"/>
            <p:cNvSpPr/>
            <p:nvPr/>
          </p:nvSpPr>
          <p:spPr>
            <a:xfrm>
              <a:off x="1619672" y="4581128"/>
              <a:ext cx="2016224" cy="1512168"/>
            </a:xfrm>
            <a:prstGeom prst="snip1Rect">
              <a:avLst>
                <a:gd name="adj" fmla="val 335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3131840" y="4581128"/>
              <a:ext cx="504056" cy="504056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907703" y="1003243"/>
            <a:ext cx="29513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We have a sheet of A4 paper, which we want to fold into a cuboid. What height should we choose for the cuboid in order to maximise the volume?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1520" y="1916832"/>
            <a:ext cx="684574" cy="100811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259632" y="1772816"/>
            <a:ext cx="468550" cy="68174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5" idx="1"/>
          </p:cNvCxnSpPr>
          <p:nvPr/>
        </p:nvCxnSpPr>
        <p:spPr>
          <a:xfrm flipV="1">
            <a:off x="107504" y="1646226"/>
            <a:ext cx="940094" cy="6306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18814" y="2060848"/>
            <a:ext cx="1244874" cy="85873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229962" y="4878452"/>
            <a:ext cx="1440160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p:sp>
        <p:nvSpPr>
          <p:cNvPr id="19" name="Pie 18"/>
          <p:cNvSpPr/>
          <p:nvPr/>
        </p:nvSpPr>
        <p:spPr>
          <a:xfrm>
            <a:off x="4842030" y="4878452"/>
            <a:ext cx="1656184" cy="1440160"/>
          </a:xfrm>
          <a:prstGeom prst="pie">
            <a:avLst>
              <a:gd name="adj1" fmla="val 16208169"/>
              <a:gd name="adj2" fmla="val 540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GB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030" y="4446404"/>
                <a:ext cx="32403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6" y="5373216"/>
                <a:ext cx="32403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have 50m of fencing, and want to make a bear pen of the following shape, such that the area is maximised. What should we choose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to be?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654" y="4275901"/>
                <a:ext cx="2394266" cy="2308324"/>
              </a:xfrm>
              <a:prstGeom prst="rect">
                <a:avLst/>
              </a:prstGeom>
              <a:blipFill>
                <a:blip r:embed="rId4"/>
                <a:stretch>
                  <a:fillRect l="-2290" t="-1319" r="-1781" b="-31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2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Optimisation Problems/Modelling</a:t>
              </a:r>
            </a:p>
          </p:txBody>
        </p:sp>
        <p:cxnSp>
          <p:nvCxnSpPr>
            <p:cNvPr id="24" name="Straight Connector 2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>
            <a:off x="1424763" y="2275367"/>
            <a:ext cx="170121" cy="2232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2340259"/>
                <a:ext cx="216058" cy="276999"/>
              </a:xfrm>
              <a:prstGeom prst="rect">
                <a:avLst/>
              </a:prstGeom>
              <a:blipFill>
                <a:blip r:embed="rId5"/>
                <a:stretch>
                  <a:fillRect r="-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573998"/>
      </p:ext>
    </p:extLst>
  </p:cSld>
  <p:clrMapOvr>
    <a:masterClrMapping/>
  </p:clrMapOvr>
</p:sld>
</file>

<file path=ppt/c12/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1537246" y="3549650"/>
            <a:ext cx="288032" cy="656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1628775" y="3571875"/>
            <a:ext cx="114300" cy="78105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‘Rate of change’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Up to now we’ve had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 means “the </a:t>
                </a:r>
                <a:r>
                  <a:rPr lang="en-GB" b="1" u="sng" dirty="0"/>
                  <a:t>rate</a:t>
                </a:r>
                <a:r>
                  <a:rPr lang="en-GB" dirty="0"/>
                  <a:t> at which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changes with respect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  <a:p>
                <a:endParaRPr lang="en-GB" dirty="0"/>
              </a:p>
              <a:p>
                <a:r>
                  <a:rPr lang="en-GB" dirty="0"/>
                  <a:t>But we can use similar gradient function notation for other </a:t>
                </a:r>
                <a:r>
                  <a:rPr lang="en-GB" b="1" dirty="0"/>
                  <a:t>physical quantities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2" y="824136"/>
                <a:ext cx="7626548" cy="1322285"/>
              </a:xfrm>
              <a:prstGeom prst="rect">
                <a:avLst/>
              </a:prstGeom>
              <a:blipFill>
                <a:blip r:embed="rId2"/>
                <a:stretch>
                  <a:fillRect l="-719"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331640" y="2636912"/>
            <a:ext cx="1728192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>
            <a:stCxn id="6" idx="2"/>
          </p:cNvCxnSpPr>
          <p:nvPr/>
        </p:nvCxnSpPr>
        <p:spPr>
          <a:xfrm>
            <a:off x="1331640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059832" y="2744924"/>
            <a:ext cx="0" cy="17641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ylinder 10"/>
          <p:cNvSpPr/>
          <p:nvPr/>
        </p:nvSpPr>
        <p:spPr>
          <a:xfrm>
            <a:off x="1322427" y="4238925"/>
            <a:ext cx="1728192" cy="2016224"/>
          </a:xfrm>
          <a:prstGeom prst="can">
            <a:avLst>
              <a:gd name="adj" fmla="val 1397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>
            <a:off x="1260490" y="4542938"/>
            <a:ext cx="1816573" cy="2090006"/>
          </a:xfrm>
          <a:custGeom>
            <a:avLst/>
            <a:gdLst>
              <a:gd name="connsiteX0" fmla="*/ 22860 w 1828800"/>
              <a:gd name="connsiteY0" fmla="*/ 0 h 1356360"/>
              <a:gd name="connsiteX1" fmla="*/ 464820 w 1828800"/>
              <a:gd name="connsiteY1" fmla="*/ 114300 h 1356360"/>
              <a:gd name="connsiteX2" fmla="*/ 807720 w 1828800"/>
              <a:gd name="connsiteY2" fmla="*/ 167640 h 1356360"/>
              <a:gd name="connsiteX3" fmla="*/ 1127760 w 1828800"/>
              <a:gd name="connsiteY3" fmla="*/ 167640 h 1356360"/>
              <a:gd name="connsiteX4" fmla="*/ 1546860 w 1828800"/>
              <a:gd name="connsiteY4" fmla="*/ 83820 h 1356360"/>
              <a:gd name="connsiteX5" fmla="*/ 1821180 w 1828800"/>
              <a:gd name="connsiteY5" fmla="*/ 0 h 1356360"/>
              <a:gd name="connsiteX6" fmla="*/ 1828800 w 1828800"/>
              <a:gd name="connsiteY6" fmla="*/ 1325880 h 1356360"/>
              <a:gd name="connsiteX7" fmla="*/ 0 w 1828800"/>
              <a:gd name="connsiteY7" fmla="*/ 1356360 h 1356360"/>
              <a:gd name="connsiteX8" fmla="*/ 22860 w 1828800"/>
              <a:gd name="connsiteY8" fmla="*/ 0 h 1356360"/>
              <a:gd name="connsiteX0" fmla="*/ 22860 w 1839433"/>
              <a:gd name="connsiteY0" fmla="*/ 0 h 2048894"/>
              <a:gd name="connsiteX1" fmla="*/ 464820 w 1839433"/>
              <a:gd name="connsiteY1" fmla="*/ 114300 h 2048894"/>
              <a:gd name="connsiteX2" fmla="*/ 807720 w 1839433"/>
              <a:gd name="connsiteY2" fmla="*/ 167640 h 2048894"/>
              <a:gd name="connsiteX3" fmla="*/ 1127760 w 1839433"/>
              <a:gd name="connsiteY3" fmla="*/ 167640 h 2048894"/>
              <a:gd name="connsiteX4" fmla="*/ 1546860 w 1839433"/>
              <a:gd name="connsiteY4" fmla="*/ 83820 h 2048894"/>
              <a:gd name="connsiteX5" fmla="*/ 1821180 w 1839433"/>
              <a:gd name="connsiteY5" fmla="*/ 0 h 2048894"/>
              <a:gd name="connsiteX6" fmla="*/ 1839433 w 1839433"/>
              <a:gd name="connsiteY6" fmla="*/ 2048894 h 2048894"/>
              <a:gd name="connsiteX7" fmla="*/ 0 w 1839433"/>
              <a:gd name="connsiteY7" fmla="*/ 1356360 h 2048894"/>
              <a:gd name="connsiteX8" fmla="*/ 22860 w 1839433"/>
              <a:gd name="connsiteY8" fmla="*/ 0 h 2048894"/>
              <a:gd name="connsiteX0" fmla="*/ 0 w 1816573"/>
              <a:gd name="connsiteY0" fmla="*/ 0 h 2090006"/>
              <a:gd name="connsiteX1" fmla="*/ 441960 w 1816573"/>
              <a:gd name="connsiteY1" fmla="*/ 114300 h 2090006"/>
              <a:gd name="connsiteX2" fmla="*/ 784860 w 1816573"/>
              <a:gd name="connsiteY2" fmla="*/ 167640 h 2090006"/>
              <a:gd name="connsiteX3" fmla="*/ 1104900 w 1816573"/>
              <a:gd name="connsiteY3" fmla="*/ 167640 h 2090006"/>
              <a:gd name="connsiteX4" fmla="*/ 1524000 w 1816573"/>
              <a:gd name="connsiteY4" fmla="*/ 83820 h 2090006"/>
              <a:gd name="connsiteX5" fmla="*/ 1798320 w 1816573"/>
              <a:gd name="connsiteY5" fmla="*/ 0 h 2090006"/>
              <a:gd name="connsiteX6" fmla="*/ 1816573 w 1816573"/>
              <a:gd name="connsiteY6" fmla="*/ 2048894 h 2090006"/>
              <a:gd name="connsiteX7" fmla="*/ 19670 w 1816573"/>
              <a:gd name="connsiteY7" fmla="*/ 2090006 h 2090006"/>
              <a:gd name="connsiteX8" fmla="*/ 0 w 1816573"/>
              <a:gd name="connsiteY8" fmla="*/ 0 h 209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16573" h="2090006">
                <a:moveTo>
                  <a:pt x="0" y="0"/>
                </a:moveTo>
                <a:lnTo>
                  <a:pt x="441960" y="114300"/>
                </a:lnTo>
                <a:lnTo>
                  <a:pt x="784860" y="167640"/>
                </a:lnTo>
                <a:lnTo>
                  <a:pt x="1104900" y="167640"/>
                </a:lnTo>
                <a:lnTo>
                  <a:pt x="1524000" y="83820"/>
                </a:lnTo>
                <a:lnTo>
                  <a:pt x="1798320" y="0"/>
                </a:lnTo>
                <a:lnTo>
                  <a:pt x="1816573" y="2048894"/>
                </a:lnTo>
                <a:lnTo>
                  <a:pt x="19670" y="209000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/>
          <p:cNvSpPr/>
          <p:nvPr/>
        </p:nvSpPr>
        <p:spPr>
          <a:xfrm>
            <a:off x="1323975" y="4524375"/>
            <a:ext cx="1739900" cy="165142"/>
          </a:xfrm>
          <a:custGeom>
            <a:avLst/>
            <a:gdLst>
              <a:gd name="connsiteX0" fmla="*/ 0 w 1739900"/>
              <a:gd name="connsiteY0" fmla="*/ 0 h 165142"/>
              <a:gd name="connsiteX1" fmla="*/ 876300 w 1739900"/>
              <a:gd name="connsiteY1" fmla="*/ 165100 h 165142"/>
              <a:gd name="connsiteX2" fmla="*/ 1739900 w 1739900"/>
              <a:gd name="connsiteY2" fmla="*/ 12700 h 165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9900" h="165142">
                <a:moveTo>
                  <a:pt x="0" y="0"/>
                </a:moveTo>
                <a:cubicBezTo>
                  <a:pt x="293158" y="81491"/>
                  <a:pt x="586317" y="162983"/>
                  <a:pt x="876300" y="165100"/>
                </a:cubicBezTo>
                <a:cubicBezTo>
                  <a:pt x="1166283" y="167217"/>
                  <a:pt x="1453091" y="89958"/>
                  <a:pt x="1739900" y="12700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 flipH="1" flipV="1">
            <a:off x="387152" y="3140968"/>
            <a:ext cx="1130498" cy="22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77940" y="3422650"/>
            <a:ext cx="1127010" cy="6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c 19"/>
          <p:cNvSpPr/>
          <p:nvPr/>
        </p:nvSpPr>
        <p:spPr>
          <a:xfrm>
            <a:off x="1236514" y="3140968"/>
            <a:ext cx="576064" cy="576064"/>
          </a:xfrm>
          <a:prstGeom prst="arc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/>
          <p:cNvCxnSpPr/>
          <p:nvPr/>
        </p:nvCxnSpPr>
        <p:spPr>
          <a:xfrm>
            <a:off x="1809750" y="3422650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517650" y="3430843"/>
            <a:ext cx="6350" cy="1397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xplosion: 8 Points 30"/>
          <p:cNvSpPr/>
          <p:nvPr/>
        </p:nvSpPr>
        <p:spPr>
          <a:xfrm>
            <a:off x="6786363" y="2273300"/>
            <a:ext cx="1944216" cy="1443732"/>
          </a:xfrm>
          <a:prstGeom prst="irregularSeal1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Real Life Maths!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8096" y="2704604"/>
            <a:ext cx="2930004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A sewage container fills at a rate of 20 cm</a:t>
            </a:r>
            <a:r>
              <a:rPr lang="en-GB" baseline="30000" dirty="0"/>
              <a:t>3</a:t>
            </a:r>
            <a:r>
              <a:rPr lang="en-GB" dirty="0"/>
              <a:t> per second.</a:t>
            </a:r>
          </a:p>
          <a:p>
            <a:endParaRPr lang="en-GB" dirty="0"/>
          </a:p>
          <a:p>
            <a:r>
              <a:rPr lang="en-GB" dirty="0"/>
              <a:t>How could we use appropriate notation to represent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946" y="4791848"/>
                <a:ext cx="3298304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“The rate at which the volume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dirty="0"/>
                  <a:t> changes with respect to time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.”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1" y="6076163"/>
                <a:ext cx="3410964" cy="646331"/>
              </a:xfrm>
              <a:prstGeom prst="rect">
                <a:avLst/>
              </a:prstGeom>
              <a:blipFill>
                <a:blip r:embed="rId4"/>
                <a:stretch>
                  <a:fillRect l="-1429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 flipV="1">
            <a:off x="3059832" y="5587941"/>
            <a:ext cx="504056" cy="488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0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00017 -0.07616 " pathEditMode="relative" rAng="0" ptsTypes="AA">
                                      <p:cBhvr>
                                        <p:cTn id="50" dur="10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  <p:bldP spid="6" grpId="0" animBg="1"/>
      <p:bldP spid="11" grpId="0" animBg="1"/>
      <p:bldP spid="11" grpId="1" animBg="1"/>
      <p:bldP spid="10" grpId="0" animBg="1"/>
      <p:bldP spid="20" grpId="0" animBg="1"/>
      <p:bldP spid="31" grpId="0" animBg="1"/>
      <p:bldP spid="32" grpId="0" animBg="1"/>
      <p:bldP spid="33" grpId="0"/>
      <p:bldP spid="34" grpId="0"/>
    </p:bldLst>
  </p:timing>
</p:sld>
</file>

<file path=ppt/c12/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 Optimisation Problem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86789" y="677224"/>
            <a:ext cx="8134196" cy="16004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Optimisation problems in an exam usually follow the following pattern: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2 variables involved (you may have to introduce one yourself), typically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are expressions for </a:t>
            </a:r>
            <a:r>
              <a:rPr lang="en-GB" sz="1400" b="1" dirty="0"/>
              <a:t>two different physical quantities</a:t>
            </a:r>
            <a:r>
              <a:rPr lang="en-GB" sz="1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One is a </a:t>
            </a:r>
            <a:r>
              <a:rPr lang="en-GB" sz="1400" b="1" u="sng" dirty="0"/>
              <a:t>constraint</a:t>
            </a:r>
            <a:r>
              <a:rPr lang="en-GB" sz="1400" dirty="0"/>
              <a:t>, e.g. “the surface area is 20cm</a:t>
            </a:r>
            <a:r>
              <a:rPr lang="en-GB" sz="1400" baseline="30000" dirty="0"/>
              <a:t>2</a:t>
            </a:r>
            <a:r>
              <a:rPr lang="en-GB" sz="1400" dirty="0"/>
              <a:t>”.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/>
              <a:t>The </a:t>
            </a:r>
            <a:r>
              <a:rPr lang="en-GB" sz="1400" b="1" u="sng" dirty="0"/>
              <a:t>other we wish to maximise/minimise</a:t>
            </a:r>
            <a:r>
              <a:rPr lang="en-GB" sz="1400" dirty="0"/>
              <a:t>, e.g. “we wish to maximise the volume”.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We use the constraint to </a:t>
            </a:r>
            <a:r>
              <a:rPr lang="en-GB" sz="1400" b="1" u="sng" dirty="0"/>
              <a:t>eliminate one of the variables</a:t>
            </a:r>
            <a:r>
              <a:rPr lang="en-GB" sz="1400" dirty="0"/>
              <a:t> in the latter equation, so that it is then </a:t>
            </a:r>
            <a:r>
              <a:rPr lang="en-GB" sz="1400" b="1" u="sng" dirty="0"/>
              <a:t>just in terms of one variable</a:t>
            </a:r>
            <a:r>
              <a:rPr lang="en-GB" sz="1400" dirty="0"/>
              <a:t>, and we can then use differentiation to find the turning point.</a:t>
            </a:r>
            <a:r>
              <a:rPr lang="en-GB" sz="1400" b="1" u="sng" dirty="0"/>
              <a:t> </a:t>
            </a:r>
          </a:p>
        </p:txBody>
      </p:sp>
      <p:sp>
        <p:nvSpPr>
          <p:cNvPr id="6" name="Cube 5"/>
          <p:cNvSpPr/>
          <p:nvPr/>
        </p:nvSpPr>
        <p:spPr>
          <a:xfrm>
            <a:off x="377644" y="2728279"/>
            <a:ext cx="2727063" cy="1354623"/>
          </a:xfrm>
          <a:prstGeom prst="cub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384" y="3144854"/>
                <a:ext cx="3600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729" y="3763323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𝒚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067" y="409468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large tank in the shape of a cuboid is to be made from 54m</a:t>
                </a:r>
                <a:r>
                  <a:rPr lang="en-GB" sz="1600" baseline="30000" dirty="0"/>
                  <a:t>2</a:t>
                </a:r>
                <a:r>
                  <a:rPr lang="en-GB" sz="1600" dirty="0"/>
                  <a:t> of sheet metal. The tank has a horizontal base and no top. The height of the tank is </a:t>
                </a:r>
                <a14:m>
                  <m:oMath xmlns:m="http://schemas.openxmlformats.org/officeDocument/2006/math">
                    <m:r>
                      <a:rPr lang="en-GB" sz="1600" b="0" i="1">
                        <a:latin typeface="Cambria Math"/>
                      </a:rPr>
                      <m:t>𝑥</m:t>
                    </m:r>
                  </m:oMath>
                </a14:m>
                <a:r>
                  <a:rPr lang="en-GB" sz="1600" dirty="0"/>
                  <a:t> metres. Two of the opposite vertical faces are squares.</a:t>
                </a:r>
              </a:p>
              <a:p>
                <a:endParaRPr lang="en-GB" sz="600" dirty="0"/>
              </a:p>
              <a:p>
                <a:r>
                  <a:rPr lang="en-GB" sz="1600" dirty="0"/>
                  <a:t>a) Show that the volume, V m</a:t>
                </a:r>
                <a:r>
                  <a:rPr lang="en-GB" sz="1600" baseline="30000" dirty="0"/>
                  <a:t>3</a:t>
                </a:r>
                <a:r>
                  <a:rPr lang="en-GB" sz="1600" dirty="0"/>
                  <a:t>, of the tank is given by </a:t>
                </a:r>
              </a:p>
              <a:p>
                <a:r>
                  <a:rPr lang="en-GB" sz="1600" b="0" dirty="0"/>
                  <a:t>   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𝑉</m:t>
                    </m:r>
                    <m:r>
                      <a:rPr lang="en-GB" sz="1600" b="0" i="1" smtClean="0">
                        <a:latin typeface="Cambria Math"/>
                      </a:rPr>
                      <m:t>=18</m:t>
                    </m:r>
                    <m:r>
                      <a:rPr lang="en-GB" sz="1600" b="0" i="1" smtClean="0">
                        <a:latin typeface="Cambria Math"/>
                      </a:rPr>
                      <m:t>𝑥</m:t>
                    </m:r>
                    <m:r>
                      <a:rPr lang="en-GB" sz="1600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081" y="2465399"/>
                <a:ext cx="5041588" cy="1765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H="1">
            <a:off x="744279" y="2728279"/>
            <a:ext cx="1744" cy="312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44259" y="4847381"/>
            <a:ext cx="2213404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We need to introduce a second variable ourselves so that we can find expressions for the surface area and volume.</a:t>
            </a:r>
          </a:p>
        </p:txBody>
      </p:sp>
      <p:cxnSp>
        <p:nvCxnSpPr>
          <p:cNvPr id="15" name="Straight Arrow Connector 14"/>
          <p:cNvCxnSpPr>
            <a:stCxn id="13" idx="0"/>
            <a:endCxn id="9" idx="2"/>
          </p:cNvCxnSpPr>
          <p:nvPr/>
        </p:nvCxnSpPr>
        <p:spPr>
          <a:xfrm flipV="1">
            <a:off x="1350961" y="4464021"/>
            <a:ext cx="308126" cy="383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b) Given that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can vary, use differentiation to find the maximum or minimum value of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40" y="6025212"/>
                <a:ext cx="457200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=54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But we want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400" dirty="0"/>
                  <a:t> just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54−2</m:t>
                              </m:r>
                              <m:sSup>
                                <m:sSup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54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230" y="4321884"/>
                <a:ext cx="3601428" cy="1659237"/>
              </a:xfrm>
              <a:prstGeom prst="rect">
                <a:avLst/>
              </a:prstGeom>
              <a:blipFill>
                <a:blip r:embed="rId7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2456121" y="4625163"/>
            <a:ext cx="435935" cy="669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15469" y="4304529"/>
            <a:ext cx="2285999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These are the two equations mentioned in the guidance: one for surface area and one volume.</a:t>
            </a:r>
          </a:p>
        </p:txBody>
      </p:sp>
      <p:cxnSp>
        <p:nvCxnSpPr>
          <p:cNvPr id="28" name="Straight Arrow Connector 27"/>
          <p:cNvCxnSpPr>
            <a:stCxn id="26" idx="1"/>
          </p:cNvCxnSpPr>
          <p:nvPr/>
        </p:nvCxnSpPr>
        <p:spPr>
          <a:xfrm flipH="1" flipV="1">
            <a:off x="4901609" y="4529470"/>
            <a:ext cx="1913860" cy="98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=18−2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   ∴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=18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213" y="5982681"/>
                <a:ext cx="3384376" cy="9060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Once we have the ‘optimal’ value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, we sub it back into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GB" sz="1100" dirty="0"/>
                  <a:t> to get the best possible volume.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866" y="5818822"/>
                <a:ext cx="1617878" cy="938719"/>
              </a:xfrm>
              <a:prstGeom prst="rect">
                <a:avLst/>
              </a:prstGeom>
              <a:blipFill>
                <a:blip r:embed="rId9"/>
                <a:stretch>
                  <a:fillRect b="-1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/>
          <p:nvPr/>
        </p:nvCxnSpPr>
        <p:spPr>
          <a:xfrm flipH="1">
            <a:off x="7102549" y="5977212"/>
            <a:ext cx="389620" cy="83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50043" y="4348716"/>
            <a:ext cx="3493287" cy="16015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01609" y="5975498"/>
            <a:ext cx="2413591" cy="8631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90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26" grpId="0" animBg="1"/>
      <p:bldP spid="33" grpId="0" animBg="1"/>
      <p:bldP spid="40" grpId="0" animBg="1"/>
      <p:bldP spid="41" grpId="0" animBg="1"/>
    </p:bldLst>
  </p:timing>
</p:sld>
</file>

<file path=ppt/c12/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5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6" name="Straight Connector 5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4" y="1238493"/>
            <a:ext cx="4593355" cy="382260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59639" y="857977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2011 Q8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3" y="5324893"/>
            <a:ext cx="5656370" cy="1208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7688" y="974698"/>
            <a:ext cx="4966312" cy="14069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30" y="2388946"/>
            <a:ext cx="4950214" cy="49898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30127" y="5326911"/>
            <a:ext cx="5343352" cy="12865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7984" y="979660"/>
            <a:ext cx="4716016" cy="141266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3275" y="2397288"/>
            <a:ext cx="4716016" cy="5479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400" dirty="0"/>
              <a:t>? c</a:t>
            </a:r>
          </a:p>
        </p:txBody>
      </p:sp>
    </p:spTree>
    <p:extLst>
      <p:ext uri="{BB962C8B-B14F-4D97-AF65-F5344CB8AC3E}">
        <p14:creationId xmlns:p14="http://schemas.microsoft.com/office/powerpoint/2010/main" val="1823587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c12/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0C642D-3D99-363B-971C-D62A4961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08370"/>
            <a:ext cx="8280920" cy="1600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B1CA6D-16E2-EAE2-6FC7-92885FBD7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73803"/>
            <a:ext cx="3838054" cy="4350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DF7C31-2C3E-3773-EEEF-02721B383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418" y="2708920"/>
            <a:ext cx="3528392" cy="23085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9684CA-7AA4-2114-ECE9-4F9ED3AC865C}"/>
              </a:ext>
            </a:extLst>
          </p:cNvPr>
          <p:cNvSpPr/>
          <p:nvPr/>
        </p:nvSpPr>
        <p:spPr>
          <a:xfrm>
            <a:off x="260980" y="246508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F5A17-4BF8-E364-984F-EEF38336EAFA}"/>
              </a:ext>
            </a:extLst>
          </p:cNvPr>
          <p:cNvSpPr/>
          <p:nvPr/>
        </p:nvSpPr>
        <p:spPr>
          <a:xfrm>
            <a:off x="4591104" y="2465079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36212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29062ED-535C-3BB5-F0F4-DB169A3C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7" y="636899"/>
            <a:ext cx="7772400" cy="1099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26CFAC-2964-1C33-7B94-DD06FD734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50" y="2060848"/>
            <a:ext cx="4223370" cy="15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5B9424-3989-BB04-7B0E-4B4B6C566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84" y="1823341"/>
            <a:ext cx="4439394" cy="31389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26D855-81A3-5090-7CD3-57F093CA8FC6}"/>
              </a:ext>
            </a:extLst>
          </p:cNvPr>
          <p:cNvSpPr/>
          <p:nvPr/>
        </p:nvSpPr>
        <p:spPr>
          <a:xfrm>
            <a:off x="337830" y="1823341"/>
            <a:ext cx="423417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272FA1-570D-B865-8D68-AEAC80306D58}"/>
              </a:ext>
            </a:extLst>
          </p:cNvPr>
          <p:cNvSpPr/>
          <p:nvPr/>
        </p:nvSpPr>
        <p:spPr>
          <a:xfrm>
            <a:off x="4667954" y="1823340"/>
            <a:ext cx="4311020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03789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F3DDC20-C6E8-8496-32AF-0AE813CB2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" y="599126"/>
            <a:ext cx="8855125" cy="18937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4BB7C-F699-2F54-0DCF-C68D5614B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67" y="2564904"/>
            <a:ext cx="2504974" cy="4221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07A2ED-B47F-7EF8-5456-8F40AD3E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2564904"/>
            <a:ext cx="2186806" cy="10645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A02F65-89B9-3C0E-F170-6E30BFEEB43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19"/>
          <a:stretch/>
        </p:blipFill>
        <p:spPr>
          <a:xfrm>
            <a:off x="5845884" y="2996704"/>
            <a:ext cx="2990749" cy="38612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150F823-04C7-95A6-94AC-FADFFFFD7148}"/>
              </a:ext>
            </a:extLst>
          </p:cNvPr>
          <p:cNvSpPr/>
          <p:nvPr/>
        </p:nvSpPr>
        <p:spPr>
          <a:xfrm>
            <a:off x="285107" y="2457030"/>
            <a:ext cx="2846733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67D35-1BBA-D327-6543-A7D058673CBA}"/>
              </a:ext>
            </a:extLst>
          </p:cNvPr>
          <p:cNvSpPr/>
          <p:nvPr/>
        </p:nvSpPr>
        <p:spPr>
          <a:xfrm>
            <a:off x="3298117" y="2455939"/>
            <a:ext cx="5560776" cy="4350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99020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12K – Pearson Pure Y1 page 81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1734925-06C3-0C6D-5CF0-03FFA0DE2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" y="599127"/>
            <a:ext cx="7772400" cy="2341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7CA77-222F-ABB0-AE4E-BF0EE4615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27" y="3212976"/>
            <a:ext cx="3312368" cy="3171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5D6DE-68FE-92BA-35FD-0F5AFB9EE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223" y="3071158"/>
            <a:ext cx="3312368" cy="37868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39A1F3-3261-0ECA-227B-322607DA9996}"/>
              </a:ext>
            </a:extLst>
          </p:cNvPr>
          <p:cNvSpPr/>
          <p:nvPr/>
        </p:nvSpPr>
        <p:spPr>
          <a:xfrm>
            <a:off x="463282" y="3071158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2B7FE6-FF37-5AC0-AB00-2096EE1BAF59}"/>
              </a:ext>
            </a:extLst>
          </p:cNvPr>
          <p:cNvSpPr/>
          <p:nvPr/>
        </p:nvSpPr>
        <p:spPr>
          <a:xfrm>
            <a:off x="4749603" y="3089106"/>
            <a:ext cx="3782837" cy="3736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40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88763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3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3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3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3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3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BBE1FFC-0839-4EEF-A732-FC1D95326913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3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1898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5535025"/>
      </p:ext>
    </p:extLst>
  </p:cSld>
  <p:clrMapOvr>
    <a:masterClrMapping/>
  </p:clrMapOvr>
</p:sldLayout>
</file>

<file path=ppt/c13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3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59900" r:id="rId1"/>
    <p:sldLayoutId id="21475599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3/ppt/slides/_rels/slide19.xml.rels><?xml version='1.0' encoding='utf-8'?>
<ns0:Relationships xmlns:ns0="http://schemas.openxmlformats.org/package/2006/relationships"><ns0:Relationship Id="rId8" Type="http://schemas.openxmlformats.org/officeDocument/2006/relationships/image" Target="../media/image97.png" /><ns0:Relationship Id="rId13" Type="http://schemas.openxmlformats.org/officeDocument/2006/relationships/image" Target="../media/image102.png" /><ns0:Relationship Id="rId3" Type="http://schemas.openxmlformats.org/officeDocument/2006/relationships/image" Target="../media/image92.png" /><ns0:Relationship Id="rId7" Type="http://schemas.openxmlformats.org/officeDocument/2006/relationships/image" Target="../media/image96.png" /><ns0:Relationship Id="rId12" Type="http://schemas.openxmlformats.org/officeDocument/2006/relationships/image" Target="../media/image101.png" /><ns0:Relationship Id="rId2" Type="http://schemas.openxmlformats.org/officeDocument/2006/relationships/image" Target="../media/image9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95.png" /><ns0:Relationship Id="rId11" Type="http://schemas.openxmlformats.org/officeDocument/2006/relationships/image" Target="../media/image100.png" /><ns0:Relationship Id="rId5" Type="http://schemas.openxmlformats.org/officeDocument/2006/relationships/image" Target="../media/image94.png" /><ns0:Relationship Id="rId10" Type="http://schemas.openxmlformats.org/officeDocument/2006/relationships/image" Target="../media/image99.png" /><ns0:Relationship Id="rId4" Type="http://schemas.openxmlformats.org/officeDocument/2006/relationships/image" Target="../media/image93.png" /><ns0:Relationship Id="rId9" Type="http://schemas.openxmlformats.org/officeDocument/2006/relationships/image" Target="../media/image98.png" /><ns0:Relationship Id="rId14" Type="http://schemas.openxmlformats.org/officeDocument/2006/relationships/image" Target="../media/image103.png" /></ns0:Relationships>
</file>

<file path=ppt/c13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105.png" /><ns0:Relationship Id="rId2" Type="http://schemas.openxmlformats.org/officeDocument/2006/relationships/image" Target="../media/image104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06.png" /></ns0:Relationships>
</file>

<file path=ppt/c13/ppt/slides/_rels/slide21.xml.rels><?xml version='1.0' encoding='utf-8'?>
<ns0:Relationships xmlns:ns0="http://schemas.openxmlformats.org/package/2006/relationships"><ns0:Relationship Id="rId3" Type="http://schemas.openxmlformats.org/officeDocument/2006/relationships/image" Target="../media/image108.png" /><ns0:Relationship Id="rId2" Type="http://schemas.openxmlformats.org/officeDocument/2006/relationships/image" Target="../media/image107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09.png" /></ns0:Relationships>
</file>

<file path=ppt/c13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111.png" /><ns0:Relationship Id="rId2" Type="http://schemas.openxmlformats.org/officeDocument/2006/relationships/image" Target="../media/image110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13.png" /><ns0:Relationship Id="rId4" Type="http://schemas.openxmlformats.org/officeDocument/2006/relationships/image" Target="../media/image112.png" /></ns0:Relationships>
</file>

<file path=ppt/c13/ppt/slides/_rels/slide23.xml.rels><?xml version='1.0' encoding='utf-8'?>
<ns0:Relationships xmlns:ns0="http://schemas.openxmlformats.org/package/2006/relationships"><ns0:Relationship Id="rId8" Type="http://schemas.openxmlformats.org/officeDocument/2006/relationships/image" Target="../media/image120.png" /><ns0:Relationship Id="rId3" Type="http://schemas.openxmlformats.org/officeDocument/2006/relationships/image" Target="../media/image115.png" /><ns0:Relationship Id="rId7" Type="http://schemas.openxmlformats.org/officeDocument/2006/relationships/image" Target="../media/image119.png" /><ns0:Relationship Id="rId2" Type="http://schemas.openxmlformats.org/officeDocument/2006/relationships/image" Target="../media/image114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18.png" /><ns0:Relationship Id="rId5" Type="http://schemas.openxmlformats.org/officeDocument/2006/relationships/image" Target="../media/image117.png" /><ns0:Relationship Id="rId4" Type="http://schemas.openxmlformats.org/officeDocument/2006/relationships/image" Target="../media/image116.png" /><ns0:Relationship Id="rId9" Type="http://schemas.openxmlformats.org/officeDocument/2006/relationships/image" Target="../media/image121.png" /></ns0:Relationships>
</file>

<file path=ppt/c13/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image123.png" /><ns0:Relationship Id="rId2" Type="http://schemas.openxmlformats.org/officeDocument/2006/relationships/image" Target="../media/image122.png" /><ns0:Relationship Id="rId1" Type="http://schemas.openxmlformats.org/officeDocument/2006/relationships/slideLayout" Target="../slideLayouts/slideLayout1.xml" /></ns0:Relationships>
</file>

<file path=ppt/c13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/>
        </p:nvSpPr>
        <p:spPr>
          <a:xfrm>
            <a:off x="8396289" y="2219326"/>
            <a:ext cx="1266825" cy="923925"/>
          </a:xfrm>
          <a:custGeom>
            <a:avLst/>
            <a:gdLst>
              <a:gd name="connsiteX0" fmla="*/ 0 w 1266825"/>
              <a:gd name="connsiteY0" fmla="*/ 919163 h 923925"/>
              <a:gd name="connsiteX1" fmla="*/ 257175 w 1266825"/>
              <a:gd name="connsiteY1" fmla="*/ 461963 h 923925"/>
              <a:gd name="connsiteX2" fmla="*/ 381000 w 1266825"/>
              <a:gd name="connsiteY2" fmla="*/ 276225 h 923925"/>
              <a:gd name="connsiteX3" fmla="*/ 452437 w 1266825"/>
              <a:gd name="connsiteY3" fmla="*/ 176213 h 923925"/>
              <a:gd name="connsiteX4" fmla="*/ 547687 w 1266825"/>
              <a:gd name="connsiteY4" fmla="*/ 80963 h 923925"/>
              <a:gd name="connsiteX5" fmla="*/ 604837 w 1266825"/>
              <a:gd name="connsiteY5" fmla="*/ 28575 h 923925"/>
              <a:gd name="connsiteX6" fmla="*/ 666750 w 1266825"/>
              <a:gd name="connsiteY6" fmla="*/ 0 h 923925"/>
              <a:gd name="connsiteX7" fmla="*/ 714375 w 1266825"/>
              <a:gd name="connsiteY7" fmla="*/ 0 h 923925"/>
              <a:gd name="connsiteX8" fmla="*/ 762000 w 1266825"/>
              <a:gd name="connsiteY8" fmla="*/ 19050 h 923925"/>
              <a:gd name="connsiteX9" fmla="*/ 823912 w 1266825"/>
              <a:gd name="connsiteY9" fmla="*/ 66675 h 923925"/>
              <a:gd name="connsiteX10" fmla="*/ 871537 w 1266825"/>
              <a:gd name="connsiteY10" fmla="*/ 123825 h 923925"/>
              <a:gd name="connsiteX11" fmla="*/ 933450 w 1266825"/>
              <a:gd name="connsiteY11" fmla="*/ 200025 h 923925"/>
              <a:gd name="connsiteX12" fmla="*/ 1009650 w 1266825"/>
              <a:gd name="connsiteY12" fmla="*/ 323850 h 923925"/>
              <a:gd name="connsiteX13" fmla="*/ 1081087 w 1266825"/>
              <a:gd name="connsiteY13" fmla="*/ 409575 h 923925"/>
              <a:gd name="connsiteX14" fmla="*/ 1166812 w 1266825"/>
              <a:gd name="connsiteY14" fmla="*/ 461963 h 923925"/>
              <a:gd name="connsiteX15" fmla="*/ 1266825 w 1266825"/>
              <a:gd name="connsiteY15" fmla="*/ 509588 h 923925"/>
              <a:gd name="connsiteX16" fmla="*/ 1262062 w 1266825"/>
              <a:gd name="connsiteY16" fmla="*/ 923925 h 923925"/>
              <a:gd name="connsiteX17" fmla="*/ 0 w 1266825"/>
              <a:gd name="connsiteY17" fmla="*/ 919163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266825" h="923925">
                <a:moveTo>
                  <a:pt x="0" y="919163"/>
                </a:moveTo>
                <a:lnTo>
                  <a:pt x="257175" y="461963"/>
                </a:lnTo>
                <a:lnTo>
                  <a:pt x="381000" y="276225"/>
                </a:lnTo>
                <a:lnTo>
                  <a:pt x="452437" y="176213"/>
                </a:lnTo>
                <a:lnTo>
                  <a:pt x="547687" y="80963"/>
                </a:lnTo>
                <a:lnTo>
                  <a:pt x="604837" y="28575"/>
                </a:lnTo>
                <a:lnTo>
                  <a:pt x="666750" y="0"/>
                </a:lnTo>
                <a:lnTo>
                  <a:pt x="714375" y="0"/>
                </a:lnTo>
                <a:lnTo>
                  <a:pt x="762000" y="19050"/>
                </a:lnTo>
                <a:lnTo>
                  <a:pt x="823912" y="66675"/>
                </a:lnTo>
                <a:lnTo>
                  <a:pt x="871537" y="123825"/>
                </a:lnTo>
                <a:lnTo>
                  <a:pt x="933450" y="200025"/>
                </a:lnTo>
                <a:lnTo>
                  <a:pt x="1009650" y="323850"/>
                </a:lnTo>
                <a:lnTo>
                  <a:pt x="1081087" y="409575"/>
                </a:lnTo>
                <a:lnTo>
                  <a:pt x="1166812" y="461963"/>
                </a:lnTo>
                <a:lnTo>
                  <a:pt x="1266825" y="509588"/>
                </a:lnTo>
                <a:cubicBezTo>
                  <a:pt x="1265237" y="647700"/>
                  <a:pt x="1263650" y="785813"/>
                  <a:pt x="1262062" y="923925"/>
                </a:cubicBezTo>
                <a:lnTo>
                  <a:pt x="0" y="919163"/>
                </a:lnTo>
                <a:close/>
              </a:path>
            </a:pathLst>
          </a:cu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Definite Integration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75520" y="764705"/>
                <a:ext cx="6234608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So far we’ve seen integration as ‘</a:t>
                </a:r>
                <a:r>
                  <a:rPr lang="en-GB" sz="1600" b="1" dirty="0"/>
                  <a:t>the opposite of differentiation</a:t>
                </a:r>
                <a:r>
                  <a:rPr lang="en-GB" sz="1600" dirty="0"/>
                  <a:t>’, allowing us to find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when we know the gradient function </a:t>
                </a:r>
                <a:br>
                  <a:rPr lang="en-GB" sz="16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In practical settings however the most useful use of integration is that </a:t>
                </a:r>
                <a:r>
                  <a:rPr lang="en-GB" sz="1600" b="1" dirty="0"/>
                  <a:t>it finds the area under a graph</a:t>
                </a:r>
                <a:r>
                  <a:rPr lang="en-GB" sz="1600" dirty="0"/>
                  <a:t>. Remember at GCSE for example when you estimated the area under a speed-time graph, using trapeziums, to get the distance?</a:t>
                </a:r>
              </a:p>
              <a:p>
                <a:r>
                  <a:rPr lang="en-GB" sz="1600" dirty="0"/>
                  <a:t>If you knew the equation of the curve, you could get the exact area!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Before we do this, we need to understand how to find a </a:t>
                </a:r>
                <a:r>
                  <a:rPr lang="en-GB" sz="1600" b="1" dirty="0"/>
                  <a:t>definite integral</a:t>
                </a:r>
                <a:r>
                  <a:rPr lang="en-GB" sz="1600" dirty="0"/>
                  <a:t>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764705"/>
                <a:ext cx="6234608" cy="2800767"/>
              </a:xfrm>
              <a:prstGeom prst="rect">
                <a:avLst/>
              </a:prstGeom>
              <a:blipFill>
                <a:blip r:embed="rId2"/>
                <a:stretch>
                  <a:fillRect l="-489" t="-652" r="-196" b="-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8400256" y="1988840"/>
            <a:ext cx="0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8400256" y="3140968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7680811" y="2410311"/>
            <a:ext cx="104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+mj-lt"/>
              </a:rPr>
              <a:t>speed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631505" y="3154551"/>
            <a:ext cx="1048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+mj-lt"/>
              </a:rPr>
              <a:t>time</a:t>
            </a:r>
            <a:endParaRPr lang="en-GB" dirty="0"/>
          </a:p>
        </p:txBody>
      </p:sp>
      <p:sp>
        <p:nvSpPr>
          <p:cNvPr id="13" name="Freeform: Shape 12"/>
          <p:cNvSpPr/>
          <p:nvPr/>
        </p:nvSpPr>
        <p:spPr>
          <a:xfrm>
            <a:off x="8394700" y="2212394"/>
            <a:ext cx="1511300" cy="924507"/>
          </a:xfrm>
          <a:custGeom>
            <a:avLst/>
            <a:gdLst>
              <a:gd name="connsiteX0" fmla="*/ 0 w 1511300"/>
              <a:gd name="connsiteY0" fmla="*/ 924507 h 924507"/>
              <a:gd name="connsiteX1" fmla="*/ 647700 w 1511300"/>
              <a:gd name="connsiteY1" fmla="*/ 10107 h 924507"/>
              <a:gd name="connsiteX2" fmla="*/ 1117600 w 1511300"/>
              <a:gd name="connsiteY2" fmla="*/ 441907 h 924507"/>
              <a:gd name="connsiteX3" fmla="*/ 1511300 w 1511300"/>
              <a:gd name="connsiteY3" fmla="*/ 543507 h 924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1300" h="924507">
                <a:moveTo>
                  <a:pt x="0" y="924507"/>
                </a:moveTo>
                <a:cubicBezTo>
                  <a:pt x="230716" y="507523"/>
                  <a:pt x="461433" y="90540"/>
                  <a:pt x="647700" y="10107"/>
                </a:cubicBezTo>
                <a:cubicBezTo>
                  <a:pt x="833967" y="-70326"/>
                  <a:pt x="973667" y="353007"/>
                  <a:pt x="1117600" y="441907"/>
                </a:cubicBezTo>
                <a:cubicBezTo>
                  <a:pt x="1261533" y="530807"/>
                  <a:pt x="1386416" y="537157"/>
                  <a:pt x="1511300" y="54350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469784" y="2761878"/>
                <a:ext cx="13171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784" y="2761878"/>
                <a:ext cx="1317154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64711" y="4647058"/>
                <a:ext cx="2296491" cy="1064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711" y="4647058"/>
                <a:ext cx="2296491" cy="10645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740901" y="3591255"/>
                <a:ext cx="3386922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These are known as </a:t>
                </a:r>
                <a:r>
                  <a:rPr lang="en-GB" sz="1400" b="1" dirty="0"/>
                  <a:t>limits</a:t>
                </a:r>
                <a:r>
                  <a:rPr lang="en-GB" sz="1400" dirty="0"/>
                  <a:t>, which give the values of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we’re finding the area between.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901" y="3591255"/>
                <a:ext cx="33869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flipV="1">
            <a:off x="8151231" y="4642236"/>
            <a:ext cx="0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151231" y="5794364"/>
            <a:ext cx="1728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965186" y="4320758"/>
                <a:ext cx="39240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186" y="4320758"/>
                <a:ext cx="392406" cy="307777"/>
              </a:xfrm>
              <a:prstGeom prst="rect">
                <a:avLst/>
              </a:prstGeom>
              <a:blipFill>
                <a:blip r:embed="rId6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9792180" y="5636498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180" y="5636498"/>
                <a:ext cx="37781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220759" y="5415274"/>
                <a:ext cx="131715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𝑑𝑖𝑠𝑡𝑎𝑛𝑐𝑒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759" y="5415274"/>
                <a:ext cx="1317154" cy="261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/>
          <p:cNvSpPr/>
          <p:nvPr/>
        </p:nvSpPr>
        <p:spPr>
          <a:xfrm>
            <a:off x="8153401" y="4533900"/>
            <a:ext cx="1457325" cy="1257300"/>
          </a:xfrm>
          <a:custGeom>
            <a:avLst/>
            <a:gdLst>
              <a:gd name="connsiteX0" fmla="*/ 0 w 1457325"/>
              <a:gd name="connsiteY0" fmla="*/ 1257300 h 1257300"/>
              <a:gd name="connsiteX1" fmla="*/ 552450 w 1457325"/>
              <a:gd name="connsiteY1" fmla="*/ 990600 h 1257300"/>
              <a:gd name="connsiteX2" fmla="*/ 1066800 w 1457325"/>
              <a:gd name="connsiteY2" fmla="*/ 590550 h 1257300"/>
              <a:gd name="connsiteX3" fmla="*/ 1457325 w 1457325"/>
              <a:gd name="connsiteY3" fmla="*/ 0 h 1257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7325" h="1257300">
                <a:moveTo>
                  <a:pt x="0" y="1257300"/>
                </a:moveTo>
                <a:cubicBezTo>
                  <a:pt x="187325" y="1179512"/>
                  <a:pt x="374650" y="1101725"/>
                  <a:pt x="552450" y="990600"/>
                </a:cubicBezTo>
                <a:cubicBezTo>
                  <a:pt x="730250" y="879475"/>
                  <a:pt x="915988" y="755650"/>
                  <a:pt x="1066800" y="590550"/>
                </a:cubicBezTo>
                <a:cubicBezTo>
                  <a:pt x="1217612" y="425450"/>
                  <a:pt x="1337468" y="212725"/>
                  <a:pt x="145732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/>
          <p:cNvSpPr/>
          <p:nvPr/>
        </p:nvSpPr>
        <p:spPr>
          <a:xfrm>
            <a:off x="8715375" y="4724400"/>
            <a:ext cx="800100" cy="1066800"/>
          </a:xfrm>
          <a:custGeom>
            <a:avLst/>
            <a:gdLst>
              <a:gd name="connsiteX0" fmla="*/ 0 w 800100"/>
              <a:gd name="connsiteY0" fmla="*/ 1066800 h 1066800"/>
              <a:gd name="connsiteX1" fmla="*/ 0 w 800100"/>
              <a:gd name="connsiteY1" fmla="*/ 809625 h 1066800"/>
              <a:gd name="connsiteX2" fmla="*/ 257175 w 800100"/>
              <a:gd name="connsiteY2" fmla="*/ 619125 h 1066800"/>
              <a:gd name="connsiteX3" fmla="*/ 457200 w 800100"/>
              <a:gd name="connsiteY3" fmla="*/ 447675 h 1066800"/>
              <a:gd name="connsiteX4" fmla="*/ 609600 w 800100"/>
              <a:gd name="connsiteY4" fmla="*/ 285750 h 1066800"/>
              <a:gd name="connsiteX5" fmla="*/ 800100 w 800100"/>
              <a:gd name="connsiteY5" fmla="*/ 0 h 1066800"/>
              <a:gd name="connsiteX6" fmla="*/ 800100 w 800100"/>
              <a:gd name="connsiteY6" fmla="*/ 1066800 h 1066800"/>
              <a:gd name="connsiteX7" fmla="*/ 0 w 800100"/>
              <a:gd name="connsiteY7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0100" h="1066800">
                <a:moveTo>
                  <a:pt x="0" y="1066800"/>
                </a:moveTo>
                <a:lnTo>
                  <a:pt x="0" y="809625"/>
                </a:lnTo>
                <a:lnTo>
                  <a:pt x="257175" y="619125"/>
                </a:lnTo>
                <a:lnTo>
                  <a:pt x="457200" y="447675"/>
                </a:lnTo>
                <a:lnTo>
                  <a:pt x="609600" y="285750"/>
                </a:lnTo>
                <a:lnTo>
                  <a:pt x="800100" y="0"/>
                </a:lnTo>
                <a:lnTo>
                  <a:pt x="800100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accent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8543157" y="5790386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3157" y="5790386"/>
                <a:ext cx="37781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9315320" y="5790386"/>
                <a:ext cx="3778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320" y="5790386"/>
                <a:ext cx="37781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9610725" y="4451836"/>
                <a:ext cx="8560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725" y="4451836"/>
                <a:ext cx="856064" cy="307777"/>
              </a:xfrm>
              <a:prstGeom prst="rect">
                <a:avLst/>
              </a:prstGeom>
              <a:blipFill>
                <a:blip r:embed="rId10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780004" y="5331592"/>
                <a:ext cx="7022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sz="1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004" y="5331592"/>
                <a:ext cx="70226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/>
          <p:cNvCxnSpPr/>
          <p:nvPr/>
        </p:nvCxnSpPr>
        <p:spPr>
          <a:xfrm>
            <a:off x="2884969" y="4114802"/>
            <a:ext cx="372139" cy="57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6127898" y="3785190"/>
            <a:ext cx="2902688" cy="361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99368" y="4140574"/>
            <a:ext cx="3902148" cy="738664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400" dirty="0"/>
              <a:t>We integrate as normal, but put expression in </a:t>
            </a:r>
            <a:r>
              <a:rPr lang="en-GB" sz="1400" b="1" dirty="0"/>
              <a:t>square brackets</a:t>
            </a:r>
            <a:r>
              <a:rPr lang="en-GB" sz="1400" dirty="0"/>
              <a:t>, meaning </a:t>
            </a:r>
            <a:r>
              <a:rPr lang="en-GB" sz="1400" b="1" dirty="0"/>
              <a:t>we still need to evaluate the integrated expression using the limits</a:t>
            </a:r>
            <a:r>
              <a:rPr lang="en-GB" sz="1400" dirty="0"/>
              <a:t>.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853070" y="4136065"/>
            <a:ext cx="233916" cy="1180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6000307" y="4890977"/>
            <a:ext cx="606056" cy="2339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6142736" y="6182213"/>
                <a:ext cx="3902148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GB" sz="1400" i="1">
                        <a:latin typeface="Cambria Math" panose="02040503050406030204" pitchFamily="18" charset="0"/>
                      </a:rPr>
                      <m:t>−(…)</m:t>
                    </m:r>
                  </m:oMath>
                </a14:m>
                <a:r>
                  <a:rPr lang="en-GB" sz="1400" dirty="0"/>
                  <a:t> and evaluate the expression for each of the limits, top one first.</a:t>
                </a: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736" y="6182213"/>
                <a:ext cx="390214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H="1" flipV="1">
            <a:off x="6914708" y="5869173"/>
            <a:ext cx="690559" cy="313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983621" y="4934629"/>
                <a:ext cx="1196738" cy="537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br>
                  <a:rPr lang="en-GB" sz="2800" dirty="0"/>
                </a:br>
                <a:endParaRPr lang="en-GB" sz="28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621" y="4934629"/>
                <a:ext cx="1196738" cy="5370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564632" y="5403384"/>
                <a:ext cx="272103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=624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632" y="5403384"/>
                <a:ext cx="2721036" cy="9541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05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22" grpId="0"/>
      <p:bldP spid="23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/>
      <p:bldP spid="41" grpId="0" animBg="1"/>
      <p:bldP spid="49" grpId="0" animBg="1"/>
      <p:bldP spid="53" grpId="0"/>
      <p:bldP spid="54" grpId="0"/>
    </p:bldLst>
  </p:timing>
</p:sld>
</file>

<file path=ppt/c13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Another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67268" y="1106416"/>
                <a:ext cx="5236537" cy="333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+1 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=12−−12</m:t>
                      </m:r>
                    </m:oMath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68" y="1106416"/>
                <a:ext cx="5236537" cy="3336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959995" y="1189553"/>
            <a:ext cx="2232248" cy="132343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We </a:t>
            </a:r>
            <a:r>
              <a:rPr lang="en-GB" sz="1600" b="1" dirty="0"/>
              <a:t>DON’T have a constant of integration </a:t>
            </a:r>
            <a:r>
              <a:rPr lang="en-GB" sz="1600" dirty="0"/>
              <a:t>when doing definite integration. I’ll explain why later.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6946605" y="1573620"/>
            <a:ext cx="1013390" cy="27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890119" y="3496396"/>
                <a:ext cx="2232248" cy="1569660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Write out you working EXACTLY as seen here. The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GB" sz="1600" i="1">
                        <a:latin typeface="Cambria Math" panose="02040503050406030204" pitchFamily="18" charset="0"/>
                      </a:rPr>
                      <m:t>−(…)</m:t>
                    </m:r>
                  </m:oMath>
                </a14:m>
                <a:r>
                  <a:rPr lang="en-GB" sz="1600" dirty="0"/>
                  <a:t> brackets are particularly crucial as you’ll otherwise likely make a sign error.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0119" y="3496396"/>
                <a:ext cx="223224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644829" y="1074258"/>
            <a:ext cx="2004064" cy="1137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2240" y="2359082"/>
            <a:ext cx="4632076" cy="1137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2240" y="3501968"/>
            <a:ext cx="4632076" cy="953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456968" y="3444950"/>
            <a:ext cx="439233" cy="1030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160874" y="5442805"/>
                <a:ext cx="5188539" cy="9996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can use the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□</m:t>
                            </m:r>
                          </m:e>
                        </m:nary>
                      </m:e>
                    </m:d>
                  </m:oMath>
                </a14:m>
                <a:r>
                  <a:rPr lang="en-GB" dirty="0"/>
                  <a:t> button on your calculator to evaluate definite integrals. </a:t>
                </a:r>
              </a:p>
              <a:p>
                <a:r>
                  <a:rPr lang="en-GB" u="sng" dirty="0"/>
                  <a:t>But only use it to check your answer.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874" y="5442805"/>
                <a:ext cx="5188539" cy="999697"/>
              </a:xfrm>
              <a:prstGeom prst="rect">
                <a:avLst/>
              </a:prstGeom>
              <a:blipFill>
                <a:blip r:embed="rId4"/>
                <a:stretch>
                  <a:fillRect l="-819" t="-48810" b="-226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93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 animBg="1"/>
      <p:bldP spid="14" grpId="0" animBg="1"/>
    </p:bldLst>
  </p:timing>
</p:sld>
</file>

<file path=ppt/c13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Problem Solving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63552" y="908721"/>
                <a:ext cx="7734898" cy="74770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is a constant and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+7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GB" i="1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show that there are two possible values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dirty="0"/>
                  <a:t> and find these values.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908721"/>
                <a:ext cx="7734898" cy="747705"/>
              </a:xfrm>
              <a:prstGeom prst="rect">
                <a:avLst/>
              </a:prstGeom>
              <a:blipFill>
                <a:blip r:embed="rId2"/>
                <a:stretch>
                  <a:fillRect t="-46259" b="-4966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567608" y="2060849"/>
                <a:ext cx="5256584" cy="2656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                            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+35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                            =24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+28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∴24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+28=4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−7=0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−7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7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2060849"/>
                <a:ext cx="5256584" cy="26563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495600" y="1966019"/>
            <a:ext cx="4824536" cy="27511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62416" y="2028951"/>
                <a:ext cx="223224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Remember: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is a constant, so just treat it as a number.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416" y="2028951"/>
                <a:ext cx="2232248" cy="830997"/>
              </a:xfrm>
              <a:prstGeom prst="rect">
                <a:avLst/>
              </a:prstGeom>
              <a:blipFill>
                <a:blip r:embed="rId4"/>
                <a:stretch>
                  <a:fillRect l="-1366" t="-2206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1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3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13D – Y1 page 297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A98D94-66A7-9AB5-69CA-611AC1C3850A}"/>
              </a:ext>
            </a:extLst>
          </p:cNvPr>
          <p:cNvGrpSpPr/>
          <p:nvPr/>
        </p:nvGrpSpPr>
        <p:grpSpPr>
          <a:xfrm>
            <a:off x="1524000" y="601639"/>
            <a:ext cx="7772400" cy="620698"/>
            <a:chOff x="685800" y="3274029"/>
            <a:chExt cx="7772400" cy="62069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778EF39-D40C-30ED-A472-80E5CB347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3274029"/>
              <a:ext cx="7772400" cy="3099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BC186C-EB26-EDE3-802E-BCFD8107F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9592" y="3583971"/>
              <a:ext cx="1944216" cy="310756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9DDCA8E-013D-96E0-189F-207155C4E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608" y="1844824"/>
            <a:ext cx="2593893" cy="2376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E18308-A037-2961-63CD-8C9E95B15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5" y="1931453"/>
            <a:ext cx="3037071" cy="226278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8E5799-0800-179D-67AE-752F082EF1E4}"/>
              </a:ext>
            </a:extLst>
          </p:cNvPr>
          <p:cNvCxnSpPr/>
          <p:nvPr/>
        </p:nvCxnSpPr>
        <p:spPr>
          <a:xfrm>
            <a:off x="5735960" y="1916832"/>
            <a:ext cx="0" cy="2232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C0D4A67-9025-25E1-7DE3-EEF55F7BC8E8}"/>
              </a:ext>
            </a:extLst>
          </p:cNvPr>
          <p:cNvSpPr/>
          <p:nvPr/>
        </p:nvSpPr>
        <p:spPr>
          <a:xfrm>
            <a:off x="2423592" y="1474664"/>
            <a:ext cx="6768752" cy="3859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604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c13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13D – Y1 page 297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BA0EB58-B087-A628-F135-03ECD9022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3203514"/>
            <a:ext cx="7772400" cy="513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FFC0E6-A151-896C-4B68-C04DA87EC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97476"/>
            <a:ext cx="4466828" cy="419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5596D5-7154-1DB6-5D08-F82793FD7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632" y="1089397"/>
            <a:ext cx="2731840" cy="2010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2BAD03-39BE-E427-D4F6-7A3414622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449" y="1120672"/>
            <a:ext cx="3829584" cy="119079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745612-48D4-5E6B-5D57-8086B0A963D2}"/>
              </a:ext>
            </a:extLst>
          </p:cNvPr>
          <p:cNvCxnSpPr/>
          <p:nvPr/>
        </p:nvCxnSpPr>
        <p:spPr>
          <a:xfrm>
            <a:off x="5735960" y="1097101"/>
            <a:ext cx="0" cy="200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B944C7DC-FF3E-F9DA-E3B8-923BFDF62A67}"/>
              </a:ext>
            </a:extLst>
          </p:cNvPr>
          <p:cNvSpPr/>
          <p:nvPr/>
        </p:nvSpPr>
        <p:spPr>
          <a:xfrm>
            <a:off x="2405968" y="1016776"/>
            <a:ext cx="7506457" cy="20828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43CFE0-5DF4-E2D7-6F16-614F07AB257A}"/>
              </a:ext>
            </a:extLst>
          </p:cNvPr>
          <p:cNvGrpSpPr/>
          <p:nvPr/>
        </p:nvGrpSpPr>
        <p:grpSpPr>
          <a:xfrm>
            <a:off x="2711052" y="3717032"/>
            <a:ext cx="4695576" cy="1667108"/>
            <a:chOff x="1187052" y="3717032"/>
            <a:chExt cx="4695576" cy="166710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7F75572-5851-F848-09DD-DB6A78106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87052" y="3717032"/>
              <a:ext cx="2267266" cy="166710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A933DA4-E00F-8C0D-832F-0ACF94D98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91413" y="4476620"/>
              <a:ext cx="914528" cy="75258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61DE366-6B1A-D115-AE2E-41317BC3D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05941" y="4500436"/>
              <a:ext cx="1876687" cy="704948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B0596C9-4299-273B-622E-D323745FF6F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57415" y="5517233"/>
            <a:ext cx="1181265" cy="1076475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5A743DD-3D28-6283-6A59-89FC8197C02A}"/>
              </a:ext>
            </a:extLst>
          </p:cNvPr>
          <p:cNvSpPr/>
          <p:nvPr/>
        </p:nvSpPr>
        <p:spPr>
          <a:xfrm>
            <a:off x="2405967" y="3811488"/>
            <a:ext cx="7506457" cy="27822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432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3" grpId="0" animBg="1"/>
      <p:bldP spid="23" grpId="0" animBg="1"/>
    </p:bldLst>
  </p:timing>
</p:sld>
</file>

<file path=ppt/c13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13D – Y1 page 297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E6DCBD9-C48C-44B1-9D38-9B4E3A475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82" y="599127"/>
            <a:ext cx="5508322" cy="693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3E5A5-9BB1-41D2-C2F7-13C6F6550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3" y="1412777"/>
            <a:ext cx="1794595" cy="50966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9B3C85-F653-DCD0-E7FB-7DAF438B8712}"/>
              </a:ext>
            </a:extLst>
          </p:cNvPr>
          <p:cNvSpPr/>
          <p:nvPr/>
        </p:nvSpPr>
        <p:spPr>
          <a:xfrm>
            <a:off x="3071664" y="1412776"/>
            <a:ext cx="5760640" cy="50966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935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13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3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