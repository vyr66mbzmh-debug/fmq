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c2/ppt/slideMasters/slideMaster1.xml" ContentType="application/vnd.openxmlformats-officedocument.presentationml.slideMaster+xml"/>
  <ns0:Override PartName="/ppt/c2/ppt/slides/slide11.xml" ContentType="application/vnd.openxmlformats-officedocument.presentationml.slide+xml"/>
  <ns0:Override PartName="/ppt/c2/ppt/slides/slide12.xml" ContentType="application/vnd.openxmlformats-officedocument.presentationml.slide+xml"/>
  <ns0:Override PartName="/ppt/c2/ppt/slides/slide13.xml" ContentType="application/vnd.openxmlformats-officedocument.presentationml.slide+xml"/>
  <ns0:Override PartName="/ppt/c2/ppt/slides/slide14.xml" ContentType="application/vnd.openxmlformats-officedocument.presentationml.slide+xml"/>
  <ns0:Override PartName="/ppt/c2/ppt/slides/slide15.xml" ContentType="application/vnd.openxmlformats-officedocument.presentationml.slide+xml"/>
  <ns0:Override PartName="/ppt/c2/ppt/slides/slide16.xml" ContentType="application/vnd.openxmlformats-officedocument.presentationml.slide+xml"/>
  <ns0:Override PartName="/ppt/c2/ppt/slides/slide17.xml" ContentType="application/vnd.openxmlformats-officedocument.presentationml.slide+xml"/>
  <ns0:Override PartName="/ppt/c2/ppt/slides/slide18.xml" ContentType="application/vnd.openxmlformats-officedocument.presentationml.slide+xml"/>
  <ns0:Override PartName="/ppt/c2/ppt/slides/slide26.xml" ContentType="application/vnd.openxmlformats-officedocument.presentationml.slide+xml"/>
  <ns0:Override PartName="/ppt/c2/ppt/slides/slide27.xml" ContentType="application/vnd.openxmlformats-officedocument.presentationml.slide+xml"/>
  <ns0:Override PartName="/ppt/c2/ppt/slides/slide28.xml" ContentType="application/vnd.openxmlformats-officedocument.presentationml.slide+xml"/>
  <ns0:Override PartName="/ppt/c2/ppt/slides/slide29.xml" ContentType="application/vnd.openxmlformats-officedocument.presentationml.slide+xml"/>
  <ns0:Override PartName="/ppt/c2/ppt/slides/slide30.xml" ContentType="application/vnd.openxmlformats-officedocument.presentationml.slide+xml"/>
  <ns0:Override PartName="/ppt/c2/ppt/slides/slide31.xml" ContentType="application/vnd.openxmlformats-officedocument.presentationml.slide+xml"/>
  <ns0:Override PartName="/ppt/c2/ppt/slides/slide32.xml" ContentType="application/vnd.openxmlformats-officedocument.presentationml.slide+xml"/>
  <ns0:Override PartName="/ppt/c2/ppt/slides/slide33.xml" ContentType="application/vnd.openxmlformats-officedocument.presentationml.slide+xml"/>
  <ns0:Override PartName="/ppt/c2/ppt/slides/slide34.xml" ContentType="application/vnd.openxmlformats-officedocument.presentationml.slide+xml"/>
  <ns0:Override PartName="/ppt/c2/ppt/slides/slide35.xml" ContentType="application/vnd.openxmlformats-officedocument.presentationml.slide+xml"/>
  <ns0:Override PartName="/ppt/c2/ppt/slides/slide36.xml" ContentType="application/vnd.openxmlformats-officedocument.presentationml.slide+xml"/>
  <ns0:Override PartName="/ppt/c2/ppt/slides/slide37.xml" ContentType="application/vnd.openxmlformats-officedocument.presentationml.slide+xml"/>
  <ns0:Override PartName="/ppt/c2/ppt/slides/slide38.xml" ContentType="application/vnd.openxmlformats-officedocument.presentationml.slide+xml"/>
  <ns0:Override PartName="/ppt/c2/ppt/slides/slide39.xml" ContentType="application/vnd.openxmlformats-officedocument.presentationml.slide+xml"/>
  <ns0:Override PartName="/ppt/c2/ppt/slides/slide40.xml" ContentType="application/vnd.openxmlformats-officedocument.presentationml.slide+xml"/>
  <ns0:Override PartName="/ppt/c2/ppt/slides/slide41.xml" ContentType="application/vnd.openxmlformats-officedocument.presentationml.slide+xml"/>
  <ns0:Override PartName="/ppt/c2/ppt/slides/slide42.xml" ContentType="application/vnd.openxmlformats-officedocument.presentationml.slide+xml"/>
  <ns0:Override PartName="/ppt/c2/ppt/slides/slide43.xml" ContentType="application/vnd.openxmlformats-officedocument.presentationml.slide+xml"/>
  <ns0:Override PartName="/ppt/c2/ppt/slides/slide44.xml" ContentType="application/vnd.openxmlformats-officedocument.presentationml.slide+xml"/>
  <ns0:Override PartName="/ppt/c2/ppt/slides/slide45.xml" ContentType="application/vnd.openxmlformats-officedocument.presentationml.slide+xml"/>
  <ns0:Override PartName="/ppt/c2/ppt/notesMasters/notesMaster1.xml" ContentType="application/vnd.openxmlformats-officedocument.presentationml.notesMaster+xml"/>
  <ns0:Override PartName="/ppt/c2/ppt/theme/theme1.xml" ContentType="application/vnd.openxmlformats-officedocument.theme+xml"/>
  <ns0:Override PartName="/ppt/c2/ppt/slideLayouts/slideLayout1.xml" ContentType="application/vnd.openxmlformats-officedocument.presentationml.slideLayout+xml"/>
  <ns0:Override PartName="/ppt/c2/ppt/slideLayouts/slideLayout2.xml" ContentType="application/vnd.openxmlformats-officedocument.presentationml.slideLayout+xml"/>
  <ns0:Override PartName="/ppt/c2/ppt/slideLayouts/slideLayout3.xml" ContentType="application/vnd.openxmlformats-officedocument.presentationml.slideLayout+xml"/>
  <ns0:Override PartName="/ppt/c2/ppt/theme/theme2.xml" ContentType="application/vnd.openxmlformats-officedocument.theme+xml"/>
  <ns0:Override PartName="/ppt/c2/ppt/notesSlides/notesSlide5.xml" ContentType="application/vnd.openxmlformats-officedocument.presentationml.notesSlide+xml"/>
  <ns0:Override PartName="/ppt/c2/ppt/notesSlides/notesSlide6.xml" ContentType="application/vnd.openxmlformats-officedocument.presentationml.notesSlide+xml"/>
  <ns0:Override PartName="/ppt/c2/ppt/notesSlides/notesSlide8.xml" ContentType="application/vnd.openxmlformats-officedocument.presentationml.notesSlide+xml"/>
  <ns0:Override PartName="/ppt/c2/ppt/notesSlides/notesSlide9.xml" ContentType="application/vnd.openxmlformats-officedocument.presentationml.notesSlide+xml"/>
  <ns0:Override PartName="/ppt/c2/ppt/notesSlides/notesSlide10.xml" ContentType="application/vnd.openxmlformats-officedocument.presentationml.notesSlide+xml"/>
  <ns0:Override PartName="/ppt/c2/ppt/notesSlides/notesSlide11.xml" ContentType="application/vnd.openxmlformats-officedocument.presentationml.notesSlide+xml"/>
  <ns0:Override PartName="/ppt/c2/ppt/notesSlides/notesSlide12.xml" ContentType="application/vnd.openxmlformats-officedocument.presentationml.notesSlide+xml"/>
  <ns0:Override PartName="/ppt/c2/ppt/notesSlides/notesSlide13.xml" ContentType="application/vnd.openxmlformats-officedocument.presentationml.notesSlide+xml"/>
  <ns0:Override PartName="/ppt/presentation.xml" ContentType="application/vnd.openxmlformats-officedocument.presentationml.presentation.mai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3848" r:id="rId29"/>
  </p:sldMasterIdLst>
  <p:notesMasterIdLst>
    <p:notesMasterId r:id="rId30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9144000" cy="6858000" type="screen4x3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c2/ppt/slides/slide11.xml" /><ns0:Relationship Id="rId2" Type="http://schemas.openxmlformats.org/officeDocument/2006/relationships/slide" Target="c2/ppt/slides/slide12.xml" /><ns0:Relationship Id="rId3" Type="http://schemas.openxmlformats.org/officeDocument/2006/relationships/slide" Target="c2/ppt/slides/slide13.xml" /><ns0:Relationship Id="rId4" Type="http://schemas.openxmlformats.org/officeDocument/2006/relationships/slide" Target="c2/ppt/slides/slide14.xml" /><ns0:Relationship Id="rId5" Type="http://schemas.openxmlformats.org/officeDocument/2006/relationships/slide" Target="c2/ppt/slides/slide15.xml" /><ns0:Relationship Id="rId6" Type="http://schemas.openxmlformats.org/officeDocument/2006/relationships/slide" Target="c2/ppt/slides/slide16.xml" /><ns0:Relationship Id="rId7" Type="http://schemas.openxmlformats.org/officeDocument/2006/relationships/slide" Target="c2/ppt/slides/slide17.xml" /><ns0:Relationship Id="rId8" Type="http://schemas.openxmlformats.org/officeDocument/2006/relationships/slide" Target="c2/ppt/slides/slide18.xml" /><ns0:Relationship Id="rId9" Type="http://schemas.openxmlformats.org/officeDocument/2006/relationships/slide" Target="c2/ppt/slides/slide26.xml" /><ns0:Relationship Id="rId10" Type="http://schemas.openxmlformats.org/officeDocument/2006/relationships/slide" Target="c2/ppt/slides/slide27.xml" /><ns0:Relationship Id="rId11" Type="http://schemas.openxmlformats.org/officeDocument/2006/relationships/slide" Target="c2/ppt/slides/slide28.xml" /><ns0:Relationship Id="rId12" Type="http://schemas.openxmlformats.org/officeDocument/2006/relationships/slide" Target="c2/ppt/slides/slide29.xml" /><ns0:Relationship Id="rId13" Type="http://schemas.openxmlformats.org/officeDocument/2006/relationships/slide" Target="c2/ppt/slides/slide30.xml" /><ns0:Relationship Id="rId14" Type="http://schemas.openxmlformats.org/officeDocument/2006/relationships/slide" Target="c2/ppt/slides/slide31.xml" /><ns0:Relationship Id="rId15" Type="http://schemas.openxmlformats.org/officeDocument/2006/relationships/slide" Target="c2/ppt/slides/slide32.xml" /><ns0:Relationship Id="rId16" Type="http://schemas.openxmlformats.org/officeDocument/2006/relationships/slide" Target="c2/ppt/slides/slide33.xml" /><ns0:Relationship Id="rId17" Type="http://schemas.openxmlformats.org/officeDocument/2006/relationships/slide" Target="c2/ppt/slides/slide34.xml" /><ns0:Relationship Id="rId18" Type="http://schemas.openxmlformats.org/officeDocument/2006/relationships/slide" Target="c2/ppt/slides/slide35.xml" /><ns0:Relationship Id="rId19" Type="http://schemas.openxmlformats.org/officeDocument/2006/relationships/slide" Target="c2/ppt/slides/slide36.xml" /><ns0:Relationship Id="rId20" Type="http://schemas.openxmlformats.org/officeDocument/2006/relationships/slide" Target="c2/ppt/slides/slide37.xml" /><ns0:Relationship Id="rId21" Type="http://schemas.openxmlformats.org/officeDocument/2006/relationships/slide" Target="c2/ppt/slides/slide38.xml" /><ns0:Relationship Id="rId22" Type="http://schemas.openxmlformats.org/officeDocument/2006/relationships/slide" Target="c2/ppt/slides/slide39.xml" /><ns0:Relationship Id="rId23" Type="http://schemas.openxmlformats.org/officeDocument/2006/relationships/slide" Target="c2/ppt/slides/slide40.xml" /><ns0:Relationship Id="rId24" Type="http://schemas.openxmlformats.org/officeDocument/2006/relationships/slide" Target="c2/ppt/slides/slide41.xml" /><ns0:Relationship Id="rId25" Type="http://schemas.openxmlformats.org/officeDocument/2006/relationships/slide" Target="c2/ppt/slides/slide42.xml" /><ns0:Relationship Id="rId26" Type="http://schemas.openxmlformats.org/officeDocument/2006/relationships/slide" Target="c2/ppt/slides/slide43.xml" /><ns0:Relationship Id="rId27" Type="http://schemas.openxmlformats.org/officeDocument/2006/relationships/slide" Target="c2/ppt/slides/slide44.xml" /><ns0:Relationship Id="rId28" Type="http://schemas.openxmlformats.org/officeDocument/2006/relationships/slide" Target="c2/ppt/slides/slide45.xml" /><ns0:Relationship Id="rId29" Type="http://schemas.openxmlformats.org/officeDocument/2006/relationships/slideMaster" Target="c2/ppt/slideMasters/slideMaster1.xml" /><ns0:Relationship Id="rId30" Type="http://schemas.openxmlformats.org/officeDocument/2006/relationships/notesMaster" Target="c2/ppt/notesMasters/notesMaster1.xml" /></ns0:Relationships>
</file>

<file path=ppt/c2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2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16/09/2025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2/ppt/notesSlides/_rels/notesSlide5.xml.rels><?xml version='1.0' encoding='utf-8'?>
<ns0:Relationships xmlns:ns0="http://schemas.openxmlformats.org/package/2006/relationships"><ns0:Relationship Id="rId2" Type="http://schemas.openxmlformats.org/officeDocument/2006/relationships/slide" Target="../slides/slide16.xml" /><ns0:Relationship Id="rId1" Type="http://schemas.openxmlformats.org/officeDocument/2006/relationships/notesMaster" Target="../notesMasters/notesMaster1.xml" /></ns0:Relationships>
</file>

<file path=ppt/c2/ppt/notesSlides/_rels/notesSlide6.xml.rels><?xml version='1.0' encoding='utf-8'?>
<ns0:Relationships xmlns:ns0="http://schemas.openxmlformats.org/package/2006/relationships"><ns0:Relationship Id="rId2" Type="http://schemas.openxmlformats.org/officeDocument/2006/relationships/slide" Target="../slides/slide17.xml" /><ns0:Relationship Id="rId1" Type="http://schemas.openxmlformats.org/officeDocument/2006/relationships/notesMaster" Target="../notesMasters/notesMaster1.xml" /></ns0:Relationships>
</file>

<file path=ppt/c2/ppt/notesSlides/_rels/notesSlide8.xml.rels><?xml version='1.0' encoding='utf-8'?>
<ns0:Relationships xmlns:ns0="http://schemas.openxmlformats.org/package/2006/relationships"><ns0:Relationship Id="rId2" Type="http://schemas.openxmlformats.org/officeDocument/2006/relationships/slide" Target="../slides/slide33.xml" /><ns0:Relationship Id="rId1" Type="http://schemas.openxmlformats.org/officeDocument/2006/relationships/notesMaster" Target="../notesMasters/notesMaster1.xml" /></ns0:Relationships>
</file>

<file path=ppt/c2/ppt/notesSlides/_rels/notesSlide9.xml.rels><?xml version='1.0' encoding='utf-8'?>
<ns0:Relationships xmlns:ns0="http://schemas.openxmlformats.org/package/2006/relationships"><ns0:Relationship Id="rId2" Type="http://schemas.openxmlformats.org/officeDocument/2006/relationships/slide" Target="../slides/slide34.xml" /><ns0:Relationship Id="rId1" Type="http://schemas.openxmlformats.org/officeDocument/2006/relationships/notesMaster" Target="../notesMasters/notesMaster1.xml" /></ns0:Relationships>
</file>

<file path=ppt/c2/ppt/notesSlides/_rels/notesSlide10.xml.rels><?xml version='1.0' encoding='utf-8'?>
<ns0:Relationships xmlns:ns0="http://schemas.openxmlformats.org/package/2006/relationships"><ns0:Relationship Id="rId2" Type="http://schemas.openxmlformats.org/officeDocument/2006/relationships/slide" Target="../slides/slide41.xml" /><ns0:Relationship Id="rId1" Type="http://schemas.openxmlformats.org/officeDocument/2006/relationships/notesMaster" Target="../notesMasters/notesMaster1.xml" /></ns0:Relationships>
</file>

<file path=ppt/c2/ppt/notesSlides/_rels/notesSlide11.xml.rels><?xml version='1.0' encoding='utf-8'?>
<ns0:Relationships xmlns:ns0="http://schemas.openxmlformats.org/package/2006/relationships"><ns0:Relationship Id="rId2" Type="http://schemas.openxmlformats.org/officeDocument/2006/relationships/slide" Target="../slides/slide42.xml" /><ns0:Relationship Id="rId1" Type="http://schemas.openxmlformats.org/officeDocument/2006/relationships/notesMaster" Target="../notesMasters/notesMaster1.xml" /></ns0:Relationships>
</file>

<file path=ppt/c2/ppt/notesSlides/_rels/notesSlide12.xml.rels><?xml version='1.0' encoding='utf-8'?>
<ns0:Relationships xmlns:ns0="http://schemas.openxmlformats.org/package/2006/relationships"><ns0:Relationship Id="rId2" Type="http://schemas.openxmlformats.org/officeDocument/2006/relationships/slide" Target="../slides/slide43.xml" /><ns0:Relationship Id="rId1" Type="http://schemas.openxmlformats.org/officeDocument/2006/relationships/notesMaster" Target="../notesMasters/notesMaster1.xml" /></ns0:Relationships>
</file>

<file path=ppt/c2/ppt/notesSlides/_rels/notesSlide13.xml.rels><?xml version='1.0' encoding='utf-8'?>
<ns0:Relationships xmlns:ns0="http://schemas.openxmlformats.org/package/2006/relationships"><ns0:Relationship Id="rId2" Type="http://schemas.openxmlformats.org/officeDocument/2006/relationships/slide" Target="../slides/slide45.xml" /><ns0:Relationship Id="rId1" Type="http://schemas.openxmlformats.org/officeDocument/2006/relationships/notesMaster" Target="../notesMasters/notesMaster1.xml" /></ns0:Relationships>
</file>

<file path=ppt/c2/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4115490"/>
      </p:ext>
    </p:extLst>
  </p:cSld>
  <p:clrMapOvr>
    <a:masterClrMapping/>
  </p:clrMapOvr>
</p:notes>
</file>

<file path=ppt/c2/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5480457"/>
      </p:ext>
    </p:extLst>
  </p:cSld>
  <p:clrMapOvr>
    <a:masterClrMapping/>
  </p:clrMapOvr>
</p:notes>
</file>

<file path=ppt/c2/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258295"/>
      </p:ext>
    </p:extLst>
  </p:cSld>
  <p:clrMapOvr>
    <a:masterClrMapping/>
  </p:clrMapOvr>
</p:notes>
</file>

<file path=ppt/c2/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3577450"/>
      </p:ext>
    </p:extLst>
  </p:cSld>
  <p:clrMapOvr>
    <a:masterClrMapping/>
  </p:clrMapOvr>
</p:notes>
</file>

<file path=ppt/c2/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6926101"/>
      </p:ext>
    </p:extLst>
  </p:cSld>
  <p:clrMapOvr>
    <a:masterClrMapping/>
  </p:clrMapOvr>
</p:notes>
</file>

<file path=ppt/c2/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0746075"/>
      </p:ext>
    </p:extLst>
  </p:cSld>
  <p:clrMapOvr>
    <a:masterClrMapping/>
  </p:clrMapOvr>
</p:notes>
</file>

<file path=ppt/c2/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7510994"/>
      </p:ext>
    </p:extLst>
  </p:cSld>
  <p:clrMapOvr>
    <a:masterClrMapping/>
  </p:clrMapOvr>
</p:notes>
</file>

<file path=ppt/c2/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1363534"/>
      </p:ext>
    </p:extLst>
  </p:cSld>
  <p:clrMapOvr>
    <a:masterClrMapping/>
  </p:clrMapOvr>
</p:notes>
</file>

<file path=ppt/c2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2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2/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2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2330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93988"/>
            <a:ext cx="7772400" cy="1470025"/>
          </a:xfrm>
        </p:spPr>
        <p:txBody>
          <a:bodyPr>
            <a:noAutofit/>
          </a:bodyPr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2794FB-C7EC-52E2-E5CC-9239F0172DA3}"/>
              </a:ext>
            </a:extLst>
          </p:cNvPr>
          <p:cNvSpPr/>
          <p:nvPr userDrawn="1"/>
        </p:nvSpPr>
        <p:spPr>
          <a:xfrm>
            <a:off x="8428871" y="188640"/>
            <a:ext cx="648072" cy="43204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9371667"/>
      </p:ext>
    </p:extLst>
  </p:cSld>
  <p:clrMapOvr>
    <a:masterClrMapping/>
  </p:clrMapOvr>
</p:sldLayout>
</file>

<file path=ppt/c2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c2/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c2/ppt/slideMasters/_rels/slideMaster1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ns0:Relationship Id="rId4" Type="http://schemas.openxmlformats.org/officeDocument/2006/relationships/theme" Target="../theme/theme1.xml" /></ns0:Relationships>
</file>

<file path=ppt/c2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796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16/09/2025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341FCD68-8B6E-A7C5-AF86-F245AC0086A7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9144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0100" r:id="rId1"/>
    <p:sldLayoutId id="2147500101" r:id="rId2"/>
    <p:sldLayoutId id="2147500102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2/ppt/slides/_rels/slide11.xml.rels><?xml version='1.0' encoding='utf-8'?>
<ns0:Relationships xmlns:ns0="http://schemas.openxmlformats.org/package/2006/relationships"><ns0:Relationship Id="rId3" Type="http://schemas.openxmlformats.org/officeDocument/2006/relationships/image" Target="../media/image350.png" /><ns0:Relationship Id="rId2" Type="http://schemas.openxmlformats.org/officeDocument/2006/relationships/image" Target="../media/image340.png" /><ns0:Relationship Id="rId1" Type="http://schemas.openxmlformats.org/officeDocument/2006/relationships/slideLayout" Target="../slideLayouts/slideLayout3.xml" /><ns0:Relationship Id="rId5" Type="http://schemas.openxmlformats.org/officeDocument/2006/relationships/image" Target="../media/image370.png" /><ns0:Relationship Id="rId4" Type="http://schemas.openxmlformats.org/officeDocument/2006/relationships/image" Target="../media/image360.png" /></ns0:Relationships>
</file>

<file path=ppt/c2/ppt/slides/_rels/slide12.xml.rels><?xml version='1.0' encoding='utf-8'?>
<ns0:Relationships xmlns:ns0="http://schemas.openxmlformats.org/package/2006/relationships"><ns0:Relationship Id="rId3" Type="http://schemas.openxmlformats.org/officeDocument/2006/relationships/image" Target="../media/image390.png" /><ns0:Relationship Id="rId7" Type="http://schemas.openxmlformats.org/officeDocument/2006/relationships/image" Target="../media/image43.png" /><ns0:Relationship Id="rId2" Type="http://schemas.openxmlformats.org/officeDocument/2006/relationships/image" Target="../media/image380.png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420.png" /><ns0:Relationship Id="rId5" Type="http://schemas.openxmlformats.org/officeDocument/2006/relationships/image" Target="../media/image411.png" /><ns0:Relationship Id="rId4" Type="http://schemas.openxmlformats.org/officeDocument/2006/relationships/image" Target="../media/image400.png" /></ns0:Relationships>
</file>

<file path=ppt/c2/ppt/slides/_rels/slide13.xml.rels><?xml version='1.0' encoding='utf-8'?>
<ns0:Relationships xmlns:ns0="http://schemas.openxmlformats.org/package/2006/relationships"><ns0:Relationship Id="rId3" Type="http://schemas.openxmlformats.org/officeDocument/2006/relationships/image" Target="../media/image45.png" /><ns0:Relationship Id="rId7" Type="http://schemas.openxmlformats.org/officeDocument/2006/relationships/image" Target="../media/image49.png" /><ns0:Relationship Id="rId2" Type="http://schemas.openxmlformats.org/officeDocument/2006/relationships/image" Target="../media/image44.png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48.png" /><ns0:Relationship Id="rId5" Type="http://schemas.openxmlformats.org/officeDocument/2006/relationships/image" Target="../media/image47.png" /><ns0:Relationship Id="rId4" Type="http://schemas.openxmlformats.org/officeDocument/2006/relationships/image" Target="../media/image46.png" /></ns0:Relationships>
</file>

<file path=ppt/c2/ppt/slides/_rels/slide14.xml.rels><?xml version='1.0' encoding='utf-8'?>
<ns0:Relationships xmlns:ns0="http://schemas.openxmlformats.org/package/2006/relationships"><ns0:Relationship Id="rId3" Type="http://schemas.openxmlformats.org/officeDocument/2006/relationships/image" Target="../media/image51.png" /><ns0:Relationship Id="rId2" Type="http://schemas.openxmlformats.org/officeDocument/2006/relationships/image" Target="../media/image50.png" /><ns0:Relationship Id="rId1" Type="http://schemas.openxmlformats.org/officeDocument/2006/relationships/slideLayout" Target="../slideLayouts/slideLayout3.xml" /><ns0:Relationship Id="rId5" Type="http://schemas.openxmlformats.org/officeDocument/2006/relationships/image" Target="../media/image53.png" /><ns0:Relationship Id="rId4" Type="http://schemas.openxmlformats.org/officeDocument/2006/relationships/image" Target="../media/image52.png" /></ns0:Relationships>
</file>

<file path=ppt/c2/ppt/slides/_rels/slide15.xml.rels><?xml version='1.0' encoding='utf-8'?>
<ns0:Relationships xmlns:ns0="http://schemas.openxmlformats.org/package/2006/relationships"><ns0:Relationship Id="rId3" Type="http://schemas.openxmlformats.org/officeDocument/2006/relationships/image" Target="../media/image55.png" /><ns0:Relationship Id="rId2" Type="http://schemas.openxmlformats.org/officeDocument/2006/relationships/image" Target="../media/image54.png" /><ns0:Relationship Id="rId1" Type="http://schemas.openxmlformats.org/officeDocument/2006/relationships/slideLayout" Target="../slideLayouts/slideLayout3.xml" /><ns0:Relationship Id="rId4" Type="http://schemas.openxmlformats.org/officeDocument/2006/relationships/image" Target="../media/image611.png" /></ns0:Relationships>
</file>

<file path=ppt/c2/ppt/slides/_rels/slide16.xml.rels><?xml version='1.0' encoding='utf-8'?>
<ns0:Relationships xmlns:ns0="http://schemas.openxmlformats.org/package/2006/relationships"><ns0:Relationship Id="rId8" Type="http://schemas.openxmlformats.org/officeDocument/2006/relationships/image" Target="../media/image61.png" /><ns0:Relationship Id="rId13" Type="http://schemas.openxmlformats.org/officeDocument/2006/relationships/image" Target="../media/image66.png" /><ns0:Relationship Id="rId3" Type="http://schemas.openxmlformats.org/officeDocument/2006/relationships/image" Target="../media/image56.png" /><ns0:Relationship Id="rId7" Type="http://schemas.openxmlformats.org/officeDocument/2006/relationships/image" Target="../media/image60.png" /><ns0:Relationship Id="rId12" Type="http://schemas.openxmlformats.org/officeDocument/2006/relationships/image" Target="../media/image65.png" /><ns0:Relationship Id="rId2" Type="http://schemas.openxmlformats.org/officeDocument/2006/relationships/notesSlide" Target="../notesSlides/notesSlide5.xml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59.png" /><ns0:Relationship Id="rId11" Type="http://schemas.openxmlformats.org/officeDocument/2006/relationships/image" Target="../media/image64.png" /><ns0:Relationship Id="rId5" Type="http://schemas.openxmlformats.org/officeDocument/2006/relationships/image" Target="../media/image58.png" /><ns0:Relationship Id="rId10" Type="http://schemas.openxmlformats.org/officeDocument/2006/relationships/image" Target="../media/image63.png" /><ns0:Relationship Id="rId4" Type="http://schemas.openxmlformats.org/officeDocument/2006/relationships/image" Target="../media/image57.png" /><ns0:Relationship Id="rId9" Type="http://schemas.openxmlformats.org/officeDocument/2006/relationships/image" Target="../media/image62.png" /></ns0:Relationships>
</file>

<file path=ppt/c2/ppt/slides/_rels/slide17.xml.rels><?xml version='1.0' encoding='utf-8'?>
<ns0:Relationships xmlns:ns0="http://schemas.openxmlformats.org/package/2006/relationships"><ns0:Relationship Id="rId8" Type="http://schemas.openxmlformats.org/officeDocument/2006/relationships/image" Target="../media/image71.png" /><ns0:Relationship Id="rId7" Type="http://schemas.openxmlformats.org/officeDocument/2006/relationships/image" Target="../media/image70.png" /><ns0:Relationship Id="rId2" Type="http://schemas.openxmlformats.org/officeDocument/2006/relationships/notesSlide" Target="../notesSlides/notesSlide6.xml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69.png" /><ns0:Relationship Id="rId5" Type="http://schemas.openxmlformats.org/officeDocument/2006/relationships/image" Target="../media/image68.png" /><ns0:Relationship Id="rId4" Type="http://schemas.openxmlformats.org/officeDocument/2006/relationships/image" Target="../media/image67.png" /><ns0:Relationship Id="rId9" Type="http://schemas.openxmlformats.org/officeDocument/2006/relationships/image" Target="../media/image72.png" /></ns0:Relationships>
</file>

<file path=ppt/c2/ppt/slides/_rels/slide18.xml.rels><?xml version='1.0' encoding='utf-8'?>
<ns0:Relationships xmlns:ns0="http://schemas.openxmlformats.org/package/2006/relationships"><ns0:Relationship Id="rId3" Type="http://schemas.openxmlformats.org/officeDocument/2006/relationships/image" Target="../media/image580.png" /><ns0:Relationship Id="rId2" Type="http://schemas.openxmlformats.org/officeDocument/2006/relationships/image" Target="../media/image570.png" /><ns0:Relationship Id="rId1" Type="http://schemas.openxmlformats.org/officeDocument/2006/relationships/slideLayout" Target="../slideLayouts/slideLayout3.xml" /></ns0:Relationships>
</file>

<file path=ppt/c2/ppt/slides/_rels/slide26.xml.rels><?xml version='1.0' encoding='utf-8'?>
<ns0:Relationships xmlns:ns0="http://schemas.openxmlformats.org/package/2006/relationships"><ns0:Relationship Id="rId3" Type="http://schemas.openxmlformats.org/officeDocument/2006/relationships/image" Target="../media/image900.png" /><ns0:Relationship Id="rId2" Type="http://schemas.openxmlformats.org/officeDocument/2006/relationships/image" Target="../media/image890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930.png" /><ns0:Relationship Id="rId5" Type="http://schemas.openxmlformats.org/officeDocument/2006/relationships/image" Target="../media/image920.png" /><ns0:Relationship Id="rId4" Type="http://schemas.openxmlformats.org/officeDocument/2006/relationships/image" Target="../media/image911.png" /></ns0:Relationships>
</file>

<file path=ppt/c2/ppt/slides/_rels/slide27.xml.rels><?xml version='1.0' encoding='utf-8'?>
<ns0:Relationships xmlns:ns0="http://schemas.openxmlformats.org/package/2006/relationships"><ns0:Relationship Id="rId8" Type="http://schemas.openxmlformats.org/officeDocument/2006/relationships/image" Target="../media/image100.png" /><ns0:Relationship Id="rId3" Type="http://schemas.openxmlformats.org/officeDocument/2006/relationships/image" Target="../media/image950.png" /><ns0:Relationship Id="rId7" Type="http://schemas.openxmlformats.org/officeDocument/2006/relationships/image" Target="../media/image99.png" /><ns0:Relationship Id="rId2" Type="http://schemas.openxmlformats.org/officeDocument/2006/relationships/image" Target="../media/image940.png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98.png" /><ns0:Relationship Id="rId5" Type="http://schemas.openxmlformats.org/officeDocument/2006/relationships/image" Target="../media/image97.png" /><ns0:Relationship Id="rId10" Type="http://schemas.openxmlformats.org/officeDocument/2006/relationships/image" Target="../media/image102.png" /><ns0:Relationship Id="rId4" Type="http://schemas.openxmlformats.org/officeDocument/2006/relationships/image" Target="../media/image960.png" /><ns0:Relationship Id="rId9" Type="http://schemas.openxmlformats.org/officeDocument/2006/relationships/image" Target="../media/image101.png" /></ns0:Relationships>
</file>

<file path=ppt/c2/ppt/slides/_rels/slide28.xml.rels><?xml version='1.0' encoding='utf-8'?>
<ns0:Relationships xmlns:ns0="http://schemas.openxmlformats.org/package/2006/relationships"><ns0:Relationship Id="rId8" Type="http://schemas.openxmlformats.org/officeDocument/2006/relationships/image" Target="../media/image108.png" /><ns0:Relationship Id="rId3" Type="http://schemas.openxmlformats.org/officeDocument/2006/relationships/image" Target="../media/image104.png" /><ns0:Relationship Id="rId7" Type="http://schemas.openxmlformats.org/officeDocument/2006/relationships/image" Target="../media/image101.png" /><ns0:Relationship Id="rId2" Type="http://schemas.openxmlformats.org/officeDocument/2006/relationships/image" Target="../media/image103.png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107.png" /><ns0:Relationship Id="rId5" Type="http://schemas.openxmlformats.org/officeDocument/2006/relationships/image" Target="../media/image106.png" /><ns0:Relationship Id="rId10" Type="http://schemas.openxmlformats.org/officeDocument/2006/relationships/image" Target="../media/image110.png" /><ns0:Relationship Id="rId4" Type="http://schemas.openxmlformats.org/officeDocument/2006/relationships/image" Target="../media/image105.png" /><ns0:Relationship Id="rId9" Type="http://schemas.openxmlformats.org/officeDocument/2006/relationships/image" Target="../media/image109.png" /></ns0:Relationships>
</file>

<file path=ppt/c2/ppt/slides/_rels/slide29.xml.rels><?xml version='1.0' encoding='utf-8'?>
<ns0:Relationships xmlns:ns0="http://schemas.openxmlformats.org/package/2006/relationships"><ns0:Relationship Id="rId8" Type="http://schemas.openxmlformats.org/officeDocument/2006/relationships/image" Target="../media/image117.png" /><ns0:Relationship Id="rId13" Type="http://schemas.openxmlformats.org/officeDocument/2006/relationships/image" Target="../media/image122.png" /><ns0:Relationship Id="rId18" Type="http://schemas.openxmlformats.org/officeDocument/2006/relationships/image" Target="../media/image127.png" /><ns0:Relationship Id="rId3" Type="http://schemas.openxmlformats.org/officeDocument/2006/relationships/image" Target="../media/image112.png" /><ns0:Relationship Id="rId7" Type="http://schemas.openxmlformats.org/officeDocument/2006/relationships/image" Target="../media/image116.png" /><ns0:Relationship Id="rId12" Type="http://schemas.openxmlformats.org/officeDocument/2006/relationships/image" Target="../media/image121.png" /><ns0:Relationship Id="rId17" Type="http://schemas.openxmlformats.org/officeDocument/2006/relationships/image" Target="../media/image126.png" /><ns0:Relationship Id="rId2" Type="http://schemas.openxmlformats.org/officeDocument/2006/relationships/image" Target="../media/image111.png" /><ns0:Relationship Id="rId16" Type="http://schemas.openxmlformats.org/officeDocument/2006/relationships/image" Target="../media/image125.png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115.png" /><ns0:Relationship Id="rId11" Type="http://schemas.openxmlformats.org/officeDocument/2006/relationships/image" Target="../media/image120.png" /><ns0:Relationship Id="rId5" Type="http://schemas.openxmlformats.org/officeDocument/2006/relationships/image" Target="../media/image114.png" /><ns0:Relationship Id="rId15" Type="http://schemas.openxmlformats.org/officeDocument/2006/relationships/image" Target="../media/image124.png" /><ns0:Relationship Id="rId10" Type="http://schemas.openxmlformats.org/officeDocument/2006/relationships/image" Target="../media/image119.png" /><ns0:Relationship Id="rId19" Type="http://schemas.openxmlformats.org/officeDocument/2006/relationships/image" Target="../media/image128.png" /><ns0:Relationship Id="rId4" Type="http://schemas.openxmlformats.org/officeDocument/2006/relationships/image" Target="../media/image113.png" /><ns0:Relationship Id="rId9" Type="http://schemas.openxmlformats.org/officeDocument/2006/relationships/image" Target="../media/image118.png" /><ns0:Relationship Id="rId14" Type="http://schemas.openxmlformats.org/officeDocument/2006/relationships/image" Target="../media/image123.png" /></ns0:Relationships>
</file>

<file path=ppt/c2/ppt/slides/_rels/slide30.xml.rels><?xml version='1.0' encoding='utf-8'?>
<ns0:Relationships xmlns:ns0="http://schemas.openxmlformats.org/package/2006/relationships"><ns0:Relationship Id="rId3" Type="http://schemas.openxmlformats.org/officeDocument/2006/relationships/image" Target="../media/image130.png" /><ns0:Relationship Id="rId2" Type="http://schemas.openxmlformats.org/officeDocument/2006/relationships/image" Target="../media/image129.png" /><ns0:Relationship Id="rId1" Type="http://schemas.openxmlformats.org/officeDocument/2006/relationships/slideLayout" Target="../slideLayouts/slideLayout3.xml" /><ns0:Relationship Id="rId5" Type="http://schemas.openxmlformats.org/officeDocument/2006/relationships/image" Target="../media/image132.png" /><ns0:Relationship Id="rId4" Type="http://schemas.openxmlformats.org/officeDocument/2006/relationships/image" Target="../media/image131.png" /></ns0:Relationships>
</file>

<file path=ppt/c2/ppt/slides/_rels/slide31.xml.rels><?xml version='1.0' encoding='utf-8'?>
<ns0:Relationships xmlns:ns0="http://schemas.openxmlformats.org/package/2006/relationships"><ns0:Relationship Id="rId3" Type="http://schemas.openxmlformats.org/officeDocument/2006/relationships/image" Target="../media/image130.png" /><ns0:Relationship Id="rId2" Type="http://schemas.openxmlformats.org/officeDocument/2006/relationships/image" Target="../media/image129.png" /><ns0:Relationship Id="rId1" Type="http://schemas.openxmlformats.org/officeDocument/2006/relationships/slideLayout" Target="../slideLayouts/slideLayout3.xml" /><ns0:Relationship Id="rId5" Type="http://schemas.openxmlformats.org/officeDocument/2006/relationships/image" Target="../media/image134.png" /><ns0:Relationship Id="rId4" Type="http://schemas.openxmlformats.org/officeDocument/2006/relationships/image" Target="../media/image133.png" /></ns0:Relationships>
</file>

<file path=ppt/c2/ppt/slides/_rels/slide32.xml.rels><?xml version='1.0' encoding='utf-8'?>
<ns0:Relationships xmlns:ns0="http://schemas.openxmlformats.org/package/2006/relationships"><ns0:Relationship Id="rId3" Type="http://schemas.openxmlformats.org/officeDocument/2006/relationships/image" Target="../media/image130.png" /><ns0:Relationship Id="rId2" Type="http://schemas.openxmlformats.org/officeDocument/2006/relationships/image" Target="../media/image129.png" /><ns0:Relationship Id="rId1" Type="http://schemas.openxmlformats.org/officeDocument/2006/relationships/slideLayout" Target="../slideLayouts/slideLayout3.xml" /><ns0:Relationship Id="rId4" Type="http://schemas.openxmlformats.org/officeDocument/2006/relationships/image" Target="../media/image135.png" /></ns0:Relationships>
</file>

<file path=ppt/c2/ppt/slides/_rels/slide33.xml.rels><?xml version='1.0' encoding='utf-8'?>
<ns0:Relationships xmlns:ns0="http://schemas.openxmlformats.org/package/2006/relationships"><ns0:Relationship Id="rId3" Type="http://schemas.openxmlformats.org/officeDocument/2006/relationships/image" Target="../media/image136.png" /><ns0:Relationship Id="rId2" Type="http://schemas.openxmlformats.org/officeDocument/2006/relationships/notesSlide" Target="../notesSlides/notesSlide8.xml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139.png" /><ns0:Relationship Id="rId5" Type="http://schemas.openxmlformats.org/officeDocument/2006/relationships/image" Target="../media/image138.png" /><ns0:Relationship Id="rId4" Type="http://schemas.openxmlformats.org/officeDocument/2006/relationships/image" Target="../media/image137.png" /></ns0:Relationships>
</file>

<file path=ppt/c2/ppt/slides/_rels/slide34.xml.rels><?xml version='1.0' encoding='utf-8'?>
<ns0:Relationships xmlns:ns0="http://schemas.openxmlformats.org/package/2006/relationships"><ns0:Relationship Id="rId3" Type="http://schemas.openxmlformats.org/officeDocument/2006/relationships/image" Target="../media/image1290.png" /><ns0:Relationship Id="rId7" Type="http://schemas.openxmlformats.org/officeDocument/2006/relationships/image" Target="../media/image140.png" /><ns0:Relationship Id="rId2" Type="http://schemas.openxmlformats.org/officeDocument/2006/relationships/notesSlide" Target="../notesSlides/notesSlide9.xml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1320.png" /><ns0:Relationship Id="rId5" Type="http://schemas.openxmlformats.org/officeDocument/2006/relationships/image" Target="../media/image1310.png" /><ns0:Relationship Id="rId4" Type="http://schemas.openxmlformats.org/officeDocument/2006/relationships/image" Target="../media/image1300.png" /></ns0:Relationships>
</file>

<file path=ppt/c2/ppt/slides/_rels/slide35.xml.rels><?xml version='1.0' encoding='utf-8'?>
<ns0:Relationships xmlns:ns0="http://schemas.openxmlformats.org/package/2006/relationships"><ns0:Relationship Id="rId2" Type="http://schemas.openxmlformats.org/officeDocument/2006/relationships/image" Target="../media/image1330.png" /><ns0:Relationship Id="rId1" Type="http://schemas.openxmlformats.org/officeDocument/2006/relationships/slideLayout" Target="../slideLayouts/slideLayout3.xml" /></ns0:Relationships>
</file>

<file path=ppt/c2/ppt/slides/_rels/slide36.xml.rels><?xml version='1.0' encoding='utf-8'?>
<ns0:Relationships xmlns:ns0="http://schemas.openxmlformats.org/package/2006/relationships"><ns0:Relationship Id="rId3" Type="http://schemas.openxmlformats.org/officeDocument/2006/relationships/image" Target="../media/image1350.png" /><ns0:Relationship Id="rId2" Type="http://schemas.openxmlformats.org/officeDocument/2006/relationships/image" Target="../media/image1340.png" /><ns0:Relationship Id="rId1" Type="http://schemas.openxmlformats.org/officeDocument/2006/relationships/slideLayout" Target="../slideLayouts/slideLayout3.xml" /><ns0:Relationship Id="rId5" Type="http://schemas.openxmlformats.org/officeDocument/2006/relationships/image" Target="../media/image712.png" /><ns0:Relationship Id="rId4" Type="http://schemas.openxmlformats.org/officeDocument/2006/relationships/image" Target="../media/image1360.png" /></ns0:Relationships>
</file>

<file path=ppt/c2/ppt/slides/_rels/slide37.xml.rels><?xml version='1.0' encoding='utf-8'?>
<ns0:Relationships xmlns:ns0="http://schemas.openxmlformats.org/package/2006/relationships"><ns0:Relationship Id="rId8" Type="http://schemas.openxmlformats.org/officeDocument/2006/relationships/image" Target="../media/image144.png" /><ns0:Relationship Id="rId3" Type="http://schemas.openxmlformats.org/officeDocument/2006/relationships/image" Target="../media/image1390.png" /><ns0:Relationship Id="rId7" Type="http://schemas.openxmlformats.org/officeDocument/2006/relationships/image" Target="../media/image143.png" /><ns0:Relationship Id="rId2" Type="http://schemas.openxmlformats.org/officeDocument/2006/relationships/image" Target="../media/image1380.png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142.png" /><ns0:Relationship Id="rId5" Type="http://schemas.openxmlformats.org/officeDocument/2006/relationships/image" Target="../media/image141.png" /><ns0:Relationship Id="rId10" Type="http://schemas.openxmlformats.org/officeDocument/2006/relationships/image" Target="../media/image146.png" /><ns0:Relationship Id="rId4" Type="http://schemas.openxmlformats.org/officeDocument/2006/relationships/image" Target="../media/image1400.png" /><ns0:Relationship Id="rId9" Type="http://schemas.openxmlformats.org/officeDocument/2006/relationships/image" Target="../media/image145.png" /></ns0:Relationships>
</file>

<file path=ppt/c2/ppt/slides/_rels/slide38.xml.rels><?xml version='1.0' encoding='utf-8'?>
<ns0:Relationships xmlns:ns0="http://schemas.openxmlformats.org/package/2006/relationships"><ns0:Relationship Id="rId8" Type="http://schemas.openxmlformats.org/officeDocument/2006/relationships/image" Target="../media/image152.png" /><ns0:Relationship Id="rId3" Type="http://schemas.openxmlformats.org/officeDocument/2006/relationships/image" Target="../media/image147.png" /><ns0:Relationship Id="rId7" Type="http://schemas.openxmlformats.org/officeDocument/2006/relationships/image" Target="../media/image151.png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150.png" /><ns0:Relationship Id="rId5" Type="http://schemas.openxmlformats.org/officeDocument/2006/relationships/image" Target="../media/image149.png" /><ns0:Relationship Id="rId10" Type="http://schemas.openxmlformats.org/officeDocument/2006/relationships/image" Target="../media/image154.png" /><ns0:Relationship Id="rId4" Type="http://schemas.openxmlformats.org/officeDocument/2006/relationships/image" Target="../media/image148.png" /><ns0:Relationship Id="rId9" Type="http://schemas.openxmlformats.org/officeDocument/2006/relationships/image" Target="../media/image153.png" /></ns0:Relationships>
</file>

<file path=ppt/c2/ppt/slides/_rels/slide3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3.xml" /></ns0:Relationships>
</file>

<file path=ppt/c2/ppt/slides/_rels/slide40.xml.rels><?xml version='1.0' encoding='utf-8'?>
<ns0:Relationships xmlns:ns0="http://schemas.openxmlformats.org/package/2006/relationships"><ns0:Relationship Id="rId2" Type="http://schemas.openxmlformats.org/officeDocument/2006/relationships/image" Target="../media/image155.png" /><ns0:Relationship Id="rId1" Type="http://schemas.openxmlformats.org/officeDocument/2006/relationships/slideLayout" Target="../slideLayouts/slideLayout3.xml" /><ns0:Relationship Id="rId5" Type="http://schemas.openxmlformats.org/officeDocument/2006/relationships/image" Target="../media/image1010.png" /></ns0:Relationships>
</file>

<file path=ppt/c2/ppt/slides/_rels/slide41.xml.rels><?xml version='1.0' encoding='utf-8'?>
<ns0:Relationships xmlns:ns0="http://schemas.openxmlformats.org/package/2006/relationships"><ns0:Relationship Id="rId3" Type="http://schemas.openxmlformats.org/officeDocument/2006/relationships/image" Target="../media/image156.png" /><ns0:Relationship Id="rId2" Type="http://schemas.openxmlformats.org/officeDocument/2006/relationships/notesSlide" Target="../notesSlides/notesSlide10.xml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159.png" /><ns0:Relationship Id="rId5" Type="http://schemas.openxmlformats.org/officeDocument/2006/relationships/image" Target="../media/image158.png" /><ns0:Relationship Id="rId4" Type="http://schemas.openxmlformats.org/officeDocument/2006/relationships/image" Target="../media/image157.png" /></ns0:Relationships>
</file>

<file path=ppt/c2/ppt/slides/_rels/slide42.xml.rels><?xml version='1.0' encoding='utf-8'?>
<ns0:Relationships xmlns:ns0="http://schemas.openxmlformats.org/package/2006/relationships"><ns0:Relationship Id="rId3" Type="http://schemas.openxmlformats.org/officeDocument/2006/relationships/image" Target="../media/image160.png" /><ns0:Relationship Id="rId2" Type="http://schemas.openxmlformats.org/officeDocument/2006/relationships/notesSlide" Target="../notesSlides/notesSlide11.xml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163.png" /><ns0:Relationship Id="rId5" Type="http://schemas.openxmlformats.org/officeDocument/2006/relationships/image" Target="../media/image162.png" /><ns0:Relationship Id="rId4" Type="http://schemas.openxmlformats.org/officeDocument/2006/relationships/image" Target="../media/image161.png" /></ns0:Relationships>
</file>

<file path=ppt/c2/ppt/slides/_rels/slide43.xml.rels><?xml version='1.0' encoding='utf-8'?>
<ns0:Relationships xmlns:ns0="http://schemas.openxmlformats.org/package/2006/relationships"><ns0:Relationship Id="rId8" Type="http://schemas.openxmlformats.org/officeDocument/2006/relationships/image" Target="../media/image169.png" /><ns0:Relationship Id="rId3" Type="http://schemas.openxmlformats.org/officeDocument/2006/relationships/image" Target="../media/image164.png" /><ns0:Relationship Id="rId7" Type="http://schemas.openxmlformats.org/officeDocument/2006/relationships/image" Target="../media/image168.png" /><ns0:Relationship Id="rId2" Type="http://schemas.openxmlformats.org/officeDocument/2006/relationships/notesSlide" Target="../notesSlides/notesSlide12.xml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167.png" /><ns0:Relationship Id="rId5" Type="http://schemas.openxmlformats.org/officeDocument/2006/relationships/image" Target="../media/image166.png" /><ns0:Relationship Id="rId4" Type="http://schemas.openxmlformats.org/officeDocument/2006/relationships/image" Target="../media/image165.png" /></ns0:Relationships>
</file>

<file path=ppt/c2/ppt/slides/_rels/slide44.xml.rels><?xml version='1.0' encoding='utf-8'?>
<ns0:Relationships xmlns:ns0="http://schemas.openxmlformats.org/package/2006/relationships"><ns0:Relationship Id="rId3" Type="http://schemas.openxmlformats.org/officeDocument/2006/relationships/image" Target="../media/image1560.png" /><ns0:Relationship Id="rId2" Type="http://schemas.openxmlformats.org/officeDocument/2006/relationships/image" Target="../media/image170.png" /><ns0:Relationship Id="rId1" Type="http://schemas.openxmlformats.org/officeDocument/2006/relationships/slideLayout" Target="../slideLayouts/slideLayout3.xml" /><ns0:Relationship Id="rId5" Type="http://schemas.openxmlformats.org/officeDocument/2006/relationships/image" Target="../media/image1580.png" /><ns0:Relationship Id="rId4" Type="http://schemas.openxmlformats.org/officeDocument/2006/relationships/image" Target="../media/image1570.png" /></ns0:Relationships>
</file>

<file path=ppt/c2/ppt/slides/_rels/slide45.xml.rels><?xml version='1.0' encoding='utf-8'?>
<ns0:Relationships xmlns:ns0="http://schemas.openxmlformats.org/package/2006/relationships"><ns0:Relationship Id="rId3" Type="http://schemas.openxmlformats.org/officeDocument/2006/relationships/image" Target="../media/image1590.png" /><ns0:Relationship Id="rId2" Type="http://schemas.openxmlformats.org/officeDocument/2006/relationships/notesSlide" Target="../notesSlides/notesSlide13.xml" /><ns0:Relationship Id="rId1" Type="http://schemas.openxmlformats.org/officeDocument/2006/relationships/slideLayout" Target="../slideLayouts/slideLayout3.xml" /><ns0:Relationship Id="rId5" Type="http://schemas.openxmlformats.org/officeDocument/2006/relationships/image" Target="../media/image1610.png" /><ns0:Relationship Id="rId4" Type="http://schemas.openxmlformats.org/officeDocument/2006/relationships/image" Target="../media/image1600.png" /></ns0:Relationships>
</file>

<file path=ppt/c2/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2: Completing the Square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755576" y="908720"/>
                <a:ext cx="7776864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“Completing the square” means putting a quadratic in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GB" dirty="0"/>
              </a:p>
              <a:p>
                <a:r>
                  <a:rPr lang="en-GB" dirty="0"/>
                  <a:t>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The </a:t>
                </a:r>
                <a:r>
                  <a:rPr lang="en-GB" b="1" dirty="0"/>
                  <a:t>underlying reason we do this is because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dirty="0"/>
                  <a:t> only appears once in the expression</a:t>
                </a:r>
                <a:r>
                  <a:rPr lang="en-GB" dirty="0"/>
                  <a:t> (e.g.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n-GB" dirty="0"/>
                  <a:t> vs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+7</m:t>
                    </m:r>
                  </m:oMath>
                </a14:m>
                <a:r>
                  <a:rPr lang="en-GB" dirty="0"/>
                  <a:t>), which makes it algebraically easier to handle. This has a number of consequences:</a:t>
                </a: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908720"/>
                <a:ext cx="7776864" cy="1754326"/>
              </a:xfrm>
              <a:prstGeom prst="rect">
                <a:avLst/>
              </a:prstGeom>
              <a:blipFill>
                <a:blip r:embed="rId2"/>
                <a:stretch>
                  <a:fillRect l="-705" t="-1736" b="-45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755576" y="3006423"/>
            <a:ext cx="3618765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a. Solving Quadratics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755576" y="3573016"/>
                <a:ext cx="3456384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If we have a completed square: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−7=0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we saw at the start of the chapter how we could rearrange to make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the subject. </a:t>
                </a:r>
              </a:p>
              <a:p>
                <a:r>
                  <a:rPr lang="en-GB" dirty="0"/>
                  <a:t>Indeed using the quadratic formula is actually solving the quadratic by completing the square – it’s just someone has done the work for us already!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3573016"/>
                <a:ext cx="3456384" cy="2862322"/>
              </a:xfrm>
              <a:prstGeom prst="rect">
                <a:avLst/>
              </a:prstGeom>
              <a:blipFill>
                <a:blip r:embed="rId3"/>
                <a:stretch>
                  <a:fillRect l="-1587" t="-1064" r="-2822" b="-23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4894788" y="3006423"/>
            <a:ext cx="3618765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b. Sketching Quadratics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4788024" y="3573016"/>
                <a:ext cx="424340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We’ll see later that 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, then the minimum point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24" y="3573016"/>
                <a:ext cx="4243401" cy="646331"/>
              </a:xfrm>
              <a:prstGeom prst="rect">
                <a:avLst/>
              </a:prstGeom>
              <a:blipFill>
                <a:blip r:embed="rId4"/>
                <a:stretch>
                  <a:fillRect l="-1148" t="-471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4894787" y="4503756"/>
            <a:ext cx="3618765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c. In integration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4788024" y="4988035"/>
                <a:ext cx="4355976" cy="1649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In Further Maths, completing the square allows us to ‘integrate’ expressions like: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+5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(you will cover integration later this module)</a:t>
                </a: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24" y="4988035"/>
                <a:ext cx="4355976" cy="1649875"/>
              </a:xfrm>
              <a:prstGeom prst="rect">
                <a:avLst/>
              </a:prstGeom>
              <a:blipFill>
                <a:blip r:embed="rId5"/>
                <a:stretch>
                  <a:fillRect l="-1119" t="-1845" r="-280" b="-47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1425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/>
      <p:bldP spid="28" grpId="0" animBg="1"/>
      <p:bldP spid="30" grpId="0"/>
      <p:bldP spid="31" grpId="0" animBg="1"/>
      <p:bldP spid="32" grpId="0"/>
    </p:bldLst>
  </p:timing>
</p:sld>
</file>

<file path=ppt/c2/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Completing the Square Recap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724692" y="734549"/>
                <a:ext cx="3240360" cy="3265061"/>
              </a:xfrm>
              <a:prstGeom prst="rect">
                <a:avLst/>
              </a:prstGeom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Textbook Note:</a:t>
                </a:r>
              </a:p>
              <a:p>
                <a:r>
                  <a:rPr lang="en-GB" sz="1600" dirty="0"/>
                  <a:t>The textbook uses the formula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𝑏𝑥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and similarly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𝑏𝑥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My personal judgement is that it’s </a:t>
                </a:r>
                <a:r>
                  <a:rPr lang="en-GB" sz="1600" u="sng" dirty="0"/>
                  <a:t>not</a:t>
                </a:r>
                <a:r>
                  <a:rPr lang="en-GB" sz="1600" dirty="0"/>
                  <a:t> worth memorising these and you should instead think through the steps. Even the textbook agrees!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692" y="734549"/>
                <a:ext cx="3240360" cy="32650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95536" y="980728"/>
                <a:ext cx="4968552" cy="22222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Expand:</a:t>
                </a:r>
                <a:endParaRPr lang="en-GB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𝟗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𝟏𝟖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+81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+25</m:t>
                      </m:r>
                    </m:oMath>
                  </m:oMathPara>
                </a14:m>
                <a:endParaRPr lang="en-GB" i="1" dirty="0"/>
              </a:p>
              <a:p>
                <a:r>
                  <a:rPr lang="en-GB" dirty="0"/>
                  <a:t>What do you notice about the relationship between the bold numbers?</a:t>
                </a:r>
              </a:p>
              <a:p>
                <a:r>
                  <a:rPr lang="en-GB" b="1" dirty="0"/>
                  <a:t>The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b="1" dirty="0"/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GB" b="1" dirty="0"/>
                  <a:t> is half the coefficient of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dirty="0"/>
                  <a:t> in the expansion.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980728"/>
                <a:ext cx="4968552" cy="2222211"/>
              </a:xfrm>
              <a:prstGeom prst="rect">
                <a:avLst/>
              </a:prstGeom>
              <a:blipFill>
                <a:blip r:embed="rId3"/>
                <a:stretch>
                  <a:fillRect l="-1104" t="-1648" r="-982" b="-35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95536" y="3491778"/>
                <a:ext cx="446449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Therefore if we had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+12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, how could we write it in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?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e>
                          </m:d>
                        </m:e>
                        <m:sup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𝟑𝟔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3491778"/>
                <a:ext cx="4464496" cy="1015663"/>
              </a:xfrm>
              <a:prstGeom prst="rect">
                <a:avLst/>
              </a:prstGeom>
              <a:blipFill>
                <a:blip r:embed="rId4"/>
                <a:stretch>
                  <a:fillRect l="-1230" t="-36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379246" y="4135032"/>
                <a:ext cx="3312368" cy="83099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Since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+6</m:t>
                            </m:r>
                          </m:e>
                        </m:d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+12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+36</m:t>
                    </m:r>
                  </m:oMath>
                </a14:m>
                <a:r>
                  <a:rPr lang="en-GB" sz="1600" dirty="0"/>
                  <a:t>, we want to discard the 36, so ‘throw it away’ by subtracting.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246" y="4135032"/>
                <a:ext cx="3312368" cy="830997"/>
              </a:xfrm>
              <a:prstGeom prst="rect">
                <a:avLst/>
              </a:prstGeom>
              <a:blipFill>
                <a:blip r:embed="rId5"/>
                <a:stretch>
                  <a:fillRect l="-547" t="-709" r="-547" b="-63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>
            <a:stCxn id="8" idx="1"/>
          </p:cNvCxnSpPr>
          <p:nvPr/>
        </p:nvCxnSpPr>
        <p:spPr>
          <a:xfrm flipH="1" flipV="1">
            <a:off x="4571428" y="4293096"/>
            <a:ext cx="807818" cy="257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95536" y="4844017"/>
                <a:ext cx="4464496" cy="1871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Further Examples: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+8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</m:d>
                        </m:e>
                        <m:sup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𝟏𝟔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d>
                        </m:e>
                        <m:sup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  <m:oMath xmlns:m="http://schemas.openxmlformats.org/officeDocument/2006/math"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                         =</m:t>
                      </m:r>
                      <m:sSup>
                        <m:sSup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d>
                        </m:e>
                        <m:sup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844017"/>
                <a:ext cx="4464496" cy="1871666"/>
              </a:xfrm>
              <a:prstGeom prst="rect">
                <a:avLst/>
              </a:prstGeom>
              <a:blipFill>
                <a:blip r:embed="rId6"/>
                <a:stretch>
                  <a:fillRect l="-1230" t="-19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394404" y="5236056"/>
                <a:ext cx="3312368" cy="852093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Notice that despite the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dirty="0"/>
                  <a:t> being negative, we still subtract after the bracket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600" dirty="0"/>
                  <a:t> is positive.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4404" y="5236056"/>
                <a:ext cx="3312368" cy="852093"/>
              </a:xfrm>
              <a:prstGeom prst="rect">
                <a:avLst/>
              </a:prstGeom>
              <a:blipFill>
                <a:blip r:embed="rId7"/>
                <a:stretch>
                  <a:fillRect l="-731" t="-694" b="-41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H="1" flipV="1">
            <a:off x="4397829" y="5704114"/>
            <a:ext cx="1106697" cy="15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16375" y="2599062"/>
            <a:ext cx="4924882" cy="7247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27784" y="1267382"/>
            <a:ext cx="2205473" cy="3872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27784" y="1645213"/>
            <a:ext cx="2205473" cy="3872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19990" y="4106656"/>
            <a:ext cx="2122981" cy="5088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57261" y="5152570"/>
            <a:ext cx="2251882" cy="3758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57261" y="5542152"/>
            <a:ext cx="2251882" cy="3758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94934" y="5915809"/>
            <a:ext cx="2251882" cy="8188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63178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 animBg="1"/>
      <p:bldP spid="11" grpId="0"/>
      <p:bldP spid="12" grpId="0" animBg="1"/>
      <p:bldP spid="15" grpId="0" animBg="1"/>
      <p:bldP spid="16" grpId="0" animBg="1"/>
      <p:bldP spid="17" grpId="0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</p:bldLst>
  </p:timing>
</p:sld>
</file>

<file path=ppt/c2/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Completing the Square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53594" y="976309"/>
                <a:ext cx="5616624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Express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+12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+7</m:t>
                    </m:r>
                  </m:oMath>
                </a14:m>
                <a:r>
                  <a:rPr lang="en-GB" sz="2000" dirty="0"/>
                  <a:t> in the form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594" y="976309"/>
                <a:ext cx="5616624" cy="400110"/>
              </a:xfrm>
              <a:prstGeom prst="rect">
                <a:avLst/>
              </a:prstGeom>
              <a:blipFill>
                <a:blip r:embed="rId2"/>
                <a:stretch>
                  <a:fillRect b="-555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95536" y="1556792"/>
                <a:ext cx="4757035" cy="1871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+6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+7</m:t>
                      </m:r>
                    </m:oMath>
                    <m:oMath xmlns:m="http://schemas.openxmlformats.org/officeDocument/2006/math">
                      <m:r>
                        <a:rPr lang="en-GB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+3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−9</m:t>
                          </m:r>
                        </m:e>
                      </m:d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+7</m:t>
                      </m:r>
                    </m:oMath>
                    <m:oMath xmlns:m="http://schemas.openxmlformats.org/officeDocument/2006/math">
                      <m:r>
                        <a:rPr lang="en-GB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e>
                          </m:d>
                        </m:e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−18+7</m:t>
                      </m:r>
                    </m:oMath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e>
                          </m:d>
                        </m:e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−11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556792"/>
                <a:ext cx="4757035" cy="18713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798390" y="1510995"/>
                <a:ext cx="3040810" cy="92333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Factorise out coefficient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. You can leave the constant term outside the bracket.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8390" y="1510995"/>
                <a:ext cx="3040810" cy="923330"/>
              </a:xfrm>
              <a:prstGeom prst="rect">
                <a:avLst/>
              </a:prstGeom>
              <a:blipFill>
                <a:blip r:embed="rId4"/>
                <a:stretch>
                  <a:fillRect l="-1193" t="-2581" r="-2187" b="-83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>
            <a:stCxn id="8" idx="1"/>
          </p:cNvCxnSpPr>
          <p:nvPr/>
        </p:nvCxnSpPr>
        <p:spPr>
          <a:xfrm flipH="1" flipV="1">
            <a:off x="5076056" y="1772816"/>
            <a:ext cx="722334" cy="199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798390" y="2647351"/>
            <a:ext cx="2808312" cy="92333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Complete the square inside the bracket (you should have two sets of brackets)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4833257" y="2307771"/>
            <a:ext cx="965133" cy="754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98390" y="3754845"/>
            <a:ext cx="280831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Expand out outer bracket.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4717143" y="2801257"/>
            <a:ext cx="1081247" cy="11994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390901" y="1506627"/>
            <a:ext cx="3247731" cy="4774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90901" y="2000747"/>
            <a:ext cx="3247731" cy="4774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90901" y="2480003"/>
            <a:ext cx="3247731" cy="418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90901" y="2898435"/>
            <a:ext cx="3247731" cy="5438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453594" y="4373808"/>
                <a:ext cx="6422662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Express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−3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+6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 in the form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594" y="4373808"/>
                <a:ext cx="6422662" cy="400110"/>
              </a:xfrm>
              <a:prstGeom prst="rect">
                <a:avLst/>
              </a:prstGeom>
              <a:blipFill>
                <a:blip r:embed="rId5"/>
                <a:stretch>
                  <a:fillRect b="-555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09959" y="4838765"/>
                <a:ext cx="4757035" cy="19865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=−3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+6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+5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=−3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+5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=−3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+5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=−3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+3+5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=8−3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959" y="4838765"/>
                <a:ext cx="4757035" cy="19865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/>
          <p:cNvSpPr/>
          <p:nvPr/>
        </p:nvSpPr>
        <p:spPr>
          <a:xfrm>
            <a:off x="1521999" y="4848625"/>
            <a:ext cx="3183352" cy="4028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21999" y="5251451"/>
            <a:ext cx="3183352" cy="4028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21999" y="5654277"/>
            <a:ext cx="3183352" cy="3845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21999" y="6035219"/>
            <a:ext cx="3183352" cy="359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21999" y="6399842"/>
            <a:ext cx="3183352" cy="359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5798390" y="5206786"/>
                <a:ext cx="3040810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It may help to write in the form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 first.</a:t>
                </a: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8390" y="5206786"/>
                <a:ext cx="3040810" cy="646331"/>
              </a:xfrm>
              <a:prstGeom prst="rect">
                <a:avLst/>
              </a:prstGeom>
              <a:blipFill>
                <a:blip r:embed="rId7"/>
                <a:stretch>
                  <a:fillRect l="-1193" t="-2727" b="-1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/>
          <p:cNvCxnSpPr/>
          <p:nvPr/>
        </p:nvCxnSpPr>
        <p:spPr>
          <a:xfrm flipH="1" flipV="1">
            <a:off x="4864100" y="5041900"/>
            <a:ext cx="934291" cy="543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721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c2/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53594" y="976309"/>
                <a:ext cx="5616624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Express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−18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r>
                  <a:rPr lang="en-GB" sz="2000" dirty="0"/>
                  <a:t> in the form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594" y="976309"/>
                <a:ext cx="5616624" cy="400110"/>
              </a:xfrm>
              <a:prstGeom prst="rect">
                <a:avLst/>
              </a:prstGeom>
              <a:blipFill>
                <a:blip r:embed="rId2"/>
                <a:stretch>
                  <a:fillRect b="-555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75656" y="1544092"/>
                <a:ext cx="3888432" cy="1617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=3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−6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+4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=3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−9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+4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−27+4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−23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1544092"/>
                <a:ext cx="3888432" cy="16171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71230" y="3573016"/>
                <a:ext cx="5616624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Express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−5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n-GB" sz="2000" dirty="0"/>
                  <a:t> in the form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230" y="3573016"/>
                <a:ext cx="5616624" cy="400110"/>
              </a:xfrm>
              <a:prstGeom prst="rect">
                <a:avLst/>
              </a:prstGeom>
              <a:blipFill>
                <a:blip r:embed="rId4"/>
                <a:stretch>
                  <a:fillRect b="-555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560364" y="4219776"/>
                <a:ext cx="3888432" cy="19865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=−5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+20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=−5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=−5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=−5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+20+3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=23−5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364" y="4219776"/>
                <a:ext cx="3888432" cy="19865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2258599" y="1584724"/>
            <a:ext cx="3138901" cy="1615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58599" y="4219776"/>
            <a:ext cx="3138901" cy="20895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7006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c2/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Solving by Completing the Square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39552" y="970182"/>
                <a:ext cx="5616624" cy="70788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the equation: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−18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+4=0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970182"/>
                <a:ext cx="561662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921172" y="1831662"/>
                <a:ext cx="3888432" cy="4353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−9+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−3=±</m:t>
                      </m:r>
                      <m:rad>
                        <m:radPr>
                          <m:degHide m:val="on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rad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=3±</m:t>
                      </m:r>
                      <m:rad>
                        <m:radPr>
                          <m:degHide m:val="on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172" y="1831662"/>
                <a:ext cx="3888432" cy="43535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1295599" y="1799084"/>
            <a:ext cx="3276401" cy="8298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First step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95027" y="2628900"/>
            <a:ext cx="3276401" cy="35889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And the rest…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417390" y="1926045"/>
                <a:ext cx="3307510" cy="286232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Reflections</a:t>
                </a:r>
                <a:r>
                  <a:rPr lang="en-GB" dirty="0"/>
                  <a:t>: Previously we factorised out the 3. This is because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−18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r>
                  <a:rPr lang="en-GB" dirty="0"/>
                  <a:t> on its own is an </a:t>
                </a:r>
                <a:r>
                  <a:rPr lang="en-GB" b="1" dirty="0"/>
                  <a:t>expression, </a:t>
                </a:r>
                <a:r>
                  <a:rPr lang="en-GB" dirty="0"/>
                  <a:t>so dividing by 3 (instead of factorising) would change the expression.</a:t>
                </a:r>
              </a:p>
              <a:p>
                <a:endParaRPr lang="en-GB" dirty="0"/>
              </a:p>
              <a:p>
                <a:r>
                  <a:rPr lang="en-GB" dirty="0"/>
                  <a:t>However, in an equation, we can divide both sides by 3 without affecting the solutions.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7390" y="1926045"/>
                <a:ext cx="3307510" cy="2862322"/>
              </a:xfrm>
              <a:prstGeom prst="rect">
                <a:avLst/>
              </a:prstGeom>
              <a:blipFill>
                <a:blip r:embed="rId4"/>
                <a:stretch>
                  <a:fillRect l="-1282" t="-846" r="-366" b="-21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7973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</p:bldLst>
  </p:timing>
</p:sld>
</file>

<file path=ppt/c2/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-27432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2C/2D Pure Y1 Page 23-24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15A328B2-7AFE-18F0-591A-36F083111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599126"/>
            <a:ext cx="6021856" cy="7416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AAB0E6-34BB-A98D-653D-ABCF7D63F2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8" y="3212976"/>
            <a:ext cx="5724128" cy="6426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1576522-DF42-63F3-E7D7-4514D09FD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528" y="1379578"/>
            <a:ext cx="2179619" cy="6469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C106579-E014-1C7D-87B5-41F5097005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6092" y="1276921"/>
            <a:ext cx="2172003" cy="68589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014BFE1-AA67-8F3C-F663-348E83F93C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7865" y="1219763"/>
            <a:ext cx="2267266" cy="8002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6A6F586-1067-19C0-4194-0AE343EBF0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520" y="2250235"/>
            <a:ext cx="2305372" cy="79068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219BB11-C2B1-FFC0-2C98-91C88D3E29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10623" y="2350897"/>
            <a:ext cx="2276793" cy="67636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329957B-7335-8D91-CF57-3A8F40A1BAFF}"/>
              </a:ext>
            </a:extLst>
          </p:cNvPr>
          <p:cNvSpPr/>
          <p:nvPr/>
        </p:nvSpPr>
        <p:spPr>
          <a:xfrm>
            <a:off x="153935" y="1352099"/>
            <a:ext cx="2545857" cy="7906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86F785-CFC0-30C2-AFE8-07669ACA57BA}"/>
              </a:ext>
            </a:extLst>
          </p:cNvPr>
          <p:cNvSpPr/>
          <p:nvPr/>
        </p:nvSpPr>
        <p:spPr>
          <a:xfrm>
            <a:off x="2776092" y="1347645"/>
            <a:ext cx="2545857" cy="7906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030B94A-F1F4-A9D4-B17B-0F86D22137A0}"/>
              </a:ext>
            </a:extLst>
          </p:cNvPr>
          <p:cNvSpPr/>
          <p:nvPr/>
        </p:nvSpPr>
        <p:spPr>
          <a:xfrm>
            <a:off x="5508569" y="1339934"/>
            <a:ext cx="2545857" cy="7906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99E7FFF-3BC3-9843-A30D-1F93EF3E2DC6}"/>
              </a:ext>
            </a:extLst>
          </p:cNvPr>
          <p:cNvSpPr/>
          <p:nvPr/>
        </p:nvSpPr>
        <p:spPr>
          <a:xfrm>
            <a:off x="153935" y="2236581"/>
            <a:ext cx="2545857" cy="7906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d?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11D8F01-A34B-2ED9-9A71-DD8BAD5A526A}"/>
              </a:ext>
            </a:extLst>
          </p:cNvPr>
          <p:cNvSpPr/>
          <p:nvPr/>
        </p:nvSpPr>
        <p:spPr>
          <a:xfrm>
            <a:off x="2776090" y="2243803"/>
            <a:ext cx="2545857" cy="7906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e?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222FF26-6368-DA14-8B94-16132529DAB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0243" y="3930304"/>
            <a:ext cx="2572109" cy="105742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3B1EE0C-EA16-7F8E-4B94-2369030AA3C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79912" y="3916014"/>
            <a:ext cx="2638793" cy="108600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929B060-7745-64F9-E2F8-1A76D92B75D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3528" y="5225029"/>
            <a:ext cx="2629267" cy="111458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6FC5BEA-4445-3B51-5E5B-A7E7B65556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67993" y="5186206"/>
            <a:ext cx="2629267" cy="1552856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FF2E191F-60D7-80EE-E7E0-2F7DFB21CB02}"/>
              </a:ext>
            </a:extLst>
          </p:cNvPr>
          <p:cNvSpPr/>
          <p:nvPr/>
        </p:nvSpPr>
        <p:spPr>
          <a:xfrm>
            <a:off x="220208" y="3928179"/>
            <a:ext cx="3055648" cy="11145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80222D8-78CE-1A6A-9557-1E59D578F455}"/>
              </a:ext>
            </a:extLst>
          </p:cNvPr>
          <p:cNvSpPr/>
          <p:nvPr/>
        </p:nvSpPr>
        <p:spPr>
          <a:xfrm>
            <a:off x="3767993" y="3923725"/>
            <a:ext cx="3055648" cy="10860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7829085-DC5A-F668-179B-5028F2FBB353}"/>
              </a:ext>
            </a:extLst>
          </p:cNvPr>
          <p:cNvSpPr/>
          <p:nvPr/>
        </p:nvSpPr>
        <p:spPr>
          <a:xfrm>
            <a:off x="220208" y="5225029"/>
            <a:ext cx="3055648" cy="1444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23EB16B-3535-9D0B-E1CD-9E178D854947}"/>
              </a:ext>
            </a:extLst>
          </p:cNvPr>
          <p:cNvSpPr/>
          <p:nvPr/>
        </p:nvSpPr>
        <p:spPr>
          <a:xfrm>
            <a:off x="3767993" y="5234026"/>
            <a:ext cx="3055648" cy="1444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d?</a:t>
            </a:r>
          </a:p>
        </p:txBody>
      </p:sp>
    </p:spTree>
    <p:extLst>
      <p:ext uri="{BB962C8B-B14F-4D97-AF65-F5344CB8AC3E}">
        <p14:creationId xmlns:p14="http://schemas.microsoft.com/office/powerpoint/2010/main" val="2408166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35" grpId="0" animBg="1"/>
      <p:bldP spid="36" grpId="0" animBg="1"/>
      <p:bldP spid="37" grpId="0" animBg="1"/>
      <p:bldP spid="38" grpId="0" animBg="1"/>
    </p:bldLst>
  </p:timing>
</p:sld>
</file>

<file path=ppt/c2/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-27432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2C/2D Pure Y1 Page 23-24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7EF495-81C9-674C-6B8A-15BBCC5919F9}"/>
                  </a:ext>
                </a:extLst>
              </p:cNvPr>
              <p:cNvSpPr txBox="1"/>
              <p:nvPr/>
            </p:nvSpPr>
            <p:spPr>
              <a:xfrm>
                <a:off x="107504" y="606015"/>
                <a:ext cx="77799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4 Given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+6=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 find the values of the constants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7EF495-81C9-674C-6B8A-15BBCC5919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606015"/>
                <a:ext cx="7779950" cy="369332"/>
              </a:xfrm>
              <a:prstGeom prst="rect">
                <a:avLst/>
              </a:prstGeom>
              <a:blipFill>
                <a:blip r:embed="rId4"/>
                <a:stretch>
                  <a:fillRect l="-705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F547597-F029-57FA-70CD-4930AEE0B71E}"/>
                  </a:ext>
                </a:extLst>
              </p:cNvPr>
              <p:cNvSpPr txBox="1"/>
              <p:nvPr/>
            </p:nvSpPr>
            <p:spPr>
              <a:xfrm>
                <a:off x="77808" y="2224931"/>
                <a:ext cx="885698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5 Write </a:t>
                </a:r>
                <a14:m>
                  <m:oMath xmlns:m="http://schemas.openxmlformats.org/officeDocument/2006/math">
                    <m:r>
                      <a:rPr lang="en-GB" b="0" i="0" smtClean="0">
                        <a:latin typeface="Cambria Math" panose="02040503050406030204" pitchFamily="18" charset="0"/>
                      </a:rPr>
                      <m:t>2+0.8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−0.0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in the form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 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are constants to be   </a:t>
                </a:r>
              </a:p>
              <a:p>
                <a:r>
                  <a:rPr lang="en-GB" dirty="0"/>
                  <a:t>   determined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F547597-F029-57FA-70CD-4930AEE0B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08" y="2224931"/>
                <a:ext cx="8856984" cy="646331"/>
              </a:xfrm>
              <a:prstGeom prst="rect">
                <a:avLst/>
              </a:prstGeom>
              <a:blipFill>
                <a:blip r:embed="rId5"/>
                <a:stretch>
                  <a:fillRect l="-619" t="-5660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53A267D0-9731-A9D3-F2CF-A92B4718E8B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3070"/>
          <a:stretch/>
        </p:blipFill>
        <p:spPr>
          <a:xfrm>
            <a:off x="611560" y="967371"/>
            <a:ext cx="2873588" cy="121937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4E1EC51-BF71-CC04-B8F7-3CDA2FA9A9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533" y="2953801"/>
            <a:ext cx="3972479" cy="154326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8A14DA7-ABCF-9D7A-BCDC-07034602A465}"/>
              </a:ext>
            </a:extLst>
          </p:cNvPr>
          <p:cNvSpPr/>
          <p:nvPr/>
        </p:nvSpPr>
        <p:spPr>
          <a:xfrm>
            <a:off x="478903" y="985477"/>
            <a:ext cx="3976240" cy="11569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8E1785-24B7-FF64-21EE-725E343ABFE3}"/>
              </a:ext>
            </a:extLst>
          </p:cNvPr>
          <p:cNvSpPr/>
          <p:nvPr/>
        </p:nvSpPr>
        <p:spPr>
          <a:xfrm>
            <a:off x="445556" y="2909452"/>
            <a:ext cx="4009587" cy="15921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EF6A8FD-6C6F-61C6-FFA8-10D58978655C}"/>
              </a:ext>
            </a:extLst>
          </p:cNvPr>
          <p:cNvGrpSpPr/>
          <p:nvPr/>
        </p:nvGrpSpPr>
        <p:grpSpPr>
          <a:xfrm>
            <a:off x="195003" y="4984720"/>
            <a:ext cx="5270360" cy="905909"/>
            <a:chOff x="21720" y="3789040"/>
            <a:chExt cx="5270360" cy="905909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BCB72799-16F8-1945-2506-E840547A31D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1720" y="3789040"/>
              <a:ext cx="5011413" cy="905909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981CDA8-B126-C31D-90C1-2DD1AE98CE73}"/>
                </a:ext>
              </a:extLst>
            </p:cNvPr>
            <p:cNvSpPr/>
            <p:nvPr/>
          </p:nvSpPr>
          <p:spPr>
            <a:xfrm>
              <a:off x="4067944" y="4365104"/>
              <a:ext cx="1224136" cy="3298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DC58D9D0-CA4E-236D-C1B5-1DC3911784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80112" y="4984720"/>
            <a:ext cx="3162741" cy="144800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45DC270B-7E04-5897-0D67-AB8FDFD86103}"/>
              </a:ext>
            </a:extLst>
          </p:cNvPr>
          <p:cNvSpPr/>
          <p:nvPr/>
        </p:nvSpPr>
        <p:spPr>
          <a:xfrm>
            <a:off x="5292080" y="4850569"/>
            <a:ext cx="3793563" cy="15921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25462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3" grpId="0" animBg="1"/>
    </p:bldLst>
  </p:timing>
</p:sld>
</file>

<file path=ppt/c2/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Proving the Quadratic Formula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29444" y="866428"/>
                <a:ext cx="5616624" cy="59965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If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000" dirty="0"/>
                  <a:t>, prove that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−4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𝑎𝑐</m:t>
                            </m:r>
                          </m:e>
                        </m:rad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44" y="866428"/>
                <a:ext cx="5616624" cy="5996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5468190" y="1710145"/>
            <a:ext cx="3307510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Just use exactly the same method as you usually would!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39552" y="1710145"/>
                <a:ext cx="4608512" cy="4111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𝑎𝑐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710145"/>
                <a:ext cx="4608512" cy="41119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1331499" y="2057400"/>
            <a:ext cx="2821401" cy="375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39909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c2/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23528" y="756934"/>
                <a:ext cx="835292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Recall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refers to the input of a function, and the expression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refers to the output. For graph sketches, we often write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, i.e. we set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values to be the output of the function.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756934"/>
                <a:ext cx="8352928" cy="923330"/>
              </a:xfrm>
              <a:prstGeom prst="rect">
                <a:avLst/>
              </a:prstGeom>
              <a:blipFill>
                <a:blip r:embed="rId2"/>
                <a:stretch>
                  <a:fillRect l="-584" t="-3289" b="-92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57"/>
          <p:cNvGrpSpPr/>
          <p:nvPr/>
        </p:nvGrpSpPr>
        <p:grpSpPr>
          <a:xfrm>
            <a:off x="1144" y="0"/>
            <a:ext cx="9143074" cy="599127"/>
            <a:chOff x="0" y="13335"/>
            <a:chExt cx="9144218" cy="599127"/>
          </a:xfrm>
        </p:grpSpPr>
        <p:sp>
          <p:nvSpPr>
            <p:cNvPr id="7" name="TextBox 6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</a:lstStyle>
            <a:p>
              <a:r>
                <a:rPr lang="en-GB" dirty="0"/>
                <a:t>   4: Quadratic Graphs</a:t>
              </a: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4" name="Freeform 3"/>
          <p:cNvSpPr/>
          <p:nvPr/>
        </p:nvSpPr>
        <p:spPr>
          <a:xfrm>
            <a:off x="1979712" y="2120900"/>
            <a:ext cx="4624288" cy="3271286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1763688" y="4725144"/>
            <a:ext cx="561662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5165328" y="1988840"/>
            <a:ext cx="0" cy="40324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7393012" y="4369256"/>
                <a:ext cx="50405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3012" y="4369256"/>
                <a:ext cx="504056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913300" y="1382941"/>
                <a:ext cx="50405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3300" y="1382941"/>
                <a:ext cx="504056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298128" y="1874285"/>
            <a:ext cx="2808312" cy="8309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tx1"/>
                </a:solidFill>
              </a:rPr>
              <a:t>Features needed in sketch of quadratic?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68018" y="3414191"/>
            <a:ext cx="1296144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Roots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868144" y="5790455"/>
                <a:ext cx="1764196" cy="46166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400" dirty="0"/>
                  <a:t>-intercept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144" y="5790455"/>
                <a:ext cx="1764196" cy="461665"/>
              </a:xfrm>
              <a:prstGeom prst="rect">
                <a:avLst/>
              </a:prstGeom>
              <a:blipFill>
                <a:blip r:embed="rId5"/>
                <a:stretch>
                  <a:fillRect t="-7500"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710571" y="5661248"/>
            <a:ext cx="2538282" cy="8309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General shape: Smiley face or hill?</a:t>
            </a:r>
          </a:p>
        </p:txBody>
      </p:sp>
      <p:cxnSp>
        <p:nvCxnSpPr>
          <p:cNvPr id="31" name="Straight Arrow Connector 30"/>
          <p:cNvCxnSpPr>
            <a:stCxn id="27" idx="2"/>
          </p:cNvCxnSpPr>
          <p:nvPr/>
        </p:nvCxnSpPr>
        <p:spPr>
          <a:xfrm flipH="1">
            <a:off x="3263900" y="3875856"/>
            <a:ext cx="652190" cy="785044"/>
          </a:xfrm>
          <a:prstGeom prst="straightConnector1">
            <a:avLst/>
          </a:prstGeom>
          <a:ln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7" idx="2"/>
          </p:cNvCxnSpPr>
          <p:nvPr/>
        </p:nvCxnSpPr>
        <p:spPr>
          <a:xfrm>
            <a:off x="3916090" y="3875856"/>
            <a:ext cx="1633810" cy="785044"/>
          </a:xfrm>
          <a:prstGeom prst="straightConnector1">
            <a:avLst/>
          </a:prstGeom>
          <a:ln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8" idx="0"/>
          </p:cNvCxnSpPr>
          <p:nvPr/>
        </p:nvCxnSpPr>
        <p:spPr>
          <a:xfrm flipH="1" flipV="1">
            <a:off x="5165328" y="5301208"/>
            <a:ext cx="1584914" cy="489247"/>
          </a:xfrm>
          <a:prstGeom prst="straightConnector1">
            <a:avLst/>
          </a:prstGeom>
          <a:ln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0"/>
          </p:cNvCxnSpPr>
          <p:nvPr/>
        </p:nvCxnSpPr>
        <p:spPr>
          <a:xfrm flipV="1">
            <a:off x="1979712" y="5181600"/>
            <a:ext cx="1500088" cy="479648"/>
          </a:xfrm>
          <a:prstGeom prst="straightConnector1">
            <a:avLst/>
          </a:prstGeom>
          <a:ln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3268018" y="3414192"/>
            <a:ext cx="1296143" cy="461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68144" y="5766822"/>
            <a:ext cx="1764196" cy="4852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0571" y="5661247"/>
            <a:ext cx="2538282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flipH="1" flipV="1">
            <a:off x="4318000" y="5511801"/>
            <a:ext cx="228600" cy="660399"/>
          </a:xfrm>
          <a:prstGeom prst="straightConnector1">
            <a:avLst/>
          </a:prstGeom>
          <a:ln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692872" y="6236791"/>
            <a:ext cx="1971328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Turning point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81784" y="6236791"/>
            <a:ext cx="1982416" cy="4852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500" y="1642164"/>
            <a:ext cx="2717800" cy="246221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A ‘sketch’ in maths has a clearly defined meaning: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We care about the </a:t>
            </a:r>
            <a:r>
              <a:rPr lang="en-GB" sz="1400" b="1" u="sng" dirty="0"/>
              <a:t>general shape</a:t>
            </a:r>
            <a:r>
              <a:rPr lang="en-GB" sz="1400" dirty="0"/>
              <a:t> of the graph, not exact points.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The axes should have </a:t>
            </a:r>
            <a:r>
              <a:rPr lang="en-GB" sz="1400" b="1" u="sng" dirty="0"/>
              <a:t>no scale</a:t>
            </a:r>
            <a:r>
              <a:rPr lang="en-GB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Generally the only coordinates indicated are </a:t>
            </a:r>
            <a:r>
              <a:rPr lang="en-GB" sz="1400" b="1" u="sng" dirty="0"/>
              <a:t>intercepts with the axis</a:t>
            </a:r>
            <a:r>
              <a:rPr lang="en-GB" sz="1400" dirty="0"/>
              <a:t> or other points of interest (e.g. intersections of multiple graphs)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85304" y="3109391"/>
                <a:ext cx="165618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Recall a root of a function is where the output, in this case the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 dirty="0"/>
                  <a:t> value, is 0.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304" y="3109391"/>
                <a:ext cx="1656184" cy="1323439"/>
              </a:xfrm>
              <a:prstGeom prst="rect">
                <a:avLst/>
              </a:prstGeom>
              <a:blipFill>
                <a:blip r:embed="rId6"/>
                <a:stretch>
                  <a:fillRect l="-2214" t="-1382" r="-2214" b="-50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3338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 animBg="1"/>
      <p:bldP spid="34" grpId="0" animBg="1"/>
      <p:bldP spid="15" grpId="0"/>
    </p:bldLst>
  </p:timing>
</p:sld>
</file>

<file path=ppt/c2/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6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</a:t>
              </a:r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99852" y="785912"/>
                <a:ext cx="5429448" cy="70788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Sketch the graph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en-GB" sz="2000" dirty="0"/>
                  <a:t> and find the coordinates of the turning point.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852" y="785912"/>
                <a:ext cx="5429448" cy="707886"/>
              </a:xfrm>
              <a:prstGeom prst="rect">
                <a:avLst/>
              </a:prstGeom>
              <a:blipFill>
                <a:blip r:embed="rId2"/>
                <a:stretch>
                  <a:fillRect b="-3571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399852" y="1844824"/>
            <a:ext cx="959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Roots: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979712" y="1844824"/>
                <a:ext cx="3384376" cy="9233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𝒐𝒓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br>
                  <a:rPr lang="en-GB" b="1" dirty="0"/>
                </a:br>
                <a:endParaRPr lang="en-GB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712" y="1844824"/>
                <a:ext cx="3384376" cy="9233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85168" y="2857376"/>
                <a:ext cx="14505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-intercept: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68" y="2857376"/>
                <a:ext cx="1450528" cy="369332"/>
              </a:xfrm>
              <a:prstGeom prst="rect">
                <a:avLst/>
              </a:prstGeom>
              <a:blipFill>
                <a:blip r:embed="rId4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941612" y="2878803"/>
                <a:ext cx="277440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GB" b="1" dirty="0"/>
                  <a:t>When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br>
                  <a:rPr lang="en-GB" b="1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1612" y="2878803"/>
                <a:ext cx="2774404" cy="646331"/>
              </a:xfrm>
              <a:prstGeom prst="rect">
                <a:avLst/>
              </a:prstGeom>
              <a:blipFill>
                <a:blip r:embed="rId5"/>
                <a:stretch>
                  <a:fillRect l="-1978" t="-4717" b="-47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85168" y="3739223"/>
            <a:ext cx="157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Turning point: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941612" y="3658389"/>
                <a:ext cx="2774404" cy="18609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num>
                                <m:den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num>
                                <m:den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𝟐𝟓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  <a:p>
                <a:r>
                  <a:rPr lang="en-GB" b="1" dirty="0"/>
                  <a:t>Min point: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num>
                          <m:den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,−</m:t>
                        </m:r>
                        <m:f>
                          <m:f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𝟐𝟓</m:t>
                            </m:r>
                          </m:num>
                          <m:den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den>
                        </m:f>
                      </m:e>
                    </m:d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1612" y="3658389"/>
                <a:ext cx="2774404" cy="1860959"/>
              </a:xfrm>
              <a:prstGeom prst="rect">
                <a:avLst/>
              </a:prstGeom>
              <a:blipFill>
                <a:blip r:embed="rId6"/>
                <a:stretch>
                  <a:fillRect l="-1978"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36352" y="5856064"/>
                <a:ext cx="4070548" cy="83099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Recall that if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600" dirty="0"/>
                  <a:t>, the minimum output is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dirty="0"/>
                  <a:t> is the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value which minimises it. i.e. Turning point is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352" y="5856064"/>
                <a:ext cx="4070548" cy="830997"/>
              </a:xfrm>
              <a:prstGeom prst="rect">
                <a:avLst/>
              </a:prstGeom>
              <a:blipFill>
                <a:blip r:embed="rId7"/>
                <a:stretch>
                  <a:fillRect l="-446" t="-714" b="-71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 flipV="1">
            <a:off x="1259632" y="5301208"/>
            <a:ext cx="576064" cy="554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972618" y="1813992"/>
            <a:ext cx="2599382" cy="9542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72618" y="2901473"/>
            <a:ext cx="2599382" cy="6926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55800" y="3717986"/>
            <a:ext cx="2599382" cy="18013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5076056" y="4437112"/>
            <a:ext cx="352839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7164288" y="1701762"/>
            <a:ext cx="0" cy="40324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64820" y="4411068"/>
            <a:ext cx="5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4329" y="4411068"/>
            <a:ext cx="5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27" name="Freeform 3"/>
          <p:cNvSpPr/>
          <p:nvPr/>
        </p:nvSpPr>
        <p:spPr>
          <a:xfrm>
            <a:off x="5002312" y="2146300"/>
            <a:ext cx="3392388" cy="2788686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/>
          <p:cNvSpPr txBox="1"/>
          <p:nvPr/>
        </p:nvSpPr>
        <p:spPr>
          <a:xfrm>
            <a:off x="6843960" y="4868162"/>
            <a:ext cx="5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5416435" y="4925859"/>
                <a:ext cx="1435329" cy="714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,−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435" y="4925859"/>
                <a:ext cx="1435329" cy="7146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val 30"/>
          <p:cNvSpPr/>
          <p:nvPr/>
        </p:nvSpPr>
        <p:spPr>
          <a:xfrm>
            <a:off x="6708031" y="4872925"/>
            <a:ext cx="121394" cy="1229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8579048" y="4242296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9048" y="4242296"/>
                <a:ext cx="28803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7020272" y="1341156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272" y="1341156"/>
                <a:ext cx="288032" cy="369332"/>
              </a:xfrm>
              <a:prstGeom prst="rect">
                <a:avLst/>
              </a:prstGeom>
              <a:blipFill>
                <a:blip r:embed="rId10"/>
                <a:stretch>
                  <a:fillRect r="-6383"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4106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5" grpId="0"/>
      <p:bldP spid="26" grpId="0"/>
      <p:bldP spid="27" grpId="0" animBg="1"/>
      <p:bldP spid="30" grpId="0"/>
      <p:bldP spid="31" grpId="0" animBg="1"/>
    </p:bldLst>
  </p:timing>
</p:sld>
</file>

<file path=ppt/c2/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6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</a:t>
              </a:r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99851" y="785912"/>
                <a:ext cx="7412509" cy="70788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Sketch the graph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−2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en-GB" sz="2000" dirty="0"/>
                  <a:t> and find the coordinates of the turning point. Write down the equation of the line of symmetry.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851" y="785912"/>
                <a:ext cx="7412509" cy="707886"/>
              </a:xfrm>
              <a:prstGeom prst="rect">
                <a:avLst/>
              </a:prstGeom>
              <a:blipFill>
                <a:blip r:embed="rId2"/>
                <a:stretch>
                  <a:fillRect b="-3571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488752" y="1743224"/>
            <a:ext cx="959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Roots: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420912" y="1768624"/>
                <a:ext cx="3685108" cy="26716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GB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e>
                                <m:sup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×−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×−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e>
                              </m:d>
                            </m:e>
                          </m:rad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𝟖</m:t>
                              </m:r>
                            </m:e>
                          </m:rad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  <a:p>
                <a:r>
                  <a:rPr lang="en-GB" b="1" dirty="0"/>
                  <a:t>This has no solutions, so the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b="1" dirty="0"/>
                  <a:t> value can never be 0, i.e. the parabola does not touch the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dirty="0"/>
                  <a:t>-axis.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0912" y="1768624"/>
                <a:ext cx="3685108" cy="2671629"/>
              </a:xfrm>
              <a:prstGeom prst="rect">
                <a:avLst/>
              </a:prstGeom>
              <a:blipFill>
                <a:blip r:embed="rId3"/>
                <a:stretch>
                  <a:fillRect l="-1322" r="-331" b="-27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18791" y="4414984"/>
                <a:ext cx="14505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-intercept: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91" y="4414984"/>
                <a:ext cx="1450528" cy="369332"/>
              </a:xfrm>
              <a:prstGeom prst="rect">
                <a:avLst/>
              </a:prstGeom>
              <a:blipFill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1433935" y="4411011"/>
            <a:ext cx="2774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-3 (by inspection)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71709" y="5119031"/>
            <a:ext cx="157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Turning point: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459335" y="5127097"/>
                <a:ext cx="2774404" cy="17711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sz="1600" b="1" dirty="0"/>
              </a:p>
              <a:p>
                <a:r>
                  <a:rPr lang="en-GB" sz="1600" b="1" dirty="0"/>
                  <a:t>Max point is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,−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600" b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9335" y="5127097"/>
                <a:ext cx="2774404" cy="1771191"/>
              </a:xfrm>
              <a:prstGeom prst="rect">
                <a:avLst/>
              </a:prstGeom>
              <a:blipFill>
                <a:blip r:embed="rId5"/>
                <a:stretch>
                  <a:fillRect l="-1096" b="-17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1377206" y="4411848"/>
            <a:ext cx="3601194" cy="6926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43508" y="5158053"/>
            <a:ext cx="2611133" cy="16638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5076056" y="4437112"/>
            <a:ext cx="352839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33" idx="2"/>
          </p:cNvCxnSpPr>
          <p:nvPr/>
        </p:nvCxnSpPr>
        <p:spPr>
          <a:xfrm flipV="1">
            <a:off x="6643588" y="1976417"/>
            <a:ext cx="0" cy="41888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Freeform 3"/>
          <p:cNvSpPr/>
          <p:nvPr/>
        </p:nvSpPr>
        <p:spPr>
          <a:xfrm rot="10800000">
            <a:off x="6262954" y="4823995"/>
            <a:ext cx="2179333" cy="1524410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/>
          <p:cNvSpPr txBox="1"/>
          <p:nvPr/>
        </p:nvSpPr>
        <p:spPr>
          <a:xfrm>
            <a:off x="6314570" y="5000509"/>
            <a:ext cx="5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7195310" y="4691990"/>
                <a:ext cx="94532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1,−1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5310" y="4691990"/>
                <a:ext cx="94532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val 30"/>
          <p:cNvSpPr/>
          <p:nvPr/>
        </p:nvSpPr>
        <p:spPr>
          <a:xfrm>
            <a:off x="7152531" y="4733225"/>
            <a:ext cx="121394" cy="1229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8579048" y="4242296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9048" y="4242296"/>
                <a:ext cx="28803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6499572" y="1607085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9572" y="1607085"/>
                <a:ext cx="288032" cy="369332"/>
              </a:xfrm>
              <a:prstGeom prst="rect">
                <a:avLst/>
              </a:prstGeom>
              <a:blipFill>
                <a:blip r:embed="rId8"/>
                <a:stretch>
                  <a:fillRect r="-6383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1373796" y="1753610"/>
            <a:ext cx="3604604" cy="26151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4172" y="6412686"/>
            <a:ext cx="186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Line of reflection: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955632" y="6405028"/>
                <a:ext cx="11804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5632" y="6405028"/>
                <a:ext cx="118042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/>
          <p:cNvCxnSpPr/>
          <p:nvPr/>
        </p:nvCxnSpPr>
        <p:spPr>
          <a:xfrm>
            <a:off x="7189704" y="2112556"/>
            <a:ext cx="0" cy="405274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900946" y="2760416"/>
                <a:ext cx="13051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0946" y="2760416"/>
                <a:ext cx="1305123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/>
          <p:cNvSpPr/>
          <p:nvPr/>
        </p:nvSpPr>
        <p:spPr>
          <a:xfrm>
            <a:off x="6106207" y="6304547"/>
            <a:ext cx="2003077" cy="4841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43689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7" grpId="0" animBg="1"/>
      <p:bldP spid="30" grpId="0"/>
      <p:bldP spid="31" grpId="0" animBg="1"/>
      <p:bldP spid="18" grpId="0" animBg="1"/>
      <p:bldP spid="35" grpId="0"/>
      <p:bldP spid="36" grpId="0" animBg="1"/>
    </p:bldLst>
  </p:timing>
</p:sld>
</file>

<file path=ppt/c2/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291567" y="749817"/>
            <a:ext cx="7412509" cy="646331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Sketch the following, indicating any intercepts with the axis, the turning point and the equation of the line of symmetry.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01981" y="1563065"/>
                <a:ext cx="22029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1" y="1563065"/>
                <a:ext cx="2202963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248092" y="1617752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01981" y="4293096"/>
                <a:ext cx="22029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−7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1" y="4293096"/>
                <a:ext cx="2202963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248092" y="4347783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716016" y="1522474"/>
                <a:ext cx="22029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+3−2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16" y="1522474"/>
                <a:ext cx="2202963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4362127" y="1577161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716016" y="4264461"/>
                <a:ext cx="22029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16" y="4264461"/>
                <a:ext cx="2202963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4362127" y="4319148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1018270" y="3429000"/>
            <a:ext cx="194421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2060365" y="2040607"/>
            <a:ext cx="10666" cy="211381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902099" y="3265934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2099" y="3265934"/>
                <a:ext cx="216024" cy="369332"/>
              </a:xfrm>
              <a:prstGeom prst="rect">
                <a:avLst/>
              </a:prstGeom>
              <a:blipFill>
                <a:blip r:embed="rId6"/>
                <a:stretch>
                  <a:fillRect r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933439" y="1705612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3439" y="1705612"/>
                <a:ext cx="216024" cy="369332"/>
              </a:xfrm>
              <a:prstGeom prst="rect">
                <a:avLst/>
              </a:prstGeom>
              <a:blipFill>
                <a:blip r:embed="rId7"/>
                <a:stretch>
                  <a:fillRect r="-38889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reeform 3"/>
          <p:cNvSpPr/>
          <p:nvPr/>
        </p:nvSpPr>
        <p:spPr>
          <a:xfrm>
            <a:off x="1230413" y="2314574"/>
            <a:ext cx="1550888" cy="715411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1018270" y="6107175"/>
            <a:ext cx="194421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 flipV="1">
            <a:off x="1619672" y="4693417"/>
            <a:ext cx="10666" cy="211381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2902099" y="5944109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2099" y="5944109"/>
                <a:ext cx="216024" cy="369332"/>
              </a:xfrm>
              <a:prstGeom prst="rect">
                <a:avLst/>
              </a:prstGeom>
              <a:blipFill>
                <a:blip r:embed="rId8"/>
                <a:stretch>
                  <a:fillRect r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Freeform 3"/>
          <p:cNvSpPr/>
          <p:nvPr/>
        </p:nvSpPr>
        <p:spPr>
          <a:xfrm>
            <a:off x="1436153" y="4932843"/>
            <a:ext cx="1590530" cy="1377298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/>
          <p:cNvSpPr txBox="1"/>
          <p:nvPr/>
        </p:nvSpPr>
        <p:spPr>
          <a:xfrm>
            <a:off x="2519591" y="6020506"/>
            <a:ext cx="224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18159" y="6019936"/>
            <a:ext cx="324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75637" y="5502839"/>
            <a:ext cx="514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1985819" y="2959826"/>
                <a:ext cx="5147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0,4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5819" y="2959826"/>
                <a:ext cx="514722" cy="369332"/>
              </a:xfrm>
              <a:prstGeom prst="rect">
                <a:avLst/>
              </a:prstGeom>
              <a:blipFill>
                <a:blip r:embed="rId9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val 30"/>
          <p:cNvSpPr/>
          <p:nvPr/>
        </p:nvSpPr>
        <p:spPr>
          <a:xfrm>
            <a:off x="1996331" y="2986975"/>
            <a:ext cx="121394" cy="1229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val 31"/>
          <p:cNvSpPr/>
          <p:nvPr/>
        </p:nvSpPr>
        <p:spPr>
          <a:xfrm>
            <a:off x="2232013" y="6249374"/>
            <a:ext cx="121394" cy="1229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2209860" y="6313068"/>
                <a:ext cx="733762" cy="472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, −</m:t>
                          </m:r>
                          <m:f>
                            <m:fPr>
                              <m:ctrlP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60" y="6313068"/>
                <a:ext cx="733762" cy="47269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/>
          <p:cNvCxnSpPr/>
          <p:nvPr/>
        </p:nvCxnSpPr>
        <p:spPr>
          <a:xfrm>
            <a:off x="2273968" y="4764505"/>
            <a:ext cx="18883" cy="208659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931904" y="4661405"/>
                <a:ext cx="1305123" cy="5517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1904" y="4661405"/>
                <a:ext cx="1305123" cy="5517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/>
          <p:cNvCxnSpPr/>
          <p:nvPr/>
        </p:nvCxnSpPr>
        <p:spPr>
          <a:xfrm>
            <a:off x="4882502" y="3413326"/>
            <a:ext cx="194421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 flipV="1">
            <a:off x="5483904" y="1999568"/>
            <a:ext cx="10666" cy="211381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6766331" y="3250260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6331" y="3250260"/>
                <a:ext cx="216024" cy="369332"/>
              </a:xfrm>
              <a:prstGeom prst="rect">
                <a:avLst/>
              </a:prstGeom>
              <a:blipFill>
                <a:blip r:embed="rId12"/>
                <a:stretch>
                  <a:fillRect r="-285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Freeform 3"/>
          <p:cNvSpPr/>
          <p:nvPr/>
        </p:nvSpPr>
        <p:spPr>
          <a:xfrm rot="10800000">
            <a:off x="5043210" y="2590800"/>
            <a:ext cx="1433790" cy="1330292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/>
          <p:cNvSpPr txBox="1"/>
          <p:nvPr/>
        </p:nvSpPr>
        <p:spPr>
          <a:xfrm>
            <a:off x="6202848" y="3383807"/>
            <a:ext cx="224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4896591" y="3373712"/>
                <a:ext cx="446934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6591" y="3373712"/>
                <a:ext cx="446934" cy="438005"/>
              </a:xfrm>
              <a:prstGeom prst="rect">
                <a:avLst/>
              </a:prstGeom>
              <a:blipFill>
                <a:blip r:embed="rId1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/>
          <p:cNvSpPr txBox="1"/>
          <p:nvPr/>
        </p:nvSpPr>
        <p:spPr>
          <a:xfrm>
            <a:off x="5216069" y="2485140"/>
            <a:ext cx="514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sp>
        <p:nvSpPr>
          <p:cNvPr id="50" name="Oval 49"/>
          <p:cNvSpPr/>
          <p:nvPr/>
        </p:nvSpPr>
        <p:spPr>
          <a:xfrm>
            <a:off x="5648570" y="2555400"/>
            <a:ext cx="121394" cy="1229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5638352" y="2133473"/>
                <a:ext cx="733762" cy="472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49</m:t>
                              </m:r>
                            </m:num>
                            <m:den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352" y="2133473"/>
                <a:ext cx="733762" cy="47269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Connector 51"/>
          <p:cNvCxnSpPr/>
          <p:nvPr/>
        </p:nvCxnSpPr>
        <p:spPr>
          <a:xfrm>
            <a:off x="5709575" y="2061131"/>
            <a:ext cx="18883" cy="208659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5396086" y="3786831"/>
                <a:ext cx="1305123" cy="558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6086" y="3786831"/>
                <a:ext cx="1305123" cy="55835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/>
          <p:cNvCxnSpPr/>
          <p:nvPr/>
        </p:nvCxnSpPr>
        <p:spPr>
          <a:xfrm>
            <a:off x="5259935" y="6301081"/>
            <a:ext cx="194421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H="1" flipV="1">
            <a:off x="6309849" y="4575666"/>
            <a:ext cx="10666" cy="211381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7143764" y="6109440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3764" y="6109440"/>
                <a:ext cx="216024" cy="369332"/>
              </a:xfrm>
              <a:prstGeom prst="rect">
                <a:avLst/>
              </a:prstGeom>
              <a:blipFill>
                <a:blip r:embed="rId16"/>
                <a:stretch>
                  <a:fillRect r="-285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Freeform 3"/>
          <p:cNvSpPr/>
          <p:nvPr/>
        </p:nvSpPr>
        <p:spPr>
          <a:xfrm>
            <a:off x="5106318" y="4743449"/>
            <a:ext cx="1433790" cy="998597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5216971" y="6509117"/>
                <a:ext cx="77068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6971" y="6509117"/>
                <a:ext cx="770688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/>
          <p:cNvSpPr txBox="1"/>
          <p:nvPr/>
        </p:nvSpPr>
        <p:spPr>
          <a:xfrm>
            <a:off x="5974502" y="5210970"/>
            <a:ext cx="514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11</a:t>
            </a:r>
          </a:p>
        </p:txBody>
      </p:sp>
      <p:sp>
        <p:nvSpPr>
          <p:cNvPr id="61" name="Oval 60"/>
          <p:cNvSpPr/>
          <p:nvPr/>
        </p:nvSpPr>
        <p:spPr>
          <a:xfrm>
            <a:off x="5850068" y="5671630"/>
            <a:ext cx="121394" cy="1229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5811410" y="5739306"/>
                <a:ext cx="73376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−2,7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410" y="5739306"/>
                <a:ext cx="733762" cy="2616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Connector 62"/>
          <p:cNvCxnSpPr/>
          <p:nvPr/>
        </p:nvCxnSpPr>
        <p:spPr>
          <a:xfrm>
            <a:off x="5907206" y="4756641"/>
            <a:ext cx="18883" cy="208659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1724963" y="3699514"/>
                <a:ext cx="13051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963" y="3699514"/>
                <a:ext cx="1305123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Rectangle 65"/>
          <p:cNvSpPr/>
          <p:nvPr/>
        </p:nvSpPr>
        <p:spPr>
          <a:xfrm>
            <a:off x="782447" y="1886563"/>
            <a:ext cx="2715496" cy="23225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3382" y="4659086"/>
            <a:ext cx="2715496" cy="21920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752563" y="1944202"/>
            <a:ext cx="2715496" cy="23229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773861" y="4615543"/>
            <a:ext cx="2715496" cy="22536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10704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</p:childTnLst>
        </p:cTn>
      </p:par>
    </p:tnLst>
    <p:bldLst>
      <p:bldP spid="66" grpId="0" animBg="1"/>
      <p:bldP spid="67" grpId="0" animBg="1"/>
      <p:bldP spid="68" grpId="0" animBg="1"/>
      <p:bldP spid="69" grpId="0" animBg="1"/>
    </p:bldLst>
  </p:timing>
</p:sld>
</file>

<file path=ppt/c2/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13D890F-958F-484D-A8B9-6488853316EE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2FA5ACAE-45F1-4E82-AF23-42A25D8F8A26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Determining the Equation using a Graph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ACEE6DC-C591-4ECE-B29C-4A90574CEA45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D9192F7-3EDD-4D73-9C46-DA5E118428C7}"/>
              </a:ext>
            </a:extLst>
          </p:cNvPr>
          <p:cNvCxnSpPr/>
          <p:nvPr/>
        </p:nvCxnSpPr>
        <p:spPr>
          <a:xfrm>
            <a:off x="323528" y="3645024"/>
            <a:ext cx="352839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574F434-F58D-4C02-8883-E0696E7C34FB}"/>
              </a:ext>
            </a:extLst>
          </p:cNvPr>
          <p:cNvCxnSpPr>
            <a:endCxn id="8" idx="2"/>
          </p:cNvCxnSpPr>
          <p:nvPr/>
        </p:nvCxnSpPr>
        <p:spPr>
          <a:xfrm flipV="1">
            <a:off x="1891060" y="1184329"/>
            <a:ext cx="0" cy="41888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74F1D7-45D6-4358-AE68-C28D41EF778A}"/>
                  </a:ext>
                </a:extLst>
              </p:cNvPr>
              <p:cNvSpPr txBox="1"/>
              <p:nvPr/>
            </p:nvSpPr>
            <p:spPr>
              <a:xfrm>
                <a:off x="3826520" y="3450208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74F1D7-45D6-4358-AE68-C28D41EF7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6520" y="3450208"/>
                <a:ext cx="28803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DD4C28-1CA3-4422-B3F8-0C12D7901ADE}"/>
                  </a:ext>
                </a:extLst>
              </p:cNvPr>
              <p:cNvSpPr txBox="1"/>
              <p:nvPr/>
            </p:nvSpPr>
            <p:spPr>
              <a:xfrm>
                <a:off x="1747044" y="814997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DD4C28-1CA3-4422-B3F8-0C12D7901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7044" y="814997"/>
                <a:ext cx="288032" cy="369332"/>
              </a:xfrm>
              <a:prstGeom prst="rect">
                <a:avLst/>
              </a:prstGeom>
              <a:blipFill>
                <a:blip r:embed="rId3"/>
                <a:stretch>
                  <a:fillRect r="-6383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 3">
            <a:extLst>
              <a:ext uri="{FF2B5EF4-FFF2-40B4-BE49-F238E27FC236}">
                <a16:creationId xmlns:a16="http://schemas.microsoft.com/office/drawing/2014/main" id="{D8AD6D98-8E55-4FD2-A3FA-75B15682581B}"/>
              </a:ext>
            </a:extLst>
          </p:cNvPr>
          <p:cNvSpPr/>
          <p:nvPr/>
        </p:nvSpPr>
        <p:spPr>
          <a:xfrm rot="10800000" flipV="1">
            <a:off x="539552" y="2657983"/>
            <a:ext cx="2160110" cy="1542033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C3DEEB-9890-4C9B-A854-C3BABC425BC6}"/>
              </a:ext>
            </a:extLst>
          </p:cNvPr>
          <p:cNvSpPr txBox="1"/>
          <p:nvPr/>
        </p:nvSpPr>
        <p:spPr>
          <a:xfrm>
            <a:off x="2238472" y="3655175"/>
            <a:ext cx="362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568FE1-C76C-4E00-966F-D7F5A2F8E931}"/>
              </a:ext>
            </a:extLst>
          </p:cNvPr>
          <p:cNvSpPr txBox="1"/>
          <p:nvPr/>
        </p:nvSpPr>
        <p:spPr>
          <a:xfrm>
            <a:off x="568172" y="3625996"/>
            <a:ext cx="572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A802BB-A59C-4CA0-8794-D20F6C7FF76A}"/>
              </a:ext>
            </a:extLst>
          </p:cNvPr>
          <p:cNvSpPr txBox="1"/>
          <p:nvPr/>
        </p:nvSpPr>
        <p:spPr>
          <a:xfrm>
            <a:off x="1439599" y="3850878"/>
            <a:ext cx="637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631D767-1609-46B7-A07C-BD788160FF56}"/>
                  </a:ext>
                </a:extLst>
              </p:cNvPr>
              <p:cNvSpPr txBox="1"/>
              <p:nvPr/>
            </p:nvSpPr>
            <p:spPr>
              <a:xfrm>
                <a:off x="4283968" y="1484784"/>
                <a:ext cx="4201861" cy="64633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Determine the equation of this quadratic graph, in the form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631D767-1609-46B7-A07C-BD788160F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1484784"/>
                <a:ext cx="4201861" cy="646331"/>
              </a:xfrm>
              <a:prstGeom prst="rect">
                <a:avLst/>
              </a:prstGeom>
              <a:blipFill>
                <a:blip r:embed="rId4"/>
                <a:stretch>
                  <a:fillRect b="-230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462BF92-F65B-4DB2-96B1-FADE90DB3C21}"/>
                  </a:ext>
                </a:extLst>
              </p:cNvPr>
              <p:cNvSpPr txBox="1"/>
              <p:nvPr/>
            </p:nvSpPr>
            <p:spPr>
              <a:xfrm>
                <a:off x="4356108" y="2564904"/>
                <a:ext cx="4176463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Since the roots are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GB" dirty="0"/>
                  <a:t>, a good start would be: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+3)(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−2)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noting that this gives us the correct ‘positive quadratic’ shape.</a:t>
                </a:r>
              </a:p>
              <a:p>
                <a:endParaRPr lang="en-GB" dirty="0"/>
              </a:p>
              <a:p>
                <a:r>
                  <a:rPr lang="en-GB" dirty="0"/>
                  <a:t>However, expanding, we get the wrong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-intercept of -6: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−6</m:t>
                      </m:r>
                    </m:oMath>
                  </m:oMathPara>
                </a14:m>
                <a:endParaRPr lang="en-GB" i="1" dirty="0"/>
              </a:p>
              <a:p>
                <a:endParaRPr lang="en-GB" dirty="0"/>
              </a:p>
              <a:p>
                <a:r>
                  <a:rPr lang="en-GB" dirty="0"/>
                  <a:t>We can simply scale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-value appropriately without affecting the roots: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−12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462BF92-F65B-4DB2-96B1-FADE90DB3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6108" y="2564904"/>
                <a:ext cx="4176463" cy="3970318"/>
              </a:xfrm>
              <a:prstGeom prst="rect">
                <a:avLst/>
              </a:prstGeom>
              <a:blipFill>
                <a:blip r:embed="rId5"/>
                <a:stretch>
                  <a:fillRect l="-1314" t="-9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1E748427-A99E-4DB2-B3DB-D87FEBCBB7F5}"/>
              </a:ext>
            </a:extLst>
          </p:cNvPr>
          <p:cNvSpPr/>
          <p:nvPr/>
        </p:nvSpPr>
        <p:spPr>
          <a:xfrm>
            <a:off x="4303381" y="2131115"/>
            <a:ext cx="4182417" cy="440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75711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</p:bldLst>
  </p:timing>
</p:sld>
</file>

<file path=ppt/c2/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13D890F-958F-484D-A8B9-6488853316EE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2FA5ACAE-45F1-4E82-AF23-42A25D8F8A26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Further Example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ACEE6DC-C591-4ECE-B29C-4A90574CEA45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D9192F7-3EDD-4D73-9C46-DA5E118428C7}"/>
              </a:ext>
            </a:extLst>
          </p:cNvPr>
          <p:cNvCxnSpPr/>
          <p:nvPr/>
        </p:nvCxnSpPr>
        <p:spPr>
          <a:xfrm>
            <a:off x="323528" y="3645024"/>
            <a:ext cx="352839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574F434-F58D-4C02-8883-E0696E7C34FB}"/>
              </a:ext>
            </a:extLst>
          </p:cNvPr>
          <p:cNvCxnSpPr>
            <a:endCxn id="8" idx="2"/>
          </p:cNvCxnSpPr>
          <p:nvPr/>
        </p:nvCxnSpPr>
        <p:spPr>
          <a:xfrm flipV="1">
            <a:off x="1891060" y="1184329"/>
            <a:ext cx="0" cy="41888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74F1D7-45D6-4358-AE68-C28D41EF778A}"/>
                  </a:ext>
                </a:extLst>
              </p:cNvPr>
              <p:cNvSpPr txBox="1"/>
              <p:nvPr/>
            </p:nvSpPr>
            <p:spPr>
              <a:xfrm>
                <a:off x="3826520" y="3450208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74F1D7-45D6-4358-AE68-C28D41EF7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6520" y="3450208"/>
                <a:ext cx="28803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DD4C28-1CA3-4422-B3F8-0C12D7901ADE}"/>
                  </a:ext>
                </a:extLst>
              </p:cNvPr>
              <p:cNvSpPr txBox="1"/>
              <p:nvPr/>
            </p:nvSpPr>
            <p:spPr>
              <a:xfrm>
                <a:off x="1747044" y="814997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DD4C28-1CA3-4422-B3F8-0C12D7901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7044" y="814997"/>
                <a:ext cx="288032" cy="369332"/>
              </a:xfrm>
              <a:prstGeom prst="rect">
                <a:avLst/>
              </a:prstGeom>
              <a:blipFill>
                <a:blip r:embed="rId3"/>
                <a:stretch>
                  <a:fillRect r="-6383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 3">
            <a:extLst>
              <a:ext uri="{FF2B5EF4-FFF2-40B4-BE49-F238E27FC236}">
                <a16:creationId xmlns:a16="http://schemas.microsoft.com/office/drawing/2014/main" id="{D8AD6D98-8E55-4FD2-A3FA-75B15682581B}"/>
              </a:ext>
            </a:extLst>
          </p:cNvPr>
          <p:cNvSpPr/>
          <p:nvPr/>
        </p:nvSpPr>
        <p:spPr>
          <a:xfrm flipV="1">
            <a:off x="1286162" y="2657983"/>
            <a:ext cx="2160110" cy="1542033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C3DEEB-9890-4C9B-A854-C3BABC425BC6}"/>
              </a:ext>
            </a:extLst>
          </p:cNvPr>
          <p:cNvSpPr txBox="1"/>
          <p:nvPr/>
        </p:nvSpPr>
        <p:spPr>
          <a:xfrm>
            <a:off x="2930931" y="3610787"/>
            <a:ext cx="637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3.5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568FE1-C76C-4E00-966F-D7F5A2F8E931}"/>
              </a:ext>
            </a:extLst>
          </p:cNvPr>
          <p:cNvSpPr txBox="1"/>
          <p:nvPr/>
        </p:nvSpPr>
        <p:spPr>
          <a:xfrm>
            <a:off x="1340530" y="3599363"/>
            <a:ext cx="572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631D767-1609-46B7-A07C-BD788160FF56}"/>
                  </a:ext>
                </a:extLst>
              </p:cNvPr>
              <p:cNvSpPr txBox="1"/>
              <p:nvPr/>
            </p:nvSpPr>
            <p:spPr>
              <a:xfrm>
                <a:off x="4283968" y="1484784"/>
                <a:ext cx="4201861" cy="92333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Determine the equation of this quadratic graph, in the form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 are integers.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631D767-1609-46B7-A07C-BD788160F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1484784"/>
                <a:ext cx="4201861" cy="923330"/>
              </a:xfrm>
              <a:prstGeom prst="rect">
                <a:avLst/>
              </a:prstGeom>
              <a:blipFill>
                <a:blip r:embed="rId4"/>
                <a:stretch>
                  <a:fillRect b="-171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462BF92-F65B-4DB2-96B1-FADE90DB3C21}"/>
                  </a:ext>
                </a:extLst>
              </p:cNvPr>
              <p:cNvSpPr txBox="1"/>
              <p:nvPr/>
            </p:nvSpPr>
            <p:spPr>
              <a:xfrm>
                <a:off x="4356108" y="2564904"/>
                <a:ext cx="4176463" cy="3699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 good start would be: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+1)(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−3.5)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The minus on the front ensures we get a negative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term for the correct shape.</a:t>
                </a:r>
              </a:p>
              <a:p>
                <a:r>
                  <a:rPr lang="en-GB" dirty="0"/>
                  <a:t>Expanding: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+2.5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+3.5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Note that no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-intercept has been specified, so we can scale the whole expression without affecting the roots (i.e. we only scale in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direction). Doubling: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462BF92-F65B-4DB2-96B1-FADE90DB3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6108" y="2564904"/>
                <a:ext cx="4176463" cy="3699539"/>
              </a:xfrm>
              <a:prstGeom prst="rect">
                <a:avLst/>
              </a:prstGeom>
              <a:blipFill>
                <a:blip r:embed="rId5"/>
                <a:stretch>
                  <a:fillRect l="-1314" t="-988" r="-10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1E748427-A99E-4DB2-B3DB-D87FEBCBB7F5}"/>
              </a:ext>
            </a:extLst>
          </p:cNvPr>
          <p:cNvSpPr/>
          <p:nvPr/>
        </p:nvSpPr>
        <p:spPr>
          <a:xfrm>
            <a:off x="4334292" y="2561969"/>
            <a:ext cx="4182417" cy="40473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67903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</p:bldLst>
  </p:timing>
</p:sld>
</file>

<file path=ppt/c2/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13D890F-958F-484D-A8B9-6488853316EE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2FA5ACAE-45F1-4E82-AF23-42A25D8F8A26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ACEE6DC-C591-4ECE-B29C-4A90574CEA45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D9192F7-3EDD-4D73-9C46-DA5E118428C7}"/>
              </a:ext>
            </a:extLst>
          </p:cNvPr>
          <p:cNvCxnSpPr/>
          <p:nvPr/>
        </p:nvCxnSpPr>
        <p:spPr>
          <a:xfrm>
            <a:off x="323528" y="3645024"/>
            <a:ext cx="352839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574F434-F58D-4C02-8883-E0696E7C34FB}"/>
              </a:ext>
            </a:extLst>
          </p:cNvPr>
          <p:cNvCxnSpPr>
            <a:endCxn id="8" idx="2"/>
          </p:cNvCxnSpPr>
          <p:nvPr/>
        </p:nvCxnSpPr>
        <p:spPr>
          <a:xfrm flipV="1">
            <a:off x="1891060" y="1184329"/>
            <a:ext cx="0" cy="41888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74F1D7-45D6-4358-AE68-C28D41EF778A}"/>
                  </a:ext>
                </a:extLst>
              </p:cNvPr>
              <p:cNvSpPr txBox="1"/>
              <p:nvPr/>
            </p:nvSpPr>
            <p:spPr>
              <a:xfrm>
                <a:off x="3826520" y="3450208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74F1D7-45D6-4358-AE68-C28D41EF7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6520" y="3450208"/>
                <a:ext cx="28803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DD4C28-1CA3-4422-B3F8-0C12D7901ADE}"/>
                  </a:ext>
                </a:extLst>
              </p:cNvPr>
              <p:cNvSpPr txBox="1"/>
              <p:nvPr/>
            </p:nvSpPr>
            <p:spPr>
              <a:xfrm>
                <a:off x="1747044" y="814997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DD4C28-1CA3-4422-B3F8-0C12D7901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7044" y="814997"/>
                <a:ext cx="288032" cy="369332"/>
              </a:xfrm>
              <a:prstGeom prst="rect">
                <a:avLst/>
              </a:prstGeom>
              <a:blipFill>
                <a:blip r:embed="rId3"/>
                <a:stretch>
                  <a:fillRect r="-6383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 3">
            <a:extLst>
              <a:ext uri="{FF2B5EF4-FFF2-40B4-BE49-F238E27FC236}">
                <a16:creationId xmlns:a16="http://schemas.microsoft.com/office/drawing/2014/main" id="{D8AD6D98-8E55-4FD2-A3FA-75B15682581B}"/>
              </a:ext>
            </a:extLst>
          </p:cNvPr>
          <p:cNvSpPr/>
          <p:nvPr/>
        </p:nvSpPr>
        <p:spPr>
          <a:xfrm flipV="1">
            <a:off x="405527" y="2035380"/>
            <a:ext cx="2808312" cy="2355192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C3DEEB-9890-4C9B-A854-C3BABC425BC6}"/>
              </a:ext>
            </a:extLst>
          </p:cNvPr>
          <p:cNvSpPr txBox="1"/>
          <p:nvPr/>
        </p:nvSpPr>
        <p:spPr>
          <a:xfrm>
            <a:off x="2838084" y="3644129"/>
            <a:ext cx="362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568FE1-C76C-4E00-966F-D7F5A2F8E931}"/>
              </a:ext>
            </a:extLst>
          </p:cNvPr>
          <p:cNvSpPr txBox="1"/>
          <p:nvPr/>
        </p:nvSpPr>
        <p:spPr>
          <a:xfrm>
            <a:off x="488273" y="3643752"/>
            <a:ext cx="572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A802BB-A59C-4CA0-8794-D20F6C7FF76A}"/>
              </a:ext>
            </a:extLst>
          </p:cNvPr>
          <p:cNvSpPr txBox="1"/>
          <p:nvPr/>
        </p:nvSpPr>
        <p:spPr>
          <a:xfrm>
            <a:off x="1475109" y="1737992"/>
            <a:ext cx="637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31D767-1609-46B7-A07C-BD788160FF56}"/>
              </a:ext>
            </a:extLst>
          </p:cNvPr>
          <p:cNvSpPr txBox="1"/>
          <p:nvPr/>
        </p:nvSpPr>
        <p:spPr>
          <a:xfrm>
            <a:off x="4283968" y="1484784"/>
            <a:ext cx="4201861" cy="646331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Determine an equation of this quadratic graph.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462BF92-F65B-4DB2-96B1-FADE90DB3C21}"/>
                  </a:ext>
                </a:extLst>
              </p:cNvPr>
              <p:cNvSpPr txBox="1"/>
              <p:nvPr/>
            </p:nvSpPr>
            <p:spPr>
              <a:xfrm>
                <a:off x="4309366" y="2242420"/>
                <a:ext cx="4176463" cy="4296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 good start to get the roots correct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+3)(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−3)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The minus on the front ensures we get a negative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term for the correct shape.</a:t>
                </a:r>
              </a:p>
              <a:p>
                <a:endParaRPr lang="en-GB" dirty="0"/>
              </a:p>
              <a:p>
                <a:r>
                  <a:rPr lang="en-GB" dirty="0"/>
                  <a:t>Expanding this gives us the incorrect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-intercept of 9: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+9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To scale 9 to 10, without affecting the root, we need to scale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en-GB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+3)(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−3)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Or more cleanly: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den>
                      </m:f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462BF92-F65B-4DB2-96B1-FADE90DB3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366" y="2242420"/>
                <a:ext cx="4176463" cy="4296304"/>
              </a:xfrm>
              <a:prstGeom prst="rect">
                <a:avLst/>
              </a:prstGeom>
              <a:blipFill>
                <a:blip r:embed="rId4"/>
                <a:stretch>
                  <a:fillRect l="-1314" t="-851" r="-23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1E748427-A99E-4DB2-B3DB-D87FEBCBB7F5}"/>
              </a:ext>
            </a:extLst>
          </p:cNvPr>
          <p:cNvSpPr/>
          <p:nvPr/>
        </p:nvSpPr>
        <p:spPr>
          <a:xfrm>
            <a:off x="4283998" y="2131114"/>
            <a:ext cx="4201831" cy="44076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2576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</p:bldLst>
  </p:timing>
</p:sld>
</file>

<file path=ppt/c2/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2F Pure Y1 Page 30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5306AB0-628F-3BAF-F364-DFD3780674C9}"/>
              </a:ext>
            </a:extLst>
          </p:cNvPr>
          <p:cNvGrpSpPr/>
          <p:nvPr/>
        </p:nvGrpSpPr>
        <p:grpSpPr>
          <a:xfrm>
            <a:off x="107504" y="599127"/>
            <a:ext cx="7272808" cy="4608512"/>
            <a:chOff x="179512" y="836712"/>
            <a:chExt cx="7776864" cy="504770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9E4B7D-16BD-7806-02C0-7D593009E3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512" y="836712"/>
              <a:ext cx="6948264" cy="5047709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0609F6F-9A36-8720-C456-F79D1FB8C850}"/>
                </a:ext>
              </a:extLst>
            </p:cNvPr>
            <p:cNvSpPr/>
            <p:nvPr/>
          </p:nvSpPr>
          <p:spPr>
            <a:xfrm>
              <a:off x="6732240" y="1412776"/>
              <a:ext cx="1224136" cy="24482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3E6EE461-80A6-D184-9D56-0EB0963DF0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3913" y="1028662"/>
            <a:ext cx="2863881" cy="130370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F53803E-7A74-67FD-79EC-FFEEEF5E64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051" y="2463969"/>
            <a:ext cx="2636162" cy="278018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CE891EB-41A8-79D6-6963-0E7EB65B7D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3913" y="5085184"/>
            <a:ext cx="2923158" cy="1685881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385C634-37CF-8AD9-7064-EEEFD09FD424}"/>
              </a:ext>
            </a:extLst>
          </p:cNvPr>
          <p:cNvSpPr/>
          <p:nvPr/>
        </p:nvSpPr>
        <p:spPr>
          <a:xfrm>
            <a:off x="6084167" y="991592"/>
            <a:ext cx="3044927" cy="13407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565B948-6027-A835-1362-70B87C5E76A7}"/>
              </a:ext>
            </a:extLst>
          </p:cNvPr>
          <p:cNvSpPr/>
          <p:nvPr/>
        </p:nvSpPr>
        <p:spPr>
          <a:xfrm>
            <a:off x="6084167" y="2411591"/>
            <a:ext cx="3044927" cy="12682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97BF7A3-2FD0-BAD8-6012-844D5AFD2BD2}"/>
              </a:ext>
            </a:extLst>
          </p:cNvPr>
          <p:cNvSpPr/>
          <p:nvPr/>
        </p:nvSpPr>
        <p:spPr>
          <a:xfrm>
            <a:off x="6084167" y="3773347"/>
            <a:ext cx="3044927" cy="12682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2B4BABF-09D9-D202-5559-BBC4DDD16C21}"/>
              </a:ext>
            </a:extLst>
          </p:cNvPr>
          <p:cNvSpPr/>
          <p:nvPr/>
        </p:nvSpPr>
        <p:spPr>
          <a:xfrm>
            <a:off x="6084167" y="5158949"/>
            <a:ext cx="3044927" cy="16121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d?</a:t>
            </a:r>
          </a:p>
        </p:txBody>
      </p:sp>
    </p:spTree>
    <p:extLst>
      <p:ext uri="{BB962C8B-B14F-4D97-AF65-F5344CB8AC3E}">
        <p14:creationId xmlns:p14="http://schemas.microsoft.com/office/powerpoint/2010/main" val="1675875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  <p:bldP spid="40" grpId="0" animBg="1"/>
    </p:bldLst>
  </p:timing>
</p:sld>
</file>

<file path=ppt/c2/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2F Pure Y1 Page 30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89062" y="2596902"/>
                <a:ext cx="6192688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[MAT 2003 1H] Into how many regions is the plane divided when the following three parabolas are drawn?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062" y="2596902"/>
                <a:ext cx="6192688" cy="1477328"/>
              </a:xfrm>
              <a:prstGeom prst="rect">
                <a:avLst/>
              </a:prstGeom>
              <a:blipFill>
                <a:blip r:embed="rId3"/>
                <a:stretch>
                  <a:fillRect l="-886" t="-2066" r="-1476" b="-12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76910" y="2338221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Extension Question: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59718" y="4782294"/>
                <a:ext cx="3456384" cy="1218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Completing the square: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718" y="4782294"/>
                <a:ext cx="3456384" cy="1218988"/>
              </a:xfrm>
              <a:prstGeom prst="rect">
                <a:avLst/>
              </a:prstGeom>
              <a:blipFill>
                <a:blip r:embed="rId4"/>
                <a:stretch>
                  <a:fillRect l="-1411" t="-2500" b="-1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/>
          <p:nvPr/>
        </p:nvCxnSpPr>
        <p:spPr>
          <a:xfrm>
            <a:off x="4571428" y="6237312"/>
            <a:ext cx="309691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6006058" y="4445299"/>
            <a:ext cx="0" cy="191761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Freeform 3"/>
          <p:cNvSpPr/>
          <p:nvPr/>
        </p:nvSpPr>
        <p:spPr>
          <a:xfrm>
            <a:off x="4548454" y="4724400"/>
            <a:ext cx="2728646" cy="1509705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Freeform 3"/>
          <p:cNvSpPr/>
          <p:nvPr/>
        </p:nvSpPr>
        <p:spPr>
          <a:xfrm>
            <a:off x="3995936" y="4445299"/>
            <a:ext cx="2728646" cy="1509705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 3"/>
          <p:cNvSpPr/>
          <p:nvPr/>
        </p:nvSpPr>
        <p:spPr>
          <a:xfrm>
            <a:off x="5043822" y="4854810"/>
            <a:ext cx="2728646" cy="1509705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5652120" y="4854810"/>
            <a:ext cx="353938" cy="3453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sp>
        <p:nvSpPr>
          <p:cNvPr id="18" name="Oval 17"/>
          <p:cNvSpPr/>
          <p:nvPr/>
        </p:nvSpPr>
        <p:spPr>
          <a:xfrm>
            <a:off x="4057146" y="5576543"/>
            <a:ext cx="353938" cy="3453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9" name="Oval 18"/>
          <p:cNvSpPr/>
          <p:nvPr/>
        </p:nvSpPr>
        <p:spPr>
          <a:xfrm>
            <a:off x="4217490" y="4789988"/>
            <a:ext cx="353938" cy="3453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4710589" y="4962658"/>
            <a:ext cx="353938" cy="3453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21" name="Oval 20"/>
          <p:cNvSpPr/>
          <p:nvPr/>
        </p:nvSpPr>
        <p:spPr>
          <a:xfrm>
            <a:off x="6538161" y="5182908"/>
            <a:ext cx="353938" cy="3453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22" name="Oval 21"/>
          <p:cNvSpPr/>
          <p:nvPr/>
        </p:nvSpPr>
        <p:spPr>
          <a:xfrm>
            <a:off x="7120122" y="5373198"/>
            <a:ext cx="353938" cy="3453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</a:p>
        </p:txBody>
      </p:sp>
      <p:sp>
        <p:nvSpPr>
          <p:cNvPr id="23" name="Oval 22"/>
          <p:cNvSpPr/>
          <p:nvPr/>
        </p:nvSpPr>
        <p:spPr>
          <a:xfrm>
            <a:off x="5508066" y="5955883"/>
            <a:ext cx="225984" cy="2036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809098" y="4066140"/>
                <a:ext cx="3767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098" y="4066140"/>
                <a:ext cx="376794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7561097" y="5993580"/>
                <a:ext cx="3767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1097" y="5993580"/>
                <a:ext cx="37679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/>
          <p:cNvSpPr/>
          <p:nvPr/>
        </p:nvSpPr>
        <p:spPr>
          <a:xfrm>
            <a:off x="316286" y="4148245"/>
            <a:ext cx="8103813" cy="25192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B1FEE17-E334-5FD7-AE33-F5565BF9AE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72" y="624119"/>
            <a:ext cx="7005400" cy="68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79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c2/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1454" y="956038"/>
            <a:ext cx="8352928" cy="461665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400" dirty="0"/>
              <a:t>How many </a:t>
            </a:r>
            <a:r>
              <a:rPr lang="en-GB" sz="2400" b="1" dirty="0"/>
              <a:t>distinct</a:t>
            </a:r>
            <a:r>
              <a:rPr lang="en-GB" sz="2400" dirty="0"/>
              <a:t> real solutions do each of the following have?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94409" y="1915141"/>
                <a:ext cx="8712968" cy="25438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−12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+36=0</m:t>
                    </m:r>
                  </m:oMath>
                </a14:m>
                <a:r>
                  <a:rPr lang="en-GB" sz="2800" dirty="0"/>
                  <a:t>	</a:t>
                </a:r>
                <a14:m>
                  <m:oMath xmlns:m="http://schemas.openxmlformats.org/officeDocument/2006/math">
                    <m:r>
                      <a:rPr lang="en-GB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800" b="1" i="1" smtClean="0"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en-GB" sz="2800" b="1" dirty="0"/>
                  <a:t> (1 distinct solution)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+3=0</m:t>
                    </m:r>
                  </m:oMath>
                </a14:m>
                <a:r>
                  <a:rPr lang="en-GB" sz="2800" dirty="0"/>
                  <a:t>		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−1±</m:t>
                        </m:r>
                        <m:rad>
                          <m:radPr>
                            <m:degHide m:val="on"/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−11</m:t>
                            </m:r>
                          </m:e>
                        </m:rad>
                      </m:num>
                      <m:den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br>
                  <a:rPr lang="en-GB" sz="2800" b="1" dirty="0"/>
                </a:br>
                <a:r>
                  <a:rPr lang="en-GB" sz="2800" b="1" dirty="0"/>
                  <a:t>                                            We can’t square root -11,</a:t>
                </a:r>
                <a:br>
                  <a:rPr lang="en-GB" sz="2800" b="1" dirty="0"/>
                </a:br>
                <a:r>
                  <a:rPr lang="en-GB" sz="2800" b="1" dirty="0"/>
                  <a:t>                                            Therefore no real solutions.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−1=0</m:t>
                    </m:r>
                  </m:oMath>
                </a14:m>
                <a:r>
                  <a:rPr lang="en-GB" sz="2800" dirty="0"/>
                  <a:t>		</a:t>
                </a:r>
                <a14:m>
                  <m:oMath xmlns:m="http://schemas.openxmlformats.org/officeDocument/2006/math">
                    <m:r>
                      <a:rPr lang="en-GB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8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2800" b="1" i="1" smtClean="0"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GB" sz="28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</m:oMath>
                </a14:m>
                <a:r>
                  <a:rPr lang="en-GB" sz="2800" b="1" dirty="0"/>
                  <a:t> (2 distinct solutions)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409" y="1915141"/>
                <a:ext cx="8712968" cy="2543838"/>
              </a:xfrm>
              <a:prstGeom prst="rect">
                <a:avLst/>
              </a:prstGeom>
              <a:blipFill>
                <a:blip r:embed="rId2"/>
                <a:stretch>
                  <a:fillRect t="-2158" r="-770" b="-59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3948822" y="1890334"/>
            <a:ext cx="5050034" cy="536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8" name="Rectangle 7"/>
          <p:cNvSpPr/>
          <p:nvPr/>
        </p:nvSpPr>
        <p:spPr>
          <a:xfrm>
            <a:off x="3954885" y="2417185"/>
            <a:ext cx="5043972" cy="14291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3948821" y="3846286"/>
            <a:ext cx="5050035" cy="637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11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Starter</a:t>
              </a:r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2384745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c2/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5: The Discriminant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66972" y="3660668"/>
                <a:ext cx="8208912" cy="15946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Looking at this formula, when in general do you think we have:</a:t>
                </a:r>
              </a:p>
              <a:p>
                <a:pPr marL="342900" indent="-342900">
                  <a:buFont typeface="Arial" pitchFamily="34" charset="0"/>
                  <a:buChar char="•"/>
                </a:pPr>
                <a:r>
                  <a:rPr lang="en-GB" sz="2400" dirty="0"/>
                  <a:t>No real roots?      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𝒂𝒄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sz="2400" b="1" dirty="0"/>
              </a:p>
              <a:p>
                <a:pPr marL="342900" indent="-342900">
                  <a:buFont typeface="Arial" pitchFamily="34" charset="0"/>
                  <a:buChar char="•"/>
                </a:pPr>
                <a:r>
                  <a:rPr lang="en-GB" sz="2400" dirty="0"/>
                  <a:t>Equal roots?      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𝒂𝒄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sz="2400" b="1" dirty="0"/>
              </a:p>
              <a:p>
                <a:pPr marL="342900" indent="-342900">
                  <a:buFont typeface="Arial" pitchFamily="34" charset="0"/>
                  <a:buChar char="•"/>
                </a:pPr>
                <a:r>
                  <a:rPr lang="en-GB" sz="2400" dirty="0"/>
                  <a:t>Two distinct roots?   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𝒂𝒄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72" y="3660668"/>
                <a:ext cx="8208912" cy="1594667"/>
              </a:xfrm>
              <a:prstGeom prst="rect">
                <a:avLst/>
              </a:prstGeom>
              <a:blipFill>
                <a:blip r:embed="rId2"/>
                <a:stretch>
                  <a:fillRect l="-1189" t="-3065" b="-80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276890" y="1200160"/>
                <a:ext cx="5004910" cy="1638654"/>
              </a:xfrm>
              <a:prstGeom prst="rect">
                <a:avLst/>
              </a:prstGeom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𝑏𝑥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sz="3200" b="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/>
                        </a:rPr>
                        <m:t>𝑥</m:t>
                      </m:r>
                      <m:r>
                        <a:rPr lang="en-GB" sz="32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GB" sz="3200" b="0" i="1" smtClean="0">
                              <a:latin typeface="Cambria Math"/>
                            </a:rPr>
                            <m:t>𝑏</m:t>
                          </m:r>
                          <m:r>
                            <a:rPr lang="en-GB" sz="3200" b="0" i="1" smtClean="0">
                              <a:latin typeface="Cambria Math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GB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b="0" i="1" smtClean="0"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GB" sz="32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3200" b="0" i="1" smtClean="0">
                                  <a:latin typeface="Cambria Math"/>
                                </a:rPr>
                                <m:t>−4</m:t>
                              </m:r>
                              <m:r>
                                <a:rPr lang="en-GB" sz="3200" b="0" i="1" smtClean="0">
                                  <a:latin typeface="Cambria Math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lang="en-GB" sz="3200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GB" sz="3200" b="0" i="1" smtClean="0">
                              <a:latin typeface="Cambria Math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890" y="1200160"/>
                <a:ext cx="5004910" cy="16386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896999" y="6068462"/>
                <a:ext cx="5256584" cy="46166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400" i="1" baseline="30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 – 4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𝑎𝑐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400" dirty="0"/>
                  <a:t>is known as the discriminant.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6999" y="6068462"/>
                <a:ext cx="5256584" cy="461665"/>
              </a:xfrm>
              <a:prstGeom prst="rect">
                <a:avLst/>
              </a:prstGeom>
              <a:blipFill>
                <a:blip r:embed="rId4"/>
                <a:stretch>
                  <a:fillRect t="-7500"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3973256" y="4064704"/>
            <a:ext cx="2462323" cy="3661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3256" y="4430815"/>
            <a:ext cx="2462323" cy="3661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3255" y="4796926"/>
            <a:ext cx="2462323" cy="3661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1" name="Right Brace 10"/>
          <p:cNvSpPr/>
          <p:nvPr/>
        </p:nvSpPr>
        <p:spPr>
          <a:xfrm>
            <a:off x="7038451" y="4093027"/>
            <a:ext cx="125837" cy="1098333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7120745" y="4386567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Wingdings" panose="05000000000000000000" pitchFamily="2" charset="2"/>
              </a:rPr>
              <a:t>!</a:t>
            </a:r>
            <a:endParaRPr lang="en-GB" dirty="0">
              <a:latin typeface="Wingdings" panose="05000000000000000000" pitchFamily="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507066" y="853501"/>
                <a:ext cx="2425013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i="1" dirty="0"/>
                  <a:t>Note</a:t>
                </a:r>
                <a:r>
                  <a:rPr lang="en-GB" dirty="0"/>
                  <a:t>: Roots of a </a:t>
                </a:r>
                <a:r>
                  <a:rPr lang="en-GB" b="1" u="sng" dirty="0"/>
                  <a:t>function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dirty="0"/>
                  <a:t> are the values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such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. </a:t>
                </a:r>
              </a:p>
              <a:p>
                <a:r>
                  <a:rPr lang="en-GB" dirty="0"/>
                  <a:t>Similarly the roots of an </a:t>
                </a:r>
                <a:r>
                  <a:rPr lang="en-GB" b="1" u="sng" dirty="0"/>
                  <a:t>equation</a:t>
                </a:r>
                <a:r>
                  <a:rPr lang="en-GB" dirty="0"/>
                  <a:t> are solutions to an equation in the form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7066" y="853501"/>
                <a:ext cx="2425013" cy="2308324"/>
              </a:xfrm>
              <a:prstGeom prst="rect">
                <a:avLst/>
              </a:prstGeom>
              <a:blipFill>
                <a:blip r:embed="rId5"/>
                <a:stretch>
                  <a:fillRect l="-2010" t="-1319" r="-3266" b="-31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4978400" y="5356935"/>
            <a:ext cx="3953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Because adding 0 or subtracting 0 in the quadratic formula gives the same value.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 flipV="1">
            <a:off x="6502400" y="4659086"/>
            <a:ext cx="301848" cy="6978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603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4" grpId="0"/>
    </p:bldLst>
  </p:timing>
</p:sld>
</file>

<file path=ppt/c2/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5: The Discriminant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5" name="Straight Arrow Connector 4"/>
          <p:cNvCxnSpPr/>
          <p:nvPr/>
        </p:nvCxnSpPr>
        <p:spPr>
          <a:xfrm>
            <a:off x="562113" y="2564769"/>
            <a:ext cx="2689087" cy="1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1742976" y="1102917"/>
            <a:ext cx="0" cy="23255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Freeform 3"/>
          <p:cNvSpPr/>
          <p:nvPr/>
        </p:nvSpPr>
        <p:spPr>
          <a:xfrm>
            <a:off x="699209" y="1103086"/>
            <a:ext cx="2551991" cy="1755963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194248" y="2355439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248" y="2355439"/>
                <a:ext cx="28803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562901" y="731556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901" y="731556"/>
                <a:ext cx="288032" cy="369332"/>
              </a:xfrm>
              <a:prstGeom prst="rect">
                <a:avLst/>
              </a:prstGeom>
              <a:blipFill>
                <a:blip r:embed="rId3"/>
                <a:stretch>
                  <a:fillRect r="-4167"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01216" y="3996713"/>
                <a:ext cx="288032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𝒂𝒄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216" y="3996713"/>
                <a:ext cx="2880320" cy="5329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122741" y="3621024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Distinct real roots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1262743" y="2641600"/>
            <a:ext cx="116114" cy="1001486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1843314" y="2641600"/>
            <a:ext cx="827315" cy="104503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6048109" y="1868083"/>
            <a:ext cx="2689087" cy="1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7199943" y="1102917"/>
            <a:ext cx="0" cy="23255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Freeform 3"/>
          <p:cNvSpPr/>
          <p:nvPr/>
        </p:nvSpPr>
        <p:spPr>
          <a:xfrm rot="10800000">
            <a:off x="6431947" y="1872343"/>
            <a:ext cx="2551991" cy="1755963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8767329" y="1658753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7329" y="1658753"/>
                <a:ext cx="28803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019868" y="731556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9868" y="731556"/>
                <a:ext cx="288032" cy="369332"/>
              </a:xfrm>
              <a:prstGeom prst="rect">
                <a:avLst/>
              </a:prstGeom>
              <a:blipFill>
                <a:blip r:embed="rId6"/>
                <a:stretch>
                  <a:fillRect r="-6383"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904926" y="4011227"/>
                <a:ext cx="288032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𝒂𝒄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4926" y="4011227"/>
                <a:ext cx="2880320" cy="53296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6139542" y="3621024"/>
            <a:ext cx="23204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Equal roots</a:t>
            </a:r>
          </a:p>
        </p:txBody>
      </p:sp>
      <p:cxnSp>
        <p:nvCxnSpPr>
          <p:cNvPr id="33" name="Straight Arrow Connector 32"/>
          <p:cNvCxnSpPr/>
          <p:nvPr/>
        </p:nvCxnSpPr>
        <p:spPr>
          <a:xfrm flipV="1">
            <a:off x="7300281" y="2061029"/>
            <a:ext cx="363262" cy="1625601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2986384" y="5328435"/>
            <a:ext cx="2689087" cy="1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4256147" y="3308303"/>
            <a:ext cx="0" cy="23255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Freeform 3"/>
          <p:cNvSpPr/>
          <p:nvPr/>
        </p:nvSpPr>
        <p:spPr>
          <a:xfrm>
            <a:off x="3212380" y="3308472"/>
            <a:ext cx="2551991" cy="1755963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5643919" y="5145025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3919" y="5145025"/>
                <a:ext cx="28803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4076072" y="2936942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072" y="2936942"/>
                <a:ext cx="288032" cy="369332"/>
              </a:xfrm>
              <a:prstGeom prst="rect">
                <a:avLst/>
              </a:prstGeom>
              <a:blipFill>
                <a:blip r:embed="rId9"/>
                <a:stretch>
                  <a:fillRect r="-6383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714387" y="6202099"/>
                <a:ext cx="288032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𝒂𝒄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4387" y="6202099"/>
                <a:ext cx="2880320" cy="53296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/>
          <p:cNvSpPr txBox="1"/>
          <p:nvPr/>
        </p:nvSpPr>
        <p:spPr>
          <a:xfrm>
            <a:off x="2635912" y="5826410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No real roots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44680" y="1230412"/>
            <a:ext cx="1656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We say the graph “touches” the axis.</a:t>
            </a:r>
          </a:p>
        </p:txBody>
      </p:sp>
    </p:spTree>
    <p:extLst>
      <p:ext uri="{BB962C8B-B14F-4D97-AF65-F5344CB8AC3E}">
        <p14:creationId xmlns:p14="http://schemas.microsoft.com/office/powerpoint/2010/main" val="1773958153"/>
      </p:ext>
    </p:extLst>
  </p:cSld>
  <p:clrMapOvr>
    <a:masterClrMapping/>
  </p:clrMapOvr>
</p:sld>
</file>

<file path=ppt/c2/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Just for your interest…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533400" y="787684"/>
            <a:ext cx="688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Why do we say “Equal Roots” not “One root”?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97596" y="1474561"/>
                <a:ext cx="273119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−12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+36=0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596" y="1474561"/>
                <a:ext cx="2731197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68737" y="1912579"/>
                <a:ext cx="3794260" cy="16466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Using the quadratic formula gives us the same value in both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GB" sz="1600" dirty="0"/>
                  <a:t> cases: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endParaRPr lang="en-GB" sz="500" dirty="0"/>
              </a:p>
              <a:p>
                <a:r>
                  <a:rPr lang="en-GB" sz="1600" dirty="0"/>
                  <a:t>You might wonder why we say “</a:t>
                </a:r>
                <a:r>
                  <a:rPr lang="en-GB" sz="1600" i="1" dirty="0"/>
                  <a:t>it has one repeated root</a:t>
                </a:r>
                <a:r>
                  <a:rPr lang="en-GB" sz="1600" dirty="0"/>
                  <a:t>” or “</a:t>
                </a:r>
                <a:r>
                  <a:rPr lang="en-GB" sz="1600" i="1" dirty="0"/>
                  <a:t>it has equal roots</a:t>
                </a:r>
                <a:r>
                  <a:rPr lang="en-GB" sz="1600" dirty="0"/>
                  <a:t>”, i.e. indicating we have </a:t>
                </a:r>
                <a:r>
                  <a:rPr lang="en-GB" sz="1600" b="1" u="sng" dirty="0"/>
                  <a:t>2 roots</a:t>
                </a:r>
                <a:r>
                  <a:rPr lang="en-GB" sz="1600" dirty="0"/>
                  <a:t> (but with the same value). Why not say it has 1 root?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737" y="1912579"/>
                <a:ext cx="3794260" cy="1646605"/>
              </a:xfrm>
              <a:prstGeom prst="rect">
                <a:avLst/>
              </a:prstGeom>
              <a:blipFill>
                <a:blip r:embed="rId4"/>
                <a:stretch>
                  <a:fillRect l="-803" t="-1111" b="-40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984248" y="2377393"/>
                <a:ext cx="3457881" cy="70788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“Every polynomial of order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000" dirty="0"/>
                  <a:t> has exactly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000" dirty="0"/>
                  <a:t> roots.”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4248" y="2377393"/>
                <a:ext cx="3457881" cy="707886"/>
              </a:xfrm>
              <a:prstGeom prst="rect">
                <a:avLst/>
              </a:prstGeom>
              <a:blipFill>
                <a:blip r:embed="rId5"/>
                <a:stretch>
                  <a:fillRect b="-3571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155998" y="3504799"/>
                <a:ext cx="1803487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A </a:t>
                </a:r>
                <a:r>
                  <a:rPr lang="en-GB" sz="1200" b="1" dirty="0"/>
                  <a:t>polynomial</a:t>
                </a:r>
                <a:r>
                  <a:rPr lang="en-GB" sz="1200" dirty="0"/>
                  <a:t> is an expression with </a:t>
                </a:r>
                <a:br>
                  <a:rPr lang="en-GB" sz="1200" dirty="0"/>
                </a:br>
                <a:r>
                  <a:rPr lang="en-GB" sz="1200" dirty="0"/>
                  <a:t>non-negative integer powers of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dirty="0"/>
                  <a:t>, i.e. </a:t>
                </a:r>
                <a:endParaRPr lang="en-GB" sz="12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𝑏𝑥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GB" sz="1200" dirty="0"/>
              </a:p>
              <a:p>
                <a:r>
                  <a:rPr lang="en-GB" sz="1200" dirty="0"/>
                  <a:t>All linear, quadratic and cubic expressions are examples of polynomials.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5998" y="3504799"/>
                <a:ext cx="1803487" cy="1569660"/>
              </a:xfrm>
              <a:prstGeom prst="rect">
                <a:avLst/>
              </a:prstGeom>
              <a:blipFill>
                <a:blip r:embed="rId6"/>
                <a:stretch>
                  <a:fillRect l="-338" t="-389" b="-23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>
          <a:xfrm flipV="1">
            <a:off x="5271881" y="3320345"/>
            <a:ext cx="180652" cy="207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904575" y="3608585"/>
                <a:ext cx="1131260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The </a:t>
                </a:r>
                <a:r>
                  <a:rPr lang="en-GB" sz="1200" b="1" dirty="0"/>
                  <a:t>order</a:t>
                </a:r>
                <a:r>
                  <a:rPr lang="en-GB" sz="1200" dirty="0"/>
                  <a:t> of a polynomial is its highest power of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dirty="0"/>
                  <a:t>. So the order of a quadratic is 2, and a cubic 3.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4575" y="3608585"/>
                <a:ext cx="1131260" cy="1384995"/>
              </a:xfrm>
              <a:prstGeom prst="rect">
                <a:avLst/>
              </a:prstGeom>
              <a:blipFill>
                <a:blip r:embed="rId7"/>
                <a:stretch>
                  <a:fillRect l="-541" t="-441" b="-26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V="1">
            <a:off x="6423377" y="3286477"/>
            <a:ext cx="135467" cy="293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7089422" y="3422301"/>
                <a:ext cx="1958363" cy="3619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These roots might be repeated or might not be ‘real’ roots.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rad>
                  </m:oMath>
                </a14:m>
                <a:r>
                  <a:rPr lang="en-GB" sz="1200" dirty="0"/>
                  <a:t> is known as a </a:t>
                </a:r>
                <a:r>
                  <a:rPr lang="en-GB" sz="1200" b="1" dirty="0"/>
                  <a:t>complex number</a:t>
                </a:r>
                <a:r>
                  <a:rPr lang="en-GB" sz="1200" dirty="0"/>
                  <a:t>, which you will encounter if you do FM. But </a:t>
                </a:r>
                <a:r>
                  <a:rPr lang="en-GB" sz="1200" b="1" dirty="0"/>
                  <a:t>it is still a value</a:t>
                </a:r>
                <a:r>
                  <a:rPr lang="en-GB" sz="1200" dirty="0"/>
                  <a:t>!</a:t>
                </a:r>
              </a:p>
              <a:p>
                <a:endParaRPr lang="en-GB" sz="300" dirty="0"/>
              </a:p>
              <a:p>
                <a:r>
                  <a:rPr lang="en-GB" sz="1200" dirty="0"/>
                  <a:t>The theorem means that a quadratic (order 2) will </a:t>
                </a:r>
                <a:r>
                  <a:rPr lang="en-GB" sz="1200" b="1" u="sng" dirty="0"/>
                  <a:t>always</a:t>
                </a:r>
                <a:r>
                  <a:rPr lang="en-GB" sz="1200" dirty="0"/>
                  <a:t> have 2 roots. This is why you should say “no </a:t>
                </a:r>
                <a:r>
                  <a:rPr lang="en-GB" sz="1200" b="1" dirty="0"/>
                  <a:t>real</a:t>
                </a:r>
                <a:r>
                  <a:rPr lang="en-GB" sz="1200" dirty="0"/>
                  <a:t> roots” when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𝑎𝑐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GB" sz="1200" dirty="0"/>
                  <a:t> rather than “no roots”, because there are still roots – it’s just they’re not ‘real’! Similarly we must say “</a:t>
                </a:r>
                <a:r>
                  <a:rPr lang="en-GB" sz="1200" i="1" dirty="0"/>
                  <a:t>equal roots</a:t>
                </a:r>
                <a:r>
                  <a:rPr lang="en-GB" sz="1200" dirty="0"/>
                  <a:t>” because there are still 2 roots.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422" y="3422301"/>
                <a:ext cx="1958363" cy="3619004"/>
              </a:xfrm>
              <a:prstGeom prst="rect">
                <a:avLst/>
              </a:prstGeom>
              <a:blipFill>
                <a:blip r:embed="rId8"/>
                <a:stretch>
                  <a:fillRect l="-312" r="-12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H="1" flipV="1">
            <a:off x="7636277" y="3184879"/>
            <a:ext cx="186923" cy="201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984247" y="1726618"/>
            <a:ext cx="3457881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GB" dirty="0"/>
              <a:t>It is due to the </a:t>
            </a:r>
            <a:r>
              <a:rPr lang="en-GB" b="1" dirty="0"/>
              <a:t>Fundamental Theorem of Algebra</a:t>
            </a:r>
            <a:r>
              <a:rPr lang="en-GB" dirty="0"/>
              <a:t>:</a:t>
            </a:r>
          </a:p>
        </p:txBody>
      </p:sp>
      <p:sp>
        <p:nvSpPr>
          <p:cNvPr id="21" name="Arrow: Right 20"/>
          <p:cNvSpPr/>
          <p:nvPr/>
        </p:nvSpPr>
        <p:spPr>
          <a:xfrm>
            <a:off x="4237424" y="2205772"/>
            <a:ext cx="504056" cy="29830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16912" y="3691326"/>
                <a:ext cx="3947087" cy="308353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Despite the theorem being a simple statement, it was only until 1806 that it was first proven by </a:t>
                </a:r>
                <a:r>
                  <a:rPr lang="en-GB" sz="1200" b="1" dirty="0"/>
                  <a:t>Argand</a:t>
                </a:r>
                <a:r>
                  <a:rPr lang="en-GB" sz="1200" dirty="0"/>
                  <a:t>. Clearly by using the quadratic formula we can show a quadratic equation has 2 roots. We can use similar formulas to show that a cubic has 3 roots and a quartic 4 roots. But there is </a:t>
                </a:r>
                <a:r>
                  <a:rPr lang="en-GB" sz="1200" b="1" dirty="0"/>
                  <a:t>provably</a:t>
                </a:r>
                <a:r>
                  <a:rPr lang="en-GB" sz="1200" dirty="0"/>
                  <a:t> no such formulae for order 5 (quintics) and beyond. So we have to prove for example that 5 roots exist for a quintic, despite us having no way to find these exact roots!</a:t>
                </a:r>
              </a:p>
              <a:p>
                <a:endParaRPr lang="en-GB" sz="600" dirty="0"/>
              </a:p>
              <a:p>
                <a:r>
                  <a:rPr lang="en-GB" sz="1200" b="1" dirty="0"/>
                  <a:t>One side result of the Fundamental Theorem of Algebra is that every polynomial can be written as a </a:t>
                </a:r>
                <a:r>
                  <a:rPr lang="en-GB" sz="1200" b="1" u="sng" dirty="0"/>
                  <a:t>product of linear and/or quadratic expressions</a:t>
                </a:r>
                <a:r>
                  <a:rPr lang="en-GB" sz="1200" b="1" dirty="0"/>
                  <a:t>.</a:t>
                </a:r>
              </a:p>
              <a:p>
                <a:endParaRPr lang="en-GB" sz="600" b="1" dirty="0"/>
              </a:p>
              <a:p>
                <a:r>
                  <a:rPr lang="en-GB" sz="1200" dirty="0"/>
                  <a:t>Leibniz claimed in 1702 that a polynomial of the form </a:t>
                </a:r>
                <a:br>
                  <a:rPr lang="en-GB" sz="1200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GB" sz="1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1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GB" sz="1200" dirty="0"/>
                  <a:t> cannot be written in this way. He then got completely burned by Euler in 1742 who managed to do so: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ad>
                            <m:radPr>
                              <m:degHide m:val="on"/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ad>
                            <m:radPr>
                              <m:degHide m:val="on"/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12" y="3691326"/>
                <a:ext cx="3947087" cy="308353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/>
          <p:cNvCxnSpPr/>
          <p:nvPr/>
        </p:nvCxnSpPr>
        <p:spPr>
          <a:xfrm flipV="1">
            <a:off x="7025957" y="5382440"/>
            <a:ext cx="0" cy="11848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Arrow: Right 31"/>
          <p:cNvSpPr/>
          <p:nvPr/>
        </p:nvSpPr>
        <p:spPr>
          <a:xfrm>
            <a:off x="3918776" y="5744098"/>
            <a:ext cx="314559" cy="30416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4284319" y="5322582"/>
                <a:ext cx="2591938" cy="138499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GB" sz="1200" dirty="0"/>
                  <a:t>There are various other ‘Fundamental Laws’. The ‘</a:t>
                </a:r>
                <a:r>
                  <a:rPr lang="en-GB" sz="1200" b="1" dirty="0"/>
                  <a:t>FL of Arithmetic</a:t>
                </a:r>
                <a:r>
                  <a:rPr lang="en-GB" sz="1200" dirty="0"/>
                  <a:t>’ you encountered at KS3, which states that “</a:t>
                </a:r>
                <a:r>
                  <a:rPr lang="en-GB" sz="1200" i="1" dirty="0"/>
                  <a:t>every positive integer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GB" sz="1200" i="1" dirty="0"/>
                  <a:t> can be written as a product of primes in one way only</a:t>
                </a:r>
                <a:r>
                  <a:rPr lang="en-GB" sz="1200" dirty="0"/>
                  <a:t>”. You will encounter the ‘</a:t>
                </a:r>
                <a:r>
                  <a:rPr lang="en-GB" sz="1200" b="1" dirty="0"/>
                  <a:t>FL of Calculus</a:t>
                </a:r>
                <a:r>
                  <a:rPr lang="en-GB" sz="1200" dirty="0"/>
                  <a:t>’ in Chapter 13.</a:t>
                </a: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4319" y="5322582"/>
                <a:ext cx="2591938" cy="1384995"/>
              </a:xfrm>
              <a:prstGeom prst="rect">
                <a:avLst/>
              </a:prstGeom>
              <a:blipFill>
                <a:blip r:embed="rId10"/>
                <a:stretch>
                  <a:fillRect b="-17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rrow: Right 21"/>
          <p:cNvSpPr/>
          <p:nvPr/>
        </p:nvSpPr>
        <p:spPr>
          <a:xfrm rot="10800000">
            <a:off x="4027525" y="5057422"/>
            <a:ext cx="2869986" cy="19341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002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0" grpId="0"/>
      <p:bldP spid="12" grpId="0"/>
      <p:bldP spid="14" grpId="0"/>
      <p:bldP spid="16" grpId="0" animBg="1"/>
      <p:bldP spid="21" grpId="0" animBg="1"/>
      <p:bldP spid="23" grpId="0" animBg="1"/>
      <p:bldP spid="32" grpId="0" animBg="1"/>
      <p:bldP spid="33" grpId="0" animBg="1"/>
      <p:bldP spid="22" grpId="0" animBg="1"/>
    </p:bldLst>
  </p:timing>
</p:sld>
</file>

<file path=ppt/c2/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 err="1"/>
                <a:t>Quickfire</a:t>
              </a:r>
              <a:r>
                <a:rPr lang="en-GB" dirty="0"/>
                <a:t> Questions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0171" y="1657828"/>
                <a:ext cx="310297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+4=0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1" y="1657828"/>
                <a:ext cx="3102971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67544" y="1124744"/>
            <a:ext cx="2808312" cy="4616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/>
              <a:t>Equation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5856" y="1124744"/>
            <a:ext cx="2808312" cy="4616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/>
              <a:t>Discriminant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69654" y="761886"/>
            <a:ext cx="2817790" cy="83099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/>
              <a:t>Number of Distinct Real Roots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275856" y="1628800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−7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1628800"/>
                <a:ext cx="2736304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156176" y="1628800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76" y="1628800"/>
                <a:ext cx="2736304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90171" y="2521924"/>
                <a:ext cx="311748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+1=0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1" y="2521924"/>
                <a:ext cx="3117485" cy="58477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203848" y="2492896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2492896"/>
                <a:ext cx="2736304" cy="5847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156176" y="2492896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76" y="2492896"/>
                <a:ext cx="2736304" cy="58477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90171" y="3458028"/>
                <a:ext cx="308845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+4=0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1" y="3458028"/>
                <a:ext cx="3088457" cy="58477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03848" y="3356992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3356992"/>
                <a:ext cx="2736304" cy="58477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156176" y="3356992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76" y="3356992"/>
                <a:ext cx="2736304" cy="58477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-29029" y="4394132"/>
                <a:ext cx="332377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−3=0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9029" y="4394132"/>
                <a:ext cx="3323772" cy="58477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203848" y="4365104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4365104"/>
                <a:ext cx="2736304" cy="58477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156176" y="4381996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76" y="4381996"/>
                <a:ext cx="2736304" cy="584775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90171" y="5330236"/>
                <a:ext cx="323359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−4−3</m:t>
                      </m:r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1" y="5330236"/>
                <a:ext cx="3233599" cy="584775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203848" y="5301208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−47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5301208"/>
                <a:ext cx="2736304" cy="584775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156176" y="5334992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76" y="5334992"/>
                <a:ext cx="2736304" cy="584775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90172" y="6122324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1−</m:t>
                      </m:r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2" y="6122324"/>
                <a:ext cx="2736304" cy="584775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3203848" y="6093296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6093296"/>
                <a:ext cx="2736304" cy="584775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156176" y="6093296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76" y="6093296"/>
                <a:ext cx="2736304" cy="584775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/>
          <p:cNvCxnSpPr/>
          <p:nvPr/>
        </p:nvCxnSpPr>
        <p:spPr>
          <a:xfrm>
            <a:off x="467544" y="2348880"/>
            <a:ext cx="842493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67544" y="3212976"/>
            <a:ext cx="842493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67544" y="4149080"/>
            <a:ext cx="842493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67544" y="5157192"/>
            <a:ext cx="842493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467544" y="6021288"/>
            <a:ext cx="842493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270820" y="1605459"/>
            <a:ext cx="2808312" cy="720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79132" y="1605459"/>
            <a:ext cx="2808312" cy="720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70820" y="2325539"/>
            <a:ext cx="2808312" cy="8640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79132" y="2325539"/>
            <a:ext cx="2808312" cy="8640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70820" y="3189635"/>
            <a:ext cx="2808312" cy="9361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79132" y="3189635"/>
            <a:ext cx="2808312" cy="9361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70820" y="4125739"/>
            <a:ext cx="2808312" cy="10081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9132" y="4125739"/>
            <a:ext cx="2808312" cy="10081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70820" y="5133851"/>
            <a:ext cx="2808312" cy="8640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79132" y="5133851"/>
            <a:ext cx="2808312" cy="8640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70820" y="5970563"/>
            <a:ext cx="2808312" cy="6754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79132" y="5970563"/>
            <a:ext cx="2808312" cy="6754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91667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c2/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980728"/>
            <a:ext cx="8105775" cy="15716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3" name="Group 2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4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Problems involving the discriminant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67544" y="3212976"/>
                <a:ext cx="6552728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GB" sz="2400" dirty="0"/>
                  <a:t>a)   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=1,  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,    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br>
                  <a:rPr lang="en-GB" sz="2400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−4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−12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−16=0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−4=0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3212976"/>
                <a:ext cx="6552728" cy="2308324"/>
              </a:xfrm>
              <a:prstGeom prst="rect">
                <a:avLst/>
              </a:prstGeom>
              <a:blipFill rotWithShape="0">
                <a:blip r:embed="rId3"/>
                <a:stretch>
                  <a:fillRect l="-1488" t="-2111" b="-13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67544" y="5607371"/>
                <a:ext cx="655272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GB" sz="2400" dirty="0"/>
                  <a:t>b) When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sz="2400" dirty="0"/>
                  <a:t>: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+8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+16=0</m:t>
                    </m:r>
                  </m:oMath>
                </a14:m>
                <a:br>
                  <a:rPr lang="en-GB" sz="2400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=0,  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5607371"/>
                <a:ext cx="6552728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1488" t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1595587" y="3158852"/>
            <a:ext cx="334813" cy="5040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1882476" y="3641584"/>
            <a:ext cx="3769643" cy="18797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70523" y="3187699"/>
            <a:ext cx="555277" cy="4286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88494" y="3136900"/>
            <a:ext cx="850206" cy="4952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2567" y="5629441"/>
            <a:ext cx="4743490" cy="8729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084168" y="3212976"/>
                <a:ext cx="2736304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Tip:</a:t>
                </a:r>
                <a:r>
                  <a:rPr lang="en-GB" dirty="0"/>
                  <a:t> Always start by writing out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 explicitly.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168" y="3212976"/>
                <a:ext cx="2736304" cy="646331"/>
              </a:xfrm>
              <a:prstGeom prst="rect">
                <a:avLst/>
              </a:prstGeom>
              <a:blipFill>
                <a:blip r:embed="rId5"/>
                <a:stretch>
                  <a:fillRect l="-1325" t="-2727" r="-1545" b="-1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222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c2/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2G Pure Y1 Page 32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9DFD094-DBE3-3C07-248E-F66EFDF8F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721367"/>
            <a:ext cx="6368636" cy="46550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FA87549-9A9D-AB49-6FA5-6711F6B10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00" y="3417884"/>
            <a:ext cx="6948264" cy="28746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0329049-2C91-8061-4A69-ED8E61365A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1640" y="1157209"/>
            <a:ext cx="3010320" cy="21529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6CA235B-71B9-CCE4-11AA-BED51BC953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1640" y="4082462"/>
            <a:ext cx="3353268" cy="159089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F7EFE9F-4532-EFE2-FAA2-59BC4E3488EF}"/>
              </a:ext>
            </a:extLst>
          </p:cNvPr>
          <p:cNvSpPr/>
          <p:nvPr/>
        </p:nvSpPr>
        <p:spPr>
          <a:xfrm>
            <a:off x="1007801" y="1184641"/>
            <a:ext cx="3769643" cy="21255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4DE333-154D-1026-11EF-5A461B97309B}"/>
              </a:ext>
            </a:extLst>
          </p:cNvPr>
          <p:cNvSpPr/>
          <p:nvPr/>
        </p:nvSpPr>
        <p:spPr>
          <a:xfrm>
            <a:off x="1007800" y="3967246"/>
            <a:ext cx="3769643" cy="21255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39654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c2/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2G Pure Y1 Page 32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BF6045C3-AB38-E11E-64E7-243A1CD7D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694369"/>
            <a:ext cx="6660232" cy="4925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7EDD53-E1C4-6AE5-A64D-A54938919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92" y="3519974"/>
            <a:ext cx="6767736" cy="3836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E1748A-F208-9478-0DAE-7DDAA3DE64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3648" y="1162921"/>
            <a:ext cx="3286584" cy="221963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374772A-9688-FF6D-E5A6-4C04E2DC8C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0332" y="3880791"/>
            <a:ext cx="3153215" cy="198147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FCF47C3-B170-7C36-9960-402FDA46BA68}"/>
              </a:ext>
            </a:extLst>
          </p:cNvPr>
          <p:cNvSpPr/>
          <p:nvPr/>
        </p:nvSpPr>
        <p:spPr>
          <a:xfrm>
            <a:off x="1259633" y="1203452"/>
            <a:ext cx="3168352" cy="22196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7AF6BE-6053-DBE1-1032-7B80A8479EBE}"/>
              </a:ext>
            </a:extLst>
          </p:cNvPr>
          <p:cNvSpPr/>
          <p:nvPr/>
        </p:nvSpPr>
        <p:spPr>
          <a:xfrm>
            <a:off x="1259633" y="3880791"/>
            <a:ext cx="3168352" cy="22196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2383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c2/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2G Pure Y1 Page 32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2705312-FDAC-7B42-B882-132C3DE7B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92" y="764704"/>
            <a:ext cx="5652120" cy="67645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1DC8B2F7-3B51-7755-E484-745B1210D153}"/>
              </a:ext>
            </a:extLst>
          </p:cNvPr>
          <p:cNvGrpSpPr/>
          <p:nvPr/>
        </p:nvGrpSpPr>
        <p:grpSpPr>
          <a:xfrm>
            <a:off x="124673" y="3685868"/>
            <a:ext cx="4735359" cy="1149605"/>
            <a:chOff x="124673" y="3225634"/>
            <a:chExt cx="4735359" cy="114960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39656B4-7D5C-BFB8-58A1-BB9A3A4001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6179"/>
            <a:stretch/>
          </p:blipFill>
          <p:spPr>
            <a:xfrm>
              <a:off x="124673" y="3225634"/>
              <a:ext cx="4303312" cy="1149605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849EC5-3BC8-9648-32C2-7D48B3998DE2}"/>
                </a:ext>
              </a:extLst>
            </p:cNvPr>
            <p:cNvSpPr/>
            <p:nvPr/>
          </p:nvSpPr>
          <p:spPr>
            <a:xfrm>
              <a:off x="3923928" y="3573016"/>
              <a:ext cx="936104" cy="2274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6F002AD-FDE6-5B99-7995-00346C638A1A}"/>
                </a:ext>
              </a:extLst>
            </p:cNvPr>
            <p:cNvSpPr/>
            <p:nvPr/>
          </p:nvSpPr>
          <p:spPr>
            <a:xfrm>
              <a:off x="3923928" y="4056003"/>
              <a:ext cx="936104" cy="2274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AB8BC223-C747-6422-39FF-77718184EF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544" y="1487610"/>
            <a:ext cx="2748131" cy="203596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68F7569-5AA9-90EB-4E67-073CD1E7FC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7984" y="1552477"/>
            <a:ext cx="2232248" cy="158849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DD8FBDD-12A4-F540-EF16-17061D2F34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528" y="4997768"/>
            <a:ext cx="2896004" cy="109552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A6EB2C4-840B-60A4-8B5E-7C096EC76A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1960" y="4853036"/>
            <a:ext cx="4039164" cy="1133633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79D1511-209D-7706-0FC6-8462D5F0E245}"/>
              </a:ext>
            </a:extLst>
          </p:cNvPr>
          <p:cNvSpPr/>
          <p:nvPr/>
        </p:nvSpPr>
        <p:spPr>
          <a:xfrm>
            <a:off x="323528" y="1512151"/>
            <a:ext cx="3744416" cy="1986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a?</a:t>
            </a:r>
            <a:endParaRPr lang="en-GB" sz="28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0F29CD-FFD8-9F23-A42D-691C1B3B5A6D}"/>
              </a:ext>
            </a:extLst>
          </p:cNvPr>
          <p:cNvSpPr/>
          <p:nvPr/>
        </p:nvSpPr>
        <p:spPr>
          <a:xfrm>
            <a:off x="323528" y="4835473"/>
            <a:ext cx="3744416" cy="15799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a?</a:t>
            </a:r>
            <a:endParaRPr lang="en-GB" sz="28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3C3E3-387C-2BEC-DEE8-A77BA77E1300}"/>
              </a:ext>
            </a:extLst>
          </p:cNvPr>
          <p:cNvSpPr/>
          <p:nvPr/>
        </p:nvSpPr>
        <p:spPr>
          <a:xfrm>
            <a:off x="4277252" y="1528036"/>
            <a:ext cx="4089388" cy="1986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A72F2F-DEDE-2FBF-32B2-788C8C31CCA9}"/>
              </a:ext>
            </a:extLst>
          </p:cNvPr>
          <p:cNvSpPr/>
          <p:nvPr/>
        </p:nvSpPr>
        <p:spPr>
          <a:xfrm>
            <a:off x="4299036" y="4775267"/>
            <a:ext cx="4089388" cy="16401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1726178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</p:bldLst>
  </p:timing>
</p:sld>
</file>

<file path=ppt/c2/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39552" y="763168"/>
                <a:ext cx="7705428" cy="106182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100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GB" sz="2100" b="0" i="1" smtClean="0">
                          <a:latin typeface="Cambria Math" panose="02040503050406030204" pitchFamily="18" charset="0"/>
                        </a:rPr>
                        <m:t>𝑘𝑥</m:t>
                      </m:r>
                      <m:r>
                        <a:rPr lang="en-GB" sz="21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1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GB" sz="21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100" b="0" i="1" smtClean="0"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r>
                        <a:rPr lang="en-GB" sz="21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sz="2100" dirty="0"/>
              </a:p>
              <a:p>
                <a:r>
                  <a:rPr lang="en-GB" sz="2100" dirty="0"/>
                  <a:t>where </a:t>
                </a:r>
                <a14:m>
                  <m:oMath xmlns:m="http://schemas.openxmlformats.org/officeDocument/2006/math">
                    <m:r>
                      <a:rPr lang="en-GB" sz="21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2100" dirty="0"/>
                  <a:t> </a:t>
                </a:r>
                <a:r>
                  <a:rPr lang="en-GB" sz="2100"/>
                  <a:t>is a constant.</a:t>
                </a:r>
                <a:endParaRPr lang="en-GB" sz="2100" dirty="0"/>
              </a:p>
              <a:p>
                <a:r>
                  <a:rPr lang="en-GB" sz="2100" dirty="0"/>
                  <a:t>Given that this equation has equal roots, determine the value of </a:t>
                </a:r>
                <a14:m>
                  <m:oMath xmlns:m="http://schemas.openxmlformats.org/officeDocument/2006/math">
                    <m:r>
                      <a:rPr lang="en-GB" sz="21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2100" dirty="0"/>
                  <a:t>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763168"/>
                <a:ext cx="7705428" cy="1061829"/>
              </a:xfrm>
              <a:prstGeom prst="rect">
                <a:avLst/>
              </a:prstGeom>
              <a:blipFill>
                <a:blip r:embed="rId2"/>
                <a:stretch>
                  <a:fillRect b="-300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885078" y="1892739"/>
                <a:ext cx="5256584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=1,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+5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−4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25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−40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−20=0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5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−8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−4=0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5078" y="1892739"/>
                <a:ext cx="5256584" cy="23083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73756" y="4365104"/>
                <a:ext cx="8395344" cy="73866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100" dirty="0"/>
                  <a:t>Find the range of values of </a:t>
                </a:r>
                <a14:m>
                  <m:oMath xmlns:m="http://schemas.openxmlformats.org/officeDocument/2006/math">
                    <m:r>
                      <a:rPr lang="en-GB" sz="21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2100" dirty="0"/>
                  <a:t> for which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1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1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100" i="1">
                        <a:latin typeface="Cambria Math" panose="02040503050406030204" pitchFamily="18" charset="0"/>
                      </a:rPr>
                      <m:t>+6</m:t>
                    </m:r>
                    <m:r>
                      <a:rPr lang="en-GB" sz="21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1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1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21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100" dirty="0"/>
                  <a:t> has two distinct real solutions.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756" y="4365104"/>
                <a:ext cx="8395344" cy="738664"/>
              </a:xfrm>
              <a:prstGeom prst="rect">
                <a:avLst/>
              </a:prstGeom>
              <a:blipFill>
                <a:blip r:embed="rId4"/>
                <a:stretch>
                  <a:fillRect b="-482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900021" y="5171510"/>
                <a:ext cx="432048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=1,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=6,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36−4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=36−4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36&gt;4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&lt;9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021" y="5171510"/>
                <a:ext cx="4320480" cy="15696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2132408" y="5171510"/>
            <a:ext cx="4455816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32407" y="1904515"/>
            <a:ext cx="5327935" cy="22175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91884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c2/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2G Pure Y1 Page 32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208475" y="2102892"/>
                <a:ext cx="2964960" cy="4433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[MAT 2011 1B] A rectangle has perimeter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1600" dirty="0"/>
                  <a:t> and area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600" dirty="0"/>
                  <a:t>. The values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600" dirty="0"/>
                  <a:t> must satisfy:</a:t>
                </a:r>
              </a:p>
              <a:p>
                <a:pPr marL="342900" indent="-342900">
                  <a:buAutoNum type="alphaUcParenR"/>
                </a:pPr>
                <a:r>
                  <a:rPr lang="en-GB" sz="1600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GB" sz="1600" b="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&gt;2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≥16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𝑃𝐴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endParaRPr lang="en-GB" sz="1600" dirty="0"/>
              </a:p>
              <a:p>
                <a:r>
                  <a:rPr lang="en-GB" sz="1400" b="1" dirty="0"/>
                  <a:t>Let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1400" b="1" dirty="0"/>
                  <a:t> and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sz="1400" b="1" dirty="0"/>
                  <a:t> be the width and height. Then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𝒙𝒚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sz="1400" b="1" dirty="0"/>
                  <a:t>. Substituting: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num>
                            <m:den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den>
                          </m:f>
                        </m:e>
                      </m:d>
                    </m:oMath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𝑷𝒙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𝑷𝒙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sz="1400" b="1" dirty="0"/>
              </a:p>
              <a:p>
                <a:r>
                  <a:rPr lang="en-GB" sz="1400" b="1" dirty="0"/>
                  <a:t>Discriminant: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en-GB" sz="1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</m:d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𝟒</m:t>
                      </m:r>
                      <m:d>
                        <m:d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d>
                        <m:d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𝟏𝟔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𝟏𝟔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GB" sz="1600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8475" y="2102892"/>
                <a:ext cx="2964960" cy="4433650"/>
              </a:xfrm>
              <a:prstGeom prst="rect">
                <a:avLst/>
              </a:prstGeom>
              <a:blipFill>
                <a:blip r:embed="rId3"/>
                <a:stretch>
                  <a:fillRect l="-1027" t="-4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689268" y="2140992"/>
                <a:ext cx="2440225" cy="4770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[MAT 2006 1B] The equation </a:t>
                </a:r>
                <a:br>
                  <a:rPr lang="en-GB" sz="1600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2+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=16</m:t>
                    </m:r>
                  </m:oMath>
                </a14:m>
                <a:r>
                  <a:rPr lang="en-GB" sz="1600" dirty="0"/>
                  <a:t> has how many real root(s)?</a:t>
                </a:r>
              </a:p>
              <a:p>
                <a:pPr marL="342900" indent="-342900">
                  <a:buAutoNum type="alphaUcParenR"/>
                </a:pPr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=±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br>
                  <a:rPr lang="en-GB" sz="1600" b="1" dirty="0"/>
                </a:br>
                <a:endParaRPr lang="en-GB" sz="1600" b="1" dirty="0"/>
              </a:p>
              <a:p>
                <a:r>
                  <a:rPr lang="en-GB" sz="1600" b="1" dirty="0"/>
                  <a:t>First case: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br>
                  <a:rPr lang="en-GB" sz="1600" b="1" dirty="0"/>
                </a:br>
                <a:endParaRPr lang="en-GB" sz="1600" b="1" dirty="0"/>
              </a:p>
              <a:p>
                <a:r>
                  <a:rPr lang="en-GB" sz="1600" b="1" dirty="0"/>
                  <a:t>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𝒂𝒄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GB" sz="1600" b="1" dirty="0"/>
                  <a:t> no real roots.</a:t>
                </a:r>
              </a:p>
              <a:p>
                <a:endParaRPr lang="en-GB" sz="1600" b="1" dirty="0"/>
              </a:p>
              <a:p>
                <a:r>
                  <a:rPr lang="en-GB" sz="1600" b="1" dirty="0"/>
                  <a:t>Second case: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𝒐𝒓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GB" sz="1600" b="1" dirty="0"/>
              </a:p>
              <a:p>
                <a:endParaRPr lang="en-GB" sz="1000" b="1" dirty="0"/>
              </a:p>
              <a:p>
                <a:r>
                  <a:rPr lang="en-GB" sz="1600" b="1" dirty="0"/>
                  <a:t>So 2 distinct real roots.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9268" y="2140992"/>
                <a:ext cx="2440225" cy="4770537"/>
              </a:xfrm>
              <a:prstGeom prst="rect">
                <a:avLst/>
              </a:prstGeom>
              <a:blipFill>
                <a:blip r:embed="rId4"/>
                <a:stretch>
                  <a:fillRect l="-1250" t="-3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80478" y="2192502"/>
            <a:ext cx="216881" cy="2366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85659" y="2250918"/>
            <a:ext cx="216881" cy="2366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91594" y="2199864"/>
            <a:ext cx="216881" cy="2366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2540" y="3378554"/>
            <a:ext cx="2241060" cy="34032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8475" y="4077072"/>
            <a:ext cx="2891982" cy="25559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507" y="1815232"/>
            <a:ext cx="2449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Extension Questions: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58627" y="2120324"/>
                <a:ext cx="3218178" cy="47862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[MAT 2009 1C] Given a real constant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1600" dirty="0"/>
                  <a:t>, the equation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Has four real solutions (including possible repeated roots) for:</a:t>
                </a:r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GB" sz="1600" b="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≤−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all values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GB" sz="1600" dirty="0"/>
              </a:p>
              <a:p>
                <a:endParaRPr lang="en-GB" sz="1600" b="1" dirty="0"/>
              </a:p>
              <a:p>
                <a:r>
                  <a:rPr lang="en-GB" sz="1400" b="1" dirty="0"/>
                  <a:t>Square rooting: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=±(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400" b="1" dirty="0"/>
              </a:p>
              <a:p>
                <a:r>
                  <a:rPr lang="en-GB" sz="1400" b="1" dirty="0"/>
                  <a:t>Case 1: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sz="1400" b="1" dirty="0"/>
              </a:p>
              <a:p>
                <a:r>
                  <a:rPr lang="en-GB" sz="1400" b="1" dirty="0"/>
                  <a:t>Discriminant: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∴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endParaRPr lang="en-GB" sz="1400" b="1" dirty="0"/>
              </a:p>
              <a:p>
                <a:r>
                  <a:rPr lang="en-GB" sz="1400" b="1" dirty="0"/>
                  <a:t>Case 2: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sz="1400" b="1" dirty="0"/>
              </a:p>
              <a:p>
                <a:r>
                  <a:rPr lang="en-GB" sz="1400" b="1" dirty="0"/>
                  <a:t>Discriminant: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∴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≥−</m:t>
                    </m:r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endParaRPr lang="en-GB" sz="1400" b="1" dirty="0"/>
              </a:p>
              <a:p>
                <a:r>
                  <a:rPr lang="en-GB" sz="1400" b="1" dirty="0"/>
                  <a:t>Answer is B.</a:t>
                </a:r>
                <a:endParaRPr lang="en-GB" sz="1600" b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27" y="2120324"/>
                <a:ext cx="3218178" cy="4786247"/>
              </a:xfrm>
              <a:prstGeom prst="rect">
                <a:avLst/>
              </a:prstGeom>
              <a:blipFill>
                <a:blip r:embed="rId5"/>
                <a:stretch>
                  <a:fillRect l="-947" t="-382" r="-1136" b="-3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281524" y="4781550"/>
            <a:ext cx="2976026" cy="20423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29685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3" grpId="0" animBg="1"/>
    </p:bldLst>
  </p:timing>
</p:sld>
</file>

<file path=ppt/c2/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c2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