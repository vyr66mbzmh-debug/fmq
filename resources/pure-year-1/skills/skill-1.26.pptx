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c14/ppt/slideMasters/slideMaster1.xml" ContentType="application/vnd.openxmlformats-officedocument.presentationml.slideMaster+xml"/>
  <ns0:Override PartName="/ppt/c14/ppt/slides/slide17.xml" ContentType="application/vnd.openxmlformats-officedocument.presentationml.slide+xml"/>
  <ns0:Override PartName="/ppt/c14/ppt/slides/slide18.xml" ContentType="application/vnd.openxmlformats-officedocument.presentationml.slide+xml"/>
  <ns0:Override PartName="/ppt/c14/ppt/slides/slide19.xml" ContentType="application/vnd.openxmlformats-officedocument.presentationml.slide+xml"/>
  <ns0:Override PartName="/ppt/c14/ppt/slides/slide20.xml" ContentType="application/vnd.openxmlformats-officedocument.presentationml.slide+xml"/>
  <ns0:Override PartName="/ppt/c14/ppt/notesMasters/notesMaster1.xml" ContentType="application/vnd.openxmlformats-officedocument.presentationml.notesMaster+xml"/>
  <ns0:Override PartName="/ppt/c14/ppt/theme/theme1.xml" ContentType="application/vnd.openxmlformats-officedocument.theme+xml"/>
  <ns0:Override PartName="/ppt/c14/ppt/slideLayouts/slideLayout1.xml" ContentType="application/vnd.openxmlformats-officedocument.presentationml.slideLayout+xml"/>
  <ns0:Override PartName="/ppt/c14/ppt/slideLayouts/slideLayout2.xml" ContentType="application/vnd.openxmlformats-officedocument.presentationml.slideLayout+xml"/>
  <ns0:Override PartName="/ppt/c14/ppt/slideLayouts/slideLayout3.xml" ContentType="application/vnd.openxmlformats-officedocument.presentationml.slideLayout+xml"/>
  <ns0:Override PartName="/ppt/c14/ppt/slideLayouts/slideLayout4.xml" ContentType="application/vnd.openxmlformats-officedocument.presentationml.slideLayout+xml"/>
  <ns0:Override PartName="/ppt/c14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5048" r:id="rId5"/>
  </p:sldMasterIdLst>
  <p:notesMasterIdLst>
    <p:notesMasterId r:id="rId6"/>
  </p:notesMasterIdLst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4/ppt/slides/slide17.xml" /><ns0:Relationship Id="rId2" Type="http://schemas.openxmlformats.org/officeDocument/2006/relationships/slide" Target="c14/ppt/slides/slide18.xml" /><ns0:Relationship Id="rId3" Type="http://schemas.openxmlformats.org/officeDocument/2006/relationships/slide" Target="c14/ppt/slides/slide19.xml" /><ns0:Relationship Id="rId4" Type="http://schemas.openxmlformats.org/officeDocument/2006/relationships/slide" Target="c14/ppt/slides/slide20.xml" /><ns0:Relationship Id="rId5" Type="http://schemas.openxmlformats.org/officeDocument/2006/relationships/slideMaster" Target="c14/ppt/slideMasters/slideMaster1.xml" /><ns0:Relationship Id="rId6" Type="http://schemas.openxmlformats.org/officeDocument/2006/relationships/notesMaster" Target="c14/ppt/notesMasters/notesMaster1.xml" /></ns0:Relationships>
</file>

<file path=ppt/c14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4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4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c14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79ADCCA-A642-7AF0-604D-088AFF5293C6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4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3477167"/>
      </p:ext>
    </p:extLst>
  </p:cSld>
  <p:clrMapOvr>
    <a:masterClrMapping/>
  </p:clrMapOvr>
</p:sldLayout>
</file>

<file path=ppt/c14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7C849CC-5CAD-914B-8E6F-94D18F427EA9}"/>
              </a:ext>
            </a:extLst>
          </p:cNvPr>
          <p:cNvSpPr txBox="1">
            <a:spLocks/>
          </p:cNvSpPr>
          <p:nvPr userDrawn="1"/>
        </p:nvSpPr>
        <p:spPr>
          <a:xfrm>
            <a:off x="-1" y="0"/>
            <a:ext cx="12178921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746621"/>
      </p:ext>
    </p:extLst>
  </p:cSld>
  <p:clrMapOvr>
    <a:masterClrMapping/>
  </p:clrMapOvr>
</p:sldLayout>
</file>

<file path=ppt/c14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5" Type="http://schemas.openxmlformats.org/officeDocument/2006/relationships/theme" Target="../theme/theme1.xml" /><ns0:Relationship Id="rId4" Type="http://schemas.openxmlformats.org/officeDocument/2006/relationships/slideLayout" Target="../slideLayouts/slideLayout4.xml" /></ns0:Relationships>
</file>

<file path=ppt/c14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  <p:sldLayoutId id="2147500103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4/ppt/slides/_rels/slide17.xml.rels><?xml version='1.0' encoding='utf-8'?>
<ns0:Relationships xmlns:ns0="http://schemas.openxmlformats.org/package/2006/relationships"><ns0:Relationship Id="rId8" Type="http://schemas.openxmlformats.org/officeDocument/2006/relationships/image" Target="../media/image122.png" /><ns0:Relationship Id="rId3" Type="http://schemas.openxmlformats.org/officeDocument/2006/relationships/image" Target="../media/image117.png" /><ns0:Relationship Id="rId7" Type="http://schemas.openxmlformats.org/officeDocument/2006/relationships/image" Target="../media/image121.png" /><ns0:Relationship Id="rId2" Type="http://schemas.openxmlformats.org/officeDocument/2006/relationships/image" Target="../media/image116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20.png" /><ns0:Relationship Id="rId5" Type="http://schemas.openxmlformats.org/officeDocument/2006/relationships/image" Target="../media/image119.png" /><ns0:Relationship Id="rId4" Type="http://schemas.openxmlformats.org/officeDocument/2006/relationships/image" Target="../media/image118.png" /></ns0:Relationships>
</file>

<file path=ppt/c14/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124.png" /><ns0:Relationship Id="rId7" Type="http://schemas.openxmlformats.org/officeDocument/2006/relationships/image" Target="../media/image128.png" /><ns0:Relationship Id="rId2" Type="http://schemas.openxmlformats.org/officeDocument/2006/relationships/image" Target="../media/image12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27.png" /><ns0:Relationship Id="rId5" Type="http://schemas.openxmlformats.org/officeDocument/2006/relationships/image" Target="../media/image126.png" /><ns0:Relationship Id="rId4" Type="http://schemas.openxmlformats.org/officeDocument/2006/relationships/image" Target="../media/image125.png" /></ns0:Relationships>
</file>

<file path=ppt/c14/ppt/slides/_rels/slide19.xml.rels><?xml version='1.0' encoding='utf-8'?>
<ns0:Relationships xmlns:ns0="http://schemas.openxmlformats.org/package/2006/relationships"><ns0:Relationship Id="rId3" Type="http://schemas.openxmlformats.org/officeDocument/2006/relationships/image" Target="../media/image130.png" /><ns0:Relationship Id="rId7" Type="http://schemas.openxmlformats.org/officeDocument/2006/relationships/image" Target="../media/image134.png" /><ns0:Relationship Id="rId2" Type="http://schemas.openxmlformats.org/officeDocument/2006/relationships/image" Target="../media/image129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33.png" /><ns0:Relationship Id="rId5" Type="http://schemas.openxmlformats.org/officeDocument/2006/relationships/image" Target="../media/image132.png" /><ns0:Relationship Id="rId4" Type="http://schemas.openxmlformats.org/officeDocument/2006/relationships/image" Target="../media/image131.png" /></ns0:Relationships>
</file>

<file path=ppt/c14/ppt/slides/_rels/slide20.xml.rels><?xml version='1.0' encoding='utf-8'?>
<ns0:Relationships xmlns:ns0="http://schemas.openxmlformats.org/package/2006/relationships"><ns0:Relationship Id="rId3" Type="http://schemas.openxmlformats.org/officeDocument/2006/relationships/image" Target="../media/image136.png" /><ns0:Relationship Id="rId7" Type="http://schemas.openxmlformats.org/officeDocument/2006/relationships/image" Target="../media/image140.png" /><ns0:Relationship Id="rId2" Type="http://schemas.openxmlformats.org/officeDocument/2006/relationships/image" Target="../media/image135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39.png" /><ns0:Relationship Id="rId5" Type="http://schemas.openxmlformats.org/officeDocument/2006/relationships/image" Target="../media/image138.png" /><ns0:Relationship Id="rId4" Type="http://schemas.openxmlformats.org/officeDocument/2006/relationships/image" Target="../media/image137.png" /></ns0:Relationships>
</file>

<file path=ppt/c14/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Exponential Modelling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39900" y="730920"/>
                <a:ext cx="8813800" cy="2591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There are two key features of exponential functions which make them suitable for </a:t>
                </a:r>
                <a:r>
                  <a:rPr lang="en-GB" sz="1600" b="1" dirty="0"/>
                  <a:t>population growth</a:t>
                </a:r>
                <a:r>
                  <a:rPr lang="en-GB" sz="1600" dirty="0"/>
                  <a:t>:</a:t>
                </a:r>
              </a:p>
              <a:p>
                <a:endParaRPr lang="en-GB" sz="900" dirty="0"/>
              </a:p>
              <a:p>
                <a:pPr marL="342900" indent="-342900">
                  <a:buAutoNum type="arabicPeriod"/>
                </a:pPr>
                <a:r>
                  <a:rPr lang="en-GB" sz="17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en-GB" sz="1700" b="1" dirty="0"/>
                  <a:t> gets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700" b="1" dirty="0"/>
                  <a:t> times bigger each time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700" b="1" dirty="0"/>
                  <a:t> increases by 1. (Because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GB" sz="17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7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700" b="1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sz="17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1700" b="1" i="1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en-GB" sz="1700" b="1" dirty="0"/>
                  <a:t>)</a:t>
                </a:r>
                <a:br>
                  <a:rPr lang="en-GB" sz="1700" b="1" dirty="0"/>
                </a:br>
                <a:r>
                  <a:rPr lang="en-GB" sz="1700" dirty="0"/>
                  <a:t>With population growth, we typically have a fixed percentage increase each year. So suppose the growth was 10% a year, and we used the equivalent decimal multiplier, 1.1, as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700" dirty="0"/>
                  <a:t>.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700" i="1">
                            <a:latin typeface="Cambria Math" panose="02040503050406030204" pitchFamily="18" charset="0"/>
                          </a:rPr>
                          <m:t>1.1</m:t>
                        </m:r>
                      </m:e>
                      <m:sup>
                        <m:r>
                          <a:rPr lang="en-GB" sz="17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GB" sz="1700" dirty="0"/>
                  <a:t>, where </a:t>
                </a:r>
                <a14:m>
                  <m:oMath xmlns:m="http://schemas.openxmlformats.org/officeDocument/2006/math">
                    <m:r>
                      <a:rPr lang="en-GB" sz="17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700" dirty="0"/>
                  <a:t> is the number of years, would get 1.1 times bigger each year.</a:t>
                </a:r>
              </a:p>
              <a:p>
                <a:pPr marL="342900" indent="-342900">
                  <a:buAutoNum type="arabicPeriod"/>
                </a:pPr>
                <a:r>
                  <a:rPr lang="en-GB" sz="1700" b="1" dirty="0"/>
                  <a:t>The rate of increase is proportional to the size of the population at a given moment.</a:t>
                </a:r>
                <a:br>
                  <a:rPr lang="en-GB" sz="1700" dirty="0"/>
                </a:br>
                <a:r>
                  <a:rPr lang="en-GB" sz="1700" dirty="0"/>
                  <a:t>This makes sense: The 10% increase of a population will be twice as large if the population itself is twice as large.</a:t>
                </a:r>
              </a:p>
              <a:p>
                <a:pPr marL="342900" indent="-342900">
                  <a:buAutoNum type="arabicPeriod"/>
                </a:pPr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730920"/>
                <a:ext cx="8813800" cy="2591222"/>
              </a:xfrm>
              <a:prstGeom prst="rect">
                <a:avLst/>
              </a:prstGeom>
              <a:blipFill>
                <a:blip r:embed="rId2"/>
                <a:stretch>
                  <a:fillRect l="-415" t="-7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reeform: Shape 21"/>
          <p:cNvSpPr/>
          <p:nvPr/>
        </p:nvSpPr>
        <p:spPr>
          <a:xfrm>
            <a:off x="2103048" y="4737100"/>
            <a:ext cx="2583252" cy="1094968"/>
          </a:xfrm>
          <a:custGeom>
            <a:avLst/>
            <a:gdLst>
              <a:gd name="connsiteX0" fmla="*/ 0 w 1968500"/>
              <a:gd name="connsiteY0" fmla="*/ 609600 h 609600"/>
              <a:gd name="connsiteX1" fmla="*/ 1117600 w 1968500"/>
              <a:gd name="connsiteY1" fmla="*/ 355600 h 609600"/>
              <a:gd name="connsiteX2" fmla="*/ 1968500 w 1968500"/>
              <a:gd name="connsiteY2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8500" h="609600">
                <a:moveTo>
                  <a:pt x="0" y="609600"/>
                </a:moveTo>
                <a:cubicBezTo>
                  <a:pt x="394758" y="533400"/>
                  <a:pt x="789517" y="457200"/>
                  <a:pt x="1117600" y="355600"/>
                </a:cubicBezTo>
                <a:cubicBezTo>
                  <a:pt x="1445683" y="254000"/>
                  <a:pt x="1707091" y="127000"/>
                  <a:pt x="196850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2077616" y="4441120"/>
            <a:ext cx="5008" cy="1837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859208" y="4062628"/>
                <a:ext cx="4489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208" y="4062628"/>
                <a:ext cx="44894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 flipV="1">
            <a:off x="2090316" y="6278084"/>
            <a:ext cx="2791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848297" y="6007329"/>
                <a:ext cx="4489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297" y="6007329"/>
                <a:ext cx="44894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184401" y="3327253"/>
                <a:ext cx="7931347" cy="64633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Suppose the population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in </a:t>
                </a:r>
                <a:r>
                  <a:rPr lang="en-GB" i="1" dirty="0"/>
                  <a:t>The Republic of </a:t>
                </a:r>
                <a:r>
                  <a:rPr lang="en-GB" i="1" dirty="0" err="1"/>
                  <a:t>Nqmir</a:t>
                </a:r>
                <a:r>
                  <a:rPr lang="en-GB" i="1" dirty="0"/>
                  <a:t> </a:t>
                </a:r>
                <a:r>
                  <a:rPr lang="en-GB" dirty="0"/>
                  <a:t>is modelled by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=100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is the numbers years since </a:t>
                </a:r>
                <a:r>
                  <a:rPr lang="en-GB" i="1" dirty="0"/>
                  <a:t>The Republic</a:t>
                </a:r>
                <a:r>
                  <a:rPr lang="en-GB" dirty="0"/>
                  <a:t> was established.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401" y="3327253"/>
                <a:ext cx="7931347" cy="646331"/>
              </a:xfrm>
              <a:prstGeom prst="rect">
                <a:avLst/>
              </a:prstGeom>
              <a:blipFill>
                <a:blip r:embed="rId5"/>
                <a:stretch>
                  <a:fillRect b="-230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105400" y="4022576"/>
            <a:ext cx="3159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the initial population?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188424" y="4098777"/>
                <a:ext cx="23652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br>
                  <a:rPr lang="en-GB" b="1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𝟏𝟎𝟎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424" y="4098777"/>
                <a:ext cx="2365276" cy="646331"/>
              </a:xfrm>
              <a:prstGeom prst="rect">
                <a:avLst/>
              </a:prstGeom>
              <a:blipFill>
                <a:blip r:embed="rId6"/>
                <a:stretch>
                  <a:fillRect l="-2062" t="-47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5165204" y="4781263"/>
            <a:ext cx="3159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the initial rate of population growth?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942262" y="4840915"/>
                <a:ext cx="2365276" cy="1017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𝒅𝑷</m:t>
                          </m:r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𝟑𝟎𝟎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When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𝒅𝑷</m:t>
                        </m:r>
                      </m:num>
                      <m:den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𝒅𝒕</m:t>
                        </m:r>
                      </m:den>
                    </m:f>
                    <m:r>
                      <a:rPr lang="en-GB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𝟑𝟎𝟎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262" y="4840915"/>
                <a:ext cx="2365276" cy="1017202"/>
              </a:xfrm>
              <a:prstGeom prst="rect">
                <a:avLst/>
              </a:prstGeom>
              <a:blipFill>
                <a:blip r:embed="rId7"/>
                <a:stretch>
                  <a:fillRect l="-2320" b="-3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8185001" y="4049539"/>
            <a:ext cx="2241699" cy="7256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42262" y="4834854"/>
            <a:ext cx="2484438" cy="9817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629992" y="6088402"/>
                <a:ext cx="3911009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“Use of Technology” </a:t>
                </a:r>
                <a:r>
                  <a:rPr lang="en-GB" sz="1200" dirty="0"/>
                  <a:t>I use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□</m:t>
                        </m:r>
                      </m:sup>
                    </m:sSup>
                  </m:oMath>
                </a14:m>
                <a:r>
                  <a:rPr lang="en-GB" sz="1200" dirty="0"/>
                  <a:t> key. I can also use [ALPHA] [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200" dirty="0"/>
                  <a:t>] to get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200" dirty="0"/>
                  <a:t> without a power.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992" y="6088402"/>
                <a:ext cx="3911009" cy="461665"/>
              </a:xfrm>
              <a:prstGeom prst="rect">
                <a:avLst/>
              </a:prstGeom>
              <a:blipFill>
                <a:blip r:embed="rId8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77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22" grpId="0" animBg="1"/>
      <p:bldP spid="25" grpId="0"/>
      <p:bldP spid="27" grpId="0"/>
      <p:bldP spid="31" grpId="0" animBg="1"/>
      <p:bldP spid="32" grpId="0" animBg="1"/>
    </p:bldLst>
  </p:timing>
</p:sld>
</file>

<file path=ppt/c14/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029644" y="893069"/>
                <a:ext cx="7327924" cy="243028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The density of a pesticide in a given section of field,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mg/m</a:t>
                </a:r>
                <a:r>
                  <a:rPr lang="en-GB" baseline="30000" dirty="0"/>
                  <a:t>2</a:t>
                </a:r>
                <a:r>
                  <a:rPr lang="en-GB" dirty="0"/>
                  <a:t>, can be modelled by the equation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=160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−0.006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is the time in days since the pesticide was first applied.</a:t>
                </a:r>
              </a:p>
              <a:p>
                <a:r>
                  <a:rPr lang="en-GB" dirty="0"/>
                  <a:t>a. Use this model to estimate the density of pesticide after 15 days.</a:t>
                </a:r>
              </a:p>
              <a:p>
                <a:r>
                  <a:rPr lang="en-GB" dirty="0"/>
                  <a:t>b. Interpret the meaning of the value 160 in this model.</a:t>
                </a:r>
              </a:p>
              <a:p>
                <a:r>
                  <a:rPr lang="en-GB" dirty="0"/>
                  <a:t>c. Show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𝑑𝑃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𝑘𝑃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is a constant, and state the value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d. Interpret the significance of the sign of your answer in part (c).</a:t>
                </a:r>
              </a:p>
              <a:p>
                <a:r>
                  <a:rPr lang="en-GB" dirty="0"/>
                  <a:t>e. Sketch the graph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against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644" y="893069"/>
                <a:ext cx="7327924" cy="24302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Another Example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4" name="Rectangle 13"/>
          <p:cNvSpPr/>
          <p:nvPr/>
        </p:nvSpPr>
        <p:spPr>
          <a:xfrm>
            <a:off x="2029644" y="3573016"/>
            <a:ext cx="321940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406700" y="3547617"/>
                <a:ext cx="3714700" cy="3032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=15,   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=160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−0.006(15)</m:t>
                        </m:r>
                      </m:sup>
                    </m:sSup>
                  </m:oMath>
                </a14:m>
                <a:br>
                  <a:rPr lang="en-GB" sz="16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=145.2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𝑚𝑔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600" dirty="0"/>
                  <a:t>, then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=160</m:t>
                    </m:r>
                  </m:oMath>
                </a14:m>
                <a:r>
                  <a:rPr lang="en-GB" sz="1600" dirty="0"/>
                  <a:t>. Thus 160 is the initial density of pesticide in the field.</a:t>
                </a:r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160×−0.006</m:t>
                          </m:r>
                        </m:e>
                      </m:d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−0.006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1600" i="1">
                          <a:latin typeface="Cambria Math" panose="02040503050406030204" pitchFamily="18" charset="0"/>
                        </a:rPr>
                        <m:t>=−0.96</m:t>
                      </m:r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−0.006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GB" sz="160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=−0.96</m:t>
                      </m:r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The rate is negative, thus the density of pesticide is decreasing.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700" y="3547617"/>
                <a:ext cx="3714700" cy="3032305"/>
              </a:xfrm>
              <a:prstGeom prst="rect">
                <a:avLst/>
              </a:prstGeom>
              <a:blipFill>
                <a:blip r:embed="rId3"/>
                <a:stretch>
                  <a:fillRect l="-985" t="-201" b="-18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016476" y="3619996"/>
                <a:ext cx="2311772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In general, the ‘initial value’, when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, is the coefficient of the exponential term.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476" y="3619996"/>
                <a:ext cx="2311772" cy="738664"/>
              </a:xfrm>
              <a:prstGeom prst="rect">
                <a:avLst/>
              </a:prstGeom>
              <a:blipFill>
                <a:blip r:embed="rId4"/>
                <a:stretch>
                  <a:fillRect l="-261" r="-1828" b="-56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16" idx="1"/>
          </p:cNvCxnSpPr>
          <p:nvPr/>
        </p:nvCxnSpPr>
        <p:spPr>
          <a:xfrm flipH="1">
            <a:off x="5727700" y="3989328"/>
            <a:ext cx="288776" cy="201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029644" y="4354592"/>
            <a:ext cx="321940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29632" y="5100876"/>
            <a:ext cx="321940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29632" y="6021288"/>
            <a:ext cx="321940" cy="2880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25" name="Freeform: Shape 24"/>
          <p:cNvSpPr/>
          <p:nvPr/>
        </p:nvSpPr>
        <p:spPr>
          <a:xfrm flipH="1">
            <a:off x="7019437" y="5483932"/>
            <a:ext cx="2621351" cy="1094968"/>
          </a:xfrm>
          <a:custGeom>
            <a:avLst/>
            <a:gdLst>
              <a:gd name="connsiteX0" fmla="*/ 0 w 1968500"/>
              <a:gd name="connsiteY0" fmla="*/ 609600 h 609600"/>
              <a:gd name="connsiteX1" fmla="*/ 1117600 w 1968500"/>
              <a:gd name="connsiteY1" fmla="*/ 355600 h 609600"/>
              <a:gd name="connsiteX2" fmla="*/ 1968500 w 1968500"/>
              <a:gd name="connsiteY2" fmla="*/ 0 h 609600"/>
              <a:gd name="connsiteX0" fmla="*/ 0 w 1978178"/>
              <a:gd name="connsiteY0" fmla="*/ 581318 h 581318"/>
              <a:gd name="connsiteX1" fmla="*/ 1127278 w 1978178"/>
              <a:gd name="connsiteY1" fmla="*/ 355600 h 581318"/>
              <a:gd name="connsiteX2" fmla="*/ 1978178 w 1978178"/>
              <a:gd name="connsiteY2" fmla="*/ 0 h 581318"/>
              <a:gd name="connsiteX0" fmla="*/ 0 w 1978178"/>
              <a:gd name="connsiteY0" fmla="*/ 581318 h 581318"/>
              <a:gd name="connsiteX1" fmla="*/ 1127278 w 1978178"/>
              <a:gd name="connsiteY1" fmla="*/ 355600 h 581318"/>
              <a:gd name="connsiteX2" fmla="*/ 1978178 w 1978178"/>
              <a:gd name="connsiteY2" fmla="*/ 0 h 581318"/>
              <a:gd name="connsiteX0" fmla="*/ 0 w 1997533"/>
              <a:gd name="connsiteY0" fmla="*/ 609600 h 609600"/>
              <a:gd name="connsiteX1" fmla="*/ 1146633 w 1997533"/>
              <a:gd name="connsiteY1" fmla="*/ 355600 h 609600"/>
              <a:gd name="connsiteX2" fmla="*/ 1997533 w 1997533"/>
              <a:gd name="connsiteY2" fmla="*/ 0 h 609600"/>
              <a:gd name="connsiteX0" fmla="*/ 0 w 1997533"/>
              <a:gd name="connsiteY0" fmla="*/ 609600 h 609600"/>
              <a:gd name="connsiteX1" fmla="*/ 1146633 w 1997533"/>
              <a:gd name="connsiteY1" fmla="*/ 355600 h 609600"/>
              <a:gd name="connsiteX2" fmla="*/ 1997533 w 1997533"/>
              <a:gd name="connsiteY2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7533" h="609600">
                <a:moveTo>
                  <a:pt x="0" y="609600"/>
                </a:moveTo>
                <a:cubicBezTo>
                  <a:pt x="597990" y="526330"/>
                  <a:pt x="813711" y="457200"/>
                  <a:pt x="1146633" y="355600"/>
                </a:cubicBezTo>
                <a:cubicBezTo>
                  <a:pt x="1479555" y="254000"/>
                  <a:pt x="1736124" y="127000"/>
                  <a:pt x="1997533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7019404" y="4819652"/>
            <a:ext cx="5008" cy="1837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800996" y="4441160"/>
                <a:ext cx="4489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996" y="4441160"/>
                <a:ext cx="44894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 flipV="1">
            <a:off x="7032104" y="6656616"/>
            <a:ext cx="2791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9726585" y="6423960"/>
                <a:ext cx="4489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6585" y="6423960"/>
                <a:ext cx="448940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6502400" y="5312708"/>
            <a:ext cx="552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648252" y="4440985"/>
                <a:ext cx="2943548" cy="138499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Recall that if the power in the exponential term is negative, we have an </a:t>
                </a:r>
                <a:r>
                  <a:rPr lang="en-GB" sz="1400" b="1" dirty="0"/>
                  <a:t>exponential decay graph</a:t>
                </a:r>
                <a:r>
                  <a:rPr lang="en-GB" sz="1400" dirty="0"/>
                  <a:t>, which gradually decreases towards 0.</a:t>
                </a:r>
              </a:p>
              <a:p>
                <a:r>
                  <a:rPr lang="en-GB" sz="1400" dirty="0"/>
                  <a:t>If in doubt, just try a large value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Don’t forget to put in the 160!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252" y="4440985"/>
                <a:ext cx="2943548" cy="1384995"/>
              </a:xfrm>
              <a:prstGeom prst="rect">
                <a:avLst/>
              </a:prstGeom>
              <a:blipFill>
                <a:blip r:embed="rId7"/>
                <a:stretch>
                  <a:fillRect l="-205" r="-616" b="-25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 flipH="1">
            <a:off x="8975638" y="5829744"/>
            <a:ext cx="288776" cy="201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368400" y="3554240"/>
            <a:ext cx="3092600" cy="5859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68400" y="4354593"/>
            <a:ext cx="3562500" cy="5222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68400" y="5100876"/>
            <a:ext cx="3549800" cy="7157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58888" y="6021288"/>
            <a:ext cx="3549800" cy="620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16516" y="4440984"/>
            <a:ext cx="4275284" cy="22335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199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  <p:bldLst>
      <p:bldP spid="16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c14/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14C (Pages 318-319)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9A85C1D-1030-9BF0-FEBC-A15684E72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2780928"/>
            <a:ext cx="1854200" cy="1066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5709A7-1E22-99B4-1259-BA979501B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4167134"/>
            <a:ext cx="1854200" cy="1625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EC12FA-6353-C48F-0F1B-8C993C00A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897" y="2780927"/>
            <a:ext cx="3670300" cy="609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F8BAA2-90AF-2BAD-0C80-D8A2685AB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1378" y="3730255"/>
            <a:ext cx="2832100" cy="254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77FB8D-A7EF-558F-ECF1-DFECC30535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0892" y="4809755"/>
            <a:ext cx="2413000" cy="1460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7A76D87-41F6-823B-3355-2C23C43D797B}"/>
              </a:ext>
            </a:extLst>
          </p:cNvPr>
          <p:cNvSpPr/>
          <p:nvPr/>
        </p:nvSpPr>
        <p:spPr>
          <a:xfrm>
            <a:off x="1860164" y="2685746"/>
            <a:ext cx="2075596" cy="11619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7214C0-D389-303D-CECE-AB17CE4DA492}"/>
              </a:ext>
            </a:extLst>
          </p:cNvPr>
          <p:cNvSpPr/>
          <p:nvPr/>
        </p:nvSpPr>
        <p:spPr>
          <a:xfrm>
            <a:off x="1860164" y="3942911"/>
            <a:ext cx="2075596" cy="24125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530D28-5C7A-7508-9E8C-398783035916}"/>
              </a:ext>
            </a:extLst>
          </p:cNvPr>
          <p:cNvSpPr/>
          <p:nvPr/>
        </p:nvSpPr>
        <p:spPr>
          <a:xfrm>
            <a:off x="4295801" y="2685746"/>
            <a:ext cx="5722107" cy="9592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c?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A92E62-B9DA-8D30-A2EC-21D49391A2FD}"/>
              </a:ext>
            </a:extLst>
          </p:cNvPr>
          <p:cNvSpPr/>
          <p:nvPr/>
        </p:nvSpPr>
        <p:spPr>
          <a:xfrm>
            <a:off x="4295801" y="3740200"/>
            <a:ext cx="5722107" cy="26152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d?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F17C68-BC82-5EED-BC52-68C14448CCBE}"/>
              </a:ext>
            </a:extLst>
          </p:cNvPr>
          <p:cNvGrpSpPr/>
          <p:nvPr/>
        </p:nvGrpSpPr>
        <p:grpSpPr>
          <a:xfrm>
            <a:off x="1540428" y="599128"/>
            <a:ext cx="9943744" cy="1965777"/>
            <a:chOff x="1540428" y="599128"/>
            <a:chExt cx="9943744" cy="196577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C57505E-4A26-377F-5A39-18D407138094}"/>
                </a:ext>
              </a:extLst>
            </p:cNvPr>
            <p:cNvGrpSpPr/>
            <p:nvPr/>
          </p:nvGrpSpPr>
          <p:grpSpPr>
            <a:xfrm>
              <a:off x="1540428" y="599128"/>
              <a:ext cx="8083964" cy="1965777"/>
              <a:chOff x="16428" y="599127"/>
              <a:chExt cx="8083964" cy="196577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D8F7DF8-8C0F-D7CD-E762-01C8F3FE4D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428" y="599127"/>
                <a:ext cx="7772400" cy="1862395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C94A0B2-3BF6-4FF0-2BBF-E9BCC6AAB97F}"/>
                  </a:ext>
                </a:extLst>
              </p:cNvPr>
              <p:cNvSpPr/>
              <p:nvPr/>
            </p:nvSpPr>
            <p:spPr>
              <a:xfrm>
                <a:off x="7020272" y="1340768"/>
                <a:ext cx="1080120" cy="122413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6ACBAAD-3B42-07FD-B116-E6D90AA3609B}"/>
                </a:ext>
              </a:extLst>
            </p:cNvPr>
            <p:cNvSpPr txBox="1"/>
            <p:nvPr/>
          </p:nvSpPr>
          <p:spPr>
            <a:xfrm>
              <a:off x="8040216" y="2167931"/>
              <a:ext cx="34439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Km gained in height. Calculate the value of 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72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c14/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14C (Pages 318-319)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DDDA69-37E3-A8EA-6214-C905B3569B22}"/>
              </a:ext>
            </a:extLst>
          </p:cNvPr>
          <p:cNvGrpSpPr/>
          <p:nvPr/>
        </p:nvGrpSpPr>
        <p:grpSpPr>
          <a:xfrm>
            <a:off x="1542946" y="599127"/>
            <a:ext cx="7145342" cy="2548070"/>
            <a:chOff x="107504" y="657318"/>
            <a:chExt cx="7772400" cy="277168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D2B924A-FFD0-6434-9D76-FD93B37B69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657318"/>
              <a:ext cx="7772400" cy="2771682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8B42DAA-92B6-7DA1-8DF2-CD09C6A1A953}"/>
                </a:ext>
              </a:extLst>
            </p:cNvPr>
            <p:cNvSpPr/>
            <p:nvPr/>
          </p:nvSpPr>
          <p:spPr>
            <a:xfrm>
              <a:off x="7015808" y="1484784"/>
              <a:ext cx="864096" cy="19442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2D4EEC3-8957-037D-C9B7-50F55C3D4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3500641"/>
            <a:ext cx="2657944" cy="95262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5D48551-FD59-344F-AD18-7C51EE914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1" y="4509120"/>
            <a:ext cx="2837547" cy="88061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A6C1F99-4B97-3B50-9D3F-64DEBE132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041" y="3482204"/>
            <a:ext cx="2750572" cy="88061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8FCA472-778D-012D-3DA8-4F44BD617A3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395"/>
          <a:stretch/>
        </p:blipFill>
        <p:spPr>
          <a:xfrm>
            <a:off x="4772093" y="4453267"/>
            <a:ext cx="2547540" cy="131568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CED0D4E-1DE4-F1F9-BEFC-D299CDB129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8613" y="3500642"/>
            <a:ext cx="3159634" cy="3024703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C65AA50-4F68-2D15-A1E0-1241F28E46C3}"/>
              </a:ext>
            </a:extLst>
          </p:cNvPr>
          <p:cNvSpPr/>
          <p:nvPr/>
        </p:nvSpPr>
        <p:spPr>
          <a:xfrm>
            <a:off x="1726540" y="3337143"/>
            <a:ext cx="2837546" cy="32750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a?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89B55E-AF78-D328-F349-DD9D6FD2C4B8}"/>
              </a:ext>
            </a:extLst>
          </p:cNvPr>
          <p:cNvSpPr/>
          <p:nvPr/>
        </p:nvSpPr>
        <p:spPr>
          <a:xfrm>
            <a:off x="4606850" y="3337142"/>
            <a:ext cx="2696426" cy="32750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b?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D01E46-8766-201E-FD44-B80A4096DCF1}"/>
              </a:ext>
            </a:extLst>
          </p:cNvPr>
          <p:cNvSpPr/>
          <p:nvPr/>
        </p:nvSpPr>
        <p:spPr>
          <a:xfrm>
            <a:off x="7368613" y="3351127"/>
            <a:ext cx="3159635" cy="23101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c?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EA8458-FCA1-8CC8-A990-3635DAE9FEF8}"/>
              </a:ext>
            </a:extLst>
          </p:cNvPr>
          <p:cNvSpPr/>
          <p:nvPr/>
        </p:nvSpPr>
        <p:spPr>
          <a:xfrm>
            <a:off x="7377305" y="5733256"/>
            <a:ext cx="3159635" cy="8789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330228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</p:bldLst>
  </p:timing>
</p:sld>
</file>

<file path=ppt/c14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14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