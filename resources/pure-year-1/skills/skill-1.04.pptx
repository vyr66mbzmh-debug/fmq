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5/ppt/slideMasters/slideMaster1.xml" ContentType="application/vnd.openxmlformats-officedocument.presentationml.slideMaster+xml"/>
  <ns0:Override PartName="/ppt/c5/ppt/slides/slide4.xml" ContentType="application/vnd.openxmlformats-officedocument.presentationml.slide+xml"/>
  <ns0:Override PartName="/ppt/c5/ppt/slides/slide5.xml" ContentType="application/vnd.openxmlformats-officedocument.presentationml.slide+xml"/>
  <ns0:Override PartName="/ppt/c5/ppt/slides/slide6.xml" ContentType="application/vnd.openxmlformats-officedocument.presentationml.slide+xml"/>
  <ns0:Override PartName="/ppt/c5/ppt/slides/slide7.xml" ContentType="application/vnd.openxmlformats-officedocument.presentationml.slide+xml"/>
  <ns0:Override PartName="/ppt/c5/ppt/slides/slide8.xml" ContentType="application/vnd.openxmlformats-officedocument.presentationml.slide+xml"/>
  <ns0:Override PartName="/ppt/c5/ppt/slides/slide9.xml" ContentType="application/vnd.openxmlformats-officedocument.presentationml.slide+xml"/>
  <ns0:Override PartName="/ppt/c5/ppt/slides/slide10.xml" ContentType="application/vnd.openxmlformats-officedocument.presentationml.slide+xml"/>
  <ns0:Override PartName="/ppt/c5/ppt/slides/slide11.xml" ContentType="application/vnd.openxmlformats-officedocument.presentationml.slide+xml"/>
  <ns0:Override PartName="/ppt/c5/ppt/slides/slide12.xml" ContentType="application/vnd.openxmlformats-officedocument.presentationml.slide+xml"/>
  <ns0:Override PartName="/ppt/c5/ppt/slides/slide13.xml" ContentType="application/vnd.openxmlformats-officedocument.presentationml.slide+xml"/>
  <ns0:Override PartName="/ppt/c5/ppt/slides/slide14.xml" ContentType="application/vnd.openxmlformats-officedocument.presentationml.slide+xml"/>
  <ns0:Override PartName="/ppt/c5/ppt/slides/slide15.xml" ContentType="application/vnd.openxmlformats-officedocument.presentationml.slide+xml"/>
  <ns0:Override PartName="/ppt/c5/ppt/slides/slide16.xml" ContentType="application/vnd.openxmlformats-officedocument.presentationml.slide+xml"/>
  <ns0:Override PartName="/ppt/c5/ppt/slides/slide17.xml" ContentType="application/vnd.openxmlformats-officedocument.presentationml.slide+xml"/>
  <ns0:Override PartName="/ppt/c5/ppt/slides/slide18.xml" ContentType="application/vnd.openxmlformats-officedocument.presentationml.slide+xml"/>
  <ns0:Override PartName="/ppt/c5/ppt/notesMasters/notesMaster1.xml" ContentType="application/vnd.openxmlformats-officedocument.presentationml.notesMaster+xml"/>
  <ns0:Override PartName="/ppt/c5/ppt/theme/theme1.xml" ContentType="application/vnd.openxmlformats-officedocument.theme+xml"/>
  <ns0:Override PartName="/ppt/c5/ppt/slideLayouts/slideLayout1.xml" ContentType="application/vnd.openxmlformats-officedocument.presentationml.slideLayout+xml"/>
  <ns0:Override PartName="/ppt/c5/ppt/slideLayouts/slideLayout2.xml" ContentType="application/vnd.openxmlformats-officedocument.presentationml.slideLayout+xml"/>
  <ns0:Override PartName="/ppt/c5/ppt/slideLayouts/slideLayout3.xml" ContentType="application/vnd.openxmlformats-officedocument.presentationml.slideLayout+xml"/>
  <ns0:Override PartName="/ppt/c5/ppt/slideLayouts/slideLayout4.xml" ContentType="application/vnd.openxmlformats-officedocument.presentationml.slideLayout+xml"/>
  <ns0:Override PartName="/ppt/c5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148" r:id="rId16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5/ppt/slides/slide4.xml" /><ns0:Relationship Id="rId2" Type="http://schemas.openxmlformats.org/officeDocument/2006/relationships/slide" Target="c5/ppt/slides/slide5.xml" /><ns0:Relationship Id="rId3" Type="http://schemas.openxmlformats.org/officeDocument/2006/relationships/slide" Target="c5/ppt/slides/slide6.xml" /><ns0:Relationship Id="rId4" Type="http://schemas.openxmlformats.org/officeDocument/2006/relationships/slide" Target="c5/ppt/slides/slide7.xml" /><ns0:Relationship Id="rId5" Type="http://schemas.openxmlformats.org/officeDocument/2006/relationships/slide" Target="c5/ppt/slides/slide8.xml" /><ns0:Relationship Id="rId6" Type="http://schemas.openxmlformats.org/officeDocument/2006/relationships/slide" Target="c5/ppt/slides/slide9.xml" /><ns0:Relationship Id="rId7" Type="http://schemas.openxmlformats.org/officeDocument/2006/relationships/slide" Target="c5/ppt/slides/slide10.xml" /><ns0:Relationship Id="rId8" Type="http://schemas.openxmlformats.org/officeDocument/2006/relationships/slide" Target="c5/ppt/slides/slide11.xml" /><ns0:Relationship Id="rId9" Type="http://schemas.openxmlformats.org/officeDocument/2006/relationships/slide" Target="c5/ppt/slides/slide12.xml" /><ns0:Relationship Id="rId10" Type="http://schemas.openxmlformats.org/officeDocument/2006/relationships/slide" Target="c5/ppt/slides/slide13.xml" /><ns0:Relationship Id="rId11" Type="http://schemas.openxmlformats.org/officeDocument/2006/relationships/slide" Target="c5/ppt/slides/slide14.xml" /><ns0:Relationship Id="rId12" Type="http://schemas.openxmlformats.org/officeDocument/2006/relationships/slide" Target="c5/ppt/slides/slide15.xml" /><ns0:Relationship Id="rId13" Type="http://schemas.openxmlformats.org/officeDocument/2006/relationships/slide" Target="c5/ppt/slides/slide16.xml" /><ns0:Relationship Id="rId14" Type="http://schemas.openxmlformats.org/officeDocument/2006/relationships/slide" Target="c5/ppt/slides/slide17.xml" /><ns0:Relationship Id="rId15" Type="http://schemas.openxmlformats.org/officeDocument/2006/relationships/slide" Target="c5/ppt/slides/slide18.xml" /><ns0:Relationship Id="rId16" Type="http://schemas.openxmlformats.org/officeDocument/2006/relationships/slideMaster" Target="c5/ppt/slideMasters/slideMaster1.xml" /><ns0:Relationship Id="rId17" Type="http://schemas.openxmlformats.org/officeDocument/2006/relationships/notesMaster" Target="c5/ppt/notesMasters/notesMaster1.xml" /></ns0:Relationships>
</file>

<file path=ppt/c5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5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5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5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5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5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596292"/>
      </p:ext>
    </p:extLst>
  </p:cSld>
  <p:clrMapOvr>
    <a:masterClrMapping/>
  </p:clrMapOvr>
</p:sldLayout>
</file>

<file path=ppt/c5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9144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460164"/>
      </p:ext>
    </p:extLst>
  </p:cSld>
  <p:clrMapOvr>
    <a:masterClrMapping/>
  </p:clrMapOvr>
</p:sldLayout>
</file>

<file path=ppt/c5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5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16/04/2026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5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210.png" /><ns0:Relationship Id="rId2" Type="http://schemas.openxmlformats.org/officeDocument/2006/relationships/image" Target="../media/image610.png" /><ns0:Relationship Id="rId1" Type="http://schemas.openxmlformats.org/officeDocument/2006/relationships/slideLayout" Target="../slideLayouts/slideLayout1.xml" /></ns0:Relationships>
</file>

<file path=ppt/c5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1010.png" /><ns0:Relationship Id="rId13" Type="http://schemas.openxmlformats.org/officeDocument/2006/relationships/image" Target="../media/image1510.png" /><ns0:Relationship Id="rId3" Type="http://schemas.openxmlformats.org/officeDocument/2006/relationships/image" Target="../media/image410.png" /><ns0:Relationship Id="rId7" Type="http://schemas.openxmlformats.org/officeDocument/2006/relationships/image" Target="../media/image5.png" /><ns0:Relationship Id="rId12" Type="http://schemas.openxmlformats.org/officeDocument/2006/relationships/image" Target="../media/image1410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810.png" /><ns0:Relationship Id="rId11" Type="http://schemas.openxmlformats.org/officeDocument/2006/relationships/image" Target="../media/image1310.png" /><ns0:Relationship Id="rId5" Type="http://schemas.openxmlformats.org/officeDocument/2006/relationships/image" Target="../media/image4.png" /><ns0:Relationship Id="rId10" Type="http://schemas.openxmlformats.org/officeDocument/2006/relationships/image" Target="../media/image1210.png" /><ns0:Relationship Id="rId4" Type="http://schemas.openxmlformats.org/officeDocument/2006/relationships/image" Target="../media/image510.png" /><ns0:Relationship Id="rId9" Type="http://schemas.openxmlformats.org/officeDocument/2006/relationships/image" Target="../media/image6.png" /></ns0:Relationships>
</file>

<file path=ppt/c5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7.png" /><ns0:Relationship Id="rId2" Type="http://schemas.openxmlformats.org/officeDocument/2006/relationships/image" Target="../media/image161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9.png" /><ns0:Relationship Id="rId4" Type="http://schemas.openxmlformats.org/officeDocument/2006/relationships/image" Target="../media/image18.png" /></ns0:Relationships>
</file>

<file path=ppt/c5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1.png" /><ns0:Relationship Id="rId2" Type="http://schemas.openxmlformats.org/officeDocument/2006/relationships/image" Target="../media/image20.png" /><ns0:Relationship Id="rId1" Type="http://schemas.openxmlformats.org/officeDocument/2006/relationships/slideLayout" Target="../slideLayouts/slideLayout2.xml" /></ns0:Relationships>
</file>

<file path=ppt/c5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133.png" /><ns0:Relationship Id="rId3" Type="http://schemas.openxmlformats.org/officeDocument/2006/relationships/image" Target="../media/image22.png" /><ns0:Relationship Id="rId7" Type="http://schemas.openxmlformats.org/officeDocument/2006/relationships/image" Target="../media/image26.png" /><ns0:Relationship Id="rId2" Type="http://schemas.openxmlformats.org/officeDocument/2006/relationships/image" Target="../media/image3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5.png" /><ns0:Relationship Id="rId5" Type="http://schemas.openxmlformats.org/officeDocument/2006/relationships/image" Target="../media/image24.png" /><ns0:Relationship Id="rId4" Type="http://schemas.openxmlformats.org/officeDocument/2006/relationships/image" Target="../media/image23.png" /></ns0:Relationships>
</file>

<file path=ppt/c5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34.png" /><ns0:Relationship Id="rId3" Type="http://schemas.openxmlformats.org/officeDocument/2006/relationships/image" Target="../media/image29.png" /><ns0:Relationship Id="rId7" Type="http://schemas.openxmlformats.org/officeDocument/2006/relationships/image" Target="../media/image33.png" /><ns0:Relationship Id="rId2" Type="http://schemas.openxmlformats.org/officeDocument/2006/relationships/image" Target="../media/image2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2.png" /><ns0:Relationship Id="rId5" Type="http://schemas.openxmlformats.org/officeDocument/2006/relationships/image" Target="../media/image31.png" /><ns0:Relationship Id="rId4" Type="http://schemas.openxmlformats.org/officeDocument/2006/relationships/image" Target="../media/image30.png" /></ns0:Relationships>
</file>

<file path=ppt/c5/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36.png" /><ns0:Relationship Id="rId2" Type="http://schemas.openxmlformats.org/officeDocument/2006/relationships/image" Target="../media/image35.png" /><ns0:Relationship Id="rId1" Type="http://schemas.openxmlformats.org/officeDocument/2006/relationships/slideLayout" Target="../slideLayouts/slideLayout2.xml" /></ns0:Relationships>
</file>

<file path=ppt/c5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39.png" /><ns0:Relationship Id="rId2" Type="http://schemas.openxmlformats.org/officeDocument/2006/relationships/image" Target="../media/image9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41.png" /><ns0:Relationship Id="rId4" Type="http://schemas.openxmlformats.org/officeDocument/2006/relationships/image" Target="../media/image40.png" /></ns0:Relationships>
</file>

<file path=ppt/c5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42.png" /><ns0:Relationship Id="rId2" Type="http://schemas.openxmlformats.org/officeDocument/2006/relationships/image" Target="../media/image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45.png" /><ns0:Relationship Id="rId5" Type="http://schemas.openxmlformats.org/officeDocument/2006/relationships/image" Target="../media/image44.png" /><ns0:Relationship Id="rId4" Type="http://schemas.openxmlformats.org/officeDocument/2006/relationships/image" Target="../media/image43.png" /></ns0:Relationships>
</file>

<file path=ppt/c5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7" Type="http://schemas.openxmlformats.org/officeDocument/2006/relationships/image" Target="../media/image27.png" /><ns0:Relationship Id="rId2" Type="http://schemas.openxmlformats.org/officeDocument/2006/relationships/image" Target="../media/image1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6.png" /><ns0:Relationship Id="rId5" Type="http://schemas.openxmlformats.org/officeDocument/2006/relationships/image" Target="../media/image15.png" /><ns0:Relationship Id="rId4" Type="http://schemas.openxmlformats.org/officeDocument/2006/relationships/image" Target="../media/image140.png" /></ns0:Relationships>
</file>

<file path=ppt/c5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53.png" /><ns0:Relationship Id="rId13" Type="http://schemas.openxmlformats.org/officeDocument/2006/relationships/image" Target="../media/image58.png" /><ns0:Relationship Id="rId7" Type="http://schemas.openxmlformats.org/officeDocument/2006/relationships/image" Target="../media/image52.png" /><ns0:Relationship Id="rId12" Type="http://schemas.openxmlformats.org/officeDocument/2006/relationships/image" Target="../media/image57.png" /><ns0:Relationship Id="rId2" Type="http://schemas.openxmlformats.org/officeDocument/2006/relationships/image" Target="../media/image4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1.png" /><ns0:Relationship Id="rId11" Type="http://schemas.openxmlformats.org/officeDocument/2006/relationships/image" Target="../media/image56.png" /><ns0:Relationship Id="rId5" Type="http://schemas.openxmlformats.org/officeDocument/2006/relationships/image" Target="../media/image50.png" /><ns0:Relationship Id="rId10" Type="http://schemas.openxmlformats.org/officeDocument/2006/relationships/image" Target="../media/image48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54.png" /><ns0:Relationship Id="rId14" Type="http://schemas.openxmlformats.org/officeDocument/2006/relationships/image" Target="../media/image59.png" /></ns0:Relationships>
</file>

<file path=ppt/c5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490.png" /><ns0:Relationship Id="rId2" Type="http://schemas.openxmlformats.org/officeDocument/2006/relationships/image" Target="../media/image480.png" /><ns0:Relationship Id="rId1" Type="http://schemas.openxmlformats.org/officeDocument/2006/relationships/slideLayout" Target="../slideLayouts/slideLayout2.xml" /></ns0:Relationships>
</file>

<file path=ppt/c5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8.png" /><ns0:Relationship Id="rId2" Type="http://schemas.openxmlformats.org/officeDocument/2006/relationships/image" Target="../media/image7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2.png" /><ns0:Relationship Id="rId4" Type="http://schemas.openxmlformats.org/officeDocument/2006/relationships/image" Target="../media/image11.png" /></ns0:Relationships>
</file>

<file path=ppt/c5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38.png" /><ns0:Relationship Id="rId7" Type="http://schemas.openxmlformats.org/officeDocument/2006/relationships/image" Target="../media/image61.png" /><ns0:Relationship Id="rId2" Type="http://schemas.openxmlformats.org/officeDocument/2006/relationships/image" Target="../media/image1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0.png" /><ns0:Relationship Id="rId5" Type="http://schemas.openxmlformats.org/officeDocument/2006/relationships/image" Target="../media/image55.png" /><ns0:Relationship Id="rId4" Type="http://schemas.openxmlformats.org/officeDocument/2006/relationships/image" Target="../media/image46.png" /></ns0:Relationships>
</file>

<file path=ppt/c5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63.png" /><ns0:Relationship Id="rId7" Type="http://schemas.openxmlformats.org/officeDocument/2006/relationships/image" Target="../media/image67.png" /><ns0:Relationship Id="rId2" Type="http://schemas.openxmlformats.org/officeDocument/2006/relationships/image" Target="../media/image6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6.png" /><ns0:Relationship Id="rId5" Type="http://schemas.openxmlformats.org/officeDocument/2006/relationships/image" Target="../media/image65.png" /><ns0:Relationship Id="rId4" Type="http://schemas.openxmlformats.org/officeDocument/2006/relationships/image" Target="../media/image64.png" /></ns0:Relationships>
</file>

<file path=ppt/c5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4572000" y="0"/>
            <a:ext cx="0" cy="685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5148" y="3429000"/>
            <a:ext cx="9144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715963" algn="l"/>
                <a:tab pos="1431925" algn="l"/>
                <a:tab pos="2149475" algn="l"/>
                <a:tab pos="2865438" algn="l"/>
                <a:tab pos="3581400" algn="l"/>
                <a:tab pos="4313238" algn="l"/>
                <a:tab pos="5029200" algn="l"/>
                <a:tab pos="5745163" algn="l"/>
                <a:tab pos="6461125" algn="l"/>
                <a:tab pos="7178675" algn="l"/>
                <a:tab pos="7894638" algn="l"/>
                <a:tab pos="8610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sz="1400" dirty="0"/>
              <a:t>x	-5	-4	-3	-2	-1	0	1	2	3	4	5	6</a:t>
            </a:r>
            <a:endParaRPr lang="en-US" sz="1400" dirty="0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2508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9715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692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241141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313213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0" y="2708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5292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6011863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732588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745172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817245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8931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0" y="12684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0" y="198913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0" y="4149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0" y="486886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0" y="5589588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0" y="630872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283968" y="0"/>
            <a:ext cx="28803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400" dirty="0"/>
              <a:t>y</a:t>
            </a:r>
          </a:p>
          <a:p>
            <a:endParaRPr lang="en-GB" sz="1400" dirty="0"/>
          </a:p>
          <a:p>
            <a:endParaRPr lang="en-US" sz="1400" dirty="0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4264025" y="396875"/>
            <a:ext cx="33413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GB" sz="1400" dirty="0"/>
              <a:t>4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1</a:t>
            </a:r>
          </a:p>
          <a:p>
            <a:pPr algn="r"/>
            <a:endParaRPr lang="en-GB" sz="3300" dirty="0"/>
          </a:p>
          <a:p>
            <a:pPr algn="r"/>
            <a:endParaRPr lang="en-GB" sz="1400" dirty="0"/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-1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-2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-3</a:t>
            </a:r>
          </a:p>
          <a:p>
            <a:pPr algn="r"/>
            <a:endParaRPr lang="en-GB" sz="3300" dirty="0"/>
          </a:p>
          <a:p>
            <a:pPr algn="r"/>
            <a:r>
              <a:rPr lang="en-GB" sz="1400" dirty="0"/>
              <a:t>-4</a:t>
            </a:r>
          </a:p>
        </p:txBody>
      </p:sp>
      <p:sp>
        <p:nvSpPr>
          <p:cNvPr id="10288" name="Line 48"/>
          <p:cNvSpPr>
            <a:spLocks noChangeShapeType="1"/>
          </p:cNvSpPr>
          <p:nvPr/>
        </p:nvSpPr>
        <p:spPr bwMode="auto">
          <a:xfrm>
            <a:off x="3851275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flipV="1">
            <a:off x="6011862" y="0"/>
            <a:ext cx="1" cy="6858000"/>
          </a:xfrm>
          <a:prstGeom prst="line">
            <a:avLst/>
          </a:prstGeom>
          <a:ln w="76200">
            <a:headEnd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467543" y="188640"/>
            <a:ext cx="3796482" cy="2246769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 dirty="0"/>
              <a:t>Let’s start simple…</a:t>
            </a:r>
          </a:p>
          <a:p>
            <a:r>
              <a:rPr lang="en-GB" sz="2800" dirty="0"/>
              <a:t>What is the equation of this line?</a:t>
            </a:r>
          </a:p>
          <a:p>
            <a:r>
              <a:rPr lang="en-GB" sz="2800" dirty="0"/>
              <a:t>And more importantly, why is it that?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71550" y="5589588"/>
                <a:ext cx="2016274" cy="70788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𝑥</m:t>
                      </m:r>
                      <m:r>
                        <a:rPr lang="en-GB" sz="40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5589588"/>
                <a:ext cx="2016274" cy="707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971549" y="5600839"/>
            <a:ext cx="201627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38041" y="5763904"/>
                <a:ext cx="3882270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For any point we pick on the line, the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value is always 2.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041" y="5763904"/>
                <a:ext cx="388227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028" t="-4286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71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49" grpId="0" animBg="1"/>
      <p:bldP spid="4" grpId="0" animBg="1"/>
    </p:bldLst>
  </p:timing>
</p:sld>
</file>

<file path=ppt/c5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132" y="2363295"/>
            <a:ext cx="965079" cy="1244444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2053682" y="155541"/>
            <a:ext cx="7090318" cy="6945867"/>
          </a:xfrm>
          <a:prstGeom prst="line">
            <a:avLst/>
          </a:prstGeom>
          <a:ln w="644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64704"/>
                <a:ext cx="856895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!"/>
                </a:pPr>
                <a:r>
                  <a:rPr lang="en-GB" sz="2400" dirty="0"/>
                  <a:t>A line consists of all points which satisfy some equation in terms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and/or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568952" cy="8309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0" y="0"/>
            <a:ext cx="9143074" cy="571743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Lines and Equations of Lines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6180846" y="4043503"/>
            <a:ext cx="72008" cy="13357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172734" y="3441314"/>
                <a:ext cx="2088232" cy="859893"/>
              </a:xfrm>
              <a:prstGeom prst="rect">
                <a:avLst/>
              </a:prstGeom>
              <a:scene3d>
                <a:camera prst="perspectiveContrastingLeftFacing">
                  <a:rot lat="623785" lon="1800000" rev="21386789"/>
                </a:camera>
                <a:lightRig rig="threePt" dir="t"/>
              </a:scene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Anirudh’s Line Club</a:t>
                </a:r>
              </a:p>
              <a:p>
                <a:pPr algn="ctr"/>
                <a:r>
                  <a:rPr lang="en-GB" sz="1400" dirty="0"/>
                  <a:t>Membership Rules: </a:t>
                </a:r>
                <a:br>
                  <a:rPr lang="en-GB" sz="1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734" y="3441314"/>
                <a:ext cx="2088232" cy="85989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/>
          <p:cNvGrpSpPr/>
          <p:nvPr/>
        </p:nvGrpSpPr>
        <p:grpSpPr>
          <a:xfrm>
            <a:off x="-1587733" y="4043503"/>
            <a:ext cx="992330" cy="1495200"/>
            <a:chOff x="856244" y="3120255"/>
            <a:chExt cx="992330" cy="149520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244" y="3120255"/>
              <a:ext cx="939683" cy="118095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952239" y="4246123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0,5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39" y="4246123"/>
                  <a:ext cx="89633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/>
          <p:cNvGrpSpPr/>
          <p:nvPr/>
        </p:nvGrpSpPr>
        <p:grpSpPr>
          <a:xfrm>
            <a:off x="-1290779" y="2363295"/>
            <a:ext cx="939683" cy="1646587"/>
            <a:chOff x="-1188640" y="3434109"/>
            <a:chExt cx="939683" cy="164658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188640" y="3434109"/>
              <a:ext cx="939683" cy="12952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-1166967" y="4711364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66967" y="4711364"/>
                  <a:ext cx="89633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-2553098" y="5169371"/>
            <a:ext cx="964032" cy="1467462"/>
            <a:chOff x="2395699" y="4297395"/>
            <a:chExt cx="964032" cy="1467462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95699" y="4297395"/>
              <a:ext cx="921974" cy="1210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2463396" y="5395525"/>
                  <a:ext cx="896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3,−1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3396" y="5395525"/>
                  <a:ext cx="89633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ular Callout 53"/>
              <p:cNvSpPr/>
              <p:nvPr/>
            </p:nvSpPr>
            <p:spPr>
              <a:xfrm>
                <a:off x="7260966" y="1844824"/>
                <a:ext cx="1703522" cy="1008112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Yes, you can join 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Rounded Rectangular Callout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966" y="1844824"/>
                <a:ext cx="1703522" cy="1008112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ounded Rectangular Callout 54"/>
              <p:cNvSpPr/>
              <p:nvPr/>
            </p:nvSpPr>
            <p:spPr>
              <a:xfrm>
                <a:off x="7188602" y="1844824"/>
                <a:ext cx="1703522" cy="1257235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Sorry, you can’t join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+2=8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Get lost.</a:t>
                </a:r>
              </a:p>
            </p:txBody>
          </p:sp>
        </mc:Choice>
        <mc:Fallback xmlns="">
          <p:sp>
            <p:nvSpPr>
              <p:cNvPr id="55" name="Rounded Rectangular Callout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602" y="1844824"/>
                <a:ext cx="1703522" cy="1257235"/>
              </a:xfrm>
              <a:prstGeom prst="wedgeRoundRectCallout">
                <a:avLst>
                  <a:gd name="adj1" fmla="val -54914"/>
                  <a:gd name="adj2" fmla="val 72578"/>
                  <a:gd name="adj3" fmla="val 16667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ounded Rectangular Callout 55"/>
              <p:cNvSpPr/>
              <p:nvPr/>
            </p:nvSpPr>
            <p:spPr>
              <a:xfrm>
                <a:off x="7081211" y="2045102"/>
                <a:ext cx="1984789" cy="1056957"/>
              </a:xfrm>
              <a:prstGeom prst="wedgeRoundRectCallout">
                <a:avLst>
                  <a:gd name="adj1" fmla="val -56376"/>
                  <a:gd name="adj2" fmla="val 80259"/>
                  <a:gd name="adj3" fmla="val 16667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b="0" dirty="0"/>
              </a:p>
              <a:p>
                <a:pPr algn="ctr"/>
                <a:r>
                  <a:rPr lang="en-GB" dirty="0"/>
                  <a:t>so you can join.</a:t>
                </a:r>
              </a:p>
            </p:txBody>
          </p:sp>
        </mc:Choice>
        <mc:Fallback xmlns="">
          <p:sp>
            <p:nvSpPr>
              <p:cNvPr id="56" name="Rounded Rectangular Callout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211" y="2045102"/>
                <a:ext cx="1984789" cy="1056957"/>
              </a:xfrm>
              <a:prstGeom prst="wedgeRoundRectCallout">
                <a:avLst>
                  <a:gd name="adj1" fmla="val -56376"/>
                  <a:gd name="adj2" fmla="val 80259"/>
                  <a:gd name="adj3" fmla="val 16667"/>
                </a:avLst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0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11111E-6 L 0.56406 0.05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94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406 0.05023 L 0.57465 -0.3245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-1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33333E-6 L 0.61337 0.3430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60" y="1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337 0.34306 L -0.11111 -0.0798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33" y="-2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0.65556 -0.0141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78" y="-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5556 -0.01412 L 1.04132 0.0069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</p:bldLst>
  </p:timing>
</p:sld>
</file>

<file path=ppt/c5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71743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764704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This means we can </a:t>
            </a:r>
            <a:r>
              <a:rPr lang="en-GB" sz="2000" b="1" u="sng" dirty="0"/>
              <a:t>substitute</a:t>
            </a:r>
            <a:r>
              <a:rPr lang="en-GB" sz="2000" dirty="0"/>
              <a:t> the values of a coordinate into our equation whenever we know the point lies on the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717032"/>
                <a:ext cx="784887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coordinate of the point where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 cuts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717032"/>
                <a:ext cx="7848872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67644" y="4221088"/>
                <a:ext cx="6048672" cy="1268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+0=5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44" y="4221088"/>
                <a:ext cx="6048672" cy="1268681"/>
              </a:xfrm>
              <a:prstGeom prst="rect">
                <a:avLst/>
              </a:prstGeom>
              <a:blipFill rotWithShape="0">
                <a:blip r:embed="rId3"/>
                <a:stretch>
                  <a:fillRect l="-806" t="-2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6638" y="1772816"/>
                <a:ext cx="8133793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dirty="0"/>
                  <a:t> lies on the line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. Determine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38" y="1772816"/>
                <a:ext cx="8133793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49321" y="2323909"/>
                <a:ext cx="60486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Substituting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321" y="2323909"/>
                <a:ext cx="6048672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806" t="-32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421492" y="2251301"/>
            <a:ext cx="4662675" cy="9959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1492" y="4221088"/>
            <a:ext cx="4662675" cy="12686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852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5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911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908720"/>
                <a:ext cx="7560840" cy="3660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Determine where the line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dirty="0"/>
                  <a:t> crosses the:</a:t>
                </a:r>
              </a:p>
              <a:p>
                <a:endParaRPr lang="en-GB" sz="2400" dirty="0"/>
              </a:p>
              <a:p>
                <a:pPr marL="342900" indent="-342900">
                  <a:buAutoNum type="alphaLcParenR"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-axis:            </a:t>
                </a:r>
                <a:r>
                  <a:rPr lang="en-GB" sz="2400" b="1" dirty="0"/>
                  <a:t>Let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400" b="1" dirty="0"/>
                  <a:t>.</a:t>
                </a:r>
                <a:br>
                  <a:rPr lang="en-GB" sz="2400" b="1" dirty="0"/>
                </a:br>
                <a:r>
                  <a:rPr lang="en-GB" sz="2400" b="1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      →  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GB" sz="2400" b="1" dirty="0"/>
              </a:p>
              <a:p>
                <a:pPr marL="342900" indent="-342900">
                  <a:buAutoNum type="alphaLcParenR"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-axis:          </a:t>
                </a:r>
                <a:r>
                  <a:rPr lang="en-GB" sz="2400" b="1" dirty="0"/>
                  <a:t>Let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 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GB" b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7560840" cy="3660361"/>
              </a:xfrm>
              <a:prstGeom prst="rect">
                <a:avLst/>
              </a:prstGeom>
              <a:blipFill rotWithShape="0">
                <a:blip r:embed="rId2"/>
                <a:stretch>
                  <a:fillRect l="-1290" t="-1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253258" y="1628800"/>
            <a:ext cx="4118942" cy="15121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3258" y="3212976"/>
            <a:ext cx="4118942" cy="10081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436510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7544" y="4569081"/>
                <a:ext cx="73448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mistakes do you think it’s easy to make?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Mixing up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/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: Putting answer as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rather than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Setting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to find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-intercept, 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 to find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-intercept.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569081"/>
                <a:ext cx="7344816" cy="923330"/>
              </a:xfrm>
              <a:prstGeom prst="rect">
                <a:avLst/>
              </a:prstGeom>
              <a:blipFill>
                <a:blip r:embed="rId3"/>
                <a:stretch>
                  <a:fillRect l="-747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74058" y="4888313"/>
            <a:ext cx="6984776" cy="6137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6957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c5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46701"/>
                <a:ext cx="849694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The steepness of a line is known as the </a:t>
                </a:r>
                <a:r>
                  <a:rPr lang="en-GB" sz="2800" b="1" dirty="0"/>
                  <a:t>gradient</a:t>
                </a:r>
                <a:r>
                  <a:rPr lang="en-GB" sz="2800" dirty="0"/>
                  <a:t>.</a:t>
                </a:r>
              </a:p>
              <a:p>
                <a:r>
                  <a:rPr lang="en-GB" sz="2800" dirty="0"/>
                  <a:t>It tells us what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800" dirty="0"/>
                  <a:t> changes by as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/>
                  <a:t> increases by 1.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46701"/>
                <a:ext cx="8496944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1435" t="-5732" b="-17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1786270" y="1881514"/>
            <a:ext cx="21436" cy="312642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041991" y="3897738"/>
            <a:ext cx="2924617" cy="2567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637414" y="1881514"/>
            <a:ext cx="1119916" cy="315831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53274" y="3321674"/>
            <a:ext cx="50405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2757330" y="2025530"/>
            <a:ext cx="0" cy="1296144"/>
          </a:xfrm>
          <a:prstGeom prst="line">
            <a:avLst/>
          </a:prstGeom>
          <a:ln>
            <a:prstDash val="sysDot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61286" y="332167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286" y="3321674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57330" y="2673602"/>
                <a:ext cx="455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330" y="2673602"/>
                <a:ext cx="455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11326" y="3683741"/>
                <a:ext cx="3011948" cy="101752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326" y="3683741"/>
                <a:ext cx="3011948" cy="10175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07395" y="4939850"/>
                <a:ext cx="2764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sz="1400" dirty="0"/>
                  <a:t> is the (capital) Greek letter “delta” and means </a:t>
                </a:r>
                <a:r>
                  <a:rPr lang="en-GB" sz="1400" b="1" dirty="0"/>
                  <a:t>“change in</a:t>
                </a:r>
                <a:r>
                  <a:rPr lang="en-GB" sz="1400" dirty="0"/>
                  <a:t>”.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395" y="4939850"/>
                <a:ext cx="2764465" cy="523220"/>
              </a:xfrm>
              <a:prstGeom prst="rect">
                <a:avLst/>
              </a:prstGeom>
              <a:blipFill>
                <a:blip r:embed="rId6"/>
                <a:stretch>
                  <a:fillRect l="-661" t="-1163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7070651" y="4774018"/>
            <a:ext cx="255182" cy="15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58414" y="1920205"/>
                <a:ext cx="417646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 if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increased by 6 as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 increased by 2, 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increasing by for each unit increase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?</a:t>
                </a:r>
              </a:p>
              <a:p>
                <a:r>
                  <a:rPr lang="en-GB" dirty="0"/>
                  <a:t>How would that give us a suitable formula for the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414" y="1920205"/>
                <a:ext cx="4176464" cy="1477328"/>
              </a:xfrm>
              <a:prstGeom prst="rect">
                <a:avLst/>
              </a:prstGeom>
              <a:blipFill>
                <a:blip r:embed="rId7"/>
                <a:stretch>
                  <a:fillRect l="-1168" t="-2479" r="-438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5282" y="5305533"/>
                <a:ext cx="7968475" cy="14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Textbook Note:</a:t>
                </a:r>
              </a:p>
              <a:p>
                <a:r>
                  <a:rPr lang="en-GB" sz="1200" dirty="0"/>
                  <a:t>The textbook uses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1200" dirty="0"/>
                  <a:t> for two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200" dirty="0"/>
                  <a:t>. Reasons I don’t use it for non-algebraic coordinates: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often get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the wrong way round (or with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’s)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often make sign errors when dealing with negatives, 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</m:oMath>
                </a14:m>
                <a:endParaRPr lang="en-GB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It can’t be done as easily mentally,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dirty="0"/>
                  <a:t>Students see it as “yet another formula to learn” when really all you need is to appreciate is what gradient is, i.e. “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change per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change”.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82" y="5305533"/>
                <a:ext cx="7968475" cy="1469313"/>
              </a:xfrm>
              <a:prstGeom prst="rect">
                <a:avLst/>
              </a:prstGeom>
              <a:blipFill>
                <a:blip r:embed="rId8"/>
                <a:stretch>
                  <a:fillRect b="-2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6747562" y="3718780"/>
            <a:ext cx="844085" cy="9701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ECBD50-C8CC-0583-A836-CD1771FF77A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8" name="TextBox 32">
              <a:extLst>
                <a:ext uri="{FF2B5EF4-FFF2-40B4-BE49-F238E27FC236}">
                  <a16:creationId xmlns:a16="http://schemas.microsoft.com/office/drawing/2014/main" id="{78F0396A-51A8-3E1D-3BDC-0B3A1298972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of gradient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7750D76-B4D2-FE40-78D0-A6E88ACC4B0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7198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4" grpId="0" animBg="1"/>
    </p:bldLst>
  </p:timing>
</p:sld>
</file>

<file path=ppt/c5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19336" y="1180278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1, 4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(3, 10)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6" y="1180278"/>
                <a:ext cx="4595886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47270" y="1246189"/>
                <a:ext cx="2808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70" y="1246189"/>
                <a:ext cx="280831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91286" y="2030775"/>
                <a:ext cx="28083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286" y="2030775"/>
                <a:ext cx="280831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0726" y="3112300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2, 2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(−1, 10)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26" y="3112300"/>
                <a:ext cx="459588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26450" y="2773055"/>
                <a:ext cx="2808312" cy="1248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/>
                        </a:rPr>
                        <m:t>𝑚</m:t>
                      </m:r>
                      <m:r>
                        <a:rPr lang="en-GB" sz="4000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b="0" i="1" smtClean="0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GB" sz="4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450" y="2773055"/>
                <a:ext cx="2808312" cy="1248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78094" y="1312100"/>
            <a:ext cx="828093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75462" y="2096686"/>
            <a:ext cx="828093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9" name="Rectangle 8"/>
          <p:cNvSpPr/>
          <p:nvPr/>
        </p:nvSpPr>
        <p:spPr>
          <a:xfrm>
            <a:off x="7062761" y="2825972"/>
            <a:ext cx="828093" cy="1172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3883" y="2176196"/>
                <a:ext cx="45958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b="0" i="1" smtClean="0">
                              <a:latin typeface="Cambria Math"/>
                            </a:rPr>
                            <m:t>5, 7</m:t>
                          </m:r>
                        </m:e>
                      </m:d>
                      <m:r>
                        <a:rPr lang="en-GB" sz="4000" b="0" i="1" smtClean="0">
                          <a:latin typeface="Cambria Math"/>
                        </a:rPr>
                        <m:t>    (8, 1)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83" y="2176196"/>
                <a:ext cx="4595886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12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02045" y="4130387"/>
                <a:ext cx="7113157" cy="2194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Show that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11,8</m:t>
                        </m:r>
                      </m:e>
                    </m:d>
                  </m:oMath>
                </a14:m>
                <a:r>
                  <a:rPr lang="en-GB" sz="2800" dirty="0"/>
                  <a:t> all lie on a straight line.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𝑩𝑪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r>
                  <a:rPr lang="en-GB" sz="2800" b="1" dirty="0"/>
                  <a:t>Gradients the same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2800" b="1" dirty="0"/>
                  <a:t> ‘collinear’.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45" y="4130387"/>
                <a:ext cx="7113157" cy="2194447"/>
              </a:xfrm>
              <a:prstGeom prst="rect">
                <a:avLst/>
              </a:prstGeom>
              <a:blipFill>
                <a:blip r:embed="rId8"/>
                <a:stretch>
                  <a:fillRect l="-1714" t="-2778" b="-69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95536" y="1337500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535" y="2317733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535" y="3255779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745" y="743496"/>
            <a:ext cx="6363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Find the gradient of the line that goes through the points: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834" y="4171718"/>
            <a:ext cx="347413" cy="4209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4961" y="5529932"/>
            <a:ext cx="1852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If points are ‘collinear’ they lie on the same line.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070600" y="5945430"/>
            <a:ext cx="814361" cy="112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15616" y="5029200"/>
            <a:ext cx="7456884" cy="1397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3216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3" grpId="0" animBg="1"/>
    </p:bldLst>
  </p:timing>
</p:sld>
</file>

<file path=ppt/c5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0700" y="908720"/>
                <a:ext cx="808374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The line joining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2,−5</m:t>
                        </m:r>
                      </m:e>
                    </m:d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GB" sz="2400" dirty="0"/>
                  <a:t> has gradient -1. Work out the value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" y="908720"/>
                <a:ext cx="8083748" cy="830997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55280" y="2005732"/>
                <a:ext cx="3456384" cy="215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−−5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4−2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=−7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80" y="2005732"/>
                <a:ext cx="3456384" cy="2154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874394" y="1934400"/>
            <a:ext cx="2904106" cy="2243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0477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5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1108" y="795164"/>
                <a:ext cx="86367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One form we can put a straight line equation in is:</a:t>
                </a:r>
              </a:p>
              <a:p>
                <a:endParaRPr lang="en-GB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08" y="795164"/>
                <a:ext cx="8636774" cy="1754326"/>
              </a:xfrm>
              <a:prstGeom prst="rect">
                <a:avLst/>
              </a:prstGeom>
              <a:blipFill>
                <a:blip r:embed="rId3"/>
                <a:stretch>
                  <a:fillRect l="-1835" t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11476" y="2844552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Gradient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381500" y="2387600"/>
            <a:ext cx="101600" cy="469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62476" y="2857500"/>
                <a:ext cx="1895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476" y="2857500"/>
                <a:ext cx="1895624" cy="461665"/>
              </a:xfrm>
              <a:prstGeom prst="rect">
                <a:avLst/>
              </a:prstGeom>
              <a:blipFill>
                <a:blip r:embed="rId4"/>
                <a:stretch>
                  <a:fillRect l="-965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 flipV="1">
            <a:off x="5943600" y="2476500"/>
            <a:ext cx="356592" cy="44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6300" y="3535040"/>
                <a:ext cx="81216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Why does it work?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The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-intercept by definition is the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 value when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400" b="1" dirty="0"/>
                  <a:t>. Substituting:</a:t>
                </a:r>
                <a:br>
                  <a:rPr lang="en-GB" sz="2400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400" b="1" dirty="0"/>
                  <a:t> as expected.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b="1" dirty="0"/>
                  <a:t>By the definition of gradient, if we increase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 b="1" dirty="0"/>
                  <a:t> by 1,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b="1" dirty="0"/>
                  <a:t> should increase by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400" b="1" dirty="0"/>
                  <a:t>:</a:t>
                </a:r>
                <a:br>
                  <a:rPr lang="en-GB" sz="2400" b="1" dirty="0"/>
                </a:b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br>
                  <a:rPr lang="en-GB" sz="2400" b="1" dirty="0"/>
                </a:br>
                <a:r>
                  <a:rPr lang="en-GB" sz="2400" b="1" dirty="0"/>
                  <a:t>which indeed has increased by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400" b="1" dirty="0"/>
                  <a:t>.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00" y="3535040"/>
                <a:ext cx="8121600" cy="3046988"/>
              </a:xfrm>
              <a:prstGeom prst="rect">
                <a:avLst/>
              </a:prstGeom>
              <a:blipFill>
                <a:blip r:embed="rId5"/>
                <a:stretch>
                  <a:fillRect l="-1126" t="-1600" b="-3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50294" y="3979100"/>
            <a:ext cx="8136506" cy="266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24121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c5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𝑚𝑥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908720"/>
                <a:ext cx="8280920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Determine the gradient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 of the line with equation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8720"/>
                <a:ext cx="8280920" cy="830997"/>
              </a:xfrm>
              <a:prstGeom prst="rect">
                <a:avLst/>
              </a:prstGeom>
              <a:blipFill>
                <a:blip r:embed="rId3"/>
                <a:stretch>
                  <a:fillRect b="-62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63568" y="1925340"/>
                <a:ext cx="2069232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Make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the subject so we have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Put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on the side it’s positive.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568" y="1925340"/>
                <a:ext cx="2069232" cy="1323439"/>
              </a:xfrm>
              <a:prstGeom prst="rect">
                <a:avLst/>
              </a:prstGeom>
              <a:blipFill>
                <a:blip r:embed="rId4"/>
                <a:stretch>
                  <a:fillRect l="-1166" t="-452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50268" y="1993156"/>
                <a:ext cx="4176464" cy="2594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8" y="1993156"/>
                <a:ext cx="4176464" cy="2594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63568" y="3407247"/>
                <a:ext cx="2069232" cy="118397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Divide </a:t>
                </a:r>
                <a:r>
                  <a:rPr lang="en-GB" sz="1600" b="1" u="sng" dirty="0"/>
                  <a:t>each</a:t>
                </a:r>
                <a:r>
                  <a:rPr lang="en-GB" sz="1600" dirty="0"/>
                  <a:t> term by 3; don’t write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600" dirty="0"/>
                  <a:t> otherwise it’s not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568" y="3407247"/>
                <a:ext cx="2069232" cy="1183978"/>
              </a:xfrm>
              <a:prstGeom prst="rect">
                <a:avLst/>
              </a:prstGeom>
              <a:blipFill>
                <a:blip r:embed="rId6"/>
                <a:stretch>
                  <a:fillRect l="-1166" t="-505" r="-1749" b="-5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" idx="1"/>
          </p:cNvCxnSpPr>
          <p:nvPr/>
        </p:nvCxnSpPr>
        <p:spPr>
          <a:xfrm flipH="1" flipV="1">
            <a:off x="5508104" y="2276875"/>
            <a:ext cx="855464" cy="310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5511800" y="2921000"/>
            <a:ext cx="851768" cy="72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63568" y="4763385"/>
            <a:ext cx="2069232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is algebra, so use improper fractions, and not mixed numbers or recurring decimals.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5473700" y="4191000"/>
            <a:ext cx="878408" cy="1244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75656" y="1845500"/>
            <a:ext cx="3662536" cy="4377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48047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7" grpId="0" animBg="1"/>
    </p:bldLst>
  </p:timing>
</p:sld>
</file>

<file path=ppt/c5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solidFill>
                  <a:srgbClr val="23305E"/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734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2660" y="900336"/>
                <a:ext cx="786576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At GCSE,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𝒎𝒙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2000" b="1" dirty="0"/>
                  <a:t> </a:t>
                </a:r>
                <a:r>
                  <a:rPr lang="en-GB" sz="2000" dirty="0"/>
                  <a:t>was the main form you would express a straight line equation, sometimes known as the ‘</a:t>
                </a:r>
                <a:r>
                  <a:rPr lang="en-GB" sz="2000" b="1" dirty="0"/>
                  <a:t>slope-intercept form</a:t>
                </a:r>
                <a:r>
                  <a:rPr lang="en-GB" sz="2000" dirty="0"/>
                  <a:t>’. </a:t>
                </a:r>
              </a:p>
              <a:p>
                <a:r>
                  <a:rPr lang="en-GB" sz="2000" dirty="0"/>
                  <a:t>But another common form is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 This is known as the ‘</a:t>
                </a:r>
                <a:r>
                  <a:rPr lang="en-GB" sz="2000" b="1" dirty="0"/>
                  <a:t>standard</a:t>
                </a:r>
                <a:r>
                  <a:rPr lang="en-GB" sz="2000" dirty="0"/>
                  <a:t>’ form.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60" y="900336"/>
                <a:ext cx="7865764" cy="1323439"/>
              </a:xfrm>
              <a:prstGeom prst="rect">
                <a:avLst/>
              </a:prstGeom>
              <a:blipFill>
                <a:blip r:embed="rId3"/>
                <a:stretch>
                  <a:fillRect l="-853" t="-2765" r="-1085" b="-7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0883" y="2502086"/>
                <a:ext cx="8316415" cy="52918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83" y="2502086"/>
                <a:ext cx="8316415" cy="529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75361" y="3247008"/>
                <a:ext cx="36724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361" y="3247008"/>
                <a:ext cx="3672408" cy="707886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202684" y="3247008"/>
            <a:ext cx="367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don’t want fractions, so multiply by an appropriate number.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40784" y="4058687"/>
                <a:ext cx="3674616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everything on either side of equation.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r>
                  <a:rPr lang="en-GB" sz="1600" dirty="0"/>
                  <a:t> would also be OK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784" y="4058687"/>
                <a:ext cx="3674616" cy="615553"/>
              </a:xfrm>
              <a:prstGeom prst="rect">
                <a:avLst/>
              </a:prstGeom>
              <a:blipFill>
                <a:blip r:embed="rId6"/>
                <a:stretch>
                  <a:fillRect l="-995" t="-2970" r="-498" b="-14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4355976" y="3519377"/>
            <a:ext cx="800815" cy="12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355976" y="3917393"/>
            <a:ext cx="738301" cy="3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29872" y="3140968"/>
            <a:ext cx="8347427" cy="1533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44080" y="5622389"/>
                <a:ext cx="500972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We’ll see on the next slide WHY we might want to put an equation in this form over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…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080" y="5622389"/>
                <a:ext cx="5009728" cy="646331"/>
              </a:xfrm>
              <a:prstGeom prst="rect">
                <a:avLst/>
              </a:prstGeom>
              <a:blipFill>
                <a:blip r:embed="rId7"/>
                <a:stretch>
                  <a:fillRect l="-726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19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c5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499993" y="3109770"/>
            <a:ext cx="4569578" cy="29610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 rot="3008957">
            <a:off x="4236718" y="2149814"/>
            <a:ext cx="310919" cy="142276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/>
          <p:cNvSpPr/>
          <p:nvPr/>
        </p:nvSpPr>
        <p:spPr>
          <a:xfrm rot="4311916">
            <a:off x="3389608" y="1168714"/>
            <a:ext cx="187357" cy="320788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8658" y="698785"/>
                <a:ext cx="61926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Why might we want to put a straight line equation in the form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800" dirty="0"/>
                  <a:t>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8" y="698785"/>
                <a:ext cx="6192688" cy="954107"/>
              </a:xfrm>
              <a:prstGeom prst="rect">
                <a:avLst/>
              </a:prstGeom>
              <a:blipFill>
                <a:blip r:embed="rId2"/>
                <a:stretch>
                  <a:fillRect l="-886" t="-6410" r="-2264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49419" y="1800894"/>
                <a:ext cx="2520280" cy="8640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dirty="0"/>
                  <a:t>“Slope-Intercept Form”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19" y="1800894"/>
                <a:ext cx="2520280" cy="864096"/>
              </a:xfrm>
              <a:prstGeom prst="rect">
                <a:avLst/>
              </a:prstGeom>
              <a:blipFill>
                <a:blip r:embed="rId4"/>
                <a:stretch>
                  <a:fillRect b="-2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12952" y="1816635"/>
                <a:ext cx="2520280" cy="8640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b="0" dirty="0"/>
              </a:p>
              <a:p>
                <a:pPr algn="ctr"/>
                <a:r>
                  <a:rPr lang="en-GB" dirty="0"/>
                  <a:t>“Standard Form”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52" y="1816635"/>
                <a:ext cx="2520280" cy="864096"/>
              </a:xfrm>
              <a:prstGeom prst="rect">
                <a:avLst/>
              </a:prstGeom>
              <a:blipFill>
                <a:blip r:embed="rId5"/>
                <a:stretch>
                  <a:fillRect b="-20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1409" y="3396849"/>
                <a:ext cx="1696295" cy="166199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Coverage</a:t>
                </a:r>
              </a:p>
              <a:p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300" dirty="0"/>
                  <a:t> doesn’t allow you to represent vertical lines. Standard form allows us to do this by just making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300" dirty="0"/>
                  <a:t> zero.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09" y="3396849"/>
                <a:ext cx="1696295" cy="1661993"/>
              </a:xfrm>
              <a:prstGeom prst="rect">
                <a:avLst/>
              </a:prstGeom>
              <a:blipFill>
                <a:blip r:embed="rId6"/>
                <a:stretch>
                  <a:fillRect l="-6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083264" y="5247310"/>
            <a:ext cx="0" cy="11521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rot="16200000">
                <a:off x="286530" y="5627960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6530" y="5627960"/>
                <a:ext cx="12241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13845" y="3409043"/>
                <a:ext cx="2150949" cy="24622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Symmetry</a:t>
                </a:r>
              </a:p>
              <a:p>
                <a:r>
                  <a:rPr lang="en-GB" sz="1300" dirty="0"/>
                  <a:t>In general, the ‘</a:t>
                </a:r>
                <a:r>
                  <a:rPr lang="en-GB" sz="1300" b="1" dirty="0"/>
                  <a:t>linear combination</a:t>
                </a:r>
                <a:r>
                  <a:rPr lang="en-GB" sz="1300" dirty="0"/>
                  <a:t>’ of two variables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 is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GB" sz="1300" dirty="0"/>
                  <a:t>, i.e. “some amount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some amount of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”. There is a greater elegance and symmetry to this form over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300" dirty="0"/>
                  <a:t> because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300" dirty="0"/>
                  <a:t> and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 appear similarly within the expression.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45" y="3409043"/>
                <a:ext cx="2150949" cy="2462213"/>
              </a:xfrm>
              <a:prstGeom prst="rect">
                <a:avLst/>
              </a:prstGeom>
              <a:blipFill>
                <a:blip r:embed="rId8"/>
                <a:stretch>
                  <a:fillRect l="-2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00773" y="3101977"/>
                <a:ext cx="2234637" cy="296106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Usefulness</a:t>
                </a:r>
              </a:p>
              <a:p>
                <a:r>
                  <a:rPr lang="en-GB" sz="1300" dirty="0"/>
                  <a:t>This more ‘elegant’ form also means it ties in with vectors and matrices. In FM, you will learn about the ‘</a:t>
                </a:r>
                <a:r>
                  <a:rPr lang="en-GB" sz="1300" b="1" dirty="0"/>
                  <a:t>dot product</a:t>
                </a:r>
                <a:r>
                  <a:rPr lang="en-GB" sz="1300" dirty="0"/>
                  <a:t>’ of two vectors: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GB" sz="1300" dirty="0"/>
              </a:p>
              <a:p>
                <a:pPr/>
                <a:r>
                  <a:rPr lang="en-GB" sz="1300" dirty="0"/>
                  <a:t>thus since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300" dirty="0"/>
                  <a:t>, we can represent a straight line using: </a:t>
                </a:r>
                <a:br>
                  <a:rPr lang="en-GB" sz="13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300" b="0" i="1" smtClean="0">
                          <a:latin typeface="Cambria Math" panose="02040503050406030204" pitchFamily="18" charset="0"/>
                        </a:rPr>
                        <m:t>=0       (1)</m:t>
                      </m:r>
                    </m:oMath>
                  </m:oMathPara>
                </a14:m>
                <a:endParaRPr lang="en-GB" sz="13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773" y="3101977"/>
                <a:ext cx="2234637" cy="2961067"/>
              </a:xfrm>
              <a:prstGeom prst="rect">
                <a:avLst/>
              </a:prstGeom>
              <a:blipFill>
                <a:blip r:embed="rId9"/>
                <a:stretch>
                  <a:fillRect l="-4087" t="-1646"/>
                </a:stretch>
              </a:blipFill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/>
          <p:cNvSpPr/>
          <p:nvPr/>
        </p:nvSpPr>
        <p:spPr>
          <a:xfrm rot="19791647">
            <a:off x="6236031" y="2586666"/>
            <a:ext cx="348982" cy="6899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666614" y="3439379"/>
                <a:ext cx="2371059" cy="2533899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1300" dirty="0"/>
                  <a:t>We can extend to 3D points to get the equation of a </a:t>
                </a:r>
                <a:r>
                  <a:rPr lang="en-GB" sz="1300" b="1" dirty="0"/>
                  <a:t>plane</a:t>
                </a:r>
                <a:r>
                  <a:rPr lang="en-GB" sz="13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1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3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300" i="1">
                          <a:latin typeface="Cambria Math" panose="02040503050406030204" pitchFamily="18" charset="0"/>
                        </a:rPr>
                        <m:t>=0        (2)</m:t>
                      </m:r>
                    </m:oMath>
                  </m:oMathPara>
                </a14:m>
                <a:endParaRPr lang="en-GB" sz="1300" b="1" dirty="0"/>
              </a:p>
              <a:p>
                <a:r>
                  <a:rPr lang="en-GB" sz="1300" dirty="0"/>
                  <a:t>Conveniently, in equation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sz="1300" dirty="0"/>
                  <a:t>,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  <m:mr>
                            <m:e/>
                          </m:mr>
                          <m:mr>
                            <m:e/>
                          </m:mr>
                        </m:m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300" dirty="0"/>
                  <a:t> is </a:t>
                </a:r>
                <a:r>
                  <a:rPr lang="en-GB" sz="1300" b="1" dirty="0"/>
                  <a:t>perpendicular to the line</a:t>
                </a:r>
                <a:r>
                  <a:rPr lang="en-GB" sz="1300" dirty="0"/>
                  <a:t>. And in equation </a:t>
                </a:r>
                <a14:m>
                  <m:oMath xmlns:m="http://schemas.openxmlformats.org/officeDocument/2006/math">
                    <m:r>
                      <a:rPr lang="en-GB" sz="1300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GB" sz="1300" dirty="0"/>
                  <a:t>, the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sz="13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300" dirty="0"/>
                  <a:t> is perpendicular to the plane. Nice!</a:t>
                </a:r>
                <a:endParaRPr lang="en-GB" sz="15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614" y="3439379"/>
                <a:ext cx="2371059" cy="2533899"/>
              </a:xfrm>
              <a:prstGeom prst="rect">
                <a:avLst/>
              </a:prstGeom>
              <a:blipFill>
                <a:blip r:embed="rId10"/>
                <a:stretch>
                  <a:fillRect l="-514" t="-240" r="-1799" b="-1202"/>
                </a:stretch>
              </a:blipFill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648646" y="3109770"/>
            <a:ext cx="85984" cy="2733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/>
          <p:cNvCxnSpPr/>
          <p:nvPr/>
        </p:nvCxnSpPr>
        <p:spPr>
          <a:xfrm>
            <a:off x="6635393" y="3432311"/>
            <a:ext cx="0" cy="2497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285317" y="6178963"/>
                <a:ext cx="1392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317" y="6178963"/>
                <a:ext cx="1392807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986195" y="6097495"/>
                <a:ext cx="1488493" cy="555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195" y="6097495"/>
                <a:ext cx="1488493" cy="5555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/>
          <p:cNvSpPr/>
          <p:nvPr/>
        </p:nvSpPr>
        <p:spPr>
          <a:xfrm>
            <a:off x="5703271" y="6261491"/>
            <a:ext cx="280699" cy="1852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Right 27"/>
          <p:cNvSpPr/>
          <p:nvPr/>
        </p:nvSpPr>
        <p:spPr>
          <a:xfrm>
            <a:off x="7528121" y="6272124"/>
            <a:ext cx="280699" cy="1852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373685" y="6322864"/>
                <a:ext cx="455830" cy="399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85" y="6322864"/>
                <a:ext cx="455830" cy="399084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8041388" y="6177673"/>
            <a:ext cx="277112" cy="5580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rot="3786957">
                <a:off x="7651294" y="6348274"/>
                <a:ext cx="83763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86957">
                <a:off x="7651294" y="6348274"/>
                <a:ext cx="837637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8205344" y="6326626"/>
            <a:ext cx="352496" cy="19162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8265319" y="6372225"/>
            <a:ext cx="46037" cy="9163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8174831" y="6369844"/>
            <a:ext cx="88107" cy="45244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43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  <p:bldP spid="10" grpId="0" animBg="1"/>
      <p:bldP spid="8" grpId="0" animBg="1"/>
      <p:bldP spid="9" grpId="0" animBg="1"/>
      <p:bldP spid="11" grpId="0" animBg="1"/>
      <p:bldP spid="14" grpId="0"/>
      <p:bldP spid="16" grpId="0" animBg="1"/>
      <p:bldP spid="17" grpId="0"/>
      <p:bldP spid="18" grpId="0" animBg="1"/>
      <p:bldP spid="19" grpId="0"/>
      <p:bldP spid="20" grpId="0"/>
      <p:bldP spid="25" grpId="0"/>
      <p:bldP spid="26" grpId="0"/>
      <p:bldP spid="27" grpId="0" animBg="1"/>
      <p:bldP spid="28" grpId="0" animBg="1"/>
      <p:bldP spid="29" grpId="0"/>
      <p:bldP spid="32" grpId="0"/>
    </p:bldLst>
  </p:timing>
</p:sld>
</file>

<file path=ppt/c5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3083" y="939986"/>
                <a:ext cx="8316415" cy="52950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are integers.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" y="939986"/>
                <a:ext cx="8316415" cy="5295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79712" y="1988840"/>
                <a:ext cx="4608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988840"/>
                <a:ext cx="4608512" cy="830997"/>
              </a:xfrm>
              <a:prstGeom prst="rect">
                <a:avLst/>
              </a:prstGeom>
              <a:blipFill>
                <a:blip r:embed="rId3"/>
                <a:stretch>
                  <a:fillRect b="-94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33273" y="1820168"/>
            <a:ext cx="476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8530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5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5A – Pure Y1 Page 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70487DB-E65F-F494-E151-018EF7ADC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16832"/>
            <a:ext cx="3888432" cy="3566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81C268-7854-B515-73F3-06DF0BC8F5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60"/>
          <a:stretch/>
        </p:blipFill>
        <p:spPr>
          <a:xfrm>
            <a:off x="216024" y="787012"/>
            <a:ext cx="4283968" cy="6635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C771D4-840F-4C88-96F8-9A78345E6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789" y="1553663"/>
            <a:ext cx="3653931" cy="503607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A15D0E1-381D-F519-B135-9D14C0F18CC2}"/>
              </a:ext>
            </a:extLst>
          </p:cNvPr>
          <p:cNvSpPr/>
          <p:nvPr/>
        </p:nvSpPr>
        <p:spPr>
          <a:xfrm>
            <a:off x="4860032" y="1618615"/>
            <a:ext cx="4145931" cy="5036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AFA0CC-6BD0-7926-1510-B36AD7C16D68}"/>
              </a:ext>
            </a:extLst>
          </p:cNvPr>
          <p:cNvSpPr/>
          <p:nvPr/>
        </p:nvSpPr>
        <p:spPr>
          <a:xfrm>
            <a:off x="216025" y="1618615"/>
            <a:ext cx="4283968" cy="50360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4B131F-4217-C7DD-7548-B0C962879E8E}"/>
              </a:ext>
            </a:extLst>
          </p:cNvPr>
          <p:cNvGrpSpPr/>
          <p:nvPr/>
        </p:nvGrpSpPr>
        <p:grpSpPr>
          <a:xfrm>
            <a:off x="4905262" y="764704"/>
            <a:ext cx="3987218" cy="685896"/>
            <a:chOff x="4905262" y="832541"/>
            <a:chExt cx="3987218" cy="6858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2F62A9E-A128-F13A-81ED-217A3953F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5262" y="832541"/>
              <a:ext cx="3896269" cy="685896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A96E30-8E5E-A8DB-4ADE-D7B49442E165}"/>
                </a:ext>
              </a:extLst>
            </p:cNvPr>
            <p:cNvSpPr/>
            <p:nvPr/>
          </p:nvSpPr>
          <p:spPr>
            <a:xfrm>
              <a:off x="8316416" y="1124744"/>
              <a:ext cx="576064" cy="3639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6996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c5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5B – Pure Y1 Page 92-93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DD1B2DA-B12E-0FE3-6612-BC9CDE8CD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" y="627114"/>
            <a:ext cx="4289331" cy="763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57E23E-8506-E9D1-700A-6A2B8240B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39" y="599127"/>
            <a:ext cx="3822948" cy="637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EA9AD-ADDE-9A92-1442-37F48CE43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509512"/>
            <a:ext cx="2304256" cy="2516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F2C1F-1916-5093-A6E7-2066CD21D6FD}"/>
              </a:ext>
            </a:extLst>
          </p:cNvPr>
          <p:cNvSpPr/>
          <p:nvPr/>
        </p:nvSpPr>
        <p:spPr>
          <a:xfrm>
            <a:off x="467544" y="1490242"/>
            <a:ext cx="2947090" cy="12906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70B40-9572-4CB8-878B-CC10AD11915F}"/>
              </a:ext>
            </a:extLst>
          </p:cNvPr>
          <p:cNvSpPr/>
          <p:nvPr/>
        </p:nvSpPr>
        <p:spPr>
          <a:xfrm>
            <a:off x="467544" y="2767757"/>
            <a:ext cx="2947090" cy="12906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5624B4-BFB5-1A53-D3CD-180971E42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1445299"/>
            <a:ext cx="1854200" cy="1447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CA98044-8C92-BB3A-7915-A606DD0E7470}"/>
              </a:ext>
            </a:extLst>
          </p:cNvPr>
          <p:cNvSpPr/>
          <p:nvPr/>
        </p:nvSpPr>
        <p:spPr>
          <a:xfrm>
            <a:off x="4932040" y="1390246"/>
            <a:ext cx="2304256" cy="1447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C269C6-3A7C-D42A-98E0-F6532099D075}"/>
              </a:ext>
            </a:extLst>
          </p:cNvPr>
          <p:cNvGrpSpPr/>
          <p:nvPr/>
        </p:nvGrpSpPr>
        <p:grpSpPr>
          <a:xfrm>
            <a:off x="282096" y="4221088"/>
            <a:ext cx="4289332" cy="864096"/>
            <a:chOff x="282096" y="4221088"/>
            <a:chExt cx="4289332" cy="8640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628B34D-7891-E9B7-F9FB-255DD764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2096" y="4221088"/>
              <a:ext cx="4289332" cy="822721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4DFC17-654E-E2A4-A0B4-23FF4338F1DC}"/>
                </a:ext>
              </a:extLst>
            </p:cNvPr>
            <p:cNvSpPr/>
            <p:nvPr/>
          </p:nvSpPr>
          <p:spPr>
            <a:xfrm>
              <a:off x="3707904" y="4653136"/>
              <a:ext cx="86352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A5DD8AF-D03F-6EF5-345D-73EB8FAF9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34" y="5071958"/>
            <a:ext cx="2933700" cy="1727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6A4D4E-2CFF-7015-7191-DBD06C2685AC}"/>
              </a:ext>
            </a:extLst>
          </p:cNvPr>
          <p:cNvSpPr/>
          <p:nvPr/>
        </p:nvSpPr>
        <p:spPr>
          <a:xfrm>
            <a:off x="467544" y="5063357"/>
            <a:ext cx="2947090" cy="173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9768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8" grpId="0" animBg="1"/>
    </p:bldLst>
  </p:timing>
</p:sld>
</file>

<file path=ppt/c5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5B – Pure Y1 Page 92-93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0C97F4D-8F4B-9DC5-B723-3A85F6DB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8" y="613064"/>
            <a:ext cx="7772400" cy="6362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BBB547-D892-1624-52F1-7DA7AA52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40768"/>
            <a:ext cx="2480643" cy="1811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EAE9566-F96D-7B37-C1C0-5A82BA985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8" y="1390530"/>
            <a:ext cx="2637647" cy="181194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225977-1466-26DA-3467-F6C02F18D383}"/>
              </a:ext>
            </a:extLst>
          </p:cNvPr>
          <p:cNvCxnSpPr/>
          <p:nvPr/>
        </p:nvCxnSpPr>
        <p:spPr>
          <a:xfrm>
            <a:off x="3851920" y="1365649"/>
            <a:ext cx="0" cy="176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F732187-2C5D-64FB-5D83-E2464AB6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30" y="4940713"/>
            <a:ext cx="3454400" cy="1308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B56524-13DC-9016-6077-C864BE697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37" y="4940713"/>
            <a:ext cx="3517900" cy="14605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3040B23-E194-1D3B-F624-51A61BE0F483}"/>
              </a:ext>
            </a:extLst>
          </p:cNvPr>
          <p:cNvSpPr/>
          <p:nvPr/>
        </p:nvSpPr>
        <p:spPr>
          <a:xfrm>
            <a:off x="460275" y="1314773"/>
            <a:ext cx="7425642" cy="19140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2A0800-9A53-E29F-20AC-CB78B9E3B61E}"/>
              </a:ext>
            </a:extLst>
          </p:cNvPr>
          <p:cNvSpPr/>
          <p:nvPr/>
        </p:nvSpPr>
        <p:spPr>
          <a:xfrm>
            <a:off x="460275" y="4915475"/>
            <a:ext cx="3517900" cy="1460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F78D3-8039-3DE3-D787-869170224444}"/>
              </a:ext>
            </a:extLst>
          </p:cNvPr>
          <p:cNvSpPr/>
          <p:nvPr/>
        </p:nvSpPr>
        <p:spPr>
          <a:xfrm>
            <a:off x="4371700" y="4915474"/>
            <a:ext cx="3517900" cy="14604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3B0594-9B72-73BD-EAC8-1C54B4B0D54F}"/>
              </a:ext>
            </a:extLst>
          </p:cNvPr>
          <p:cNvGrpSpPr/>
          <p:nvPr/>
        </p:nvGrpSpPr>
        <p:grpSpPr>
          <a:xfrm>
            <a:off x="147978" y="3415055"/>
            <a:ext cx="8024422" cy="1238081"/>
            <a:chOff x="147978" y="3415055"/>
            <a:chExt cx="8024422" cy="123808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B1224DC-B3C2-1547-8BFA-16E94A9E5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978" y="3415055"/>
              <a:ext cx="7772400" cy="123808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A354F8-5305-33B3-EBAB-145AC856F4BD}"/>
                </a:ext>
              </a:extLst>
            </p:cNvPr>
            <p:cNvSpPr/>
            <p:nvPr/>
          </p:nvSpPr>
          <p:spPr>
            <a:xfrm>
              <a:off x="7740352" y="4221088"/>
              <a:ext cx="432048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6559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c5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5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