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14/ppt/slideMasters/slideMaster1.xml" ContentType="application/vnd.openxmlformats-officedocument.presentationml.slideMaster+xml"/>
  <ns0:Override PartName="/ppt/c14/ppt/slides/slide4.xml" ContentType="application/vnd.openxmlformats-officedocument.presentationml.slide+xml"/>
  <ns0:Override PartName="/ppt/c14/ppt/slides/slide5.xml" ContentType="application/vnd.openxmlformats-officedocument.presentationml.slide+xml"/>
  <ns0:Override PartName="/ppt/c14/ppt/slides/slide6.xml" ContentType="application/vnd.openxmlformats-officedocument.presentationml.slide+xml"/>
  <ns0:Override PartName="/ppt/c14/ppt/slides/slide7.xml" ContentType="application/vnd.openxmlformats-officedocument.presentationml.slide+xml"/>
  <ns0:Override PartName="/ppt/c14/ppt/slides/slide21.xml" ContentType="application/vnd.openxmlformats-officedocument.presentationml.slide+xml"/>
  <ns0:Override PartName="/ppt/c14/ppt/slides/slide22.xml" ContentType="application/vnd.openxmlformats-officedocument.presentationml.slide+xml"/>
  <ns0:Override PartName="/ppt/c14/ppt/slides/slide23.xml" ContentType="application/vnd.openxmlformats-officedocument.presentationml.slide+xml"/>
  <ns0:Override PartName="/ppt/c14/ppt/slides/slide24.xml" ContentType="application/vnd.openxmlformats-officedocument.presentationml.slide+xml"/>
  <ns0:Override PartName="/ppt/c14/ppt/slides/slide25.xml" ContentType="application/vnd.openxmlformats-officedocument.presentationml.slide+xml"/>
  <ns0:Override PartName="/ppt/c14/ppt/slides/slide26.xml" ContentType="application/vnd.openxmlformats-officedocument.presentationml.slide+xml"/>
  <ns0:Override PartName="/ppt/c14/ppt/slides/slide27.xml" ContentType="application/vnd.openxmlformats-officedocument.presentationml.slide+xml"/>
  <ns0:Override PartName="/ppt/c14/ppt/slides/slide28.xml" ContentType="application/vnd.openxmlformats-officedocument.presentationml.slide+xml"/>
  <ns0:Override PartName="/ppt/c14/ppt/slides/slide29.xml" ContentType="application/vnd.openxmlformats-officedocument.presentationml.slide+xml"/>
  <ns0:Override PartName="/ppt/c14/ppt/slides/slide30.xml" ContentType="application/vnd.openxmlformats-officedocument.presentationml.slide+xml"/>
  <ns0:Override PartName="/ppt/c14/ppt/slides/slide31.xml" ContentType="application/vnd.openxmlformats-officedocument.presentationml.slide+xml"/>
  <ns0:Override PartName="/ppt/c14/ppt/slides/slide32.xml" ContentType="application/vnd.openxmlformats-officedocument.presentationml.slide+xml"/>
  <ns0:Override PartName="/ppt/c14/ppt/slides/slide33.xml" ContentType="application/vnd.openxmlformats-officedocument.presentationml.slide+xml"/>
  <ns0:Override PartName="/ppt/c14/ppt/slides/slide34.xml" ContentType="application/vnd.openxmlformats-officedocument.presentationml.slide+xml"/>
  <ns0:Override PartName="/ppt/c14/ppt/slides/slide35.xml" ContentType="application/vnd.openxmlformats-officedocument.presentationml.slide+xml"/>
  <ns0:Override PartName="/ppt/c14/ppt/slides/slide36.xml" ContentType="application/vnd.openxmlformats-officedocument.presentationml.slide+xml"/>
  <ns0:Override PartName="/ppt/c14/ppt/slides/slide37.xml" ContentType="application/vnd.openxmlformats-officedocument.presentationml.slide+xml"/>
  <ns0:Override PartName="/ppt/c14/ppt/slides/slide38.xml" ContentType="application/vnd.openxmlformats-officedocument.presentationml.slide+xml"/>
  <ns0:Override PartName="/ppt/c14/ppt/slides/slide39.xml" ContentType="application/vnd.openxmlformats-officedocument.presentationml.slide+xml"/>
  <ns0:Override PartName="/ppt/c14/ppt/slides/slide40.xml" ContentType="application/vnd.openxmlformats-officedocument.presentationml.slide+xml"/>
  <ns0:Override PartName="/ppt/c14/ppt/notesMasters/notesMaster1.xml" ContentType="application/vnd.openxmlformats-officedocument.presentationml.notesMaster+xml"/>
  <ns0:Override PartName="/ppt/c14/ppt/theme/theme1.xml" ContentType="application/vnd.openxmlformats-officedocument.theme+xml"/>
  <ns0:Override PartName="/ppt/c14/ppt/slideLayouts/slideLayout1.xml" ContentType="application/vnd.openxmlformats-officedocument.presentationml.slideLayout+xml"/>
  <ns0:Override PartName="/ppt/c14/ppt/slideLayouts/slideLayout2.xml" ContentType="application/vnd.openxmlformats-officedocument.presentationml.slideLayout+xml"/>
  <ns0:Override PartName="/ppt/c14/ppt/slideLayouts/slideLayout3.xml" ContentType="application/vnd.openxmlformats-officedocument.presentationml.slideLayout+xml"/>
  <ns0:Override PartName="/ppt/c14/ppt/slideLayouts/slideLayout4.xml" ContentType="application/vnd.openxmlformats-officedocument.presentationml.slideLayout+xml"/>
  <ns0:Override PartName="/ppt/c14/ppt/theme/theme2.xml" ContentType="application/vnd.openxmlformats-officedocument.theme+xml"/>
  <ns0:Override PartName="/ppt/c14/ppt/notesSlides/notesSlide2.xml" ContentType="application/vnd.openxmlformats-officedocument.presentationml.notesSlide+xml"/>
  <ns0:Override PartName="/ppt/c14/ppt/notesSlides/notesSlide3.xml" ContentType="application/vnd.openxmlformats-officedocument.presentationml.notesSlid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5048" r:id="rId25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4/ppt/slides/slide4.xml" /><ns0:Relationship Id="rId2" Type="http://schemas.openxmlformats.org/officeDocument/2006/relationships/slide" Target="c14/ppt/slides/slide5.xml" /><ns0:Relationship Id="rId3" Type="http://schemas.openxmlformats.org/officeDocument/2006/relationships/slide" Target="c14/ppt/slides/slide6.xml" /><ns0:Relationship Id="rId4" Type="http://schemas.openxmlformats.org/officeDocument/2006/relationships/slide" Target="c14/ppt/slides/slide7.xml" /><ns0:Relationship Id="rId5" Type="http://schemas.openxmlformats.org/officeDocument/2006/relationships/slide" Target="c14/ppt/slides/slide21.xml" /><ns0:Relationship Id="rId6" Type="http://schemas.openxmlformats.org/officeDocument/2006/relationships/slide" Target="c14/ppt/slides/slide22.xml" /><ns0:Relationship Id="rId7" Type="http://schemas.openxmlformats.org/officeDocument/2006/relationships/slide" Target="c14/ppt/slides/slide23.xml" /><ns0:Relationship Id="rId8" Type="http://schemas.openxmlformats.org/officeDocument/2006/relationships/slide" Target="c14/ppt/slides/slide24.xml" /><ns0:Relationship Id="rId9" Type="http://schemas.openxmlformats.org/officeDocument/2006/relationships/slide" Target="c14/ppt/slides/slide25.xml" /><ns0:Relationship Id="rId10" Type="http://schemas.openxmlformats.org/officeDocument/2006/relationships/slide" Target="c14/ppt/slides/slide26.xml" /><ns0:Relationship Id="rId11" Type="http://schemas.openxmlformats.org/officeDocument/2006/relationships/slide" Target="c14/ppt/slides/slide27.xml" /><ns0:Relationship Id="rId12" Type="http://schemas.openxmlformats.org/officeDocument/2006/relationships/slide" Target="c14/ppt/slides/slide28.xml" /><ns0:Relationship Id="rId13" Type="http://schemas.openxmlformats.org/officeDocument/2006/relationships/slide" Target="c14/ppt/slides/slide29.xml" /><ns0:Relationship Id="rId14" Type="http://schemas.openxmlformats.org/officeDocument/2006/relationships/slide" Target="c14/ppt/slides/slide30.xml" /><ns0:Relationship Id="rId15" Type="http://schemas.openxmlformats.org/officeDocument/2006/relationships/slide" Target="c14/ppt/slides/slide31.xml" /><ns0:Relationship Id="rId16" Type="http://schemas.openxmlformats.org/officeDocument/2006/relationships/slide" Target="c14/ppt/slides/slide32.xml" /><ns0:Relationship Id="rId17" Type="http://schemas.openxmlformats.org/officeDocument/2006/relationships/slide" Target="c14/ppt/slides/slide33.xml" /><ns0:Relationship Id="rId18" Type="http://schemas.openxmlformats.org/officeDocument/2006/relationships/slide" Target="c14/ppt/slides/slide34.xml" /><ns0:Relationship Id="rId19" Type="http://schemas.openxmlformats.org/officeDocument/2006/relationships/slide" Target="c14/ppt/slides/slide35.xml" /><ns0:Relationship Id="rId20" Type="http://schemas.openxmlformats.org/officeDocument/2006/relationships/slide" Target="c14/ppt/slides/slide36.xml" /><ns0:Relationship Id="rId21" Type="http://schemas.openxmlformats.org/officeDocument/2006/relationships/slide" Target="c14/ppt/slides/slide37.xml" /><ns0:Relationship Id="rId22" Type="http://schemas.openxmlformats.org/officeDocument/2006/relationships/slide" Target="c14/ppt/slides/slide38.xml" /><ns0:Relationship Id="rId23" Type="http://schemas.openxmlformats.org/officeDocument/2006/relationships/slide" Target="c14/ppt/slides/slide39.xml" /><ns0:Relationship Id="rId24" Type="http://schemas.openxmlformats.org/officeDocument/2006/relationships/slide" Target="c14/ppt/slides/slide40.xml" /><ns0:Relationship Id="rId25" Type="http://schemas.openxmlformats.org/officeDocument/2006/relationships/slideMaster" Target="c14/ppt/slideMasters/slideMaster1.xml" /><ns0:Relationship Id="rId26" Type="http://schemas.openxmlformats.org/officeDocument/2006/relationships/notesMaster" Target="c14/ppt/notesMasters/notesMaster1.xml" /></ns0:Relationships>
</file>

<file path=ppt/c1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4/ppt/notesSlides/_rels/notesSlide2.xml.rels><?xml version='1.0' encoding='utf-8'?>
<ns0:Relationships xmlns:ns0="http://schemas.openxmlformats.org/package/2006/relationships"><ns0:Relationship Id="rId2" Type="http://schemas.openxmlformats.org/officeDocument/2006/relationships/slide" Target="../slides/slide4.xml" /><ns0:Relationship Id="rId1" Type="http://schemas.openxmlformats.org/officeDocument/2006/relationships/notesMaster" Target="../notesMasters/notesMaster1.xml" /></ns0:Relationships>
</file>

<file path=ppt/c14/ppt/notesSlides/_rels/notesSlide3.xml.rels><?xml version='1.0' encoding='utf-8'?>
<ns0:Relationships xmlns:ns0="http://schemas.openxmlformats.org/package/2006/relationships"><ns0:Relationship Id="rId2" Type="http://schemas.openxmlformats.org/officeDocument/2006/relationships/slide" Target="../slides/slide27.xml" /><ns0:Relationship Id="rId1" Type="http://schemas.openxmlformats.org/officeDocument/2006/relationships/notesMaster" Target="../notesMasters/notesMaster1.xml" /></ns0:Relationships>
</file>

<file path=ppt/c14/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Get</a:t>
            </a:r>
            <a:r>
              <a:rPr lang="en-GB" baseline="0" dirty="0"/>
              <a:t> students to sketch axes and tables in their books.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4E427-E3BD-40A8-8ACE-F54AF5B80FB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868853"/>
      </p:ext>
    </p:extLst>
  </p:cSld>
  <p:clrMapOvr>
    <a:masterClrMapping/>
  </p:clrMapOvr>
</p:notes>
</file>

<file path=ppt/c14/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Get</a:t>
            </a:r>
            <a:r>
              <a:rPr lang="en-GB" baseline="0" dirty="0"/>
              <a:t> students to sketch axes and tables in their books.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4E427-E3BD-40A8-8ACE-F54AF5B80FBB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79350"/>
      </p:ext>
    </p:extLst>
  </p:cSld>
  <p:clrMapOvr>
    <a:masterClrMapping/>
  </p:clrMapOvr>
</p:notes>
</file>

<file path=ppt/c1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1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79ADCCA-A642-7AF0-604D-088AFF5293C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477167"/>
      </p:ext>
    </p:extLst>
  </p:cSld>
  <p:clrMapOvr>
    <a:masterClrMapping/>
  </p:clrMapOvr>
</p:sldLayout>
</file>

<file path=ppt/c14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7C849CC-5CAD-914B-8E6F-94D18F427EA9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78921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46621"/>
      </p:ext>
    </p:extLst>
  </p:cSld>
  <p:clrMapOvr>
    <a:masterClrMapping/>
  </p:clrMapOvr>
</p:sldLayout>
</file>

<file path=ppt/c1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1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  <p:sldLayoutId id="21475001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4/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9.png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2.png" /><ns0:Relationship Id="rId5" Type="http://schemas.openxmlformats.org/officeDocument/2006/relationships/image" Target="../media/image11.png" /><ns0:Relationship Id="rId4" Type="http://schemas.openxmlformats.org/officeDocument/2006/relationships/image" Target="../media/image10.png" /></ns0:Relationships>
</file>

<file path=ppt/c14/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19.png" /><ns0:Relationship Id="rId13" Type="http://schemas.openxmlformats.org/officeDocument/2006/relationships/image" Target="../media/image24.png" /><ns0:Relationship Id="rId18" Type="http://schemas.openxmlformats.org/officeDocument/2006/relationships/image" Target="../media/image29.png" /><ns0:Relationship Id="rId3" Type="http://schemas.openxmlformats.org/officeDocument/2006/relationships/image" Target="../media/image14.png" /><ns0:Relationship Id="rId7" Type="http://schemas.openxmlformats.org/officeDocument/2006/relationships/image" Target="../media/image18.png" /><ns0:Relationship Id="rId12" Type="http://schemas.openxmlformats.org/officeDocument/2006/relationships/image" Target="../media/image23.png" /><ns0:Relationship Id="rId17" Type="http://schemas.openxmlformats.org/officeDocument/2006/relationships/image" Target="../media/image28.png" /><ns0:Relationship Id="rId2" Type="http://schemas.openxmlformats.org/officeDocument/2006/relationships/image" Target="../media/image13.png" /><ns0:Relationship Id="rId16" Type="http://schemas.openxmlformats.org/officeDocument/2006/relationships/image" Target="../media/image2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7.png" /><ns0:Relationship Id="rId11" Type="http://schemas.openxmlformats.org/officeDocument/2006/relationships/image" Target="../media/image22.png" /><ns0:Relationship Id="rId5" Type="http://schemas.openxmlformats.org/officeDocument/2006/relationships/image" Target="../media/image16.png" /><ns0:Relationship Id="rId15" Type="http://schemas.openxmlformats.org/officeDocument/2006/relationships/image" Target="../media/image26.png" /><ns0:Relationship Id="rId10" Type="http://schemas.openxmlformats.org/officeDocument/2006/relationships/image" Target="../media/image21.png" /><ns0:Relationship Id="rId4" Type="http://schemas.openxmlformats.org/officeDocument/2006/relationships/image" Target="../media/image15.png" /><ns0:Relationship Id="rId9" Type="http://schemas.openxmlformats.org/officeDocument/2006/relationships/image" Target="../media/image20.png" /><ns0:Relationship Id="rId14" Type="http://schemas.openxmlformats.org/officeDocument/2006/relationships/image" Target="../media/image25.png" /></ns0:Relationships>
</file>

<file path=ppt/c14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15.png" /><ns0:Relationship Id="rId7" Type="http://schemas.openxmlformats.org/officeDocument/2006/relationships/image" Target="../media/image33.png" /><ns0:Relationship Id="rId2" Type="http://schemas.openxmlformats.org/officeDocument/2006/relationships/image" Target="../media/image3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2.png" /><ns0:Relationship Id="rId5" Type="http://schemas.openxmlformats.org/officeDocument/2006/relationships/image" Target="../media/image31.png" /><ns0:Relationship Id="rId4" Type="http://schemas.openxmlformats.org/officeDocument/2006/relationships/image" Target="../media/image16.png" /></ns0:Relationships>
</file>

<file path=ppt/c14/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35.png" /><ns0:Relationship Id="rId2" Type="http://schemas.openxmlformats.org/officeDocument/2006/relationships/image" Target="../media/image34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8.png" /><ns0:Relationship Id="rId5" Type="http://schemas.openxmlformats.org/officeDocument/2006/relationships/image" Target="../media/image37.png" /><ns0:Relationship Id="rId4" Type="http://schemas.openxmlformats.org/officeDocument/2006/relationships/image" Target="../media/image36.png" /></ns0:Relationships>
</file>

<file path=ppt/c14/ppt/slides/_rels/slide21.xml.rels><?xml version='1.0' encoding='utf-8'?>
<ns0:Relationships xmlns:ns0="http://schemas.openxmlformats.org/package/2006/relationships"><ns0:Relationship Id="rId8" Type="http://schemas.openxmlformats.org/officeDocument/2006/relationships/image" Target="../media/image147.png" /><ns0:Relationship Id="rId3" Type="http://schemas.openxmlformats.org/officeDocument/2006/relationships/image" Target="../media/image142.png" /><ns0:Relationship Id="rId7" Type="http://schemas.openxmlformats.org/officeDocument/2006/relationships/image" Target="../media/image146.png" /><ns0:Relationship Id="rId2" Type="http://schemas.openxmlformats.org/officeDocument/2006/relationships/image" Target="../media/image14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45.png" /><ns0:Relationship Id="rId11" Type="http://schemas.openxmlformats.org/officeDocument/2006/relationships/image" Target="../media/image150.png" /><ns0:Relationship Id="rId5" Type="http://schemas.openxmlformats.org/officeDocument/2006/relationships/image" Target="../media/image144.png" /><ns0:Relationship Id="rId10" Type="http://schemas.openxmlformats.org/officeDocument/2006/relationships/image" Target="../media/image149.png" /><ns0:Relationship Id="rId4" Type="http://schemas.openxmlformats.org/officeDocument/2006/relationships/image" Target="../media/image143.png" /><ns0:Relationship Id="rId9" Type="http://schemas.openxmlformats.org/officeDocument/2006/relationships/image" Target="../media/image148.png" /></ns0:Relationships>
</file>

<file path=ppt/c14/ppt/slides/_rels/slide22.xml.rels><?xml version='1.0' encoding='utf-8'?>
<ns0:Relationships xmlns:ns0="http://schemas.openxmlformats.org/package/2006/relationships"><ns0:Relationship Id="rId8" Type="http://schemas.openxmlformats.org/officeDocument/2006/relationships/image" Target="../media/image157.png" /><ns0:Relationship Id="rId13" Type="http://schemas.openxmlformats.org/officeDocument/2006/relationships/image" Target="../media/image160.png" /><ns0:Relationship Id="rId18" Type="http://schemas.openxmlformats.org/officeDocument/2006/relationships/image" Target="../media/image165.png" /><ns0:Relationship Id="rId3" Type="http://schemas.openxmlformats.org/officeDocument/2006/relationships/image" Target="../media/image152.png" /><ns0:Relationship Id="rId7" Type="http://schemas.openxmlformats.org/officeDocument/2006/relationships/image" Target="../media/image156.png" /><ns0:Relationship Id="rId12" Type="http://schemas.openxmlformats.org/officeDocument/2006/relationships/image" Target="../media/image159.png" /><ns0:Relationship Id="rId17" Type="http://schemas.openxmlformats.org/officeDocument/2006/relationships/image" Target="../media/image164.png" /><ns0:Relationship Id="rId2" Type="http://schemas.openxmlformats.org/officeDocument/2006/relationships/image" Target="../media/image151.png" /><ns0:Relationship Id="rId16" Type="http://schemas.openxmlformats.org/officeDocument/2006/relationships/image" Target="../media/image16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55.png" /><ns0:Relationship Id="rId11" Type="http://schemas.openxmlformats.org/officeDocument/2006/relationships/image" Target="../media/image158.png" /><ns0:Relationship Id="rId5" Type="http://schemas.openxmlformats.org/officeDocument/2006/relationships/image" Target="../media/image154.png" /><ns0:Relationship Id="rId15" Type="http://schemas.openxmlformats.org/officeDocument/2006/relationships/image" Target="../media/image162.png" /><ns0:Relationship Id="rId10" Type="http://schemas.openxmlformats.org/officeDocument/2006/relationships/image" Target="../media/image1300.png" /><ns0:Relationship Id="rId4" Type="http://schemas.openxmlformats.org/officeDocument/2006/relationships/image" Target="../media/image153.png" /><ns0:Relationship Id="rId9" Type="http://schemas.openxmlformats.org/officeDocument/2006/relationships/image" Target="../media/image1290.png" /><ns0:Relationship Id="rId14" Type="http://schemas.openxmlformats.org/officeDocument/2006/relationships/image" Target="../media/image161.png" /></ns0:Relationships>
</file>

<file path=ppt/c14/ppt/slides/_rels/slide23.xml.rels><?xml version='1.0' encoding='utf-8'?>
<ns0:Relationships xmlns:ns0="http://schemas.openxmlformats.org/package/2006/relationships"><ns0:Relationship Id="rId8" Type="http://schemas.openxmlformats.org/officeDocument/2006/relationships/image" Target="../media/image172.png" /><ns0:Relationship Id="rId13" Type="http://schemas.openxmlformats.org/officeDocument/2006/relationships/image" Target="../media/image177.png" /><ns0:Relationship Id="rId3" Type="http://schemas.openxmlformats.org/officeDocument/2006/relationships/image" Target="../media/image167.png" /><ns0:Relationship Id="rId7" Type="http://schemas.openxmlformats.org/officeDocument/2006/relationships/image" Target="../media/image171.png" /><ns0:Relationship Id="rId12" Type="http://schemas.openxmlformats.org/officeDocument/2006/relationships/image" Target="../media/image176.png" /><ns0:Relationship Id="rId2" Type="http://schemas.openxmlformats.org/officeDocument/2006/relationships/image" Target="../media/image16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70.png" /><ns0:Relationship Id="rId11" Type="http://schemas.openxmlformats.org/officeDocument/2006/relationships/image" Target="../media/image175.png" /><ns0:Relationship Id="rId5" Type="http://schemas.openxmlformats.org/officeDocument/2006/relationships/image" Target="../media/image169.png" /><ns0:Relationship Id="rId10" Type="http://schemas.openxmlformats.org/officeDocument/2006/relationships/image" Target="../media/image174.png" /><ns0:Relationship Id="rId4" Type="http://schemas.openxmlformats.org/officeDocument/2006/relationships/image" Target="../media/image168.png" /><ns0:Relationship Id="rId9" Type="http://schemas.openxmlformats.org/officeDocument/2006/relationships/image" Target="../media/image173.png" /></ns0:Relationships>
</file>

<file path=ppt/c14/ppt/slides/_rels/slide24.xml.rels><?xml version='1.0' encoding='utf-8'?>
<ns0:Relationships xmlns:ns0="http://schemas.openxmlformats.org/package/2006/relationships"><ns0:Relationship Id="rId8" Type="http://schemas.openxmlformats.org/officeDocument/2006/relationships/image" Target="../media/image184.png" /><ns0:Relationship Id="rId3" Type="http://schemas.openxmlformats.org/officeDocument/2006/relationships/image" Target="../media/image179.png" /><ns0:Relationship Id="rId7" Type="http://schemas.openxmlformats.org/officeDocument/2006/relationships/image" Target="../media/image183.png" /><ns0:Relationship Id="rId2" Type="http://schemas.openxmlformats.org/officeDocument/2006/relationships/image" Target="../media/image17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82.png" /><ns0:Relationship Id="rId5" Type="http://schemas.openxmlformats.org/officeDocument/2006/relationships/image" Target="../media/image181.png" /><ns0:Relationship Id="rId4" Type="http://schemas.openxmlformats.org/officeDocument/2006/relationships/image" Target="../media/image180.png" /><ns0:Relationship Id="rId9" Type="http://schemas.openxmlformats.org/officeDocument/2006/relationships/image" Target="../media/image185.png" /></ns0:Relationships>
</file>

<file path=ppt/c14/ppt/slides/_rels/slide25.xml.rels><?xml version='1.0' encoding='utf-8'?>
<ns0:Relationships xmlns:ns0="http://schemas.openxmlformats.org/package/2006/relationships"><ns0:Relationship Id="rId8" Type="http://schemas.openxmlformats.org/officeDocument/2006/relationships/image" Target="../media/image192.png" /><ns0:Relationship Id="rId13" Type="http://schemas.openxmlformats.org/officeDocument/2006/relationships/image" Target="../media/image197.png" /><ns0:Relationship Id="rId3" Type="http://schemas.openxmlformats.org/officeDocument/2006/relationships/image" Target="../media/image187.png" /><ns0:Relationship Id="rId7" Type="http://schemas.openxmlformats.org/officeDocument/2006/relationships/image" Target="../media/image191.png" /><ns0:Relationship Id="rId12" Type="http://schemas.openxmlformats.org/officeDocument/2006/relationships/image" Target="../media/image196.png" /><ns0:Relationship Id="rId2" Type="http://schemas.openxmlformats.org/officeDocument/2006/relationships/image" Target="../media/image18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90.png" /><ns0:Relationship Id="rId11" Type="http://schemas.openxmlformats.org/officeDocument/2006/relationships/image" Target="../media/image195.png" /><ns0:Relationship Id="rId5" Type="http://schemas.openxmlformats.org/officeDocument/2006/relationships/image" Target="../media/image189.png" /><ns0:Relationship Id="rId10" Type="http://schemas.openxmlformats.org/officeDocument/2006/relationships/image" Target="../media/image194.png" /><ns0:Relationship Id="rId4" Type="http://schemas.openxmlformats.org/officeDocument/2006/relationships/image" Target="../media/image188.png" /><ns0:Relationship Id="rId9" Type="http://schemas.openxmlformats.org/officeDocument/2006/relationships/image" Target="../media/image193.png" /><ns0:Relationship Id="rId14" Type="http://schemas.openxmlformats.org/officeDocument/2006/relationships/image" Target="../media/image198.png" /></ns0:Relationships>
</file>

<file path=ppt/c14/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image200.png" /><ns0:Relationship Id="rId2" Type="http://schemas.openxmlformats.org/officeDocument/2006/relationships/image" Target="../media/image199.png" /><ns0:Relationship Id="rId1" Type="http://schemas.openxmlformats.org/officeDocument/2006/relationships/slideLayout" Target="../slideLayouts/slideLayout2.xml" /></ns0:Relationships>
</file>

<file path=ppt/c14/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201.png" /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70.png" /><ns0:Relationship Id="rId5" Type="http://schemas.openxmlformats.org/officeDocument/2006/relationships/image" Target="../media/image1660.png" /><ns0:Relationship Id="rId4" Type="http://schemas.openxmlformats.org/officeDocument/2006/relationships/image" Target="../media/image202.png" /></ns0:Relationships>
</file>

<file path=ppt/c14/ppt/slides/_rels/slide28.xml.rels><?xml version='1.0' encoding='utf-8'?>
<ns0:Relationships xmlns:ns0="http://schemas.openxmlformats.org/package/2006/relationships"><ns0:Relationship Id="rId3" Type="http://schemas.openxmlformats.org/officeDocument/2006/relationships/image" Target="../media/image204.png" /><ns0:Relationship Id="rId2" Type="http://schemas.openxmlformats.org/officeDocument/2006/relationships/image" Target="../media/image203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05.png" /></ns0:Relationships>
</file>

<file path=ppt/c14/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image207.png" /><ns0:Relationship Id="rId2" Type="http://schemas.openxmlformats.org/officeDocument/2006/relationships/image" Target="../media/image206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209.png" /><ns0:Relationship Id="rId4" Type="http://schemas.openxmlformats.org/officeDocument/2006/relationships/image" Target="../media/image208.png" /></ns0:Relationships>
</file>

<file path=ppt/c14/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image211.png" /><ns0:Relationship Id="rId2" Type="http://schemas.openxmlformats.org/officeDocument/2006/relationships/image" Target="../media/image210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12.png" /></ns0:Relationships>
</file>

<file path=ppt/c14/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214.png" /><ns0:Relationship Id="rId2" Type="http://schemas.openxmlformats.org/officeDocument/2006/relationships/image" Target="../media/image213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216.png" /><ns0:Relationship Id="rId4" Type="http://schemas.openxmlformats.org/officeDocument/2006/relationships/image" Target="../media/image215.png" /></ns0:Relationships>
</file>

<file path=ppt/c14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218.png" /><ns0:Relationship Id="rId2" Type="http://schemas.openxmlformats.org/officeDocument/2006/relationships/image" Target="../media/image217.png" /><ns0:Relationship Id="rId1" Type="http://schemas.openxmlformats.org/officeDocument/2006/relationships/slideLayout" Target="../slideLayouts/slideLayout2.xml" /></ns0:Relationships>
</file>

<file path=ppt/c14/ppt/slides/_rels/slide33.xml.rels><?xml version='1.0' encoding='utf-8'?>
<ns0:Relationships xmlns:ns0="http://schemas.openxmlformats.org/package/2006/relationships"><ns0:Relationship Id="rId3" Type="http://schemas.openxmlformats.org/officeDocument/2006/relationships/image" Target="../media/image220.png" /><ns0:Relationship Id="rId2" Type="http://schemas.openxmlformats.org/officeDocument/2006/relationships/image" Target="../media/image219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21.png" /></ns0:Relationships>
</file>

<file path=ppt/c14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223.png" /><ns0:Relationship Id="rId2" Type="http://schemas.openxmlformats.org/officeDocument/2006/relationships/image" Target="../media/image222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225.png" /><ns0:Relationship Id="rId4" Type="http://schemas.openxmlformats.org/officeDocument/2006/relationships/image" Target="../media/image224.png" /></ns0:Relationships>
</file>

<file path=ppt/c14/ppt/slides/_rels/slide35.xml.rels><?xml version='1.0' encoding='utf-8'?>
<ns0:Relationships xmlns:ns0="http://schemas.openxmlformats.org/package/2006/relationships"><ns0:Relationship Id="rId3" Type="http://schemas.openxmlformats.org/officeDocument/2006/relationships/image" Target="../media/image227.png" /><ns0:Relationship Id="rId2" Type="http://schemas.openxmlformats.org/officeDocument/2006/relationships/image" Target="../media/image226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28.png" /></ns0:Relationships>
</file>

<file path=ppt/c14/ppt/slides/_rels/slide36.xml.rels><?xml version='1.0' encoding='utf-8'?>
<ns0:Relationships xmlns:ns0="http://schemas.openxmlformats.org/package/2006/relationships"><ns0:Relationship Id="rId3" Type="http://schemas.openxmlformats.org/officeDocument/2006/relationships/image" Target="../media/image230.png" /><ns0:Relationship Id="rId2" Type="http://schemas.openxmlformats.org/officeDocument/2006/relationships/image" Target="../media/image229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232.png" /><ns0:Relationship Id="rId4" Type="http://schemas.openxmlformats.org/officeDocument/2006/relationships/image" Target="../media/image231.png" /></ns0:Relationships>
</file>

<file path=ppt/c14/ppt/slides/_rels/slide37.xml.rels><?xml version='1.0' encoding='utf-8'?>
<ns0:Relationships xmlns:ns0="http://schemas.openxmlformats.org/package/2006/relationships"><ns0:Relationship Id="rId3" Type="http://schemas.openxmlformats.org/officeDocument/2006/relationships/image" Target="../media/image234.png" /><ns0:Relationship Id="rId2" Type="http://schemas.openxmlformats.org/officeDocument/2006/relationships/image" Target="../media/image233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236.png" /><ns0:Relationship Id="rId4" Type="http://schemas.openxmlformats.org/officeDocument/2006/relationships/image" Target="../media/image235.png" /></ns0:Relationships>
</file>

<file path=ppt/c14/ppt/slides/_rels/slide38.xml.rels><?xml version='1.0' encoding='utf-8'?>
<ns0:Relationships xmlns:ns0="http://schemas.openxmlformats.org/package/2006/relationships"><ns0:Relationship Id="rId8" Type="http://schemas.openxmlformats.org/officeDocument/2006/relationships/image" Target="../media/image243.png" /><ns0:Relationship Id="rId3" Type="http://schemas.openxmlformats.org/officeDocument/2006/relationships/image" Target="../media/image238.png" /><ns0:Relationship Id="rId7" Type="http://schemas.openxmlformats.org/officeDocument/2006/relationships/image" Target="../media/image242.png" /><ns0:Relationship Id="rId2" Type="http://schemas.openxmlformats.org/officeDocument/2006/relationships/image" Target="../media/image23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41.png" /><ns0:Relationship Id="rId5" Type="http://schemas.openxmlformats.org/officeDocument/2006/relationships/image" Target="../media/image240.png" /><ns0:Relationship Id="rId4" Type="http://schemas.openxmlformats.org/officeDocument/2006/relationships/image" Target="../media/image239.png" /></ns0:Relationships>
</file>

<file path=ppt/c14/ppt/slides/_rels/slide39.xml.rels><?xml version='1.0' encoding='utf-8'?>
<ns0:Relationships xmlns:ns0="http://schemas.openxmlformats.org/package/2006/relationships"><ns0:Relationship Id="rId8" Type="http://schemas.openxmlformats.org/officeDocument/2006/relationships/image" Target="../media/image251.png" /><ns0:Relationship Id="rId3" Type="http://schemas.openxmlformats.org/officeDocument/2006/relationships/image" Target="../media/image245.png" /><ns0:Relationship Id="rId7" Type="http://schemas.openxmlformats.org/officeDocument/2006/relationships/image" Target="../media/image250.png" /><ns0:Relationship Id="rId2" Type="http://schemas.openxmlformats.org/officeDocument/2006/relationships/image" Target="../media/image244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49.png" /><ns0:Relationship Id="rId5" Type="http://schemas.openxmlformats.org/officeDocument/2006/relationships/image" Target="../media/image248.png" /><ns0:Relationship Id="rId4" Type="http://schemas.openxmlformats.org/officeDocument/2006/relationships/image" Target="../media/image247.png" /></ns0:Relationships>
</file>

<file path=ppt/c14/ppt/slides/_rels/slide40.xml.rels><?xml version='1.0' encoding='utf-8'?>
<ns0:Relationships xmlns:ns0="http://schemas.openxmlformats.org/package/2006/relationships"><ns0:Relationship Id="rId8" Type="http://schemas.openxmlformats.org/officeDocument/2006/relationships/image" Target="../media/image258.png" /><ns0:Relationship Id="rId13" Type="http://schemas.openxmlformats.org/officeDocument/2006/relationships/image" Target="../media/image263.png" /><ns0:Relationship Id="rId18" Type="http://schemas.openxmlformats.org/officeDocument/2006/relationships/image" Target="../media/image268.png" /><ns0:Relationship Id="rId3" Type="http://schemas.openxmlformats.org/officeDocument/2006/relationships/image" Target="../media/image253.png" /><ns0:Relationship Id="rId7" Type="http://schemas.openxmlformats.org/officeDocument/2006/relationships/image" Target="../media/image257.png" /><ns0:Relationship Id="rId12" Type="http://schemas.openxmlformats.org/officeDocument/2006/relationships/image" Target="../media/image262.png" /><ns0:Relationship Id="rId17" Type="http://schemas.openxmlformats.org/officeDocument/2006/relationships/image" Target="../media/image267.png" /><ns0:Relationship Id="rId2" Type="http://schemas.openxmlformats.org/officeDocument/2006/relationships/image" Target="../media/image252.png" /><ns0:Relationship Id="rId16" Type="http://schemas.openxmlformats.org/officeDocument/2006/relationships/image" Target="../media/image26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56.png" /><ns0:Relationship Id="rId11" Type="http://schemas.openxmlformats.org/officeDocument/2006/relationships/image" Target="../media/image261.png" /><ns0:Relationship Id="rId5" Type="http://schemas.openxmlformats.org/officeDocument/2006/relationships/image" Target="../media/image255.png" /><ns0:Relationship Id="rId15" Type="http://schemas.openxmlformats.org/officeDocument/2006/relationships/image" Target="../media/image265.png" /><ns0:Relationship Id="rId10" Type="http://schemas.openxmlformats.org/officeDocument/2006/relationships/image" Target="../media/image260.png" /><ns0:Relationship Id="rId4" Type="http://schemas.openxmlformats.org/officeDocument/2006/relationships/image" Target="../media/image254.png" /><ns0:Relationship Id="rId9" Type="http://schemas.openxmlformats.org/officeDocument/2006/relationships/image" Target="../media/image259.png" /><ns0:Relationship Id="rId14" Type="http://schemas.openxmlformats.org/officeDocument/2006/relationships/image" Target="../media/image264.png" /></ns0:Relationships>
</file>

<file path=ppt/c14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/>
          <p:nvPr/>
        </p:nvGrpSpPr>
        <p:grpSpPr>
          <a:xfrm>
            <a:off x="1524000" y="1"/>
            <a:ext cx="9154632" cy="6907803"/>
            <a:chOff x="0" y="0"/>
            <a:chExt cx="9154632" cy="6907803"/>
          </a:xfrm>
        </p:grpSpPr>
        <p:grpSp>
          <p:nvGrpSpPr>
            <p:cNvPr id="3" name="Group 25"/>
            <p:cNvGrpSpPr/>
            <p:nvPr/>
          </p:nvGrpSpPr>
          <p:grpSpPr>
            <a:xfrm>
              <a:off x="395536" y="0"/>
              <a:ext cx="8640960" cy="6858000"/>
              <a:chOff x="395536" y="0"/>
              <a:chExt cx="8640960" cy="68580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9553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82758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25963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12372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55577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98782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41987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85192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28396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1601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14806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58011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01216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44420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87625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730830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74035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17240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860444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903649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/>
            <p:cNvCxnSpPr/>
            <p:nvPr/>
          </p:nvCxnSpPr>
          <p:spPr>
            <a:xfrm rot="5400000">
              <a:off x="4572000" y="-4383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4572000" y="-3951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72000" y="-3519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572000" y="-3087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4572000" y="-2655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4572000" y="-222312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4572000" y="-179107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572000" y="-135902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4572000" y="-92697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4572000" y="-49492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4572000" y="-6288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4572000" y="369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572000" y="801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4572000" y="1233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4572000" y="1665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4572000" y="2097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2123728" y="0"/>
              <a:ext cx="0" cy="6858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0" y="5378131"/>
              <a:ext cx="914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7546" y="5365078"/>
              <a:ext cx="9057086" cy="3693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GB" dirty="0"/>
                <a:t> -2              -1                              1               2              3              4               5              6              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04201" y="13608"/>
              <a:ext cx="504056" cy="6894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8</a:t>
              </a:r>
            </a:p>
            <a:p>
              <a:endParaRPr lang="en-GB" dirty="0"/>
            </a:p>
            <a:p>
              <a:endParaRPr lang="en-GB" dirty="0"/>
            </a:p>
            <a:p>
              <a:pPr algn="r"/>
              <a:r>
                <a:rPr lang="en-GB" dirty="0"/>
                <a:t>20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16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12</a:t>
              </a:r>
            </a:p>
            <a:p>
              <a:pPr algn="r"/>
              <a:endParaRPr lang="en-GB" dirty="0"/>
            </a:p>
            <a:p>
              <a:pPr algn="r"/>
              <a:endParaRPr lang="en-GB" sz="2200" dirty="0"/>
            </a:p>
            <a:p>
              <a:pPr algn="r"/>
              <a:r>
                <a:rPr lang="en-GB" dirty="0"/>
                <a:t>8</a:t>
              </a:r>
            </a:p>
            <a:p>
              <a:pPr algn="r"/>
              <a:endParaRPr lang="en-GB" sz="2800" dirty="0"/>
            </a:p>
            <a:p>
              <a:pPr algn="r"/>
              <a:endParaRPr lang="en-GB" sz="1100" dirty="0"/>
            </a:p>
            <a:p>
              <a:pPr algn="r"/>
              <a:r>
                <a:rPr lang="en-GB" dirty="0"/>
                <a:t>4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-4</a:t>
              </a:r>
            </a:p>
            <a:p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561259"/>
                  </p:ext>
                </p:extLst>
              </p:nvPr>
            </p:nvGraphicFramePr>
            <p:xfrm>
              <a:off x="1612901" y="129332"/>
              <a:ext cx="453601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4429986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561259"/>
                  </p:ext>
                </p:extLst>
              </p:nvPr>
            </p:nvGraphicFramePr>
            <p:xfrm>
              <a:off x="1612901" y="129332"/>
              <a:ext cx="453601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4429986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8197" r="-47022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108197" r="-47022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9" name="Rectangle 48"/>
          <p:cNvSpPr/>
          <p:nvPr/>
        </p:nvSpPr>
        <p:spPr>
          <a:xfrm>
            <a:off x="2412004" y="495536"/>
            <a:ext cx="626471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2" name="Oval 51"/>
          <p:cNvSpPr/>
          <p:nvPr/>
        </p:nvSpPr>
        <p:spPr>
          <a:xfrm>
            <a:off x="1829561" y="522392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/>
          <p:cNvSpPr/>
          <p:nvPr/>
        </p:nvSpPr>
        <p:spPr>
          <a:xfrm>
            <a:off x="3035551" y="495536"/>
            <a:ext cx="536324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6" name="Oval 55"/>
          <p:cNvSpPr/>
          <p:nvPr/>
        </p:nvSpPr>
        <p:spPr>
          <a:xfrm>
            <a:off x="2685959" y="515338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3569597" y="495536"/>
            <a:ext cx="478529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0" name="Oval 59"/>
          <p:cNvSpPr/>
          <p:nvPr/>
        </p:nvSpPr>
        <p:spPr>
          <a:xfrm>
            <a:off x="3550569" y="505094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4043772" y="495537"/>
            <a:ext cx="468052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Oval 61"/>
          <p:cNvSpPr/>
          <p:nvPr/>
        </p:nvSpPr>
        <p:spPr>
          <a:xfrm>
            <a:off x="4407919" y="4874076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4511825" y="495536"/>
            <a:ext cx="432046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4" name="Oval 63"/>
          <p:cNvSpPr/>
          <p:nvPr/>
        </p:nvSpPr>
        <p:spPr>
          <a:xfrm>
            <a:off x="5293280" y="444202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4943871" y="495536"/>
            <a:ext cx="609204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6" name="Oval 65"/>
          <p:cNvSpPr/>
          <p:nvPr/>
        </p:nvSpPr>
        <p:spPr>
          <a:xfrm>
            <a:off x="6149602" y="358467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7016634" y="1842370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: Shape 3"/>
          <p:cNvSpPr/>
          <p:nvPr/>
        </p:nvSpPr>
        <p:spPr>
          <a:xfrm>
            <a:off x="1498600" y="0"/>
            <a:ext cx="6273800" cy="5334000"/>
          </a:xfrm>
          <a:custGeom>
            <a:avLst/>
            <a:gdLst>
              <a:gd name="connsiteX0" fmla="*/ 0 w 6273800"/>
              <a:gd name="connsiteY0" fmla="*/ 5334000 h 5334000"/>
              <a:gd name="connsiteX1" fmla="*/ 1270000 w 6273800"/>
              <a:gd name="connsiteY1" fmla="*/ 5257800 h 5334000"/>
              <a:gd name="connsiteX2" fmla="*/ 2159000 w 6273800"/>
              <a:gd name="connsiteY2" fmla="*/ 5143500 h 5334000"/>
              <a:gd name="connsiteX3" fmla="*/ 3009900 w 6273800"/>
              <a:gd name="connsiteY3" fmla="*/ 4953000 h 5334000"/>
              <a:gd name="connsiteX4" fmla="*/ 3873500 w 6273800"/>
              <a:gd name="connsiteY4" fmla="*/ 4521200 h 5334000"/>
              <a:gd name="connsiteX5" fmla="*/ 4737100 w 6273800"/>
              <a:gd name="connsiteY5" fmla="*/ 3657600 h 5334000"/>
              <a:gd name="connsiteX6" fmla="*/ 5600700 w 6273800"/>
              <a:gd name="connsiteY6" fmla="*/ 1917700 h 5334000"/>
              <a:gd name="connsiteX7" fmla="*/ 6273800 w 6273800"/>
              <a:gd name="connsiteY7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3800" h="5334000">
                <a:moveTo>
                  <a:pt x="0" y="5334000"/>
                </a:moveTo>
                <a:cubicBezTo>
                  <a:pt x="455083" y="5311775"/>
                  <a:pt x="910167" y="5289550"/>
                  <a:pt x="1270000" y="5257800"/>
                </a:cubicBezTo>
                <a:cubicBezTo>
                  <a:pt x="1629833" y="5226050"/>
                  <a:pt x="1869017" y="5194300"/>
                  <a:pt x="2159000" y="5143500"/>
                </a:cubicBezTo>
                <a:cubicBezTo>
                  <a:pt x="2448983" y="5092700"/>
                  <a:pt x="2724150" y="5056717"/>
                  <a:pt x="3009900" y="4953000"/>
                </a:cubicBezTo>
                <a:cubicBezTo>
                  <a:pt x="3295650" y="4849283"/>
                  <a:pt x="3585633" y="4737100"/>
                  <a:pt x="3873500" y="4521200"/>
                </a:cubicBezTo>
                <a:cubicBezTo>
                  <a:pt x="4161367" y="4305300"/>
                  <a:pt x="4449233" y="4091517"/>
                  <a:pt x="4737100" y="3657600"/>
                </a:cubicBezTo>
                <a:cubicBezTo>
                  <a:pt x="5024967" y="3223683"/>
                  <a:pt x="5344583" y="2527300"/>
                  <a:pt x="5600700" y="1917700"/>
                </a:cubicBezTo>
                <a:cubicBezTo>
                  <a:pt x="5856817" y="1308100"/>
                  <a:pt x="6065308" y="654050"/>
                  <a:pt x="62738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5562702" y="495536"/>
            <a:ext cx="571398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669273" y="3171512"/>
                <a:ext cx="3873500" cy="3603487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Why are exponential functions important?</a:t>
                </a:r>
              </a:p>
              <a:p>
                <a:r>
                  <a:rPr lang="en-GB" sz="1400" dirty="0"/>
                  <a:t>Each of the common graphs have a </a:t>
                </a:r>
                <a:r>
                  <a:rPr lang="en-GB" sz="1400" b="1" dirty="0"/>
                  <a:t>key property </a:t>
                </a:r>
                <a:r>
                  <a:rPr lang="en-GB" sz="1400" dirty="0"/>
                  <a:t>that makes them </a:t>
                </a:r>
                <a:r>
                  <a:rPr lang="en-GB" sz="1400" b="1" dirty="0"/>
                  <a:t>useful for modelling</a:t>
                </a:r>
                <a:r>
                  <a:rPr lang="en-GB" sz="1400" dirty="0"/>
                  <a:t>.</a:t>
                </a:r>
              </a:p>
              <a:p>
                <a:endParaRPr lang="en-GB" sz="900" dirty="0"/>
              </a:p>
              <a:p>
                <a:r>
                  <a:rPr lang="en-GB" sz="1400" dirty="0"/>
                  <a:t>For reciprocal graphs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400" dirty="0"/>
                  <a:t>, 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doubles,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halves. This means we’d use it to represent variables which are inversely proportional.</a:t>
                </a:r>
              </a:p>
              <a:p>
                <a:endParaRPr lang="en-GB" sz="900" dirty="0"/>
              </a:p>
              <a:p>
                <a:r>
                  <a:rPr lang="en-GB" sz="1400" dirty="0"/>
                  <a:t>Linear graphs are used when we’re </a:t>
                </a:r>
                <a:r>
                  <a:rPr lang="en-GB" sz="1400" b="1" dirty="0"/>
                  <a:t>adding the same amount </a:t>
                </a:r>
                <a:r>
                  <a:rPr lang="en-GB" sz="1400" dirty="0"/>
                  <a:t>each time.</a:t>
                </a:r>
              </a:p>
              <a:p>
                <a:r>
                  <a:rPr lang="en-GB" sz="1400" dirty="0"/>
                  <a:t>In contrast, exponential graphs are used when we’re </a:t>
                </a:r>
                <a:r>
                  <a:rPr lang="en-GB" sz="1400" b="1" dirty="0"/>
                  <a:t>multiplying by the same amount</a:t>
                </a:r>
                <a:r>
                  <a:rPr lang="en-GB" sz="1400" dirty="0"/>
                  <a:t> each time. For example, we might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1000(1.05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1400" dirty="0"/>
                  <a:t> to model our savings with interest, where each year we have 1.05 times as much, i.e. with 5% added interest.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273" y="3171512"/>
                <a:ext cx="3873500" cy="3603487"/>
              </a:xfrm>
              <a:prstGeom prst="rect">
                <a:avLst/>
              </a:prstGeom>
              <a:blipFill>
                <a:blip r:embed="rId5"/>
                <a:stretch>
                  <a:fillRect l="-1260" t="-846" r="-1575" b="-10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779243" y="1149711"/>
                <a:ext cx="3757586" cy="20621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Note</a:t>
                </a:r>
                <a:r>
                  <a:rPr lang="en-GB" sz="1600" dirty="0"/>
                  <a:t>: Ensure that you can distinguish between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GB" sz="1600" dirty="0"/>
                  <a:t> (e.g. polynomial) term and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exponential term. In the former the variable is in the </a:t>
                </a:r>
                <a:r>
                  <a:rPr lang="en-GB" sz="1600" b="1" dirty="0"/>
                  <a:t>base</a:t>
                </a:r>
                <a:r>
                  <a:rPr lang="en-GB" sz="1600" dirty="0"/>
                  <a:t>, and in the letter the variable is in the </a:t>
                </a:r>
                <a:r>
                  <a:rPr lang="en-GB" sz="1600" b="1" dirty="0"/>
                  <a:t>power</a:t>
                </a:r>
                <a:r>
                  <a:rPr lang="en-GB" sz="1600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behaves very differently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, both in its rate of growth (i.e. exponential terms grow much faster!) and how it differentiates.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243" y="1149711"/>
                <a:ext cx="3757586" cy="2062103"/>
              </a:xfrm>
              <a:prstGeom prst="rect">
                <a:avLst/>
              </a:prstGeom>
              <a:blipFill>
                <a:blip r:embed="rId6"/>
                <a:stretch>
                  <a:fillRect l="-645" t="-292" r="-645" b="-23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63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49" grpId="0" animBg="1"/>
      <p:bldP spid="52" grpId="0" animBg="1"/>
      <p:bldP spid="53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4" grpId="0" animBg="1"/>
      <p:bldP spid="70" grpId="0" animBg="1"/>
      <p:bldP spid="26" grpId="0" animBg="1"/>
      <p:bldP spid="27" grpId="0" animBg="1"/>
    </p:bldLst>
  </p:timing>
</p:sld>
</file>

<file path=ppt/c14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Contrasting exponential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70336" y="845891"/>
                <a:ext cx="851986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same axes 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1.5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336" y="845891"/>
                <a:ext cx="8519864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57636" y="3331716"/>
                <a:ext cx="8550876" cy="53899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same axes 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636" y="3331716"/>
                <a:ext cx="8550876" cy="5389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5375920" y="1628800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486820" y="3102869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5660" y="2941837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660" y="2941837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51450" y="1321014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450" y="1321014"/>
                <a:ext cx="448940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/>
          <p:cNvSpPr/>
          <p:nvPr/>
        </p:nvSpPr>
        <p:spPr>
          <a:xfrm>
            <a:off x="3483960" y="2044701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3495676" y="2324101"/>
            <a:ext cx="3724275" cy="638175"/>
          </a:xfrm>
          <a:custGeom>
            <a:avLst/>
            <a:gdLst>
              <a:gd name="connsiteX0" fmla="*/ 0 w 3724275"/>
              <a:gd name="connsiteY0" fmla="*/ 638175 h 638175"/>
              <a:gd name="connsiteX1" fmla="*/ 1885950 w 3724275"/>
              <a:gd name="connsiteY1" fmla="*/ 466725 h 638175"/>
              <a:gd name="connsiteX2" fmla="*/ 3724275 w 3724275"/>
              <a:gd name="connsiteY2" fmla="*/ 0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4275" h="638175">
                <a:moveTo>
                  <a:pt x="0" y="638175"/>
                </a:moveTo>
                <a:cubicBezTo>
                  <a:pt x="632619" y="605631"/>
                  <a:pt x="1265238" y="573087"/>
                  <a:pt x="1885950" y="466725"/>
                </a:cubicBezTo>
                <a:cubicBezTo>
                  <a:pt x="2506663" y="360362"/>
                  <a:pt x="3115469" y="180181"/>
                  <a:pt x="3724275" y="0"/>
                </a:cubicBezTo>
              </a:path>
            </a:pathLst>
          </a:cu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/>
          <p:cNvSpPr/>
          <p:nvPr/>
        </p:nvSpPr>
        <p:spPr>
          <a:xfrm>
            <a:off x="3486151" y="1600200"/>
            <a:ext cx="3667125" cy="1485900"/>
          </a:xfrm>
          <a:custGeom>
            <a:avLst/>
            <a:gdLst>
              <a:gd name="connsiteX0" fmla="*/ 0 w 3667125"/>
              <a:gd name="connsiteY0" fmla="*/ 1485900 h 1485900"/>
              <a:gd name="connsiteX1" fmla="*/ 1905000 w 3667125"/>
              <a:gd name="connsiteY1" fmla="*/ 1200150 h 1485900"/>
              <a:gd name="connsiteX2" fmla="*/ 3667125 w 3667125"/>
              <a:gd name="connsiteY2" fmla="*/ 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125" h="1485900">
                <a:moveTo>
                  <a:pt x="0" y="1485900"/>
                </a:moveTo>
                <a:cubicBezTo>
                  <a:pt x="646906" y="1466850"/>
                  <a:pt x="1293813" y="1447800"/>
                  <a:pt x="1905000" y="1200150"/>
                </a:cubicBezTo>
                <a:cubicBezTo>
                  <a:pt x="2516187" y="952500"/>
                  <a:pt x="3091656" y="476250"/>
                  <a:pt x="3667125" y="0"/>
                </a:cubicBezTo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84016" y="1427277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016" y="1427277"/>
                <a:ext cx="115985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74466" y="1856983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466" y="1856983"/>
                <a:ext cx="1159859" cy="307777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079266" y="2190494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266" y="2190494"/>
                <a:ext cx="1159859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763938" y="1447815"/>
                <a:ext cx="1208113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-intercept is always 1.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938" y="1447815"/>
                <a:ext cx="1208113" cy="461665"/>
              </a:xfrm>
              <a:prstGeom prst="rect">
                <a:avLst/>
              </a:prstGeom>
              <a:blipFill>
                <a:blip r:embed="rId9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90726" y="1769161"/>
                <a:ext cx="1541489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200" dirty="0"/>
                  <a:t>, the larger the base, the smaller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value: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26" y="1769161"/>
                <a:ext cx="154148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472265" y="1844571"/>
                <a:ext cx="1541489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200" dirty="0"/>
                  <a:t>, the larger the base, the larger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value: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265" y="1844571"/>
                <a:ext cx="154148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>
            <a:off x="6815756" y="2544703"/>
            <a:ext cx="1637458" cy="554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276726" y="1905000"/>
            <a:ext cx="904874" cy="685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57499" y="2567791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499" y="2567791"/>
                <a:ext cx="44894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>
            <a:off x="2639148" y="2614021"/>
            <a:ext cx="1189902" cy="2339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904296" y="4540000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2015196" y="6014069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874036" y="5853037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036" y="5853037"/>
                <a:ext cx="44894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679826" y="4232214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826" y="4232214"/>
                <a:ext cx="44894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: Shape 36"/>
          <p:cNvSpPr/>
          <p:nvPr/>
        </p:nvSpPr>
        <p:spPr>
          <a:xfrm>
            <a:off x="2045826" y="4951935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532142" y="4647019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42" y="4647019"/>
                <a:ext cx="115985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reeform: Shape 38"/>
          <p:cNvSpPr/>
          <p:nvPr/>
        </p:nvSpPr>
        <p:spPr>
          <a:xfrm flipH="1">
            <a:off x="2027549" y="4962123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954167" y="4534134"/>
                <a:ext cx="1159859" cy="600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167" y="4534134"/>
                <a:ext cx="1159859" cy="60054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636490" y="4007437"/>
                <a:ext cx="3872023" cy="257634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Three important notes: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said to be “</a:t>
                </a:r>
                <a:r>
                  <a:rPr lang="en-GB" sz="1200" b="1" dirty="0"/>
                  <a:t>exponential growing</a:t>
                </a:r>
                <a:r>
                  <a:rPr lang="en-GB" sz="1200" dirty="0"/>
                  <a:t>” whereas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said to be “</a:t>
                </a:r>
                <a:r>
                  <a:rPr lang="en-GB" sz="1200" b="1" dirty="0"/>
                  <a:t>exponentially decaying</a:t>
                </a:r>
                <a:r>
                  <a:rPr lang="en-GB" sz="1200" dirty="0"/>
                  <a:t>”, because it’s getting smaller (halving) each time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increases by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a reflection of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in the line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Proof:</a:t>
                </a:r>
                <a:br>
                  <a:rPr lang="en-GB" sz="1200" dirty="0"/>
                </a:br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,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would usually be written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.</a:t>
                </a:r>
                <a:br>
                  <a:rPr lang="en-GB" sz="1200" dirty="0"/>
                </a:br>
                <a:r>
                  <a:rPr lang="en-GB" sz="1200" b="1" u="sng" dirty="0"/>
                  <a:t>You should therefore in general be able to recognise and sketch the graph </a:t>
                </a:r>
                <a14:m>
                  <m:oMath xmlns:m="http://schemas.openxmlformats.org/officeDocument/2006/math">
                    <m:r>
                      <a:rPr lang="en-GB" sz="1200" b="1" i="1" u="sng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200" b="1" i="1" u="sng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1" i="1" u="sng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200" b="1" u="sng" dirty="0"/>
                  <a:t>.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490" y="4007437"/>
                <a:ext cx="3872023" cy="2576346"/>
              </a:xfrm>
              <a:prstGeom prst="rect">
                <a:avLst/>
              </a:prstGeom>
              <a:blipFill>
                <a:blip r:embed="rId17"/>
                <a:stretch>
                  <a:fillRect b="-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550296" y="5451938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296" y="5451938"/>
                <a:ext cx="448940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1954166" y="1226499"/>
            <a:ext cx="8536034" cy="1942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54166" y="3879115"/>
            <a:ext cx="8554346" cy="28567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130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c14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Graph Transformations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1175489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+3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175489"/>
                <a:ext cx="2181448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5253112" y="1958398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487712" y="3457867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21152" y="32714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152" y="3271435"/>
                <a:ext cx="44894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8642" y="16506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642" y="1650612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2611852" y="2361599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242058" y="218658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058" y="2186580"/>
                <a:ext cx="1159859" cy="312586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872732" y="2640873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732" y="2640873"/>
                <a:ext cx="44894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88076" y="1709921"/>
                <a:ext cx="283961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‘change’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is ‘inside the function’ (i.e. input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is replaced with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1600" dirty="0"/>
                  <a:t>).</a:t>
                </a:r>
              </a:p>
              <a:p>
                <a:r>
                  <a:rPr lang="en-GB" sz="1600" dirty="0"/>
                  <a:t>So a translation to the left by 3.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Ensure you work out the new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-intercept.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076" y="1709921"/>
                <a:ext cx="2839616" cy="1815882"/>
              </a:xfrm>
              <a:prstGeom prst="rect">
                <a:avLst/>
              </a:prstGeom>
              <a:blipFill>
                <a:blip r:embed="rId7"/>
                <a:stretch>
                  <a:fillRect l="-1288" t="-1007" r="-644" b="-33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1847528" y="1559348"/>
            <a:ext cx="8380164" cy="241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8734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c14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14A (Pages 313-314)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F1D51F1-4DBE-E9A8-4B3A-CC78BD89A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82" y="584775"/>
            <a:ext cx="3403600" cy="252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58EDE-DA52-571F-D79C-F08A01BDD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3" y="597364"/>
            <a:ext cx="4320471" cy="993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57CDEC-84B8-E1E5-992D-2177A58D5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3058255"/>
            <a:ext cx="5904656" cy="869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DC092B-E089-E036-1EF7-BCCF644F3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544" y="3927987"/>
            <a:ext cx="2832100" cy="2755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CDC358-4F5E-9B45-96AE-428512678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882" y="3925815"/>
            <a:ext cx="3276476" cy="27284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4EADE4-D53B-360E-60F8-F01E94EB20DA}"/>
              </a:ext>
            </a:extLst>
          </p:cNvPr>
          <p:cNvSpPr/>
          <p:nvPr/>
        </p:nvSpPr>
        <p:spPr>
          <a:xfrm>
            <a:off x="6456041" y="692700"/>
            <a:ext cx="3666222" cy="2304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8269D-81FF-72C7-45E2-BC62E5C6437D}"/>
              </a:ext>
            </a:extLst>
          </p:cNvPr>
          <p:cNvSpPr/>
          <p:nvPr/>
        </p:nvSpPr>
        <p:spPr>
          <a:xfrm>
            <a:off x="1967800" y="3956386"/>
            <a:ext cx="3552136" cy="2727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C7E941-BDBB-A8F3-DB47-77108CEE541B}"/>
              </a:ext>
            </a:extLst>
          </p:cNvPr>
          <p:cNvSpPr/>
          <p:nvPr/>
        </p:nvSpPr>
        <p:spPr>
          <a:xfrm>
            <a:off x="6456040" y="3973656"/>
            <a:ext cx="3666222" cy="2727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85273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c14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Logarithms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237284" y="1946549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893468" y="2018556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2018556"/>
                <a:ext cx="1440160" cy="5760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557764" y="2018556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2018556"/>
                <a:ext cx="1440160" cy="576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862020" y="1946549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9" name="Straight Arrow Connector 8"/>
          <p:cNvCxnSpPr>
            <a:endCxn id="6" idx="1"/>
          </p:cNvCxnSpPr>
          <p:nvPr/>
        </p:nvCxnSpPr>
        <p:spPr>
          <a:xfrm>
            <a:off x="3245396" y="230658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>
            <a:off x="5333628" y="2306588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3"/>
          </p:cNvCxnSpPr>
          <p:nvPr/>
        </p:nvCxnSpPr>
        <p:spPr>
          <a:xfrm>
            <a:off x="7997924" y="230658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69668" y="149329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772" y="144249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Inverse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7284" y="2810645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893468" y="2882652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2882652"/>
                <a:ext cx="1440160" cy="576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557764" y="2882652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2882652"/>
                <a:ext cx="1440160" cy="5760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8862020" y="2810645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8" name="Straight Arrow Connector 17"/>
          <p:cNvCxnSpPr>
            <a:endCxn id="15" idx="1"/>
          </p:cNvCxnSpPr>
          <p:nvPr/>
        </p:nvCxnSpPr>
        <p:spPr>
          <a:xfrm>
            <a:off x="3245396" y="3170684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5" idx="3"/>
            <a:endCxn id="16" idx="1"/>
          </p:cNvCxnSpPr>
          <p:nvPr/>
        </p:nvCxnSpPr>
        <p:spPr>
          <a:xfrm>
            <a:off x="5333628" y="3170684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3"/>
          </p:cNvCxnSpPr>
          <p:nvPr/>
        </p:nvCxnSpPr>
        <p:spPr>
          <a:xfrm>
            <a:off x="7997924" y="317068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37284" y="3746749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893468" y="3818756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3818756"/>
                <a:ext cx="1440160" cy="5760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557764" y="3818756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3818756"/>
                <a:ext cx="1440160" cy="5760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8862020" y="3746749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5" name="Straight Arrow Connector 24"/>
          <p:cNvCxnSpPr>
            <a:endCxn id="22" idx="1"/>
          </p:cNvCxnSpPr>
          <p:nvPr/>
        </p:nvCxnSpPr>
        <p:spPr>
          <a:xfrm>
            <a:off x="3245396" y="410678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2" idx="3"/>
            <a:endCxn id="23" idx="1"/>
          </p:cNvCxnSpPr>
          <p:nvPr/>
        </p:nvCxnSpPr>
        <p:spPr>
          <a:xfrm>
            <a:off x="5333628" y="4106788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3" idx="3"/>
          </p:cNvCxnSpPr>
          <p:nvPr/>
        </p:nvCxnSpPr>
        <p:spPr>
          <a:xfrm>
            <a:off x="7997924" y="410678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237284" y="4610845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3893468" y="4682852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4682852"/>
                <a:ext cx="1440160" cy="5760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557764" y="4682852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GB" sz="3200">
                              <a:latin typeface="Cambria Math" panose="02040503050406030204" pitchFamily="18" charset="0"/>
                            </a:rPr>
                            <m:t>5</m:t>
                          </m:r>
                        </m:deg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4682852"/>
                <a:ext cx="1440160" cy="5760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8862020" y="4610845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2" name="Straight Arrow Connector 31"/>
          <p:cNvCxnSpPr>
            <a:endCxn id="29" idx="1"/>
          </p:cNvCxnSpPr>
          <p:nvPr/>
        </p:nvCxnSpPr>
        <p:spPr>
          <a:xfrm>
            <a:off x="3245396" y="4970884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3"/>
            <a:endCxn id="30" idx="1"/>
          </p:cNvCxnSpPr>
          <p:nvPr/>
        </p:nvCxnSpPr>
        <p:spPr>
          <a:xfrm>
            <a:off x="5333628" y="4970884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0" idx="3"/>
          </p:cNvCxnSpPr>
          <p:nvPr/>
        </p:nvCxnSpPr>
        <p:spPr>
          <a:xfrm>
            <a:off x="7997924" y="4970884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93668" y="1802532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3668" y="2666628"/>
            <a:ext cx="432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1660" y="3530724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5636" y="4466828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7284" y="5402933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893468" y="5474940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468" y="5474940"/>
                <a:ext cx="1440160" cy="5760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6557764" y="5474940"/>
                <a:ext cx="1440160" cy="5760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764" y="5474940"/>
                <a:ext cx="1440160" cy="57606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8862020" y="5402933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43" name="Straight Arrow Connector 42"/>
          <p:cNvCxnSpPr>
            <a:endCxn id="40" idx="1"/>
          </p:cNvCxnSpPr>
          <p:nvPr/>
        </p:nvCxnSpPr>
        <p:spPr>
          <a:xfrm>
            <a:off x="3245396" y="5762972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40" idx="3"/>
            <a:endCxn id="41" idx="1"/>
          </p:cNvCxnSpPr>
          <p:nvPr/>
        </p:nvCxnSpPr>
        <p:spPr>
          <a:xfrm>
            <a:off x="5333628" y="5762972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1" idx="3"/>
          </p:cNvCxnSpPr>
          <p:nvPr/>
        </p:nvCxnSpPr>
        <p:spPr>
          <a:xfrm>
            <a:off x="7997924" y="5762972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21660" y="5258916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81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65552" y="2025020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65552" y="2889116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65552" y="3825220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65552" y="4689316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552" y="5481404"/>
            <a:ext cx="1440160" cy="5760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0244" y="747813"/>
            <a:ext cx="8587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know the inverse of many mathematical operations; we can undo an addition by 2 for example by subtracting 2. But is there an inverse function for an exponential function?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7796" y="6134274"/>
            <a:ext cx="520566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Such functions are known as </a:t>
            </a:r>
            <a:r>
              <a:rPr lang="en-GB" b="1" dirty="0"/>
              <a:t>logarithms</a:t>
            </a:r>
            <a:r>
              <a:rPr lang="en-GB" dirty="0"/>
              <a:t>, and exist in order to provide an inverse to exponential functions.</a:t>
            </a:r>
          </a:p>
        </p:txBody>
      </p:sp>
    </p:spTree>
    <p:extLst>
      <p:ext uri="{BB962C8B-B14F-4D97-AF65-F5344CB8AC3E}">
        <p14:creationId xmlns:p14="http://schemas.microsoft.com/office/powerpoint/2010/main" val="41848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</p:bldLst>
  </p:timing>
</p:sld>
</file>

<file path=ppt/c14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Interchanging between exponential and log form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71008" y="1981077"/>
                <a:ext cx="24482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008" y="1981077"/>
                <a:ext cx="2448272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50000" y="1955677"/>
                <a:ext cx="24482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1955677"/>
                <a:ext cx="244827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29520" y="883321"/>
                <a:ext cx="7685980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GB" sz="2400" dirty="0"/>
                  <a:t> (“said log base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”) is equivalent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/>
                  <a:t>.</a:t>
                </a:r>
                <a:br>
                  <a:rPr lang="en-GB" sz="2400" dirty="0"/>
                </a:br>
                <a:r>
                  <a:rPr lang="en-GB" sz="2400" dirty="0"/>
                  <a:t>      The log function outputs the </a:t>
                </a:r>
                <a:r>
                  <a:rPr lang="en-GB" sz="2400" b="1" dirty="0"/>
                  <a:t>missing power</a:t>
                </a:r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520" y="883321"/>
                <a:ext cx="7685980" cy="830997"/>
              </a:xfrm>
              <a:prstGeom prst="rect">
                <a:avLst/>
              </a:prstGeom>
              <a:blipFill>
                <a:blip r:embed="rId4"/>
                <a:stretch>
                  <a:fillRect l="-1107" t="-5000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Left-Right 14"/>
          <p:cNvSpPr/>
          <p:nvPr/>
        </p:nvSpPr>
        <p:spPr>
          <a:xfrm>
            <a:off x="5355780" y="2099321"/>
            <a:ext cx="828548" cy="413787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2762119" y="2677100"/>
            <a:ext cx="6551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Here are two methods of interchanging between these forms.</a:t>
            </a:r>
          </a:p>
          <a:p>
            <a:pPr algn="ctr"/>
            <a:r>
              <a:rPr lang="en-GB" dirty="0"/>
              <a:t>Pick your favourite!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9536" y="3513832"/>
            <a:ext cx="320238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‘Missing Power’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709986" y="3987155"/>
                <a:ext cx="3509714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600" dirty="0"/>
                  <a:t>Note first the base of the log must match the base of the exponential.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func>
                  </m:oMath>
                </a14:m>
                <a:r>
                  <a:rPr lang="en-GB" sz="1600" dirty="0"/>
                  <a:t> for example asks the question “2 to </a:t>
                </a:r>
                <a:r>
                  <a:rPr lang="en-GB" sz="1600" b="1" dirty="0"/>
                  <a:t>what power </a:t>
                </a:r>
                <a:r>
                  <a:rPr lang="en-GB" sz="1600" dirty="0"/>
                  <a:t>gives 8?”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986" y="3987155"/>
                <a:ext cx="3509714" cy="1077218"/>
              </a:xfrm>
              <a:prstGeom prst="rect">
                <a:avLst/>
              </a:prstGeom>
              <a:blipFill>
                <a:blip r:embed="rId5"/>
                <a:stretch>
                  <a:fillRect l="-696" t="-1695" r="-1565" b="-6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103678" y="5827163"/>
            <a:ext cx="1691680" cy="64633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Click to start Animation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89375" y="5853598"/>
                <a:ext cx="7107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𝑙𝑜𝑔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375" y="5853598"/>
                <a:ext cx="71070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678477" y="5875020"/>
                <a:ext cx="7836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477" y="5875020"/>
                <a:ext cx="78360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383101" y="6111274"/>
                <a:ext cx="5065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101" y="6111274"/>
                <a:ext cx="50656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3429964" y="5807091"/>
            <a:ext cx="542199" cy="349187"/>
            <a:chOff x="6175526" y="5728158"/>
            <a:chExt cx="542199" cy="349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6175526" y="5738791"/>
                  <a:ext cx="4126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5526" y="5738791"/>
                  <a:ext cx="412698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6305027" y="5728158"/>
                  <a:ext cx="4126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5027" y="5728158"/>
                  <a:ext cx="41269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169979" y="5870858"/>
                <a:ext cx="7424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979" y="5870858"/>
                <a:ext cx="74242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3716859" y="5118323"/>
            <a:ext cx="18341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We can imagine inserting the output of the log just after the base. Click the button!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3462079" y="5301208"/>
            <a:ext cx="25478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13311" y="3396875"/>
            <a:ext cx="3141494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/>
              <a:t>Method 2</a:t>
            </a:r>
            <a:r>
              <a:rPr lang="en-GB" dirty="0"/>
              <a:t>: Do same operation to each side of equation.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1572" y="4112342"/>
            <a:ext cx="40293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Since KS3 you’re used to the idea of doing the same thing to each side of the equation that ‘undoes’ whatever you want to get rid of.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028689" y="4877921"/>
                <a:ext cx="23223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+2=11</m:t>
                      </m:r>
                    </m:oMath>
                  </m:oMathPara>
                </a14:m>
                <a:endParaRPr lang="en-GB" sz="1600" dirty="0"/>
              </a:p>
              <a:p>
                <a:endParaRPr lang="en-GB" sz="7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3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689" y="4877921"/>
                <a:ext cx="2322302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430150" y="5122288"/>
                <a:ext cx="5760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150" y="5122288"/>
                <a:ext cx="576064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573750" y="5084051"/>
                <a:ext cx="5760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50" y="5084051"/>
                <a:ext cx="576064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392046" y="5548366"/>
                <a:ext cx="40293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“log base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” undoes “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to the power of” and vice versa, as they are inverse functions.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046" y="5548366"/>
                <a:ext cx="4029351" cy="523220"/>
              </a:xfrm>
              <a:prstGeom prst="rect">
                <a:avLst/>
              </a:prstGeom>
              <a:blipFill>
                <a:blip r:embed="rId15"/>
                <a:stretch>
                  <a:fillRect l="-454" t="-2326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269332" y="6049952"/>
                <a:ext cx="1737933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600" dirty="0"/>
              </a:p>
              <a:p>
                <a:endParaRPr lang="en-GB" sz="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    8=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332" y="6049952"/>
                <a:ext cx="1737933" cy="67710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257362" y="6237400"/>
                <a:ext cx="5760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box>
                                <m:boxPr>
                                  <m:ctrlPr>
                                    <a:rPr lang="en-GB" sz="11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r>
                                    <a:rPr lang="en-GB" sz="1100" i="1">
                                      <a:latin typeface="Cambria Math" panose="02040503050406030204" pitchFamily="18" charset="0"/>
                                    </a:rPr>
                                    <m:t>□</m:t>
                                  </m:r>
                                </m:e>
                              </m:box>
                            </m:sup>
                          </m:sSup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362" y="6237400"/>
                <a:ext cx="576064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8540070" y="6207479"/>
                <a:ext cx="57606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box>
                                <m:boxPr>
                                  <m:ctrlPr>
                                    <a:rPr lang="en-GB" sz="1100" i="1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r>
                                    <a:rPr lang="en-GB" sz="1100" i="1">
                                      <a:latin typeface="Cambria Math" panose="02040503050406030204" pitchFamily="18" charset="0"/>
                                    </a:rPr>
                                    <m:t>□</m:t>
                                  </m:r>
                                </m:e>
                              </m:box>
                            </m:sup>
                          </m:sSup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070" y="6207479"/>
                <a:ext cx="576064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row: Right 40"/>
          <p:cNvSpPr/>
          <p:nvPr/>
        </p:nvSpPr>
        <p:spPr>
          <a:xfrm rot="5400000">
            <a:off x="8328368" y="5132731"/>
            <a:ext cx="69979" cy="1992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Arrow: Right 41"/>
          <p:cNvSpPr/>
          <p:nvPr/>
        </p:nvSpPr>
        <p:spPr>
          <a:xfrm rot="5400000">
            <a:off x="8276609" y="6309451"/>
            <a:ext cx="69979" cy="1992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7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00069 L -0.03142 -0.04328 L -0.08351 -0.03912 L -0.09687 0.03125 " pathEditMode="relative" rAng="0" ptsTypes="AAAA">
                                      <p:cBhvr>
                                        <p:cTn id="7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44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250"/>
                            </p:stCondLst>
                            <p:childTnLst>
                              <p:par>
                                <p:cTn id="79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1" grpId="0" animBg="1"/>
      <p:bldP spid="22" grpId="0"/>
      <p:bldP spid="22" grpId="1"/>
      <p:bldP spid="23" grpId="0"/>
      <p:bldP spid="24" grpId="0"/>
      <p:bldP spid="28" grpId="0"/>
      <p:bldP spid="28" grpId="1"/>
      <p:bldP spid="29" grpId="0"/>
      <p:bldP spid="32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 animBg="1"/>
      <p:bldP spid="42" grpId="0" animBg="1"/>
    </p:bldLst>
  </p:timing>
</p:sld>
</file>

<file path=ppt/c14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-27384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8411" y="733986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411" y="733986"/>
                <a:ext cx="307450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157643" y="719470"/>
            <a:ext cx="14314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Think: “5 to the power of what gives you 25?”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8410" y="1598409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81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410" y="1598409"/>
                <a:ext cx="3074505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58752" y="3754605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752" y="3754605"/>
                <a:ext cx="307450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18410" y="2393478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32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410" y="2393478"/>
                <a:ext cx="3074505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0014" y="4419046"/>
                <a:ext cx="307450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014" y="4419046"/>
                <a:ext cx="3074505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81627" y="5155949"/>
                <a:ext cx="3074505" cy="13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627" y="5155949"/>
                <a:ext cx="3074505" cy="13371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545508" y="556308"/>
                <a:ext cx="3556437" cy="13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27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508" y="556308"/>
                <a:ext cx="3556437" cy="13371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01829" y="1866824"/>
                <a:ext cx="3745258" cy="1337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829" y="1866824"/>
                <a:ext cx="3745258" cy="13371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58287" y="4136204"/>
                <a:ext cx="288531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287" y="4136204"/>
                <a:ext cx="2885319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035784" y="3112668"/>
                <a:ext cx="345061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3600" i="1">
                              <a:latin typeface="Cambria Math" panose="02040503050406030204" pitchFamily="18" charset="0"/>
                            </a:rPr>
                            <m:t>1000</m:t>
                          </m:r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784" y="3112668"/>
                <a:ext cx="3450617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4847774" y="957944"/>
            <a:ext cx="333827" cy="101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356822" y="3264426"/>
                <a:ext cx="37452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sz="3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822" y="3264426"/>
                <a:ext cx="3745258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615544" y="3857128"/>
                <a:ext cx="155133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for all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544" y="3857128"/>
                <a:ext cx="1551338" cy="646331"/>
              </a:xfrm>
              <a:prstGeom prst="rect">
                <a:avLst/>
              </a:prstGeom>
              <a:blipFill>
                <a:blip r:embed="rId13"/>
                <a:stretch>
                  <a:fillRect l="-2317" t="-4545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4228753" y="646163"/>
            <a:ext cx="575477" cy="892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7779" y="1548994"/>
            <a:ext cx="589992" cy="7732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7779" y="2334658"/>
            <a:ext cx="633535" cy="68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2866" y="3018279"/>
            <a:ext cx="633535" cy="68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11985" y="3749287"/>
            <a:ext cx="633535" cy="68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41011" y="4431127"/>
            <a:ext cx="633535" cy="68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52776" y="5333479"/>
            <a:ext cx="744939" cy="820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14578" y="761409"/>
            <a:ext cx="744939" cy="820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14578" y="1989445"/>
            <a:ext cx="744939" cy="820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2747" y="3078531"/>
            <a:ext cx="744939" cy="8205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3950" y="4223549"/>
            <a:ext cx="940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18521" y="4011335"/>
            <a:ext cx="1172109" cy="8944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?!!??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5486400" y="5517232"/>
            <a:ext cx="50498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90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c14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With Your Calculator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934050" y="820508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There are three buttons on your calculator for computing logs: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38760" y="1961501"/>
                <a:ext cx="1440160" cy="7920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□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□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760" y="1961501"/>
                <a:ext cx="1440160" cy="7920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35016" y="1874417"/>
                <a:ext cx="439248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𝟕𝟕𝟏𝟐𝟒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0.3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𝟕𝟒𝟖𝟎𝟕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016" y="1874417"/>
                <a:ext cx="4392488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30578" y="3428230"/>
                <a:ext cx="1440160" cy="7920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𝑙𝑛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578" y="3428230"/>
                <a:ext cx="1440160" cy="7920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57644" y="3295241"/>
                <a:ext cx="439248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𝟑𝟎𝟐𝟓𝟖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44" y="3295241"/>
                <a:ext cx="4392488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536160" y="3964428"/>
                <a:ext cx="2902396" cy="17543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dirty="0"/>
                  <a:t> is the “</a:t>
                </a:r>
                <a:r>
                  <a:rPr lang="en-GB" b="1" dirty="0"/>
                  <a:t>natural log of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dirty="0"/>
                  <a:t>”, meaning “log to the base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dirty="0"/>
                  <a:t>”, i.e. it the inverse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will use it more extensively later this chapter.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0" y="3964428"/>
                <a:ext cx="2902396" cy="1754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 flipV="1">
            <a:off x="6642100" y="4178301"/>
            <a:ext cx="643936" cy="383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879752" y="1828801"/>
            <a:ext cx="2045048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2104" y="2310067"/>
            <a:ext cx="2045048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5694" y="3303108"/>
            <a:ext cx="2045048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9716" y="3760278"/>
            <a:ext cx="743285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790700" y="5667063"/>
                <a:ext cx="4584700" cy="109562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Just like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√</m:t>
                    </m:r>
                  </m:oMath>
                </a14:m>
                <a:r>
                  <a:rPr lang="en-GB" sz="1600" dirty="0"/>
                  <a:t> symbol without a number is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>
                            <a:latin typeface="Cambria Math" panose="02040503050406030204" pitchFamily="18" charset="0"/>
                          </a:rPr>
                          <m:t>2</m:t>
                        </m:r>
                      </m:deg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□</m:t>
                        </m:r>
                      </m:e>
                    </m:rad>
                  </m:oMath>
                </a14:m>
                <a:r>
                  <a:rPr lang="en-GB" sz="1600" dirty="0"/>
                  <a:t> by default, </a:t>
                </a:r>
                <a14:m>
                  <m:oMath xmlns:m="http://schemas.openxmlformats.org/officeDocument/2006/math">
                    <m:r>
                      <a:rPr lang="en-GB" sz="1600" i="1" dirty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sz="1600" dirty="0"/>
                  <a:t> without a base is </a:t>
                </a:r>
                <a:r>
                  <a:rPr lang="en-GB" sz="1600" b="1" dirty="0"/>
                  <a:t>base 10 </a:t>
                </a:r>
                <a:r>
                  <a:rPr lang="en-GB" sz="1600" dirty="0"/>
                  <a:t>by default when used on your calculator (although confusingly “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sz="1600" dirty="0"/>
                  <a:t>” can mean “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𝑙𝑛</m:t>
                    </m:r>
                  </m:oMath>
                </a14:m>
                <a:r>
                  <a:rPr lang="en-GB" sz="1600" dirty="0"/>
                  <a:t>” in mathematical papers)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5667063"/>
                <a:ext cx="4584700" cy="10956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342884" y="4597071"/>
                <a:ext cx="1440160" cy="7920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𝑙𝑜𝑔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884" y="4597071"/>
                <a:ext cx="1440160" cy="7920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 flipV="1">
            <a:off x="3886200" y="5410200"/>
            <a:ext cx="261324" cy="238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76496" y="4630569"/>
                <a:ext cx="3030704" cy="523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br>
                  <a:rPr lang="en-GB" sz="2800" b="1" i="1" dirty="0">
                    <a:latin typeface="Cambria Math" panose="02040503050406030204" pitchFamily="18" charset="0"/>
                  </a:rPr>
                </a:br>
                <a:endParaRPr lang="en-GB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496" y="4630569"/>
                <a:ext cx="3030704" cy="5232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5957036" y="4632107"/>
            <a:ext cx="743285" cy="484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7668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9" grpId="0" animBg="1"/>
    </p:bldLst>
  </p:timing>
</p:sld>
</file>

<file path=ppt/c14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14D – Y1 Page 321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62B19AD-A753-F18D-1F72-56551195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642132"/>
            <a:ext cx="5291388" cy="1234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38D924-1D1C-3716-7E86-7624555F0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034" y="4690818"/>
            <a:ext cx="6552728" cy="8474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FB1CAC-72BD-984D-8FD4-CC3324B36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112" y="655883"/>
            <a:ext cx="2273300" cy="15113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56975D-4115-53C7-9A32-EEFEE9F3A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824" y="2206615"/>
            <a:ext cx="1676400" cy="342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74748CA-169A-6C41-05B8-1F90648303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544" y="5638279"/>
            <a:ext cx="1447800" cy="330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7F5657B-3BBB-E4E6-CB0C-88C1B1F617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5912" y="5968480"/>
            <a:ext cx="1447800" cy="330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DEE0D50-AAD1-C8CF-97CC-E1A2C125C0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1544" y="6270256"/>
            <a:ext cx="1447800" cy="330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8D06FDD-0BB1-9669-2B64-8B494D978F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9856" y="5626542"/>
            <a:ext cx="1447800" cy="1092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7E335E-C2A3-77A3-ECA7-F9545AB75A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6533" y="2603090"/>
            <a:ext cx="6552728" cy="8766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A302FF6-64E3-4DC7-9E1A-7AAB59950C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7528" y="3477475"/>
            <a:ext cx="1346200" cy="2667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8403F97-7447-C9EE-088D-F843F99184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1544" y="3776564"/>
            <a:ext cx="1193800" cy="2667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532DF91-6BFC-0DC7-2D4A-36399D6B89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8544" y="4087424"/>
            <a:ext cx="1193800" cy="2667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D171F5A-3914-E73D-4BF4-E4E9898F2C6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6356" y="3510380"/>
            <a:ext cx="1574800" cy="10922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AAB2A7-6D82-6CDF-0D36-7DE7ED592C26}"/>
              </a:ext>
            </a:extLst>
          </p:cNvPr>
          <p:cNvSpPr/>
          <p:nvPr/>
        </p:nvSpPr>
        <p:spPr>
          <a:xfrm>
            <a:off x="7104112" y="658091"/>
            <a:ext cx="2273300" cy="15485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942914-45ED-1158-A46B-6D2D5904087B}"/>
              </a:ext>
            </a:extLst>
          </p:cNvPr>
          <p:cNvSpPr/>
          <p:nvPr/>
        </p:nvSpPr>
        <p:spPr>
          <a:xfrm>
            <a:off x="7113824" y="2262557"/>
            <a:ext cx="2273300" cy="3917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02A418-5002-FCD8-5329-25BEC314473F}"/>
              </a:ext>
            </a:extLst>
          </p:cNvPr>
          <p:cNvSpPr/>
          <p:nvPr/>
        </p:nvSpPr>
        <p:spPr>
          <a:xfrm>
            <a:off x="1823784" y="3485765"/>
            <a:ext cx="2740562" cy="11556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DB0422-1F4C-74CE-3E0A-CF09D147468B}"/>
              </a:ext>
            </a:extLst>
          </p:cNvPr>
          <p:cNvSpPr/>
          <p:nvPr/>
        </p:nvSpPr>
        <p:spPr>
          <a:xfrm>
            <a:off x="1827742" y="5623665"/>
            <a:ext cx="2740562" cy="11556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8138CA-E41E-02A7-71F9-32D35D4475A3}"/>
              </a:ext>
            </a:extLst>
          </p:cNvPr>
          <p:cNvSpPr/>
          <p:nvPr/>
        </p:nvSpPr>
        <p:spPr>
          <a:xfrm>
            <a:off x="4727848" y="3497502"/>
            <a:ext cx="2740562" cy="11556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F9298F9-04EE-359E-0EB6-1A12EE049FCA}"/>
              </a:ext>
            </a:extLst>
          </p:cNvPr>
          <p:cNvSpPr/>
          <p:nvPr/>
        </p:nvSpPr>
        <p:spPr>
          <a:xfrm>
            <a:off x="4731806" y="5635402"/>
            <a:ext cx="2740562" cy="11556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</p:spTree>
    <p:extLst>
      <p:ext uri="{BB962C8B-B14F-4D97-AF65-F5344CB8AC3E}">
        <p14:creationId xmlns:p14="http://schemas.microsoft.com/office/powerpoint/2010/main" val="155738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c14/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926867" y="837802"/>
                <a:ext cx="3993791" cy="52120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[MAT 2015 1J] Which is the largest of the following numbers?</a:t>
                </a:r>
              </a:p>
              <a:p>
                <a:r>
                  <a:rPr lang="en-GB" sz="1600" dirty="0"/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     B)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1600" dirty="0"/>
                  <a:t>    C)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10!</m:t>
                            </m:r>
                          </m:e>
                        </m:rad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6!</m:t>
                            </m:r>
                          </m:e>
                        </m:d>
                      </m:den>
                    </m:f>
                  </m:oMath>
                </a14:m>
                <a:endParaRPr lang="en-GB" sz="1600" dirty="0"/>
              </a:p>
              <a:p>
                <a:r>
                  <a:rPr lang="en-GB" sz="1600" dirty="0"/>
                  <a:t>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6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fName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85</m:t>
                            </m:r>
                          </m:e>
                        </m:func>
                      </m:den>
                    </m:f>
                  </m:oMath>
                </a14:m>
                <a:r>
                  <a:rPr lang="en-GB" sz="1600" dirty="0"/>
                  <a:t>    E)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b="1" dirty="0"/>
                  <a:t>(Official solution) Squaring all answers results in (A)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1600" b="1" dirty="0"/>
                  <a:t> which is larger than (B)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𝟐𝟓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𝟏𝟔</m:t>
                        </m:r>
                      </m:den>
                    </m:f>
                  </m:oMath>
                </a14:m>
                <a:r>
                  <a:rPr lang="en-GB" sz="1600" b="1" dirty="0"/>
                  <a:t>. After squaring (C) it simplifies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GB" sz="1600" b="1" dirty="0"/>
                  <a:t> which further simplifies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GB" sz="1600" b="1" dirty="0"/>
                  <a:t> which is smaller than (A).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𝟑𝟎</m:t>
                        </m:r>
                      </m:e>
                    </m:func>
                    <m:r>
                      <a:rPr lang="en-GB" sz="1600" b="1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b="1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fName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𝟖𝟓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sz="1600" b="1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GB" sz="1600" b="1" dirty="0"/>
                  <a:t>, hence (D) is smaller than (A) after squaring. Comparing (A) with (E) after squaring results in a comparison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GB" sz="1600" b="1" dirty="0"/>
                  <a:t>. As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rad>
                    <m:r>
                      <a:rPr lang="en-GB" sz="1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GB" sz="1600" b="1" dirty="0"/>
                  <a:t>, (E) squared must be less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𝟏𝟑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GB" sz="1600" b="1" dirty="0"/>
                  <a:t> and hence less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GB" sz="1600" b="1" dirty="0"/>
                  <a:t>. The answer is (A).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867" y="837802"/>
                <a:ext cx="3993791" cy="5212068"/>
              </a:xfrm>
              <a:prstGeom prst="rect">
                <a:avLst/>
              </a:prstGeom>
              <a:blipFill>
                <a:blip r:embed="rId2"/>
                <a:stretch>
                  <a:fillRect l="-763" t="-351" r="-6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613660" y="937924"/>
            <a:ext cx="30709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6235" y="2339808"/>
            <a:ext cx="3933328" cy="37100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2846" y="1641597"/>
            <a:ext cx="165618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Non-calculator!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451883" y="794658"/>
                <a:ext cx="4119563" cy="52852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i="1" dirty="0"/>
                  <a:t>[MAT 2013 1F] </a:t>
                </a:r>
                <a:r>
                  <a:rPr lang="en-GB" sz="1600" dirty="0"/>
                  <a:t>Three </a:t>
                </a:r>
                <a:r>
                  <a:rPr lang="en-GB" sz="1600" i="1" dirty="0"/>
                  <a:t>positive</a:t>
                </a:r>
                <a:r>
                  <a:rPr lang="en-GB" sz="1600" dirty="0"/>
                  <a:t> numbers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 satisfy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This information: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specifies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uniquely;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is satisfied by two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;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is satisfied by infinitely many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;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is contradictory</a:t>
                </a:r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r>
                  <a:rPr lang="en-GB" sz="1600" b="1" dirty="0"/>
                  <a:t>If we take exponents of the three equations: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Hence eliminating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GB" sz="1600" b="1" dirty="0"/>
                  <a:t> we get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 ⇒  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We are only interested in positive solutions to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. 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d>
                      <m:d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GB" sz="1600" b="1" dirty="0"/>
                  <a:t> is negative for </a:t>
                </a:r>
                <a:br>
                  <a:rPr lang="en-GB" sz="1600" b="1" dirty="0"/>
                </a:b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 and then both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 are positive and increasing for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600" b="1" dirty="0"/>
                  <a:t>. So there is only one positive solution to the equation (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sz="1600" b="1" dirty="0"/>
                  <a:t>, so that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>
                        <a:latin typeface="Cambria Math" panose="02040503050406030204" pitchFamily="18" charset="0"/>
                      </a:rPr>
                      <m:t>𝟏𝟏</m:t>
                    </m:r>
                  </m:oMath>
                </a14:m>
                <a:r>
                  <a:rPr lang="en-GB" sz="1600" b="1" dirty="0"/>
                  <a:t>). Answer is (a).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883" y="794658"/>
                <a:ext cx="4119563" cy="5285293"/>
              </a:xfrm>
              <a:prstGeom prst="rect">
                <a:avLst/>
              </a:prstGeom>
              <a:blipFill>
                <a:blip r:embed="rId3"/>
                <a:stretch>
                  <a:fillRect l="-740" t="-346" r="-148" b="-5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912379" y="873522"/>
            <a:ext cx="30709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1020" y="3450790"/>
            <a:ext cx="4035600" cy="25607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1907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c14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/>
          <p:nvPr/>
        </p:nvGrpSpPr>
        <p:grpSpPr>
          <a:xfrm>
            <a:off x="1524000" y="1"/>
            <a:ext cx="9156700" cy="6907803"/>
            <a:chOff x="0" y="0"/>
            <a:chExt cx="9156700" cy="6907803"/>
          </a:xfrm>
        </p:grpSpPr>
        <p:grpSp>
          <p:nvGrpSpPr>
            <p:cNvPr id="3" name="Group 25"/>
            <p:cNvGrpSpPr/>
            <p:nvPr/>
          </p:nvGrpSpPr>
          <p:grpSpPr>
            <a:xfrm>
              <a:off x="395536" y="0"/>
              <a:ext cx="8640960" cy="6858000"/>
              <a:chOff x="395536" y="0"/>
              <a:chExt cx="8640960" cy="68580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9553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82758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25963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12372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55577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98782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41987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85192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28396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1601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14806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58011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01216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44420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87625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730830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74035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17240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860444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903649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/>
            <p:cNvCxnSpPr/>
            <p:nvPr/>
          </p:nvCxnSpPr>
          <p:spPr>
            <a:xfrm rot="5400000">
              <a:off x="4572000" y="-4383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4572000" y="-3951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72000" y="-3519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572000" y="-3087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4572000" y="-2655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4572000" y="-222312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4572000" y="-179107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572000" y="-135902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4572000" y="-92697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4572000" y="-49492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4572000" y="-6288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4572000" y="369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572000" y="801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4572000" y="1233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4572000" y="1665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4572000" y="2097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2123728" y="0"/>
              <a:ext cx="0" cy="6858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12700" y="4514531"/>
              <a:ext cx="914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7546" y="4488778"/>
              <a:ext cx="9057086" cy="3693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GB" dirty="0"/>
                <a:t> -2              -1                              1               2              3              4               5              6              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04201" y="13608"/>
              <a:ext cx="504056" cy="6894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8</a:t>
              </a:r>
            </a:p>
            <a:p>
              <a:endParaRPr lang="en-GB" dirty="0"/>
            </a:p>
            <a:p>
              <a:endParaRPr lang="en-GB" dirty="0"/>
            </a:p>
            <a:p>
              <a:pPr algn="r"/>
              <a:r>
                <a:rPr lang="en-GB" dirty="0"/>
                <a:t>4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3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2</a:t>
              </a:r>
            </a:p>
            <a:p>
              <a:pPr algn="r"/>
              <a:endParaRPr lang="en-GB" dirty="0"/>
            </a:p>
            <a:p>
              <a:pPr algn="r"/>
              <a:endParaRPr lang="en-GB" sz="2200" dirty="0"/>
            </a:p>
            <a:p>
              <a:pPr algn="r"/>
              <a:r>
                <a:rPr lang="en-GB" dirty="0"/>
                <a:t>1</a:t>
              </a:r>
            </a:p>
            <a:p>
              <a:pPr algn="r"/>
              <a:endParaRPr lang="en-GB" sz="2800" dirty="0"/>
            </a:p>
            <a:p>
              <a:pPr algn="r"/>
              <a:endParaRPr lang="en-GB" sz="1100" dirty="0"/>
            </a:p>
            <a:p>
              <a:pPr algn="r"/>
              <a:r>
                <a:rPr lang="en-GB" dirty="0"/>
                <a:t> 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-1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-2</a:t>
              </a:r>
            </a:p>
            <a:p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055517"/>
                  </p:ext>
                </p:extLst>
              </p:nvPr>
            </p:nvGraphicFramePr>
            <p:xfrm>
              <a:off x="1612900" y="129332"/>
              <a:ext cx="3942668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055517"/>
                  </p:ext>
                </p:extLst>
              </p:nvPr>
            </p:nvGraphicFramePr>
            <p:xfrm>
              <a:off x="1612900" y="129332"/>
              <a:ext cx="3942668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8197" r="-39618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108197" r="-39618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3" name="Rectangle 52"/>
          <p:cNvSpPr/>
          <p:nvPr/>
        </p:nvSpPr>
        <p:spPr>
          <a:xfrm>
            <a:off x="2418863" y="509703"/>
            <a:ext cx="625593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6" name="Oval 55"/>
          <p:cNvSpPr/>
          <p:nvPr/>
        </p:nvSpPr>
        <p:spPr>
          <a:xfrm>
            <a:off x="3790859" y="613128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3031039" y="509703"/>
            <a:ext cx="544681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0" name="Oval 59"/>
          <p:cNvSpPr/>
          <p:nvPr/>
        </p:nvSpPr>
        <p:spPr>
          <a:xfrm>
            <a:off x="3995069" y="530494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3583204" y="509704"/>
            <a:ext cx="458416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Oval 61"/>
          <p:cNvSpPr/>
          <p:nvPr/>
        </p:nvSpPr>
        <p:spPr>
          <a:xfrm>
            <a:off x="4420619" y="4416876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4041619" y="509703"/>
            <a:ext cx="462720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4" name="Oval 63"/>
          <p:cNvSpPr/>
          <p:nvPr/>
        </p:nvSpPr>
        <p:spPr>
          <a:xfrm>
            <a:off x="5280580" y="355302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4504339" y="509703"/>
            <a:ext cx="464611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6" name="Oval 65"/>
          <p:cNvSpPr/>
          <p:nvPr/>
        </p:nvSpPr>
        <p:spPr>
          <a:xfrm>
            <a:off x="7021767" y="269124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10471034" y="1842370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4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4968950" y="509703"/>
            <a:ext cx="548462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8" name="Freeform: Shape 27"/>
          <p:cNvSpPr/>
          <p:nvPr/>
        </p:nvSpPr>
        <p:spPr>
          <a:xfrm>
            <a:off x="3773714" y="1901371"/>
            <a:ext cx="6807200" cy="4963886"/>
          </a:xfrm>
          <a:custGeom>
            <a:avLst/>
            <a:gdLst>
              <a:gd name="connsiteX0" fmla="*/ 0 w 6807200"/>
              <a:gd name="connsiteY0" fmla="*/ 4963886 h 4963886"/>
              <a:gd name="connsiteX1" fmla="*/ 101600 w 6807200"/>
              <a:gd name="connsiteY1" fmla="*/ 4339772 h 4963886"/>
              <a:gd name="connsiteX2" fmla="*/ 319315 w 6807200"/>
              <a:gd name="connsiteY2" fmla="*/ 3483429 h 4963886"/>
              <a:gd name="connsiteX3" fmla="*/ 740229 w 6807200"/>
              <a:gd name="connsiteY3" fmla="*/ 2612572 h 4963886"/>
              <a:gd name="connsiteX4" fmla="*/ 1582057 w 6807200"/>
              <a:gd name="connsiteY4" fmla="*/ 1741715 h 4963886"/>
              <a:gd name="connsiteX5" fmla="*/ 3338286 w 6807200"/>
              <a:gd name="connsiteY5" fmla="*/ 870858 h 4963886"/>
              <a:gd name="connsiteX6" fmla="*/ 6807200 w 6807200"/>
              <a:gd name="connsiteY6" fmla="*/ 0 h 496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07200" h="4963886">
                <a:moveTo>
                  <a:pt x="0" y="4963886"/>
                </a:moveTo>
                <a:cubicBezTo>
                  <a:pt x="24190" y="4775200"/>
                  <a:pt x="48381" y="4586515"/>
                  <a:pt x="101600" y="4339772"/>
                </a:cubicBezTo>
                <a:cubicBezTo>
                  <a:pt x="154819" y="4093029"/>
                  <a:pt x="212877" y="3771296"/>
                  <a:pt x="319315" y="3483429"/>
                </a:cubicBezTo>
                <a:cubicBezTo>
                  <a:pt x="425753" y="3195562"/>
                  <a:pt x="529772" y="2902858"/>
                  <a:pt x="740229" y="2612572"/>
                </a:cubicBezTo>
                <a:cubicBezTo>
                  <a:pt x="950686" y="2322286"/>
                  <a:pt x="1149048" y="2032001"/>
                  <a:pt x="1582057" y="1741715"/>
                </a:cubicBezTo>
                <a:cubicBezTo>
                  <a:pt x="2015066" y="1451429"/>
                  <a:pt x="2467429" y="1161144"/>
                  <a:pt x="3338286" y="870858"/>
                </a:cubicBezTo>
                <a:cubicBezTo>
                  <a:pt x="4209143" y="580572"/>
                  <a:pt x="5508171" y="290286"/>
                  <a:pt x="68072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8" name="Group 57"/>
          <p:cNvGrpSpPr/>
          <p:nvPr/>
        </p:nvGrpSpPr>
        <p:grpSpPr>
          <a:xfrm>
            <a:off x="2609851" y="1517154"/>
            <a:ext cx="3503611" cy="1111746"/>
            <a:chOff x="1085850" y="1517154"/>
            <a:chExt cx="3503611" cy="1111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The log graph isn’t defined for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≤0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877" t="-3636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/>
            <p:cNvCxnSpPr>
              <a:stCxn id="29" idx="1"/>
            </p:cNvCxnSpPr>
            <p:nvPr/>
          </p:nvCxnSpPr>
          <p:spPr>
            <a:xfrm flipH="1">
              <a:off x="1085850" y="1840320"/>
              <a:ext cx="1252786" cy="78858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3933373" y="5304240"/>
            <a:ext cx="3854225" cy="1314275"/>
            <a:chOff x="735236" y="1517154"/>
            <a:chExt cx="3854225" cy="13142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We have a vertical asymptote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609" t="-2727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Straight Arrow Connector 72"/>
            <p:cNvCxnSpPr>
              <a:stCxn id="72" idx="1"/>
            </p:cNvCxnSpPr>
            <p:nvPr/>
          </p:nvCxnSpPr>
          <p:spPr>
            <a:xfrm flipH="1">
              <a:off x="735236" y="1840320"/>
              <a:ext cx="1603400" cy="9911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4746172" y="3484920"/>
            <a:ext cx="2786743" cy="869367"/>
            <a:chOff x="721118" y="1517154"/>
            <a:chExt cx="2786743" cy="869367"/>
          </a:xfrm>
        </p:grpSpPr>
        <p:sp>
          <p:nvSpPr>
            <p:cNvPr id="75" name="TextBox 74"/>
            <p:cNvSpPr txBox="1"/>
            <p:nvPr/>
          </p:nvSpPr>
          <p:spPr>
            <a:xfrm>
              <a:off x="2338636" y="1517154"/>
              <a:ext cx="1169225" cy="3693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Root is 1.</a:t>
              </a:r>
            </a:p>
          </p:txBody>
        </p:sp>
        <p:cxnSp>
          <p:nvCxnSpPr>
            <p:cNvPr id="76" name="Straight Arrow Connector 75"/>
            <p:cNvCxnSpPr>
              <a:stCxn id="75" idx="1"/>
            </p:cNvCxnSpPr>
            <p:nvPr/>
          </p:nvCxnSpPr>
          <p:spPr>
            <a:xfrm flipH="1">
              <a:off x="721118" y="1701820"/>
              <a:ext cx="1617518" cy="68470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8026400" y="2336800"/>
            <a:ext cx="2365828" cy="1780408"/>
            <a:chOff x="1457916" y="937075"/>
            <a:chExt cx="2365828" cy="1780408"/>
          </a:xfrm>
        </p:grpSpPr>
        <p:sp>
          <p:nvSpPr>
            <p:cNvPr id="80" name="TextBox 79"/>
            <p:cNvSpPr txBox="1"/>
            <p:nvPr/>
          </p:nvSpPr>
          <p:spPr>
            <a:xfrm>
              <a:off x="1457916" y="1517154"/>
              <a:ext cx="2365828" cy="120032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The gradient gradually decreases but remains positive (log is an “increasing function”)</a:t>
              </a:r>
            </a:p>
          </p:txBody>
        </p:sp>
        <p:cxnSp>
          <p:nvCxnSpPr>
            <p:cNvPr id="81" name="Straight Arrow Connector 80"/>
            <p:cNvCxnSpPr/>
            <p:nvPr/>
          </p:nvCxnSpPr>
          <p:spPr>
            <a:xfrm flipV="1">
              <a:off x="2691630" y="937075"/>
              <a:ext cx="232229" cy="58057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176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53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 animBg="1"/>
      <p:bldP spid="28" grpId="0" animBg="1"/>
    </p:bldLst>
  </p:timing>
</p:sld>
</file>

<file path=ppt/c14/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Laws of Logs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97100" y="739429"/>
                <a:ext cx="4897116" cy="539724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 </a:t>
                </a:r>
                <a:r>
                  <a:rPr lang="en-GB" sz="2400" dirty="0">
                    <a:latin typeface="+mj-lt"/>
                  </a:rPr>
                  <a:t>Three main laws:</a:t>
                </a:r>
                <a:endParaRPr lang="en-GB" sz="2400" dirty="0">
                  <a:latin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  <a:p>
                <a:endParaRPr lang="en-GB" sz="1000" dirty="0"/>
              </a:p>
              <a:p>
                <a:r>
                  <a:rPr lang="en-GB" sz="2400" dirty="0"/>
                  <a:t>Special cases: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=1   (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&gt;0,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≠1)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=0   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&gt;0,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≠1</m:t>
                          </m:r>
                        </m:e>
                      </m:d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/>
              </a:p>
              <a:p>
                <a:endParaRPr lang="en-GB" sz="600" dirty="0"/>
              </a:p>
              <a:p>
                <a:r>
                  <a:rPr lang="en-GB" sz="2400" dirty="0"/>
                  <a:t>Not in syllabus (but in MAT/PAT):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100" y="739429"/>
                <a:ext cx="4897116" cy="5397247"/>
              </a:xfrm>
              <a:prstGeom prst="rect">
                <a:avLst/>
              </a:prstGeom>
              <a:blipFill>
                <a:blip r:embed="rId2"/>
                <a:stretch>
                  <a:fillRect l="-1735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6819900" y="1346204"/>
            <a:ext cx="482600" cy="47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0" y="2271857"/>
            <a:ext cx="2242468" cy="5847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/>
              <a:t>i.e. You can move the power to the front.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769100" y="2540000"/>
            <a:ext cx="546100" cy="114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6756400" y="3962400"/>
            <a:ext cx="46990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239658" y="3084595"/>
                <a:ext cx="2539342" cy="2430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often try to avoid leaving fractions inside logs.</a:t>
                </a:r>
              </a:p>
              <a:p>
                <a:r>
                  <a:rPr lang="en-GB" sz="1600" dirty="0"/>
                  <a:t>So if the answer was: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You should write your answer as: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</m:oMath>
                </a14:m>
                <a:endParaRPr lang="en-GB" dirty="0"/>
              </a:p>
              <a:p>
                <a:r>
                  <a:rPr lang="en-GB" sz="1600" b="1" dirty="0"/>
                  <a:t>Reciprocating the input negates the output.</a:t>
                </a:r>
                <a:endParaRPr lang="en-GB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658" y="3084595"/>
                <a:ext cx="2539342" cy="2430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7302500" y="1443194"/>
            <a:ext cx="2242468" cy="5847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/>
              <a:t>The logs must have a consistent base.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30716" y="5674674"/>
                <a:ext cx="3407220" cy="109549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This is known as </a:t>
                </a:r>
                <a:r>
                  <a:rPr lang="en-GB" sz="1600" b="1" dirty="0"/>
                  <a:t>changing the base</a:t>
                </a:r>
                <a:r>
                  <a:rPr lang="en-GB" sz="1600" dirty="0"/>
                  <a:t>. So to get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func>
                  </m:oMath>
                </a14:m>
                <a:r>
                  <a:rPr lang="en-GB" sz="1600" dirty="0"/>
                  <a:t> in terms of log base 3: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</a:rPr>
                        <m:t>9=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716" y="5674674"/>
                <a:ext cx="3407220" cy="10954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 flipV="1">
            <a:off x="6756400" y="6019800"/>
            <a:ext cx="261616" cy="291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582025"/>
      </p:ext>
    </p:extLst>
  </p:cSld>
  <p:clrMapOvr>
    <a:masterClrMapping/>
  </p:clrMapOvr>
</p:sld>
</file>

<file path=ppt/c14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7700" y="897093"/>
                <a:ext cx="3602236" cy="178407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Write as a single logarithm:</a:t>
                </a:r>
              </a:p>
              <a:p>
                <a:pPr marL="342900" indent="-3429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marL="342900" indent="-3429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marL="342900" indent="-342900">
                  <a:buAutoNum type="alphaLcPeriod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marL="342900" indent="-3429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−4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700" y="897093"/>
                <a:ext cx="3602236" cy="17840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07968" y="897093"/>
                <a:ext cx="4572572" cy="21251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Write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000" dirty="0"/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GB" sz="2000" dirty="0"/>
              </a:p>
              <a:p>
                <a:pPr marL="457200" indent="-4572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GB" sz="2000" dirty="0"/>
              </a:p>
              <a:p>
                <a:pPr marL="457200" indent="-4572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000" dirty="0"/>
              </a:p>
              <a:p>
                <a:pPr marL="457200" indent="-4572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000" dirty="0"/>
              </a:p>
              <a:p>
                <a:pPr marL="457200" indent="-457200">
                  <a:buAutoNum type="alphaLcPeriod"/>
                </a:pPr>
                <a:r>
                  <a:rPr lang="en-GB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968" y="897093"/>
                <a:ext cx="4572572" cy="21251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43944" y="3166245"/>
                <a:ext cx="3528392" cy="2071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:br>
                  <a:rPr lang="en-GB" sz="11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:br>
                  <a:rPr lang="en-GB" sz="11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:br>
                  <a:rPr lang="en-GB" sz="110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GB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>
                          <a:latin typeface="Cambria Math" panose="02040503050406030204" pitchFamily="18" charset="0"/>
                        </a:rPr>
                        <m:t>48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944" y="3166245"/>
                <a:ext cx="3528392" cy="2071977"/>
              </a:xfrm>
              <a:prstGeom prst="rect">
                <a:avLst/>
              </a:prstGeom>
              <a:blipFill>
                <a:blip r:embed="rId4"/>
                <a:stretch>
                  <a:fillRect l="-5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827337" y="3260601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7337" y="3717032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3688" y="4154413"/>
            <a:ext cx="211013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3212" y="4752893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57778" y="3176656"/>
                <a:ext cx="4529469" cy="3602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+3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              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−3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func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                   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GB" sz="16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−4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778" y="3176656"/>
                <a:ext cx="4529469" cy="3602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710890" y="3279489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00874" y="3947060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3953" y="4803911"/>
            <a:ext cx="211013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3952" y="5959851"/>
            <a:ext cx="214188" cy="2160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8070" y="3168878"/>
            <a:ext cx="3191753" cy="3266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8541" y="3658612"/>
            <a:ext cx="3191753" cy="3266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18540" y="4099107"/>
            <a:ext cx="3201282" cy="3266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96246" y="4584180"/>
            <a:ext cx="3223577" cy="5832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3633" y="3203892"/>
            <a:ext cx="4394681" cy="5706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3633" y="3933057"/>
            <a:ext cx="4394681" cy="7316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39886" y="4797153"/>
            <a:ext cx="4427240" cy="10591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32291" y="5960908"/>
            <a:ext cx="4427240" cy="6578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6231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c14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Anti Laws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3460" y="913036"/>
            <a:ext cx="7560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These are </a:t>
            </a:r>
            <a:r>
              <a:rPr lang="en-GB" sz="2000" b="1" dirty="0"/>
              <a:t>NOT LAWS OF LOGS</a:t>
            </a:r>
            <a:r>
              <a:rPr lang="en-GB" sz="2000" dirty="0"/>
              <a:t>, but are mistakes students often make: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04368" y="1984649"/>
                <a:ext cx="4967932" cy="523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func>
                    </m:oMath>
                  </m:oMathPara>
                </a14:m>
                <a:br>
                  <a:rPr lang="en-GB" sz="2800" dirty="0"/>
                </a:br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368" y="1984649"/>
                <a:ext cx="4967932" cy="5232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697068" y="1928302"/>
            <a:ext cx="2589932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/>
              <a:t>There is </a:t>
            </a:r>
            <a:r>
              <a:rPr lang="en-GB" sz="1600" b="1" dirty="0"/>
              <a:t>no method </a:t>
            </a:r>
            <a:r>
              <a:rPr lang="en-GB" sz="1600" dirty="0"/>
              <a:t>to simplify the </a:t>
            </a:r>
            <a:r>
              <a:rPr lang="en-GB" sz="1600" b="1" dirty="0"/>
              <a:t>log of a sum</a:t>
            </a:r>
            <a:r>
              <a:rPr lang="en-GB" sz="1600" dirty="0"/>
              <a:t>, only the sum of two logs!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7073900" y="2159000"/>
            <a:ext cx="609600" cy="10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05868" y="3378076"/>
                <a:ext cx="49679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8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i="1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868" y="3378076"/>
                <a:ext cx="496793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289800" y="3442297"/>
                <a:ext cx="2983632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power must be on the input (here the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), but here the power is around the entire log.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800" y="3442297"/>
                <a:ext cx="2983632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 flipV="1">
            <a:off x="5562600" y="3695700"/>
            <a:ext cx="1714500" cy="162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68334" y="2491846"/>
            <a:ext cx="1673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FF0000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</a:t>
            </a:r>
            <a:r>
              <a:rPr lang="en-GB" sz="40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 FAIL</a:t>
            </a:r>
            <a:endParaRPr lang="en-GB" sz="4000" dirty="0">
              <a:solidFill>
                <a:srgbClr val="FF0000"/>
              </a:solidFill>
              <a:latin typeface="Wingdings" panose="05000000000000000000" pitchFamily="2" charset="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62601" y="4215526"/>
            <a:ext cx="16730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rgbClr val="FF0000"/>
                </a:solidFill>
                <a:latin typeface="Wingdings" panose="05000000000000000000" pitchFamily="2" charset="2"/>
                <a:sym typeface="Wingdings" panose="05000000000000000000" pitchFamily="2" charset="2"/>
              </a:rPr>
              <a:t></a:t>
            </a:r>
            <a:r>
              <a:rPr lang="en-GB" sz="4000" dirty="0">
                <a:solidFill>
                  <a:srgbClr val="FF0000"/>
                </a:solidFill>
                <a:latin typeface="+mj-lt"/>
                <a:sym typeface="Wingdings" panose="05000000000000000000" pitchFamily="2" charset="2"/>
              </a:rPr>
              <a:t> FAIL</a:t>
            </a:r>
            <a:endParaRPr lang="en-GB" sz="4000" dirty="0">
              <a:solidFill>
                <a:srgbClr val="FF0000"/>
              </a:solidFill>
              <a:latin typeface="Wingdings" panose="05000000000000000000" pitchFamily="2" charset="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683501" y="1928302"/>
            <a:ext cx="2589932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7100" y="3442296"/>
            <a:ext cx="2996332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4501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c14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Equations with Logs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7700" y="897093"/>
                <a:ext cx="518641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the equation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700" y="897093"/>
                <a:ext cx="5186412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359696" y="1412777"/>
            <a:ext cx="5904656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is a very common type of exam question.</a:t>
            </a:r>
          </a:p>
          <a:p>
            <a:r>
              <a:rPr lang="en-GB" sz="1600" dirty="0"/>
              <a:t>The strategy is to </a:t>
            </a:r>
            <a:r>
              <a:rPr lang="en-GB" sz="1600" b="1" u="sng" dirty="0"/>
              <a:t>combine the logs into one</a:t>
            </a:r>
            <a:r>
              <a:rPr lang="en-GB" sz="1600" dirty="0"/>
              <a:t> and isolate on one side.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78912" y="2460998"/>
                <a:ext cx="432048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=25</m:t>
                      </m:r>
                    </m:oMath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912" y="2460998"/>
                <a:ext cx="4320480" cy="19389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601009" y="2493849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We’ve used the laws of logs to combine them into one.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605034" y="3139520"/>
                <a:ext cx="331236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Use your favourite method of rearranging. Either do “10 the power of each side” to “undo” the log, or the “insert the 2 between the 10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” method.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034" y="3139520"/>
                <a:ext cx="3312368" cy="954107"/>
              </a:xfrm>
              <a:prstGeom prst="rect">
                <a:avLst/>
              </a:prstGeom>
              <a:blipFill>
                <a:blip r:embed="rId4"/>
                <a:stretch>
                  <a:fillRect l="-552" t="-1274" b="-63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stCxn id="8" idx="1"/>
          </p:cNvCxnSpPr>
          <p:nvPr/>
        </p:nvCxnSpPr>
        <p:spPr>
          <a:xfrm flipH="1">
            <a:off x="5436781" y="2755459"/>
            <a:ext cx="1164228" cy="242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4671237" y="3264196"/>
            <a:ext cx="1884032" cy="34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92627" y="4176798"/>
                <a:ext cx="407564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u="sng" dirty="0"/>
                  <a:t>The subtle bit</a:t>
                </a:r>
                <a:r>
                  <a:rPr lang="en-GB" sz="1400" b="1" dirty="0"/>
                  <a:t>: You must check each value in the original equation</a:t>
                </a:r>
                <a:r>
                  <a:rPr lang="en-GB" sz="1400" dirty="0"/>
                  <a:t>. If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=−5</m:t>
                    </m:r>
                  </m:oMath>
                </a14:m>
                <a:r>
                  <a:rPr lang="en-GB" sz="1400" dirty="0"/>
                  <a:t>, then we’d have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−5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400" dirty="0"/>
                  <a:t> but we’re not allowed to log a negative number.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627" y="4176798"/>
                <a:ext cx="4075643" cy="954107"/>
              </a:xfrm>
              <a:prstGeom prst="rect">
                <a:avLst/>
              </a:prstGeom>
              <a:blipFill>
                <a:blip r:embed="rId5"/>
                <a:stretch>
                  <a:fillRect l="-448" t="-1274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 flipV="1">
            <a:off x="4309730" y="4136066"/>
            <a:ext cx="1782896" cy="396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096321" y="2291930"/>
            <a:ext cx="7817056" cy="3009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033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c14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905" y="1186871"/>
            <a:ext cx="6952292" cy="17380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847528" y="841560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2013 Q6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94671" y="3139502"/>
                <a:ext cx="4968552" cy="3215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+15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=6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+15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=6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+15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+15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+30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+225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−34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+225=0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−25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=25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71" y="3139502"/>
                <a:ext cx="4968552" cy="3215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326868" y="3542071"/>
            <a:ext cx="319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Those who feel confident with their laws could always skip straight to this line.</a:t>
            </a: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5239489" y="3753293"/>
            <a:ext cx="1087378" cy="50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85273" y="5606277"/>
            <a:ext cx="31975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These are both valid solutions when substituted into the original equation.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5430874" y="5883744"/>
            <a:ext cx="754398" cy="144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16790" y="3175239"/>
            <a:ext cx="30709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6790" y="5610219"/>
            <a:ext cx="30709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3881" y="3175240"/>
            <a:ext cx="6794204" cy="22898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3881" y="5606277"/>
            <a:ext cx="6794204" cy="8374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7338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c14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14E (323-324)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B8B33C3-F203-30AB-EA35-642E72FB1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4025"/>
            <a:ext cx="7236296" cy="729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2F9731-8220-C9DD-BEEF-82687E92C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628800"/>
            <a:ext cx="2717800" cy="3365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E3EBE1-CA9C-8F0D-76CB-0CCFDD4AF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96" y="1573636"/>
            <a:ext cx="3289300" cy="13589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EF2FBD-909F-BBD3-EED2-2BFDE54F23BA}"/>
              </a:ext>
            </a:extLst>
          </p:cNvPr>
          <p:cNvSpPr/>
          <p:nvPr/>
        </p:nvSpPr>
        <p:spPr>
          <a:xfrm>
            <a:off x="1869593" y="1567595"/>
            <a:ext cx="3218295" cy="3733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FF4B48-8B53-C908-96D6-E0057F7C8F7A}"/>
              </a:ext>
            </a:extLst>
          </p:cNvPr>
          <p:cNvSpPr/>
          <p:nvPr/>
        </p:nvSpPr>
        <p:spPr>
          <a:xfrm>
            <a:off x="5472872" y="1567595"/>
            <a:ext cx="3218295" cy="37336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1373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14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14E (323-324)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DF2BD31-3D8C-19F0-2035-CB5496F28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852" y="787910"/>
            <a:ext cx="4155029" cy="10854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6EC054-8079-BEEC-48A1-679BBDD06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617" y="2132856"/>
            <a:ext cx="2197100" cy="4432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211364-8B53-CFBA-A748-BF1EE38B4BF8}"/>
                  </a:ext>
                </a:extLst>
              </p:cNvPr>
              <p:cNvSpPr txBox="1"/>
              <p:nvPr/>
            </p:nvSpPr>
            <p:spPr>
              <a:xfrm>
                <a:off x="6383122" y="644383"/>
                <a:ext cx="3364767" cy="1005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Challenge:</a:t>
                </a:r>
              </a:p>
              <a:p>
                <a:r>
                  <a:rPr lang="en-GB" sz="1600" dirty="0"/>
                  <a:t>By Writing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Prove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211364-8B53-CFBA-A748-BF1EE38B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122" y="644383"/>
                <a:ext cx="3364767" cy="1005403"/>
              </a:xfrm>
              <a:prstGeom prst="rect">
                <a:avLst/>
              </a:prstGeom>
              <a:blipFill>
                <a:blip r:embed="rId4"/>
                <a:stretch>
                  <a:fillRect l="-1449" t="-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92BE9C80-28EA-121F-D4FA-40A375C24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50" y="2060848"/>
            <a:ext cx="3022600" cy="18161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41AE0B7-F3FE-DECD-BEFF-FEE275998E37}"/>
              </a:ext>
            </a:extLst>
          </p:cNvPr>
          <p:cNvSpPr/>
          <p:nvPr/>
        </p:nvSpPr>
        <p:spPr>
          <a:xfrm>
            <a:off x="1869594" y="1873378"/>
            <a:ext cx="3218295" cy="47015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1446B9-0965-A945-66F6-2D6B423F9A31}"/>
              </a:ext>
            </a:extLst>
          </p:cNvPr>
          <p:cNvSpPr/>
          <p:nvPr/>
        </p:nvSpPr>
        <p:spPr>
          <a:xfrm>
            <a:off x="6406098" y="1873378"/>
            <a:ext cx="3218295" cy="47015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063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</p:bldLst>
  </p:timing>
</p:sld>
</file>

<file path=ppt/c14/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34353" y="1306853"/>
                <a:ext cx="4337124" cy="5101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[AEA 2010 Q1b] Solve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b="1" dirty="0"/>
                  <a:t>Solution: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𝟒𝟗</m:t>
                        </m:r>
                      </m:num>
                      <m:den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GB" sz="1400" b="1" dirty="0"/>
              </a:p>
              <a:p>
                <a:endParaRPr lang="en-GB" sz="1400" dirty="0"/>
              </a:p>
              <a:p>
                <a:r>
                  <a:rPr lang="en-GB" sz="1400" dirty="0"/>
                  <a:t>[AEA 2008 Q5i] Anna, who is confused about the rules of logarithms, states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)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However, there is a value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400" dirty="0"/>
                  <a:t> and a value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400" dirty="0"/>
                  <a:t> for which both statements are correct. Find their values.</a:t>
                </a:r>
              </a:p>
              <a:p>
                <a:r>
                  <a:rPr lang="en-GB" sz="1400" b="1" dirty="0"/>
                  <a:t>First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GB" sz="14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func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func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   ⇒  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Second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d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𝒑𝒒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  ⇒ 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num>
                        <m:den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</a:rPr>
                        <m:t>  ∴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r>
                        <a:rPr lang="en-GB" sz="1400" b="1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GB" sz="1400" b="1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353" y="1306853"/>
                <a:ext cx="4337124" cy="5101589"/>
              </a:xfrm>
              <a:prstGeom prst="rect">
                <a:avLst/>
              </a:prstGeom>
              <a:blipFill>
                <a:blip r:embed="rId2"/>
                <a:stretch>
                  <a:fillRect l="-422" t="-1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496766" y="797542"/>
                <a:ext cx="3919715" cy="2469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400" dirty="0"/>
                  <a:t>[MAT 2007 1I] Given that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400" dirty="0"/>
                  <a:t> are positive 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140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what is the greatest possible value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 dirty="0"/>
                  <a:t>?</a:t>
                </a:r>
              </a:p>
              <a:p>
                <a:endParaRPr lang="en-GB" sz="1400" dirty="0"/>
              </a:p>
              <a:p>
                <a:r>
                  <a:rPr lang="en-GB" sz="1400" b="1" dirty="0"/>
                  <a:t>To make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400" b="1" dirty="0"/>
                  <a:t> as large as possible we make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sz="1400" b="1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1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1"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e>
                                  <m:sub>
                                    <m:r>
                                      <a:rPr lang="en-GB" sz="1400" b="1" i="1"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GB" sz="14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1400" b="1" dirty="0"/>
                  <a:t> as small as possible. Anything squared is at least 0: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sz="1400" b="1" dirty="0"/>
                  <a:t> will achieve this.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GB" sz="1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400" b="1">
                                          <a:latin typeface="Cambria Math" panose="02040503050406030204" pitchFamily="18" charset="0"/>
                                        </a:rPr>
                                        <m:t>𝐥𝐨𝐠</m:t>
                                      </m:r>
                                    </m:e>
                                    <m:sub>
                                      <m:r>
                                        <a:rPr lang="en-GB" sz="1400" b="1" i="1">
                                          <a:latin typeface="Cambria Math" panose="02040503050406030204" pitchFamily="18" charset="0"/>
                                        </a:rPr>
                                        <m:t>𝟏𝟎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1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1400" b="1" i="1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func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=±</m:t>
                      </m:r>
                      <m:f>
                        <m:f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400" b="1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b="1" i="1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766" y="797542"/>
                <a:ext cx="3919715" cy="2469650"/>
              </a:xfrm>
              <a:prstGeom prst="rect">
                <a:avLst/>
              </a:prstGeom>
              <a:blipFill>
                <a:blip r:embed="rId3"/>
                <a:stretch>
                  <a:fillRect l="-467" t="-4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083300" y="3238745"/>
                <a:ext cx="4572000" cy="35686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/>
                <a:r>
                  <a:rPr lang="en-GB" sz="1400" dirty="0">
                    <a:solidFill>
                      <a:prstClr val="black"/>
                    </a:solidFill>
                  </a:rPr>
                  <a:t>[MAT 2002 1F] Observe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. From these facts, we can deduce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func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is:</a:t>
                </a:r>
              </a:p>
              <a:p>
                <a:pPr marL="342900" indent="-342900">
                  <a:buFontTx/>
                  <a:buAutoNum type="alphaUcParenR"/>
                </a:pPr>
                <a:r>
                  <a:rPr lang="en-GB" sz="1400" dirty="0">
                    <a:solidFill>
                      <a:prstClr val="black"/>
                    </a:solidFill>
                  </a:rPr>
                  <a:t>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1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Tx/>
                  <a:buAutoNum type="alphaUcParenR"/>
                </a:pPr>
                <a:r>
                  <a:rPr lang="en-GB" sz="1400" dirty="0">
                    <a:solidFill>
                      <a:prstClr val="black"/>
                    </a:solidFill>
                  </a:rPr>
                  <a:t>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GB" sz="1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Tx/>
                  <a:buAutoNum type="alphaUcParenR"/>
                </a:pPr>
                <a:r>
                  <a:rPr lang="en-GB" sz="1400" dirty="0">
                    <a:solidFill>
                      <a:prstClr val="black"/>
                    </a:solidFill>
                  </a:rPr>
                  <a:t>between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4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sz="1400" dirty="0">
                  <a:solidFill>
                    <a:prstClr val="black"/>
                  </a:solidFill>
                </a:endParaRPr>
              </a:p>
              <a:p>
                <a:pPr marL="342900" indent="-342900">
                  <a:buFontTx/>
                  <a:buAutoNum type="alphaUcParenR"/>
                </a:pPr>
                <a:r>
                  <a:rPr lang="en-GB" sz="1400" dirty="0">
                    <a:solidFill>
                      <a:prstClr val="black"/>
                    </a:solidFill>
                  </a:rPr>
                  <a:t>none of the above</a:t>
                </a:r>
              </a:p>
              <a:p>
                <a:pPr lvl="0"/>
                <a:r>
                  <a:rPr lang="en-GB" sz="1400" b="1" dirty="0">
                    <a:solidFill>
                      <a:prstClr val="black"/>
                    </a:solidFill>
                  </a:rPr>
                  <a:t>Suppose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r>
                              <a:rPr lang="en-GB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func>
                    <m:r>
                      <a:rPr lang="en-GB" sz="1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sz="1400" b="1" dirty="0">
                    <a:solidFill>
                      <a:prstClr val="black"/>
                    </a:solidFill>
                  </a:rPr>
                  <a:t>. Taking 2 to the power of each side: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→   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→   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GB" sz="1400" b="1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en-GB" sz="1400" b="1" dirty="0">
                    <a:solidFill>
                      <a:prstClr val="black"/>
                    </a:solidFill>
                  </a:rPr>
                  <a:t>This is true, so answer is not (A).</a:t>
                </a:r>
              </a:p>
              <a:p>
                <a:pPr lvl="0"/>
                <a:r>
                  <a:rPr lang="en-GB" sz="1400" b="1" dirty="0">
                    <a:solidFill>
                      <a:prstClr val="black"/>
                    </a:solidFill>
                  </a:rPr>
                  <a:t>Next try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4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e>
                          <m:sub>
                            <m:r>
                              <a:rPr lang="en-GB" sz="1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func>
                    <m:r>
                      <a:rPr lang="en-GB" sz="1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GB" sz="1400" b="1" dirty="0">
                  <a:solidFill>
                    <a:prstClr val="black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>
                            <m:fPr>
                              <m:ctrlP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sz="1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→   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→  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en-GB" sz="1400" b="1" dirty="0">
                  <a:solidFill>
                    <a:prstClr val="black"/>
                  </a:solidFill>
                </a:endParaRPr>
              </a:p>
              <a:p>
                <a:pPr lvl="0"/>
                <a:r>
                  <a:rPr lang="en-GB" sz="1400" b="1" dirty="0">
                    <a:solidFill>
                      <a:prstClr val="black"/>
                    </a:solidFill>
                  </a:rPr>
                  <a:t>This is not true, so answer is (B).</a:t>
                </a:r>
                <a:endParaRPr lang="en-GB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300" y="3238745"/>
                <a:ext cx="4572000" cy="3568669"/>
              </a:xfrm>
              <a:prstGeom prst="rect">
                <a:avLst/>
              </a:prstGeom>
              <a:blipFill>
                <a:blip r:embed="rId4"/>
                <a:stretch>
                  <a:fillRect l="-533" b="-8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597241" y="1384655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97241" y="2443334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51" y="827231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31780" y="3302891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9302" y="1991220"/>
            <a:ext cx="1363919" cy="337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8714" y="3805035"/>
            <a:ext cx="3668606" cy="23970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70375" y="1609340"/>
            <a:ext cx="3742025" cy="15656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8658" y="4868670"/>
            <a:ext cx="4272643" cy="19004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F94BB-6C78-D5B8-7030-36020FAA56D4}"/>
              </a:ext>
            </a:extLst>
          </p:cNvPr>
          <p:cNvSpPr txBox="1"/>
          <p:nvPr/>
        </p:nvSpPr>
        <p:spPr>
          <a:xfrm>
            <a:off x="1738950" y="731122"/>
            <a:ext cx="404397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These are all strictly </a:t>
            </a:r>
            <a:r>
              <a:rPr lang="en-GB" b="1" dirty="0"/>
              <a:t>non-calculator</a:t>
            </a:r>
            <a:r>
              <a:rPr lang="en-GB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2717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c14/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equations with exponential terms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2800" y="922493"/>
                <a:ext cx="245010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800" y="922493"/>
                <a:ext cx="2450108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79576" y="1556793"/>
                <a:ext cx="46805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Applying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to each side of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=2.727  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1556793"/>
                <a:ext cx="4680520" cy="646331"/>
              </a:xfrm>
              <a:prstGeom prst="rect">
                <a:avLst/>
              </a:prstGeom>
              <a:blipFill>
                <a:blip r:embed="rId3"/>
                <a:stretch>
                  <a:fillRect l="-1172" t="-4717" b="-7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32484" y="3022104"/>
                <a:ext cx="245010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=61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84" y="3022104"/>
                <a:ext cx="2450108" cy="400110"/>
              </a:xfrm>
              <a:prstGeom prst="rect">
                <a:avLst/>
              </a:prstGeom>
              <a:blipFill>
                <a:blip r:embed="rId4"/>
                <a:stretch>
                  <a:fillRect b="-674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330376" y="3731369"/>
                <a:ext cx="4680520" cy="1170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Applying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dirty="0"/>
                  <a:t> to each side of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−1=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61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=0.889 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376" y="3731369"/>
                <a:ext cx="4680520" cy="1170513"/>
              </a:xfrm>
              <a:prstGeom prst="rect">
                <a:avLst/>
              </a:prstGeom>
              <a:blipFill>
                <a:blip r:embed="rId5"/>
                <a:stretch>
                  <a:fillRect l="-1042" t="-26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011020" y="1628801"/>
            <a:ext cx="288032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This is often said “Taking logs of both sides…”</a:t>
            </a:r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 flipV="1">
            <a:off x="6489700" y="1803400"/>
            <a:ext cx="521320" cy="148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082800" y="1308518"/>
            <a:ext cx="7808540" cy="14044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32484" y="3422214"/>
            <a:ext cx="7808540" cy="16704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2593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c14/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equations with exponential terms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22500" y="935193"/>
                <a:ext cx="245010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935193"/>
                <a:ext cx="2450108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03400" y="1518693"/>
                <a:ext cx="8698036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Why can we not apply quite the same strategy here?</a:t>
                </a:r>
              </a:p>
              <a:p>
                <a:r>
                  <a:rPr lang="en-GB" b="1" dirty="0"/>
                  <a:t>Because the exponential terms don’t have the same base, so we can’t apply the same log.</a:t>
                </a:r>
                <a:br>
                  <a:rPr lang="en-GB" b="1" dirty="0"/>
                </a:br>
                <a:endParaRPr lang="en-GB" sz="1000" b="1" dirty="0"/>
              </a:p>
              <a:p>
                <a:r>
                  <a:rPr lang="en-GB" dirty="0"/>
                  <a:t>We ‘take logs of’/apply log to both sides, but </a:t>
                </a:r>
                <a:r>
                  <a:rPr lang="en-GB" b="1" dirty="0"/>
                  <a:t>we need not specify a base</a:t>
                </a:r>
                <a:r>
                  <a:rPr lang="en-GB" dirty="0"/>
                  <a:t>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dirty="0"/>
                  <a:t> on its own may either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GB" dirty="0"/>
                  <a:t> (as per your calculator)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GB" dirty="0"/>
                  <a:t> (in academic circles, as well as on sites like </a:t>
                </a:r>
                <a:r>
                  <a:rPr lang="en-GB" dirty="0" err="1"/>
                  <a:t>WolframAlpha</a:t>
                </a:r>
                <a:r>
                  <a:rPr lang="en-GB" dirty="0"/>
                  <a:t>), but the point is, </a:t>
                </a:r>
                <a:r>
                  <a:rPr lang="en-GB" b="1" dirty="0"/>
                  <a:t>the base does not matter, provided that the base is consistent on both sides</a:t>
                </a:r>
                <a:r>
                  <a:rPr lang="en-GB" dirty="0"/>
                  <a:t>.</a:t>
                </a:r>
              </a:p>
              <a:p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400" y="1518693"/>
                <a:ext cx="8698036" cy="2215991"/>
              </a:xfrm>
              <a:prstGeom prst="rect">
                <a:avLst/>
              </a:prstGeom>
              <a:blipFill>
                <a:blip r:embed="rId3"/>
                <a:stretch>
                  <a:fillRect l="-631" t="-1374" r="-1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22476" y="3814565"/>
                <a:ext cx="2808312" cy="2328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=1.7095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476" y="3814565"/>
                <a:ext cx="2808312" cy="23289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312024" y="3734683"/>
            <a:ext cx="3960440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Logs in general are great for solving equations when the variable is in the power, because laws of logs allow us to move the power down.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5511800" y="4104016"/>
            <a:ext cx="800224" cy="99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06108" y="4669691"/>
                <a:ext cx="3960440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then becomes a GCSE-style ‘changing the subject’ type question. Just isolate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on one side and factorise out.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108" y="4669691"/>
                <a:ext cx="3960440" cy="738664"/>
              </a:xfrm>
              <a:prstGeom prst="rect">
                <a:avLst/>
              </a:prstGeom>
              <a:blipFill>
                <a:blip r:embed="rId5"/>
                <a:stretch>
                  <a:fillRect l="-153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 flipV="1">
            <a:off x="5524500" y="4597401"/>
            <a:ext cx="787524" cy="435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41500" y="1880018"/>
            <a:ext cx="8699500" cy="14981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0292" y="5659316"/>
            <a:ext cx="4191608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It doesn’t matter what base you use to get the final answer as a decimal, provided that it’s consistent. You may as well use the calculator’s ‘log’ (no base) key.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5067300" y="5537200"/>
            <a:ext cx="904106" cy="557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841500" y="3502998"/>
            <a:ext cx="8699500" cy="31663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 Solution</a:t>
            </a:r>
          </a:p>
        </p:txBody>
      </p:sp>
    </p:spTree>
    <p:extLst>
      <p:ext uri="{BB962C8B-B14F-4D97-AF65-F5344CB8AC3E}">
        <p14:creationId xmlns:p14="http://schemas.microsoft.com/office/powerpoint/2010/main" val="319946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c14/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22500" y="935194"/>
                <a:ext cx="3454400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2400" dirty="0"/>
                  <a:t>, giving your answer to 3dp.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0" y="935194"/>
                <a:ext cx="3454400" cy="830997"/>
              </a:xfrm>
              <a:prstGeom prst="rect">
                <a:avLst/>
              </a:prstGeom>
              <a:blipFill>
                <a:blip r:embed="rId2"/>
                <a:stretch>
                  <a:fillRect b="-559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27316" y="938270"/>
                <a:ext cx="3888432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2400" dirty="0"/>
                  <a:t>, giving your answer in exact form.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316" y="938270"/>
                <a:ext cx="3888432" cy="830997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14352" y="2119908"/>
                <a:ext cx="3168352" cy="893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−1=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=1.232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4352" y="2119908"/>
                <a:ext cx="3168352" cy="893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33976" y="2052465"/>
                <a:ext cx="4051424" cy="2903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which could be simplified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976" y="2052465"/>
                <a:ext cx="4051424" cy="2903487"/>
              </a:xfrm>
              <a:prstGeom prst="rect">
                <a:avLst/>
              </a:prstGeom>
              <a:blipFill>
                <a:blip r:embed="rId5"/>
                <a:stretch>
                  <a:fillRect l="-12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222500" y="1775221"/>
            <a:ext cx="3454400" cy="30939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3184" y="1732778"/>
            <a:ext cx="3922564" cy="31363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167260" y="5010648"/>
                <a:ext cx="782259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400" dirty="0"/>
                  <a:t>, giving your answer to 3dp.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60" y="5010648"/>
                <a:ext cx="7822592" cy="461665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167260" y="5589241"/>
                <a:ext cx="35096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60" y="5589241"/>
                <a:ext cx="3509640" cy="1200329"/>
              </a:xfrm>
              <a:prstGeom prst="rect">
                <a:avLst/>
              </a:prstGeom>
              <a:blipFill>
                <a:blip r:embed="rId7"/>
                <a:stretch>
                  <a:fillRect b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80212" y="5615909"/>
                <a:ext cx="3509640" cy="943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=8.638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212" y="5615909"/>
                <a:ext cx="3509640" cy="9439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5571790" y="5877272"/>
            <a:ext cx="90842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167260" y="5472312"/>
            <a:ext cx="7822592" cy="12885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4224" y="943894"/>
            <a:ext cx="266824" cy="3335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41740" y="956469"/>
            <a:ext cx="266824" cy="3335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17676" y="5010648"/>
            <a:ext cx="266824" cy="3335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081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</p:bldLst>
  </p:timing>
</p:sld>
</file>

<file path=ppt/c14/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14F – Y1 Page 325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01682" y="2621408"/>
                <a:ext cx="4019624" cy="4171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>
                    <a:solidFill>
                      <a:srgbClr val="FF0000"/>
                    </a:solidFill>
                  </a:rPr>
                  <a:t>EXTENSION</a:t>
                </a:r>
                <a:r>
                  <a:rPr lang="en-GB" sz="1600" dirty="0"/>
                  <a:t> [MAT 2011 1H] How many </a:t>
                </a:r>
                <a:r>
                  <a:rPr lang="en-GB" sz="1600" i="1" dirty="0"/>
                  <a:t>positive</a:t>
                </a:r>
                <a:r>
                  <a:rPr lang="en-GB" sz="1600" dirty="0"/>
                  <a:t> values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which satisfy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sup>
                      </m:sSup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sub>
                          </m:sSub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0.25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endParaRPr lang="en-GB" sz="16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func>
                            <m:func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600" b="1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func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This has 2 positive solutions.</a:t>
                </a:r>
              </a:p>
              <a:p>
                <a:endParaRPr lang="en-GB" sz="1400" dirty="0"/>
              </a:p>
              <a:p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682" y="2621408"/>
                <a:ext cx="4019624" cy="4171783"/>
              </a:xfrm>
              <a:prstGeom prst="rect">
                <a:avLst/>
              </a:prstGeom>
              <a:blipFill>
                <a:blip r:embed="rId2"/>
                <a:stretch>
                  <a:fillRect l="-910" t="-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6350162" y="2745630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4797" y="3789040"/>
            <a:ext cx="3933395" cy="24555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A8BCAC-6BD1-75A0-2718-9E750CD2975E}"/>
              </a:ext>
            </a:extLst>
          </p:cNvPr>
          <p:cNvGrpSpPr/>
          <p:nvPr/>
        </p:nvGrpSpPr>
        <p:grpSpPr>
          <a:xfrm>
            <a:off x="1703512" y="618321"/>
            <a:ext cx="7920880" cy="984982"/>
            <a:chOff x="179512" y="618321"/>
            <a:chExt cx="7920880" cy="9849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FCAF9EC-FB67-10B2-2858-03D60313E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618321"/>
              <a:ext cx="7772400" cy="86075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CC9CAB-B819-0D7A-A0F0-D3B9A5468733}"/>
                </a:ext>
              </a:extLst>
            </p:cNvPr>
            <p:cNvSpPr/>
            <p:nvPr/>
          </p:nvSpPr>
          <p:spPr>
            <a:xfrm>
              <a:off x="7236296" y="908720"/>
              <a:ext cx="864096" cy="6945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F44B7B2-6F17-6556-B23E-0FC3E9A85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701" y="2619085"/>
            <a:ext cx="4202038" cy="790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45C671-CB10-25D8-4FCC-70F26DD53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732" y="1141749"/>
            <a:ext cx="2476500" cy="1257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B9BE8D-015D-39ED-CF6A-E883E62C5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464" y="1172519"/>
            <a:ext cx="1498600" cy="9525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4268865-61EE-E3A9-6425-24C6AC447298}"/>
              </a:ext>
            </a:extLst>
          </p:cNvPr>
          <p:cNvSpPr/>
          <p:nvPr/>
        </p:nvSpPr>
        <p:spPr>
          <a:xfrm>
            <a:off x="4081112" y="1121126"/>
            <a:ext cx="2566121" cy="12779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C2F07F-E601-B8A8-1475-FF447C3B2F6D}"/>
              </a:ext>
            </a:extLst>
          </p:cNvPr>
          <p:cNvSpPr/>
          <p:nvPr/>
        </p:nvSpPr>
        <p:spPr>
          <a:xfrm>
            <a:off x="6816081" y="1121125"/>
            <a:ext cx="2566121" cy="12779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C02A16-C139-24F0-B8E9-8029D8ABCF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3512" y="3789040"/>
            <a:ext cx="1839262" cy="18064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8C39D52-3200-33BE-5453-EC54CF5AD2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9720" y="3846385"/>
            <a:ext cx="2200546" cy="178452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DA8410D-A065-48D7-742D-93D722ABCFC6}"/>
              </a:ext>
            </a:extLst>
          </p:cNvPr>
          <p:cNvSpPr/>
          <p:nvPr/>
        </p:nvSpPr>
        <p:spPr>
          <a:xfrm>
            <a:off x="1631504" y="3789040"/>
            <a:ext cx="1956544" cy="2450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868AD4-A4D1-85A3-FEA9-6A98A075F297}"/>
              </a:ext>
            </a:extLst>
          </p:cNvPr>
          <p:cNvSpPr/>
          <p:nvPr/>
        </p:nvSpPr>
        <p:spPr>
          <a:xfrm>
            <a:off x="3674278" y="3789040"/>
            <a:ext cx="2175989" cy="24506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10184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1" grpId="0" animBg="1"/>
      <p:bldP spid="18" grpId="0" animBg="1"/>
      <p:bldP spid="19" grpId="0" animBg="1"/>
      <p:bldP spid="23" grpId="0" animBg="1"/>
      <p:bldP spid="24" grpId="0" animBg="1"/>
    </p:bldLst>
  </p:timing>
</p:sld>
</file>

<file path=ppt/c14/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Very Challenging Extension!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10619" y="1073697"/>
                <a:ext cx="3281835" cy="2937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2013 1J] For a real number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we denote by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dirty="0"/>
                  <a:t> the largest integer less than or equal to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 Let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 be a natural number. The integral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equals:</a:t>
                </a:r>
              </a:p>
              <a:p>
                <a:pPr marL="342900" indent="-342900">
                  <a:buAutoNum type="alphaUcParenBoth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UcParenBoth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pPr marL="342900" indent="-342900">
                  <a:buAutoNum type="alphaUcParenBoth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sz="1600" dirty="0"/>
              </a:p>
              <a:p>
                <a:pPr marL="342900" indent="-342900">
                  <a:buAutoNum type="alphaUcParenBoth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19" y="1073697"/>
                <a:ext cx="3281835" cy="2937151"/>
              </a:xfrm>
              <a:prstGeom prst="rect">
                <a:avLst/>
              </a:prstGeom>
              <a:blipFill>
                <a:blip r:embed="rId2"/>
                <a:stretch>
                  <a:fillRect l="-1115" t="-622" b="-1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6013450" y="952501"/>
            <a:ext cx="3282" cy="2703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016732" y="3655658"/>
            <a:ext cx="32476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168659" y="3479743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659" y="3479743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75308" y="598786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308" y="598786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/>
          <p:cNvSpPr/>
          <p:nvPr/>
        </p:nvSpPr>
        <p:spPr>
          <a:xfrm>
            <a:off x="6021572" y="925033"/>
            <a:ext cx="2711303" cy="2222204"/>
          </a:xfrm>
          <a:custGeom>
            <a:avLst/>
            <a:gdLst>
              <a:gd name="connsiteX0" fmla="*/ 0 w 2934586"/>
              <a:gd name="connsiteY0" fmla="*/ 2009553 h 2009553"/>
              <a:gd name="connsiteX1" fmla="*/ 2934586 w 2934586"/>
              <a:gd name="connsiteY1" fmla="*/ 0 h 2009553"/>
              <a:gd name="connsiteX0" fmla="*/ 0 w 2934586"/>
              <a:gd name="connsiteY0" fmla="*/ 2009553 h 2009553"/>
              <a:gd name="connsiteX1" fmla="*/ 2934586 w 2934586"/>
              <a:gd name="connsiteY1" fmla="*/ 0 h 2009553"/>
              <a:gd name="connsiteX0" fmla="*/ 0 w 2934586"/>
              <a:gd name="connsiteY0" fmla="*/ 2009553 h 2009553"/>
              <a:gd name="connsiteX1" fmla="*/ 2934586 w 2934586"/>
              <a:gd name="connsiteY1" fmla="*/ 0 h 2009553"/>
              <a:gd name="connsiteX0" fmla="*/ 0 w 2711303"/>
              <a:gd name="connsiteY0" fmla="*/ 2222204 h 2222204"/>
              <a:gd name="connsiteX1" fmla="*/ 2711303 w 2711303"/>
              <a:gd name="connsiteY1" fmla="*/ 0 h 2222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11303" h="2222204">
                <a:moveTo>
                  <a:pt x="0" y="2222204"/>
                </a:moveTo>
                <a:cubicBezTo>
                  <a:pt x="2105246" y="1265274"/>
                  <a:pt x="2137145" y="850604"/>
                  <a:pt x="2711303" y="0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523960" y="797442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960" y="797442"/>
                <a:ext cx="151216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658321" y="2963437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2963437"/>
                <a:ext cx="4613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658321" y="2686005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2686005"/>
                <a:ext cx="46136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58321" y="2400688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2400688"/>
                <a:ext cx="46136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658321" y="2098253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2098253"/>
                <a:ext cx="46136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658321" y="1811891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321" y="1811891"/>
                <a:ext cx="46136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626709" y="1050501"/>
                <a:ext cx="461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709" y="1050501"/>
                <a:ext cx="46136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668910" y="3621813"/>
                <a:ext cx="4613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910" y="3621813"/>
                <a:ext cx="461364" cy="307777"/>
              </a:xfrm>
              <a:prstGeom prst="rect">
                <a:avLst/>
              </a:prstGeom>
              <a:blipFill>
                <a:blip r:embed="rId12"/>
                <a:stretch>
                  <a:fillRect r="-28947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6014910" y="2875433"/>
            <a:ext cx="571628" cy="5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014911" y="2600421"/>
            <a:ext cx="1057403" cy="14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011560" y="2290346"/>
            <a:ext cx="1546528" cy="14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011561" y="2004732"/>
            <a:ext cx="1918003" cy="9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6577013" y="2881315"/>
            <a:ext cx="4762" cy="781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7067551" y="2628901"/>
            <a:ext cx="4762" cy="1022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7573928" y="2314576"/>
            <a:ext cx="7973" cy="1327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7931150" y="2017712"/>
            <a:ext cx="15914" cy="16208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8548030" y="1219200"/>
            <a:ext cx="16850" cy="2461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027420" y="1188720"/>
            <a:ext cx="2537460" cy="15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232993" y="3747601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993" y="3747601"/>
                <a:ext cx="617387" cy="307777"/>
              </a:xfrm>
              <a:prstGeom prst="rect">
                <a:avLst/>
              </a:prstGeom>
              <a:blipFill>
                <a:blip r:embed="rId1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773125" y="3618220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125" y="3618220"/>
                <a:ext cx="617387" cy="307777"/>
              </a:xfrm>
              <a:prstGeom prst="rect">
                <a:avLst/>
              </a:prstGeom>
              <a:blipFill>
                <a:blip r:embed="rId1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249395" y="3768081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395" y="3768081"/>
                <a:ext cx="617387" cy="307777"/>
              </a:xfrm>
              <a:prstGeom prst="rect">
                <a:avLst/>
              </a:prstGeom>
              <a:blipFill>
                <a:blip r:embed="rId1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624201" y="3614192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01" y="3614192"/>
                <a:ext cx="617387" cy="307777"/>
              </a:xfrm>
              <a:prstGeom prst="rect">
                <a:avLst/>
              </a:prstGeom>
              <a:blipFill>
                <a:blip r:embed="rId1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8206947" y="3618109"/>
                <a:ext cx="6173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947" y="3618109"/>
                <a:ext cx="617387" cy="307777"/>
              </a:xfrm>
              <a:prstGeom prst="rect">
                <a:avLst/>
              </a:prstGeom>
              <a:blipFill>
                <a:blip r:embed="rId17"/>
                <a:stretch>
                  <a:fillRect r="-5882"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6018086" y="3148104"/>
            <a:ext cx="566865" cy="149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6578600" y="2876551"/>
            <a:ext cx="0" cy="2730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 flipV="1">
            <a:off x="6578602" y="2876552"/>
            <a:ext cx="501649" cy="126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7073901" y="2605323"/>
            <a:ext cx="0" cy="2730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 flipV="1">
            <a:off x="7073900" y="2616202"/>
            <a:ext cx="501650" cy="126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7569201" y="2292351"/>
            <a:ext cx="1" cy="33655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7569200" y="2298700"/>
            <a:ext cx="37465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 flipV="1">
            <a:off x="7940040" y="2019301"/>
            <a:ext cx="7620" cy="266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 flipV="1">
            <a:off x="8564880" y="1203487"/>
            <a:ext cx="7620" cy="2667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8404860" y="1455421"/>
            <a:ext cx="175260" cy="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412480" y="1463040"/>
            <a:ext cx="0" cy="1219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H="1" flipV="1">
            <a:off x="7940042" y="2011680"/>
            <a:ext cx="137159" cy="76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1853444" y="4153105"/>
                <a:ext cx="8299813" cy="264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This biggest challenge is sketching the graph! Because of the rounding down, the graph jumps up 1 at a time, giving a bunch of rectangles. We can use logs to find the corresponding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values at which these jumps occur, which progressively become closer and closer together. The last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600" dirty="0"/>
                  <a:t>, thus the last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1400" b="1" dirty="0"/>
              </a:p>
              <a:p>
                <a:r>
                  <a:rPr lang="en-GB" sz="1400" b="1" dirty="0"/>
                  <a:t>The area, using the rectangles, is thus: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func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 2</m:t>
                          </m:r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+2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+3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−3</m:t>
                          </m:r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+…+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func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func>
                            <m:func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−1) </m:t>
                              </m:r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−…−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  <m:r>
                        <a:rPr lang="en-GB" sz="1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=−(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2×3×4×…×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sz="1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444" y="4153105"/>
                <a:ext cx="8299813" cy="2640723"/>
              </a:xfrm>
              <a:prstGeom prst="rect">
                <a:avLst/>
              </a:prstGeom>
              <a:blipFill>
                <a:blip r:embed="rId18"/>
                <a:stretch>
                  <a:fillRect l="-367" t="-693" r="-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05CD6D0-ACC2-B76D-3DA4-F071BD822EC1}"/>
              </a:ext>
            </a:extLst>
          </p:cNvPr>
          <p:cNvSpPr/>
          <p:nvPr/>
        </p:nvSpPr>
        <p:spPr>
          <a:xfrm>
            <a:off x="1690825" y="1160374"/>
            <a:ext cx="251520" cy="2791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E2098-97B2-104E-2027-1E13A5D8641A}"/>
              </a:ext>
            </a:extLst>
          </p:cNvPr>
          <p:cNvSpPr/>
          <p:nvPr/>
        </p:nvSpPr>
        <p:spPr>
          <a:xfrm>
            <a:off x="1801845" y="4182968"/>
            <a:ext cx="8351412" cy="26056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solution?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C7123-0518-D582-3001-BB63404D0BFF}"/>
              </a:ext>
            </a:extLst>
          </p:cNvPr>
          <p:cNvSpPr/>
          <p:nvPr/>
        </p:nvSpPr>
        <p:spPr>
          <a:xfrm>
            <a:off x="5658322" y="692801"/>
            <a:ext cx="4494935" cy="33625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graph?</a:t>
            </a:r>
          </a:p>
        </p:txBody>
      </p:sp>
    </p:spTree>
    <p:extLst>
      <p:ext uri="{BB962C8B-B14F-4D97-AF65-F5344CB8AC3E}">
        <p14:creationId xmlns:p14="http://schemas.microsoft.com/office/powerpoint/2010/main" val="385120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</p:bldLst>
  </p:timing>
</p:sld>
</file>

<file path=ppt/c14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