
<file path=[Content_Types].xml><?xml version="1.0" encoding="utf-8"?>
<ns0:Types xmlns:ns0="http://schemas.openxmlformats.org/package/2006/content-types">
  <ns0:Default Extension="bin" ContentType="application/vnd.openxmlformats-officedocument.oleObject"/>
  <ns0:Default Extension="png" ContentType="image/png"/>
  <ns0:Default Extension="rels" ContentType="application/vnd.openxmlformats-package.relationships+xml"/>
  <ns0:Default Extension="xml" ContentType="application/xml"/>
  <ns0:Override PartName="/ppt/c9/ppt/slideMasters/slideMaster1.xml" ContentType="application/vnd.openxmlformats-officedocument.presentationml.slideMaster+xml"/>
  <ns0:Override PartName="/ppt/c9/ppt/slides/slide4.xml" ContentType="application/vnd.openxmlformats-officedocument.presentationml.slide+xml"/>
  <ns0:Override PartName="/ppt/c9/ppt/slides/slide5.xml" ContentType="application/vnd.openxmlformats-officedocument.presentationml.slide+xml"/>
  <ns0:Override PartName="/ppt/c9/ppt/slides/slide6.xml" ContentType="application/vnd.openxmlformats-officedocument.presentationml.slide+xml"/>
  <ns0:Override PartName="/ppt/c9/ppt/slides/slide7.xml" ContentType="application/vnd.openxmlformats-officedocument.presentationml.slide+xml"/>
  <ns0:Override PartName="/ppt/c9/ppt/slides/slide8.xml" ContentType="application/vnd.openxmlformats-officedocument.presentationml.slide+xml"/>
  <ns0:Override PartName="/ppt/c9/ppt/slides/slide9.xml" ContentType="application/vnd.openxmlformats-officedocument.presentationml.slide+xml"/>
  <ns0:Override PartName="/ppt/c9/ppt/slides/slide10.xml" ContentType="application/vnd.openxmlformats-officedocument.presentationml.slide+xml"/>
  <ns0:Override PartName="/ppt/c9/ppt/slides/slide11.xml" ContentType="application/vnd.openxmlformats-officedocument.presentationml.slide+xml"/>
  <ns0:Override PartName="/ppt/c9/ppt/slides/slide12.xml" ContentType="application/vnd.openxmlformats-officedocument.presentationml.slide+xml"/>
  <ns0:Override PartName="/ppt/c9/ppt/slides/slide13.xml" ContentType="application/vnd.openxmlformats-officedocument.presentationml.slide+xml"/>
  <ns0:Override PartName="/ppt/c9/ppt/slides/slide14.xml" ContentType="application/vnd.openxmlformats-officedocument.presentationml.slide+xml"/>
  <ns0:Override PartName="/ppt/c9/ppt/slides/slide16.xml" ContentType="application/vnd.openxmlformats-officedocument.presentationml.slide+xml"/>
  <ns0:Override PartName="/ppt/c9/ppt/slides/slide17.xml" ContentType="application/vnd.openxmlformats-officedocument.presentationml.slide+xml"/>
  <ns0:Override PartName="/ppt/c9/ppt/slides/slide18.xml" ContentType="application/vnd.openxmlformats-officedocument.presentationml.slide+xml"/>
  <ns0:Override PartName="/ppt/c9/ppt/slides/slide19.xml" ContentType="application/vnd.openxmlformats-officedocument.presentationml.slide+xml"/>
  <ns0:Override PartName="/ppt/c9/ppt/slides/slide20.xml" ContentType="application/vnd.openxmlformats-officedocument.presentationml.slide+xml"/>
  <ns0:Override PartName="/ppt/c9/ppt/slides/slide21.xml" ContentType="application/vnd.openxmlformats-officedocument.presentationml.slide+xml"/>
  <ns0:Override PartName="/ppt/c9/ppt/slides/slide23.xml" ContentType="application/vnd.openxmlformats-officedocument.presentationml.slide+xml"/>
  <ns0:Override PartName="/ppt/c9/ppt/slides/slide24.xml" ContentType="application/vnd.openxmlformats-officedocument.presentationml.slide+xml"/>
  <ns0:Override PartName="/ppt/c9/ppt/slides/slide25.xml" ContentType="application/vnd.openxmlformats-officedocument.presentationml.slide+xml"/>
  <ns0:Override PartName="/ppt/c9/ppt/slides/slide26.xml" ContentType="application/vnd.openxmlformats-officedocument.presentationml.slide+xml"/>
  <ns0:Override PartName="/ppt/c9/ppt/slides/slide27.xml" ContentType="application/vnd.openxmlformats-officedocument.presentationml.slide+xml"/>
  <ns0:Override PartName="/ppt/c9/ppt/slides/slide28.xml" ContentType="application/vnd.openxmlformats-officedocument.presentationml.slide+xml"/>
  <ns0:Override PartName="/ppt/c9/ppt/slides/slide29.xml" ContentType="application/vnd.openxmlformats-officedocument.presentationml.slide+xml"/>
  <ns0:Override PartName="/ppt/c9/ppt/slides/slide30.xml" ContentType="application/vnd.openxmlformats-officedocument.presentationml.slide+xml"/>
  <ns0:Override PartName="/ppt/c9/ppt/slides/slide31.xml" ContentType="application/vnd.openxmlformats-officedocument.presentationml.slide+xml"/>
  <ns0:Override PartName="/ppt/c9/ppt/slides/slide32.xml" ContentType="application/vnd.openxmlformats-officedocument.presentationml.slide+xml"/>
  <ns0:Override PartName="/ppt/c9/ppt/slides/slide33.xml" ContentType="application/vnd.openxmlformats-officedocument.presentationml.slide+xml"/>
  <ns0:Override PartName="/ppt/c9/ppt/slides/slide34.xml" ContentType="application/vnd.openxmlformats-officedocument.presentationml.slide+xml"/>
  <ns0:Override PartName="/ppt/c9/ppt/slides/slide35.xml" ContentType="application/vnd.openxmlformats-officedocument.presentationml.slide+xml"/>
  <ns0:Override PartName="/ppt/c9/ppt/slides/slide36.xml" ContentType="application/vnd.openxmlformats-officedocument.presentationml.slide+xml"/>
  <ns0:Override PartName="/ppt/c9/ppt/slides/slide37.xml" ContentType="application/vnd.openxmlformats-officedocument.presentationml.slide+xml"/>
  <ns0:Override PartName="/ppt/c9/ppt/slides/slide38.xml" ContentType="application/vnd.openxmlformats-officedocument.presentationml.slide+xml"/>
  <ns0:Override PartName="/ppt/c9/ppt/slides/slide39.xml" ContentType="application/vnd.openxmlformats-officedocument.presentationml.slide+xml"/>
  <ns0:Override PartName="/ppt/c9/ppt/slides/slide40.xml" ContentType="application/vnd.openxmlformats-officedocument.presentationml.slide+xml"/>
  <ns0:Override PartName="/ppt/c9/ppt/slides/slide41.xml" ContentType="application/vnd.openxmlformats-officedocument.presentationml.slide+xml"/>
  <ns0:Override PartName="/ppt/c9/ppt/notesMasters/notesMaster1.xml" ContentType="application/vnd.openxmlformats-officedocument.presentationml.notesMaster+xml"/>
  <ns0:Override PartName="/ppt/c9/ppt/theme/theme1.xml" ContentType="application/vnd.openxmlformats-officedocument.theme+xml"/>
  <ns0:Override PartName="/ppt/c9/ppt/slideLayouts/slideLayout1.xml" ContentType="application/vnd.openxmlformats-officedocument.presentationml.slideLayout+xml"/>
  <ns0:Override PartName="/ppt/c9/ppt/slideLayouts/slideLayout2.xml" ContentType="application/vnd.openxmlformats-officedocument.presentationml.slideLayout+xml"/>
  <ns0:Override PartName="/ppt/c9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548" r:id="rId37"/>
  </p:sldMasterIdLst>
  <p:notesMasterIdLst>
    <p:notesMasterId r:id="rId3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9/ppt/slides/slide4.xml" /><ns0:Relationship Id="rId2" Type="http://schemas.openxmlformats.org/officeDocument/2006/relationships/slide" Target="c9/ppt/slides/slide5.xml" /><ns0:Relationship Id="rId3" Type="http://schemas.openxmlformats.org/officeDocument/2006/relationships/slide" Target="c9/ppt/slides/slide6.xml" /><ns0:Relationship Id="rId4" Type="http://schemas.openxmlformats.org/officeDocument/2006/relationships/slide" Target="c9/ppt/slides/slide7.xml" /><ns0:Relationship Id="rId5" Type="http://schemas.openxmlformats.org/officeDocument/2006/relationships/slide" Target="c9/ppt/slides/slide8.xml" /><ns0:Relationship Id="rId6" Type="http://schemas.openxmlformats.org/officeDocument/2006/relationships/slide" Target="c9/ppt/slides/slide9.xml" /><ns0:Relationship Id="rId7" Type="http://schemas.openxmlformats.org/officeDocument/2006/relationships/slide" Target="c9/ppt/slides/slide10.xml" /><ns0:Relationship Id="rId8" Type="http://schemas.openxmlformats.org/officeDocument/2006/relationships/slide" Target="c9/ppt/slides/slide11.xml" /><ns0:Relationship Id="rId9" Type="http://schemas.openxmlformats.org/officeDocument/2006/relationships/slide" Target="c9/ppt/slides/slide12.xml" /><ns0:Relationship Id="rId10" Type="http://schemas.openxmlformats.org/officeDocument/2006/relationships/slide" Target="c9/ppt/slides/slide13.xml" /><ns0:Relationship Id="rId11" Type="http://schemas.openxmlformats.org/officeDocument/2006/relationships/slide" Target="c9/ppt/slides/slide14.xml" /><ns0:Relationship Id="rId12" Type="http://schemas.openxmlformats.org/officeDocument/2006/relationships/slide" Target="c9/ppt/slides/slide16.xml" /><ns0:Relationship Id="rId13" Type="http://schemas.openxmlformats.org/officeDocument/2006/relationships/slide" Target="c9/ppt/slides/slide17.xml" /><ns0:Relationship Id="rId14" Type="http://schemas.openxmlformats.org/officeDocument/2006/relationships/slide" Target="c9/ppt/slides/slide18.xml" /><ns0:Relationship Id="rId15" Type="http://schemas.openxmlformats.org/officeDocument/2006/relationships/slide" Target="c9/ppt/slides/slide19.xml" /><ns0:Relationship Id="rId16" Type="http://schemas.openxmlformats.org/officeDocument/2006/relationships/slide" Target="c9/ppt/slides/slide20.xml" /><ns0:Relationship Id="rId17" Type="http://schemas.openxmlformats.org/officeDocument/2006/relationships/slide" Target="c9/ppt/slides/slide21.xml" /><ns0:Relationship Id="rId18" Type="http://schemas.openxmlformats.org/officeDocument/2006/relationships/slide" Target="c9/ppt/slides/slide23.xml" /><ns0:Relationship Id="rId19" Type="http://schemas.openxmlformats.org/officeDocument/2006/relationships/slide" Target="c9/ppt/slides/slide24.xml" /><ns0:Relationship Id="rId20" Type="http://schemas.openxmlformats.org/officeDocument/2006/relationships/slide" Target="c9/ppt/slides/slide25.xml" /><ns0:Relationship Id="rId21" Type="http://schemas.openxmlformats.org/officeDocument/2006/relationships/slide" Target="c9/ppt/slides/slide26.xml" /><ns0:Relationship Id="rId22" Type="http://schemas.openxmlformats.org/officeDocument/2006/relationships/slide" Target="c9/ppt/slides/slide27.xml" /><ns0:Relationship Id="rId23" Type="http://schemas.openxmlformats.org/officeDocument/2006/relationships/slide" Target="c9/ppt/slides/slide28.xml" /><ns0:Relationship Id="rId24" Type="http://schemas.openxmlformats.org/officeDocument/2006/relationships/slide" Target="c9/ppt/slides/slide29.xml" /><ns0:Relationship Id="rId25" Type="http://schemas.openxmlformats.org/officeDocument/2006/relationships/slide" Target="c9/ppt/slides/slide30.xml" /><ns0:Relationship Id="rId26" Type="http://schemas.openxmlformats.org/officeDocument/2006/relationships/slide" Target="c9/ppt/slides/slide31.xml" /><ns0:Relationship Id="rId27" Type="http://schemas.openxmlformats.org/officeDocument/2006/relationships/slide" Target="c9/ppt/slides/slide32.xml" /><ns0:Relationship Id="rId28" Type="http://schemas.openxmlformats.org/officeDocument/2006/relationships/slide" Target="c9/ppt/slides/slide33.xml" /><ns0:Relationship Id="rId29" Type="http://schemas.openxmlformats.org/officeDocument/2006/relationships/slide" Target="c9/ppt/slides/slide34.xml" /><ns0:Relationship Id="rId30" Type="http://schemas.openxmlformats.org/officeDocument/2006/relationships/slide" Target="c9/ppt/slides/slide35.xml" /><ns0:Relationship Id="rId31" Type="http://schemas.openxmlformats.org/officeDocument/2006/relationships/slide" Target="c9/ppt/slides/slide36.xml" /><ns0:Relationship Id="rId32" Type="http://schemas.openxmlformats.org/officeDocument/2006/relationships/slide" Target="c9/ppt/slides/slide37.xml" /><ns0:Relationship Id="rId33" Type="http://schemas.openxmlformats.org/officeDocument/2006/relationships/slide" Target="c9/ppt/slides/slide38.xml" /><ns0:Relationship Id="rId34" Type="http://schemas.openxmlformats.org/officeDocument/2006/relationships/slide" Target="c9/ppt/slides/slide39.xml" /><ns0:Relationship Id="rId35" Type="http://schemas.openxmlformats.org/officeDocument/2006/relationships/slide" Target="c9/ppt/slides/slide40.xml" /><ns0:Relationship Id="rId36" Type="http://schemas.openxmlformats.org/officeDocument/2006/relationships/slide" Target="c9/ppt/slides/slide41.xml" /><ns0:Relationship Id="rId37" Type="http://schemas.openxmlformats.org/officeDocument/2006/relationships/slideMaster" Target="c9/ppt/slideMasters/slideMaster1.xml" /><ns0:Relationship Id="rId38" Type="http://schemas.openxmlformats.org/officeDocument/2006/relationships/notesMaster" Target="c9/ppt/notesMasters/notesMaster1.xml" /></ns0:Relationships>
</file>

<file path=ppt/c9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9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9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9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9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00D4E3A-76D7-C10F-BC00-CA403FA46644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9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9229222"/>
      </p:ext>
    </p:extLst>
  </p:cSld>
  <p:clrMapOvr>
    <a:masterClrMapping/>
  </p:clrMapOvr>
</p:sldLayout>
</file>

<file path=ppt/c9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9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9/ppt/slides/_rels/slide4.xml.rels><?xml version='1.0' encoding='utf-8'?>
<ns0:Relationships xmlns:ns0="http://schemas.openxmlformats.org/package/2006/relationships"><ns0:Relationship Id="rId8" Type="http://schemas.openxmlformats.org/officeDocument/2006/relationships/image" Target="../media/image18.png" /><ns0:Relationship Id="rId13" Type="http://schemas.openxmlformats.org/officeDocument/2006/relationships/image" Target="../media/image23.png" /><ns0:Relationship Id="rId3" Type="http://schemas.openxmlformats.org/officeDocument/2006/relationships/image" Target="../media/image13.png" /><ns0:Relationship Id="rId7" Type="http://schemas.openxmlformats.org/officeDocument/2006/relationships/image" Target="../media/image17.png" /><ns0:Relationship Id="rId12" Type="http://schemas.openxmlformats.org/officeDocument/2006/relationships/image" Target="../media/image22.png" /><ns0:Relationship Id="rId2" Type="http://schemas.openxmlformats.org/officeDocument/2006/relationships/image" Target="../media/image12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.png" /><ns0:Relationship Id="rId11" Type="http://schemas.openxmlformats.org/officeDocument/2006/relationships/image" Target="../media/image21.png" /><ns0:Relationship Id="rId5" Type="http://schemas.openxmlformats.org/officeDocument/2006/relationships/image" Target="../media/image15.png" /><ns0:Relationship Id="rId10" Type="http://schemas.openxmlformats.org/officeDocument/2006/relationships/image" Target="../media/image20.png" /><ns0:Relationship Id="rId4" Type="http://schemas.openxmlformats.org/officeDocument/2006/relationships/image" Target="../media/image14.png" /><ns0:Relationship Id="rId9" Type="http://schemas.openxmlformats.org/officeDocument/2006/relationships/image" Target="../media/image19.png" /><ns0:Relationship Id="rId14" Type="http://schemas.openxmlformats.org/officeDocument/2006/relationships/image" Target="../media/image24.png" /></ns0:Relationships>
</file>

<file path=ppt/c9/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31.png" /><ns0:Relationship Id="rId3" Type="http://schemas.openxmlformats.org/officeDocument/2006/relationships/image" Target="../media/image26.png" /><ns0:Relationship Id="rId7" Type="http://schemas.openxmlformats.org/officeDocument/2006/relationships/image" Target="../media/image30.png" /><ns0:Relationship Id="rId2" Type="http://schemas.openxmlformats.org/officeDocument/2006/relationships/image" Target="../media/image2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9.png" /><ns0:Relationship Id="rId5" Type="http://schemas.openxmlformats.org/officeDocument/2006/relationships/image" Target="../media/image28.png" /><ns0:Relationship Id="rId4" Type="http://schemas.openxmlformats.org/officeDocument/2006/relationships/image" Target="../media/image27.png" /><ns0:Relationship Id="rId9" Type="http://schemas.openxmlformats.org/officeDocument/2006/relationships/image" Target="../media/image32.png" /></ns0:Relationships>
</file>

<file path=ppt/c9/ppt/slides/_rels/slide6.xml.rels><?xml version='1.0' encoding='utf-8'?>
<ns0:Relationships xmlns:ns0="http://schemas.openxmlformats.org/package/2006/relationships"><ns0:Relationship Id="rId8" Type="http://schemas.openxmlformats.org/officeDocument/2006/relationships/image" Target="../media/image39.png" /><ns0:Relationship Id="rId3" Type="http://schemas.openxmlformats.org/officeDocument/2006/relationships/image" Target="../media/image34.png" /><ns0:Relationship Id="rId7" Type="http://schemas.openxmlformats.org/officeDocument/2006/relationships/image" Target="../media/image38.png" /><ns0:Relationship Id="rId2" Type="http://schemas.openxmlformats.org/officeDocument/2006/relationships/image" Target="../media/image3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37.png" /><ns0:Relationship Id="rId11" Type="http://schemas.openxmlformats.org/officeDocument/2006/relationships/image" Target="../media/image42.png" /><ns0:Relationship Id="rId5" Type="http://schemas.openxmlformats.org/officeDocument/2006/relationships/image" Target="../media/image36.png" /><ns0:Relationship Id="rId10" Type="http://schemas.openxmlformats.org/officeDocument/2006/relationships/image" Target="../media/image41.png" /><ns0:Relationship Id="rId4" Type="http://schemas.openxmlformats.org/officeDocument/2006/relationships/image" Target="../media/image35.png" /><ns0:Relationship Id="rId9" Type="http://schemas.openxmlformats.org/officeDocument/2006/relationships/image" Target="../media/image40.png" /></ns0:Relationships>
</file>

<file path=ppt/c9/ppt/slides/_rels/slide7.xml.rels><?xml version='1.0' encoding='utf-8'?>
<ns0:Relationships xmlns:ns0="http://schemas.openxmlformats.org/package/2006/relationships"><ns0:Relationship Id="rId8" Type="http://schemas.openxmlformats.org/officeDocument/2006/relationships/image" Target="../media/image49.png" /><ns0:Relationship Id="rId13" Type="http://schemas.openxmlformats.org/officeDocument/2006/relationships/image" Target="../media/image54.png" /><ns0:Relationship Id="rId3" Type="http://schemas.openxmlformats.org/officeDocument/2006/relationships/image" Target="../media/image44.png" /><ns0:Relationship Id="rId7" Type="http://schemas.openxmlformats.org/officeDocument/2006/relationships/image" Target="../media/image48.png" /><ns0:Relationship Id="rId12" Type="http://schemas.openxmlformats.org/officeDocument/2006/relationships/image" Target="../media/image53.png" /><ns0:Relationship Id="rId2" Type="http://schemas.openxmlformats.org/officeDocument/2006/relationships/image" Target="../media/image43.png" /><ns0:Relationship Id="rId16" Type="http://schemas.openxmlformats.org/officeDocument/2006/relationships/image" Target="../media/image5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47.png" /><ns0:Relationship Id="rId11" Type="http://schemas.openxmlformats.org/officeDocument/2006/relationships/image" Target="../media/image52.png" /><ns0:Relationship Id="rId5" Type="http://schemas.openxmlformats.org/officeDocument/2006/relationships/image" Target="../media/image46.png" /><ns0:Relationship Id="rId15" Type="http://schemas.openxmlformats.org/officeDocument/2006/relationships/image" Target="../media/image56.png" /><ns0:Relationship Id="rId10" Type="http://schemas.openxmlformats.org/officeDocument/2006/relationships/image" Target="../media/image51.png" /><ns0:Relationship Id="rId4" Type="http://schemas.openxmlformats.org/officeDocument/2006/relationships/image" Target="../media/image45.png" /><ns0:Relationship Id="rId9" Type="http://schemas.openxmlformats.org/officeDocument/2006/relationships/image" Target="../media/image50.png" /><ns0:Relationship Id="rId14" Type="http://schemas.openxmlformats.org/officeDocument/2006/relationships/image" Target="../media/image55.png" /></ns0:Relationships>
</file>

<file path=ppt/c9/ppt/slides/_rels/slide8.xml.rels><?xml version='1.0' encoding='utf-8'?>
<ns0:Relationships xmlns:ns0="http://schemas.openxmlformats.org/package/2006/relationships"><ns0:Relationship Id="rId8" Type="http://schemas.openxmlformats.org/officeDocument/2006/relationships/oleObject" Target="../embeddings/oleObject4.bin" /><ns0:Relationship Id="rId3" Type="http://schemas.openxmlformats.org/officeDocument/2006/relationships/image" Target="../media/image58.png" /><ns0:Relationship Id="rId7" Type="http://schemas.openxmlformats.org/officeDocument/2006/relationships/image" Target="../media/image60.png" /><ns0:Relationship Id="rId2" Type="http://schemas.openxmlformats.org/officeDocument/2006/relationships/oleObject" Target="../embeddings/oleObject1.bin" /><ns0:Relationship Id="rId1" Type="http://schemas.openxmlformats.org/officeDocument/2006/relationships/slideLayout" Target="../slideLayouts/slideLayout1.xml" /><ns0:Relationship Id="rId6" Type="http://schemas.openxmlformats.org/officeDocument/2006/relationships/oleObject" Target="../embeddings/oleObject3.bin" /><ns0:Relationship Id="rId5" Type="http://schemas.openxmlformats.org/officeDocument/2006/relationships/image" Target="../media/image59.png" /><ns0:Relationship Id="rId4" Type="http://schemas.openxmlformats.org/officeDocument/2006/relationships/oleObject" Target="../embeddings/oleObject2.bin" /><ns0:Relationship Id="rId9" Type="http://schemas.openxmlformats.org/officeDocument/2006/relationships/image" Target="../media/image61.png" /></ns0:Relationships>
</file>

<file path=ppt/c9/ppt/slides/_rels/slide9.xml.rels><?xml version='1.0' encoding='utf-8'?>
<ns0:Relationships xmlns:ns0="http://schemas.openxmlformats.org/package/2006/relationships"><ns0:Relationship Id="rId8" Type="http://schemas.openxmlformats.org/officeDocument/2006/relationships/image" Target="../media/image470.png" /><ns0:Relationship Id="rId3" Type="http://schemas.openxmlformats.org/officeDocument/2006/relationships/image" Target="../media/image64.png" /><ns0:Relationship Id="rId7" Type="http://schemas.openxmlformats.org/officeDocument/2006/relationships/image" Target="../media/image460.png" /><ns0:Relationship Id="rId2" Type="http://schemas.openxmlformats.org/officeDocument/2006/relationships/image" Target="../media/image6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67.png" /><ns0:Relationship Id="rId11" Type="http://schemas.openxmlformats.org/officeDocument/2006/relationships/image" Target="../media/image68.png" /><ns0:Relationship Id="rId5" Type="http://schemas.openxmlformats.org/officeDocument/2006/relationships/image" Target="../media/image66.png" /><ns0:Relationship Id="rId10" Type="http://schemas.openxmlformats.org/officeDocument/2006/relationships/image" Target="../media/image490.png" /><ns0:Relationship Id="rId4" Type="http://schemas.openxmlformats.org/officeDocument/2006/relationships/image" Target="../media/image65.png" /><ns0:Relationship Id="rId9" Type="http://schemas.openxmlformats.org/officeDocument/2006/relationships/image" Target="../media/image480.png" /></ns0:Relationships>
</file>

<file path=ppt/c9/ppt/slides/_rels/slide10.xml.rels><?xml version='1.0' encoding='utf-8'?>
<ns0:Relationships xmlns:ns0="http://schemas.openxmlformats.org/package/2006/relationships"><ns0:Relationship Id="rId8" Type="http://schemas.openxmlformats.org/officeDocument/2006/relationships/image" Target="../media/image75.png" /><ns0:Relationship Id="rId3" Type="http://schemas.openxmlformats.org/officeDocument/2006/relationships/image" Target="../media/image70.png" /><ns0:Relationship Id="rId7" Type="http://schemas.openxmlformats.org/officeDocument/2006/relationships/image" Target="../media/image74.png" /><ns0:Relationship Id="rId2" Type="http://schemas.openxmlformats.org/officeDocument/2006/relationships/image" Target="../media/image6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73.png" /><ns0:Relationship Id="rId5" Type="http://schemas.openxmlformats.org/officeDocument/2006/relationships/image" Target="../media/image72.png" /><ns0:Relationship Id="rId4" Type="http://schemas.openxmlformats.org/officeDocument/2006/relationships/image" Target="../media/image71.png" /><ns0:Relationship Id="rId9" Type="http://schemas.openxmlformats.org/officeDocument/2006/relationships/image" Target="../media/image76.png" /></ns0:Relationships>
</file>

<file path=ppt/c9/ppt/slides/_rels/slide11.xml.rels><?xml version='1.0' encoding='utf-8'?>
<ns0:Relationships xmlns:ns0="http://schemas.openxmlformats.org/package/2006/relationships"><ns0:Relationship Id="rId8" Type="http://schemas.openxmlformats.org/officeDocument/2006/relationships/image" Target="../media/image83.png" /><ns0:Relationship Id="rId13" Type="http://schemas.openxmlformats.org/officeDocument/2006/relationships/image" Target="../media/image88.png" /><ns0:Relationship Id="rId18" Type="http://schemas.openxmlformats.org/officeDocument/2006/relationships/image" Target="../media/image93.png" /><ns0:Relationship Id="rId3" Type="http://schemas.openxmlformats.org/officeDocument/2006/relationships/image" Target="../media/image78.png" /><ns0:Relationship Id="rId7" Type="http://schemas.openxmlformats.org/officeDocument/2006/relationships/image" Target="../media/image82.png" /><ns0:Relationship Id="rId12" Type="http://schemas.openxmlformats.org/officeDocument/2006/relationships/image" Target="../media/image87.png" /><ns0:Relationship Id="rId17" Type="http://schemas.openxmlformats.org/officeDocument/2006/relationships/image" Target="../media/image92.png" /><ns0:Relationship Id="rId2" Type="http://schemas.openxmlformats.org/officeDocument/2006/relationships/image" Target="../media/image77.png" /><ns0:Relationship Id="rId16" Type="http://schemas.openxmlformats.org/officeDocument/2006/relationships/image" Target="../media/image9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81.png" /><ns0:Relationship Id="rId11" Type="http://schemas.openxmlformats.org/officeDocument/2006/relationships/image" Target="../media/image86.png" /><ns0:Relationship Id="rId5" Type="http://schemas.openxmlformats.org/officeDocument/2006/relationships/image" Target="../media/image80.png" /><ns0:Relationship Id="rId15" Type="http://schemas.openxmlformats.org/officeDocument/2006/relationships/image" Target="../media/image90.png" /><ns0:Relationship Id="rId10" Type="http://schemas.openxmlformats.org/officeDocument/2006/relationships/image" Target="../media/image85.png" /><ns0:Relationship Id="rId4" Type="http://schemas.openxmlformats.org/officeDocument/2006/relationships/image" Target="../media/image79.png" /><ns0:Relationship Id="rId9" Type="http://schemas.openxmlformats.org/officeDocument/2006/relationships/image" Target="../media/image84.png" /><ns0:Relationship Id="rId14" Type="http://schemas.openxmlformats.org/officeDocument/2006/relationships/image" Target="../media/image89.png" /></ns0:Relationships>
</file>

<file path=ppt/c9/ppt/slides/_rels/slide12.xml.rels><?xml version='1.0' encoding='utf-8'?>
<ns0:Relationships xmlns:ns0="http://schemas.openxmlformats.org/package/2006/relationships"><ns0:Relationship Id="rId8" Type="http://schemas.openxmlformats.org/officeDocument/2006/relationships/image" Target="../media/image100.png" /><ns0:Relationship Id="rId13" Type="http://schemas.openxmlformats.org/officeDocument/2006/relationships/image" Target="../media/image105.png" /><ns0:Relationship Id="rId3" Type="http://schemas.openxmlformats.org/officeDocument/2006/relationships/image" Target="../media/image95.png" /><ns0:Relationship Id="rId7" Type="http://schemas.openxmlformats.org/officeDocument/2006/relationships/image" Target="../media/image99.png" /><ns0:Relationship Id="rId12" Type="http://schemas.openxmlformats.org/officeDocument/2006/relationships/image" Target="../media/image104.png" /><ns0:Relationship Id="rId2" Type="http://schemas.openxmlformats.org/officeDocument/2006/relationships/image" Target="../media/image94.png" /><ns0:Relationship Id="rId16" Type="http://schemas.openxmlformats.org/officeDocument/2006/relationships/image" Target="../media/image10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98.png" /><ns0:Relationship Id="rId11" Type="http://schemas.openxmlformats.org/officeDocument/2006/relationships/image" Target="../media/image103.png" /><ns0:Relationship Id="rId5" Type="http://schemas.openxmlformats.org/officeDocument/2006/relationships/image" Target="../media/image97.png" /><ns0:Relationship Id="rId15" Type="http://schemas.openxmlformats.org/officeDocument/2006/relationships/image" Target="../media/image107.png" /><ns0:Relationship Id="rId10" Type="http://schemas.openxmlformats.org/officeDocument/2006/relationships/image" Target="../media/image102.png" /><ns0:Relationship Id="rId4" Type="http://schemas.openxmlformats.org/officeDocument/2006/relationships/image" Target="../media/image96.png" /><ns0:Relationship Id="rId9" Type="http://schemas.openxmlformats.org/officeDocument/2006/relationships/image" Target="../media/image101.png" /><ns0:Relationship Id="rId14" Type="http://schemas.openxmlformats.org/officeDocument/2006/relationships/image" Target="../media/image106.png" /></ns0:Relationships>
</file>

<file path=ppt/c9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109.png" /><ns0:Relationship Id="rId2" Type="http://schemas.openxmlformats.org/officeDocument/2006/relationships/image" Target="../media/image62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12.png" /><ns0:Relationship Id="rId5" Type="http://schemas.openxmlformats.org/officeDocument/2006/relationships/image" Target="../media/image111.png" /><ns0:Relationship Id="rId4" Type="http://schemas.openxmlformats.org/officeDocument/2006/relationships/image" Target="../media/image110.png" /></ns0:Relationships>
</file>

<file path=ppt/c9/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image114.png" /><ns0:Relationship Id="rId2" Type="http://schemas.openxmlformats.org/officeDocument/2006/relationships/image" Target="../media/image113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15.png" /></ns0:Relationships>
</file>

<file path=ppt/c9/ppt/slides/_rels/slide16.xml.rels><?xml version='1.0' encoding='utf-8'?>
<ns0:Relationships xmlns:ns0="http://schemas.openxmlformats.org/package/2006/relationships"><ns0:Relationship Id="rId2" Type="http://schemas.openxmlformats.org/officeDocument/2006/relationships/image" Target="../media/image124.png" /><ns0:Relationship Id="rId1" Type="http://schemas.openxmlformats.org/officeDocument/2006/relationships/slideLayout" Target="../slideLayouts/slideLayout1.xml" /></ns0:Relationships>
</file>

<file path=ppt/c9/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126.png" /><ns0:Relationship Id="rId2" Type="http://schemas.openxmlformats.org/officeDocument/2006/relationships/image" Target="../media/image125.png" /><ns0:Relationship Id="rId1" Type="http://schemas.openxmlformats.org/officeDocument/2006/relationships/slideLayout" Target="../slideLayouts/slideLayout1.xml" /></ns0:Relationships>
</file>

<file path=ppt/c9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128.png" /><ns0:Relationship Id="rId2" Type="http://schemas.openxmlformats.org/officeDocument/2006/relationships/image" Target="../media/image127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29.png" /></ns0:Relationships>
</file>

<file path=ppt/c9/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130.png" /><ns0:Relationship Id="rId2" Type="http://schemas.openxmlformats.org/officeDocument/2006/relationships/image" Target="../media/image116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32.png" /><ns0:Relationship Id="rId4" Type="http://schemas.openxmlformats.org/officeDocument/2006/relationships/image" Target="../media/image131.png" /></ns0:Relationships>
</file>

<file path=ppt/c9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134.png" /><ns0:Relationship Id="rId2" Type="http://schemas.openxmlformats.org/officeDocument/2006/relationships/image" Target="../media/image133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36.png" /><ns0:Relationship Id="rId4" Type="http://schemas.openxmlformats.org/officeDocument/2006/relationships/image" Target="../media/image135.png" /></ns0:Relationships>
</file>

<file path=ppt/c9/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image138.png" /><ns0:Relationship Id="rId2" Type="http://schemas.openxmlformats.org/officeDocument/2006/relationships/image" Target="../media/image137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39.png" /></ns0:Relationships>
</file>

<file path=ppt/c9/ppt/slides/_rels/slide23.xml.rels><?xml version='1.0' encoding='utf-8'?>
<ns0:Relationships xmlns:ns0="http://schemas.openxmlformats.org/package/2006/relationships"><ns0:Relationship Id="rId8" Type="http://schemas.openxmlformats.org/officeDocument/2006/relationships/image" Target="../media/image152.png" /><ns0:Relationship Id="rId13" Type="http://schemas.openxmlformats.org/officeDocument/2006/relationships/image" Target="../media/image157.png" /><ns0:Relationship Id="rId18" Type="http://schemas.openxmlformats.org/officeDocument/2006/relationships/image" Target="../media/image162.png" /><ns0:Relationship Id="rId3" Type="http://schemas.openxmlformats.org/officeDocument/2006/relationships/image" Target="../media/image147.png" /><ns0:Relationship Id="rId7" Type="http://schemas.openxmlformats.org/officeDocument/2006/relationships/image" Target="../media/image151.png" /><ns0:Relationship Id="rId12" Type="http://schemas.openxmlformats.org/officeDocument/2006/relationships/image" Target="../media/image156.png" /><ns0:Relationship Id="rId17" Type="http://schemas.openxmlformats.org/officeDocument/2006/relationships/image" Target="../media/image161.png" /><ns0:Relationship Id="rId2" Type="http://schemas.openxmlformats.org/officeDocument/2006/relationships/image" Target="../media/image146.png" /><ns0:Relationship Id="rId16" Type="http://schemas.openxmlformats.org/officeDocument/2006/relationships/image" Target="../media/image16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50.png" /><ns0:Relationship Id="rId11" Type="http://schemas.openxmlformats.org/officeDocument/2006/relationships/image" Target="../media/image155.png" /><ns0:Relationship Id="rId5" Type="http://schemas.openxmlformats.org/officeDocument/2006/relationships/image" Target="../media/image149.png" /><ns0:Relationship Id="rId15" Type="http://schemas.openxmlformats.org/officeDocument/2006/relationships/image" Target="../media/image159.png" /><ns0:Relationship Id="rId10" Type="http://schemas.openxmlformats.org/officeDocument/2006/relationships/image" Target="../media/image154.png" /><ns0:Relationship Id="rId4" Type="http://schemas.openxmlformats.org/officeDocument/2006/relationships/image" Target="../media/image148.png" /><ns0:Relationship Id="rId9" Type="http://schemas.openxmlformats.org/officeDocument/2006/relationships/image" Target="../media/image153.png" /><ns0:Relationship Id="rId14" Type="http://schemas.openxmlformats.org/officeDocument/2006/relationships/image" Target="../media/image142.png" /></ns0:Relationships>
</file>

<file path=ppt/c9/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image164.png" /><ns0:Relationship Id="rId2" Type="http://schemas.openxmlformats.org/officeDocument/2006/relationships/image" Target="../media/image16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7.png" /><ns0:Relationship Id="rId5" Type="http://schemas.openxmlformats.org/officeDocument/2006/relationships/image" Target="../media/image166.png" /><ns0:Relationship Id="rId4" Type="http://schemas.openxmlformats.org/officeDocument/2006/relationships/image" Target="../media/image165.png" /></ns0:Relationships>
</file>

<file path=ppt/c9/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168.png" /><ns0:Relationship Id="rId2" Type="http://schemas.openxmlformats.org/officeDocument/2006/relationships/image" Target="../media/image158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69.png" /></ns0:Relationships>
</file>

<file path=ppt/c9/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171.png" /><ns0:Relationship Id="rId2" Type="http://schemas.openxmlformats.org/officeDocument/2006/relationships/image" Target="../media/image170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72.png" /></ns0:Relationships>
</file>

<file path=ppt/c9/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174.png" /><ns0:Relationship Id="rId2" Type="http://schemas.openxmlformats.org/officeDocument/2006/relationships/image" Target="../media/image173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75.png" /></ns0:Relationships>
</file>

<file path=ppt/c9/ppt/slides/_rels/slide28.xml.rels><?xml version='1.0' encoding='utf-8'?>
<ns0:Relationships xmlns:ns0="http://schemas.openxmlformats.org/package/2006/relationships"><ns0:Relationship Id="rId2" Type="http://schemas.openxmlformats.org/officeDocument/2006/relationships/image" Target="../media/image177.png" /><ns0:Relationship Id="rId1" Type="http://schemas.openxmlformats.org/officeDocument/2006/relationships/slideLayout" Target="../slideLayouts/slideLayout1.xml" /></ns0:Relationships>
</file>

<file path=ppt/c9/ppt/slides/_rels/slide29.xml.rels><?xml version='1.0' encoding='utf-8'?>
<ns0:Relationships xmlns:ns0="http://schemas.openxmlformats.org/package/2006/relationships"><ns0:Relationship Id="rId8" Type="http://schemas.openxmlformats.org/officeDocument/2006/relationships/image" Target="../media/image184.png" /><ns0:Relationship Id="rId3" Type="http://schemas.openxmlformats.org/officeDocument/2006/relationships/image" Target="../media/image179.png" /><ns0:Relationship Id="rId7" Type="http://schemas.openxmlformats.org/officeDocument/2006/relationships/image" Target="../media/image183.png" /><ns0:Relationship Id="rId2" Type="http://schemas.openxmlformats.org/officeDocument/2006/relationships/image" Target="../media/image17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82.png" /><ns0:Relationship Id="rId11" Type="http://schemas.openxmlformats.org/officeDocument/2006/relationships/image" Target="../media/image187.png" /><ns0:Relationship Id="rId5" Type="http://schemas.openxmlformats.org/officeDocument/2006/relationships/image" Target="../media/image181.png" /><ns0:Relationship Id="rId10" Type="http://schemas.openxmlformats.org/officeDocument/2006/relationships/image" Target="../media/image186.png" /><ns0:Relationship Id="rId4" Type="http://schemas.openxmlformats.org/officeDocument/2006/relationships/image" Target="../media/image180.png" /><ns0:Relationship Id="rId9" Type="http://schemas.openxmlformats.org/officeDocument/2006/relationships/image" Target="../media/image185.png" /></ns0:Relationships>
</file>

<file path=ppt/c9/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188.png" /><ns0:Relationship Id="rId2" Type="http://schemas.openxmlformats.org/officeDocument/2006/relationships/image" Target="../media/image176.png" /><ns0:Relationship Id="rId1" Type="http://schemas.openxmlformats.org/officeDocument/2006/relationships/slideLayout" Target="../slideLayouts/slideLayout1.xml" /></ns0:Relationships>
</file>

<file path=ppt/c9/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190.png" /><ns0:Relationship Id="rId2" Type="http://schemas.openxmlformats.org/officeDocument/2006/relationships/image" Target="../media/image189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92.png" /><ns0:Relationship Id="rId4" Type="http://schemas.openxmlformats.org/officeDocument/2006/relationships/image" Target="../media/image191.png" /></ns0:Relationships>
</file>

<file path=ppt/c9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194.png" /><ns0:Relationship Id="rId2" Type="http://schemas.openxmlformats.org/officeDocument/2006/relationships/image" Target="../media/image193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95.png" /></ns0:Relationships>
</file>

<file path=ppt/c9/ppt/slides/_rels/slide33.xml.rels><?xml version='1.0' encoding='utf-8'?>
<ns0:Relationships xmlns:ns0="http://schemas.openxmlformats.org/package/2006/relationships"><ns0:Relationship Id="rId8" Type="http://schemas.openxmlformats.org/officeDocument/2006/relationships/image" Target="../media/image203.png" /><ns0:Relationship Id="rId13" Type="http://schemas.openxmlformats.org/officeDocument/2006/relationships/image" Target="../media/image208.png" /><ns0:Relationship Id="rId3" Type="http://schemas.openxmlformats.org/officeDocument/2006/relationships/image" Target="../media/image198.png" /><ns0:Relationship Id="rId7" Type="http://schemas.openxmlformats.org/officeDocument/2006/relationships/image" Target="../media/image202.png" /><ns0:Relationship Id="rId12" Type="http://schemas.openxmlformats.org/officeDocument/2006/relationships/image" Target="../media/image207.png" /><ns0:Relationship Id="rId17" Type="http://schemas.openxmlformats.org/officeDocument/2006/relationships/image" Target="../media/image212.png" /><ns0:Relationship Id="rId2" Type="http://schemas.openxmlformats.org/officeDocument/2006/relationships/image" Target="../media/image197.png" /><ns0:Relationship Id="rId16" Type="http://schemas.openxmlformats.org/officeDocument/2006/relationships/image" Target="../media/image21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01.png" /><ns0:Relationship Id="rId11" Type="http://schemas.openxmlformats.org/officeDocument/2006/relationships/image" Target="../media/image206.png" /><ns0:Relationship Id="rId5" Type="http://schemas.openxmlformats.org/officeDocument/2006/relationships/image" Target="../media/image200.png" /><ns0:Relationship Id="rId15" Type="http://schemas.openxmlformats.org/officeDocument/2006/relationships/image" Target="../media/image210.png" /><ns0:Relationship Id="rId10" Type="http://schemas.openxmlformats.org/officeDocument/2006/relationships/image" Target="../media/image205.png" /><ns0:Relationship Id="rId4" Type="http://schemas.openxmlformats.org/officeDocument/2006/relationships/image" Target="../media/image199.png" /><ns0:Relationship Id="rId9" Type="http://schemas.openxmlformats.org/officeDocument/2006/relationships/image" Target="../media/image204.png" /><ns0:Relationship Id="rId14" Type="http://schemas.openxmlformats.org/officeDocument/2006/relationships/image" Target="../media/image209.png" /></ns0:Relationships>
</file>

<file path=ppt/c9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214.png" /><ns0:Relationship Id="rId7" Type="http://schemas.openxmlformats.org/officeDocument/2006/relationships/image" Target="../media/image218.png" /><ns0:Relationship Id="rId2" Type="http://schemas.openxmlformats.org/officeDocument/2006/relationships/image" Target="../media/image21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17.png" /><ns0:Relationship Id="rId5" Type="http://schemas.openxmlformats.org/officeDocument/2006/relationships/image" Target="../media/image216.png" /><ns0:Relationship Id="rId4" Type="http://schemas.openxmlformats.org/officeDocument/2006/relationships/image" Target="../media/image215.png" /></ns0:Relationships>
</file>

<file path=ppt/c9/ppt/slides/_rels/slide35.xml.rels><?xml version='1.0' encoding='utf-8'?>
<ns0:Relationships xmlns:ns0="http://schemas.openxmlformats.org/package/2006/relationships"><ns0:Relationship Id="rId3" Type="http://schemas.openxmlformats.org/officeDocument/2006/relationships/image" Target="../media/image220.png" /><ns0:Relationship Id="rId7" Type="http://schemas.openxmlformats.org/officeDocument/2006/relationships/image" Target="../media/image224.png" /><ns0:Relationship Id="rId12" Type="http://schemas.openxmlformats.org/officeDocument/2006/relationships/image" Target="../media/image225.png" /><ns0:Relationship Id="rId2" Type="http://schemas.openxmlformats.org/officeDocument/2006/relationships/image" Target="../media/image21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23.png" /><ns0:Relationship Id="rId11" Type="http://schemas.openxmlformats.org/officeDocument/2006/relationships/image" Target="../media/image1640.png" /><ns0:Relationship Id="rId5" Type="http://schemas.openxmlformats.org/officeDocument/2006/relationships/image" Target="../media/image222.png" /><ns0:Relationship Id="rId4" Type="http://schemas.openxmlformats.org/officeDocument/2006/relationships/image" Target="../media/image221.png" /></ns0:Relationships>
</file>

<file path=ppt/c9/ppt/slides/_rels/slide36.xml.rels><?xml version='1.0' encoding='utf-8'?>
<ns0:Relationships xmlns:ns0="http://schemas.openxmlformats.org/package/2006/relationships"><ns0:Relationship Id="rId8" Type="http://schemas.openxmlformats.org/officeDocument/2006/relationships/image" Target="../media/image232.png" /><ns0:Relationship Id="rId3" Type="http://schemas.openxmlformats.org/officeDocument/2006/relationships/image" Target="../media/image227.png" /><ns0:Relationship Id="rId7" Type="http://schemas.openxmlformats.org/officeDocument/2006/relationships/image" Target="../media/image231.png" /><ns0:Relationship Id="rId2" Type="http://schemas.openxmlformats.org/officeDocument/2006/relationships/image" Target="../media/image226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30.png" /><ns0:Relationship Id="rId5" Type="http://schemas.openxmlformats.org/officeDocument/2006/relationships/image" Target="../media/image229.png" /><ns0:Relationship Id="rId10" Type="http://schemas.openxmlformats.org/officeDocument/2006/relationships/image" Target="../media/image234.png" /><ns0:Relationship Id="rId4" Type="http://schemas.openxmlformats.org/officeDocument/2006/relationships/image" Target="../media/image228.png" /><ns0:Relationship Id="rId9" Type="http://schemas.openxmlformats.org/officeDocument/2006/relationships/image" Target="../media/image233.png" /></ns0:Relationships>
</file>

<file path=ppt/c9/ppt/slides/_rels/slide37.xml.rels><?xml version='1.0' encoding='utf-8'?>
<ns0:Relationships xmlns:ns0="http://schemas.openxmlformats.org/package/2006/relationships"><ns0:Relationship Id="rId8" Type="http://schemas.openxmlformats.org/officeDocument/2006/relationships/image" Target="../media/image241.png" /><ns0:Relationship Id="rId3" Type="http://schemas.openxmlformats.org/officeDocument/2006/relationships/image" Target="../media/image236.png" /><ns0:Relationship Id="rId7" Type="http://schemas.openxmlformats.org/officeDocument/2006/relationships/image" Target="../media/image240.png" /><ns0:Relationship Id="rId12" Type="http://schemas.openxmlformats.org/officeDocument/2006/relationships/image" Target="../media/image245.png" /><ns0:Relationship Id="rId2" Type="http://schemas.openxmlformats.org/officeDocument/2006/relationships/image" Target="../media/image23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39.png" /><ns0:Relationship Id="rId11" Type="http://schemas.openxmlformats.org/officeDocument/2006/relationships/image" Target="../media/image244.png" /><ns0:Relationship Id="rId5" Type="http://schemas.openxmlformats.org/officeDocument/2006/relationships/image" Target="../media/image238.png" /><ns0:Relationship Id="rId10" Type="http://schemas.openxmlformats.org/officeDocument/2006/relationships/image" Target="../media/image243.png" /><ns0:Relationship Id="rId4" Type="http://schemas.openxmlformats.org/officeDocument/2006/relationships/image" Target="../media/image237.png" /><ns0:Relationship Id="rId9" Type="http://schemas.openxmlformats.org/officeDocument/2006/relationships/image" Target="../media/image242.png" /></ns0:Relationships>
</file>

<file path=ppt/c9/ppt/slides/_rels/slide38.xml.rels><?xml version='1.0' encoding='utf-8'?>
<ns0:Relationships xmlns:ns0="http://schemas.openxmlformats.org/package/2006/relationships"><ns0:Relationship Id="rId3" Type="http://schemas.openxmlformats.org/officeDocument/2006/relationships/image" Target="../media/image246.png" /><ns0:Relationship Id="rId2" Type="http://schemas.openxmlformats.org/officeDocument/2006/relationships/image" Target="../media/image196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47.png" /></ns0:Relationships>
</file>

<file path=ppt/c9/ppt/slides/_rels/slide39.xml.rels><?xml version='1.0' encoding='utf-8'?>
<ns0:Relationships xmlns:ns0="http://schemas.openxmlformats.org/package/2006/relationships"><ns0:Relationship Id="rId3" Type="http://schemas.openxmlformats.org/officeDocument/2006/relationships/image" Target="../media/image249.png" /><ns0:Relationship Id="rId2" Type="http://schemas.openxmlformats.org/officeDocument/2006/relationships/image" Target="../media/image248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50.png" /></ns0:Relationships>
</file>

<file path=ppt/c9/ppt/slides/_rels/slide40.xml.rels><?xml version='1.0' encoding='utf-8'?>
<ns0:Relationships xmlns:ns0="http://schemas.openxmlformats.org/package/2006/relationships"><ns0:Relationship Id="rId3" Type="http://schemas.openxmlformats.org/officeDocument/2006/relationships/image" Target="../media/image252.png" /><ns0:Relationship Id="rId7" Type="http://schemas.openxmlformats.org/officeDocument/2006/relationships/image" Target="../media/image256.png" /><ns0:Relationship Id="rId2" Type="http://schemas.openxmlformats.org/officeDocument/2006/relationships/image" Target="../media/image25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55.png" /><ns0:Relationship Id="rId5" Type="http://schemas.openxmlformats.org/officeDocument/2006/relationships/image" Target="../media/image254.png" /><ns0:Relationship Id="rId4" Type="http://schemas.openxmlformats.org/officeDocument/2006/relationships/image" Target="../media/image253.png" /></ns0:Relationships>
</file>

<file path=ppt/c9/ppt/slides/_rels/slide41.xml.rels><?xml version='1.0' encoding='utf-8'?>
<ns0:Relationships xmlns:ns0="http://schemas.openxmlformats.org/package/2006/relationships"><ns0:Relationship Id="rId3" Type="http://schemas.openxmlformats.org/officeDocument/2006/relationships/image" Target="../media/image258.png" /><ns0:Relationship Id="rId2" Type="http://schemas.openxmlformats.org/officeDocument/2006/relationships/image" Target="../media/image257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59.png" /></ns0:Relationships>
</file>

<file path=ppt/c9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RECAP: Right-Angled Trigonometry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2207568" y="1052736"/>
            <a:ext cx="2520280" cy="1440160"/>
            <a:chOff x="683568" y="1052736"/>
            <a:chExt cx="2520280" cy="1440160"/>
          </a:xfrm>
        </p:grpSpPr>
        <p:sp>
          <p:nvSpPr>
            <p:cNvPr id="6" name="Right Triangle 5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147045" y="133013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hyp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2927648" y="252027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adj</a:t>
            </a:r>
            <a:endParaRPr lang="en-GB" dirty="0"/>
          </a:p>
        </p:txBody>
      </p:sp>
      <p:sp>
        <p:nvSpPr>
          <p:cNvPr id="22" name="TextBox 21"/>
          <p:cNvSpPr txBox="1"/>
          <p:nvPr/>
        </p:nvSpPr>
        <p:spPr>
          <a:xfrm>
            <a:off x="1521661" y="166757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opp</a:t>
            </a:r>
            <a:endParaRPr lang="en-GB" dirty="0"/>
          </a:p>
        </p:txBody>
      </p:sp>
      <p:sp>
        <p:nvSpPr>
          <p:cNvPr id="16" name="Freeform: Shape 15"/>
          <p:cNvSpPr/>
          <p:nvPr/>
        </p:nvSpPr>
        <p:spPr>
          <a:xfrm>
            <a:off x="4001386" y="2126512"/>
            <a:ext cx="106326" cy="350874"/>
          </a:xfrm>
          <a:custGeom>
            <a:avLst/>
            <a:gdLst>
              <a:gd name="connsiteX0" fmla="*/ 106326 w 106326"/>
              <a:gd name="connsiteY0" fmla="*/ 0 h 350874"/>
              <a:gd name="connsiteX1" fmla="*/ 21265 w 106326"/>
              <a:gd name="connsiteY1" fmla="*/ 191386 h 350874"/>
              <a:gd name="connsiteX2" fmla="*/ 0 w 106326"/>
              <a:gd name="connsiteY2" fmla="*/ 350874 h 35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26" h="350874">
                <a:moveTo>
                  <a:pt x="106326" y="0"/>
                </a:moveTo>
                <a:cubicBezTo>
                  <a:pt x="72656" y="66453"/>
                  <a:pt x="38986" y="132907"/>
                  <a:pt x="21265" y="191386"/>
                </a:cubicBezTo>
                <a:cubicBezTo>
                  <a:pt x="3544" y="249865"/>
                  <a:pt x="1772" y="300369"/>
                  <a:pt x="0" y="35087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543090" y="2126512"/>
                <a:ext cx="596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090" y="2126512"/>
                <a:ext cx="59652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901341" y="959463"/>
                <a:ext cx="5472608" cy="1324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are probably familiar with the formula: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𝑜𝑝𝑝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h𝑦𝑝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But what is the </a:t>
                </a:r>
                <a:r>
                  <a:rPr lang="en-GB" i="1" dirty="0"/>
                  <a:t>conceptual</a:t>
                </a:r>
                <a:r>
                  <a:rPr lang="en-GB" dirty="0"/>
                  <a:t> definition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dirty="0"/>
                  <a:t> ?</a:t>
                </a:r>
              </a:p>
              <a:p>
                <a:r>
                  <a:rPr lang="en-GB" b="1" dirty="0"/>
                  <a:t>sin is a </a:t>
                </a:r>
                <a:r>
                  <a:rPr lang="en-GB" b="1" u="sng" dirty="0"/>
                  <a:t>function</a:t>
                </a:r>
                <a:r>
                  <a:rPr lang="en-GB" b="1" dirty="0"/>
                  <a:t> which </a:t>
                </a:r>
                <a:r>
                  <a:rPr lang="en-GB" b="1" u="sng" dirty="0"/>
                  <a:t>inputs an angle</a:t>
                </a:r>
                <a:r>
                  <a:rPr lang="en-GB" b="1" dirty="0"/>
                  <a:t> and gives the </a:t>
                </a:r>
                <a:r>
                  <a:rPr lang="en-GB" b="1" u="sng" dirty="0"/>
                  <a:t>ratio</a:t>
                </a:r>
                <a:r>
                  <a:rPr lang="en-GB" b="1" dirty="0"/>
                  <a:t> between the opposite and hypotenuse.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341" y="959463"/>
                <a:ext cx="5472608" cy="1324914"/>
              </a:xfrm>
              <a:prstGeom prst="rect">
                <a:avLst/>
              </a:prstGeom>
              <a:blipFill>
                <a:blip r:embed="rId3"/>
                <a:stretch>
                  <a:fillRect l="-891" b="-5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336019" y="2391321"/>
            <a:ext cx="4238797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Remember that a ratio just means the ‘relative size’ between quantities (in this case lengths). For this reason, sin/cos/tan are known as “trigonometric ratios”.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3950" y="1718084"/>
            <a:ext cx="5042934" cy="546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28" name="Group 27"/>
          <p:cNvGrpSpPr/>
          <p:nvPr/>
        </p:nvGrpSpPr>
        <p:grpSpPr>
          <a:xfrm rot="8891050">
            <a:off x="1933033" y="4013677"/>
            <a:ext cx="2142495" cy="1055989"/>
            <a:chOff x="683568" y="1052736"/>
            <a:chExt cx="2520280" cy="1440160"/>
          </a:xfrm>
        </p:grpSpPr>
        <p:sp>
          <p:nvSpPr>
            <p:cNvPr id="29" name="Right Triangle 28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Freeform: Shape 30"/>
          <p:cNvSpPr/>
          <p:nvPr/>
        </p:nvSpPr>
        <p:spPr>
          <a:xfrm>
            <a:off x="2263775" y="4359275"/>
            <a:ext cx="104775" cy="247650"/>
          </a:xfrm>
          <a:custGeom>
            <a:avLst/>
            <a:gdLst>
              <a:gd name="connsiteX0" fmla="*/ 0 w 104775"/>
              <a:gd name="connsiteY0" fmla="*/ 0 h 247650"/>
              <a:gd name="connsiteX1" fmla="*/ 85725 w 104775"/>
              <a:gd name="connsiteY1" fmla="*/ 133350 h 247650"/>
              <a:gd name="connsiteX2" fmla="*/ 104775 w 104775"/>
              <a:gd name="connsiteY2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775" h="247650">
                <a:moveTo>
                  <a:pt x="0" y="0"/>
                </a:moveTo>
                <a:cubicBezTo>
                  <a:pt x="34131" y="46037"/>
                  <a:pt x="68263" y="92075"/>
                  <a:pt x="85725" y="133350"/>
                </a:cubicBezTo>
                <a:cubicBezTo>
                  <a:pt x="103188" y="174625"/>
                  <a:pt x="103981" y="211137"/>
                  <a:pt x="104775" y="24765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283312" y="4230505"/>
                <a:ext cx="596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312" y="4230505"/>
                <a:ext cx="5965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2579266" y="3644433"/>
            <a:ext cx="35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997808" y="4512628"/>
                <a:ext cx="351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808" y="4512628"/>
                <a:ext cx="3512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425826" y="3459767"/>
                <a:ext cx="136758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826" y="3459767"/>
                <a:ext cx="1367580" cy="369332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222455" y="3927229"/>
                <a:ext cx="2800350" cy="1050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=11.7 (3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455" y="3927229"/>
                <a:ext cx="2800350" cy="10506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914726" y="3384718"/>
                <a:ext cx="3615891" cy="61241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You can swap the thing you’re dividing by and the result. 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400" i="1">
                        <a:latin typeface="Cambria Math" panose="02040503050406030204" pitchFamily="18" charset="0"/>
                      </a:rPr>
                      <m:t>=4 →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/>
                  <a:t>. 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726" y="3384718"/>
                <a:ext cx="3615891" cy="612412"/>
              </a:xfrm>
              <a:prstGeom prst="rect">
                <a:avLst/>
              </a:prstGeom>
              <a:blipFill>
                <a:blip r:embed="rId8"/>
                <a:stretch>
                  <a:fillRect l="-168" b="-9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>
            <a:off x="5793407" y="3944680"/>
            <a:ext cx="1121301" cy="567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 rot="10800000">
            <a:off x="1894467" y="5482817"/>
            <a:ext cx="2142495" cy="1055989"/>
            <a:chOff x="683568" y="1052736"/>
            <a:chExt cx="2520280" cy="1440160"/>
          </a:xfrm>
        </p:grpSpPr>
        <p:sp>
          <p:nvSpPr>
            <p:cNvPr id="41" name="Right Triangle 40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409729" y="5328610"/>
                <a:ext cx="136758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29" y="5328610"/>
                <a:ext cx="1367580" cy="369332"/>
              </a:xfrm>
              <a:prstGeom prst="rect">
                <a:avLst/>
              </a:prstGeom>
              <a:blipFill>
                <a:blip r:embed="rId9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Freeform: Shape 44"/>
          <p:cNvSpPr/>
          <p:nvPr/>
        </p:nvSpPr>
        <p:spPr>
          <a:xfrm>
            <a:off x="3670300" y="6233300"/>
            <a:ext cx="355600" cy="116700"/>
          </a:xfrm>
          <a:custGeom>
            <a:avLst/>
            <a:gdLst>
              <a:gd name="connsiteX0" fmla="*/ 0 w 355600"/>
              <a:gd name="connsiteY0" fmla="*/ 116700 h 116700"/>
              <a:gd name="connsiteX1" fmla="*/ 139700 w 355600"/>
              <a:gd name="connsiteY1" fmla="*/ 15100 h 116700"/>
              <a:gd name="connsiteX2" fmla="*/ 355600 w 355600"/>
              <a:gd name="connsiteY2" fmla="*/ 2400 h 11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116700">
                <a:moveTo>
                  <a:pt x="0" y="116700"/>
                </a:moveTo>
                <a:cubicBezTo>
                  <a:pt x="40216" y="75425"/>
                  <a:pt x="80433" y="34150"/>
                  <a:pt x="139700" y="15100"/>
                </a:cubicBezTo>
                <a:cubicBezTo>
                  <a:pt x="198967" y="-3950"/>
                  <a:pt x="277283" y="-775"/>
                  <a:pt x="355600" y="24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467708" y="5909704"/>
                <a:ext cx="596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5909704"/>
                <a:ext cx="59652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047716" y="5770774"/>
                <a:ext cx="351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716" y="5770774"/>
                <a:ext cx="3512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974328" y="5114051"/>
                <a:ext cx="351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328" y="5114051"/>
                <a:ext cx="35125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129867" y="5679355"/>
                <a:ext cx="2800350" cy="1113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=59.0°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867" y="5679355"/>
                <a:ext cx="2800350" cy="111319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930217" y="4771414"/>
                <a:ext cx="3600400" cy="181588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reflections</a:t>
                </a:r>
                <a:r>
                  <a:rPr lang="en-GB" sz="1400" dirty="0"/>
                  <a:t>: You may have been taught “use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/>
                  <a:t> whenever you’re finding an angle”, and therefore write the second line directly. It is preferable to always write the first line, then see the problem as a ‘changing the subject’ one. We need to remove the tan on front of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400" dirty="0"/>
                  <a:t>, so apply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/>
                  <a:t> to each side of the equation to ‘cancel out’ the tan on the LHS.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217" y="4771414"/>
                <a:ext cx="3600400" cy="1815882"/>
              </a:xfrm>
              <a:prstGeom prst="rect">
                <a:avLst/>
              </a:prstGeom>
              <a:blipFill>
                <a:blip r:embed="rId14"/>
                <a:stretch>
                  <a:fillRect l="-168" b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/>
          <p:cNvSpPr/>
          <p:nvPr/>
        </p:nvSpPr>
        <p:spPr>
          <a:xfrm>
            <a:off x="4495108" y="3901481"/>
            <a:ext cx="2314437" cy="10449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71614" y="5722748"/>
            <a:ext cx="2314437" cy="10449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869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7" grpId="0" animBg="1"/>
      <p:bldP spid="50" grpId="0" animBg="1"/>
      <p:bldP spid="51" grpId="0" animBg="1"/>
      <p:bldP spid="53" grpId="0" animBg="1"/>
    </p:bldLst>
  </p:timing>
</p:sld>
</file>

<file path=ppt/c9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Proof of Cosine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>
            <a:off x="3686335" y="3286111"/>
            <a:ext cx="41764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456041" y="908721"/>
            <a:ext cx="1406759" cy="23773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686336" y="908719"/>
            <a:ext cx="2769705" cy="2377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6456041" y="908719"/>
            <a:ext cx="1" cy="237739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6456040" y="2996952"/>
            <a:ext cx="2880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744072" y="2996952"/>
            <a:ext cx="1" cy="28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906182" y="156742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82" y="1567425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159419" y="172808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419" y="1728082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424142" y="206517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142" y="2065170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77273" y="3286110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273" y="3286110"/>
                <a:ext cx="82101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748912" y="3246024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12" y="3246024"/>
                <a:ext cx="8210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063552" y="1052737"/>
                <a:ext cx="26642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want to use Pythagoras, so split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into two so that we get two right-angled triangles.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1052737"/>
                <a:ext cx="2664296" cy="1200329"/>
              </a:xfrm>
              <a:prstGeom prst="rect">
                <a:avLst/>
              </a:prstGeom>
              <a:blipFill>
                <a:blip r:embed="rId7"/>
                <a:stretch>
                  <a:fillRect l="-2059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234412" y="4040891"/>
                <a:ext cx="572203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By Pythagoras: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Subtracting to eliminate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𝑐𝑥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12" y="4040891"/>
                <a:ext cx="5722033" cy="1754326"/>
              </a:xfrm>
              <a:prstGeom prst="rect">
                <a:avLst/>
              </a:prstGeom>
              <a:blipFill>
                <a:blip r:embed="rId8"/>
                <a:stretch>
                  <a:fillRect l="-959" t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323876" y="3141531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876" y="3141531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/>
          <p:cNvSpPr/>
          <p:nvPr/>
        </p:nvSpPr>
        <p:spPr>
          <a:xfrm>
            <a:off x="4107713" y="2902688"/>
            <a:ext cx="172483" cy="382772"/>
          </a:xfrm>
          <a:custGeom>
            <a:avLst/>
            <a:gdLst>
              <a:gd name="connsiteX0" fmla="*/ 0 w 172483"/>
              <a:gd name="connsiteY0" fmla="*/ 0 h 382772"/>
              <a:gd name="connsiteX1" fmla="*/ 148855 w 172483"/>
              <a:gd name="connsiteY1" fmla="*/ 212652 h 382772"/>
              <a:gd name="connsiteX2" fmla="*/ 170121 w 172483"/>
              <a:gd name="connsiteY2" fmla="*/ 382772 h 38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483" h="382772">
                <a:moveTo>
                  <a:pt x="0" y="0"/>
                </a:moveTo>
                <a:cubicBezTo>
                  <a:pt x="60251" y="74428"/>
                  <a:pt x="120502" y="148857"/>
                  <a:pt x="148855" y="212652"/>
                </a:cubicBezTo>
                <a:cubicBezTo>
                  <a:pt x="177209" y="276447"/>
                  <a:pt x="173665" y="329609"/>
                  <a:pt x="170121" y="38277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618203"/>
      </p:ext>
    </p:extLst>
  </p:cSld>
  <p:clrMapOvr>
    <a:masterClrMapping/>
  </p:clrMapOvr>
</p:sld>
</file>

<file path=ppt/c9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Proof of 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>
            <a:off x="5158393" y="3562086"/>
            <a:ext cx="41764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28099" y="1184696"/>
            <a:ext cx="1406759" cy="23773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158394" y="1184694"/>
            <a:ext cx="2769705" cy="2377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7928099" y="1184694"/>
            <a:ext cx="1" cy="237739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928098" y="3272927"/>
            <a:ext cx="2880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216130" y="3272927"/>
            <a:ext cx="1" cy="28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378240" y="184340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240" y="1843400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631477" y="2004057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477" y="2004057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896200" y="234114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00" y="2341145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27796" y="3753471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796" y="3753471"/>
                <a:ext cx="82101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999756" y="1105899"/>
                <a:ext cx="3206008" cy="147732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The idea is that we can use the common length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𝐴𝐶𝑋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𝑋𝐵𝐶</m:t>
                    </m:r>
                  </m:oMath>
                </a14:m>
                <a:r>
                  <a:rPr lang="en-GB" dirty="0"/>
                  <a:t>, i.e.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, to connect the two triangles, and therefore connect their angles/length.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756" y="1105899"/>
                <a:ext cx="3206008" cy="1477328"/>
              </a:xfrm>
              <a:prstGeom prst="rect">
                <a:avLst/>
              </a:prstGeom>
              <a:blipFill>
                <a:blip r:embed="rId6"/>
                <a:stretch>
                  <a:fillRect l="-1132" t="-1215" b="-44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79346" y="4490234"/>
                <a:ext cx="5722033" cy="1449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basic trigonometry: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</m:oMath>
                </a14:m>
                <a:r>
                  <a:rPr lang="en-GB" dirty="0"/>
                  <a:t>       and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346" y="4490234"/>
                <a:ext cx="5722033" cy="1449243"/>
              </a:xfrm>
              <a:prstGeom prst="rect">
                <a:avLst/>
              </a:prstGeom>
              <a:blipFill>
                <a:blip r:embed="rId7"/>
                <a:stretch>
                  <a:fillRect l="-852" t="-25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95934" y="341750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934" y="3417506"/>
                <a:ext cx="3600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155974" y="3850634"/>
            <a:ext cx="40682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345126" y="338625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126" y="3386258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17829" y="95534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829" y="955349"/>
                <a:ext cx="36004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743971" y="352771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971" y="3527715"/>
                <a:ext cx="3600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371741"/>
      </p:ext>
    </p:extLst>
  </p:cSld>
  <p:clrMapOvr>
    <a:masterClrMapping/>
  </p:clrMapOvr>
</p:sld>
</file>

<file path=ppt/c9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373998" y="704576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Why does “cosine” contains the word “sine”?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736514" y="2391412"/>
            <a:ext cx="2483467" cy="2899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855640" y="1772816"/>
            <a:ext cx="1223772" cy="753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reeform: Shape 10"/>
          <p:cNvSpPr/>
          <p:nvPr/>
        </p:nvSpPr>
        <p:spPr>
          <a:xfrm>
            <a:off x="3302208" y="2250292"/>
            <a:ext cx="170121" cy="340241"/>
          </a:xfrm>
          <a:custGeom>
            <a:avLst/>
            <a:gdLst>
              <a:gd name="connsiteX0" fmla="*/ 0 w 170121"/>
              <a:gd name="connsiteY0" fmla="*/ 0 h 340241"/>
              <a:gd name="connsiteX1" fmla="*/ 138223 w 170121"/>
              <a:gd name="connsiteY1" fmla="*/ 180753 h 340241"/>
              <a:gd name="connsiteX2" fmla="*/ 170121 w 170121"/>
              <a:gd name="connsiteY2" fmla="*/ 340241 h 3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121" h="340241">
                <a:moveTo>
                  <a:pt x="0" y="0"/>
                </a:moveTo>
                <a:cubicBezTo>
                  <a:pt x="54935" y="62023"/>
                  <a:pt x="109870" y="124046"/>
                  <a:pt x="138223" y="180753"/>
                </a:cubicBezTo>
                <a:cubicBezTo>
                  <a:pt x="166577" y="237460"/>
                  <a:pt x="168349" y="288850"/>
                  <a:pt x="170121" y="34024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>
            <a:off x="2472869" y="2243694"/>
            <a:ext cx="712381" cy="229881"/>
          </a:xfrm>
          <a:custGeom>
            <a:avLst/>
            <a:gdLst>
              <a:gd name="connsiteX0" fmla="*/ 712381 w 712381"/>
              <a:gd name="connsiteY0" fmla="*/ 81026 h 229881"/>
              <a:gd name="connsiteX1" fmla="*/ 393404 w 712381"/>
              <a:gd name="connsiteY1" fmla="*/ 6598 h 229881"/>
              <a:gd name="connsiteX2" fmla="*/ 0 w 712381"/>
              <a:gd name="connsiteY2" fmla="*/ 229881 h 22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2381" h="229881">
                <a:moveTo>
                  <a:pt x="712381" y="81026"/>
                </a:moveTo>
                <a:cubicBezTo>
                  <a:pt x="612257" y="31407"/>
                  <a:pt x="512134" y="-18211"/>
                  <a:pt x="393404" y="6598"/>
                </a:cubicBezTo>
                <a:cubicBezTo>
                  <a:pt x="274674" y="31407"/>
                  <a:pt x="137337" y="130644"/>
                  <a:pt x="0" y="22988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641783" y="1849016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783" y="1849016"/>
                <a:ext cx="49012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370408" y="2138454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408" y="2138454"/>
                <a:ext cx="4901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17637" y="2883016"/>
                <a:ext cx="25202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Supplementary Angles</a:t>
                </a:r>
              </a:p>
              <a:p>
                <a:pPr algn="ctr"/>
                <a:r>
                  <a:rPr lang="en-GB" dirty="0"/>
                  <a:t>add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637" y="2883016"/>
                <a:ext cx="2520280" cy="646331"/>
              </a:xfrm>
              <a:prstGeom prst="rect">
                <a:avLst/>
              </a:prstGeom>
              <a:blipFill>
                <a:blip r:embed="rId4"/>
                <a:stretch>
                  <a:fillRect l="-2000"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615366" y="2883016"/>
                <a:ext cx="25202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Complementary Angles</a:t>
                </a:r>
              </a:p>
              <a:p>
                <a:pPr algn="ctr"/>
                <a:r>
                  <a:rPr lang="en-GB" dirty="0"/>
                  <a:t>add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366" y="2883016"/>
                <a:ext cx="2520280" cy="646331"/>
              </a:xfrm>
              <a:prstGeom prst="rect">
                <a:avLst/>
              </a:prstGeom>
              <a:blipFill>
                <a:blip r:embed="rId5"/>
                <a:stretch>
                  <a:fillRect l="-2000"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4977978" y="2553876"/>
            <a:ext cx="1025499" cy="1800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6003476" y="1553450"/>
            <a:ext cx="217552" cy="11804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643437" y="1661846"/>
            <a:ext cx="360041" cy="1072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reeform: Shape 24"/>
          <p:cNvSpPr/>
          <p:nvPr/>
        </p:nvSpPr>
        <p:spPr>
          <a:xfrm>
            <a:off x="5702868" y="2452610"/>
            <a:ext cx="205740" cy="228600"/>
          </a:xfrm>
          <a:custGeom>
            <a:avLst/>
            <a:gdLst>
              <a:gd name="connsiteX0" fmla="*/ 0 w 205740"/>
              <a:gd name="connsiteY0" fmla="*/ 228600 h 228600"/>
              <a:gd name="connsiteX1" fmla="*/ 83820 w 205740"/>
              <a:gd name="connsiteY1" fmla="*/ 76200 h 228600"/>
              <a:gd name="connsiteX2" fmla="*/ 205740 w 205740"/>
              <a:gd name="connsiteY2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740" h="228600">
                <a:moveTo>
                  <a:pt x="0" y="228600"/>
                </a:moveTo>
                <a:cubicBezTo>
                  <a:pt x="24765" y="171450"/>
                  <a:pt x="49530" y="114300"/>
                  <a:pt x="83820" y="76200"/>
                </a:cubicBezTo>
                <a:cubicBezTo>
                  <a:pt x="118110" y="38100"/>
                  <a:pt x="161925" y="19050"/>
                  <a:pt x="20574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: Shape 25"/>
          <p:cNvSpPr/>
          <p:nvPr/>
        </p:nvSpPr>
        <p:spPr>
          <a:xfrm>
            <a:off x="5885748" y="2376282"/>
            <a:ext cx="182880" cy="22989"/>
          </a:xfrm>
          <a:custGeom>
            <a:avLst/>
            <a:gdLst>
              <a:gd name="connsiteX0" fmla="*/ 0 w 182880"/>
              <a:gd name="connsiteY0" fmla="*/ 22989 h 22989"/>
              <a:gd name="connsiteX1" fmla="*/ 99060 w 182880"/>
              <a:gd name="connsiteY1" fmla="*/ 129 h 22989"/>
              <a:gd name="connsiteX2" fmla="*/ 182880 w 182880"/>
              <a:gd name="connsiteY2" fmla="*/ 15369 h 2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22989">
                <a:moveTo>
                  <a:pt x="0" y="22989"/>
                </a:moveTo>
                <a:cubicBezTo>
                  <a:pt x="34290" y="12194"/>
                  <a:pt x="68580" y="1399"/>
                  <a:pt x="99060" y="129"/>
                </a:cubicBezTo>
                <a:cubicBezTo>
                  <a:pt x="129540" y="-1141"/>
                  <a:pt x="156210" y="7114"/>
                  <a:pt x="182880" y="15369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420795" y="2230715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795" y="2230715"/>
                <a:ext cx="4901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5730902" y="2002115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902" y="2002115"/>
                <a:ext cx="4901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/>
          <p:cNvSpPr/>
          <p:nvPr/>
        </p:nvSpPr>
        <p:spPr>
          <a:xfrm>
            <a:off x="7067264" y="2144251"/>
            <a:ext cx="576064" cy="3231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7866358" y="2901261"/>
            <a:ext cx="2488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Therefore these angles are complementary.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8305967" y="1660661"/>
            <a:ext cx="1644962" cy="1025603"/>
            <a:chOff x="683568" y="1052736"/>
            <a:chExt cx="2520280" cy="1440160"/>
          </a:xfrm>
        </p:grpSpPr>
        <p:sp>
          <p:nvSpPr>
            <p:cNvPr id="33" name="Right Triangle 32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Freeform: Shape 30"/>
          <p:cNvSpPr/>
          <p:nvPr/>
        </p:nvSpPr>
        <p:spPr>
          <a:xfrm>
            <a:off x="8309085" y="1815719"/>
            <a:ext cx="228600" cy="144780"/>
          </a:xfrm>
          <a:custGeom>
            <a:avLst/>
            <a:gdLst>
              <a:gd name="connsiteX0" fmla="*/ 0 w 228600"/>
              <a:gd name="connsiteY0" fmla="*/ 144780 h 144780"/>
              <a:gd name="connsiteX1" fmla="*/ 137160 w 228600"/>
              <a:gd name="connsiteY1" fmla="*/ 91440 h 144780"/>
              <a:gd name="connsiteX2" fmla="*/ 228600 w 228600"/>
              <a:gd name="connsiteY2" fmla="*/ 0 h 14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144780">
                <a:moveTo>
                  <a:pt x="0" y="144780"/>
                </a:moveTo>
                <a:cubicBezTo>
                  <a:pt x="49530" y="130175"/>
                  <a:pt x="99060" y="115570"/>
                  <a:pt x="137160" y="91440"/>
                </a:cubicBezTo>
                <a:cubicBezTo>
                  <a:pt x="175260" y="67310"/>
                  <a:pt x="201930" y="33655"/>
                  <a:pt x="2286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/>
          <p:cNvSpPr/>
          <p:nvPr/>
        </p:nvSpPr>
        <p:spPr>
          <a:xfrm>
            <a:off x="9503985" y="2455799"/>
            <a:ext cx="70020" cy="220980"/>
          </a:xfrm>
          <a:custGeom>
            <a:avLst/>
            <a:gdLst>
              <a:gd name="connsiteX0" fmla="*/ 70020 w 70020"/>
              <a:gd name="connsiteY0" fmla="*/ 0 h 220980"/>
              <a:gd name="connsiteX1" fmla="*/ 9060 w 70020"/>
              <a:gd name="connsiteY1" fmla="*/ 121920 h 220980"/>
              <a:gd name="connsiteX2" fmla="*/ 1440 w 70020"/>
              <a:gd name="connsiteY2" fmla="*/ 22098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20" h="220980">
                <a:moveTo>
                  <a:pt x="70020" y="0"/>
                </a:moveTo>
                <a:cubicBezTo>
                  <a:pt x="45255" y="42545"/>
                  <a:pt x="20490" y="85090"/>
                  <a:pt x="9060" y="121920"/>
                </a:cubicBezTo>
                <a:cubicBezTo>
                  <a:pt x="-2370" y="158750"/>
                  <a:pt x="-465" y="189865"/>
                  <a:pt x="1440" y="2209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8248900" y="1875138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900" y="1875138"/>
                <a:ext cx="4901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9110662" y="2309318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0662" y="2309318"/>
                <a:ext cx="4901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 flipV="1">
            <a:off x="8577273" y="2244470"/>
            <a:ext cx="205068" cy="656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8884481" y="2516760"/>
            <a:ext cx="300905" cy="353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6565449" y="4137861"/>
            <a:ext cx="1644962" cy="1025603"/>
            <a:chOff x="683568" y="1052736"/>
            <a:chExt cx="2520280" cy="1440160"/>
          </a:xfrm>
        </p:grpSpPr>
        <p:sp>
          <p:nvSpPr>
            <p:cNvPr id="46" name="Right Triangle 45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4" name="Freeform: Shape 43"/>
          <p:cNvSpPr/>
          <p:nvPr/>
        </p:nvSpPr>
        <p:spPr>
          <a:xfrm>
            <a:off x="6564356" y="4299089"/>
            <a:ext cx="266700" cy="142875"/>
          </a:xfrm>
          <a:custGeom>
            <a:avLst/>
            <a:gdLst>
              <a:gd name="connsiteX0" fmla="*/ 0 w 266700"/>
              <a:gd name="connsiteY0" fmla="*/ 142875 h 142875"/>
              <a:gd name="connsiteX1" fmla="*/ 152400 w 266700"/>
              <a:gd name="connsiteY1" fmla="*/ 95250 h 142875"/>
              <a:gd name="connsiteX2" fmla="*/ 266700 w 266700"/>
              <a:gd name="connsiteY2" fmla="*/ 0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700" h="142875">
                <a:moveTo>
                  <a:pt x="0" y="142875"/>
                </a:moveTo>
                <a:cubicBezTo>
                  <a:pt x="53975" y="130968"/>
                  <a:pt x="107950" y="119062"/>
                  <a:pt x="152400" y="95250"/>
                </a:cubicBezTo>
                <a:cubicBezTo>
                  <a:pt x="196850" y="71438"/>
                  <a:pt x="231775" y="35719"/>
                  <a:pt x="2667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: Shape 47"/>
          <p:cNvSpPr/>
          <p:nvPr/>
        </p:nvSpPr>
        <p:spPr>
          <a:xfrm>
            <a:off x="7764506" y="4937263"/>
            <a:ext cx="57150" cy="228600"/>
          </a:xfrm>
          <a:custGeom>
            <a:avLst/>
            <a:gdLst>
              <a:gd name="connsiteX0" fmla="*/ 0 w 57150"/>
              <a:gd name="connsiteY0" fmla="*/ 228600 h 228600"/>
              <a:gd name="connsiteX1" fmla="*/ 9525 w 57150"/>
              <a:gd name="connsiteY1" fmla="*/ 104775 h 228600"/>
              <a:gd name="connsiteX2" fmla="*/ 57150 w 57150"/>
              <a:gd name="connsiteY2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228600">
                <a:moveTo>
                  <a:pt x="0" y="228600"/>
                </a:moveTo>
                <a:cubicBezTo>
                  <a:pt x="0" y="185737"/>
                  <a:pt x="0" y="142875"/>
                  <a:pt x="9525" y="104775"/>
                </a:cubicBezTo>
                <a:cubicBezTo>
                  <a:pt x="19050" y="66675"/>
                  <a:pt x="38100" y="33337"/>
                  <a:pt x="571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/>
              <p:cNvSpPr txBox="1"/>
              <p:nvPr/>
            </p:nvSpPr>
            <p:spPr>
              <a:xfrm>
                <a:off x="6544741" y="4375625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741" y="4375625"/>
                <a:ext cx="490126" cy="369332"/>
              </a:xfrm>
              <a:prstGeom prst="rect">
                <a:avLst/>
              </a:prstGeom>
              <a:blipFill>
                <a:blip r:embed="rId9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7313165" y="4792325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165" y="4792325"/>
                <a:ext cx="490126" cy="369332"/>
              </a:xfrm>
              <a:prstGeom prst="rect">
                <a:avLst/>
              </a:prstGeom>
              <a:blipFill>
                <a:blip r:embed="rId10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7034867" y="5214756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67" y="5214756"/>
                <a:ext cx="490126" cy="369332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6168333" y="4518500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333" y="4518500"/>
                <a:ext cx="4901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7251136" y="4185859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136" y="4185859"/>
                <a:ext cx="49012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8256653" y="3961695"/>
                <a:ext cx="1750437" cy="564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653" y="3961695"/>
                <a:ext cx="1750437" cy="564898"/>
              </a:xfrm>
              <a:prstGeom prst="rect">
                <a:avLst/>
              </a:prstGeom>
              <a:blipFill>
                <a:blip r:embed="rId1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8283342" y="4581113"/>
                <a:ext cx="1750437" cy="564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342" y="4581113"/>
                <a:ext cx="1750437" cy="564898"/>
              </a:xfrm>
              <a:prstGeom prst="rect">
                <a:avLst/>
              </a:prstGeom>
              <a:blipFill>
                <a:blip r:embed="rId15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8116555" y="5237877"/>
                <a:ext cx="23486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𝟒𝟎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5" y="5237877"/>
                <a:ext cx="234861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1691800" y="3671402"/>
            <a:ext cx="4100125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i.e. The </a:t>
            </a:r>
            <a:r>
              <a:rPr lang="en-GB" b="1" dirty="0"/>
              <a:t>cosine</a:t>
            </a:r>
            <a:r>
              <a:rPr lang="en-GB" dirty="0"/>
              <a:t> of an angle is the </a:t>
            </a:r>
            <a:r>
              <a:rPr lang="en-GB" b="1" dirty="0"/>
              <a:t>sine</a:t>
            </a:r>
            <a:r>
              <a:rPr lang="en-GB" dirty="0"/>
              <a:t> of the </a:t>
            </a:r>
            <a:r>
              <a:rPr lang="en-GB" b="1" dirty="0"/>
              <a:t>complementary</a:t>
            </a:r>
            <a:r>
              <a:rPr lang="en-GB" dirty="0"/>
              <a:t> angle.</a:t>
            </a:r>
          </a:p>
          <a:p>
            <a:r>
              <a:rPr lang="en-GB" dirty="0"/>
              <a:t>Hence </a:t>
            </a:r>
            <a:r>
              <a:rPr lang="en-GB" b="1" dirty="0"/>
              <a:t>cosine = COMPLEMENTARY SINE</a:t>
            </a:r>
          </a:p>
        </p:txBody>
      </p:sp>
      <p:sp>
        <p:nvSpPr>
          <p:cNvPr id="60" name="Arrow: Right 59"/>
          <p:cNvSpPr/>
          <p:nvPr/>
        </p:nvSpPr>
        <p:spPr>
          <a:xfrm rot="7815011">
            <a:off x="7640895" y="3685449"/>
            <a:ext cx="450925" cy="3231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Arrow: Right 60"/>
          <p:cNvSpPr/>
          <p:nvPr/>
        </p:nvSpPr>
        <p:spPr>
          <a:xfrm rot="10800000">
            <a:off x="5434151" y="4903923"/>
            <a:ext cx="450925" cy="3231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/>
          <p:cNvSpPr/>
          <p:nvPr/>
        </p:nvSpPr>
        <p:spPr>
          <a:xfrm>
            <a:off x="9534635" y="3902103"/>
            <a:ext cx="717550" cy="606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34635" y="4544751"/>
            <a:ext cx="717550" cy="606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055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5" grpId="0"/>
      <p:bldP spid="14" grpId="0"/>
      <p:bldP spid="17" grpId="0"/>
      <p:bldP spid="25" grpId="0" animBg="1"/>
      <p:bldP spid="26" grpId="0" animBg="1"/>
      <p:bldP spid="28" grpId="0"/>
      <p:bldP spid="29" grpId="0"/>
      <p:bldP spid="27" grpId="0" animBg="1"/>
      <p:bldP spid="30" grpId="0"/>
      <p:bldP spid="31" grpId="0" animBg="1"/>
      <p:bldP spid="35" grpId="0" animBg="1"/>
      <p:bldP spid="37" grpId="0"/>
      <p:bldP spid="38" grpId="0"/>
      <p:bldP spid="44" grpId="0" animBg="1"/>
      <p:bldP spid="48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49" grpId="0" animBg="1"/>
      <p:bldP spid="60" grpId="0" animBg="1"/>
      <p:bldP spid="61" grpId="0" animBg="1"/>
      <p:bldP spid="62" grpId="0" animBg="1"/>
      <p:bldP spid="62" grpId="1" animBg="1"/>
      <p:bldP spid="63" grpId="0" animBg="1"/>
      <p:bldP spid="63" grpId="1" animBg="1"/>
    </p:bldLst>
  </p:timing>
</p:sld>
</file>

<file path=ppt/c9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OVERVIEW: Finding missing sides and angles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977054"/>
              </p:ext>
            </p:extLst>
          </p:nvPr>
        </p:nvGraphicFramePr>
        <p:xfrm>
          <a:off x="2180794" y="1662899"/>
          <a:ext cx="6029113" cy="4705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#1: Two angle-side opposite pairs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Missing angle</a:t>
                      </a:r>
                      <a:r>
                        <a:rPr lang="en-GB" sz="2000" baseline="0" dirty="0">
                          <a:effectLst/>
                        </a:rPr>
                        <a:t> or side in one pair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#2 Two sides known and a missing side opposite a known angle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8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Remaining side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Cosine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#3 All three sides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An angle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Cosine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8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#4 Two sides known and a missing side </a:t>
                      </a:r>
                      <a:r>
                        <a:rPr lang="en-GB" sz="2000" u="sng" dirty="0">
                          <a:effectLst/>
                        </a:rPr>
                        <a:t>not</a:t>
                      </a:r>
                      <a:r>
                        <a:rPr lang="en-GB" sz="2000" dirty="0">
                          <a:effectLst/>
                        </a:rPr>
                        <a:t> opposite known angle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Remaining side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 twice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459769"/>
              </p:ext>
            </p:extLst>
          </p:nvPr>
        </p:nvGraphicFramePr>
        <p:xfrm>
          <a:off x="8414267" y="4271946"/>
          <a:ext cx="1227377" cy="1177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80952" imgH="1514686" progId="Paint.Picture">
                  <p:embed/>
                </p:oleObj>
              </mc:Choice>
              <mc:Fallback>
                <p:oleObj name="Bitmap Image" r:id="rId2" imgW="1580952" imgH="1514686" progId="Paint.Picture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4267" y="4271946"/>
                        <a:ext cx="1227377" cy="11777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868954"/>
              </p:ext>
            </p:extLst>
          </p:nvPr>
        </p:nvGraphicFramePr>
        <p:xfrm>
          <a:off x="8703484" y="3155053"/>
          <a:ext cx="1103753" cy="1116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409897" imgH="1448002" progId="Paint.Picture">
                  <p:embed/>
                </p:oleObj>
              </mc:Choice>
              <mc:Fallback>
                <p:oleObj name="Bitmap Image" r:id="rId4" imgW="1409897" imgH="1448002" progId="Paint.Picture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3484" y="3155053"/>
                        <a:ext cx="1103753" cy="11168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045893"/>
              </p:ext>
            </p:extLst>
          </p:nvPr>
        </p:nvGraphicFramePr>
        <p:xfrm>
          <a:off x="8502438" y="5449733"/>
          <a:ext cx="1304799" cy="1275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1590897" imgH="1542857" progId="Paint.Picture">
                  <p:embed/>
                </p:oleObj>
              </mc:Choice>
              <mc:Fallback>
                <p:oleObj name="Bitmap Image" r:id="rId6" imgW="1590897" imgH="1542857" progId="Paint.Picture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2438" y="5449733"/>
                        <a:ext cx="1304799" cy="12758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061251"/>
              </p:ext>
            </p:extLst>
          </p:nvPr>
        </p:nvGraphicFramePr>
        <p:xfrm>
          <a:off x="8561040" y="1633307"/>
          <a:ext cx="1224136" cy="1298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8" imgW="1504762" imgH="1580952" progId="Paint.Picture">
                  <p:embed/>
                </p:oleObj>
              </mc:Choice>
              <mc:Fallback>
                <p:oleObj name="Bitmap Image" r:id="rId8" imgW="1504762" imgH="1580952" progId="Paint.Picture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040" y="1633307"/>
                        <a:ext cx="1224136" cy="12987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6579508" y="1943817"/>
            <a:ext cx="1619250" cy="10751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79507" y="3018971"/>
            <a:ext cx="1619250" cy="1206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9507" y="4225251"/>
            <a:ext cx="1619250" cy="10751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79507" y="5300405"/>
            <a:ext cx="1619250" cy="10678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0442" y="721695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triangles are not right-angled, we can no longer use simple trigonometric ratios, and must use the cosine and sine rules.</a:t>
            </a:r>
          </a:p>
        </p:txBody>
      </p:sp>
    </p:spTree>
    <p:extLst>
      <p:ext uri="{BB962C8B-B14F-4D97-AF65-F5344CB8AC3E}">
        <p14:creationId xmlns:p14="http://schemas.microsoft.com/office/powerpoint/2010/main" val="421584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c9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86857" y="701519"/>
            <a:ext cx="878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use the </a:t>
            </a:r>
            <a:r>
              <a:rPr lang="en-GB" b="1" dirty="0"/>
              <a:t>cosine rule </a:t>
            </a:r>
            <a:r>
              <a:rPr lang="en-GB" dirty="0"/>
              <a:t>whenever we have </a:t>
            </a:r>
            <a:r>
              <a:rPr lang="en-GB" b="1" dirty="0"/>
              <a:t>three sides </a:t>
            </a:r>
            <a:r>
              <a:rPr lang="en-GB" dirty="0"/>
              <a:t>(and an angle) involved.</a:t>
            </a:r>
          </a:p>
        </p:txBody>
      </p:sp>
      <p:sp>
        <p:nvSpPr>
          <p:cNvPr id="6" name="Freeform 5"/>
          <p:cNvSpPr/>
          <p:nvPr/>
        </p:nvSpPr>
        <p:spPr>
          <a:xfrm>
            <a:off x="2543175" y="2124075"/>
            <a:ext cx="2838450" cy="4019550"/>
          </a:xfrm>
          <a:custGeom>
            <a:avLst/>
            <a:gdLst>
              <a:gd name="connsiteX0" fmla="*/ 161925 w 2838450"/>
              <a:gd name="connsiteY0" fmla="*/ 4019550 h 4019550"/>
              <a:gd name="connsiteX1" fmla="*/ 0 w 2838450"/>
              <a:gd name="connsiteY1" fmla="*/ 1447800 h 4019550"/>
              <a:gd name="connsiteX2" fmla="*/ 2838450 w 2838450"/>
              <a:gd name="connsiteY2" fmla="*/ 0 h 4019550"/>
              <a:gd name="connsiteX3" fmla="*/ 161925 w 2838450"/>
              <a:gd name="connsiteY3" fmla="*/ 4019550 h 401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8450" h="4019550">
                <a:moveTo>
                  <a:pt x="161925" y="4019550"/>
                </a:moveTo>
                <a:lnTo>
                  <a:pt x="0" y="1447800"/>
                </a:lnTo>
                <a:lnTo>
                  <a:pt x="2838450" y="0"/>
                </a:lnTo>
                <a:lnTo>
                  <a:pt x="161925" y="401955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2581276" y="3409950"/>
            <a:ext cx="334873" cy="628650"/>
          </a:xfrm>
          <a:custGeom>
            <a:avLst/>
            <a:gdLst>
              <a:gd name="connsiteX0" fmla="*/ 0 w 334873"/>
              <a:gd name="connsiteY0" fmla="*/ 628650 h 628650"/>
              <a:gd name="connsiteX1" fmla="*/ 190500 w 334873"/>
              <a:gd name="connsiteY1" fmla="*/ 523875 h 628650"/>
              <a:gd name="connsiteX2" fmla="*/ 323850 w 334873"/>
              <a:gd name="connsiteY2" fmla="*/ 314325 h 628650"/>
              <a:gd name="connsiteX3" fmla="*/ 323850 w 334873"/>
              <a:gd name="connsiteY3" fmla="*/ 171450 h 628650"/>
              <a:gd name="connsiteX4" fmla="*/ 295275 w 334873"/>
              <a:gd name="connsiteY4" fmla="*/ 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873" h="628650">
                <a:moveTo>
                  <a:pt x="0" y="628650"/>
                </a:moveTo>
                <a:cubicBezTo>
                  <a:pt x="68262" y="602456"/>
                  <a:pt x="136525" y="576262"/>
                  <a:pt x="190500" y="523875"/>
                </a:cubicBezTo>
                <a:cubicBezTo>
                  <a:pt x="244475" y="471487"/>
                  <a:pt x="301625" y="373062"/>
                  <a:pt x="323850" y="314325"/>
                </a:cubicBezTo>
                <a:cubicBezTo>
                  <a:pt x="346075" y="255588"/>
                  <a:pt x="328612" y="223837"/>
                  <a:pt x="323850" y="171450"/>
                </a:cubicBezTo>
                <a:cubicBezTo>
                  <a:pt x="319088" y="119063"/>
                  <a:pt x="307181" y="59531"/>
                  <a:pt x="295275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11141" y="2492897"/>
                <a:ext cx="6480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15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41" y="2492897"/>
                <a:ext cx="64807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33203" y="4653137"/>
                <a:ext cx="6480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12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203" y="4653137"/>
                <a:ext cx="6480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20772" y="3572219"/>
                <a:ext cx="8326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115°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772" y="3572219"/>
                <a:ext cx="832631" cy="461665"/>
              </a:xfrm>
              <a:prstGeom prst="rect">
                <a:avLst/>
              </a:prstGeom>
              <a:blipFill>
                <a:blip r:embed="rId4"/>
                <a:stretch>
                  <a:fillRect l="-1471" r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69904" y="4191472"/>
                <a:ext cx="6480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904" y="4191472"/>
                <a:ext cx="64807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79976" y="2303067"/>
                <a:ext cx="3889004" cy="830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Cosine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</a:rPr>
                        <m:t>−2</m:t>
                      </m:r>
                      <m:r>
                        <a:rPr lang="en-GB" sz="2400" i="1">
                          <a:latin typeface="Cambria Math"/>
                        </a:rPr>
                        <m:t>𝑏𝑐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2400" i="1">
                              <a:latin typeface="Cambria Math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2303067"/>
                <a:ext cx="3889004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2056918" y="2237849"/>
            <a:ext cx="2742939" cy="2369120"/>
            <a:chOff x="532917" y="2237849"/>
            <a:chExt cx="2742939" cy="23691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843808" y="3803050"/>
                  <a:ext cx="432048" cy="369332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808" y="3803050"/>
                  <a:ext cx="432048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558194" y="3293115"/>
                  <a:ext cx="432048" cy="369332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194" y="3293115"/>
                  <a:ext cx="432048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411760" y="2237849"/>
                  <a:ext cx="432048" cy="369332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1760" y="2237849"/>
                  <a:ext cx="43204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32917" y="4237637"/>
                  <a:ext cx="432048" cy="369332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917" y="4237637"/>
                  <a:ext cx="432048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435836" y="3443200"/>
                <a:ext cx="493937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only angle in formula is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000" dirty="0"/>
                  <a:t>, so label angle in diagram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000" dirty="0"/>
                  <a:t>, label opposite side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, and so on (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can go either way).</a:t>
                </a:r>
              </a:p>
              <a:p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2×15×12×</m:t>
                          </m:r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115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=521.14257…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=22.83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836" y="3443200"/>
                <a:ext cx="4939375" cy="2246769"/>
              </a:xfrm>
              <a:prstGeom prst="rect">
                <a:avLst/>
              </a:prstGeom>
              <a:blipFill>
                <a:blip r:embed="rId11"/>
                <a:stretch>
                  <a:fillRect l="-1358" t="-1630" r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5479152" y="3443199"/>
            <a:ext cx="4897175" cy="10775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How are sides labelled ?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0268" y="4520705"/>
            <a:ext cx="4897175" cy="10775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Calculation?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2508" y="1861841"/>
            <a:ext cx="2407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Proof at end of PowerPoint.</a:t>
            </a:r>
          </a:p>
        </p:txBody>
      </p:sp>
      <p:cxnSp>
        <p:nvCxnSpPr>
          <p:cNvPr id="20" name="Straight Arrow Connector 19"/>
          <p:cNvCxnSpPr>
            <a:stCxn id="13" idx="2"/>
          </p:cNvCxnSpPr>
          <p:nvPr/>
        </p:nvCxnSpPr>
        <p:spPr>
          <a:xfrm flipH="1">
            <a:off x="9120337" y="2169618"/>
            <a:ext cx="165673" cy="323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8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</p:bldLst>
  </p:timing>
</p:sld>
</file>

<file path=ppt/c9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Dealing with Missing Angles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Freeform 5"/>
          <p:cNvSpPr/>
          <p:nvPr/>
        </p:nvSpPr>
        <p:spPr>
          <a:xfrm>
            <a:off x="2253321" y="2747898"/>
            <a:ext cx="2471057" cy="1796143"/>
          </a:xfrm>
          <a:custGeom>
            <a:avLst/>
            <a:gdLst>
              <a:gd name="connsiteX0" fmla="*/ 359228 w 2471057"/>
              <a:gd name="connsiteY0" fmla="*/ 76200 h 1796143"/>
              <a:gd name="connsiteX1" fmla="*/ 0 w 2471057"/>
              <a:gd name="connsiteY1" fmla="*/ 1796143 h 1796143"/>
              <a:gd name="connsiteX2" fmla="*/ 2471057 w 2471057"/>
              <a:gd name="connsiteY2" fmla="*/ 0 h 1796143"/>
              <a:gd name="connsiteX3" fmla="*/ 359228 w 2471057"/>
              <a:gd name="connsiteY3" fmla="*/ 76200 h 179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057" h="1796143">
                <a:moveTo>
                  <a:pt x="359228" y="76200"/>
                </a:moveTo>
                <a:lnTo>
                  <a:pt x="0" y="1796143"/>
                </a:lnTo>
                <a:lnTo>
                  <a:pt x="2471057" y="0"/>
                </a:lnTo>
                <a:lnTo>
                  <a:pt x="359228" y="7620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40791" y="2311015"/>
                <a:ext cx="576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91" y="2311015"/>
                <a:ext cx="57606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37636" y="3269232"/>
                <a:ext cx="5760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636" y="3269232"/>
                <a:ext cx="5760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93954" y="3663775"/>
                <a:ext cx="5760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/>
                        </a:rPr>
                        <m:t>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954" y="3663775"/>
                <a:ext cx="57606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81551" y="2835135"/>
                <a:ext cx="576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51" y="2835135"/>
                <a:ext cx="57606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3929721" y="2758783"/>
            <a:ext cx="185057" cy="446314"/>
          </a:xfrm>
          <a:custGeom>
            <a:avLst/>
            <a:gdLst>
              <a:gd name="connsiteX0" fmla="*/ 0 w 185057"/>
              <a:gd name="connsiteY0" fmla="*/ 0 h 446314"/>
              <a:gd name="connsiteX1" fmla="*/ 32657 w 185057"/>
              <a:gd name="connsiteY1" fmla="*/ 206829 h 446314"/>
              <a:gd name="connsiteX2" fmla="*/ 97971 w 185057"/>
              <a:gd name="connsiteY2" fmla="*/ 359229 h 446314"/>
              <a:gd name="connsiteX3" fmla="*/ 185057 w 185057"/>
              <a:gd name="connsiteY3" fmla="*/ 446314 h 446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57" h="446314">
                <a:moveTo>
                  <a:pt x="0" y="0"/>
                </a:moveTo>
                <a:cubicBezTo>
                  <a:pt x="8164" y="73479"/>
                  <a:pt x="16329" y="146958"/>
                  <a:pt x="32657" y="206829"/>
                </a:cubicBezTo>
                <a:cubicBezTo>
                  <a:pt x="48985" y="266700"/>
                  <a:pt x="72571" y="319315"/>
                  <a:pt x="97971" y="359229"/>
                </a:cubicBezTo>
                <a:cubicBezTo>
                  <a:pt x="123371" y="399143"/>
                  <a:pt x="154214" y="422728"/>
                  <a:pt x="185057" y="44631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89624" y="3645968"/>
                <a:ext cx="3888432" cy="2066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/>
                            </a:rPr>
                            <m:t>𝟒</m:t>
                          </m:r>
                        </m:e>
                        <m:sup>
                          <m:r>
                            <a:rPr lang="en-GB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/>
                            </a:rPr>
                            <m:t>𝟕</m:t>
                          </m:r>
                        </m:e>
                        <m:sup>
                          <m:r>
                            <a:rPr lang="en-GB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/>
                            </a:rPr>
                            <m:t>𝟗</m:t>
                          </m:r>
                        </m:e>
                        <m:sup>
                          <m:r>
                            <a:rPr lang="en-GB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/>
                            </a:rPr>
                            <m:t>𝟐</m:t>
                          </m:r>
                          <m:r>
                            <a:rPr lang="en-GB" b="1" i="1">
                              <a:latin typeface="Cambria Math"/>
                            </a:rPr>
                            <m:t>×</m:t>
                          </m:r>
                          <m:r>
                            <a:rPr lang="en-GB" b="1" i="1">
                              <a:latin typeface="Cambria Math"/>
                            </a:rPr>
                            <m:t>𝟕</m:t>
                          </m:r>
                          <m:r>
                            <a:rPr lang="en-GB" b="1" i="1">
                              <a:latin typeface="Cambria Math"/>
                            </a:rPr>
                            <m:t>×</m:t>
                          </m:r>
                          <m:r>
                            <a:rPr lang="en-GB" b="1" i="1">
                              <a:latin typeface="Cambria Math"/>
                            </a:rPr>
                            <m:t>𝟗</m:t>
                          </m:r>
                          <m:r>
                            <a:rPr lang="en-GB" b="1" i="1">
                              <a:latin typeface="Cambria Math"/>
                            </a:rPr>
                            <m:t>×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/>
                                </a:rPr>
                                <m:t>𝜶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𝟏𝟔</m:t>
                      </m:r>
                      <m:r>
                        <a:rPr lang="en-GB" b="1" i="1">
                          <a:latin typeface="Cambria Math"/>
                        </a:rPr>
                        <m:t>=</m:t>
                      </m:r>
                      <m:r>
                        <a:rPr lang="en-GB" b="1" i="1">
                          <a:latin typeface="Cambria Math"/>
                        </a:rPr>
                        <m:t>𝟏𝟑𝟎</m:t>
                      </m:r>
                      <m:r>
                        <a:rPr lang="en-GB" b="1" i="1">
                          <a:latin typeface="Cambria Math"/>
                        </a:rPr>
                        <m:t>−</m:t>
                      </m:r>
                      <m:r>
                        <a:rPr lang="en-GB" b="1" i="1">
                          <a:latin typeface="Cambria Math"/>
                        </a:rPr>
                        <m:t>𝟏𝟐𝟔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/>
                            </a:rPr>
                            <m:t>𝜶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𝟏𝟐𝟔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/>
                            </a:rPr>
                            <m:t>𝜶</m:t>
                          </m:r>
                        </m:e>
                      </m:func>
                      <m:r>
                        <a:rPr lang="en-GB" b="1" i="1">
                          <a:latin typeface="Cambria Math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𝟏𝟑𝟎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𝟏𝟔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/>
                            </a:rPr>
                            <m:t>𝜶</m:t>
                          </m:r>
                        </m:e>
                      </m:func>
                      <m:r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/>
                            </a:rPr>
                            <m:t>𝟏𝟏𝟒</m:t>
                          </m:r>
                        </m:num>
                        <m:den>
                          <m:r>
                            <a:rPr lang="en-GB" b="1" i="1">
                              <a:latin typeface="Cambria Math"/>
                            </a:rPr>
                            <m:t>𝟏𝟐𝟔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𝜶</m:t>
                      </m:r>
                      <m:r>
                        <a:rPr lang="en-GB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>
                                  <a:latin typeface="Cambria Math"/>
                                </a:rPr>
                                <m:t>𝐜𝐨𝐬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/>
                                </a:rPr>
                                <m:t>𝟏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/>
                                    </a:rPr>
                                    <m:t>𝟏𝟏𝟒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/>
                                    </a:rPr>
                                    <m:t>𝟏𝟐𝟔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b="1" i="1">
                          <a:latin typeface="Cambria Math"/>
                        </a:rPr>
                        <m:t>=</m:t>
                      </m:r>
                      <m:r>
                        <a:rPr lang="en-GB" b="1" i="1">
                          <a:latin typeface="Cambria Math"/>
                        </a:rPr>
                        <m:t>𝟐𝟓</m:t>
                      </m:r>
                      <m:r>
                        <a:rPr lang="en-GB" b="1" i="1">
                          <a:latin typeface="Cambria Math"/>
                        </a:rPr>
                        <m:t>.</m:t>
                      </m:r>
                      <m:r>
                        <a:rPr lang="en-GB" b="1" i="1">
                          <a:latin typeface="Cambria Math"/>
                        </a:rPr>
                        <m:t>𝟐</m:t>
                      </m:r>
                      <m:r>
                        <a:rPr lang="en-GB" b="1" i="1">
                          <a:latin typeface="Cambria Math"/>
                        </a:rPr>
                        <m:t>°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624" y="3645968"/>
                <a:ext cx="3888432" cy="20660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858495" y="3455698"/>
            <a:ext cx="1737272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Label sides then substitute into formula.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0024" y="3974639"/>
            <a:ext cx="1978568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Simplify each bit of formula.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0024" y="4318994"/>
            <a:ext cx="197856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i="1" dirty="0"/>
              <a:t>Rearrange “swapping” thing you’re subtracting and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8675" y="3552059"/>
            <a:ext cx="363483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9698" y="3938172"/>
            <a:ext cx="2987824" cy="3059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9698" y="4244084"/>
            <a:ext cx="2987824" cy="3059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9698" y="4553599"/>
            <a:ext cx="2987824" cy="12333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888162" y="1484784"/>
                <a:ext cx="6088158" cy="53296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lang="en-GB" sz="28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sz="2800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>
                              <a:latin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sz="2800" b="1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>
                              <a:latin typeface="Cambria Math"/>
                            </a:rPr>
                            <m:t>𝒄</m:t>
                          </m:r>
                        </m:e>
                        <m:sup>
                          <m:r>
                            <a:rPr lang="en-GB" sz="28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sz="2800" b="1" i="1">
                          <a:latin typeface="Cambria Math"/>
                        </a:rPr>
                        <m:t>−</m:t>
                      </m:r>
                      <m:r>
                        <a:rPr lang="en-GB" sz="2800" b="1" i="1">
                          <a:latin typeface="Cambria Math"/>
                        </a:rPr>
                        <m:t>𝟐</m:t>
                      </m:r>
                      <m:r>
                        <a:rPr lang="en-GB" sz="2800" b="1" i="1">
                          <a:latin typeface="Cambria Math"/>
                        </a:rPr>
                        <m:t>𝒃𝒄</m:t>
                      </m:r>
                      <m:func>
                        <m:func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800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sz="2800" b="1" i="1">
                              <a:latin typeface="Cambria Math"/>
                            </a:rPr>
                            <m:t>𝑨</m:t>
                          </m:r>
                        </m:e>
                      </m:func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162" y="1484784"/>
                <a:ext cx="6088158" cy="5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025214" y="764704"/>
          <a:ext cx="6029113" cy="5063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06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You have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You want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Use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All three sides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 angle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Cosine rule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234224" y="2466824"/>
                <a:ext cx="3993805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Tip:</a:t>
                </a:r>
                <a:r>
                  <a:rPr lang="en-GB" sz="1200" dirty="0"/>
                  <a:t> The brackets are not needed, but students who forget about BIDMAS see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−2×7×9</m:t>
                        </m:r>
                      </m:e>
                    </m:d>
                    <m:func>
                      <m:func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r>
                  <a:rPr lang="en-GB" sz="1200" dirty="0"/>
                  <a:t> and hence incorrectly simplify to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16=4</m:t>
                    </m:r>
                    <m:func>
                      <m:func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224" y="2466824"/>
                <a:ext cx="3993805" cy="646331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>
            <a:off x="7084829" y="3108965"/>
            <a:ext cx="207483" cy="335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087527" y="5875202"/>
                <a:ext cx="8071922" cy="60426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300" b="1" dirty="0"/>
                  <a:t>Textbook Note</a:t>
                </a:r>
                <a:r>
                  <a:rPr lang="en-GB" sz="1300" dirty="0"/>
                  <a:t>: The textbook presents the rearrangement of the cosine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3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3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𝑏𝑐</m:t>
                        </m:r>
                      </m:den>
                    </m:f>
                  </m:oMath>
                </a14:m>
                <a:r>
                  <a:rPr lang="en-GB" sz="1300" dirty="0"/>
                  <a:t> to find missing angles. It is not advisable to memorise this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527" y="5875202"/>
                <a:ext cx="8071922" cy="604268"/>
              </a:xfrm>
              <a:prstGeom prst="rect">
                <a:avLst/>
              </a:prstGeom>
              <a:blipFill>
                <a:blip r:embed="rId9"/>
                <a:stretch>
                  <a:fillRect r="-376" b="-5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37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5" grpId="0" animBg="1"/>
      <p:bldP spid="29" grpId="0" animBg="1"/>
    </p:bldLst>
  </p:timing>
</p:sld>
</file>

<file path=ppt/c9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Harder Ones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2119041" y="1156612"/>
            <a:ext cx="2923953" cy="1913860"/>
          </a:xfrm>
          <a:custGeom>
            <a:avLst/>
            <a:gdLst>
              <a:gd name="connsiteX0" fmla="*/ 0 w 2923953"/>
              <a:gd name="connsiteY0" fmla="*/ 1701209 h 1913860"/>
              <a:gd name="connsiteX1" fmla="*/ 1052623 w 2923953"/>
              <a:gd name="connsiteY1" fmla="*/ 0 h 1913860"/>
              <a:gd name="connsiteX2" fmla="*/ 2923953 w 2923953"/>
              <a:gd name="connsiteY2" fmla="*/ 1913860 h 1913860"/>
              <a:gd name="connsiteX3" fmla="*/ 0 w 2923953"/>
              <a:gd name="connsiteY3" fmla="*/ 1701209 h 191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3953" h="1913860">
                <a:moveTo>
                  <a:pt x="0" y="1701209"/>
                </a:moveTo>
                <a:lnTo>
                  <a:pt x="1052623" y="0"/>
                </a:lnTo>
                <a:lnTo>
                  <a:pt x="2923953" y="1913860"/>
                </a:lnTo>
                <a:lnTo>
                  <a:pt x="0" y="1701209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/>
          <p:cNvSpPr/>
          <p:nvPr/>
        </p:nvSpPr>
        <p:spPr>
          <a:xfrm>
            <a:off x="2387593" y="2432525"/>
            <a:ext cx="171737" cy="438912"/>
          </a:xfrm>
          <a:custGeom>
            <a:avLst/>
            <a:gdLst>
              <a:gd name="connsiteX0" fmla="*/ 0 w 171737"/>
              <a:gd name="connsiteY0" fmla="*/ 0 h 438912"/>
              <a:gd name="connsiteX1" fmla="*/ 146304 w 171737"/>
              <a:gd name="connsiteY1" fmla="*/ 219456 h 438912"/>
              <a:gd name="connsiteX2" fmla="*/ 170688 w 171737"/>
              <a:gd name="connsiteY2" fmla="*/ 438912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737" h="438912">
                <a:moveTo>
                  <a:pt x="0" y="0"/>
                </a:moveTo>
                <a:cubicBezTo>
                  <a:pt x="58928" y="73152"/>
                  <a:pt x="117856" y="146304"/>
                  <a:pt x="146304" y="219456"/>
                </a:cubicBezTo>
                <a:cubicBezTo>
                  <a:pt x="174752" y="292608"/>
                  <a:pt x="172720" y="365760"/>
                  <a:pt x="170688" y="43891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30488" y="2367389"/>
                <a:ext cx="957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488" y="2367389"/>
                <a:ext cx="95792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26148" y="1618387"/>
                <a:ext cx="4662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148" y="1618387"/>
                <a:ext cx="46624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40192" y="1634482"/>
                <a:ext cx="919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192" y="1634482"/>
                <a:ext cx="9193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17236" y="3016106"/>
                <a:ext cx="857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236" y="3016106"/>
                <a:ext cx="8577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83454" y="1465525"/>
                <a:ext cx="51816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+8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60°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+64−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−63=0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−21=0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454" y="1465525"/>
                <a:ext cx="5181600" cy="1754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44840" y="908844"/>
                <a:ext cx="31683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value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840" y="908844"/>
                <a:ext cx="3168352" cy="369332"/>
              </a:xfrm>
              <a:prstGeom prst="rect">
                <a:avLst/>
              </a:prstGeom>
              <a:blipFill>
                <a:blip r:embed="rId7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565875" y="1456559"/>
            <a:ext cx="4778597" cy="17632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2336792" y="4047108"/>
            <a:ext cx="0" cy="23762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336792" y="4445000"/>
            <a:ext cx="596908" cy="1978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349492" y="4980766"/>
            <a:ext cx="2471936" cy="14426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921002" y="4460216"/>
            <a:ext cx="1900427" cy="5205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354863" y="4337718"/>
                <a:ext cx="8496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863" y="4337718"/>
                <a:ext cx="84967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624615" y="4092065"/>
                <a:ext cx="5412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15" y="4092065"/>
                <a:ext cx="54123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686544" y="4794917"/>
                <a:ext cx="5412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44" y="4794917"/>
                <a:ext cx="5412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: Shape 27"/>
          <p:cNvSpPr/>
          <p:nvPr/>
        </p:nvSpPr>
        <p:spPr>
          <a:xfrm>
            <a:off x="2336506" y="5941237"/>
            <a:ext cx="446567" cy="223284"/>
          </a:xfrm>
          <a:custGeom>
            <a:avLst/>
            <a:gdLst>
              <a:gd name="connsiteX0" fmla="*/ 0 w 446567"/>
              <a:gd name="connsiteY0" fmla="*/ 0 h 223284"/>
              <a:gd name="connsiteX1" fmla="*/ 255181 w 446567"/>
              <a:gd name="connsiteY1" fmla="*/ 85061 h 223284"/>
              <a:gd name="connsiteX2" fmla="*/ 446567 w 446567"/>
              <a:gd name="connsiteY2" fmla="*/ 223284 h 22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6567" h="223284">
                <a:moveTo>
                  <a:pt x="0" y="0"/>
                </a:moveTo>
                <a:cubicBezTo>
                  <a:pt x="90376" y="23923"/>
                  <a:pt x="180753" y="47847"/>
                  <a:pt x="255181" y="85061"/>
                </a:cubicBezTo>
                <a:cubicBezTo>
                  <a:pt x="329609" y="122275"/>
                  <a:pt x="388088" y="172779"/>
                  <a:pt x="446567" y="22328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351689" y="5669159"/>
                <a:ext cx="660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689" y="5669159"/>
                <a:ext cx="66009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979999" y="6451932"/>
                <a:ext cx="5412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999" y="6451932"/>
                <a:ext cx="54123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071326" y="3793862"/>
                <a:ext cx="5412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326" y="3793862"/>
                <a:ext cx="54123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: Shape 31"/>
          <p:cNvSpPr/>
          <p:nvPr/>
        </p:nvSpPr>
        <p:spPr>
          <a:xfrm>
            <a:off x="2325873" y="5473405"/>
            <a:ext cx="276447" cy="74428"/>
          </a:xfrm>
          <a:custGeom>
            <a:avLst/>
            <a:gdLst>
              <a:gd name="connsiteX0" fmla="*/ 0 w 276447"/>
              <a:gd name="connsiteY0" fmla="*/ 0 h 74428"/>
              <a:gd name="connsiteX1" fmla="*/ 148856 w 276447"/>
              <a:gd name="connsiteY1" fmla="*/ 31897 h 74428"/>
              <a:gd name="connsiteX2" fmla="*/ 276447 w 276447"/>
              <a:gd name="connsiteY2" fmla="*/ 74428 h 7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6447" h="74428">
                <a:moveTo>
                  <a:pt x="0" y="0"/>
                </a:moveTo>
                <a:cubicBezTo>
                  <a:pt x="51391" y="9746"/>
                  <a:pt x="102782" y="19492"/>
                  <a:pt x="148856" y="31897"/>
                </a:cubicBezTo>
                <a:cubicBezTo>
                  <a:pt x="194930" y="44302"/>
                  <a:pt x="235688" y="59365"/>
                  <a:pt x="276447" y="74428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197451" y="5098135"/>
                <a:ext cx="660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18°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451" y="5098135"/>
                <a:ext cx="66009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682557" y="4917915"/>
                <a:ext cx="660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4.8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557" y="4917915"/>
                <a:ext cx="660096" cy="369332"/>
              </a:xfrm>
              <a:prstGeom prst="rect">
                <a:avLst/>
              </a:prstGeom>
              <a:blipFill>
                <a:blip r:embed="rId15"/>
                <a:stretch>
                  <a:fillRect r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400433" y="5779753"/>
                <a:ext cx="660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8 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433" y="5779753"/>
                <a:ext cx="660096" cy="369332"/>
              </a:xfrm>
              <a:prstGeom prst="rect">
                <a:avLst/>
              </a:prstGeom>
              <a:blipFill>
                <a:blip r:embed="rId16"/>
                <a:stretch>
                  <a:fillRect r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426174" y="4769518"/>
                <a:ext cx="48100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𝟒𝟐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°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(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𝒔𝒇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GB" b="1" dirty="0"/>
                  <a:t> is 5.47 km from coastguard station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74" y="4769518"/>
                <a:ext cx="4810026" cy="1200329"/>
              </a:xfrm>
              <a:prstGeom prst="rect">
                <a:avLst/>
              </a:prstGeom>
              <a:blipFill>
                <a:blip r:embed="rId17"/>
                <a:stretch>
                  <a:fillRect b="-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1878092" y="3813219"/>
            <a:ext cx="8333910" cy="29647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362015" y="3454187"/>
                <a:ext cx="6016470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[From textbook] Coastguard station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is 8 km, on a bearing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060°</m:t>
                    </m:r>
                  </m:oMath>
                </a14:m>
                <a:r>
                  <a:rPr lang="en-GB" dirty="0"/>
                  <a:t>, from coastguard station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 A ship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4.8 km on a bearing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018°</m:t>
                    </m:r>
                  </m:oMath>
                </a14:m>
                <a:r>
                  <a:rPr lang="en-GB" dirty="0"/>
                  <a:t>, away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 Calculate how far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15" y="3454187"/>
                <a:ext cx="6016470" cy="923330"/>
              </a:xfrm>
              <a:prstGeom prst="rect">
                <a:avLst/>
              </a:prstGeom>
              <a:blipFill>
                <a:blip r:embed="rId18"/>
                <a:stretch>
                  <a:fillRect b="-171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71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13" grpId="0" animBg="1"/>
      <p:bldP spid="38" grpId="0" animBg="1"/>
    </p:bldLst>
  </p:timing>
</p:sld>
</file>

<file path=ppt/c9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1"/>
          <p:cNvSpPr/>
          <p:nvPr/>
        </p:nvSpPr>
        <p:spPr>
          <a:xfrm>
            <a:off x="2152019" y="892413"/>
            <a:ext cx="1600200" cy="2100943"/>
          </a:xfrm>
          <a:custGeom>
            <a:avLst/>
            <a:gdLst>
              <a:gd name="connsiteX0" fmla="*/ 0 w 1600200"/>
              <a:gd name="connsiteY0" fmla="*/ 1621971 h 2100943"/>
              <a:gd name="connsiteX1" fmla="*/ 1600200 w 1600200"/>
              <a:gd name="connsiteY1" fmla="*/ 2100943 h 2100943"/>
              <a:gd name="connsiteX2" fmla="*/ 1589314 w 1600200"/>
              <a:gd name="connsiteY2" fmla="*/ 0 h 2100943"/>
              <a:gd name="connsiteX3" fmla="*/ 0 w 1600200"/>
              <a:gd name="connsiteY3" fmla="*/ 1621971 h 2100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0200" h="2100943">
                <a:moveTo>
                  <a:pt x="0" y="1621971"/>
                </a:moveTo>
                <a:lnTo>
                  <a:pt x="1600200" y="2100943"/>
                </a:lnTo>
                <a:cubicBezTo>
                  <a:pt x="1596571" y="1400629"/>
                  <a:pt x="1592943" y="700314"/>
                  <a:pt x="1589314" y="0"/>
                </a:cubicBezTo>
                <a:lnTo>
                  <a:pt x="0" y="1621971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2"/>
          <p:cNvSpPr/>
          <p:nvPr/>
        </p:nvSpPr>
        <p:spPr>
          <a:xfrm>
            <a:off x="3299631" y="2544865"/>
            <a:ext cx="435429" cy="304800"/>
          </a:xfrm>
          <a:custGeom>
            <a:avLst/>
            <a:gdLst>
              <a:gd name="connsiteX0" fmla="*/ 0 w 435429"/>
              <a:gd name="connsiteY0" fmla="*/ 304800 h 304800"/>
              <a:gd name="connsiteX1" fmla="*/ 76200 w 435429"/>
              <a:gd name="connsiteY1" fmla="*/ 152400 h 304800"/>
              <a:gd name="connsiteX2" fmla="*/ 228600 w 435429"/>
              <a:gd name="connsiteY2" fmla="*/ 43543 h 304800"/>
              <a:gd name="connsiteX3" fmla="*/ 435429 w 435429"/>
              <a:gd name="connsiteY3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429" h="304800">
                <a:moveTo>
                  <a:pt x="0" y="304800"/>
                </a:moveTo>
                <a:cubicBezTo>
                  <a:pt x="19050" y="250371"/>
                  <a:pt x="38100" y="195943"/>
                  <a:pt x="76200" y="152400"/>
                </a:cubicBezTo>
                <a:cubicBezTo>
                  <a:pt x="114300" y="108857"/>
                  <a:pt x="168729" y="68943"/>
                  <a:pt x="228600" y="43543"/>
                </a:cubicBezTo>
                <a:cubicBezTo>
                  <a:pt x="288471" y="18143"/>
                  <a:pt x="361950" y="9071"/>
                  <a:pt x="435429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32376" y="2250763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376" y="2250763"/>
                <a:ext cx="394303" cy="369332"/>
              </a:xfrm>
              <a:prstGeom prst="rect">
                <a:avLst/>
              </a:prstGeom>
              <a:blipFill>
                <a:blip r:embed="rId2"/>
                <a:stretch>
                  <a:fillRect r="-2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57817" y="1321571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817" y="1321571"/>
                <a:ext cx="39430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23645" y="1785716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645" y="1785716"/>
                <a:ext cx="39430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74518" y="2642965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518" y="2642965"/>
                <a:ext cx="3943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04724" y="3181383"/>
                <a:ext cx="172819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=6.36°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724" y="3181383"/>
                <a:ext cx="172819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890725" y="3190682"/>
            <a:ext cx="91456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1366" y="892413"/>
            <a:ext cx="366464" cy="3737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/>
              <a:t>1</a:t>
            </a:r>
            <a:endParaRPr lang="en-GB" b="1" dirty="0"/>
          </a:p>
        </p:txBody>
      </p:sp>
      <p:sp>
        <p:nvSpPr>
          <p:cNvPr id="14" name="Rectangle 13"/>
          <p:cNvSpPr/>
          <p:nvPr/>
        </p:nvSpPr>
        <p:spPr>
          <a:xfrm>
            <a:off x="7230999" y="1266682"/>
            <a:ext cx="366464" cy="3737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3</a:t>
            </a:r>
          </a:p>
        </p:txBody>
      </p:sp>
      <p:sp>
        <p:nvSpPr>
          <p:cNvPr id="15" name="Freeform: Shape 14"/>
          <p:cNvSpPr/>
          <p:nvPr/>
        </p:nvSpPr>
        <p:spPr>
          <a:xfrm>
            <a:off x="8285843" y="1244600"/>
            <a:ext cx="1930400" cy="2336800"/>
          </a:xfrm>
          <a:custGeom>
            <a:avLst/>
            <a:gdLst>
              <a:gd name="connsiteX0" fmla="*/ 0 w 1930400"/>
              <a:gd name="connsiteY0" fmla="*/ 2336800 h 2336800"/>
              <a:gd name="connsiteX1" fmla="*/ 1930400 w 1930400"/>
              <a:gd name="connsiteY1" fmla="*/ 1079500 h 2336800"/>
              <a:gd name="connsiteX2" fmla="*/ 444500 w 1930400"/>
              <a:gd name="connsiteY2" fmla="*/ 0 h 2336800"/>
              <a:gd name="connsiteX3" fmla="*/ 0 w 1930400"/>
              <a:gd name="connsiteY3" fmla="*/ 2336800 h 233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400" h="2336800">
                <a:moveTo>
                  <a:pt x="0" y="2336800"/>
                </a:moveTo>
                <a:lnTo>
                  <a:pt x="1930400" y="1079500"/>
                </a:lnTo>
                <a:lnTo>
                  <a:pt x="444500" y="0"/>
                </a:lnTo>
                <a:lnTo>
                  <a:pt x="0" y="233680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8374743" y="3086100"/>
            <a:ext cx="317500" cy="215900"/>
          </a:xfrm>
          <a:custGeom>
            <a:avLst/>
            <a:gdLst>
              <a:gd name="connsiteX0" fmla="*/ 0 w 317500"/>
              <a:gd name="connsiteY0" fmla="*/ 0 h 215900"/>
              <a:gd name="connsiteX1" fmla="*/ 203200 w 317500"/>
              <a:gd name="connsiteY1" fmla="*/ 76200 h 215900"/>
              <a:gd name="connsiteX2" fmla="*/ 317500 w 317500"/>
              <a:gd name="connsiteY2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7500" h="215900">
                <a:moveTo>
                  <a:pt x="0" y="0"/>
                </a:moveTo>
                <a:cubicBezTo>
                  <a:pt x="75141" y="20108"/>
                  <a:pt x="150283" y="40217"/>
                  <a:pt x="203200" y="76200"/>
                </a:cubicBezTo>
                <a:cubicBezTo>
                  <a:pt x="256117" y="112183"/>
                  <a:pt x="286808" y="164041"/>
                  <a:pt x="317500" y="2159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472360" y="2781300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360" y="2781300"/>
                <a:ext cx="394303" cy="369332"/>
              </a:xfrm>
              <a:prstGeom prst="rect">
                <a:avLst/>
              </a:prstGeom>
              <a:blipFill>
                <a:blip r:embed="rId7"/>
                <a:stretch>
                  <a:fillRect r="-2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280851" y="1403371"/>
                <a:ext cx="10179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851" y="1403371"/>
                <a:ext cx="101794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264704" y="2918341"/>
                <a:ext cx="472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704" y="2918341"/>
                <a:ext cx="4721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546069" y="2236134"/>
                <a:ext cx="9167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069" y="2236134"/>
                <a:ext cx="9167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85843" y="3781135"/>
                <a:ext cx="172819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43" y="3781135"/>
                <a:ext cx="172819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9247765" y="3778039"/>
            <a:ext cx="71765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3" name="Freeform: Shape 22"/>
          <p:cNvSpPr/>
          <p:nvPr/>
        </p:nvSpPr>
        <p:spPr>
          <a:xfrm>
            <a:off x="5089388" y="2962123"/>
            <a:ext cx="1999544" cy="1948745"/>
          </a:xfrm>
          <a:custGeom>
            <a:avLst/>
            <a:gdLst>
              <a:gd name="connsiteX0" fmla="*/ 723900 w 1828800"/>
              <a:gd name="connsiteY0" fmla="*/ 0 h 2692400"/>
              <a:gd name="connsiteX1" fmla="*/ 0 w 1828800"/>
              <a:gd name="connsiteY1" fmla="*/ 2120900 h 2692400"/>
              <a:gd name="connsiteX2" fmla="*/ 1828800 w 1828800"/>
              <a:gd name="connsiteY2" fmla="*/ 2692400 h 2692400"/>
              <a:gd name="connsiteX3" fmla="*/ 723900 w 1828800"/>
              <a:gd name="connsiteY3" fmla="*/ 0 h 2692400"/>
              <a:gd name="connsiteX0" fmla="*/ 1308100 w 2413000"/>
              <a:gd name="connsiteY0" fmla="*/ 12700 h 2705100"/>
              <a:gd name="connsiteX1" fmla="*/ 0 w 2413000"/>
              <a:gd name="connsiteY1" fmla="*/ 0 h 2705100"/>
              <a:gd name="connsiteX2" fmla="*/ 2413000 w 2413000"/>
              <a:gd name="connsiteY2" fmla="*/ 2705100 h 2705100"/>
              <a:gd name="connsiteX3" fmla="*/ 1308100 w 2413000"/>
              <a:gd name="connsiteY3" fmla="*/ 12700 h 2705100"/>
              <a:gd name="connsiteX0" fmla="*/ 1446389 w 1446389"/>
              <a:gd name="connsiteY0" fmla="*/ 12700 h 2163234"/>
              <a:gd name="connsiteX1" fmla="*/ 138289 w 1446389"/>
              <a:gd name="connsiteY1" fmla="*/ 0 h 2163234"/>
              <a:gd name="connsiteX2" fmla="*/ 0 w 1446389"/>
              <a:gd name="connsiteY2" fmla="*/ 2163234 h 2163234"/>
              <a:gd name="connsiteX3" fmla="*/ 1446389 w 1446389"/>
              <a:gd name="connsiteY3" fmla="*/ 12700 h 2163234"/>
              <a:gd name="connsiteX0" fmla="*/ 1999544 w 1999544"/>
              <a:gd name="connsiteY0" fmla="*/ 12700 h 1948745"/>
              <a:gd name="connsiteX1" fmla="*/ 691444 w 1999544"/>
              <a:gd name="connsiteY1" fmla="*/ 0 h 1948745"/>
              <a:gd name="connsiteX2" fmla="*/ 0 w 1999544"/>
              <a:gd name="connsiteY2" fmla="*/ 1948745 h 1948745"/>
              <a:gd name="connsiteX3" fmla="*/ 1999544 w 1999544"/>
              <a:gd name="connsiteY3" fmla="*/ 12700 h 1948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9544" h="1948745">
                <a:moveTo>
                  <a:pt x="1999544" y="12700"/>
                </a:moveTo>
                <a:lnTo>
                  <a:pt x="691444" y="0"/>
                </a:lnTo>
                <a:lnTo>
                  <a:pt x="0" y="1948745"/>
                </a:lnTo>
                <a:lnTo>
                  <a:pt x="1999544" y="1270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4617981" y="2879909"/>
            <a:ext cx="366464" cy="3737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2</a:t>
            </a:r>
          </a:p>
        </p:txBody>
      </p:sp>
      <p:sp>
        <p:nvSpPr>
          <p:cNvPr id="25" name="Freeform: Shape 24"/>
          <p:cNvSpPr/>
          <p:nvPr/>
        </p:nvSpPr>
        <p:spPr>
          <a:xfrm>
            <a:off x="5651863" y="2979057"/>
            <a:ext cx="541020" cy="350520"/>
          </a:xfrm>
          <a:custGeom>
            <a:avLst/>
            <a:gdLst>
              <a:gd name="connsiteX0" fmla="*/ 0 w 541020"/>
              <a:gd name="connsiteY0" fmla="*/ 350520 h 350520"/>
              <a:gd name="connsiteX1" fmla="*/ 297180 w 541020"/>
              <a:gd name="connsiteY1" fmla="*/ 274320 h 350520"/>
              <a:gd name="connsiteX2" fmla="*/ 541020 w 541020"/>
              <a:gd name="connsiteY2" fmla="*/ 0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020" h="350520">
                <a:moveTo>
                  <a:pt x="0" y="350520"/>
                </a:moveTo>
                <a:cubicBezTo>
                  <a:pt x="103505" y="341630"/>
                  <a:pt x="207010" y="332740"/>
                  <a:pt x="297180" y="274320"/>
                </a:cubicBezTo>
                <a:cubicBezTo>
                  <a:pt x="387350" y="215900"/>
                  <a:pt x="464185" y="107950"/>
                  <a:pt x="54102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125660" y="3494694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660" y="3494694"/>
                <a:ext cx="39430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295714" y="2623445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714" y="2623445"/>
                <a:ext cx="39430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115635" y="3848941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35" y="3848941"/>
                <a:ext cx="394303" cy="369332"/>
              </a:xfrm>
              <a:prstGeom prst="rect">
                <a:avLst/>
              </a:prstGeom>
              <a:blipFill>
                <a:blip r:embed="rId14"/>
                <a:stretch>
                  <a:fillRect r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064658" y="5182404"/>
                <a:ext cx="172819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=124.2°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658" y="5182404"/>
                <a:ext cx="172819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5830229" y="5182404"/>
            <a:ext cx="91456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830229" y="3209121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229" y="3209121"/>
                <a:ext cx="39430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559923" y="5703100"/>
            <a:ext cx="29729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You will get an obtuse angle whenever you inverse cos of a negative value.</a:t>
            </a:r>
          </a:p>
        </p:txBody>
      </p:sp>
    </p:spTree>
    <p:extLst>
      <p:ext uri="{BB962C8B-B14F-4D97-AF65-F5344CB8AC3E}">
        <p14:creationId xmlns:p14="http://schemas.microsoft.com/office/powerpoint/2010/main" val="165156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12" grpId="0" animBg="1"/>
      <p:bldP spid="22" grpId="0" animBg="1"/>
      <p:bldP spid="30" grpId="0" animBg="1"/>
      <p:bldP spid="32" grpId="0"/>
    </p:bldLst>
  </p:timing>
</p:sld>
</file>

<file path=ppt/c9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9A – Y1 pages 177-179</a:t>
              </a:r>
            </a:p>
            <a:p>
              <a:r>
                <a:rPr lang="en-GB" dirty="0"/>
                <a:t>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4824D14-E1B7-F0E4-DD4D-266FC8DE6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867" y="4219587"/>
            <a:ext cx="3544044" cy="21424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40ECA2-0A9F-95F8-F271-6901055A2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347" y="4399376"/>
            <a:ext cx="2520280" cy="17828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5D24884-592C-DB3F-E552-3A12145454FB}"/>
              </a:ext>
            </a:extLst>
          </p:cNvPr>
          <p:cNvGrpSpPr/>
          <p:nvPr/>
        </p:nvGrpSpPr>
        <p:grpSpPr>
          <a:xfrm>
            <a:off x="6888088" y="836712"/>
            <a:ext cx="2160240" cy="2547854"/>
            <a:chOff x="5796136" y="764705"/>
            <a:chExt cx="1796085" cy="21183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AC502E1-8BB6-6F1D-2A4A-048EAEEABF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19444"/>
            <a:stretch/>
          </p:blipFill>
          <p:spPr>
            <a:xfrm>
              <a:off x="5796136" y="764705"/>
              <a:ext cx="1796085" cy="208823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E69ECAE-5E90-560D-450A-28277D83AB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597" t="80232" r="44339"/>
            <a:stretch/>
          </p:blipFill>
          <p:spPr>
            <a:xfrm>
              <a:off x="6876256" y="2370624"/>
              <a:ext cx="504057" cy="512439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D12E6-AF9D-194B-1E51-23CD7EDF8831}"/>
              </a:ext>
            </a:extLst>
          </p:cNvPr>
          <p:cNvSpPr/>
          <p:nvPr/>
        </p:nvSpPr>
        <p:spPr>
          <a:xfrm>
            <a:off x="6528049" y="692697"/>
            <a:ext cx="3816423" cy="26556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693B8B-D2DA-CACB-7B2D-4B1327ED47E4}"/>
              </a:ext>
            </a:extLst>
          </p:cNvPr>
          <p:cNvSpPr/>
          <p:nvPr/>
        </p:nvSpPr>
        <p:spPr>
          <a:xfrm>
            <a:off x="2063553" y="4219587"/>
            <a:ext cx="7180107" cy="22955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FCD564-E473-17E8-C490-787C10BD5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512" y="659753"/>
            <a:ext cx="4672282" cy="15810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23B5AB-9369-4198-2624-91A1CD03F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512" y="3483517"/>
            <a:ext cx="5494270" cy="61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4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c9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9A – Y1 pages 177-179</a:t>
              </a:r>
            </a:p>
            <a:p>
              <a:r>
                <a:rPr lang="en-GB" dirty="0"/>
                <a:t>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4A2A037-8374-4131-1777-7245EB67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692696"/>
            <a:ext cx="7772400" cy="23289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39A529-25A6-EBF4-666E-0C18E5F1E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281" y="3429001"/>
            <a:ext cx="4176464" cy="18881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4DAD98-D871-B1B5-A091-C771E76C9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07" y="3300908"/>
            <a:ext cx="3204198" cy="272269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C8325D7-6870-9331-091F-E7F5AD354004}"/>
              </a:ext>
            </a:extLst>
          </p:cNvPr>
          <p:cNvSpPr/>
          <p:nvPr/>
        </p:nvSpPr>
        <p:spPr>
          <a:xfrm>
            <a:off x="2077502" y="3126562"/>
            <a:ext cx="3816423" cy="30387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E6806D-5D58-5D6C-1D13-E28298505262}"/>
              </a:ext>
            </a:extLst>
          </p:cNvPr>
          <p:cNvSpPr/>
          <p:nvPr/>
        </p:nvSpPr>
        <p:spPr>
          <a:xfrm>
            <a:off x="6009795" y="3126561"/>
            <a:ext cx="3816423" cy="30387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135552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c9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The 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2351584" y="908721"/>
            <a:ext cx="4086970" cy="3768919"/>
          </a:xfrm>
          <a:custGeom>
            <a:avLst/>
            <a:gdLst>
              <a:gd name="connsiteX0" fmla="*/ 0 w 4086970"/>
              <a:gd name="connsiteY0" fmla="*/ 2592126 h 3768919"/>
              <a:gd name="connsiteX1" fmla="*/ 1773141 w 4086970"/>
              <a:gd name="connsiteY1" fmla="*/ 0 h 3768919"/>
              <a:gd name="connsiteX2" fmla="*/ 4086970 w 4086970"/>
              <a:gd name="connsiteY2" fmla="*/ 3768919 h 3768919"/>
              <a:gd name="connsiteX3" fmla="*/ 0 w 4086970"/>
              <a:gd name="connsiteY3" fmla="*/ 2592126 h 376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6970" h="3768919">
                <a:moveTo>
                  <a:pt x="0" y="2592126"/>
                </a:moveTo>
                <a:lnTo>
                  <a:pt x="1773141" y="0"/>
                </a:lnTo>
                <a:lnTo>
                  <a:pt x="4086970" y="3768919"/>
                </a:lnTo>
                <a:lnTo>
                  <a:pt x="0" y="259212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3751013" y="1465313"/>
            <a:ext cx="739472" cy="102041"/>
          </a:xfrm>
          <a:custGeom>
            <a:avLst/>
            <a:gdLst>
              <a:gd name="connsiteX0" fmla="*/ 0 w 739472"/>
              <a:gd name="connsiteY0" fmla="*/ 0 h 102041"/>
              <a:gd name="connsiteX1" fmla="*/ 127221 w 739472"/>
              <a:gd name="connsiteY1" fmla="*/ 71562 h 102041"/>
              <a:gd name="connsiteX2" fmla="*/ 445273 w 739472"/>
              <a:gd name="connsiteY2" fmla="*/ 95415 h 102041"/>
              <a:gd name="connsiteX3" fmla="*/ 739472 w 739472"/>
              <a:gd name="connsiteY3" fmla="*/ 31805 h 102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472" h="102041">
                <a:moveTo>
                  <a:pt x="0" y="0"/>
                </a:moveTo>
                <a:cubicBezTo>
                  <a:pt x="26504" y="27830"/>
                  <a:pt x="53009" y="55660"/>
                  <a:pt x="127221" y="71562"/>
                </a:cubicBezTo>
                <a:cubicBezTo>
                  <a:pt x="201433" y="87464"/>
                  <a:pt x="343231" y="102041"/>
                  <a:pt x="445273" y="95415"/>
                </a:cubicBezTo>
                <a:cubicBezTo>
                  <a:pt x="547315" y="88789"/>
                  <a:pt x="643393" y="60297"/>
                  <a:pt x="739472" y="31805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688579" y="1546286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65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40507" y="2914438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85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912715" y="3634518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30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10" name="Freeform 9"/>
          <p:cNvSpPr/>
          <p:nvPr/>
        </p:nvSpPr>
        <p:spPr>
          <a:xfrm>
            <a:off x="2741198" y="2912450"/>
            <a:ext cx="320702" cy="811033"/>
          </a:xfrm>
          <a:custGeom>
            <a:avLst/>
            <a:gdLst>
              <a:gd name="connsiteX0" fmla="*/ 0 w 320702"/>
              <a:gd name="connsiteY0" fmla="*/ 0 h 811033"/>
              <a:gd name="connsiteX1" fmla="*/ 159026 w 320702"/>
              <a:gd name="connsiteY1" fmla="*/ 119270 h 811033"/>
              <a:gd name="connsiteX2" fmla="*/ 294198 w 320702"/>
              <a:gd name="connsiteY2" fmla="*/ 318052 h 811033"/>
              <a:gd name="connsiteX3" fmla="*/ 318052 w 320702"/>
              <a:gd name="connsiteY3" fmla="*/ 628153 h 811033"/>
              <a:gd name="connsiteX4" fmla="*/ 294198 w 320702"/>
              <a:gd name="connsiteY4" fmla="*/ 811033 h 81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702" h="811033">
                <a:moveTo>
                  <a:pt x="0" y="0"/>
                </a:moveTo>
                <a:cubicBezTo>
                  <a:pt x="54996" y="33130"/>
                  <a:pt x="109993" y="66261"/>
                  <a:pt x="159026" y="119270"/>
                </a:cubicBezTo>
                <a:cubicBezTo>
                  <a:pt x="208059" y="172279"/>
                  <a:pt x="267694" y="233238"/>
                  <a:pt x="294198" y="318052"/>
                </a:cubicBezTo>
                <a:cubicBezTo>
                  <a:pt x="320702" y="402866"/>
                  <a:pt x="318052" y="545990"/>
                  <a:pt x="318052" y="628153"/>
                </a:cubicBezTo>
                <a:cubicBezTo>
                  <a:pt x="318052" y="710316"/>
                  <a:pt x="306125" y="760674"/>
                  <a:pt x="294198" y="811033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5468496" y="3747336"/>
            <a:ext cx="397565" cy="659958"/>
          </a:xfrm>
          <a:custGeom>
            <a:avLst/>
            <a:gdLst>
              <a:gd name="connsiteX0" fmla="*/ 0 w 397565"/>
              <a:gd name="connsiteY0" fmla="*/ 659958 h 659958"/>
              <a:gd name="connsiteX1" fmla="*/ 47708 w 397565"/>
              <a:gd name="connsiteY1" fmla="*/ 453224 h 659958"/>
              <a:gd name="connsiteX2" fmla="*/ 190831 w 397565"/>
              <a:gd name="connsiteY2" fmla="*/ 182880 h 659958"/>
              <a:gd name="connsiteX3" fmla="*/ 397565 w 397565"/>
              <a:gd name="connsiteY3" fmla="*/ 0 h 659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65" h="659958">
                <a:moveTo>
                  <a:pt x="0" y="659958"/>
                </a:moveTo>
                <a:cubicBezTo>
                  <a:pt x="7951" y="596347"/>
                  <a:pt x="15903" y="532737"/>
                  <a:pt x="47708" y="453224"/>
                </a:cubicBezTo>
                <a:cubicBezTo>
                  <a:pt x="79513" y="373711"/>
                  <a:pt x="132522" y="258417"/>
                  <a:pt x="190831" y="182880"/>
                </a:cubicBezTo>
                <a:cubicBezTo>
                  <a:pt x="249141" y="107343"/>
                  <a:pt x="323353" y="53671"/>
                  <a:pt x="397565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056731" y="1978334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0427" y="1690302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5.02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4563" y="4138574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9.10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8088" y="1196752"/>
            <a:ext cx="2880320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For this triangle, try calculating each side divided by the sin of its opposite angle. What do you notice in all three cases?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806513" y="3038648"/>
                <a:ext cx="3600400" cy="13412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Wingdings" panose="05000000000000000000" pitchFamily="2" charset="2"/>
                  </a:rPr>
                  <a:t>!</a:t>
                </a:r>
                <a:r>
                  <a:rPr lang="en-GB" sz="2800" dirty="0"/>
                  <a:t> Sine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func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513" y="3038648"/>
                <a:ext cx="3600400" cy="1341265"/>
              </a:xfrm>
              <a:prstGeom prst="rect">
                <a:avLst/>
              </a:prstGeom>
              <a:blipFill>
                <a:blip r:embed="rId2"/>
                <a:stretch>
                  <a:fillRect l="-64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3040507" y="1186246"/>
            <a:ext cx="2376264" cy="3702025"/>
            <a:chOff x="1547664" y="1700808"/>
            <a:chExt cx="2376264" cy="3702025"/>
          </a:xfrm>
        </p:grpSpPr>
        <p:sp>
          <p:nvSpPr>
            <p:cNvPr id="19" name="TextBox 18"/>
            <p:cNvSpPr txBox="1"/>
            <p:nvPr/>
          </p:nvSpPr>
          <p:spPr>
            <a:xfrm>
              <a:off x="3491880" y="1988840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91680" y="3789040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C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47664" y="1700808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b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91880" y="3717032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B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059832" y="4941168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a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627784" y="2420888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A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6817346" y="3038648"/>
            <a:ext cx="3589567" cy="13412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143673" y="5229200"/>
          <a:ext cx="6029113" cy="132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#1: Two angle-side opposite pairs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Missing angle</a:t>
                      </a:r>
                      <a:r>
                        <a:rPr lang="en-GB" sz="2000" baseline="0" dirty="0">
                          <a:effectLst/>
                        </a:rPr>
                        <a:t> or side in one pair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88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c9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2279577" y="1186871"/>
            <a:ext cx="2965837" cy="2011680"/>
          </a:xfrm>
          <a:custGeom>
            <a:avLst/>
            <a:gdLst>
              <a:gd name="connsiteX0" fmla="*/ 0 w 2965837"/>
              <a:gd name="connsiteY0" fmla="*/ 2011680 h 2011680"/>
              <a:gd name="connsiteX1" fmla="*/ 2965837 w 2965837"/>
              <a:gd name="connsiteY1" fmla="*/ 1192696 h 2011680"/>
              <a:gd name="connsiteX2" fmla="*/ 1431235 w 2965837"/>
              <a:gd name="connsiteY2" fmla="*/ 0 h 2011680"/>
              <a:gd name="connsiteX3" fmla="*/ 0 w 2965837"/>
              <a:gd name="connsiteY3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837" h="2011680">
                <a:moveTo>
                  <a:pt x="0" y="2011680"/>
                </a:moveTo>
                <a:lnTo>
                  <a:pt x="2965837" y="1192696"/>
                </a:lnTo>
                <a:lnTo>
                  <a:pt x="1431235" y="0"/>
                </a:lnTo>
                <a:lnTo>
                  <a:pt x="0" y="201168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2645336" y="2697620"/>
            <a:ext cx="278296" cy="333955"/>
          </a:xfrm>
          <a:custGeom>
            <a:avLst/>
            <a:gdLst>
              <a:gd name="connsiteX0" fmla="*/ 278296 w 278296"/>
              <a:gd name="connsiteY0" fmla="*/ 333955 h 333955"/>
              <a:gd name="connsiteX1" fmla="*/ 238539 w 278296"/>
              <a:gd name="connsiteY1" fmla="*/ 222637 h 333955"/>
              <a:gd name="connsiteX2" fmla="*/ 95416 w 278296"/>
              <a:gd name="connsiteY2" fmla="*/ 55659 h 333955"/>
              <a:gd name="connsiteX3" fmla="*/ 0 w 278296"/>
              <a:gd name="connsiteY3" fmla="*/ 0 h 333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296" h="333955">
                <a:moveTo>
                  <a:pt x="278296" y="333955"/>
                </a:moveTo>
                <a:cubicBezTo>
                  <a:pt x="273657" y="301487"/>
                  <a:pt x="269019" y="269019"/>
                  <a:pt x="238539" y="222637"/>
                </a:cubicBezTo>
                <a:cubicBezTo>
                  <a:pt x="208059" y="176255"/>
                  <a:pt x="135172" y="92765"/>
                  <a:pt x="95416" y="55659"/>
                </a:cubicBezTo>
                <a:cubicBezTo>
                  <a:pt x="55660" y="18553"/>
                  <a:pt x="27830" y="9276"/>
                  <a:pt x="0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702090" y="2454375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45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358274" y="1230239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0162" y="281441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11.27</a:t>
            </a:r>
          </a:p>
        </p:txBody>
      </p:sp>
      <p:sp>
        <p:nvSpPr>
          <p:cNvPr id="10" name="Freeform 9"/>
          <p:cNvSpPr/>
          <p:nvPr/>
        </p:nvSpPr>
        <p:spPr>
          <a:xfrm>
            <a:off x="3496126" y="1473118"/>
            <a:ext cx="572494" cy="106018"/>
          </a:xfrm>
          <a:custGeom>
            <a:avLst/>
            <a:gdLst>
              <a:gd name="connsiteX0" fmla="*/ 0 w 572494"/>
              <a:gd name="connsiteY0" fmla="*/ 23854 h 106018"/>
              <a:gd name="connsiteX1" fmla="*/ 166977 w 572494"/>
              <a:gd name="connsiteY1" fmla="*/ 95416 h 106018"/>
              <a:gd name="connsiteX2" fmla="*/ 405516 w 572494"/>
              <a:gd name="connsiteY2" fmla="*/ 87465 h 106018"/>
              <a:gd name="connsiteX3" fmla="*/ 572494 w 572494"/>
              <a:gd name="connsiteY3" fmla="*/ 0 h 106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494" h="106018">
                <a:moveTo>
                  <a:pt x="0" y="23854"/>
                </a:moveTo>
                <a:cubicBezTo>
                  <a:pt x="49695" y="54334"/>
                  <a:pt x="99391" y="84814"/>
                  <a:pt x="166977" y="95416"/>
                </a:cubicBezTo>
                <a:cubicBezTo>
                  <a:pt x="234563" y="106018"/>
                  <a:pt x="337930" y="103368"/>
                  <a:pt x="405516" y="87465"/>
                </a:cubicBezTo>
                <a:cubicBezTo>
                  <a:pt x="473102" y="71562"/>
                  <a:pt x="522798" y="35781"/>
                  <a:pt x="572494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3422170" y="1590279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85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12" name="Rectangle 11"/>
          <p:cNvSpPr/>
          <p:nvPr/>
        </p:nvSpPr>
        <p:spPr>
          <a:xfrm>
            <a:off x="3422170" y="2886422"/>
            <a:ext cx="1008112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8034" y="1086222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Q1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143673" y="5229200"/>
          <a:ext cx="6029113" cy="132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#1: Two angle-side opposite pairs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Missing angle</a:t>
                      </a:r>
                      <a:r>
                        <a:rPr lang="en-GB" sz="2000" baseline="0" dirty="0">
                          <a:effectLst/>
                        </a:rPr>
                        <a:t> or side in one pair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Freeform 14"/>
          <p:cNvSpPr/>
          <p:nvPr/>
        </p:nvSpPr>
        <p:spPr>
          <a:xfrm>
            <a:off x="6928361" y="1374254"/>
            <a:ext cx="2160240" cy="2160241"/>
          </a:xfrm>
          <a:custGeom>
            <a:avLst/>
            <a:gdLst>
              <a:gd name="connsiteX0" fmla="*/ 0 w 2965837"/>
              <a:gd name="connsiteY0" fmla="*/ 2011680 h 2011680"/>
              <a:gd name="connsiteX1" fmla="*/ 2965837 w 2965837"/>
              <a:gd name="connsiteY1" fmla="*/ 1192696 h 2011680"/>
              <a:gd name="connsiteX2" fmla="*/ 1431235 w 2965837"/>
              <a:gd name="connsiteY2" fmla="*/ 0 h 2011680"/>
              <a:gd name="connsiteX3" fmla="*/ 0 w 2965837"/>
              <a:gd name="connsiteY3" fmla="*/ 2011680 h 2011680"/>
              <a:gd name="connsiteX0" fmla="*/ 0 w 2965837"/>
              <a:gd name="connsiteY0" fmla="*/ 2040321 h 2040321"/>
              <a:gd name="connsiteX1" fmla="*/ 2965837 w 2965837"/>
              <a:gd name="connsiteY1" fmla="*/ 1221337 h 2040321"/>
              <a:gd name="connsiteX2" fmla="*/ 1214602 w 2965837"/>
              <a:gd name="connsiteY2" fmla="*/ 0 h 2040321"/>
              <a:gd name="connsiteX3" fmla="*/ 0 w 2965837"/>
              <a:gd name="connsiteY3" fmla="*/ 2040321 h 2040321"/>
              <a:gd name="connsiteX0" fmla="*/ 0 w 2399307"/>
              <a:gd name="connsiteY0" fmla="*/ 2160241 h 2160241"/>
              <a:gd name="connsiteX1" fmla="*/ 2399307 w 2399307"/>
              <a:gd name="connsiteY1" fmla="*/ 1221337 h 2160241"/>
              <a:gd name="connsiteX2" fmla="*/ 648072 w 2399307"/>
              <a:gd name="connsiteY2" fmla="*/ 0 h 2160241"/>
              <a:gd name="connsiteX3" fmla="*/ 0 w 2399307"/>
              <a:gd name="connsiteY3" fmla="*/ 2160241 h 2160241"/>
              <a:gd name="connsiteX0" fmla="*/ 0 w 2376264"/>
              <a:gd name="connsiteY0" fmla="*/ 2160241 h 2160241"/>
              <a:gd name="connsiteX1" fmla="*/ 2376264 w 2376264"/>
              <a:gd name="connsiteY1" fmla="*/ 864097 h 2160241"/>
              <a:gd name="connsiteX2" fmla="*/ 648072 w 2376264"/>
              <a:gd name="connsiteY2" fmla="*/ 0 h 2160241"/>
              <a:gd name="connsiteX3" fmla="*/ 0 w 2376264"/>
              <a:gd name="connsiteY3" fmla="*/ 2160241 h 2160241"/>
              <a:gd name="connsiteX0" fmla="*/ 0 w 2160240"/>
              <a:gd name="connsiteY0" fmla="*/ 2160241 h 2160241"/>
              <a:gd name="connsiteX1" fmla="*/ 2160240 w 2160240"/>
              <a:gd name="connsiteY1" fmla="*/ 1 h 2160241"/>
              <a:gd name="connsiteX2" fmla="*/ 648072 w 2160240"/>
              <a:gd name="connsiteY2" fmla="*/ 0 h 2160241"/>
              <a:gd name="connsiteX3" fmla="*/ 0 w 2160240"/>
              <a:gd name="connsiteY3" fmla="*/ 2160241 h 216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0240" h="2160241">
                <a:moveTo>
                  <a:pt x="0" y="2160241"/>
                </a:moveTo>
                <a:lnTo>
                  <a:pt x="2160240" y="1"/>
                </a:lnTo>
                <a:lnTo>
                  <a:pt x="648072" y="0"/>
                </a:lnTo>
                <a:lnTo>
                  <a:pt x="0" y="2160241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7576433" y="1662286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100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7936473" y="798190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8481" y="2310358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15.76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2377" y="252638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30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20" name="Rectangle 19"/>
          <p:cNvSpPr/>
          <p:nvPr/>
        </p:nvSpPr>
        <p:spPr>
          <a:xfrm>
            <a:off x="8080489" y="2382365"/>
            <a:ext cx="1008112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345" y="942205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Q2</a:t>
            </a:r>
          </a:p>
        </p:txBody>
      </p:sp>
      <p:sp>
        <p:nvSpPr>
          <p:cNvPr id="22" name="Freeform 21"/>
          <p:cNvSpPr/>
          <p:nvPr/>
        </p:nvSpPr>
        <p:spPr>
          <a:xfrm>
            <a:off x="7449577" y="1377256"/>
            <a:ext cx="485030" cy="429371"/>
          </a:xfrm>
          <a:custGeom>
            <a:avLst/>
            <a:gdLst>
              <a:gd name="connsiteX0" fmla="*/ 0 w 485030"/>
              <a:gd name="connsiteY0" fmla="*/ 429371 h 429371"/>
              <a:gd name="connsiteX1" fmla="*/ 206734 w 485030"/>
              <a:gd name="connsiteY1" fmla="*/ 413468 h 429371"/>
              <a:gd name="connsiteX2" fmla="*/ 405517 w 485030"/>
              <a:gd name="connsiteY2" fmla="*/ 270345 h 429371"/>
              <a:gd name="connsiteX3" fmla="*/ 485030 w 485030"/>
              <a:gd name="connsiteY3" fmla="*/ 0 h 42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030" h="429371">
                <a:moveTo>
                  <a:pt x="0" y="429371"/>
                </a:moveTo>
                <a:lnTo>
                  <a:pt x="206734" y="413468"/>
                </a:lnTo>
                <a:cubicBezTo>
                  <a:pt x="274320" y="386964"/>
                  <a:pt x="359134" y="339256"/>
                  <a:pt x="405517" y="270345"/>
                </a:cubicBezTo>
                <a:cubicBezTo>
                  <a:pt x="451900" y="201434"/>
                  <a:pt x="468465" y="100717"/>
                  <a:pt x="485030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eform 22"/>
          <p:cNvSpPr/>
          <p:nvPr/>
        </p:nvSpPr>
        <p:spPr>
          <a:xfrm>
            <a:off x="7115622" y="2853549"/>
            <a:ext cx="302150" cy="201433"/>
          </a:xfrm>
          <a:custGeom>
            <a:avLst/>
            <a:gdLst>
              <a:gd name="connsiteX0" fmla="*/ 0 w 302150"/>
              <a:gd name="connsiteY0" fmla="*/ 2650 h 201433"/>
              <a:gd name="connsiteX1" fmla="*/ 111318 w 302150"/>
              <a:gd name="connsiteY1" fmla="*/ 18553 h 201433"/>
              <a:gd name="connsiteX2" fmla="*/ 254442 w 302150"/>
              <a:gd name="connsiteY2" fmla="*/ 113968 h 201433"/>
              <a:gd name="connsiteX3" fmla="*/ 302150 w 302150"/>
              <a:gd name="connsiteY3" fmla="*/ 201433 h 20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50" h="201433">
                <a:moveTo>
                  <a:pt x="0" y="2650"/>
                </a:moveTo>
                <a:cubicBezTo>
                  <a:pt x="34455" y="1325"/>
                  <a:pt x="68911" y="0"/>
                  <a:pt x="111318" y="18553"/>
                </a:cubicBezTo>
                <a:cubicBezTo>
                  <a:pt x="153725" y="37106"/>
                  <a:pt x="222637" y="83488"/>
                  <a:pt x="254442" y="113968"/>
                </a:cubicBezTo>
                <a:cubicBezTo>
                  <a:pt x="286247" y="144448"/>
                  <a:pt x="294198" y="172940"/>
                  <a:pt x="302150" y="201433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 23"/>
          <p:cNvSpPr/>
          <p:nvPr/>
        </p:nvSpPr>
        <p:spPr>
          <a:xfrm>
            <a:off x="8562761" y="1377255"/>
            <a:ext cx="190831" cy="326004"/>
          </a:xfrm>
          <a:custGeom>
            <a:avLst/>
            <a:gdLst>
              <a:gd name="connsiteX0" fmla="*/ 0 w 190831"/>
              <a:gd name="connsiteY0" fmla="*/ 0 h 326004"/>
              <a:gd name="connsiteX1" fmla="*/ 31805 w 190831"/>
              <a:gd name="connsiteY1" fmla="*/ 151075 h 326004"/>
              <a:gd name="connsiteX2" fmla="*/ 127220 w 190831"/>
              <a:gd name="connsiteY2" fmla="*/ 286247 h 326004"/>
              <a:gd name="connsiteX3" fmla="*/ 190831 w 190831"/>
              <a:gd name="connsiteY3" fmla="*/ 326004 h 32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31" h="326004">
                <a:moveTo>
                  <a:pt x="0" y="0"/>
                </a:moveTo>
                <a:cubicBezTo>
                  <a:pt x="5301" y="51683"/>
                  <a:pt x="10602" y="103367"/>
                  <a:pt x="31805" y="151075"/>
                </a:cubicBezTo>
                <a:cubicBezTo>
                  <a:pt x="53008" y="198783"/>
                  <a:pt x="100716" y="257092"/>
                  <a:pt x="127220" y="286247"/>
                </a:cubicBezTo>
                <a:cubicBezTo>
                  <a:pt x="153724" y="315402"/>
                  <a:pt x="190831" y="326004"/>
                  <a:pt x="190831" y="326004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8080489" y="137425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50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702090" y="3534495"/>
                <a:ext cx="2673830" cy="1415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𝟖𝟓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  <a:p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𝟖𝟓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090" y="3534495"/>
                <a:ext cx="2673830" cy="14158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928361" y="3547149"/>
                <a:ext cx="2673830" cy="1415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  <a:p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𝟕𝟔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361" y="3547149"/>
                <a:ext cx="2673830" cy="14158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76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26" grpId="0"/>
      <p:bldP spid="27" grpId="0"/>
    </p:bldLst>
  </p:timing>
</p:sld>
</file>

<file path=ppt/c9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469676" y="4679201"/>
                <a:ext cx="2749458" cy="2043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85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=56.11°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676" y="4679201"/>
                <a:ext cx="2749458" cy="20437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5" name="Freeform 14"/>
          <p:cNvSpPr/>
          <p:nvPr/>
        </p:nvSpPr>
        <p:spPr>
          <a:xfrm>
            <a:off x="2662576" y="2729000"/>
            <a:ext cx="2355273" cy="2170546"/>
          </a:xfrm>
          <a:custGeom>
            <a:avLst/>
            <a:gdLst>
              <a:gd name="connsiteX0" fmla="*/ 683491 w 2355273"/>
              <a:gd name="connsiteY0" fmla="*/ 2170546 h 2170546"/>
              <a:gd name="connsiteX1" fmla="*/ 0 w 2355273"/>
              <a:gd name="connsiteY1" fmla="*/ 332509 h 2170546"/>
              <a:gd name="connsiteX2" fmla="*/ 2355273 w 2355273"/>
              <a:gd name="connsiteY2" fmla="*/ 0 h 2170546"/>
              <a:gd name="connsiteX3" fmla="*/ 683491 w 2355273"/>
              <a:gd name="connsiteY3" fmla="*/ 2170546 h 2170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5273" h="2170546">
                <a:moveTo>
                  <a:pt x="683491" y="2170546"/>
                </a:moveTo>
                <a:lnTo>
                  <a:pt x="0" y="332509"/>
                </a:lnTo>
                <a:lnTo>
                  <a:pt x="2355273" y="0"/>
                </a:lnTo>
                <a:lnTo>
                  <a:pt x="683491" y="217054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3004022" y="3149750"/>
            <a:ext cx="708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85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3920883" y="3796787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4819" y="2299935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9" name="Freeform 18"/>
          <p:cNvSpPr/>
          <p:nvPr/>
        </p:nvSpPr>
        <p:spPr>
          <a:xfrm>
            <a:off x="3176403" y="4367081"/>
            <a:ext cx="489527" cy="103934"/>
          </a:xfrm>
          <a:custGeom>
            <a:avLst/>
            <a:gdLst>
              <a:gd name="connsiteX0" fmla="*/ 0 w 489527"/>
              <a:gd name="connsiteY0" fmla="*/ 85462 h 103934"/>
              <a:gd name="connsiteX1" fmla="*/ 166255 w 489527"/>
              <a:gd name="connsiteY1" fmla="*/ 2334 h 103934"/>
              <a:gd name="connsiteX2" fmla="*/ 378691 w 489527"/>
              <a:gd name="connsiteY2" fmla="*/ 30043 h 103934"/>
              <a:gd name="connsiteX3" fmla="*/ 489527 w 489527"/>
              <a:gd name="connsiteY3" fmla="*/ 103934 h 10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527" h="103934">
                <a:moveTo>
                  <a:pt x="0" y="85462"/>
                </a:moveTo>
                <a:cubicBezTo>
                  <a:pt x="51570" y="48516"/>
                  <a:pt x="103140" y="11570"/>
                  <a:pt x="166255" y="2334"/>
                </a:cubicBezTo>
                <a:cubicBezTo>
                  <a:pt x="229370" y="-6902"/>
                  <a:pt x="324812" y="13110"/>
                  <a:pt x="378691" y="30043"/>
                </a:cubicBezTo>
                <a:cubicBezTo>
                  <a:pt x="432570" y="46976"/>
                  <a:pt x="461048" y="75455"/>
                  <a:pt x="489527" y="103934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/>
          <p:cNvSpPr/>
          <p:nvPr/>
        </p:nvSpPr>
        <p:spPr>
          <a:xfrm>
            <a:off x="2843894" y="3002434"/>
            <a:ext cx="320257" cy="526473"/>
          </a:xfrm>
          <a:custGeom>
            <a:avLst/>
            <a:gdLst>
              <a:gd name="connsiteX0" fmla="*/ 0 w 320257"/>
              <a:gd name="connsiteY0" fmla="*/ 526473 h 526473"/>
              <a:gd name="connsiteX1" fmla="*/ 120073 w 320257"/>
              <a:gd name="connsiteY1" fmla="*/ 461819 h 526473"/>
              <a:gd name="connsiteX2" fmla="*/ 249382 w 320257"/>
              <a:gd name="connsiteY2" fmla="*/ 295564 h 526473"/>
              <a:gd name="connsiteX3" fmla="*/ 314036 w 320257"/>
              <a:gd name="connsiteY3" fmla="*/ 55419 h 526473"/>
              <a:gd name="connsiteX4" fmla="*/ 314036 w 320257"/>
              <a:gd name="connsiteY4" fmla="*/ 0 h 52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57" h="526473">
                <a:moveTo>
                  <a:pt x="0" y="526473"/>
                </a:moveTo>
                <a:cubicBezTo>
                  <a:pt x="39254" y="513388"/>
                  <a:pt x="78509" y="500304"/>
                  <a:pt x="120073" y="461819"/>
                </a:cubicBezTo>
                <a:cubicBezTo>
                  <a:pt x="161637" y="423334"/>
                  <a:pt x="217055" y="363297"/>
                  <a:pt x="249382" y="295564"/>
                </a:cubicBezTo>
                <a:cubicBezTo>
                  <a:pt x="281709" y="227831"/>
                  <a:pt x="303260" y="104680"/>
                  <a:pt x="314036" y="55419"/>
                </a:cubicBezTo>
                <a:cubicBezTo>
                  <a:pt x="324812" y="6158"/>
                  <a:pt x="319424" y="3079"/>
                  <a:pt x="314036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2929616" y="3814274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56.11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32" name="Rectangle 31"/>
          <p:cNvSpPr/>
          <p:nvPr/>
        </p:nvSpPr>
        <p:spPr>
          <a:xfrm>
            <a:off x="2921194" y="3816595"/>
            <a:ext cx="1008112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4374" y="2515377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Q3</a:t>
            </a:r>
          </a:p>
        </p:txBody>
      </p:sp>
      <p:sp>
        <p:nvSpPr>
          <p:cNvPr id="34" name="Freeform 33"/>
          <p:cNvSpPr/>
          <p:nvPr/>
        </p:nvSpPr>
        <p:spPr>
          <a:xfrm>
            <a:off x="6756536" y="2515378"/>
            <a:ext cx="3500582" cy="1348509"/>
          </a:xfrm>
          <a:custGeom>
            <a:avLst/>
            <a:gdLst>
              <a:gd name="connsiteX0" fmla="*/ 0 w 3500582"/>
              <a:gd name="connsiteY0" fmla="*/ 1200727 h 1348509"/>
              <a:gd name="connsiteX1" fmla="*/ 1117600 w 3500582"/>
              <a:gd name="connsiteY1" fmla="*/ 0 h 1348509"/>
              <a:gd name="connsiteX2" fmla="*/ 3500582 w 3500582"/>
              <a:gd name="connsiteY2" fmla="*/ 1348509 h 1348509"/>
              <a:gd name="connsiteX3" fmla="*/ 0 w 3500582"/>
              <a:gd name="connsiteY3" fmla="*/ 1200727 h 134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582" h="1348509">
                <a:moveTo>
                  <a:pt x="0" y="1200727"/>
                </a:moveTo>
                <a:lnTo>
                  <a:pt x="1117600" y="0"/>
                </a:lnTo>
                <a:lnTo>
                  <a:pt x="3500582" y="1348509"/>
                </a:lnTo>
                <a:lnTo>
                  <a:pt x="0" y="1200727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 34"/>
          <p:cNvSpPr/>
          <p:nvPr/>
        </p:nvSpPr>
        <p:spPr>
          <a:xfrm>
            <a:off x="7117417" y="3333146"/>
            <a:ext cx="190948" cy="415637"/>
          </a:xfrm>
          <a:custGeom>
            <a:avLst/>
            <a:gdLst>
              <a:gd name="connsiteX0" fmla="*/ 184727 w 190948"/>
              <a:gd name="connsiteY0" fmla="*/ 415637 h 415637"/>
              <a:gd name="connsiteX1" fmla="*/ 184727 w 190948"/>
              <a:gd name="connsiteY1" fmla="*/ 230909 h 415637"/>
              <a:gd name="connsiteX2" fmla="*/ 120072 w 190948"/>
              <a:gd name="connsiteY2" fmla="*/ 83127 h 415637"/>
              <a:gd name="connsiteX3" fmla="*/ 0 w 190948"/>
              <a:gd name="connsiteY3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48" h="415637">
                <a:moveTo>
                  <a:pt x="184727" y="415637"/>
                </a:moveTo>
                <a:cubicBezTo>
                  <a:pt x="190115" y="350982"/>
                  <a:pt x="195503" y="286327"/>
                  <a:pt x="184727" y="230909"/>
                </a:cubicBezTo>
                <a:cubicBezTo>
                  <a:pt x="173951" y="175491"/>
                  <a:pt x="150860" y="121612"/>
                  <a:pt x="120072" y="83127"/>
                </a:cubicBezTo>
                <a:cubicBezTo>
                  <a:pt x="89284" y="44642"/>
                  <a:pt x="0" y="0"/>
                  <a:pt x="0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/>
          <p:cNvSpPr txBox="1"/>
          <p:nvPr/>
        </p:nvSpPr>
        <p:spPr>
          <a:xfrm>
            <a:off x="8725782" y="2505886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857914" y="754084"/>
                <a:ext cx="8280920" cy="1406795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When you have a missing angle, it’s better to reciprocate to get: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2200" b="1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2200" b="1" i="1">
                                  <a:latin typeface="Cambria Math"/>
                                </a:rPr>
                                <m:t>𝑨</m:t>
                              </m:r>
                            </m:e>
                          </m:func>
                        </m:num>
                        <m:den>
                          <m:r>
                            <a:rPr lang="en-GB" sz="2200" b="1" i="1">
                              <a:latin typeface="Cambria Math"/>
                            </a:rPr>
                            <m:t>𝒂</m:t>
                          </m:r>
                        </m:den>
                      </m:f>
                      <m:r>
                        <a:rPr lang="en-GB" sz="22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2200" b="1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2200" b="1" i="1">
                                  <a:latin typeface="Cambria Math"/>
                                </a:rPr>
                                <m:t>𝑩</m:t>
                              </m:r>
                            </m:e>
                          </m:func>
                        </m:num>
                        <m:den>
                          <m:r>
                            <a:rPr lang="en-GB" sz="2200" b="1" i="1">
                              <a:latin typeface="Cambria Math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GB" sz="2200" b="1" dirty="0"/>
              </a:p>
              <a:p>
                <a:r>
                  <a:rPr lang="en-GB" sz="2200" dirty="0"/>
                  <a:t>i.e. in general put the missing value in the numerator.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914" y="754084"/>
                <a:ext cx="8280920" cy="1406795"/>
              </a:xfrm>
              <a:prstGeom prst="rect">
                <a:avLst/>
              </a:prstGeom>
              <a:blipFill>
                <a:blip r:embed="rId3"/>
                <a:stretch>
                  <a:fillRect b="-1953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7214824" y="3251690"/>
            <a:ext cx="1148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40.33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7764648" y="3713068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10</a:t>
            </a:r>
          </a:p>
        </p:txBody>
      </p:sp>
      <p:sp>
        <p:nvSpPr>
          <p:cNvPr id="41" name="Freeform 40"/>
          <p:cNvSpPr/>
          <p:nvPr/>
        </p:nvSpPr>
        <p:spPr>
          <a:xfrm>
            <a:off x="7624170" y="2798274"/>
            <a:ext cx="738909" cy="155149"/>
          </a:xfrm>
          <a:custGeom>
            <a:avLst/>
            <a:gdLst>
              <a:gd name="connsiteX0" fmla="*/ 0 w 738909"/>
              <a:gd name="connsiteY0" fmla="*/ 9237 h 155149"/>
              <a:gd name="connsiteX1" fmla="*/ 212436 w 738909"/>
              <a:gd name="connsiteY1" fmla="*/ 120073 h 155149"/>
              <a:gd name="connsiteX2" fmla="*/ 498764 w 738909"/>
              <a:gd name="connsiteY2" fmla="*/ 147782 h 155149"/>
              <a:gd name="connsiteX3" fmla="*/ 738909 w 738909"/>
              <a:gd name="connsiteY3" fmla="*/ 0 h 155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909" h="155149">
                <a:moveTo>
                  <a:pt x="0" y="9237"/>
                </a:moveTo>
                <a:cubicBezTo>
                  <a:pt x="64654" y="53109"/>
                  <a:pt x="129309" y="96982"/>
                  <a:pt x="212436" y="120073"/>
                </a:cubicBezTo>
                <a:cubicBezTo>
                  <a:pt x="295563" y="143164"/>
                  <a:pt x="411019" y="167794"/>
                  <a:pt x="498764" y="147782"/>
                </a:cubicBezTo>
                <a:cubicBezTo>
                  <a:pt x="586509" y="127770"/>
                  <a:pt x="662709" y="63885"/>
                  <a:pt x="738909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/>
          <p:cNvSpPr txBox="1"/>
          <p:nvPr/>
        </p:nvSpPr>
        <p:spPr>
          <a:xfrm>
            <a:off x="7548625" y="2918917"/>
            <a:ext cx="117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126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43" name="Rectangle 42"/>
          <p:cNvSpPr/>
          <p:nvPr/>
        </p:nvSpPr>
        <p:spPr>
          <a:xfrm>
            <a:off x="7357722" y="3356961"/>
            <a:ext cx="989182" cy="3054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0062" y="2460007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Q4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241968" y="4679200"/>
                <a:ext cx="2749458" cy="2034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126°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126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126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=40.33°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968" y="4679200"/>
                <a:ext cx="2749458" cy="2034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46" grpId="0"/>
      <p:bldP spid="32" grpId="0" animBg="1"/>
      <p:bldP spid="43" grpId="0" animBg="1"/>
      <p:bldP spid="47" grpId="0"/>
    </p:bldLst>
  </p:timing>
</p:sld>
</file>

<file path=ppt/c9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9B – Y1 pages 181-183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5FFE1B3-92CA-2290-BEC9-13B329A9A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92696"/>
            <a:ext cx="4999381" cy="14401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41AA3B-A918-C22C-46D6-E2B4D7521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044" y="2483903"/>
            <a:ext cx="2808312" cy="362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90BE14-5C41-4FEB-3DE1-4B1F310D2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582" y="2458362"/>
            <a:ext cx="3266494" cy="16187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3F05F8-11F8-D43E-4E14-5702AF965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679" y="4536792"/>
            <a:ext cx="3508102" cy="173843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19A321B-925D-83DA-2E72-A664A9426847}"/>
              </a:ext>
            </a:extLst>
          </p:cNvPr>
          <p:cNvSpPr/>
          <p:nvPr/>
        </p:nvSpPr>
        <p:spPr>
          <a:xfrm>
            <a:off x="5970566" y="2321211"/>
            <a:ext cx="3878448" cy="1899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5A2601-AEB4-5F01-8D18-1975AC9EEE50}"/>
              </a:ext>
            </a:extLst>
          </p:cNvPr>
          <p:cNvSpPr/>
          <p:nvPr/>
        </p:nvSpPr>
        <p:spPr>
          <a:xfrm>
            <a:off x="5964205" y="4546601"/>
            <a:ext cx="3878448" cy="1899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9605E4-06C7-014F-E9A3-98A572C2F2DB}"/>
              </a:ext>
            </a:extLst>
          </p:cNvPr>
          <p:cNvSpPr/>
          <p:nvPr/>
        </p:nvSpPr>
        <p:spPr>
          <a:xfrm>
            <a:off x="1991544" y="2321210"/>
            <a:ext cx="3878448" cy="41252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DIAGRAM? </a:t>
            </a:r>
          </a:p>
        </p:txBody>
      </p:sp>
    </p:spTree>
    <p:extLst>
      <p:ext uri="{BB962C8B-B14F-4D97-AF65-F5344CB8AC3E}">
        <p14:creationId xmlns:p14="http://schemas.microsoft.com/office/powerpoint/2010/main" val="394793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c9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9B – Y1 pages 181-183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549C0A0-51D9-7785-4E4F-EE3BA5598F9F}"/>
              </a:ext>
            </a:extLst>
          </p:cNvPr>
          <p:cNvGrpSpPr/>
          <p:nvPr/>
        </p:nvGrpSpPr>
        <p:grpSpPr>
          <a:xfrm>
            <a:off x="1824017" y="692696"/>
            <a:ext cx="4053140" cy="1008112"/>
            <a:chOff x="323528" y="3284984"/>
            <a:chExt cx="5412432" cy="13462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3E6E645-1865-24B7-9B1E-2580F89A8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3284984"/>
              <a:ext cx="4559300" cy="13462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5371C29-F805-C8A2-AD4E-056257C4E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1960" y="4120913"/>
              <a:ext cx="1524000" cy="4318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75C9405-718F-8CE5-E8FA-9FDF642F2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127" y="1904004"/>
            <a:ext cx="2421942" cy="48438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EB9A34-2042-2CBA-13AB-B8FB8CAA1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456" y="2235671"/>
            <a:ext cx="3143762" cy="223843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8E9BAA-B100-9E38-0C43-6AF70C2DE353}"/>
              </a:ext>
            </a:extLst>
          </p:cNvPr>
          <p:cNvCxnSpPr/>
          <p:nvPr/>
        </p:nvCxnSpPr>
        <p:spPr>
          <a:xfrm>
            <a:off x="5759471" y="2048020"/>
            <a:ext cx="0" cy="453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DA999-42E6-0983-DBC6-682FAA03EAB4}"/>
              </a:ext>
            </a:extLst>
          </p:cNvPr>
          <p:cNvSpPr/>
          <p:nvPr/>
        </p:nvSpPr>
        <p:spPr>
          <a:xfrm>
            <a:off x="2207569" y="1895586"/>
            <a:ext cx="7926715" cy="48522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3039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c9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9B – Y1 pages 181-183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368D8FC-8551-5CA1-68DF-977CCE251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692697"/>
            <a:ext cx="7272808" cy="1918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1B552B-FC53-C759-68CC-68F6D6996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636" y="2852936"/>
            <a:ext cx="4033499" cy="38404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751210-37BA-8A1D-0E5C-BCFE1F7A6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5" y="2924944"/>
            <a:ext cx="3737659" cy="5843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0B4DEE-0557-23CA-29B5-A1C2744372D0}"/>
              </a:ext>
            </a:extLst>
          </p:cNvPr>
          <p:cNvSpPr/>
          <p:nvPr/>
        </p:nvSpPr>
        <p:spPr>
          <a:xfrm>
            <a:off x="1991544" y="2846754"/>
            <a:ext cx="3878448" cy="3840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61F92B-0D4E-C945-FE5B-E8DE8AB230A7}"/>
              </a:ext>
            </a:extLst>
          </p:cNvPr>
          <p:cNvSpPr/>
          <p:nvPr/>
        </p:nvSpPr>
        <p:spPr>
          <a:xfrm>
            <a:off x="6171235" y="2846754"/>
            <a:ext cx="3878448" cy="3840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348466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c9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The ‘Ambiguous Case’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934092" y="4079292"/>
            <a:ext cx="417646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34092" y="1198972"/>
            <a:ext cx="2412268" cy="28803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2345885" y="3595522"/>
            <a:ext cx="227830" cy="508000"/>
          </a:xfrm>
          <a:custGeom>
            <a:avLst/>
            <a:gdLst>
              <a:gd name="connsiteX0" fmla="*/ 0 w 227830"/>
              <a:gd name="connsiteY0" fmla="*/ 0 h 508000"/>
              <a:gd name="connsiteX1" fmla="*/ 138546 w 227830"/>
              <a:gd name="connsiteY1" fmla="*/ 138545 h 508000"/>
              <a:gd name="connsiteX2" fmla="*/ 221673 w 227830"/>
              <a:gd name="connsiteY2" fmla="*/ 360218 h 508000"/>
              <a:gd name="connsiteX3" fmla="*/ 221673 w 227830"/>
              <a:gd name="connsiteY3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830" h="508000">
                <a:moveTo>
                  <a:pt x="0" y="0"/>
                </a:moveTo>
                <a:cubicBezTo>
                  <a:pt x="50800" y="39254"/>
                  <a:pt x="101601" y="78509"/>
                  <a:pt x="138546" y="138545"/>
                </a:cubicBezTo>
                <a:cubicBezTo>
                  <a:pt x="175491" y="198581"/>
                  <a:pt x="207819" y="298642"/>
                  <a:pt x="221673" y="360218"/>
                </a:cubicBezTo>
                <a:cubicBezTo>
                  <a:pt x="235528" y="421794"/>
                  <a:pt x="221673" y="508000"/>
                  <a:pt x="221673" y="5080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58416" y="4103522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416" y="4103522"/>
                <a:ext cx="7513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70684" y="82964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684" y="829640"/>
                <a:ext cx="7513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 flipH="1" flipV="1">
            <a:off x="4346360" y="1198972"/>
            <a:ext cx="972108" cy="288032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374252" y="1198972"/>
            <a:ext cx="972108" cy="288032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660250" y="209496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250" y="2094966"/>
                <a:ext cx="75135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963572" y="371248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44°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572" y="3712480"/>
                <a:ext cx="7513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095428" y="802268"/>
                <a:ext cx="43208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you are told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𝐴𝐵</m:t>
                    </m:r>
                    <m:r>
                      <a:rPr lang="en-GB" i="1">
                        <a:latin typeface="Cambria Math"/>
                      </a:rPr>
                      <m:t>=4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𝐴𝐶</m:t>
                    </m:r>
                    <m:r>
                      <a:rPr lang="en-GB" i="1">
                        <a:latin typeface="Cambria Math"/>
                      </a:rPr>
                      <m:t>=3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∠</m:t>
                    </m:r>
                    <m:r>
                      <a:rPr lang="en-GB" i="1">
                        <a:latin typeface="Cambria Math"/>
                      </a:rPr>
                      <m:t>𝐴𝐵𝐶</m:t>
                    </m:r>
                    <m:r>
                      <a:rPr lang="en-GB" i="1">
                        <a:latin typeface="Cambria Math"/>
                      </a:rPr>
                      <m:t>=44°</m:t>
                    </m:r>
                  </m:oMath>
                </a14:m>
                <a:r>
                  <a:rPr lang="en-GB" dirty="0"/>
                  <a:t>. What are the possible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∠</m:t>
                    </m:r>
                    <m:r>
                      <a:rPr lang="en-GB" i="1">
                        <a:latin typeface="Cambria Math"/>
                      </a:rPr>
                      <m:t>𝐴𝐶𝐵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802268"/>
                <a:ext cx="4320834" cy="923330"/>
              </a:xfrm>
              <a:prstGeom prst="rect">
                <a:avLst/>
              </a:prstGeom>
              <a:blipFill>
                <a:blip r:embed="rId6"/>
                <a:stretch>
                  <a:fillRect l="-1269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95428" y="1841879"/>
                <a:ext cx="421320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GB" dirty="0"/>
                  <a:t> is somewhere on the horizontal line. There’s two ways in which the length could be 3. Using the sine rule: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1841879"/>
                <a:ext cx="4213202" cy="923330"/>
              </a:xfrm>
              <a:prstGeom prst="rect">
                <a:avLst/>
              </a:prstGeom>
              <a:blipFill>
                <a:blip r:embed="rId7"/>
                <a:stretch>
                  <a:fillRect l="-1302" t="-3289" r="-1447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025615" y="2782908"/>
                <a:ext cx="2460461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func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𝟒𝟒</m:t>
                              </m:r>
                            </m:e>
                          </m:func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𝟗𝟐𝟔𝟐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615" y="2782908"/>
                <a:ext cx="2460461" cy="889731"/>
              </a:xfrm>
              <a:prstGeom prst="rect">
                <a:avLst/>
              </a:prstGeom>
              <a:blipFill>
                <a:blip r:embed="rId8"/>
                <a:stretch>
                  <a:fillRect b="-6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84516" y="4139488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516" y="4139488"/>
                <a:ext cx="4320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102444" y="415130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444" y="4151300"/>
                <a:ext cx="43204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221568" y="3817305"/>
                <a:ext cx="421783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Your calculator will give the acute angle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67.9°</m:t>
                    </m:r>
                  </m:oMath>
                </a14:m>
                <a:r>
                  <a:rPr lang="en-GB" dirty="0"/>
                  <a:t> 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). But if we look at a graph of sin, we can see there’s actually a second value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0.9262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, corresponding to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568" y="3817305"/>
                <a:ext cx="4217833" cy="1477328"/>
              </a:xfrm>
              <a:prstGeom prst="rect">
                <a:avLst/>
              </a:prstGeom>
              <a:blipFill>
                <a:blip r:embed="rId11"/>
                <a:stretch>
                  <a:fillRect l="-1301" t="-2058" r="-434" b="-5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609122" y="264071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122" y="2640716"/>
                <a:ext cx="75135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07923" y="262930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923" y="2629300"/>
                <a:ext cx="75135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/>
          <p:cNvSpPr/>
          <p:nvPr/>
        </p:nvSpPr>
        <p:spPr>
          <a:xfrm>
            <a:off x="3000057" y="3641489"/>
            <a:ext cx="510363" cy="414670"/>
          </a:xfrm>
          <a:custGeom>
            <a:avLst/>
            <a:gdLst>
              <a:gd name="connsiteX0" fmla="*/ 0 w 510363"/>
              <a:gd name="connsiteY0" fmla="*/ 414670 h 414670"/>
              <a:gd name="connsiteX1" fmla="*/ 148856 w 510363"/>
              <a:gd name="connsiteY1" fmla="*/ 116958 h 414670"/>
              <a:gd name="connsiteX2" fmla="*/ 510363 w 510363"/>
              <a:gd name="connsiteY2" fmla="*/ 0 h 41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3" h="414670">
                <a:moveTo>
                  <a:pt x="0" y="414670"/>
                </a:moveTo>
                <a:cubicBezTo>
                  <a:pt x="31898" y="300370"/>
                  <a:pt x="63796" y="186070"/>
                  <a:pt x="148856" y="116958"/>
                </a:cubicBezTo>
                <a:cubicBezTo>
                  <a:pt x="233916" y="47846"/>
                  <a:pt x="372139" y="23923"/>
                  <a:pt x="51036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/>
          <p:cNvSpPr/>
          <p:nvPr/>
        </p:nvSpPr>
        <p:spPr>
          <a:xfrm>
            <a:off x="4892652" y="3641489"/>
            <a:ext cx="265814" cy="425302"/>
          </a:xfrm>
          <a:custGeom>
            <a:avLst/>
            <a:gdLst>
              <a:gd name="connsiteX0" fmla="*/ 0 w 265814"/>
              <a:gd name="connsiteY0" fmla="*/ 425302 h 425302"/>
              <a:gd name="connsiteX1" fmla="*/ 74428 w 265814"/>
              <a:gd name="connsiteY1" fmla="*/ 180753 h 425302"/>
              <a:gd name="connsiteX2" fmla="*/ 265814 w 265814"/>
              <a:gd name="connsiteY2" fmla="*/ 0 h 42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" h="425302">
                <a:moveTo>
                  <a:pt x="0" y="425302"/>
                </a:moveTo>
                <a:cubicBezTo>
                  <a:pt x="15063" y="338469"/>
                  <a:pt x="30126" y="251637"/>
                  <a:pt x="74428" y="180753"/>
                </a:cubicBezTo>
                <a:cubicBezTo>
                  <a:pt x="118730" y="109869"/>
                  <a:pt x="192272" y="54934"/>
                  <a:pt x="26581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7304" y="4611697"/>
            <a:ext cx="2258657" cy="20986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00146" y="5611390"/>
                <a:ext cx="5964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146" y="5611390"/>
                <a:ext cx="596432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800496" y="5602027"/>
                <a:ext cx="5964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67.9°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96" y="5602027"/>
                <a:ext cx="596432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249724" y="5608562"/>
                <a:ext cx="5964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112.1°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724" y="5608562"/>
                <a:ext cx="596432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/>
          <p:cNvCxnSpPr/>
          <p:nvPr/>
        </p:nvCxnSpPr>
        <p:spPr>
          <a:xfrm>
            <a:off x="4116389" y="4908551"/>
            <a:ext cx="1587" cy="71437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538664" y="4900613"/>
            <a:ext cx="9305" cy="71093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718271" y="4906848"/>
            <a:ext cx="1745904" cy="170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10602" y="4818617"/>
            <a:ext cx="791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0.9262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477811" y="5397490"/>
                <a:ext cx="3672408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latin typeface="Wingdings" panose="05000000000000000000" pitchFamily="2" charset="2"/>
                  </a:rPr>
                  <a:t>!</a:t>
                </a:r>
                <a:r>
                  <a:rPr lang="en-GB" sz="1600" dirty="0"/>
                  <a:t> The sine rule produces two possible solutions for a missing angle: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⁡(180°−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Whether we use the acute or obtuse angle depends on context.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811" y="5397490"/>
                <a:ext cx="3672408" cy="1323439"/>
              </a:xfrm>
              <a:prstGeom prst="rect">
                <a:avLst/>
              </a:prstGeom>
              <a:blipFill>
                <a:blip r:embed="rId18"/>
                <a:stretch>
                  <a:fillRect l="-660" t="-901" b="-3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12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20" grpId="0"/>
      <p:bldP spid="21" grpId="0"/>
      <p:bldP spid="27" grpId="0"/>
      <p:bldP spid="29" grpId="0"/>
      <p:bldP spid="5" grpId="0" animBg="1"/>
      <p:bldP spid="6" grpId="0" animBg="1"/>
      <p:bldP spid="10" grpId="0"/>
      <p:bldP spid="31" grpId="0"/>
      <p:bldP spid="32" grpId="0"/>
      <p:bldP spid="41" grpId="0"/>
      <p:bldP spid="42" grpId="0" animBg="1"/>
    </p:bldLst>
  </p:timing>
</p:sld>
</file>

<file path=ppt/c9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10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19354352">
            <a:off x="2091009" y="1272152"/>
            <a:ext cx="3611418" cy="1468582"/>
            <a:chOff x="662660" y="2126232"/>
            <a:chExt cx="3611418" cy="1468582"/>
          </a:xfrm>
        </p:grpSpPr>
        <p:sp>
          <p:nvSpPr>
            <p:cNvPr id="2" name="Freeform 1"/>
            <p:cNvSpPr/>
            <p:nvPr/>
          </p:nvSpPr>
          <p:spPr>
            <a:xfrm>
              <a:off x="662660" y="2126232"/>
              <a:ext cx="3611418" cy="1468582"/>
            </a:xfrm>
            <a:custGeom>
              <a:avLst/>
              <a:gdLst>
                <a:gd name="connsiteX0" fmla="*/ 0 w 3611418"/>
                <a:gd name="connsiteY0" fmla="*/ 0 h 1468582"/>
                <a:gd name="connsiteX1" fmla="*/ 1819563 w 3611418"/>
                <a:gd name="connsiteY1" fmla="*/ 1468582 h 1468582"/>
                <a:gd name="connsiteX2" fmla="*/ 3611418 w 3611418"/>
                <a:gd name="connsiteY2" fmla="*/ 1154545 h 1468582"/>
                <a:gd name="connsiteX3" fmla="*/ 0 w 3611418"/>
                <a:gd name="connsiteY3" fmla="*/ 0 h 146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1418" h="1468582">
                  <a:moveTo>
                    <a:pt x="0" y="0"/>
                  </a:moveTo>
                  <a:lnTo>
                    <a:pt x="1819563" y="1468582"/>
                  </a:lnTo>
                  <a:lnTo>
                    <a:pt x="3611418" y="115454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Freeform 2"/>
            <p:cNvSpPr/>
            <p:nvPr/>
          </p:nvSpPr>
          <p:spPr>
            <a:xfrm>
              <a:off x="1292588" y="2401052"/>
              <a:ext cx="212436" cy="249382"/>
            </a:xfrm>
            <a:custGeom>
              <a:avLst/>
              <a:gdLst>
                <a:gd name="connsiteX0" fmla="*/ 0 w 212436"/>
                <a:gd name="connsiteY0" fmla="*/ 249382 h 249382"/>
                <a:gd name="connsiteX1" fmla="*/ 147782 w 212436"/>
                <a:gd name="connsiteY1" fmla="*/ 129309 h 249382"/>
                <a:gd name="connsiteX2" fmla="*/ 212436 w 212436"/>
                <a:gd name="connsiteY2" fmla="*/ 0 h 2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2436" h="249382">
                  <a:moveTo>
                    <a:pt x="0" y="249382"/>
                  </a:moveTo>
                  <a:cubicBezTo>
                    <a:pt x="56188" y="210127"/>
                    <a:pt x="112376" y="170873"/>
                    <a:pt x="147782" y="129309"/>
                  </a:cubicBezTo>
                  <a:cubicBezTo>
                    <a:pt x="183188" y="87745"/>
                    <a:pt x="197812" y="43872"/>
                    <a:pt x="212436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831997" y="2142872"/>
                <a:ext cx="607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997" y="2142872"/>
                <a:ext cx="6078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120029" y="257492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029" y="2574920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552077" y="14948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0229" y="18548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25" name="Freeform 24"/>
          <p:cNvSpPr/>
          <p:nvPr/>
        </p:nvSpPr>
        <p:spPr>
          <a:xfrm>
            <a:off x="3983949" y="2251786"/>
            <a:ext cx="604299" cy="314077"/>
          </a:xfrm>
          <a:custGeom>
            <a:avLst/>
            <a:gdLst>
              <a:gd name="connsiteX0" fmla="*/ 0 w 604299"/>
              <a:gd name="connsiteY0" fmla="*/ 314077 h 314077"/>
              <a:gd name="connsiteX1" fmla="*/ 63610 w 604299"/>
              <a:gd name="connsiteY1" fmla="*/ 107343 h 314077"/>
              <a:gd name="connsiteX2" fmla="*/ 278295 w 604299"/>
              <a:gd name="connsiteY2" fmla="*/ 11927 h 314077"/>
              <a:gd name="connsiteX3" fmla="*/ 492981 w 604299"/>
              <a:gd name="connsiteY3" fmla="*/ 35781 h 314077"/>
              <a:gd name="connsiteX4" fmla="*/ 604299 w 604299"/>
              <a:gd name="connsiteY4" fmla="*/ 67586 h 314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299" h="314077">
                <a:moveTo>
                  <a:pt x="0" y="314077"/>
                </a:moveTo>
                <a:cubicBezTo>
                  <a:pt x="8613" y="235889"/>
                  <a:pt x="17227" y="157701"/>
                  <a:pt x="63610" y="107343"/>
                </a:cubicBezTo>
                <a:cubicBezTo>
                  <a:pt x="109993" y="56985"/>
                  <a:pt x="206733" y="23854"/>
                  <a:pt x="278295" y="11927"/>
                </a:cubicBezTo>
                <a:cubicBezTo>
                  <a:pt x="349857" y="0"/>
                  <a:pt x="438647" y="26505"/>
                  <a:pt x="492981" y="35781"/>
                </a:cubicBezTo>
                <a:cubicBezTo>
                  <a:pt x="547315" y="45057"/>
                  <a:pt x="575807" y="56321"/>
                  <a:pt x="604299" y="67586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077132" y="1920224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32" y="1920224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903770" y="922486"/>
                <a:ext cx="4104456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the angle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is obtuse, 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and hence determine the length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770" y="922486"/>
                <a:ext cx="4104456" cy="923330"/>
              </a:xfrm>
              <a:prstGeom prst="rect">
                <a:avLst/>
              </a:prstGeom>
              <a:blipFill>
                <a:blip r:embed="rId5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916470" y="2146177"/>
                <a:ext cx="4104456" cy="3425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20°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20°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=43.1602°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=180°−43.1602°=136.8398°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r>
                  <a:rPr lang="en-GB" dirty="0"/>
                  <a:t>The other angle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180°−136.8398°−20°=23.1602°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Using sine rule again: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23.1602°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20°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=5.75 (3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470" y="2146177"/>
                <a:ext cx="4104456" cy="3425425"/>
              </a:xfrm>
              <a:prstGeom prst="rect">
                <a:avLst/>
              </a:prstGeom>
              <a:blipFill>
                <a:blip r:embed="rId6"/>
                <a:stretch>
                  <a:fillRect l="-1337" b="-7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5924886" y="1845816"/>
            <a:ext cx="4083341" cy="3959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33865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c9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9C – Y1 pages 184-185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E14558B-CEC9-B2EE-CE15-D41AC8D6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21315"/>
            <a:ext cx="7772400" cy="540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FA2D1-4ACD-7621-B9EC-6535BF247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484784"/>
            <a:ext cx="3091130" cy="5085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FAE4E2-6033-DDB5-3BF6-854429249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3212976"/>
            <a:ext cx="3363258" cy="21020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796B22-856F-4B88-05BF-6D461D7755A4}"/>
              </a:ext>
            </a:extLst>
          </p:cNvPr>
          <p:cNvCxnSpPr/>
          <p:nvPr/>
        </p:nvCxnSpPr>
        <p:spPr>
          <a:xfrm>
            <a:off x="5375920" y="2708920"/>
            <a:ext cx="0" cy="3744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E52DE6A-C21D-C7F5-F6EB-1D19A61E6D98}"/>
              </a:ext>
            </a:extLst>
          </p:cNvPr>
          <p:cNvSpPr/>
          <p:nvPr/>
        </p:nvSpPr>
        <p:spPr>
          <a:xfrm>
            <a:off x="1844611" y="1484784"/>
            <a:ext cx="7923798" cy="5184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0366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c9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9C – Y1 pages 184-185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B426089-F1B5-7829-C000-1C220EF2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78246"/>
            <a:ext cx="7772400" cy="540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B65D00-9267-86C2-3313-DDEDB1B49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484784"/>
            <a:ext cx="4177038" cy="2304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32A4DE-F4CD-4607-CCF7-15F8B0BF5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032" y="1626218"/>
            <a:ext cx="3897362" cy="43256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80C868-33D3-C08A-0C4E-975D594962E7}"/>
              </a:ext>
            </a:extLst>
          </p:cNvPr>
          <p:cNvSpPr/>
          <p:nvPr/>
        </p:nvSpPr>
        <p:spPr>
          <a:xfrm>
            <a:off x="1844611" y="1484784"/>
            <a:ext cx="8283837" cy="45365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9674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9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9C – Y1 pages 184-185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A229885-59DF-B1EF-0083-A43CED55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3048373"/>
            <a:ext cx="2521074" cy="361840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7CCBB42-7CC2-8D8C-CCBC-1098B8D7028F}"/>
              </a:ext>
            </a:extLst>
          </p:cNvPr>
          <p:cNvGrpSpPr/>
          <p:nvPr/>
        </p:nvGrpSpPr>
        <p:grpSpPr>
          <a:xfrm>
            <a:off x="1703512" y="600727"/>
            <a:ext cx="7772400" cy="2329855"/>
            <a:chOff x="179512" y="600726"/>
            <a:chExt cx="7772400" cy="23298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FBB735-1E33-731D-DCBD-5B01504C9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600726"/>
              <a:ext cx="7772400" cy="232985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C9E979-6C91-062E-9D4B-07F70C8CC60E}"/>
                </a:ext>
              </a:extLst>
            </p:cNvPr>
            <p:cNvSpPr/>
            <p:nvPr/>
          </p:nvSpPr>
          <p:spPr>
            <a:xfrm>
              <a:off x="3563888" y="2132856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ADC49DF-4B51-7880-AD3B-5DCC96A074E3}"/>
                </a:ext>
              </a:extLst>
            </p:cNvPr>
            <p:cNvSpPr/>
            <p:nvPr/>
          </p:nvSpPr>
          <p:spPr>
            <a:xfrm>
              <a:off x="3563888" y="2641864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97C5B19-885A-6011-C7C7-5E0DBD2D1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3120381"/>
            <a:ext cx="3062520" cy="50405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F76B940-FA13-FAF3-F6D7-121E2D4B30E5}"/>
              </a:ext>
            </a:extLst>
          </p:cNvPr>
          <p:cNvSpPr/>
          <p:nvPr/>
        </p:nvSpPr>
        <p:spPr>
          <a:xfrm>
            <a:off x="2279576" y="3068961"/>
            <a:ext cx="3878448" cy="3597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75BF0B-62D1-453B-AEF3-9887FFCCA8EC}"/>
              </a:ext>
            </a:extLst>
          </p:cNvPr>
          <p:cNvSpPr/>
          <p:nvPr/>
        </p:nvSpPr>
        <p:spPr>
          <a:xfrm>
            <a:off x="6322008" y="3068960"/>
            <a:ext cx="3878448" cy="3597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421404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c9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Area of Non Right-Angled Triangles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23592" y="4725144"/>
                <a:ext cx="7056784" cy="97770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Area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sz="2800" i="1">
                        <a:latin typeface="Cambria Math"/>
                      </a:rPr>
                      <m:t>𝑎</m:t>
                    </m:r>
                    <m:r>
                      <a:rPr lang="en-GB" sz="2800" i="1">
                        <a:latin typeface="Cambria Math"/>
                      </a:rPr>
                      <m:t> </m:t>
                    </m:r>
                    <m:r>
                      <a:rPr lang="en-GB" sz="2800" i="1">
                        <a:latin typeface="Cambria Math"/>
                      </a:rPr>
                      <m:t>𝑏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/>
                              </a:rPr>
                              <m:t>𝐶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the angle between two sides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4725144"/>
                <a:ext cx="7056784" cy="977704"/>
              </a:xfrm>
              <a:prstGeom prst="rect">
                <a:avLst/>
              </a:prstGeom>
              <a:blipFill>
                <a:blip r:embed="rId2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2783632" y="980728"/>
            <a:ext cx="4587902" cy="3339548"/>
          </a:xfrm>
          <a:custGeom>
            <a:avLst/>
            <a:gdLst>
              <a:gd name="connsiteX0" fmla="*/ 0 w 4587902"/>
              <a:gd name="connsiteY0" fmla="*/ 1693628 h 3339548"/>
              <a:gd name="connsiteX1" fmla="*/ 2417196 w 4587902"/>
              <a:gd name="connsiteY1" fmla="*/ 0 h 3339548"/>
              <a:gd name="connsiteX2" fmla="*/ 4587902 w 4587902"/>
              <a:gd name="connsiteY2" fmla="*/ 3339548 h 3339548"/>
              <a:gd name="connsiteX3" fmla="*/ 0 w 4587902"/>
              <a:gd name="connsiteY3" fmla="*/ 1693628 h 333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902" h="3339548">
                <a:moveTo>
                  <a:pt x="0" y="1693628"/>
                </a:moveTo>
                <a:lnTo>
                  <a:pt x="2417196" y="0"/>
                </a:lnTo>
                <a:lnTo>
                  <a:pt x="4587902" y="3339548"/>
                </a:lnTo>
                <a:lnTo>
                  <a:pt x="0" y="1693628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/>
          <p:cNvSpPr/>
          <p:nvPr/>
        </p:nvSpPr>
        <p:spPr>
          <a:xfrm>
            <a:off x="3317426" y="2296142"/>
            <a:ext cx="180229" cy="644056"/>
          </a:xfrm>
          <a:custGeom>
            <a:avLst/>
            <a:gdLst>
              <a:gd name="connsiteX0" fmla="*/ 151074 w 180229"/>
              <a:gd name="connsiteY0" fmla="*/ 644056 h 644056"/>
              <a:gd name="connsiteX1" fmla="*/ 174928 w 180229"/>
              <a:gd name="connsiteY1" fmla="*/ 429370 h 644056"/>
              <a:gd name="connsiteX2" fmla="*/ 119269 w 180229"/>
              <a:gd name="connsiteY2" fmla="*/ 214685 h 644056"/>
              <a:gd name="connsiteX3" fmla="*/ 0 w 180229"/>
              <a:gd name="connsiteY3" fmla="*/ 0 h 64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229" h="644056">
                <a:moveTo>
                  <a:pt x="151074" y="644056"/>
                </a:moveTo>
                <a:cubicBezTo>
                  <a:pt x="165651" y="572494"/>
                  <a:pt x="180229" y="500932"/>
                  <a:pt x="174928" y="429370"/>
                </a:cubicBezTo>
                <a:cubicBezTo>
                  <a:pt x="169627" y="357808"/>
                  <a:pt x="148424" y="286247"/>
                  <a:pt x="119269" y="214685"/>
                </a:cubicBezTo>
                <a:cubicBezTo>
                  <a:pt x="90114" y="143123"/>
                  <a:pt x="45057" y="71561"/>
                  <a:pt x="0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3503712" y="2348881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59°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20" y="1196753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3cm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784" y="3501009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7cm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4072" y="1628801"/>
            <a:ext cx="3707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= 0.5 x 3 x 7 x sin(59)</a:t>
            </a:r>
          </a:p>
          <a:p>
            <a:r>
              <a:rPr lang="en-GB" sz="2400" dirty="0"/>
              <a:t>          = 9.00cm</a:t>
            </a:r>
            <a:r>
              <a:rPr lang="en-GB" sz="2400" baseline="30000" dirty="0"/>
              <a:t>2</a:t>
            </a:r>
            <a:r>
              <a:rPr lang="en-GB" sz="2400" dirty="0"/>
              <a:t> 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783632" y="980728"/>
            <a:ext cx="4587902" cy="3339548"/>
            <a:chOff x="1259632" y="980728"/>
            <a:chExt cx="4587902" cy="3339548"/>
          </a:xfrm>
        </p:grpSpPr>
        <p:cxnSp>
          <p:nvCxnSpPr>
            <p:cNvPr id="18" name="Straight Connector 17"/>
            <p:cNvCxnSpPr>
              <a:stCxn id="8" idx="0"/>
              <a:endCxn id="8" idx="1"/>
            </p:cNvCxnSpPr>
            <p:nvPr/>
          </p:nvCxnSpPr>
          <p:spPr>
            <a:xfrm flipV="1">
              <a:off x="1259632" y="980728"/>
              <a:ext cx="2417197" cy="1693628"/>
            </a:xfrm>
            <a:prstGeom prst="line">
              <a:avLst/>
            </a:prstGeom>
            <a:ln w="762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8" idx="0"/>
              <a:endCxn id="8" idx="2"/>
            </p:cNvCxnSpPr>
            <p:nvPr/>
          </p:nvCxnSpPr>
          <p:spPr>
            <a:xfrm>
              <a:off x="1259632" y="2674356"/>
              <a:ext cx="4587902" cy="1645920"/>
            </a:xfrm>
            <a:prstGeom prst="line">
              <a:avLst/>
            </a:prstGeom>
            <a:ln w="762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 25"/>
            <p:cNvSpPr/>
            <p:nvPr/>
          </p:nvSpPr>
          <p:spPr>
            <a:xfrm>
              <a:off x="1795493" y="2276872"/>
              <a:ext cx="180229" cy="644056"/>
            </a:xfrm>
            <a:custGeom>
              <a:avLst/>
              <a:gdLst>
                <a:gd name="connsiteX0" fmla="*/ 151074 w 180229"/>
                <a:gd name="connsiteY0" fmla="*/ 644056 h 644056"/>
                <a:gd name="connsiteX1" fmla="*/ 174928 w 180229"/>
                <a:gd name="connsiteY1" fmla="*/ 429370 h 644056"/>
                <a:gd name="connsiteX2" fmla="*/ 119269 w 180229"/>
                <a:gd name="connsiteY2" fmla="*/ 214685 h 644056"/>
                <a:gd name="connsiteX3" fmla="*/ 0 w 180229"/>
                <a:gd name="connsiteY3" fmla="*/ 0 h 6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229" h="644056">
                  <a:moveTo>
                    <a:pt x="151074" y="644056"/>
                  </a:moveTo>
                  <a:cubicBezTo>
                    <a:pt x="165651" y="572494"/>
                    <a:pt x="180229" y="500932"/>
                    <a:pt x="174928" y="429370"/>
                  </a:cubicBezTo>
                  <a:cubicBezTo>
                    <a:pt x="169627" y="357808"/>
                    <a:pt x="148424" y="286247"/>
                    <a:pt x="119269" y="214685"/>
                  </a:cubicBezTo>
                  <a:cubicBezTo>
                    <a:pt x="90114" y="143123"/>
                    <a:pt x="45057" y="71561"/>
                    <a:pt x="0" y="0"/>
                  </a:cubicBezTo>
                </a:path>
              </a:pathLst>
            </a:custGeom>
            <a:ln w="762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847528" y="4725144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Wingdings" pitchFamily="2" charset="2"/>
              </a:rPr>
              <a:t>!</a:t>
            </a:r>
            <a:endParaRPr lang="en-GB" dirty="0">
              <a:latin typeface="Wingdings" pitchFamily="2" charset="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64152" y="1700808"/>
            <a:ext cx="2592288" cy="7200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3410" y="5935633"/>
            <a:ext cx="558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Tip</a:t>
            </a:r>
            <a:r>
              <a:rPr lang="en-GB" sz="1600" dirty="0"/>
              <a:t>: You shouldn’t have to label sides/angles before using the formula. Just remember that the angle is </a:t>
            </a:r>
            <a:r>
              <a:rPr lang="en-GB" sz="1600" u="sng" dirty="0"/>
              <a:t>between the two sides</a:t>
            </a:r>
            <a:r>
              <a:rPr lang="en-GB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820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c9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2470299" y="1414131"/>
            <a:ext cx="2966483" cy="2073349"/>
          </a:xfrm>
          <a:custGeom>
            <a:avLst/>
            <a:gdLst>
              <a:gd name="connsiteX0" fmla="*/ 2296632 w 2966483"/>
              <a:gd name="connsiteY0" fmla="*/ 0 h 2073349"/>
              <a:gd name="connsiteX1" fmla="*/ 0 w 2966483"/>
              <a:gd name="connsiteY1" fmla="*/ 1052623 h 2073349"/>
              <a:gd name="connsiteX2" fmla="*/ 2966483 w 2966483"/>
              <a:gd name="connsiteY2" fmla="*/ 2073349 h 2073349"/>
              <a:gd name="connsiteX3" fmla="*/ 2296632 w 2966483"/>
              <a:gd name="connsiteY3" fmla="*/ 0 h 207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6483" h="2073349">
                <a:moveTo>
                  <a:pt x="2296632" y="0"/>
                </a:moveTo>
                <a:lnTo>
                  <a:pt x="0" y="1052623"/>
                </a:lnTo>
                <a:lnTo>
                  <a:pt x="2966483" y="2073349"/>
                </a:lnTo>
                <a:lnTo>
                  <a:pt x="2296632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/>
          <p:cNvSpPr/>
          <p:nvPr/>
        </p:nvSpPr>
        <p:spPr>
          <a:xfrm>
            <a:off x="3065721" y="2179675"/>
            <a:ext cx="63876" cy="499731"/>
          </a:xfrm>
          <a:custGeom>
            <a:avLst/>
            <a:gdLst>
              <a:gd name="connsiteX0" fmla="*/ 0 w 63876"/>
              <a:gd name="connsiteY0" fmla="*/ 0 h 499731"/>
              <a:gd name="connsiteX1" fmla="*/ 63795 w 63876"/>
              <a:gd name="connsiteY1" fmla="*/ 233917 h 499731"/>
              <a:gd name="connsiteX2" fmla="*/ 10632 w 63876"/>
              <a:gd name="connsiteY2" fmla="*/ 499731 h 49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76" h="499731">
                <a:moveTo>
                  <a:pt x="0" y="0"/>
                </a:moveTo>
                <a:cubicBezTo>
                  <a:pt x="31011" y="75314"/>
                  <a:pt x="62023" y="150629"/>
                  <a:pt x="63795" y="233917"/>
                </a:cubicBezTo>
                <a:cubicBezTo>
                  <a:pt x="65567" y="317205"/>
                  <a:pt x="38099" y="408468"/>
                  <a:pt x="10632" y="49973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28199" y="1420036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199" y="1420036"/>
                <a:ext cx="115212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8199" y="3118147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199" y="3118147"/>
                <a:ext cx="11521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65722" y="2249330"/>
                <a:ext cx="8157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722" y="2249330"/>
                <a:ext cx="81577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03770" y="922487"/>
                <a:ext cx="4104456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area of this triangle is 10.</a:t>
                </a:r>
              </a:p>
              <a:p>
                <a:r>
                  <a:rPr lang="en-GB" dirty="0"/>
                  <a:t>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770" y="922487"/>
                <a:ext cx="4104456" cy="646331"/>
              </a:xfrm>
              <a:prstGeom prst="rect">
                <a:avLst/>
              </a:prstGeom>
              <a:blipFill>
                <a:blip r:embed="rId5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53068" y="1672410"/>
                <a:ext cx="2808312" cy="223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=40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−40=0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068" y="1672410"/>
                <a:ext cx="2808312" cy="2237536"/>
              </a:xfrm>
              <a:prstGeom prst="rect">
                <a:avLst/>
              </a:prstGeom>
              <a:blipFill>
                <a:blip r:embed="rId6"/>
                <a:stretch>
                  <a:fillRect l="-1957" b="-35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03770" y="4293097"/>
                <a:ext cx="4104456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area of this triangle is also 10.</a:t>
                </a:r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is obtuse, 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770" y="4293097"/>
                <a:ext cx="4104456" cy="646331"/>
              </a:xfrm>
              <a:prstGeom prst="rect">
                <a:avLst/>
              </a:prstGeom>
              <a:blipFill>
                <a:blip r:embed="rId7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/>
          <p:cNvSpPr/>
          <p:nvPr/>
        </p:nvSpPr>
        <p:spPr>
          <a:xfrm>
            <a:off x="2503225" y="4215941"/>
            <a:ext cx="3062176" cy="1754373"/>
          </a:xfrm>
          <a:custGeom>
            <a:avLst/>
            <a:gdLst>
              <a:gd name="connsiteX0" fmla="*/ 2296632 w 2966483"/>
              <a:gd name="connsiteY0" fmla="*/ 0 h 2073349"/>
              <a:gd name="connsiteX1" fmla="*/ 0 w 2966483"/>
              <a:gd name="connsiteY1" fmla="*/ 1052623 h 2073349"/>
              <a:gd name="connsiteX2" fmla="*/ 2966483 w 2966483"/>
              <a:gd name="connsiteY2" fmla="*/ 2073349 h 2073349"/>
              <a:gd name="connsiteX3" fmla="*/ 2296632 w 2966483"/>
              <a:gd name="connsiteY3" fmla="*/ 0 h 2073349"/>
              <a:gd name="connsiteX0" fmla="*/ 1467293 w 2966483"/>
              <a:gd name="connsiteY0" fmla="*/ 0 h 2052084"/>
              <a:gd name="connsiteX1" fmla="*/ 0 w 2966483"/>
              <a:gd name="connsiteY1" fmla="*/ 1031358 h 2052084"/>
              <a:gd name="connsiteX2" fmla="*/ 2966483 w 2966483"/>
              <a:gd name="connsiteY2" fmla="*/ 2052084 h 2052084"/>
              <a:gd name="connsiteX3" fmla="*/ 1467293 w 2966483"/>
              <a:gd name="connsiteY3" fmla="*/ 0 h 2052084"/>
              <a:gd name="connsiteX0" fmla="*/ 1467293 w 3062176"/>
              <a:gd name="connsiteY0" fmla="*/ 0 h 1754373"/>
              <a:gd name="connsiteX1" fmla="*/ 0 w 3062176"/>
              <a:gd name="connsiteY1" fmla="*/ 1031358 h 1754373"/>
              <a:gd name="connsiteX2" fmla="*/ 3062176 w 3062176"/>
              <a:gd name="connsiteY2" fmla="*/ 1754373 h 1754373"/>
              <a:gd name="connsiteX3" fmla="*/ 1467293 w 3062176"/>
              <a:gd name="connsiteY3" fmla="*/ 0 h 1754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2176" h="1754373">
                <a:moveTo>
                  <a:pt x="1467293" y="0"/>
                </a:moveTo>
                <a:lnTo>
                  <a:pt x="0" y="1031358"/>
                </a:lnTo>
                <a:lnTo>
                  <a:pt x="3062176" y="1754373"/>
                </a:lnTo>
                <a:lnTo>
                  <a:pt x="1467293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62935" y="4318300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935" y="4318300"/>
                <a:ext cx="115212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51784" y="4483182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4483182"/>
                <a:ext cx="115212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/>
          <p:cNvSpPr/>
          <p:nvPr/>
        </p:nvSpPr>
        <p:spPr>
          <a:xfrm>
            <a:off x="3533553" y="4497573"/>
            <a:ext cx="723014" cy="139307"/>
          </a:xfrm>
          <a:custGeom>
            <a:avLst/>
            <a:gdLst>
              <a:gd name="connsiteX0" fmla="*/ 0 w 723014"/>
              <a:gd name="connsiteY0" fmla="*/ 0 h 139307"/>
              <a:gd name="connsiteX1" fmla="*/ 361507 w 723014"/>
              <a:gd name="connsiteY1" fmla="*/ 138223 h 139307"/>
              <a:gd name="connsiteX2" fmla="*/ 723014 w 723014"/>
              <a:gd name="connsiteY2" fmla="*/ 53163 h 13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014" h="139307">
                <a:moveTo>
                  <a:pt x="0" y="0"/>
                </a:moveTo>
                <a:cubicBezTo>
                  <a:pt x="120502" y="64681"/>
                  <a:pt x="241005" y="129363"/>
                  <a:pt x="361507" y="138223"/>
                </a:cubicBezTo>
                <a:cubicBezTo>
                  <a:pt x="482009" y="147083"/>
                  <a:pt x="602511" y="100123"/>
                  <a:pt x="723014" y="5316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40261" y="4685176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261" y="4685176"/>
                <a:ext cx="115212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105275" y="5071862"/>
                <a:ext cx="3361246" cy="1408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×5×6×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=180°−41.8°=138.2°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275" y="5071862"/>
                <a:ext cx="3361246" cy="14083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5903770" y="1568817"/>
            <a:ext cx="4104456" cy="23411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03770" y="4939427"/>
            <a:ext cx="4104456" cy="16900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89095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c9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9D – Y1 pages 186-187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21D9418-36EF-5D58-6CBE-6CBD055B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599127"/>
            <a:ext cx="7772400" cy="1337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26F7A2-402F-37FC-57C3-31B71F2E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2204864"/>
            <a:ext cx="3156806" cy="44415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AE12E1D-D4B0-EE83-772D-CDED3A1C3851}"/>
              </a:ext>
            </a:extLst>
          </p:cNvPr>
          <p:cNvSpPr/>
          <p:nvPr/>
        </p:nvSpPr>
        <p:spPr>
          <a:xfrm>
            <a:off x="2999656" y="2210904"/>
            <a:ext cx="4104456" cy="44355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83950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9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9D – Y1 pages 186-187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E35ED4E-B090-BB51-61E9-3DEA35B9B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29360"/>
            <a:ext cx="7772400" cy="15992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6E74C23-7AB5-E368-2D71-B2E1383D9BC3}"/>
              </a:ext>
            </a:extLst>
          </p:cNvPr>
          <p:cNvGrpSpPr/>
          <p:nvPr/>
        </p:nvGrpSpPr>
        <p:grpSpPr>
          <a:xfrm>
            <a:off x="2495601" y="2774845"/>
            <a:ext cx="3135697" cy="3168352"/>
            <a:chOff x="611560" y="2420888"/>
            <a:chExt cx="3135697" cy="31683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F701B32-4717-28F1-76FB-3283CFF82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0" y="2420888"/>
              <a:ext cx="3135697" cy="252028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96020E-14B7-BB05-AB20-8F91A9EFF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592" y="4941168"/>
              <a:ext cx="2701703" cy="64807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7872A13-D060-AD48-AC09-AA7D03D9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993" y="2846854"/>
            <a:ext cx="3815781" cy="30208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03B96E-D616-48B2-03FB-7EBCA45F25E7}"/>
              </a:ext>
            </a:extLst>
          </p:cNvPr>
          <p:cNvSpPr/>
          <p:nvPr/>
        </p:nvSpPr>
        <p:spPr>
          <a:xfrm>
            <a:off x="2063552" y="2630829"/>
            <a:ext cx="3878448" cy="3597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8ED9B4-8972-27B3-2B90-2CD1EDEA464E}"/>
              </a:ext>
            </a:extLst>
          </p:cNvPr>
          <p:cNvSpPr/>
          <p:nvPr/>
        </p:nvSpPr>
        <p:spPr>
          <a:xfrm>
            <a:off x="6105984" y="2630828"/>
            <a:ext cx="3878448" cy="3597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249204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9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9D – Y1 pages 186-187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D839B27-F8EB-9AF6-83D1-1D33DD959F55}"/>
              </a:ext>
            </a:extLst>
          </p:cNvPr>
          <p:cNvGrpSpPr/>
          <p:nvPr/>
        </p:nvGrpSpPr>
        <p:grpSpPr>
          <a:xfrm>
            <a:off x="1703512" y="692697"/>
            <a:ext cx="5544616" cy="1253271"/>
            <a:chOff x="179512" y="692696"/>
            <a:chExt cx="5544616" cy="12532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36363D-AA7E-1188-6682-0D651D7C4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692696"/>
              <a:ext cx="5328592" cy="125327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F91886-3684-CA24-F994-927B02F2CFFF}"/>
                </a:ext>
              </a:extLst>
            </p:cNvPr>
            <p:cNvSpPr/>
            <p:nvPr/>
          </p:nvSpPr>
          <p:spPr>
            <a:xfrm>
              <a:off x="4211960" y="692696"/>
              <a:ext cx="1512168" cy="720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FDAF6B3-551B-2820-7DD8-B8BD7A5F5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2564904"/>
            <a:ext cx="4275002" cy="3384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D3B8EF-2471-A5ED-EF55-B2CB61A11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28" y="2585720"/>
            <a:ext cx="3596936" cy="23946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4F7C4C-A6FC-D4F5-A9F8-76AFA53BC249}"/>
              </a:ext>
            </a:extLst>
          </p:cNvPr>
          <p:cNvSpPr/>
          <p:nvPr/>
        </p:nvSpPr>
        <p:spPr>
          <a:xfrm>
            <a:off x="2063552" y="2630829"/>
            <a:ext cx="3878448" cy="3597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A9531-5F7B-C16F-B58D-C57EC0602B2C}"/>
              </a:ext>
            </a:extLst>
          </p:cNvPr>
          <p:cNvSpPr/>
          <p:nvPr/>
        </p:nvSpPr>
        <p:spPr>
          <a:xfrm>
            <a:off x="6105984" y="2630828"/>
            <a:ext cx="3878448" cy="3597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93134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9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Sin or cosine rule?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2149493" y="1923028"/>
            <a:ext cx="2004291" cy="1062182"/>
          </a:xfrm>
          <a:custGeom>
            <a:avLst/>
            <a:gdLst>
              <a:gd name="connsiteX0" fmla="*/ 563418 w 2004291"/>
              <a:gd name="connsiteY0" fmla="*/ 0 h 1062182"/>
              <a:gd name="connsiteX1" fmla="*/ 0 w 2004291"/>
              <a:gd name="connsiteY1" fmla="*/ 1062182 h 1062182"/>
              <a:gd name="connsiteX2" fmla="*/ 2004291 w 2004291"/>
              <a:gd name="connsiteY2" fmla="*/ 443346 h 1062182"/>
              <a:gd name="connsiteX3" fmla="*/ 563418 w 2004291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291" h="1062182">
                <a:moveTo>
                  <a:pt x="563418" y="0"/>
                </a:moveTo>
                <a:lnTo>
                  <a:pt x="0" y="1062182"/>
                </a:lnTo>
                <a:lnTo>
                  <a:pt x="2004291" y="443346"/>
                </a:lnTo>
                <a:lnTo>
                  <a:pt x="56341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2590878" y="2027287"/>
            <a:ext cx="397164" cy="168546"/>
          </a:xfrm>
          <a:custGeom>
            <a:avLst/>
            <a:gdLst>
              <a:gd name="connsiteX0" fmla="*/ 0 w 397164"/>
              <a:gd name="connsiteY0" fmla="*/ 147781 h 168546"/>
              <a:gd name="connsiteX1" fmla="*/ 157019 w 397164"/>
              <a:gd name="connsiteY1" fmla="*/ 166254 h 168546"/>
              <a:gd name="connsiteX2" fmla="*/ 332510 w 397164"/>
              <a:gd name="connsiteY2" fmla="*/ 101600 h 168546"/>
              <a:gd name="connsiteX3" fmla="*/ 397164 w 397164"/>
              <a:gd name="connsiteY3" fmla="*/ 0 h 16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164" h="168546">
                <a:moveTo>
                  <a:pt x="0" y="147781"/>
                </a:moveTo>
                <a:cubicBezTo>
                  <a:pt x="50800" y="160866"/>
                  <a:pt x="101601" y="173951"/>
                  <a:pt x="157019" y="166254"/>
                </a:cubicBezTo>
                <a:cubicBezTo>
                  <a:pt x="212437" y="158557"/>
                  <a:pt x="292486" y="129309"/>
                  <a:pt x="332510" y="101600"/>
                </a:cubicBezTo>
                <a:cubicBezTo>
                  <a:pt x="372534" y="73891"/>
                  <a:pt x="384849" y="36945"/>
                  <a:pt x="397164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3652903" y="2230488"/>
            <a:ext cx="27866" cy="295563"/>
          </a:xfrm>
          <a:custGeom>
            <a:avLst/>
            <a:gdLst>
              <a:gd name="connsiteX0" fmla="*/ 27866 w 27866"/>
              <a:gd name="connsiteY0" fmla="*/ 0 h 295563"/>
              <a:gd name="connsiteX1" fmla="*/ 157 w 27866"/>
              <a:gd name="connsiteY1" fmla="*/ 138545 h 295563"/>
              <a:gd name="connsiteX2" fmla="*/ 18630 w 27866"/>
              <a:gd name="connsiteY2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66" h="295563">
                <a:moveTo>
                  <a:pt x="27866" y="0"/>
                </a:moveTo>
                <a:cubicBezTo>
                  <a:pt x="14781" y="44642"/>
                  <a:pt x="1696" y="89285"/>
                  <a:pt x="157" y="138545"/>
                </a:cubicBezTo>
                <a:cubicBezTo>
                  <a:pt x="-1382" y="187805"/>
                  <a:pt x="8624" y="241684"/>
                  <a:pt x="18630" y="2955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63170" y="211445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100°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170" y="2114456"/>
                <a:ext cx="7513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51638" y="2193602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638" y="2193602"/>
                <a:ext cx="7513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13125" y="2734155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125" y="2734155"/>
                <a:ext cx="75135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39526" y="211445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526" y="2114456"/>
                <a:ext cx="7513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11"/>
          <p:cNvSpPr/>
          <p:nvPr/>
        </p:nvSpPr>
        <p:spPr>
          <a:xfrm>
            <a:off x="2077486" y="3934305"/>
            <a:ext cx="2004291" cy="1062182"/>
          </a:xfrm>
          <a:custGeom>
            <a:avLst/>
            <a:gdLst>
              <a:gd name="connsiteX0" fmla="*/ 563418 w 2004291"/>
              <a:gd name="connsiteY0" fmla="*/ 0 h 1062182"/>
              <a:gd name="connsiteX1" fmla="*/ 0 w 2004291"/>
              <a:gd name="connsiteY1" fmla="*/ 1062182 h 1062182"/>
              <a:gd name="connsiteX2" fmla="*/ 2004291 w 2004291"/>
              <a:gd name="connsiteY2" fmla="*/ 443346 h 1062182"/>
              <a:gd name="connsiteX3" fmla="*/ 563418 w 2004291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291" h="1062182">
                <a:moveTo>
                  <a:pt x="563418" y="0"/>
                </a:moveTo>
                <a:lnTo>
                  <a:pt x="0" y="1062182"/>
                </a:lnTo>
                <a:lnTo>
                  <a:pt x="2004291" y="443346"/>
                </a:lnTo>
                <a:lnTo>
                  <a:pt x="56341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 13"/>
          <p:cNvSpPr/>
          <p:nvPr/>
        </p:nvSpPr>
        <p:spPr>
          <a:xfrm>
            <a:off x="3580896" y="4241765"/>
            <a:ext cx="27866" cy="295563"/>
          </a:xfrm>
          <a:custGeom>
            <a:avLst/>
            <a:gdLst>
              <a:gd name="connsiteX0" fmla="*/ 27866 w 27866"/>
              <a:gd name="connsiteY0" fmla="*/ 0 h 295563"/>
              <a:gd name="connsiteX1" fmla="*/ 157 w 27866"/>
              <a:gd name="connsiteY1" fmla="*/ 138545 h 295563"/>
              <a:gd name="connsiteX2" fmla="*/ 18630 w 27866"/>
              <a:gd name="connsiteY2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66" h="295563">
                <a:moveTo>
                  <a:pt x="27866" y="0"/>
                </a:moveTo>
                <a:cubicBezTo>
                  <a:pt x="14781" y="44642"/>
                  <a:pt x="1696" y="89285"/>
                  <a:pt x="157" y="138545"/>
                </a:cubicBezTo>
                <a:cubicBezTo>
                  <a:pt x="-1382" y="187805"/>
                  <a:pt x="8624" y="241684"/>
                  <a:pt x="18630" y="2955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988043" y="4184377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043" y="4184377"/>
                <a:ext cx="7513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94007" y="439660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007" y="4396600"/>
                <a:ext cx="7513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767519" y="4125733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519" y="4125733"/>
                <a:ext cx="75135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71545" y="3800721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545" y="3800721"/>
                <a:ext cx="75135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 19"/>
          <p:cNvSpPr/>
          <p:nvPr/>
        </p:nvSpPr>
        <p:spPr>
          <a:xfrm>
            <a:off x="6217688" y="4022618"/>
            <a:ext cx="2004291" cy="1062182"/>
          </a:xfrm>
          <a:custGeom>
            <a:avLst/>
            <a:gdLst>
              <a:gd name="connsiteX0" fmla="*/ 563418 w 2004291"/>
              <a:gd name="connsiteY0" fmla="*/ 0 h 1062182"/>
              <a:gd name="connsiteX1" fmla="*/ 0 w 2004291"/>
              <a:gd name="connsiteY1" fmla="*/ 1062182 h 1062182"/>
              <a:gd name="connsiteX2" fmla="*/ 2004291 w 2004291"/>
              <a:gd name="connsiteY2" fmla="*/ 443346 h 1062182"/>
              <a:gd name="connsiteX3" fmla="*/ 563418 w 2004291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291" h="1062182">
                <a:moveTo>
                  <a:pt x="563418" y="0"/>
                </a:moveTo>
                <a:lnTo>
                  <a:pt x="0" y="1062182"/>
                </a:lnTo>
                <a:lnTo>
                  <a:pt x="2004291" y="443346"/>
                </a:lnTo>
                <a:lnTo>
                  <a:pt x="56341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20"/>
          <p:cNvSpPr/>
          <p:nvPr/>
        </p:nvSpPr>
        <p:spPr>
          <a:xfrm>
            <a:off x="7721098" y="4330078"/>
            <a:ext cx="27866" cy="295563"/>
          </a:xfrm>
          <a:custGeom>
            <a:avLst/>
            <a:gdLst>
              <a:gd name="connsiteX0" fmla="*/ 27866 w 27866"/>
              <a:gd name="connsiteY0" fmla="*/ 0 h 295563"/>
              <a:gd name="connsiteX1" fmla="*/ 157 w 27866"/>
              <a:gd name="connsiteY1" fmla="*/ 138545 h 295563"/>
              <a:gd name="connsiteX2" fmla="*/ 18630 w 27866"/>
              <a:gd name="connsiteY2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66" h="295563">
                <a:moveTo>
                  <a:pt x="27866" y="0"/>
                </a:moveTo>
                <a:cubicBezTo>
                  <a:pt x="14781" y="44642"/>
                  <a:pt x="1696" y="89285"/>
                  <a:pt x="157" y="138545"/>
                </a:cubicBezTo>
                <a:cubicBezTo>
                  <a:pt x="-1382" y="187805"/>
                  <a:pt x="8624" y="241684"/>
                  <a:pt x="18630" y="2955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128245" y="427269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245" y="4272690"/>
                <a:ext cx="75135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881320" y="4833745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320" y="4833745"/>
                <a:ext cx="7513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907721" y="421404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721" y="4214046"/>
                <a:ext cx="75135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111747" y="3889034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747" y="3889034"/>
                <a:ext cx="75135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25"/>
          <p:cNvSpPr/>
          <p:nvPr/>
        </p:nvSpPr>
        <p:spPr>
          <a:xfrm>
            <a:off x="6151979" y="1802009"/>
            <a:ext cx="2004291" cy="1062182"/>
          </a:xfrm>
          <a:custGeom>
            <a:avLst/>
            <a:gdLst>
              <a:gd name="connsiteX0" fmla="*/ 563418 w 2004291"/>
              <a:gd name="connsiteY0" fmla="*/ 0 h 1062182"/>
              <a:gd name="connsiteX1" fmla="*/ 0 w 2004291"/>
              <a:gd name="connsiteY1" fmla="*/ 1062182 h 1062182"/>
              <a:gd name="connsiteX2" fmla="*/ 2004291 w 2004291"/>
              <a:gd name="connsiteY2" fmla="*/ 443346 h 1062182"/>
              <a:gd name="connsiteX3" fmla="*/ 563418 w 2004291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291" h="1062182">
                <a:moveTo>
                  <a:pt x="563418" y="0"/>
                </a:moveTo>
                <a:lnTo>
                  <a:pt x="0" y="1062182"/>
                </a:lnTo>
                <a:lnTo>
                  <a:pt x="2004291" y="443346"/>
                </a:lnTo>
                <a:lnTo>
                  <a:pt x="56341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 26"/>
          <p:cNvSpPr/>
          <p:nvPr/>
        </p:nvSpPr>
        <p:spPr>
          <a:xfrm>
            <a:off x="7655389" y="2109469"/>
            <a:ext cx="27866" cy="295563"/>
          </a:xfrm>
          <a:custGeom>
            <a:avLst/>
            <a:gdLst>
              <a:gd name="connsiteX0" fmla="*/ 27866 w 27866"/>
              <a:gd name="connsiteY0" fmla="*/ 0 h 295563"/>
              <a:gd name="connsiteX1" fmla="*/ 157 w 27866"/>
              <a:gd name="connsiteY1" fmla="*/ 138545 h 295563"/>
              <a:gd name="connsiteX2" fmla="*/ 18630 w 27866"/>
              <a:gd name="connsiteY2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66" h="295563">
                <a:moveTo>
                  <a:pt x="27866" y="0"/>
                </a:moveTo>
                <a:cubicBezTo>
                  <a:pt x="14781" y="44642"/>
                  <a:pt x="1696" y="89285"/>
                  <a:pt x="157" y="138545"/>
                </a:cubicBezTo>
                <a:cubicBezTo>
                  <a:pt x="-1382" y="187805"/>
                  <a:pt x="8624" y="241684"/>
                  <a:pt x="18630" y="2955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62536" y="2052081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536" y="2052081"/>
                <a:ext cx="75135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815611" y="261313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611" y="2613136"/>
                <a:ext cx="75135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842012" y="1993437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12" y="1993437"/>
                <a:ext cx="75135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046038" y="1668425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038" y="1668425"/>
                <a:ext cx="75135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1826794" y="1124169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Sine</a:t>
            </a:r>
          </a:p>
        </p:txBody>
      </p:sp>
      <p:sp>
        <p:nvSpPr>
          <p:cNvPr id="13" name="Freeform 12"/>
          <p:cNvSpPr/>
          <p:nvPr/>
        </p:nvSpPr>
        <p:spPr>
          <a:xfrm>
            <a:off x="2290619" y="4590474"/>
            <a:ext cx="230909" cy="277091"/>
          </a:xfrm>
          <a:custGeom>
            <a:avLst/>
            <a:gdLst>
              <a:gd name="connsiteX0" fmla="*/ 0 w 230909"/>
              <a:gd name="connsiteY0" fmla="*/ 0 h 277091"/>
              <a:gd name="connsiteX1" fmla="*/ 120073 w 230909"/>
              <a:gd name="connsiteY1" fmla="*/ 46182 h 277091"/>
              <a:gd name="connsiteX2" fmla="*/ 203200 w 230909"/>
              <a:gd name="connsiteY2" fmla="*/ 157018 h 277091"/>
              <a:gd name="connsiteX3" fmla="*/ 230909 w 230909"/>
              <a:gd name="connsiteY3" fmla="*/ 277091 h 277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909" h="277091">
                <a:moveTo>
                  <a:pt x="0" y="0"/>
                </a:moveTo>
                <a:cubicBezTo>
                  <a:pt x="43103" y="10006"/>
                  <a:pt x="86206" y="20012"/>
                  <a:pt x="120073" y="46182"/>
                </a:cubicBezTo>
                <a:cubicBezTo>
                  <a:pt x="153940" y="72352"/>
                  <a:pt x="184727" y="118533"/>
                  <a:pt x="203200" y="157018"/>
                </a:cubicBezTo>
                <a:cubicBezTo>
                  <a:pt x="221673" y="195503"/>
                  <a:pt x="226291" y="236297"/>
                  <a:pt x="230909" y="27709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5032665" y="679986"/>
            <a:ext cx="5428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Recall that whenever we have </a:t>
            </a:r>
            <a:r>
              <a:rPr lang="en-GB" sz="1600" b="1" dirty="0"/>
              <a:t>two “side-angle pairs</a:t>
            </a:r>
            <a:r>
              <a:rPr lang="en-GB" sz="1600" dirty="0"/>
              <a:t>” involved, use sine rule. If there’s </a:t>
            </a:r>
            <a:r>
              <a:rPr lang="en-GB" sz="1600" b="1" dirty="0"/>
              <a:t>3 sides </a:t>
            </a:r>
            <a:r>
              <a:rPr lang="en-GB" sz="1600" dirty="0"/>
              <a:t>involved, we can use cosine rule. Sine rule is generally easier to use than cosine rule.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88800" y="1124169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Cosine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7266" y="5279704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Sine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89272" y="5279704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Cosine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08479" y="2628001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Cosine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4003" y="2628001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Sine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67731" y="5130063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Cosine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3255" y="5130063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Sine</a:t>
            </a:r>
          </a:p>
        </p:txBody>
      </p:sp>
    </p:spTree>
    <p:extLst>
      <p:ext uri="{BB962C8B-B14F-4D97-AF65-F5344CB8AC3E}">
        <p14:creationId xmlns:p14="http://schemas.microsoft.com/office/powerpoint/2010/main" val="34538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CFF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F4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CFF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F4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CFF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F4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CFF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F4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  <p:bldLst>
      <p:bldP spid="34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c9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Using sine rule twice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83633" y="692696"/>
          <a:ext cx="6029113" cy="132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#4 Two sides known and a missing side </a:t>
                      </a:r>
                      <a:r>
                        <a:rPr lang="en-GB" sz="2000" u="sng" dirty="0">
                          <a:effectLst/>
                        </a:rPr>
                        <a:t>not</a:t>
                      </a:r>
                      <a:r>
                        <a:rPr lang="en-GB" sz="2000" dirty="0">
                          <a:effectLst/>
                        </a:rPr>
                        <a:t> opposite known angle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Remaining side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 twice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Freeform 5"/>
          <p:cNvSpPr/>
          <p:nvPr/>
        </p:nvSpPr>
        <p:spPr>
          <a:xfrm>
            <a:off x="2427383" y="3029639"/>
            <a:ext cx="4263528" cy="2500828"/>
          </a:xfrm>
          <a:custGeom>
            <a:avLst/>
            <a:gdLst>
              <a:gd name="connsiteX0" fmla="*/ 958468 w 4263528"/>
              <a:gd name="connsiteY0" fmla="*/ 0 h 2500828"/>
              <a:gd name="connsiteX1" fmla="*/ 0 w 4263528"/>
              <a:gd name="connsiteY1" fmla="*/ 2500828 h 2500828"/>
              <a:gd name="connsiteX2" fmla="*/ 4263528 w 4263528"/>
              <a:gd name="connsiteY2" fmla="*/ 749147 h 2500828"/>
              <a:gd name="connsiteX3" fmla="*/ 958468 w 4263528"/>
              <a:gd name="connsiteY3" fmla="*/ 0 h 250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3528" h="2500828">
                <a:moveTo>
                  <a:pt x="958468" y="0"/>
                </a:moveTo>
                <a:lnTo>
                  <a:pt x="0" y="2500828"/>
                </a:lnTo>
                <a:lnTo>
                  <a:pt x="4263528" y="749147"/>
                </a:lnTo>
                <a:lnTo>
                  <a:pt x="95846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5736318" y="3580483"/>
            <a:ext cx="84260" cy="572877"/>
          </a:xfrm>
          <a:custGeom>
            <a:avLst/>
            <a:gdLst>
              <a:gd name="connsiteX0" fmla="*/ 84260 w 84260"/>
              <a:gd name="connsiteY0" fmla="*/ 0 h 572877"/>
              <a:gd name="connsiteX1" fmla="*/ 7142 w 84260"/>
              <a:gd name="connsiteY1" fmla="*/ 231354 h 572877"/>
              <a:gd name="connsiteX2" fmla="*/ 7142 w 84260"/>
              <a:gd name="connsiteY2" fmla="*/ 495759 h 572877"/>
              <a:gd name="connsiteX3" fmla="*/ 40193 w 84260"/>
              <a:gd name="connsiteY3" fmla="*/ 572877 h 572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60" h="572877">
                <a:moveTo>
                  <a:pt x="84260" y="0"/>
                </a:moveTo>
                <a:cubicBezTo>
                  <a:pt x="52127" y="74363"/>
                  <a:pt x="19995" y="148727"/>
                  <a:pt x="7142" y="231354"/>
                </a:cubicBezTo>
                <a:cubicBezTo>
                  <a:pt x="-5711" y="313981"/>
                  <a:pt x="1633" y="438839"/>
                  <a:pt x="7142" y="495759"/>
                </a:cubicBezTo>
                <a:cubicBezTo>
                  <a:pt x="12650" y="552680"/>
                  <a:pt x="26421" y="562778"/>
                  <a:pt x="40193" y="57287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55840" y="2852937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2852937"/>
                <a:ext cx="79208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41609" y="4725145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609" y="4725145"/>
                <a:ext cx="7920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07568" y="381838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3818389"/>
                <a:ext cx="79208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944230" y="3687230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32°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230" y="3687230"/>
                <a:ext cx="79208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16080" y="2420888"/>
                <a:ext cx="385192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there is just one angle involved, you might attempt to use the cosine rule: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𝟑𝟐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2420888"/>
                <a:ext cx="3851920" cy="1754326"/>
              </a:xfrm>
              <a:prstGeom prst="rect">
                <a:avLst/>
              </a:prstGeom>
              <a:blipFill>
                <a:blip r:embed="rId6"/>
                <a:stretch>
                  <a:fillRect l="-1266" t="-17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839055" y="4756306"/>
                <a:ext cx="444794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This is a quadratic equation!</a:t>
                </a:r>
              </a:p>
              <a:p>
                <a:r>
                  <a:rPr lang="en-GB" b="1" dirty="0"/>
                  <a:t>It’s possible to solve this using the quadratic formula (using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𝟖</m:t>
                    </m:r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𝟑𝟐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br>
                  <a:rPr lang="en-GB" b="1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GB" b="1" dirty="0"/>
                  <a:t>). However, this is a bit fiddly and not the primary method expected in the exam…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055" y="4756306"/>
                <a:ext cx="4447945" cy="1477328"/>
              </a:xfrm>
              <a:prstGeom prst="rect">
                <a:avLst/>
              </a:prstGeom>
              <a:blipFill>
                <a:blip r:embed="rId7"/>
                <a:stretch>
                  <a:fillRect l="-1233" t="-2058" b="-5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6816080" y="3385640"/>
            <a:ext cx="3744416" cy="7200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66107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c9/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Using sine rule twice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83633" y="692696"/>
          <a:ext cx="6029113" cy="132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#4 Two sides known and a missing side </a:t>
                      </a:r>
                      <a:r>
                        <a:rPr lang="en-GB" sz="2000" u="sng" dirty="0">
                          <a:effectLst/>
                        </a:rPr>
                        <a:t>not</a:t>
                      </a:r>
                      <a:r>
                        <a:rPr lang="en-GB" sz="2000" dirty="0">
                          <a:effectLst/>
                        </a:rPr>
                        <a:t> opposite known angle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Remaining side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 twice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Freeform 5"/>
          <p:cNvSpPr/>
          <p:nvPr/>
        </p:nvSpPr>
        <p:spPr>
          <a:xfrm>
            <a:off x="4223792" y="3140968"/>
            <a:ext cx="4263528" cy="2500828"/>
          </a:xfrm>
          <a:custGeom>
            <a:avLst/>
            <a:gdLst>
              <a:gd name="connsiteX0" fmla="*/ 958468 w 4263528"/>
              <a:gd name="connsiteY0" fmla="*/ 0 h 2500828"/>
              <a:gd name="connsiteX1" fmla="*/ 0 w 4263528"/>
              <a:gd name="connsiteY1" fmla="*/ 2500828 h 2500828"/>
              <a:gd name="connsiteX2" fmla="*/ 4263528 w 4263528"/>
              <a:gd name="connsiteY2" fmla="*/ 749147 h 2500828"/>
              <a:gd name="connsiteX3" fmla="*/ 958468 w 4263528"/>
              <a:gd name="connsiteY3" fmla="*/ 0 h 250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3528" h="2500828">
                <a:moveTo>
                  <a:pt x="958468" y="0"/>
                </a:moveTo>
                <a:lnTo>
                  <a:pt x="0" y="2500828"/>
                </a:lnTo>
                <a:lnTo>
                  <a:pt x="4263528" y="749147"/>
                </a:lnTo>
                <a:lnTo>
                  <a:pt x="95846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7532727" y="3691812"/>
            <a:ext cx="84260" cy="572877"/>
          </a:xfrm>
          <a:custGeom>
            <a:avLst/>
            <a:gdLst>
              <a:gd name="connsiteX0" fmla="*/ 84260 w 84260"/>
              <a:gd name="connsiteY0" fmla="*/ 0 h 572877"/>
              <a:gd name="connsiteX1" fmla="*/ 7142 w 84260"/>
              <a:gd name="connsiteY1" fmla="*/ 231354 h 572877"/>
              <a:gd name="connsiteX2" fmla="*/ 7142 w 84260"/>
              <a:gd name="connsiteY2" fmla="*/ 495759 h 572877"/>
              <a:gd name="connsiteX3" fmla="*/ 40193 w 84260"/>
              <a:gd name="connsiteY3" fmla="*/ 572877 h 572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60" h="572877">
                <a:moveTo>
                  <a:pt x="84260" y="0"/>
                </a:moveTo>
                <a:cubicBezTo>
                  <a:pt x="52127" y="74363"/>
                  <a:pt x="19995" y="148727"/>
                  <a:pt x="7142" y="231354"/>
                </a:cubicBezTo>
                <a:cubicBezTo>
                  <a:pt x="-5711" y="313981"/>
                  <a:pt x="1633" y="438839"/>
                  <a:pt x="7142" y="495759"/>
                </a:cubicBezTo>
                <a:cubicBezTo>
                  <a:pt x="12650" y="552680"/>
                  <a:pt x="26421" y="562778"/>
                  <a:pt x="40193" y="57287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44595" y="300809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595" y="3008099"/>
                <a:ext cx="79208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38018" y="4836474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018" y="4836474"/>
                <a:ext cx="7920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03977" y="3929718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977" y="3929718"/>
                <a:ext cx="79208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40639" y="379855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32°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639" y="3798559"/>
                <a:ext cx="79208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103187" y="3086452"/>
                <a:ext cx="35427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𝟏𝟖𝟎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𝟒𝟒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𝟗𝟓𝟓𝟔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𝟎𝟒𝟒𝟒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187" y="3086452"/>
                <a:ext cx="354270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631505" y="3754086"/>
            <a:ext cx="2970271" cy="1475115"/>
            <a:chOff x="389203" y="2029193"/>
            <a:chExt cx="2970271" cy="1475115"/>
          </a:xfrm>
        </p:grpSpPr>
        <p:sp>
          <p:nvSpPr>
            <p:cNvPr id="15" name="TextBox 14"/>
            <p:cNvSpPr txBox="1"/>
            <p:nvPr/>
          </p:nvSpPr>
          <p:spPr>
            <a:xfrm>
              <a:off x="389203" y="2029193"/>
              <a:ext cx="2508028" cy="64633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1: We could use the sine rule to find this angle.</a:t>
              </a:r>
            </a:p>
          </p:txBody>
        </p:sp>
        <p:cxnSp>
          <p:nvCxnSpPr>
            <p:cNvPr id="17" name="Straight Arrow Connector 16"/>
            <p:cNvCxnSpPr>
              <a:stCxn id="15" idx="2"/>
            </p:cNvCxnSpPr>
            <p:nvPr/>
          </p:nvCxnSpPr>
          <p:spPr>
            <a:xfrm>
              <a:off x="1643217" y="2675524"/>
              <a:ext cx="1716257" cy="8287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467611" y="2348880"/>
            <a:ext cx="4980116" cy="890050"/>
            <a:chOff x="-2861145" y="1516079"/>
            <a:chExt cx="4980116" cy="890050"/>
          </a:xfrm>
        </p:grpSpPr>
        <p:sp>
          <p:nvSpPr>
            <p:cNvPr id="26" name="TextBox 25"/>
            <p:cNvSpPr txBox="1"/>
            <p:nvPr/>
          </p:nvSpPr>
          <p:spPr>
            <a:xfrm>
              <a:off x="-1121389" y="1516079"/>
              <a:ext cx="3240360" cy="64633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2: Which means we would then know this angle.</a:t>
              </a:r>
            </a:p>
          </p:txBody>
        </p:sp>
        <p:cxnSp>
          <p:nvCxnSpPr>
            <p:cNvPr id="27" name="Straight Arrow Connector 26"/>
            <p:cNvCxnSpPr>
              <a:stCxn id="26" idx="1"/>
            </p:cNvCxnSpPr>
            <p:nvPr/>
          </p:nvCxnSpPr>
          <p:spPr>
            <a:xfrm flipH="1">
              <a:off x="-2861145" y="1839245"/>
              <a:ext cx="1739756" cy="5668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631504" y="4784335"/>
                <a:ext cx="2088232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=44.9556°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4784335"/>
                <a:ext cx="2088232" cy="8897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/>
          <p:cNvGrpSpPr/>
          <p:nvPr/>
        </p:nvGrpSpPr>
        <p:grpSpPr>
          <a:xfrm>
            <a:off x="6600056" y="4488740"/>
            <a:ext cx="3849514" cy="646331"/>
            <a:chOff x="-1730543" y="1516079"/>
            <a:chExt cx="384951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-1121389" y="1516079"/>
                  <a:ext cx="3240360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3: Using the sine rule a second time allows us to find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1389" y="1516079"/>
                  <a:ext cx="3240360" cy="646331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l="-1308" t="-2727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/>
            <p:cNvCxnSpPr>
              <a:stCxn id="36" idx="1"/>
            </p:cNvCxnSpPr>
            <p:nvPr/>
          </p:nvCxnSpPr>
          <p:spPr>
            <a:xfrm flipH="1">
              <a:off x="-1730543" y="1839245"/>
              <a:ext cx="609154" cy="21064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228765" y="5176171"/>
                <a:ext cx="2958616" cy="978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103.0444</m:t>
                              </m:r>
                            </m:e>
                          </m:func>
                        </m:den>
                      </m:f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=5.52 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𝑠𝑓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765" y="5176171"/>
                <a:ext cx="2958616" cy="978345"/>
              </a:xfrm>
              <a:prstGeom prst="rect">
                <a:avLst/>
              </a:prstGeom>
              <a:blipFill>
                <a:blip r:embed="rId12"/>
                <a:stretch>
                  <a:fillRect b="-4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1919536" y="2276873"/>
            <a:ext cx="57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Wingdings" panose="05000000000000000000" pitchFamily="2" charset="2"/>
              </a:rPr>
              <a:t>!</a:t>
            </a:r>
            <a:endParaRPr lang="en-GB" dirty="0">
              <a:latin typeface="Wingdings" panose="05000000000000000000" pitchFamily="2" charset="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764734" y="4636082"/>
            <a:ext cx="1738979" cy="10379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2913" y="3051051"/>
            <a:ext cx="3134815" cy="3585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16327" y="5177321"/>
            <a:ext cx="2922809" cy="10379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80266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12" grpId="0"/>
      <p:bldP spid="39" grpId="0"/>
      <p:bldP spid="42" grpId="0" animBg="1"/>
      <p:bldP spid="43" grpId="0" animBg="1"/>
      <p:bldP spid="43" grpId="1" animBg="1"/>
      <p:bldP spid="46" grpId="0" animBg="1"/>
      <p:bldP spid="46" grpId="1" animBg="1"/>
    </p:bldLst>
  </p:timing>
</p:sld>
</file>

<file path=ppt/c9/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2229080" y="1333042"/>
            <a:ext cx="4450814" cy="2423711"/>
          </a:xfrm>
          <a:custGeom>
            <a:avLst/>
            <a:gdLst>
              <a:gd name="connsiteX0" fmla="*/ 683045 w 4450814"/>
              <a:gd name="connsiteY0" fmla="*/ 0 h 2423711"/>
              <a:gd name="connsiteX1" fmla="*/ 0 w 4450814"/>
              <a:gd name="connsiteY1" fmla="*/ 2423711 h 2423711"/>
              <a:gd name="connsiteX2" fmla="*/ 4450814 w 4450814"/>
              <a:gd name="connsiteY2" fmla="*/ 561860 h 2423711"/>
              <a:gd name="connsiteX3" fmla="*/ 683045 w 4450814"/>
              <a:gd name="connsiteY3" fmla="*/ 0 h 242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0814" h="2423711">
                <a:moveTo>
                  <a:pt x="683045" y="0"/>
                </a:moveTo>
                <a:lnTo>
                  <a:pt x="0" y="2423711"/>
                </a:lnTo>
                <a:lnTo>
                  <a:pt x="4450814" y="561860"/>
                </a:lnTo>
                <a:lnTo>
                  <a:pt x="683045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5447929" y="3416522"/>
            <a:ext cx="4208443" cy="2148289"/>
          </a:xfrm>
          <a:custGeom>
            <a:avLst/>
            <a:gdLst>
              <a:gd name="connsiteX0" fmla="*/ 2159306 w 4208443"/>
              <a:gd name="connsiteY0" fmla="*/ 0 h 2148289"/>
              <a:gd name="connsiteX1" fmla="*/ 0 w 4208443"/>
              <a:gd name="connsiteY1" fmla="*/ 2148289 h 2148289"/>
              <a:gd name="connsiteX2" fmla="*/ 4208443 w 4208443"/>
              <a:gd name="connsiteY2" fmla="*/ 1972019 h 2148289"/>
              <a:gd name="connsiteX3" fmla="*/ 2159306 w 4208443"/>
              <a:gd name="connsiteY3" fmla="*/ 0 h 214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43" h="2148289">
                <a:moveTo>
                  <a:pt x="2159306" y="0"/>
                </a:moveTo>
                <a:lnTo>
                  <a:pt x="0" y="2148289"/>
                </a:lnTo>
                <a:lnTo>
                  <a:pt x="4208443" y="1972019"/>
                </a:lnTo>
                <a:lnTo>
                  <a:pt x="2159306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2394333" y="3128790"/>
            <a:ext cx="497830" cy="352540"/>
          </a:xfrm>
          <a:custGeom>
            <a:avLst/>
            <a:gdLst>
              <a:gd name="connsiteX0" fmla="*/ 0 w 497830"/>
              <a:gd name="connsiteY0" fmla="*/ 0 h 352540"/>
              <a:gd name="connsiteX1" fmla="*/ 264404 w 497830"/>
              <a:gd name="connsiteY1" fmla="*/ 77118 h 352540"/>
              <a:gd name="connsiteX2" fmla="*/ 473725 w 497830"/>
              <a:gd name="connsiteY2" fmla="*/ 297456 h 352540"/>
              <a:gd name="connsiteX3" fmla="*/ 484742 w 497830"/>
              <a:gd name="connsiteY3" fmla="*/ 352540 h 35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830" h="352540">
                <a:moveTo>
                  <a:pt x="0" y="0"/>
                </a:moveTo>
                <a:cubicBezTo>
                  <a:pt x="92725" y="13771"/>
                  <a:pt x="185450" y="27542"/>
                  <a:pt x="264404" y="77118"/>
                </a:cubicBezTo>
                <a:cubicBezTo>
                  <a:pt x="343358" y="126694"/>
                  <a:pt x="437002" y="251552"/>
                  <a:pt x="473725" y="297456"/>
                </a:cubicBezTo>
                <a:cubicBezTo>
                  <a:pt x="510448" y="343360"/>
                  <a:pt x="497595" y="347950"/>
                  <a:pt x="484742" y="35254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7"/>
          <p:cNvSpPr/>
          <p:nvPr/>
        </p:nvSpPr>
        <p:spPr>
          <a:xfrm>
            <a:off x="8806149" y="4858439"/>
            <a:ext cx="297456" cy="583894"/>
          </a:xfrm>
          <a:custGeom>
            <a:avLst/>
            <a:gdLst>
              <a:gd name="connsiteX0" fmla="*/ 297456 w 297456"/>
              <a:gd name="connsiteY0" fmla="*/ 0 h 583894"/>
              <a:gd name="connsiteX1" fmla="*/ 77118 w 297456"/>
              <a:gd name="connsiteY1" fmla="*/ 253388 h 583894"/>
              <a:gd name="connsiteX2" fmla="*/ 22034 w 297456"/>
              <a:gd name="connsiteY2" fmla="*/ 484742 h 583894"/>
              <a:gd name="connsiteX3" fmla="*/ 0 w 297456"/>
              <a:gd name="connsiteY3" fmla="*/ 583894 h 58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456" h="583894">
                <a:moveTo>
                  <a:pt x="297456" y="0"/>
                </a:moveTo>
                <a:cubicBezTo>
                  <a:pt x="210239" y="86299"/>
                  <a:pt x="123022" y="172598"/>
                  <a:pt x="77118" y="253388"/>
                </a:cubicBezTo>
                <a:cubicBezTo>
                  <a:pt x="31214" y="334178"/>
                  <a:pt x="34887" y="429658"/>
                  <a:pt x="22034" y="484742"/>
                </a:cubicBezTo>
                <a:cubicBezTo>
                  <a:pt x="9181" y="539826"/>
                  <a:pt x="4590" y="561860"/>
                  <a:pt x="0" y="58389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11461" y="282031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61°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461" y="2820319"/>
                <a:ext cx="79208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191856" y="4811075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53°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856" y="4811075"/>
                <a:ext cx="7920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34291" y="2897958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291" y="2897958"/>
                <a:ext cx="79208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397570" y="1084422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570" y="1084422"/>
                <a:ext cx="79208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51160" y="1855572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160" y="1855572"/>
                <a:ext cx="792088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445687" y="3751766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687" y="3751766"/>
                <a:ext cx="79208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44175" y="3774540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175" y="3774540"/>
                <a:ext cx="79208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836263" y="1239685"/>
                <a:ext cx="23648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600" i="1">
                          <a:latin typeface="Cambria Math" panose="02040503050406030204" pitchFamily="18" charset="0"/>
                        </a:rPr>
                        <m:t>=6.97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263" y="1239685"/>
                <a:ext cx="2364886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310809" y="5150387"/>
                <a:ext cx="27467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3600" i="1">
                          <a:latin typeface="Cambria Math" panose="02040503050406030204" pitchFamily="18" charset="0"/>
                        </a:rPr>
                        <m:t>=6.00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809" y="5150387"/>
                <a:ext cx="2746764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8052441" y="1148375"/>
            <a:ext cx="1185335" cy="737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9374" y="5058055"/>
            <a:ext cx="1105901" cy="737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10967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c9/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Problem Solving With Sine/Cosine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6956" y="764704"/>
                <a:ext cx="8496944" cy="18158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[From Textbook] The diagram shows the locations of four mobile phone masts in a field,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=75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=80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600" dirty="0"/>
                  <a:t>, 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𝐵𝐶𝐷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=55°</m:t>
                    </m:r>
                  </m:oMath>
                </a14:m>
                <a:r>
                  <a:rPr lang="en-GB" sz="1600" dirty="0"/>
                  <a:t> and 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𝐴𝐷𝐶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=140°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In order that the masts do not interfere with each other, they must be at least 70m apart.</a:t>
                </a:r>
              </a:p>
              <a:p>
                <a:r>
                  <a:rPr lang="en-GB" sz="1600" dirty="0"/>
                  <a:t>Given that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is the minimum distance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1600" dirty="0"/>
                  <a:t>, find: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distance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is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𝐵𝐴𝐷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area enclosed by the four masts.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956" y="764704"/>
                <a:ext cx="8496944" cy="18158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/>
          <p:cNvSpPr/>
          <p:nvPr/>
        </p:nvSpPr>
        <p:spPr>
          <a:xfrm>
            <a:off x="1954808" y="3183498"/>
            <a:ext cx="3381153" cy="2402958"/>
          </a:xfrm>
          <a:custGeom>
            <a:avLst/>
            <a:gdLst>
              <a:gd name="connsiteX0" fmla="*/ 0 w 3381153"/>
              <a:gd name="connsiteY0" fmla="*/ 1307805 h 2402958"/>
              <a:gd name="connsiteX1" fmla="*/ 2105246 w 3381153"/>
              <a:gd name="connsiteY1" fmla="*/ 0 h 2402958"/>
              <a:gd name="connsiteX2" fmla="*/ 3381153 w 3381153"/>
              <a:gd name="connsiteY2" fmla="*/ 1010093 h 2402958"/>
              <a:gd name="connsiteX3" fmla="*/ 1435395 w 3381153"/>
              <a:gd name="connsiteY3" fmla="*/ 2402958 h 2402958"/>
              <a:gd name="connsiteX4" fmla="*/ 0 w 3381153"/>
              <a:gd name="connsiteY4" fmla="*/ 1307805 h 2402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1153" h="2402958">
                <a:moveTo>
                  <a:pt x="0" y="1307805"/>
                </a:moveTo>
                <a:lnTo>
                  <a:pt x="2105246" y="0"/>
                </a:lnTo>
                <a:lnTo>
                  <a:pt x="3381153" y="1010093"/>
                </a:lnTo>
                <a:lnTo>
                  <a:pt x="1435395" y="2402958"/>
                </a:lnTo>
                <a:lnTo>
                  <a:pt x="0" y="1307805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6" idx="1"/>
            <a:endCxn id="6" idx="3"/>
          </p:cNvCxnSpPr>
          <p:nvPr/>
        </p:nvCxnSpPr>
        <p:spPr>
          <a:xfrm flipH="1">
            <a:off x="3390203" y="3183498"/>
            <a:ext cx="669851" cy="240295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reeform: Shape 8"/>
          <p:cNvSpPr/>
          <p:nvPr/>
        </p:nvSpPr>
        <p:spPr>
          <a:xfrm>
            <a:off x="3103124" y="5245132"/>
            <a:ext cx="627321" cy="139307"/>
          </a:xfrm>
          <a:custGeom>
            <a:avLst/>
            <a:gdLst>
              <a:gd name="connsiteX0" fmla="*/ 0 w 627321"/>
              <a:gd name="connsiteY0" fmla="*/ 139307 h 139307"/>
              <a:gd name="connsiteX1" fmla="*/ 318977 w 627321"/>
              <a:gd name="connsiteY1" fmla="*/ 1084 h 139307"/>
              <a:gd name="connsiteX2" fmla="*/ 627321 w 627321"/>
              <a:gd name="connsiteY2" fmla="*/ 86144 h 13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7321" h="139307">
                <a:moveTo>
                  <a:pt x="0" y="139307"/>
                </a:moveTo>
                <a:cubicBezTo>
                  <a:pt x="107212" y="74625"/>
                  <a:pt x="214424" y="9944"/>
                  <a:pt x="318977" y="1084"/>
                </a:cubicBezTo>
                <a:cubicBezTo>
                  <a:pt x="423531" y="-7777"/>
                  <a:pt x="525426" y="39183"/>
                  <a:pt x="627321" y="8614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05712" y="4883203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712" y="4883203"/>
                <a:ext cx="648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19216" y="4015645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16" y="4015645"/>
                <a:ext cx="6480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/>
          <p:cNvSpPr/>
          <p:nvPr/>
        </p:nvSpPr>
        <p:spPr>
          <a:xfrm>
            <a:off x="4942489" y="3938410"/>
            <a:ext cx="74495" cy="489098"/>
          </a:xfrm>
          <a:custGeom>
            <a:avLst/>
            <a:gdLst>
              <a:gd name="connsiteX0" fmla="*/ 74495 w 74495"/>
              <a:gd name="connsiteY0" fmla="*/ 0 h 489098"/>
              <a:gd name="connsiteX1" fmla="*/ 68 w 74495"/>
              <a:gd name="connsiteY1" fmla="*/ 255181 h 489098"/>
              <a:gd name="connsiteX2" fmla="*/ 63863 w 74495"/>
              <a:gd name="connsiteY2" fmla="*/ 489098 h 489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495" h="489098">
                <a:moveTo>
                  <a:pt x="74495" y="0"/>
                </a:moveTo>
                <a:cubicBezTo>
                  <a:pt x="38167" y="86832"/>
                  <a:pt x="1840" y="173665"/>
                  <a:pt x="68" y="255181"/>
                </a:cubicBezTo>
                <a:cubicBezTo>
                  <a:pt x="-1704" y="336697"/>
                  <a:pt x="31079" y="412897"/>
                  <a:pt x="63863" y="489098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81271" y="3336409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75 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271" y="3336409"/>
                <a:ext cx="648072" cy="369332"/>
              </a:xfrm>
              <a:prstGeom prst="rect">
                <a:avLst/>
              </a:prstGeom>
              <a:blipFill>
                <a:blip r:embed="rId5"/>
                <a:stretch>
                  <a:fillRect r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312891" y="489016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80 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891" y="4890166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060402" y="501510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70 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02" y="5015106"/>
                <a:ext cx="648072" cy="369332"/>
              </a:xfrm>
              <a:prstGeom prst="rect">
                <a:avLst/>
              </a:prstGeom>
              <a:blipFill>
                <a:blip r:embed="rId7"/>
                <a:stretch>
                  <a:fillRect r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56857" y="558645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857" y="5586456"/>
                <a:ext cx="648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466223" y="4242842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223" y="4242842"/>
                <a:ext cx="6480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724727" y="2875257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727" y="2875257"/>
                <a:ext cx="64807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976139" y="419533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139" y="4195338"/>
                <a:ext cx="64807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26149" y="2843360"/>
                <a:ext cx="5199321" cy="4183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1600" dirty="0"/>
                  <a:t>Using triangle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𝐵𝐶𝐷</m:t>
                    </m:r>
                  </m:oMath>
                </a14:m>
                <a:r>
                  <a:rPr lang="en-GB" sz="1600" dirty="0"/>
                  <a:t>:</a:t>
                </a:r>
                <a:br>
                  <a:rPr lang="en-GB" sz="1600" dirty="0"/>
                </a:br>
                <a:r>
                  <a:rPr lang="en-GB" sz="1600" dirty="0"/>
                  <a:t>   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−2×75×80×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55°</m:t>
                        </m:r>
                      </m:e>
                    </m:func>
                  </m:oMath>
                </a14:m>
                <a:br>
                  <a:rPr lang="en-GB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=71.708…</m:t>
                      </m:r>
                    </m:oMath>
                  </m:oMathPara>
                </a14:m>
                <a:br>
                  <a:rPr lang="en-GB" sz="1600" dirty="0"/>
                </a:br>
                <a:r>
                  <a:rPr lang="en-GB" sz="1600" dirty="0"/>
                  <a:t>    Then use sine rule to find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𝐵𝐷𝐶</m:t>
                    </m:r>
                  </m:oMath>
                </a14:m>
                <a:r>
                  <a:rPr lang="en-GB" sz="1600" dirty="0"/>
                  <a:t>:</a:t>
                </a:r>
                <a:br>
                  <a:rPr lang="en-GB" sz="1600" dirty="0"/>
                </a:br>
                <a:r>
                  <a:rPr lang="en-GB" sz="1600" dirty="0"/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𝐵𝐷𝐶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71.708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    →   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𝐵𝐷𝐶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=58.954</m:t>
                    </m:r>
                  </m:oMath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∴∠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𝐵𝐷𝐴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=81.045…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We can then use cosine rule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𝐴𝐵𝐷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70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71.708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−2×70×71.708×</m:t>
                      </m:r>
                      <m:r>
                        <m:rPr>
                          <m:sty m:val="p"/>
                        </m:rPr>
                        <a:rPr lang="en-GB" sz="16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>
                              <a:latin typeface="Cambria Math" panose="02040503050406030204" pitchFamily="18" charset="0"/>
                            </a:rPr>
                            <m:t>81.045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=92.1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𝑠𝑓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Using sine rule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𝐵𝐴𝐷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=50.3° (3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𝑠𝑓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By adding areas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𝐴𝐵𝐷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𝐵𝐷𝐶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𝐴𝐵𝐶𝐷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=4940 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  (3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49" y="2843360"/>
                <a:ext cx="5199321" cy="4183646"/>
              </a:xfrm>
              <a:prstGeom prst="rect">
                <a:avLst/>
              </a:prstGeom>
              <a:blipFill>
                <a:blip r:embed="rId12"/>
                <a:stretch>
                  <a:fillRect l="-586" t="-4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5184246" y="2864625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7476" y="5684302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1715" y="6189369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679" y="2845377"/>
            <a:ext cx="5029200" cy="26303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38549" y="5684301"/>
            <a:ext cx="5059330" cy="4187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3247" y="6189368"/>
            <a:ext cx="5059330" cy="5516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08196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c9/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9E – Y1 page 189-191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160B1CA-51DF-24DB-B88D-8742CFE9F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663563"/>
            <a:ext cx="8687351" cy="599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6573F-83EA-A41E-338F-9C2930100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5" y="1859566"/>
            <a:ext cx="3562847" cy="4410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4B3DF1-5FCA-70FF-7671-9781E4C6F7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89"/>
          <a:stretch/>
        </p:blipFill>
        <p:spPr>
          <a:xfrm>
            <a:off x="6672064" y="3645024"/>
            <a:ext cx="2520280" cy="256095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F356A5-0A2B-DA43-05D9-BD6CDAE25CC1}"/>
              </a:ext>
            </a:extLst>
          </p:cNvPr>
          <p:cNvCxnSpPr/>
          <p:nvPr/>
        </p:nvCxnSpPr>
        <p:spPr>
          <a:xfrm>
            <a:off x="6312024" y="2636912"/>
            <a:ext cx="0" cy="3456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9D375D-5EE4-121B-0AC8-4CF71CBB0B1C}"/>
              </a:ext>
            </a:extLst>
          </p:cNvPr>
          <p:cNvSpPr/>
          <p:nvPr/>
        </p:nvSpPr>
        <p:spPr>
          <a:xfrm>
            <a:off x="1991544" y="1687838"/>
            <a:ext cx="8064896" cy="47654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85179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c9/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9E – Y1 page 189-191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7311EE6-30E1-D838-79BF-A65B139E2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692696"/>
            <a:ext cx="6048672" cy="951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D083EA-6067-C01C-9057-0EA87746D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9" y="1988840"/>
            <a:ext cx="2457793" cy="4391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A59A14-C0E5-6C73-9B6F-0DF21DAC7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955" y="2204864"/>
            <a:ext cx="2667372" cy="15527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BF2720-42E3-0B15-8381-665A95155A4B}"/>
              </a:ext>
            </a:extLst>
          </p:cNvPr>
          <p:cNvSpPr/>
          <p:nvPr/>
        </p:nvSpPr>
        <p:spPr>
          <a:xfrm>
            <a:off x="2150762" y="1988840"/>
            <a:ext cx="3585199" cy="43916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0EA42B-0D2C-1FB7-B567-685EE0FB2572}"/>
              </a:ext>
            </a:extLst>
          </p:cNvPr>
          <p:cNvSpPr/>
          <p:nvPr/>
        </p:nvSpPr>
        <p:spPr>
          <a:xfrm>
            <a:off x="6023993" y="1988840"/>
            <a:ext cx="3585199" cy="43916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196851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9/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9E – Y1 page 189-191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9D8913-0AB0-87C8-455E-ED2F8E67F068}"/>
              </a:ext>
            </a:extLst>
          </p:cNvPr>
          <p:cNvGrpSpPr/>
          <p:nvPr/>
        </p:nvGrpSpPr>
        <p:grpSpPr>
          <a:xfrm>
            <a:off x="1775521" y="650242"/>
            <a:ext cx="5645867" cy="2041622"/>
            <a:chOff x="251520" y="650242"/>
            <a:chExt cx="5645867" cy="20416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FDCC9A-ABB5-D728-C02E-C1446933B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764703"/>
              <a:ext cx="3240360" cy="192716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3B443A0-AC5A-4F4C-56C2-B72642949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1565" y="650242"/>
              <a:ext cx="2215822" cy="204162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CC8B71-F7DC-17B5-33B2-05CF345A1975}"/>
                </a:ext>
              </a:extLst>
            </p:cNvPr>
            <p:cNvSpPr/>
            <p:nvPr/>
          </p:nvSpPr>
          <p:spPr>
            <a:xfrm>
              <a:off x="2987824" y="1772816"/>
              <a:ext cx="720080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E443A6-EDBD-172F-6CC8-D5C1C67A7663}"/>
                </a:ext>
              </a:extLst>
            </p:cNvPr>
            <p:cNvSpPr/>
            <p:nvPr/>
          </p:nvSpPr>
          <p:spPr>
            <a:xfrm>
              <a:off x="2987824" y="2234189"/>
              <a:ext cx="720080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26A3694-6AE8-0B5C-A937-8FB02AC02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55" y="2815955"/>
            <a:ext cx="2592288" cy="399065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F3E3485-4702-0B09-5609-6D519175EB5F}"/>
              </a:ext>
            </a:extLst>
          </p:cNvPr>
          <p:cNvGrpSpPr/>
          <p:nvPr/>
        </p:nvGrpSpPr>
        <p:grpSpPr>
          <a:xfrm>
            <a:off x="4501912" y="3011053"/>
            <a:ext cx="3034249" cy="2204289"/>
            <a:chOff x="2961485" y="3070867"/>
            <a:chExt cx="3034249" cy="220428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C3CBD-D4D1-F133-CE97-01346D99E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61485" y="3070867"/>
              <a:ext cx="2935902" cy="71626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4821153-1BD3-A51E-62AD-83BFC33B50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894"/>
            <a:stretch/>
          </p:blipFill>
          <p:spPr>
            <a:xfrm>
              <a:off x="3259428" y="3809131"/>
              <a:ext cx="2736306" cy="1466025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9E9E2A6F-E32C-635A-F5EE-8811972E2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1388" y="954143"/>
            <a:ext cx="3255943" cy="566598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C1D7F7C-69A9-5C46-664D-636BA9697E8F}"/>
              </a:ext>
            </a:extLst>
          </p:cNvPr>
          <p:cNvSpPr/>
          <p:nvPr/>
        </p:nvSpPr>
        <p:spPr>
          <a:xfrm>
            <a:off x="1789644" y="2815955"/>
            <a:ext cx="2624938" cy="3923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11210D-F4A2-8233-AB49-60B63C62E2CD}"/>
              </a:ext>
            </a:extLst>
          </p:cNvPr>
          <p:cNvSpPr/>
          <p:nvPr/>
        </p:nvSpPr>
        <p:spPr>
          <a:xfrm>
            <a:off x="4456282" y="2815955"/>
            <a:ext cx="2935862" cy="3923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D87966-5C1C-676F-67E0-80CFC95692EF}"/>
              </a:ext>
            </a:extLst>
          </p:cNvPr>
          <p:cNvSpPr/>
          <p:nvPr/>
        </p:nvSpPr>
        <p:spPr>
          <a:xfrm>
            <a:off x="7458814" y="887781"/>
            <a:ext cx="3173690" cy="5851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</p:spTree>
    <p:extLst>
      <p:ext uri="{BB962C8B-B14F-4D97-AF65-F5344CB8AC3E}">
        <p14:creationId xmlns:p14="http://schemas.microsoft.com/office/powerpoint/2010/main" val="352189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c9/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9E – Y1 page 189-191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15D0F0-0639-4174-53A2-E7329451EF89}"/>
              </a:ext>
            </a:extLst>
          </p:cNvPr>
          <p:cNvGrpSpPr/>
          <p:nvPr/>
        </p:nvGrpSpPr>
        <p:grpSpPr>
          <a:xfrm>
            <a:off x="1775520" y="628225"/>
            <a:ext cx="6984776" cy="1762779"/>
            <a:chOff x="251520" y="628224"/>
            <a:chExt cx="6984776" cy="176277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3E9A4A-4162-66E8-0E3A-B3FEA67DC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628224"/>
              <a:ext cx="6984776" cy="176277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DB4F4D-9335-A70E-E91F-AE28EBD7A568}"/>
                </a:ext>
              </a:extLst>
            </p:cNvPr>
            <p:cNvSpPr/>
            <p:nvPr/>
          </p:nvSpPr>
          <p:spPr>
            <a:xfrm>
              <a:off x="3743908" y="980728"/>
              <a:ext cx="827520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C8ECBBE-688C-26FF-2F40-C906DC59B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780" y="2564905"/>
            <a:ext cx="3158888" cy="40601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7F6691-2FFC-510E-2CDF-D796F9336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28" y="2660587"/>
            <a:ext cx="3629532" cy="372479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1C6E35-E2FF-5643-39AC-87663F16F8E4}"/>
              </a:ext>
            </a:extLst>
          </p:cNvPr>
          <p:cNvCxnSpPr/>
          <p:nvPr/>
        </p:nvCxnSpPr>
        <p:spPr>
          <a:xfrm>
            <a:off x="5591944" y="2564904"/>
            <a:ext cx="0" cy="3960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644FED0-1B5B-375B-F77D-74B945D6ED62}"/>
              </a:ext>
            </a:extLst>
          </p:cNvPr>
          <p:cNvSpPr/>
          <p:nvPr/>
        </p:nvSpPr>
        <p:spPr>
          <a:xfrm>
            <a:off x="2142244" y="2492896"/>
            <a:ext cx="7770180" cy="42259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7450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c9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9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