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3/ppt/slideMasters/slideMaster1.xml" ContentType="application/vnd.openxmlformats-officedocument.presentationml.slideMaster+xml"/>
  <ns0:Override PartName="/ppt/c3/ppt/slides/slide30.xml" ContentType="application/vnd.openxmlformats-officedocument.presentationml.slide+xml"/>
  <ns0:Override PartName="/ppt/c3/ppt/slides/slide31.xml" ContentType="application/vnd.openxmlformats-officedocument.presentationml.slide+xml"/>
  <ns0:Override PartName="/ppt/c3/ppt/slides/slide32.xml" ContentType="application/vnd.openxmlformats-officedocument.presentationml.slide+xml"/>
  <ns0:Override PartName="/ppt/c3/ppt/notesMasters/notesMaster1.xml" ContentType="application/vnd.openxmlformats-officedocument.presentationml.notesMaster+xml"/>
  <ns0:Override PartName="/ppt/c3/ppt/theme/theme1.xml" ContentType="application/vnd.openxmlformats-officedocument.theme+xml"/>
  <ns0:Override PartName="/ppt/c3/ppt/slideLayouts/slideLayout1.xml" ContentType="application/vnd.openxmlformats-officedocument.presentationml.slideLayout+xml"/>
  <ns0:Override PartName="/ppt/c3/ppt/slideLayouts/slideLayout2.xml" ContentType="application/vnd.openxmlformats-officedocument.presentationml.slideLayout+xml"/>
  <ns0:Override PartName="/ppt/c3/ppt/theme/theme2.xml" ContentType="application/vnd.openxmlformats-officedocument.theme+xml"/>
  <ns0:Override PartName="/ppt/c3/ppt/ink/ink1.xml" ContentType="application/inkml+xml"/>
  <ns0:Override PartName="/ppt/c3/ppt/ink/ink2.xml" ContentType="application/inkml+xml"/>
  <ns0:Override PartName="/ppt/c3/ppt/ink/ink3.xml" ContentType="application/inkml+xml"/>
  <ns0:Override PartName="/ppt/c3/ppt/ink/ink4.xml" ContentType="application/inkml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948" r:id="rId4"/>
  </p:sldMasterIdLst>
  <p:notesMasterIdLst>
    <p:notesMasterId r:id="rId5"/>
  </p:notesMasterIdLst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3/ppt/slides/slide30.xml" /><ns0:Relationship Id="rId2" Type="http://schemas.openxmlformats.org/officeDocument/2006/relationships/slide" Target="c3/ppt/slides/slide31.xml" /><ns0:Relationship Id="rId3" Type="http://schemas.openxmlformats.org/officeDocument/2006/relationships/slide" Target="c3/ppt/slides/slide32.xml" /><ns0:Relationship Id="rId4" Type="http://schemas.openxmlformats.org/officeDocument/2006/relationships/slideMaster" Target="c3/ppt/slideMasters/slideMaster1.xml" /><ns0:Relationship Id="rId5" Type="http://schemas.openxmlformats.org/officeDocument/2006/relationships/notesMaster" Target="c3/ppt/notesMasters/notesMaster1.xml" /></ns0:Relationships>
</file>

<file path=ppt/c3/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8:14:32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18 16388,'-1'0'0,"-1"0"0,1 0 0,1 1 0,1-1 0,1 0 0,0 0 0,0-1 0,2-1 0,28 4 0,-24-2 0,0 0 0,1 0 0,0 0 0,-1-1 0,1 1 0,-1-2 0,1 0 0,0 0 0,0 2 0,-1-2 0,0 0 0,-2 1 0,0 0 0,-1 0 0,-1-1 0,-1 1 0,0 1 0,-1 0 0,0 0 0,0-1 0,-1 1 0,0 0 0,0 0 0,0 1 0,-1 0 0</inkml:trace>
</inkml:ink>
</file>

<file path=ppt/c3/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8:14:33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 16388,'1'-1'0,"1"0"0,-1 1 0,0 1 0,0 0 0,1-1 0,-1 1 0,0 1 0,0-1 0,-1 1 0,1 1 0,1 1 0,-1 0 0,0 0 0,0 3 0,-1 1 0,-1-1 0,0 1 0,0 1 0,-1 0 0,-13 83 0,14-79 0,0 0 0,0-2 0,0 0 0,1 1 0,-1-1 0,1 1 0,-2-1 0,1-1 0,-1 1 0,0-1 0,-1-2 0,0 2 0,2-3 0,-2 1 0,2-2 0,-1 0 0,1-2 0,0 0 0,0-1 0,0-1 0,0 2 0,1-3 0,0 0 0,0 1 0,0-1 0,0-2 0,1 0 0,1 0 0,-1 1 0,1-2 0</inkml:trace>
</inkml:ink>
</file>

<file path=ppt/c3/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8:14:3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16388,'-2'0'0,"1"1"0,0 1 0,1 1 0,-2 0 0,0 2 0,0 1 0,0 0 0,-1 2 0,2 1 0,-1 0 0,1 0 0,1 0 0,0 1 0,-2-1 0,1-1 0,0 0 0,-2 2 0,2-2 0,-2-1 0,2 2 0,-1-3 0,2-1 0,-1 1 0,1-2 0,-1 0 0,0-1 0,1-2 0,0 0 0,-1 1 0</inkml:trace>
</inkml:ink>
</file>

<file path=ppt/c3/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8:14:34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16388,'0'1'0,"1"0"0,1-1 0,1-1 0,-1 0 0,2 1 0,1 0 0,0 1 0,0 0 0,-1-1 0,1 0 0,0 1 0,1 1 0,0-2 0,1 1 0,1 0 0,-1 1 0,1 0 0,0-1 0,2 0 0,-1 1 0,-1-2 0,0 1 0,0 0 0,0-1 0,-1 0 0,0 0 0,-2 1 0,-1-1 0,-1 0 0</inkml:trace>
</inkml:ink>
</file>

<file path=ppt/c3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3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3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3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3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F630-5B3C-7CD4-714F-EBE8672B649B}"/>
              </a:ext>
            </a:extLst>
          </p:cNvPr>
          <p:cNvSpPr/>
          <p:nvPr userDrawn="1"/>
        </p:nvSpPr>
        <p:spPr>
          <a:xfrm>
            <a:off x="11238495" y="188640"/>
            <a:ext cx="864096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399880775"/>
      </p:ext>
    </p:extLst>
  </p:cSld>
  <p:clrMapOvr>
    <a:masterClrMapping/>
  </p:clrMapOvr>
</p:sldLayout>
</file>

<file path=ppt/c3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3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3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ED294D-B0C8-4542-E684-B53C7860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9126"/>
            <a:ext cx="109728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5F76BD1-7557-D06F-3AB0-B42B271D5D2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3/ppt/slides/_rels/slide30.xml.rels><?xml version='1.0' encoding='utf-8'?>
<ns0:Relationships xmlns:ns0="http://schemas.openxmlformats.org/package/2006/relationships"><ns0:Relationship Id="rId8" Type="http://schemas.openxmlformats.org/officeDocument/2006/relationships/image" Target="../media/image690.png" /><ns0:Relationship Id="rId7" Type="http://schemas.openxmlformats.org/officeDocument/2006/relationships/image" Target="../media/image680.png" /><ns0:Relationship Id="rId12" Type="http://schemas.openxmlformats.org/officeDocument/2006/relationships/image" Target="../media/image125.png" /><ns0:Relationship Id="rId2" Type="http://schemas.openxmlformats.org/officeDocument/2006/relationships/image" Target="../media/image12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70.png" /><ns0:Relationship Id="rId11" Type="http://schemas.openxmlformats.org/officeDocument/2006/relationships/image" Target="../media/image124.png" /><ns0:Relationship Id="rId5" Type="http://schemas.openxmlformats.org/officeDocument/2006/relationships/image" Target="../media/image660.png" /><ns0:Relationship Id="rId10" Type="http://schemas.openxmlformats.org/officeDocument/2006/relationships/image" Target="../media/image123.png" /><ns0:Relationship Id="rId4" Type="http://schemas.openxmlformats.org/officeDocument/2006/relationships/image" Target="../media/image110.png" /><ns0:Relationship Id="rId9" Type="http://schemas.openxmlformats.org/officeDocument/2006/relationships/image" Target="../media/image700.png" /></ns0:Relationships>
</file>

<file path=ppt/c3/ppt/slides/_rels/slide31.xml.rels><?xml version='1.0' encoding='utf-8'?>
<ns0:Relationships xmlns:ns0="http://schemas.openxmlformats.org/package/2006/relationships"><ns0:Relationship Id="rId8" Type="http://schemas.openxmlformats.org/officeDocument/2006/relationships/image" Target="../media/image130.png" /><ns0:Relationship Id="rId3" Type="http://schemas.openxmlformats.org/officeDocument/2006/relationships/image" Target="../media/image127.png" /><ns0:Relationship Id="rId7" Type="http://schemas.openxmlformats.org/officeDocument/2006/relationships/customXml" Target="../ink/ink2.xml" /><ns0:Relationship Id="rId12" Type="http://schemas.openxmlformats.org/officeDocument/2006/relationships/image" Target="../media/image132.png" /><ns0:Relationship Id="rId2" Type="http://schemas.openxmlformats.org/officeDocument/2006/relationships/image" Target="../media/image12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29.png" /><ns0:Relationship Id="rId11" Type="http://schemas.openxmlformats.org/officeDocument/2006/relationships/customXml" Target="../ink/ink4.xml" /><ns0:Relationship Id="rId5" Type="http://schemas.openxmlformats.org/officeDocument/2006/relationships/customXml" Target="../ink/ink1.xml" /><ns0:Relationship Id="rId10" Type="http://schemas.openxmlformats.org/officeDocument/2006/relationships/image" Target="../media/image131.png" /><ns0:Relationship Id="rId4" Type="http://schemas.openxmlformats.org/officeDocument/2006/relationships/image" Target="../media/image128.png" /><ns0:Relationship Id="rId9" Type="http://schemas.openxmlformats.org/officeDocument/2006/relationships/customXml" Target="../ink/ink3.xml" /></ns0:Relationships>
</file>

<file path=ppt/c3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135.png" /><ns0:Relationship Id="rId2" Type="http://schemas.openxmlformats.org/officeDocument/2006/relationships/image" Target="../media/image13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8.png" /><ns0:Relationship Id="rId5" Type="http://schemas.openxmlformats.org/officeDocument/2006/relationships/image" Target="../media/image137.png" /><ns0:Relationship Id="rId4" Type="http://schemas.openxmlformats.org/officeDocument/2006/relationships/image" Target="../media/image136.png" /></ns0:Relationships>
</file>

<file path=ppt/c3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/>
          <p:cNvSpPr/>
          <p:nvPr/>
        </p:nvSpPr>
        <p:spPr>
          <a:xfrm>
            <a:off x="2590800" y="4201886"/>
            <a:ext cx="1970314" cy="1143000"/>
          </a:xfrm>
          <a:custGeom>
            <a:avLst/>
            <a:gdLst>
              <a:gd name="connsiteX0" fmla="*/ 0 w 1970314"/>
              <a:gd name="connsiteY0" fmla="*/ 0 h 1143000"/>
              <a:gd name="connsiteX1" fmla="*/ 348343 w 1970314"/>
              <a:gd name="connsiteY1" fmla="*/ 511628 h 1143000"/>
              <a:gd name="connsiteX2" fmla="*/ 631371 w 1970314"/>
              <a:gd name="connsiteY2" fmla="*/ 849085 h 1143000"/>
              <a:gd name="connsiteX3" fmla="*/ 881743 w 1970314"/>
              <a:gd name="connsiteY3" fmla="*/ 1055914 h 1143000"/>
              <a:gd name="connsiteX4" fmla="*/ 1034143 w 1970314"/>
              <a:gd name="connsiteY4" fmla="*/ 1121228 h 1143000"/>
              <a:gd name="connsiteX5" fmla="*/ 1143000 w 1970314"/>
              <a:gd name="connsiteY5" fmla="*/ 1143000 h 1143000"/>
              <a:gd name="connsiteX6" fmla="*/ 1371600 w 1970314"/>
              <a:gd name="connsiteY6" fmla="*/ 1099457 h 1143000"/>
              <a:gd name="connsiteX7" fmla="*/ 1621971 w 1970314"/>
              <a:gd name="connsiteY7" fmla="*/ 914400 h 1143000"/>
              <a:gd name="connsiteX8" fmla="*/ 1741714 w 1970314"/>
              <a:gd name="connsiteY8" fmla="*/ 762000 h 1143000"/>
              <a:gd name="connsiteX9" fmla="*/ 1970314 w 1970314"/>
              <a:gd name="connsiteY9" fmla="*/ 478971 h 1143000"/>
              <a:gd name="connsiteX10" fmla="*/ 0 w 1970314"/>
              <a:gd name="connsiteY10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0314" h="1143000">
                <a:moveTo>
                  <a:pt x="0" y="0"/>
                </a:moveTo>
                <a:lnTo>
                  <a:pt x="348343" y="511628"/>
                </a:lnTo>
                <a:lnTo>
                  <a:pt x="631371" y="849085"/>
                </a:lnTo>
                <a:lnTo>
                  <a:pt x="881743" y="1055914"/>
                </a:lnTo>
                <a:lnTo>
                  <a:pt x="1034143" y="1121228"/>
                </a:lnTo>
                <a:lnTo>
                  <a:pt x="1143000" y="1143000"/>
                </a:lnTo>
                <a:lnTo>
                  <a:pt x="1371600" y="1099457"/>
                </a:lnTo>
                <a:lnTo>
                  <a:pt x="1621971" y="914400"/>
                </a:lnTo>
                <a:lnTo>
                  <a:pt x="1741714" y="762000"/>
                </a:lnTo>
                <a:lnTo>
                  <a:pt x="1970314" y="47897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Inequality Regions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81777" y="941316"/>
                <a:ext cx="8002092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On graph paper, shade the region that satisfies the inequalities: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&lt;14</m:t>
                      </m:r>
                    </m:oMath>
                    <m:oMath>
                      <m:r>
                        <a:rPr lang="en-GB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777" y="941316"/>
                <a:ext cx="8002092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952750" y="2189223"/>
            <a:ext cx="7858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did this at GCSE, the only difference here being that the graphs involved might not be straight lines.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51584" y="3095321"/>
            <a:ext cx="3236168" cy="2363711"/>
            <a:chOff x="755576" y="3068603"/>
            <a:chExt cx="3236168" cy="2363711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1874339" y="3634335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719691" y="3248590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9691" y="3248590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6383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/>
            <p:cNvSpPr/>
            <p:nvPr/>
          </p:nvSpPr>
          <p:spPr>
            <a:xfrm>
              <a:off x="801872" y="3877339"/>
              <a:ext cx="2624232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206545" y="4881832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545" y="4881832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541755" y="4880315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755" y="4880315"/>
                  <a:ext cx="48646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 rot="18101459">
                  <a:off x="2612475" y="3642479"/>
                  <a:ext cx="14555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101459">
                  <a:off x="2612475" y="3642479"/>
                  <a:ext cx="1455530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 rot="821413">
                  <a:off x="1563588" y="4202489"/>
                  <a:ext cx="14555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=14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821413">
                  <a:off x="1563588" y="4202489"/>
                  <a:ext cx="1455530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" name="Straight Connector 21"/>
          <p:cNvCxnSpPr/>
          <p:nvPr/>
        </p:nvCxnSpPr>
        <p:spPr>
          <a:xfrm>
            <a:off x="2321442" y="4146698"/>
            <a:ext cx="2753832" cy="64858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422610" y="5598577"/>
                <a:ext cx="2362242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To quickly sketch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lang="en-GB" sz="1400" dirty="0"/>
                  <a:t>, consider what happens when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1400" dirty="0"/>
                  <a:t> and when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0.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610" y="5598577"/>
                <a:ext cx="2362242" cy="954107"/>
              </a:xfrm>
              <a:prstGeom prst="rect">
                <a:avLst/>
              </a:prstGeom>
              <a:blipFill>
                <a:blip r:embed="rId10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1871562" y="2879158"/>
            <a:ext cx="3716191" cy="25897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  <a:p>
            <a:pPr algn="ctr"/>
            <a:r>
              <a:rPr lang="en-GB" sz="2800" dirty="0"/>
              <a:t>Step 1: Imagine inequalities as equations and sketch.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218751" y="2995399"/>
                <a:ext cx="345638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2:</a:t>
                </a:r>
              </a:p>
              <a:p>
                <a:r>
                  <a:rPr lang="en-GB" dirty="0"/>
                  <a:t>An inequality involving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represents a 2D region in space.</a:t>
                </a:r>
              </a:p>
              <a:p>
                <a:r>
                  <a:rPr lang="en-GB" dirty="0"/>
                  <a:t>Identify the correct side of each line each inequality represents.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751" y="2995399"/>
                <a:ext cx="3456384" cy="1477328"/>
              </a:xfrm>
              <a:prstGeom prst="rect">
                <a:avLst/>
              </a:prstGeom>
              <a:blipFill>
                <a:blip r:embed="rId11"/>
                <a:stretch>
                  <a:fillRect l="-1465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982824" y="5576099"/>
                <a:ext cx="4304083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Make sure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on the side where it is positive.</a:t>
                </a:r>
              </a:p>
              <a:p>
                <a:r>
                  <a:rPr lang="en-GB" sz="1400" dirty="0"/>
                  <a:t>If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on the smaller side, you’re below the line.</a:t>
                </a:r>
              </a:p>
              <a:p>
                <a:r>
                  <a:rPr lang="en-GB" sz="1400" dirty="0"/>
                  <a:t>If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on the greater side, you’re above the line.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824" y="5576099"/>
                <a:ext cx="4304083" cy="738664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6808820" y="4559864"/>
            <a:ext cx="2189868" cy="55498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to sketch &gt;</a:t>
            </a:r>
          </a:p>
        </p:txBody>
      </p:sp>
    </p:spTree>
    <p:extLst>
      <p:ext uri="{BB962C8B-B14F-4D97-AF65-F5344CB8AC3E}">
        <p14:creationId xmlns:p14="http://schemas.microsoft.com/office/powerpoint/2010/main" val="99303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32" grpId="0" animBg="1"/>
      <p:bldP spid="28" grpId="0" animBg="1"/>
    </p:bldLst>
  </p:timing>
</p:sld>
</file>

<file path=ppt/c3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3F/3G – Y1 Page 53, 55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189D2B9-445E-64ED-330B-5D193D1D4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64704"/>
            <a:ext cx="7772400" cy="1807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8E2BC6-C79D-46B7-EB26-E72E4F51C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2754072"/>
            <a:ext cx="2952328" cy="2424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F872F-F86A-7FE6-2E16-93A989C10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632" y="5298030"/>
            <a:ext cx="4320480" cy="12245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80C11F-1D48-1364-0AE5-DE76B41C5250}"/>
              </a:ext>
            </a:extLst>
          </p:cNvPr>
          <p:cNvSpPr/>
          <p:nvPr/>
        </p:nvSpPr>
        <p:spPr>
          <a:xfrm>
            <a:off x="2406628" y="2572424"/>
            <a:ext cx="5273549" cy="26060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6A4E4-BD57-A243-90D3-8AE8DC8FFB52}"/>
              </a:ext>
            </a:extLst>
          </p:cNvPr>
          <p:cNvSpPr/>
          <p:nvPr/>
        </p:nvSpPr>
        <p:spPr>
          <a:xfrm>
            <a:off x="2406628" y="5298029"/>
            <a:ext cx="5273549" cy="1365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680B75-8786-AECC-E0F9-F102E4010154}"/>
              </a:ext>
            </a:extLst>
          </p:cNvPr>
          <p:cNvGrpSpPr/>
          <p:nvPr/>
        </p:nvGrpSpPr>
        <p:grpSpPr>
          <a:xfrm>
            <a:off x="1894573" y="2228953"/>
            <a:ext cx="224640" cy="128160"/>
            <a:chOff x="1894573" y="2228953"/>
            <a:chExt cx="22464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41E95C1-0A0A-0D82-2903-43B31D67279B}"/>
                    </a:ext>
                  </a:extLst>
                </p14:cNvPr>
                <p14:cNvContentPartPr/>
                <p14:nvPr/>
              </p14:nvContentPartPr>
              <p14:xfrm>
                <a:off x="1894573" y="2296993"/>
                <a:ext cx="65880" cy="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41E95C1-0A0A-0D82-2903-43B31D6727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88453" y="2290873"/>
                  <a:ext cx="781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EAC9A6-EE4E-BB3C-E2F1-142F4FD9AE92}"/>
                    </a:ext>
                  </a:extLst>
                </p14:cNvPr>
                <p14:cNvContentPartPr/>
                <p14:nvPr/>
              </p14:nvContentPartPr>
              <p14:xfrm>
                <a:off x="2020213" y="2228953"/>
                <a:ext cx="18360" cy="128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EAC9A6-EE4E-BB3C-E2F1-142F4FD9AE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14093" y="2222833"/>
                  <a:ext cx="30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953B847-2A42-48F3-F58A-3D11E27699EE}"/>
                    </a:ext>
                  </a:extLst>
                </p14:cNvPr>
                <p14:cNvContentPartPr/>
                <p14:nvPr/>
              </p14:nvContentPartPr>
              <p14:xfrm>
                <a:off x="2076733" y="2281153"/>
                <a:ext cx="13680" cy="61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953B847-2A42-48F3-F58A-3D11E27699E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70613" y="2275033"/>
                  <a:ext cx="25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ED0CC3-D527-F1DB-18D6-2EBFADB7E824}"/>
                    </a:ext>
                  </a:extLst>
                </p14:cNvPr>
                <p14:cNvContentPartPr/>
                <p14:nvPr/>
              </p14:nvContentPartPr>
              <p14:xfrm>
                <a:off x="2058373" y="2299153"/>
                <a:ext cx="60840" cy="6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ED0CC3-D527-F1DB-18D6-2EBFADB7E8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52253" y="2293033"/>
                  <a:ext cx="73080" cy="1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01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3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3F/3G – Y1 Page 53, 55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21318B8-7C98-B42A-6315-F3BE912F7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92696"/>
            <a:ext cx="7772400" cy="1173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E59DFC-E968-3683-B6E0-95F986C6E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564905"/>
            <a:ext cx="3162424" cy="3496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B2A429-D876-79AE-8850-7200C9C8C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766" y="2564905"/>
            <a:ext cx="2660419" cy="183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8576AE-F07A-1150-980F-BD181C93C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125" y="4360200"/>
            <a:ext cx="2118651" cy="1708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89EFD2-D30E-99CB-98F1-78AB115BF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209" y="2636912"/>
            <a:ext cx="2582073" cy="30520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C59A09D-B36E-C045-1308-7148D12A474B}"/>
              </a:ext>
            </a:extLst>
          </p:cNvPr>
          <p:cNvSpPr/>
          <p:nvPr/>
        </p:nvSpPr>
        <p:spPr>
          <a:xfrm>
            <a:off x="1847529" y="2386037"/>
            <a:ext cx="3162424" cy="40672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AA6DD5-5279-906C-42F3-00B6A42877A2}"/>
              </a:ext>
            </a:extLst>
          </p:cNvPr>
          <p:cNvSpPr/>
          <p:nvPr/>
        </p:nvSpPr>
        <p:spPr>
          <a:xfrm>
            <a:off x="5091766" y="2386036"/>
            <a:ext cx="2732427" cy="40672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0B2F7B-8023-68AB-9856-BC6A7FCAE44D}"/>
              </a:ext>
            </a:extLst>
          </p:cNvPr>
          <p:cNvSpPr/>
          <p:nvPr/>
        </p:nvSpPr>
        <p:spPr>
          <a:xfrm>
            <a:off x="7906005" y="2386036"/>
            <a:ext cx="2582074" cy="40672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14718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c3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3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