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11/ppt/slideMasters/slideMaster1.xml" ContentType="application/vnd.openxmlformats-officedocument.presentationml.slideMaster+xml"/>
  <ns0:Override PartName="/ppt/c11/ppt/slides/slide3.xml" ContentType="application/vnd.openxmlformats-officedocument.presentationml.slide+xml"/>
  <ns0:Override PartName="/ppt/c11/ppt/slides/slide4.xml" ContentType="application/vnd.openxmlformats-officedocument.presentationml.slide+xml"/>
  <ns0:Override PartName="/ppt/c11/ppt/slides/slide5.xml" ContentType="application/vnd.openxmlformats-officedocument.presentationml.slide+xml"/>
  <ns0:Override PartName="/ppt/c11/ppt/slides/slide6.xml" ContentType="application/vnd.openxmlformats-officedocument.presentationml.slide+xml"/>
  <ns0:Override PartName="/ppt/c11/ppt/slides/slide7.xml" ContentType="application/vnd.openxmlformats-officedocument.presentationml.slide+xml"/>
  <ns0:Override PartName="/ppt/c11/ppt/slides/slide8.xml" ContentType="application/vnd.openxmlformats-officedocument.presentationml.slide+xml"/>
  <ns0:Override PartName="/ppt/c11/ppt/slides/slide9.xml" ContentType="application/vnd.openxmlformats-officedocument.presentationml.slide+xml"/>
  <ns0:Override PartName="/ppt/c11/ppt/slides/slide10.xml" ContentType="application/vnd.openxmlformats-officedocument.presentationml.slide+xml"/>
  <ns0:Override PartName="/ppt/c11/ppt/slides/slide11.xml" ContentType="application/vnd.openxmlformats-officedocument.presentationml.slide+xml"/>
  <ns0:Override PartName="/ppt/c11/ppt/slides/slide12.xml" ContentType="application/vnd.openxmlformats-officedocument.presentationml.slide+xml"/>
  <ns0:Override PartName="/ppt/c11/ppt/slides/slide13.xml" ContentType="application/vnd.openxmlformats-officedocument.presentationml.slide+xml"/>
  <ns0:Override PartName="/ppt/c11/ppt/slides/slide14.xml" ContentType="application/vnd.openxmlformats-officedocument.presentationml.slide+xml"/>
  <ns0:Override PartName="/ppt/c11/ppt/slides/slide15.xml" ContentType="application/vnd.openxmlformats-officedocument.presentationml.slide+xml"/>
  <ns0:Override PartName="/ppt/c11/ppt/slides/slide16.xml" ContentType="application/vnd.openxmlformats-officedocument.presentationml.slide+xml"/>
  <ns0:Override PartName="/ppt/c11/ppt/slides/slide17.xml" ContentType="application/vnd.openxmlformats-officedocument.presentationml.slide+xml"/>
  <ns0:Override PartName="/ppt/c11/ppt/slides/slide18.xml" ContentType="application/vnd.openxmlformats-officedocument.presentationml.slide+xml"/>
  <ns0:Override PartName="/ppt/c11/ppt/slides/slide19.xml" ContentType="application/vnd.openxmlformats-officedocument.presentationml.slide+xml"/>
  <ns0:Override PartName="/ppt/c11/ppt/slides/slide20.xml" ContentType="application/vnd.openxmlformats-officedocument.presentationml.slide+xml"/>
  <ns0:Override PartName="/ppt/c11/ppt/slides/slide21.xml" ContentType="application/vnd.openxmlformats-officedocument.presentationml.slide+xml"/>
  <ns0:Override PartName="/ppt/c11/ppt/slides/slide22.xml" ContentType="application/vnd.openxmlformats-officedocument.presentationml.slide+xml"/>
  <ns0:Override PartName="/ppt/c11/ppt/slides/slide23.xml" ContentType="application/vnd.openxmlformats-officedocument.presentationml.slide+xml"/>
  <ns0:Override PartName="/ppt/c11/ppt/slides/slide24.xml" ContentType="application/vnd.openxmlformats-officedocument.presentationml.slide+xml"/>
  <ns0:Override PartName="/ppt/c11/ppt/slides/slide25.xml" ContentType="application/vnd.openxmlformats-officedocument.presentationml.slide+xml"/>
  <ns0:Override PartName="/ppt/c11/ppt/slides/slide26.xml" ContentType="application/vnd.openxmlformats-officedocument.presentationml.slide+xml"/>
  <ns0:Override PartName="/ppt/c11/ppt/slides/slide27.xml" ContentType="application/vnd.openxmlformats-officedocument.presentationml.slide+xml"/>
  <ns0:Override PartName="/ppt/c11/ppt/slides/slide28.xml" ContentType="application/vnd.openxmlformats-officedocument.presentationml.slide+xml"/>
  <ns0:Override PartName="/ppt/c11/ppt/slides/slide29.xml" ContentType="application/vnd.openxmlformats-officedocument.presentationml.slide+xml"/>
  <ns0:Override PartName="/ppt/c11/ppt/slides/slide30.xml" ContentType="application/vnd.openxmlformats-officedocument.presentationml.slide+xml"/>
  <ns0:Override PartName="/ppt/c11/ppt/slides/slide31.xml" ContentType="application/vnd.openxmlformats-officedocument.presentationml.slide+xml"/>
  <ns0:Override PartName="/ppt/c11/ppt/slides/slide32.xml" ContentType="application/vnd.openxmlformats-officedocument.presentationml.slide+xml"/>
  <ns0:Override PartName="/ppt/c11/ppt/slides/slide33.xml" ContentType="application/vnd.openxmlformats-officedocument.presentationml.slide+xml"/>
  <ns0:Override PartName="/ppt/c11/ppt/slides/slide34.xml" ContentType="application/vnd.openxmlformats-officedocument.presentationml.slide+xml"/>
  <ns0:Override PartName="/ppt/c11/ppt/slides/slide35.xml" ContentType="application/vnd.openxmlformats-officedocument.presentationml.slide+xml"/>
  <ns0:Override PartName="/ppt/c11/ppt/slides/slide36.xml" ContentType="application/vnd.openxmlformats-officedocument.presentationml.slide+xml"/>
  <ns0:Override PartName="/ppt/c11/ppt/slides/slide37.xml" ContentType="application/vnd.openxmlformats-officedocument.presentationml.slide+xml"/>
  <ns0:Override PartName="/ppt/c11/ppt/slides/slide38.xml" ContentType="application/vnd.openxmlformats-officedocument.presentationml.slide+xml"/>
  <ns0:Override PartName="/ppt/c11/ppt/slides/slide39.xml" ContentType="application/vnd.openxmlformats-officedocument.presentationml.slide+xml"/>
  <ns0:Override PartName="/ppt/c11/ppt/slides/slide40.xml" ContentType="application/vnd.openxmlformats-officedocument.presentationml.slide+xml"/>
  <ns0:Override PartName="/ppt/c11/ppt/notesMasters/notesMaster1.xml" ContentType="application/vnd.openxmlformats-officedocument.presentationml.notesMaster+xml"/>
  <ns0:Override PartName="/ppt/c11/ppt/theme/theme1.xml" ContentType="application/vnd.openxmlformats-officedocument.theme+xml"/>
  <ns0:Override PartName="/ppt/c11/ppt/slideLayouts/slideLayout1.xml" ContentType="application/vnd.openxmlformats-officedocument.presentationml.slideLayout+xml"/>
  <ns0:Override PartName="/ppt/c11/ppt/slideLayouts/slideLayout2.xml" ContentType="application/vnd.openxmlformats-officedocument.presentationml.slideLayout+xml"/>
  <ns0:Override PartName="/ppt/c11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748" r:id="rId39"/>
  </p:sldMasterIdLst>
  <p:notesMasterIdLst>
    <p:notesMasterId r:id="rId4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1/ppt/slides/slide3.xml" /><ns0:Relationship Id="rId2" Type="http://schemas.openxmlformats.org/officeDocument/2006/relationships/slide" Target="c11/ppt/slides/slide4.xml" /><ns0:Relationship Id="rId3" Type="http://schemas.openxmlformats.org/officeDocument/2006/relationships/slide" Target="c11/ppt/slides/slide5.xml" /><ns0:Relationship Id="rId4" Type="http://schemas.openxmlformats.org/officeDocument/2006/relationships/slide" Target="c11/ppt/slides/slide6.xml" /><ns0:Relationship Id="rId5" Type="http://schemas.openxmlformats.org/officeDocument/2006/relationships/slide" Target="c11/ppt/slides/slide7.xml" /><ns0:Relationship Id="rId6" Type="http://schemas.openxmlformats.org/officeDocument/2006/relationships/slide" Target="c11/ppt/slides/slide8.xml" /><ns0:Relationship Id="rId7" Type="http://schemas.openxmlformats.org/officeDocument/2006/relationships/slide" Target="c11/ppt/slides/slide9.xml" /><ns0:Relationship Id="rId8" Type="http://schemas.openxmlformats.org/officeDocument/2006/relationships/slide" Target="c11/ppt/slides/slide10.xml" /><ns0:Relationship Id="rId9" Type="http://schemas.openxmlformats.org/officeDocument/2006/relationships/slide" Target="c11/ppt/slides/slide11.xml" /><ns0:Relationship Id="rId10" Type="http://schemas.openxmlformats.org/officeDocument/2006/relationships/slide" Target="c11/ppt/slides/slide12.xml" /><ns0:Relationship Id="rId11" Type="http://schemas.openxmlformats.org/officeDocument/2006/relationships/slide" Target="c11/ppt/slides/slide13.xml" /><ns0:Relationship Id="rId12" Type="http://schemas.openxmlformats.org/officeDocument/2006/relationships/slide" Target="c11/ppt/slides/slide14.xml" /><ns0:Relationship Id="rId13" Type="http://schemas.openxmlformats.org/officeDocument/2006/relationships/slide" Target="c11/ppt/slides/slide15.xml" /><ns0:Relationship Id="rId14" Type="http://schemas.openxmlformats.org/officeDocument/2006/relationships/slide" Target="c11/ppt/slides/slide16.xml" /><ns0:Relationship Id="rId15" Type="http://schemas.openxmlformats.org/officeDocument/2006/relationships/slide" Target="c11/ppt/slides/slide17.xml" /><ns0:Relationship Id="rId16" Type="http://schemas.openxmlformats.org/officeDocument/2006/relationships/slide" Target="c11/ppt/slides/slide18.xml" /><ns0:Relationship Id="rId17" Type="http://schemas.openxmlformats.org/officeDocument/2006/relationships/slide" Target="c11/ppt/slides/slide19.xml" /><ns0:Relationship Id="rId18" Type="http://schemas.openxmlformats.org/officeDocument/2006/relationships/slide" Target="c11/ppt/slides/slide20.xml" /><ns0:Relationship Id="rId19" Type="http://schemas.openxmlformats.org/officeDocument/2006/relationships/slide" Target="c11/ppt/slides/slide21.xml" /><ns0:Relationship Id="rId20" Type="http://schemas.openxmlformats.org/officeDocument/2006/relationships/slide" Target="c11/ppt/slides/slide22.xml" /><ns0:Relationship Id="rId21" Type="http://schemas.openxmlformats.org/officeDocument/2006/relationships/slide" Target="c11/ppt/slides/slide23.xml" /><ns0:Relationship Id="rId22" Type="http://schemas.openxmlformats.org/officeDocument/2006/relationships/slide" Target="c11/ppt/slides/slide24.xml" /><ns0:Relationship Id="rId23" Type="http://schemas.openxmlformats.org/officeDocument/2006/relationships/slide" Target="c11/ppt/slides/slide25.xml" /><ns0:Relationship Id="rId24" Type="http://schemas.openxmlformats.org/officeDocument/2006/relationships/slide" Target="c11/ppt/slides/slide26.xml" /><ns0:Relationship Id="rId25" Type="http://schemas.openxmlformats.org/officeDocument/2006/relationships/slide" Target="c11/ppt/slides/slide27.xml" /><ns0:Relationship Id="rId26" Type="http://schemas.openxmlformats.org/officeDocument/2006/relationships/slide" Target="c11/ppt/slides/slide28.xml" /><ns0:Relationship Id="rId27" Type="http://schemas.openxmlformats.org/officeDocument/2006/relationships/slide" Target="c11/ppt/slides/slide29.xml" /><ns0:Relationship Id="rId28" Type="http://schemas.openxmlformats.org/officeDocument/2006/relationships/slide" Target="c11/ppt/slides/slide30.xml" /><ns0:Relationship Id="rId29" Type="http://schemas.openxmlformats.org/officeDocument/2006/relationships/slide" Target="c11/ppt/slides/slide31.xml" /><ns0:Relationship Id="rId30" Type="http://schemas.openxmlformats.org/officeDocument/2006/relationships/slide" Target="c11/ppt/slides/slide32.xml" /><ns0:Relationship Id="rId31" Type="http://schemas.openxmlformats.org/officeDocument/2006/relationships/slide" Target="c11/ppt/slides/slide33.xml" /><ns0:Relationship Id="rId32" Type="http://schemas.openxmlformats.org/officeDocument/2006/relationships/slide" Target="c11/ppt/slides/slide34.xml" /><ns0:Relationship Id="rId33" Type="http://schemas.openxmlformats.org/officeDocument/2006/relationships/slide" Target="c11/ppt/slides/slide35.xml" /><ns0:Relationship Id="rId34" Type="http://schemas.openxmlformats.org/officeDocument/2006/relationships/slide" Target="c11/ppt/slides/slide36.xml" /><ns0:Relationship Id="rId35" Type="http://schemas.openxmlformats.org/officeDocument/2006/relationships/slide" Target="c11/ppt/slides/slide37.xml" /><ns0:Relationship Id="rId36" Type="http://schemas.openxmlformats.org/officeDocument/2006/relationships/slide" Target="c11/ppt/slides/slide38.xml" /><ns0:Relationship Id="rId37" Type="http://schemas.openxmlformats.org/officeDocument/2006/relationships/slide" Target="c11/ppt/slides/slide39.xml" /><ns0:Relationship Id="rId38" Type="http://schemas.openxmlformats.org/officeDocument/2006/relationships/slide" Target="c11/ppt/slides/slide40.xml" /><ns0:Relationship Id="rId39" Type="http://schemas.openxmlformats.org/officeDocument/2006/relationships/slideMaster" Target="c11/ppt/slideMasters/slideMaster1.xml" /><ns0:Relationship Id="rId40" Type="http://schemas.openxmlformats.org/officeDocument/2006/relationships/notesMaster" Target="c11/ppt/notesMasters/notesMaster1.xml" /></ns0:Relationships>
</file>

<file path=ppt/c11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1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19/10/2026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1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1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1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19/10/2026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58E56584-7094-87D6-280B-FC78441EB755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1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91"/>
            <a:ext cx="10363200" cy="1470025"/>
          </a:xfrm>
        </p:spPr>
        <p:txBody>
          <a:bodyPr>
            <a:noAutofit/>
          </a:bodyPr>
          <a:lstStyle>
            <a:lvl1pPr>
              <a:defRPr sz="2531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9414032"/>
      </p:ext>
    </p:extLst>
  </p:cSld>
  <p:clrMapOvr>
    <a:masterClrMapping/>
  </p:clrMapOvr>
</p:sldLayout>
</file>

<file path=ppt/c11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1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19/10/2026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30300" r:id="rId1"/>
    <p:sldLayoutId id="21475303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1/ppt/slides/_rels/slide3.xml.rels><?xml version='1.0' encoding='utf-8'?>
<ns0:Relationships xmlns:ns0="http://schemas.openxmlformats.org/package/2006/relationships"><ns0:Relationship Id="rId8" Type="http://schemas.openxmlformats.org/officeDocument/2006/relationships/image" Target="../media/image11.png" /><ns0:Relationship Id="rId13" Type="http://schemas.openxmlformats.org/officeDocument/2006/relationships/image" Target="../media/image16.png" /><ns0:Relationship Id="rId18" Type="http://schemas.openxmlformats.org/officeDocument/2006/relationships/image" Target="../media/image21.png" /><ns0:Relationship Id="rId3" Type="http://schemas.openxmlformats.org/officeDocument/2006/relationships/image" Target="../media/image6.png" /><ns0:Relationship Id="rId21" Type="http://schemas.openxmlformats.org/officeDocument/2006/relationships/image" Target="../media/image24.png" /><ns0:Relationship Id="rId7" Type="http://schemas.openxmlformats.org/officeDocument/2006/relationships/image" Target="../media/image10.png" /><ns0:Relationship Id="rId12" Type="http://schemas.openxmlformats.org/officeDocument/2006/relationships/image" Target="../media/image15.png" /><ns0:Relationship Id="rId17" Type="http://schemas.openxmlformats.org/officeDocument/2006/relationships/image" Target="../media/image20.png" /><ns0:Relationship Id="rId2" Type="http://schemas.openxmlformats.org/officeDocument/2006/relationships/image" Target="../media/image5.png" /><ns0:Relationship Id="rId16" Type="http://schemas.openxmlformats.org/officeDocument/2006/relationships/image" Target="../media/image19.png" /><ns0:Relationship Id="rId20" Type="http://schemas.openxmlformats.org/officeDocument/2006/relationships/image" Target="../media/image23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9.png" /><ns0:Relationship Id="rId11" Type="http://schemas.openxmlformats.org/officeDocument/2006/relationships/image" Target="../media/image14.png" /><ns0:Relationship Id="rId5" Type="http://schemas.openxmlformats.org/officeDocument/2006/relationships/image" Target="../media/image8.png" /><ns0:Relationship Id="rId15" Type="http://schemas.openxmlformats.org/officeDocument/2006/relationships/image" Target="../media/image18.png" /><ns0:Relationship Id="rId23" Type="http://schemas.openxmlformats.org/officeDocument/2006/relationships/image" Target="../media/image26.png" /><ns0:Relationship Id="rId10" Type="http://schemas.openxmlformats.org/officeDocument/2006/relationships/image" Target="../media/image13.png" /><ns0:Relationship Id="rId19" Type="http://schemas.openxmlformats.org/officeDocument/2006/relationships/image" Target="../media/image22.png" /><ns0:Relationship Id="rId4" Type="http://schemas.openxmlformats.org/officeDocument/2006/relationships/image" Target="../media/image7.png" /><ns0:Relationship Id="rId9" Type="http://schemas.openxmlformats.org/officeDocument/2006/relationships/image" Target="../media/image12.png" /><ns0:Relationship Id="rId14" Type="http://schemas.openxmlformats.org/officeDocument/2006/relationships/image" Target="../media/image17.png" /><ns0:Relationship Id="rId22" Type="http://schemas.openxmlformats.org/officeDocument/2006/relationships/image" Target="../media/image25.png" /></ns0:Relationships>
</file>

<file path=ppt/c11/ppt/slides/_rels/slide4.xml.rels><?xml version='1.0' encoding='utf-8'?>
<ns0:Relationships xmlns:ns0="http://schemas.openxmlformats.org/package/2006/relationships"><ns0:Relationship Id="rId8" Type="http://schemas.openxmlformats.org/officeDocument/2006/relationships/image" Target="../media/image33.png" /><ns0:Relationship Id="rId3" Type="http://schemas.openxmlformats.org/officeDocument/2006/relationships/image" Target="../media/image28.png" /><ns0:Relationship Id="rId7" Type="http://schemas.openxmlformats.org/officeDocument/2006/relationships/image" Target="../media/image32.png" /><ns0:Relationship Id="rId2" Type="http://schemas.openxmlformats.org/officeDocument/2006/relationships/image" Target="../media/image2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31.png" /><ns0:Relationship Id="rId5" Type="http://schemas.openxmlformats.org/officeDocument/2006/relationships/image" Target="../media/image30.png" /><ns0:Relationship Id="rId4" Type="http://schemas.openxmlformats.org/officeDocument/2006/relationships/image" Target="../media/image29.png" /></ns0:Relationships>
</file>

<file path=ppt/c11/ppt/slides/_rels/slide5.xml.rels><?xml version='1.0' encoding='utf-8'?>
<ns0:Relationships xmlns:ns0="http://schemas.openxmlformats.org/package/2006/relationships"><ns0:Relationship Id="rId8" Type="http://schemas.openxmlformats.org/officeDocument/2006/relationships/image" Target="../media/image40.png" /><ns0:Relationship Id="rId13" Type="http://schemas.openxmlformats.org/officeDocument/2006/relationships/image" Target="../media/image45.png" /><ns0:Relationship Id="rId3" Type="http://schemas.openxmlformats.org/officeDocument/2006/relationships/image" Target="../media/image35.png" /><ns0:Relationship Id="rId7" Type="http://schemas.openxmlformats.org/officeDocument/2006/relationships/image" Target="../media/image39.png" /><ns0:Relationship Id="rId12" Type="http://schemas.openxmlformats.org/officeDocument/2006/relationships/image" Target="../media/image44.png" /><ns0:Relationship Id="rId2" Type="http://schemas.openxmlformats.org/officeDocument/2006/relationships/image" Target="../media/image34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38.png" /><ns0:Relationship Id="rId11" Type="http://schemas.openxmlformats.org/officeDocument/2006/relationships/image" Target="../media/image43.png" /><ns0:Relationship Id="rId5" Type="http://schemas.openxmlformats.org/officeDocument/2006/relationships/image" Target="../media/image37.png" /><ns0:Relationship Id="rId10" Type="http://schemas.openxmlformats.org/officeDocument/2006/relationships/image" Target="../media/image42.png" /><ns0:Relationship Id="rId4" Type="http://schemas.openxmlformats.org/officeDocument/2006/relationships/image" Target="../media/image36.png" /><ns0:Relationship Id="rId9" Type="http://schemas.openxmlformats.org/officeDocument/2006/relationships/image" Target="../media/image41.png" /></ns0:Relationships>
</file>

<file path=ppt/c11/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47.png" /><ns0:Relationship Id="rId2" Type="http://schemas.openxmlformats.org/officeDocument/2006/relationships/image" Target="../media/image46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50.png" /><ns0:Relationship Id="rId5" Type="http://schemas.openxmlformats.org/officeDocument/2006/relationships/image" Target="../media/image49.png" /><ns0:Relationship Id="rId4" Type="http://schemas.openxmlformats.org/officeDocument/2006/relationships/image" Target="../media/image48.png" /></ns0:Relationships>
</file>

<file path=ppt/c11/ppt/slides/_rels/slide7.xml.rels><?xml version='1.0' encoding='utf-8'?>
<ns0:Relationships xmlns:ns0="http://schemas.openxmlformats.org/package/2006/relationships"><ns0:Relationship Id="rId3" Type="http://schemas.openxmlformats.org/officeDocument/2006/relationships/image" Target="../media/image52.png" /><ns0:Relationship Id="rId2" Type="http://schemas.openxmlformats.org/officeDocument/2006/relationships/image" Target="../media/image51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53.png" /></ns0:Relationships>
</file>

<file path=ppt/c11/ppt/slides/_rels/slide8.xml.rels><?xml version='1.0' encoding='utf-8'?>
<ns0:Relationships xmlns:ns0="http://schemas.openxmlformats.org/package/2006/relationships"><ns0:Relationship Id="rId8" Type="http://schemas.openxmlformats.org/officeDocument/2006/relationships/image" Target="../media/image60.png" /><ns0:Relationship Id="rId3" Type="http://schemas.openxmlformats.org/officeDocument/2006/relationships/image" Target="../media/image55.png" /><ns0:Relationship Id="rId7" Type="http://schemas.openxmlformats.org/officeDocument/2006/relationships/image" Target="../media/image59.png" /><ns0:Relationship Id="rId2" Type="http://schemas.openxmlformats.org/officeDocument/2006/relationships/image" Target="../media/image54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58.png" /><ns0:Relationship Id="rId5" Type="http://schemas.openxmlformats.org/officeDocument/2006/relationships/image" Target="../media/image57.png" /><ns0:Relationship Id="rId4" Type="http://schemas.openxmlformats.org/officeDocument/2006/relationships/image" Target="../media/image56.png" /><ns0:Relationship Id="rId9" Type="http://schemas.openxmlformats.org/officeDocument/2006/relationships/image" Target="../media/image61.png" /></ns0:Relationships>
</file>

<file path=ppt/c11/ppt/slides/_rels/slide9.xml.rels><?xml version='1.0' encoding='utf-8'?>
<ns0:Relationships xmlns:ns0="http://schemas.openxmlformats.org/package/2006/relationships"><ns0:Relationship Id="rId3" Type="http://schemas.openxmlformats.org/officeDocument/2006/relationships/image" Target="../media/image63.png" /><ns0:Relationship Id="rId2" Type="http://schemas.openxmlformats.org/officeDocument/2006/relationships/image" Target="../media/image62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66.png" /><ns0:Relationship Id="rId5" Type="http://schemas.openxmlformats.org/officeDocument/2006/relationships/image" Target="../media/image65.png" /><ns0:Relationship Id="rId4" Type="http://schemas.openxmlformats.org/officeDocument/2006/relationships/image" Target="../media/image64.png" /></ns0:Relationships>
</file>

<file path=ppt/c11/ppt/slides/_rels/slide10.xml.rels><?xml version='1.0' encoding='utf-8'?>
<ns0:Relationships xmlns:ns0="http://schemas.openxmlformats.org/package/2006/relationships"><ns0:Relationship Id="rId8" Type="http://schemas.openxmlformats.org/officeDocument/2006/relationships/image" Target="../media/image73.png" /><ns0:Relationship Id="rId3" Type="http://schemas.openxmlformats.org/officeDocument/2006/relationships/image" Target="../media/image68.png" /><ns0:Relationship Id="rId7" Type="http://schemas.openxmlformats.org/officeDocument/2006/relationships/image" Target="../media/image72.png" /><ns0:Relationship Id="rId2" Type="http://schemas.openxmlformats.org/officeDocument/2006/relationships/image" Target="../media/image6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71.png" /><ns0:Relationship Id="rId5" Type="http://schemas.openxmlformats.org/officeDocument/2006/relationships/image" Target="../media/image70.png" /><ns0:Relationship Id="rId4" Type="http://schemas.openxmlformats.org/officeDocument/2006/relationships/image" Target="../media/image69.png" /><ns0:Relationship Id="rId9" Type="http://schemas.openxmlformats.org/officeDocument/2006/relationships/image" Target="../media/image74.png" /></ns0:Relationships>
</file>

<file path=ppt/c11/ppt/slides/_rels/slide11.xml.rels><?xml version='1.0' encoding='utf-8'?>
<ns0:Relationships xmlns:ns0="http://schemas.openxmlformats.org/package/2006/relationships"><ns0:Relationship Id="rId3" Type="http://schemas.openxmlformats.org/officeDocument/2006/relationships/image" Target="../media/image76.png" /><ns0:Relationship Id="rId2" Type="http://schemas.openxmlformats.org/officeDocument/2006/relationships/image" Target="../media/image75.png" /><ns0:Relationship Id="rId1" Type="http://schemas.openxmlformats.org/officeDocument/2006/relationships/slideLayout" Target="../slideLayouts/slideLayout1.xml" /></ns0:Relationships>
</file>

<file path=ppt/c11/ppt/slides/_rels/slide12.xml.rels><?xml version='1.0' encoding='utf-8'?>
<ns0:Relationships xmlns:ns0="http://schemas.openxmlformats.org/package/2006/relationships"><ns0:Relationship Id="rId8" Type="http://schemas.openxmlformats.org/officeDocument/2006/relationships/image" Target="../media/image83.png" /><ns0:Relationship Id="rId3" Type="http://schemas.openxmlformats.org/officeDocument/2006/relationships/image" Target="../media/image78.png" /><ns0:Relationship Id="rId7" Type="http://schemas.openxmlformats.org/officeDocument/2006/relationships/image" Target="../media/image82.png" /><ns0:Relationship Id="rId2" Type="http://schemas.openxmlformats.org/officeDocument/2006/relationships/image" Target="../media/image7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81.png" /><ns0:Relationship Id="rId5" Type="http://schemas.openxmlformats.org/officeDocument/2006/relationships/image" Target="../media/image80.png" /><ns0:Relationship Id="rId4" Type="http://schemas.openxmlformats.org/officeDocument/2006/relationships/image" Target="../media/image79.png" /><ns0:Relationship Id="rId9" Type="http://schemas.openxmlformats.org/officeDocument/2006/relationships/image" Target="../media/image84.png" /></ns0:Relationships>
</file>

<file path=ppt/c11/ppt/slides/_rels/slide13.xml.rels><?xml version='1.0' encoding='utf-8'?>
<ns0:Relationships xmlns:ns0="http://schemas.openxmlformats.org/package/2006/relationships"><ns0:Relationship Id="rId8" Type="http://schemas.openxmlformats.org/officeDocument/2006/relationships/image" Target="../media/image91.png" /><ns0:Relationship Id="rId3" Type="http://schemas.openxmlformats.org/officeDocument/2006/relationships/image" Target="../media/image86.png" /><ns0:Relationship Id="rId7" Type="http://schemas.openxmlformats.org/officeDocument/2006/relationships/image" Target="../media/image90.png" /><ns0:Relationship Id="rId2" Type="http://schemas.openxmlformats.org/officeDocument/2006/relationships/image" Target="../media/image8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89.png" /><ns0:Relationship Id="rId5" Type="http://schemas.openxmlformats.org/officeDocument/2006/relationships/image" Target="../media/image88.png" /><ns0:Relationship Id="rId4" Type="http://schemas.openxmlformats.org/officeDocument/2006/relationships/image" Target="../media/image87.png" /><ns0:Relationship Id="rId9" Type="http://schemas.openxmlformats.org/officeDocument/2006/relationships/image" Target="../media/image92.png" /></ns0:Relationships>
</file>

<file path=ppt/c11/ppt/slides/_rels/slide14.xml.rels><?xml version='1.0' encoding='utf-8'?>
<ns0:Relationships xmlns:ns0="http://schemas.openxmlformats.org/package/2006/relationships"><ns0:Relationship Id="rId8" Type="http://schemas.openxmlformats.org/officeDocument/2006/relationships/image" Target="../media/image99.png" /><ns0:Relationship Id="rId3" Type="http://schemas.openxmlformats.org/officeDocument/2006/relationships/image" Target="../media/image94.png" /><ns0:Relationship Id="rId7" Type="http://schemas.openxmlformats.org/officeDocument/2006/relationships/image" Target="../media/image98.png" /><ns0:Relationship Id="rId2" Type="http://schemas.openxmlformats.org/officeDocument/2006/relationships/image" Target="../media/image93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97.png" /><ns0:Relationship Id="rId5" Type="http://schemas.openxmlformats.org/officeDocument/2006/relationships/image" Target="../media/image96.png" /><ns0:Relationship Id="rId10" Type="http://schemas.openxmlformats.org/officeDocument/2006/relationships/image" Target="../media/image101.png" /><ns0:Relationship Id="rId4" Type="http://schemas.openxmlformats.org/officeDocument/2006/relationships/image" Target="../media/image95.png" /><ns0:Relationship Id="rId9" Type="http://schemas.openxmlformats.org/officeDocument/2006/relationships/image" Target="../media/image100.png" /></ns0:Relationships>
</file>

<file path=ppt/c11/ppt/slides/_rels/slide15.xml.rels><?xml version='1.0' encoding='utf-8'?>
<ns0:Relationships xmlns:ns0="http://schemas.openxmlformats.org/package/2006/relationships"><ns0:Relationship Id="rId8" Type="http://schemas.openxmlformats.org/officeDocument/2006/relationships/image" Target="../media/image108.png" /><ns0:Relationship Id="rId3" Type="http://schemas.openxmlformats.org/officeDocument/2006/relationships/image" Target="../media/image103.png" /><ns0:Relationship Id="rId7" Type="http://schemas.openxmlformats.org/officeDocument/2006/relationships/image" Target="../media/image107.png" /><ns0:Relationship Id="rId2" Type="http://schemas.openxmlformats.org/officeDocument/2006/relationships/image" Target="../media/image102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06.png" /><ns0:Relationship Id="rId11" Type="http://schemas.openxmlformats.org/officeDocument/2006/relationships/image" Target="../media/image111.png" /><ns0:Relationship Id="rId5" Type="http://schemas.openxmlformats.org/officeDocument/2006/relationships/image" Target="../media/image105.png" /><ns0:Relationship Id="rId10" Type="http://schemas.openxmlformats.org/officeDocument/2006/relationships/image" Target="../media/image110.png" /><ns0:Relationship Id="rId4" Type="http://schemas.openxmlformats.org/officeDocument/2006/relationships/image" Target="../media/image104.png" /><ns0:Relationship Id="rId9" Type="http://schemas.openxmlformats.org/officeDocument/2006/relationships/image" Target="../media/image109.png" /></ns0:Relationships>
</file>

<file path=ppt/c11/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image113.png" /><ns0:Relationship Id="rId2" Type="http://schemas.openxmlformats.org/officeDocument/2006/relationships/image" Target="../media/image112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15.png" /><ns0:Relationship Id="rId4" Type="http://schemas.openxmlformats.org/officeDocument/2006/relationships/image" Target="../media/image114.png" /></ns0:Relationships>
</file>

<file path=ppt/c11/ppt/slides/_rels/slide17.xml.rels><?xml version='1.0' encoding='utf-8'?>
<ns0:Relationships xmlns:ns0="http://schemas.openxmlformats.org/package/2006/relationships"><ns0:Relationship Id="rId3" Type="http://schemas.openxmlformats.org/officeDocument/2006/relationships/image" Target="../media/image117.png" /><ns0:Relationship Id="rId2" Type="http://schemas.openxmlformats.org/officeDocument/2006/relationships/image" Target="../media/image116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20.png" /><ns0:Relationship Id="rId5" Type="http://schemas.openxmlformats.org/officeDocument/2006/relationships/image" Target="../media/image119.png" /><ns0:Relationship Id="rId4" Type="http://schemas.openxmlformats.org/officeDocument/2006/relationships/image" Target="../media/image118.png" /></ns0:Relationships>
</file>

<file path=ppt/c11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122.png" /><ns0:Relationship Id="rId2" Type="http://schemas.openxmlformats.org/officeDocument/2006/relationships/image" Target="../media/image121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24.png" /><ns0:Relationship Id="rId4" Type="http://schemas.openxmlformats.org/officeDocument/2006/relationships/image" Target="../media/image123.png" /></ns0:Relationships>
</file>

<file path=ppt/c11/ppt/slides/_rels/slide19.xml.rels><?xml version='1.0' encoding='utf-8'?>
<ns0:Relationships xmlns:ns0="http://schemas.openxmlformats.org/package/2006/relationships"><ns0:Relationship Id="rId8" Type="http://schemas.openxmlformats.org/officeDocument/2006/relationships/image" Target="../media/image131.png" /><ns0:Relationship Id="rId3" Type="http://schemas.openxmlformats.org/officeDocument/2006/relationships/image" Target="../media/image126.png" /><ns0:Relationship Id="rId7" Type="http://schemas.openxmlformats.org/officeDocument/2006/relationships/image" Target="../media/image130.png" /><ns0:Relationship Id="rId12" Type="http://schemas.openxmlformats.org/officeDocument/2006/relationships/image" Target="../media/image135.png" /><ns0:Relationship Id="rId2" Type="http://schemas.openxmlformats.org/officeDocument/2006/relationships/image" Target="../media/image12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29.png" /><ns0:Relationship Id="rId11" Type="http://schemas.openxmlformats.org/officeDocument/2006/relationships/image" Target="../media/image134.png" /><ns0:Relationship Id="rId5" Type="http://schemas.openxmlformats.org/officeDocument/2006/relationships/image" Target="../media/image128.png" /><ns0:Relationship Id="rId10" Type="http://schemas.openxmlformats.org/officeDocument/2006/relationships/image" Target="../media/image133.png" /><ns0:Relationship Id="rId4" Type="http://schemas.openxmlformats.org/officeDocument/2006/relationships/image" Target="../media/image127.png" /><ns0:Relationship Id="rId9" Type="http://schemas.openxmlformats.org/officeDocument/2006/relationships/image" Target="../media/image132.png" /></ns0:Relationships>
</file>

<file path=ppt/c11/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image137.png" /><ns0:Relationship Id="rId2" Type="http://schemas.openxmlformats.org/officeDocument/2006/relationships/image" Target="../media/image136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40.png" /><ns0:Relationship Id="rId5" Type="http://schemas.openxmlformats.org/officeDocument/2006/relationships/image" Target="../media/image139.png" /><ns0:Relationship Id="rId4" Type="http://schemas.openxmlformats.org/officeDocument/2006/relationships/image" Target="../media/image138.png" /></ns0:Relationships>
</file>

<file path=ppt/c11/ppt/slides/_rels/slide21.xml.rels><?xml version='1.0' encoding='utf-8'?>
<ns0:Relationships xmlns:ns0="http://schemas.openxmlformats.org/package/2006/relationships"><ns0:Relationship Id="rId3" Type="http://schemas.openxmlformats.org/officeDocument/2006/relationships/image" Target="../media/image142.png" /><ns0:Relationship Id="rId2" Type="http://schemas.openxmlformats.org/officeDocument/2006/relationships/image" Target="../media/image141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43.png" /></ns0:Relationships>
</file>

<file path=ppt/c11/ppt/slides/_rels/slide22.xml.rels><?xml version='1.0' encoding='utf-8'?>
<ns0:Relationships xmlns:ns0="http://schemas.openxmlformats.org/package/2006/relationships"><ns0:Relationship Id="rId8" Type="http://schemas.openxmlformats.org/officeDocument/2006/relationships/image" Target="../media/image150.png" /><ns0:Relationship Id="rId13" Type="http://schemas.openxmlformats.org/officeDocument/2006/relationships/image" Target="../media/image155.png" /><ns0:Relationship Id="rId3" Type="http://schemas.openxmlformats.org/officeDocument/2006/relationships/image" Target="../media/image145.png" /><ns0:Relationship Id="rId7" Type="http://schemas.openxmlformats.org/officeDocument/2006/relationships/image" Target="../media/image149.png" /><ns0:Relationship Id="rId12" Type="http://schemas.openxmlformats.org/officeDocument/2006/relationships/image" Target="../media/image154.png" /><ns0:Relationship Id="rId2" Type="http://schemas.openxmlformats.org/officeDocument/2006/relationships/image" Target="../media/image144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48.png" /><ns0:Relationship Id="rId11" Type="http://schemas.openxmlformats.org/officeDocument/2006/relationships/image" Target="../media/image153.png" /><ns0:Relationship Id="rId5" Type="http://schemas.openxmlformats.org/officeDocument/2006/relationships/image" Target="../media/image147.png" /><ns0:Relationship Id="rId10" Type="http://schemas.openxmlformats.org/officeDocument/2006/relationships/image" Target="../media/image152.png" /><ns0:Relationship Id="rId4" Type="http://schemas.openxmlformats.org/officeDocument/2006/relationships/image" Target="../media/image146.png" /><ns0:Relationship Id="rId9" Type="http://schemas.openxmlformats.org/officeDocument/2006/relationships/image" Target="../media/image151.png" /><ns0:Relationship Id="rId14" Type="http://schemas.openxmlformats.org/officeDocument/2006/relationships/image" Target="../media/image156.png" /></ns0:Relationships>
</file>

<file path=ppt/c11/ppt/slides/_rels/slide23.xml.rels><?xml version='1.0' encoding='utf-8'?>
<ns0:Relationships xmlns:ns0="http://schemas.openxmlformats.org/package/2006/relationships"><ns0:Relationship Id="rId3" Type="http://schemas.openxmlformats.org/officeDocument/2006/relationships/image" Target="../media/image158.png" /><ns0:Relationship Id="rId7" Type="http://schemas.openxmlformats.org/officeDocument/2006/relationships/image" Target="../media/image162.png" /><ns0:Relationship Id="rId2" Type="http://schemas.openxmlformats.org/officeDocument/2006/relationships/image" Target="../media/image15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61.png" /><ns0:Relationship Id="rId5" Type="http://schemas.openxmlformats.org/officeDocument/2006/relationships/image" Target="../media/image160.png" /><ns0:Relationship Id="rId4" Type="http://schemas.openxmlformats.org/officeDocument/2006/relationships/image" Target="../media/image159.png" /></ns0:Relationships>
</file>

<file path=ppt/c11/ppt/slides/_rels/slide24.xml.rels><?xml version='1.0' encoding='utf-8'?>
<ns0:Relationships xmlns:ns0="http://schemas.openxmlformats.org/package/2006/relationships"><ns0:Relationship Id="rId8" Type="http://schemas.openxmlformats.org/officeDocument/2006/relationships/image" Target="../media/image169.png" /><ns0:Relationship Id="rId3" Type="http://schemas.openxmlformats.org/officeDocument/2006/relationships/image" Target="../media/image164.png" /><ns0:Relationship Id="rId7" Type="http://schemas.openxmlformats.org/officeDocument/2006/relationships/image" Target="../media/image168.png" /><ns0:Relationship Id="rId12" Type="http://schemas.openxmlformats.org/officeDocument/2006/relationships/image" Target="../media/image173.png" /><ns0:Relationship Id="rId2" Type="http://schemas.openxmlformats.org/officeDocument/2006/relationships/image" Target="../media/image163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67.png" /><ns0:Relationship Id="rId11" Type="http://schemas.openxmlformats.org/officeDocument/2006/relationships/image" Target="../media/image172.png" /><ns0:Relationship Id="rId5" Type="http://schemas.openxmlformats.org/officeDocument/2006/relationships/image" Target="../media/image166.png" /><ns0:Relationship Id="rId10" Type="http://schemas.openxmlformats.org/officeDocument/2006/relationships/image" Target="../media/image171.png" /><ns0:Relationship Id="rId4" Type="http://schemas.openxmlformats.org/officeDocument/2006/relationships/image" Target="../media/image165.png" /><ns0:Relationship Id="rId9" Type="http://schemas.openxmlformats.org/officeDocument/2006/relationships/image" Target="../media/image170.png" /></ns0:Relationships>
</file>

<file path=ppt/c11/ppt/slides/_rels/slide25.xml.rels><?xml version='1.0' encoding='utf-8'?>
<ns0:Relationships xmlns:ns0="http://schemas.openxmlformats.org/package/2006/relationships"><ns0:Relationship Id="rId8" Type="http://schemas.openxmlformats.org/officeDocument/2006/relationships/image" Target="../media/image180.png" /><ns0:Relationship Id="rId13" Type="http://schemas.openxmlformats.org/officeDocument/2006/relationships/image" Target="../media/image185.png" /><ns0:Relationship Id="rId3" Type="http://schemas.openxmlformats.org/officeDocument/2006/relationships/image" Target="../media/image175.png" /><ns0:Relationship Id="rId7" Type="http://schemas.openxmlformats.org/officeDocument/2006/relationships/image" Target="../media/image179.png" /><ns0:Relationship Id="rId12" Type="http://schemas.openxmlformats.org/officeDocument/2006/relationships/image" Target="../media/image184.png" /><ns0:Relationship Id="rId2" Type="http://schemas.openxmlformats.org/officeDocument/2006/relationships/image" Target="../media/image174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78.png" /><ns0:Relationship Id="rId11" Type="http://schemas.openxmlformats.org/officeDocument/2006/relationships/image" Target="../media/image183.png" /><ns0:Relationship Id="rId5" Type="http://schemas.openxmlformats.org/officeDocument/2006/relationships/image" Target="../media/image177.png" /><ns0:Relationship Id="rId10" Type="http://schemas.openxmlformats.org/officeDocument/2006/relationships/image" Target="../media/image182.png" /><ns0:Relationship Id="rId4" Type="http://schemas.openxmlformats.org/officeDocument/2006/relationships/image" Target="../media/image176.png" /><ns0:Relationship Id="rId9" Type="http://schemas.openxmlformats.org/officeDocument/2006/relationships/image" Target="../media/image181.png" /></ns0:Relationships>
</file>

<file path=ppt/c11/ppt/slides/_rels/slide26.xml.rels><?xml version='1.0' encoding='utf-8'?>
<ns0:Relationships xmlns:ns0="http://schemas.openxmlformats.org/package/2006/relationships"><ns0:Relationship Id="rId8" Type="http://schemas.openxmlformats.org/officeDocument/2006/relationships/image" Target="../media/image192.png" /><ns0:Relationship Id="rId3" Type="http://schemas.openxmlformats.org/officeDocument/2006/relationships/image" Target="../media/image187.png" /><ns0:Relationship Id="rId7" Type="http://schemas.openxmlformats.org/officeDocument/2006/relationships/image" Target="../media/image191.png" /><ns0:Relationship Id="rId12" Type="http://schemas.openxmlformats.org/officeDocument/2006/relationships/image" Target="../media/image196.png" /><ns0:Relationship Id="rId2" Type="http://schemas.openxmlformats.org/officeDocument/2006/relationships/image" Target="../media/image186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90.png" /><ns0:Relationship Id="rId11" Type="http://schemas.openxmlformats.org/officeDocument/2006/relationships/image" Target="../media/image195.png" /><ns0:Relationship Id="rId5" Type="http://schemas.openxmlformats.org/officeDocument/2006/relationships/image" Target="../media/image189.png" /><ns0:Relationship Id="rId10" Type="http://schemas.openxmlformats.org/officeDocument/2006/relationships/image" Target="../media/image194.png" /><ns0:Relationship Id="rId4" Type="http://schemas.openxmlformats.org/officeDocument/2006/relationships/image" Target="../media/image188.png" /><ns0:Relationship Id="rId9" Type="http://schemas.openxmlformats.org/officeDocument/2006/relationships/image" Target="../media/image193.png" /></ns0:Relationships>
</file>

<file path=ppt/c11/ppt/slides/_rels/slide27.xml.rels><?xml version='1.0' encoding='utf-8'?>
<ns0:Relationships xmlns:ns0="http://schemas.openxmlformats.org/package/2006/relationships"><ns0:Relationship Id="rId8" Type="http://schemas.openxmlformats.org/officeDocument/2006/relationships/image" Target="../media/image203.png" /><ns0:Relationship Id="rId3" Type="http://schemas.openxmlformats.org/officeDocument/2006/relationships/image" Target="../media/image198.png" /><ns0:Relationship Id="rId7" Type="http://schemas.openxmlformats.org/officeDocument/2006/relationships/image" Target="../media/image202.png" /><ns0:Relationship Id="rId12" Type="http://schemas.openxmlformats.org/officeDocument/2006/relationships/image" Target="../media/image207.png" /><ns0:Relationship Id="rId2" Type="http://schemas.openxmlformats.org/officeDocument/2006/relationships/image" Target="../media/image19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01.png" /><ns0:Relationship Id="rId11" Type="http://schemas.openxmlformats.org/officeDocument/2006/relationships/image" Target="../media/image206.png" /><ns0:Relationship Id="rId5" Type="http://schemas.openxmlformats.org/officeDocument/2006/relationships/image" Target="../media/image200.png" /><ns0:Relationship Id="rId10" Type="http://schemas.openxmlformats.org/officeDocument/2006/relationships/image" Target="../media/image205.png" /><ns0:Relationship Id="rId4" Type="http://schemas.openxmlformats.org/officeDocument/2006/relationships/image" Target="../media/image199.png" /><ns0:Relationship Id="rId9" Type="http://schemas.openxmlformats.org/officeDocument/2006/relationships/image" Target="../media/image204.png" /></ns0:Relationships>
</file>

<file path=ppt/c11/ppt/slides/_rels/slide28.xml.rels><?xml version='1.0' encoding='utf-8'?>
<ns0:Relationships xmlns:ns0="http://schemas.openxmlformats.org/package/2006/relationships"><ns0:Relationship Id="rId3" Type="http://schemas.openxmlformats.org/officeDocument/2006/relationships/image" Target="../media/image209.png" /><ns0:Relationship Id="rId2" Type="http://schemas.openxmlformats.org/officeDocument/2006/relationships/image" Target="../media/image208.png" /><ns0:Relationship Id="rId1" Type="http://schemas.openxmlformats.org/officeDocument/2006/relationships/slideLayout" Target="../slideLayouts/slideLayout1.xml" /></ns0:Relationships>
</file>

<file path=ppt/c11/ppt/slides/_rels/slide29.xml.rels><?xml version='1.0' encoding='utf-8'?>
<ns0:Relationships xmlns:ns0="http://schemas.openxmlformats.org/package/2006/relationships"><ns0:Relationship Id="rId3" Type="http://schemas.openxmlformats.org/officeDocument/2006/relationships/image" Target="../media/image211.png" /><ns0:Relationship Id="rId2" Type="http://schemas.openxmlformats.org/officeDocument/2006/relationships/image" Target="../media/image21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14.png" /><ns0:Relationship Id="rId5" Type="http://schemas.openxmlformats.org/officeDocument/2006/relationships/image" Target="../media/image213.png" /><ns0:Relationship Id="rId4" Type="http://schemas.openxmlformats.org/officeDocument/2006/relationships/image" Target="../media/image212.png" /></ns0:Relationships>
</file>

<file path=ppt/c11/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image216.png" /><ns0:Relationship Id="rId7" Type="http://schemas.openxmlformats.org/officeDocument/2006/relationships/image" Target="../media/image220.png" /><ns0:Relationship Id="rId2" Type="http://schemas.openxmlformats.org/officeDocument/2006/relationships/image" Target="../media/image21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19.png" /><ns0:Relationship Id="rId5" Type="http://schemas.openxmlformats.org/officeDocument/2006/relationships/image" Target="../media/image218.png" /><ns0:Relationship Id="rId4" Type="http://schemas.openxmlformats.org/officeDocument/2006/relationships/image" Target="../media/image217.png" /></ns0:Relationships>
</file>

<file path=ppt/c11/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image222.png" /><ns0:Relationship Id="rId7" Type="http://schemas.openxmlformats.org/officeDocument/2006/relationships/image" Target="../media/image226.png" /><ns0:Relationship Id="rId2" Type="http://schemas.openxmlformats.org/officeDocument/2006/relationships/image" Target="../media/image22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25.png" /><ns0:Relationship Id="rId5" Type="http://schemas.openxmlformats.org/officeDocument/2006/relationships/image" Target="../media/image224.png" /><ns0:Relationship Id="rId4" Type="http://schemas.openxmlformats.org/officeDocument/2006/relationships/image" Target="../media/image223.png" /></ns0:Relationships>
</file>

<file path=ppt/c11/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228.png" /><ns0:Relationship Id="rId2" Type="http://schemas.openxmlformats.org/officeDocument/2006/relationships/image" Target="../media/image227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29.png" /></ns0:Relationships>
</file>

<file path=ppt/c11/ppt/slides/_rels/slide33.xml.rels><?xml version='1.0' encoding='utf-8'?>
<ns0:Relationships xmlns:ns0="http://schemas.openxmlformats.org/package/2006/relationships"><ns0:Relationship Id="rId3" Type="http://schemas.openxmlformats.org/officeDocument/2006/relationships/hyperlink" Target="http://www.mathshelper.co.uk/STEP%202010%20Solutions.pdf" TargetMode="External" /><ns0:Relationship Id="rId2" Type="http://schemas.openxmlformats.org/officeDocument/2006/relationships/image" Target="../media/image230.png" /><ns0:Relationship Id="rId1" Type="http://schemas.openxmlformats.org/officeDocument/2006/relationships/slideLayout" Target="../slideLayouts/slideLayout1.xml" /></ns0:Relationships>
</file>

<file path=ppt/c11/ppt/slides/_rels/slide34.xml.rels><?xml version='1.0' encoding='utf-8'?>
<ns0:Relationships xmlns:ns0="http://schemas.openxmlformats.org/package/2006/relationships"><ns0:Relationship Id="rId8" Type="http://schemas.openxmlformats.org/officeDocument/2006/relationships/image" Target="../media/image237.png" /><ns0:Relationship Id="rId3" Type="http://schemas.openxmlformats.org/officeDocument/2006/relationships/image" Target="../media/image232.png" /><ns0:Relationship Id="rId7" Type="http://schemas.openxmlformats.org/officeDocument/2006/relationships/image" Target="../media/image236.png" /><ns0:Relationship Id="rId2" Type="http://schemas.openxmlformats.org/officeDocument/2006/relationships/image" Target="../media/image23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35.png" /><ns0:Relationship Id="rId5" Type="http://schemas.openxmlformats.org/officeDocument/2006/relationships/image" Target="../media/image234.png" /><ns0:Relationship Id="rId4" Type="http://schemas.openxmlformats.org/officeDocument/2006/relationships/image" Target="../media/image233.png" /><ns0:Relationship Id="rId9" Type="http://schemas.openxmlformats.org/officeDocument/2006/relationships/image" Target="../media/image238.png" /></ns0:Relationships>
</file>

<file path=ppt/c11/ppt/slides/_rels/slide35.xml.rels><?xml version='1.0' encoding='utf-8'?>
<ns0:Relationships xmlns:ns0="http://schemas.openxmlformats.org/package/2006/relationships"><ns0:Relationship Id="rId8" Type="http://schemas.openxmlformats.org/officeDocument/2006/relationships/image" Target="../media/image245.png" /><ns0:Relationship Id="rId3" Type="http://schemas.openxmlformats.org/officeDocument/2006/relationships/image" Target="../media/image240.png" /><ns0:Relationship Id="rId7" Type="http://schemas.openxmlformats.org/officeDocument/2006/relationships/image" Target="../media/image244.png" /><ns0:Relationship Id="rId2" Type="http://schemas.openxmlformats.org/officeDocument/2006/relationships/image" Target="../media/image23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43.png" /><ns0:Relationship Id="rId5" Type="http://schemas.openxmlformats.org/officeDocument/2006/relationships/image" Target="../media/image242.png" /><ns0:Relationship Id="rId4" Type="http://schemas.openxmlformats.org/officeDocument/2006/relationships/image" Target="../media/image241.png" /><ns0:Relationship Id="rId9" Type="http://schemas.openxmlformats.org/officeDocument/2006/relationships/image" Target="../media/image246.png" /></ns0:Relationships>
</file>

<file path=ppt/c11/ppt/slides/_rels/slide36.xml.rels><?xml version='1.0' encoding='utf-8'?>
<ns0:Relationships xmlns:ns0="http://schemas.openxmlformats.org/package/2006/relationships"><ns0:Relationship Id="rId8" Type="http://schemas.openxmlformats.org/officeDocument/2006/relationships/image" Target="../media/image253.png" /><ns0:Relationship Id="rId13" Type="http://schemas.openxmlformats.org/officeDocument/2006/relationships/image" Target="../media/image258.png" /><ns0:Relationship Id="rId18" Type="http://schemas.openxmlformats.org/officeDocument/2006/relationships/image" Target="../media/image263.png" /><ns0:Relationship Id="rId3" Type="http://schemas.openxmlformats.org/officeDocument/2006/relationships/image" Target="../media/image248.png" /><ns0:Relationship Id="rId21" Type="http://schemas.openxmlformats.org/officeDocument/2006/relationships/image" Target="../media/image266.png" /><ns0:Relationship Id="rId7" Type="http://schemas.openxmlformats.org/officeDocument/2006/relationships/image" Target="../media/image252.png" /><ns0:Relationship Id="rId12" Type="http://schemas.openxmlformats.org/officeDocument/2006/relationships/image" Target="../media/image257.png" /><ns0:Relationship Id="rId17" Type="http://schemas.openxmlformats.org/officeDocument/2006/relationships/image" Target="../media/image262.png" /><ns0:Relationship Id="rId2" Type="http://schemas.openxmlformats.org/officeDocument/2006/relationships/image" Target="../media/image247.png" /><ns0:Relationship Id="rId16" Type="http://schemas.openxmlformats.org/officeDocument/2006/relationships/image" Target="../media/image261.png" /><ns0:Relationship Id="rId20" Type="http://schemas.openxmlformats.org/officeDocument/2006/relationships/image" Target="../media/image26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51.png" /><ns0:Relationship Id="rId11" Type="http://schemas.openxmlformats.org/officeDocument/2006/relationships/image" Target="../media/image256.png" /><ns0:Relationship Id="rId24" Type="http://schemas.openxmlformats.org/officeDocument/2006/relationships/image" Target="../media/image269.png" /><ns0:Relationship Id="rId5" Type="http://schemas.openxmlformats.org/officeDocument/2006/relationships/image" Target="../media/image250.png" /><ns0:Relationship Id="rId15" Type="http://schemas.openxmlformats.org/officeDocument/2006/relationships/image" Target="../media/image260.png" /><ns0:Relationship Id="rId23" Type="http://schemas.openxmlformats.org/officeDocument/2006/relationships/image" Target="../media/image268.png" /><ns0:Relationship Id="rId10" Type="http://schemas.openxmlformats.org/officeDocument/2006/relationships/image" Target="../media/image255.png" /><ns0:Relationship Id="rId19" Type="http://schemas.openxmlformats.org/officeDocument/2006/relationships/image" Target="../media/image264.png" /><ns0:Relationship Id="rId4" Type="http://schemas.openxmlformats.org/officeDocument/2006/relationships/image" Target="../media/image249.png" /><ns0:Relationship Id="rId9" Type="http://schemas.openxmlformats.org/officeDocument/2006/relationships/image" Target="../media/image254.png" /><ns0:Relationship Id="rId14" Type="http://schemas.openxmlformats.org/officeDocument/2006/relationships/image" Target="../media/image259.png" /><ns0:Relationship Id="rId22" Type="http://schemas.openxmlformats.org/officeDocument/2006/relationships/image" Target="../media/image267.png" /></ns0:Relationships>
</file>

<file path=ppt/c11/ppt/slides/_rels/slide37.xml.rels><?xml version='1.0' encoding='utf-8'?>
<ns0:Relationships xmlns:ns0="http://schemas.openxmlformats.org/package/2006/relationships"><ns0:Relationship Id="rId8" Type="http://schemas.openxmlformats.org/officeDocument/2006/relationships/image" Target="../media/image271.png" /><ns0:Relationship Id="rId13" Type="http://schemas.openxmlformats.org/officeDocument/2006/relationships/image" Target="../media/image275.png" /><ns0:Relationship Id="rId3" Type="http://schemas.openxmlformats.org/officeDocument/2006/relationships/image" Target="../media/image248.png" /><ns0:Relationship Id="rId7" Type="http://schemas.openxmlformats.org/officeDocument/2006/relationships/image" Target="../media/image252.png" /><ns0:Relationship Id="rId12" Type="http://schemas.openxmlformats.org/officeDocument/2006/relationships/image" Target="../media/image274.png" /><ns0:Relationship Id="rId2" Type="http://schemas.openxmlformats.org/officeDocument/2006/relationships/image" Target="../media/image24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51.png" /><ns0:Relationship Id="rId11" Type="http://schemas.openxmlformats.org/officeDocument/2006/relationships/image" Target="../media/image273.png" /><ns0:Relationship Id="rId5" Type="http://schemas.openxmlformats.org/officeDocument/2006/relationships/image" Target="../media/image250.png" /><ns0:Relationship Id="rId10" Type="http://schemas.openxmlformats.org/officeDocument/2006/relationships/image" Target="../media/image272.png" /><ns0:Relationship Id="rId4" Type="http://schemas.openxmlformats.org/officeDocument/2006/relationships/image" Target="../media/image270.png" /><ns0:Relationship Id="rId9" Type="http://schemas.openxmlformats.org/officeDocument/2006/relationships/image" Target="../media/image255.png" /><ns0:Relationship Id="rId14" Type="http://schemas.openxmlformats.org/officeDocument/2006/relationships/image" Target="../media/image276.png" /></ns0:Relationships>
</file>

<file path=ppt/c11/ppt/slides/_rels/slide38.xml.rels><?xml version='1.0' encoding='utf-8'?>
<ns0:Relationships xmlns:ns0="http://schemas.openxmlformats.org/package/2006/relationships"><ns0:Relationship Id="rId8" Type="http://schemas.openxmlformats.org/officeDocument/2006/relationships/image" Target="../media/image283.png" /><ns0:Relationship Id="rId3" Type="http://schemas.openxmlformats.org/officeDocument/2006/relationships/image" Target="../media/image278.png" /><ns0:Relationship Id="rId7" Type="http://schemas.openxmlformats.org/officeDocument/2006/relationships/image" Target="../media/image282.png" /><ns0:Relationship Id="rId2" Type="http://schemas.openxmlformats.org/officeDocument/2006/relationships/image" Target="../media/image27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81.png" /><ns0:Relationship Id="rId5" Type="http://schemas.openxmlformats.org/officeDocument/2006/relationships/image" Target="../media/image280.png" /><ns0:Relationship Id="rId4" Type="http://schemas.openxmlformats.org/officeDocument/2006/relationships/image" Target="../media/image279.png" /></ns0:Relationships>
</file>

<file path=ppt/c11/ppt/slides/_rels/slide39.xml.rels><?xml version='1.0' encoding='utf-8'?>
<ns0:Relationships xmlns:ns0="http://schemas.openxmlformats.org/package/2006/relationships"><ns0:Relationship Id="rId3" Type="http://schemas.openxmlformats.org/officeDocument/2006/relationships/image" Target="../media/image285.png" /><ns0:Relationship Id="rId2" Type="http://schemas.openxmlformats.org/officeDocument/2006/relationships/image" Target="../media/image284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88.png" /><ns0:Relationship Id="rId5" Type="http://schemas.openxmlformats.org/officeDocument/2006/relationships/image" Target="../media/image287.png" /><ns0:Relationship Id="rId4" Type="http://schemas.openxmlformats.org/officeDocument/2006/relationships/image" Target="../media/image286.png" /></ns0:Relationships>
</file>

<file path=ppt/c11/ppt/slides/_rels/slide40.xml.rels><?xml version='1.0' encoding='utf-8'?>
<ns0:Relationships xmlns:ns0="http://schemas.openxmlformats.org/package/2006/relationships"><ns0:Relationship Id="rId3" Type="http://schemas.openxmlformats.org/officeDocument/2006/relationships/image" Target="../media/image290.png" /><ns0:Relationship Id="rId2" Type="http://schemas.openxmlformats.org/officeDocument/2006/relationships/image" Target="../media/image289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92.png" /><ns0:Relationship Id="rId4" Type="http://schemas.openxmlformats.org/officeDocument/2006/relationships/image" Target="../media/image291.png" /></ns0:Relationships>
</file>

<file path=ppt/c11/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Vector Basics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2154404" y="727967"/>
            <a:ext cx="3560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Whereas a </a:t>
            </a:r>
            <a:r>
              <a:rPr lang="en-GB" b="1" dirty="0"/>
              <a:t>coordinate</a:t>
            </a:r>
            <a:r>
              <a:rPr lang="en-GB" dirty="0"/>
              <a:t> represents a </a:t>
            </a:r>
            <a:r>
              <a:rPr lang="en-GB" b="1" dirty="0"/>
              <a:t>position</a:t>
            </a:r>
            <a:r>
              <a:rPr lang="en-GB" dirty="0"/>
              <a:t> in space, a </a:t>
            </a:r>
            <a:r>
              <a:rPr lang="en-GB" b="1" dirty="0"/>
              <a:t>vector</a:t>
            </a:r>
            <a:r>
              <a:rPr lang="en-GB" dirty="0"/>
              <a:t> represents a </a:t>
            </a:r>
            <a:r>
              <a:rPr lang="en-GB" b="1" dirty="0"/>
              <a:t>displacement</a:t>
            </a:r>
            <a:r>
              <a:rPr lang="en-GB" dirty="0"/>
              <a:t> in space.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9727" y="844925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5037" y="1771523"/>
            <a:ext cx="3239846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 vector has 2 properties: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u="sng" dirty="0"/>
              <a:t>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u="sng" dirty="0"/>
              <a:t>Magnitude</a:t>
            </a:r>
            <a:r>
              <a:rPr lang="en-GB" dirty="0"/>
              <a:t> (i.e. length)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580661" y="3708958"/>
            <a:ext cx="2160240" cy="43204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 rot="3027454">
            <a:off x="3441132" y="3862982"/>
            <a:ext cx="190500" cy="160020"/>
            <a:chOff x="2952750" y="4122420"/>
            <a:chExt cx="190500" cy="160020"/>
          </a:xfrm>
        </p:grpSpPr>
        <p:cxnSp>
          <p:nvCxnSpPr>
            <p:cNvPr id="14" name="Straight Connector 13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Rectangle 15"/>
          <p:cNvSpPr/>
          <p:nvPr/>
        </p:nvSpPr>
        <p:spPr>
          <a:xfrm>
            <a:off x="1769727" y="4509120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121630" y="2756491"/>
                <a:ext cx="3293009" cy="68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 are points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</m:oMath>
                </a14:m>
                <a:r>
                  <a:rPr lang="en-GB" dirty="0"/>
                  <a:t> is the vector between them. 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630" y="2756491"/>
                <a:ext cx="3293009" cy="681790"/>
              </a:xfrm>
              <a:prstGeom prst="rect">
                <a:avLst/>
              </a:prstGeom>
              <a:blipFill>
                <a:blip r:embed="rId2"/>
                <a:stretch>
                  <a:fillRect l="-1481" b="-13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197890" y="3995384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890" y="3995384"/>
                <a:ext cx="49100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657974" y="3521534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974" y="3521534"/>
                <a:ext cx="491003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flipV="1">
            <a:off x="2211019" y="5847907"/>
            <a:ext cx="1450126" cy="2913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 rot="3027454">
            <a:off x="2795043" y="5903766"/>
            <a:ext cx="190500" cy="160020"/>
            <a:chOff x="2952750" y="4122420"/>
            <a:chExt cx="190500" cy="160020"/>
          </a:xfrm>
        </p:grpSpPr>
        <p:cxnSp>
          <p:nvCxnSpPr>
            <p:cNvPr id="22" name="Straight Connector 21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111875" y="4407563"/>
                <a:ext cx="3293009" cy="1235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two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𝑅𝑆</m:t>
                        </m:r>
                      </m:e>
                    </m:acc>
                  </m:oMath>
                </a14:m>
                <a:r>
                  <a:rPr lang="en-GB" dirty="0"/>
                  <a:t> have the same magnitude and direction, </a:t>
                </a:r>
                <a:r>
                  <a:rPr lang="en-GB" b="1" dirty="0"/>
                  <a:t>they’re the same vector</a:t>
                </a:r>
                <a:r>
                  <a:rPr lang="en-GB" dirty="0"/>
                  <a:t> and are </a:t>
                </a:r>
                <a:r>
                  <a:rPr lang="en-GB" b="1" dirty="0"/>
                  <a:t>parallel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875" y="4407563"/>
                <a:ext cx="3293009" cy="1235788"/>
              </a:xfrm>
              <a:prstGeom prst="rect">
                <a:avLst/>
              </a:prstGeom>
              <a:blipFill>
                <a:blip r:embed="rId5"/>
                <a:stretch>
                  <a:fillRect l="-1479" b="-68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 flipV="1">
            <a:off x="2778726" y="6211937"/>
            <a:ext cx="1450126" cy="2913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 rot="3027454">
            <a:off x="3362750" y="6267796"/>
            <a:ext cx="190500" cy="160020"/>
            <a:chOff x="2952750" y="4122420"/>
            <a:chExt cx="190500" cy="160020"/>
          </a:xfrm>
        </p:grpSpPr>
        <p:cxnSp>
          <p:nvCxnSpPr>
            <p:cNvPr id="28" name="Straight Connector 27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866373" y="5993214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373" y="5993214"/>
                <a:ext cx="4910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555407" y="5632148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407" y="5632148"/>
                <a:ext cx="491003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414631" y="6390312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631" y="6390312"/>
                <a:ext cx="49100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111520" y="5988280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1520" y="5988280"/>
                <a:ext cx="49100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6005419" y="2522339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6509475" y="2520467"/>
                <a:ext cx="3239846" cy="252844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Triangle Law for vector addition: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vector of multiple vectors is known as the </a:t>
                </a:r>
                <a:r>
                  <a:rPr lang="en-GB" b="1" dirty="0"/>
                  <a:t>resultant vector. </a:t>
                </a:r>
                <a:r>
                  <a:rPr lang="en-GB" sz="1200" dirty="0"/>
                  <a:t>(you will encounter this term in Mechanics)</a:t>
                </a:r>
                <a:endParaRPr lang="en-GB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475" y="2520467"/>
                <a:ext cx="3239846" cy="2528449"/>
              </a:xfrm>
              <a:prstGeom prst="rect">
                <a:avLst/>
              </a:prstGeom>
              <a:blipFill>
                <a:blip r:embed="rId10"/>
                <a:stretch>
                  <a:fillRect l="-1308" t="-716" r="-187" b="-4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V="1">
            <a:off x="7451681" y="3752595"/>
            <a:ext cx="1478930" cy="28629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 rot="3027454">
            <a:off x="8070852" y="3818015"/>
            <a:ext cx="190500" cy="160020"/>
            <a:chOff x="2952750" y="4122420"/>
            <a:chExt cx="190500" cy="160020"/>
          </a:xfrm>
        </p:grpSpPr>
        <p:cxnSp>
          <p:nvCxnSpPr>
            <p:cNvPr id="41" name="Straight Connector 40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Straight Arrow Connector 43"/>
          <p:cNvCxnSpPr/>
          <p:nvPr/>
        </p:nvCxnSpPr>
        <p:spPr>
          <a:xfrm flipV="1">
            <a:off x="7457411" y="3377945"/>
            <a:ext cx="393700" cy="666751"/>
          </a:xfrm>
          <a:prstGeom prst="straightConnector1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7828647" y="3377946"/>
            <a:ext cx="1120146" cy="368843"/>
          </a:xfrm>
          <a:prstGeom prst="straightConnector1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 rot="5006052">
            <a:off x="8211991" y="3437069"/>
            <a:ext cx="190500" cy="160020"/>
            <a:chOff x="2952750" y="4122420"/>
            <a:chExt cx="190500" cy="160020"/>
          </a:xfrm>
        </p:grpSpPr>
        <p:cxnSp>
          <p:nvCxnSpPr>
            <p:cNvPr id="51" name="Straight Connector 50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 rot="667104">
            <a:off x="7565361" y="3567810"/>
            <a:ext cx="190500" cy="160020"/>
            <a:chOff x="2952750" y="4122420"/>
            <a:chExt cx="190500" cy="160020"/>
          </a:xfrm>
        </p:grpSpPr>
        <p:cxnSp>
          <p:nvCxnSpPr>
            <p:cNvPr id="54" name="Straight Connector 53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278197" y="3346259"/>
                <a:ext cx="354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197" y="3346259"/>
                <a:ext cx="35469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8357072" y="3174124"/>
                <a:ext cx="354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072" y="3174124"/>
                <a:ext cx="35469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893468" y="3939368"/>
                <a:ext cx="7894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468" y="3939368"/>
                <a:ext cx="78949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7209760" y="3984081"/>
                <a:ext cx="354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760" y="3984081"/>
                <a:ext cx="35469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7582905" y="3130994"/>
                <a:ext cx="354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905" y="3130994"/>
                <a:ext cx="35469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8848082" y="3594834"/>
                <a:ext cx="354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082" y="3594834"/>
                <a:ext cx="35469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/>
          <p:cNvSpPr/>
          <p:nvPr/>
        </p:nvSpPr>
        <p:spPr>
          <a:xfrm>
            <a:off x="6040449" y="717335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473632" y="610276"/>
                <a:ext cx="3293009" cy="958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𝐵𝐴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 and the two vectors are parallel, equal in magnitude but in </a:t>
                </a:r>
                <a:r>
                  <a:rPr lang="en-GB" b="1" dirty="0"/>
                  <a:t>opposite directions</a:t>
                </a:r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632" y="610276"/>
                <a:ext cx="3293009" cy="958789"/>
              </a:xfrm>
              <a:prstGeom prst="rect">
                <a:avLst/>
              </a:prstGeom>
              <a:blipFill>
                <a:blip r:embed="rId17"/>
                <a:stretch>
                  <a:fillRect l="-1667" r="-370" b="-95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/>
          <p:cNvCxnSpPr/>
          <p:nvPr/>
        </p:nvCxnSpPr>
        <p:spPr>
          <a:xfrm flipV="1">
            <a:off x="7051326" y="1732287"/>
            <a:ext cx="1450126" cy="2913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 rot="3027454">
            <a:off x="7635350" y="1788146"/>
            <a:ext cx="190500" cy="160020"/>
            <a:chOff x="2952750" y="4122420"/>
            <a:chExt cx="190500" cy="160020"/>
          </a:xfrm>
        </p:grpSpPr>
        <p:cxnSp>
          <p:nvCxnSpPr>
            <p:cNvPr id="66" name="Straight Connector 65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8" name="Straight Arrow Connector 67"/>
          <p:cNvCxnSpPr/>
          <p:nvPr/>
        </p:nvCxnSpPr>
        <p:spPr>
          <a:xfrm flipV="1">
            <a:off x="7555237" y="1904931"/>
            <a:ext cx="1450126" cy="2913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9" name="Group 68"/>
          <p:cNvGrpSpPr/>
          <p:nvPr/>
        </p:nvGrpSpPr>
        <p:grpSpPr>
          <a:xfrm rot="13818443">
            <a:off x="8186886" y="1979840"/>
            <a:ext cx="190500" cy="160020"/>
            <a:chOff x="2952750" y="4122420"/>
            <a:chExt cx="190500" cy="160020"/>
          </a:xfrm>
        </p:grpSpPr>
        <p:cxnSp>
          <p:nvCxnSpPr>
            <p:cNvPr id="70" name="Straight Connector 69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6706680" y="1877594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6680" y="1877594"/>
                <a:ext cx="49100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8395714" y="1516528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714" y="1516528"/>
                <a:ext cx="49100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7191142" y="2083306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142" y="2083306"/>
                <a:ext cx="49100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8888031" y="1681274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031" y="1681274"/>
                <a:ext cx="49100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7627048" y="1496190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048" y="1496190"/>
                <a:ext cx="491003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8319464" y="1955716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464" y="1955716"/>
                <a:ext cx="49100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01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4" grpId="0"/>
      <p:bldP spid="30" grpId="0"/>
      <p:bldP spid="31" grpId="0"/>
      <p:bldP spid="32" grpId="0"/>
      <p:bldP spid="33" grpId="0"/>
      <p:bldP spid="37" grpId="0" animBg="1"/>
      <p:bldP spid="38" grpId="0" animBg="1"/>
      <p:bldP spid="56" grpId="0"/>
      <p:bldP spid="57" grpId="0"/>
      <p:bldP spid="58" grpId="0"/>
      <p:bldP spid="59" grpId="0"/>
      <p:bldP spid="60" grpId="0"/>
      <p:bldP spid="61" grpId="0"/>
      <p:bldP spid="62" grpId="0" animBg="1"/>
      <p:bldP spid="63" grpId="0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c11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1555559" y="4014014"/>
                <a:ext cx="3564576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400" dirty="0"/>
                  <a:t>‘Multiplying’ </a:t>
                </a:r>
                <a:r>
                  <a:rPr lang="en-GB" sz="1400" b="1" dirty="0"/>
                  <a:t>two sets </a:t>
                </a:r>
                <a:r>
                  <a:rPr lang="en-GB" sz="1400" dirty="0"/>
                  <a:t>(known again as the cross product) finds each possible combination of members, one from each:</a:t>
                </a:r>
              </a:p>
              <a:p>
                <a:pPr/>
                <a:r>
                  <a:rPr lang="en-GB" sz="400" dirty="0"/>
                  <a:t> </a:t>
                </a:r>
                <a:br>
                  <a:rPr lang="en-GB" sz="1400" dirty="0"/>
                </a:b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,{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},</m:t>
                      </m:r>
                    </m:oMath>
                    <m:oMath>
                      <m:r>
                        <a:rPr lang="en-GB" sz="1400">
                          <a:latin typeface="Cambria Math" panose="02040503050406030204" pitchFamily="18" charset="0"/>
                        </a:rPr>
                        <m:t>                                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400" dirty="0"/>
              </a:p>
              <a:p>
                <a:endParaRPr lang="en-GB" sz="400" dirty="0"/>
              </a:p>
              <a:p>
                <a:r>
                  <a:rPr lang="en-GB" sz="1400" dirty="0"/>
                  <a:t>It has the nice property that </a:t>
                </a:r>
                <a:br>
                  <a:rPr lang="en-GB" sz="1400" dirty="0"/>
                </a:b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, 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GB" sz="1400" dirty="0"/>
                  <a:t> gives the size of the set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/>
                  <a:t>. Also,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559" y="4014014"/>
                <a:ext cx="3564576" cy="1938992"/>
              </a:xfrm>
              <a:prstGeom prst="rect">
                <a:avLst/>
              </a:prstGeom>
              <a:blipFill>
                <a:blip r:embed="rId2"/>
                <a:stretch>
                  <a:fillRect l="-513" t="-313" b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7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087237" y="738601"/>
            <a:ext cx="6192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Have you ever wondered what happens if you ‘multiply’ two vectors or two sets?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60452" y="1779167"/>
            <a:ext cx="37112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In KS2/3 you probably only experienced variables holding numerical values. You since saw that variables can represent other mathematical types, such as sets or vectors: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287503" y="2705216"/>
                <a:ext cx="2012776" cy="1106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={2,5,9,10}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503" y="2705216"/>
                <a:ext cx="2012776" cy="1106457"/>
              </a:xfrm>
              <a:prstGeom prst="rect">
                <a:avLst/>
              </a:prstGeom>
              <a:blipFill>
                <a:blip r:embed="rId3"/>
                <a:stretch>
                  <a:fillRect b="-49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905500" y="1885388"/>
                <a:ext cx="4648200" cy="24818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400" dirty="0"/>
                  <a:t>But when we do we need to define </a:t>
                </a:r>
                <a:r>
                  <a:rPr lang="en-GB" sz="1400" b="1" dirty="0"/>
                  <a:t>explicitly</a:t>
                </a:r>
                <a:r>
                  <a:rPr lang="en-GB" sz="1400" dirty="0"/>
                  <a:t> what operators like ‘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400" dirty="0"/>
                  <a:t>’ and ‘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1400" dirty="0"/>
                  <a:t>’ mean.</a:t>
                </a:r>
              </a:p>
              <a:p>
                <a:endParaRPr lang="en-GB" sz="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1+3=4            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−2 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=?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GB" sz="1400" dirty="0"/>
              </a:p>
              <a:p>
                <a:endParaRPr lang="en-GB" sz="500" dirty="0"/>
              </a:p>
              <a:p>
                <a:r>
                  <a:rPr lang="en-GB" sz="1400" dirty="0"/>
                  <a:t>Often these operators are defined to give it properties that are consistent with its usage elsewhere, e.g. ‘commutativity’: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400" dirty="0"/>
                  <a:t> for vector addition just as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2+4=4+2</m:t>
                    </m:r>
                  </m:oMath>
                </a14:m>
                <a:r>
                  <a:rPr lang="en-GB" sz="1400" dirty="0"/>
                  <a:t> for numbers.</a:t>
                </a: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0" y="1885388"/>
                <a:ext cx="4648200" cy="2481898"/>
              </a:xfrm>
              <a:prstGeom prst="rect">
                <a:avLst/>
              </a:prstGeom>
              <a:blipFill>
                <a:blip r:embed="rId4"/>
                <a:stretch>
                  <a:fillRect l="-394" t="-246" b="-1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/>
          <p:cNvSpPr/>
          <p:nvPr/>
        </p:nvSpPr>
        <p:spPr>
          <a:xfrm>
            <a:off x="5206628" y="2415812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Arrow: Right 58"/>
          <p:cNvSpPr/>
          <p:nvPr/>
        </p:nvSpPr>
        <p:spPr>
          <a:xfrm rot="5400000">
            <a:off x="7816832" y="4248136"/>
            <a:ext cx="364117" cy="33441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629400" y="4660365"/>
                <a:ext cx="4025900" cy="21687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400" dirty="0"/>
                  <a:t>In FM, you will see that ‘multiplying’ two 3D vectors (known as the </a:t>
                </a:r>
                <a:r>
                  <a:rPr lang="en-GB" sz="1400" b="1" dirty="0"/>
                  <a:t>cross product</a:t>
                </a:r>
                <a:r>
                  <a:rPr lang="en-GB" sz="1400" dirty="0"/>
                  <a:t>) gives you a vector </a:t>
                </a:r>
                <a:r>
                  <a:rPr lang="en-GB" sz="1400" b="1" dirty="0"/>
                  <a:t>perpendicular to the two</a:t>
                </a:r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Vector multiplication is not commutative, so </a:t>
                </a:r>
                <a:br>
                  <a:rPr lang="en-GB" sz="1400" dirty="0"/>
                </a:b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400" dirty="0"/>
                  <a:t> (however it is ‘distributive’, so </a:t>
                </a:r>
                <a:br>
                  <a:rPr lang="en-GB" sz="1400" dirty="0"/>
                </a:b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en-GB" sz="1400" dirty="0"/>
                  <a:t>)</a:t>
                </a:r>
              </a:p>
              <a:p>
                <a:r>
                  <a:rPr lang="en-GB" sz="1400" dirty="0"/>
                  <a:t>The Casio Classwiz can calculate this in Vector mode!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4660365"/>
                <a:ext cx="4025900" cy="2168799"/>
              </a:xfrm>
              <a:prstGeom prst="rect">
                <a:avLst/>
              </a:prstGeom>
              <a:blipFill>
                <a:blip r:embed="rId5"/>
                <a:stretch>
                  <a:fillRect l="-455" t="-2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/>
          <p:cNvCxnSpPr/>
          <p:nvPr/>
        </p:nvCxnSpPr>
        <p:spPr>
          <a:xfrm flipV="1">
            <a:off x="5750775" y="5628823"/>
            <a:ext cx="10943" cy="758957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5750774" y="6387778"/>
            <a:ext cx="630068" cy="250695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750775" y="6162222"/>
            <a:ext cx="601493" cy="225556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129095" y="5912314"/>
                <a:ext cx="695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9095" y="5912314"/>
                <a:ext cx="6953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155537" y="6469569"/>
                <a:ext cx="695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537" y="6469569"/>
                <a:ext cx="69532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399118" y="5277563"/>
                <a:ext cx="791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118" y="5277563"/>
                <a:ext cx="79122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Arrow: Right 74"/>
          <p:cNvSpPr/>
          <p:nvPr/>
        </p:nvSpPr>
        <p:spPr>
          <a:xfrm rot="10800000">
            <a:off x="5240849" y="4570988"/>
            <a:ext cx="553557" cy="42557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7" name="Straight Connector 76"/>
          <p:cNvCxnSpPr/>
          <p:nvPr/>
        </p:nvCxnSpPr>
        <p:spPr>
          <a:xfrm flipH="1">
            <a:off x="1858044" y="3915635"/>
            <a:ext cx="34603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5710684" y="3140968"/>
            <a:ext cx="0" cy="12743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5399118" y="5159613"/>
            <a:ext cx="0" cy="13843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5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16" grpId="0"/>
      <p:bldP spid="19" grpId="0"/>
      <p:bldP spid="21" grpId="0"/>
      <p:bldP spid="22" grpId="0" animBg="1"/>
      <p:bldP spid="59" grpId="0" animBg="1"/>
      <p:bldP spid="24" grpId="0"/>
      <p:bldP spid="67" grpId="0"/>
      <p:bldP spid="68" grpId="0"/>
      <p:bldP spid="69" grpId="0"/>
      <p:bldP spid="75" grpId="0" animBg="1"/>
    </p:bldLst>
  </p:timing>
</p:sld>
</file>

<file path=ppt/c11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Vector Basics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Rectangle 4"/>
          <p:cNvSpPr/>
          <p:nvPr/>
        </p:nvSpPr>
        <p:spPr>
          <a:xfrm>
            <a:off x="1769727" y="844925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07568" y="844925"/>
                <a:ext cx="316835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Vector </a:t>
                </a:r>
                <a:r>
                  <a:rPr lang="en-GB" b="1" dirty="0"/>
                  <a:t>subtraction</a:t>
                </a:r>
                <a:r>
                  <a:rPr lang="en-GB" dirty="0"/>
                  <a:t> is defined using vector addition and negation: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844925"/>
                <a:ext cx="3168352" cy="1477328"/>
              </a:xfrm>
              <a:prstGeom prst="rect">
                <a:avLst/>
              </a:prstGeom>
              <a:blipFill>
                <a:blip r:embed="rId2"/>
                <a:stretch>
                  <a:fillRect l="-1538" t="-24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2123113" y="2448502"/>
            <a:ext cx="1087743" cy="236246"/>
            <a:chOff x="1187624" y="3645024"/>
            <a:chExt cx="1450126" cy="291353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1187624" y="3645024"/>
              <a:ext cx="1450126" cy="29135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8" name="Group 7"/>
            <p:cNvGrpSpPr/>
            <p:nvPr/>
          </p:nvGrpSpPr>
          <p:grpSpPr>
            <a:xfrm rot="3027454">
              <a:off x="1771648" y="3700884"/>
              <a:ext cx="190500" cy="160020"/>
              <a:chOff x="2952750" y="4122420"/>
              <a:chExt cx="190500" cy="160020"/>
            </a:xfrm>
          </p:grpSpPr>
          <p:cxnSp>
            <p:nvCxnSpPr>
              <p:cNvPr id="9" name="Straight Connector 8"/>
              <p:cNvCxnSpPr/>
              <p:nvPr/>
            </p:nvCxnSpPr>
            <p:spPr>
              <a:xfrm flipH="1" flipV="1">
                <a:off x="3093720" y="4122420"/>
                <a:ext cx="49530" cy="16002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V="1">
                <a:off x="2952750" y="4133850"/>
                <a:ext cx="137160" cy="5334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84728" y="2177473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728" y="2177473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388580" y="2202180"/>
            <a:ext cx="291881" cy="65075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 rot="330311">
            <a:off x="3460939" y="2450387"/>
            <a:ext cx="154469" cy="120031"/>
            <a:chOff x="2952750" y="4122420"/>
            <a:chExt cx="190500" cy="160020"/>
          </a:xfrm>
        </p:grpSpPr>
        <p:cxnSp>
          <p:nvCxnSpPr>
            <p:cNvPr id="16" name="Straight Connector 15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9642" y="2255011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642" y="2255011"/>
                <a:ext cx="288032" cy="369332"/>
              </a:xfrm>
              <a:prstGeom prst="rect">
                <a:avLst/>
              </a:prstGeom>
              <a:blipFill>
                <a:blip r:embed="rId4"/>
                <a:stretch>
                  <a:fillRect r="-10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3964137" y="2311775"/>
            <a:ext cx="1087743" cy="236246"/>
            <a:chOff x="1187624" y="3645024"/>
            <a:chExt cx="1450126" cy="291353"/>
          </a:xfrm>
        </p:grpSpPr>
        <p:cxnSp>
          <p:nvCxnSpPr>
            <p:cNvPr id="21" name="Straight Arrow Connector 20"/>
            <p:cNvCxnSpPr/>
            <p:nvPr/>
          </p:nvCxnSpPr>
          <p:spPr>
            <a:xfrm flipV="1">
              <a:off x="1187624" y="3645024"/>
              <a:ext cx="1450126" cy="29135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 rot="3027454">
              <a:off x="1771648" y="3700884"/>
              <a:ext cx="190500" cy="160020"/>
              <a:chOff x="2952750" y="4122420"/>
              <a:chExt cx="190500" cy="160020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 flipH="1" flipV="1">
                <a:off x="3093720" y="4122420"/>
                <a:ext cx="49530" cy="16002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2952750" y="4133850"/>
                <a:ext cx="137160" cy="5334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5" name="Straight Arrow Connector 24"/>
          <p:cNvCxnSpPr/>
          <p:nvPr/>
        </p:nvCxnSpPr>
        <p:spPr>
          <a:xfrm flipV="1">
            <a:off x="4759999" y="2298966"/>
            <a:ext cx="291881" cy="65075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 rot="10800000">
            <a:off x="4818741" y="2578840"/>
            <a:ext cx="154469" cy="120031"/>
            <a:chOff x="2952750" y="4122420"/>
            <a:chExt cx="190500" cy="160020"/>
          </a:xfrm>
        </p:grpSpPr>
        <p:cxnSp>
          <p:nvCxnSpPr>
            <p:cNvPr id="27" name="Straight Connector 26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" name="Straight Arrow Connector 28"/>
          <p:cNvCxnSpPr/>
          <p:nvPr/>
        </p:nvCxnSpPr>
        <p:spPr>
          <a:xfrm flipH="1" flipV="1">
            <a:off x="3977642" y="2545080"/>
            <a:ext cx="800099" cy="40386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 rot="5618808">
            <a:off x="4288003" y="2671200"/>
            <a:ext cx="154469" cy="120031"/>
            <a:chOff x="2952750" y="4122420"/>
            <a:chExt cx="190500" cy="160020"/>
          </a:xfrm>
        </p:grpSpPr>
        <p:cxnSp>
          <p:nvCxnSpPr>
            <p:cNvPr id="33" name="Straight Connector 32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188840" y="206134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840" y="2061346"/>
                <a:ext cx="288032" cy="369332"/>
              </a:xfrm>
              <a:prstGeom prst="rect">
                <a:avLst/>
              </a:prstGeom>
              <a:blipFill>
                <a:blip r:embed="rId5"/>
                <a:stretch>
                  <a:fillRect r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931234" y="2381523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234" y="2381523"/>
                <a:ext cx="288032" cy="369332"/>
              </a:xfrm>
              <a:prstGeom prst="rect">
                <a:avLst/>
              </a:prstGeom>
              <a:blipFill>
                <a:blip r:embed="rId6"/>
                <a:stretch>
                  <a:fillRect r="-70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843513" y="2796601"/>
                <a:ext cx="7742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513" y="2796601"/>
                <a:ext cx="77420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140445" y="3461373"/>
                <a:ext cx="3168352" cy="1420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zero vector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dirty="0"/>
                  <a:t> (a bold 0), represents no movement.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𝑃𝑄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𝑄𝑃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dirty="0"/>
                  <a:t>In 2D</a:t>
                </a:r>
                <a:r>
                  <a:rPr lang="en-GB" b="1" dirty="0"/>
                  <a:t>: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445" y="3461373"/>
                <a:ext cx="3168352" cy="1420710"/>
              </a:xfrm>
              <a:prstGeom prst="rect">
                <a:avLst/>
              </a:prstGeom>
              <a:blipFill>
                <a:blip r:embed="rId8"/>
                <a:stretch>
                  <a:fillRect l="-1538" t="-25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1769727" y="3573016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51412" y="844925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4032" y="840931"/>
            <a:ext cx="3816424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 </a:t>
            </a:r>
            <a:r>
              <a:rPr lang="en-GB" b="1" dirty="0"/>
              <a:t>scalar</a:t>
            </a:r>
            <a:r>
              <a:rPr lang="en-GB" dirty="0"/>
              <a:t> is a normal number, which can be used to ‘scale’ a vector.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direction</a:t>
            </a:r>
            <a:r>
              <a:rPr lang="en-GB" dirty="0"/>
              <a:t> will be the </a:t>
            </a:r>
            <a:r>
              <a:rPr lang="en-GB" b="1" dirty="0"/>
              <a:t>same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But the </a:t>
            </a:r>
            <a:r>
              <a:rPr lang="en-GB" b="1" dirty="0"/>
              <a:t>magnitude</a:t>
            </a:r>
            <a:r>
              <a:rPr lang="en-GB" dirty="0"/>
              <a:t> will be </a:t>
            </a:r>
            <a:r>
              <a:rPr lang="en-GB" b="1" dirty="0"/>
              <a:t>different</a:t>
            </a:r>
            <a:r>
              <a:rPr lang="en-GB" dirty="0"/>
              <a:t> (unless the scalar is 1).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7608169" y="2693988"/>
            <a:ext cx="1087743" cy="236246"/>
            <a:chOff x="1187624" y="3645024"/>
            <a:chExt cx="1450126" cy="291353"/>
          </a:xfrm>
        </p:grpSpPr>
        <p:cxnSp>
          <p:nvCxnSpPr>
            <p:cNvPr id="44" name="Straight Arrow Connector 43"/>
            <p:cNvCxnSpPr/>
            <p:nvPr/>
          </p:nvCxnSpPr>
          <p:spPr>
            <a:xfrm flipV="1">
              <a:off x="1187624" y="3645024"/>
              <a:ext cx="1450126" cy="29135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5" name="Group 44"/>
            <p:cNvGrpSpPr/>
            <p:nvPr/>
          </p:nvGrpSpPr>
          <p:grpSpPr>
            <a:xfrm rot="3027454">
              <a:off x="1771648" y="3700884"/>
              <a:ext cx="190500" cy="160020"/>
              <a:chOff x="2952750" y="4122420"/>
              <a:chExt cx="190500" cy="160020"/>
            </a:xfrm>
          </p:grpSpPr>
          <p:cxnSp>
            <p:nvCxnSpPr>
              <p:cNvPr id="46" name="Straight Connector 45"/>
              <p:cNvCxnSpPr/>
              <p:nvPr/>
            </p:nvCxnSpPr>
            <p:spPr>
              <a:xfrm flipH="1" flipV="1">
                <a:off x="3093720" y="4122420"/>
                <a:ext cx="49530" cy="16002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 flipV="1">
                <a:off x="2952750" y="4133850"/>
                <a:ext cx="137160" cy="5334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9" name="Straight Arrow Connector 48"/>
          <p:cNvCxnSpPr/>
          <p:nvPr/>
        </p:nvCxnSpPr>
        <p:spPr>
          <a:xfrm flipV="1">
            <a:off x="7256342" y="3009011"/>
            <a:ext cx="1954999" cy="45352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4" name="Group 53"/>
          <p:cNvGrpSpPr/>
          <p:nvPr/>
        </p:nvGrpSpPr>
        <p:grpSpPr>
          <a:xfrm rot="3027454">
            <a:off x="8105031" y="3175758"/>
            <a:ext cx="162349" cy="120031"/>
            <a:chOff x="2952750" y="4127100"/>
            <a:chExt cx="200219" cy="160019"/>
          </a:xfrm>
        </p:grpSpPr>
        <p:cxnSp>
          <p:nvCxnSpPr>
            <p:cNvPr id="55" name="Straight Connector 54"/>
            <p:cNvCxnSpPr/>
            <p:nvPr/>
          </p:nvCxnSpPr>
          <p:spPr>
            <a:xfrm flipH="1" flipV="1">
              <a:off x="3103439" y="4127100"/>
              <a:ext cx="49530" cy="1600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7837245" y="2385592"/>
                <a:ext cx="426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245" y="2385592"/>
                <a:ext cx="42681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874837" y="2852891"/>
                <a:ext cx="426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837" y="2852891"/>
                <a:ext cx="42681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6301630" y="4005065"/>
                <a:ext cx="381642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Any vector parallel to the vector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dirty="0"/>
                  <a:t> can be written 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/>
                  <a:t> is a scalar.</a:t>
                </a: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630" y="4005065"/>
                <a:ext cx="3816424" cy="646331"/>
              </a:xfrm>
              <a:prstGeom prst="rect">
                <a:avLst/>
              </a:prstGeom>
              <a:blipFill>
                <a:blip r:embed="rId11"/>
                <a:stretch>
                  <a:fillRect l="-1111" t="-3636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5882418" y="4005064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6294132" y="4797022"/>
                <a:ext cx="3778445" cy="1838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implication is that if we can write one vector </a:t>
                </a:r>
                <a:r>
                  <a:rPr lang="en-GB" b="1" dirty="0"/>
                  <a:t>as a multiple of</a:t>
                </a:r>
                <a:r>
                  <a:rPr lang="en-GB" dirty="0"/>
                  <a:t> another, then we can show they are parallel.</a:t>
                </a:r>
              </a:p>
              <a:p>
                <a:endParaRPr lang="en-GB" dirty="0"/>
              </a:p>
              <a:p>
                <a:r>
                  <a:rPr lang="en-GB" sz="1600" dirty="0"/>
                  <a:t>“Show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dirty="0"/>
                  <a:t> are parallel”.</a:t>
                </a:r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∴ </m:t>
                    </m:r>
                  </m:oMath>
                </a14:m>
                <a:r>
                  <a:rPr lang="en-GB" sz="1600" dirty="0"/>
                  <a:t>parallel</a:t>
                </a: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132" y="4797022"/>
                <a:ext cx="3778445" cy="1838260"/>
              </a:xfrm>
              <a:prstGeom prst="rect">
                <a:avLst/>
              </a:prstGeom>
              <a:blipFill>
                <a:blip r:embed="rId12"/>
                <a:stretch>
                  <a:fillRect l="-1454" t="-19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/>
          <p:cNvCxnSpPr/>
          <p:nvPr/>
        </p:nvCxnSpPr>
        <p:spPr>
          <a:xfrm flipV="1">
            <a:off x="8025258" y="3508746"/>
            <a:ext cx="473700" cy="10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4" name="Group 63"/>
          <p:cNvGrpSpPr/>
          <p:nvPr/>
        </p:nvGrpSpPr>
        <p:grpSpPr>
          <a:xfrm rot="13962370">
            <a:off x="8197463" y="3505618"/>
            <a:ext cx="162349" cy="120031"/>
            <a:chOff x="2952750" y="4127100"/>
            <a:chExt cx="200219" cy="160019"/>
          </a:xfrm>
        </p:grpSpPr>
        <p:cxnSp>
          <p:nvCxnSpPr>
            <p:cNvPr id="65" name="Straight Connector 64"/>
            <p:cNvCxnSpPr/>
            <p:nvPr/>
          </p:nvCxnSpPr>
          <p:spPr>
            <a:xfrm flipH="1" flipV="1">
              <a:off x="3103439" y="4127100"/>
              <a:ext cx="49530" cy="1600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8190615" y="3508451"/>
                <a:ext cx="561243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615" y="3508451"/>
                <a:ext cx="561243" cy="495649"/>
              </a:xfrm>
              <a:prstGeom prst="rect">
                <a:avLst/>
              </a:prstGeom>
              <a:blipFill>
                <a:blip r:embed="rId1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/>
          <p:cNvSpPr txBox="1"/>
          <p:nvPr/>
        </p:nvSpPr>
        <p:spPr>
          <a:xfrm>
            <a:off x="8694081" y="3282885"/>
            <a:ext cx="1591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If scalar is negative, opposite direction.</a:t>
            </a:r>
          </a:p>
        </p:txBody>
      </p:sp>
    </p:spTree>
    <p:extLst>
      <p:ext uri="{BB962C8B-B14F-4D97-AF65-F5344CB8AC3E}">
        <p14:creationId xmlns:p14="http://schemas.microsoft.com/office/powerpoint/2010/main" val="93398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 animBg="1"/>
      <p:bldP spid="41" grpId="0" animBg="1"/>
      <p:bldP spid="42" grpId="0" animBg="1"/>
      <p:bldP spid="57" grpId="0"/>
      <p:bldP spid="58" grpId="0"/>
      <p:bldP spid="59" grpId="0" animBg="1"/>
      <p:bldP spid="60" grpId="0" animBg="1"/>
      <p:bldP spid="61" grpId="0"/>
      <p:bldP spid="67" grpId="0"/>
      <p:bldP spid="68" grpId="0"/>
    </p:bldLst>
  </p:timing>
</p:sld>
</file>

<file path=ppt/c11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/>
        </p:nvGrpSpPr>
        <p:grpSpPr>
          <a:xfrm>
            <a:off x="1522856" y="1"/>
            <a:ext cx="9145144" cy="599127"/>
            <a:chOff x="-1144" y="0"/>
            <a:chExt cx="9145144" cy="599127"/>
          </a:xfrm>
        </p:grpSpPr>
        <p:sp>
          <p:nvSpPr>
            <p:cNvPr id="3" name="TextBox 2"/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</a:lstStyle>
            <a:p>
              <a:r>
                <a:rPr lang="en-GB" dirty="0"/>
                <a:t>  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331" y="1554160"/>
            <a:ext cx="4608512" cy="36004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1816331" y="1184828"/>
            <a:ext cx="324036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GCSE June 2013 1H Q27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216931" y="1698177"/>
                <a:ext cx="2088232" cy="5088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𝑆𝑄</m:t>
                          </m:r>
                        </m:e>
                      </m:acc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931" y="1698177"/>
                <a:ext cx="2088232" cy="5088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739727" y="2305369"/>
                <a:ext cx="356969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For (b), there’s two possible paths to get from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: via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or via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. But which is best?</a:t>
                </a:r>
              </a:p>
              <a:p>
                <a:r>
                  <a:rPr lang="en-GB" b="1" dirty="0"/>
                  <a:t> In (a) we found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GB" b="1" dirty="0"/>
                  <a:t> to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GB" b="1" dirty="0"/>
                  <a:t> rather than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GB" b="1" dirty="0"/>
                  <a:t> to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GB" b="1" dirty="0"/>
                  <a:t>, so it makes sense to go in this direction so that we can use our result in (a).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727" y="2305369"/>
                <a:ext cx="3569698" cy="2031325"/>
              </a:xfrm>
              <a:prstGeom prst="rect">
                <a:avLst/>
              </a:prstGeom>
              <a:blipFill>
                <a:blip r:embed="rId4"/>
                <a:stretch>
                  <a:fillRect l="-1538" t="-1502" b="-3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664649" y="1792514"/>
            <a:ext cx="28803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159" y="4521325"/>
            <a:ext cx="28803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072915" y="4449581"/>
                <a:ext cx="2016224" cy="1653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𝑁𝑅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𝑆𝑄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915" y="4449581"/>
                <a:ext cx="2016224" cy="16537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 rot="2172922">
            <a:off x="4118718" y="254527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     :    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1633" y="1627450"/>
            <a:ext cx="1408021" cy="1015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Tip</a:t>
            </a:r>
            <a:r>
              <a:rPr lang="en-GB" sz="1200" dirty="0"/>
              <a:t>: This ratio wasn’t in the original diagram. I like to add the ratio as a visual aid.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950129" y="1882947"/>
            <a:ext cx="1228725" cy="485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787292" y="3191273"/>
            <a:ext cx="3330222" cy="1113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788454" y="2578271"/>
            <a:ext cx="700617" cy="541514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5477781" y="1753830"/>
            <a:ext cx="632178" cy="1354667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063598" y="1712477"/>
            <a:ext cx="1287330" cy="4847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8335" y="5238343"/>
            <a:ext cx="211201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/>
              <a:t>Tip</a:t>
            </a:r>
            <a:r>
              <a:rPr lang="en-GB" sz="1050" dirty="0"/>
              <a:t>: start your working with the first line so that your chosen route is clearer.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8873116" y="4597572"/>
            <a:ext cx="268262" cy="124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9085525" y="4418006"/>
                <a:ext cx="1443774" cy="878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𝑄𝑅</m:t>
                        </m:r>
                      </m:e>
                    </m:acc>
                  </m:oMath>
                </a14:m>
                <a:r>
                  <a:rPr lang="en-GB" sz="1200" dirty="0"/>
                  <a:t> is also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200" dirty="0"/>
                  <a:t> because it is exactly the same movement 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𝑃𝑆</m:t>
                        </m:r>
                      </m:e>
                    </m:acc>
                  </m:oMath>
                </a14:m>
                <a:r>
                  <a:rPr lang="en-GB" sz="1200" dirty="0"/>
                  <a:t>.</a:t>
                </a:r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525" y="4418006"/>
                <a:ext cx="1443774" cy="878189"/>
              </a:xfrm>
              <a:prstGeom prst="rect">
                <a:avLst/>
              </a:prstGeom>
              <a:blipFill>
                <a:blip r:embed="rId6"/>
                <a:stretch>
                  <a:fillRect r="-422" b="-4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/>
          <p:nvPr/>
        </p:nvCxnSpPr>
        <p:spPr>
          <a:xfrm flipV="1">
            <a:off x="6502954" y="4949996"/>
            <a:ext cx="466725" cy="438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007298" y="4482699"/>
            <a:ext cx="3440063" cy="16490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4729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26" grpId="0"/>
      <p:bldP spid="25" grpId="0" animBg="1"/>
    </p:bldLst>
  </p:timing>
</p:sld>
</file>

<file path=ppt/c11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t="3385"/>
          <a:stretch/>
        </p:blipFill>
        <p:spPr bwMode="auto">
          <a:xfrm>
            <a:off x="2207568" y="692696"/>
            <a:ext cx="7576090" cy="6165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57"/>
          <p:cNvGrpSpPr/>
          <p:nvPr/>
        </p:nvGrpSpPr>
        <p:grpSpPr>
          <a:xfrm>
            <a:off x="1522856" y="1"/>
            <a:ext cx="9145144" cy="599127"/>
            <a:chOff x="-1144" y="0"/>
            <a:chExt cx="9145144" cy="599127"/>
          </a:xfrm>
        </p:grpSpPr>
        <p:sp>
          <p:nvSpPr>
            <p:cNvPr id="4" name="TextBox 3"/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</a:lstStyle>
            <a:p>
              <a:r>
                <a:rPr lang="en-GB" dirty="0"/>
                <a:t>   Test Your Understanding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10" name="Straight Connector 9"/>
          <p:cNvCxnSpPr/>
          <p:nvPr/>
        </p:nvCxnSpPr>
        <p:spPr>
          <a:xfrm>
            <a:off x="7464152" y="6669360"/>
            <a:ext cx="2088232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60096" y="4358216"/>
                <a:ext cx="2592288" cy="68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𝐴𝐵</m:t>
                          </m:r>
                        </m:e>
                      </m:acc>
                      <m:r>
                        <a:rPr lang="en-GB" i="1">
                          <a:latin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𝐴𝑂</m:t>
                          </m:r>
                        </m:e>
                      </m:acc>
                      <m:r>
                        <a:rPr lang="en-GB" i="1">
                          <a:latin typeface="Cambria Math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𝑂𝐵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=−</m:t>
                    </m:r>
                    <m:r>
                      <a:rPr lang="en-GB" b="1" i="1">
                        <a:latin typeface="Cambria Math"/>
                      </a:rPr>
                      <m:t>𝒂</m:t>
                    </m:r>
                    <m:r>
                      <a:rPr lang="en-GB" i="1">
                        <a:latin typeface="Cambria Math"/>
                      </a:rPr>
                      <m:t>+</m:t>
                    </m:r>
                    <m:r>
                      <a:rPr lang="en-GB" b="1" i="1">
                        <a:latin typeface="Cambria Math"/>
                      </a:rPr>
                      <m:t>𝒃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4358216"/>
                <a:ext cx="2592288" cy="6817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7536160" y="4430282"/>
            <a:ext cx="180020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62436" y="5279508"/>
                <a:ext cx="2520280" cy="1394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𝑂𝑃</m:t>
                          </m:r>
                        </m:e>
                      </m:acc>
                      <m:r>
                        <a:rPr lang="en-GB" i="1">
                          <a:latin typeface="Cambria Math"/>
                        </a:rPr>
                        <m:t>=</m:t>
                      </m:r>
                      <m:r>
                        <a:rPr lang="en-GB" b="1" i="1">
                          <a:latin typeface="Cambria Math"/>
                        </a:rPr>
                        <m:t>𝒂</m:t>
                      </m:r>
                      <m:r>
                        <a:rPr lang="en-GB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4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GB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𝐴𝐵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       </a:t>
                </a:r>
                <a14:m>
                  <m:oMath xmlns:m="http://schemas.openxmlformats.org/officeDocument/2006/math">
                    <m:r>
                      <a:rPr lang="en-GB">
                        <a:latin typeface="Cambria Math"/>
                      </a:rPr>
                      <m:t>  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b="1" i="1">
                        <a:latin typeface="Cambria Math"/>
                      </a:rPr>
                      <m:t>𝒂</m:t>
                    </m:r>
                    <m:r>
                      <a:rPr lang="en-GB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GB" i="1">
                            <a:latin typeface="Cambria Math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−</m:t>
                        </m:r>
                        <m:r>
                          <a:rPr lang="en-GB" b="1" i="1">
                            <a:latin typeface="Cambria Math"/>
                          </a:rPr>
                          <m:t>𝒂</m:t>
                        </m:r>
                        <m:r>
                          <a:rPr lang="en-GB" i="1">
                            <a:latin typeface="Cambria Math"/>
                          </a:rPr>
                          <m:t>+</m:t>
                        </m:r>
                        <m:r>
                          <a:rPr lang="en-GB" b="1" i="1"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b="1" i="1">
                        <a:latin typeface="Cambria Math"/>
                      </a:rPr>
                      <m:t>𝒂</m:t>
                    </m:r>
                    <m:r>
                      <a:rPr lang="en-GB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b="1" i="1">
                        <a:latin typeface="Cambria Math"/>
                      </a:rPr>
                      <m:t>𝒃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436" y="5279508"/>
                <a:ext cx="2520280" cy="13943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6451700" y="5229200"/>
            <a:ext cx="2020564" cy="13898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7568" y="815011"/>
            <a:ext cx="2499899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GCSE June 2012</a:t>
            </a:r>
          </a:p>
        </p:txBody>
      </p:sp>
    </p:spTree>
    <p:extLst>
      <p:ext uri="{BB962C8B-B14F-4D97-AF65-F5344CB8AC3E}">
        <p14:creationId xmlns:p14="http://schemas.microsoft.com/office/powerpoint/2010/main" val="86884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c11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-27384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11A - Year 1 Pages 234-235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43D96B2-2A59-FF16-AB24-BF2513628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20689"/>
            <a:ext cx="5544616" cy="1275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D98CE3-1133-1613-4EF0-D217FE34F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1871216"/>
            <a:ext cx="2832100" cy="170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EA9662-97E7-C649-D431-DCF7B88DE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516" y="2226816"/>
            <a:ext cx="1765300" cy="990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D62AFC-E167-F55D-E559-36F71CF60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1808" y="1429239"/>
            <a:ext cx="1917700" cy="2159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0BDB72C-A49E-5FAE-BB57-1BDDD3976074}"/>
              </a:ext>
            </a:extLst>
          </p:cNvPr>
          <p:cNvSpPr/>
          <p:nvPr/>
        </p:nvSpPr>
        <p:spPr>
          <a:xfrm>
            <a:off x="1884564" y="1925433"/>
            <a:ext cx="5178680" cy="1602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6231FF-EC87-0619-3655-6B7251A15A8A}"/>
              </a:ext>
            </a:extLst>
          </p:cNvPr>
          <p:cNvSpPr/>
          <p:nvPr/>
        </p:nvSpPr>
        <p:spPr>
          <a:xfrm>
            <a:off x="7233776" y="1285223"/>
            <a:ext cx="2664296" cy="7200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B71DEB-55FE-B801-A71B-8539BC2E5F8D}"/>
              </a:ext>
            </a:extLst>
          </p:cNvPr>
          <p:cNvSpPr/>
          <p:nvPr/>
        </p:nvSpPr>
        <p:spPr>
          <a:xfrm>
            <a:off x="7233776" y="2076693"/>
            <a:ext cx="2664296" cy="7200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50AC3D-039A-CD63-9FED-C52BFFDD7483}"/>
              </a:ext>
            </a:extLst>
          </p:cNvPr>
          <p:cNvSpPr/>
          <p:nvPr/>
        </p:nvSpPr>
        <p:spPr>
          <a:xfrm>
            <a:off x="7233776" y="2868163"/>
            <a:ext cx="2664296" cy="659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B0598CF-7DCC-0722-FEA1-26328B699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0518" y="3604007"/>
            <a:ext cx="7772400" cy="145879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BFCAB94-D9F4-3E00-92A5-EC63954BB7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6543" y="5171664"/>
            <a:ext cx="1706295" cy="15826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C0D9E4B-2632-7107-C9B7-EC135A43C3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1843" y="5171665"/>
            <a:ext cx="1706295" cy="165683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6ACBB7D-9088-64B9-E62D-4F611E3CBC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1038" y="5148281"/>
            <a:ext cx="3239488" cy="149609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13102A0-BB4E-3F77-B0C4-DDA743F502B6}"/>
              </a:ext>
            </a:extLst>
          </p:cNvPr>
          <p:cNvSpPr/>
          <p:nvPr/>
        </p:nvSpPr>
        <p:spPr>
          <a:xfrm>
            <a:off x="1956542" y="5092838"/>
            <a:ext cx="3996014" cy="16907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2A95A0-58B0-E819-5579-8BE738AA78BD}"/>
              </a:ext>
            </a:extLst>
          </p:cNvPr>
          <p:cNvSpPr/>
          <p:nvPr/>
        </p:nvSpPr>
        <p:spPr>
          <a:xfrm>
            <a:off x="6204442" y="5079729"/>
            <a:ext cx="3996014" cy="16907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85123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33" grpId="0" animBg="1"/>
      <p:bldP spid="34" grpId="0" animBg="1"/>
    </p:bldLst>
  </p:timing>
</p:sld>
</file>

<file path=ppt/c11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-27384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11A - Year 1 Pages 234-235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D3A57E9-1A3F-A8F9-BB0F-3DBB727F8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20689"/>
            <a:ext cx="7992888" cy="1225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75AFCD-BC31-2715-DA19-9D35FB09A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3711277"/>
            <a:ext cx="6840760" cy="314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7B27CB-46AF-47EE-38C6-915DD9F8F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1906140"/>
            <a:ext cx="2044700" cy="170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C656B6-9252-7058-FDE2-010BF699D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872" y="1906140"/>
            <a:ext cx="3390900" cy="1397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1943C8-C087-A791-C4D9-D557654D7E35}"/>
              </a:ext>
            </a:extLst>
          </p:cNvPr>
          <p:cNvSpPr/>
          <p:nvPr/>
        </p:nvSpPr>
        <p:spPr>
          <a:xfrm>
            <a:off x="1991544" y="1875683"/>
            <a:ext cx="2592288" cy="17322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01455E-37FD-4255-28C3-95DB40D39DF1}"/>
              </a:ext>
            </a:extLst>
          </p:cNvPr>
          <p:cNvSpPr/>
          <p:nvPr/>
        </p:nvSpPr>
        <p:spPr>
          <a:xfrm>
            <a:off x="4943872" y="1875683"/>
            <a:ext cx="3456384" cy="17322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6D96C3-778A-4D1A-EFF9-22AD96A52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2638" y="4221088"/>
            <a:ext cx="2331194" cy="25314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4795B20-5312-D92F-87B7-96CD82579EC5}"/>
              </a:ext>
            </a:extLst>
          </p:cNvPr>
          <p:cNvSpPr/>
          <p:nvPr/>
        </p:nvSpPr>
        <p:spPr>
          <a:xfrm>
            <a:off x="1991544" y="4128680"/>
            <a:ext cx="2592288" cy="26238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418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c11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Representing Vectors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980728"/>
            <a:ext cx="5400600" cy="5397468"/>
          </a:xfrm>
          <a:prstGeom prst="rect">
            <a:avLst/>
          </a:prstGeom>
          <a:noFill/>
        </p:spPr>
      </p:pic>
      <p:cxnSp>
        <p:nvCxnSpPr>
          <p:cNvPr id="7" name="Straight Arrow Connector 6"/>
          <p:cNvCxnSpPr/>
          <p:nvPr/>
        </p:nvCxnSpPr>
        <p:spPr>
          <a:xfrm>
            <a:off x="3162300" y="2070100"/>
            <a:ext cx="1587500" cy="10541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 rot="6422698">
            <a:off x="3750024" y="2398412"/>
            <a:ext cx="280446" cy="219101"/>
            <a:chOff x="2952750" y="4122420"/>
            <a:chExt cx="190500" cy="160020"/>
          </a:xfrm>
        </p:grpSpPr>
        <p:cxnSp>
          <p:nvCxnSpPr>
            <p:cNvPr id="9" name="Straight Connector 8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070476" y="1162968"/>
                <a:ext cx="3888432" cy="923330"/>
              </a:xfrm>
              <a:prstGeom prst="rect">
                <a:avLst/>
              </a:prstGeom>
              <a:solidFill>
                <a:schemeClr val="bg1">
                  <a:alpha val="59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should already be familiar that the value of a vector is the </a:t>
                </a:r>
                <a:r>
                  <a:rPr lang="en-GB" b="1" dirty="0"/>
                  <a:t>displacement</a:t>
                </a:r>
                <a:r>
                  <a:rPr lang="en-GB" dirty="0"/>
                  <a:t> in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direction (if in 2D).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476" y="1162968"/>
                <a:ext cx="3888432" cy="923330"/>
              </a:xfrm>
              <a:prstGeom prst="rect">
                <a:avLst/>
              </a:prstGeom>
              <a:blipFill>
                <a:blip r:embed="rId3"/>
                <a:stretch>
                  <a:fillRect l="-1411" t="-3974" r="-940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095068" y="1917205"/>
                <a:ext cx="828092" cy="705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−2 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068" y="1917205"/>
                <a:ext cx="828092" cy="7058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61468" y="2136602"/>
                <a:ext cx="3888432" cy="1474634"/>
              </a:xfrm>
              <a:prstGeom prst="rect">
                <a:avLst/>
              </a:prstGeom>
              <a:solidFill>
                <a:schemeClr val="bg1">
                  <a:alpha val="59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−2 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468" y="2136602"/>
                <a:ext cx="3888432" cy="14746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108701" y="3658080"/>
                <a:ext cx="4346575" cy="195489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A </a:t>
                </a:r>
                <a:r>
                  <a:rPr lang="en-GB" b="1" dirty="0"/>
                  <a:t>unit vector </a:t>
                </a:r>
                <a:r>
                  <a:rPr lang="en-GB" dirty="0"/>
                  <a:t>is a vector of magnitude 1. </a:t>
                </a:r>
              </a:p>
              <a:p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dirty="0"/>
                  <a:t> are unit vectors in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 and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-axis respectively.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sz="700" dirty="0"/>
              </a:p>
              <a:p>
                <a:r>
                  <a:rPr lang="en-GB" dirty="0"/>
                  <a:t>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=4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+3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701" y="3658080"/>
                <a:ext cx="4346575" cy="1954894"/>
              </a:xfrm>
              <a:prstGeom prst="rect">
                <a:avLst/>
              </a:prstGeom>
              <a:blipFill>
                <a:blip r:embed="rId6"/>
                <a:stretch>
                  <a:fillRect l="-837" t="-1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>
            <a:off x="4235450" y="4210050"/>
            <a:ext cx="0" cy="53975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4229100" y="4749800"/>
            <a:ext cx="5334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8" name="Group 27"/>
          <p:cNvGrpSpPr/>
          <p:nvPr/>
        </p:nvGrpSpPr>
        <p:grpSpPr>
          <a:xfrm rot="3913131">
            <a:off x="4387287" y="4649176"/>
            <a:ext cx="221192" cy="167467"/>
            <a:chOff x="2952750" y="4122420"/>
            <a:chExt cx="190500" cy="160020"/>
          </a:xfrm>
        </p:grpSpPr>
        <p:cxnSp>
          <p:nvCxnSpPr>
            <p:cNvPr id="29" name="Straight Connector 28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 rot="19942135">
            <a:off x="4102758" y="4442411"/>
            <a:ext cx="221192" cy="167467"/>
            <a:chOff x="2952750" y="4122420"/>
            <a:chExt cx="190500" cy="160020"/>
          </a:xfrm>
        </p:grpSpPr>
        <p:cxnSp>
          <p:nvCxnSpPr>
            <p:cNvPr id="32" name="Straight Connector 31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164261" y="4782770"/>
                <a:ext cx="8280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61" y="4782770"/>
                <a:ext cx="82809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561211" y="4174549"/>
                <a:ext cx="8280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211" y="4174549"/>
                <a:ext cx="828092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682304" y="5674197"/>
                <a:ext cx="8840092" cy="1106329"/>
              </a:xfrm>
              <a:prstGeom prst="rect">
                <a:avLst/>
              </a:prstGeom>
              <a:solidFill>
                <a:schemeClr val="bg1">
                  <a:alpha val="63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Notes</a:t>
                </a:r>
                <a:r>
                  <a:rPr lang="en-GB" sz="1200" dirty="0"/>
                  <a:t>: This allows us to write any vector algebraically without using vector notation. </a:t>
                </a:r>
                <a:r>
                  <a:rPr lang="en-GB" sz="1200" b="1" dirty="0"/>
                  <a:t>Any point in 2D space, </a:t>
                </a:r>
                <a:r>
                  <a:rPr lang="en-GB" sz="1200" dirty="0"/>
                  <a:t>as a vector from the origin,</a:t>
                </a:r>
                <a:r>
                  <a:rPr lang="en-GB" sz="1200" b="1" dirty="0"/>
                  <a:t> </a:t>
                </a:r>
                <a:r>
                  <a:rPr lang="en-GB" sz="1200" dirty="0"/>
                  <a:t>can be obtained using a linear combination of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1200" dirty="0"/>
                  <a:t>, e.g. if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5,−1</m:t>
                        </m:r>
                      </m:e>
                    </m:d>
                  </m:oMath>
                </a14:m>
                <a:r>
                  <a:rPr lang="en-GB" sz="12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𝑂𝑃</m:t>
                        </m:r>
                      </m:e>
                    </m:acc>
                    <m:r>
                      <a:rPr lang="en-GB" sz="1200" i="1" dirty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sz="1200" b="1" i="1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12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b="1" i="1" dirty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1200" dirty="0"/>
                  <a:t>. For this reason, </a:t>
                </a:r>
                <a14:m>
                  <m:oMath xmlns:m="http://schemas.openxmlformats.org/officeDocument/2006/math">
                    <m:r>
                      <a:rPr lang="en-GB" sz="1200" b="1" i="1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1200" dirty="0"/>
                  <a:t> are known as </a:t>
                </a:r>
                <a:r>
                  <a:rPr lang="en-GB" sz="1200" b="1" dirty="0"/>
                  <a:t>basis vectors</a:t>
                </a:r>
                <a:r>
                  <a:rPr lang="en-GB" sz="1200" dirty="0"/>
                  <a:t> of 2D coordinate space. In fact, any two non-parallel/non-zero vectors can be used as basis vectors, e.g. if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200" dirty="0"/>
                  <a:t>, it’s possible to get any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200" dirty="0"/>
                  <a:t> using a linear combination of these, i.e. we can always find scalars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200" dirty="0"/>
                  <a:t>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GB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304" y="5674197"/>
                <a:ext cx="8840092" cy="1106329"/>
              </a:xfrm>
              <a:prstGeom prst="rect">
                <a:avLst/>
              </a:prstGeom>
              <a:blipFill>
                <a:blip r:embed="rId9"/>
                <a:stretch>
                  <a:fillRect l="-69" t="-5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7627214" y="2713966"/>
            <a:ext cx="756940" cy="4465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01840" y="3221707"/>
            <a:ext cx="756940" cy="4465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5375920" y="4400667"/>
            <a:ext cx="719508" cy="100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2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17" grpId="0" animBg="1"/>
      <p:bldP spid="34" grpId="0"/>
      <p:bldP spid="35" grpId="0"/>
      <p:bldP spid="36" grpId="0" animBg="1"/>
      <p:bldP spid="37" grpId="0" animBg="1"/>
      <p:bldP spid="38" grpId="0" animBg="1"/>
    </p:bldLst>
  </p:timing>
</p:sld>
</file>

<file path=ppt/c11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07568" y="908721"/>
                <a:ext cx="6552728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r>
                      <a:rPr lang="en-GB" sz="2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2400" b="1" dirty="0"/>
                  <a:t> </a:t>
                </a:r>
                <a:r>
                  <a:rPr lang="en-GB" sz="2400" dirty="0"/>
                  <a:t>then</a:t>
                </a:r>
                <a:r>
                  <a:rPr lang="en-GB" sz="2400" b="1" dirty="0"/>
                  <a:t>:</a:t>
                </a:r>
              </a:p>
              <a:p>
                <a:pPr marL="342900" indent="-342900">
                  <a:buAutoNum type="arabicParenR"/>
                </a:pPr>
                <a:r>
                  <a:rPr lang="en-GB" sz="2400" dirty="0"/>
                  <a:t>Write</a:t>
                </a:r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2400" b="1" dirty="0"/>
                  <a:t> </a:t>
                </a:r>
                <a:r>
                  <a:rPr lang="en-GB" sz="2400" dirty="0"/>
                  <a:t>in vector form.</a:t>
                </a:r>
              </a:p>
              <a:p>
                <a:pPr marL="342900" indent="-342900">
                  <a:buAutoNum type="arabicParenR"/>
                </a:pPr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r>
                      <a:rPr lang="en-GB" sz="2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2400" b="1" dirty="0"/>
                  <a:t> </a:t>
                </a:r>
                <a:r>
                  <a:rPr lang="en-GB" sz="2400" dirty="0"/>
                  <a:t>in</a:t>
                </a:r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2400" b="1" dirty="0"/>
                  <a:t> </a:t>
                </a:r>
                <a:r>
                  <a:rPr lang="en-GB" sz="2400" dirty="0"/>
                  <a:t>form.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908721"/>
                <a:ext cx="6552728" cy="1200329"/>
              </a:xfrm>
              <a:prstGeom prst="rect">
                <a:avLst/>
              </a:prstGeom>
              <a:blipFill>
                <a:blip r:embed="rId2"/>
                <a:stretch>
                  <a:fillRect b="-40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17540" y="2331988"/>
                <a:ext cx="4464496" cy="2185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/>
              </a:p>
              <a:p>
                <a:pPr/>
                <a:br>
                  <a:rPr lang="en-GB" sz="24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540" y="2331988"/>
                <a:ext cx="4464496" cy="2185470"/>
              </a:xfrm>
              <a:prstGeom prst="rect">
                <a:avLst/>
              </a:prstGeom>
              <a:blipFill>
                <a:blip r:embed="rId3"/>
                <a:stretch>
                  <a:fillRect l="-409" b="-27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334568" y="2418642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4568" y="3362496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0960" y="2410982"/>
            <a:ext cx="3868440" cy="7005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0960" y="3362496"/>
            <a:ext cx="3868440" cy="11549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4984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11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11B - Year 1 Pages 237-238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9D49F75-AD82-2816-F9A6-8D4B34D5D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89" y="599127"/>
            <a:ext cx="7772400" cy="644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87C468-DA9C-AB60-6480-8BFACB13E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089" y="2492896"/>
            <a:ext cx="7772400" cy="9945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9046C0-3031-6DD2-0328-1291FEC87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536" y="1307067"/>
            <a:ext cx="3280212" cy="8959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1DB008-3B68-D8BB-ACC9-C1AF8B5E2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968" y="1325224"/>
            <a:ext cx="3098800" cy="787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0E618DC-AF1A-D8A0-3315-D3FEBB9E98D8}"/>
              </a:ext>
            </a:extLst>
          </p:cNvPr>
          <p:cNvSpPr/>
          <p:nvPr/>
        </p:nvSpPr>
        <p:spPr>
          <a:xfrm>
            <a:off x="5807968" y="1285223"/>
            <a:ext cx="3280212" cy="917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E54396-D5C3-C59E-10E0-20D11670A975}"/>
              </a:ext>
            </a:extLst>
          </p:cNvPr>
          <p:cNvSpPr/>
          <p:nvPr/>
        </p:nvSpPr>
        <p:spPr>
          <a:xfrm>
            <a:off x="1919536" y="1285223"/>
            <a:ext cx="3456384" cy="917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A7F832-150B-13A4-D005-79C579EC8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8914" y="3695207"/>
            <a:ext cx="3098800" cy="1041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E1906F-CBC3-0ECC-2267-0C5E7B7EC2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8941" y="5134411"/>
            <a:ext cx="3416300" cy="1231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41B2BF-6A76-65F8-59F9-743F705A1B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7968" y="3678842"/>
            <a:ext cx="2641600" cy="1435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66FD3F-B6C6-01FB-8E89-8D0F80BEA3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8961" y="5230068"/>
            <a:ext cx="2641600" cy="15113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81F3869-63AA-BC64-2B4A-C2786ADF119C}"/>
              </a:ext>
            </a:extLst>
          </p:cNvPr>
          <p:cNvSpPr/>
          <p:nvPr/>
        </p:nvSpPr>
        <p:spPr>
          <a:xfrm>
            <a:off x="1828899" y="3678842"/>
            <a:ext cx="3456384" cy="1435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87CEAD-7BC8-5570-B10F-AFC28E2E4F76}"/>
              </a:ext>
            </a:extLst>
          </p:cNvPr>
          <p:cNvSpPr/>
          <p:nvPr/>
        </p:nvSpPr>
        <p:spPr>
          <a:xfrm>
            <a:off x="1837368" y="5190142"/>
            <a:ext cx="3456384" cy="1511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114A96-7B0B-1D84-3AB8-47CFB4AE17EA}"/>
              </a:ext>
            </a:extLst>
          </p:cNvPr>
          <p:cNvSpPr/>
          <p:nvPr/>
        </p:nvSpPr>
        <p:spPr>
          <a:xfrm>
            <a:off x="5807968" y="3678842"/>
            <a:ext cx="3456384" cy="1435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B2D6D5-2922-B026-857C-84A5781A84FE}"/>
              </a:ext>
            </a:extLst>
          </p:cNvPr>
          <p:cNvSpPr/>
          <p:nvPr/>
        </p:nvSpPr>
        <p:spPr>
          <a:xfrm>
            <a:off x="5807968" y="5191264"/>
            <a:ext cx="3456384" cy="1511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160483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 animBg="1"/>
      <p:bldP spid="18" grpId="0" animBg="1"/>
      <p:bldP spid="19" grpId="0" animBg="1"/>
      <p:bldP spid="20" grpId="0" animBg="1"/>
    </p:bldLst>
  </p:timing>
</p:sld>
</file>

<file path=ppt/c11/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11B - Year 1 Pages 237-238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4745988-B460-C923-08E1-97AC0739C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99128"/>
            <a:ext cx="5112568" cy="6994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4AE915-831E-5754-CCBF-65B76E90A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451" y="708299"/>
            <a:ext cx="2522736" cy="15405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9C867D-1D46-9468-246E-BF6E97F4E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1" y="2678901"/>
            <a:ext cx="5000635" cy="1302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7A85C5-C358-B227-47CB-10072AA99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35" y="2440992"/>
            <a:ext cx="2698368" cy="1540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0323F-F9D3-02FD-3D9E-4333689A11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465" y="1478561"/>
            <a:ext cx="2522735" cy="9624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270F4C-8B15-C9FE-2BF5-EAED2CF5CA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5520" y="4352229"/>
            <a:ext cx="2232248" cy="21774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B20303-5F49-A049-FFB1-221ECA3E7E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070" y="4317012"/>
            <a:ext cx="2070100" cy="2247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08CC4D-D6C9-9391-F72C-0F14E6FE96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8472" y="4281797"/>
            <a:ext cx="2590800" cy="22479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EE9837B-A8FC-E0AE-412B-99F184C90417}"/>
              </a:ext>
            </a:extLst>
          </p:cNvPr>
          <p:cNvSpPr/>
          <p:nvPr/>
        </p:nvSpPr>
        <p:spPr>
          <a:xfrm>
            <a:off x="1872464" y="1410882"/>
            <a:ext cx="3456384" cy="1030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919BD8-1DDE-9553-EEF8-2C4183FC7770}"/>
              </a:ext>
            </a:extLst>
          </p:cNvPr>
          <p:cNvSpPr/>
          <p:nvPr/>
        </p:nvSpPr>
        <p:spPr>
          <a:xfrm>
            <a:off x="1711245" y="4219422"/>
            <a:ext cx="2683954" cy="25219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B10408-57C8-21ED-F2FC-7C97B6BAF617}"/>
              </a:ext>
            </a:extLst>
          </p:cNvPr>
          <p:cNvSpPr/>
          <p:nvPr/>
        </p:nvSpPr>
        <p:spPr>
          <a:xfrm>
            <a:off x="4484518" y="4219422"/>
            <a:ext cx="2683954" cy="25219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B741DD-364A-D6C2-BBF4-7AC71A3743AA}"/>
              </a:ext>
            </a:extLst>
          </p:cNvPr>
          <p:cNvSpPr/>
          <p:nvPr/>
        </p:nvSpPr>
        <p:spPr>
          <a:xfrm>
            <a:off x="7237024" y="4219422"/>
            <a:ext cx="2683954" cy="25219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65576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c11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11B - Year 1 Pages 237-238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FC27AA6-67C3-6177-CCC4-F4A80B063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700470"/>
            <a:ext cx="4176464" cy="807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D64E53-3658-68BE-0C32-243172915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6" y="664238"/>
            <a:ext cx="4571994" cy="882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587993-01DD-E036-A063-19990A3F0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528" y="1609371"/>
            <a:ext cx="2590800" cy="1130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0BD2FD-00D0-D75B-8877-6C93308BE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7659" y="1623044"/>
            <a:ext cx="2882652" cy="1237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73D48AD-8C2A-8D50-79F8-BB6FE089DCDA}"/>
              </a:ext>
            </a:extLst>
          </p:cNvPr>
          <p:cNvGrpSpPr/>
          <p:nvPr/>
        </p:nvGrpSpPr>
        <p:grpSpPr>
          <a:xfrm>
            <a:off x="6023993" y="1647895"/>
            <a:ext cx="1656184" cy="1212149"/>
            <a:chOff x="3993359" y="1647895"/>
            <a:chExt cx="1709648" cy="11303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0225051-29FB-169B-A417-E2E6A0C22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93359" y="1647895"/>
              <a:ext cx="1689100" cy="11303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5C6DACE-76A0-5FDA-9594-B57F16873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72807" y="2244168"/>
              <a:ext cx="330200" cy="520700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37C2EE-2EEE-D526-2D7A-282B7922BE32}"/>
              </a:ext>
            </a:extLst>
          </p:cNvPr>
          <p:cNvCxnSpPr/>
          <p:nvPr/>
        </p:nvCxnSpPr>
        <p:spPr>
          <a:xfrm>
            <a:off x="7752184" y="1609371"/>
            <a:ext cx="0" cy="1250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19029B9-E70F-7619-ED9A-71502BACB3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6348" y="4055998"/>
            <a:ext cx="3421581" cy="2768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3E63E5-8082-9ACC-40E0-2EB9ABE433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0948" y="4120824"/>
            <a:ext cx="2882900" cy="5969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C6862F8-F836-51D6-4CF9-46D7D36093E5}"/>
              </a:ext>
            </a:extLst>
          </p:cNvPr>
          <p:cNvSpPr/>
          <p:nvPr/>
        </p:nvSpPr>
        <p:spPr>
          <a:xfrm>
            <a:off x="1743389" y="1527883"/>
            <a:ext cx="4064509" cy="13321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8?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8529E7-3AB8-72B8-2399-BE427F97E751}"/>
              </a:ext>
            </a:extLst>
          </p:cNvPr>
          <p:cNvSpPr/>
          <p:nvPr/>
        </p:nvSpPr>
        <p:spPr>
          <a:xfrm>
            <a:off x="6049438" y="1513591"/>
            <a:ext cx="4618563" cy="13321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9?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E98611-B994-0571-DBDA-2E3604BE7B4E}"/>
              </a:ext>
            </a:extLst>
          </p:cNvPr>
          <p:cNvSpPr/>
          <p:nvPr/>
        </p:nvSpPr>
        <p:spPr>
          <a:xfrm>
            <a:off x="1959485" y="4106734"/>
            <a:ext cx="4064509" cy="2634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E8ED77-5D6A-B310-0215-D3414F199D12}"/>
              </a:ext>
            </a:extLst>
          </p:cNvPr>
          <p:cNvSpPr/>
          <p:nvPr/>
        </p:nvSpPr>
        <p:spPr>
          <a:xfrm>
            <a:off x="6101145" y="4106733"/>
            <a:ext cx="4064509" cy="2634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828FC91-5F3B-342E-5380-A58540AEF36E}"/>
              </a:ext>
            </a:extLst>
          </p:cNvPr>
          <p:cNvGrpSpPr/>
          <p:nvPr/>
        </p:nvGrpSpPr>
        <p:grpSpPr>
          <a:xfrm>
            <a:off x="1734248" y="2948720"/>
            <a:ext cx="8250185" cy="1107278"/>
            <a:chOff x="210247" y="2948720"/>
            <a:chExt cx="8250185" cy="110727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45E5FF6-5E4E-1CC0-85E3-D9A79AE0C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10247" y="2948720"/>
              <a:ext cx="7772400" cy="1094937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5891669-8176-1FB3-65B7-0BEC8026A1BF}"/>
                </a:ext>
              </a:extLst>
            </p:cNvPr>
            <p:cNvSpPr/>
            <p:nvPr/>
          </p:nvSpPr>
          <p:spPr>
            <a:xfrm>
              <a:off x="7436803" y="3429000"/>
              <a:ext cx="1023629" cy="626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6387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c11/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Magnitude of a Vector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28" y="908721"/>
                <a:ext cx="7776864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Wingdings" panose="05000000000000000000" pitchFamily="2" charset="2"/>
                  </a:rPr>
                  <a:t>!</a:t>
                </a:r>
                <a:r>
                  <a:rPr lang="en-GB" sz="2400" dirty="0"/>
                  <a:t> The magnitude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2400" dirty="0"/>
                  <a:t> of a vector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/>
                  <a:t> is its length.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908721"/>
                <a:ext cx="7776864" cy="461665"/>
              </a:xfrm>
              <a:prstGeom prst="rect">
                <a:avLst/>
              </a:prstGeom>
              <a:blipFill>
                <a:blip r:embed="rId2"/>
                <a:stretch>
                  <a:fillRect l="-1016" t="-8750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 flipV="1">
            <a:off x="3215680" y="1706742"/>
            <a:ext cx="1440160" cy="11521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 rot="18921682">
            <a:off x="3863752" y="2138790"/>
            <a:ext cx="144016" cy="288032"/>
            <a:chOff x="4139952" y="1772816"/>
            <a:chExt cx="144016" cy="288032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462598" y="1657877"/>
                <a:ext cx="592150" cy="552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598" y="1657877"/>
                <a:ext cx="592150" cy="5524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783632" y="2723070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2723070"/>
                <a:ext cx="504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58990" y="1522076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990" y="1522076"/>
                <a:ext cx="5040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088508" y="1996416"/>
                <a:ext cx="3672408" cy="66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800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508" y="1996416"/>
                <a:ext cx="3672408" cy="6606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3226842" y="2858870"/>
            <a:ext cx="142899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655840" y="1706742"/>
            <a:ext cx="11162" cy="115212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84522" y="2858870"/>
            <a:ext cx="48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5840" y="2103049"/>
            <a:ext cx="48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6040" y="1955008"/>
            <a:ext cx="2304876" cy="7020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2712005" y="3724099"/>
            <a:ext cx="1604946" cy="1173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 rot="2595924">
            <a:off x="3396081" y="4113182"/>
            <a:ext cx="144016" cy="288032"/>
            <a:chOff x="4139952" y="1772816"/>
            <a:chExt cx="144016" cy="288032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194362" y="3601265"/>
                <a:ext cx="2448844" cy="603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362" y="3601265"/>
                <a:ext cx="2448844" cy="6034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 flipH="1">
            <a:off x="5706806" y="3478109"/>
            <a:ext cx="1138520" cy="1223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 rot="8196551">
            <a:off x="6239268" y="3906624"/>
            <a:ext cx="144016" cy="288032"/>
            <a:chOff x="4139952" y="1772816"/>
            <a:chExt cx="144016" cy="288032"/>
          </a:xfrm>
        </p:grpSpPr>
        <p:cxnSp>
          <p:nvCxnSpPr>
            <p:cNvPr id="33" name="Straight Connector 32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456064" y="3610495"/>
                <a:ext cx="2448844" cy="609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−12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64" y="3610495"/>
                <a:ext cx="2448844" cy="6097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4754984" y="3518240"/>
            <a:ext cx="569034" cy="581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2224" y="3518240"/>
            <a:ext cx="569034" cy="581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075375" y="5004396"/>
                <a:ext cx="4483152" cy="602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17</m:t>
                          </m:r>
                        </m:e>
                      </m:ra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375" y="5004396"/>
                <a:ext cx="4483152" cy="6024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321657" y="5852561"/>
                <a:ext cx="5888943" cy="605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0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657" y="5852561"/>
                <a:ext cx="5888943" cy="6055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862670" y="1325744"/>
                <a:ext cx="3761722" cy="55553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!"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|"/>
                        <m:endChr m:val="|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670" y="1325744"/>
                <a:ext cx="3761722" cy="555537"/>
              </a:xfrm>
              <a:prstGeom prst="rect">
                <a:avLst/>
              </a:prstGeom>
              <a:blipFill>
                <a:blip r:embed="rId11"/>
                <a:stretch>
                  <a:fillRect l="-8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/>
          <p:cNvSpPr/>
          <p:nvPr/>
        </p:nvSpPr>
        <p:spPr>
          <a:xfrm>
            <a:off x="4424040" y="5031406"/>
            <a:ext cx="2374350" cy="581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6031" y="5815457"/>
            <a:ext cx="2374350" cy="581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89784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  <p:bldP spid="38" grpId="0" animBg="1"/>
      <p:bldP spid="39" grpId="0" animBg="1"/>
      <p:bldP spid="41" grpId="0" animBg="1"/>
      <p:bldP spid="42" grpId="0" animBg="1"/>
      <p:bldP spid="43" grpId="0" animBg="1"/>
    </p:bldLst>
  </p:timing>
</p:sld>
</file>

<file path=ppt/c11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Unit Vectors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908721"/>
            <a:ext cx="83529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latin typeface="Wingdings" panose="05000000000000000000" pitchFamily="2" charset="2"/>
              </a:rPr>
              <a:t>!</a:t>
            </a:r>
            <a:r>
              <a:rPr lang="en-GB" sz="2400" dirty="0"/>
              <a:t> A unit vector is a vector whose magnitude is 1</a:t>
            </a:r>
            <a:endParaRPr lang="en-GB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2139044" y="1460965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There’s certain operations on vectors that require the vectors to be ‘unit’ vectors. We just scale the vector so that its magnitude is now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69096" y="2131375"/>
                <a:ext cx="2453804" cy="1590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  <m:oMath>
                      <m:d>
                        <m:dPr>
                          <m:begChr m:val="|"/>
                          <m:endChr m:val="|"/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000" i="1">
                          <a:latin typeface="Cambria Math" panose="02040503050406030204" pitchFamily="18" charset="0"/>
                        </a:rPr>
                        <m:t>=5</m:t>
                      </m:r>
                    </m:oMath>
                    <m:oMath>
                      <m:acc>
                        <m:accPr>
                          <m:chr m:val="̂"/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GB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3/5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4/5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096" y="2131375"/>
                <a:ext cx="2453804" cy="15900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989064" y="2730548"/>
            <a:ext cx="2306836" cy="982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7584" y="4004348"/>
            <a:ext cx="7526808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/>
              <a:t>Test Your Understanding: </a:t>
            </a:r>
            <a:r>
              <a:rPr lang="en-GB" dirty="0"/>
              <a:t>Convert the following vectors to unit vectors.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351584" y="4509120"/>
                <a:ext cx="2491432" cy="1983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𝟏𝟑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∴</m:t>
                      </m:r>
                      <m:acc>
                        <m:accPr>
                          <m:chr m:val="̂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num>
                                  <m:den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GB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4509120"/>
                <a:ext cx="2491432" cy="19836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023992" y="2319499"/>
                <a:ext cx="2451756" cy="147264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dirty="0"/>
                  <a:t> is a vector, then the unit vector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in the same direction is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2319499"/>
                <a:ext cx="2451756" cy="1472647"/>
              </a:xfrm>
              <a:prstGeom prst="rect">
                <a:avLst/>
              </a:prstGeom>
              <a:blipFill>
                <a:blip r:embed="rId4"/>
                <a:stretch>
                  <a:fillRect l="-1478" t="-1220" r="-9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48194" y="4509120"/>
                <a:ext cx="2491432" cy="2214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∴</m:t>
                      </m:r>
                      <m:acc>
                        <m:accPr>
                          <m:chr m:val="̂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194" y="4509120"/>
                <a:ext cx="2491432" cy="22141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2398500" y="5060570"/>
            <a:ext cx="2389400" cy="1567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6819" y="5043515"/>
            <a:ext cx="2389400" cy="15942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05392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  <p:bldP spid="11" grpId="0" animBg="1"/>
      <p:bldP spid="20" grpId="0" animBg="1"/>
    </p:bldLst>
  </p:timing>
</p:sld>
</file>

<file path=ppt/c11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11C - Year 1 Pages 240-242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D7CB1E4-6E20-55E8-DBB1-E138066E6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17018"/>
            <a:ext cx="5616624" cy="4756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26EBCF-9C06-FADA-5948-5EAA87D11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016" y="2801036"/>
            <a:ext cx="4702135" cy="908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91C9C0-C371-88F6-6AFB-6CA6894A7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1054821"/>
            <a:ext cx="2952328" cy="14693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39A858-6C41-26AF-3287-2497AB6F9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277" y="3933056"/>
            <a:ext cx="3302000" cy="2463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E1D3D6-0A18-F6AE-8668-37265A2249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257" y="3844156"/>
            <a:ext cx="3187700" cy="2641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3398C84-3BD3-40DB-CDA7-CD0B4E739751}"/>
              </a:ext>
            </a:extLst>
          </p:cNvPr>
          <p:cNvSpPr/>
          <p:nvPr/>
        </p:nvSpPr>
        <p:spPr>
          <a:xfrm>
            <a:off x="1960278" y="1064305"/>
            <a:ext cx="4064509" cy="16021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6D1325-4081-24FF-11A8-5D5CEAD9A58B}"/>
              </a:ext>
            </a:extLst>
          </p:cNvPr>
          <p:cNvSpPr/>
          <p:nvPr/>
        </p:nvSpPr>
        <p:spPr>
          <a:xfrm>
            <a:off x="1960278" y="3844155"/>
            <a:ext cx="8205376" cy="26416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9758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c11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11C - Year 1 Pages 240-242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BDA8F7F-8295-C024-799E-834FF9EDB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92697"/>
            <a:ext cx="7772400" cy="21758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4963C8-00A8-0C46-7AEB-9F87B6447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2938733"/>
            <a:ext cx="1790700" cy="2451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34BC41-C0EB-1006-24DB-A6F2F9B2E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252" y="2984743"/>
            <a:ext cx="2880320" cy="2475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AFC5F6-EEFE-C571-654A-EAC8A5A9A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763" y="2962117"/>
            <a:ext cx="3130289" cy="22853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1611A41-5856-A64B-8555-2DB5EEFBD57D}"/>
              </a:ext>
            </a:extLst>
          </p:cNvPr>
          <p:cNvSpPr/>
          <p:nvPr/>
        </p:nvSpPr>
        <p:spPr>
          <a:xfrm>
            <a:off x="2084905" y="2949463"/>
            <a:ext cx="4064509" cy="2634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1BE979-80FB-77FF-3AA0-7C4B6FDA006C}"/>
              </a:ext>
            </a:extLst>
          </p:cNvPr>
          <p:cNvSpPr/>
          <p:nvPr/>
        </p:nvSpPr>
        <p:spPr>
          <a:xfrm>
            <a:off x="6226565" y="2949462"/>
            <a:ext cx="4064509" cy="2634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66334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11/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Position Vectors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56396" y="970638"/>
                <a:ext cx="3821980" cy="830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we started at a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3,2</m:t>
                        </m:r>
                      </m:e>
                    </m:d>
                  </m:oMath>
                </a14:m>
                <a:r>
                  <a:rPr lang="en-GB" dirty="0"/>
                  <a:t> and translated by the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396" y="970638"/>
                <a:ext cx="3821980" cy="830227"/>
              </a:xfrm>
              <a:prstGeom prst="rect">
                <a:avLst/>
              </a:prstGeom>
              <a:blipFill>
                <a:blip r:embed="rId2"/>
                <a:stretch>
                  <a:fillRect l="-1435" t="-3676" b="-7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2554784" y="2813136"/>
            <a:ext cx="160894" cy="1600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94000" y="3020776"/>
                <a:ext cx="724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3,2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000" y="3020776"/>
                <a:ext cx="7240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2783632" y="2876636"/>
            <a:ext cx="1769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224654" y="2244546"/>
                <a:ext cx="661547" cy="5532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654" y="2244546"/>
                <a:ext cx="661547" cy="5532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911152" y="3608700"/>
                <a:ext cx="4680520" cy="2953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You might think we can do something like:</a:t>
                </a:r>
              </a:p>
              <a:p>
                <a:endParaRPr lang="en-GB" dirty="0"/>
              </a:p>
              <a:p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7,2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But only vectors can be added to other vectors.</a:t>
                </a:r>
              </a:p>
              <a:p>
                <a:r>
                  <a:rPr lang="en-GB" b="1" dirty="0"/>
                  <a:t>If we treated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GB" b="1" dirty="0"/>
                  <a:t> as a vector</a:t>
                </a:r>
                <a:r>
                  <a:rPr lang="en-GB" dirty="0"/>
                  <a:t>, then this solves the problem: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152" y="3608700"/>
                <a:ext cx="4680520" cy="2953116"/>
              </a:xfrm>
              <a:prstGeom prst="rect">
                <a:avLst/>
              </a:prstGeom>
              <a:blipFill>
                <a:blip r:embed="rId5"/>
                <a:stretch>
                  <a:fillRect l="-1173" t="-12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4619438" y="2813136"/>
            <a:ext cx="160894" cy="1600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99484" y="2957276"/>
                <a:ext cx="724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484" y="2957276"/>
                <a:ext cx="7240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7219729" y="881717"/>
            <a:ext cx="0" cy="1800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219729" y="2681917"/>
            <a:ext cx="25922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515873" y="1781817"/>
            <a:ext cx="97879" cy="9001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498452" y="1502495"/>
                <a:ext cx="9231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i="1">
                              <a:latin typeface="Cambria Math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8452" y="1502495"/>
                <a:ext cx="92316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>
            <a:endCxn id="17" idx="3"/>
          </p:cNvCxnSpPr>
          <p:nvPr/>
        </p:nvCxnSpPr>
        <p:spPr>
          <a:xfrm flipV="1">
            <a:off x="7219730" y="1858645"/>
            <a:ext cx="1310477" cy="8232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 rot="19829798">
            <a:off x="7876364" y="2152706"/>
            <a:ext cx="91494" cy="171664"/>
            <a:chOff x="4139952" y="1772816"/>
            <a:chExt cx="144016" cy="288032"/>
          </a:xfrm>
        </p:grpSpPr>
        <p:cxnSp>
          <p:nvCxnSpPr>
            <p:cNvPr id="21" name="Straight Connector 20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289778" y="1540556"/>
                <a:ext cx="1046774" cy="553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/>
                        </a:rPr>
                        <m:t>𝒂</m:t>
                      </m:r>
                      <m:r>
                        <a:rPr lang="en-GB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778" y="1540556"/>
                <a:ext cx="1046774" cy="5532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08146" y="2621504"/>
                <a:ext cx="461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146" y="2621504"/>
                <a:ext cx="46158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132429" y="5373217"/>
                <a:ext cx="2673079" cy="127124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The position vector of a point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𝐴</m:t>
                    </m:r>
                  </m:oMath>
                </a14:m>
                <a:r>
                  <a:rPr lang="en-GB" dirty="0"/>
                  <a:t> is the vector</a:t>
                </a:r>
                <a14:m>
                  <m:oMath xmlns:m="http://schemas.openxmlformats.org/officeDocument/2006/math">
                    <m:r>
                      <a:rPr lang="en-GB">
                        <a:latin typeface="Cambria Math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i="1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𝑂</m:t>
                    </m:r>
                  </m:oMath>
                </a14:m>
                <a:r>
                  <a:rPr lang="en-GB" dirty="0"/>
                  <a:t> is the origin.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i="1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GB" dirty="0"/>
                  <a:t> is usually written as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𝒂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429" y="5373217"/>
                <a:ext cx="2673079" cy="1271245"/>
              </a:xfrm>
              <a:prstGeom prst="rect">
                <a:avLst/>
              </a:prstGeom>
              <a:blipFill>
                <a:blip r:embed="rId10"/>
                <a:stretch>
                  <a:fillRect l="-1354" t="-1878" r="-3160" b="-56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662814" y="2490035"/>
                <a:ext cx="589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814" y="2490035"/>
                <a:ext cx="58916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869468" y="573727"/>
                <a:ext cx="589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468" y="573727"/>
                <a:ext cx="589163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7048478" y="3002242"/>
            <a:ext cx="31053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vector used to represent a position is unsurprisingly known as a </a:t>
            </a:r>
            <a:r>
              <a:rPr lang="en-GB" b="1" dirty="0"/>
              <a:t>position vector</a:t>
            </a:r>
            <a:r>
              <a:rPr lang="en-GB" dirty="0"/>
              <a:t>.</a:t>
            </a:r>
          </a:p>
          <a:p>
            <a:r>
              <a:rPr lang="en-GB" dirty="0"/>
              <a:t>A position can be thought of as a translation from the origin, as per above. It enables us to use positions in all sorts of vector (and matrix!) calculations. 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6591672" y="970638"/>
            <a:ext cx="0" cy="51946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53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  <p:bldP spid="13" grpId="0" animBg="1"/>
      <p:bldP spid="14" grpId="0"/>
      <p:bldP spid="17" grpId="0" animBg="1"/>
      <p:bldP spid="18" grpId="0"/>
      <p:bldP spid="23" grpId="0"/>
      <p:bldP spid="24" grpId="0"/>
      <p:bldP spid="26" grpId="0" animBg="1"/>
      <p:bldP spid="27" grpId="0"/>
      <p:bldP spid="28" grpId="0"/>
      <p:bldP spid="29" grpId="0"/>
    </p:bldLst>
  </p:timing>
</p:sld>
</file>

<file path=ppt/c11/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83284" y="930949"/>
                <a:ext cx="7526808" cy="151111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points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have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(11,2)</m:t>
                    </m:r>
                  </m:oMath>
                </a14:m>
                <a:r>
                  <a:rPr lang="en-GB" dirty="0"/>
                  <a:t> respectively.</a:t>
                </a:r>
              </a:p>
              <a:p>
                <a:r>
                  <a:rPr lang="en-GB" dirty="0"/>
                  <a:t>Find, in terms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The position vector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The position vector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284" y="930949"/>
                <a:ext cx="7526808" cy="1511119"/>
              </a:xfrm>
              <a:prstGeom prst="rect">
                <a:avLst/>
              </a:prstGeom>
              <a:blipFill>
                <a:blip r:embed="rId2"/>
                <a:stretch>
                  <a:fillRect b="-36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55640" y="2780928"/>
                <a:ext cx="2664296" cy="1582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𝑂𝐴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GB" b="1" dirty="0"/>
              </a:p>
              <a:p>
                <a:pPr/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=11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2780928"/>
                <a:ext cx="2664296" cy="1582036"/>
              </a:xfrm>
              <a:prstGeom prst="rect">
                <a:avLst/>
              </a:prstGeom>
              <a:blipFill>
                <a:blip r:embed="rId3"/>
                <a:stretch>
                  <a:fillRect b="-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489126" y="2862461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9126" y="3463934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9126" y="4055953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2465" y="2749599"/>
            <a:ext cx="1268611" cy="5174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465" y="3347198"/>
            <a:ext cx="1268611" cy="5174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2465" y="3944797"/>
            <a:ext cx="1268611" cy="5174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850384" y="2748286"/>
                <a:ext cx="3960440" cy="3357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can see this by inspection of the change in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the change in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: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   →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(11,2)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More formally: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𝑂𝐴</m:t>
                          </m:r>
                        </m:e>
                      </m:acc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   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384" y="2748286"/>
                <a:ext cx="3960440" cy="3357907"/>
              </a:xfrm>
              <a:prstGeom prst="rect">
                <a:avLst/>
              </a:prstGeom>
              <a:blipFill>
                <a:blip r:embed="rId4"/>
                <a:stretch>
                  <a:fillRect l="-1387" t="-10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/>
          <p:cNvSpPr/>
          <p:nvPr/>
        </p:nvSpPr>
        <p:spPr>
          <a:xfrm>
            <a:off x="7067550" y="3848100"/>
            <a:ext cx="1397000" cy="317500"/>
          </a:xfrm>
          <a:custGeom>
            <a:avLst/>
            <a:gdLst>
              <a:gd name="connsiteX0" fmla="*/ 0 w 1397000"/>
              <a:gd name="connsiteY0" fmla="*/ 317500 h 317500"/>
              <a:gd name="connsiteX1" fmla="*/ 596900 w 1397000"/>
              <a:gd name="connsiteY1" fmla="*/ 0 h 317500"/>
              <a:gd name="connsiteX2" fmla="*/ 1397000 w 1397000"/>
              <a:gd name="connsiteY2" fmla="*/ 317500 h 31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7000" h="317500">
                <a:moveTo>
                  <a:pt x="0" y="317500"/>
                </a:moveTo>
                <a:cubicBezTo>
                  <a:pt x="182033" y="158750"/>
                  <a:pt x="364067" y="0"/>
                  <a:pt x="596900" y="0"/>
                </a:cubicBezTo>
                <a:cubicBezTo>
                  <a:pt x="829733" y="0"/>
                  <a:pt x="1113366" y="158750"/>
                  <a:pt x="1397000" y="317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491710" y="3601198"/>
                <a:ext cx="3600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i="1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1710" y="3601198"/>
                <a:ext cx="36004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/>
          <p:cNvSpPr/>
          <p:nvPr/>
        </p:nvSpPr>
        <p:spPr>
          <a:xfrm>
            <a:off x="7320136" y="3860611"/>
            <a:ext cx="1397000" cy="317500"/>
          </a:xfrm>
          <a:custGeom>
            <a:avLst/>
            <a:gdLst>
              <a:gd name="connsiteX0" fmla="*/ 0 w 1397000"/>
              <a:gd name="connsiteY0" fmla="*/ 317500 h 317500"/>
              <a:gd name="connsiteX1" fmla="*/ 596900 w 1397000"/>
              <a:gd name="connsiteY1" fmla="*/ 0 h 317500"/>
              <a:gd name="connsiteX2" fmla="*/ 1397000 w 1397000"/>
              <a:gd name="connsiteY2" fmla="*/ 317500 h 31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7000" h="317500">
                <a:moveTo>
                  <a:pt x="0" y="317500"/>
                </a:moveTo>
                <a:cubicBezTo>
                  <a:pt x="182033" y="158750"/>
                  <a:pt x="364067" y="0"/>
                  <a:pt x="596900" y="0"/>
                </a:cubicBezTo>
                <a:cubicBezTo>
                  <a:pt x="829733" y="0"/>
                  <a:pt x="1113366" y="158750"/>
                  <a:pt x="1397000" y="317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038554" y="3673746"/>
                <a:ext cx="3600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i="1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554" y="3673746"/>
                <a:ext cx="36004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H="1">
            <a:off x="4943873" y="3120571"/>
            <a:ext cx="818299" cy="1043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21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</p:bldLst>
  </p:timing>
</p:sld>
</file>

<file path=ppt/c11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83284" y="930949"/>
                <a:ext cx="7526808" cy="10164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. Find:</a:t>
                </a:r>
              </a:p>
              <a:p>
                <a:r>
                  <a:rPr lang="en-GB" dirty="0"/>
                  <a:t>a) The position vector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b) The exact value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</m:oMath>
                </a14:m>
                <a:r>
                  <a:rPr lang="en-GB" dirty="0"/>
                  <a:t> in simplified surd form.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284" y="930949"/>
                <a:ext cx="7526808" cy="10164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55640" y="2780929"/>
                <a:ext cx="4507185" cy="1200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𝑂𝐴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b="1" dirty="0"/>
              </a:p>
              <a:p>
                <a:pPr/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𝑂𝐵</m:t>
                              </m:r>
                            </m:e>
                          </m:ac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17</m:t>
                          </m:r>
                        </m:e>
                      </m:ra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2780929"/>
                <a:ext cx="4507185" cy="12003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489126" y="2862461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9126" y="3645024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1989" y="2721023"/>
            <a:ext cx="3411736" cy="6794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95353" y="3485076"/>
            <a:ext cx="3248372" cy="6794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536160" y="2348880"/>
                <a:ext cx="2638354" cy="1548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Either a quick sketch will help you see this, or thinking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acc>
                  </m:oMath>
                </a14:m>
                <a:r>
                  <a:rPr lang="en-GB" dirty="0"/>
                  <a:t> as the original position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dirty="0"/>
                  <a:t> as the translation.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60" y="2348880"/>
                <a:ext cx="2638354" cy="1548244"/>
              </a:xfrm>
              <a:prstGeom prst="rect">
                <a:avLst/>
              </a:prstGeom>
              <a:blipFill>
                <a:blip r:embed="rId4"/>
                <a:stretch>
                  <a:fillRect l="-1848" t="-1969" b="-55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7104112" y="2862461"/>
            <a:ext cx="432048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80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</p:bldLst>
  </p:timing>
</p:sld>
</file>

<file path=ppt/c11/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11D - Year 1 Pages 243-244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2E7DA11-DBAA-C636-1E6F-5D7754FB7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06558"/>
            <a:ext cx="7772400" cy="1094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0866C7-F0F4-07A0-298C-0A3600098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00" y="1722614"/>
            <a:ext cx="2016224" cy="17499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47FD2C-24CA-0079-3778-B07E0F1F0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3883" y="1820340"/>
            <a:ext cx="2133600" cy="838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8DA4C1-A51E-5215-BEE9-3D4F67612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588" y="1826966"/>
            <a:ext cx="2133600" cy="838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0A8634-3DF0-E257-1F90-8662EDBCA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293" y="1826966"/>
            <a:ext cx="1600200" cy="838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E5CC70-6EB7-830D-9D08-ED3BC1587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973" y="4211647"/>
            <a:ext cx="2908300" cy="2476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AC0C65-849C-041B-459D-7515CE80D2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1504" y="3678161"/>
            <a:ext cx="4824537" cy="2425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533611-6EAF-6348-14D0-AA1DF5065D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4521" y="3528538"/>
            <a:ext cx="1879135" cy="4765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338AAD8-2359-8F5A-D691-E0F97B0013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9536" y="3909140"/>
            <a:ext cx="4896544" cy="2399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C67D73B-1E9F-AD88-0F22-E915B922D3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6432" y="4236043"/>
            <a:ext cx="1562100" cy="127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5946E2-9BCA-F805-4993-BCE8623174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3863" y="4177334"/>
            <a:ext cx="1562100" cy="13454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275FF2F-950A-D492-1B3A-D2381F6CC6D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16796" y="4191083"/>
            <a:ext cx="1328197" cy="12588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0E1239A-2A72-BE80-07AE-80134F7D33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77724" y="5892089"/>
            <a:ext cx="2070100" cy="6985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BD69A73-BB7B-2973-52F3-52C473527614}"/>
              </a:ext>
            </a:extLst>
          </p:cNvPr>
          <p:cNvSpPr/>
          <p:nvPr/>
        </p:nvSpPr>
        <p:spPr>
          <a:xfrm>
            <a:off x="1638812" y="4177334"/>
            <a:ext cx="8921684" cy="2510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21B3FB-3B54-C4C2-9776-BCEDF174ABF4}"/>
              </a:ext>
            </a:extLst>
          </p:cNvPr>
          <p:cNvSpPr/>
          <p:nvPr/>
        </p:nvSpPr>
        <p:spPr>
          <a:xfrm>
            <a:off x="1631504" y="1722614"/>
            <a:ext cx="4115979" cy="17499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03DB8C-04A5-515E-6F1C-B45615E787CF}"/>
              </a:ext>
            </a:extLst>
          </p:cNvPr>
          <p:cNvSpPr/>
          <p:nvPr/>
        </p:nvSpPr>
        <p:spPr>
          <a:xfrm>
            <a:off x="5854551" y="1722614"/>
            <a:ext cx="2239672" cy="17499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783037-E196-6DC1-AC77-C433F8F8AE98}"/>
              </a:ext>
            </a:extLst>
          </p:cNvPr>
          <p:cNvSpPr/>
          <p:nvPr/>
        </p:nvSpPr>
        <p:spPr>
          <a:xfrm>
            <a:off x="8201294" y="1722614"/>
            <a:ext cx="2359203" cy="17499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100429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c11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11D - Year 1 Pages 243-244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693EEFE-9CFF-F302-DAA3-EF68DAADE568}"/>
              </a:ext>
            </a:extLst>
          </p:cNvPr>
          <p:cNvGrpSpPr/>
          <p:nvPr/>
        </p:nvGrpSpPr>
        <p:grpSpPr>
          <a:xfrm>
            <a:off x="1631504" y="653026"/>
            <a:ext cx="7920880" cy="1009191"/>
            <a:chOff x="107504" y="653025"/>
            <a:chExt cx="7920880" cy="100919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4A691A-285B-A0AD-D7FE-004C2DC13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53025"/>
              <a:ext cx="7772400" cy="100919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CBCB1C-1C47-28EC-57EC-AA6C48FB2DF2}"/>
                </a:ext>
              </a:extLst>
            </p:cNvPr>
            <p:cNvSpPr/>
            <p:nvPr/>
          </p:nvSpPr>
          <p:spPr>
            <a:xfrm>
              <a:off x="7380312" y="980728"/>
              <a:ext cx="648072" cy="681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CA7DBAB-D7FA-788A-8265-74BB9D08B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800" y="3051429"/>
            <a:ext cx="7772400" cy="576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C89718-8E8F-26E6-FBE0-2C7BC1E32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561" y="1783405"/>
            <a:ext cx="2489200" cy="825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CA32A5-1671-D8F5-1165-8FE93D96D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437" y="1783405"/>
            <a:ext cx="1752600" cy="977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0D61EA-D002-2AE0-B1A6-4C6B48B47D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9536" y="3933056"/>
            <a:ext cx="2667000" cy="193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BB7BBB-5074-7A03-306E-65B8B931EB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5920" y="3933056"/>
            <a:ext cx="2952328" cy="195416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79EC472-6C20-03D3-31B8-B7D54714799D}"/>
              </a:ext>
            </a:extLst>
          </p:cNvPr>
          <p:cNvSpPr/>
          <p:nvPr/>
        </p:nvSpPr>
        <p:spPr>
          <a:xfrm>
            <a:off x="1919537" y="1737365"/>
            <a:ext cx="3744417" cy="1023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1CC68A-244C-70D0-40DF-BB50C4007466}"/>
              </a:ext>
            </a:extLst>
          </p:cNvPr>
          <p:cNvSpPr/>
          <p:nvPr/>
        </p:nvSpPr>
        <p:spPr>
          <a:xfrm>
            <a:off x="5956817" y="1737364"/>
            <a:ext cx="3744417" cy="1023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A1C03F-CD12-5A55-FDC6-C761754E52BE}"/>
              </a:ext>
            </a:extLst>
          </p:cNvPr>
          <p:cNvSpPr/>
          <p:nvPr/>
        </p:nvSpPr>
        <p:spPr>
          <a:xfrm>
            <a:off x="1919536" y="3789040"/>
            <a:ext cx="7781697" cy="21602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2362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c11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Geometric Problems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Connector 4"/>
          <p:cNvCxnSpPr/>
          <p:nvPr/>
        </p:nvCxnSpPr>
        <p:spPr>
          <a:xfrm flipV="1">
            <a:off x="3667125" y="911215"/>
            <a:ext cx="1085830" cy="1784361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752955" y="911214"/>
            <a:ext cx="3960440" cy="24301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 rot="1194642">
            <a:off x="5505738" y="2608658"/>
            <a:ext cx="144016" cy="216024"/>
            <a:chOff x="2411760" y="2060848"/>
            <a:chExt cx="144016" cy="21602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483768" y="2132856"/>
              <a:ext cx="72008" cy="1440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2411760" y="2060848"/>
              <a:ext cx="144016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03893" y="1641493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893" y="1641493"/>
                <a:ext cx="288032" cy="461665"/>
              </a:xfrm>
              <a:prstGeom prst="rect">
                <a:avLst/>
              </a:prstGeom>
              <a:blipFill>
                <a:blip r:embed="rId2"/>
                <a:stretch>
                  <a:fillRect r="-255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265935" y="1813599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5935" y="1813599"/>
                <a:ext cx="288032" cy="461665"/>
              </a:xfrm>
              <a:prstGeom prst="rect">
                <a:avLst/>
              </a:prstGeom>
              <a:blipFill>
                <a:blip r:embed="rId3"/>
                <a:stretch>
                  <a:fillRect l="-6383" r="-659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71103" y="2528565"/>
                <a:ext cx="478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𝑶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103" y="2528565"/>
                <a:ext cx="47887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3650070" y="2692370"/>
            <a:ext cx="3960440" cy="24301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 rot="18408614">
            <a:off x="4095560" y="1833967"/>
            <a:ext cx="144016" cy="216024"/>
            <a:chOff x="2411760" y="2060848"/>
            <a:chExt cx="144016" cy="216024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483768" y="2132856"/>
              <a:ext cx="72008" cy="1440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411760" y="2060848"/>
              <a:ext cx="144016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/>
          <p:cNvCxnSpPr/>
          <p:nvPr/>
        </p:nvCxnSpPr>
        <p:spPr>
          <a:xfrm flipH="1" flipV="1">
            <a:off x="4762501" y="923925"/>
            <a:ext cx="2876551" cy="180975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418700" y="2674297"/>
                <a:ext cx="478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700" y="2674297"/>
                <a:ext cx="47887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 flipV="1">
            <a:off x="6717126" y="2085975"/>
            <a:ext cx="178974" cy="2408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02977" y="1778034"/>
            <a:ext cx="293298" cy="1650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832084" y="172909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084" y="1729095"/>
                <a:ext cx="288032" cy="461665"/>
              </a:xfrm>
              <a:prstGeom prst="rect">
                <a:avLst/>
              </a:prstGeom>
              <a:blipFill>
                <a:blip r:embed="rId6"/>
                <a:stretch>
                  <a:fillRect l="-6383" r="-425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399855" y="2749824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855" y="2749824"/>
                <a:ext cx="288032" cy="461665"/>
              </a:xfrm>
              <a:prstGeom prst="rect">
                <a:avLst/>
              </a:prstGeom>
              <a:blipFill>
                <a:blip r:embed="rId7"/>
                <a:stretch>
                  <a:fillRect l="-8511" r="-34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274085" y="547687"/>
                <a:ext cx="478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085" y="547687"/>
                <a:ext cx="47887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675851" y="680381"/>
                <a:ext cx="478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851" y="680381"/>
                <a:ext cx="47887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329674" y="3309222"/>
                <a:ext cx="6691018" cy="68179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 is a point 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𝑋𝐵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=3:1</m:t>
                    </m:r>
                  </m:oMath>
                </a14:m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dirty="0"/>
                  <a:t> is the midpoint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Show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𝑋𝑀</m:t>
                        </m:r>
                      </m:e>
                    </m:acc>
                  </m:oMath>
                </a14:m>
                <a:r>
                  <a:rPr lang="en-GB" dirty="0"/>
                  <a:t> is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674" y="3309222"/>
                <a:ext cx="6691018" cy="681790"/>
              </a:xfrm>
              <a:prstGeom prst="rect">
                <a:avLst/>
              </a:prstGeom>
              <a:blipFill>
                <a:blip r:embed="rId10"/>
                <a:stretch>
                  <a:fillRect b="-220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967642" y="4378594"/>
                <a:ext cx="4428492" cy="1881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𝑂𝐶</m:t>
                          </m:r>
                        </m:e>
                      </m:ac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  <m:oMath>
                      <m:acc>
                        <m:accPr>
                          <m:chr m:val="⃗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𝑋𝑀</m:t>
                          </m:r>
                        </m:e>
                      </m:ac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  <m:oMath>
                      <m:r>
                        <a:rPr lang="en-GB" sz="1600" i="1">
                          <a:latin typeface="Cambria Math" panose="02040503050406030204" pitchFamily="18" charset="0"/>
                        </a:rPr>
                        <m:t>        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𝑋𝑀</m:t>
                        </m:r>
                      </m:e>
                    </m:acc>
                  </m:oMath>
                </a14:m>
                <a:r>
                  <a:rPr lang="en-GB" dirty="0"/>
                  <a:t> </a:t>
                </a:r>
                <a:r>
                  <a:rPr lang="en-GB" b="1" u="sng" dirty="0"/>
                  <a:t>is a multiple of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dirty="0"/>
                  <a:t> parallel.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642" y="4378594"/>
                <a:ext cx="4428492" cy="18816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 flipV="1">
            <a:off x="7610475" y="932841"/>
            <a:ext cx="1102920" cy="180083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001202" y="5002660"/>
            <a:ext cx="2983230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dirty="0"/>
              <a:t>The key is to factor out a scalar such that we see the same vector.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781995" y="4143557"/>
                <a:ext cx="3591804" cy="55079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400" dirty="0"/>
                  <a:t>For any proof question always find the vectors involved first, in this case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𝑋𝑀</m:t>
                        </m:r>
                      </m:e>
                    </m:acc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995" y="4143557"/>
                <a:ext cx="3591804" cy="550792"/>
              </a:xfrm>
              <a:prstGeom prst="rect">
                <a:avLst/>
              </a:prstGeom>
              <a:blipFill>
                <a:blip r:embed="rId12"/>
                <a:stretch>
                  <a:fillRect l="-169" b="-85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6976101" y="5819693"/>
            <a:ext cx="2178621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dirty="0"/>
              <a:t>The magic words here are “</a:t>
            </a:r>
            <a:r>
              <a:rPr lang="en-GB" sz="1400" i="1" dirty="0"/>
              <a:t>is a multiple of</a:t>
            </a:r>
            <a:r>
              <a:rPr lang="en-GB" sz="1400" dirty="0"/>
              <a:t>”.</a:t>
            </a:r>
          </a:p>
        </p:txBody>
      </p:sp>
      <p:cxnSp>
        <p:nvCxnSpPr>
          <p:cNvPr id="31" name="Straight Arrow Connector 30"/>
          <p:cNvCxnSpPr>
            <a:stCxn id="29" idx="1"/>
          </p:cNvCxnSpPr>
          <p:nvPr/>
        </p:nvCxnSpPr>
        <p:spPr>
          <a:xfrm flipH="1">
            <a:off x="5682235" y="4418953"/>
            <a:ext cx="1099760" cy="267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8" idx="1"/>
          </p:cNvCxnSpPr>
          <p:nvPr/>
        </p:nvCxnSpPr>
        <p:spPr>
          <a:xfrm flipH="1">
            <a:off x="5522304" y="5264270"/>
            <a:ext cx="1478898" cy="15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0" idx="1"/>
          </p:cNvCxnSpPr>
          <p:nvPr/>
        </p:nvCxnSpPr>
        <p:spPr>
          <a:xfrm flipH="1" flipV="1">
            <a:off x="5540962" y="5805017"/>
            <a:ext cx="1435138" cy="276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949158" y="4082182"/>
            <a:ext cx="8539330" cy="24431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5617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c11/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Introducing Scalars and Comparing Coefficients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Connector 4"/>
          <p:cNvCxnSpPr/>
          <p:nvPr/>
        </p:nvCxnSpPr>
        <p:spPr>
          <a:xfrm flipV="1">
            <a:off x="6853383" y="1142274"/>
            <a:ext cx="498128" cy="2071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9639715" y="1113699"/>
            <a:ext cx="498128" cy="2071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7370562" y="1123225"/>
            <a:ext cx="2764039" cy="10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6853385" y="3194440"/>
            <a:ext cx="2794843" cy="19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 rot="6372604">
            <a:off x="7038962" y="2017565"/>
            <a:ext cx="144016" cy="288032"/>
            <a:chOff x="4139952" y="1772816"/>
            <a:chExt cx="144016" cy="288032"/>
          </a:xfrm>
        </p:grpSpPr>
        <p:cxnSp>
          <p:nvCxnSpPr>
            <p:cNvPr id="10" name="Straight Connector 9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 rot="349754">
            <a:off x="8648746" y="980320"/>
            <a:ext cx="144016" cy="288032"/>
            <a:chOff x="4139952" y="1772816"/>
            <a:chExt cx="144016" cy="288032"/>
          </a:xfrm>
        </p:grpSpPr>
        <p:cxnSp>
          <p:nvCxnSpPr>
            <p:cNvPr id="13" name="Straight Connector 12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 flipH="1" flipV="1">
            <a:off x="7360023" y="1126546"/>
            <a:ext cx="2279692" cy="20678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872433" y="1112600"/>
            <a:ext cx="3265410" cy="21008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524429" y="734891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429" y="734891"/>
                <a:ext cx="65307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542048" y="1947357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48" y="1947357"/>
                <a:ext cx="65307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01283" y="854074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283" y="854074"/>
                <a:ext cx="65307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423605" y="3121772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605" y="3121772"/>
                <a:ext cx="65307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937818" y="842116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7818" y="842116"/>
                <a:ext cx="653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424933" y="3038546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4933" y="3038546"/>
                <a:ext cx="65307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208281" y="1760608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281" y="1760608"/>
                <a:ext cx="653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898328" y="866098"/>
                <a:ext cx="352839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Remember when we had </a:t>
                </a:r>
                <a:r>
                  <a:rPr lang="en-GB" b="1" dirty="0"/>
                  <a:t>identities</a:t>
                </a:r>
                <a:r>
                  <a:rPr lang="en-GB" dirty="0"/>
                  <a:t> like: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≡2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we could </a:t>
                </a:r>
                <a:r>
                  <a:rPr lang="en-GB" b="1" dirty="0"/>
                  <a:t>compare coefficients</a:t>
                </a:r>
                <a:r>
                  <a:rPr lang="en-GB" dirty="0"/>
                  <a:t>, so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b="1" dirty="0"/>
                  <a:t>We can do the same with (non-parallel) vectors!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328" y="866098"/>
                <a:ext cx="3528392" cy="1754326"/>
              </a:xfrm>
              <a:prstGeom prst="rect">
                <a:avLst/>
              </a:prstGeom>
              <a:blipFill>
                <a:blip r:embed="rId9"/>
                <a:stretch>
                  <a:fillRect l="-1382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856039" y="2758438"/>
                <a:ext cx="4654632" cy="114031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𝑂𝐴𝐶𝐵</m:t>
                    </m:r>
                  </m:oMath>
                </a14:m>
                <a:r>
                  <a:rPr lang="en-GB" sz="1600" dirty="0"/>
                  <a:t> is a parallelogram, where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𝑂𝐵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. The diagonals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𝑂𝐶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GB" sz="1600" dirty="0"/>
                  <a:t> intersect at a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600" dirty="0"/>
                  <a:t>. Prove that the diagonals bisect each other.</a:t>
                </a:r>
              </a:p>
              <a:p>
                <a:r>
                  <a:rPr lang="en-GB" sz="1600" i="1" dirty="0"/>
                  <a:t>(Hint: Perhaps find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𝑂𝑋</m:t>
                        </m:r>
                      </m:e>
                    </m:acc>
                  </m:oMath>
                </a14:m>
                <a:r>
                  <a:rPr lang="en-GB" sz="1600" i="1" dirty="0"/>
                  <a:t> in two different ways?)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039" y="2758438"/>
                <a:ext cx="4654632" cy="11403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153469" y="3999183"/>
                <a:ext cx="4345756" cy="2705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By considering the route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𝑂𝑋</m:t>
                          </m:r>
                        </m:e>
                      </m:ac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𝐵𝐴</m:t>
                          </m:r>
                        </m:e>
                      </m:acc>
                    </m:oMath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       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       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dirty="0"/>
                  <a:t>Similarly, considering the line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𝑂𝐶</m:t>
                    </m:r>
                  </m:oMath>
                </a14:m>
                <a:r>
                  <a:rPr lang="en-GB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𝑂𝑋</m:t>
                          </m:r>
                        </m:e>
                      </m:ac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𝑂𝐶</m:t>
                          </m:r>
                        </m:e>
                      </m:ac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dirty="0"/>
                  <a:t>Comparing coefficients of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400" b="1" dirty="0"/>
                  <a:t>: 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GB" sz="1400" dirty="0"/>
              </a:p>
              <a:p>
                <a:r>
                  <a:rPr lang="en-GB" sz="1400" dirty="0"/>
                  <a:t>Comparing coefficients of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400" b="1" dirty="0"/>
                  <a:t>: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400" dirty="0"/>
                  <a:t> is the midpoint of each of the diagonals.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469" y="3999183"/>
                <a:ext cx="4345756" cy="2705228"/>
              </a:xfrm>
              <a:prstGeom prst="rect">
                <a:avLst/>
              </a:prstGeom>
              <a:blipFill>
                <a:blip r:embed="rId11"/>
                <a:stretch>
                  <a:fillRect l="-421" t="-450" b="-15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738708" y="4212961"/>
                <a:ext cx="3522323" cy="92967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We don’t know what fraction of the way across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𝐵𝐴</m:t>
                        </m:r>
                      </m:e>
                    </m:acc>
                  </m:oMath>
                </a14:m>
                <a:r>
                  <a:rPr lang="en-GB" sz="1200" dirty="0"/>
                  <a:t> the point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200" dirty="0"/>
                  <a:t> is, so let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1200" dirty="0"/>
                  <a:t> be the fraction of the way across. We’re hoping that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200" dirty="0"/>
                  <a:t>, so that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200" dirty="0"/>
                  <a:t> is exactly halfway across and therefore bisects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𝐵𝐴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708" y="4212961"/>
                <a:ext cx="3522323" cy="929678"/>
              </a:xfrm>
              <a:prstGeom prst="rect">
                <a:avLst/>
              </a:prstGeom>
              <a:blipFill>
                <a:blip r:embed="rId12"/>
                <a:stretch>
                  <a:fillRect b="-31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stCxn id="36" idx="1"/>
          </p:cNvCxnSpPr>
          <p:nvPr/>
        </p:nvCxnSpPr>
        <p:spPr>
          <a:xfrm flipH="1" flipV="1">
            <a:off x="5879977" y="4377656"/>
            <a:ext cx="858730" cy="300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723883" y="5336636"/>
                <a:ext cx="3591693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We need to use a different scalar constant, this time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1200" dirty="0"/>
                  <a:t>.</a:t>
                </a:r>
              </a:p>
              <a:p>
                <a:r>
                  <a:rPr lang="en-GB" sz="1200" dirty="0"/>
                  <a:t>It is common to use the letters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1200" dirty="0"/>
                  <a:t> for scalars.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883" y="5336636"/>
                <a:ext cx="3591693" cy="461665"/>
              </a:xfrm>
              <a:prstGeom prst="rect">
                <a:avLst/>
              </a:prstGeom>
              <a:blipFill>
                <a:blip r:embed="rId1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 flipH="1" flipV="1">
            <a:off x="5858644" y="5287050"/>
            <a:ext cx="858731" cy="288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896814" y="4018209"/>
            <a:ext cx="8593386" cy="27159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5462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c11/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Connector 5"/>
          <p:cNvCxnSpPr/>
          <p:nvPr/>
        </p:nvCxnSpPr>
        <p:spPr>
          <a:xfrm flipV="1">
            <a:off x="3826877" y="1189773"/>
            <a:ext cx="498128" cy="2071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7013259" y="1189773"/>
            <a:ext cx="498128" cy="2071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4325005" y="1189773"/>
            <a:ext cx="31863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3826877" y="3260989"/>
            <a:ext cx="31863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 rot="6372604">
            <a:off x="4012456" y="2065064"/>
            <a:ext cx="144016" cy="288032"/>
            <a:chOff x="4139952" y="1772816"/>
            <a:chExt cx="144016" cy="288032"/>
          </a:xfrm>
        </p:grpSpPr>
        <p:cxnSp>
          <p:nvCxnSpPr>
            <p:cNvPr id="16" name="Straight Connector 15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349754">
            <a:off x="5707965" y="1037343"/>
            <a:ext cx="144016" cy="288032"/>
            <a:chOff x="4139952" y="1772816"/>
            <a:chExt cx="144016" cy="288032"/>
          </a:xfrm>
        </p:grpSpPr>
        <p:cxnSp>
          <p:nvCxnSpPr>
            <p:cNvPr id="19" name="Straight Connector 18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/>
          <p:cNvCxnSpPr/>
          <p:nvPr/>
        </p:nvCxnSpPr>
        <p:spPr>
          <a:xfrm flipH="1" flipV="1">
            <a:off x="4333517" y="1174045"/>
            <a:ext cx="2665117" cy="20869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843924" y="1197638"/>
            <a:ext cx="1576145" cy="20554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393148" y="687140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148" y="687140"/>
                <a:ext cx="65307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410767" y="1975806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767" y="1975806"/>
                <a:ext cx="65307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874777" y="901573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777" y="901573"/>
                <a:ext cx="65307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362247" y="3250381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247" y="3250381"/>
                <a:ext cx="65307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317054" y="925057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7054" y="925057"/>
                <a:ext cx="653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805152" y="3223554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152" y="3223554"/>
                <a:ext cx="65307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699953" y="1753980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953" y="1753980"/>
                <a:ext cx="653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070791" y="873043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791" y="873043"/>
                <a:ext cx="653072" cy="369332"/>
              </a:xfrm>
              <a:prstGeom prst="rect">
                <a:avLst/>
              </a:prstGeom>
              <a:blipFill>
                <a:blip r:embed="rId9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47548" y="3737782"/>
                <a:ext cx="8324916" cy="124303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 the above diagram,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𝑂𝐵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𝑂𝑄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600" dirty="0"/>
                  <a:t>. We wish to find the ratio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𝑂𝑋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𝑋𝐶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𝑂𝑋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en-GB" sz="1600" dirty="0"/>
                  <a:t>, find an expression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𝑂𝑋</m:t>
                        </m:r>
                      </m:e>
                    </m:acc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𝐵𝑋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𝐵𝑄</m:t>
                        </m:r>
                      </m:e>
                    </m:acc>
                  </m:oMath>
                </a14:m>
                <a:r>
                  <a:rPr lang="en-GB" sz="1600" dirty="0"/>
                  <a:t>, find an expression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𝑂𝑋</m:t>
                        </m:r>
                      </m:e>
                    </m:acc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By comparing coefficients or otherwise, determine the value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1600" dirty="0"/>
                  <a:t>, and hence the ratio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𝑂𝑋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𝑋𝐶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548" y="3737782"/>
                <a:ext cx="8324916" cy="12430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498020" y="5072133"/>
                <a:ext cx="6120680" cy="1810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𝑂𝑋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𝑂𝐶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𝑂𝑋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𝐵𝑄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dirty="0"/>
                  <a:t>Comparing coefficients: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𝑂𝑋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en-GB" dirty="0"/>
                  <a:t>, then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𝑋𝐶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=1:3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020" y="5072133"/>
                <a:ext cx="6120680" cy="1810817"/>
              </a:xfrm>
              <a:prstGeom prst="rect">
                <a:avLst/>
              </a:prstGeom>
              <a:blipFill>
                <a:blip r:embed="rId11"/>
                <a:stretch>
                  <a:fillRect l="-896" b="-13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2132132" y="5148332"/>
            <a:ext cx="216024" cy="2290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32132" y="5544926"/>
            <a:ext cx="216024" cy="2290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8128" y="6093296"/>
            <a:ext cx="216024" cy="2290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8502037" y="5419994"/>
                <a:ext cx="21013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Expand and collect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200" dirty="0"/>
                  <a:t> terms and collect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200" dirty="0"/>
                  <a:t> terms, so that we can compare coefficients later.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037" y="5419994"/>
                <a:ext cx="2101319" cy="646331"/>
              </a:xfrm>
              <a:prstGeom prst="rect">
                <a:avLst/>
              </a:prstGeom>
              <a:blipFill>
                <a:blip r:embed="rId12"/>
                <a:stretch>
                  <a:fillRect l="-291" r="-1744" b="-6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>
            <a:stCxn id="41" idx="1"/>
          </p:cNvCxnSpPr>
          <p:nvPr/>
        </p:nvCxnSpPr>
        <p:spPr>
          <a:xfrm flipH="1" flipV="1">
            <a:off x="8356600" y="5727701"/>
            <a:ext cx="145436" cy="15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363589" y="5134024"/>
            <a:ext cx="4113411" cy="3142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59617" y="5448300"/>
            <a:ext cx="8154838" cy="63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45773" y="6068347"/>
            <a:ext cx="8168683" cy="7896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10629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</p:bldLst>
  </p:timing>
</p:sld>
</file>

<file path=ppt/c11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Area of a Triangle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33960" y="997745"/>
                <a:ext cx="5430192" cy="40479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dirty="0"/>
                  <a:t>. Determine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𝐵𝐴𝐶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960" y="997745"/>
                <a:ext cx="5430192" cy="404791"/>
              </a:xfrm>
              <a:prstGeom prst="rect">
                <a:avLst/>
              </a:prstGeom>
              <a:blipFill>
                <a:blip r:embed="rId2"/>
                <a:stretch>
                  <a:fillRect b="-444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003130" y="1628800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Strategy</a:t>
            </a:r>
            <a:r>
              <a:rPr lang="en-GB" dirty="0"/>
              <a:t>: Find 3 lengths of triangle then use cosine rule to find angle.</a:t>
            </a:r>
          </a:p>
        </p:txBody>
      </p:sp>
      <p:sp>
        <p:nvSpPr>
          <p:cNvPr id="7" name="Freeform: Shape 6"/>
          <p:cNvSpPr/>
          <p:nvPr/>
        </p:nvSpPr>
        <p:spPr>
          <a:xfrm>
            <a:off x="3852530" y="2477386"/>
            <a:ext cx="2211572" cy="1871330"/>
          </a:xfrm>
          <a:custGeom>
            <a:avLst/>
            <a:gdLst>
              <a:gd name="connsiteX0" fmla="*/ 0 w 2211572"/>
              <a:gd name="connsiteY0" fmla="*/ 0 h 1871330"/>
              <a:gd name="connsiteX1" fmla="*/ 2211572 w 2211572"/>
              <a:gd name="connsiteY1" fmla="*/ 850605 h 1871330"/>
              <a:gd name="connsiteX2" fmla="*/ 1084521 w 2211572"/>
              <a:gd name="connsiteY2" fmla="*/ 1871330 h 1871330"/>
              <a:gd name="connsiteX3" fmla="*/ 0 w 2211572"/>
              <a:gd name="connsiteY3" fmla="*/ 0 h 187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1572" h="1871330">
                <a:moveTo>
                  <a:pt x="0" y="0"/>
                </a:moveTo>
                <a:lnTo>
                  <a:pt x="2211572" y="850605"/>
                </a:lnTo>
                <a:lnTo>
                  <a:pt x="1084521" y="18713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oup 7"/>
          <p:cNvGrpSpPr/>
          <p:nvPr/>
        </p:nvGrpSpPr>
        <p:grpSpPr>
          <a:xfrm rot="1397510">
            <a:off x="4836095" y="2738552"/>
            <a:ext cx="144016" cy="288032"/>
            <a:chOff x="4139952" y="1772816"/>
            <a:chExt cx="144016" cy="288032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 rot="3125538">
            <a:off x="4400039" y="3397890"/>
            <a:ext cx="144016" cy="288032"/>
            <a:chOff x="4139952" y="1772816"/>
            <a:chExt cx="144016" cy="288032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8891272">
            <a:off x="5437364" y="3710101"/>
            <a:ext cx="144016" cy="288032"/>
            <a:chOff x="4139952" y="1772816"/>
            <a:chExt cx="144016" cy="288032"/>
          </a:xfrm>
        </p:grpSpPr>
        <p:cxnSp>
          <p:nvCxnSpPr>
            <p:cNvPr id="15" name="Straight Connector 14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83381" y="2327615"/>
                <a:ext cx="5648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381" y="2327615"/>
                <a:ext cx="56484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597209" y="4333278"/>
                <a:ext cx="5648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209" y="4333278"/>
                <a:ext cx="5648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895309" y="3150676"/>
                <a:ext cx="5648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309" y="3150676"/>
                <a:ext cx="56484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920874" y="2356516"/>
                <a:ext cx="564842" cy="55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874" y="2356516"/>
                <a:ext cx="564842" cy="552459"/>
              </a:xfrm>
              <a:prstGeom prst="rect">
                <a:avLst/>
              </a:prstGeom>
              <a:blipFill>
                <a:blip r:embed="rId6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583853" y="3394760"/>
                <a:ext cx="564842" cy="55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853" y="3394760"/>
                <a:ext cx="564842" cy="552459"/>
              </a:xfrm>
              <a:prstGeom prst="rect">
                <a:avLst/>
              </a:prstGeom>
              <a:blipFill>
                <a:blip r:embed="rId7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605795" y="3780820"/>
                <a:ext cx="564842" cy="55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795" y="3780820"/>
                <a:ext cx="564842" cy="5524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862084" y="2367147"/>
                <a:ext cx="1616149" cy="427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084" y="2367147"/>
                <a:ext cx="1616149" cy="4270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462525" y="4057048"/>
                <a:ext cx="1616149" cy="427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</m:ac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525" y="4057048"/>
                <a:ext cx="1616149" cy="4270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381301" y="3843528"/>
                <a:ext cx="1616149" cy="427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𝐶𝐵</m:t>
                              </m:r>
                            </m:e>
                          </m:ac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301" y="3843528"/>
                <a:ext cx="1616149" cy="4270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: Shape 25"/>
          <p:cNvSpPr/>
          <p:nvPr/>
        </p:nvSpPr>
        <p:spPr>
          <a:xfrm>
            <a:off x="4128978" y="2679405"/>
            <a:ext cx="244549" cy="276446"/>
          </a:xfrm>
          <a:custGeom>
            <a:avLst/>
            <a:gdLst>
              <a:gd name="connsiteX0" fmla="*/ 0 w 244549"/>
              <a:gd name="connsiteY0" fmla="*/ 276446 h 276446"/>
              <a:gd name="connsiteX1" fmla="*/ 159488 w 244549"/>
              <a:gd name="connsiteY1" fmla="*/ 148855 h 276446"/>
              <a:gd name="connsiteX2" fmla="*/ 244549 w 244549"/>
              <a:gd name="connsiteY2" fmla="*/ 0 h 276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549" h="276446">
                <a:moveTo>
                  <a:pt x="0" y="276446"/>
                </a:moveTo>
                <a:cubicBezTo>
                  <a:pt x="59365" y="235687"/>
                  <a:pt x="118730" y="194929"/>
                  <a:pt x="159488" y="148855"/>
                </a:cubicBezTo>
                <a:cubicBezTo>
                  <a:pt x="200246" y="102781"/>
                  <a:pt x="222397" y="51390"/>
                  <a:pt x="244549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001662" y="4715465"/>
                <a:ext cx="8185741" cy="1922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A clever student might at this point realise that we can divide all the lengths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GB" sz="1400" dirty="0"/>
                  <a:t> without changing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𝐵𝐴𝐶</m:t>
                    </m:r>
                  </m:oMath>
                </a14:m>
                <a:r>
                  <a:rPr lang="en-GB" sz="1400" dirty="0"/>
                  <a:t>, giving a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1:1:</m:t>
                    </m:r>
                    <m:rad>
                      <m:radPr>
                        <m:degHide m:val="on"/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GB" sz="1400" dirty="0"/>
                  <a:t> triangle (one of our ‘special’ triangles!), and thus instantly getting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𝐵𝐴𝐶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=45°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But let’s use a more general method of using the </a:t>
                </a:r>
                <a:r>
                  <a:rPr lang="en-GB" sz="1400" b="1" dirty="0"/>
                  <a:t>cosine rule</a:t>
                </a:r>
                <a:r>
                  <a:rPr lang="en-GB" sz="1400" dirty="0"/>
                  <a:t>:</a:t>
                </a:r>
              </a:p>
              <a:p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GB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GB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13=13+26−2×</m:t>
                      </m:r>
                      <m:rad>
                        <m:radPr>
                          <m:deg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GB" sz="1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  <m:oMath>
                      <m:func>
                        <m:funcPr>
                          <m:ctrlPr>
                            <a:rPr lang="en-GB" sz="1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=45°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662" y="4715465"/>
                <a:ext cx="8185741" cy="1922001"/>
              </a:xfrm>
              <a:prstGeom prst="rect">
                <a:avLst/>
              </a:prstGeom>
              <a:blipFill>
                <a:blip r:embed="rId12"/>
                <a:stretch>
                  <a:fillRect l="-2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6861161" y="2327027"/>
            <a:ext cx="691500" cy="5862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05795" y="3826720"/>
            <a:ext cx="691500" cy="5862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3606" y="3798264"/>
            <a:ext cx="691500" cy="5862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176" y="4055569"/>
            <a:ext cx="691500" cy="5862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4302" y="1575869"/>
            <a:ext cx="5726675" cy="5400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05912" y="4765830"/>
            <a:ext cx="8181490" cy="18172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00208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c11/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11E  - Year 1 Pages 246-247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19D591A-FB80-6730-AC2A-0AF25D665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92697"/>
            <a:ext cx="8383450" cy="19755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4E36E4-CD35-BDB3-88C7-C63B2678F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3" y="2348881"/>
            <a:ext cx="2319031" cy="183159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37BBD64-33DF-8ECF-0C63-9544BC7EAAFB}"/>
              </a:ext>
            </a:extLst>
          </p:cNvPr>
          <p:cNvSpPr/>
          <p:nvPr/>
        </p:nvSpPr>
        <p:spPr>
          <a:xfrm>
            <a:off x="1703512" y="2204865"/>
            <a:ext cx="5256584" cy="19756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75879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c11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11E  - Year 1 Pages 246-247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B2690B8-D5ED-C6FB-2D79-26336B9C8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3" y="692697"/>
            <a:ext cx="5563475" cy="16936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B58A5E-DA3D-B135-1B70-A4AA810A3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208" y="692697"/>
            <a:ext cx="2557998" cy="15725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2DE602-C125-8D51-D6B0-9C45F20A4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2491260"/>
            <a:ext cx="1485900" cy="520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A06B44-10A4-EC96-6996-522699358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074" y="2386309"/>
            <a:ext cx="3340100" cy="396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F474DC-B8B0-AED7-D169-9A52B84B5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9292" y="2386309"/>
            <a:ext cx="3619500" cy="1905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5B7B56-813C-3271-BD2A-F697BF57D1F1}"/>
              </a:ext>
            </a:extLst>
          </p:cNvPr>
          <p:cNvSpPr/>
          <p:nvPr/>
        </p:nvSpPr>
        <p:spPr>
          <a:xfrm>
            <a:off x="1959122" y="2391902"/>
            <a:ext cx="4869053" cy="40614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F40C73-8B50-0E6A-4CE2-E262130EE8FB}"/>
              </a:ext>
            </a:extLst>
          </p:cNvPr>
          <p:cNvSpPr/>
          <p:nvPr/>
        </p:nvSpPr>
        <p:spPr>
          <a:xfrm>
            <a:off x="6919292" y="2391902"/>
            <a:ext cx="3619500" cy="40614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347655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c11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11E  - Year 1 Pages 246-247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11CEF4B-73C2-F04D-DA4F-9DA94AAB5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744105"/>
            <a:ext cx="4176464" cy="8657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1A22BC-5F5A-0CE6-17B7-0B4991BF0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1664962"/>
            <a:ext cx="4032448" cy="6270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13B911-BABF-D84E-149B-6934C0FE7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622" y="617781"/>
            <a:ext cx="2852698" cy="14571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9FED88-CD95-C3F9-47FE-9EC9A924B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9536" y="2564904"/>
            <a:ext cx="3960440" cy="24886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6397CE-BB45-E634-31E8-F9EE8DEDB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721" y="2564904"/>
            <a:ext cx="2852698" cy="25207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E70D77-D98D-FE76-D0B5-3DEDC30ABE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5560" y="5373216"/>
            <a:ext cx="1917700" cy="10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1F7E4E-AC06-686E-6BD0-B45447F0E588}"/>
              </a:ext>
            </a:extLst>
          </p:cNvPr>
          <p:cNvSpPr/>
          <p:nvPr/>
        </p:nvSpPr>
        <p:spPr>
          <a:xfrm>
            <a:off x="1919537" y="2391902"/>
            <a:ext cx="8457359" cy="26937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DF8AEE-14CB-C0C7-201F-091AC13A367C}"/>
              </a:ext>
            </a:extLst>
          </p:cNvPr>
          <p:cNvSpPr/>
          <p:nvPr/>
        </p:nvSpPr>
        <p:spPr>
          <a:xfrm>
            <a:off x="1919537" y="5258655"/>
            <a:ext cx="8457359" cy="1346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243680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c11/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11E  - Year 1 Pages 246-247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8127560-6F34-A523-81C0-1B5312CB2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655" y="657631"/>
            <a:ext cx="2000490" cy="1629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74D27D-631A-650E-9861-4670B2F1C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200" y="1440977"/>
            <a:ext cx="5616624" cy="7584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1FA30D-8D39-83C2-EBA2-F0F16D27C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657630"/>
            <a:ext cx="5937396" cy="839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29C4F2-B52A-344A-F2BF-51A203E09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298" y="2420888"/>
            <a:ext cx="2692400" cy="3632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ABEF08-DF99-1A65-5C39-E0CBE0881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5878" y="2530095"/>
            <a:ext cx="2959100" cy="31369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94CB66-B299-C2FD-1901-A96667B334AF}"/>
              </a:ext>
            </a:extLst>
          </p:cNvPr>
          <p:cNvCxnSpPr/>
          <p:nvPr/>
        </p:nvCxnSpPr>
        <p:spPr>
          <a:xfrm>
            <a:off x="4492698" y="2563220"/>
            <a:ext cx="0" cy="3637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E2AEE1E-2222-87E8-FAB9-D7A43DE8F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8600" y="2616200"/>
            <a:ext cx="2819400" cy="1625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89FA611-C8D6-D5A4-7C6C-47AE47B5029F}"/>
              </a:ext>
            </a:extLst>
          </p:cNvPr>
          <p:cNvSpPr/>
          <p:nvPr/>
        </p:nvSpPr>
        <p:spPr>
          <a:xfrm>
            <a:off x="1703513" y="2382814"/>
            <a:ext cx="5871466" cy="38874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ABB94C-1BC7-81CD-9A7F-0175EE77404A}"/>
              </a:ext>
            </a:extLst>
          </p:cNvPr>
          <p:cNvSpPr/>
          <p:nvPr/>
        </p:nvSpPr>
        <p:spPr>
          <a:xfrm>
            <a:off x="7739610" y="2382813"/>
            <a:ext cx="2820886" cy="38874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4070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c11/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11E  - Year 1 Pages 246-247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2454C63-A3C6-99D5-88F9-485ABF12C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57096"/>
            <a:ext cx="5976664" cy="2512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8C35E-44B3-E18D-BB69-82B94AFA5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3260356"/>
            <a:ext cx="2946400" cy="300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F34D87-65B1-E50E-96A6-4592E6502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968" y="3260356"/>
            <a:ext cx="3708400" cy="19177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2041E6F-3D3D-A6F5-6537-076831A34F58}"/>
              </a:ext>
            </a:extLst>
          </p:cNvPr>
          <p:cNvSpPr/>
          <p:nvPr/>
        </p:nvSpPr>
        <p:spPr>
          <a:xfrm>
            <a:off x="1703513" y="3260356"/>
            <a:ext cx="3708400" cy="3009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30F67C-ABF5-6853-7559-4E97AB0D20CF}"/>
              </a:ext>
            </a:extLst>
          </p:cNvPr>
          <p:cNvSpPr/>
          <p:nvPr/>
        </p:nvSpPr>
        <p:spPr>
          <a:xfrm>
            <a:off x="5647151" y="3260356"/>
            <a:ext cx="3708400" cy="3009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372178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11/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>
                  <a:solidFill>
                    <a:srgbClr val="FF0000"/>
                  </a:solidFill>
                </a:rPr>
                <a:t>EXTENSION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79576" y="908720"/>
                <a:ext cx="5832648" cy="4149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[STEP 2010 Q7]</a:t>
                </a:r>
              </a:p>
              <a:p>
                <a:r>
                  <a:rPr lang="en-GB" sz="1600" dirty="0"/>
                  <a:t>Relative to a fixed origin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, the points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have position vectors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dirty="0"/>
                  <a:t>, respectively. (The points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are not collinear.) The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has position vector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1600" dirty="0"/>
                  <a:t> given by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600" dirty="0"/>
                  <a:t> are positive constants with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sz="1600" dirty="0"/>
                  <a:t>. The lines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𝑂𝐴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GB" sz="1600" dirty="0"/>
                  <a:t> meet at the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with position vector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sz="1600" dirty="0"/>
                  <a:t> and the lines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𝑂𝐵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en-GB" sz="1600" dirty="0"/>
                  <a:t> meet at the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 with position vector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GB" sz="1600" dirty="0"/>
                  <a:t>. Show that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and write down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Show further that the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600" dirty="0"/>
                  <a:t> with position vector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1600" dirty="0"/>
                  <a:t> given by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lies on the lines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𝑂𝐶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The lines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𝑂𝐵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𝑃𝑅</m:t>
                    </m:r>
                  </m:oMath>
                </a14:m>
                <a:r>
                  <a:rPr lang="en-GB" sz="1600" dirty="0"/>
                  <a:t> intersect at the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600" dirty="0"/>
                  <a:t>. Prove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𝑂𝑄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𝐵𝑄</m:t>
                        </m:r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𝑂𝑆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𝐵𝑆</m:t>
                        </m:r>
                      </m:den>
                    </m:f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908720"/>
                <a:ext cx="5832648" cy="4149598"/>
              </a:xfrm>
              <a:prstGeom prst="rect">
                <a:avLst/>
              </a:prstGeom>
              <a:blipFill>
                <a:blip r:embed="rId2"/>
                <a:stretch>
                  <a:fillRect l="-627" t="-441" r="-6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923728" y="1010320"/>
            <a:ext cx="277564" cy="3138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8716" y="5316972"/>
            <a:ext cx="2151732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Click here for the solution:</a:t>
            </a:r>
          </a:p>
          <a:p>
            <a:r>
              <a:rPr lang="en-GB" sz="1400" dirty="0">
                <a:solidFill>
                  <a:schemeClr val="bg1"/>
                </a:solidFill>
                <a:hlinkClick r:id="rId3"/>
              </a:rPr>
              <a:t>http://www.mathshelper.co.uk/STEP%202010%20Solutions.pdf</a:t>
            </a:r>
            <a:endParaRPr lang="en-GB" sz="1400" dirty="0">
              <a:solidFill>
                <a:schemeClr val="bg1"/>
              </a:solidFill>
            </a:endParaRPr>
          </a:p>
          <a:p>
            <a:r>
              <a:rPr lang="en-GB" sz="1400" dirty="0"/>
              <a:t>(go to Q7)</a:t>
            </a:r>
          </a:p>
        </p:txBody>
      </p:sp>
    </p:spTree>
    <p:extLst>
      <p:ext uri="{BB962C8B-B14F-4D97-AF65-F5344CB8AC3E}">
        <p14:creationId xmlns:p14="http://schemas.microsoft.com/office/powerpoint/2010/main" val="1125797140"/>
      </p:ext>
    </p:extLst>
  </p:cSld>
  <p:clrMapOvr>
    <a:masterClrMapping/>
  </p:clrMapOvr>
</p:sld>
</file>

<file path=ppt/c11/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Modelling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99580" y="2585617"/>
                <a:ext cx="2144292" cy="1095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Velocity</a:t>
                </a:r>
              </a:p>
              <a:p>
                <a:r>
                  <a:rPr lang="en-GB" sz="2000" dirty="0"/>
                  <a:t>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580" y="2585617"/>
                <a:ext cx="2144292" cy="1095941"/>
              </a:xfrm>
              <a:prstGeom prst="rect">
                <a:avLst/>
              </a:prstGeom>
              <a:blipFill>
                <a:blip r:embed="rId2"/>
                <a:stretch>
                  <a:fillRect l="-7102" t="-7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791945" y="709121"/>
            <a:ext cx="4752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Mechanics, you will see certain things can be represented as a simple number (without direction), or as a vector (with direction):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597200" y="2446288"/>
            <a:ext cx="7200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986324" y="3668341"/>
            <a:ext cx="591205" cy="11216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17373645">
            <a:off x="4237104" y="4061122"/>
            <a:ext cx="144016" cy="288032"/>
            <a:chOff x="4139952" y="1772816"/>
            <a:chExt cx="144016" cy="288032"/>
          </a:xfrm>
        </p:grpSpPr>
        <p:cxnSp>
          <p:nvCxnSpPr>
            <p:cNvPr id="11" name="Straight Connector 10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/>
          <p:cNvCxnSpPr/>
          <p:nvPr/>
        </p:nvCxnSpPr>
        <p:spPr>
          <a:xfrm>
            <a:off x="3986324" y="4789967"/>
            <a:ext cx="5912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7528" y="3668341"/>
            <a:ext cx="0" cy="11216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469579" y="4133290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79" y="4133290"/>
                <a:ext cx="52971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068362" y="4764282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362" y="4764282"/>
                <a:ext cx="5297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755622" y="1839121"/>
            <a:ext cx="2723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Vector Quantity</a:t>
            </a:r>
            <a:endParaRPr lang="en-GB" sz="1050" b="1" dirty="0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5830186" y="1796592"/>
            <a:ext cx="0" cy="47287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72109" y="1839121"/>
            <a:ext cx="3541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Equivalent Scalar Quantity</a:t>
            </a:r>
            <a:endParaRPr lang="en-GB" sz="105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521775" y="2734471"/>
                <a:ext cx="2144292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Speed</a:t>
                </a:r>
              </a:p>
              <a:p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775" y="2734471"/>
                <a:ext cx="2144292" cy="892552"/>
              </a:xfrm>
              <a:prstGeom prst="rect">
                <a:avLst/>
              </a:prstGeom>
              <a:blipFill>
                <a:blip r:embed="rId5"/>
                <a:stretch>
                  <a:fillRect l="-7386" t="-8904" b="-61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/>
          <p:nvPr/>
        </p:nvCxnSpPr>
        <p:spPr>
          <a:xfrm flipV="1">
            <a:off x="7133054" y="3704659"/>
            <a:ext cx="591205" cy="11216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 rot="17373645">
            <a:off x="7383834" y="4097440"/>
            <a:ext cx="144016" cy="288032"/>
            <a:chOff x="4139952" y="1772816"/>
            <a:chExt cx="144016" cy="288032"/>
          </a:xfrm>
        </p:grpSpPr>
        <p:cxnSp>
          <p:nvCxnSpPr>
            <p:cNvPr id="31" name="Straight Connector 30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/>
          <p:cNvCxnSpPr/>
          <p:nvPr/>
        </p:nvCxnSpPr>
        <p:spPr>
          <a:xfrm>
            <a:off x="7133054" y="4826285"/>
            <a:ext cx="5912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724258" y="3704659"/>
            <a:ext cx="0" cy="11216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967724" y="3935692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724" y="3935692"/>
                <a:ext cx="5297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7503253" y="791928"/>
            <a:ext cx="3087675" cy="9541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Remember a ‘scalar’ just means a normal number (in the context of vectors). It can be obtained using the </a:t>
            </a:r>
            <a:r>
              <a:rPr lang="en-GB" sz="1400" b="1" dirty="0"/>
              <a:t>magnitude</a:t>
            </a:r>
            <a:r>
              <a:rPr lang="en-GB" sz="1400" dirty="0"/>
              <a:t> of the vector.</a:t>
            </a:r>
          </a:p>
        </p:txBody>
      </p:sp>
      <p:cxnSp>
        <p:nvCxnSpPr>
          <p:cNvPr id="39" name="Straight Arrow Connector 38"/>
          <p:cNvCxnSpPr>
            <a:stCxn id="37" idx="2"/>
          </p:cNvCxnSpPr>
          <p:nvPr/>
        </p:nvCxnSpPr>
        <p:spPr>
          <a:xfrm flipH="1">
            <a:off x="8871098" y="1746034"/>
            <a:ext cx="175992" cy="199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161954" y="3757944"/>
                <a:ext cx="1615314" cy="109651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means the position vector of the object changes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400" dirty="0"/>
                  <a:t>  each hour.</a:t>
                </a: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954" y="3757944"/>
                <a:ext cx="1615314" cy="1096519"/>
              </a:xfrm>
              <a:prstGeom prst="rect">
                <a:avLst/>
              </a:prstGeom>
              <a:blipFill>
                <a:blip r:embed="rId7"/>
                <a:stretch>
                  <a:fillRect l="-3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8068227" y="3832250"/>
            <a:ext cx="1866127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…which is equivalent to moving 5km each hour.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2657184" y="5229200"/>
            <a:ext cx="7200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597890" y="5288950"/>
                <a:ext cx="2528056" cy="1095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Displacement</a:t>
                </a:r>
              </a:p>
              <a:p>
                <a:r>
                  <a:rPr lang="en-GB" sz="2000" dirty="0"/>
                  <a:t>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890" y="5288950"/>
                <a:ext cx="2528056" cy="1095941"/>
              </a:xfrm>
              <a:prstGeom prst="rect">
                <a:avLst/>
              </a:prstGeom>
              <a:blipFill>
                <a:blip r:embed="rId8"/>
                <a:stretch>
                  <a:fillRect l="-6024" t="-7263" r="-2169" b="-11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351159" y="5363377"/>
                <a:ext cx="1775660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Distance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i="1">
                          <a:latin typeface="Cambria Math" panose="02040503050406030204" pitchFamily="18" charset="0"/>
                        </a:rPr>
                        <m:t>=13 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159" y="5363377"/>
                <a:ext cx="1775660" cy="892552"/>
              </a:xfrm>
              <a:prstGeom prst="rect">
                <a:avLst/>
              </a:prstGeom>
              <a:blipFill>
                <a:blip r:embed="rId9"/>
                <a:stretch>
                  <a:fillRect l="-8935" t="-8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/>
          <p:cNvSpPr/>
          <p:nvPr/>
        </p:nvSpPr>
        <p:spPr>
          <a:xfrm>
            <a:off x="5841292" y="2459100"/>
            <a:ext cx="4225748" cy="2770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1291" y="5242011"/>
            <a:ext cx="4225748" cy="1286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4022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</p:bldLst>
  </p:timing>
</p:sld>
</file>

<file path=ppt/c11/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09547" y="800276"/>
                <a:ext cx="5381456" cy="162095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A girl walks 2 km due east from a fixed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, and then 3 km due south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. Find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total distance travelled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position vector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relative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547" y="800276"/>
                <a:ext cx="5381456" cy="16209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2651052" y="3593805"/>
            <a:ext cx="839972" cy="14247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 rot="3693008">
            <a:off x="3014360" y="4188712"/>
            <a:ext cx="144016" cy="288032"/>
            <a:chOff x="4139952" y="1772816"/>
            <a:chExt cx="144016" cy="288032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" name="Straight Connector 9"/>
          <p:cNvCxnSpPr/>
          <p:nvPr/>
        </p:nvCxnSpPr>
        <p:spPr>
          <a:xfrm flipH="1">
            <a:off x="3516646" y="3646967"/>
            <a:ext cx="16909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653037" y="3615069"/>
            <a:ext cx="859253" cy="1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885329" y="3261419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329" y="3261419"/>
                <a:ext cx="52971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411342" y="4005888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342" y="4005888"/>
                <a:ext cx="5297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V="1">
            <a:off x="2651052" y="2996952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89807" y="268523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236831" y="3459989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831" y="3459989"/>
                <a:ext cx="5297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384463" y="3285698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463" y="3285698"/>
                <a:ext cx="5297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357812" y="4942987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812" y="4942987"/>
                <a:ext cx="5297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reeform: Shape 33"/>
          <p:cNvSpPr/>
          <p:nvPr/>
        </p:nvSpPr>
        <p:spPr>
          <a:xfrm>
            <a:off x="2819400" y="3619500"/>
            <a:ext cx="95250" cy="266700"/>
          </a:xfrm>
          <a:custGeom>
            <a:avLst/>
            <a:gdLst>
              <a:gd name="connsiteX0" fmla="*/ 0 w 95250"/>
              <a:gd name="connsiteY0" fmla="*/ 266700 h 266700"/>
              <a:gd name="connsiteX1" fmla="*/ 76200 w 95250"/>
              <a:gd name="connsiteY1" fmla="*/ 123825 h 266700"/>
              <a:gd name="connsiteX2" fmla="*/ 95250 w 9525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" h="266700">
                <a:moveTo>
                  <a:pt x="0" y="266700"/>
                </a:moveTo>
                <a:cubicBezTo>
                  <a:pt x="30162" y="217487"/>
                  <a:pt x="60325" y="168275"/>
                  <a:pt x="76200" y="123825"/>
                </a:cubicBezTo>
                <a:cubicBezTo>
                  <a:pt x="92075" y="79375"/>
                  <a:pt x="93662" y="39687"/>
                  <a:pt x="9525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874231" y="3665215"/>
                <a:ext cx="325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231" y="3665215"/>
                <a:ext cx="3254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583832" y="3140968"/>
                <a:ext cx="4388718" cy="2342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2+3=5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br>
                  <a:rPr lang="en-GB" dirty="0"/>
                </a:br>
                <a:endParaRPr lang="en-GB" dirty="0"/>
              </a:p>
              <a:p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a:rPr lang="en-GB" i="1">
                        <a:latin typeface="Cambria Math" panose="02040503050406030204" pitchFamily="18" charset="0"/>
                      </a:rPr>
                      <m:t>=3.61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en-GB" dirty="0"/>
                  <a:t> (3sf)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90°+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=56.3°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3140968"/>
                <a:ext cx="4388718" cy="23423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4227984" y="3217168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27984" y="3557203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27984" y="4266630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33342" y="4613599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65325" y="3175016"/>
            <a:ext cx="4278625" cy="2920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5325" y="3484709"/>
            <a:ext cx="4278625" cy="41101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38849" y="4210082"/>
            <a:ext cx="4278625" cy="41101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8849" y="4624640"/>
            <a:ext cx="4278625" cy="6533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4118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</p:bldLst>
  </p:timing>
</p:sld>
</file>

<file path=ppt/c11/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09547" y="800276"/>
                <a:ext cx="7686853" cy="21133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In an orienteering exercise, a cadet leaves the starting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 and walks 15 km on a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120°</m:t>
                    </m:r>
                  </m:oMath>
                </a14:m>
                <a:r>
                  <a:rPr lang="en-GB" sz="1600" dirty="0"/>
                  <a:t> to reach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, the first checkpoint.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he walks 9 km on a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240°</m:t>
                    </m:r>
                  </m:oMath>
                </a14:m>
                <a:r>
                  <a:rPr lang="en-GB" sz="1600" dirty="0"/>
                  <a:t> to the second checkpoint, 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.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he returns directly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Find: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position vector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relative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position vector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relative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547" y="800276"/>
                <a:ext cx="7686853" cy="2113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2782136" y="3987570"/>
            <a:ext cx="868377" cy="1530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130974" y="5105217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9 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974" y="5105217"/>
                <a:ext cx="529719" cy="369332"/>
              </a:xfrm>
              <a:prstGeom prst="rect">
                <a:avLst/>
              </a:prstGeom>
              <a:blipFill>
                <a:blip r:embed="rId3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29548" y="434867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548" y="4348675"/>
                <a:ext cx="529719" cy="369332"/>
              </a:xfrm>
              <a:prstGeom prst="rect">
                <a:avLst/>
              </a:prstGeom>
              <a:blipFill>
                <a:blip r:embed="rId4"/>
                <a:stretch>
                  <a:fillRect r="-517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2782135" y="3390717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20890" y="307900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367914" y="3853754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914" y="3853754"/>
                <a:ext cx="5297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812718" y="447690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718" y="4476905"/>
                <a:ext cx="5297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361306" y="5474976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306" y="5474976"/>
                <a:ext cx="5297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: Shape 18"/>
          <p:cNvSpPr/>
          <p:nvPr/>
        </p:nvSpPr>
        <p:spPr>
          <a:xfrm>
            <a:off x="3007633" y="4114865"/>
            <a:ext cx="173717" cy="266700"/>
          </a:xfrm>
          <a:custGeom>
            <a:avLst/>
            <a:gdLst>
              <a:gd name="connsiteX0" fmla="*/ 0 w 95250"/>
              <a:gd name="connsiteY0" fmla="*/ 266700 h 266700"/>
              <a:gd name="connsiteX1" fmla="*/ 76200 w 95250"/>
              <a:gd name="connsiteY1" fmla="*/ 123825 h 266700"/>
              <a:gd name="connsiteX2" fmla="*/ 95250 w 9525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" h="266700">
                <a:moveTo>
                  <a:pt x="0" y="266700"/>
                </a:moveTo>
                <a:cubicBezTo>
                  <a:pt x="30162" y="217487"/>
                  <a:pt x="60325" y="168275"/>
                  <a:pt x="76200" y="123825"/>
                </a:cubicBezTo>
                <a:cubicBezTo>
                  <a:pt x="92075" y="79375"/>
                  <a:pt x="93662" y="39687"/>
                  <a:pt x="9525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125964" y="4192330"/>
                <a:ext cx="325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964" y="4192330"/>
                <a:ext cx="3254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>
            <a:off x="2756595" y="3979420"/>
            <a:ext cx="2189182" cy="704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650513" y="4684004"/>
            <a:ext cx="1281871" cy="8342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4929201" y="4092762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67956" y="378104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p:sp>
        <p:nvSpPr>
          <p:cNvPr id="29" name="Freeform: Shape 28"/>
          <p:cNvSpPr/>
          <p:nvPr/>
        </p:nvSpPr>
        <p:spPr>
          <a:xfrm>
            <a:off x="4772025" y="4438651"/>
            <a:ext cx="486056" cy="495531"/>
          </a:xfrm>
          <a:custGeom>
            <a:avLst/>
            <a:gdLst>
              <a:gd name="connsiteX0" fmla="*/ 190500 w 486056"/>
              <a:gd name="connsiteY0" fmla="*/ 0 h 495531"/>
              <a:gd name="connsiteX1" fmla="*/ 400050 w 486056"/>
              <a:gd name="connsiteY1" fmla="*/ 57150 h 495531"/>
              <a:gd name="connsiteX2" fmla="*/ 485775 w 486056"/>
              <a:gd name="connsiteY2" fmla="*/ 257175 h 495531"/>
              <a:gd name="connsiteX3" fmla="*/ 419100 w 486056"/>
              <a:gd name="connsiteY3" fmla="*/ 428625 h 495531"/>
              <a:gd name="connsiteX4" fmla="*/ 209550 w 486056"/>
              <a:gd name="connsiteY4" fmla="*/ 495300 h 495531"/>
              <a:gd name="connsiteX5" fmla="*/ 57150 w 486056"/>
              <a:gd name="connsiteY5" fmla="*/ 447675 h 495531"/>
              <a:gd name="connsiteX6" fmla="*/ 0 w 486056"/>
              <a:gd name="connsiteY6" fmla="*/ 371475 h 495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056" h="495531">
                <a:moveTo>
                  <a:pt x="190500" y="0"/>
                </a:moveTo>
                <a:cubicBezTo>
                  <a:pt x="270669" y="7144"/>
                  <a:pt x="350838" y="14288"/>
                  <a:pt x="400050" y="57150"/>
                </a:cubicBezTo>
                <a:cubicBezTo>
                  <a:pt x="449263" y="100013"/>
                  <a:pt x="482600" y="195262"/>
                  <a:pt x="485775" y="257175"/>
                </a:cubicBezTo>
                <a:cubicBezTo>
                  <a:pt x="488950" y="319088"/>
                  <a:pt x="465137" y="388938"/>
                  <a:pt x="419100" y="428625"/>
                </a:cubicBezTo>
                <a:cubicBezTo>
                  <a:pt x="373063" y="468312"/>
                  <a:pt x="269875" y="492125"/>
                  <a:pt x="209550" y="495300"/>
                </a:cubicBezTo>
                <a:cubicBezTo>
                  <a:pt x="149225" y="498475"/>
                  <a:pt x="92075" y="468313"/>
                  <a:pt x="57150" y="447675"/>
                </a:cubicBezTo>
                <a:cubicBezTo>
                  <a:pt x="22225" y="427037"/>
                  <a:pt x="11112" y="399256"/>
                  <a:pt x="0" y="3714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915182" y="4865684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182" y="4865684"/>
                <a:ext cx="83791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2018184" y="3433068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H="1" flipV="1">
            <a:off x="2827023" y="3977641"/>
            <a:ext cx="2035491" cy="2762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4861560" y="4015740"/>
            <a:ext cx="7620" cy="5715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4660901" y="4005264"/>
            <a:ext cx="1589" cy="2047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4673600" y="4203700"/>
            <a:ext cx="1841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: Shape 44"/>
          <p:cNvSpPr/>
          <p:nvPr/>
        </p:nvSpPr>
        <p:spPr>
          <a:xfrm>
            <a:off x="2804161" y="3672840"/>
            <a:ext cx="323159" cy="403860"/>
          </a:xfrm>
          <a:custGeom>
            <a:avLst/>
            <a:gdLst>
              <a:gd name="connsiteX0" fmla="*/ 0 w 323159"/>
              <a:gd name="connsiteY0" fmla="*/ 0 h 403860"/>
              <a:gd name="connsiteX1" fmla="*/ 236220 w 323159"/>
              <a:gd name="connsiteY1" fmla="*/ 53340 h 403860"/>
              <a:gd name="connsiteX2" fmla="*/ 320040 w 323159"/>
              <a:gd name="connsiteY2" fmla="*/ 251460 h 403860"/>
              <a:gd name="connsiteX3" fmla="*/ 297180 w 323159"/>
              <a:gd name="connsiteY3" fmla="*/ 403860 h 40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159" h="403860">
                <a:moveTo>
                  <a:pt x="0" y="0"/>
                </a:moveTo>
                <a:cubicBezTo>
                  <a:pt x="91440" y="5715"/>
                  <a:pt x="182880" y="11430"/>
                  <a:pt x="236220" y="53340"/>
                </a:cubicBezTo>
                <a:cubicBezTo>
                  <a:pt x="289560" y="95250"/>
                  <a:pt x="309880" y="193040"/>
                  <a:pt x="320040" y="251460"/>
                </a:cubicBezTo>
                <a:cubicBezTo>
                  <a:pt x="330200" y="309880"/>
                  <a:pt x="313690" y="356870"/>
                  <a:pt x="297180" y="40386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762390" y="3394839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120°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390" y="3394839"/>
                <a:ext cx="83791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327413" y="3943618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413" y="3943618"/>
                <a:ext cx="83791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reeform: Shape 47"/>
          <p:cNvSpPr/>
          <p:nvPr/>
        </p:nvSpPr>
        <p:spPr>
          <a:xfrm>
            <a:off x="3505200" y="3985260"/>
            <a:ext cx="15460" cy="220980"/>
          </a:xfrm>
          <a:custGeom>
            <a:avLst/>
            <a:gdLst>
              <a:gd name="connsiteX0" fmla="*/ 7620 w 15460"/>
              <a:gd name="connsiteY0" fmla="*/ 0 h 220980"/>
              <a:gd name="connsiteX1" fmla="*/ 15240 w 15460"/>
              <a:gd name="connsiteY1" fmla="*/ 137160 h 220980"/>
              <a:gd name="connsiteX2" fmla="*/ 0 w 15460"/>
              <a:gd name="connsiteY2" fmla="*/ 220980 h 22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60" h="220980">
                <a:moveTo>
                  <a:pt x="7620" y="0"/>
                </a:moveTo>
                <a:cubicBezTo>
                  <a:pt x="12065" y="50165"/>
                  <a:pt x="16510" y="100330"/>
                  <a:pt x="15240" y="137160"/>
                </a:cubicBezTo>
                <a:cubicBezTo>
                  <a:pt x="13970" y="173990"/>
                  <a:pt x="6985" y="197485"/>
                  <a:pt x="0" y="22098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354959" y="5893698"/>
                <a:ext cx="3549657" cy="559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𝑂𝐴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  <m:func>
                                  <m:funcPr>
                                    <m:ctrl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30°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  <m:func>
                                  <m:funcPr>
                                    <m:ctrl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30°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13.0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7.5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959" y="5893698"/>
                <a:ext cx="3549657" cy="5598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/>
          <p:cNvSpPr/>
          <p:nvPr/>
        </p:nvSpPr>
        <p:spPr>
          <a:xfrm>
            <a:off x="5818982" y="3018577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6316435" y="3820600"/>
            <a:ext cx="868377" cy="1530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665273" y="4938247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9 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273" y="4938247"/>
                <a:ext cx="529719" cy="369332"/>
              </a:xfrm>
              <a:prstGeom prst="rect">
                <a:avLst/>
              </a:prstGeom>
              <a:blipFill>
                <a:blip r:embed="rId13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063847" y="418170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847" y="4181705"/>
                <a:ext cx="529719" cy="369332"/>
              </a:xfrm>
              <a:prstGeom prst="rect">
                <a:avLst/>
              </a:prstGeom>
              <a:blipFill>
                <a:blip r:embed="rId14"/>
                <a:stretch>
                  <a:fillRect r="-517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 flipV="1">
            <a:off x="6316434" y="3223747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155189" y="291203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347017" y="430993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017" y="4309935"/>
                <a:ext cx="52971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Freeform: Shape 56"/>
          <p:cNvSpPr/>
          <p:nvPr/>
        </p:nvSpPr>
        <p:spPr>
          <a:xfrm>
            <a:off x="6541932" y="3947895"/>
            <a:ext cx="173717" cy="266700"/>
          </a:xfrm>
          <a:custGeom>
            <a:avLst/>
            <a:gdLst>
              <a:gd name="connsiteX0" fmla="*/ 0 w 95250"/>
              <a:gd name="connsiteY0" fmla="*/ 266700 h 266700"/>
              <a:gd name="connsiteX1" fmla="*/ 76200 w 95250"/>
              <a:gd name="connsiteY1" fmla="*/ 123825 h 266700"/>
              <a:gd name="connsiteX2" fmla="*/ 95250 w 9525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" h="266700">
                <a:moveTo>
                  <a:pt x="0" y="266700"/>
                </a:moveTo>
                <a:cubicBezTo>
                  <a:pt x="30162" y="217487"/>
                  <a:pt x="60325" y="168275"/>
                  <a:pt x="76200" y="123825"/>
                </a:cubicBezTo>
                <a:cubicBezTo>
                  <a:pt x="92075" y="79375"/>
                  <a:pt x="93662" y="39687"/>
                  <a:pt x="9525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6660263" y="4025360"/>
                <a:ext cx="325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63" y="4025360"/>
                <a:ext cx="32544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Connector 58"/>
          <p:cNvCxnSpPr/>
          <p:nvPr/>
        </p:nvCxnSpPr>
        <p:spPr>
          <a:xfrm>
            <a:off x="6290894" y="3812450"/>
            <a:ext cx="2189182" cy="704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7184812" y="4517034"/>
            <a:ext cx="1281871" cy="8342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8463500" y="3925792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302255" y="361407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p:sp>
        <p:nvSpPr>
          <p:cNvPr id="63" name="Freeform: Shape 62"/>
          <p:cNvSpPr/>
          <p:nvPr/>
        </p:nvSpPr>
        <p:spPr>
          <a:xfrm>
            <a:off x="8306324" y="4271681"/>
            <a:ext cx="486056" cy="495531"/>
          </a:xfrm>
          <a:custGeom>
            <a:avLst/>
            <a:gdLst>
              <a:gd name="connsiteX0" fmla="*/ 190500 w 486056"/>
              <a:gd name="connsiteY0" fmla="*/ 0 h 495531"/>
              <a:gd name="connsiteX1" fmla="*/ 400050 w 486056"/>
              <a:gd name="connsiteY1" fmla="*/ 57150 h 495531"/>
              <a:gd name="connsiteX2" fmla="*/ 485775 w 486056"/>
              <a:gd name="connsiteY2" fmla="*/ 257175 h 495531"/>
              <a:gd name="connsiteX3" fmla="*/ 419100 w 486056"/>
              <a:gd name="connsiteY3" fmla="*/ 428625 h 495531"/>
              <a:gd name="connsiteX4" fmla="*/ 209550 w 486056"/>
              <a:gd name="connsiteY4" fmla="*/ 495300 h 495531"/>
              <a:gd name="connsiteX5" fmla="*/ 57150 w 486056"/>
              <a:gd name="connsiteY5" fmla="*/ 447675 h 495531"/>
              <a:gd name="connsiteX6" fmla="*/ 0 w 486056"/>
              <a:gd name="connsiteY6" fmla="*/ 371475 h 495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056" h="495531">
                <a:moveTo>
                  <a:pt x="190500" y="0"/>
                </a:moveTo>
                <a:cubicBezTo>
                  <a:pt x="270669" y="7144"/>
                  <a:pt x="350838" y="14288"/>
                  <a:pt x="400050" y="57150"/>
                </a:cubicBezTo>
                <a:cubicBezTo>
                  <a:pt x="449263" y="100013"/>
                  <a:pt x="482600" y="195262"/>
                  <a:pt x="485775" y="257175"/>
                </a:cubicBezTo>
                <a:cubicBezTo>
                  <a:pt x="488950" y="319088"/>
                  <a:pt x="465137" y="388938"/>
                  <a:pt x="419100" y="428625"/>
                </a:cubicBezTo>
                <a:cubicBezTo>
                  <a:pt x="373063" y="468312"/>
                  <a:pt x="269875" y="492125"/>
                  <a:pt x="209550" y="495300"/>
                </a:cubicBezTo>
                <a:cubicBezTo>
                  <a:pt x="149225" y="498475"/>
                  <a:pt x="92075" y="468313"/>
                  <a:pt x="57150" y="447675"/>
                </a:cubicBezTo>
                <a:cubicBezTo>
                  <a:pt x="22225" y="427037"/>
                  <a:pt x="11112" y="399256"/>
                  <a:pt x="0" y="3714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8449481" y="4698714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9481" y="4698714"/>
                <a:ext cx="83791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/>
          <p:nvPr/>
        </p:nvCxnSpPr>
        <p:spPr>
          <a:xfrm flipH="1" flipV="1">
            <a:off x="6361322" y="3810671"/>
            <a:ext cx="2035491" cy="2762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8395859" y="3848770"/>
            <a:ext cx="7620" cy="5715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8195200" y="3838294"/>
            <a:ext cx="1589" cy="2047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8207899" y="4036730"/>
            <a:ext cx="1841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861712" y="3776648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1712" y="3776648"/>
                <a:ext cx="83791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Freeform: Shape 71"/>
          <p:cNvSpPr/>
          <p:nvPr/>
        </p:nvSpPr>
        <p:spPr>
          <a:xfrm>
            <a:off x="7039499" y="3818290"/>
            <a:ext cx="15460" cy="220980"/>
          </a:xfrm>
          <a:custGeom>
            <a:avLst/>
            <a:gdLst>
              <a:gd name="connsiteX0" fmla="*/ 7620 w 15460"/>
              <a:gd name="connsiteY0" fmla="*/ 0 h 220980"/>
              <a:gd name="connsiteX1" fmla="*/ 15240 w 15460"/>
              <a:gd name="connsiteY1" fmla="*/ 137160 h 220980"/>
              <a:gd name="connsiteX2" fmla="*/ 0 w 15460"/>
              <a:gd name="connsiteY2" fmla="*/ 220980 h 22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60" h="220980">
                <a:moveTo>
                  <a:pt x="7620" y="0"/>
                </a:moveTo>
                <a:cubicBezTo>
                  <a:pt x="12065" y="50165"/>
                  <a:pt x="16510" y="100330"/>
                  <a:pt x="15240" y="137160"/>
                </a:cubicBezTo>
                <a:cubicBezTo>
                  <a:pt x="13970" y="173990"/>
                  <a:pt x="6985" y="197485"/>
                  <a:pt x="0" y="22098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Freeform: Shape 73"/>
          <p:cNvSpPr/>
          <p:nvPr/>
        </p:nvSpPr>
        <p:spPr>
          <a:xfrm>
            <a:off x="8153400" y="4244340"/>
            <a:ext cx="243840" cy="160020"/>
          </a:xfrm>
          <a:custGeom>
            <a:avLst/>
            <a:gdLst>
              <a:gd name="connsiteX0" fmla="*/ 0 w 243840"/>
              <a:gd name="connsiteY0" fmla="*/ 160020 h 160020"/>
              <a:gd name="connsiteX1" fmla="*/ 91440 w 243840"/>
              <a:gd name="connsiteY1" fmla="*/ 45720 h 160020"/>
              <a:gd name="connsiteX2" fmla="*/ 243840 w 243840"/>
              <a:gd name="connsiteY2" fmla="*/ 0 h 160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160020">
                <a:moveTo>
                  <a:pt x="0" y="160020"/>
                </a:moveTo>
                <a:cubicBezTo>
                  <a:pt x="25400" y="116205"/>
                  <a:pt x="50800" y="72390"/>
                  <a:pt x="91440" y="45720"/>
                </a:cubicBezTo>
                <a:cubicBezTo>
                  <a:pt x="132080" y="19050"/>
                  <a:pt x="187960" y="9525"/>
                  <a:pt x="24384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Freeform: Shape 74"/>
          <p:cNvSpPr/>
          <p:nvPr/>
        </p:nvSpPr>
        <p:spPr>
          <a:xfrm>
            <a:off x="8077200" y="4381500"/>
            <a:ext cx="91440" cy="327660"/>
          </a:xfrm>
          <a:custGeom>
            <a:avLst/>
            <a:gdLst>
              <a:gd name="connsiteX0" fmla="*/ 0 w 91440"/>
              <a:gd name="connsiteY0" fmla="*/ 0 h 327660"/>
              <a:gd name="connsiteX1" fmla="*/ 22860 w 91440"/>
              <a:gd name="connsiteY1" fmla="*/ 182880 h 327660"/>
              <a:gd name="connsiteX2" fmla="*/ 91440 w 91440"/>
              <a:gd name="connsiteY2" fmla="*/ 327660 h 32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" h="327660">
                <a:moveTo>
                  <a:pt x="0" y="0"/>
                </a:moveTo>
                <a:cubicBezTo>
                  <a:pt x="3810" y="64135"/>
                  <a:pt x="7620" y="128270"/>
                  <a:pt x="22860" y="182880"/>
                </a:cubicBezTo>
                <a:cubicBezTo>
                  <a:pt x="38100" y="237490"/>
                  <a:pt x="64770" y="282575"/>
                  <a:pt x="91440" y="32766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7741914" y="4010646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914" y="4010646"/>
                <a:ext cx="83791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7499816" y="4469978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816" y="4469978"/>
                <a:ext cx="83791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6859470" y="5335878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470" y="5335878"/>
                <a:ext cx="52971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5960367" y="3664104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367" y="3664104"/>
                <a:ext cx="52971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478234" y="2986531"/>
                <a:ext cx="3035407" cy="704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cosine rule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=13.1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en-GB" dirty="0"/>
                  <a:t> (3sf)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234" y="2986531"/>
                <a:ext cx="3035407" cy="704039"/>
              </a:xfrm>
              <a:prstGeom prst="rect">
                <a:avLst/>
              </a:prstGeom>
              <a:blipFill>
                <a:blip r:embed="rId23"/>
                <a:stretch>
                  <a:fillRect l="-1807" t="-5217" b="-113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ectangle 81"/>
          <p:cNvSpPr/>
          <p:nvPr/>
        </p:nvSpPr>
        <p:spPr>
          <a:xfrm>
            <a:off x="6331316" y="5894294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589965" y="5787384"/>
                <a:ext cx="383348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sine rule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=36.6…°</m:t>
                      </m:r>
                    </m:oMath>
                  </m:oMathPara>
                </a14:m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∴ </m:t>
                    </m:r>
                  </m:oMath>
                </a14:m>
                <a:r>
                  <a:rPr lang="en-GB" dirty="0"/>
                  <a:t>Bearing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=120+36.6°=157°</m:t>
                    </m:r>
                  </m:oMath>
                </a14:m>
                <a:r>
                  <a:rPr lang="en-GB" dirty="0"/>
                  <a:t> (3sf)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965" y="5787384"/>
                <a:ext cx="3833486" cy="923330"/>
              </a:xfrm>
              <a:prstGeom prst="rect">
                <a:avLst/>
              </a:prstGeom>
              <a:blipFill>
                <a:blip r:embed="rId24"/>
                <a:stretch>
                  <a:fillRect l="-1272" t="-3289" r="-15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angle 83"/>
          <p:cNvSpPr/>
          <p:nvPr/>
        </p:nvSpPr>
        <p:spPr>
          <a:xfrm>
            <a:off x="2419571" y="3121448"/>
            <a:ext cx="3357453" cy="33644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56825" y="2972439"/>
            <a:ext cx="4032710" cy="27159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23330" y="5741582"/>
            <a:ext cx="3746958" cy="10433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50625" y="1686854"/>
            <a:ext cx="3123055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I have no specific advice to offer except:</a:t>
            </a:r>
          </a:p>
          <a:p>
            <a:pPr marL="342900" indent="-342900">
              <a:buAutoNum type="arabicPeriod"/>
            </a:pPr>
            <a:r>
              <a:rPr lang="en-GB" sz="1400" dirty="0"/>
              <a:t>Draw a BIG diagram.</a:t>
            </a:r>
          </a:p>
          <a:p>
            <a:pPr marL="342900" indent="-342900">
              <a:buAutoNum type="arabicPeriod"/>
            </a:pPr>
            <a:r>
              <a:rPr lang="en-GB" sz="1400" dirty="0"/>
              <a:t>Remember bearings are measured clockwise from North.</a:t>
            </a:r>
          </a:p>
          <a:p>
            <a:pPr marL="342900" indent="-342900">
              <a:buAutoNum type="arabicPeriod"/>
            </a:pPr>
            <a:r>
              <a:rPr lang="en-GB" sz="1400" dirty="0"/>
              <a:t>Don’t forget units (on vectors!)</a:t>
            </a:r>
          </a:p>
        </p:txBody>
      </p:sp>
    </p:spTree>
    <p:extLst>
      <p:ext uri="{BB962C8B-B14F-4D97-AF65-F5344CB8AC3E}">
        <p14:creationId xmlns:p14="http://schemas.microsoft.com/office/powerpoint/2010/main" val="162368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</p:bldLst>
  </p:timing>
</p:sld>
</file>

<file path=ppt/c11/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09547" y="800276"/>
                <a:ext cx="7686853" cy="21133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In an orienteering exercise, a cadet leaves the starting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 and walks 15 km on a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120°</m:t>
                    </m:r>
                  </m:oMath>
                </a14:m>
                <a:r>
                  <a:rPr lang="en-GB" sz="1600" dirty="0"/>
                  <a:t> to reach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, the first checkpoint.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he walks 9 km on a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240°</m:t>
                    </m:r>
                  </m:oMath>
                </a14:m>
                <a:r>
                  <a:rPr lang="en-GB" sz="1600" dirty="0"/>
                  <a:t> to the second checkpoint, 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.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he returns directly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Find: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position vector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relative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position vector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relative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547" y="800276"/>
                <a:ext cx="7686853" cy="2113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1954388" y="3199152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2782136" y="3987570"/>
            <a:ext cx="868377" cy="1530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130974" y="5105217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9 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974" y="5105217"/>
                <a:ext cx="529719" cy="369332"/>
              </a:xfrm>
              <a:prstGeom prst="rect">
                <a:avLst/>
              </a:prstGeom>
              <a:blipFill>
                <a:blip r:embed="rId3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 rot="923120">
                <a:off x="3789898" y="431692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923120">
                <a:off x="3789898" y="4316925"/>
                <a:ext cx="529719" cy="369332"/>
              </a:xfrm>
              <a:prstGeom prst="rect">
                <a:avLst/>
              </a:prstGeom>
              <a:blipFill>
                <a:blip r:embed="rId4"/>
                <a:stretch>
                  <a:fillRect r="-39604" b="-84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/>
          <p:cNvCxnSpPr/>
          <p:nvPr/>
        </p:nvCxnSpPr>
        <p:spPr>
          <a:xfrm flipV="1">
            <a:off x="2782135" y="3390717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620890" y="307900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2367914" y="3853754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914" y="3853754"/>
                <a:ext cx="5297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812718" y="447690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718" y="4476905"/>
                <a:ext cx="5297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3361306" y="5474976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306" y="5474976"/>
                <a:ext cx="5297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Freeform: Shape 91"/>
          <p:cNvSpPr/>
          <p:nvPr/>
        </p:nvSpPr>
        <p:spPr>
          <a:xfrm>
            <a:off x="3007633" y="4114865"/>
            <a:ext cx="173717" cy="266700"/>
          </a:xfrm>
          <a:custGeom>
            <a:avLst/>
            <a:gdLst>
              <a:gd name="connsiteX0" fmla="*/ 0 w 95250"/>
              <a:gd name="connsiteY0" fmla="*/ 266700 h 266700"/>
              <a:gd name="connsiteX1" fmla="*/ 76200 w 95250"/>
              <a:gd name="connsiteY1" fmla="*/ 123825 h 266700"/>
              <a:gd name="connsiteX2" fmla="*/ 95250 w 9525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" h="266700">
                <a:moveTo>
                  <a:pt x="0" y="266700"/>
                </a:moveTo>
                <a:cubicBezTo>
                  <a:pt x="30162" y="217487"/>
                  <a:pt x="60325" y="168275"/>
                  <a:pt x="76200" y="123825"/>
                </a:cubicBezTo>
                <a:cubicBezTo>
                  <a:pt x="92075" y="79375"/>
                  <a:pt x="93662" y="39687"/>
                  <a:pt x="9525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3030714" y="4198680"/>
                <a:ext cx="325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𝟓𝟗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714" y="4198680"/>
                <a:ext cx="325441" cy="369332"/>
              </a:xfrm>
              <a:prstGeom prst="rect">
                <a:avLst/>
              </a:prstGeom>
              <a:blipFill>
                <a:blip r:embed="rId8"/>
                <a:stretch>
                  <a:fillRect r="-174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Connector 93"/>
          <p:cNvCxnSpPr/>
          <p:nvPr/>
        </p:nvCxnSpPr>
        <p:spPr>
          <a:xfrm>
            <a:off x="2756595" y="3979420"/>
            <a:ext cx="2189182" cy="704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V="1">
            <a:off x="3650513" y="4684004"/>
            <a:ext cx="1281871" cy="8342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4929201" y="4092762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767956" y="378104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p:sp>
        <p:nvSpPr>
          <p:cNvPr id="98" name="Freeform: Shape 97"/>
          <p:cNvSpPr/>
          <p:nvPr/>
        </p:nvSpPr>
        <p:spPr>
          <a:xfrm>
            <a:off x="4772025" y="4438651"/>
            <a:ext cx="486056" cy="495531"/>
          </a:xfrm>
          <a:custGeom>
            <a:avLst/>
            <a:gdLst>
              <a:gd name="connsiteX0" fmla="*/ 190500 w 486056"/>
              <a:gd name="connsiteY0" fmla="*/ 0 h 495531"/>
              <a:gd name="connsiteX1" fmla="*/ 400050 w 486056"/>
              <a:gd name="connsiteY1" fmla="*/ 57150 h 495531"/>
              <a:gd name="connsiteX2" fmla="*/ 485775 w 486056"/>
              <a:gd name="connsiteY2" fmla="*/ 257175 h 495531"/>
              <a:gd name="connsiteX3" fmla="*/ 419100 w 486056"/>
              <a:gd name="connsiteY3" fmla="*/ 428625 h 495531"/>
              <a:gd name="connsiteX4" fmla="*/ 209550 w 486056"/>
              <a:gd name="connsiteY4" fmla="*/ 495300 h 495531"/>
              <a:gd name="connsiteX5" fmla="*/ 57150 w 486056"/>
              <a:gd name="connsiteY5" fmla="*/ 447675 h 495531"/>
              <a:gd name="connsiteX6" fmla="*/ 0 w 486056"/>
              <a:gd name="connsiteY6" fmla="*/ 371475 h 495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056" h="495531">
                <a:moveTo>
                  <a:pt x="190500" y="0"/>
                </a:moveTo>
                <a:cubicBezTo>
                  <a:pt x="270669" y="7144"/>
                  <a:pt x="350838" y="14288"/>
                  <a:pt x="400050" y="57150"/>
                </a:cubicBezTo>
                <a:cubicBezTo>
                  <a:pt x="449263" y="100013"/>
                  <a:pt x="482600" y="195262"/>
                  <a:pt x="485775" y="257175"/>
                </a:cubicBezTo>
                <a:cubicBezTo>
                  <a:pt x="488950" y="319088"/>
                  <a:pt x="465137" y="388938"/>
                  <a:pt x="419100" y="428625"/>
                </a:cubicBezTo>
                <a:cubicBezTo>
                  <a:pt x="373063" y="468312"/>
                  <a:pt x="269875" y="492125"/>
                  <a:pt x="209550" y="495300"/>
                </a:cubicBezTo>
                <a:cubicBezTo>
                  <a:pt x="149225" y="498475"/>
                  <a:pt x="92075" y="468313"/>
                  <a:pt x="57150" y="447675"/>
                </a:cubicBezTo>
                <a:cubicBezTo>
                  <a:pt x="22225" y="427037"/>
                  <a:pt x="11112" y="399256"/>
                  <a:pt x="0" y="3714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9" name="Straight Connector 98"/>
          <p:cNvCxnSpPr/>
          <p:nvPr/>
        </p:nvCxnSpPr>
        <p:spPr>
          <a:xfrm flipH="1" flipV="1">
            <a:off x="2827023" y="3977641"/>
            <a:ext cx="2035491" cy="2762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4861560" y="4015740"/>
            <a:ext cx="7620" cy="5715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H="1">
            <a:off x="4660901" y="4005264"/>
            <a:ext cx="1589" cy="2047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4673600" y="4203700"/>
            <a:ext cx="1841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Freeform: Shape 102"/>
          <p:cNvSpPr/>
          <p:nvPr/>
        </p:nvSpPr>
        <p:spPr>
          <a:xfrm>
            <a:off x="2804161" y="3672840"/>
            <a:ext cx="323159" cy="403860"/>
          </a:xfrm>
          <a:custGeom>
            <a:avLst/>
            <a:gdLst>
              <a:gd name="connsiteX0" fmla="*/ 0 w 323159"/>
              <a:gd name="connsiteY0" fmla="*/ 0 h 403860"/>
              <a:gd name="connsiteX1" fmla="*/ 236220 w 323159"/>
              <a:gd name="connsiteY1" fmla="*/ 53340 h 403860"/>
              <a:gd name="connsiteX2" fmla="*/ 320040 w 323159"/>
              <a:gd name="connsiteY2" fmla="*/ 251460 h 403860"/>
              <a:gd name="connsiteX3" fmla="*/ 297180 w 323159"/>
              <a:gd name="connsiteY3" fmla="*/ 403860 h 40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159" h="403860">
                <a:moveTo>
                  <a:pt x="0" y="0"/>
                </a:moveTo>
                <a:cubicBezTo>
                  <a:pt x="91440" y="5715"/>
                  <a:pt x="182880" y="11430"/>
                  <a:pt x="236220" y="53340"/>
                </a:cubicBezTo>
                <a:cubicBezTo>
                  <a:pt x="289560" y="95250"/>
                  <a:pt x="309880" y="193040"/>
                  <a:pt x="320040" y="251460"/>
                </a:cubicBezTo>
                <a:cubicBezTo>
                  <a:pt x="330200" y="309880"/>
                  <a:pt x="313690" y="356870"/>
                  <a:pt x="297180" y="40386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2762390" y="3394839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120°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390" y="3394839"/>
                <a:ext cx="83791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3333750" y="3950752"/>
                <a:ext cx="8137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0" y="3950752"/>
                <a:ext cx="81377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Freeform: Shape 105"/>
          <p:cNvSpPr/>
          <p:nvPr/>
        </p:nvSpPr>
        <p:spPr>
          <a:xfrm>
            <a:off x="3505200" y="3985260"/>
            <a:ext cx="15460" cy="220980"/>
          </a:xfrm>
          <a:custGeom>
            <a:avLst/>
            <a:gdLst>
              <a:gd name="connsiteX0" fmla="*/ 7620 w 15460"/>
              <a:gd name="connsiteY0" fmla="*/ 0 h 220980"/>
              <a:gd name="connsiteX1" fmla="*/ 15240 w 15460"/>
              <a:gd name="connsiteY1" fmla="*/ 137160 h 220980"/>
              <a:gd name="connsiteX2" fmla="*/ 0 w 15460"/>
              <a:gd name="connsiteY2" fmla="*/ 220980 h 22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60" h="220980">
                <a:moveTo>
                  <a:pt x="7620" y="0"/>
                </a:moveTo>
                <a:cubicBezTo>
                  <a:pt x="12065" y="50165"/>
                  <a:pt x="16510" y="100330"/>
                  <a:pt x="15240" y="137160"/>
                </a:cubicBezTo>
                <a:cubicBezTo>
                  <a:pt x="13970" y="173990"/>
                  <a:pt x="6985" y="197485"/>
                  <a:pt x="0" y="22098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" name="Straight Connector 106"/>
          <p:cNvCxnSpPr/>
          <p:nvPr/>
        </p:nvCxnSpPr>
        <p:spPr>
          <a:xfrm flipH="1" flipV="1">
            <a:off x="2774950" y="3994150"/>
            <a:ext cx="12700" cy="15367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>
            <a:off x="2781300" y="5505450"/>
            <a:ext cx="863600" cy="127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>
            <a:off x="2804160" y="5308933"/>
            <a:ext cx="1841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>
            <a:off x="2985928" y="5293959"/>
            <a:ext cx="1589" cy="2047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 rot="3696640">
                <a:off x="2800698" y="4837589"/>
                <a:ext cx="13839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𝟎𝟕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𝒌𝒎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696640">
                <a:off x="2800698" y="4837589"/>
                <a:ext cx="138395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: Shape 20"/>
          <p:cNvSpPr/>
          <p:nvPr/>
        </p:nvSpPr>
        <p:spPr>
          <a:xfrm>
            <a:off x="2781300" y="4518660"/>
            <a:ext cx="289560" cy="53340"/>
          </a:xfrm>
          <a:custGeom>
            <a:avLst/>
            <a:gdLst>
              <a:gd name="connsiteX0" fmla="*/ 0 w 289560"/>
              <a:gd name="connsiteY0" fmla="*/ 53340 h 53340"/>
              <a:gd name="connsiteX1" fmla="*/ 198120 w 289560"/>
              <a:gd name="connsiteY1" fmla="*/ 38100 h 53340"/>
              <a:gd name="connsiteX2" fmla="*/ 289560 w 289560"/>
              <a:gd name="connsiteY2" fmla="*/ 0 h 53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560" h="53340">
                <a:moveTo>
                  <a:pt x="0" y="53340"/>
                </a:moveTo>
                <a:cubicBezTo>
                  <a:pt x="74930" y="50165"/>
                  <a:pt x="149860" y="46990"/>
                  <a:pt x="198120" y="38100"/>
                </a:cubicBezTo>
                <a:cubicBezTo>
                  <a:pt x="246380" y="29210"/>
                  <a:pt x="267970" y="14605"/>
                  <a:pt x="28956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2590800" y="4537509"/>
                <a:ext cx="6477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23.41°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537509"/>
                <a:ext cx="64770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5753132" y="4076701"/>
                <a:ext cx="4483069" cy="559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13.07</m:t>
                                </m:r>
                                <m:func>
                                  <m:funcPr>
                                    <m:ctrl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23.41°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−13.07</m:t>
                                </m:r>
                                <m:func>
                                  <m:funcPr>
                                    <m:ctrl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23.41°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5.19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−12.0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32" y="4076701"/>
                <a:ext cx="4483069" cy="55983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92020" y="5073056"/>
                <a:ext cx="2856880" cy="885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(I think the textbook made a rounding error due to use of rounded values. They 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5.1</m:t>
                              </m:r>
                            </m:e>
                          </m:mr>
                          <m:m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−12.1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400" dirty="0"/>
                  <a:t>)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020" y="5073056"/>
                <a:ext cx="2856880" cy="885435"/>
              </a:xfrm>
              <a:prstGeom prst="rect">
                <a:avLst/>
              </a:prstGeom>
              <a:blipFill>
                <a:blip r:embed="rId14"/>
                <a:stretch>
                  <a:fillRect l="-641" t="-1379" b="-13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 flipV="1">
            <a:off x="8472264" y="4749909"/>
            <a:ext cx="288032" cy="272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2190970" y="3159548"/>
            <a:ext cx="8057930" cy="33644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73895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</p:childTnLst>
        </p:cTn>
      </p:par>
    </p:tnLst>
    <p:bldLst>
      <p:bldP spid="114" grpId="0" animBg="1"/>
    </p:bldLst>
  </p:timing>
</p:sld>
</file>

<file path=ppt/c11/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11F  - Year 1 Pages 250-251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7842C4F-917E-34C2-C920-0E866D546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08743"/>
            <a:ext cx="7772400" cy="14264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048B36-8AED-064D-1F86-9D5307576A56}"/>
              </a:ext>
            </a:extLst>
          </p:cNvPr>
          <p:cNvSpPr/>
          <p:nvPr/>
        </p:nvSpPr>
        <p:spPr>
          <a:xfrm>
            <a:off x="8904312" y="1175490"/>
            <a:ext cx="792088" cy="8853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C0E6F6-A957-01E8-6809-935F2E10F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063159"/>
            <a:ext cx="1800200" cy="10581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F7E174-04B3-137D-DB9B-FC5A5E1B3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584" y="2204864"/>
            <a:ext cx="2844800" cy="977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4521504-6949-F5E6-50F2-6F6454373FB8}"/>
              </a:ext>
            </a:extLst>
          </p:cNvPr>
          <p:cNvSpPr/>
          <p:nvPr/>
        </p:nvSpPr>
        <p:spPr>
          <a:xfrm>
            <a:off x="1847529" y="2071664"/>
            <a:ext cx="3357453" cy="977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0C961B-0E79-CD5D-C752-395B0300FB05}"/>
              </a:ext>
            </a:extLst>
          </p:cNvPr>
          <p:cNvSpPr/>
          <p:nvPr/>
        </p:nvSpPr>
        <p:spPr>
          <a:xfrm>
            <a:off x="5375921" y="2071664"/>
            <a:ext cx="3357453" cy="977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7A55BA-C5CF-605E-F06D-2E11F7B55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512" y="3140968"/>
            <a:ext cx="7772400" cy="15029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3CAECF9-9AFB-89FB-4E7D-A746713BB44A}"/>
              </a:ext>
            </a:extLst>
          </p:cNvPr>
          <p:cNvSpPr/>
          <p:nvPr/>
        </p:nvSpPr>
        <p:spPr>
          <a:xfrm>
            <a:off x="9079868" y="3800356"/>
            <a:ext cx="792088" cy="8853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F5ED1F-A137-CC5B-18D1-1A8356E2B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4079" y="4663595"/>
            <a:ext cx="1689100" cy="863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9272A8-24DA-7544-9E4D-B8EF1245B5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396" y="4643918"/>
            <a:ext cx="3096344" cy="21742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FC2B1E-1ACD-B507-9A48-C7F2903E9E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104" y="4561995"/>
            <a:ext cx="1854200" cy="1930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398CF65-AF6D-3E02-E3FC-B9AF76D8302E}"/>
              </a:ext>
            </a:extLst>
          </p:cNvPr>
          <p:cNvSpPr/>
          <p:nvPr/>
        </p:nvSpPr>
        <p:spPr>
          <a:xfrm>
            <a:off x="1918546" y="4643918"/>
            <a:ext cx="2521271" cy="21742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D2A125-13FC-25DF-C95D-E5D86F9CBD86}"/>
              </a:ext>
            </a:extLst>
          </p:cNvPr>
          <p:cNvSpPr/>
          <p:nvPr/>
        </p:nvSpPr>
        <p:spPr>
          <a:xfrm>
            <a:off x="4688586" y="4636903"/>
            <a:ext cx="3096344" cy="21742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2F170C-9EE1-5A0B-7AA0-F3DE30242D64}"/>
              </a:ext>
            </a:extLst>
          </p:cNvPr>
          <p:cNvSpPr/>
          <p:nvPr/>
        </p:nvSpPr>
        <p:spPr>
          <a:xfrm>
            <a:off x="7968208" y="4603791"/>
            <a:ext cx="2531621" cy="21742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 </a:t>
            </a:r>
          </a:p>
        </p:txBody>
      </p:sp>
    </p:spTree>
    <p:extLst>
      <p:ext uri="{BB962C8B-B14F-4D97-AF65-F5344CB8AC3E}">
        <p14:creationId xmlns:p14="http://schemas.microsoft.com/office/powerpoint/2010/main" val="41417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  <p:bldP spid="17" grpId="0" animBg="1"/>
      <p:bldP spid="18" grpId="0" animBg="1"/>
    </p:bldLst>
  </p:timing>
</p:sld>
</file>

<file path=ppt/c11/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11F  - Year 1 Pages 250-251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E569DA4-3C65-5E73-5395-7A847AC45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2697"/>
            <a:ext cx="7772400" cy="2124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804B7A-E509-BC4F-53E8-08B67D119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439" y="719489"/>
            <a:ext cx="1255066" cy="2124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9FE328-EA29-B8C3-6EB1-3179C1A59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268" y="2922244"/>
            <a:ext cx="2819400" cy="825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F78F5B-1EE6-2915-F40C-96F63DCB7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589" y="2922244"/>
            <a:ext cx="3173997" cy="3935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3DCD40-81A2-83FF-FD2F-2D3D3D85880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582"/>
          <a:stretch/>
        </p:blipFill>
        <p:spPr>
          <a:xfrm>
            <a:off x="7752185" y="3279536"/>
            <a:ext cx="2829321" cy="10135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289DF4E-8E33-2A72-47A0-133319819305}"/>
              </a:ext>
            </a:extLst>
          </p:cNvPr>
          <p:cNvSpPr/>
          <p:nvPr/>
        </p:nvSpPr>
        <p:spPr>
          <a:xfrm>
            <a:off x="1703512" y="2921809"/>
            <a:ext cx="2819400" cy="38915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5F4253-C631-B585-C37D-017C3F7901D7}"/>
              </a:ext>
            </a:extLst>
          </p:cNvPr>
          <p:cNvSpPr/>
          <p:nvPr/>
        </p:nvSpPr>
        <p:spPr>
          <a:xfrm>
            <a:off x="4583832" y="2921808"/>
            <a:ext cx="3099100" cy="38915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B391BB-5219-04A9-247B-1C2C5B77B093}"/>
              </a:ext>
            </a:extLst>
          </p:cNvPr>
          <p:cNvSpPr/>
          <p:nvPr/>
        </p:nvSpPr>
        <p:spPr>
          <a:xfrm>
            <a:off x="7762105" y="2921807"/>
            <a:ext cx="2819400" cy="38915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52649B-CF1D-242F-0422-66AAE3FA9433}"/>
              </a:ext>
            </a:extLst>
          </p:cNvPr>
          <p:cNvSpPr/>
          <p:nvPr/>
        </p:nvSpPr>
        <p:spPr>
          <a:xfrm>
            <a:off x="8616280" y="1434511"/>
            <a:ext cx="720080" cy="1355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1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c11/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11F  - Year 1 Pages 250-251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64BFB4C-8AC7-7FFA-9D37-D0415ABCC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92696"/>
            <a:ext cx="7772400" cy="23195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E8C5F91-A53F-7FF3-2A30-113EDEE5BB24}"/>
              </a:ext>
            </a:extLst>
          </p:cNvPr>
          <p:cNvSpPr/>
          <p:nvPr/>
        </p:nvSpPr>
        <p:spPr>
          <a:xfrm>
            <a:off x="7099648" y="1271095"/>
            <a:ext cx="2304256" cy="1656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18EF65-F398-409C-C0A7-2AF341E11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9" y="3117160"/>
            <a:ext cx="2562967" cy="37408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540729-33CE-BB3E-9478-35F7E8B2C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824" y="3356992"/>
            <a:ext cx="3594100" cy="1790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B08BB3-6FE5-6B65-468C-0144D5743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249" y="3224243"/>
            <a:ext cx="2057400" cy="32639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2D81E7B-D948-7D37-AA79-70F7C652EF66}"/>
              </a:ext>
            </a:extLst>
          </p:cNvPr>
          <p:cNvSpPr/>
          <p:nvPr/>
        </p:nvSpPr>
        <p:spPr>
          <a:xfrm>
            <a:off x="1703512" y="3117159"/>
            <a:ext cx="2819400" cy="30481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D5D58-09C6-F9BB-D011-891B04261C89}"/>
              </a:ext>
            </a:extLst>
          </p:cNvPr>
          <p:cNvSpPr/>
          <p:nvPr/>
        </p:nvSpPr>
        <p:spPr>
          <a:xfrm>
            <a:off x="1692424" y="6270256"/>
            <a:ext cx="2819400" cy="5064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97D13-E7DF-ECB9-90C8-5B933F885FEA}"/>
              </a:ext>
            </a:extLst>
          </p:cNvPr>
          <p:cNvSpPr/>
          <p:nvPr/>
        </p:nvSpPr>
        <p:spPr>
          <a:xfrm>
            <a:off x="4600670" y="3117159"/>
            <a:ext cx="3505254" cy="36595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171C35-0053-52FC-16CD-C296E2B651D9}"/>
              </a:ext>
            </a:extLst>
          </p:cNvPr>
          <p:cNvSpPr/>
          <p:nvPr/>
        </p:nvSpPr>
        <p:spPr>
          <a:xfrm>
            <a:off x="8256241" y="3139314"/>
            <a:ext cx="2147289" cy="12977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274990-101B-B5DB-D4F0-6B71A3E70A53}"/>
              </a:ext>
            </a:extLst>
          </p:cNvPr>
          <p:cNvSpPr/>
          <p:nvPr/>
        </p:nvSpPr>
        <p:spPr>
          <a:xfrm>
            <a:off x="8256242" y="4498793"/>
            <a:ext cx="2147289" cy="22779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e? </a:t>
            </a:r>
          </a:p>
        </p:txBody>
      </p:sp>
    </p:spTree>
    <p:extLst>
      <p:ext uri="{BB962C8B-B14F-4D97-AF65-F5344CB8AC3E}">
        <p14:creationId xmlns:p14="http://schemas.microsoft.com/office/powerpoint/2010/main" val="250994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c11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1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