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37.xml" ContentType="application/vnd.openxmlformats-officedocument.presentationml.slide+xml"/>
  <ns0:Override PartName="/ppt/c12/ppt/slides/slide38.xml" ContentType="application/vnd.openxmlformats-officedocument.presentationml.slide+xml"/>
  <ns0:Override PartName="/ppt/c12/ppt/slides/slide39.xml" ContentType="application/vnd.openxmlformats-officedocument.presentationml.slide+xml"/>
  <ns0:Override PartName="/ppt/c12/ppt/slides/slide40.xml" ContentType="application/vnd.openxmlformats-officedocument.presentationml.slide+xml"/>
  <ns0:Override PartName="/ppt/c12/ppt/slides/slide41.xml" ContentType="application/vnd.openxmlformats-officedocument.presentationml.slide+xml"/>
  <ns0:Override PartName="/ppt/c12/ppt/slides/slide42.xml" ContentType="application/vnd.openxmlformats-officedocument.presentationml.slide+xml"/>
  <ns0:Override PartName="/ppt/c12/ppt/slides/slide43.xml" ContentType="application/vnd.openxmlformats-officedocument.presentationml.slide+xml"/>
  <ns0:Override PartName="/ppt/c12/ppt/slides/slide44.xml" ContentType="application/vnd.openxmlformats-officedocument.presentationml.slide+xml"/>
  <ns0:Override PartName="/ppt/c12/ppt/slides/slide45.xml" ContentType="application/vnd.openxmlformats-officedocument.presentationml.slide+xml"/>
  <ns0:Override PartName="/ppt/c12/ppt/slides/slide46.xml" ContentType="application/vnd.openxmlformats-officedocument.presentationml.slide+xml"/>
  <ns0:Override PartName="/ppt/c12/ppt/slides/slide47.xml" ContentType="application/vnd.openxmlformats-officedocument.presentationml.slide+xml"/>
  <ns0:Override PartName="/ppt/c12/ppt/slides/slide48.xml" ContentType="application/vnd.openxmlformats-officedocument.presentationml.slide+xml"/>
  <ns0:Override PartName="/ppt/c12/ppt/slides/slide49.xml" ContentType="application/vnd.openxmlformats-officedocument.presentationml.slide+xml"/>
  <ns0:Override PartName="/ppt/c12/ppt/slides/slide50.xml" ContentType="application/vnd.openxmlformats-officedocument.presentationml.slide+xml"/>
  <ns0:Override PartName="/ppt/c12/ppt/slides/slide51.xml" ContentType="application/vnd.openxmlformats-officedocument.presentationml.slide+xml"/>
  <ns0:Override PartName="/ppt/c12/ppt/slides/slide52.xml" ContentType="application/vnd.openxmlformats-officedocument.presentationml.slide+xml"/>
  <ns0:Override PartName="/ppt/c12/ppt/slides/slide53.xml" ContentType="application/vnd.openxmlformats-officedocument.presentationml.slide+xml"/>
  <ns0:Override PartName="/ppt/c12/ppt/slides/slide54.xml" ContentType="application/vnd.openxmlformats-officedocument.presentationml.slide+xml"/>
  <ns0:Override PartName="/ppt/c12/ppt/slides/slide55.xml" ContentType="application/vnd.openxmlformats-officedocument.presentationml.slide+xml"/>
  <ns0:Override PartName="/ppt/c12/ppt/slides/slide56.xml" ContentType="application/vnd.openxmlformats-officedocument.presentationml.slide+xml"/>
  <ns0:Override PartName="/ppt/c12/ppt/slides/slide57.xml" ContentType="application/vnd.openxmlformats-officedocument.presentationml.slide+xml"/>
  <ns0:Override PartName="/ppt/c12/ppt/slides/slide58.xml" ContentType="application/vnd.openxmlformats-officedocument.presentationml.slide+xml"/>
  <ns0:Override PartName="/ppt/c12/ppt/slides/slide59.xml" ContentType="application/vnd.openxmlformats-officedocument.presentationml.slide+xml"/>
  <ns0:Override PartName="/ppt/c12/ppt/slides/slide60.xml" ContentType="application/vnd.openxmlformats-officedocument.presentationml.slide+xml"/>
  <ns0:Override PartName="/ppt/c12/ppt/slides/slide61.xml" ContentType="application/vnd.openxmlformats-officedocument.presentationml.slide+xml"/>
  <ns0:Override PartName="/ppt/c12/ppt/slides/slide62.xml" ContentType="application/vnd.openxmlformats-officedocument.presentationml.slide+xml"/>
  <ns0:Override PartName="/ppt/c12/ppt/slides/slide63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28"/>
  </p:sldMasterIdLst>
  <p:notesMasterIdLst>
    <p:notesMasterId r:id="rId2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37.xml" /><ns0:Relationship Id="rId2" Type="http://schemas.openxmlformats.org/officeDocument/2006/relationships/slide" Target="c12/ppt/slides/slide38.xml" /><ns0:Relationship Id="rId3" Type="http://schemas.openxmlformats.org/officeDocument/2006/relationships/slide" Target="c12/ppt/slides/slide39.xml" /><ns0:Relationship Id="rId4" Type="http://schemas.openxmlformats.org/officeDocument/2006/relationships/slide" Target="c12/ppt/slides/slide40.xml" /><ns0:Relationship Id="rId5" Type="http://schemas.openxmlformats.org/officeDocument/2006/relationships/slide" Target="c12/ppt/slides/slide41.xml" /><ns0:Relationship Id="rId6" Type="http://schemas.openxmlformats.org/officeDocument/2006/relationships/slide" Target="c12/ppt/slides/slide42.xml" /><ns0:Relationship Id="rId7" Type="http://schemas.openxmlformats.org/officeDocument/2006/relationships/slide" Target="c12/ppt/slides/slide43.xml" /><ns0:Relationship Id="rId8" Type="http://schemas.openxmlformats.org/officeDocument/2006/relationships/slide" Target="c12/ppt/slides/slide44.xml" /><ns0:Relationship Id="rId9" Type="http://schemas.openxmlformats.org/officeDocument/2006/relationships/slide" Target="c12/ppt/slides/slide45.xml" /><ns0:Relationship Id="rId10" Type="http://schemas.openxmlformats.org/officeDocument/2006/relationships/slide" Target="c12/ppt/slides/slide46.xml" /><ns0:Relationship Id="rId11" Type="http://schemas.openxmlformats.org/officeDocument/2006/relationships/slide" Target="c12/ppt/slides/slide47.xml" /><ns0:Relationship Id="rId12" Type="http://schemas.openxmlformats.org/officeDocument/2006/relationships/slide" Target="c12/ppt/slides/slide48.xml" /><ns0:Relationship Id="rId13" Type="http://schemas.openxmlformats.org/officeDocument/2006/relationships/slide" Target="c12/ppt/slides/slide49.xml" /><ns0:Relationship Id="rId14" Type="http://schemas.openxmlformats.org/officeDocument/2006/relationships/slide" Target="c12/ppt/slides/slide50.xml" /><ns0:Relationship Id="rId15" Type="http://schemas.openxmlformats.org/officeDocument/2006/relationships/slide" Target="c12/ppt/slides/slide51.xml" /><ns0:Relationship Id="rId16" Type="http://schemas.openxmlformats.org/officeDocument/2006/relationships/slide" Target="c12/ppt/slides/slide52.xml" /><ns0:Relationship Id="rId17" Type="http://schemas.openxmlformats.org/officeDocument/2006/relationships/slide" Target="c12/ppt/slides/slide53.xml" /><ns0:Relationship Id="rId18" Type="http://schemas.openxmlformats.org/officeDocument/2006/relationships/slide" Target="c12/ppt/slides/slide54.xml" /><ns0:Relationship Id="rId19" Type="http://schemas.openxmlformats.org/officeDocument/2006/relationships/slide" Target="c12/ppt/slides/slide55.xml" /><ns0:Relationship Id="rId20" Type="http://schemas.openxmlformats.org/officeDocument/2006/relationships/slide" Target="c12/ppt/slides/slide56.xml" /><ns0:Relationship Id="rId21" Type="http://schemas.openxmlformats.org/officeDocument/2006/relationships/slide" Target="c12/ppt/slides/slide57.xml" /><ns0:Relationship Id="rId22" Type="http://schemas.openxmlformats.org/officeDocument/2006/relationships/slide" Target="c12/ppt/slides/slide58.xml" /><ns0:Relationship Id="rId23" Type="http://schemas.openxmlformats.org/officeDocument/2006/relationships/slide" Target="c12/ppt/slides/slide59.xml" /><ns0:Relationship Id="rId24" Type="http://schemas.openxmlformats.org/officeDocument/2006/relationships/slide" Target="c12/ppt/slides/slide60.xml" /><ns0:Relationship Id="rId25" Type="http://schemas.openxmlformats.org/officeDocument/2006/relationships/slide" Target="c12/ppt/slides/slide61.xml" /><ns0:Relationship Id="rId26" Type="http://schemas.openxmlformats.org/officeDocument/2006/relationships/slide" Target="c12/ppt/slides/slide62.xml" /><ns0:Relationship Id="rId27" Type="http://schemas.openxmlformats.org/officeDocument/2006/relationships/slide" Target="c12/ppt/slides/slide63.xml" /><ns0:Relationship Id="rId28" Type="http://schemas.openxmlformats.org/officeDocument/2006/relationships/slideMaster" Target="c12/ppt/slideMasters/slideMaster1.xml" /><ns0:Relationship Id="rId29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1390.png" /><ns0:Relationship Id="rId3" Type="http://schemas.openxmlformats.org/officeDocument/2006/relationships/image" Target="../media/image1340.png" /><ns0:Relationship Id="rId7" Type="http://schemas.openxmlformats.org/officeDocument/2006/relationships/image" Target="../media/image1380.png" /><ns0:Relationship Id="rId2" Type="http://schemas.openxmlformats.org/officeDocument/2006/relationships/image" Target="../media/image133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370.png" /><ns0:Relationship Id="rId5" Type="http://schemas.openxmlformats.org/officeDocument/2006/relationships/image" Target="../media/image1360.png" /><ns0:Relationship Id="rId4" Type="http://schemas.openxmlformats.org/officeDocument/2006/relationships/image" Target="../media/image1350.png" /><ns0:Relationship Id="rId9" Type="http://schemas.openxmlformats.org/officeDocument/2006/relationships/image" Target="../media/image1400.png" /></ns0:Relationships>
</file>

<file path=ppt/c12/ppt/slides/_rels/slide38.xml.rels><?xml version='1.0' encoding='utf-8'?>
<ns0:Relationships xmlns:ns0="http://schemas.openxmlformats.org/package/2006/relationships"><ns0:Relationship Id="rId3" Type="http://schemas.openxmlformats.org/officeDocument/2006/relationships/image" Target="../media/image142.png" /><ns0:Relationship Id="rId2" Type="http://schemas.openxmlformats.org/officeDocument/2006/relationships/image" Target="../media/image141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44.png" /><ns0:Relationship Id="rId4" Type="http://schemas.openxmlformats.org/officeDocument/2006/relationships/image" Target="../media/image143.png" /></ns0:Relationships>
</file>

<file path=ppt/c12/ppt/slides/_rels/slide39.xml.rels><?xml version='1.0' encoding='utf-8'?>
<ns0:Relationships xmlns:ns0="http://schemas.openxmlformats.org/package/2006/relationships"><ns0:Relationship Id="rId3" Type="http://schemas.openxmlformats.org/officeDocument/2006/relationships/image" Target="../media/image146.png" /><ns0:Relationship Id="rId2" Type="http://schemas.openxmlformats.org/officeDocument/2006/relationships/image" Target="../media/image145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48.png" /><ns0:Relationship Id="rId4" Type="http://schemas.openxmlformats.org/officeDocument/2006/relationships/image" Target="../media/image147.png" /></ns0:Relationships>
</file>

<file path=ppt/c12/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150.png" /><ns0:Relationship Id="rId2" Type="http://schemas.openxmlformats.org/officeDocument/2006/relationships/image" Target="../media/image149.png" /><ns0:Relationship Id="rId1" Type="http://schemas.openxmlformats.org/officeDocument/2006/relationships/slideLayout" Target="../slideLayouts/slideLayout1.xml" /></ns0:Relationships>
</file>

<file path=ppt/c12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152.png" /><ns0:Relationship Id="rId2" Type="http://schemas.openxmlformats.org/officeDocument/2006/relationships/image" Target="../media/image151.png" /><ns0:Relationship Id="rId1" Type="http://schemas.openxmlformats.org/officeDocument/2006/relationships/slideLayout" Target="../slideLayouts/slideLayout1.xml" /></ns0:Relationships>
</file>

<file path=ppt/c12/ppt/slides/_rels/slide42.xml.rels><?xml version='1.0' encoding='utf-8'?>
<ns0:Relationships xmlns:ns0="http://schemas.openxmlformats.org/package/2006/relationships"><ns0:Relationship Id="rId8" Type="http://schemas.openxmlformats.org/officeDocument/2006/relationships/image" Target="../media/image155.png" /><ns0:Relationship Id="rId3" Type="http://schemas.openxmlformats.org/officeDocument/2006/relationships/image" Target="../media/image1500.png" /><ns0:Relationship Id="rId7" Type="http://schemas.openxmlformats.org/officeDocument/2006/relationships/image" Target="../media/image154.png" /><ns0:Relationship Id="rId12" Type="http://schemas.openxmlformats.org/officeDocument/2006/relationships/image" Target="../media/image159.png" /><ns0:Relationship Id="rId2" Type="http://schemas.openxmlformats.org/officeDocument/2006/relationships/image" Target="../media/image149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53.png" /><ns0:Relationship Id="rId11" Type="http://schemas.openxmlformats.org/officeDocument/2006/relationships/image" Target="../media/image158.png" /><ns0:Relationship Id="rId5" Type="http://schemas.openxmlformats.org/officeDocument/2006/relationships/image" Target="../media/image1520.png" /><ns0:Relationship Id="rId10" Type="http://schemas.openxmlformats.org/officeDocument/2006/relationships/image" Target="../media/image157.png" /><ns0:Relationship Id="rId4" Type="http://schemas.openxmlformats.org/officeDocument/2006/relationships/image" Target="../media/image1510.png" /><ns0:Relationship Id="rId9" Type="http://schemas.openxmlformats.org/officeDocument/2006/relationships/image" Target="../media/image156.png" /></ns0:Relationships>
</file>

<file path=ppt/c12/ppt/slides/_rels/slide43.xml.rels><?xml version='1.0' encoding='utf-8'?>
<ns0:Relationships xmlns:ns0="http://schemas.openxmlformats.org/package/2006/relationships"><ns0:Relationship Id="rId2" Type="http://schemas.openxmlformats.org/officeDocument/2006/relationships/image" Target="../media/image16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3.png" /><ns0:Relationship Id="rId5" Type="http://schemas.openxmlformats.org/officeDocument/2006/relationships/image" Target="../media/image162.png" /><ns0:Relationship Id="rId4" Type="http://schemas.openxmlformats.org/officeDocument/2006/relationships/image" Target="../media/image161.png" /></ns0:Relationships>
</file>

<file path=ppt/c12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165.png" /><ns0:Relationship Id="rId2" Type="http://schemas.openxmlformats.org/officeDocument/2006/relationships/image" Target="../media/image164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67.png" /><ns0:Relationship Id="rId4" Type="http://schemas.openxmlformats.org/officeDocument/2006/relationships/image" Target="../media/image166.png" /></ns0:Relationships>
</file>

<file path=ppt/c12/ppt/slides/_rels/slide45.xml.rels><?xml version='1.0' encoding='utf-8'?>
<ns0:Relationships xmlns:ns0="http://schemas.openxmlformats.org/package/2006/relationships"><ns0:Relationship Id="rId3" Type="http://schemas.openxmlformats.org/officeDocument/2006/relationships/image" Target="../media/image169.png" /><ns0:Relationship Id="rId2" Type="http://schemas.openxmlformats.org/officeDocument/2006/relationships/image" Target="../media/image168.png" /><ns0:Relationship Id="rId1" Type="http://schemas.openxmlformats.org/officeDocument/2006/relationships/slideLayout" Target="../slideLayouts/slideLayout1.xml" /></ns0:Relationships>
</file>

<file path=ppt/c12/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171.png" /><ns0:Relationship Id="rId2" Type="http://schemas.openxmlformats.org/officeDocument/2006/relationships/image" Target="../media/image170.png" /><ns0:Relationship Id="rId1" Type="http://schemas.openxmlformats.org/officeDocument/2006/relationships/slideLayout" Target="../slideLayouts/slideLayout1.xml" /></ns0:Relationships>
</file>

<file path=ppt/c12/ppt/slides/_rels/slide47.xml.rels><?xml version='1.0' encoding='utf-8'?>
<ns0:Relationships xmlns:ns0="http://schemas.openxmlformats.org/package/2006/relationships"><ns0:Relationship Id="rId3" Type="http://schemas.openxmlformats.org/officeDocument/2006/relationships/image" Target="../media/image173.png" /><ns0:Relationship Id="rId2" Type="http://schemas.openxmlformats.org/officeDocument/2006/relationships/image" Target="../media/image172.png" /><ns0:Relationship Id="rId1" Type="http://schemas.openxmlformats.org/officeDocument/2006/relationships/slideLayout" Target="../slideLayouts/slideLayout1.xml" /></ns0:Relationships>
</file>

<file path=ppt/c12/ppt/slides/_rels/slide48.xml.rels><?xml version='1.0' encoding='utf-8'?>
<ns0:Relationships xmlns:ns0="http://schemas.openxmlformats.org/package/2006/relationships"><ns0:Relationship Id="rId3" Type="http://schemas.openxmlformats.org/officeDocument/2006/relationships/image" Target="../media/image1720.png" /><ns0:Relationship Id="rId2" Type="http://schemas.openxmlformats.org/officeDocument/2006/relationships/image" Target="../media/image171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75.png" /><ns0:Relationship Id="rId5" Type="http://schemas.openxmlformats.org/officeDocument/2006/relationships/image" Target="../media/image174.png" /><ns0:Relationship Id="rId4" Type="http://schemas.openxmlformats.org/officeDocument/2006/relationships/image" Target="../media/image1730.png" /></ns0:Relationships>
</file>

<file path=ppt/c12/ppt/slides/_rels/slide49.xml.rels><?xml version='1.0' encoding='utf-8'?>
<ns0:Relationships xmlns:ns0="http://schemas.openxmlformats.org/package/2006/relationships"><ns0:Relationship Id="rId3" Type="http://schemas.openxmlformats.org/officeDocument/2006/relationships/image" Target="../media/image177.png" /><ns0:Relationship Id="rId2" Type="http://schemas.openxmlformats.org/officeDocument/2006/relationships/image" Target="../media/image17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80.png" /><ns0:Relationship Id="rId5" Type="http://schemas.openxmlformats.org/officeDocument/2006/relationships/image" Target="../media/image179.png" /><ns0:Relationship Id="rId4" Type="http://schemas.openxmlformats.org/officeDocument/2006/relationships/image" Target="../media/image178.png" /></ns0:Relationships>
</file>

<file path=ppt/c12/ppt/slides/_rels/slide50.xml.rels><?xml version='1.0' encoding='utf-8'?>
<ns0:Relationships xmlns:ns0="http://schemas.openxmlformats.org/package/2006/relationships"><ns0:Relationship Id="rId3" Type="http://schemas.openxmlformats.org/officeDocument/2006/relationships/image" Target="../media/image182.png" /><ns0:Relationship Id="rId2" Type="http://schemas.openxmlformats.org/officeDocument/2006/relationships/image" Target="../media/image181.png" /><ns0:Relationship Id="rId1" Type="http://schemas.openxmlformats.org/officeDocument/2006/relationships/slideLayout" Target="../slideLayouts/slideLayout1.xml" /></ns0:Relationships>
</file>

<file path=ppt/c12/ppt/slides/_rels/slide5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c12/ppt/slides/_rels/slide52.xml.rels><?xml version='1.0' encoding='utf-8'?>
<ns0:Relationships xmlns:ns0="http://schemas.openxmlformats.org/package/2006/relationships"><ns0:Relationship Id="rId3" Type="http://schemas.openxmlformats.org/officeDocument/2006/relationships/image" Target="../media/image184.png" /><ns0:Relationship Id="rId2" Type="http://schemas.openxmlformats.org/officeDocument/2006/relationships/image" Target="../media/image18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87.png" /><ns0:Relationship Id="rId5" Type="http://schemas.openxmlformats.org/officeDocument/2006/relationships/image" Target="../media/image186.png" /><ns0:Relationship Id="rId4" Type="http://schemas.openxmlformats.org/officeDocument/2006/relationships/image" Target="../media/image185.png" /></ns0:Relationships>
</file>

<file path=ppt/c12/ppt/slides/_rels/slide53.xml.rels><?xml version='1.0' encoding='utf-8'?>
<ns0:Relationships xmlns:ns0="http://schemas.openxmlformats.org/package/2006/relationships"><ns0:Relationship Id="rId3" Type="http://schemas.openxmlformats.org/officeDocument/2006/relationships/image" Target="../media/image189.png" /><ns0:Relationship Id="rId2" Type="http://schemas.openxmlformats.org/officeDocument/2006/relationships/image" Target="../media/image18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90.png" /></ns0:Relationships>
</file>

<file path=ppt/c12/ppt/slides/_rels/slide54.xml.rels><?xml version='1.0' encoding='utf-8'?>
<ns0:Relationships xmlns:ns0="http://schemas.openxmlformats.org/package/2006/relationships"><ns0:Relationship Id="rId3" Type="http://schemas.openxmlformats.org/officeDocument/2006/relationships/image" Target="../media/image192.png" /><ns0:Relationship Id="rId2" Type="http://schemas.openxmlformats.org/officeDocument/2006/relationships/image" Target="../media/image19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95.png" /><ns0:Relationship Id="rId5" Type="http://schemas.openxmlformats.org/officeDocument/2006/relationships/image" Target="../media/image194.png" /><ns0:Relationship Id="rId4" Type="http://schemas.openxmlformats.org/officeDocument/2006/relationships/image" Target="../media/image193.png" /></ns0:Relationships>
</file>

<file path=ppt/c12/ppt/slides/_rels/slide55.xml.rels><?xml version='1.0' encoding='utf-8'?>
<ns0:Relationships xmlns:ns0="http://schemas.openxmlformats.org/package/2006/relationships"><ns0:Relationship Id="rId3" Type="http://schemas.openxmlformats.org/officeDocument/2006/relationships/image" Target="../media/image197.png" /><ns0:Relationship Id="rId2" Type="http://schemas.openxmlformats.org/officeDocument/2006/relationships/image" Target="../media/image196.png" /><ns0:Relationship Id="rId1" Type="http://schemas.openxmlformats.org/officeDocument/2006/relationships/slideLayout" Target="../slideLayouts/slideLayout1.xml" /></ns0:Relationships>
</file>

<file path=ppt/c12/ppt/slides/_rels/slide56.xml.rels><?xml version='1.0' encoding='utf-8'?>
<ns0:Relationships xmlns:ns0="http://schemas.openxmlformats.org/package/2006/relationships"><ns0:Relationship Id="rId8" Type="http://schemas.openxmlformats.org/officeDocument/2006/relationships/image" Target="../media/image204.png" /><ns0:Relationship Id="rId3" Type="http://schemas.openxmlformats.org/officeDocument/2006/relationships/image" Target="../media/image199.png" /><ns0:Relationship Id="rId7" Type="http://schemas.openxmlformats.org/officeDocument/2006/relationships/image" Target="../media/image203.png" /><ns0:Relationship Id="rId2" Type="http://schemas.openxmlformats.org/officeDocument/2006/relationships/image" Target="../media/image19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02.png" /><ns0:Relationship Id="rId11" Type="http://schemas.openxmlformats.org/officeDocument/2006/relationships/image" Target="../media/image207.png" /><ns0:Relationship Id="rId5" Type="http://schemas.openxmlformats.org/officeDocument/2006/relationships/image" Target="../media/image201.png" /><ns0:Relationship Id="rId10" Type="http://schemas.openxmlformats.org/officeDocument/2006/relationships/image" Target="../media/image206.png" /><ns0:Relationship Id="rId4" Type="http://schemas.openxmlformats.org/officeDocument/2006/relationships/image" Target="../media/image200.png" /><ns0:Relationship Id="rId9" Type="http://schemas.openxmlformats.org/officeDocument/2006/relationships/image" Target="../media/image205.png" /></ns0:Relationships>
</file>

<file path=ppt/c12/ppt/slides/_rels/slide57.xml.rels><?xml version='1.0' encoding='utf-8'?>
<ns0:Relationships xmlns:ns0="http://schemas.openxmlformats.org/package/2006/relationships"><ns0:Relationship Id="rId3" Type="http://schemas.openxmlformats.org/officeDocument/2006/relationships/image" Target="../media/image209.png" /><ns0:Relationship Id="rId2" Type="http://schemas.openxmlformats.org/officeDocument/2006/relationships/image" Target="../media/image20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10.png" /></ns0:Relationships>
</file>

<file path=ppt/c12/ppt/slides/_rels/slide58.xml.rels><?xml version='1.0' encoding='utf-8'?>
<ns0:Relationships xmlns:ns0="http://schemas.openxmlformats.org/package/2006/relationships"><ns0:Relationship Id="rId3" Type="http://schemas.openxmlformats.org/officeDocument/2006/relationships/image" Target="../media/image212.png" /><ns0:Relationship Id="rId2" Type="http://schemas.openxmlformats.org/officeDocument/2006/relationships/image" Target="../media/image211.png" /><ns0:Relationship Id="rId1" Type="http://schemas.openxmlformats.org/officeDocument/2006/relationships/slideLayout" Target="../slideLayouts/slideLayout1.xml" /></ns0:Relationships>
</file>

<file path=ppt/c12/ppt/slides/_rels/slide59.xml.rels><?xml version='1.0' encoding='utf-8'?>
<ns0:Relationships xmlns:ns0="http://schemas.openxmlformats.org/package/2006/relationships"><ns0:Relationship Id="rId3" Type="http://schemas.openxmlformats.org/officeDocument/2006/relationships/image" Target="../media/image214.png" /><ns0:Relationship Id="rId2" Type="http://schemas.openxmlformats.org/officeDocument/2006/relationships/image" Target="../media/image213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16.png" /><ns0:Relationship Id="rId4" Type="http://schemas.openxmlformats.org/officeDocument/2006/relationships/image" Target="../media/image215.png" /></ns0:Relationships>
</file>

<file path=ppt/c12/ppt/slides/_rels/slide60.xml.rels><?xml version='1.0' encoding='utf-8'?>
<ns0:Relationships xmlns:ns0="http://schemas.openxmlformats.org/package/2006/relationships"><ns0:Relationship Id="rId3" Type="http://schemas.openxmlformats.org/officeDocument/2006/relationships/image" Target="../media/image2121.png" /><ns0:Relationship Id="rId2" Type="http://schemas.openxmlformats.org/officeDocument/2006/relationships/image" Target="../media/image211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141.png" /><ns0:Relationship Id="rId4" Type="http://schemas.openxmlformats.org/officeDocument/2006/relationships/image" Target="../media/image2131.png" /></ns0:Relationships>
</file>

<file path=ppt/c12/ppt/slides/_rels/slide61.xml.rels><?xml version='1.0' encoding='utf-8'?>
<ns0:Relationships xmlns:ns0="http://schemas.openxmlformats.org/package/2006/relationships"><ns0:Relationship Id="rId3" Type="http://schemas.openxmlformats.org/officeDocument/2006/relationships/image" Target="../media/image2130.png" /><ns0:Relationship Id="rId2" Type="http://schemas.openxmlformats.org/officeDocument/2006/relationships/image" Target="../media/image212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160.png" /><ns0:Relationship Id="rId5" Type="http://schemas.openxmlformats.org/officeDocument/2006/relationships/image" Target="../media/image2150.png" /><ns0:Relationship Id="rId4" Type="http://schemas.openxmlformats.org/officeDocument/2006/relationships/image" Target="../media/image2140.png" /></ns0:Relationships>
</file>

<file path=ppt/c12/ppt/slides/_rels/slide62.xml.rels><?xml version='1.0' encoding='utf-8'?>
<ns0:Relationships xmlns:ns0="http://schemas.openxmlformats.org/package/2006/relationships"><ns0:Relationship Id="rId2" Type="http://schemas.openxmlformats.org/officeDocument/2006/relationships/image" Target="../media/image217.png" /><ns0:Relationship Id="rId1" Type="http://schemas.openxmlformats.org/officeDocument/2006/relationships/slideLayout" Target="../slideLayouts/slideLayout1.xml" /></ns0:Relationships>
</file>

<file path=ppt/c12/ppt/slides/_rels/slide63.xml.rels><?xml version='1.0' encoding='utf-8'?>
<ns0:Relationships xmlns:ns0="http://schemas.openxmlformats.org/package/2006/relationships"><ns0:Relationship Id="rId3" Type="http://schemas.openxmlformats.org/officeDocument/2006/relationships/image" Target="../media/image219.png" /><ns0:Relationship Id="rId2" Type="http://schemas.openxmlformats.org/officeDocument/2006/relationships/image" Target="../media/image218.png" /><ns0:Relationship Id="rId1" Type="http://schemas.openxmlformats.org/officeDocument/2006/relationships/slideLayout" Target="../slideLayouts/slideLayout1.xml" /></ns0:Relationships>
</file>

<file path=ppt/c12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Increasing and Decreasing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683568" y="1628800"/>
            <a:ext cx="3200400" cy="2604977"/>
          </a:xfrm>
          <a:custGeom>
            <a:avLst/>
            <a:gdLst>
              <a:gd name="connsiteX0" fmla="*/ 0 w 3200400"/>
              <a:gd name="connsiteY0" fmla="*/ 2604977 h 2604977"/>
              <a:gd name="connsiteX1" fmla="*/ 1190846 w 3200400"/>
              <a:gd name="connsiteY1" fmla="*/ 1063256 h 2604977"/>
              <a:gd name="connsiteX2" fmla="*/ 2211572 w 3200400"/>
              <a:gd name="connsiteY2" fmla="*/ 797442 h 2604977"/>
              <a:gd name="connsiteX3" fmla="*/ 2477386 w 3200400"/>
              <a:gd name="connsiteY3" fmla="*/ 712381 h 2604977"/>
              <a:gd name="connsiteX4" fmla="*/ 2849525 w 3200400"/>
              <a:gd name="connsiteY4" fmla="*/ 467833 h 2604977"/>
              <a:gd name="connsiteX5" fmla="*/ 3200400 w 3200400"/>
              <a:gd name="connsiteY5" fmla="*/ 0 h 260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400" h="2604977">
                <a:moveTo>
                  <a:pt x="0" y="2604977"/>
                </a:moveTo>
                <a:cubicBezTo>
                  <a:pt x="411125" y="1984744"/>
                  <a:pt x="822251" y="1364512"/>
                  <a:pt x="1190846" y="1063256"/>
                </a:cubicBezTo>
                <a:cubicBezTo>
                  <a:pt x="1559441" y="762000"/>
                  <a:pt x="1997149" y="855921"/>
                  <a:pt x="2211572" y="797442"/>
                </a:cubicBezTo>
                <a:cubicBezTo>
                  <a:pt x="2425995" y="738963"/>
                  <a:pt x="2371061" y="767316"/>
                  <a:pt x="2477386" y="712381"/>
                </a:cubicBezTo>
                <a:cubicBezTo>
                  <a:pt x="2583712" y="657446"/>
                  <a:pt x="2729023" y="586563"/>
                  <a:pt x="2849525" y="467833"/>
                </a:cubicBezTo>
                <a:cubicBezTo>
                  <a:pt x="2970027" y="349103"/>
                  <a:pt x="3085213" y="174551"/>
                  <a:pt x="32004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637565" y="2948115"/>
            <a:ext cx="2016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you think it means for a function to be an ‘increasing function’?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An increasing function is one whose gradient is always at least 0.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  <a:blipFill>
                <a:blip r:embed="rId2"/>
                <a:stretch>
                  <a:fillRect l="-988" t="-1075" b="-2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It would be ‘</a:t>
                </a:r>
                <a:r>
                  <a:rPr lang="en-GB" sz="1400" b="1" u="sng" dirty="0"/>
                  <a:t>strictly</a:t>
                </a:r>
                <a:r>
                  <a:rPr lang="en-GB" sz="1400" b="1" dirty="0"/>
                  <a:t> increasing</a:t>
                </a:r>
                <a:r>
                  <a:rPr lang="en-GB" sz="1400" dirty="0"/>
                  <a:t>’ if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400" dirty="0"/>
                  <a:t> for all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i.e. is not allowed to go horizontal.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blipFill>
                <a:blip r:embed="rId3"/>
                <a:stretch>
                  <a:fillRect l="-746" t="-1653" r="-995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/>
          <p:cNvSpPr/>
          <p:nvPr/>
        </p:nvSpPr>
        <p:spPr>
          <a:xfrm>
            <a:off x="4646428" y="1679944"/>
            <a:ext cx="3104707" cy="2349796"/>
          </a:xfrm>
          <a:custGeom>
            <a:avLst/>
            <a:gdLst>
              <a:gd name="connsiteX0" fmla="*/ 0 w 3104707"/>
              <a:gd name="connsiteY0" fmla="*/ 2349796 h 2349796"/>
              <a:gd name="connsiteX1" fmla="*/ 1052623 w 3104707"/>
              <a:gd name="connsiteY1" fmla="*/ 754912 h 2349796"/>
              <a:gd name="connsiteX2" fmla="*/ 2030819 w 3104707"/>
              <a:gd name="connsiteY2" fmla="*/ 1860698 h 2349796"/>
              <a:gd name="connsiteX3" fmla="*/ 3104707 w 3104707"/>
              <a:gd name="connsiteY3" fmla="*/ 0 h 234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707" h="2349796">
                <a:moveTo>
                  <a:pt x="0" y="2349796"/>
                </a:moveTo>
                <a:cubicBezTo>
                  <a:pt x="357076" y="1593112"/>
                  <a:pt x="714153" y="836428"/>
                  <a:pt x="1052623" y="754912"/>
                </a:cubicBezTo>
                <a:cubicBezTo>
                  <a:pt x="1391093" y="673396"/>
                  <a:pt x="1688805" y="1986517"/>
                  <a:pt x="2030819" y="1860698"/>
                </a:cubicBezTo>
                <a:cubicBezTo>
                  <a:pt x="2372833" y="1734879"/>
                  <a:pt x="2738770" y="867439"/>
                  <a:pt x="310470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24128" y="1484784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1477785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646428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796136" y="4399478"/>
            <a:ext cx="710990" cy="240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660232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90645" y="711791"/>
            <a:ext cx="353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function can also be increasing and decreasing in certain intervals.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5661764" y="2368263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6543496" y="3470219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blipFill>
                <a:blip r:embed="rId6"/>
                <a:stretch>
                  <a:fillRect l="-2381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Decreasing for </a:t>
                </a:r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blipFill>
                <a:blip r:embed="rId7"/>
                <a:stretch>
                  <a:fillRect l="-2110" t="-3125" r="-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blipFill>
                <a:blip r:embed="rId8"/>
                <a:stretch>
                  <a:fillRect l="-2857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could also write “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[2,4]</m:t>
                    </m:r>
                  </m:oMath>
                </a14:m>
                <a:r>
                  <a:rPr lang="en-GB" sz="1600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b="1" dirty="0"/>
                  <a:t> represents all the real numbers between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inclusive, </a:t>
                </a:r>
                <a:r>
                  <a:rPr lang="en-GB" sz="1600" b="1" dirty="0" err="1"/>
                  <a:t>i.e</a:t>
                </a:r>
                <a:r>
                  <a:rPr lang="en-GB" sz="16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  <a:blipFill>
                <a:blip r:embed="rId9"/>
                <a:stretch>
                  <a:fillRect l="-540" t="-442" r="-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4285216" y="4531385"/>
            <a:ext cx="1074184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029" y="4533804"/>
            <a:ext cx="1196380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3531" y="4533804"/>
            <a:ext cx="1143217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4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c12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+9≥0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blipFill>
                <a:blip r:embed="rId3"/>
                <a:stretch>
                  <a:fillRect l="-1394" r="-1568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11560" y="4869160"/>
            <a:ext cx="2673901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To show a quadratic is </a:t>
            </a:r>
            <a:r>
              <a:rPr lang="en-GB" sz="1600" u="sng" dirty="0"/>
              <a:t>always</a:t>
            </a:r>
            <a:r>
              <a:rPr lang="en-GB" sz="1600" dirty="0"/>
              <a:t> positive, </a:t>
            </a:r>
            <a:r>
              <a:rPr lang="en-GB" sz="1600" u="sng" dirty="0"/>
              <a:t>complete the square</a:t>
            </a:r>
            <a:r>
              <a:rPr lang="en-GB" sz="1600" dirty="0"/>
              <a:t>, then indicate the squared term is always at least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958" y="1858166"/>
            <a:ext cx="3641282" cy="27244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[−3,1]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blipFill>
                <a:blip r:embed="rId5"/>
                <a:stretch>
                  <a:fillRect l="-1587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79952" y="1849697"/>
            <a:ext cx="3641282" cy="27244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257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c12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blipFill>
                <a:blip r:embed="rId3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+16≥0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blipFill>
                <a:blip r:embed="rId4"/>
                <a:stretch>
                  <a:fillRect l="-1734" r="-193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−45≤0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blipFill>
                <a:blip r:embed="rId5"/>
                <a:stretch>
                  <a:fillRect l="-1538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53958" y="1858165"/>
            <a:ext cx="3641282" cy="2938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952" y="1849696"/>
            <a:ext cx="3981546" cy="29474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73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12G – Pearson Pure Y1 page 271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67F57B6-7AAB-C486-D750-5EDE8B02A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" y="715346"/>
            <a:ext cx="8370943" cy="495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13ADB-1984-EDF4-B3C7-823DE3A5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916832"/>
            <a:ext cx="5816600" cy="2095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A42F90-F98A-6C03-4536-8A4845F6C6E4}"/>
              </a:ext>
            </a:extLst>
          </p:cNvPr>
          <p:cNvSpPr/>
          <p:nvPr/>
        </p:nvSpPr>
        <p:spPr>
          <a:xfrm>
            <a:off x="353958" y="1858165"/>
            <a:ext cx="7026354" cy="2938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785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c12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12G – Pearson Pure Y1 page 271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3D3198C-07F6-6248-5987-FE3B60D4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82998"/>
            <a:ext cx="7772400" cy="984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6A510C-5BBA-97AE-C284-9B290F0B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12" y="1916832"/>
            <a:ext cx="5816600" cy="360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EFFCDC-303A-7D14-72B0-5C6661AA68C6}"/>
              </a:ext>
            </a:extLst>
          </p:cNvPr>
          <p:cNvSpPr/>
          <p:nvPr/>
        </p:nvSpPr>
        <p:spPr>
          <a:xfrm>
            <a:off x="897360" y="1916832"/>
            <a:ext cx="6336704" cy="2592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200" dirty="0"/>
              <a:t>a?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B129C-95EB-5F0A-C729-2B0AB84D4FAF}"/>
              </a:ext>
            </a:extLst>
          </p:cNvPr>
          <p:cNvSpPr/>
          <p:nvPr/>
        </p:nvSpPr>
        <p:spPr>
          <a:xfrm>
            <a:off x="897360" y="4581128"/>
            <a:ext cx="6336704" cy="11913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69154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c12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Second Order Derivatives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5747" y="791762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you differentiate once, the expression you get is known as the </a:t>
            </a:r>
            <a:r>
              <a:rPr lang="en-GB" b="1" dirty="0"/>
              <a:t>first derivative</a:t>
            </a:r>
            <a:r>
              <a:rPr lang="en-GB" dirty="0"/>
              <a:t>.</a:t>
            </a:r>
          </a:p>
          <a:p>
            <a:r>
              <a:rPr lang="en-GB" dirty="0"/>
              <a:t>Unsurprisingly, when we differentiate a second time, the resulting expression is known as the </a:t>
            </a:r>
            <a:r>
              <a:rPr lang="en-GB" b="1" dirty="0"/>
              <a:t>second derivative</a:t>
            </a:r>
            <a:r>
              <a:rPr lang="en-GB" dirty="0"/>
              <a:t>. And so 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/>
          <p:cNvSpPr/>
          <p:nvPr/>
        </p:nvSpPr>
        <p:spPr>
          <a:xfrm rot="20068808">
            <a:off x="2825916" y="3138602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/>
          <p:cNvSpPr/>
          <p:nvPr/>
        </p:nvSpPr>
        <p:spPr>
          <a:xfrm rot="554370">
            <a:off x="2824434" y="357072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/>
          <p:cNvSpPr/>
          <p:nvPr/>
        </p:nvSpPr>
        <p:spPr>
          <a:xfrm rot="1979714">
            <a:off x="2733691" y="397638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/>
          <p:cNvSpPr/>
          <p:nvPr/>
        </p:nvSpPr>
        <p:spPr>
          <a:xfrm>
            <a:off x="4852467" y="294368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/>
          <p:cNvSpPr/>
          <p:nvPr/>
        </p:nvSpPr>
        <p:spPr>
          <a:xfrm>
            <a:off x="4852467" y="362679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/>
          <p:cNvSpPr/>
          <p:nvPr/>
        </p:nvSpPr>
        <p:spPr>
          <a:xfrm>
            <a:off x="4872713" y="4295549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/>
          <p:cNvSpPr/>
          <p:nvPr/>
        </p:nvSpPr>
        <p:spPr>
          <a:xfrm>
            <a:off x="2847305" y="5369440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/>
          <p:cNvSpPr/>
          <p:nvPr/>
        </p:nvSpPr>
        <p:spPr>
          <a:xfrm>
            <a:off x="4929031" y="5366984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 rot="19885247">
            <a:off x="2579976" y="2866925"/>
            <a:ext cx="815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Leibniz’s</a:t>
            </a:r>
          </a:p>
        </p:txBody>
      </p:sp>
      <p:sp>
        <p:nvSpPr>
          <p:cNvPr id="25" name="TextBox 24"/>
          <p:cNvSpPr txBox="1"/>
          <p:nvPr/>
        </p:nvSpPr>
        <p:spPr>
          <a:xfrm rot="2086670">
            <a:off x="2420344" y="4167335"/>
            <a:ext cx="90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Newton’s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5274" y="4985302"/>
            <a:ext cx="10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Lagrange’s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129" y="1999473"/>
            <a:ext cx="186327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Original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7373" y="2004721"/>
            <a:ext cx="165312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First Derivative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467" y="2004721"/>
            <a:ext cx="194238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Second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similarly have the third derivative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), although this is no longer in the A Level syllabus. We’ll see why might use the second derivative soon…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blipFill>
                <a:blip r:embed="rId12"/>
                <a:stretch>
                  <a:fillRect l="-674" b="-114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c12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How does the notation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800" dirty="0"/>
                  <a:t> work?</a:t>
                </a:r>
              </a:p>
              <a:p>
                <a:pPr algn="ctr"/>
                <a:r>
                  <a:rPr lang="en-GB" sz="2800" dirty="0"/>
                  <a:t>Why are the squareds where they are?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blipFill>
                <a:blip r:embed="rId2"/>
                <a:stretch>
                  <a:fillRect b="-137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397211" y="3086630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when we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, we’re effectively doing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(by substitution), although this would typically be written: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blipFill>
                <a:blip r:embed="rId4"/>
                <a:stretch>
                  <a:fillRect l="-1480" t="-1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GB" dirty="0"/>
                  <a:t> notation is quite handy, because it behaves as a function and allows us to write the original expression and the derivative within a single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blipFill>
                <a:blip r:embed="rId5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/>
          <p:cNvSpPr/>
          <p:nvPr/>
        </p:nvSpPr>
        <p:spPr>
          <a:xfrm rot="7777920">
            <a:off x="4930037" y="4315141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Therefore, if we wanted to 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twice, we’d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blipFill>
                <a:blip r:embed="rId6"/>
                <a:stretch>
                  <a:fillRect l="-827" t="-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52860" y="4760013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51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/>
      <p:bldP spid="23" grpId="0" animBg="1"/>
      <p:bldP spid="24" grpId="0"/>
    </p:bldLst>
  </p:timing>
</p:sld>
</file>

<file path=ppt/c12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could also be written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blipFill>
                <a:blip r:embed="rId4"/>
                <a:stretch>
                  <a:fillRect l="-1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45927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7412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116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60282" y="1480194"/>
            <a:ext cx="5911917" cy="2740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810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2A8C6C-952A-40CA-2BAF-FCA2CBDF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16732"/>
            <a:ext cx="7200801" cy="818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83F44-6FFE-7957-FC7F-A8C20C532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723137"/>
            <a:ext cx="3073772" cy="3411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6C9ADC-1ACA-23F8-D362-1DA3295CED4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45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D3E3C7E-095B-72D4-4CA6-46A9BB82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03283"/>
            <a:ext cx="4621875" cy="665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02D13-BBC1-F0D2-72CE-69C16444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11" y="1513460"/>
            <a:ext cx="3937868" cy="35770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785C95-C230-A9A6-783C-3E2F93771DC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875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c12/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Stationary/Turning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 stationary point is where the gradient is 0,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  <a:blipFill>
                <a:blip r:embed="rId2"/>
                <a:stretch>
                  <a:fillRect l="-635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1331640" y="1751851"/>
            <a:ext cx="5497033" cy="1905080"/>
          </a:xfrm>
          <a:custGeom>
            <a:avLst/>
            <a:gdLst>
              <a:gd name="connsiteX0" fmla="*/ 0 w 4954772"/>
              <a:gd name="connsiteY0" fmla="*/ 1070433 h 1549138"/>
              <a:gd name="connsiteX1" fmla="*/ 1307805 w 4954772"/>
              <a:gd name="connsiteY1" fmla="*/ 7177 h 1549138"/>
              <a:gd name="connsiteX2" fmla="*/ 3444949 w 4954772"/>
              <a:gd name="connsiteY2" fmla="*/ 1538266 h 1549138"/>
              <a:gd name="connsiteX3" fmla="*/ 4954772 w 4954772"/>
              <a:gd name="connsiteY3" fmla="*/ 570703 h 1549138"/>
              <a:gd name="connsiteX0" fmla="*/ 0 w 5497033"/>
              <a:gd name="connsiteY0" fmla="*/ 1435395 h 1905080"/>
              <a:gd name="connsiteX1" fmla="*/ 1307805 w 5497033"/>
              <a:gd name="connsiteY1" fmla="*/ 372139 h 1905080"/>
              <a:gd name="connsiteX2" fmla="*/ 3444949 w 5497033"/>
              <a:gd name="connsiteY2" fmla="*/ 1903228 h 1905080"/>
              <a:gd name="connsiteX3" fmla="*/ 5497033 w 5497033"/>
              <a:gd name="connsiteY3" fmla="*/ 0 h 190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7033" h="1905080">
                <a:moveTo>
                  <a:pt x="0" y="1435395"/>
                </a:moveTo>
                <a:cubicBezTo>
                  <a:pt x="366823" y="864781"/>
                  <a:pt x="733647" y="294167"/>
                  <a:pt x="1307805" y="372139"/>
                </a:cubicBezTo>
                <a:cubicBezTo>
                  <a:pt x="1881963" y="450111"/>
                  <a:pt x="2746744" y="1965251"/>
                  <a:pt x="3444949" y="1903228"/>
                </a:cubicBezTo>
                <a:cubicBezTo>
                  <a:pt x="4143154" y="1841205"/>
                  <a:pt x="5046035" y="530742"/>
                  <a:pt x="549703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633678" y="211401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3815916" y="365693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8332" y="1657764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maximum</a:t>
            </a:r>
          </a:p>
        </p:txBody>
      </p:sp>
      <p:sp>
        <p:nvSpPr>
          <p:cNvPr id="14" name="Oval 13"/>
          <p:cNvSpPr/>
          <p:nvPr/>
        </p:nvSpPr>
        <p:spPr>
          <a:xfrm>
            <a:off x="2487960" y="2042160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4667113" y="3579771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987824" y="364815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minimum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647" y="2199436"/>
            <a:ext cx="2640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Note:</a:t>
            </a:r>
            <a:r>
              <a:rPr lang="en-GB" sz="1200" dirty="0"/>
              <a:t> It’s called a ‘</a:t>
            </a:r>
            <a:r>
              <a:rPr lang="en-GB" sz="1200" b="1" dirty="0"/>
              <a:t>local</a:t>
            </a:r>
            <a:r>
              <a:rPr lang="en-GB" sz="1200" dirty="0"/>
              <a:t>’ maximum because it’s the function’s largest output within the vicinity. Functions may also have a ‘</a:t>
            </a:r>
            <a:r>
              <a:rPr lang="en-GB" sz="1200" b="1" dirty="0"/>
              <a:t>global</a:t>
            </a:r>
            <a:r>
              <a:rPr lang="en-GB" sz="1200" dirty="0"/>
              <a:t>’ maximum, i.e. the maximum output across the entire function. This particular function doesn’t have a global maximum because the output keeps increasing up to infinity. It similarly has no global minimum, as with all cubics.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coordinates of the turning points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−135=0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−45=0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=−9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=−400                 →  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5,−400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=−9,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=972   →  (−9,972)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blipFill>
                <a:blip r:embed="rId6"/>
                <a:stretch>
                  <a:fillRect l="-525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463293" y="4802336"/>
            <a:ext cx="7893897" cy="19172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7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c12/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least value of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Differentiation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5 is the minimum value.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blipFill>
                <a:blip r:embed="rId3"/>
                <a:stretch>
                  <a:fillRect l="-1695" t="-2083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Completing the square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5, and this occurs when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blipFill>
                <a:blip r:embed="rId4"/>
                <a:stretch>
                  <a:fillRect l="-1554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8909" y="1562613"/>
            <a:ext cx="3741043" cy="21544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  <a:br>
              <a:rPr lang="en-GB" sz="2400" dirty="0"/>
            </a:br>
            <a:r>
              <a:rPr lang="en-GB" sz="2400" dirty="0"/>
              <a:t>Method 1: Differentiation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8" y="3717032"/>
            <a:ext cx="3741043" cy="21544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  <a:br>
              <a:rPr lang="en-GB" sz="2400" dirty="0"/>
            </a:br>
            <a:r>
              <a:rPr lang="en-GB" sz="2400" dirty="0"/>
              <a:t>Method 2: </a:t>
            </a:r>
            <a:br>
              <a:rPr lang="en-GB" sz="2400" dirty="0"/>
            </a:br>
            <a:r>
              <a:rPr lang="en-GB" sz="2400" dirty="0"/>
              <a:t>Completing the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192" y="5997603"/>
            <a:ext cx="3168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</a:t>
            </a:r>
            <a:r>
              <a:rPr lang="en-GB" sz="1400" dirty="0"/>
              <a:t>: Method 2 is only applicable for quadratic functions. For others, differentiation must be used.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turning point of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→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turning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blipFill>
                <a:blip r:embed="rId6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427984" y="1562613"/>
            <a:ext cx="3741043" cy="4962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971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c12/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Points of Inflection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0872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There’s a third type of stationary point (that we’ve encountered previously):</a:t>
            </a:r>
          </a:p>
        </p:txBody>
      </p:sp>
      <p:sp>
        <p:nvSpPr>
          <p:cNvPr id="6" name="Freeform: Shape 5"/>
          <p:cNvSpPr/>
          <p:nvPr/>
        </p:nvSpPr>
        <p:spPr>
          <a:xfrm>
            <a:off x="1403498" y="1775637"/>
            <a:ext cx="3466214" cy="2721935"/>
          </a:xfrm>
          <a:custGeom>
            <a:avLst/>
            <a:gdLst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214" h="2721935">
                <a:moveTo>
                  <a:pt x="0" y="2721935"/>
                </a:moveTo>
                <a:cubicBezTo>
                  <a:pt x="400493" y="2016642"/>
                  <a:pt x="1059700" y="1258707"/>
                  <a:pt x="1839432" y="1275907"/>
                </a:cubicBezTo>
                <a:cubicBezTo>
                  <a:pt x="3285460" y="1307805"/>
                  <a:pt x="3242930" y="467832"/>
                  <a:pt x="346621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2292896" y="306030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3125914" y="2977825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342823" y="1959363"/>
            <a:ext cx="280831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 point of inflection is where the curve changes from convex  concave (or vice versa).</a:t>
            </a:r>
          </a:p>
        </p:txBody>
      </p:sp>
      <p:sp>
        <p:nvSpPr>
          <p:cNvPr id="11" name="Freeform: Shape 10"/>
          <p:cNvSpPr/>
          <p:nvPr/>
        </p:nvSpPr>
        <p:spPr>
          <a:xfrm>
            <a:off x="5497033" y="327397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 rot="11370795">
            <a:off x="6845313" y="313285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657913" y="34498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68" y="3130694"/>
            <a:ext cx="103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806" y="3457496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(the same terms used in optics!)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823" y="4020260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the line curves in one direction before the point of inflection, then curves in the other direction 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3833" y="3856486"/>
            <a:ext cx="2025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Technically we could label these either way round depending on where we view the curve from. What’s important is that the </a:t>
            </a:r>
            <a:r>
              <a:rPr lang="en-GB" sz="1200" b="1" dirty="0"/>
              <a:t>concavity changes</a:t>
            </a:r>
            <a:r>
              <a:rPr lang="en-GB" sz="1200" dirty="0"/>
              <a:t>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571428" y="3577430"/>
            <a:ext cx="812239" cy="241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19792" y="5694099"/>
            <a:ext cx="7791383" cy="738664"/>
            <a:chOff x="719792" y="5694099"/>
            <a:chExt cx="7791383" cy="738664"/>
          </a:xfrm>
        </p:grpSpPr>
        <p:sp>
          <p:nvSpPr>
            <p:cNvPr id="21" name="Rectangle 20"/>
            <p:cNvSpPr/>
            <p:nvPr/>
          </p:nvSpPr>
          <p:spPr>
            <a:xfrm>
              <a:off x="6638968" y="5694099"/>
              <a:ext cx="1872207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9792" y="5694099"/>
              <a:ext cx="5904656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b="1" dirty="0"/>
                <a:t>Side Note</a:t>
              </a:r>
              <a:r>
                <a:rPr lang="en-GB" sz="1400" dirty="0"/>
                <a:t>: Not all points of inflection are stationary points, as can be seen in the example on the right.</a:t>
              </a:r>
            </a:p>
            <a:p>
              <a:r>
                <a:rPr lang="en-GB" sz="1400" dirty="0"/>
                <a:t>A point of inflection which </a:t>
              </a:r>
              <a:r>
                <a:rPr lang="en-GB" sz="1400" b="1" u="sng" dirty="0"/>
                <a:t>is</a:t>
              </a:r>
              <a:r>
                <a:rPr lang="en-GB" sz="1400" dirty="0"/>
                <a:t> a stationary point is known as a </a:t>
              </a:r>
              <a:r>
                <a:rPr lang="en-GB" sz="1400" i="1" dirty="0"/>
                <a:t>saddle point</a:t>
              </a:r>
              <a:r>
                <a:rPr lang="en-GB" sz="1400" dirty="0"/>
                <a:t>.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7099891" y="5732830"/>
              <a:ext cx="564191" cy="617021"/>
            </a:xfrm>
            <a:custGeom>
              <a:avLst/>
              <a:gdLst>
                <a:gd name="connsiteX0" fmla="*/ 0 w 935665"/>
                <a:gd name="connsiteY0" fmla="*/ 574158 h 574158"/>
                <a:gd name="connsiteX1" fmla="*/ 393404 w 935665"/>
                <a:gd name="connsiteY1" fmla="*/ 212651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637289 w 935665"/>
                <a:gd name="connsiteY2" fmla="*/ 115519 h 574158"/>
                <a:gd name="connsiteX3" fmla="*/ 935665 w 935665"/>
                <a:gd name="connsiteY3" fmla="*/ 0 h 57415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432502 w 821365"/>
                <a:gd name="connsiteY2" fmla="*/ 158381 h 555108"/>
                <a:gd name="connsiteX3" fmla="*/ 821365 w 821365"/>
                <a:gd name="connsiteY3" fmla="*/ 0 h 555108"/>
                <a:gd name="connsiteX0" fmla="*/ 0 w 645153"/>
                <a:gd name="connsiteY0" fmla="*/ 607496 h 607496"/>
                <a:gd name="connsiteX1" fmla="*/ 198141 w 645153"/>
                <a:gd name="connsiteY1" fmla="*/ 350764 h 607496"/>
                <a:gd name="connsiteX2" fmla="*/ 432502 w 645153"/>
                <a:gd name="connsiteY2" fmla="*/ 210769 h 607496"/>
                <a:gd name="connsiteX3" fmla="*/ 645153 w 645153"/>
                <a:gd name="connsiteY3" fmla="*/ 0 h 607496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91" h="617021">
                  <a:moveTo>
                    <a:pt x="0" y="617021"/>
                  </a:moveTo>
                  <a:cubicBezTo>
                    <a:pt x="93588" y="443134"/>
                    <a:pt x="126057" y="426410"/>
                    <a:pt x="198141" y="360289"/>
                  </a:cubicBezTo>
                  <a:cubicBezTo>
                    <a:pt x="270225" y="294168"/>
                    <a:pt x="371494" y="280342"/>
                    <a:pt x="432502" y="220294"/>
                  </a:cubicBezTo>
                  <a:cubicBezTo>
                    <a:pt x="493510" y="160246"/>
                    <a:pt x="550679" y="56707"/>
                    <a:pt x="564191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6963693" y="5815013"/>
              <a:ext cx="894432" cy="431825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7357158" y="5984317"/>
              <a:ext cx="97742" cy="926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442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c12/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527472" y="1459384"/>
            <a:ext cx="5541505" cy="2493887"/>
          </a:xfrm>
          <a:custGeom>
            <a:avLst/>
            <a:gdLst>
              <a:gd name="connsiteX0" fmla="*/ 0 w 3715657"/>
              <a:gd name="connsiteY0" fmla="*/ 0 h 1836837"/>
              <a:gd name="connsiteX1" fmla="*/ 928914 w 3715657"/>
              <a:gd name="connsiteY1" fmla="*/ 1814286 h 1836837"/>
              <a:gd name="connsiteX2" fmla="*/ 2032000 w 3715657"/>
              <a:gd name="connsiteY2" fmla="*/ 957943 h 1836837"/>
              <a:gd name="connsiteX3" fmla="*/ 2728686 w 3715657"/>
              <a:gd name="connsiteY3" fmla="*/ 101600 h 1836837"/>
              <a:gd name="connsiteX4" fmla="*/ 3715657 w 3715657"/>
              <a:gd name="connsiteY4" fmla="*/ 1190171 h 1836837"/>
              <a:gd name="connsiteX0" fmla="*/ 0 w 3715657"/>
              <a:gd name="connsiteY0" fmla="*/ 0 h 1831027"/>
              <a:gd name="connsiteX1" fmla="*/ 928914 w 3715657"/>
              <a:gd name="connsiteY1" fmla="*/ 1814286 h 1831027"/>
              <a:gd name="connsiteX2" fmla="*/ 2032000 w 3715657"/>
              <a:gd name="connsiteY2" fmla="*/ 957943 h 1831027"/>
              <a:gd name="connsiteX3" fmla="*/ 2728686 w 3715657"/>
              <a:gd name="connsiteY3" fmla="*/ 101600 h 1831027"/>
              <a:gd name="connsiteX4" fmla="*/ 3715657 w 3715657"/>
              <a:gd name="connsiteY4" fmla="*/ 1190171 h 1831027"/>
              <a:gd name="connsiteX0" fmla="*/ 0 w 3715657"/>
              <a:gd name="connsiteY0" fmla="*/ 0 h 1836776"/>
              <a:gd name="connsiteX1" fmla="*/ 928914 w 3715657"/>
              <a:gd name="connsiteY1" fmla="*/ 1814286 h 1836776"/>
              <a:gd name="connsiteX2" fmla="*/ 2032000 w 3715657"/>
              <a:gd name="connsiteY2" fmla="*/ 957943 h 1836776"/>
              <a:gd name="connsiteX3" fmla="*/ 2931886 w 3715657"/>
              <a:gd name="connsiteY3" fmla="*/ 116114 h 1836776"/>
              <a:gd name="connsiteX4" fmla="*/ 3715657 w 3715657"/>
              <a:gd name="connsiteY4" fmla="*/ 1190171 h 1836776"/>
              <a:gd name="connsiteX0" fmla="*/ 0 w 3715657"/>
              <a:gd name="connsiteY0" fmla="*/ 0 h 1830992"/>
              <a:gd name="connsiteX1" fmla="*/ 928914 w 3715657"/>
              <a:gd name="connsiteY1" fmla="*/ 1814286 h 1830992"/>
              <a:gd name="connsiteX2" fmla="*/ 2032000 w 3715657"/>
              <a:gd name="connsiteY2" fmla="*/ 957943 h 1830992"/>
              <a:gd name="connsiteX3" fmla="*/ 2931886 w 3715657"/>
              <a:gd name="connsiteY3" fmla="*/ 116114 h 1830992"/>
              <a:gd name="connsiteX4" fmla="*/ 3715657 w 3715657"/>
              <a:gd name="connsiteY4" fmla="*/ 1190171 h 183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7" h="1830992">
                <a:moveTo>
                  <a:pt x="0" y="0"/>
                </a:moveTo>
                <a:cubicBezTo>
                  <a:pt x="295124" y="827314"/>
                  <a:pt x="590248" y="1654629"/>
                  <a:pt x="928914" y="1814286"/>
                </a:cubicBezTo>
                <a:cubicBezTo>
                  <a:pt x="1267580" y="1973943"/>
                  <a:pt x="1306287" y="936172"/>
                  <a:pt x="2032000" y="957943"/>
                </a:cubicBezTo>
                <a:cubicBezTo>
                  <a:pt x="2757713" y="979714"/>
                  <a:pt x="2651276" y="77409"/>
                  <a:pt x="2931886" y="116114"/>
                </a:cubicBezTo>
                <a:cubicBezTo>
                  <a:pt x="3212496" y="154819"/>
                  <a:pt x="3362476" y="665238"/>
                  <a:pt x="3715657" y="11901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400316"/>
              </p:ext>
            </p:extLst>
          </p:nvPr>
        </p:nvGraphicFramePr>
        <p:xfrm>
          <a:off x="179512" y="4581128"/>
          <a:ext cx="3528392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</a:t>
                      </a:r>
                      <a:r>
                        <a:rPr lang="en-GB" sz="1600" baseline="0" dirty="0"/>
                        <a:t> Minimum</a:t>
                      </a:r>
                      <a:endParaRPr lang="en-GB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-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424001" y="5662079"/>
            <a:ext cx="606513" cy="462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75656" y="6124579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699792" y="5747657"/>
            <a:ext cx="711065" cy="376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1226" y="3878844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3496475" y="2706327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820394" y="1575842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159540" y="4084970"/>
            <a:ext cx="723013" cy="55289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60412"/>
              </p:ext>
            </p:extLst>
          </p:nvPr>
        </p:nvGraphicFramePr>
        <p:xfrm>
          <a:off x="4271538" y="4229210"/>
          <a:ext cx="3528392" cy="2016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Point of Inflection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</a:t>
                      </a:r>
                      <a:r>
                        <a:rPr lang="en-GB" sz="1600" dirty="0" err="1"/>
                        <a:t>p.o.i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>
          <a:xfrm flipV="1">
            <a:off x="4517951" y="5571165"/>
            <a:ext cx="595423" cy="276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565221" y="5592656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82686" y="5305351"/>
            <a:ext cx="701749" cy="287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489354"/>
              </p:ext>
            </p:extLst>
          </p:nvPr>
        </p:nvGraphicFramePr>
        <p:xfrm>
          <a:off x="5395288" y="1938601"/>
          <a:ext cx="3528392" cy="2016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 Maximum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/>
          <p:nvPr/>
        </p:nvCxnSpPr>
        <p:spPr>
          <a:xfrm flipV="1">
            <a:off x="5702300" y="3136900"/>
            <a:ext cx="647700" cy="39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94140" y="3136173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924800" y="3124201"/>
            <a:ext cx="749300" cy="406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3733800" y="2921000"/>
            <a:ext cx="1018067" cy="138784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5257801" y="1600200"/>
            <a:ext cx="901699" cy="40640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281339" y="5513867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2008" y="5513867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5288" y="5165304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95957" y="5165304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6237" y="2896218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16906" y="2896218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5288" y="2895298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68831" y="5165304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3395" y="5513867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</p:spTree>
    <p:extLst>
      <p:ext uri="{BB962C8B-B14F-4D97-AF65-F5344CB8AC3E}">
        <p14:creationId xmlns:p14="http://schemas.microsoft.com/office/powerpoint/2010/main" val="21714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c12/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stationary point on the curve with equation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, and determine whether it is a local maximum, a local minimum or a point of inflection.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Strategy</a:t>
                </a:r>
                <a:r>
                  <a:rPr lang="en-GB" sz="1600" dirty="0"/>
                  <a:t>: Find the gradient for values just before and after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 Let’s try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=1.9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=2.1</m:t>
                    </m:r>
                  </m:oMath>
                </a14:m>
                <a:r>
                  <a:rPr lang="en-GB" sz="1600" dirty="0"/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blipFill>
                <a:blip r:embed="rId3"/>
                <a:stretch>
                  <a:fillRect l="-44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∴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=−48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Stationary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blipFill>
                <a:blip r:embed="rId4"/>
                <a:stretch>
                  <a:fillRect l="-1411"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84086"/>
                  </p:ext>
                </p:extLst>
              </p:nvPr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−4.56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5.04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84086"/>
                  </p:ext>
                </p:extLst>
              </p:nvPr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639" r="-200797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639" r="-101600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639" r="-1600" b="-2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01639" r="-200797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01639" r="-101600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01639" r="-1600" b="-1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Connector 12"/>
          <p:cNvCxnSpPr/>
          <p:nvPr/>
        </p:nvCxnSpPr>
        <p:spPr>
          <a:xfrm>
            <a:off x="3222693" y="5416700"/>
            <a:ext cx="775149" cy="378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28897" y="5802845"/>
            <a:ext cx="1152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177516" y="5465136"/>
            <a:ext cx="935665" cy="329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Looking at the shape, we can see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dirty="0"/>
                  <a:t> is a minimum.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blipFill>
                <a:blip r:embed="rId6"/>
                <a:stretch>
                  <a:fillRect l="-889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20174" y="2699657"/>
            <a:ext cx="8346455" cy="13589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Turning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174" y="4531388"/>
            <a:ext cx="8346455" cy="21596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Determine point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565" y="4136571"/>
            <a:ext cx="7413063" cy="344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524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c12/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Method 2: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method of substituting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just before and after is a bit cumbersome.</a:t>
                </a:r>
              </a:p>
              <a:p>
                <a:r>
                  <a:rPr lang="en-GB" dirty="0"/>
                  <a:t>It also has the potential for problems: what if two different types of stationary points are really close together?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l="-594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Recall the gradient gives a measure of the </a:t>
                </a:r>
                <a:r>
                  <a:rPr lang="en-GB" b="1" dirty="0"/>
                  <a:t>rate of change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i.e. how much the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changes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changes.</a:t>
                </a:r>
              </a:p>
              <a:p>
                <a:endParaRPr lang="en-GB" sz="800" dirty="0"/>
              </a:p>
              <a:p>
                <a:r>
                  <a:rPr lang="en-GB" dirty="0"/>
                  <a:t>Thus by differentiating the gradient function, the </a:t>
                </a:r>
                <a:r>
                  <a:rPr lang="en-GB" b="1" u="sng" dirty="0"/>
                  <a:t>second derivative tells us the rate at what the gradient is changing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Thus if the second derivative is positive, the gradient is increasing.</a:t>
                </a:r>
              </a:p>
              <a:p>
                <a:r>
                  <a:rPr lang="en-GB" dirty="0"/>
                  <a:t>If the second derivative is negative, the gradient is decreasing.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  <a:blipFill>
                <a:blip r:embed="rId3"/>
                <a:stretch>
                  <a:fillRect l="-1333" t="-416" b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4832685" y="2666504"/>
            <a:ext cx="2757715" cy="1814607"/>
          </a:xfrm>
          <a:custGeom>
            <a:avLst/>
            <a:gdLst>
              <a:gd name="connsiteX0" fmla="*/ 0 w 2757715"/>
              <a:gd name="connsiteY0" fmla="*/ 1814607 h 1814607"/>
              <a:gd name="connsiteX1" fmla="*/ 1422400 w 2757715"/>
              <a:gd name="connsiteY1" fmla="*/ 321 h 1814607"/>
              <a:gd name="connsiteX2" fmla="*/ 2757715 w 2757715"/>
              <a:gd name="connsiteY2" fmla="*/ 1698492 h 181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57715" h="1814607">
                <a:moveTo>
                  <a:pt x="0" y="1814607"/>
                </a:moveTo>
                <a:cubicBezTo>
                  <a:pt x="481390" y="917140"/>
                  <a:pt x="962781" y="19673"/>
                  <a:pt x="1422400" y="321"/>
                </a:cubicBezTo>
                <a:cubicBezTo>
                  <a:pt x="1882019" y="-19032"/>
                  <a:pt x="2319867" y="839730"/>
                  <a:pt x="2757715" y="169849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104521" y="3004457"/>
            <a:ext cx="527022" cy="886183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42577" y="2668428"/>
            <a:ext cx="1137194" cy="220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936609" y="3032647"/>
            <a:ext cx="509219" cy="98781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10743" y="2887504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1777" y="1951460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</a:t>
            </a:r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6785" y="2880221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At a maximum point, we can see that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increases, the gradient is decreasing from a positive value to a negative value.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blipFill>
                <a:blip r:embed="rId4"/>
                <a:stretch>
                  <a:fillRect l="-1487" t="-1736" r="-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5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/>
      <p:bldP spid="16" grpId="0"/>
      <p:bldP spid="17" grpId="0"/>
      <p:bldP spid="18" grpId="0"/>
    </p:bldLst>
  </p:timing>
</p:sld>
</file>

<file path=ppt/c12/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Method 2: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2000" dirty="0">
                    <a:latin typeface="Wingdings" panose="05000000000000000000" pitchFamily="2" charset="2"/>
                  </a:rPr>
                  <a:t>!</a:t>
                </a:r>
                <a:r>
                  <a:rPr lang="en-GB" sz="2000" dirty="0"/>
                  <a:t> At a stationary point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2000" dirty="0"/>
                  <a:t> the point is a local minimum.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2000" dirty="0"/>
                  <a:t> the point is a local maximum.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 it could be any type of point, so resort to Method 1.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  <a:blipFill>
                <a:blip r:embed="rId2"/>
                <a:stretch>
                  <a:fillRect l="-707" t="-1802" b="-58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 will eventually do a ‘Just for your Interest…’ thingy on why we can’t classify the point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and how we could use the </a:t>
                </a:r>
                <a:r>
                  <a:rPr lang="en-GB" sz="1400" b="1" dirty="0"/>
                  <a:t>third derivative</a:t>
                </a:r>
                <a:r>
                  <a:rPr lang="en-GB" sz="1400" dirty="0"/>
                  <a:t>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blipFill>
                <a:blip r:embed="rId3"/>
                <a:stretch>
                  <a:fillRect l="-668" t="-1042" r="-1336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8302171" y="2075543"/>
            <a:ext cx="287763" cy="258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stationary point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sz="2000" dirty="0"/>
                  <a:t>. Use the second derivative to classify this stationary point.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Therefore the stationary point is a minimum point.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blipFill>
                <a:blip r:embed="rId5"/>
                <a:stretch>
                  <a:fillRect l="-1068" b="-4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at the stationary point.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  <a:blipFill>
                <a:blip r:embed="rId6"/>
                <a:stretch>
                  <a:fillRect l="-1728" r="-1975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4383315" y="4746171"/>
            <a:ext cx="1103085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4303" y="3540167"/>
            <a:ext cx="7827868" cy="2159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51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c12/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86871"/>
            <a:ext cx="6048375" cy="2352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67544" y="836712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2013 Q9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645024"/>
            <a:ext cx="6248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5445" y="3598225"/>
            <a:ext cx="5944595" cy="1991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5445" y="5577238"/>
            <a:ext cx="5944595" cy="1259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342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Sketching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All the way back in Chapter 4, we used features such as intercepts with the axes, and behaviour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GB" dirty="0"/>
                  <a:t> in order to sketch graphs.</a:t>
                </a:r>
              </a:p>
              <a:p>
                <a:r>
                  <a:rPr lang="en-GB" dirty="0"/>
                  <a:t>Now we can also find stationary/turning points!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blipFill>
                <a:blip r:embed="rId2"/>
                <a:stretch>
                  <a:fillRect l="-677" t="-3289" r="-254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[Textbook] By first finding the stationary points, 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+27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 →  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GB" b="1" i="1" dirty="0"/>
              </a:p>
              <a:p>
                <a:endParaRPr lang="en-GB" i="1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→−∞ </m:t>
                    </m:r>
                  </m:oMath>
                </a14:m>
                <a:endParaRPr lang="en-GB" b="1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not defined at </a:t>
                </a:r>
                <a:r>
                  <a:rPr lang="en-GB" b="1" dirty="0"/>
                  <a:t>0</a:t>
                </a:r>
                <a:r>
                  <a:rPr lang="en-GB" dirty="0"/>
                  <a:t>   (due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term)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blipFill>
                <a:blip r:embed="rId4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71103" y="6021288"/>
            <a:ext cx="3940858" cy="713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Vertical Asymptotes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GB" sz="2400" dirty="0"/>
                  <a:t>? As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71103" y="2510971"/>
            <a:ext cx="3940858" cy="27966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Turning Points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932040" y="4622366"/>
            <a:ext cx="331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588224" y="2852936"/>
            <a:ext cx="3076" cy="382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 r="-30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blipFill>
                <a:blip r:embed="rId11"/>
                <a:stretch>
                  <a:fillRect r="-18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6719777" y="2700670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/>
          <p:cNvSpPr/>
          <p:nvPr/>
        </p:nvSpPr>
        <p:spPr>
          <a:xfrm rot="10800000">
            <a:off x="5055518" y="5627761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7299960" y="3604260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591300" y="3627120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807830" y="5643001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57786" y="4622245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75440" y="2510971"/>
            <a:ext cx="4301016" cy="42240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Graph</a:t>
            </a:r>
          </a:p>
        </p:txBody>
      </p:sp>
    </p:spTree>
    <p:extLst>
      <p:ext uri="{BB962C8B-B14F-4D97-AF65-F5344CB8AC3E}">
        <p14:creationId xmlns:p14="http://schemas.microsoft.com/office/powerpoint/2010/main" val="352554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2" grpId="0" animBg="1"/>
    </p:bldLst>
  </p:timing>
</p:sld>
</file>

<file path=ppt/c12/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2F1012-9B24-025C-637E-42140BEB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03390"/>
            <a:ext cx="7144381" cy="881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14625-F88B-B22B-4B5E-93A8E010A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47" y="1700808"/>
            <a:ext cx="3856653" cy="4762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1034D-A212-6AE7-BEE6-873E7DC5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8" y="1772816"/>
            <a:ext cx="3784600" cy="2832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3FDFC3-7D17-76F5-6CB1-722EAB636E38}"/>
              </a:ext>
            </a:extLst>
          </p:cNvPr>
          <p:cNvSpPr/>
          <p:nvPr/>
        </p:nvSpPr>
        <p:spPr>
          <a:xfrm>
            <a:off x="395536" y="1556792"/>
            <a:ext cx="8136904" cy="4968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42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12/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D6ACDBD-E857-5DAB-AE48-E6C237626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2608"/>
            <a:ext cx="7772400" cy="413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663AC7-272E-3C87-8C00-121C6A308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186871"/>
            <a:ext cx="4292600" cy="5092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0243F0-6F6E-F887-49B7-AE423FFFF477}"/>
              </a:ext>
            </a:extLst>
          </p:cNvPr>
          <p:cNvSpPr/>
          <p:nvPr/>
        </p:nvSpPr>
        <p:spPr>
          <a:xfrm>
            <a:off x="395536" y="1186871"/>
            <a:ext cx="8136904" cy="53384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955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4CE3EA6-98D2-D53C-4C85-62A37D41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71433"/>
            <a:ext cx="4794306" cy="1008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F82B5C-7AB0-3BC9-C21E-65CDD61807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927"/>
          <a:stretch/>
        </p:blipFill>
        <p:spPr>
          <a:xfrm>
            <a:off x="395537" y="1844824"/>
            <a:ext cx="3339924" cy="3888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AC373-01FB-CE77-4D06-30C0663A8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1652973"/>
            <a:ext cx="3021403" cy="517845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8574E6-8E6A-BB36-5E9A-72EB6C9E7277}"/>
              </a:ext>
            </a:extLst>
          </p:cNvPr>
          <p:cNvCxnSpPr/>
          <p:nvPr/>
        </p:nvCxnSpPr>
        <p:spPr>
          <a:xfrm>
            <a:off x="3419872" y="1679545"/>
            <a:ext cx="0" cy="506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0D23079-6ED9-9CED-37D9-2AD90AF61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1" y="2038350"/>
            <a:ext cx="2316298" cy="16523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FC724-96F6-4CE6-83E1-9DAF1172CABD}"/>
              </a:ext>
            </a:extLst>
          </p:cNvPr>
          <p:cNvSpPr/>
          <p:nvPr/>
        </p:nvSpPr>
        <p:spPr>
          <a:xfrm>
            <a:off x="395536" y="1679545"/>
            <a:ext cx="6192688" cy="5061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70B9F-4816-F292-DCDD-185508EA13A9}"/>
              </a:ext>
            </a:extLst>
          </p:cNvPr>
          <p:cNvSpPr/>
          <p:nvPr/>
        </p:nvSpPr>
        <p:spPr>
          <a:xfrm>
            <a:off x="6732239" y="1679545"/>
            <a:ext cx="2316299" cy="5061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3218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12/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8118" y="1157841"/>
                <a:ext cx="3929721" cy="3222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8" y="1157841"/>
                <a:ext cx="3929721" cy="3222677"/>
              </a:xfrm>
              <a:prstGeom prst="rect">
                <a:avLst/>
              </a:prstGeom>
              <a:blipFill>
                <a:blip r:embed="rId2"/>
                <a:stretch>
                  <a:fillRect l="-1290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8989" y="4134125"/>
                <a:ext cx="36724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89" y="4134125"/>
                <a:ext cx="3672408" cy="1200329"/>
              </a:xfrm>
              <a:prstGeom prst="rect">
                <a:avLst/>
              </a:prstGeom>
              <a:blipFill>
                <a:blip r:embed="rId3"/>
                <a:stretch>
                  <a:fillRect l="-1034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581040" y="863213"/>
                <a:ext cx="4557486" cy="499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i="1" dirty="0"/>
                  <a:t>[MAT 2001 1E] </a:t>
                </a:r>
                <a:r>
                  <a:rPr lang="en-GB" sz="1600" dirty="0"/>
                  <a:t>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dirty="0"/>
                  <a:t>. Determine the coordinates of any other point of intersection of the two curves.</a:t>
                </a:r>
              </a:p>
              <a:p>
                <a:r>
                  <a:rPr lang="en-GB" dirty="0"/>
                  <a:t>(</a:t>
                </a:r>
                <a:r>
                  <a:rPr lang="en-GB" dirty="0" err="1"/>
                  <a:t>i</a:t>
                </a:r>
                <a:r>
                  <a:rPr lang="en-GB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(ii) …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 (iii)  when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863213"/>
                <a:ext cx="4557486" cy="4995342"/>
              </a:xfrm>
              <a:prstGeom prst="rect">
                <a:avLst/>
              </a:prstGeom>
              <a:blipFill>
                <a:blip r:embed="rId4"/>
                <a:stretch>
                  <a:fillRect l="-1111" t="-508" r="-833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84731" y="2060133"/>
                <a:ext cx="2123165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Hint: </a:t>
                </a:r>
                <a:r>
                  <a:rPr lang="en-GB" sz="1600" dirty="0"/>
                  <a:t>When two curves touch, their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values must match, but what else must also match?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731" y="2060133"/>
                <a:ext cx="2123165" cy="1077218"/>
              </a:xfrm>
              <a:prstGeom prst="rect">
                <a:avLst/>
              </a:prstGeom>
              <a:blipFill>
                <a:blip r:embed="rId5"/>
                <a:stretch>
                  <a:fillRect l="-585" t="-1136" r="-117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8138460" y="3124048"/>
            <a:ext cx="216024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45572" y="1186871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5572" y="4240021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4021" y="905878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4021" y="3360884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8197261"/>
      </p:ext>
    </p:extLst>
  </p:cSld>
  <p:clrMapOvr>
    <a:masterClrMapping/>
  </p:clrMapOvr>
</p:sld>
</file>

<file path=ppt/c12/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Therefore there is a turning point for all values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1600" b="1" dirty="0"/>
                  <a:t>. However, this must be a minimum.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If minimum: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   →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blipFill>
                <a:blip r:embed="rId2"/>
                <a:stretch>
                  <a:fillRect l="-1264" t="-645" r="-14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At start of 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blipFill>
                <a:blip r:embed="rId3"/>
                <a:stretch>
                  <a:fillRect l="-1495" t="-1165" b="-2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/>
          <p:cNvSpPr/>
          <p:nvPr/>
        </p:nvSpPr>
        <p:spPr>
          <a:xfrm>
            <a:off x="5569857" y="4080329"/>
            <a:ext cx="2438400" cy="1277257"/>
          </a:xfrm>
          <a:custGeom>
            <a:avLst/>
            <a:gdLst>
              <a:gd name="connsiteX0" fmla="*/ 0 w 2438400"/>
              <a:gd name="connsiteY0" fmla="*/ 1277257 h 1277257"/>
              <a:gd name="connsiteX1" fmla="*/ 870857 w 2438400"/>
              <a:gd name="connsiteY1" fmla="*/ 362857 h 1277257"/>
              <a:gd name="connsiteX2" fmla="*/ 1683657 w 2438400"/>
              <a:gd name="connsiteY2" fmla="*/ 827314 h 1277257"/>
              <a:gd name="connsiteX3" fmla="*/ 2438400 w 2438400"/>
              <a:gd name="connsiteY3" fmla="*/ 0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1277257">
                <a:moveTo>
                  <a:pt x="0" y="1277257"/>
                </a:moveTo>
                <a:cubicBezTo>
                  <a:pt x="295123" y="857552"/>
                  <a:pt x="590247" y="437848"/>
                  <a:pt x="870857" y="362857"/>
                </a:cubicBezTo>
                <a:cubicBezTo>
                  <a:pt x="1151467" y="287866"/>
                  <a:pt x="1422400" y="887790"/>
                  <a:pt x="1683657" y="827314"/>
                </a:cubicBezTo>
                <a:cubicBezTo>
                  <a:pt x="1944914" y="766838"/>
                  <a:pt x="2191657" y="383419"/>
                  <a:pt x="24384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(1,8)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 l="-2804" r="-747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(2,7)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958791" y="5063318"/>
            <a:ext cx="228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Therefore answer is 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04" y="8401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8795" y="816124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8771721"/>
      </p:ext>
    </p:extLst>
  </p:cSld>
  <p:clrMapOvr>
    <a:masterClrMapping/>
  </p:clrMapOvr>
</p:sld>
</file>

<file path=ppt/c12/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[MAT 2001 1E] 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sz="700" dirty="0"/>
              </a:p>
              <a:p>
                <a:r>
                  <a:rPr lang="en-GB" sz="1400" b="1" dirty="0"/>
                  <a:t>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 find max value of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Due to the shape of a cubic, we have the a local maximum gradient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and a local minimum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In range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, answer must either be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1400" b="1" dirty="0"/>
                  <a:t> or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. Substituting these into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yields a higher value for the latter, so answer is (D).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  <a:blipFill>
                <a:blip r:embed="rId2"/>
                <a:stretch>
                  <a:fillRect l="-711" t="-321" b="-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47204" y="852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3805260"/>
      </p:ext>
    </p:extLst>
  </p:cSld>
  <p:clrMapOvr>
    <a:masterClrMapping/>
  </p:clrMapOvr>
</p:sld>
</file>

<file path=ppt/c12/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sz="1600" dirty="0"/>
                  <a:t>. Determine the coordinates of any other point of intersection of the two curves.</a:t>
                </a:r>
              </a:p>
              <a:p>
                <a:r>
                  <a:rPr lang="en-GB" sz="1600" dirty="0"/>
                  <a:t>(</a:t>
                </a:r>
                <a:r>
                  <a:rPr lang="en-GB" sz="1600" dirty="0" err="1"/>
                  <a:t>i</a:t>
                </a:r>
                <a:r>
                  <a:rPr lang="en-GB" sz="1600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(ii) …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  </a:t>
                </a:r>
                <a:br>
                  <a:rPr lang="en-GB" sz="1600" dirty="0"/>
                </a:br>
                <a:r>
                  <a:rPr lang="en-GB" sz="1600" dirty="0"/>
                  <a:t>(iii) … when 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222" y="641723"/>
            <a:ext cx="5697088" cy="6182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304" y="725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7557081"/>
      </p:ext>
    </p:extLst>
  </p:cSld>
  <p:clrMapOvr>
    <a:masterClrMapping/>
  </p:clrMapOvr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