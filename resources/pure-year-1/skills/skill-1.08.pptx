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2/ppt/slideMasters/slideMaster1.xml" ContentType="application/vnd.openxmlformats-officedocument.presentationml.slideMaster+xml"/>
  <ns0:Override PartName="/ppt/c2/ppt/slides/slide26.xml" ContentType="application/vnd.openxmlformats-officedocument.presentationml.slide+xml"/>
  <ns0:Override PartName="/ppt/c2/ppt/slides/slide27.xml" ContentType="application/vnd.openxmlformats-officedocument.presentationml.slide+xml"/>
  <ns0:Override PartName="/ppt/c2/ppt/slides/slide28.xml" ContentType="application/vnd.openxmlformats-officedocument.presentationml.slide+xml"/>
  <ns0:Override PartName="/ppt/c2/ppt/slides/slide29.xml" ContentType="application/vnd.openxmlformats-officedocument.presentationml.slide+xml"/>
  <ns0:Override PartName="/ppt/c2/ppt/slides/slide30.xml" ContentType="application/vnd.openxmlformats-officedocument.presentationml.slide+xml"/>
  <ns0:Override PartName="/ppt/c2/ppt/slides/slide31.xml" ContentType="application/vnd.openxmlformats-officedocument.presentationml.slide+xml"/>
  <ns0:Override PartName="/ppt/c2/ppt/slides/slide32.xml" ContentType="application/vnd.openxmlformats-officedocument.presentationml.slide+xml"/>
  <ns0:Override PartName="/ppt/c2/ppt/slides/slide33.xml" ContentType="application/vnd.openxmlformats-officedocument.presentationml.slide+xml"/>
  <ns0:Override PartName="/ppt/c2/ppt/slides/slide34.xml" ContentType="application/vnd.openxmlformats-officedocument.presentationml.slide+xml"/>
  <ns0:Override PartName="/ppt/c2/ppt/notesMasters/notesMaster1.xml" ContentType="application/vnd.openxmlformats-officedocument.presentationml.notesMaster+xml"/>
  <ns0:Override PartName="/ppt/c2/ppt/theme/theme1.xml" ContentType="application/vnd.openxmlformats-officedocument.theme+xml"/>
  <ns0:Override PartName="/ppt/c2/ppt/slideLayouts/slideLayout1.xml" ContentType="application/vnd.openxmlformats-officedocument.presentationml.slideLayout+xml"/>
  <ns0:Override PartName="/ppt/c2/ppt/slideLayouts/slideLayout2.xml" ContentType="application/vnd.openxmlformats-officedocument.presentationml.slideLayout+xml"/>
  <ns0:Override PartName="/ppt/c2/ppt/slideLayouts/slideLayout3.xml" ContentType="application/vnd.openxmlformats-officedocument.presentationml.slideLayout+xml"/>
  <ns0:Override PartName="/ppt/c2/ppt/theme/theme2.xml" ContentType="application/vnd.openxmlformats-officedocument.theme+xml"/>
  <ns0:Override PartName="/ppt/c2/ppt/notesSlides/notesSlide8.xml" ContentType="application/vnd.openxmlformats-officedocument.presentationml.notesSlide+xml"/>
  <ns0:Override PartName="/ppt/c2/ppt/notesSlides/notesSlide9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848" r:id="rId1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2/ppt/slides/slide26.xml" /><ns0:Relationship Id="rId2" Type="http://schemas.openxmlformats.org/officeDocument/2006/relationships/slide" Target="c2/ppt/slides/slide27.xml" /><ns0:Relationship Id="rId3" Type="http://schemas.openxmlformats.org/officeDocument/2006/relationships/slide" Target="c2/ppt/slides/slide28.xml" /><ns0:Relationship Id="rId4" Type="http://schemas.openxmlformats.org/officeDocument/2006/relationships/slide" Target="c2/ppt/slides/slide29.xml" /><ns0:Relationship Id="rId5" Type="http://schemas.openxmlformats.org/officeDocument/2006/relationships/slide" Target="c2/ppt/slides/slide30.xml" /><ns0:Relationship Id="rId6" Type="http://schemas.openxmlformats.org/officeDocument/2006/relationships/slide" Target="c2/ppt/slides/slide31.xml" /><ns0:Relationship Id="rId7" Type="http://schemas.openxmlformats.org/officeDocument/2006/relationships/slide" Target="c2/ppt/slides/slide32.xml" /><ns0:Relationship Id="rId8" Type="http://schemas.openxmlformats.org/officeDocument/2006/relationships/slide" Target="c2/ppt/slides/slide33.xml" /><ns0:Relationship Id="rId9" Type="http://schemas.openxmlformats.org/officeDocument/2006/relationships/slide" Target="c2/ppt/slides/slide34.xml" /><ns0:Relationship Id="rId10" Type="http://schemas.openxmlformats.org/officeDocument/2006/relationships/slideMaster" Target="c2/ppt/slideMasters/slideMaster1.xml" /><ns0:Relationship Id="rId11" Type="http://schemas.openxmlformats.org/officeDocument/2006/relationships/notesMaster" Target="c2/ppt/notesMasters/notesMaster1.xml" /></ns0:Relationships>
</file>

<file path=ppt/c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2/ppt/notesSlides/_rels/notesSlide8.xml.rels><?xml version='1.0' encoding='utf-8'?>
<ns0:Relationships xmlns:ns0="http://schemas.openxmlformats.org/package/2006/relationships"><ns0:Relationship Id="rId2" Type="http://schemas.openxmlformats.org/officeDocument/2006/relationships/slide" Target="../slides/slide33.xml" /><ns0:Relationship Id="rId1" Type="http://schemas.openxmlformats.org/officeDocument/2006/relationships/notesMaster" Target="../notesMasters/notesMaster1.xml" /></ns0:Relationships>
</file>

<file path=ppt/c2/ppt/notesSlides/_rels/notesSlide9.xml.rels><?xml version='1.0' encoding='utf-8'?>
<ns0:Relationships xmlns:ns0="http://schemas.openxmlformats.org/package/2006/relationships"><ns0:Relationship Id="rId2" Type="http://schemas.openxmlformats.org/officeDocument/2006/relationships/slide" Target="../slides/slide34.xml" /><ns0:Relationship Id="rId1" Type="http://schemas.openxmlformats.org/officeDocument/2006/relationships/notesMaster" Target="../notesMasters/notesMaster1.xml" /></ns0:Relationships>
</file>

<file path=ppt/c2/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58295"/>
      </p:ext>
    </p:extLst>
  </p:cSld>
  <p:clrMapOvr>
    <a:masterClrMapping/>
  </p:clrMapOvr>
</p:notes>
</file>

<file path=ppt/c2/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577450"/>
      </p:ext>
    </p:extLst>
  </p:cSld>
  <p:clrMapOvr>
    <a:masterClrMapping/>
  </p:clrMapOvr>
</p:notes>
</file>

<file path=ppt/c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71667"/>
      </p:ext>
    </p:extLst>
  </p:cSld>
  <p:clrMapOvr>
    <a:masterClrMapping/>
  </p:clrMapOvr>
</p:sldLayout>
</file>

<file path=ppt/c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c2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2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900.png" /><ns0:Relationship Id="rId2" Type="http://schemas.openxmlformats.org/officeDocument/2006/relationships/image" Target="../media/image89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30.png" /><ns0:Relationship Id="rId5" Type="http://schemas.openxmlformats.org/officeDocument/2006/relationships/image" Target="../media/image920.png" /><ns0:Relationship Id="rId4" Type="http://schemas.openxmlformats.org/officeDocument/2006/relationships/image" Target="../media/image911.png" /></ns0:Relationships>
</file>

<file path=ppt/c2/ppt/slides/_rels/slide27.xml.rels><?xml version='1.0' encoding='utf-8'?>
<ns0:Relationships xmlns:ns0="http://schemas.openxmlformats.org/package/2006/relationships"><ns0:Relationship Id="rId8" Type="http://schemas.openxmlformats.org/officeDocument/2006/relationships/image" Target="../media/image100.png" /><ns0:Relationship Id="rId3" Type="http://schemas.openxmlformats.org/officeDocument/2006/relationships/image" Target="../media/image950.png" /><ns0:Relationship Id="rId7" Type="http://schemas.openxmlformats.org/officeDocument/2006/relationships/image" Target="../media/image99.png" /><ns0:Relationship Id="rId2" Type="http://schemas.openxmlformats.org/officeDocument/2006/relationships/image" Target="../media/image940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98.png" /><ns0:Relationship Id="rId5" Type="http://schemas.openxmlformats.org/officeDocument/2006/relationships/image" Target="../media/image97.png" /><ns0:Relationship Id="rId10" Type="http://schemas.openxmlformats.org/officeDocument/2006/relationships/image" Target="../media/image102.png" /><ns0:Relationship Id="rId4" Type="http://schemas.openxmlformats.org/officeDocument/2006/relationships/image" Target="../media/image960.png" /><ns0:Relationship Id="rId9" Type="http://schemas.openxmlformats.org/officeDocument/2006/relationships/image" Target="../media/image101.png" /></ns0:Relationships>
</file>

<file path=ppt/c2/ppt/slides/_rels/slide28.xml.rels><?xml version='1.0' encoding='utf-8'?>
<ns0:Relationships xmlns:ns0="http://schemas.openxmlformats.org/package/2006/relationships"><ns0:Relationship Id="rId8" Type="http://schemas.openxmlformats.org/officeDocument/2006/relationships/image" Target="../media/image108.png" /><ns0:Relationship Id="rId3" Type="http://schemas.openxmlformats.org/officeDocument/2006/relationships/image" Target="../media/image104.png" /><ns0:Relationship Id="rId7" Type="http://schemas.openxmlformats.org/officeDocument/2006/relationships/image" Target="../media/image101.png" /><ns0:Relationship Id="rId2" Type="http://schemas.openxmlformats.org/officeDocument/2006/relationships/image" Target="../media/image103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07.png" /><ns0:Relationship Id="rId5" Type="http://schemas.openxmlformats.org/officeDocument/2006/relationships/image" Target="../media/image106.png" /><ns0:Relationship Id="rId10" Type="http://schemas.openxmlformats.org/officeDocument/2006/relationships/image" Target="../media/image110.png" /><ns0:Relationship Id="rId4" Type="http://schemas.openxmlformats.org/officeDocument/2006/relationships/image" Target="../media/image105.png" /><ns0:Relationship Id="rId9" Type="http://schemas.openxmlformats.org/officeDocument/2006/relationships/image" Target="../media/image109.png" /></ns0:Relationships>
</file>

<file path=ppt/c2/ppt/slides/_rels/slide29.xml.rels><?xml version='1.0' encoding='utf-8'?>
<ns0:Relationships xmlns:ns0="http://schemas.openxmlformats.org/package/2006/relationships"><ns0:Relationship Id="rId8" Type="http://schemas.openxmlformats.org/officeDocument/2006/relationships/image" Target="../media/image117.png" /><ns0:Relationship Id="rId13" Type="http://schemas.openxmlformats.org/officeDocument/2006/relationships/image" Target="../media/image122.png" /><ns0:Relationship Id="rId18" Type="http://schemas.openxmlformats.org/officeDocument/2006/relationships/image" Target="../media/image127.png" /><ns0:Relationship Id="rId3" Type="http://schemas.openxmlformats.org/officeDocument/2006/relationships/image" Target="../media/image112.png" /><ns0:Relationship Id="rId7" Type="http://schemas.openxmlformats.org/officeDocument/2006/relationships/image" Target="../media/image116.png" /><ns0:Relationship Id="rId12" Type="http://schemas.openxmlformats.org/officeDocument/2006/relationships/image" Target="../media/image121.png" /><ns0:Relationship Id="rId17" Type="http://schemas.openxmlformats.org/officeDocument/2006/relationships/image" Target="../media/image126.png" /><ns0:Relationship Id="rId2" Type="http://schemas.openxmlformats.org/officeDocument/2006/relationships/image" Target="../media/image111.png" /><ns0:Relationship Id="rId16" Type="http://schemas.openxmlformats.org/officeDocument/2006/relationships/image" Target="../media/image125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15.png" /><ns0:Relationship Id="rId11" Type="http://schemas.openxmlformats.org/officeDocument/2006/relationships/image" Target="../media/image120.png" /><ns0:Relationship Id="rId5" Type="http://schemas.openxmlformats.org/officeDocument/2006/relationships/image" Target="../media/image114.png" /><ns0:Relationship Id="rId15" Type="http://schemas.openxmlformats.org/officeDocument/2006/relationships/image" Target="../media/image124.png" /><ns0:Relationship Id="rId10" Type="http://schemas.openxmlformats.org/officeDocument/2006/relationships/image" Target="../media/image119.png" /><ns0:Relationship Id="rId19" Type="http://schemas.openxmlformats.org/officeDocument/2006/relationships/image" Target="../media/image128.png" /><ns0:Relationship Id="rId4" Type="http://schemas.openxmlformats.org/officeDocument/2006/relationships/image" Target="../media/image113.png" /><ns0:Relationship Id="rId9" Type="http://schemas.openxmlformats.org/officeDocument/2006/relationships/image" Target="../media/image118.png" /><ns0:Relationship Id="rId14" Type="http://schemas.openxmlformats.org/officeDocument/2006/relationships/image" Target="../media/image123.png" /></ns0:Relationships>
</file>

<file path=ppt/c2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2" Type="http://schemas.openxmlformats.org/officeDocument/2006/relationships/image" Target="../media/image129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32.png" /><ns0:Relationship Id="rId4" Type="http://schemas.openxmlformats.org/officeDocument/2006/relationships/image" Target="../media/image131.png" /></ns0:Relationships>
</file>

<file path=ppt/c2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2" Type="http://schemas.openxmlformats.org/officeDocument/2006/relationships/image" Target="../media/image129.png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34.png" /><ns0:Relationship Id="rId4" Type="http://schemas.openxmlformats.org/officeDocument/2006/relationships/image" Target="../media/image133.png" /></ns0:Relationships>
</file>

<file path=ppt/c2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2" Type="http://schemas.openxmlformats.org/officeDocument/2006/relationships/image" Target="../media/image129.png" /><ns0:Relationship Id="rId1" Type="http://schemas.openxmlformats.org/officeDocument/2006/relationships/slideLayout" Target="../slideLayouts/slideLayout3.xml" /><ns0:Relationship Id="rId4" Type="http://schemas.openxmlformats.org/officeDocument/2006/relationships/image" Target="../media/image135.png" /></ns0:Relationships>
</file>

<file path=ppt/c2/ppt/slides/_rels/slide33.xml.rels><?xml version='1.0' encoding='utf-8'?>
<ns0:Relationships xmlns:ns0="http://schemas.openxmlformats.org/package/2006/relationships"><ns0:Relationship Id="rId3" Type="http://schemas.openxmlformats.org/officeDocument/2006/relationships/image" Target="../media/image136.png" /><ns0:Relationship Id="rId2" Type="http://schemas.openxmlformats.org/officeDocument/2006/relationships/notesSlide" Target="../notesSlides/notesSlide8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39.png" /><ns0:Relationship Id="rId5" Type="http://schemas.openxmlformats.org/officeDocument/2006/relationships/image" Target="../media/image138.png" /><ns0:Relationship Id="rId4" Type="http://schemas.openxmlformats.org/officeDocument/2006/relationships/image" Target="../media/image137.png" /></ns0:Relationships>
</file>

<file path=ppt/c2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1290.png" /><ns0:Relationship Id="rId7" Type="http://schemas.openxmlformats.org/officeDocument/2006/relationships/image" Target="../media/image140.png" /><ns0:Relationship Id="rId2" Type="http://schemas.openxmlformats.org/officeDocument/2006/relationships/notesSlide" Target="../notesSlides/notesSlide9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320.png" /><ns0:Relationship Id="rId5" Type="http://schemas.openxmlformats.org/officeDocument/2006/relationships/image" Target="../media/image1310.png" /><ns0:Relationship Id="rId4" Type="http://schemas.openxmlformats.org/officeDocument/2006/relationships/image" Target="../media/image1300.png" /></ns0:Relationships>
</file>

<file path=ppt/c2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3528" y="756934"/>
                <a:ext cx="835292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refers to the input of a function, and the expression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refers to the output. For graph sketches, we often 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i.e. we set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values to be the output of the function.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56934"/>
                <a:ext cx="8352928" cy="923330"/>
              </a:xfrm>
              <a:prstGeom prst="rect">
                <a:avLst/>
              </a:prstGeom>
              <a:blipFill>
                <a:blip r:embed="rId2"/>
                <a:stretch>
                  <a:fillRect l="-584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7"/>
          <p:cNvGrpSpPr/>
          <p:nvPr/>
        </p:nvGrpSpPr>
        <p:grpSpPr>
          <a:xfrm>
            <a:off x="1144" y="0"/>
            <a:ext cx="9143074" cy="599127"/>
            <a:chOff x="0" y="13335"/>
            <a:chExt cx="9144218" cy="599127"/>
          </a:xfrm>
        </p:grpSpPr>
        <p:sp>
          <p:nvSpPr>
            <p:cNvPr id="7" name="TextBox 6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4: Quadratic Graphs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4" name="Freeform 3"/>
          <p:cNvSpPr/>
          <p:nvPr/>
        </p:nvSpPr>
        <p:spPr>
          <a:xfrm>
            <a:off x="1979712" y="2120900"/>
            <a:ext cx="4624288" cy="3271286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763688" y="4725144"/>
            <a:ext cx="56166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165328" y="1988840"/>
            <a:ext cx="0" cy="40324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393012" y="4369256"/>
                <a:ext cx="504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012" y="4369256"/>
                <a:ext cx="50405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13300" y="1382941"/>
                <a:ext cx="504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300" y="1382941"/>
                <a:ext cx="50405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98128" y="1874285"/>
            <a:ext cx="2808312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Features needed in sketch of quadratic?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8018" y="3414191"/>
            <a:ext cx="1296144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868144" y="5790455"/>
                <a:ext cx="1764196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-intercept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5790455"/>
                <a:ext cx="1764196" cy="461665"/>
              </a:xfrm>
              <a:prstGeom prst="rect">
                <a:avLst/>
              </a:prstGeom>
              <a:blipFill>
                <a:blip r:embed="rId5"/>
                <a:stretch>
                  <a:fillRect t="-750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10571" y="5661248"/>
            <a:ext cx="2538282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General shape: Smiley face or hill?</a:t>
            </a:r>
          </a:p>
        </p:txBody>
      </p:sp>
      <p:cxnSp>
        <p:nvCxnSpPr>
          <p:cNvPr id="31" name="Straight Arrow Connector 30"/>
          <p:cNvCxnSpPr>
            <a:stCxn id="27" idx="2"/>
          </p:cNvCxnSpPr>
          <p:nvPr/>
        </p:nvCxnSpPr>
        <p:spPr>
          <a:xfrm flipH="1">
            <a:off x="3263900" y="3875856"/>
            <a:ext cx="652190" cy="78504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2"/>
          </p:cNvCxnSpPr>
          <p:nvPr/>
        </p:nvCxnSpPr>
        <p:spPr>
          <a:xfrm>
            <a:off x="3916090" y="3875856"/>
            <a:ext cx="1633810" cy="78504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0"/>
          </p:cNvCxnSpPr>
          <p:nvPr/>
        </p:nvCxnSpPr>
        <p:spPr>
          <a:xfrm flipH="1" flipV="1">
            <a:off x="5165328" y="5301208"/>
            <a:ext cx="1584914" cy="489247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0"/>
          </p:cNvCxnSpPr>
          <p:nvPr/>
        </p:nvCxnSpPr>
        <p:spPr>
          <a:xfrm flipV="1">
            <a:off x="1979712" y="5181600"/>
            <a:ext cx="1500088" cy="47964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268018" y="3414192"/>
            <a:ext cx="1296143" cy="461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68144" y="5766822"/>
            <a:ext cx="1764196" cy="485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571" y="5661247"/>
            <a:ext cx="253828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4318000" y="5511801"/>
            <a:ext cx="228600" cy="660399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92872" y="6236791"/>
            <a:ext cx="19713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Turning 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81784" y="6236791"/>
            <a:ext cx="1982416" cy="485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1642164"/>
            <a:ext cx="2717800" cy="24622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A ‘sketch’ in maths has a clearly defined meaning: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We care about the </a:t>
            </a:r>
            <a:r>
              <a:rPr lang="en-GB" sz="1400" b="1" u="sng" dirty="0"/>
              <a:t>general shape</a:t>
            </a:r>
            <a:r>
              <a:rPr lang="en-GB" sz="1400" dirty="0"/>
              <a:t> of the graph, not exact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 axes should have </a:t>
            </a:r>
            <a:r>
              <a:rPr lang="en-GB" sz="1400" b="1" u="sng" dirty="0"/>
              <a:t>no scale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Generally the only coordinates indicated are </a:t>
            </a:r>
            <a:r>
              <a:rPr lang="en-GB" sz="1400" b="1" u="sng" dirty="0"/>
              <a:t>intercepts with the axis</a:t>
            </a:r>
            <a:r>
              <a:rPr lang="en-GB" sz="1400" dirty="0"/>
              <a:t> or other points of interest (e.g. intersections of multiple graphs)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85304" y="3109391"/>
                <a:ext cx="16561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a root of a function is where the output, in this case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value, is 0.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4" y="3109391"/>
                <a:ext cx="1656184" cy="1323439"/>
              </a:xfrm>
              <a:prstGeom prst="rect">
                <a:avLst/>
              </a:prstGeom>
              <a:blipFill>
                <a:blip r:embed="rId6"/>
                <a:stretch>
                  <a:fillRect l="-2214" t="-1382" r="-2214" b="-5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33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34" grpId="0" animBg="1"/>
      <p:bldP spid="15" grpId="0"/>
    </p:bldLst>
  </p:timing>
</p:sld>
</file>

<file path=ppt/c2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852" y="785912"/>
                <a:ext cx="5429448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000" dirty="0"/>
                  <a:t> and find the coordinates of the turning point.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52" y="785912"/>
                <a:ext cx="5429448" cy="707886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99852" y="1844824"/>
            <a:ext cx="9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79712" y="1844824"/>
                <a:ext cx="3384376" cy="923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844824"/>
                <a:ext cx="3384376" cy="923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5168" y="2857376"/>
                <a:ext cx="1450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-intercept: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68" y="2857376"/>
                <a:ext cx="1450528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41612" y="2878803"/>
                <a:ext cx="27744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612" y="2878803"/>
                <a:ext cx="2774404" cy="646331"/>
              </a:xfrm>
              <a:prstGeom prst="rect">
                <a:avLst/>
              </a:prstGeom>
              <a:blipFill>
                <a:blip r:embed="rId5"/>
                <a:stretch>
                  <a:fillRect l="-1978" t="-4717" b="-4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85168" y="3739223"/>
            <a:ext cx="157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Turning point: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41612" y="3658389"/>
                <a:ext cx="2774404" cy="1860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Min point: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𝟐𝟓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612" y="3658389"/>
                <a:ext cx="2774404" cy="1860959"/>
              </a:xfrm>
              <a:prstGeom prst="rect">
                <a:avLst/>
              </a:prstGeom>
              <a:blipFill>
                <a:blip r:embed="rId6"/>
                <a:stretch>
                  <a:fillRect l="-1978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352" y="5856064"/>
                <a:ext cx="407054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that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 the minimum output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 which minimises it. i.e. Turning point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52" y="5856064"/>
                <a:ext cx="4070548" cy="830997"/>
              </a:xfrm>
              <a:prstGeom prst="rect">
                <a:avLst/>
              </a:prstGeom>
              <a:blipFill>
                <a:blip r:embed="rId7"/>
                <a:stretch>
                  <a:fillRect l="-446" t="-714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1259632" y="5301208"/>
            <a:ext cx="576064" cy="55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972618" y="1813992"/>
            <a:ext cx="2599382" cy="954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72618" y="2901473"/>
            <a:ext cx="2599382" cy="692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5800" y="3717986"/>
            <a:ext cx="2599382" cy="1801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076056" y="4437112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164288" y="1701762"/>
            <a:ext cx="0" cy="40324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4820" y="4411068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329" y="4411068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7" name="Freeform 3"/>
          <p:cNvSpPr/>
          <p:nvPr/>
        </p:nvSpPr>
        <p:spPr>
          <a:xfrm>
            <a:off x="5002312" y="2146300"/>
            <a:ext cx="3392388" cy="2788686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6843960" y="4868162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416435" y="4925859"/>
                <a:ext cx="1435329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435" y="4925859"/>
                <a:ext cx="1435329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6708031" y="487292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020272" y="13411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1341156"/>
                <a:ext cx="288032" cy="369332"/>
              </a:xfrm>
              <a:prstGeom prst="rect">
                <a:avLst/>
              </a:prstGeom>
              <a:blipFill>
                <a:blip r:embed="rId10"/>
                <a:stretch>
                  <a:fillRect r="-6383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10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5" grpId="0"/>
      <p:bldP spid="26" grpId="0"/>
      <p:bldP spid="27" grpId="0" animBg="1"/>
      <p:bldP spid="30" grpId="0"/>
      <p:bldP spid="31" grpId="0" animBg="1"/>
    </p:bldLst>
  </p:timing>
</p:sld>
</file>

<file path=ppt/c2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851" y="785912"/>
                <a:ext cx="7412509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2000" dirty="0"/>
                  <a:t> and find the coordinates of the turning point. Write down the equation of the line of symmetry.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51" y="785912"/>
                <a:ext cx="7412509" cy="707886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88752" y="1743224"/>
            <a:ext cx="9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20912" y="1768624"/>
                <a:ext cx="3685108" cy="2671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×−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×−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This has no solutions, so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value can never be 0, i.e. the parabola does not touch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-axis.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912" y="1768624"/>
                <a:ext cx="3685108" cy="2671629"/>
              </a:xfrm>
              <a:prstGeom prst="rect">
                <a:avLst/>
              </a:prstGeom>
              <a:blipFill>
                <a:blip r:embed="rId3"/>
                <a:stretch>
                  <a:fillRect l="-1322" r="-331" b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8791" y="4414984"/>
                <a:ext cx="1450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-intercept: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1" y="4414984"/>
                <a:ext cx="1450528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433935" y="4411011"/>
            <a:ext cx="2774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-3 (by inspection)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71709" y="5119031"/>
            <a:ext cx="157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Turning point: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59335" y="5127097"/>
                <a:ext cx="2774404" cy="1771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Max point is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335" y="5127097"/>
                <a:ext cx="2774404" cy="1771191"/>
              </a:xfrm>
              <a:prstGeom prst="rect">
                <a:avLst/>
              </a:prstGeom>
              <a:blipFill>
                <a:blip r:embed="rId5"/>
                <a:stretch>
                  <a:fillRect l="-1096" b="-17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377206" y="4411848"/>
            <a:ext cx="3601194" cy="692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3508" y="5158053"/>
            <a:ext cx="2611133" cy="1663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076056" y="4437112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33" idx="2"/>
          </p:cNvCxnSpPr>
          <p:nvPr/>
        </p:nvCxnSpPr>
        <p:spPr>
          <a:xfrm flipV="1">
            <a:off x="6643588" y="1976417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Freeform 3"/>
          <p:cNvSpPr/>
          <p:nvPr/>
        </p:nvSpPr>
        <p:spPr>
          <a:xfrm rot="10800000">
            <a:off x="6262954" y="4823995"/>
            <a:ext cx="2179333" cy="1524410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6314570" y="5000509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7195310" y="4691990"/>
                <a:ext cx="9453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310" y="4691990"/>
                <a:ext cx="94532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152531" y="473322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99572" y="160708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572" y="1607085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373796" y="1753610"/>
            <a:ext cx="3604604" cy="2615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4172" y="6412686"/>
            <a:ext cx="186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 of reflection: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955632" y="6405028"/>
                <a:ext cx="1180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632" y="6405028"/>
                <a:ext cx="11804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>
            <a:off x="7189704" y="2112556"/>
            <a:ext cx="0" cy="40527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00946" y="2760416"/>
                <a:ext cx="1305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946" y="2760416"/>
                <a:ext cx="130512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6106207" y="6304547"/>
            <a:ext cx="2003077" cy="4841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368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7" grpId="0" animBg="1"/>
      <p:bldP spid="30" grpId="0"/>
      <p:bldP spid="31" grpId="0" animBg="1"/>
      <p:bldP spid="18" grpId="0" animBg="1"/>
      <p:bldP spid="35" grpId="0"/>
      <p:bldP spid="36" grpId="0" animBg="1"/>
    </p:bldLst>
  </p:timing>
</p:sld>
</file>

<file path=ppt/c2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91567" y="749817"/>
            <a:ext cx="7412509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Sketch the following, indicating any intercepts with the axis, the turning point and the equation of the line of symmetry.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1981" y="1563065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1" y="1563065"/>
                <a:ext cx="2202963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8092" y="161775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1981" y="4293096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1" y="4293096"/>
                <a:ext cx="2202963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48092" y="4347783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16016" y="1522474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+3−2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522474"/>
                <a:ext cx="2202963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362127" y="1577161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16016" y="4264461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4264461"/>
                <a:ext cx="2202963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362127" y="4319148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18270" y="3429000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060365" y="2040607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02099" y="3265934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9" y="3265934"/>
                <a:ext cx="216024" cy="369332"/>
              </a:xfrm>
              <a:prstGeom prst="rect">
                <a:avLst/>
              </a:prstGeom>
              <a:blipFill>
                <a:blip r:embed="rId6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933439" y="170561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439" y="1705612"/>
                <a:ext cx="216024" cy="369332"/>
              </a:xfrm>
              <a:prstGeom prst="rect">
                <a:avLst/>
              </a:prstGeom>
              <a:blipFill>
                <a:blip r:embed="rId7"/>
                <a:stretch>
                  <a:fillRect r="-38889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3"/>
          <p:cNvSpPr/>
          <p:nvPr/>
        </p:nvSpPr>
        <p:spPr>
          <a:xfrm>
            <a:off x="1230413" y="2314574"/>
            <a:ext cx="1550888" cy="715411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018270" y="6107175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1619672" y="4693417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902099" y="5944109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9" y="5944109"/>
                <a:ext cx="216024" cy="369332"/>
              </a:xfrm>
              <a:prstGeom prst="rect">
                <a:avLst/>
              </a:prstGeom>
              <a:blipFill>
                <a:blip r:embed="rId8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3"/>
          <p:cNvSpPr/>
          <p:nvPr/>
        </p:nvSpPr>
        <p:spPr>
          <a:xfrm>
            <a:off x="1436153" y="4932843"/>
            <a:ext cx="1590530" cy="1377298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2519591" y="6020506"/>
            <a:ext cx="22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8159" y="6019936"/>
            <a:ext cx="32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5637" y="5502839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985819" y="2959826"/>
                <a:ext cx="514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0,4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819" y="2959826"/>
                <a:ext cx="514722" cy="369332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1996331" y="298697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2232013" y="6249374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209860" y="6313068"/>
                <a:ext cx="733762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, −</m:t>
                          </m:r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6313068"/>
                <a:ext cx="733762" cy="4726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2273968" y="4764505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31904" y="4661405"/>
                <a:ext cx="1305123" cy="551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904" y="4661405"/>
                <a:ext cx="1305123" cy="5517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>
            <a:off x="4882502" y="3413326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5483904" y="1999568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766331" y="3250260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331" y="3250260"/>
                <a:ext cx="216024" cy="369332"/>
              </a:xfrm>
              <a:prstGeom prst="rect">
                <a:avLst/>
              </a:prstGeom>
              <a:blipFill>
                <a:blip r:embed="rId12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 3"/>
          <p:cNvSpPr/>
          <p:nvPr/>
        </p:nvSpPr>
        <p:spPr>
          <a:xfrm rot="10800000">
            <a:off x="5043210" y="2590800"/>
            <a:ext cx="1433790" cy="1330292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6202848" y="3383807"/>
            <a:ext cx="22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896591" y="3373712"/>
                <a:ext cx="446934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591" y="3373712"/>
                <a:ext cx="446934" cy="438005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5216069" y="2485140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50" name="Oval 49"/>
          <p:cNvSpPr/>
          <p:nvPr/>
        </p:nvSpPr>
        <p:spPr>
          <a:xfrm>
            <a:off x="5648570" y="2555400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638352" y="2133473"/>
                <a:ext cx="733762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352" y="2133473"/>
                <a:ext cx="733762" cy="4726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>
            <a:off x="5709575" y="2061131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396086" y="3786831"/>
                <a:ext cx="1305123" cy="558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3786831"/>
                <a:ext cx="1305123" cy="55835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>
            <a:off x="5259935" y="6301081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 flipV="1">
            <a:off x="6309849" y="4575666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143764" y="6109440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64" y="6109440"/>
                <a:ext cx="216024" cy="369332"/>
              </a:xfrm>
              <a:prstGeom prst="rect">
                <a:avLst/>
              </a:prstGeom>
              <a:blipFill>
                <a:blip r:embed="rId16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 3"/>
          <p:cNvSpPr/>
          <p:nvPr/>
        </p:nvSpPr>
        <p:spPr>
          <a:xfrm>
            <a:off x="5106318" y="4743449"/>
            <a:ext cx="1433790" cy="998597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216971" y="6509117"/>
                <a:ext cx="7706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971" y="6509117"/>
                <a:ext cx="77068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/>
          <p:cNvSpPr txBox="1"/>
          <p:nvPr/>
        </p:nvSpPr>
        <p:spPr>
          <a:xfrm>
            <a:off x="5974502" y="5210970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</a:t>
            </a:r>
          </a:p>
        </p:txBody>
      </p:sp>
      <p:sp>
        <p:nvSpPr>
          <p:cNvPr id="61" name="Oval 60"/>
          <p:cNvSpPr/>
          <p:nvPr/>
        </p:nvSpPr>
        <p:spPr>
          <a:xfrm>
            <a:off x="5850068" y="5671630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811410" y="5739306"/>
                <a:ext cx="7337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−2,7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410" y="5739306"/>
                <a:ext cx="73376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/>
          <p:cNvCxnSpPr/>
          <p:nvPr/>
        </p:nvCxnSpPr>
        <p:spPr>
          <a:xfrm>
            <a:off x="5907206" y="4756641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724963" y="3699514"/>
                <a:ext cx="1305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963" y="3699514"/>
                <a:ext cx="130512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/>
          <p:cNvSpPr/>
          <p:nvPr/>
        </p:nvSpPr>
        <p:spPr>
          <a:xfrm>
            <a:off x="782447" y="1886563"/>
            <a:ext cx="2715496" cy="23225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3382" y="4659086"/>
            <a:ext cx="2715496" cy="21920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2563" y="1944202"/>
            <a:ext cx="2715496" cy="2322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73861" y="4615543"/>
            <a:ext cx="2715496" cy="225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070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69" grpId="0" animBg="1"/>
    </p:bldLst>
  </p:timing>
</p:sld>
</file>

<file path=ppt/c2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Determining the Equation using a Graph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rot="10800000" flipV="1">
            <a:off x="539552" y="2657983"/>
            <a:ext cx="2160110" cy="154203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238472" y="3655175"/>
            <a:ext cx="36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568172" y="3625996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02BB-A59C-4CA0-8794-D20F6C7FF76A}"/>
              </a:ext>
            </a:extLst>
          </p:cNvPr>
          <p:cNvSpPr txBox="1"/>
          <p:nvPr/>
        </p:nvSpPr>
        <p:spPr>
          <a:xfrm>
            <a:off x="1439599" y="3850878"/>
            <a:ext cx="63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/>
              <p:nvPr/>
            </p:nvSpPr>
            <p:spPr>
              <a:xfrm>
                <a:off x="4283968" y="1484784"/>
                <a:ext cx="4201861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equation of this quadratic graph,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84784"/>
                <a:ext cx="4201861" cy="646331"/>
              </a:xfrm>
              <a:prstGeom prst="rect">
                <a:avLst/>
              </a:prstGeom>
              <a:blipFill>
                <a:blip r:embed="rId4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56108" y="2564904"/>
                <a:ext cx="4176463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the roots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, a good start would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noting that this gives us the correct ‘positive quadratic’ shape.</a:t>
                </a:r>
              </a:p>
              <a:p>
                <a:endParaRPr lang="en-GB" dirty="0"/>
              </a:p>
              <a:p>
                <a:r>
                  <a:rPr lang="en-GB" dirty="0"/>
                  <a:t>However, expanding, we get the wrong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of -6: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i="1" dirty="0"/>
              </a:p>
              <a:p>
                <a:endParaRPr lang="en-GB" dirty="0"/>
              </a:p>
              <a:p>
                <a:r>
                  <a:rPr lang="en-GB" dirty="0"/>
                  <a:t>We can simply scale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-value appropriately without affecting the roots: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8" y="2564904"/>
                <a:ext cx="4176463" cy="3970318"/>
              </a:xfrm>
              <a:prstGeom prst="rect">
                <a:avLst/>
              </a:prstGeom>
              <a:blipFill>
                <a:blip r:embed="rId5"/>
                <a:stretch>
                  <a:fillRect l="-1314" t="-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303381" y="2131115"/>
            <a:ext cx="4182417" cy="440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571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c2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flipV="1">
            <a:off x="1286162" y="2657983"/>
            <a:ext cx="2160110" cy="154203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930931" y="3610787"/>
            <a:ext cx="63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1340530" y="3599363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/>
              <p:nvPr/>
            </p:nvSpPr>
            <p:spPr>
              <a:xfrm>
                <a:off x="4283968" y="1484784"/>
                <a:ext cx="4201861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equation of this quadratic graph,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are integers.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84784"/>
                <a:ext cx="4201861" cy="923330"/>
              </a:xfrm>
              <a:prstGeom prst="rect">
                <a:avLst/>
              </a:prstGeom>
              <a:blipFill>
                <a:blip r:embed="rId4"/>
                <a:stretch>
                  <a:fillRect b="-171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56108" y="2564904"/>
                <a:ext cx="4176463" cy="3699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good start would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−3.5)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minus on the front ensures we get a negative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term for the correct shape.</a:t>
                </a:r>
              </a:p>
              <a:p>
                <a:r>
                  <a:rPr lang="en-GB" dirty="0"/>
                  <a:t>Expanding: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+2.5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+3.5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Note that no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has been specified, so we can scale the whole expression without affecting the roots (i.e. we only scale in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direction). Doubling: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8" y="2564904"/>
                <a:ext cx="4176463" cy="3699539"/>
              </a:xfrm>
              <a:prstGeom prst="rect">
                <a:avLst/>
              </a:prstGeom>
              <a:blipFill>
                <a:blip r:embed="rId5"/>
                <a:stretch>
                  <a:fillRect l="-1314" t="-988" r="-1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334292" y="2561969"/>
            <a:ext cx="4182417" cy="404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790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c2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flipV="1">
            <a:off x="405527" y="2035380"/>
            <a:ext cx="2808312" cy="2355192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838084" y="3644129"/>
            <a:ext cx="36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488273" y="3643752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02BB-A59C-4CA0-8794-D20F6C7FF76A}"/>
              </a:ext>
            </a:extLst>
          </p:cNvPr>
          <p:cNvSpPr txBox="1"/>
          <p:nvPr/>
        </p:nvSpPr>
        <p:spPr>
          <a:xfrm>
            <a:off x="1475109" y="1737992"/>
            <a:ext cx="63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1D767-1609-46B7-A07C-BD788160FF56}"/>
              </a:ext>
            </a:extLst>
          </p:cNvPr>
          <p:cNvSpPr txBox="1"/>
          <p:nvPr/>
        </p:nvSpPr>
        <p:spPr>
          <a:xfrm>
            <a:off x="4283968" y="1484784"/>
            <a:ext cx="4201861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Determine an equation of this quadratic graph.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09366" y="2242420"/>
                <a:ext cx="4176463" cy="429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good start to get the roots correct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minus on the front ensures we get a negative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term for the correct shape.</a:t>
                </a:r>
              </a:p>
              <a:p>
                <a:endParaRPr lang="en-GB" dirty="0"/>
              </a:p>
              <a:p>
                <a:r>
                  <a:rPr lang="en-GB" dirty="0"/>
                  <a:t>Expanding this gives us the incorrect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of 9: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To scale 9 to 10, without affecting the root, we need to scale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more cleanly: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66" y="2242420"/>
                <a:ext cx="4176463" cy="4296304"/>
              </a:xfrm>
              <a:prstGeom prst="rect">
                <a:avLst/>
              </a:prstGeom>
              <a:blipFill>
                <a:blip r:embed="rId4"/>
                <a:stretch>
                  <a:fillRect l="-1314" t="-851" r="-23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283998" y="2131114"/>
            <a:ext cx="4201831" cy="44076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257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c2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2F Pure Y1 Page 30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306AB0-628F-3BAF-F364-DFD3780674C9}"/>
              </a:ext>
            </a:extLst>
          </p:cNvPr>
          <p:cNvGrpSpPr/>
          <p:nvPr/>
        </p:nvGrpSpPr>
        <p:grpSpPr>
          <a:xfrm>
            <a:off x="107504" y="599127"/>
            <a:ext cx="7272808" cy="4608512"/>
            <a:chOff x="179512" y="836712"/>
            <a:chExt cx="7776864" cy="50477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9E4B7D-16BD-7806-02C0-7D593009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836712"/>
              <a:ext cx="6948264" cy="5047709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0609F6F-9A36-8720-C456-F79D1FB8C850}"/>
                </a:ext>
              </a:extLst>
            </p:cNvPr>
            <p:cNvSpPr/>
            <p:nvPr/>
          </p:nvSpPr>
          <p:spPr>
            <a:xfrm>
              <a:off x="6732240" y="1412776"/>
              <a:ext cx="1224136" cy="2448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E6EE461-80A6-D184-9D56-0EB0963DF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913" y="1028662"/>
            <a:ext cx="2863881" cy="13037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F53803E-7A74-67FD-79EC-FFEEEF5E6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051" y="2463969"/>
            <a:ext cx="2636162" cy="27801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CE891EB-41A8-79D6-6963-0E7EB65B7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913" y="5085184"/>
            <a:ext cx="2923158" cy="168588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385C634-37CF-8AD9-7064-EEEFD09FD424}"/>
              </a:ext>
            </a:extLst>
          </p:cNvPr>
          <p:cNvSpPr/>
          <p:nvPr/>
        </p:nvSpPr>
        <p:spPr>
          <a:xfrm>
            <a:off x="6084167" y="991592"/>
            <a:ext cx="3044927" cy="1340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65B948-6027-A835-1362-70B87C5E76A7}"/>
              </a:ext>
            </a:extLst>
          </p:cNvPr>
          <p:cNvSpPr/>
          <p:nvPr/>
        </p:nvSpPr>
        <p:spPr>
          <a:xfrm>
            <a:off x="6084167" y="2411591"/>
            <a:ext cx="3044927" cy="12682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7BF7A3-2FD0-BAD8-6012-844D5AFD2BD2}"/>
              </a:ext>
            </a:extLst>
          </p:cNvPr>
          <p:cNvSpPr/>
          <p:nvPr/>
        </p:nvSpPr>
        <p:spPr>
          <a:xfrm>
            <a:off x="6084167" y="3773347"/>
            <a:ext cx="3044927" cy="12682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B4BABF-09D9-D202-5559-BBC4DDD16C21}"/>
              </a:ext>
            </a:extLst>
          </p:cNvPr>
          <p:cNvSpPr/>
          <p:nvPr/>
        </p:nvSpPr>
        <p:spPr>
          <a:xfrm>
            <a:off x="6084167" y="5158949"/>
            <a:ext cx="3044927" cy="16121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67587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c2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2F Pure Y1 Page 30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9062" y="2596902"/>
                <a:ext cx="619268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2003 1H] Into how many regions is the plane divided when the following three parabolas are drawn?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62" y="2596902"/>
                <a:ext cx="6192688" cy="1477328"/>
              </a:xfrm>
              <a:prstGeom prst="rect">
                <a:avLst/>
              </a:prstGeom>
              <a:blipFill>
                <a:blip r:embed="rId3"/>
                <a:stretch>
                  <a:fillRect l="-886" t="-2066" r="-1476" b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76910" y="2338221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Question: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9718" y="4782294"/>
                <a:ext cx="3456384" cy="1218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Completing the square: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18" y="4782294"/>
                <a:ext cx="3456384" cy="1218988"/>
              </a:xfrm>
              <a:prstGeom prst="rect">
                <a:avLst/>
              </a:prstGeom>
              <a:blipFill>
                <a:blip r:embed="rId4"/>
                <a:stretch>
                  <a:fillRect l="-1411" t="-2500" b="-1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1428" y="6237312"/>
            <a:ext cx="30969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006058" y="4445299"/>
            <a:ext cx="0" cy="19176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Freeform 3"/>
          <p:cNvSpPr/>
          <p:nvPr/>
        </p:nvSpPr>
        <p:spPr>
          <a:xfrm>
            <a:off x="4548454" y="4724400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 3"/>
          <p:cNvSpPr/>
          <p:nvPr/>
        </p:nvSpPr>
        <p:spPr>
          <a:xfrm>
            <a:off x="3995936" y="4445299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3"/>
          <p:cNvSpPr/>
          <p:nvPr/>
        </p:nvSpPr>
        <p:spPr>
          <a:xfrm>
            <a:off x="5043822" y="4854810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5652120" y="4854810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4057146" y="5576543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217490" y="478998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4710589" y="496265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6538161" y="518290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7120122" y="537319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5508066" y="5955883"/>
            <a:ext cx="225984" cy="20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809098" y="4066140"/>
                <a:ext cx="376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98" y="4066140"/>
                <a:ext cx="37679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561097" y="5993580"/>
                <a:ext cx="376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097" y="5993580"/>
                <a:ext cx="3767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316286" y="4148245"/>
            <a:ext cx="8103813" cy="25192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B1FEE17-E334-5FD7-AE33-F5565BF9A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72" y="624119"/>
            <a:ext cx="7005400" cy="6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c2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