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4/ppt/slideMasters/slideMaster1.xml" ContentType="application/vnd.openxmlformats-officedocument.presentationml.slideMaster+xml"/>
  <ns0:Override PartName="/ppt/c14/ppt/slides/slide4.xml" ContentType="application/vnd.openxmlformats-officedocument.presentationml.slide+xml"/>
  <ns0:Override PartName="/ppt/c14/ppt/slides/slide5.xml" ContentType="application/vnd.openxmlformats-officedocument.presentationml.slide+xml"/>
  <ns0:Override PartName="/ppt/c14/ppt/slides/slide6.xml" ContentType="application/vnd.openxmlformats-officedocument.presentationml.slide+xml"/>
  <ns0:Override PartName="/ppt/c14/ppt/slides/slide7.xml" ContentType="application/vnd.openxmlformats-officedocument.presentationml.slide+xml"/>
  <ns0:Override PartName="/ppt/c14/ppt/slides/slide27.xml" ContentType="application/vnd.openxmlformats-officedocument.presentationml.slide+xml"/>
  <ns0:Override PartName="/ppt/c14/ppt/notesMasters/notesMaster1.xml" ContentType="application/vnd.openxmlformats-officedocument.presentationml.notesMaster+xml"/>
  <ns0:Override PartName="/ppt/c14/ppt/theme/theme1.xml" ContentType="application/vnd.openxmlformats-officedocument.theme+xml"/>
  <ns0:Override PartName="/ppt/c14/ppt/slideLayouts/slideLayout1.xml" ContentType="application/vnd.openxmlformats-officedocument.presentationml.slideLayout+xml"/>
  <ns0:Override PartName="/ppt/c14/ppt/slideLayouts/slideLayout2.xml" ContentType="application/vnd.openxmlformats-officedocument.presentationml.slideLayout+xml"/>
  <ns0:Override PartName="/ppt/c14/ppt/slideLayouts/slideLayout3.xml" ContentType="application/vnd.openxmlformats-officedocument.presentationml.slideLayout+xml"/>
  <ns0:Override PartName="/ppt/c14/ppt/slideLayouts/slideLayout4.xml" ContentType="application/vnd.openxmlformats-officedocument.presentationml.slideLayout+xml"/>
  <ns0:Override PartName="/ppt/c14/ppt/theme/theme2.xml" ContentType="application/vnd.openxmlformats-officedocument.theme+xml"/>
  <ns0:Override PartName="/ppt/c14/ppt/notesSlides/notesSlide2.xml" ContentType="application/vnd.openxmlformats-officedocument.presentationml.notesSlide+xml"/>
  <ns0:Override PartName="/ppt/c14/ppt/notesSlides/notesSlide3.xml" ContentType="application/vnd.openxmlformats-officedocument.presentationml.notesSlid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5048" r:id="rId6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4/ppt/slides/slide4.xml" /><ns0:Relationship Id="rId2" Type="http://schemas.openxmlformats.org/officeDocument/2006/relationships/slide" Target="c14/ppt/slides/slide5.xml" /><ns0:Relationship Id="rId3" Type="http://schemas.openxmlformats.org/officeDocument/2006/relationships/slide" Target="c14/ppt/slides/slide6.xml" /><ns0:Relationship Id="rId4" Type="http://schemas.openxmlformats.org/officeDocument/2006/relationships/slide" Target="c14/ppt/slides/slide7.xml" /><ns0:Relationship Id="rId5" Type="http://schemas.openxmlformats.org/officeDocument/2006/relationships/slide" Target="c14/ppt/slides/slide27.xml" /><ns0:Relationship Id="rId6" Type="http://schemas.openxmlformats.org/officeDocument/2006/relationships/slideMaster" Target="c14/ppt/slideMasters/slideMaster1.xml" /><ns0:Relationship Id="rId7" Type="http://schemas.openxmlformats.org/officeDocument/2006/relationships/notesMaster" Target="c14/ppt/notesMasters/notesMaster1.xml" /></ns0:Relationships>
</file>

<file path=ppt/c1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4/ppt/notesSlides/_rels/notesSlide2.xml.rels><?xml version='1.0' encoding='utf-8'?>
<ns0:Relationships xmlns:ns0="http://schemas.openxmlformats.org/package/2006/relationships"><ns0:Relationship Id="rId2" Type="http://schemas.openxmlformats.org/officeDocument/2006/relationships/slide" Target="../slides/slide4.xml" /><ns0:Relationship Id="rId1" Type="http://schemas.openxmlformats.org/officeDocument/2006/relationships/notesMaster" Target="../notesMasters/notesMaster1.xml" /></ns0:Relationships>
</file>

<file path=ppt/c14/ppt/notesSlides/_rels/notesSlide3.xml.rels><?xml version='1.0' encoding='utf-8'?>
<ns0:Relationships xmlns:ns0="http://schemas.openxmlformats.org/package/2006/relationships"><ns0:Relationship Id="rId2" Type="http://schemas.openxmlformats.org/officeDocument/2006/relationships/slide" Target="../slides/slide27.xml" /><ns0:Relationship Id="rId1" Type="http://schemas.openxmlformats.org/officeDocument/2006/relationships/notesMaster" Target="../notesMasters/notesMaster1.xml" /></ns0:Relationships>
</file>

<file path=ppt/c14/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Get</a:t>
            </a:r>
            <a:r>
              <a:rPr lang="en-GB" baseline="0" dirty="0"/>
              <a:t> students to sketch axes and tables in their books.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4E427-E3BD-40A8-8ACE-F54AF5B80FB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5868853"/>
      </p:ext>
    </p:extLst>
  </p:cSld>
  <p:clrMapOvr>
    <a:masterClrMapping/>
  </p:clrMapOvr>
</p:notes>
</file>

<file path=ppt/c14/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Get</a:t>
            </a:r>
            <a:r>
              <a:rPr lang="en-GB" baseline="0" dirty="0"/>
              <a:t> students to sketch axes and tables in their books.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34E427-E3BD-40A8-8ACE-F54AF5B80FBB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479350"/>
      </p:ext>
    </p:extLst>
  </p:cSld>
  <p:clrMapOvr>
    <a:masterClrMapping/>
  </p:clrMapOvr>
</p:notes>
</file>

<file path=ppt/c1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c1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79ADCCA-A642-7AF0-604D-088AFF5293C6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3477167"/>
      </p:ext>
    </p:extLst>
  </p:cSld>
  <p:clrMapOvr>
    <a:masterClrMapping/>
  </p:clrMapOvr>
</p:sldLayout>
</file>

<file path=ppt/c14/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7C849CC-5CAD-914B-8E6F-94D18F427EA9}"/>
              </a:ext>
            </a:extLst>
          </p:cNvPr>
          <p:cNvSpPr txBox="1">
            <a:spLocks/>
          </p:cNvSpPr>
          <p:nvPr userDrawn="1"/>
        </p:nvSpPr>
        <p:spPr>
          <a:xfrm>
            <a:off x="-1" y="0"/>
            <a:ext cx="12178921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746621"/>
      </p:ext>
    </p:extLst>
  </p:cSld>
  <p:clrMapOvr>
    <a:masterClrMapping/>
  </p:clrMapOvr>
</p:sldLayout>
</file>

<file path=ppt/c1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5" Type="http://schemas.openxmlformats.org/officeDocument/2006/relationships/theme" Target="../theme/theme1.xml" /><ns0:Relationship Id="rId4" Type="http://schemas.openxmlformats.org/officeDocument/2006/relationships/slideLayout" Target="../slideLayouts/slideLayout4.xml" /></ns0:Relationships>
</file>

<file path=ppt/c1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04/12/2024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  <p:sldLayoutId id="2147500103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4/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9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2.png" /><ns0:Relationship Id="rId5" Type="http://schemas.openxmlformats.org/officeDocument/2006/relationships/image" Target="../media/image11.png" /><ns0:Relationship Id="rId4" Type="http://schemas.openxmlformats.org/officeDocument/2006/relationships/image" Target="../media/image10.png" /></ns0:Relationships>
</file>

<file path=ppt/c14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19.png" /><ns0:Relationship Id="rId13" Type="http://schemas.openxmlformats.org/officeDocument/2006/relationships/image" Target="../media/image24.png" /><ns0:Relationship Id="rId18" Type="http://schemas.openxmlformats.org/officeDocument/2006/relationships/image" Target="../media/image29.png" /><ns0:Relationship Id="rId3" Type="http://schemas.openxmlformats.org/officeDocument/2006/relationships/image" Target="../media/image14.png" /><ns0:Relationship Id="rId7" Type="http://schemas.openxmlformats.org/officeDocument/2006/relationships/image" Target="../media/image18.png" /><ns0:Relationship Id="rId12" Type="http://schemas.openxmlformats.org/officeDocument/2006/relationships/image" Target="../media/image23.png" /><ns0:Relationship Id="rId17" Type="http://schemas.openxmlformats.org/officeDocument/2006/relationships/image" Target="../media/image28.png" /><ns0:Relationship Id="rId2" Type="http://schemas.openxmlformats.org/officeDocument/2006/relationships/image" Target="../media/image13.png" /><ns0:Relationship Id="rId16" Type="http://schemas.openxmlformats.org/officeDocument/2006/relationships/image" Target="../media/image27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7.png" /><ns0:Relationship Id="rId11" Type="http://schemas.openxmlformats.org/officeDocument/2006/relationships/image" Target="../media/image22.png" /><ns0:Relationship Id="rId5" Type="http://schemas.openxmlformats.org/officeDocument/2006/relationships/image" Target="../media/image16.png" /><ns0:Relationship Id="rId15" Type="http://schemas.openxmlformats.org/officeDocument/2006/relationships/image" Target="../media/image26.png" /><ns0:Relationship Id="rId10" Type="http://schemas.openxmlformats.org/officeDocument/2006/relationships/image" Target="../media/image21.png" /><ns0:Relationship Id="rId4" Type="http://schemas.openxmlformats.org/officeDocument/2006/relationships/image" Target="../media/image15.png" /><ns0:Relationship Id="rId9" Type="http://schemas.openxmlformats.org/officeDocument/2006/relationships/image" Target="../media/image20.png" /><ns0:Relationship Id="rId14" Type="http://schemas.openxmlformats.org/officeDocument/2006/relationships/image" Target="../media/image25.png" /></ns0:Relationships>
</file>

<file path=ppt/c14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15.png" /><ns0:Relationship Id="rId7" Type="http://schemas.openxmlformats.org/officeDocument/2006/relationships/image" Target="../media/image33.png" /><ns0:Relationship Id="rId2" Type="http://schemas.openxmlformats.org/officeDocument/2006/relationships/image" Target="../media/image3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2.png" /><ns0:Relationship Id="rId5" Type="http://schemas.openxmlformats.org/officeDocument/2006/relationships/image" Target="../media/image31.png" /><ns0:Relationship Id="rId4" Type="http://schemas.openxmlformats.org/officeDocument/2006/relationships/image" Target="../media/image16.png" /></ns0:Relationships>
</file>

<file path=ppt/c14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35.png" /><ns0:Relationship Id="rId2" Type="http://schemas.openxmlformats.org/officeDocument/2006/relationships/image" Target="../media/image34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38.png" /><ns0:Relationship Id="rId5" Type="http://schemas.openxmlformats.org/officeDocument/2006/relationships/image" Target="../media/image37.png" /><ns0:Relationship Id="rId4" Type="http://schemas.openxmlformats.org/officeDocument/2006/relationships/image" Target="../media/image36.png" /></ns0:Relationships>
</file>

<file path=ppt/c14/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image201.png" /><ns0:Relationship Id="rId2" Type="http://schemas.openxmlformats.org/officeDocument/2006/relationships/notesSlide" Target="../notesSlides/notesSlide3.xml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70.png" /><ns0:Relationship Id="rId5" Type="http://schemas.openxmlformats.org/officeDocument/2006/relationships/image" Target="../media/image1660.png" /><ns0:Relationship Id="rId4" Type="http://schemas.openxmlformats.org/officeDocument/2006/relationships/image" Target="../media/image202.png" /></ns0:Relationships>
</file>

<file path=ppt/c14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/>
          <p:nvPr/>
        </p:nvGrpSpPr>
        <p:grpSpPr>
          <a:xfrm>
            <a:off x="1524000" y="1"/>
            <a:ext cx="9154632" cy="6907803"/>
            <a:chOff x="0" y="0"/>
            <a:chExt cx="9154632" cy="6907803"/>
          </a:xfrm>
        </p:grpSpPr>
        <p:grpSp>
          <p:nvGrpSpPr>
            <p:cNvPr id="3" name="Group 25"/>
            <p:cNvGrpSpPr/>
            <p:nvPr/>
          </p:nvGrpSpPr>
          <p:grpSpPr>
            <a:xfrm>
              <a:off x="395536" y="0"/>
              <a:ext cx="8640960" cy="6858000"/>
              <a:chOff x="395536" y="0"/>
              <a:chExt cx="8640960" cy="6858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9553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82758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12372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5577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98782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41987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5192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28396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1601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4806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58011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01216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44420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87625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730830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74035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17240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860444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03649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/>
            <p:cNvCxnSpPr/>
            <p:nvPr/>
          </p:nvCxnSpPr>
          <p:spPr>
            <a:xfrm rot="5400000">
              <a:off x="4572000" y="-4383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572000" y="-3951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72000" y="-3519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572000" y="-3087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4572000" y="-2655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4572000" y="-222312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4572000" y="-179107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572000" y="-135902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4572000" y="-92697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572000" y="-49492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72000" y="-6288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572000" y="369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572000" y="801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4572000" y="1233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4572000" y="1665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4572000" y="2097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2123728" y="0"/>
              <a:ext cx="0" cy="6858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0" y="5378131"/>
              <a:ext cx="914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7546" y="5365078"/>
              <a:ext cx="9057086" cy="3693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GB" dirty="0"/>
                <a:t> -2              -1                              1               2              3              4               5              6              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04201" y="13608"/>
              <a:ext cx="504056" cy="6894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8</a:t>
              </a:r>
            </a:p>
            <a:p>
              <a:endParaRPr lang="en-GB" dirty="0"/>
            </a:p>
            <a:p>
              <a:endParaRPr lang="en-GB" dirty="0"/>
            </a:p>
            <a:p>
              <a:pPr algn="r"/>
              <a:r>
                <a:rPr lang="en-GB" dirty="0"/>
                <a:t>20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16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12</a:t>
              </a:r>
            </a:p>
            <a:p>
              <a:pPr algn="r"/>
              <a:endParaRPr lang="en-GB" dirty="0"/>
            </a:p>
            <a:p>
              <a:pPr algn="r"/>
              <a:endParaRPr lang="en-GB" sz="2200" dirty="0"/>
            </a:p>
            <a:p>
              <a:pPr algn="r"/>
              <a:r>
                <a:rPr lang="en-GB" dirty="0"/>
                <a:t>8</a:t>
              </a:r>
            </a:p>
            <a:p>
              <a:pPr algn="r"/>
              <a:endParaRPr lang="en-GB" sz="2800" dirty="0"/>
            </a:p>
            <a:p>
              <a:pPr algn="r"/>
              <a:endParaRPr lang="en-GB" sz="1100" dirty="0"/>
            </a:p>
            <a:p>
              <a:pPr algn="r"/>
              <a:r>
                <a:rPr lang="en-GB" dirty="0"/>
                <a:t>4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-4</a:t>
              </a:r>
            </a:p>
            <a:p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1259"/>
                  </p:ext>
                </p:extLst>
              </p:nvPr>
            </p:nvGraphicFramePr>
            <p:xfrm>
              <a:off x="1612901" y="129332"/>
              <a:ext cx="453601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4429986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6561259"/>
                  </p:ext>
                </p:extLst>
              </p:nvPr>
            </p:nvGraphicFramePr>
            <p:xfrm>
              <a:off x="1612901" y="129332"/>
              <a:ext cx="4536019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44299862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8197" r="-47022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108197" r="-47022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9" name="Rectangle 48"/>
          <p:cNvSpPr/>
          <p:nvPr/>
        </p:nvSpPr>
        <p:spPr>
          <a:xfrm>
            <a:off x="2412004" y="495536"/>
            <a:ext cx="626471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2" name="Oval 51"/>
          <p:cNvSpPr/>
          <p:nvPr/>
        </p:nvSpPr>
        <p:spPr>
          <a:xfrm>
            <a:off x="1829561" y="522392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/>
          <p:cNvSpPr/>
          <p:nvPr/>
        </p:nvSpPr>
        <p:spPr>
          <a:xfrm>
            <a:off x="3035551" y="495536"/>
            <a:ext cx="536324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6" name="Oval 55"/>
          <p:cNvSpPr/>
          <p:nvPr/>
        </p:nvSpPr>
        <p:spPr>
          <a:xfrm>
            <a:off x="2685959" y="515338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3569597" y="495536"/>
            <a:ext cx="478529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0" name="Oval 59"/>
          <p:cNvSpPr/>
          <p:nvPr/>
        </p:nvSpPr>
        <p:spPr>
          <a:xfrm>
            <a:off x="3550569" y="505094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4043772" y="495537"/>
            <a:ext cx="46805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Oval 61"/>
          <p:cNvSpPr/>
          <p:nvPr/>
        </p:nvSpPr>
        <p:spPr>
          <a:xfrm>
            <a:off x="4407919" y="4874076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511825" y="495536"/>
            <a:ext cx="432046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4" name="Oval 63"/>
          <p:cNvSpPr/>
          <p:nvPr/>
        </p:nvSpPr>
        <p:spPr>
          <a:xfrm>
            <a:off x="5293280" y="444202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4943871" y="495536"/>
            <a:ext cx="609204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6" name="Oval 65"/>
          <p:cNvSpPr/>
          <p:nvPr/>
        </p:nvSpPr>
        <p:spPr>
          <a:xfrm>
            <a:off x="6149602" y="358467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7016634" y="1842370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: Shape 3"/>
          <p:cNvSpPr/>
          <p:nvPr/>
        </p:nvSpPr>
        <p:spPr>
          <a:xfrm>
            <a:off x="1498600" y="0"/>
            <a:ext cx="6273800" cy="5334000"/>
          </a:xfrm>
          <a:custGeom>
            <a:avLst/>
            <a:gdLst>
              <a:gd name="connsiteX0" fmla="*/ 0 w 6273800"/>
              <a:gd name="connsiteY0" fmla="*/ 5334000 h 5334000"/>
              <a:gd name="connsiteX1" fmla="*/ 1270000 w 6273800"/>
              <a:gd name="connsiteY1" fmla="*/ 5257800 h 5334000"/>
              <a:gd name="connsiteX2" fmla="*/ 2159000 w 6273800"/>
              <a:gd name="connsiteY2" fmla="*/ 5143500 h 5334000"/>
              <a:gd name="connsiteX3" fmla="*/ 3009900 w 6273800"/>
              <a:gd name="connsiteY3" fmla="*/ 4953000 h 5334000"/>
              <a:gd name="connsiteX4" fmla="*/ 3873500 w 6273800"/>
              <a:gd name="connsiteY4" fmla="*/ 4521200 h 5334000"/>
              <a:gd name="connsiteX5" fmla="*/ 4737100 w 6273800"/>
              <a:gd name="connsiteY5" fmla="*/ 3657600 h 5334000"/>
              <a:gd name="connsiteX6" fmla="*/ 5600700 w 6273800"/>
              <a:gd name="connsiteY6" fmla="*/ 1917700 h 5334000"/>
              <a:gd name="connsiteX7" fmla="*/ 6273800 w 6273800"/>
              <a:gd name="connsiteY7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73800" h="5334000">
                <a:moveTo>
                  <a:pt x="0" y="5334000"/>
                </a:moveTo>
                <a:cubicBezTo>
                  <a:pt x="455083" y="5311775"/>
                  <a:pt x="910167" y="5289550"/>
                  <a:pt x="1270000" y="5257800"/>
                </a:cubicBezTo>
                <a:cubicBezTo>
                  <a:pt x="1629833" y="5226050"/>
                  <a:pt x="1869017" y="5194300"/>
                  <a:pt x="2159000" y="5143500"/>
                </a:cubicBezTo>
                <a:cubicBezTo>
                  <a:pt x="2448983" y="5092700"/>
                  <a:pt x="2724150" y="5056717"/>
                  <a:pt x="3009900" y="4953000"/>
                </a:cubicBezTo>
                <a:cubicBezTo>
                  <a:pt x="3295650" y="4849283"/>
                  <a:pt x="3585633" y="4737100"/>
                  <a:pt x="3873500" y="4521200"/>
                </a:cubicBezTo>
                <a:cubicBezTo>
                  <a:pt x="4161367" y="4305300"/>
                  <a:pt x="4449233" y="4091517"/>
                  <a:pt x="4737100" y="3657600"/>
                </a:cubicBezTo>
                <a:cubicBezTo>
                  <a:pt x="5024967" y="3223683"/>
                  <a:pt x="5344583" y="2527300"/>
                  <a:pt x="5600700" y="1917700"/>
                </a:cubicBezTo>
                <a:cubicBezTo>
                  <a:pt x="5856817" y="1308100"/>
                  <a:pt x="6065308" y="654050"/>
                  <a:pt x="62738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5562702" y="495536"/>
            <a:ext cx="571398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669273" y="3171512"/>
                <a:ext cx="3873500" cy="3603487"/>
              </a:xfrm>
              <a:prstGeom prst="rect">
                <a:avLst/>
              </a:prstGeom>
              <a:solidFill>
                <a:schemeClr val="bg1">
                  <a:alpha val="83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Why are exponential functions important?</a:t>
                </a:r>
              </a:p>
              <a:p>
                <a:r>
                  <a:rPr lang="en-GB" sz="1400" dirty="0"/>
                  <a:t>Each of the common graphs have a </a:t>
                </a:r>
                <a:r>
                  <a:rPr lang="en-GB" sz="1400" b="1" dirty="0"/>
                  <a:t>key property </a:t>
                </a:r>
                <a:r>
                  <a:rPr lang="en-GB" sz="1400" dirty="0"/>
                  <a:t>that makes them </a:t>
                </a:r>
                <a:r>
                  <a:rPr lang="en-GB" sz="1400" b="1" dirty="0"/>
                  <a:t>useful for modelling</a:t>
                </a:r>
                <a:r>
                  <a:rPr lang="en-GB" sz="1400" dirty="0"/>
                  <a:t>.</a:t>
                </a:r>
              </a:p>
              <a:p>
                <a:endParaRPr lang="en-GB" sz="900" dirty="0"/>
              </a:p>
              <a:p>
                <a:r>
                  <a:rPr lang="en-GB" sz="1400" dirty="0"/>
                  <a:t>For reciprocal graphs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400" dirty="0"/>
                  <a:t>, as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doubles,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halves. This means we’d use it to represent variables which are inversely proportional.</a:t>
                </a:r>
              </a:p>
              <a:p>
                <a:endParaRPr lang="en-GB" sz="900" dirty="0"/>
              </a:p>
              <a:p>
                <a:r>
                  <a:rPr lang="en-GB" sz="1400" dirty="0"/>
                  <a:t>Linear graphs are used when we’re </a:t>
                </a:r>
                <a:r>
                  <a:rPr lang="en-GB" sz="1400" b="1" dirty="0"/>
                  <a:t>adding the same amount </a:t>
                </a:r>
                <a:r>
                  <a:rPr lang="en-GB" sz="1400" dirty="0"/>
                  <a:t>each time.</a:t>
                </a:r>
              </a:p>
              <a:p>
                <a:r>
                  <a:rPr lang="en-GB" sz="1400" dirty="0"/>
                  <a:t>In contrast, exponential graphs are used when we’re </a:t>
                </a:r>
                <a:r>
                  <a:rPr lang="en-GB" sz="1400" b="1" dirty="0"/>
                  <a:t>multiplying by the same amount</a:t>
                </a:r>
                <a:r>
                  <a:rPr lang="en-GB" sz="1400" dirty="0"/>
                  <a:t> each time. For example, we might 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1000(1.05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1400" dirty="0"/>
                  <a:t> to model our savings with interest, where each year we have 1.05 times as much, i.e. with 5% added interest.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273" y="3171512"/>
                <a:ext cx="3873500" cy="3603487"/>
              </a:xfrm>
              <a:prstGeom prst="rect">
                <a:avLst/>
              </a:prstGeom>
              <a:blipFill>
                <a:blip r:embed="rId5"/>
                <a:stretch>
                  <a:fillRect l="-1260" t="-846" r="-1575" b="-10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779243" y="1149711"/>
                <a:ext cx="3757586" cy="20621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Note</a:t>
                </a:r>
                <a:r>
                  <a:rPr lang="en-GB" sz="1600" dirty="0"/>
                  <a:t>: Ensure that you can distinguish between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GB" sz="1600" dirty="0"/>
                  <a:t> (e.g. polynomial) term and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exponential term. In the former the variable is in the </a:t>
                </a:r>
                <a:r>
                  <a:rPr lang="en-GB" sz="1600" b="1" dirty="0"/>
                  <a:t>base</a:t>
                </a:r>
                <a:r>
                  <a:rPr lang="en-GB" sz="1600" dirty="0"/>
                  <a:t>, and in the letter the variable is in the </a:t>
                </a:r>
                <a:r>
                  <a:rPr lang="en-GB" sz="1600" b="1" dirty="0"/>
                  <a:t>power</a:t>
                </a:r>
                <a:r>
                  <a:rPr lang="en-GB" sz="1600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behaves very differently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, both in its rate of growth (i.e. exponential terms grow much faster!) and how it differentiates.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243" y="1149711"/>
                <a:ext cx="3757586" cy="2062103"/>
              </a:xfrm>
              <a:prstGeom prst="rect">
                <a:avLst/>
              </a:prstGeom>
              <a:blipFill>
                <a:blip r:embed="rId6"/>
                <a:stretch>
                  <a:fillRect l="-645" t="-292" r="-645" b="-23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63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49" grpId="0" animBg="1"/>
      <p:bldP spid="52" grpId="0" animBg="1"/>
      <p:bldP spid="53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4" grpId="0" animBg="1"/>
      <p:bldP spid="70" grpId="0" animBg="1"/>
      <p:bldP spid="26" grpId="0" animBg="1"/>
      <p:bldP spid="27" grpId="0" animBg="1"/>
    </p:bldLst>
  </p:timing>
</p:sld>
</file>

<file path=ppt/c14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Contrasting exponential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70336" y="845891"/>
                <a:ext cx="851986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same axes 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1.5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336" y="845891"/>
                <a:ext cx="8519864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57636" y="3331716"/>
                <a:ext cx="8550876" cy="53899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On the same axes 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636" y="3331716"/>
                <a:ext cx="8550876" cy="5389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5375920" y="1628800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486820" y="3102869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5660" y="2941837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660" y="2941837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151450" y="1321014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450" y="1321014"/>
                <a:ext cx="448940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>
            <a:off x="3483960" y="2044701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3495676" y="2324101"/>
            <a:ext cx="3724275" cy="638175"/>
          </a:xfrm>
          <a:custGeom>
            <a:avLst/>
            <a:gdLst>
              <a:gd name="connsiteX0" fmla="*/ 0 w 3724275"/>
              <a:gd name="connsiteY0" fmla="*/ 638175 h 638175"/>
              <a:gd name="connsiteX1" fmla="*/ 1885950 w 3724275"/>
              <a:gd name="connsiteY1" fmla="*/ 466725 h 638175"/>
              <a:gd name="connsiteX2" fmla="*/ 3724275 w 3724275"/>
              <a:gd name="connsiteY2" fmla="*/ 0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4275" h="638175">
                <a:moveTo>
                  <a:pt x="0" y="638175"/>
                </a:moveTo>
                <a:cubicBezTo>
                  <a:pt x="632619" y="605631"/>
                  <a:pt x="1265238" y="573087"/>
                  <a:pt x="1885950" y="466725"/>
                </a:cubicBezTo>
                <a:cubicBezTo>
                  <a:pt x="2506663" y="360362"/>
                  <a:pt x="3115469" y="180181"/>
                  <a:pt x="3724275" y="0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/>
          <p:cNvSpPr/>
          <p:nvPr/>
        </p:nvSpPr>
        <p:spPr>
          <a:xfrm>
            <a:off x="3486151" y="1600200"/>
            <a:ext cx="3667125" cy="1485900"/>
          </a:xfrm>
          <a:custGeom>
            <a:avLst/>
            <a:gdLst>
              <a:gd name="connsiteX0" fmla="*/ 0 w 3667125"/>
              <a:gd name="connsiteY0" fmla="*/ 1485900 h 1485900"/>
              <a:gd name="connsiteX1" fmla="*/ 1905000 w 3667125"/>
              <a:gd name="connsiteY1" fmla="*/ 1200150 h 1485900"/>
              <a:gd name="connsiteX2" fmla="*/ 3667125 w 3667125"/>
              <a:gd name="connsiteY2" fmla="*/ 0 h 148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125" h="1485900">
                <a:moveTo>
                  <a:pt x="0" y="1485900"/>
                </a:moveTo>
                <a:cubicBezTo>
                  <a:pt x="646906" y="1466850"/>
                  <a:pt x="1293813" y="1447800"/>
                  <a:pt x="1905000" y="1200150"/>
                </a:cubicBezTo>
                <a:cubicBezTo>
                  <a:pt x="2516187" y="952500"/>
                  <a:pt x="3091656" y="476250"/>
                  <a:pt x="3667125" y="0"/>
                </a:cubicBezTo>
              </a:path>
            </a:pathLst>
          </a:cu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984016" y="1427277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4016" y="1427277"/>
                <a:ext cx="115985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74466" y="1856983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466" y="1856983"/>
                <a:ext cx="1159859" cy="307777"/>
              </a:xfrm>
              <a:prstGeom prst="rect">
                <a:avLst/>
              </a:prstGeom>
              <a:blipFill>
                <a:blip r:embed="rId7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079266" y="2190494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266" y="2190494"/>
                <a:ext cx="1159859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763938" y="1447815"/>
                <a:ext cx="1208113" cy="4616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-intercept is always 1.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938" y="1447815"/>
                <a:ext cx="1208113" cy="461665"/>
              </a:xfrm>
              <a:prstGeom prst="rect">
                <a:avLst/>
              </a:prstGeom>
              <a:blipFill>
                <a:blip r:embed="rId9"/>
                <a:stretch>
                  <a:fillRect b="-7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990726" y="1769161"/>
                <a:ext cx="1541489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1200" dirty="0"/>
                  <a:t>, the larger the base, the smaller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726" y="1769161"/>
                <a:ext cx="154148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472265" y="1844571"/>
                <a:ext cx="1541489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200" dirty="0"/>
                  <a:t>, the larger the base, the larger 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200" dirty="0"/>
                  <a:t> value: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1.5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200" i="1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265" y="1844571"/>
                <a:ext cx="154148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flipH="1">
            <a:off x="6815756" y="2544703"/>
            <a:ext cx="1637458" cy="554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276726" y="1905000"/>
            <a:ext cx="904874" cy="6858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57499" y="2567791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499" y="2567791"/>
                <a:ext cx="44894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/>
          <p:nvPr/>
        </p:nvCxnSpPr>
        <p:spPr>
          <a:xfrm>
            <a:off x="2639148" y="2614021"/>
            <a:ext cx="1189902" cy="2339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3904296" y="4540000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015196" y="6014069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874036" y="5853037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036" y="5853037"/>
                <a:ext cx="44894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679826" y="4232214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826" y="4232214"/>
                <a:ext cx="44894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: Shape 36"/>
          <p:cNvSpPr/>
          <p:nvPr/>
        </p:nvSpPr>
        <p:spPr>
          <a:xfrm>
            <a:off x="2045826" y="4951935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532142" y="4647019"/>
                <a:ext cx="115985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142" y="4647019"/>
                <a:ext cx="115985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reeform: Shape 38"/>
          <p:cNvSpPr/>
          <p:nvPr/>
        </p:nvSpPr>
        <p:spPr>
          <a:xfrm flipH="1">
            <a:off x="2027549" y="4962123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954167" y="4534134"/>
                <a:ext cx="1159859" cy="600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1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GB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400" b="1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167" y="4534134"/>
                <a:ext cx="1159859" cy="60054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636490" y="4007437"/>
                <a:ext cx="3872023" cy="257634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Three important notes: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said to be “</a:t>
                </a:r>
                <a:r>
                  <a:rPr lang="en-GB" sz="1200" b="1" dirty="0"/>
                  <a:t>exponential growing</a:t>
                </a:r>
                <a:r>
                  <a:rPr lang="en-GB" sz="1200" dirty="0"/>
                  <a:t>” whereas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said to be “</a:t>
                </a:r>
                <a:r>
                  <a:rPr lang="en-GB" sz="1200" b="1" dirty="0"/>
                  <a:t>exponentially decaying</a:t>
                </a:r>
                <a:r>
                  <a:rPr lang="en-GB" sz="1200" dirty="0"/>
                  <a:t>”, because it’s getting smaller (halving) each time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 increases by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is a reflection of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in the line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/>
                  <a:t>. Proof:</a:t>
                </a:r>
                <a:br>
                  <a:rPr lang="en-GB" sz="1200" dirty="0"/>
                </a:br>
                <a:r>
                  <a:rPr lang="en-GB" sz="1200" dirty="0"/>
                  <a:t>If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, </a:t>
                </a:r>
                <a14:m>
                  <m:oMath xmlns:m="http://schemas.openxmlformats.org/officeDocument/2006/math">
                    <m:r>
                      <a:rPr lang="en-GB" sz="1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GB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GB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 would usually be written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200" dirty="0"/>
                  <a:t>.</a:t>
                </a:r>
                <a:br>
                  <a:rPr lang="en-GB" sz="1200" dirty="0"/>
                </a:br>
                <a:r>
                  <a:rPr lang="en-GB" sz="1200" b="1" u="sng" dirty="0"/>
                  <a:t>You should therefore in general be able to recognise and sketch the graph </a:t>
                </a:r>
                <a14:m>
                  <m:oMath xmlns:m="http://schemas.openxmlformats.org/officeDocument/2006/math">
                    <m:r>
                      <a:rPr lang="en-GB" sz="1200" b="1" i="1" u="sng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sz="1200" b="1" i="1" u="sng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200" b="1" i="1" u="sng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200" b="1" i="1" u="sng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</m:oMath>
                </a14:m>
                <a:r>
                  <a:rPr lang="en-GB" sz="1200" b="1" u="sng" dirty="0"/>
                  <a:t>.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490" y="4007437"/>
                <a:ext cx="3872023" cy="2576346"/>
              </a:xfrm>
              <a:prstGeom prst="rect">
                <a:avLst/>
              </a:prstGeom>
              <a:blipFill>
                <a:blip r:embed="rId17"/>
                <a:stretch>
                  <a:fillRect b="-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550296" y="5451938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296" y="5451938"/>
                <a:ext cx="448940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1954166" y="1226499"/>
            <a:ext cx="8536034" cy="1942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54166" y="3879115"/>
            <a:ext cx="8554346" cy="28567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130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c14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Graph Transformations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28" y="1175489"/>
                <a:ext cx="218144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+3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175489"/>
                <a:ext cx="2181448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5253112" y="1958398"/>
            <a:ext cx="0" cy="1512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2487712" y="3457867"/>
            <a:ext cx="39604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321152" y="3271435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152" y="3271435"/>
                <a:ext cx="448940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8642" y="1650612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642" y="1650612"/>
                <a:ext cx="448940" cy="307777"/>
              </a:xfrm>
              <a:prstGeom prst="rect">
                <a:avLst/>
              </a:prstGeom>
              <a:blipFill>
                <a:blip r:embed="rId4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2611852" y="2361599"/>
            <a:ext cx="3716941" cy="1000007"/>
          </a:xfrm>
          <a:custGeom>
            <a:avLst/>
            <a:gdLst>
              <a:gd name="connsiteX0" fmla="*/ 46641 w 3716941"/>
              <a:gd name="connsiteY0" fmla="*/ 990600 h 1000007"/>
              <a:gd name="connsiteX1" fmla="*/ 97441 w 3716941"/>
              <a:gd name="connsiteY1" fmla="*/ 990600 h 1000007"/>
              <a:gd name="connsiteX2" fmla="*/ 1900841 w 3716941"/>
              <a:gd name="connsiteY2" fmla="*/ 736600 h 1000007"/>
              <a:gd name="connsiteX3" fmla="*/ 3716941 w 3716941"/>
              <a:gd name="connsiteY3" fmla="*/ 0 h 1000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6941" h="1000007">
                <a:moveTo>
                  <a:pt x="46641" y="990600"/>
                </a:moveTo>
                <a:cubicBezTo>
                  <a:pt x="-82476" y="1011766"/>
                  <a:pt x="97441" y="990600"/>
                  <a:pt x="97441" y="990600"/>
                </a:cubicBezTo>
                <a:cubicBezTo>
                  <a:pt x="406474" y="948267"/>
                  <a:pt x="1297591" y="901700"/>
                  <a:pt x="1900841" y="736600"/>
                </a:cubicBezTo>
                <a:cubicBezTo>
                  <a:pt x="2504091" y="571500"/>
                  <a:pt x="3110516" y="285750"/>
                  <a:pt x="371694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242058" y="2186580"/>
                <a:ext cx="115985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058" y="2186580"/>
                <a:ext cx="1159859" cy="312586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72732" y="2640873"/>
                <a:ext cx="4489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2732" y="2640873"/>
                <a:ext cx="44894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388076" y="1709921"/>
                <a:ext cx="2839616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‘change’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600" dirty="0"/>
                  <a:t> is ‘inside the function’ (i.e. input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is replaced with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1600" dirty="0"/>
                  <a:t>).</a:t>
                </a:r>
              </a:p>
              <a:p>
                <a:r>
                  <a:rPr lang="en-GB" sz="1600" dirty="0"/>
                  <a:t>So a translation to the left by 3.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Ensure you work out the new </a:t>
                </a:r>
                <a:br>
                  <a:rPr lang="en-GB" sz="1600" dirty="0"/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 dirty="0"/>
                  <a:t>-intercept.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8076" y="1709921"/>
                <a:ext cx="2839616" cy="1815882"/>
              </a:xfrm>
              <a:prstGeom prst="rect">
                <a:avLst/>
              </a:prstGeom>
              <a:blipFill>
                <a:blip r:embed="rId7"/>
                <a:stretch>
                  <a:fillRect l="-1288" t="-1007" r="-644" b="-33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1847528" y="1559348"/>
            <a:ext cx="8380164" cy="241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734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c14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14A (Pages 313-314)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F1D51F1-4DBE-E9A8-4B3A-CC78BD89A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82" y="584775"/>
            <a:ext cx="3403600" cy="2527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458EDE-DA52-571F-D79C-F08A01BDD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3" y="597364"/>
            <a:ext cx="4320471" cy="993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57CDEC-84B8-E1E5-992D-2177A58D5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3058255"/>
            <a:ext cx="5904656" cy="869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DC092B-E089-E036-1EF7-BCCF644F3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544" y="3927987"/>
            <a:ext cx="2832100" cy="2755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CDC358-4F5E-9B45-96AE-428512678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882" y="3925815"/>
            <a:ext cx="3276476" cy="27284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4EADE4-D53B-360E-60F8-F01E94EB20DA}"/>
              </a:ext>
            </a:extLst>
          </p:cNvPr>
          <p:cNvSpPr/>
          <p:nvPr/>
        </p:nvSpPr>
        <p:spPr>
          <a:xfrm>
            <a:off x="6456041" y="692700"/>
            <a:ext cx="3666222" cy="2304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8269D-81FF-72C7-45E2-BC62E5C6437D}"/>
              </a:ext>
            </a:extLst>
          </p:cNvPr>
          <p:cNvSpPr/>
          <p:nvPr/>
        </p:nvSpPr>
        <p:spPr>
          <a:xfrm>
            <a:off x="1967800" y="3956386"/>
            <a:ext cx="3552136" cy="272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C7E941-BDBB-A8F3-DB47-77108CEE541B}"/>
              </a:ext>
            </a:extLst>
          </p:cNvPr>
          <p:cNvSpPr/>
          <p:nvPr/>
        </p:nvSpPr>
        <p:spPr>
          <a:xfrm>
            <a:off x="6456040" y="3973656"/>
            <a:ext cx="3666222" cy="27275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8527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c14/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5"/>
          <p:cNvGrpSpPr/>
          <p:nvPr/>
        </p:nvGrpSpPr>
        <p:grpSpPr>
          <a:xfrm>
            <a:off x="1524000" y="1"/>
            <a:ext cx="9156700" cy="6907803"/>
            <a:chOff x="0" y="0"/>
            <a:chExt cx="9156700" cy="6907803"/>
          </a:xfrm>
        </p:grpSpPr>
        <p:grpSp>
          <p:nvGrpSpPr>
            <p:cNvPr id="3" name="Group 25"/>
            <p:cNvGrpSpPr/>
            <p:nvPr/>
          </p:nvGrpSpPr>
          <p:grpSpPr>
            <a:xfrm>
              <a:off x="395536" y="0"/>
              <a:ext cx="8640960" cy="6858000"/>
              <a:chOff x="395536" y="0"/>
              <a:chExt cx="8640960" cy="6858000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39553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82758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125963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169168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212372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255577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298782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341987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85192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428396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471601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514806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558011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01216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44420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687625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7308304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7740352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172400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8604448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>
                <a:off x="9036496" y="0"/>
                <a:ext cx="0" cy="685800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/>
            <p:cNvCxnSpPr/>
            <p:nvPr/>
          </p:nvCxnSpPr>
          <p:spPr>
            <a:xfrm rot="5400000">
              <a:off x="4572000" y="-4383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572000" y="-3951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72000" y="-3519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4572000" y="-3087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4572000" y="-2655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4572000" y="-222312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4572000" y="-179107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4572000" y="-135902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4572000" y="-92697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4572000" y="-49492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4572000" y="-6288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4572000" y="369168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572000" y="801216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4572000" y="1233264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4572000" y="1665312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4572000" y="2097360"/>
              <a:ext cx="0" cy="9144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flipV="1">
              <a:off x="2123728" y="0"/>
              <a:ext cx="0" cy="6858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>
              <a:off x="12700" y="4514531"/>
              <a:ext cx="9144000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97546" y="4488778"/>
              <a:ext cx="9057086" cy="3693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GB" dirty="0"/>
                <a:t> -2              -1                              1               2              3              4               5              6              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04201" y="13608"/>
              <a:ext cx="504056" cy="68941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8</a:t>
              </a:r>
            </a:p>
            <a:p>
              <a:endParaRPr lang="en-GB" dirty="0"/>
            </a:p>
            <a:p>
              <a:endParaRPr lang="en-GB" dirty="0"/>
            </a:p>
            <a:p>
              <a:pPr algn="r"/>
              <a:r>
                <a:rPr lang="en-GB" dirty="0"/>
                <a:t>4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3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2</a:t>
              </a:r>
            </a:p>
            <a:p>
              <a:pPr algn="r"/>
              <a:endParaRPr lang="en-GB" dirty="0"/>
            </a:p>
            <a:p>
              <a:pPr algn="r"/>
              <a:endParaRPr lang="en-GB" sz="2200" dirty="0"/>
            </a:p>
            <a:p>
              <a:pPr algn="r"/>
              <a:r>
                <a:rPr lang="en-GB" dirty="0"/>
                <a:t>1</a:t>
              </a:r>
            </a:p>
            <a:p>
              <a:pPr algn="r"/>
              <a:endParaRPr lang="en-GB" sz="2800" dirty="0"/>
            </a:p>
            <a:p>
              <a:pPr algn="r"/>
              <a:endParaRPr lang="en-GB" sz="1100" dirty="0"/>
            </a:p>
            <a:p>
              <a:pPr algn="r"/>
              <a:r>
                <a:rPr lang="en-GB" dirty="0"/>
                <a:t> </a:t>
              </a:r>
            </a:p>
            <a:p>
              <a:pPr algn="r"/>
              <a:endParaRPr lang="en-GB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-1</a:t>
              </a:r>
            </a:p>
            <a:p>
              <a:pPr algn="r"/>
              <a:endParaRPr lang="en-GB" sz="2400" dirty="0"/>
            </a:p>
            <a:p>
              <a:pPr algn="r"/>
              <a:endParaRPr lang="en-GB" dirty="0"/>
            </a:p>
            <a:p>
              <a:pPr algn="r"/>
              <a:r>
                <a:rPr lang="en-GB" dirty="0"/>
                <a:t>-2</a:t>
              </a:r>
            </a:p>
            <a:p>
              <a:endParaRPr lang="en-GB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055517"/>
                  </p:ext>
                </p:extLst>
              </p:nvPr>
            </p:nvGraphicFramePr>
            <p:xfrm>
              <a:off x="1612900" y="129332"/>
              <a:ext cx="3942668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79732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74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614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9335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8197" r="-396183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800" dirty="0"/>
                            <a:t>0.25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763" t="-108197" r="-396183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3" name="Rectangle 52"/>
          <p:cNvSpPr/>
          <p:nvPr/>
        </p:nvSpPr>
        <p:spPr>
          <a:xfrm>
            <a:off x="2418863" y="509703"/>
            <a:ext cx="625593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56" name="Oval 55"/>
          <p:cNvSpPr/>
          <p:nvPr/>
        </p:nvSpPr>
        <p:spPr>
          <a:xfrm>
            <a:off x="3790859" y="613128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/>
          <p:cNvSpPr/>
          <p:nvPr/>
        </p:nvSpPr>
        <p:spPr>
          <a:xfrm>
            <a:off x="3031039" y="509703"/>
            <a:ext cx="544681" cy="3600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0" name="Oval 59"/>
          <p:cNvSpPr/>
          <p:nvPr/>
        </p:nvSpPr>
        <p:spPr>
          <a:xfrm>
            <a:off x="3995069" y="5304942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/>
          <p:cNvSpPr/>
          <p:nvPr/>
        </p:nvSpPr>
        <p:spPr>
          <a:xfrm>
            <a:off x="3583204" y="509704"/>
            <a:ext cx="458416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2" name="Oval 61"/>
          <p:cNvSpPr/>
          <p:nvPr/>
        </p:nvSpPr>
        <p:spPr>
          <a:xfrm>
            <a:off x="4420619" y="4416876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/>
          <p:cNvSpPr/>
          <p:nvPr/>
        </p:nvSpPr>
        <p:spPr>
          <a:xfrm>
            <a:off x="4041619" y="509703"/>
            <a:ext cx="462720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4" name="Oval 63"/>
          <p:cNvSpPr/>
          <p:nvPr/>
        </p:nvSpPr>
        <p:spPr>
          <a:xfrm>
            <a:off x="5280580" y="355302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/>
          <p:cNvSpPr/>
          <p:nvPr/>
        </p:nvSpPr>
        <p:spPr>
          <a:xfrm>
            <a:off x="4504339" y="509703"/>
            <a:ext cx="464611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66" name="Oval 65"/>
          <p:cNvSpPr/>
          <p:nvPr/>
        </p:nvSpPr>
        <p:spPr>
          <a:xfrm>
            <a:off x="7021767" y="2691248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10471034" y="1842370"/>
            <a:ext cx="175293" cy="17500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4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120" y="1"/>
                <a:ext cx="3312368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angle 69"/>
          <p:cNvSpPr/>
          <p:nvPr/>
        </p:nvSpPr>
        <p:spPr>
          <a:xfrm>
            <a:off x="4968950" y="509703"/>
            <a:ext cx="548462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dirty="0"/>
              <a:t>?</a:t>
            </a:r>
          </a:p>
        </p:txBody>
      </p:sp>
      <p:sp>
        <p:nvSpPr>
          <p:cNvPr id="28" name="Freeform: Shape 27"/>
          <p:cNvSpPr/>
          <p:nvPr/>
        </p:nvSpPr>
        <p:spPr>
          <a:xfrm>
            <a:off x="3773714" y="1901371"/>
            <a:ext cx="6807200" cy="4963886"/>
          </a:xfrm>
          <a:custGeom>
            <a:avLst/>
            <a:gdLst>
              <a:gd name="connsiteX0" fmla="*/ 0 w 6807200"/>
              <a:gd name="connsiteY0" fmla="*/ 4963886 h 4963886"/>
              <a:gd name="connsiteX1" fmla="*/ 101600 w 6807200"/>
              <a:gd name="connsiteY1" fmla="*/ 4339772 h 4963886"/>
              <a:gd name="connsiteX2" fmla="*/ 319315 w 6807200"/>
              <a:gd name="connsiteY2" fmla="*/ 3483429 h 4963886"/>
              <a:gd name="connsiteX3" fmla="*/ 740229 w 6807200"/>
              <a:gd name="connsiteY3" fmla="*/ 2612572 h 4963886"/>
              <a:gd name="connsiteX4" fmla="*/ 1582057 w 6807200"/>
              <a:gd name="connsiteY4" fmla="*/ 1741715 h 4963886"/>
              <a:gd name="connsiteX5" fmla="*/ 3338286 w 6807200"/>
              <a:gd name="connsiteY5" fmla="*/ 870858 h 4963886"/>
              <a:gd name="connsiteX6" fmla="*/ 6807200 w 6807200"/>
              <a:gd name="connsiteY6" fmla="*/ 0 h 496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07200" h="4963886">
                <a:moveTo>
                  <a:pt x="0" y="4963886"/>
                </a:moveTo>
                <a:cubicBezTo>
                  <a:pt x="24190" y="4775200"/>
                  <a:pt x="48381" y="4586515"/>
                  <a:pt x="101600" y="4339772"/>
                </a:cubicBezTo>
                <a:cubicBezTo>
                  <a:pt x="154819" y="4093029"/>
                  <a:pt x="212877" y="3771296"/>
                  <a:pt x="319315" y="3483429"/>
                </a:cubicBezTo>
                <a:cubicBezTo>
                  <a:pt x="425753" y="3195562"/>
                  <a:pt x="529772" y="2902858"/>
                  <a:pt x="740229" y="2612572"/>
                </a:cubicBezTo>
                <a:cubicBezTo>
                  <a:pt x="950686" y="2322286"/>
                  <a:pt x="1149048" y="2032001"/>
                  <a:pt x="1582057" y="1741715"/>
                </a:cubicBezTo>
                <a:cubicBezTo>
                  <a:pt x="2015066" y="1451429"/>
                  <a:pt x="2467429" y="1161144"/>
                  <a:pt x="3338286" y="870858"/>
                </a:cubicBezTo>
                <a:cubicBezTo>
                  <a:pt x="4209143" y="580572"/>
                  <a:pt x="5508171" y="290286"/>
                  <a:pt x="68072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8" name="Group 57"/>
          <p:cNvGrpSpPr/>
          <p:nvPr/>
        </p:nvGrpSpPr>
        <p:grpSpPr>
          <a:xfrm>
            <a:off x="2609851" y="1517154"/>
            <a:ext cx="3503611" cy="1111746"/>
            <a:chOff x="1085850" y="1517154"/>
            <a:chExt cx="3503611" cy="1111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The log graph isn’t defined for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≤0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1877" t="-3636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Straight Arrow Connector 56"/>
            <p:cNvCxnSpPr>
              <a:stCxn id="29" idx="1"/>
            </p:cNvCxnSpPr>
            <p:nvPr/>
          </p:nvCxnSpPr>
          <p:spPr>
            <a:xfrm flipH="1">
              <a:off x="1085850" y="1840320"/>
              <a:ext cx="1252786" cy="78858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3933373" y="5304240"/>
            <a:ext cx="3854225" cy="1314275"/>
            <a:chOff x="735236" y="1517154"/>
            <a:chExt cx="3854225" cy="13142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We have a vertical asymptote </a:t>
                  </a:r>
                  <a14:m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8636" y="1517154"/>
                  <a:ext cx="2250825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609" t="-2727" b="-1181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Arrow Connector 72"/>
            <p:cNvCxnSpPr>
              <a:stCxn id="72" idx="1"/>
            </p:cNvCxnSpPr>
            <p:nvPr/>
          </p:nvCxnSpPr>
          <p:spPr>
            <a:xfrm flipH="1">
              <a:off x="735236" y="1840320"/>
              <a:ext cx="1603400" cy="9911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 73"/>
          <p:cNvGrpSpPr/>
          <p:nvPr/>
        </p:nvGrpSpPr>
        <p:grpSpPr>
          <a:xfrm>
            <a:off x="4746172" y="3484920"/>
            <a:ext cx="2786743" cy="869367"/>
            <a:chOff x="721118" y="1517154"/>
            <a:chExt cx="2786743" cy="869367"/>
          </a:xfrm>
        </p:grpSpPr>
        <p:sp>
          <p:nvSpPr>
            <p:cNvPr id="75" name="TextBox 74"/>
            <p:cNvSpPr txBox="1"/>
            <p:nvPr/>
          </p:nvSpPr>
          <p:spPr>
            <a:xfrm>
              <a:off x="2338636" y="1517154"/>
              <a:ext cx="1169225" cy="3693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Root is 1.</a:t>
              </a:r>
            </a:p>
          </p:txBody>
        </p:sp>
        <p:cxnSp>
          <p:nvCxnSpPr>
            <p:cNvPr id="76" name="Straight Arrow Connector 75"/>
            <p:cNvCxnSpPr>
              <a:stCxn id="75" idx="1"/>
            </p:cNvCxnSpPr>
            <p:nvPr/>
          </p:nvCxnSpPr>
          <p:spPr>
            <a:xfrm flipH="1">
              <a:off x="721118" y="1701820"/>
              <a:ext cx="1617518" cy="68470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8026400" y="2336800"/>
            <a:ext cx="2365828" cy="1780408"/>
            <a:chOff x="1457916" y="937075"/>
            <a:chExt cx="2365828" cy="1780408"/>
          </a:xfrm>
        </p:grpSpPr>
        <p:sp>
          <p:nvSpPr>
            <p:cNvPr id="80" name="TextBox 79"/>
            <p:cNvSpPr txBox="1"/>
            <p:nvPr/>
          </p:nvSpPr>
          <p:spPr>
            <a:xfrm>
              <a:off x="1457916" y="1517154"/>
              <a:ext cx="2365828" cy="120032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dirty="0"/>
                <a:t>The gradient gradually decreases but remains positive (log is an “increasing function”)</a:t>
              </a:r>
            </a:p>
          </p:txBody>
        </p:sp>
        <p:cxnSp>
          <p:nvCxnSpPr>
            <p:cNvPr id="81" name="Straight Arrow Connector 80"/>
            <p:cNvCxnSpPr/>
            <p:nvPr/>
          </p:nvCxnSpPr>
          <p:spPr>
            <a:xfrm flipV="1">
              <a:off x="2691630" y="937075"/>
              <a:ext cx="232229" cy="58057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51761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</p:childTnLst>
        </p:cTn>
      </p:par>
    </p:tnLst>
    <p:bldLst>
      <p:bldP spid="53" grpId="0" animBg="1"/>
      <p:bldP spid="56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  <p:bldP spid="28" grpId="0" animBg="1"/>
    </p:bldLst>
  </p:timing>
</p:sld>
</file>

<file path=ppt/c14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