
<file path=[Content_Types].xml><?xml version="1.0" encoding="utf-8"?>
<ns0:Types xmlns:ns0="http://schemas.openxmlformats.org/package/2006/content-types">
  <ns0:Default Extension="png" ContentType="image/png"/>
  <ns0:Default Extension="rels" ContentType="application/vnd.openxmlformats-package.relationships+xml"/>
  <ns0:Default Extension="xml" ContentType="application/xml"/>
  <ns0:Override PartName="/ppt/c10/ppt/slideMasters/slideMaster1.xml" ContentType="application/vnd.openxmlformats-officedocument.presentationml.slideMaster+xml"/>
  <ns0:Override PartName="/ppt/c10/ppt/slides/slide12.xml" ContentType="application/vnd.openxmlformats-officedocument.presentationml.slide+xml"/>
  <ns0:Override PartName="/ppt/c10/ppt/slides/slide13.xml" ContentType="application/vnd.openxmlformats-officedocument.presentationml.slide+xml"/>
  <ns0:Override PartName="/ppt/c10/ppt/slides/slide14.xml" ContentType="application/vnd.openxmlformats-officedocument.presentationml.slide+xml"/>
  <ns0:Override PartName="/ppt/c10/ppt/slides/slide15.xml" ContentType="application/vnd.openxmlformats-officedocument.presentationml.slide+xml"/>
  <ns0:Override PartName="/ppt/c10/ppt/slides/slide16.xml" ContentType="application/vnd.openxmlformats-officedocument.presentationml.slide+xml"/>
  <ns0:Override PartName="/ppt/c10/ppt/slides/slide17.xml" ContentType="application/vnd.openxmlformats-officedocument.presentationml.slide+xml"/>
  <ns0:Override PartName="/ppt/c10/ppt/slides/slide29.xml" ContentType="application/vnd.openxmlformats-officedocument.presentationml.slide+xml"/>
  <ns0:Override PartName="/ppt/c10/ppt/slides/slide30.xml" ContentType="application/vnd.openxmlformats-officedocument.presentationml.slide+xml"/>
  <ns0:Override PartName="/ppt/c10/ppt/slides/slide31.xml" ContentType="application/vnd.openxmlformats-officedocument.presentationml.slide+xml"/>
  <ns0:Override PartName="/ppt/c10/ppt/slides/slide32.xml" ContentType="application/vnd.openxmlformats-officedocument.presentationml.slide+xml"/>
  <ns0:Override PartName="/ppt/c10/ppt/slides/slide33.xml" ContentType="application/vnd.openxmlformats-officedocument.presentationml.slide+xml"/>
  <ns0:Override PartName="/ppt/c10/ppt/slides/slide34.xml" ContentType="application/vnd.openxmlformats-officedocument.presentationml.slide+xml"/>
  <ns0:Override PartName="/ppt/c10/ppt/notesMasters/notesMaster1.xml" ContentType="application/vnd.openxmlformats-officedocument.presentationml.notesMaster+xml"/>
  <ns0:Override PartName="/ppt/c10/ppt/theme/theme1.xml" ContentType="application/vnd.openxmlformats-officedocument.theme+xml"/>
  <ns0:Override PartName="/ppt/c10/ppt/slideLayouts/slideLayout1.xml" ContentType="application/vnd.openxmlformats-officedocument.presentationml.slideLayout+xml"/>
  <ns0:Override PartName="/ppt/c10/ppt/slideLayouts/slideLayout2.xml" ContentType="application/vnd.openxmlformats-officedocument.presentationml.slideLayout+xml"/>
  <ns0:Override PartName="/ppt/c10/ppt/theme/theme2.xml" ContentType="application/vnd.openxmlformats-officedocument.theme+xml"/>
  <ns0:Override PartName="/ppt/c10/ppt/ink/ink1.xml" ContentType="application/inkml+xml"/>
  <ns0:Override PartName="/ppt/c10/ppt/ink/ink2.xml" ContentType="application/inkml+xml"/>
  <ns0:Override PartName="/ppt/presentation.xml" ContentType="application/vnd.openxmlformats-officedocument.presentationml.presentation.main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/ns0:Relationships>
</file>

<file path=ppt/presentation.xml><?xml version="1.0" encoding="utf-8"?>
<p:presentation xmlns:p="http://schemas.openxmlformats.org/presentationml/2006/main" xmlns:r="http://schemas.openxmlformats.org/officeDocument/2006/relationships" saveSubsetFonts="1">
  <p:sldMasterIdLst>
    <p:sldMasterId id="2147484648" r:id="rId13"/>
  </p:sldMasterIdLst>
  <p:notesMasterIdLst>
    <p:notesMasterId r:id="rId14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</p:presentation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" Target="c10/ppt/slides/slide12.xml" /><ns0:Relationship Id="rId2" Type="http://schemas.openxmlformats.org/officeDocument/2006/relationships/slide" Target="c10/ppt/slides/slide13.xml" /><ns0:Relationship Id="rId3" Type="http://schemas.openxmlformats.org/officeDocument/2006/relationships/slide" Target="c10/ppt/slides/slide14.xml" /><ns0:Relationship Id="rId4" Type="http://schemas.openxmlformats.org/officeDocument/2006/relationships/slide" Target="c10/ppt/slides/slide15.xml" /><ns0:Relationship Id="rId5" Type="http://schemas.openxmlformats.org/officeDocument/2006/relationships/slide" Target="c10/ppt/slides/slide16.xml" /><ns0:Relationship Id="rId6" Type="http://schemas.openxmlformats.org/officeDocument/2006/relationships/slide" Target="c10/ppt/slides/slide17.xml" /><ns0:Relationship Id="rId7" Type="http://schemas.openxmlformats.org/officeDocument/2006/relationships/slide" Target="c10/ppt/slides/slide29.xml" /><ns0:Relationship Id="rId8" Type="http://schemas.openxmlformats.org/officeDocument/2006/relationships/slide" Target="c10/ppt/slides/slide30.xml" /><ns0:Relationship Id="rId9" Type="http://schemas.openxmlformats.org/officeDocument/2006/relationships/slide" Target="c10/ppt/slides/slide31.xml" /><ns0:Relationship Id="rId10" Type="http://schemas.openxmlformats.org/officeDocument/2006/relationships/slide" Target="c10/ppt/slides/slide32.xml" /><ns0:Relationship Id="rId11" Type="http://schemas.openxmlformats.org/officeDocument/2006/relationships/slide" Target="c10/ppt/slides/slide33.xml" /><ns0:Relationship Id="rId12" Type="http://schemas.openxmlformats.org/officeDocument/2006/relationships/slide" Target="c10/ppt/slides/slide34.xml" /><ns0:Relationship Id="rId13" Type="http://schemas.openxmlformats.org/officeDocument/2006/relationships/slideMaster" Target="c10/ppt/slideMasters/slideMaster1.xml" /><ns0:Relationship Id="rId14" Type="http://schemas.openxmlformats.org/officeDocument/2006/relationships/notesMaster" Target="c10/ppt/notesMasters/notesMaster1.xml" /></ns0:Relationships>
</file>

<file path=ppt/c10/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9T11:39:19.6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162 74 8493,'-14'0'1089,"4"0"-696,0 0-168,7 0 37,-4 0 46,1 0-116,-2 0 0,-2 0-165,0 0 1,5 0-166,-5 0 0,5 5 312,-4 0 0,4 5-163,-5-5 0,7 6 35,-2-1 60,-3-4-201,6 7 1,-5-4-1,6 4 13,-4-4 0,3 4 107,-3-3 0,4 3-109,1 2 106,0 0 0,0-1-14,0 1 1,5-5-1,1-2-13,2-1 0,-3 2 25,5-4-8,0 7-32,-2-11 1,5 6 12,-3-7 0,-2 0 0,2 0 20,1 0 253,2 0-90,2 0 0,0-2-155,-1-3 0,-4 2 1,-2-7 108,-1-1 0,3 3-68,-5-2 1,1 0 70,-1-5-74,-3 1 75,4 6 1,-6-5 0,2 3-33,3-3 1,-4-2 113,4 0 0,-3 1 176,-2-1-273,0 0 1,-5 0 0,-2 1 49,-1-1 1,5 5 64,-2 0-189,-3 7 0,5-8-157,-7 6 29,7 0 1,-10 0 158,3 0 1,2-5-148,-2 5 1,5 1 83,-5 4 0,5 0-119,-5 0 1,6 0-93,-6 0 1,5 0 134,-5 0 1,5 0 1,-5 0 46,7 6-617,-10 2 0,10 2 1,-5 0 134,1 1 1,2 2-188,5 2 1,0-5 232,0 0 0,0-1-21,0 6 1,0 0-163,0 0 1,0-1 633,0 1 0,0 0 0,0-1 0,5-4 0,0 0 0,1-2 0,-1 2 0,-3 3 0,11-11 0,-10 9 0,7-6 0,2-2 0,-4-1 0,2-2 0,-1 6 0,6 3 0</inkml:trace>
  <inkml:trace contextRef="#ctx0" brushRef="#br0" timeOffset="453">207 206 7981,'6'-14'-1893,"-4"-1"1927,4 0 1,-1 5 35,0 1 348,0 5 23,-5-9-295,6 5 0,-4-2 389,3 1-192,-3 5 35,-2-2-65,0 6 1,0-2 130,0-3-13,-7 4 2,5-6-148,-4 7-175,6 0 0,-2 2-66,-3 3 1,4-2 318,-4 7-302,3-1 0,2 6 26,0 0 0,0 0-162,0-1 0,0 1 93,0 0 0,0-1 1,0 1-123,0 0 91,0-1 0,0 1-271,0 0 225,0 6 0,2-5 0,1 6 73,2-1 0,0-5-32,-5 4 1,0 1 48,0-1 1,0-1 76,0-4 0,0 0-5,0-1 1,0 6-81,0 0 0,-2-1 178,-3-4 0,4-7 159,-12 5-275,5-5 0,-7 5 0,0-3 281,0-5-278,1 3 0,-1-1-71,0 2 0,1 3-25,-1-7 0,0 5 167,1-5-233,-1-1-58,0 3 0,5-5-116,1 2 119,5-2-775,-2-2 0,6-2 472,0-2 0,0 0-1543,0-5 1975,0-1 0,6-5 0,2 0 0</inkml:trace>
</inkml:ink>
</file>

<file path=ppt/c10/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9T11:39:27.41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662 30 11556,'-7'-8'780,"6"1"-703,-12 7 173,4-6-32,-5 4 1,-1-4-237,0 6 1,1 0 36,-1 0 0,5 0-73,0 0 1,0 1 89,-4 4 0,1 3-240,3 7 0,-2 1-68,8 4 1,-6-2 128,5 7 0,0-6 61,5 6 0,0-7 28,0 1 0,0-1 63,0 2 1,7-9-75,2 4 1,4-10 142,2 0 1,0-4-21,-1-1 0,1 0-23,0 0 0,0-1-6,-1-4 0,-2-3-25,2-7 1,-7-1 2,8-4 0,-6 4 7,1-4 1,2-1 55,-7 1 0,-1-4-57,-4 4 0,0 1 36,0 4 1,0 0 31,0 0 13,0 7-84,0 2 21,0 6 0,0 1-66,0 4 0,-1 3 61,-4 7 1,3 0 35,-3 0 0,4 4-47,1 1 1,0 4 178,0-4 1,-2 6 177,-3-2 0,4 4-141,-4 2 1,-2 1-38,2 3 1,-6-3-64,1 3 1,2 2 47,-2-1 0,2-3 10,-2-7 1,-1 1-174,6-7 1,-5 1 139,5-5 1,-6-7-270,1-3 8,-3-4 0,-2-1-15,0 0 0,1 0-199,-1 0 0,0-6 156,1-4 1,5-3-1309,5-2 1,-3 1 1470,2-1 0,0 0 0,5 1 0</inkml:trace>
  <inkml:trace contextRef="#ctx0" brushRef="#br0" timeOffset="2110">15 986 8231,'5'9'0,"0"1"-173,0-7 1,-4 9 215,4-7 305,-3 6 0,9-8 204,-6 7-268,7-6 0,-4 2-255,6-6 0,-4 0 142,0 0-14,0 0 216,5 0-150,-1-6-65,1-3 0,-2-5 146,-3-1 0,-2 0-165,-3 1 1,-3-1 199,2 0 0,-2 0-53,-2 1 0,0-1-69,0 0 0,0 1 145,0-1 0,-2 0-85,-2 1 0,0 1-254,-6 3 1,6-2 163,-6 7-304,0-6 0,-5 8-62,1-7 0,4 7-13,0-2 0,0 3 81,-5 2 1,6 5 76,-1 0 0,2 6-193,-2-1 1,-2 3 93,8 2 0,-6 0-107,5-1 0,-5 1 90,5 0 1,0 4-76,5 1 0,0-1 121,0-4 0,0 0-199,0 0 0,0-1-323,0 1 465,0 0 0,7-2-125,3-3 1,-2-4 95,2-6 0,-1 0 174,6 0 1,0 0-121,-1 0 0,-4 0 172,0 0 1,0-5-49,5 0 0,-1-6 96,1 1 0,-5 2 24,0-2 0,-2 0-92,2-4 1,-2 1 366,-3 3-205,-4-3 314,12 4-239,-11 1 248,4 2-187,-6 6 123,0 0-360,0 6 0,0 2 192,0 7-14,0 0 0,0 0-76,0-1 1,0 6 326,0-1 0,0 1-104,0-5 0,0-1 30,0 1 1,0 0-65,0 0 0,-1-1-104,-4 1 0,-2 0-168,-2-1 1,-4-4 153,3 0 0,-3-7-1609,-2 2 1098,0 3 0,-4-6 261,-1 3 0,0-10 0,6-3 0</inkml:trace>
</inkml:ink>
</file>

<file path=ppt/c10/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c10/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09/11/2024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c10/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10/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10/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09/11/2024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F7B1DFBE-C104-6839-D50C-3CCE0EFA464B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12192000" cy="599126"/>
          </a:xfrm>
          <a:prstGeom prst="rect">
            <a:avLst/>
          </a:prstGeom>
          <a:solidFill>
            <a:srgbClr val="17375E"/>
          </a:solidFill>
        </p:spPr>
        <p:txBody>
          <a:bodyPr vert="horz" lIns="0" tIns="0" rIns="144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rgbClr val="1737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177B05-5D28-4021-9BD2-A7A72850B659}" type="slidenum">
              <a:rPr lang="en-GB" sz="1600" i="0" smtClean="0">
                <a:solidFill>
                  <a:schemeClr val="bg1"/>
                </a:solidFill>
              </a:rPr>
              <a:pPr algn="r"/>
              <a:t>‹#›</a:t>
            </a:fld>
            <a:endParaRPr lang="en-GB" sz="1600" i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c10/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rgbClr val="2330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693991"/>
            <a:ext cx="10363200" cy="1470025"/>
          </a:xfrm>
        </p:spPr>
        <p:txBody>
          <a:bodyPr>
            <a:noAutofit/>
          </a:bodyPr>
          <a:lstStyle>
            <a:lvl1pPr>
              <a:defRPr sz="3375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6893722"/>
      </p:ext>
    </p:extLst>
  </p:cSld>
  <p:clrMapOvr>
    <a:masterClrMapping/>
  </p:clrMapOvr>
</p:sldLayout>
</file>

<file path=ppt/c10/ppt/slideMasters/_rels/slideMaster1.xml.rels><?xml version='1.0' encoding='utf-8'?>
<ns0:Relationships xmlns:ns0="http://schemas.openxmlformats.org/package/2006/relationships"><ns0:Relationship Id="rId3" Type="http://schemas.openxmlformats.org/officeDocument/2006/relationships/theme" Target="../theme/theme1.xml" /><ns0:Relationship Id="rId2" Type="http://schemas.openxmlformats.org/officeDocument/2006/relationships/slideLayout" Target="../slideLayouts/slideLayout2.xml" /><ns0:Relationship Id="rId1" Type="http://schemas.openxmlformats.org/officeDocument/2006/relationships/slideLayout" Target="../slideLayouts/slideLayout1.xml" /></ns0:Relationships>
</file>

<file path=ppt/c10/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09/11/2024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500100" r:id="rId1"/>
    <p:sldLayoutId id="2147500101" r:id="rId2"/>
  </p:sldLayoutIdLst>
  <p:txStyles>
    <p:titleStyle>
      <a:lvl1pPr algn="ctr" defTabSz="91437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914377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914377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c10/ppt/slides/_rels/slide12.xml.rels><?xml version='1.0' encoding='utf-8'?>
<ns0:Relationships xmlns:ns0="http://schemas.openxmlformats.org/package/2006/relationships"><ns0:Relationship Id="rId8" Type="http://schemas.openxmlformats.org/officeDocument/2006/relationships/image" Target="../media/image156.png" /><ns0:Relationship Id="rId3" Type="http://schemas.openxmlformats.org/officeDocument/2006/relationships/image" Target="../media/image151.png" /><ns0:Relationship Id="rId7" Type="http://schemas.openxmlformats.org/officeDocument/2006/relationships/image" Target="../media/image155.png" /><ns0:Relationship Id="rId2" Type="http://schemas.openxmlformats.org/officeDocument/2006/relationships/image" Target="../media/image150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154.png" /><ns0:Relationship Id="rId5" Type="http://schemas.openxmlformats.org/officeDocument/2006/relationships/image" Target="../media/image153.png" /><ns0:Relationship Id="rId10" Type="http://schemas.openxmlformats.org/officeDocument/2006/relationships/image" Target="../media/image158.png" /><ns0:Relationship Id="rId4" Type="http://schemas.openxmlformats.org/officeDocument/2006/relationships/image" Target="../media/image152.png" /><ns0:Relationship Id="rId9" Type="http://schemas.openxmlformats.org/officeDocument/2006/relationships/image" Target="../media/image157.png" /></ns0:Relationships>
</file>

<file path=ppt/c10/ppt/slides/_rels/slide13.xml.rels><?xml version='1.0' encoding='utf-8'?>
<ns0:Relationships xmlns:ns0="http://schemas.openxmlformats.org/package/2006/relationships"><ns0:Relationship Id="rId3" Type="http://schemas.openxmlformats.org/officeDocument/2006/relationships/image" Target="../media/image160.png" /><ns0:Relationship Id="rId2" Type="http://schemas.openxmlformats.org/officeDocument/2006/relationships/image" Target="../media/image159.png" /><ns0:Relationship Id="rId1" Type="http://schemas.openxmlformats.org/officeDocument/2006/relationships/slideLayout" Target="../slideLayouts/slideLayout1.xml" /><ns0:Relationship Id="rId5" Type="http://schemas.openxmlformats.org/officeDocument/2006/relationships/image" Target="../media/image162.png" /><ns0:Relationship Id="rId4" Type="http://schemas.openxmlformats.org/officeDocument/2006/relationships/image" Target="../media/image161.png" /></ns0:Relationships>
</file>

<file path=ppt/c10/ppt/slides/_rels/slide14.xml.rels><?xml version='1.0' encoding='utf-8'?>
<ns0:Relationships xmlns:ns0="http://schemas.openxmlformats.org/package/2006/relationships"><ns0:Relationship Id="rId3" Type="http://schemas.openxmlformats.org/officeDocument/2006/relationships/image" Target="../media/image164.png" /><ns0:Relationship Id="rId2" Type="http://schemas.openxmlformats.org/officeDocument/2006/relationships/image" Target="../media/image163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167.png" /><ns0:Relationship Id="rId5" Type="http://schemas.openxmlformats.org/officeDocument/2006/relationships/image" Target="../media/image166.png" /><ns0:Relationship Id="rId4" Type="http://schemas.openxmlformats.org/officeDocument/2006/relationships/image" Target="../media/image165.png" /></ns0:Relationships>
</file>

<file path=ppt/c10/ppt/slides/_rels/slide15.xml.rels><?xml version='1.0' encoding='utf-8'?>
<ns0:Relationships xmlns:ns0="http://schemas.openxmlformats.org/package/2006/relationships"><ns0:Relationship Id="rId3" Type="http://schemas.openxmlformats.org/officeDocument/2006/relationships/image" Target="../media/image169.png" /><ns0:Relationship Id="rId7" Type="http://schemas.openxmlformats.org/officeDocument/2006/relationships/image" Target="../media/image173.png" /><ns0:Relationship Id="rId2" Type="http://schemas.openxmlformats.org/officeDocument/2006/relationships/image" Target="../media/image168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172.png" /><ns0:Relationship Id="rId5" Type="http://schemas.openxmlformats.org/officeDocument/2006/relationships/image" Target="../media/image171.png" /><ns0:Relationship Id="rId4" Type="http://schemas.openxmlformats.org/officeDocument/2006/relationships/image" Target="../media/image170.png" /></ns0:Relationships>
</file>

<file path=ppt/c10/ppt/slides/_rels/slide16.xml.rels><?xml version='1.0' encoding='utf-8'?>
<ns0:Relationships xmlns:ns0="http://schemas.openxmlformats.org/package/2006/relationships"><ns0:Relationship Id="rId3" Type="http://schemas.openxmlformats.org/officeDocument/2006/relationships/image" Target="../media/image175.png" /><ns0:Relationship Id="rId2" Type="http://schemas.openxmlformats.org/officeDocument/2006/relationships/image" Target="../media/image174.png" /><ns0:Relationship Id="rId1" Type="http://schemas.openxmlformats.org/officeDocument/2006/relationships/slideLayout" Target="../slideLayouts/slideLayout1.xml" /><ns0:Relationship Id="rId5" Type="http://schemas.openxmlformats.org/officeDocument/2006/relationships/image" Target="../media/image177.png" /><ns0:Relationship Id="rId4" Type="http://schemas.openxmlformats.org/officeDocument/2006/relationships/image" Target="../media/image176.png" /></ns0:Relationships>
</file>

<file path=ppt/c10/ppt/slides/_rels/slide17.xml.rels><?xml version='1.0' encoding='utf-8'?>
<ns0:Relationships xmlns:ns0="http://schemas.openxmlformats.org/package/2006/relationships"><ns0:Relationship Id="rId8" Type="http://schemas.openxmlformats.org/officeDocument/2006/relationships/image" Target="../media/image184.png" /><ns0:Relationship Id="rId3" Type="http://schemas.openxmlformats.org/officeDocument/2006/relationships/image" Target="../media/image179.png" /><ns0:Relationship Id="rId7" Type="http://schemas.openxmlformats.org/officeDocument/2006/relationships/image" Target="../media/image183.png" /><ns0:Relationship Id="rId2" Type="http://schemas.openxmlformats.org/officeDocument/2006/relationships/image" Target="../media/image178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182.png" /><ns0:Relationship Id="rId5" Type="http://schemas.openxmlformats.org/officeDocument/2006/relationships/image" Target="../media/image181.png" /><ns0:Relationship Id="rId10" Type="http://schemas.openxmlformats.org/officeDocument/2006/relationships/image" Target="../media/image186.png" /><ns0:Relationship Id="rId4" Type="http://schemas.openxmlformats.org/officeDocument/2006/relationships/image" Target="../media/image180.png" /><ns0:Relationship Id="rId9" Type="http://schemas.openxmlformats.org/officeDocument/2006/relationships/image" Target="../media/image185.png" /></ns0:Relationships>
</file>

<file path=ppt/c10/ppt/slides/_rels/slide29.xml.rels><?xml version='1.0' encoding='utf-8'?>
<ns0:Relationships xmlns:ns0="http://schemas.openxmlformats.org/package/2006/relationships"><ns0:Relationship Id="rId3" Type="http://schemas.openxmlformats.org/officeDocument/2006/relationships/image" Target="../media/image252.png" /><ns0:Relationship Id="rId2" Type="http://schemas.openxmlformats.org/officeDocument/2006/relationships/image" Target="../media/image251.png" /><ns0:Relationship Id="rId1" Type="http://schemas.openxmlformats.org/officeDocument/2006/relationships/slideLayout" Target="../slideLayouts/slideLayout1.xml" /><ns0:Relationship Id="rId5" Type="http://schemas.openxmlformats.org/officeDocument/2006/relationships/image" Target="../media/image254.png" /><ns0:Relationship Id="rId4" Type="http://schemas.openxmlformats.org/officeDocument/2006/relationships/image" Target="../media/image253.png" /></ns0:Relationships>
</file>

<file path=ppt/c10/ppt/slides/_rels/slide30.xml.rels><?xml version='1.0' encoding='utf-8'?>
<ns0:Relationships xmlns:ns0="http://schemas.openxmlformats.org/package/2006/relationships"><ns0:Relationship Id="rId8" Type="http://schemas.openxmlformats.org/officeDocument/2006/relationships/customXml" Target="../ink/ink1.xml" /><ns0:Relationship Id="rId3" Type="http://schemas.openxmlformats.org/officeDocument/2006/relationships/image" Target="../media/image256.png" /><ns0:Relationship Id="rId7" Type="http://schemas.openxmlformats.org/officeDocument/2006/relationships/image" Target="../media/image260.png" /><ns0:Relationship Id="rId2" Type="http://schemas.openxmlformats.org/officeDocument/2006/relationships/image" Target="../media/image255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259.png" /><ns0:Relationship Id="rId11" Type="http://schemas.openxmlformats.org/officeDocument/2006/relationships/image" Target="../media/image262.png" /><ns0:Relationship Id="rId5" Type="http://schemas.openxmlformats.org/officeDocument/2006/relationships/image" Target="../media/image258.png" /><ns0:Relationship Id="rId10" Type="http://schemas.openxmlformats.org/officeDocument/2006/relationships/customXml" Target="../ink/ink2.xml" /><ns0:Relationship Id="rId4" Type="http://schemas.openxmlformats.org/officeDocument/2006/relationships/image" Target="../media/image257.png" /><ns0:Relationship Id="rId9" Type="http://schemas.openxmlformats.org/officeDocument/2006/relationships/image" Target="../media/image261.png" /></ns0:Relationships>
</file>

<file path=ppt/c10/ppt/slides/_rels/slide31.xml.rels><?xml version='1.0' encoding='utf-8'?>
<ns0:Relationships xmlns:ns0="http://schemas.openxmlformats.org/package/2006/relationships"><ns0:Relationship Id="rId3" Type="http://schemas.openxmlformats.org/officeDocument/2006/relationships/image" Target="../media/image264.png" /><ns0:Relationship Id="rId2" Type="http://schemas.openxmlformats.org/officeDocument/2006/relationships/image" Target="../media/image263.png" /><ns0:Relationship Id="rId1" Type="http://schemas.openxmlformats.org/officeDocument/2006/relationships/slideLayout" Target="../slideLayouts/slideLayout1.xml" /></ns0:Relationships>
</file>

<file path=ppt/c10/ppt/slides/_rels/slide32.xml.rels><?xml version='1.0' encoding='utf-8'?>
<ns0:Relationships xmlns:ns0="http://schemas.openxmlformats.org/package/2006/relationships"><ns0:Relationship Id="rId3" Type="http://schemas.openxmlformats.org/officeDocument/2006/relationships/image" Target="../media/image266.png" /><ns0:Relationship Id="rId7" Type="http://schemas.openxmlformats.org/officeDocument/2006/relationships/image" Target="../media/image270.png" /><ns0:Relationship Id="rId2" Type="http://schemas.openxmlformats.org/officeDocument/2006/relationships/image" Target="../media/image265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269.png" /><ns0:Relationship Id="rId5" Type="http://schemas.openxmlformats.org/officeDocument/2006/relationships/image" Target="../media/image268.png" /><ns0:Relationship Id="rId4" Type="http://schemas.openxmlformats.org/officeDocument/2006/relationships/image" Target="../media/image267.png" /></ns0:Relationships>
</file>

<file path=ppt/c10/ppt/slides/_rels/slide33.xml.rels><?xml version='1.0' encoding='utf-8'?>
<ns0:Relationships xmlns:ns0="http://schemas.openxmlformats.org/package/2006/relationships"><ns0:Relationship Id="rId8" Type="http://schemas.openxmlformats.org/officeDocument/2006/relationships/image" Target="../media/image277.png" /><ns0:Relationship Id="rId3" Type="http://schemas.openxmlformats.org/officeDocument/2006/relationships/image" Target="../media/image272.png" /><ns0:Relationship Id="rId7" Type="http://schemas.openxmlformats.org/officeDocument/2006/relationships/image" Target="../media/image276.png" /><ns0:Relationship Id="rId2" Type="http://schemas.openxmlformats.org/officeDocument/2006/relationships/image" Target="../media/image271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275.png" /><ns0:Relationship Id="rId5" Type="http://schemas.openxmlformats.org/officeDocument/2006/relationships/image" Target="../media/image274.png" /><ns0:Relationship Id="rId4" Type="http://schemas.openxmlformats.org/officeDocument/2006/relationships/image" Target="../media/image273.png" /><ns0:Relationship Id="rId9" Type="http://schemas.openxmlformats.org/officeDocument/2006/relationships/image" Target="../media/image278.png" /></ns0:Relationships>
</file>

<file path=ppt/c10/ppt/slides/_rels/slide34.xml.rels><?xml version='1.0' encoding='utf-8'?>
<ns0:Relationships xmlns:ns0="http://schemas.openxmlformats.org/package/2006/relationships"><ns0:Relationship Id="rId3" Type="http://schemas.openxmlformats.org/officeDocument/2006/relationships/image" Target="../media/image280.png" /><ns0:Relationship Id="rId2" Type="http://schemas.openxmlformats.org/officeDocument/2006/relationships/image" Target="../media/image279.png" /><ns0:Relationship Id="rId1" Type="http://schemas.openxmlformats.org/officeDocument/2006/relationships/slideLayout" Target="../slideLayouts/slideLayout1.xml" /><ns0:Relationship Id="rId4" Type="http://schemas.openxmlformats.org/officeDocument/2006/relationships/image" Target="../media/image281.png" /></ns0:Relationships>
</file>

<file path=ppt/c10/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2" y="1"/>
            <a:ext cx="9143075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Trigonometric Identities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Right Triangle 4"/>
          <p:cNvSpPr/>
          <p:nvPr/>
        </p:nvSpPr>
        <p:spPr>
          <a:xfrm flipH="1">
            <a:off x="4079776" y="764704"/>
            <a:ext cx="2808312" cy="2232248"/>
          </a:xfrm>
          <a:prstGeom prst="rt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6475576" y="2564904"/>
            <a:ext cx="412512" cy="4320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087888" y="1124744"/>
                <a:ext cx="57606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 dirty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7888" y="1124744"/>
                <a:ext cx="576064" cy="707886"/>
              </a:xfrm>
              <a:prstGeom prst="rect">
                <a:avLst/>
              </a:prstGeom>
              <a:blipFill>
                <a:blip r:embed="rId2"/>
                <a:stretch>
                  <a:fillRect l="-130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289308" y="2906728"/>
                <a:ext cx="266429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4000" i="1" dirty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GB" sz="4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4000" i="1" dirty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9308" y="2906728"/>
                <a:ext cx="2664296" cy="707886"/>
              </a:xfrm>
              <a:prstGeom prst="rect">
                <a:avLst/>
              </a:prstGeom>
              <a:blipFill>
                <a:blip r:embed="rId3"/>
                <a:stretch>
                  <a:fillRect b="-263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593120" y="1684916"/>
                <a:ext cx="217977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4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40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sz="40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3120" y="1684916"/>
                <a:ext cx="2179776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Freeform 9"/>
          <p:cNvSpPr/>
          <p:nvPr/>
        </p:nvSpPr>
        <p:spPr>
          <a:xfrm>
            <a:off x="4702408" y="2485648"/>
            <a:ext cx="233680" cy="508000"/>
          </a:xfrm>
          <a:custGeom>
            <a:avLst/>
            <a:gdLst>
              <a:gd name="connsiteX0" fmla="*/ 233680 w 233680"/>
              <a:gd name="connsiteY0" fmla="*/ 508000 h 508000"/>
              <a:gd name="connsiteX1" fmla="*/ 193040 w 233680"/>
              <a:gd name="connsiteY1" fmla="*/ 304800 h 508000"/>
              <a:gd name="connsiteX2" fmla="*/ 91440 w 233680"/>
              <a:gd name="connsiteY2" fmla="*/ 121920 h 508000"/>
              <a:gd name="connsiteX3" fmla="*/ 0 w 233680"/>
              <a:gd name="connsiteY3" fmla="*/ 0 h 50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3680" h="508000">
                <a:moveTo>
                  <a:pt x="233680" y="508000"/>
                </a:moveTo>
                <a:cubicBezTo>
                  <a:pt x="225213" y="438573"/>
                  <a:pt x="216747" y="369147"/>
                  <a:pt x="193040" y="304800"/>
                </a:cubicBezTo>
                <a:cubicBezTo>
                  <a:pt x="169333" y="240453"/>
                  <a:pt x="123613" y="172720"/>
                  <a:pt x="91440" y="121920"/>
                </a:cubicBezTo>
                <a:cubicBezTo>
                  <a:pt x="59267" y="71120"/>
                  <a:pt x="29633" y="35560"/>
                  <a:pt x="0" y="0"/>
                </a:cubicBezTo>
              </a:path>
            </a:pathLst>
          </a:cu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753435" y="2265721"/>
                <a:ext cx="86409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3435" y="2265721"/>
                <a:ext cx="864096" cy="7078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246640" y="4293096"/>
                <a:ext cx="4104456" cy="7173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b="1" dirty="0"/>
                  <a:t>Then </a:t>
                </a:r>
                <a14:m>
                  <m:oMath xmlns:m="http://schemas.openxmlformats.org/officeDocument/2006/math">
                    <m:r>
                      <a:rPr lang="en-GB" sz="2800" b="1" i="1">
                        <a:latin typeface="Cambria Math" panose="02040503050406030204" pitchFamily="18" charset="0"/>
                      </a:rPr>
                      <m:t>𝒕𝒂𝒏</m:t>
                    </m:r>
                    <m:r>
                      <a:rPr lang="en-GB" sz="28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800" b="1" i="1"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GB" sz="28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800" b="1" i="1">
                            <a:latin typeface="Cambria Math" panose="02040503050406030204" pitchFamily="18" charset="0"/>
                          </a:rPr>
                          <m:t>𝒔𝒊𝒏</m:t>
                        </m:r>
                        <m:r>
                          <a:rPr lang="en-GB" sz="2800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800" b="1" i="1">
                            <a:latin typeface="Cambria Math" panose="02040503050406030204" pitchFamily="18" charset="0"/>
                          </a:rPr>
                          <m:t>𝜽</m:t>
                        </m:r>
                      </m:num>
                      <m:den>
                        <m:r>
                          <a:rPr lang="en-GB" sz="2800" b="1" i="1">
                            <a:latin typeface="Cambria Math" panose="02040503050406030204" pitchFamily="18" charset="0"/>
                          </a:rPr>
                          <m:t>𝒄𝒐𝒔</m:t>
                        </m:r>
                        <m:r>
                          <a:rPr lang="en-GB" sz="2800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2800" b="1" i="1">
                            <a:latin typeface="Cambria Math" panose="02040503050406030204" pitchFamily="18" charset="0"/>
                          </a:rPr>
                          <m:t>𝜽</m:t>
                        </m:r>
                      </m:den>
                    </m:f>
                  </m:oMath>
                </a14:m>
                <a:endParaRPr lang="en-GB" sz="2800" b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6640" y="4293096"/>
                <a:ext cx="4104456" cy="717376"/>
              </a:xfrm>
              <a:prstGeom prst="rect">
                <a:avLst/>
              </a:prstGeom>
              <a:blipFill>
                <a:blip r:embed="rId6"/>
                <a:stretch>
                  <a:fillRect l="-3086" b="-1896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1707088" y="4365104"/>
            <a:ext cx="467544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70576" y="5589240"/>
            <a:ext cx="467544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82744" y="5517236"/>
            <a:ext cx="28803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Pythagoras gives you...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318679" y="5982883"/>
            <a:ext cx="875771" cy="383937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6953605" y="5462615"/>
                <a:ext cx="3642852" cy="5959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1" i="1">
                          <a:latin typeface="Cambria Math" panose="02040503050406030204" pitchFamily="18" charset="0"/>
                        </a:rPr>
                        <m:t>𝒔𝒊</m:t>
                      </m:r>
                      <m:sSup>
                        <m:sSupPr>
                          <m:ctrlPr>
                            <a:rPr lang="en-GB" sz="32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GB" sz="32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3200" b="1" i="1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GB" sz="32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3200" b="1" i="1">
                          <a:latin typeface="Cambria Math" panose="02040503050406030204" pitchFamily="18" charset="0"/>
                        </a:rPr>
                        <m:t>𝒄𝒐</m:t>
                      </m:r>
                      <m:sSup>
                        <m:sSupPr>
                          <m:ctrlPr>
                            <a:rPr lang="en-GB" sz="32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b="1" i="1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p>
                          <m:r>
                            <a:rPr lang="en-GB" sz="32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3200" b="1" i="1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GB" sz="32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200" b="1" i="1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GB" sz="3200" b="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3605" y="5462615"/>
                <a:ext cx="3642852" cy="595932"/>
              </a:xfrm>
              <a:prstGeom prst="rect">
                <a:avLst/>
              </a:prstGeom>
              <a:blipFill>
                <a:blip r:embed="rId7"/>
                <a:stretch>
                  <a:fillRect l="-20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/>
          <p:cNvSpPr/>
          <p:nvPr/>
        </p:nvSpPr>
        <p:spPr>
          <a:xfrm>
            <a:off x="4436375" y="4058856"/>
            <a:ext cx="1082680" cy="11247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46895" y="1535686"/>
            <a:ext cx="1394103" cy="69132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92257" y="3077655"/>
            <a:ext cx="1440160" cy="50405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524000" y="3789040"/>
            <a:ext cx="9144000" cy="0"/>
          </a:xfrm>
          <a:prstGeom prst="line">
            <a:avLst/>
          </a:prstGeom>
          <a:ln w="76200">
            <a:solidFill>
              <a:srgbClr val="1736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781413" y="709932"/>
            <a:ext cx="32924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Returning to our point on the unit circle…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6430542" y="5950270"/>
                <a:ext cx="4267769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sz="1400"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en-GB" sz="1400" dirty="0"/>
                  <a:t> is a shorthand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GB" sz="14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GB" sz="140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GB" sz="14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func>
                          </m:e>
                        </m:d>
                      </m:e>
                      <m:sup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1400" dirty="0"/>
                  <a:t>. It does NOT mean the sin is being squared – this does not make sense as sin is a function, and not a quantity that we can square!</a:t>
                </a: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0542" y="5950270"/>
                <a:ext cx="4267769" cy="738664"/>
              </a:xfrm>
              <a:prstGeom prst="rect">
                <a:avLst/>
              </a:prstGeom>
              <a:blipFill>
                <a:blip r:embed="rId8"/>
                <a:stretch>
                  <a:fillRect l="-593" t="-1695" r="-297" b="-8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/>
          <p:cNvSpPr/>
          <p:nvPr/>
        </p:nvSpPr>
        <p:spPr>
          <a:xfrm>
            <a:off x="6483318" y="5397944"/>
            <a:ext cx="4113141" cy="128221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3534319" y="2730644"/>
                <a:ext cx="57606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 dirty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319" y="2730644"/>
                <a:ext cx="576064" cy="707886"/>
              </a:xfrm>
              <a:prstGeom prst="rect">
                <a:avLst/>
              </a:prstGeom>
              <a:blipFill>
                <a:blip r:embed="rId9"/>
                <a:stretch>
                  <a:fillRect l="-217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7024811" y="525229"/>
                <a:ext cx="57606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 dirty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4811" y="525229"/>
                <a:ext cx="576064" cy="707886"/>
              </a:xfrm>
              <a:prstGeom prst="rect">
                <a:avLst/>
              </a:prstGeom>
              <a:blipFill>
                <a:blip r:embed="rId10"/>
                <a:stretch>
                  <a:fillRect l="-170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val 13"/>
          <p:cNvSpPr/>
          <p:nvPr/>
        </p:nvSpPr>
        <p:spPr>
          <a:xfrm>
            <a:off x="6738975" y="720099"/>
            <a:ext cx="230083" cy="21602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Oval 30"/>
          <p:cNvSpPr/>
          <p:nvPr/>
        </p:nvSpPr>
        <p:spPr>
          <a:xfrm>
            <a:off x="3997643" y="2895947"/>
            <a:ext cx="230083" cy="21602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4351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</p:childTnLst>
        </p:cTn>
      </p:par>
    </p:tnLst>
    <p:bldLst>
      <p:bldP spid="22" grpId="0" animBg="1"/>
      <p:bldP spid="24" grpId="0" animBg="1"/>
      <p:bldP spid="25" grpId="0" animBg="1"/>
      <p:bldP spid="23" grpId="0" animBg="1"/>
    </p:bldLst>
  </p:timing>
</p:sld>
</file>

<file path=ppt/c10/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2" y="2"/>
            <a:ext cx="9143075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Application of identities #1: Proofs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063552" y="908720"/>
                <a:ext cx="7056784" cy="40011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Prove that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1−</m:t>
                    </m:r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GB" sz="2000" i="1">
                        <a:latin typeface="Cambria Math" panose="02040503050406030204" pitchFamily="18" charset="0"/>
                      </a:rPr>
                      <m:t>≡</m:t>
                    </m:r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sz="2000"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552" y="908720"/>
                <a:ext cx="7056784" cy="400110"/>
              </a:xfrm>
              <a:prstGeom prst="rect">
                <a:avLst/>
              </a:prstGeom>
              <a:blipFill>
                <a:blip r:embed="rId2"/>
                <a:stretch>
                  <a:fillRect b="-6818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392148" y="1525094"/>
                <a:ext cx="2989657" cy="946093"/>
              </a:xfrm>
              <a:prstGeom prst="rect">
                <a:avLst/>
              </a:prstGeom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2148" y="1525094"/>
                <a:ext cx="2989657" cy="9460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392146" y="2693667"/>
                <a:ext cx="2994347" cy="2062103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Recall that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≡</m:t>
                    </m:r>
                  </m:oMath>
                </a14:m>
                <a:r>
                  <a:rPr lang="en-GB" sz="1600" dirty="0"/>
                  <a:t> means ‘equivalent to’, and just means the LHS is </a:t>
                </a:r>
                <a:r>
                  <a:rPr lang="en-GB" sz="1600" b="1" u="sng" dirty="0"/>
                  <a:t>always</a:t>
                </a:r>
                <a:r>
                  <a:rPr lang="en-GB" sz="1600" dirty="0"/>
                  <a:t> equal to the RHS for all values of </a:t>
                </a:r>
                <a14:m>
                  <m:oMath xmlns:m="http://schemas.openxmlformats.org/officeDocument/2006/math">
                    <m:r>
                      <a:rPr lang="en-GB" sz="16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sz="1600" dirty="0"/>
                  <a:t>.</a:t>
                </a:r>
              </a:p>
              <a:p>
                <a:r>
                  <a:rPr lang="en-GB" sz="1600" dirty="0"/>
                  <a:t>From Chapter 7 (‘Proofs’) we saw that usually the best method is to manipulate one side (e.g. LHS) until we get to the other (RHS).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2146" y="2693667"/>
                <a:ext cx="2994347" cy="2062103"/>
              </a:xfrm>
              <a:prstGeom prst="rect">
                <a:avLst/>
              </a:prstGeom>
              <a:blipFill>
                <a:blip r:embed="rId4"/>
                <a:stretch>
                  <a:fillRect l="-840" t="-606" r="-840" b="-18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847528" y="1752807"/>
                <a:ext cx="3528392" cy="25219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>
                          <a:latin typeface="Cambria Math" panose="02040503050406030204" pitchFamily="18" charset="0"/>
                        </a:rPr>
                        <m:t>𝐿𝐻𝑆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0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0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  <m:func>
                        <m:func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0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func>
                        <m:func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0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br>
                  <a:rPr lang="en-GB" sz="2000" dirty="0"/>
                </a:br>
                <a:br>
                  <a:rPr lang="en-GB" sz="2000" dirty="0"/>
                </a:br>
                <a:endParaRPr lang="en-GB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200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GB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𝑐𝑜𝑠</m:t>
                          </m:r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func>
                            <m:func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0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</m:oMath>
                    <m:oMath xmlns:m="http://schemas.openxmlformats.org/officeDocument/2006/math">
                      <m:r>
                        <a:rPr lang="en-GB" sz="2000" i="1">
                          <a:latin typeface="Cambria Math" panose="02040503050406030204" pitchFamily="18" charset="0"/>
                        </a:rPr>
                        <m:t>=1−</m:t>
                      </m:r>
                      <m:func>
                        <m:func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20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200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GB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𝑅𝐻𝑆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7528" y="1752807"/>
                <a:ext cx="3528392" cy="252190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2941596" y="2693663"/>
            <a:ext cx="2608143" cy="9045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41596" y="3586391"/>
            <a:ext cx="2608143" cy="34540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41596" y="3931794"/>
            <a:ext cx="2608143" cy="49694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50331" y="1589204"/>
            <a:ext cx="1800200" cy="46166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200" b="1" dirty="0"/>
              <a:t>Tip #1</a:t>
            </a:r>
            <a:r>
              <a:rPr lang="en-GB" sz="1200" dirty="0"/>
              <a:t>: Turn any tan’s into sin’s and cos’s. 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5087888" y="1844824"/>
            <a:ext cx="288032" cy="720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941598" y="1539987"/>
            <a:ext cx="4208937" cy="101552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725804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3" grpId="0" animBg="1"/>
    </p:bldLst>
  </p:timing>
</p:sld>
</file>

<file path=ppt/c10/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2" y="2"/>
            <a:ext cx="9143075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More Examples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819007" y="1154974"/>
                <a:ext cx="4053713" cy="52860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Prove that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GB" sz="20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func>
                          <m:func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2000">
                                <a:latin typeface="Cambria Math" panose="02040503050406030204" pitchFamily="18" charset="0"/>
                              </a:rPr>
                              <m:t>tan</m:t>
                            </m:r>
                          </m:fName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</m:den>
                    </m:f>
                    <m:r>
                      <a:rPr lang="en-GB" sz="2000" i="1">
                        <a:latin typeface="Cambria Math" panose="02040503050406030204" pitchFamily="18" charset="0"/>
                      </a:rPr>
                      <m:t>≡</m:t>
                    </m:r>
                    <m:f>
                      <m:f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func>
                          <m:func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200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  <m:func>
                          <m:func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200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</m:den>
                    </m:f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9007" y="1154974"/>
                <a:ext cx="4053713" cy="52860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1819003" y="774259"/>
            <a:ext cx="3456384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C2 June 2012 Paper 1 Q16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18144" y="5668558"/>
            <a:ext cx="3384376" cy="73866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b="1" dirty="0"/>
              <a:t>Tip #2</a:t>
            </a:r>
            <a:r>
              <a:rPr lang="en-GB" sz="1400" dirty="0"/>
              <a:t>: In any addition/subtraction involving at least one fraction (with trig functions), always combine algebraically into one.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967859" y="1933260"/>
                <a:ext cx="4031876" cy="3355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𝐿𝐻𝑆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br>
                  <a:rPr lang="en-GB" dirty="0"/>
                </a:br>
                <a:br>
                  <a:rPr lang="en-GB" i="1" dirty="0">
                    <a:latin typeface="Cambria Math" panose="02040503050406030204" pitchFamily="18" charset="0"/>
                  </a:rPr>
                </a:br>
                <a:endParaRPr lang="en-GB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GB" dirty="0"/>
              </a:p>
              <a:p>
                <a:pPr/>
                <a:br>
                  <a:rPr lang="en-GB" dirty="0"/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𝑅𝐻𝑆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859" y="1933260"/>
                <a:ext cx="4031876" cy="33552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2749585" y="1832583"/>
            <a:ext cx="1645723" cy="87150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64911" y="2934115"/>
            <a:ext cx="2682471" cy="82935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64909" y="3777828"/>
            <a:ext cx="2682471" cy="82935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64909" y="4621543"/>
            <a:ext cx="2682471" cy="82935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095432" y="1143592"/>
                <a:ext cx="4053713" cy="40011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Simplify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5−5</m:t>
                    </m:r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sz="2000"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432" y="1143592"/>
                <a:ext cx="4053713" cy="400110"/>
              </a:xfrm>
              <a:prstGeom prst="rect">
                <a:avLst/>
              </a:prstGeom>
              <a:blipFill>
                <a:blip r:embed="rId4"/>
                <a:stretch>
                  <a:fillRect b="-6818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191120" y="3120486"/>
                <a:ext cx="4032448" cy="738664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b="1" dirty="0"/>
                  <a:t>Tip #3</a:t>
                </a:r>
                <a:r>
                  <a:rPr lang="en-GB" sz="1400" dirty="0"/>
                  <a:t>: Look out for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1−</m:t>
                    </m:r>
                    <m:func>
                      <m:func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sz="1400"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en-GB" sz="1400" dirty="0"/>
                  <a:t> and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1−</m:t>
                    </m:r>
                    <m:func>
                      <m:funcPr>
                        <m:ctrlPr>
                          <a:rPr lang="en-GB" sz="1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sz="1400"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GB" sz="1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sz="14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en-GB" sz="1400" dirty="0"/>
                  <a:t>.</a:t>
                </a:r>
              </a:p>
              <a:p>
                <a:r>
                  <a:rPr lang="en-GB" sz="1400" dirty="0"/>
                  <a:t>Students often don’t spot that these can be simplified.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1120" y="3120486"/>
                <a:ext cx="4032448" cy="738664"/>
              </a:xfrm>
              <a:prstGeom prst="rect">
                <a:avLst/>
              </a:prstGeom>
              <a:blipFill>
                <a:blip r:embed="rId5"/>
                <a:stretch>
                  <a:fillRect l="-313" b="-81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240016" y="1832583"/>
                <a:ext cx="237626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≡5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1−</m:t>
                          </m:r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≡5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0016" y="1832583"/>
                <a:ext cx="2376264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/>
          <p:cNvSpPr/>
          <p:nvPr/>
        </p:nvSpPr>
        <p:spPr>
          <a:xfrm>
            <a:off x="6086913" y="1555672"/>
            <a:ext cx="4049460" cy="125132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34160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4" grpId="0" animBg="1"/>
      <p:bldP spid="16" grpId="0" animBg="1"/>
    </p:bldLst>
  </p:timing>
</p:sld>
</file>

<file path=ppt/c10/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2" y="2"/>
            <a:ext cx="9143075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775520" y="3665701"/>
                <a:ext cx="7056784" cy="52854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Prove that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sz="2000"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GB" sz="2000" i="1">
                        <a:latin typeface="Cambria Math" panose="02040503050406030204" pitchFamily="18" charset="0"/>
                      </a:rPr>
                      <m:t>≡</m:t>
                    </m:r>
                    <m:f>
                      <m:f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func>
                          <m:func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GB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GB" sz="200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</m:den>
                    </m:f>
                    <m:r>
                      <a:rPr lang="en-GB" sz="2000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520" y="3665701"/>
                <a:ext cx="7056784" cy="5285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1775520" y="3284985"/>
            <a:ext cx="3888432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AQA IGCSE Further Maths Worksheet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148847" y="4238680"/>
                <a:ext cx="5256584" cy="20833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𝐿𝐻𝑆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:endParaRPr lang="en-GB" sz="105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1−</m:t>
                          </m:r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:endParaRPr lang="en-GB" sz="105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−1≡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𝑅𝐻𝑆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8847" y="4238680"/>
                <a:ext cx="5256584" cy="2083327"/>
              </a:xfrm>
              <a:prstGeom prst="rect">
                <a:avLst/>
              </a:prstGeom>
              <a:blipFill>
                <a:blip r:embed="rId3"/>
                <a:stretch>
                  <a:fillRect b="-60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991547" y="906025"/>
                <a:ext cx="3147527" cy="53893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Prove that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2000">
                                <a:latin typeface="Cambria Math" panose="02040503050406030204" pitchFamily="18" charset="0"/>
                              </a:rPr>
                              <m:t>tan</m:t>
                            </m:r>
                          </m:fName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  <m:func>
                          <m:func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200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</m:num>
                      <m:den>
                        <m:rad>
                          <m:radPr>
                            <m:degHide m:val="on"/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unc>
                              <m:funcPr>
                                <m:ctrlPr>
                                  <a:rPr lang="en-GB" sz="20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p>
                                  <m:sSupPr>
                                    <m:ctrlPr>
                                      <a:rPr lang="en-GB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GB" sz="200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e>
                                  <m:sup>
                                    <m:r>
                                      <a:rPr lang="en-GB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fName>
                              <m:e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</m:e>
                        </m:rad>
                      </m:den>
                    </m:f>
                    <m:r>
                      <a:rPr lang="en-GB" sz="2000" i="1">
                        <a:latin typeface="Cambria Math" panose="02040503050406030204" pitchFamily="18" charset="0"/>
                      </a:rPr>
                      <m:t>≡1</m:t>
                    </m:r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547" y="906025"/>
                <a:ext cx="3147527" cy="5389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876056" y="1626343"/>
                <a:ext cx="3326813" cy="8420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𝐿𝐻𝑆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</m:num>
                            <m:den>
                              <m:func>
                                <m:func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</m:den>
                          </m:f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unc>
                                <m:func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e>
                                    <m:sup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</m:e>
                          </m:rad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≡1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6056" y="1626343"/>
                <a:ext cx="3326813" cy="842025"/>
              </a:xfrm>
              <a:prstGeom prst="rect">
                <a:avLst/>
              </a:prstGeom>
              <a:blipFill>
                <a:blip r:embed="rId5"/>
                <a:stretch>
                  <a:fillRect b="-29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1991547" y="1461016"/>
            <a:ext cx="3147527" cy="126396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75520" y="4194243"/>
            <a:ext cx="7056784" cy="220580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879980" y="873773"/>
                <a:ext cx="4165543" cy="57118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Prove that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GB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GB" sz="200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fName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GB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GB" sz="200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fName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GB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GB" sz="200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GB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</m:den>
                    </m:f>
                    <m:r>
                      <a:rPr lang="en-GB" sz="2000" i="1">
                        <a:latin typeface="Cambria Math" panose="02040503050406030204" pitchFamily="18" charset="0"/>
                      </a:rPr>
                      <m:t>≡1−</m:t>
                    </m:r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sz="2000"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9980" y="873773"/>
                <a:ext cx="4165543" cy="57118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553740" y="1595500"/>
                <a:ext cx="4869712" cy="14810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𝐿𝐻𝑆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e>
                                    <m:sup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e>
                                    <m:sup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</m:d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e>
                                    <m:sup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e>
                                    <m:sup>
                                      <m:r>
                                        <a:rPr lang="en-GB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</m:d>
                        </m:num>
                        <m:den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den>
                      </m:f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≡1−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𝑅𝐻𝑆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3740" y="1595500"/>
                <a:ext cx="4869712" cy="148104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5879980" y="1456338"/>
            <a:ext cx="4165543" cy="162021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556293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4" grpId="0" animBg="1"/>
    </p:bldLst>
  </p:timing>
</p:sld>
</file>

<file path=ppt/c10/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2" y="2"/>
            <a:ext cx="9143075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10C – Y1 Page 211-212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1F333AF4-4FE8-8252-9B58-3D9999E264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6267"/>
          <a:stretch/>
        </p:blipFill>
        <p:spPr>
          <a:xfrm>
            <a:off x="1546204" y="620689"/>
            <a:ext cx="6970518" cy="10081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69A107B-D402-B68C-699B-E13B49890D5B}"/>
              </a:ext>
            </a:extLst>
          </p:cNvPr>
          <p:cNvSpPr/>
          <p:nvPr/>
        </p:nvSpPr>
        <p:spPr>
          <a:xfrm>
            <a:off x="6473312" y="1035984"/>
            <a:ext cx="2214909" cy="11766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BD3C19-FD23-92CE-35F7-680715175E6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2649"/>
          <a:stretch/>
        </p:blipFill>
        <p:spPr>
          <a:xfrm>
            <a:off x="2219129" y="2189272"/>
            <a:ext cx="3310308" cy="365720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D4CEBA6-0279-AAA2-1F57-33222C614325}"/>
              </a:ext>
            </a:extLst>
          </p:cNvPr>
          <p:cNvSpPr/>
          <p:nvPr/>
        </p:nvSpPr>
        <p:spPr>
          <a:xfrm>
            <a:off x="2065858" y="1944783"/>
            <a:ext cx="3181875" cy="11809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E627D3-969C-F321-AD0C-1C45842ADA72}"/>
              </a:ext>
            </a:extLst>
          </p:cNvPr>
          <p:cNvSpPr/>
          <p:nvPr/>
        </p:nvSpPr>
        <p:spPr>
          <a:xfrm>
            <a:off x="2056747" y="3226109"/>
            <a:ext cx="3181875" cy="286485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0E07C46-71B6-0C96-25FD-11CB6F0715B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54745"/>
          <a:stretch/>
        </p:blipFill>
        <p:spPr>
          <a:xfrm>
            <a:off x="6816081" y="3717032"/>
            <a:ext cx="2821835" cy="232839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7C351FA-E0D6-21BE-B726-25A1BE5A15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7196" y="2087654"/>
            <a:ext cx="2667000" cy="13081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CEA0AFC-B38A-541D-52BB-5E19677F3BFB}"/>
              </a:ext>
            </a:extLst>
          </p:cNvPr>
          <p:cNvSpPr/>
          <p:nvPr/>
        </p:nvSpPr>
        <p:spPr>
          <a:xfrm>
            <a:off x="6443802" y="1944783"/>
            <a:ext cx="3181875" cy="137717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c?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9F660BE-ED84-970D-37E3-4080F49E4C6B}"/>
              </a:ext>
            </a:extLst>
          </p:cNvPr>
          <p:cNvSpPr/>
          <p:nvPr/>
        </p:nvSpPr>
        <p:spPr>
          <a:xfrm>
            <a:off x="6452977" y="3453652"/>
            <a:ext cx="3181875" cy="263731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d?</a:t>
            </a:r>
          </a:p>
        </p:txBody>
      </p:sp>
    </p:spTree>
    <p:extLst>
      <p:ext uri="{BB962C8B-B14F-4D97-AF65-F5344CB8AC3E}">
        <p14:creationId xmlns:p14="http://schemas.microsoft.com/office/powerpoint/2010/main" val="1810027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8" grpId="0" animBg="1"/>
      <p:bldP spid="19" grpId="0" animBg="1"/>
    </p:bldLst>
  </p:timing>
</p:sld>
</file>

<file path=ppt/c10/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2" y="2"/>
            <a:ext cx="9143075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10C – Y1 Page 211-212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5AB6AB20-B392-7744-B4A8-628B0ECFA33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0483" b="22728"/>
          <a:stretch/>
        </p:blipFill>
        <p:spPr>
          <a:xfrm>
            <a:off x="1649794" y="600903"/>
            <a:ext cx="4446207" cy="9361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5CE2B84-CE3B-9EF7-CBA2-F8227BE2873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6018" b="36491"/>
          <a:stretch/>
        </p:blipFill>
        <p:spPr>
          <a:xfrm>
            <a:off x="1712652" y="3617241"/>
            <a:ext cx="3672408" cy="8640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32742ED-E419-E4E7-A286-B3A753948FC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9736"/>
          <a:stretch/>
        </p:blipFill>
        <p:spPr>
          <a:xfrm>
            <a:off x="7957005" y="3368989"/>
            <a:ext cx="2058838" cy="13605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2DD7A52-1ED0-D380-FFA5-639E0B49FFE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111" t="68185" r="50375"/>
          <a:stretch/>
        </p:blipFill>
        <p:spPr>
          <a:xfrm>
            <a:off x="4578231" y="4134266"/>
            <a:ext cx="3096344" cy="4328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05E7D43-209A-2A29-1D0D-B595F260CD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4188" y="4545071"/>
            <a:ext cx="1946920" cy="18356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725DE0A-27CB-A35F-E496-E35E006A52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7648" y="6140269"/>
            <a:ext cx="308928" cy="34853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81ADD44-1697-A686-9231-D7BF8B4E2D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7848" y="4567143"/>
            <a:ext cx="2797110" cy="2007337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CDE415D-2098-9C8D-1F20-987F45504BD1}"/>
              </a:ext>
            </a:extLst>
          </p:cNvPr>
          <p:cNvSpPr/>
          <p:nvPr/>
        </p:nvSpPr>
        <p:spPr>
          <a:xfrm>
            <a:off x="1948930" y="4545071"/>
            <a:ext cx="2346870" cy="212428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E1EEC5-747C-F3F7-D9C0-68AC79D907BA}"/>
              </a:ext>
            </a:extLst>
          </p:cNvPr>
          <p:cNvSpPr/>
          <p:nvPr/>
        </p:nvSpPr>
        <p:spPr>
          <a:xfrm>
            <a:off x="4560382" y="4567143"/>
            <a:ext cx="3114193" cy="212428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A21231A-A88C-7048-35B2-259B723BAD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0007" r="1076"/>
          <a:stretch/>
        </p:blipFill>
        <p:spPr>
          <a:xfrm>
            <a:off x="7949300" y="725156"/>
            <a:ext cx="2160240" cy="121143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3BD1EE7-0EB0-C378-04E7-9632A03BA8F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98" t="79846" r="57946" b="2323"/>
          <a:stretch/>
        </p:blipFill>
        <p:spPr>
          <a:xfrm>
            <a:off x="4511772" y="1222872"/>
            <a:ext cx="2880373" cy="216006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248B0568-6416-3FA9-4F48-D5D40AE58E89}"/>
              </a:ext>
            </a:extLst>
          </p:cNvPr>
          <p:cNvGrpSpPr/>
          <p:nvPr/>
        </p:nvGrpSpPr>
        <p:grpSpPr>
          <a:xfrm>
            <a:off x="4548922" y="1601996"/>
            <a:ext cx="2168842" cy="1678168"/>
            <a:chOff x="2808951" y="1601996"/>
            <a:chExt cx="2007057" cy="1552985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3BA1D355-3155-A900-5792-259B239861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b="27237"/>
            <a:stretch/>
          </p:blipFill>
          <p:spPr>
            <a:xfrm>
              <a:off x="2808951" y="1601996"/>
              <a:ext cx="1874215" cy="1538972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51F5DC45-D932-8CE6-9E2B-23562919CA5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327992" y="2647046"/>
              <a:ext cx="488016" cy="507935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4795692-DD2D-2F29-00C4-179263A2E906}"/>
              </a:ext>
            </a:extLst>
          </p:cNvPr>
          <p:cNvGrpSpPr/>
          <p:nvPr/>
        </p:nvGrpSpPr>
        <p:grpSpPr>
          <a:xfrm>
            <a:off x="1965218" y="1650410"/>
            <a:ext cx="1826527" cy="1858764"/>
            <a:chOff x="441217" y="1650410"/>
            <a:chExt cx="1647123" cy="1634574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AF713405-2CCB-C15E-E003-F6CB047E18B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b="13135"/>
            <a:stretch/>
          </p:blipFill>
          <p:spPr>
            <a:xfrm>
              <a:off x="441217" y="1650410"/>
              <a:ext cx="1647123" cy="1614611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3A4AE720-B05A-C3E2-D4B5-7830661603B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300384" y="3007853"/>
              <a:ext cx="327518" cy="277131"/>
            </a:xfrm>
            <a:prstGeom prst="rect">
              <a:avLst/>
            </a:prstGeom>
          </p:spPr>
        </p:pic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73F4C7A2-10A1-C967-7DF4-D01458F8700D}"/>
              </a:ext>
            </a:extLst>
          </p:cNvPr>
          <p:cNvSpPr/>
          <p:nvPr/>
        </p:nvSpPr>
        <p:spPr>
          <a:xfrm>
            <a:off x="1895832" y="1575171"/>
            <a:ext cx="2346870" cy="193419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BFAF3BC-164C-D612-1000-C26B64F6E1CD}"/>
              </a:ext>
            </a:extLst>
          </p:cNvPr>
          <p:cNvSpPr/>
          <p:nvPr/>
        </p:nvSpPr>
        <p:spPr>
          <a:xfrm>
            <a:off x="4507284" y="1597243"/>
            <a:ext cx="3114193" cy="193419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1242826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24" grpId="0" animBg="1"/>
      <p:bldP spid="25" grpId="0" animBg="1"/>
    </p:bldLst>
  </p:timing>
</p:sld>
</file>

<file path=ppt/c10/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2" y="2"/>
            <a:ext cx="9143075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Quadratics in sin/cos/tan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847532" y="2060848"/>
                <a:ext cx="8207785" cy="40011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Solve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5</m:t>
                    </m:r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sz="2000"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GB" sz="2000" i="1">
                        <a:latin typeface="Cambria Math" panose="02040503050406030204" pitchFamily="18" charset="0"/>
                      </a:rPr>
                      <m:t>+3</m:t>
                    </m:r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GB" sz="2000" i="1">
                        <a:latin typeface="Cambria Math" panose="02040503050406030204" pitchFamily="18" charset="0"/>
                      </a:rPr>
                      <m:t>−2=0</m:t>
                    </m:r>
                  </m:oMath>
                </a14:m>
                <a:r>
                  <a:rPr lang="en-GB" sz="2000" dirty="0"/>
                  <a:t> in the interval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≤360°</m:t>
                    </m:r>
                  </m:oMath>
                </a14:m>
                <a:r>
                  <a:rPr lang="en-GB" sz="2000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7532" y="2060848"/>
                <a:ext cx="8207785" cy="400110"/>
              </a:xfrm>
              <a:prstGeom prst="rect">
                <a:avLst/>
              </a:prstGeom>
              <a:blipFill>
                <a:blip r:embed="rId2"/>
                <a:stretch>
                  <a:fillRect b="-6818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991544" y="908724"/>
                <a:ext cx="7704856" cy="9294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We saw that an equation can be ‘quadratic in’ something, e.g.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−2</m:t>
                    </m:r>
                    <m:rad>
                      <m:radPr>
                        <m:degHide m:val="on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a:rPr lang="en-GB" i="1">
                        <a:latin typeface="Cambria Math" panose="02040503050406030204" pitchFamily="18" charset="0"/>
                      </a:rPr>
                      <m:t>+1=0</m:t>
                    </m:r>
                  </m:oMath>
                </a14:m>
                <a:r>
                  <a:rPr lang="en-GB" dirty="0"/>
                  <a:t> is ‘quadratic in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lang="en-GB" dirty="0"/>
                  <a:t>’, meaning that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lang="en-GB" dirty="0"/>
                  <a:t> could be replaced with another variable, say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, to produce a quadratic equation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+1=0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544" y="908724"/>
                <a:ext cx="7704856" cy="929485"/>
              </a:xfrm>
              <a:prstGeom prst="rect">
                <a:avLst/>
              </a:prstGeom>
              <a:blipFill>
                <a:blip r:embed="rId3"/>
                <a:stretch>
                  <a:fillRect l="-658" t="-2703" b="-108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991544" y="2780931"/>
                <a:ext cx="3168352" cy="30722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Method 1: Use a substitution</a:t>
                </a:r>
                <a:r>
                  <a:rPr lang="en-GB" dirty="0"/>
                  <a:t>.</a:t>
                </a:r>
              </a:p>
              <a:p>
                <a:endParaRPr lang="en-GB" dirty="0"/>
              </a:p>
              <a:p>
                <a:r>
                  <a:rPr lang="en-GB" dirty="0"/>
                  <a:t>Let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endParaRPr lang="en-GB" dirty="0"/>
              </a:p>
              <a:p>
                <a:pPr/>
                <a:r>
                  <a:rPr lang="en-GB" dirty="0"/>
                  <a:t>Then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5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+3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−2=0</m:t>
                    </m:r>
                  </m:oMath>
                </a14:m>
                <a:br>
                  <a:rPr lang="en-GB" dirty="0"/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=−1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∴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𝑜𝑟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=−1</m:t>
                      </m:r>
                    </m:oMath>
                    <m:oMath xmlns:m="http://schemas.openxmlformats.org/officeDocument/2006/math">
                      <m:r>
                        <a:rPr lang="en-GB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𝟐𝟑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°, 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𝟏𝟓𝟔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°,</m:t>
                      </m:r>
                    </m:oMath>
                    <m:oMath xmlns:m="http://schemas.openxmlformats.org/officeDocument/2006/math">
                      <m:r>
                        <a:rPr lang="en-GB" b="1" i="1">
                          <a:latin typeface="Cambria Math" panose="02040503050406030204" pitchFamily="18" charset="0"/>
                        </a:rPr>
                        <m:t>𝒐𝒓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𝟐𝟕𝟎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544" y="2780931"/>
                <a:ext cx="3168352" cy="3072251"/>
              </a:xfrm>
              <a:prstGeom prst="rect">
                <a:avLst/>
              </a:prstGeom>
              <a:blipFill>
                <a:blip r:embed="rId4"/>
                <a:stretch>
                  <a:fillRect l="-1594" t="-823" b="-123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951421" y="2780932"/>
                <a:ext cx="4249036" cy="29672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Method 2: Factorise without substitution.</a:t>
                </a:r>
              </a:p>
              <a:p>
                <a:endParaRPr lang="en-GB" b="1" dirty="0"/>
              </a:p>
              <a:p>
                <a:r>
                  <a:rPr lang="en-GB" dirty="0"/>
                  <a:t>This is the same, but we ‘imagine’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dirty="0"/>
                  <a:t> as a single variable and hence factorise immediately.</a:t>
                </a:r>
              </a:p>
              <a:p>
                <a:endParaRPr lang="en-GB" sz="9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5</m:t>
                          </m:r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𝑜𝑟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=−1</m:t>
                      </m:r>
                    </m:oMath>
                    <m:oMath xmlns:m="http://schemas.openxmlformats.org/officeDocument/2006/math">
                      <m:r>
                        <a:rPr lang="en-GB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𝟐𝟑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°, 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𝟏𝟓𝟔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°,</m:t>
                      </m:r>
                    </m:oMath>
                    <m:oMath xmlns:m="http://schemas.openxmlformats.org/officeDocument/2006/math">
                      <m:r>
                        <a:rPr lang="en-GB" b="1" i="1">
                          <a:latin typeface="Cambria Math" panose="02040503050406030204" pitchFamily="18" charset="0"/>
                        </a:rPr>
                        <m:t>𝒐𝒓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𝟐𝟕𝟎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1421" y="2780932"/>
                <a:ext cx="4249036" cy="2967287"/>
              </a:xfrm>
              <a:prstGeom prst="rect">
                <a:avLst/>
              </a:prstGeom>
              <a:blipFill>
                <a:blip r:embed="rId5"/>
                <a:stretch>
                  <a:fillRect l="-1190" t="-851" r="-2083" b="-12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1847529" y="3299930"/>
            <a:ext cx="3528392" cy="255325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37728" y="3299930"/>
            <a:ext cx="4262728" cy="255325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90886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c10/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2" y="2"/>
            <a:ext cx="9143075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More Examples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885632" y="930548"/>
                <a:ext cx="8207785" cy="40011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Solve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sz="2000"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GB" sz="2000" i="1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GB" sz="2000" dirty="0"/>
                  <a:t> in the interval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≤360°</m:t>
                    </m:r>
                  </m:oMath>
                </a14:m>
                <a:r>
                  <a:rPr lang="en-GB" sz="2000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5632" y="930548"/>
                <a:ext cx="8207785" cy="400110"/>
              </a:xfrm>
              <a:prstGeom prst="rect">
                <a:avLst/>
              </a:prstGeom>
              <a:blipFill>
                <a:blip r:embed="rId2"/>
                <a:stretch>
                  <a:fillRect b="-6818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207568" y="1772816"/>
                <a:ext cx="432048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=2 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=−2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=63.4°, 243.4°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=−63.4°, 116.6°,296.6°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568" y="1772816"/>
                <a:ext cx="4320480" cy="923330"/>
              </a:xfrm>
              <a:prstGeom prst="rect">
                <a:avLst/>
              </a:prstGeom>
              <a:blipFill>
                <a:blip r:embed="rId3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562205" y="2132882"/>
                <a:ext cx="2630140" cy="523220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−63.4°</m:t>
                    </m:r>
                  </m:oMath>
                </a14:m>
                <a:r>
                  <a:rPr lang="en-GB" sz="1400" dirty="0"/>
                  <a:t> was outside the range so we had to add </a:t>
                </a:r>
                <a14:m>
                  <m:oMath xmlns:m="http://schemas.openxmlformats.org/officeDocument/2006/math">
                    <m:r>
                      <a:rPr lang="en-GB" sz="1400" i="1">
                        <a:latin typeface="Cambria Math" panose="02040503050406030204" pitchFamily="18" charset="0"/>
                      </a:rPr>
                      <m:t>180°</m:t>
                    </m:r>
                  </m:oMath>
                </a14:m>
                <a:r>
                  <a:rPr lang="en-GB" sz="1400" dirty="0"/>
                  <a:t> twice.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2205" y="2132882"/>
                <a:ext cx="2630140" cy="523220"/>
              </a:xfrm>
              <a:prstGeom prst="rect">
                <a:avLst/>
              </a:prstGeom>
              <a:blipFill>
                <a:blip r:embed="rId4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>
            <a:stCxn id="7" idx="1"/>
          </p:cNvCxnSpPr>
          <p:nvPr/>
        </p:nvCxnSpPr>
        <p:spPr>
          <a:xfrm flipH="1">
            <a:off x="5951985" y="2394494"/>
            <a:ext cx="610220" cy="984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705972" y="1502070"/>
            <a:ext cx="3024336" cy="52322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dirty="0"/>
              <a:t>Missing the negative case would result in the loss of multiple marks. Beware!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5778501" y="1731366"/>
            <a:ext cx="952996" cy="2244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885631" y="1330661"/>
            <a:ext cx="8207785" cy="209834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885631" y="3730748"/>
                <a:ext cx="8207785" cy="40011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Solve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2</m:t>
                    </m:r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sz="2000"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GB" sz="2000" i="1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GB" sz="2000" i="1">
                        <a:latin typeface="Cambria Math" panose="02040503050406030204" pitchFamily="18" charset="0"/>
                      </a:rPr>
                      <m:t>=3</m:t>
                    </m:r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sz="2000"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GB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sz="2000" dirty="0"/>
                  <a:t> in the interval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−180°≤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≤180°</m:t>
                    </m:r>
                  </m:oMath>
                </a14:m>
                <a:r>
                  <a:rPr lang="en-GB" sz="2000" dirty="0"/>
                  <a:t>.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5631" y="3730748"/>
                <a:ext cx="8207785" cy="400110"/>
              </a:xfrm>
              <a:prstGeom prst="rect">
                <a:avLst/>
              </a:prstGeom>
              <a:blipFill>
                <a:blip r:embed="rId5"/>
                <a:stretch>
                  <a:fillRect b="-5556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7706803" y="4365108"/>
                <a:ext cx="2376264" cy="203132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Tip</a:t>
                </a:r>
                <a:r>
                  <a:rPr lang="en-GB" dirty="0"/>
                  <a:t>: We have an identity involving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𝑠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𝑖𝑛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𝑜𝑠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, so it makes sense to change the </a:t>
                </a:r>
                <a:r>
                  <a:rPr lang="en-GB" u="sng" dirty="0"/>
                  <a:t>squared one </a:t>
                </a:r>
                <a:r>
                  <a:rPr lang="en-GB" dirty="0"/>
                  <a:t>that would </a:t>
                </a:r>
                <a:r>
                  <a:rPr lang="en-GB" u="sng" dirty="0"/>
                  <a:t>match all the others</a:t>
                </a:r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6803" y="4365108"/>
                <a:ext cx="2376264" cy="2031325"/>
              </a:xfrm>
              <a:prstGeom prst="rect">
                <a:avLst/>
              </a:prstGeom>
              <a:blipFill>
                <a:blip r:embed="rId6"/>
                <a:stretch>
                  <a:fillRect l="-1579" t="-613" b="-30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410644" y="4314307"/>
                <a:ext cx="3850456" cy="19977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1−</m:t>
                          </m:r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=3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2−2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=3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5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−2=0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5</m:t>
                          </m:r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𝑜𝑟</m:t>
                      </m:r>
                      <m:func>
                        <m:funcPr>
                          <m:ctrlPr>
                            <a:rPr lang="en-GB" i="1" strike="sngStrike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trike="sngStrike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i="1" strike="sngStrike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i="1" strike="sngStrike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GB" strike="sngStrike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=−168.5°, −11.5°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0644" y="4314307"/>
                <a:ext cx="3850456" cy="199779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841D85B-DA8D-4683-75A4-4ED2E7797603}"/>
                  </a:ext>
                </a:extLst>
              </p14:cNvPr>
              <p14:cNvContentPartPr/>
              <p14:nvPr/>
            </p14:nvContentPartPr>
            <p14:xfrm>
              <a:off x="3661573" y="3809803"/>
              <a:ext cx="90360" cy="2545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841D85B-DA8D-4683-75A4-4ED2E779760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646453" y="3794683"/>
                <a:ext cx="120960" cy="28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E0501675-EDDF-0093-85E6-82B270239FD8}"/>
                  </a:ext>
                </a:extLst>
              </p14:cNvPr>
              <p14:cNvContentPartPr/>
              <p14:nvPr/>
            </p14:nvContentPartPr>
            <p14:xfrm>
              <a:off x="3809893" y="4386523"/>
              <a:ext cx="243720" cy="44460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E0501675-EDDF-0093-85E6-82B270239FD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794413" y="4371391"/>
                <a:ext cx="274320" cy="475225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Rectangle 16"/>
          <p:cNvSpPr/>
          <p:nvPr/>
        </p:nvSpPr>
        <p:spPr>
          <a:xfrm>
            <a:off x="1978508" y="4314307"/>
            <a:ext cx="5013379" cy="237540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236437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  <p:bldLst>
      <p:bldP spid="13" grpId="0" animBg="1"/>
      <p:bldP spid="17" grpId="0" animBg="1"/>
    </p:bldLst>
  </p:timing>
</p:sld>
</file>

<file path=ppt/c10/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2" y="2"/>
            <a:ext cx="9143075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530" y="1186875"/>
            <a:ext cx="7705725" cy="256222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5041" y="4048128"/>
            <a:ext cx="7319979" cy="189582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180582" y="3933056"/>
            <a:ext cx="7299797" cy="20882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47532" y="817539"/>
            <a:ext cx="2557895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C2 Jan 2010 Q2</a:t>
            </a:r>
          </a:p>
        </p:txBody>
      </p:sp>
    </p:spTree>
    <p:extLst>
      <p:ext uri="{BB962C8B-B14F-4D97-AF65-F5344CB8AC3E}">
        <p14:creationId xmlns:p14="http://schemas.microsoft.com/office/powerpoint/2010/main" val="3785963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c10/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2" y="2"/>
            <a:ext cx="9143075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10F – Y1 P221-222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06F1374-5A77-6189-1AD9-114C1D095043}"/>
              </a:ext>
            </a:extLst>
          </p:cNvPr>
          <p:cNvGrpSpPr/>
          <p:nvPr/>
        </p:nvGrpSpPr>
        <p:grpSpPr>
          <a:xfrm>
            <a:off x="1631504" y="620688"/>
            <a:ext cx="7992888" cy="792088"/>
            <a:chOff x="107504" y="620688"/>
            <a:chExt cx="7992888" cy="792088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A2E1B9A-FFC1-A704-76B2-F5B3F2E337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504" y="620688"/>
              <a:ext cx="7772400" cy="591378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525CDDC-A71C-5F79-D39C-A10461CF8F55}"/>
                </a:ext>
              </a:extLst>
            </p:cNvPr>
            <p:cNvSpPr/>
            <p:nvPr/>
          </p:nvSpPr>
          <p:spPr>
            <a:xfrm>
              <a:off x="7524328" y="980728"/>
              <a:ext cx="576064" cy="4320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F561EED8-6921-E894-1E8E-AEBCFC257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512" y="3403519"/>
            <a:ext cx="7200800" cy="58611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74134D7-B818-D35F-93E1-F9D4127BF4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9577" y="1340769"/>
            <a:ext cx="3357301" cy="188968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FD03DAE-A6C3-0A41-DE18-B6BD368ED1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9976" y="2626893"/>
            <a:ext cx="2585788" cy="55484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21EFF09-5ED9-DA79-FE07-FA31594CEA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00093" y="4012812"/>
            <a:ext cx="3336784" cy="245464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722EA31-F7DC-0F17-CCE3-801954468045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8125"/>
          <a:stretch/>
        </p:blipFill>
        <p:spPr>
          <a:xfrm>
            <a:off x="5951984" y="4162698"/>
            <a:ext cx="2978770" cy="951912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9D15958-94B0-4B74-5D99-C22616595BBF}"/>
              </a:ext>
            </a:extLst>
          </p:cNvPr>
          <p:cNvCxnSpPr>
            <a:cxnSpLocks/>
          </p:cNvCxnSpPr>
          <p:nvPr/>
        </p:nvCxnSpPr>
        <p:spPr>
          <a:xfrm>
            <a:off x="5807968" y="4078516"/>
            <a:ext cx="0" cy="22308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422D789-8893-2005-343C-694BB69850F0}"/>
              </a:ext>
            </a:extLst>
          </p:cNvPr>
          <p:cNvCxnSpPr>
            <a:cxnSpLocks/>
          </p:cNvCxnSpPr>
          <p:nvPr/>
        </p:nvCxnSpPr>
        <p:spPr>
          <a:xfrm>
            <a:off x="5807968" y="1364379"/>
            <a:ext cx="0" cy="18660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6DFE481B-C415-7139-6002-EE785889CE76}"/>
              </a:ext>
            </a:extLst>
          </p:cNvPr>
          <p:cNvSpPr/>
          <p:nvPr/>
        </p:nvSpPr>
        <p:spPr>
          <a:xfrm>
            <a:off x="2050015" y="1241410"/>
            <a:ext cx="6880739" cy="21621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2416792-2077-187E-05D9-37FCCDA6A465}"/>
              </a:ext>
            </a:extLst>
          </p:cNvPr>
          <p:cNvSpPr/>
          <p:nvPr/>
        </p:nvSpPr>
        <p:spPr>
          <a:xfrm>
            <a:off x="2077335" y="3992318"/>
            <a:ext cx="6880739" cy="24751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973868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</p:bldLst>
  </p:timing>
</p:sld>
</file>

<file path=ppt/c10/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2" y="2"/>
            <a:ext cx="9143075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10F – Y1 P221-222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1E1C570E-A31F-7BD7-3B19-B6D3A45C0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4" y="618332"/>
            <a:ext cx="5688632" cy="3265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AF52FB9-1225-ECDF-BF92-63D9B68F89C1}"/>
              </a:ext>
            </a:extLst>
          </p:cNvPr>
          <p:cNvSpPr/>
          <p:nvPr/>
        </p:nvSpPr>
        <p:spPr>
          <a:xfrm>
            <a:off x="9408368" y="3323252"/>
            <a:ext cx="1139384" cy="3937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849824-8842-3498-A7F6-7D1259D6F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544" y="885522"/>
            <a:ext cx="3254943" cy="218343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8D22905-DDAB-8B9B-42AD-5D086319C0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5414" y="4206462"/>
            <a:ext cx="3265715" cy="7200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80DD27F-545E-8D0C-7E35-4948C7C802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2304" y="4216774"/>
            <a:ext cx="450258" cy="220339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A00A140F-664C-6480-7F90-83C282680FC4}"/>
              </a:ext>
            </a:extLst>
          </p:cNvPr>
          <p:cNvGrpSpPr/>
          <p:nvPr/>
        </p:nvGrpSpPr>
        <p:grpSpPr>
          <a:xfrm>
            <a:off x="6299798" y="4074561"/>
            <a:ext cx="3458097" cy="1276751"/>
            <a:chOff x="4788023" y="3680040"/>
            <a:chExt cx="3458097" cy="1276751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59BD19E-7BAD-1E5F-AD47-23F850B4836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788023" y="3680040"/>
              <a:ext cx="2580283" cy="720079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FAD332D-03E0-F5FB-9F50-4B8D6BFB199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076056" y="4480365"/>
              <a:ext cx="3170064" cy="476426"/>
            </a:xfrm>
            <a:prstGeom prst="rect">
              <a:avLst/>
            </a:prstGeom>
          </p:spPr>
        </p:pic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587DF372-2113-A112-7FE7-4DBCCCBF97A8}"/>
              </a:ext>
            </a:extLst>
          </p:cNvPr>
          <p:cNvSpPr/>
          <p:nvPr/>
        </p:nvSpPr>
        <p:spPr>
          <a:xfrm>
            <a:off x="1991543" y="984567"/>
            <a:ext cx="7848874" cy="21621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5550492-05C8-5388-5A82-6F59B6373EEA}"/>
              </a:ext>
            </a:extLst>
          </p:cNvPr>
          <p:cNvSpPr/>
          <p:nvPr/>
        </p:nvSpPr>
        <p:spPr>
          <a:xfrm>
            <a:off x="1991543" y="4077560"/>
            <a:ext cx="3672409" cy="21621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C3A645A-E000-CF13-01B8-4562480BE3D7}"/>
              </a:ext>
            </a:extLst>
          </p:cNvPr>
          <p:cNvGrpSpPr/>
          <p:nvPr/>
        </p:nvGrpSpPr>
        <p:grpSpPr>
          <a:xfrm>
            <a:off x="1546338" y="3463481"/>
            <a:ext cx="8989189" cy="508583"/>
            <a:chOff x="22337" y="3463480"/>
            <a:chExt cx="8989189" cy="50858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0BB4B59-1787-536E-2AF4-4BCBCFAF0C4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2337" y="3463480"/>
              <a:ext cx="4393291" cy="508583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E1F54A3-8D56-F502-12A3-16900266DAE4}"/>
                </a:ext>
              </a:extLst>
            </p:cNvPr>
            <p:cNvSpPr/>
            <p:nvPr/>
          </p:nvSpPr>
          <p:spPr>
            <a:xfrm>
              <a:off x="3551662" y="3751512"/>
              <a:ext cx="936104" cy="22055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C879279-906C-CD63-FD2D-A228718811A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703922" y="3473380"/>
              <a:ext cx="4307604" cy="498663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1418FBF-B55B-9110-34CC-9B92FF0736AE}"/>
                </a:ext>
              </a:extLst>
            </p:cNvPr>
            <p:cNvSpPr/>
            <p:nvPr/>
          </p:nvSpPr>
          <p:spPr>
            <a:xfrm>
              <a:off x="8015841" y="3729121"/>
              <a:ext cx="936104" cy="22055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29A72FC2-6C39-D719-8078-DC024CA06B7C}"/>
              </a:ext>
            </a:extLst>
          </p:cNvPr>
          <p:cNvSpPr/>
          <p:nvPr/>
        </p:nvSpPr>
        <p:spPr>
          <a:xfrm>
            <a:off x="6227923" y="4074561"/>
            <a:ext cx="3612494" cy="21621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3952145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21" grpId="0" animBg="1"/>
    </p:bldLst>
  </p:timing>
</p:sld>
</file>

<file path=ppt/c10/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2" y="2"/>
            <a:ext cx="9143075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1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10F – Y1 P221-222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DC4BA3BF-F609-CD62-2311-352AA2DF2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4" y="692697"/>
            <a:ext cx="7772400" cy="10097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65486D5-0D47-4D5E-EF90-E4F7B97F1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537" y="2132856"/>
            <a:ext cx="2664296" cy="25674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2C7F78-7D3E-FC04-5DE8-752790C73D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977" y="2126887"/>
            <a:ext cx="3977687" cy="18002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2494642-124E-336F-9D49-41E27F2B95B2}"/>
              </a:ext>
            </a:extLst>
          </p:cNvPr>
          <p:cNvSpPr/>
          <p:nvPr/>
        </p:nvSpPr>
        <p:spPr>
          <a:xfrm>
            <a:off x="1703512" y="2132856"/>
            <a:ext cx="3982748" cy="25674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1CF716-6C50-5B7A-3178-76E559DE75AE}"/>
              </a:ext>
            </a:extLst>
          </p:cNvPr>
          <p:cNvSpPr/>
          <p:nvPr/>
        </p:nvSpPr>
        <p:spPr>
          <a:xfrm>
            <a:off x="5939893" y="2129857"/>
            <a:ext cx="3917770" cy="25674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1277342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c10/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bg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c10/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