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/ppt/slideMasters/slideMaster1.xml" ContentType="application/vnd.openxmlformats-officedocument.presentationml.slideMaster+xml"/>
  <ns0:Override PartName="/ppt/c1/ppt/slides/slide22.xml" ContentType="application/vnd.openxmlformats-officedocument.presentationml.slide+xml"/>
  <ns0:Override PartName="/ppt/c1/ppt/slides/slide23.xml" ContentType="application/vnd.openxmlformats-officedocument.presentationml.slide+xml"/>
  <ns0:Override PartName="/ppt/c1/ppt/slides/slide24.xml" ContentType="application/vnd.openxmlformats-officedocument.presentationml.slide+xml"/>
  <ns0:Override PartName="/ppt/c1/ppt/slides/slide25.xml" ContentType="application/vnd.openxmlformats-officedocument.presentationml.slide+xml"/>
  <ns0:Override PartName="/ppt/c1/ppt/slides/slide26.xml" ContentType="application/vnd.openxmlformats-officedocument.presentationml.slide+xml"/>
  <ns0:Override PartName="/ppt/c1/ppt/slides/slide27.xml" ContentType="application/vnd.openxmlformats-officedocument.presentationml.slide+xml"/>
  <ns0:Override PartName="/ppt/c1/ppt/slides/slide28.xml" ContentType="application/vnd.openxmlformats-officedocument.presentationml.slide+xml"/>
  <ns0:Override PartName="/ppt/c1/ppt/slides/slide29.xml" ContentType="application/vnd.openxmlformats-officedocument.presentationml.slide+xml"/>
  <ns0:Override PartName="/ppt/c1/ppt/slides/slide30.xml" ContentType="application/vnd.openxmlformats-officedocument.presentationml.slide+xml"/>
  <ns0:Override PartName="/ppt/c1/ppt/notesMasters/notesMaster1.xml" ContentType="application/vnd.openxmlformats-officedocument.presentationml.notesMaster+xml"/>
  <ns0:Override PartName="/ppt/c1/ppt/theme/theme1.xml" ContentType="application/vnd.openxmlformats-officedocument.theme+xml"/>
  <ns0:Override PartName="/ppt/c1/ppt/slideLayouts/slideLayout1.xml" ContentType="application/vnd.openxmlformats-officedocument.presentationml.slideLayout+xml"/>
  <ns0:Override PartName="/ppt/c1/ppt/slideLayouts/slideLayout2.xml" ContentType="application/vnd.openxmlformats-officedocument.presentationml.slideLayout+xml"/>
  <ns0:Override PartName="/ppt/c1/ppt/slideLayouts/slideLayout3.xml" ContentType="application/vnd.openxmlformats-officedocument.presentationml.slideLayout+xml"/>
  <ns0:Override PartName="/ppt/c1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748" r:id="rId1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/ppt/slides/slide22.xml" /><ns0:Relationship Id="rId2" Type="http://schemas.openxmlformats.org/officeDocument/2006/relationships/slide" Target="c1/ppt/slides/slide23.xml" /><ns0:Relationship Id="rId3" Type="http://schemas.openxmlformats.org/officeDocument/2006/relationships/slide" Target="c1/ppt/slides/slide24.xml" /><ns0:Relationship Id="rId4" Type="http://schemas.openxmlformats.org/officeDocument/2006/relationships/slide" Target="c1/ppt/slides/slide25.xml" /><ns0:Relationship Id="rId5" Type="http://schemas.openxmlformats.org/officeDocument/2006/relationships/slide" Target="c1/ppt/slides/slide26.xml" /><ns0:Relationship Id="rId6" Type="http://schemas.openxmlformats.org/officeDocument/2006/relationships/slide" Target="c1/ppt/slides/slide27.xml" /><ns0:Relationship Id="rId7" Type="http://schemas.openxmlformats.org/officeDocument/2006/relationships/slide" Target="c1/ppt/slides/slide28.xml" /><ns0:Relationship Id="rId8" Type="http://schemas.openxmlformats.org/officeDocument/2006/relationships/slide" Target="c1/ppt/slides/slide29.xml" /><ns0:Relationship Id="rId9" Type="http://schemas.openxmlformats.org/officeDocument/2006/relationships/slide" Target="c1/ppt/slides/slide30.xml" /><ns0:Relationship Id="rId10" Type="http://schemas.openxmlformats.org/officeDocument/2006/relationships/slideMaster" Target="c1/ppt/slideMasters/slideMaster1.xml" /><ns0:Relationship Id="rId11" Type="http://schemas.openxmlformats.org/officeDocument/2006/relationships/notesMaster" Target="c1/ppt/notesMasters/notesMaster1.xml" /></ns0:Relationships>
</file>

<file path=ppt/c1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430923"/>
      </p:ext>
    </p:extLst>
  </p:cSld>
  <p:clrMapOvr>
    <a:masterClrMapping/>
  </p:clrMapOvr>
</p:sldLayout>
</file>

<file path=ppt/c1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51934"/>
      </p:ext>
    </p:extLst>
  </p:cSld>
  <p:clrMapOvr>
    <a:masterClrMapping/>
  </p:clrMapOvr>
</p:sldLayout>
</file>

<file path=ppt/c1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1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800.png" /><ns0:Relationship Id="rId2" Type="http://schemas.openxmlformats.org/officeDocument/2006/relationships/image" Target="../media/image970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820.png" /></ns0:Relationships>
</file>

<file path=ppt/c1/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12.png" /><ns0:Relationship Id="rId7" Type="http://schemas.openxmlformats.org/officeDocument/2006/relationships/image" Target="../media/image116.png" /><ns0:Relationship Id="rId2" Type="http://schemas.openxmlformats.org/officeDocument/2006/relationships/image" Target="../media/image11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3.png" /><ns0:Relationship Id="rId5" Type="http://schemas.openxmlformats.org/officeDocument/2006/relationships/image" Target="../media/image115.png" /><ns0:Relationship Id="rId4" Type="http://schemas.openxmlformats.org/officeDocument/2006/relationships/image" Target="../media/image114.png" /></ns0:Relationships>
</file>

<file path=ppt/c1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610.png" /><ns0:Relationship Id="rId2" Type="http://schemas.openxmlformats.org/officeDocument/2006/relationships/image" Target="../media/image600.png" /><ns0:Relationship Id="rId1" Type="http://schemas.openxmlformats.org/officeDocument/2006/relationships/slideLayout" Target="../slideLayouts/slideLayout1.xml" /></ns0:Relationships>
</file>

<file path=ppt/c1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630.png" /><ns0:Relationship Id="rId2" Type="http://schemas.openxmlformats.org/officeDocument/2006/relationships/image" Target="../media/image1040.png" /><ns0:Relationship Id="rId1" Type="http://schemas.openxmlformats.org/officeDocument/2006/relationships/slideLayout" Target="../slideLayouts/slideLayout1.xml" /></ns0:Relationships>
</file>

<file path=ppt/c1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1050.png" /><ns0:Relationship Id="rId2" Type="http://schemas.openxmlformats.org/officeDocument/2006/relationships/image" Target="../media/image640.png" /><ns0:Relationship Id="rId1" Type="http://schemas.openxmlformats.org/officeDocument/2006/relationships/slideLayout" Target="../slideLayouts/slideLayout1.xml" /></ns0:Relationships>
</file>

<file path=ppt/c1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1060.png" /><ns0:Relationship Id="rId2" Type="http://schemas.openxmlformats.org/officeDocument/2006/relationships/image" Target="../media/image78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670.png" /><ns0:Relationship Id="rId4" Type="http://schemas.openxmlformats.org/officeDocument/2006/relationships/image" Target="../media/image660.png" /></ns0:Relationships>
</file>

<file path=ppt/c1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690.png" /><ns0:Relationship Id="rId7" Type="http://schemas.openxmlformats.org/officeDocument/2006/relationships/image" Target="../media/image730.png" /><ns0:Relationship Id="rId2" Type="http://schemas.openxmlformats.org/officeDocument/2006/relationships/image" Target="../media/image68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20.png" /><ns0:Relationship Id="rId5" Type="http://schemas.openxmlformats.org/officeDocument/2006/relationships/image" Target="../media/image710.png" /><ns0:Relationship Id="rId4" Type="http://schemas.openxmlformats.org/officeDocument/2006/relationships/image" Target="../media/image700.png" /></ns0:Relationships>
</file>

<file path=ppt/c1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1081.png" /><ns0:Relationship Id="rId2" Type="http://schemas.openxmlformats.org/officeDocument/2006/relationships/image" Target="../media/image107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10.png" /><ns0:Relationship Id="rId5" Type="http://schemas.openxmlformats.org/officeDocument/2006/relationships/image" Target="../media/image1100.png" /><ns0:Relationship Id="rId4" Type="http://schemas.openxmlformats.org/officeDocument/2006/relationships/image" Target="../media/image1090.png" /></ns0:Relationships>
</file>

<file path=ppt/c1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117.png" /><ns0:Relationship Id="rId2" Type="http://schemas.openxmlformats.org/officeDocument/2006/relationships/image" Target="../media/image1070.png" /><ns0:Relationship Id="rId1" Type="http://schemas.openxmlformats.org/officeDocument/2006/relationships/slideLayout" Target="../slideLayouts/slideLayout1.xml" /></ns0:Relationships>
</file>

<file path=ppt/c1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Surds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77280" y="706737"/>
            <a:ext cx="115212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Recap: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4023" y="1311175"/>
                <a:ext cx="4659177" cy="235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A surd is a root of a number that does not simplify to a rational number.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Laws:</a:t>
                </a:r>
              </a:p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rad>
                    </m:oMath>
                    <m:oMath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rad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3" y="1311175"/>
                <a:ext cx="4659177" cy="2353145"/>
              </a:xfrm>
              <a:prstGeom prst="rect">
                <a:avLst/>
              </a:prstGeom>
              <a:blipFill>
                <a:blip r:embed="rId2"/>
                <a:stretch>
                  <a:fillRect l="-1307" t="-1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57483" y="843404"/>
                <a:ext cx="2880320" cy="198471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</a:t>
                </a:r>
                <a:r>
                  <a:rPr lang="en-GB" dirty="0"/>
                  <a:t>: A </a:t>
                </a:r>
                <a:r>
                  <a:rPr lang="en-GB" i="1" dirty="0"/>
                  <a:t>rational</a:t>
                </a:r>
                <a:r>
                  <a:rPr lang="en-GB" dirty="0"/>
                  <a:t> number is any which can be expressed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integers.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are rational numbers, but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GB" dirty="0"/>
                  <a:t> are not.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483" y="843404"/>
                <a:ext cx="2880320" cy="1984710"/>
              </a:xfrm>
              <a:prstGeom prst="rect">
                <a:avLst/>
              </a:prstGeom>
              <a:blipFill>
                <a:blip r:embed="rId3"/>
                <a:stretch>
                  <a:fillRect l="-1310" t="-629"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0" y="378904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1795" y="3888387"/>
                <a:ext cx="6369474" cy="3019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×2           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×2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𝟑𝟎</m:t>
                      </m:r>
                    </m:oMath>
                    <m:oMath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  <m:oMath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  <m:oMath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95" y="3888387"/>
                <a:ext cx="6369474" cy="3019545"/>
              </a:xfrm>
              <a:prstGeom prst="rect">
                <a:avLst/>
              </a:prstGeom>
              <a:blipFill>
                <a:blip r:embed="rId4"/>
                <a:stretch>
                  <a:fillRect b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3516830" y="3875313"/>
            <a:ext cx="2889086" cy="4661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6830" y="4344048"/>
            <a:ext cx="2889086" cy="4192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830" y="4765830"/>
            <a:ext cx="2889086" cy="4192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6829" y="5187612"/>
            <a:ext cx="2889087" cy="3912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6828" y="5581418"/>
            <a:ext cx="2889090" cy="407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16830" y="5991829"/>
            <a:ext cx="2889087" cy="407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8785" y="6402240"/>
            <a:ext cx="2877131" cy="407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3371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c1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1E – Pure Y1 Page 13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784" y="2747841"/>
            <a:ext cx="4608512" cy="22144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88" y="2717554"/>
            <a:ext cx="3743325" cy="2247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2241" y="4961071"/>
                <a:ext cx="3835569" cy="1837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 that: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ra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e>
                      </m:ra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𝟗𝟗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The other options can similarly be written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GB" b="1" dirty="0"/>
                  <a:t>. The greater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, the smaller the number, so the answer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</m:e>
                    </m:rad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41" y="4961071"/>
                <a:ext cx="3835569" cy="1837747"/>
              </a:xfrm>
              <a:prstGeom prst="rect">
                <a:avLst/>
              </a:prstGeom>
              <a:blipFill>
                <a:blip r:embed="rId4"/>
                <a:stretch>
                  <a:fillRect l="-1650" t="-1370" b="-4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726562" y="4932605"/>
                <a:ext cx="4394742" cy="1941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  <m:rad>
                          <m:radPr>
                            <m:degHide m:val="on"/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e>
                    </m:rad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𝒚</m:t>
                    </m:r>
                    <m:rad>
                      <m:radPr>
                        <m:degHide m:val="on"/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sz="1600" b="1" dirty="0"/>
                  <a:t>, then squaring: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𝒙𝒚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Thus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   →  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The only possibilities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1600" b="1" dirty="0"/>
                  <a:t> corresponding to the 5</a:t>
                </a:r>
                <a:r>
                  <a:rPr lang="en-GB" sz="1600" b="1" baseline="30000" dirty="0"/>
                  <a:t>th</a:t>
                </a:r>
                <a:r>
                  <a:rPr lang="en-GB" sz="1600" b="1" dirty="0"/>
                  <a:t>, 2</a:t>
                </a:r>
                <a:r>
                  <a:rPr lang="en-GB" sz="1600" b="1" baseline="30000" dirty="0"/>
                  <a:t>nd</a:t>
                </a:r>
                <a:r>
                  <a:rPr lang="en-GB" sz="1600" b="1" dirty="0"/>
                  <a:t>, 1</a:t>
                </a:r>
                <a:r>
                  <a:rPr lang="en-GB" sz="1600" b="1" baseline="30000" dirty="0"/>
                  <a:t>st</a:t>
                </a:r>
                <a:r>
                  <a:rPr lang="en-GB" sz="1600" b="1" dirty="0"/>
                  <a:t> and 3</a:t>
                </a:r>
                <a:r>
                  <a:rPr lang="en-GB" sz="1600" b="1" baseline="30000" dirty="0"/>
                  <a:t>rd</a:t>
                </a:r>
                <a:r>
                  <a:rPr lang="en-GB" sz="1600" b="1" dirty="0"/>
                  <a:t> options. Thus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𝟓𝟒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𝟏𝟐</m:t>
                    </m:r>
                    <m:rad>
                      <m:radPr>
                        <m:degHide m:val="on"/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sz="1600" b="1" dirty="0"/>
                  <a:t> is the odd one out.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562" y="4932605"/>
                <a:ext cx="4394742" cy="1941622"/>
              </a:xfrm>
              <a:prstGeom prst="rect">
                <a:avLst/>
              </a:prstGeom>
              <a:blipFill>
                <a:blip r:embed="rId5"/>
                <a:stretch>
                  <a:fillRect l="-865" b="-25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78114" y="5017561"/>
            <a:ext cx="3871639" cy="17096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6506" y="5017560"/>
            <a:ext cx="4235248" cy="17386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73" y="2747841"/>
            <a:ext cx="251520" cy="2852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1888" y="2770479"/>
            <a:ext cx="251520" cy="28521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9DBC4-0668-755E-DF04-AFB3948C7E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313" y="671112"/>
            <a:ext cx="7772400" cy="4499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28B23A0-ECC9-7E49-061C-811FEEF818CF}"/>
              </a:ext>
            </a:extLst>
          </p:cNvPr>
          <p:cNvSpPr txBox="1"/>
          <p:nvPr/>
        </p:nvSpPr>
        <p:spPr>
          <a:xfrm>
            <a:off x="-52334" y="23328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Extension</a:t>
            </a:r>
            <a:endParaRPr lang="en-GB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822927-D14B-7962-9A03-F16102102917}"/>
              </a:ext>
            </a:extLst>
          </p:cNvPr>
          <p:cNvCxnSpPr>
            <a:cxnSpLocks/>
          </p:cNvCxnSpPr>
          <p:nvPr/>
        </p:nvCxnSpPr>
        <p:spPr>
          <a:xfrm>
            <a:off x="0" y="2420888"/>
            <a:ext cx="91440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C981463-432C-67BD-ED6D-A128685A6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14" y="1085506"/>
            <a:ext cx="2844800" cy="10541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CE57634-F359-1980-5E4E-C2E62178116A}"/>
              </a:ext>
            </a:extLst>
          </p:cNvPr>
          <p:cNvSpPr/>
          <p:nvPr/>
        </p:nvSpPr>
        <p:spPr>
          <a:xfrm>
            <a:off x="478115" y="1141354"/>
            <a:ext cx="3871638" cy="10503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833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23" grpId="0" animBg="1"/>
    </p:bldLst>
  </p:timing>
</p:sld>
</file>

<file path=ppt/c1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1560" y="741118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Here’s a surd. What could we multiply it by such that it’s no longer an irrational number?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8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6: Rationalising The Denominator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71800" y="1714106"/>
                <a:ext cx="3348372" cy="792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1714106"/>
                <a:ext cx="3348372" cy="7929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47392" y="1714105"/>
            <a:ext cx="732232" cy="7867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2100" y="1714104"/>
            <a:ext cx="828092" cy="7867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536" y="4293096"/>
            <a:ext cx="3635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In this fraction, the denominator is irrational. ‘</a:t>
            </a:r>
            <a:r>
              <a:rPr lang="en-GB" sz="1600" b="1" dirty="0"/>
              <a:t>Rationalising the denominator</a:t>
            </a:r>
            <a:r>
              <a:rPr lang="en-GB" sz="1600" dirty="0"/>
              <a:t>’ means making the denominator a rational number.</a:t>
            </a:r>
          </a:p>
          <a:p>
            <a:endParaRPr lang="en-GB" sz="1600" dirty="0"/>
          </a:p>
          <a:p>
            <a:r>
              <a:rPr lang="en-GB" sz="1600" dirty="0"/>
              <a:t>What could we multiply this fraction by to both rationalise the denominator, but leave the value of the fraction unchanged?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87133" y="2644174"/>
                <a:ext cx="3366374" cy="136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133" y="2644174"/>
                <a:ext cx="3366374" cy="1363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13" idx="0"/>
          </p:cNvCxnSpPr>
          <p:nvPr/>
        </p:nvCxnSpPr>
        <p:spPr>
          <a:xfrm flipV="1">
            <a:off x="2213452" y="3789040"/>
            <a:ext cx="630356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31368" y="2649765"/>
            <a:ext cx="683851" cy="1437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8928" y="2649765"/>
            <a:ext cx="683851" cy="14374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6015" y="4311647"/>
            <a:ext cx="3312368" cy="23083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Side Note</a:t>
            </a:r>
            <a:r>
              <a:rPr lang="en-GB" sz="1600" dirty="0"/>
              <a:t>: There’s two reasons why we might want to do this: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For aesthetic reasons, it makes more sense to say “half of root 2” rather than “one root two-</a:t>
            </a:r>
            <a:r>
              <a:rPr lang="en-GB" sz="1600" dirty="0" err="1"/>
              <a:t>th</a:t>
            </a:r>
            <a:r>
              <a:rPr lang="en-GB" sz="1600" dirty="0"/>
              <a:t> of 1”. It’s nice to divide by something whole!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It makes it easier for us to add expressions involving surds. </a:t>
            </a:r>
          </a:p>
        </p:txBody>
      </p:sp>
    </p:spTree>
    <p:extLst>
      <p:ext uri="{BB962C8B-B14F-4D97-AF65-F5344CB8AC3E}">
        <p14:creationId xmlns:p14="http://schemas.microsoft.com/office/powerpoint/2010/main" val="7290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5" grpId="0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c1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35992" y="1214483"/>
                <a:ext cx="4680520" cy="5002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2400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6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/>
                            </a:rPr>
                            <m:t>𝟔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 smtClean="0"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24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r>
                        <a:rPr lang="en-GB" sz="2400" b="1" i="1" smtClean="0">
                          <a:latin typeface="Cambria Math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2400" b="1" dirty="0"/>
              </a:p>
              <a:p>
                <a:endParaRPr lang="en-GB" sz="2400" b="1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7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/>
                            </a:rPr>
                            <m:t>𝟕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 smtClean="0">
                                  <a:latin typeface="Cambria Math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GB" sz="2400" b="1" i="1" smtClean="0">
                              <a:latin typeface="Cambria Math"/>
                            </a:rPr>
                            <m:t>𝟕</m:t>
                          </m:r>
                        </m:den>
                      </m:f>
                      <m:r>
                        <a:rPr lang="en-GB" sz="2400" b="1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𝟕</m:t>
                          </m:r>
                        </m:e>
                      </m:rad>
                    </m:oMath>
                  </m:oMathPara>
                </a14:m>
                <a:endParaRPr lang="en-GB" sz="2400" b="1" dirty="0"/>
              </a:p>
              <a:p>
                <a:endParaRPr lang="en-GB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992" y="1214483"/>
                <a:ext cx="4680520" cy="5002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7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9" name="Rectangle 8"/>
          <p:cNvSpPr/>
          <p:nvPr/>
        </p:nvSpPr>
        <p:spPr>
          <a:xfrm>
            <a:off x="2359337" y="1241985"/>
            <a:ext cx="732232" cy="7867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9990" y="3960206"/>
            <a:ext cx="1812069" cy="9707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5017" y="2393162"/>
            <a:ext cx="1731561" cy="849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51445" y="1668762"/>
                <a:ext cx="2415859" cy="328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2400" b="1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  <a:p>
                <a:endParaRPr lang="en-GB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445" y="1668762"/>
                <a:ext cx="2415859" cy="32873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6293258" y="1649777"/>
            <a:ext cx="732232" cy="7867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0396" y="2845720"/>
            <a:ext cx="732232" cy="7867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1420" y="4044754"/>
            <a:ext cx="1192838" cy="7867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9280" y="1081481"/>
            <a:ext cx="259228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Test Your Understanding: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5203" y="5273763"/>
            <a:ext cx="2396683" cy="8367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2591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</p:bldLst>
  </p:timing>
</p:sld>
</file>

<file path=ppt/c1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Complex Denominators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1520" y="836712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You’ve seen ‘rationalising a denominator’, the idea being that we don’t like to divide things by an irrational number.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9981" y="1697208"/>
                <a:ext cx="8064896" cy="19116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But what do we multiply the top and bottom by if we have a more complicated denominator?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81" y="1697208"/>
                <a:ext cx="8064896" cy="1911677"/>
              </a:xfrm>
              <a:prstGeom prst="rect">
                <a:avLst/>
              </a:prstGeom>
              <a:blipFill rotWithShape="0">
                <a:blip r:embed="rId2"/>
                <a:stretch>
                  <a:fillRect l="-605" t="-15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868117" y="2404367"/>
            <a:ext cx="1180949" cy="13376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4034" y="2404367"/>
            <a:ext cx="2924739" cy="13376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7623" y="4449146"/>
                <a:ext cx="7832822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We basically use the same expression but with the sign reversed (this is known as the </a:t>
                </a:r>
                <a:r>
                  <a:rPr lang="en-GB" i="1" dirty="0"/>
                  <a:t>conjugate</a:t>
                </a:r>
                <a:r>
                  <a:rPr lang="en-GB" dirty="0"/>
                  <a:t>). That way, we obtain the difference of two squares. 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any surds will be squared and thus we’ll end up with no surds in the denominator.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23" y="4449146"/>
                <a:ext cx="7832822" cy="1200329"/>
              </a:xfrm>
              <a:prstGeom prst="rect">
                <a:avLst/>
              </a:prstGeom>
              <a:blipFill>
                <a:blip r:embed="rId3"/>
                <a:stretch>
                  <a:fillRect l="-543" t="-1990" b="-5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32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c1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8" y="1052736"/>
                <a:ext cx="5472608" cy="942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052736"/>
                <a:ext cx="5472608" cy="94218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37943" y="1029354"/>
                <a:ext cx="2998553" cy="185884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You can explicitly expand out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GB" sz="1600" dirty="0"/>
                  <a:t> in the denominator, but remember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so we can mentally obtain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6−4=2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Just remember: ‘difference of two squares’!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943" y="1029354"/>
                <a:ext cx="2998553" cy="1858842"/>
              </a:xfrm>
              <a:prstGeom prst="rect">
                <a:avLst/>
              </a:prstGeom>
              <a:blipFill>
                <a:blip r:embed="rId3"/>
                <a:stretch>
                  <a:fillRect l="-605" t="-324" r="-1613" b="-2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5220072" y="1700808"/>
            <a:ext cx="936104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092304" y="1080655"/>
            <a:ext cx="1127768" cy="902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55576" y="4529342"/>
                <a:ext cx="7704856" cy="135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  <m:rad>
                            <m:radPr>
                              <m:degHide m:val="on"/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  <m:oMath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𝟓𝟖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𝟒𝟏</m:t>
                      </m:r>
                      <m:rad>
                        <m:radPr>
                          <m:degHide m:val="on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529342"/>
                <a:ext cx="7704856" cy="13524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891405" y="4509120"/>
            <a:ext cx="1158837" cy="9517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5976" y="4509120"/>
            <a:ext cx="3600400" cy="13727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397" y="1080655"/>
            <a:ext cx="992582" cy="902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60621" y="3002172"/>
                <a:ext cx="5472608" cy="942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621" y="3002172"/>
                <a:ext cx="5472608" cy="94218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965474" y="3076500"/>
            <a:ext cx="1127768" cy="902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1549" y="3076501"/>
            <a:ext cx="992582" cy="902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2085" y="3076500"/>
            <a:ext cx="1295154" cy="902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012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c1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88024" y="3801444"/>
            <a:ext cx="345609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AQA IGCSE FM June 2013 Paper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88024" y="4161484"/>
                <a:ext cx="3960440" cy="99777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dirty="0"/>
              </a:p>
              <a:p>
                <a:r>
                  <a:rPr lang="en-GB" dirty="0"/>
                  <a:t>Give your answer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are integers.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4161484"/>
                <a:ext cx="3960440" cy="997774"/>
              </a:xfrm>
              <a:prstGeom prst="rect">
                <a:avLst/>
              </a:prstGeom>
              <a:blipFill rotWithShape="0">
                <a:blip r:embed="rId2"/>
                <a:stretch>
                  <a:fillRect b="-105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36169" y="5384937"/>
                <a:ext cx="3664150" cy="1442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  <m:oMath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    =</m:t>
                      </m:r>
                      <m:f>
                        <m:f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ad>
                            <m:radPr>
                              <m:degHide m:val="on"/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169" y="5384937"/>
                <a:ext cx="3664150" cy="144276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99501" y="3160980"/>
                <a:ext cx="3960440" cy="128092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Rationalise the denominator and simplify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01" y="3160980"/>
                <a:ext cx="3960440" cy="12809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3517" y="4755037"/>
                <a:ext cx="3816424" cy="1891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𝟐𝟕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𝟐𝟔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17" y="4755037"/>
                <a:ext cx="3816424" cy="189141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356189" y="5308803"/>
            <a:ext cx="2801475" cy="1473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0991" y="4644035"/>
            <a:ext cx="2801475" cy="200241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5536" y="900874"/>
                <a:ext cx="2664296" cy="124245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Rationalise the denominator and simplify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00874"/>
                <a:ext cx="2664296" cy="124245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215662" y="1334065"/>
                <a:ext cx="1440160" cy="407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62" y="1334065"/>
                <a:ext cx="1440160" cy="40754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408661" y="1203633"/>
            <a:ext cx="1097237" cy="6692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867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</p:bldLst>
  </p:timing>
</p:sld>
</file>

<file path=ppt/c1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3A6C8C-42D9-4F92-AB63-F6278C434A6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F823278-7D07-411A-B6B5-B3A25CF2775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Writing surd expressions in power form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9F05C23-D8CD-4339-BA7C-FBEBE88EBB2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A2C728-FFFC-4EFE-B79C-14F93260A0ED}"/>
                  </a:ext>
                </a:extLst>
              </p:cNvPr>
              <p:cNvSpPr txBox="1"/>
              <p:nvPr/>
            </p:nvSpPr>
            <p:spPr>
              <a:xfrm>
                <a:off x="395536" y="1844824"/>
                <a:ext cx="3600400" cy="5817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Express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as powers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A2C728-FFFC-4EFE-B79C-14F93260A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844824"/>
                <a:ext cx="3600400" cy="581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CEBB1D-0610-4705-8051-660DCCBCEFF3}"/>
                  </a:ext>
                </a:extLst>
              </p:cNvPr>
              <p:cNvSpPr txBox="1"/>
              <p:nvPr/>
            </p:nvSpPr>
            <p:spPr>
              <a:xfrm>
                <a:off x="683568" y="2708920"/>
                <a:ext cx="2664296" cy="2414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4+4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4+4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CEBB1D-0610-4705-8051-660DCCBCE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708920"/>
                <a:ext cx="2664296" cy="24141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BACE758-E8E1-4040-AA26-03D14C70EA29}"/>
              </a:ext>
            </a:extLst>
          </p:cNvPr>
          <p:cNvSpPr txBox="1"/>
          <p:nvPr/>
        </p:nvSpPr>
        <p:spPr>
          <a:xfrm>
            <a:off x="395536" y="836712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not in the textbook, but a common type of question in exams, often asked in conjunction with differentiation (a later chapter).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F97BD9-1949-4797-AAC1-98949587BF72}"/>
                  </a:ext>
                </a:extLst>
              </p:cNvPr>
              <p:cNvSpPr txBox="1"/>
              <p:nvPr/>
            </p:nvSpPr>
            <p:spPr>
              <a:xfrm>
                <a:off x="5292080" y="1782713"/>
                <a:ext cx="3600400" cy="88620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Test Your Understanding</a:t>
                </a:r>
              </a:p>
              <a:p>
                <a:r>
                  <a:rPr lang="en-GB" dirty="0"/>
                  <a:t>Express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dirty="0"/>
                  <a:t> as powers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F97BD9-1949-4797-AAC1-98949587B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1782713"/>
                <a:ext cx="3600400" cy="886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9779E3-198B-4555-A8B4-B001B1CE9697}"/>
                  </a:ext>
                </a:extLst>
              </p:cNvPr>
              <p:cNvSpPr txBox="1"/>
              <p:nvPr/>
            </p:nvSpPr>
            <p:spPr>
              <a:xfrm>
                <a:off x="5472100" y="2960948"/>
                <a:ext cx="2880320" cy="2036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9779E3-198B-4555-A8B4-B001B1CE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00" y="2960948"/>
                <a:ext cx="2880320" cy="2036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2BC02B1-DDD7-40F2-9473-2C1305D420A9}"/>
              </a:ext>
            </a:extLst>
          </p:cNvPr>
          <p:cNvSpPr txBox="1"/>
          <p:nvPr/>
        </p:nvSpPr>
        <p:spPr>
          <a:xfrm>
            <a:off x="2988593" y="2769865"/>
            <a:ext cx="930063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Expand.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FBB805-83C6-4DE0-ACE3-44D6B22E544A}"/>
              </a:ext>
            </a:extLst>
          </p:cNvPr>
          <p:cNvCxnSpPr/>
          <p:nvPr/>
        </p:nvCxnSpPr>
        <p:spPr>
          <a:xfrm flipH="1" flipV="1">
            <a:off x="2627784" y="2924944"/>
            <a:ext cx="36004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C7341E-9E1C-4367-A4DF-41D72443D625}"/>
                  </a:ext>
                </a:extLst>
              </p:cNvPr>
              <p:cNvSpPr txBox="1"/>
              <p:nvPr/>
            </p:nvSpPr>
            <p:spPr>
              <a:xfrm>
                <a:off x="3168613" y="3491717"/>
                <a:ext cx="1763427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Write any roots as powers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C7341E-9E1C-4367-A4DF-41D72443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613" y="3491717"/>
                <a:ext cx="1763427" cy="646331"/>
              </a:xfrm>
              <a:prstGeom prst="rect">
                <a:avLst/>
              </a:prstGeom>
              <a:blipFill>
                <a:blip r:embed="rId6"/>
                <a:stretch>
                  <a:fillRect l="-2389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58C420-585A-47F5-87A4-78D76C3088A8}"/>
              </a:ext>
            </a:extLst>
          </p:cNvPr>
          <p:cNvCxnSpPr/>
          <p:nvPr/>
        </p:nvCxnSpPr>
        <p:spPr>
          <a:xfrm flipH="1" flipV="1">
            <a:off x="2807804" y="3646796"/>
            <a:ext cx="360040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6627E5-EA18-4F11-AE0A-5FE91DC3D92A}"/>
              </a:ext>
            </a:extLst>
          </p:cNvPr>
          <p:cNvSpPr txBox="1"/>
          <p:nvPr/>
        </p:nvSpPr>
        <p:spPr>
          <a:xfrm>
            <a:off x="3320610" y="4538847"/>
            <a:ext cx="1763427" cy="8002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Split fraction </a:t>
            </a:r>
            <a:r>
              <a:rPr lang="en-GB" sz="1400" dirty="0"/>
              <a:t>(some may wish to do this step mentally)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87E9F-EFF1-4393-95A7-C20664523CD7}"/>
              </a:ext>
            </a:extLst>
          </p:cNvPr>
          <p:cNvCxnSpPr>
            <a:cxnSpLocks/>
          </p:cNvCxnSpPr>
          <p:nvPr/>
        </p:nvCxnSpPr>
        <p:spPr>
          <a:xfrm flipH="1" flipV="1">
            <a:off x="2987824" y="4538847"/>
            <a:ext cx="332786" cy="17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6E653E-6452-4D94-88BD-AD58B5DB00B7}"/>
              </a:ext>
            </a:extLst>
          </p:cNvPr>
          <p:cNvSpPr/>
          <p:nvPr/>
        </p:nvSpPr>
        <p:spPr>
          <a:xfrm>
            <a:off x="411163" y="2435248"/>
            <a:ext cx="4672874" cy="322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FC9D11-F2A2-4D6E-8D71-EA9289B753C3}"/>
              </a:ext>
            </a:extLst>
          </p:cNvPr>
          <p:cNvSpPr/>
          <p:nvPr/>
        </p:nvSpPr>
        <p:spPr>
          <a:xfrm>
            <a:off x="5295131" y="2666629"/>
            <a:ext cx="3597349" cy="29946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1527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1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1F (Page 15)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8237" y="1054990"/>
                <a:ext cx="3024336" cy="4501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Rationalise the denominator and simplify the following: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  <a:p>
                <a:pPr/>
                <a:br>
                  <a:rPr lang="en-GB" sz="1200" b="0" dirty="0"/>
                </a:b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:br>
                  <a:rPr lang="en-GB" sz="1200" b="0" dirty="0"/>
                </a:b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  <a:p>
                <a:pPr/>
                <a:br>
                  <a:rPr lang="en-GB" sz="1200" b="0" dirty="0"/>
                </a:b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  <a:p>
                <a:pPr/>
                <a:br>
                  <a:rPr lang="en-GB" sz="1200" b="0" dirty="0"/>
                </a:b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37" y="1054990"/>
                <a:ext cx="3024336" cy="4501169"/>
              </a:xfrm>
              <a:prstGeom prst="rect">
                <a:avLst/>
              </a:prstGeom>
              <a:blipFill>
                <a:blip r:embed="rId2"/>
                <a:stretch>
                  <a:fillRect l="-1610" t="-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614339" y="836712"/>
                <a:ext cx="3888432" cy="5844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Expand and simplify: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Rationalise the denominator, giving your answer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+7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4−</m:t>
                        </m:r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giving your answer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4−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Simplify: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rad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339" y="836712"/>
                <a:ext cx="3888432" cy="5844933"/>
              </a:xfrm>
              <a:prstGeom prst="rect">
                <a:avLst/>
              </a:prstGeom>
              <a:blipFill>
                <a:blip r:embed="rId3"/>
                <a:stretch>
                  <a:fillRect l="-1411" t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364941" y="1671014"/>
            <a:ext cx="1104468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4941" y="2420653"/>
            <a:ext cx="1104468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3057" y="3315075"/>
            <a:ext cx="1104468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4941" y="4083870"/>
            <a:ext cx="1104468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1322" y="4906351"/>
            <a:ext cx="1104468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2051" y="2354239"/>
            <a:ext cx="1224136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8064" y="3943703"/>
            <a:ext cx="2993540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906" y="5096669"/>
            <a:ext cx="2202579" cy="6472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1319" y="5979204"/>
            <a:ext cx="2201452" cy="5748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205" y="1114555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9830" y="877655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9830" y="1831544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9830" y="3283007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9830" y="4757749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765" y="1846259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3765" y="2575078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765" y="3418616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765" y="4263306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765" y="5107996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9160" y="995878"/>
            <a:ext cx="634093" cy="6001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9830" y="5944459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20" y="642670"/>
            <a:ext cx="4362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or alternatively: (not in textbook)</a:t>
            </a:r>
          </a:p>
        </p:txBody>
      </p:sp>
    </p:spTree>
    <p:extLst>
      <p:ext uri="{BB962C8B-B14F-4D97-AF65-F5344CB8AC3E}">
        <p14:creationId xmlns:p14="http://schemas.microsoft.com/office/powerpoint/2010/main" val="223885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8" grpId="0" animBg="1"/>
    </p:bldLst>
  </p:timing>
</p:sld>
</file>

<file path=ppt/c1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