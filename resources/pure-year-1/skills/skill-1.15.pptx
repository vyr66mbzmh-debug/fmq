
<file path=[Content_Types].xml><?xml version="1.0" encoding="utf-8"?>
<ns0:Types xmlns:ns0="http://schemas.openxmlformats.org/package/2006/content-types">
  <ns0:Default Extension="emf" ContentType="image/x-emf"/>
  <ns0:Default Extension="png" ContentType="image/png"/>
  <ns0:Default Extension="rels" ContentType="application/vnd.openxmlformats-package.relationships+xml"/>
  <ns0:Default Extension="xml" ContentType="application/xml"/>
  <ns0:Override PartName="/ppt/c4/ppt/slideMasters/slideMaster1.xml" ContentType="application/vnd.openxmlformats-officedocument.presentationml.slideMaster+xml"/>
  <ns0:Override PartName="/ppt/c4/ppt/slides/slide4.xml" ContentType="application/vnd.openxmlformats-officedocument.presentationml.slide+xml"/>
  <ns0:Override PartName="/ppt/c4/ppt/slides/slide5.xml" ContentType="application/vnd.openxmlformats-officedocument.presentationml.slide+xml"/>
  <ns0:Override PartName="/ppt/c4/ppt/slides/slide6.xml" ContentType="application/vnd.openxmlformats-officedocument.presentationml.slide+xml"/>
  <ns0:Override PartName="/ppt/c4/ppt/slides/slide7.xml" ContentType="application/vnd.openxmlformats-officedocument.presentationml.slide+xml"/>
  <ns0:Override PartName="/ppt/c4/ppt/slides/slide8.xml" ContentType="application/vnd.openxmlformats-officedocument.presentationml.slide+xml"/>
  <ns0:Override PartName="/ppt/c4/ppt/slides/slide9.xml" ContentType="application/vnd.openxmlformats-officedocument.presentationml.slide+xml"/>
  <ns0:Override PartName="/ppt/c4/ppt/slides/slide10.xml" ContentType="application/vnd.openxmlformats-officedocument.presentationml.slide+xml"/>
  <ns0:Override PartName="/ppt/c4/ppt/slides/slide11.xml" ContentType="application/vnd.openxmlformats-officedocument.presentationml.slide+xml"/>
  <ns0:Override PartName="/ppt/c4/ppt/slides/slide12.xml" ContentType="application/vnd.openxmlformats-officedocument.presentationml.slide+xml"/>
  <ns0:Override PartName="/ppt/c4/ppt/slides/slide13.xml" ContentType="application/vnd.openxmlformats-officedocument.presentationml.slide+xml"/>
  <ns0:Override PartName="/ppt/c4/ppt/slides/slide14.xml" ContentType="application/vnd.openxmlformats-officedocument.presentationml.slide+xml"/>
  <ns0:Override PartName="/ppt/c4/ppt/slides/slide15.xml" ContentType="application/vnd.openxmlformats-officedocument.presentationml.slide+xml"/>
  <ns0:Override PartName="/ppt/c4/ppt/notesMasters/notesMaster1.xml" ContentType="application/vnd.openxmlformats-officedocument.presentationml.notesMaster+xml"/>
  <ns0:Override PartName="/ppt/c4/ppt/theme/theme1.xml" ContentType="application/vnd.openxmlformats-officedocument.theme+xml"/>
  <ns0:Override PartName="/ppt/c4/ppt/slideLayouts/slideLayout1.xml" ContentType="application/vnd.openxmlformats-officedocument.presentationml.slideLayout+xml"/>
  <ns0:Override PartName="/ppt/c4/ppt/slideLayouts/slideLayout2.xml" ContentType="application/vnd.openxmlformats-officedocument.presentationml.slideLayout+xml"/>
  <ns0:Override PartName="/ppt/c4/ppt/slideLayouts/slideLayout3.xml" ContentType="application/vnd.openxmlformats-officedocument.presentationml.slideLayout+xml"/>
  <ns0:Override PartName="/ppt/c4/ppt/theme/theme2.xml" ContentType="application/vnd.openxmlformats-officedocument.theme+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4048" r:id="rId13"/>
  </p:sldMasterIdLst>
  <p:notesMasterIdLst>
    <p:notesMasterId r:id="rId14"/>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9144000" cy="6858000" type="screen4x3"/>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4/ppt/slides/slide4.xml" /><ns0:Relationship Id="rId2" Type="http://schemas.openxmlformats.org/officeDocument/2006/relationships/slide" Target="c4/ppt/slides/slide5.xml" /><ns0:Relationship Id="rId3" Type="http://schemas.openxmlformats.org/officeDocument/2006/relationships/slide" Target="c4/ppt/slides/slide6.xml" /><ns0:Relationship Id="rId4" Type="http://schemas.openxmlformats.org/officeDocument/2006/relationships/slide" Target="c4/ppt/slides/slide7.xml" /><ns0:Relationship Id="rId5" Type="http://schemas.openxmlformats.org/officeDocument/2006/relationships/slide" Target="c4/ppt/slides/slide8.xml" /><ns0:Relationship Id="rId6" Type="http://schemas.openxmlformats.org/officeDocument/2006/relationships/slide" Target="c4/ppt/slides/slide9.xml" /><ns0:Relationship Id="rId7" Type="http://schemas.openxmlformats.org/officeDocument/2006/relationships/slide" Target="c4/ppt/slides/slide10.xml" /><ns0:Relationship Id="rId8" Type="http://schemas.openxmlformats.org/officeDocument/2006/relationships/slide" Target="c4/ppt/slides/slide11.xml" /><ns0:Relationship Id="rId9" Type="http://schemas.openxmlformats.org/officeDocument/2006/relationships/slide" Target="c4/ppt/slides/slide12.xml" /><ns0:Relationship Id="rId10" Type="http://schemas.openxmlformats.org/officeDocument/2006/relationships/slide" Target="c4/ppt/slides/slide13.xml" /><ns0:Relationship Id="rId11" Type="http://schemas.openxmlformats.org/officeDocument/2006/relationships/slide" Target="c4/ppt/slides/slide14.xml" /><ns0:Relationship Id="rId12" Type="http://schemas.openxmlformats.org/officeDocument/2006/relationships/slide" Target="c4/ppt/slides/slide15.xml" /><ns0:Relationship Id="rId13" Type="http://schemas.openxmlformats.org/officeDocument/2006/relationships/slideMaster" Target="c4/ppt/slideMasters/slideMaster1.xml" /><ns0:Relationship Id="rId14" Type="http://schemas.openxmlformats.org/officeDocument/2006/relationships/notesMaster" Target="c4/ppt/notesMasters/notesMaster1.xml" /></ns0:Relationships>
</file>

<file path=ppt/c4/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4/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13/10/2026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4/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4/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4/ppt/slideLayouts/_rels/slideLayout3.xml.rels><?xml version='1.0' encoding='utf-8'?>
<ns0:Relationships xmlns:ns0="http://schemas.openxmlformats.org/package/2006/relationships"><ns0:Relationship Id="rId1" Type="http://schemas.openxmlformats.org/officeDocument/2006/relationships/slideMaster" Target="../slideMasters/slideMaster1.xml" /></ns0:Relationships>
</file>

<file path=ppt/c4/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1636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90"/>
            <a:ext cx="7772400" cy="1470025"/>
          </a:xfrm>
          <a:prstGeom prst="rect">
            <a:avLst/>
          </a:prstGeom>
        </p:spPr>
        <p:txBody>
          <a:bodyPr>
            <a:noAutofit/>
          </a:bodyPr>
          <a:lstStyle>
            <a:lvl1pPr>
              <a:defRPr sz="5539" b="0">
                <a:solidFill>
                  <a:schemeClr val="bg1"/>
                </a:solidFill>
              </a:defRPr>
            </a:lvl1pPr>
          </a:lstStyle>
          <a:p>
            <a:r>
              <a:rPr lang="en-US"/>
              <a:t>Click to edit Master title style</a:t>
            </a:r>
            <a:endParaRPr lang="en-GB"/>
          </a:p>
        </p:txBody>
      </p:sp>
      <p:sp>
        <p:nvSpPr>
          <p:cNvPr id="3" name="Rectangle 2">
            <a:extLst>
              <a:ext uri="{FF2B5EF4-FFF2-40B4-BE49-F238E27FC236}">
                <a16:creationId xmlns:a16="http://schemas.microsoft.com/office/drawing/2014/main" id="{7872F630-5B3C-7CD4-714F-EBE8672B649B}"/>
              </a:ext>
            </a:extLst>
          </p:cNvPr>
          <p:cNvSpPr/>
          <p:nvPr userDrawn="1"/>
        </p:nvSpPr>
        <p:spPr>
          <a:xfrm>
            <a:off x="8428871" y="188640"/>
            <a:ext cx="648072" cy="432048"/>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62"/>
          </a:p>
        </p:txBody>
      </p:sp>
    </p:spTree>
    <p:extLst>
      <p:ext uri="{BB962C8B-B14F-4D97-AF65-F5344CB8AC3E}">
        <p14:creationId xmlns:p14="http://schemas.microsoft.com/office/powerpoint/2010/main" val="2805543805"/>
      </p:ext>
    </p:extLst>
  </p:cSld>
  <p:clrMapOvr>
    <a:masterClrMapping/>
  </p:clrMapOvr>
</p:sldLayout>
</file>

<file path=ppt/c4/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13/10/2026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989236634"/>
      </p:ext>
    </p:extLst>
  </p:cSld>
  <p:clrMapOvr>
    <a:masterClrMapping/>
  </p:clrMapOvr>
</p:sldLayout>
</file>

<file path=ppt/c4/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0612116"/>
      </p:ext>
    </p:extLst>
  </p:cSld>
  <p:clrMapOvr>
    <a:masterClrMapping/>
  </p:clrMapOvr>
</p:sldLayout>
</file>

<file path=ppt/c4/ppt/slideMasters/_rels/slideMaster1.xml.rels><?xml version='1.0' encoding='utf-8'?>
<ns0:Relationships xmlns:ns0="http://schemas.openxmlformats.org/package/2006/relationships"><ns0:Relationship Id="rId3" Type="http://schemas.openxmlformats.org/officeDocument/2006/relationships/slideLayout" Target="../slideLayouts/slideLayout3.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 Id="rId4" Type="http://schemas.openxmlformats.org/officeDocument/2006/relationships/theme" Target="../theme/theme1.xml" /></ns0:Relationships>
</file>

<file path=ppt/c4/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108">
                <a:solidFill>
                  <a:schemeClr val="tx1">
                    <a:tint val="75000"/>
                  </a:schemeClr>
                </a:solidFill>
              </a:defRPr>
            </a:lvl1pPr>
          </a:lstStyle>
          <a:p>
            <a:fld id="{0B9AFE4D-3339-4F90-AB07-DAB31D79E32A}" type="datetimeFigureOut">
              <a:rPr lang="en-GB" smtClean="0"/>
              <a:pPr/>
              <a:t>13/10/2026</a:t>
            </a:fld>
            <a:endParaRPr lang="en-GB"/>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108">
                <a:solidFill>
                  <a:schemeClr val="tx1">
                    <a:tint val="75000"/>
                  </a:schemeClr>
                </a:solidFill>
              </a:defRPr>
            </a:lvl1pPr>
          </a:lstStyle>
          <a:p>
            <a:endParaRPr lang="en-GB"/>
          </a:p>
        </p:txBody>
      </p:sp>
      <p:sp>
        <p:nvSpPr>
          <p:cNvPr id="7" name="Title Placeholder 1">
            <a:extLst>
              <a:ext uri="{FF2B5EF4-FFF2-40B4-BE49-F238E27FC236}">
                <a16:creationId xmlns:a16="http://schemas.microsoft.com/office/drawing/2014/main" id="{92ED294D-B0C8-4542-E684-B53C78608EE0}"/>
              </a:ext>
            </a:extLst>
          </p:cNvPr>
          <p:cNvSpPr>
            <a:spLocks noGrp="1"/>
          </p:cNvSpPr>
          <p:nvPr>
            <p:ph type="title"/>
          </p:nvPr>
        </p:nvSpPr>
        <p:spPr>
          <a:xfrm>
            <a:off x="457200" y="599126"/>
            <a:ext cx="8229600" cy="81851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Slide Number Placeholder 1">
            <a:extLst>
              <a:ext uri="{FF2B5EF4-FFF2-40B4-BE49-F238E27FC236}">
                <a16:creationId xmlns:a16="http://schemas.microsoft.com/office/drawing/2014/main" id="{75F76BD1-7557-D06F-3AB0-B42B271D5D21}"/>
              </a:ext>
            </a:extLst>
          </p:cNvPr>
          <p:cNvSpPr txBox="1">
            <a:spLocks/>
          </p:cNvSpPr>
          <p:nvPr userDrawn="1"/>
        </p:nvSpPr>
        <p:spPr>
          <a:xfrm>
            <a:off x="0" y="0"/>
            <a:ext cx="9144000" cy="599126"/>
          </a:xfrm>
          <a:prstGeom prst="rect">
            <a:avLst/>
          </a:prstGeom>
          <a:solidFill>
            <a:srgbClr val="17375E"/>
          </a:solidFill>
        </p:spPr>
        <p:txBody>
          <a:bodyPr vert="horz" lIns="0" tIns="0" rIns="132923"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477" i="0" smtClean="0">
                <a:solidFill>
                  <a:schemeClr val="bg1"/>
                </a:solidFill>
              </a:rPr>
              <a:pPr algn="r"/>
              <a:t>‹#›</a:t>
            </a:fld>
            <a:endParaRPr lang="en-GB" sz="1477" i="0">
              <a:solidFill>
                <a:schemeClr val="bg1"/>
              </a:solidFill>
            </a:endParaRPr>
          </a:p>
        </p:txBody>
      </p:sp>
    </p:spTree>
    <p:extLst>
      <p:ext uri="{BB962C8B-B14F-4D97-AF65-F5344CB8AC3E}">
        <p14:creationId xmlns:p14="http://schemas.microsoft.com/office/powerpoint/2010/main" val="923499584"/>
      </p:ext>
    </p:extLst>
  </p:cSld>
  <p:clrMap bg1="lt1" tx1="dk1" bg2="lt2" tx2="dk2" accent1="accent1" accent2="accent2" accent3="accent3" accent4="accent4" accent5="accent5" accent6="accent6" hlink="hlink" folHlink="folHlink"/>
  <p:sldLayoutIdLst>
    <p:sldLayoutId id="2147500100" r:id="rId1"/>
    <p:sldLayoutId id="2147500101" r:id="rId2"/>
    <p:sldLayoutId id="2147500102" r:id="rId3"/>
  </p:sldLayoutIdLst>
  <p:txStyles>
    <p:titleStyle>
      <a:lvl1pPr algn="ctr" defTabSz="844083" rtl="0" eaLnBrk="1" latinLnBrk="0" hangingPunct="1">
        <a:spcBef>
          <a:spcPct val="0"/>
        </a:spcBef>
        <a:buNone/>
        <a:defRPr sz="4062" kern="1200">
          <a:solidFill>
            <a:schemeClr val="tx1"/>
          </a:solidFill>
          <a:latin typeface="+mj-lt"/>
          <a:ea typeface="+mj-ea"/>
          <a:cs typeface="+mj-cs"/>
        </a:defRPr>
      </a:lvl1pPr>
    </p:titleStyle>
    <p:bodyStyle>
      <a:lvl1pPr marL="316531" indent="-316531" algn="l" defTabSz="844083" rtl="0" eaLnBrk="1" latinLnBrk="0" hangingPunct="1">
        <a:spcBef>
          <a:spcPct val="20000"/>
        </a:spcBef>
        <a:buFont typeface="Arial" pitchFamily="34" charset="0"/>
        <a:buChar char="•"/>
        <a:defRPr sz="2954" kern="1200">
          <a:solidFill>
            <a:schemeClr val="tx1"/>
          </a:solidFill>
          <a:latin typeface="+mn-lt"/>
          <a:ea typeface="+mn-ea"/>
          <a:cs typeface="+mn-cs"/>
        </a:defRPr>
      </a:lvl1pPr>
      <a:lvl2pPr marL="685817" indent="-263776" algn="l" defTabSz="844083" rtl="0" eaLnBrk="1" latinLnBrk="0" hangingPunct="1">
        <a:spcBef>
          <a:spcPct val="20000"/>
        </a:spcBef>
        <a:buFont typeface="Arial" pitchFamily="34" charset="0"/>
        <a:buChar char="–"/>
        <a:defRPr sz="2585" kern="1200">
          <a:solidFill>
            <a:schemeClr val="tx1"/>
          </a:solidFill>
          <a:latin typeface="+mn-lt"/>
          <a:ea typeface="+mn-ea"/>
          <a:cs typeface="+mn-cs"/>
        </a:defRPr>
      </a:lvl2pPr>
      <a:lvl3pPr marL="1055103" indent="-211021" algn="l" defTabSz="844083" rtl="0" eaLnBrk="1" latinLnBrk="0" hangingPunct="1">
        <a:spcBef>
          <a:spcPct val="20000"/>
        </a:spcBef>
        <a:buFont typeface="Arial" pitchFamily="34" charset="0"/>
        <a:buChar char="•"/>
        <a:defRPr sz="2215" kern="1200">
          <a:solidFill>
            <a:schemeClr val="tx1"/>
          </a:solidFill>
          <a:latin typeface="+mn-lt"/>
          <a:ea typeface="+mn-ea"/>
          <a:cs typeface="+mn-cs"/>
        </a:defRPr>
      </a:lvl3pPr>
      <a:lvl4pPr marL="1477145"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4pPr>
      <a:lvl5pPr marL="1899186"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5pPr>
      <a:lvl6pPr marL="2321227"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c4/ppt/slides/_rels/slide4.xml.rels><?xml version='1.0' encoding='utf-8'?>
<ns0:Relationships xmlns:ns0="http://schemas.openxmlformats.org/package/2006/relationships"><ns0:Relationship Id="rId3" Type="http://schemas.openxmlformats.org/officeDocument/2006/relationships/image" Target="../media/image13.png" /><ns0:Relationship Id="rId2" Type="http://schemas.openxmlformats.org/officeDocument/2006/relationships/image" Target="../media/image12.png" /><ns0:Relationship Id="rId1" Type="http://schemas.openxmlformats.org/officeDocument/2006/relationships/slideLayout" Target="../slideLayouts/slideLayout2.xml" /></ns0:Relationships>
</file>

<file path=ppt/c4/ppt/slides/_rels/slide5.xml.rels><?xml version='1.0' encoding='utf-8'?>
<ns0:Relationships xmlns:ns0="http://schemas.openxmlformats.org/package/2006/relationships"><ns0:Relationship Id="rId3" Type="http://schemas.openxmlformats.org/officeDocument/2006/relationships/image" Target="../media/image15.png" /><ns0:Relationship Id="rId2" Type="http://schemas.openxmlformats.org/officeDocument/2006/relationships/image" Target="../media/image14.png" /><ns0:Relationship Id="rId1" Type="http://schemas.openxmlformats.org/officeDocument/2006/relationships/slideLayout" Target="../slideLayouts/slideLayout2.xml" /></ns0:Relationships>
</file>

<file path=ppt/c4/ppt/slides/_rels/slide6.xml.rels><?xml version='1.0' encoding='utf-8'?>
<ns0:Relationships xmlns:ns0="http://schemas.openxmlformats.org/package/2006/relationships"><ns0:Relationship Id="rId8" Type="http://schemas.openxmlformats.org/officeDocument/2006/relationships/image" Target="../media/image22.png" /><ns0:Relationship Id="rId13" Type="http://schemas.openxmlformats.org/officeDocument/2006/relationships/image" Target="../media/image27.png" /><ns0:Relationship Id="rId18" Type="http://schemas.openxmlformats.org/officeDocument/2006/relationships/image" Target="../media/image32.png" /><ns0:Relationship Id="rId3" Type="http://schemas.openxmlformats.org/officeDocument/2006/relationships/image" Target="../media/image17.png" /><ns0:Relationship Id="rId7" Type="http://schemas.openxmlformats.org/officeDocument/2006/relationships/image" Target="../media/image21.png" /><ns0:Relationship Id="rId12" Type="http://schemas.openxmlformats.org/officeDocument/2006/relationships/image" Target="../media/image26.png" /><ns0:Relationship Id="rId17" Type="http://schemas.openxmlformats.org/officeDocument/2006/relationships/image" Target="../media/image31.png" /><ns0:Relationship Id="rId2" Type="http://schemas.openxmlformats.org/officeDocument/2006/relationships/image" Target="../media/image16.png" /><ns0:Relationship Id="rId16" Type="http://schemas.openxmlformats.org/officeDocument/2006/relationships/image" Target="../media/image30.png" /><ns0:Relationship Id="rId1" Type="http://schemas.openxmlformats.org/officeDocument/2006/relationships/slideLayout" Target="../slideLayouts/slideLayout2.xml" /><ns0:Relationship Id="rId6" Type="http://schemas.openxmlformats.org/officeDocument/2006/relationships/image" Target="../media/image20.png" /><ns0:Relationship Id="rId11" Type="http://schemas.openxmlformats.org/officeDocument/2006/relationships/image" Target="../media/image25.png" /><ns0:Relationship Id="rId5" Type="http://schemas.openxmlformats.org/officeDocument/2006/relationships/image" Target="../media/image19.png" /><ns0:Relationship Id="rId15" Type="http://schemas.openxmlformats.org/officeDocument/2006/relationships/image" Target="../media/image29.png" /><ns0:Relationship Id="rId10" Type="http://schemas.openxmlformats.org/officeDocument/2006/relationships/image" Target="../media/image24.png" /><ns0:Relationship Id="rId4" Type="http://schemas.openxmlformats.org/officeDocument/2006/relationships/image" Target="../media/image18.png" /><ns0:Relationship Id="rId9" Type="http://schemas.openxmlformats.org/officeDocument/2006/relationships/image" Target="../media/image23.png" /><ns0:Relationship Id="rId14" Type="http://schemas.openxmlformats.org/officeDocument/2006/relationships/image" Target="../media/image28.png" /></ns0:Relationships>
</file>

<file path=ppt/c4/ppt/slides/_rels/slide7.xml.rels><?xml version='1.0' encoding='utf-8'?>
<ns0:Relationships xmlns:ns0="http://schemas.openxmlformats.org/package/2006/relationships"><ns0:Relationship Id="rId8" Type="http://schemas.openxmlformats.org/officeDocument/2006/relationships/image" Target="../media/image39.png" /><ns0:Relationship Id="rId13" Type="http://schemas.openxmlformats.org/officeDocument/2006/relationships/image" Target="../media/image44.png" /><ns0:Relationship Id="rId3" Type="http://schemas.openxmlformats.org/officeDocument/2006/relationships/image" Target="../media/image34.png" /><ns0:Relationship Id="rId7" Type="http://schemas.openxmlformats.org/officeDocument/2006/relationships/image" Target="../media/image38.png" /><ns0:Relationship Id="rId12" Type="http://schemas.openxmlformats.org/officeDocument/2006/relationships/image" Target="../media/image43.png" /><ns0:Relationship Id="rId2" Type="http://schemas.openxmlformats.org/officeDocument/2006/relationships/image" Target="../media/image33.png" /><ns0:Relationship Id="rId16" Type="http://schemas.openxmlformats.org/officeDocument/2006/relationships/image" Target="../media/image47.png" /><ns0:Relationship Id="rId1" Type="http://schemas.openxmlformats.org/officeDocument/2006/relationships/slideLayout" Target="../slideLayouts/slideLayout2.xml" /><ns0:Relationship Id="rId6" Type="http://schemas.openxmlformats.org/officeDocument/2006/relationships/image" Target="../media/image37.png" /><ns0:Relationship Id="rId11" Type="http://schemas.openxmlformats.org/officeDocument/2006/relationships/image" Target="../media/image42.png" /><ns0:Relationship Id="rId5" Type="http://schemas.openxmlformats.org/officeDocument/2006/relationships/image" Target="../media/image36.png" /><ns0:Relationship Id="rId15" Type="http://schemas.openxmlformats.org/officeDocument/2006/relationships/image" Target="../media/image46.png" /><ns0:Relationship Id="rId10" Type="http://schemas.openxmlformats.org/officeDocument/2006/relationships/image" Target="../media/image41.png" /><ns0:Relationship Id="rId4" Type="http://schemas.openxmlformats.org/officeDocument/2006/relationships/image" Target="../media/image35.png" /><ns0:Relationship Id="rId9" Type="http://schemas.openxmlformats.org/officeDocument/2006/relationships/image" Target="../media/image40.png" /><ns0:Relationship Id="rId14" Type="http://schemas.openxmlformats.org/officeDocument/2006/relationships/image" Target="../media/image45.png" /></ns0:Relationships>
</file>

<file path=ppt/c4/ppt/slides/_rels/slide8.xml.rels><?xml version='1.0' encoding='utf-8'?>
<ns0:Relationships xmlns:ns0="http://schemas.openxmlformats.org/package/2006/relationships"><ns0:Relationship Id="rId8" Type="http://schemas.openxmlformats.org/officeDocument/2006/relationships/image" Target="../media/image53.png" /><ns0:Relationship Id="rId3" Type="http://schemas.openxmlformats.org/officeDocument/2006/relationships/image" Target="../media/image37.png" /><ns0:Relationship Id="rId7" Type="http://schemas.openxmlformats.org/officeDocument/2006/relationships/image" Target="../media/image52.png" /><ns0:Relationship Id="rId12" Type="http://schemas.openxmlformats.org/officeDocument/2006/relationships/image" Target="../media/image57.png" /><ns0:Relationship Id="rId2" Type="http://schemas.openxmlformats.org/officeDocument/2006/relationships/image" Target="../media/image48.png" /><ns0:Relationship Id="rId1" Type="http://schemas.openxmlformats.org/officeDocument/2006/relationships/slideLayout" Target="../slideLayouts/slideLayout2.xml" /><ns0:Relationship Id="rId6" Type="http://schemas.openxmlformats.org/officeDocument/2006/relationships/image" Target="../media/image51.png" /><ns0:Relationship Id="rId11" Type="http://schemas.openxmlformats.org/officeDocument/2006/relationships/image" Target="../media/image56.png" /><ns0:Relationship Id="rId5" Type="http://schemas.openxmlformats.org/officeDocument/2006/relationships/image" Target="../media/image50.png" /><ns0:Relationship Id="rId10" Type="http://schemas.openxmlformats.org/officeDocument/2006/relationships/image" Target="../media/image55.png" /><ns0:Relationship Id="rId4" Type="http://schemas.openxmlformats.org/officeDocument/2006/relationships/image" Target="../media/image49.png" /><ns0:Relationship Id="rId9" Type="http://schemas.openxmlformats.org/officeDocument/2006/relationships/image" Target="../media/image54.png" /></ns0:Relationships>
</file>

<file path=ppt/c4/ppt/slides/_rels/slide9.xml.rels><?xml version='1.0' encoding='utf-8'?>
<ns0:Relationships xmlns:ns0="http://schemas.openxmlformats.org/package/2006/relationships"><ns0:Relationship Id="rId8" Type="http://schemas.openxmlformats.org/officeDocument/2006/relationships/image" Target="../media/image63.png" /><ns0:Relationship Id="rId3" Type="http://schemas.openxmlformats.org/officeDocument/2006/relationships/image" Target="../media/image37.png" /><ns0:Relationship Id="rId7" Type="http://schemas.openxmlformats.org/officeDocument/2006/relationships/image" Target="../media/image62.png" /><ns0:Relationship Id="rId2" Type="http://schemas.openxmlformats.org/officeDocument/2006/relationships/image" Target="../media/image58.png" /><ns0:Relationship Id="rId1" Type="http://schemas.openxmlformats.org/officeDocument/2006/relationships/slideLayout" Target="../slideLayouts/slideLayout2.xml" /><ns0:Relationship Id="rId6" Type="http://schemas.openxmlformats.org/officeDocument/2006/relationships/image" Target="../media/image61.png" /><ns0:Relationship Id="rId5" Type="http://schemas.openxmlformats.org/officeDocument/2006/relationships/image" Target="../media/image60.png" /><ns0:Relationship Id="rId4" Type="http://schemas.openxmlformats.org/officeDocument/2006/relationships/image" Target="../media/image59.png" /></ns0:Relationships>
</file>

<file path=ppt/c4/ppt/slides/_rels/slide10.xml.rels><?xml version='1.0' encoding='utf-8'?>
<ns0:Relationships xmlns:ns0="http://schemas.openxmlformats.org/package/2006/relationships"><ns0:Relationship Id="rId3" Type="http://schemas.openxmlformats.org/officeDocument/2006/relationships/image" Target="../media/image65.png" /><ns0:Relationship Id="rId2" Type="http://schemas.openxmlformats.org/officeDocument/2006/relationships/image" Target="../media/image64.emf" /><ns0:Relationship Id="rId1" Type="http://schemas.openxmlformats.org/officeDocument/2006/relationships/slideLayout" Target="../slideLayouts/slideLayout2.xml" /><ns0:Relationship Id="rId4" Type="http://schemas.openxmlformats.org/officeDocument/2006/relationships/image" Target="../media/image66.png" /></ns0:Relationships>
</file>

<file path=ppt/c4/ppt/slides/_rels/slide11.xml.rels><?xml version='1.0' encoding='utf-8'?>
<ns0:Relationships xmlns:ns0="http://schemas.openxmlformats.org/package/2006/relationships"><ns0:Relationship Id="rId8" Type="http://schemas.openxmlformats.org/officeDocument/2006/relationships/image" Target="../media/image73.png" /><ns0:Relationship Id="rId13" Type="http://schemas.openxmlformats.org/officeDocument/2006/relationships/image" Target="../media/image77.png" /><ns0:Relationship Id="rId3" Type="http://schemas.openxmlformats.org/officeDocument/2006/relationships/image" Target="../media/image68.png" /><ns0:Relationship Id="rId7" Type="http://schemas.openxmlformats.org/officeDocument/2006/relationships/image" Target="../media/image72.png" /><ns0:Relationship Id="rId12" Type="http://schemas.openxmlformats.org/officeDocument/2006/relationships/image" Target="../media/image76.png" /><ns0:Relationship Id="rId2" Type="http://schemas.openxmlformats.org/officeDocument/2006/relationships/image" Target="../media/image67.png" /><ns0:Relationship Id="rId1" Type="http://schemas.openxmlformats.org/officeDocument/2006/relationships/slideLayout" Target="../slideLayouts/slideLayout2.xml" /><ns0:Relationship Id="rId6" Type="http://schemas.openxmlformats.org/officeDocument/2006/relationships/image" Target="../media/image71.png" /><ns0:Relationship Id="rId11" Type="http://schemas.openxmlformats.org/officeDocument/2006/relationships/image" Target="../media/image75.png" /><ns0:Relationship Id="rId5" Type="http://schemas.openxmlformats.org/officeDocument/2006/relationships/image" Target="../media/image70.png" /><ns0:Relationship Id="rId10" Type="http://schemas.openxmlformats.org/officeDocument/2006/relationships/image" Target="../media/image60.png" /><ns0:Relationship Id="rId4" Type="http://schemas.openxmlformats.org/officeDocument/2006/relationships/image" Target="../media/image69.png" /><ns0:Relationship Id="rId9" Type="http://schemas.openxmlformats.org/officeDocument/2006/relationships/image" Target="../media/image74.png" /></ns0:Relationships>
</file>

<file path=ppt/c4/ppt/slides/_rels/slide12.xml.rels><?xml version='1.0' encoding='utf-8'?>
<ns0:Relationships xmlns:ns0="http://schemas.openxmlformats.org/package/2006/relationships"><ns0:Relationship Id="rId3" Type="http://schemas.openxmlformats.org/officeDocument/2006/relationships/image" Target="../media/image79.png" /><ns0:Relationship Id="rId2" Type="http://schemas.openxmlformats.org/officeDocument/2006/relationships/image" Target="../media/image78.png" /><ns0:Relationship Id="rId1" Type="http://schemas.openxmlformats.org/officeDocument/2006/relationships/slideLayout" Target="../slideLayouts/slideLayout2.xml" /><ns0:Relationship Id="rId6" Type="http://schemas.openxmlformats.org/officeDocument/2006/relationships/image" Target="../media/image82.png" /><ns0:Relationship Id="rId5" Type="http://schemas.openxmlformats.org/officeDocument/2006/relationships/image" Target="../media/image81.png" /><ns0:Relationship Id="rId4" Type="http://schemas.openxmlformats.org/officeDocument/2006/relationships/image" Target="../media/image80.png" /></ns0:Relationships>
</file>

<file path=ppt/c4/ppt/slides/_rels/slide13.xml.rels><?xml version='1.0' encoding='utf-8'?>
<ns0:Relationships xmlns:ns0="http://schemas.openxmlformats.org/package/2006/relationships"><ns0:Relationship Id="rId3" Type="http://schemas.openxmlformats.org/officeDocument/2006/relationships/image" Target="../media/image84.png" /><ns0:Relationship Id="rId2" Type="http://schemas.openxmlformats.org/officeDocument/2006/relationships/image" Target="../media/image83.png" /><ns0:Relationship Id="rId1" Type="http://schemas.openxmlformats.org/officeDocument/2006/relationships/slideLayout" Target="../slideLayouts/slideLayout2.xml" /><ns0:Relationship Id="rId5" Type="http://schemas.openxmlformats.org/officeDocument/2006/relationships/image" Target="../media/image86.png" /><ns0:Relationship Id="rId4" Type="http://schemas.openxmlformats.org/officeDocument/2006/relationships/image" Target="../media/image85.png" /></ns0:Relationships>
</file>

<file path=ppt/c4/ppt/slides/_rels/slide14.xml.rels><?xml version='1.0' encoding='utf-8'?>
<ns0:Relationships xmlns:ns0="http://schemas.openxmlformats.org/package/2006/relationships"><ns0:Relationship Id="rId3" Type="http://schemas.openxmlformats.org/officeDocument/2006/relationships/image" Target="../media/image88.png" /><ns0:Relationship Id="rId2" Type="http://schemas.openxmlformats.org/officeDocument/2006/relationships/image" Target="../media/image87.png" /><ns0:Relationship Id="rId1" Type="http://schemas.openxmlformats.org/officeDocument/2006/relationships/slideLayout" Target="../slideLayouts/slideLayout2.xml" /><ns0:Relationship Id="rId6" Type="http://schemas.openxmlformats.org/officeDocument/2006/relationships/image" Target="../media/image91.png" /><ns0:Relationship Id="rId5" Type="http://schemas.openxmlformats.org/officeDocument/2006/relationships/image" Target="../media/image90.png" /><ns0:Relationship Id="rId4" Type="http://schemas.openxmlformats.org/officeDocument/2006/relationships/image" Target="../media/image89.png" /></ns0:Relationships>
</file>

<file path=ppt/c4/ppt/slides/_rels/slide15.xml.rels><?xml version='1.0' encoding='utf-8'?>
<ns0:Relationships xmlns:ns0="http://schemas.openxmlformats.org/package/2006/relationships"><ns0:Relationship Id="rId8" Type="http://schemas.openxmlformats.org/officeDocument/2006/relationships/image" Target="../media/image98.png" /><ns0:Relationship Id="rId3" Type="http://schemas.openxmlformats.org/officeDocument/2006/relationships/image" Target="../media/image93.png" /><ns0:Relationship Id="rId7" Type="http://schemas.openxmlformats.org/officeDocument/2006/relationships/image" Target="../media/image97.png" /><ns0:Relationship Id="rId2" Type="http://schemas.openxmlformats.org/officeDocument/2006/relationships/image" Target="../media/image92.png" /><ns0:Relationship Id="rId1" Type="http://schemas.openxmlformats.org/officeDocument/2006/relationships/slideLayout" Target="../slideLayouts/slideLayout2.xml" /><ns0:Relationship Id="rId6" Type="http://schemas.openxmlformats.org/officeDocument/2006/relationships/image" Target="../media/image96.png" /><ns0:Relationship Id="rId5" Type="http://schemas.openxmlformats.org/officeDocument/2006/relationships/image" Target="../media/image95.png" /><ns0:Relationship Id="rId4" Type="http://schemas.openxmlformats.org/officeDocument/2006/relationships/image" Target="../media/image94.png" /></ns0:Relationships>
</file>

<file path=ppt/c4/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467544" y="836712"/>
                <a:ext cx="6912768" cy="1569660"/>
              </a:xfrm>
              <a:prstGeom prst="rect">
                <a:avLst/>
              </a:prstGeom>
              <a:noFill/>
            </p:spPr>
            <p:txBody>
              <a:bodyPr wrap="square" rtlCol="0">
                <a:spAutoFit/>
              </a:bodyPr>
              <a:lstStyle/>
              <a:p>
                <a:r>
                  <a:rPr lang="en-GB"/>
                  <a:t>In Chapter 2 we briefly saw that a </a:t>
                </a:r>
                <a:r>
                  <a:rPr lang="en-GB" b="1"/>
                  <a:t>polynomial</a:t>
                </a:r>
                <a:r>
                  <a:rPr lang="en-GB"/>
                  <a:t> expression is of the form:</a:t>
                </a:r>
              </a:p>
              <a:p>
                <a:pPr/>
                <a14:m>
                  <m:oMathPara xmlns:m="http://schemas.openxmlformats.org/officeDocument/2006/math">
                    <m:oMath>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𝑏𝑥</m:t>
                      </m:r>
                      <m:r>
                        <a:rPr lang="en-GB" sz="2400" b="0" i="1" smtClean="0">
                          <a:latin typeface="Cambria Math" panose="02040503050406030204" pitchFamily="18" charset="0"/>
                        </a:rPr>
                        <m:t>+</m:t>
                      </m:r>
                      <m:r>
                        <a:rPr lang="en-GB" sz="2400" b="0" i="1" smtClean="0">
                          <a:latin typeface="Cambria Math" panose="02040503050406030204" pitchFamily="18" charset="0"/>
                        </a:rPr>
                        <m:t>𝑐</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r>
                        <a:rPr lang="en-GB" sz="2400" b="0" i="1" smtClean="0">
                          <a:latin typeface="Cambria Math" panose="02040503050406030204" pitchFamily="18" charset="0"/>
                        </a:rPr>
                        <m:t>𝑑</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r>
                        <a:rPr lang="en-GB" sz="2400" b="0" i="1" smtClean="0">
                          <a:latin typeface="Cambria Math" panose="02040503050406030204" pitchFamily="18" charset="0"/>
                        </a:rPr>
                        <m:t>𝑒</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oMath>
                  </m:oMathPara>
                </a14:m>
                <a:endParaRPr lang="en-GB" sz="2400"/>
              </a:p>
              <a:p>
                <a:r>
                  <a:rPr lang="en-GB"/>
                  <a:t>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m:t>
                    </m:r>
                    <m:r>
                      <a:rPr lang="en-GB" b="0" i="1" smtClean="0">
                        <a:latin typeface="Cambria Math" panose="02040503050406030204" pitchFamily="18" charset="0"/>
                      </a:rPr>
                      <m:t>𝑒</m:t>
                    </m:r>
                    <m:r>
                      <a:rPr lang="en-GB" b="0" i="1" smtClean="0">
                        <a:latin typeface="Cambria Math" panose="02040503050406030204" pitchFamily="18" charset="0"/>
                      </a:rPr>
                      <m:t>,…</m:t>
                    </m:r>
                  </m:oMath>
                </a14:m>
                <a:r>
                  <a:rPr lang="en-GB"/>
                  <a:t> are constants (which could be 0).</a:t>
                </a:r>
              </a:p>
              <a:p>
                <a:endParaRPr lang="en-GB"/>
              </a:p>
              <a:p>
                <a:r>
                  <a:rPr lang="en-GB"/>
                  <a:t>The </a:t>
                </a:r>
                <a:r>
                  <a:rPr lang="en-GB" b="1"/>
                  <a:t>order</a:t>
                </a:r>
                <a:r>
                  <a:rPr lang="en-GB"/>
                  <a:t> of a polynomial is its highest power.</a:t>
                </a:r>
              </a:p>
            </p:txBody>
          </p:sp>
        </mc:Choice>
        <mc:Fallback>
          <p:sp>
            <p:nvSpPr>
              <p:cNvPr id="5" name="TextBox 4"/>
              <p:cNvSpPr txBox="1">
                <a:spLocks noRot="1" noChangeAspect="1" noMove="1" noResize="1" noEditPoints="1" noAdjustHandles="1" noChangeArrowheads="1" noChangeShapeType="1" noTextEdit="1"/>
              </p:cNvSpPr>
              <p:nvPr/>
            </p:nvSpPr>
            <p:spPr>
              <a:xfrm>
                <a:off x="467544" y="836712"/>
                <a:ext cx="6912768" cy="1569660"/>
              </a:xfrm>
              <a:prstGeom prst="rect">
                <a:avLst/>
              </a:prstGeom>
              <a:blipFill>
                <a:blip r:embed="rId2"/>
                <a:stretch>
                  <a:fillRect l="-733" t="-1600" b="-48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1921244356"/>
                  </p:ext>
                </p:extLst>
              </p:nvPr>
            </p:nvGraphicFramePr>
            <p:xfrm>
              <a:off x="2555776" y="3140968"/>
              <a:ext cx="3696644" cy="2595880"/>
            </p:xfrm>
            <a:graphic>
              <a:graphicData uri="http://schemas.openxmlformats.org/drawingml/2006/table">
                <a:tbl>
                  <a:tblPr firstRow="1" bandRow="1">
                    <a:tableStyleId>{073A0DAA-6AF3-43AB-8588-CEC1D06C72B9}</a:tableStyleId>
                  </a:tblPr>
                  <a:tblGrid>
                    <a:gridCol w="1032348">
                      <a:extLst>
                        <a:ext uri="{9D8B030D-6E8A-4147-A177-3AD203B41FA5}">
                          <a16:colId xmlns:a16="http://schemas.microsoft.com/office/drawing/2014/main" val="1324943514"/>
                        </a:ext>
                      </a:extLst>
                    </a:gridCol>
                    <a:gridCol w="2664296">
                      <a:extLst>
                        <a:ext uri="{9D8B030D-6E8A-4147-A177-3AD203B41FA5}">
                          <a16:colId xmlns:a16="http://schemas.microsoft.com/office/drawing/2014/main" val="4096485173"/>
                        </a:ext>
                      </a:extLst>
                    </a:gridCol>
                  </a:tblGrid>
                  <a:tr h="370840">
                    <a:tc>
                      <a:txBody>
                        <a:bodyPr/>
                        <a:lstStyle/>
                        <a:p>
                          <a:r>
                            <a:rPr lang="en-GB"/>
                            <a:t>Order</a:t>
                          </a:r>
                        </a:p>
                      </a:txBody>
                      <a:tcPr/>
                    </a:tc>
                    <a:tc>
                      <a:txBody>
                        <a:bodyPr/>
                        <a:lstStyle/>
                        <a:p>
                          <a:r>
                            <a:rPr lang="en-GB"/>
                            <a:t>Name</a:t>
                          </a:r>
                        </a:p>
                      </a:txBody>
                      <a:tcPr/>
                    </a:tc>
                    <a:extLst>
                      <a:ext uri="{0D108BD9-81ED-4DB2-BD59-A6C34878D82A}">
                        <a16:rowId xmlns:a16="http://schemas.microsoft.com/office/drawing/2014/main" val="3183811607"/>
                      </a:ext>
                    </a:extLst>
                  </a:tr>
                  <a:tr h="370840">
                    <a:tc>
                      <a:txBody>
                        <a:bodyPr/>
                        <a:lstStyle/>
                        <a:p>
                          <a:r>
                            <a:rPr lang="en-GB"/>
                            <a:t>0</a:t>
                          </a:r>
                        </a:p>
                      </a:txBody>
                      <a:tcPr/>
                    </a:tc>
                    <a:tc>
                      <a:txBody>
                        <a:bodyPr/>
                        <a:lstStyle/>
                        <a:p>
                          <a:r>
                            <a:rPr lang="en-GB"/>
                            <a:t>Constant (e.g. “4”)</a:t>
                          </a:r>
                        </a:p>
                      </a:txBody>
                      <a:tcPr/>
                    </a:tc>
                    <a:extLst>
                      <a:ext uri="{0D108BD9-81ED-4DB2-BD59-A6C34878D82A}">
                        <a16:rowId xmlns:a16="http://schemas.microsoft.com/office/drawing/2014/main" val="3816454109"/>
                      </a:ext>
                    </a:extLst>
                  </a:tr>
                  <a:tr h="370840">
                    <a:tc>
                      <a:txBody>
                        <a:bodyPr/>
                        <a:lstStyle/>
                        <a:p>
                          <a:r>
                            <a:rPr lang="en-GB"/>
                            <a:t>1</a:t>
                          </a:r>
                        </a:p>
                      </a:txBody>
                      <a:tcPr/>
                    </a:tc>
                    <a:tc>
                      <a:txBody>
                        <a:bodyPr/>
                        <a:lstStyle/>
                        <a:p>
                          <a:r>
                            <a:rPr lang="en-GB"/>
                            <a:t>Linear (e.g. “</a:t>
                          </a:r>
                          <a14:m>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a:t>
                          </a:r>
                        </a:p>
                      </a:txBody>
                      <a:tcPr/>
                    </a:tc>
                    <a:extLst>
                      <a:ext uri="{0D108BD9-81ED-4DB2-BD59-A6C34878D82A}">
                        <a16:rowId xmlns:a16="http://schemas.microsoft.com/office/drawing/2014/main" val="1034427958"/>
                      </a:ext>
                    </a:extLst>
                  </a:tr>
                  <a:tr h="370840">
                    <a:tc>
                      <a:txBody>
                        <a:bodyPr/>
                        <a:lstStyle/>
                        <a:p>
                          <a:r>
                            <a:rPr lang="en-GB"/>
                            <a:t>2</a:t>
                          </a:r>
                        </a:p>
                      </a:txBody>
                      <a:tcPr/>
                    </a:tc>
                    <a:tc>
                      <a:txBody>
                        <a:bodyPr/>
                        <a:lstStyle/>
                        <a:p>
                          <a:r>
                            <a:rPr lang="en-GB"/>
                            <a:t>Quadratic (e.g.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oMath>
                          </a14:m>
                          <a:r>
                            <a:rPr lang="en-GB"/>
                            <a:t>”)</a:t>
                          </a:r>
                        </a:p>
                      </a:txBody>
                      <a:tcPr/>
                    </a:tc>
                    <a:extLst>
                      <a:ext uri="{0D108BD9-81ED-4DB2-BD59-A6C34878D82A}">
                        <a16:rowId xmlns:a16="http://schemas.microsoft.com/office/drawing/2014/main" val="4022585721"/>
                      </a:ext>
                    </a:extLst>
                  </a:tr>
                  <a:tr h="370840">
                    <a:tc>
                      <a:txBody>
                        <a:bodyPr/>
                        <a:lstStyle/>
                        <a:p>
                          <a:r>
                            <a:rPr lang="en-GB"/>
                            <a:t>3</a:t>
                          </a:r>
                        </a:p>
                      </a:txBody>
                      <a:tcPr/>
                    </a:tc>
                    <a:tc>
                      <a:txBody>
                        <a:bodyPr/>
                        <a:lstStyle/>
                        <a:p>
                          <a:r>
                            <a:rPr lang="en-GB"/>
                            <a:t>Cubic</a:t>
                          </a:r>
                        </a:p>
                      </a:txBody>
                      <a:tcPr/>
                    </a:tc>
                    <a:extLst>
                      <a:ext uri="{0D108BD9-81ED-4DB2-BD59-A6C34878D82A}">
                        <a16:rowId xmlns:a16="http://schemas.microsoft.com/office/drawing/2014/main" val="1578202632"/>
                      </a:ext>
                    </a:extLst>
                  </a:tr>
                  <a:tr h="370840">
                    <a:tc>
                      <a:txBody>
                        <a:bodyPr/>
                        <a:lstStyle/>
                        <a:p>
                          <a:r>
                            <a:rPr lang="en-GB"/>
                            <a:t>4</a:t>
                          </a:r>
                        </a:p>
                      </a:txBody>
                      <a:tcPr/>
                    </a:tc>
                    <a:tc>
                      <a:txBody>
                        <a:bodyPr/>
                        <a:lstStyle/>
                        <a:p>
                          <a:r>
                            <a:rPr lang="en-GB"/>
                            <a:t>Quartic</a:t>
                          </a:r>
                        </a:p>
                      </a:txBody>
                      <a:tcPr/>
                    </a:tc>
                    <a:extLst>
                      <a:ext uri="{0D108BD9-81ED-4DB2-BD59-A6C34878D82A}">
                        <a16:rowId xmlns:a16="http://schemas.microsoft.com/office/drawing/2014/main" val="1657921537"/>
                      </a:ext>
                    </a:extLst>
                  </a:tr>
                  <a:tr h="370840">
                    <a:tc>
                      <a:txBody>
                        <a:bodyPr/>
                        <a:lstStyle/>
                        <a:p>
                          <a:r>
                            <a:rPr lang="en-GB"/>
                            <a:t>5</a:t>
                          </a:r>
                        </a:p>
                      </a:txBody>
                      <a:tcPr/>
                    </a:tc>
                    <a:tc>
                      <a:txBody>
                        <a:bodyPr/>
                        <a:lstStyle/>
                        <a:p>
                          <a:r>
                            <a:rPr lang="en-GB" err="1"/>
                            <a:t>Quintic</a:t>
                          </a:r>
                          <a:endParaRPr lang="en-GB"/>
                        </a:p>
                      </a:txBody>
                      <a:tcPr/>
                    </a:tc>
                    <a:extLst>
                      <a:ext uri="{0D108BD9-81ED-4DB2-BD59-A6C34878D82A}">
                        <a16:rowId xmlns:a16="http://schemas.microsoft.com/office/drawing/2014/main" val="1880083474"/>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1921244356"/>
                  </p:ext>
                </p:extLst>
              </p:nvPr>
            </p:nvGraphicFramePr>
            <p:xfrm>
              <a:off x="2555776" y="3140968"/>
              <a:ext cx="3696644" cy="2595880"/>
            </p:xfrm>
            <a:graphic>
              <a:graphicData uri="http://schemas.openxmlformats.org/drawingml/2006/table">
                <a:tbl>
                  <a:tblPr firstRow="1" bandRow="1">
                    <a:tableStyleId>{073A0DAA-6AF3-43AB-8588-CEC1D06C72B9}</a:tableStyleId>
                  </a:tblPr>
                  <a:tblGrid>
                    <a:gridCol w="1032348">
                      <a:extLst>
                        <a:ext uri="{9D8B030D-6E8A-4147-A177-3AD203B41FA5}">
                          <a16:colId xmlns:a16="http://schemas.microsoft.com/office/drawing/2014/main" val="1324943514"/>
                        </a:ext>
                      </a:extLst>
                    </a:gridCol>
                    <a:gridCol w="2664296">
                      <a:extLst>
                        <a:ext uri="{9D8B030D-6E8A-4147-A177-3AD203B41FA5}">
                          <a16:colId xmlns:a16="http://schemas.microsoft.com/office/drawing/2014/main" val="4096485173"/>
                        </a:ext>
                      </a:extLst>
                    </a:gridCol>
                  </a:tblGrid>
                  <a:tr h="370840">
                    <a:tc>
                      <a:txBody>
                        <a:bodyPr/>
                        <a:lstStyle/>
                        <a:p>
                          <a:r>
                            <a:rPr lang="en-GB"/>
                            <a:t>Order</a:t>
                          </a:r>
                        </a:p>
                      </a:txBody>
                      <a:tcPr/>
                    </a:tc>
                    <a:tc>
                      <a:txBody>
                        <a:bodyPr/>
                        <a:lstStyle/>
                        <a:p>
                          <a:r>
                            <a:rPr lang="en-GB"/>
                            <a:t>Name</a:t>
                          </a:r>
                        </a:p>
                      </a:txBody>
                      <a:tcPr/>
                    </a:tc>
                    <a:extLst>
                      <a:ext uri="{0D108BD9-81ED-4DB2-BD59-A6C34878D82A}">
                        <a16:rowId xmlns:a16="http://schemas.microsoft.com/office/drawing/2014/main" val="3183811607"/>
                      </a:ext>
                    </a:extLst>
                  </a:tr>
                  <a:tr h="370840">
                    <a:tc>
                      <a:txBody>
                        <a:bodyPr/>
                        <a:lstStyle/>
                        <a:p>
                          <a:r>
                            <a:rPr lang="en-GB"/>
                            <a:t>0</a:t>
                          </a:r>
                        </a:p>
                      </a:txBody>
                      <a:tcPr/>
                    </a:tc>
                    <a:tc>
                      <a:txBody>
                        <a:bodyPr/>
                        <a:lstStyle/>
                        <a:p>
                          <a:r>
                            <a:rPr lang="en-GB"/>
                            <a:t>Constant (e.g. “4”)</a:t>
                          </a:r>
                        </a:p>
                      </a:txBody>
                      <a:tcPr/>
                    </a:tc>
                    <a:extLst>
                      <a:ext uri="{0D108BD9-81ED-4DB2-BD59-A6C34878D82A}">
                        <a16:rowId xmlns:a16="http://schemas.microsoft.com/office/drawing/2014/main" val="3816454109"/>
                      </a:ext>
                    </a:extLst>
                  </a:tr>
                  <a:tr h="370840">
                    <a:tc>
                      <a:txBody>
                        <a:bodyPr/>
                        <a:lstStyle/>
                        <a:p>
                          <a:r>
                            <a:rPr lang="en-GB"/>
                            <a:t>1</a:t>
                          </a:r>
                        </a:p>
                      </a:txBody>
                      <a:tcPr/>
                    </a:tc>
                    <a:tc>
                      <a:txBody>
                        <a:bodyPr/>
                        <a:lstStyle/>
                        <a:p>
                          <a:endParaRPr lang="en-US"/>
                        </a:p>
                      </a:txBody>
                      <a:tcPr>
                        <a:blipFill>
                          <a:blip r:embed="rId3"/>
                          <a:stretch>
                            <a:fillRect l="-39524" t="-210345" r="-952" b="-420690"/>
                          </a:stretch>
                        </a:blipFill>
                      </a:tcPr>
                    </a:tc>
                    <a:extLst>
                      <a:ext uri="{0D108BD9-81ED-4DB2-BD59-A6C34878D82A}">
                        <a16:rowId xmlns:a16="http://schemas.microsoft.com/office/drawing/2014/main" val="1034427958"/>
                      </a:ext>
                    </a:extLst>
                  </a:tr>
                  <a:tr h="370840">
                    <a:tc>
                      <a:txBody>
                        <a:bodyPr/>
                        <a:lstStyle/>
                        <a:p>
                          <a:r>
                            <a:rPr lang="en-GB"/>
                            <a:t>2</a:t>
                          </a:r>
                        </a:p>
                      </a:txBody>
                      <a:tcPr/>
                    </a:tc>
                    <a:tc>
                      <a:txBody>
                        <a:bodyPr/>
                        <a:lstStyle/>
                        <a:p>
                          <a:endParaRPr lang="en-US"/>
                        </a:p>
                      </a:txBody>
                      <a:tcPr>
                        <a:blipFill>
                          <a:blip r:embed="rId3"/>
                          <a:stretch>
                            <a:fillRect l="-39524" t="-310345" r="-952" b="-320690"/>
                          </a:stretch>
                        </a:blipFill>
                      </a:tcPr>
                    </a:tc>
                    <a:extLst>
                      <a:ext uri="{0D108BD9-81ED-4DB2-BD59-A6C34878D82A}">
                        <a16:rowId xmlns:a16="http://schemas.microsoft.com/office/drawing/2014/main" val="4022585721"/>
                      </a:ext>
                    </a:extLst>
                  </a:tr>
                  <a:tr h="370840">
                    <a:tc>
                      <a:txBody>
                        <a:bodyPr/>
                        <a:lstStyle/>
                        <a:p>
                          <a:r>
                            <a:rPr lang="en-GB"/>
                            <a:t>3</a:t>
                          </a:r>
                        </a:p>
                      </a:txBody>
                      <a:tcPr/>
                    </a:tc>
                    <a:tc>
                      <a:txBody>
                        <a:bodyPr/>
                        <a:lstStyle/>
                        <a:p>
                          <a:r>
                            <a:rPr lang="en-GB"/>
                            <a:t>Cubic</a:t>
                          </a:r>
                        </a:p>
                      </a:txBody>
                      <a:tcPr/>
                    </a:tc>
                    <a:extLst>
                      <a:ext uri="{0D108BD9-81ED-4DB2-BD59-A6C34878D82A}">
                        <a16:rowId xmlns:a16="http://schemas.microsoft.com/office/drawing/2014/main" val="1578202632"/>
                      </a:ext>
                    </a:extLst>
                  </a:tr>
                  <a:tr h="370840">
                    <a:tc>
                      <a:txBody>
                        <a:bodyPr/>
                        <a:lstStyle/>
                        <a:p>
                          <a:r>
                            <a:rPr lang="en-GB"/>
                            <a:t>4</a:t>
                          </a:r>
                        </a:p>
                      </a:txBody>
                      <a:tcPr/>
                    </a:tc>
                    <a:tc>
                      <a:txBody>
                        <a:bodyPr/>
                        <a:lstStyle/>
                        <a:p>
                          <a:r>
                            <a:rPr lang="en-GB"/>
                            <a:t>Quartic</a:t>
                          </a:r>
                        </a:p>
                      </a:txBody>
                      <a:tcPr/>
                    </a:tc>
                    <a:extLst>
                      <a:ext uri="{0D108BD9-81ED-4DB2-BD59-A6C34878D82A}">
                        <a16:rowId xmlns:a16="http://schemas.microsoft.com/office/drawing/2014/main" val="1657921537"/>
                      </a:ext>
                    </a:extLst>
                  </a:tr>
                  <a:tr h="370840">
                    <a:tc>
                      <a:txBody>
                        <a:bodyPr/>
                        <a:lstStyle/>
                        <a:p>
                          <a:r>
                            <a:rPr lang="en-GB"/>
                            <a:t>5</a:t>
                          </a:r>
                        </a:p>
                      </a:txBody>
                      <a:tcPr/>
                    </a:tc>
                    <a:tc>
                      <a:txBody>
                        <a:bodyPr/>
                        <a:lstStyle/>
                        <a:p>
                          <a:r>
                            <a:rPr lang="en-GB" err="1"/>
                            <a:t>Quintic</a:t>
                          </a:r>
                          <a:endParaRPr lang="en-GB"/>
                        </a:p>
                      </a:txBody>
                      <a:tcPr/>
                    </a:tc>
                    <a:extLst>
                      <a:ext uri="{0D108BD9-81ED-4DB2-BD59-A6C34878D82A}">
                        <a16:rowId xmlns:a16="http://schemas.microsoft.com/office/drawing/2014/main" val="1880083474"/>
                      </a:ext>
                    </a:extLst>
                  </a:tr>
                </a:tbl>
              </a:graphicData>
            </a:graphic>
          </p:graphicFrame>
        </mc:Fallback>
      </mc:AlternateContent>
      <p:sp>
        <p:nvSpPr>
          <p:cNvPr id="8" name="Rectangle 7"/>
          <p:cNvSpPr/>
          <p:nvPr/>
        </p:nvSpPr>
        <p:spPr>
          <a:xfrm>
            <a:off x="3588190" y="3868915"/>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3588190" y="4239718"/>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3588190" y="4610521"/>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p:cNvSpPr/>
          <p:nvPr/>
        </p:nvSpPr>
        <p:spPr>
          <a:xfrm>
            <a:off x="3588189" y="4981324"/>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2" name="Rectangle 11"/>
          <p:cNvSpPr/>
          <p:nvPr/>
        </p:nvSpPr>
        <p:spPr>
          <a:xfrm>
            <a:off x="3588188" y="5359086"/>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TextBox 12"/>
          <p:cNvSpPr txBox="1"/>
          <p:nvPr/>
        </p:nvSpPr>
        <p:spPr>
          <a:xfrm>
            <a:off x="7092280" y="3780995"/>
            <a:ext cx="1728192" cy="523220"/>
          </a:xfrm>
          <a:prstGeom prst="rect">
            <a:avLst/>
          </a:prstGeom>
          <a:noFill/>
        </p:spPr>
        <p:txBody>
          <a:bodyPr wrap="square" rtlCol="0">
            <a:spAutoFit/>
          </a:bodyPr>
          <a:lstStyle/>
          <a:p>
            <a:r>
              <a:rPr lang="en-GB" sz="1400"/>
              <a:t>Chapter 2 explored the graphs for these.</a:t>
            </a:r>
          </a:p>
        </p:txBody>
      </p:sp>
      <p:cxnSp>
        <p:nvCxnSpPr>
          <p:cNvPr id="15" name="Straight Arrow Connector 14"/>
          <p:cNvCxnSpPr>
            <a:stCxn id="13" idx="1"/>
          </p:cNvCxnSpPr>
          <p:nvPr/>
        </p:nvCxnSpPr>
        <p:spPr>
          <a:xfrm flipH="1">
            <a:off x="6368902" y="4042605"/>
            <a:ext cx="723378" cy="3805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075191" y="3006790"/>
            <a:ext cx="1728192" cy="523220"/>
          </a:xfrm>
          <a:prstGeom prst="rect">
            <a:avLst/>
          </a:prstGeom>
          <a:noFill/>
        </p:spPr>
        <p:txBody>
          <a:bodyPr wrap="square" rtlCol="0">
            <a:spAutoFit/>
          </a:bodyPr>
          <a:lstStyle/>
          <a:p>
            <a:r>
              <a:rPr lang="en-GB" sz="1400"/>
              <a:t>These are covered in Chapter 5.</a:t>
            </a:r>
          </a:p>
        </p:txBody>
      </p:sp>
      <p:cxnSp>
        <p:nvCxnSpPr>
          <p:cNvPr id="17" name="Straight Arrow Connector 16"/>
          <p:cNvCxnSpPr/>
          <p:nvPr/>
        </p:nvCxnSpPr>
        <p:spPr>
          <a:xfrm flipH="1">
            <a:off x="6347161" y="3327991"/>
            <a:ext cx="712858" cy="6987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7315564" y="4830205"/>
            <a:ext cx="1296144" cy="523220"/>
          </a:xfrm>
          <a:prstGeom prst="rect">
            <a:avLst/>
          </a:prstGeom>
          <a:noFill/>
        </p:spPr>
        <p:txBody>
          <a:bodyPr wrap="square" rtlCol="0">
            <a:spAutoFit/>
          </a:bodyPr>
          <a:lstStyle/>
          <a:p>
            <a:r>
              <a:rPr lang="en-GB" sz="1400"/>
              <a:t>We will cover these now.</a:t>
            </a:r>
          </a:p>
        </p:txBody>
      </p:sp>
      <p:cxnSp>
        <p:nvCxnSpPr>
          <p:cNvPr id="20" name="Straight Arrow Connector 19"/>
          <p:cNvCxnSpPr/>
          <p:nvPr/>
        </p:nvCxnSpPr>
        <p:spPr>
          <a:xfrm flipH="1" flipV="1">
            <a:off x="6390167" y="4795284"/>
            <a:ext cx="864598" cy="296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H="1">
            <a:off x="6400800" y="5103628"/>
            <a:ext cx="829340" cy="1275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678989" y="5634196"/>
            <a:ext cx="2316154" cy="954107"/>
          </a:xfrm>
          <a:prstGeom prst="rect">
            <a:avLst/>
          </a:prstGeom>
          <a:noFill/>
        </p:spPr>
        <p:txBody>
          <a:bodyPr wrap="square" rtlCol="0">
            <a:spAutoFit/>
          </a:bodyPr>
          <a:lstStyle/>
          <a:p>
            <a:r>
              <a:rPr lang="en-GB" sz="1400"/>
              <a:t>While these are technically beyond the A Level syllabus, we will look at how to sketch polynomials in general.</a:t>
            </a:r>
          </a:p>
        </p:txBody>
      </p:sp>
      <p:cxnSp>
        <p:nvCxnSpPr>
          <p:cNvPr id="26" name="Straight Arrow Connector 25"/>
          <p:cNvCxnSpPr/>
          <p:nvPr/>
        </p:nvCxnSpPr>
        <p:spPr>
          <a:xfrm flipH="1" flipV="1">
            <a:off x="6368902" y="5592726"/>
            <a:ext cx="298188" cy="4821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69801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4" restart="whenNotActive" fill="hold" evtFilter="cancelBubble" nodeType="interactiveSeq">
                <p:stCondLst>
                  <p:cond evt="onClick" delay="0">
                    <p:tgtEl>
                      <p:spTgt spid="1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0" restart="whenNotActive" fill="hold" evtFilter="cancelBubble" nodeType="interactiveSeq">
                <p:stCondLst>
                  <p:cond evt="onClick" delay="0">
                    <p:tgtEl>
                      <p:spTgt spid="1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6" restart="whenNotActive" fill="hold" evtFilter="cancelBubble" nodeType="interactiveSeq">
                <p:stCondLst>
                  <p:cond evt="onClick" delay="0">
                    <p:tgtEl>
                      <p:spTgt spid="1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8" grpId="0" animBg="1"/>
      <p:bldP spid="9" grpId="0" animBg="1"/>
      <p:bldP spid="10" grpId="0" animBg="1"/>
      <p:bldP spid="11" grpId="0" animBg="1"/>
      <p:bldP spid="12" grpId="0" animBg="1"/>
    </p:bldLst>
  </p:timing>
</p:sld>
</file>

<file path=ppt/c4/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Freeform: Shape 4"/>
          <p:cNvSpPr/>
          <p:nvPr/>
        </p:nvSpPr>
        <p:spPr>
          <a:xfrm>
            <a:off x="755501" y="1855457"/>
            <a:ext cx="1733107" cy="1201542"/>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Shape 5"/>
          <p:cNvSpPr/>
          <p:nvPr/>
        </p:nvSpPr>
        <p:spPr>
          <a:xfrm rot="10800000">
            <a:off x="2339752" y="1844824"/>
            <a:ext cx="1733107" cy="1201542"/>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Shape 6"/>
          <p:cNvSpPr/>
          <p:nvPr/>
        </p:nvSpPr>
        <p:spPr>
          <a:xfrm>
            <a:off x="532218" y="3514199"/>
            <a:ext cx="1839432" cy="1350335"/>
          </a:xfrm>
          <a:custGeom>
            <a:avLst/>
            <a:gdLst>
              <a:gd name="connsiteX0" fmla="*/ 0 w 1839432"/>
              <a:gd name="connsiteY0" fmla="*/ 1350335 h 1350335"/>
              <a:gd name="connsiteX1" fmla="*/ 733646 w 1839432"/>
              <a:gd name="connsiteY1" fmla="*/ 318977 h 1350335"/>
              <a:gd name="connsiteX2" fmla="*/ 1265274 w 1839432"/>
              <a:gd name="connsiteY2" fmla="*/ 829339 h 1350335"/>
              <a:gd name="connsiteX3" fmla="*/ 1839432 w 1839432"/>
              <a:gd name="connsiteY3" fmla="*/ 0 h 1350335"/>
            </a:gdLst>
            <a:ahLst/>
            <a:cxnLst>
              <a:cxn ang="0">
                <a:pos x="connsiteX0" y="connsiteY0"/>
              </a:cxn>
              <a:cxn ang="0">
                <a:pos x="connsiteX1" y="connsiteY1"/>
              </a:cxn>
              <a:cxn ang="0">
                <a:pos x="connsiteX2" y="connsiteY2"/>
              </a:cxn>
              <a:cxn ang="0">
                <a:pos x="connsiteX3" y="connsiteY3"/>
              </a:cxn>
            </a:cxnLst>
            <a:rect l="l" t="t" r="r" b="b"/>
            <a:pathLst>
              <a:path w="1839432" h="1350335">
                <a:moveTo>
                  <a:pt x="0" y="1350335"/>
                </a:moveTo>
                <a:cubicBezTo>
                  <a:pt x="261383" y="878072"/>
                  <a:pt x="522767" y="405810"/>
                  <a:pt x="733646" y="318977"/>
                </a:cubicBezTo>
                <a:cubicBezTo>
                  <a:pt x="944525" y="232144"/>
                  <a:pt x="1080976" y="882502"/>
                  <a:pt x="1265274" y="829339"/>
                </a:cubicBezTo>
                <a:cubicBezTo>
                  <a:pt x="1449572" y="776176"/>
                  <a:pt x="1644502" y="388088"/>
                  <a:pt x="183943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p:cNvSpPr/>
          <p:nvPr/>
        </p:nvSpPr>
        <p:spPr>
          <a:xfrm>
            <a:off x="2679994" y="3492934"/>
            <a:ext cx="1392865" cy="1286540"/>
          </a:xfrm>
          <a:custGeom>
            <a:avLst/>
            <a:gdLst>
              <a:gd name="connsiteX0" fmla="*/ 0 w 1392865"/>
              <a:gd name="connsiteY0" fmla="*/ 0 h 1286540"/>
              <a:gd name="connsiteX1" fmla="*/ 467833 w 1392865"/>
              <a:gd name="connsiteY1" fmla="*/ 808074 h 1286540"/>
              <a:gd name="connsiteX2" fmla="*/ 1031358 w 1392865"/>
              <a:gd name="connsiteY2" fmla="*/ 956930 h 1286540"/>
              <a:gd name="connsiteX3" fmla="*/ 1392865 w 1392865"/>
              <a:gd name="connsiteY3" fmla="*/ 1286540 h 1286540"/>
              <a:gd name="connsiteX0" fmla="*/ 0 w 1392865"/>
              <a:gd name="connsiteY0" fmla="*/ 0 h 1286540"/>
              <a:gd name="connsiteX1" fmla="*/ 425302 w 1392865"/>
              <a:gd name="connsiteY1" fmla="*/ 744279 h 1286540"/>
              <a:gd name="connsiteX2" fmla="*/ 1031358 w 1392865"/>
              <a:gd name="connsiteY2" fmla="*/ 956930 h 1286540"/>
              <a:gd name="connsiteX3" fmla="*/ 1392865 w 1392865"/>
              <a:gd name="connsiteY3" fmla="*/ 1286540 h 1286540"/>
            </a:gdLst>
            <a:ahLst/>
            <a:cxnLst>
              <a:cxn ang="0">
                <a:pos x="connsiteX0" y="connsiteY0"/>
              </a:cxn>
              <a:cxn ang="0">
                <a:pos x="connsiteX1" y="connsiteY1"/>
              </a:cxn>
              <a:cxn ang="0">
                <a:pos x="connsiteX2" y="connsiteY2"/>
              </a:cxn>
              <a:cxn ang="0">
                <a:pos x="connsiteX3" y="connsiteY3"/>
              </a:cxn>
            </a:cxnLst>
            <a:rect l="l" t="t" r="r" b="b"/>
            <a:pathLst>
              <a:path w="1392865" h="1286540">
                <a:moveTo>
                  <a:pt x="0" y="0"/>
                </a:moveTo>
                <a:cubicBezTo>
                  <a:pt x="147970" y="324293"/>
                  <a:pt x="253409" y="584791"/>
                  <a:pt x="425302" y="744279"/>
                </a:cubicBezTo>
                <a:cubicBezTo>
                  <a:pt x="597195" y="903767"/>
                  <a:pt x="870097" y="866553"/>
                  <a:pt x="1031358" y="956930"/>
                </a:cubicBezTo>
                <a:cubicBezTo>
                  <a:pt x="1192619" y="1047307"/>
                  <a:pt x="1289197" y="1161607"/>
                  <a:pt x="1392865" y="1286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p:cNvSpPr/>
          <p:nvPr/>
        </p:nvSpPr>
        <p:spPr>
          <a:xfrm>
            <a:off x="968152" y="5226041"/>
            <a:ext cx="1765005" cy="1296265"/>
          </a:xfrm>
          <a:custGeom>
            <a:avLst/>
            <a:gdLst>
              <a:gd name="connsiteX0" fmla="*/ 0 w 1765005"/>
              <a:gd name="connsiteY0" fmla="*/ 0 h 1296265"/>
              <a:gd name="connsiteX1" fmla="*/ 595424 w 1765005"/>
              <a:gd name="connsiteY1" fmla="*/ 1031358 h 1296265"/>
              <a:gd name="connsiteX2" fmla="*/ 988828 w 1765005"/>
              <a:gd name="connsiteY2" fmla="*/ 744279 h 1296265"/>
              <a:gd name="connsiteX3" fmla="*/ 1339703 w 1765005"/>
              <a:gd name="connsiteY3" fmla="*/ 1286539 h 1296265"/>
              <a:gd name="connsiteX4" fmla="*/ 1765005 w 1765005"/>
              <a:gd name="connsiteY4" fmla="*/ 191386 h 129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005" h="1296265">
                <a:moveTo>
                  <a:pt x="0" y="0"/>
                </a:moveTo>
                <a:cubicBezTo>
                  <a:pt x="215309" y="453656"/>
                  <a:pt x="430619" y="907312"/>
                  <a:pt x="595424" y="1031358"/>
                </a:cubicBezTo>
                <a:cubicBezTo>
                  <a:pt x="760229" y="1155404"/>
                  <a:pt x="864782" y="701749"/>
                  <a:pt x="988828" y="744279"/>
                </a:cubicBezTo>
                <a:cubicBezTo>
                  <a:pt x="1112874" y="786809"/>
                  <a:pt x="1210340" y="1378688"/>
                  <a:pt x="1339703" y="1286539"/>
                </a:cubicBezTo>
                <a:cubicBezTo>
                  <a:pt x="1469066" y="1194390"/>
                  <a:pt x="1617035" y="692888"/>
                  <a:pt x="1765005" y="19138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4571428" y="728919"/>
            <a:ext cx="3912689" cy="1477328"/>
          </a:xfrm>
          <a:prstGeom prst="rect">
            <a:avLst/>
          </a:prstGeom>
          <a:noFill/>
        </p:spPr>
        <p:txBody>
          <a:bodyPr wrap="square" rtlCol="0">
            <a:spAutoFit/>
          </a:bodyPr>
          <a:lstStyle/>
          <a:p>
            <a:r>
              <a:rPr lang="en-GB"/>
              <a:t>What property connects the order of the polynomial and the shape?</a:t>
            </a:r>
            <a:endParaRPr lang="en-GB" b="1"/>
          </a:p>
          <a:p>
            <a:r>
              <a:rPr lang="en-GB" b="1"/>
              <a:t>The number of ‘turns’ is one less than the order, e.g. a cubic has 2 ‘turns’, a quartic 3 ‘turns’.</a:t>
            </a:r>
          </a:p>
        </p:txBody>
      </p:sp>
      <p:sp>
        <p:nvSpPr>
          <p:cNvPr id="11" name="TextBox 10"/>
          <p:cNvSpPr txBox="1"/>
          <p:nvPr/>
        </p:nvSpPr>
        <p:spPr>
          <a:xfrm>
            <a:off x="107504" y="1196752"/>
            <a:ext cx="860648" cy="369332"/>
          </a:xfrm>
          <a:prstGeom prst="rect">
            <a:avLst/>
          </a:prstGeom>
          <a:noFill/>
        </p:spPr>
        <p:txBody>
          <a:bodyPr wrap="square" rtlCol="0">
            <a:spAutoFit/>
          </a:bodyPr>
          <a:lstStyle/>
          <a:p>
            <a:r>
              <a:rPr lang="en-GB"/>
              <a:t>Order:</a:t>
            </a:r>
          </a:p>
        </p:txBody>
      </p:sp>
      <p:sp>
        <p:nvSpPr>
          <p:cNvPr id="12" name="TextBox 11"/>
          <p:cNvSpPr txBox="1"/>
          <p:nvPr/>
        </p:nvSpPr>
        <p:spPr>
          <a:xfrm>
            <a:off x="588" y="2000482"/>
            <a:ext cx="860648" cy="646331"/>
          </a:xfrm>
          <a:prstGeom prst="rect">
            <a:avLst/>
          </a:prstGeom>
          <a:noFill/>
        </p:spPr>
        <p:txBody>
          <a:bodyPr wrap="square" rtlCol="0">
            <a:spAutoFit/>
          </a:bodyPr>
          <a:lstStyle/>
          <a:p>
            <a:pPr algn="ctr"/>
            <a:r>
              <a:rPr lang="en-GB" sz="3600"/>
              <a:t>2</a:t>
            </a:r>
            <a:endParaRPr lang="en-GB"/>
          </a:p>
        </p:txBody>
      </p:sp>
      <p:sp>
        <p:nvSpPr>
          <p:cNvPr id="13" name="TextBox 12"/>
          <p:cNvSpPr txBox="1"/>
          <p:nvPr/>
        </p:nvSpPr>
        <p:spPr>
          <a:xfrm>
            <a:off x="-51396" y="3812023"/>
            <a:ext cx="860648" cy="646331"/>
          </a:xfrm>
          <a:prstGeom prst="rect">
            <a:avLst/>
          </a:prstGeom>
          <a:noFill/>
        </p:spPr>
        <p:txBody>
          <a:bodyPr wrap="square" rtlCol="0">
            <a:spAutoFit/>
          </a:bodyPr>
          <a:lstStyle/>
          <a:p>
            <a:pPr algn="ctr"/>
            <a:r>
              <a:rPr lang="en-GB" sz="3600"/>
              <a:t>3</a:t>
            </a:r>
            <a:endParaRPr lang="en-GB"/>
          </a:p>
        </p:txBody>
      </p:sp>
      <p:sp>
        <p:nvSpPr>
          <p:cNvPr id="14" name="TextBox 13"/>
          <p:cNvSpPr txBox="1"/>
          <p:nvPr/>
        </p:nvSpPr>
        <p:spPr>
          <a:xfrm>
            <a:off x="-51396" y="5536543"/>
            <a:ext cx="860648" cy="646331"/>
          </a:xfrm>
          <a:prstGeom prst="rect">
            <a:avLst/>
          </a:prstGeom>
          <a:noFill/>
        </p:spPr>
        <p:txBody>
          <a:bodyPr wrap="square" rtlCol="0">
            <a:spAutoFit/>
          </a:bodyPr>
          <a:lstStyle/>
          <a:p>
            <a:pPr algn="ctr"/>
            <a:r>
              <a:rPr lang="en-GB" sz="3600"/>
              <a:t>4</a:t>
            </a:r>
            <a:endParaRPr lang="en-GB"/>
          </a:p>
        </p:txBody>
      </p:sp>
      <mc:AlternateContent xmlns:mc="http://schemas.openxmlformats.org/markup-compatibility/2006">
        <mc:Choice xmlns:a14="http://schemas.microsoft.com/office/drawing/2010/main" Requires="a14">
          <p:sp>
            <p:nvSpPr>
              <p:cNvPr id="15" name="TextBox 14"/>
              <p:cNvSpPr txBox="1"/>
              <p:nvPr/>
            </p:nvSpPr>
            <p:spPr>
              <a:xfrm>
                <a:off x="4571428" y="2788095"/>
                <a:ext cx="4105028" cy="3705758"/>
              </a:xfrm>
              <a:prstGeom prst="rect">
                <a:avLst/>
              </a:prstGeom>
              <a:noFill/>
            </p:spPr>
            <p:txBody>
              <a:bodyPr wrap="square" rtlCol="0">
                <a:spAutoFit/>
              </a:bodyPr>
              <a:lstStyle/>
              <a:p>
                <a:r>
                  <a:rPr lang="en-GB"/>
                  <a:t>In Chapter 2 how did we tell what way up a quadratic is, and why does this work?</a:t>
                </a:r>
              </a:p>
              <a:p>
                <a:endParaRPr lang="en-GB" b="1"/>
              </a:p>
              <a:p>
                <a:r>
                  <a:rPr lang="en-GB" b="1"/>
                  <a:t>For a quadratic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𝒂</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r>
                      <a:rPr lang="en-GB" b="1" i="1" smtClean="0">
                        <a:latin typeface="Cambria Math" panose="02040503050406030204" pitchFamily="18" charset="0"/>
                      </a:rPr>
                      <m:t>+</m:t>
                    </m:r>
                    <m:r>
                      <a:rPr lang="en-GB" b="1" i="1" smtClean="0">
                        <a:latin typeface="Cambria Math" panose="02040503050406030204" pitchFamily="18" charset="0"/>
                      </a:rPr>
                      <m:t>𝒃𝒙</m:t>
                    </m:r>
                    <m:r>
                      <a:rPr lang="en-GB" b="1" i="1" smtClean="0">
                        <a:latin typeface="Cambria Math" panose="02040503050406030204" pitchFamily="18" charset="0"/>
                      </a:rPr>
                      <m:t>+</m:t>
                    </m:r>
                    <m:r>
                      <a:rPr lang="en-GB" b="1" i="1" smtClean="0">
                        <a:latin typeface="Cambria Math" panose="02040503050406030204" pitchFamily="18" charset="0"/>
                      </a:rPr>
                      <m:t>𝒄</m:t>
                    </m:r>
                  </m:oMath>
                </a14:m>
                <a:r>
                  <a:rPr lang="en-GB" b="1"/>
                  <a:t>, </a:t>
                </a:r>
                <a:r>
                  <a:rPr lang="en-GB" b="1" err="1"/>
                  <a:t>i.f</a:t>
                </a:r>
                <a:r>
                  <a:rPr lang="en-GB" b="1"/>
                  <a:t>. </a:t>
                </a:r>
                <a14:m>
                  <m:oMath xmlns:m="http://schemas.openxmlformats.org/officeDocument/2006/math">
                    <m:r>
                      <a:rPr lang="en-GB" b="1" i="1" smtClean="0">
                        <a:latin typeface="Cambria Math" panose="02040503050406030204" pitchFamily="18" charset="0"/>
                      </a:rPr>
                      <m:t>𝒂</m:t>
                    </m:r>
                    <m:r>
                      <a:rPr lang="en-GB" b="1" i="1" smtClean="0">
                        <a:latin typeface="Cambria Math" panose="02040503050406030204" pitchFamily="18" charset="0"/>
                      </a:rPr>
                      <m:t>&gt;</m:t>
                    </m:r>
                    <m:r>
                      <a:rPr lang="en-GB" b="1" i="1" smtClean="0">
                        <a:latin typeface="Cambria Math" panose="02040503050406030204" pitchFamily="18" charset="0"/>
                      </a:rPr>
                      <m:t>𝟎</m:t>
                    </m:r>
                  </m:oMath>
                </a14:m>
                <a:r>
                  <a:rPr lang="en-GB" b="1"/>
                  <a:t>, we had a ‘valley’ shape. This is because if </a:t>
                </a:r>
                <a14:m>
                  <m:oMath xmlns:m="http://schemas.openxmlformats.org/officeDocument/2006/math">
                    <m:r>
                      <a:rPr lang="en-GB" b="1" i="1" smtClean="0">
                        <a:latin typeface="Cambria Math" panose="02040503050406030204" pitchFamily="18" charset="0"/>
                      </a:rPr>
                      <m:t>𝒙</m:t>
                    </m:r>
                  </m:oMath>
                </a14:m>
                <a:r>
                  <a:rPr lang="en-GB" b="1"/>
                  <a:t> was a large positive value, </a:t>
                </a:r>
                <a14:m>
                  <m:oMath xmlns:m="http://schemas.openxmlformats.org/officeDocument/2006/math">
                    <m:r>
                      <a:rPr lang="en-GB" b="1" i="1" smtClean="0">
                        <a:latin typeface="Cambria Math" panose="02040503050406030204" pitchFamily="18" charset="0"/>
                      </a:rPr>
                      <m:t>𝒂</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oMath>
                </a14:m>
                <a:r>
                  <a:rPr lang="en-GB" b="1"/>
                  <a:t> would be large and positive, thus the graph’s </a:t>
                </a:r>
                <a14:m>
                  <m:oMath xmlns:m="http://schemas.openxmlformats.org/officeDocument/2006/math">
                    <m:r>
                      <a:rPr lang="en-GB" b="1" i="1" smtClean="0">
                        <a:latin typeface="Cambria Math" panose="02040503050406030204" pitchFamily="18" charset="0"/>
                      </a:rPr>
                      <m:t>𝒚</m:t>
                    </m:r>
                  </m:oMath>
                </a14:m>
                <a:r>
                  <a:rPr lang="en-GB" b="1"/>
                  <a:t> value tends towards infinity.</a:t>
                </a:r>
              </a:p>
              <a:p>
                <a:endParaRPr lang="en-GB" b="1"/>
              </a:p>
              <a:p>
                <a:r>
                  <a:rPr lang="en-GB" b="1"/>
                  <a:t>We would write:</a:t>
                </a:r>
              </a:p>
              <a:p>
                <a:r>
                  <a:rPr lang="en-GB" b="1"/>
                  <a:t>“As </a:t>
                </a: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 </m:t>
                    </m:r>
                    <m:r>
                      <a:rPr lang="en-GB" b="1" i="1" smtClean="0">
                        <a:latin typeface="Cambria Math" panose="02040503050406030204" pitchFamily="18" charset="0"/>
                      </a:rPr>
                      <m:t>𝒚</m:t>
                    </m:r>
                    <m:r>
                      <a:rPr lang="en-GB" b="1" i="1" smtClean="0">
                        <a:latin typeface="Cambria Math" panose="02040503050406030204" pitchFamily="18" charset="0"/>
                      </a:rPr>
                      <m:t>→∞</m:t>
                    </m:r>
                  </m:oMath>
                </a14:m>
                <a:r>
                  <a:rPr lang="en-GB" b="1"/>
                  <a:t>” where “</a:t>
                </a:r>
                <a14:m>
                  <m:oMath xmlns:m="http://schemas.openxmlformats.org/officeDocument/2006/math">
                    <m:r>
                      <a:rPr lang="en-GB" b="1" i="1" smtClean="0">
                        <a:latin typeface="Cambria Math" panose="02040503050406030204" pitchFamily="18" charset="0"/>
                      </a:rPr>
                      <m:t>→</m:t>
                    </m:r>
                  </m:oMath>
                </a14:m>
                <a:r>
                  <a:rPr lang="en-GB" b="1"/>
                  <a:t>” means “tends towards”.</a:t>
                </a:r>
              </a:p>
            </p:txBody>
          </p:sp>
        </mc:Choice>
        <mc:Fallback>
          <p:sp>
            <p:nvSpPr>
              <p:cNvPr id="15" name="TextBox 14"/>
              <p:cNvSpPr txBox="1">
                <a:spLocks noRot="1" noChangeAspect="1" noMove="1" noResize="1" noEditPoints="1" noAdjustHandles="1" noChangeArrowheads="1" noChangeShapeType="1" noTextEdit="1"/>
              </p:cNvSpPr>
              <p:nvPr/>
            </p:nvSpPr>
            <p:spPr>
              <a:xfrm>
                <a:off x="4571428" y="2788095"/>
                <a:ext cx="4105028" cy="3705758"/>
              </a:xfrm>
              <a:prstGeom prst="rect">
                <a:avLst/>
              </a:prstGeom>
              <a:blipFill>
                <a:blip r:embed="rId2"/>
                <a:stretch>
                  <a:fillRect l="-1543" t="-683" r="-617" b="-1706"/>
                </a:stretch>
              </a:blipFill>
            </p:spPr>
            <p:txBody>
              <a:bodyPr/>
              <a:lstStyle/>
              <a:p>
                <a:r>
                  <a:rPr lang="en-US">
                    <a:noFill/>
                  </a:rPr>
                  <a:t> </a:t>
                </a:r>
              </a:p>
            </p:txBody>
          </p:sp>
        </mc:Fallback>
      </mc:AlternateContent>
      <p:sp>
        <p:nvSpPr>
          <p:cNvPr id="17" name="Rectangle 16"/>
          <p:cNvSpPr/>
          <p:nvPr/>
        </p:nvSpPr>
        <p:spPr>
          <a:xfrm>
            <a:off x="4630181" y="3608412"/>
            <a:ext cx="3886498" cy="295187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18" name="TextBox 17"/>
              <p:cNvSpPr txBox="1"/>
              <p:nvPr/>
            </p:nvSpPr>
            <p:spPr>
              <a:xfrm>
                <a:off x="6275040" y="1892195"/>
                <a:ext cx="2750176" cy="769441"/>
              </a:xfrm>
              <a:prstGeom prst="rect">
                <a:avLst/>
              </a:prstGeom>
              <a:noFill/>
            </p:spPr>
            <p:txBody>
              <a:bodyPr wrap="square" rtlCol="0">
                <a:spAutoFit/>
              </a:bodyPr>
              <a:lstStyle/>
              <a:p>
                <a:r>
                  <a:rPr lang="en-GB" sz="1100" b="1"/>
                  <a:t>Bro Note:</a:t>
                </a:r>
                <a:r>
                  <a:rPr lang="en-GB" sz="1100"/>
                  <a:t> …Actually this is not strictly true, e.g. consider </a:t>
                </a:r>
                <a14:m>
                  <m:oMath xmlns:m="http://schemas.openxmlformats.org/officeDocument/2006/math">
                    <m:r>
                      <a:rPr lang="en-GB" sz="1100" b="0" i="1" smtClean="0">
                        <a:latin typeface="Cambria Math" panose="02040503050406030204" pitchFamily="18" charset="0"/>
                      </a:rPr>
                      <m:t>𝑦</m:t>
                    </m:r>
                    <m:r>
                      <a:rPr lang="en-GB" sz="1100" b="0" i="1" smtClean="0">
                        <a:latin typeface="Cambria Math" panose="02040503050406030204" pitchFamily="18" charset="0"/>
                      </a:rPr>
                      <m:t>=</m:t>
                    </m:r>
                    <m:sSup>
                      <m:sSupPr>
                        <m:ctrlPr>
                          <a:rPr lang="en-GB" sz="1100" b="0" i="1" smtClean="0">
                            <a:latin typeface="Cambria Math" panose="02040503050406030204" pitchFamily="18" charset="0"/>
                          </a:rPr>
                        </m:ctrlPr>
                      </m:sSupPr>
                      <m:e>
                        <m:r>
                          <a:rPr lang="en-GB" sz="1100" b="0" i="1" smtClean="0">
                            <a:latin typeface="Cambria Math" panose="02040503050406030204" pitchFamily="18" charset="0"/>
                          </a:rPr>
                          <m:t>𝑥</m:t>
                        </m:r>
                      </m:e>
                      <m:sup>
                        <m:r>
                          <a:rPr lang="en-GB" sz="1100" b="0" i="1" smtClean="0">
                            <a:latin typeface="Cambria Math" panose="02040503050406030204" pitchFamily="18" charset="0"/>
                          </a:rPr>
                          <m:t>4</m:t>
                        </m:r>
                      </m:sup>
                    </m:sSup>
                  </m:oMath>
                </a14:m>
                <a:r>
                  <a:rPr lang="en-GB" sz="1100"/>
                  <a:t>, which has a U shape. But this is because multiple turns are being squashed into a single point.</a:t>
                </a:r>
              </a:p>
            </p:txBody>
          </p:sp>
        </mc:Choice>
        <mc:Fallback>
          <p:sp>
            <p:nvSpPr>
              <p:cNvPr id="18" name="TextBox 17"/>
              <p:cNvSpPr txBox="1">
                <a:spLocks noRot="1" noChangeAspect="1" noMove="1" noResize="1" noEditPoints="1" noAdjustHandles="1" noChangeArrowheads="1" noChangeShapeType="1" noTextEdit="1"/>
              </p:cNvSpPr>
              <p:nvPr/>
            </p:nvSpPr>
            <p:spPr>
              <a:xfrm>
                <a:off x="6275040" y="1892195"/>
                <a:ext cx="2750176" cy="769441"/>
              </a:xfrm>
              <a:prstGeom prst="rect">
                <a:avLst/>
              </a:prstGeom>
              <a:blipFill>
                <a:blip r:embed="rId3"/>
                <a:stretch>
                  <a:fillRect b="-4839"/>
                </a:stretch>
              </a:blipFill>
            </p:spPr>
            <p:txBody>
              <a:bodyPr/>
              <a:lstStyle/>
              <a:p>
                <a:r>
                  <a:rPr lang="en-US">
                    <a:noFill/>
                  </a:rPr>
                  <a:t> </a:t>
                </a:r>
              </a:p>
            </p:txBody>
          </p:sp>
        </mc:Fallback>
      </mc:AlternateContent>
      <p:sp>
        <p:nvSpPr>
          <p:cNvPr id="16" name="Rectangle 15"/>
          <p:cNvSpPr/>
          <p:nvPr/>
        </p:nvSpPr>
        <p:spPr>
          <a:xfrm>
            <a:off x="4625554" y="1345094"/>
            <a:ext cx="4252631" cy="132367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318574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P spid="16" grpId="0" animBg="1"/>
    </p:bldLst>
  </p:timing>
</p:sld>
</file>

<file path=ppt/c4/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Freeform: Shape 4"/>
          <p:cNvSpPr/>
          <p:nvPr/>
        </p:nvSpPr>
        <p:spPr>
          <a:xfrm rot="10800000">
            <a:off x="4127086" y="2106844"/>
            <a:ext cx="972108" cy="482496"/>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518102" y="1362032"/>
            <a:ext cx="1296144" cy="369332"/>
          </a:xfrm>
          <a:prstGeom prst="rect">
            <a:avLst/>
          </a:prstGeom>
          <a:noFill/>
        </p:spPr>
        <p:txBody>
          <a:bodyPr wrap="square" rtlCol="0">
            <a:spAutoFit/>
          </a:bodyPr>
          <a:lstStyle/>
          <a:p>
            <a:r>
              <a:rPr lang="en-GB"/>
              <a:t>Equation</a:t>
            </a:r>
          </a:p>
        </p:txBody>
      </p:sp>
      <mc:AlternateContent xmlns:mc="http://schemas.openxmlformats.org/markup-compatibility/2006">
        <mc:Choice xmlns:a14="http://schemas.microsoft.com/office/drawing/2010/main" Requires="a14">
          <p:sp>
            <p:nvSpPr>
              <p:cNvPr id="7" name="TextBox 6"/>
              <p:cNvSpPr txBox="1"/>
              <p:nvPr/>
            </p:nvSpPr>
            <p:spPr>
              <a:xfrm>
                <a:off x="2462318" y="1362032"/>
                <a:ext cx="1296144" cy="369332"/>
              </a:xfrm>
              <a:prstGeom prst="rect">
                <a:avLst/>
              </a:prstGeom>
              <a:noFill/>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&gt;0</m:t>
                    </m:r>
                  </m:oMath>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462318" y="1362032"/>
                <a:ext cx="1296144" cy="369332"/>
              </a:xfrm>
              <a:prstGeom prst="rect">
                <a:avLst/>
              </a:prstGeom>
              <a:blipFill>
                <a:blip r:embed="rId2"/>
                <a:stretch>
                  <a:fillRect l="-2885" t="-6667" b="-2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747923" y="1352151"/>
                <a:ext cx="1296144" cy="369332"/>
              </a:xfrm>
              <a:prstGeom prst="rect">
                <a:avLst/>
              </a:prstGeom>
              <a:noFill/>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&lt;0</m:t>
                    </m:r>
                  </m:oMath>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5747923" y="1352151"/>
                <a:ext cx="1296144" cy="369332"/>
              </a:xfrm>
              <a:prstGeom prst="rect">
                <a:avLst/>
              </a:prstGeom>
              <a:blipFill>
                <a:blip r:embed="rId3"/>
                <a:stretch>
                  <a:fillRect l="-3883" t="-6667" b="-26667"/>
                </a:stretch>
              </a:blipFill>
            </p:spPr>
            <p:txBody>
              <a:bodyPr/>
              <a:lstStyle/>
              <a:p>
                <a:r>
                  <a:rPr lang="en-US">
                    <a:noFill/>
                  </a:rPr>
                  <a:t> </a:t>
                </a:r>
              </a:p>
            </p:txBody>
          </p:sp>
        </mc:Fallback>
      </mc:AlternateContent>
      <p:sp>
        <p:nvSpPr>
          <p:cNvPr id="9" name="TextBox 8"/>
          <p:cNvSpPr txBox="1"/>
          <p:nvPr/>
        </p:nvSpPr>
        <p:spPr>
          <a:xfrm>
            <a:off x="4127414" y="1138749"/>
            <a:ext cx="1296144" cy="646331"/>
          </a:xfrm>
          <a:prstGeom prst="rect">
            <a:avLst/>
          </a:prstGeom>
          <a:noFill/>
        </p:spPr>
        <p:txBody>
          <a:bodyPr wrap="square" rtlCol="0">
            <a:spAutoFit/>
          </a:bodyPr>
          <a:lstStyle/>
          <a:p>
            <a:r>
              <a:rPr lang="en-GB"/>
              <a:t>Resulting Shape</a:t>
            </a:r>
          </a:p>
        </p:txBody>
      </p:sp>
      <p:sp>
        <p:nvSpPr>
          <p:cNvPr id="10" name="TextBox 9"/>
          <p:cNvSpPr txBox="1"/>
          <p:nvPr/>
        </p:nvSpPr>
        <p:spPr>
          <a:xfrm>
            <a:off x="7368432" y="1138749"/>
            <a:ext cx="1296144" cy="646331"/>
          </a:xfrm>
          <a:prstGeom prst="rect">
            <a:avLst/>
          </a:prstGeom>
          <a:noFill/>
        </p:spPr>
        <p:txBody>
          <a:bodyPr wrap="square" rtlCol="0">
            <a:spAutoFit/>
          </a:bodyPr>
          <a:lstStyle/>
          <a:p>
            <a:r>
              <a:rPr lang="en-GB"/>
              <a:t>Resulting Shape</a:t>
            </a:r>
          </a:p>
        </p:txBody>
      </p:sp>
      <p:cxnSp>
        <p:nvCxnSpPr>
          <p:cNvPr id="12" name="Straight Connector 11"/>
          <p:cNvCxnSpPr/>
          <p:nvPr/>
        </p:nvCxnSpPr>
        <p:spPr>
          <a:xfrm>
            <a:off x="374086" y="1866088"/>
            <a:ext cx="8290490"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V="1">
            <a:off x="3902478" y="1249914"/>
            <a:ext cx="0" cy="4733569"/>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V="1">
            <a:off x="7160164" y="1249914"/>
            <a:ext cx="12631" cy="477494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TextBox 19"/>
              <p:cNvSpPr txBox="1"/>
              <p:nvPr/>
            </p:nvSpPr>
            <p:spPr>
              <a:xfrm>
                <a:off x="63610" y="2223345"/>
                <a:ext cx="1979712"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𝑏𝑥</m:t>
                      </m:r>
                      <m:r>
                        <a:rPr lang="en-GB" b="0" i="1" smtClean="0">
                          <a:latin typeface="Cambria Math" panose="02040503050406030204" pitchFamily="18" charset="0"/>
                        </a:rPr>
                        <m:t>+</m:t>
                      </m:r>
                      <m:r>
                        <a:rPr lang="en-GB" b="0" i="1" smtClean="0">
                          <a:latin typeface="Cambria Math" panose="02040503050406030204" pitchFamily="18" charset="0"/>
                        </a:rPr>
                        <m:t>𝑐</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63610" y="2223345"/>
                <a:ext cx="1979712" cy="369332"/>
              </a:xfrm>
              <a:prstGeom prst="rect">
                <a:avLst/>
              </a:prstGeom>
              <a:blipFill>
                <a:blip r:embed="rId4"/>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2190122" y="2103378"/>
                <a:ext cx="1679944"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1" name="TextBox 20"/>
              <p:cNvSpPr txBox="1">
                <a:spLocks noRot="1" noChangeAspect="1" noMove="1" noResize="1" noEditPoints="1" noAdjustHandles="1" noChangeArrowheads="1" noChangeShapeType="1" noTextEdit="1"/>
              </p:cNvSpPr>
              <p:nvPr/>
            </p:nvSpPr>
            <p:spPr>
              <a:xfrm>
                <a:off x="2190122" y="2103378"/>
                <a:ext cx="1679944" cy="523220"/>
              </a:xfrm>
              <a:prstGeom prst="rect">
                <a:avLst/>
              </a:prstGeom>
              <a:blipFill>
                <a:blip r:embed="rId5"/>
                <a:stretch>
                  <a:fillRect l="-1504" t="-2381" b="-14286"/>
                </a:stretch>
              </a:blipFill>
            </p:spPr>
            <p:txBody>
              <a:bodyPr/>
              <a:lstStyle/>
              <a:p>
                <a:r>
                  <a:rPr lang="en-US">
                    <a:noFill/>
                  </a:rPr>
                  <a:t> </a:t>
                </a:r>
              </a:p>
            </p:txBody>
          </p:sp>
        </mc:Fallback>
      </mc:AlternateContent>
      <p:sp>
        <p:nvSpPr>
          <p:cNvPr id="22" name="Freeform: Shape 21"/>
          <p:cNvSpPr/>
          <p:nvPr/>
        </p:nvSpPr>
        <p:spPr>
          <a:xfrm>
            <a:off x="7375768" y="2092746"/>
            <a:ext cx="972108" cy="482496"/>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3" name="TextBox 22"/>
              <p:cNvSpPr txBox="1"/>
              <p:nvPr/>
            </p:nvSpPr>
            <p:spPr>
              <a:xfrm>
                <a:off x="5423557" y="2092746"/>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3" name="TextBox 22"/>
              <p:cNvSpPr txBox="1">
                <a:spLocks noRot="1" noChangeAspect="1" noMove="1" noResize="1" noEditPoints="1" noAdjustHandles="1" noChangeArrowheads="1" noChangeShapeType="1" noTextEdit="1"/>
              </p:cNvSpPr>
              <p:nvPr/>
            </p:nvSpPr>
            <p:spPr>
              <a:xfrm>
                <a:off x="5423557" y="2092746"/>
                <a:ext cx="1774499" cy="523220"/>
              </a:xfrm>
              <a:prstGeom prst="rect">
                <a:avLst/>
              </a:prstGeom>
              <a:blipFill>
                <a:blip r:embed="rId6"/>
                <a:stretch>
                  <a:fillRect l="-1429" t="-2381" b="-14286"/>
                </a:stretch>
              </a:blipFill>
            </p:spPr>
            <p:txBody>
              <a:bodyPr/>
              <a:lstStyle/>
              <a:p>
                <a:r>
                  <a:rPr lang="en-US">
                    <a:noFill/>
                  </a:rPr>
                  <a:t> </a:t>
                </a:r>
              </a:p>
            </p:txBody>
          </p:sp>
        </mc:Fallback>
      </mc:AlternateContent>
      <p:cxnSp>
        <p:nvCxnSpPr>
          <p:cNvPr id="25" name="Straight Connector 24"/>
          <p:cNvCxnSpPr/>
          <p:nvPr/>
        </p:nvCxnSpPr>
        <p:spPr>
          <a:xfrm>
            <a:off x="374086" y="3018216"/>
            <a:ext cx="8290490"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374086" y="4242352"/>
            <a:ext cx="829049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p:cNvSpPr txBox="1"/>
              <p:nvPr/>
            </p:nvSpPr>
            <p:spPr>
              <a:xfrm>
                <a:off x="15761" y="3340765"/>
                <a:ext cx="1979712"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m:oMathPara>
                </a14:m>
                <a:br>
                  <a:rPr lang="en-GB" b="0" i="1">
                    <a:latin typeface="Cambria Math" panose="02040503050406030204" pitchFamily="18" charset="0"/>
                  </a:rPr>
                </a:br>
                <a:r>
                  <a:rPr lang="en-GB" b="0" i="1">
                    <a:latin typeface="Cambria Math" panose="02040503050406030204" pitchFamily="18" charset="0"/>
                  </a:rPr>
                  <a:t>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𝑐𝑥</m:t>
                    </m:r>
                    <m:r>
                      <a:rPr lang="en-GB" b="0" i="1" smtClean="0">
                        <a:latin typeface="Cambria Math" panose="02040503050406030204" pitchFamily="18" charset="0"/>
                      </a:rPr>
                      <m:t>+</m:t>
                    </m:r>
                    <m:r>
                      <a:rPr lang="en-GB" b="0" i="1" smtClean="0">
                        <a:latin typeface="Cambria Math" panose="02040503050406030204" pitchFamily="18" charset="0"/>
                      </a:rPr>
                      <m:t>𝑑</m:t>
                    </m:r>
                  </m:oMath>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a:off x="15761" y="3340765"/>
                <a:ext cx="1979712"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2148106" y="3381055"/>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8" name="TextBox 27"/>
              <p:cNvSpPr txBox="1">
                <a:spLocks noRot="1" noChangeAspect="1" noMove="1" noResize="1" noEditPoints="1" noAdjustHandles="1" noChangeArrowheads="1" noChangeShapeType="1" noTextEdit="1"/>
              </p:cNvSpPr>
              <p:nvPr/>
            </p:nvSpPr>
            <p:spPr>
              <a:xfrm>
                <a:off x="2148106" y="3381055"/>
                <a:ext cx="1764490" cy="523220"/>
              </a:xfrm>
              <a:prstGeom prst="rect">
                <a:avLst/>
              </a:prstGeom>
              <a:blipFill>
                <a:blip r:embed="rId8"/>
                <a:stretch>
                  <a:fillRect l="-709" t="-2381" b="-11905"/>
                </a:stretch>
              </a:blipFill>
            </p:spPr>
            <p:txBody>
              <a:bodyPr/>
              <a:lstStyle/>
              <a:p>
                <a:r>
                  <a:rPr lang="en-US">
                    <a:noFill/>
                  </a:rPr>
                  <a:t> </a:t>
                </a:r>
              </a:p>
            </p:txBody>
          </p:sp>
        </mc:Fallback>
      </mc:AlternateContent>
      <p:sp>
        <p:nvSpPr>
          <p:cNvPr id="29" name="Freeform: Shape 28"/>
          <p:cNvSpPr/>
          <p:nvPr/>
        </p:nvSpPr>
        <p:spPr>
          <a:xfrm>
            <a:off x="4072085" y="3312517"/>
            <a:ext cx="1073888" cy="701749"/>
          </a:xfrm>
          <a:custGeom>
            <a:avLst/>
            <a:gdLst>
              <a:gd name="connsiteX0" fmla="*/ 0 w 1073888"/>
              <a:gd name="connsiteY0" fmla="*/ 701749 h 701749"/>
              <a:gd name="connsiteX1" fmla="*/ 404037 w 1073888"/>
              <a:gd name="connsiteY1" fmla="*/ 202019 h 701749"/>
              <a:gd name="connsiteX2" fmla="*/ 691116 w 1073888"/>
              <a:gd name="connsiteY2" fmla="*/ 446568 h 701749"/>
              <a:gd name="connsiteX3" fmla="*/ 1073888 w 1073888"/>
              <a:gd name="connsiteY3" fmla="*/ 0 h 701749"/>
            </a:gdLst>
            <a:ahLst/>
            <a:cxnLst>
              <a:cxn ang="0">
                <a:pos x="connsiteX0" y="connsiteY0"/>
              </a:cxn>
              <a:cxn ang="0">
                <a:pos x="connsiteX1" y="connsiteY1"/>
              </a:cxn>
              <a:cxn ang="0">
                <a:pos x="connsiteX2" y="connsiteY2"/>
              </a:cxn>
              <a:cxn ang="0">
                <a:pos x="connsiteX3" y="connsiteY3"/>
              </a:cxn>
            </a:cxnLst>
            <a:rect l="l" t="t" r="r" b="b"/>
            <a:pathLst>
              <a:path w="1073888" h="701749">
                <a:moveTo>
                  <a:pt x="0" y="701749"/>
                </a:moveTo>
                <a:cubicBezTo>
                  <a:pt x="144425" y="473149"/>
                  <a:pt x="288851" y="244549"/>
                  <a:pt x="404037" y="202019"/>
                </a:cubicBezTo>
                <a:cubicBezTo>
                  <a:pt x="519223" y="159489"/>
                  <a:pt x="579474" y="480238"/>
                  <a:pt x="691116" y="446568"/>
                </a:cubicBezTo>
                <a:cubicBezTo>
                  <a:pt x="802758" y="412898"/>
                  <a:pt x="938323" y="206449"/>
                  <a:pt x="107388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p:cNvSpPr/>
          <p:nvPr/>
        </p:nvSpPr>
        <p:spPr>
          <a:xfrm flipV="1">
            <a:off x="7302898" y="3185991"/>
            <a:ext cx="1073888" cy="885726"/>
          </a:xfrm>
          <a:custGeom>
            <a:avLst/>
            <a:gdLst>
              <a:gd name="connsiteX0" fmla="*/ 0 w 1073888"/>
              <a:gd name="connsiteY0" fmla="*/ 701749 h 701749"/>
              <a:gd name="connsiteX1" fmla="*/ 404037 w 1073888"/>
              <a:gd name="connsiteY1" fmla="*/ 202019 h 701749"/>
              <a:gd name="connsiteX2" fmla="*/ 691116 w 1073888"/>
              <a:gd name="connsiteY2" fmla="*/ 446568 h 701749"/>
              <a:gd name="connsiteX3" fmla="*/ 1073888 w 1073888"/>
              <a:gd name="connsiteY3" fmla="*/ 0 h 701749"/>
            </a:gdLst>
            <a:ahLst/>
            <a:cxnLst>
              <a:cxn ang="0">
                <a:pos x="connsiteX0" y="connsiteY0"/>
              </a:cxn>
              <a:cxn ang="0">
                <a:pos x="connsiteX1" y="connsiteY1"/>
              </a:cxn>
              <a:cxn ang="0">
                <a:pos x="connsiteX2" y="connsiteY2"/>
              </a:cxn>
              <a:cxn ang="0">
                <a:pos x="connsiteX3" y="connsiteY3"/>
              </a:cxn>
            </a:cxnLst>
            <a:rect l="l" t="t" r="r" b="b"/>
            <a:pathLst>
              <a:path w="1073888" h="701749">
                <a:moveTo>
                  <a:pt x="0" y="701749"/>
                </a:moveTo>
                <a:cubicBezTo>
                  <a:pt x="144425" y="473149"/>
                  <a:pt x="288851" y="244549"/>
                  <a:pt x="404037" y="202019"/>
                </a:cubicBezTo>
                <a:cubicBezTo>
                  <a:pt x="519223" y="159489"/>
                  <a:pt x="579474" y="480238"/>
                  <a:pt x="691116" y="446568"/>
                </a:cubicBezTo>
                <a:cubicBezTo>
                  <a:pt x="802758" y="412898"/>
                  <a:pt x="938323" y="206449"/>
                  <a:pt x="107388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1" name="TextBox 30"/>
              <p:cNvSpPr txBox="1"/>
              <p:nvPr/>
            </p:nvSpPr>
            <p:spPr>
              <a:xfrm>
                <a:off x="5410928" y="3420467"/>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1" name="TextBox 30"/>
              <p:cNvSpPr txBox="1">
                <a:spLocks noRot="1" noChangeAspect="1" noMove="1" noResize="1" noEditPoints="1" noAdjustHandles="1" noChangeArrowheads="1" noChangeShapeType="1" noTextEdit="1"/>
              </p:cNvSpPr>
              <p:nvPr/>
            </p:nvSpPr>
            <p:spPr>
              <a:xfrm>
                <a:off x="5410928" y="3420467"/>
                <a:ext cx="1774499" cy="523220"/>
              </a:xfrm>
              <a:prstGeom prst="rect">
                <a:avLst/>
              </a:prstGeom>
              <a:blipFill>
                <a:blip r:embed="rId9"/>
                <a:stretch>
                  <a:fillRect l="-1429" t="-2381"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3491880" y="680135"/>
                <a:ext cx="4765564"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1200"/>
                  <a:t>e.g. If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=2</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𝑥</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+3</m:t>
                    </m:r>
                  </m:oMath>
                </a14:m>
                <a:r>
                  <a:rPr lang="en-GB" sz="1200"/>
                  <a:t>, try a large positive value like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=1000</m:t>
                    </m:r>
                  </m:oMath>
                </a14:m>
                <a:r>
                  <a:rPr lang="en-GB" sz="1200"/>
                  <a:t>. We can see we’d get a large positive </a:t>
                </a:r>
                <a14:m>
                  <m:oMath xmlns:m="http://schemas.openxmlformats.org/officeDocument/2006/math">
                    <m:r>
                      <a:rPr lang="en-GB" sz="1200" b="0" i="1" smtClean="0">
                        <a:latin typeface="Cambria Math" panose="02040503050406030204" pitchFamily="18" charset="0"/>
                      </a:rPr>
                      <m:t>𝑦</m:t>
                    </m:r>
                  </m:oMath>
                </a14:m>
                <a:r>
                  <a:rPr lang="en-GB" sz="1200"/>
                  <a:t> value. Thus as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m:t>
                    </m:r>
                  </m:oMath>
                </a14:m>
                <a:r>
                  <a:rPr lang="en-GB" sz="1200"/>
                  <a:t>,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m:t>
                    </m:r>
                  </m:oMath>
                </a14:m>
                <a:endParaRPr lang="en-GB" sz="1200"/>
              </a:p>
            </p:txBody>
          </p:sp>
        </mc:Choice>
        <mc:Fallback>
          <p:sp>
            <p:nvSpPr>
              <p:cNvPr id="32" name="TextBox 31"/>
              <p:cNvSpPr txBox="1">
                <a:spLocks noRot="1" noChangeAspect="1" noMove="1" noResize="1" noEditPoints="1" noAdjustHandles="1" noChangeArrowheads="1" noChangeShapeType="1" noTextEdit="1"/>
              </p:cNvSpPr>
              <p:nvPr/>
            </p:nvSpPr>
            <p:spPr>
              <a:xfrm>
                <a:off x="3491880" y="680135"/>
                <a:ext cx="4765564" cy="461665"/>
              </a:xfrm>
              <a:prstGeom prst="rect">
                <a:avLst/>
              </a:prstGeom>
              <a:blipFill>
                <a:blip r:embed="rId10"/>
                <a:stretch>
                  <a:fillRect b="-7692"/>
                </a:stretch>
              </a:blipFill>
            </p:spPr>
            <p:txBody>
              <a:bodyPr/>
              <a:lstStyle/>
              <a:p>
                <a:r>
                  <a:rPr lang="en-US">
                    <a:noFill/>
                  </a:rPr>
                  <a:t> </a:t>
                </a:r>
              </a:p>
            </p:txBody>
          </p:sp>
        </mc:Fallback>
      </mc:AlternateContent>
      <p:cxnSp>
        <p:nvCxnSpPr>
          <p:cNvPr id="34" name="Straight Arrow Connector 33"/>
          <p:cNvCxnSpPr/>
          <p:nvPr/>
        </p:nvCxnSpPr>
        <p:spPr>
          <a:xfrm flipH="1">
            <a:off x="3551274" y="1127051"/>
            <a:ext cx="616690" cy="978196"/>
          </a:xfrm>
          <a:prstGeom prst="straightConnector1">
            <a:avLst/>
          </a:prstGeom>
          <a:ln w="1905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36" name="TextBox 35"/>
              <p:cNvSpPr txBox="1"/>
              <p:nvPr/>
            </p:nvSpPr>
            <p:spPr>
              <a:xfrm>
                <a:off x="5643" y="4325992"/>
                <a:ext cx="1979712"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oMath>
                    <m:oMath>
                      <m:r>
                        <a:rPr lang="en-GB" b="0" i="1" smtClean="0">
                          <a:latin typeface="Cambria Math" panose="02040503050406030204" pitchFamily="18" charset="0"/>
                        </a:rPr>
                        <m:t>   +</m:t>
                      </m:r>
                      <m:r>
                        <a:rPr lang="en-GB" b="0" i="1" smtClean="0">
                          <a:latin typeface="Cambria Math" panose="02040503050406030204" pitchFamily="18" charset="0"/>
                        </a:rPr>
                        <m:t>𝑐</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𝑑𝑥</m:t>
                      </m:r>
                      <m:r>
                        <a:rPr lang="en-GB" b="0" i="1" smtClean="0">
                          <a:latin typeface="Cambria Math" panose="02040503050406030204" pitchFamily="18" charset="0"/>
                        </a:rPr>
                        <m:t>+</m:t>
                      </m:r>
                      <m:r>
                        <a:rPr lang="en-GB" b="0" i="1" smtClean="0">
                          <a:latin typeface="Cambria Math" panose="02040503050406030204" pitchFamily="18" charset="0"/>
                        </a:rPr>
                        <m:t>𝑒</m:t>
                      </m:r>
                    </m:oMath>
                  </m:oMathPara>
                </a14:m>
                <a:endParaRPr lang="en-GB"/>
              </a:p>
            </p:txBody>
          </p:sp>
        </mc:Choice>
        <mc:Fallback>
          <p:sp>
            <p:nvSpPr>
              <p:cNvPr id="36" name="TextBox 35"/>
              <p:cNvSpPr txBox="1">
                <a:spLocks noRot="1" noChangeAspect="1" noMove="1" noResize="1" noEditPoints="1" noAdjustHandles="1" noChangeArrowheads="1" noChangeShapeType="1" noTextEdit="1"/>
              </p:cNvSpPr>
              <p:nvPr/>
            </p:nvSpPr>
            <p:spPr>
              <a:xfrm>
                <a:off x="5643" y="4325992"/>
                <a:ext cx="1979712" cy="646331"/>
              </a:xfrm>
              <a:prstGeom prst="rect">
                <a:avLst/>
              </a:prstGeom>
              <a:blipFill>
                <a:blip r:embed="rId11"/>
                <a:stretch>
                  <a:fillRect b="-96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2137988" y="4366282"/>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7" name="TextBox 36"/>
              <p:cNvSpPr txBox="1">
                <a:spLocks noRot="1" noChangeAspect="1" noMove="1" noResize="1" noEditPoints="1" noAdjustHandles="1" noChangeArrowheads="1" noChangeShapeType="1" noTextEdit="1"/>
              </p:cNvSpPr>
              <p:nvPr/>
            </p:nvSpPr>
            <p:spPr>
              <a:xfrm>
                <a:off x="2137988" y="4366282"/>
                <a:ext cx="1764490" cy="523220"/>
              </a:xfrm>
              <a:prstGeom prst="rect">
                <a:avLst/>
              </a:prstGeom>
              <a:blipFill>
                <a:blip r:embed="rId12"/>
                <a:stretch>
                  <a:fillRect l="-714" t="-2381" b="-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5438828" y="4429656"/>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8" name="TextBox 37"/>
              <p:cNvSpPr txBox="1">
                <a:spLocks noRot="1" noChangeAspect="1" noMove="1" noResize="1" noEditPoints="1" noAdjustHandles="1" noChangeArrowheads="1" noChangeShapeType="1" noTextEdit="1"/>
              </p:cNvSpPr>
              <p:nvPr/>
            </p:nvSpPr>
            <p:spPr>
              <a:xfrm>
                <a:off x="5438828" y="4429656"/>
                <a:ext cx="1774499" cy="523220"/>
              </a:xfrm>
              <a:prstGeom prst="rect">
                <a:avLst/>
              </a:prstGeom>
              <a:blipFill>
                <a:blip r:embed="rId13"/>
                <a:stretch>
                  <a:fillRect l="-1429" b="-14286"/>
                </a:stretch>
              </a:blipFill>
            </p:spPr>
            <p:txBody>
              <a:bodyPr/>
              <a:lstStyle/>
              <a:p>
                <a:r>
                  <a:rPr lang="en-US">
                    <a:noFill/>
                  </a:rPr>
                  <a:t> </a:t>
                </a:r>
              </a:p>
            </p:txBody>
          </p:sp>
        </mc:Fallback>
      </mc:AlternateContent>
      <p:sp>
        <p:nvSpPr>
          <p:cNvPr id="39" name="Freeform: Shape 38"/>
          <p:cNvSpPr/>
          <p:nvPr/>
        </p:nvSpPr>
        <p:spPr>
          <a:xfrm>
            <a:off x="4019107" y="4380614"/>
            <a:ext cx="1095153" cy="575876"/>
          </a:xfrm>
          <a:custGeom>
            <a:avLst/>
            <a:gdLst>
              <a:gd name="connsiteX0" fmla="*/ 0 w 1095153"/>
              <a:gd name="connsiteY0" fmla="*/ 0 h 575876"/>
              <a:gd name="connsiteX1" fmla="*/ 287079 w 1095153"/>
              <a:gd name="connsiteY1" fmla="*/ 478465 h 575876"/>
              <a:gd name="connsiteX2" fmla="*/ 563526 w 1095153"/>
              <a:gd name="connsiteY2" fmla="*/ 212651 h 575876"/>
              <a:gd name="connsiteX3" fmla="*/ 808074 w 1095153"/>
              <a:gd name="connsiteY3" fmla="*/ 574158 h 575876"/>
              <a:gd name="connsiteX4" fmla="*/ 1095153 w 1095153"/>
              <a:gd name="connsiteY4" fmla="*/ 31897 h 575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153" h="575876">
                <a:moveTo>
                  <a:pt x="0" y="0"/>
                </a:moveTo>
                <a:cubicBezTo>
                  <a:pt x="96579" y="221511"/>
                  <a:pt x="193158" y="443023"/>
                  <a:pt x="287079" y="478465"/>
                </a:cubicBezTo>
                <a:cubicBezTo>
                  <a:pt x="381000" y="513907"/>
                  <a:pt x="476694" y="196702"/>
                  <a:pt x="563526" y="212651"/>
                </a:cubicBezTo>
                <a:cubicBezTo>
                  <a:pt x="650359" y="228600"/>
                  <a:pt x="719470" y="604284"/>
                  <a:pt x="808074" y="574158"/>
                </a:cubicBezTo>
                <a:cubicBezTo>
                  <a:pt x="896678" y="544032"/>
                  <a:pt x="995915" y="287964"/>
                  <a:pt x="1095153" y="3189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Freeform: Shape 39"/>
          <p:cNvSpPr/>
          <p:nvPr/>
        </p:nvSpPr>
        <p:spPr>
          <a:xfrm>
            <a:off x="7378995" y="4410501"/>
            <a:ext cx="1084521" cy="608066"/>
          </a:xfrm>
          <a:custGeom>
            <a:avLst/>
            <a:gdLst>
              <a:gd name="connsiteX0" fmla="*/ 0 w 1084521"/>
              <a:gd name="connsiteY0" fmla="*/ 608066 h 608066"/>
              <a:gd name="connsiteX1" fmla="*/ 287079 w 1084521"/>
              <a:gd name="connsiteY1" fmla="*/ 87071 h 608066"/>
              <a:gd name="connsiteX2" fmla="*/ 531628 w 1084521"/>
              <a:gd name="connsiteY2" fmla="*/ 342252 h 608066"/>
              <a:gd name="connsiteX3" fmla="*/ 754912 w 1084521"/>
              <a:gd name="connsiteY3" fmla="*/ 2010 h 608066"/>
              <a:gd name="connsiteX4" fmla="*/ 1084521 w 1084521"/>
              <a:gd name="connsiteY4" fmla="*/ 533638 h 608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521" h="608066">
                <a:moveTo>
                  <a:pt x="0" y="608066"/>
                </a:moveTo>
                <a:cubicBezTo>
                  <a:pt x="99237" y="369719"/>
                  <a:pt x="198474" y="131373"/>
                  <a:pt x="287079" y="87071"/>
                </a:cubicBezTo>
                <a:cubicBezTo>
                  <a:pt x="375684" y="42769"/>
                  <a:pt x="453656" y="356429"/>
                  <a:pt x="531628" y="342252"/>
                </a:cubicBezTo>
                <a:cubicBezTo>
                  <a:pt x="609600" y="328075"/>
                  <a:pt x="662763" y="-29888"/>
                  <a:pt x="754912" y="2010"/>
                </a:cubicBezTo>
                <a:cubicBezTo>
                  <a:pt x="847061" y="33908"/>
                  <a:pt x="965791" y="283773"/>
                  <a:pt x="1084521" y="533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1" name="Straight Connector 40"/>
          <p:cNvCxnSpPr/>
          <p:nvPr/>
        </p:nvCxnSpPr>
        <p:spPr>
          <a:xfrm>
            <a:off x="374086" y="5243205"/>
            <a:ext cx="829049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2" name="TextBox 41"/>
              <p:cNvSpPr txBox="1"/>
              <p:nvPr/>
            </p:nvSpPr>
            <p:spPr>
              <a:xfrm>
                <a:off x="-15621" y="5471807"/>
                <a:ext cx="2120868" cy="37241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5</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a:off x="-15621" y="5471807"/>
                <a:ext cx="2120868" cy="372410"/>
              </a:xfrm>
              <a:prstGeom prst="rect">
                <a:avLst/>
              </a:prstGeom>
              <a:blipFill>
                <a:blip r:embed="rId14"/>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TextBox 43"/>
              <p:cNvSpPr txBox="1"/>
              <p:nvPr/>
            </p:nvSpPr>
            <p:spPr>
              <a:xfrm>
                <a:off x="2157827" y="5460263"/>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44" name="TextBox 43"/>
              <p:cNvSpPr txBox="1">
                <a:spLocks noRot="1" noChangeAspect="1" noMove="1" noResize="1" noEditPoints="1" noAdjustHandles="1" noChangeArrowheads="1" noChangeShapeType="1" noTextEdit="1"/>
              </p:cNvSpPr>
              <p:nvPr/>
            </p:nvSpPr>
            <p:spPr>
              <a:xfrm>
                <a:off x="2157827" y="5460263"/>
                <a:ext cx="1764490" cy="523220"/>
              </a:xfrm>
              <a:prstGeom prst="rect">
                <a:avLst/>
              </a:prstGeom>
              <a:blipFill>
                <a:blip r:embed="rId15"/>
                <a:stretch>
                  <a:fillRect l="-714" t="-2381"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p:cNvSpPr txBox="1"/>
              <p:nvPr/>
            </p:nvSpPr>
            <p:spPr>
              <a:xfrm>
                <a:off x="5449460" y="5310252"/>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45" name="TextBox 44"/>
              <p:cNvSpPr txBox="1">
                <a:spLocks noRot="1" noChangeAspect="1" noMove="1" noResize="1" noEditPoints="1" noAdjustHandles="1" noChangeArrowheads="1" noChangeShapeType="1" noTextEdit="1"/>
              </p:cNvSpPr>
              <p:nvPr/>
            </p:nvSpPr>
            <p:spPr>
              <a:xfrm>
                <a:off x="5449460" y="5310252"/>
                <a:ext cx="1774499" cy="523220"/>
              </a:xfrm>
              <a:prstGeom prst="rect">
                <a:avLst/>
              </a:prstGeom>
              <a:blipFill>
                <a:blip r:embed="rId16"/>
                <a:stretch>
                  <a:fillRect l="-1429" t="-2381" b="-11905"/>
                </a:stretch>
              </a:blipFill>
            </p:spPr>
            <p:txBody>
              <a:bodyPr/>
              <a:lstStyle/>
              <a:p>
                <a:r>
                  <a:rPr lang="en-US">
                    <a:noFill/>
                  </a:rPr>
                  <a:t> </a:t>
                </a:r>
              </a:p>
            </p:txBody>
          </p:sp>
        </mc:Fallback>
      </mc:AlternateContent>
      <p:sp>
        <p:nvSpPr>
          <p:cNvPr id="46" name="Freeform: Shape 45"/>
          <p:cNvSpPr/>
          <p:nvPr/>
        </p:nvSpPr>
        <p:spPr>
          <a:xfrm>
            <a:off x="4040373" y="5273749"/>
            <a:ext cx="1212111" cy="691116"/>
          </a:xfrm>
          <a:custGeom>
            <a:avLst/>
            <a:gdLst>
              <a:gd name="connsiteX0" fmla="*/ 0 w 1212111"/>
              <a:gd name="connsiteY0" fmla="*/ 691116 h 691116"/>
              <a:gd name="connsiteX1" fmla="*/ 318977 w 1212111"/>
              <a:gd name="connsiteY1" fmla="*/ 276446 h 691116"/>
              <a:gd name="connsiteX2" fmla="*/ 552893 w 1212111"/>
              <a:gd name="connsiteY2" fmla="*/ 467832 h 691116"/>
              <a:gd name="connsiteX3" fmla="*/ 818707 w 1212111"/>
              <a:gd name="connsiteY3" fmla="*/ 170121 h 691116"/>
              <a:gd name="connsiteX4" fmla="*/ 978195 w 1212111"/>
              <a:gd name="connsiteY4" fmla="*/ 318977 h 691116"/>
              <a:gd name="connsiteX5" fmla="*/ 1212111 w 1212111"/>
              <a:gd name="connsiteY5" fmla="*/ 0 h 69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2111" h="691116">
                <a:moveTo>
                  <a:pt x="0" y="691116"/>
                </a:moveTo>
                <a:cubicBezTo>
                  <a:pt x="113414" y="502388"/>
                  <a:pt x="226828" y="313660"/>
                  <a:pt x="318977" y="276446"/>
                </a:cubicBezTo>
                <a:cubicBezTo>
                  <a:pt x="411126" y="239232"/>
                  <a:pt x="469605" y="485553"/>
                  <a:pt x="552893" y="467832"/>
                </a:cubicBezTo>
                <a:cubicBezTo>
                  <a:pt x="636181" y="450111"/>
                  <a:pt x="747823" y="194930"/>
                  <a:pt x="818707" y="170121"/>
                </a:cubicBezTo>
                <a:cubicBezTo>
                  <a:pt x="889591" y="145312"/>
                  <a:pt x="912628" y="347330"/>
                  <a:pt x="978195" y="318977"/>
                </a:cubicBezTo>
                <a:cubicBezTo>
                  <a:pt x="1043762" y="290624"/>
                  <a:pt x="1127936" y="145312"/>
                  <a:pt x="121211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Freeform: Shape 46"/>
          <p:cNvSpPr/>
          <p:nvPr/>
        </p:nvSpPr>
        <p:spPr>
          <a:xfrm flipV="1">
            <a:off x="7348316" y="5349511"/>
            <a:ext cx="1212111" cy="636620"/>
          </a:xfrm>
          <a:custGeom>
            <a:avLst/>
            <a:gdLst>
              <a:gd name="connsiteX0" fmla="*/ 0 w 1212111"/>
              <a:gd name="connsiteY0" fmla="*/ 691116 h 691116"/>
              <a:gd name="connsiteX1" fmla="*/ 318977 w 1212111"/>
              <a:gd name="connsiteY1" fmla="*/ 276446 h 691116"/>
              <a:gd name="connsiteX2" fmla="*/ 552893 w 1212111"/>
              <a:gd name="connsiteY2" fmla="*/ 467832 h 691116"/>
              <a:gd name="connsiteX3" fmla="*/ 818707 w 1212111"/>
              <a:gd name="connsiteY3" fmla="*/ 170121 h 691116"/>
              <a:gd name="connsiteX4" fmla="*/ 978195 w 1212111"/>
              <a:gd name="connsiteY4" fmla="*/ 318977 h 691116"/>
              <a:gd name="connsiteX5" fmla="*/ 1212111 w 1212111"/>
              <a:gd name="connsiteY5" fmla="*/ 0 h 69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2111" h="691116">
                <a:moveTo>
                  <a:pt x="0" y="691116"/>
                </a:moveTo>
                <a:cubicBezTo>
                  <a:pt x="113414" y="502388"/>
                  <a:pt x="226828" y="313660"/>
                  <a:pt x="318977" y="276446"/>
                </a:cubicBezTo>
                <a:cubicBezTo>
                  <a:pt x="411126" y="239232"/>
                  <a:pt x="469605" y="485553"/>
                  <a:pt x="552893" y="467832"/>
                </a:cubicBezTo>
                <a:cubicBezTo>
                  <a:pt x="636181" y="450111"/>
                  <a:pt x="747823" y="194930"/>
                  <a:pt x="818707" y="170121"/>
                </a:cubicBezTo>
                <a:cubicBezTo>
                  <a:pt x="889591" y="145312"/>
                  <a:pt x="912628" y="347330"/>
                  <a:pt x="978195" y="318977"/>
                </a:cubicBezTo>
                <a:cubicBezTo>
                  <a:pt x="1043762" y="290624"/>
                  <a:pt x="1127936" y="145312"/>
                  <a:pt x="121211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52" name="TextBox 51"/>
              <p:cNvSpPr txBox="1"/>
              <p:nvPr/>
            </p:nvSpPr>
            <p:spPr>
              <a:xfrm>
                <a:off x="2125269" y="6018029"/>
                <a:ext cx="4934750" cy="8617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𝑎</m:t>
                    </m:r>
                    <m:r>
                      <a:rPr lang="en-GB" sz="1600" b="0" i="1" smtClean="0">
                        <a:latin typeface="Cambria Math" panose="02040503050406030204" pitchFamily="18" charset="0"/>
                      </a:rPr>
                      <m:t>&gt;0</m:t>
                    </m:r>
                  </m:oMath>
                </a14:m>
                <a:r>
                  <a:rPr lang="en-GB" sz="1600"/>
                  <a:t>, what therefore can we say about the shape if:</a:t>
                </a:r>
              </a:p>
              <a:p>
                <a:pPr marL="285750" indent="-285750">
                  <a:buFont typeface="Arial" panose="020B0604020202020204" pitchFamily="34" charset="0"/>
                  <a:buChar char="•"/>
                </a:pPr>
                <a:r>
                  <a:rPr lang="en-GB" sz="1600" b="1"/>
                  <a:t>The order is odd</a:t>
                </a:r>
                <a:r>
                  <a:rPr lang="en-GB" sz="1600"/>
                  <a:t>: It goes uphill (from left to right)</a:t>
                </a:r>
              </a:p>
              <a:p>
                <a:pPr marL="285750" indent="-285750">
                  <a:buFont typeface="Arial" panose="020B0604020202020204" pitchFamily="34" charset="0"/>
                  <a:buChar char="•"/>
                </a:pPr>
                <a:r>
                  <a:rPr lang="en-GB" sz="1600" b="1"/>
                  <a:t>The order is even</a:t>
                </a:r>
                <a:r>
                  <a:rPr lang="en-GB" sz="1600"/>
                  <a:t>: The tails go upwards.</a:t>
                </a:r>
              </a:p>
            </p:txBody>
          </p:sp>
        </mc:Choice>
        <mc:Fallback>
          <p:sp>
            <p:nvSpPr>
              <p:cNvPr id="52" name="TextBox 51"/>
              <p:cNvSpPr txBox="1">
                <a:spLocks noRot="1" noChangeAspect="1" noMove="1" noResize="1" noEditPoints="1" noAdjustHandles="1" noChangeArrowheads="1" noChangeShapeType="1" noTextEdit="1"/>
              </p:cNvSpPr>
              <p:nvPr/>
            </p:nvSpPr>
            <p:spPr>
              <a:xfrm>
                <a:off x="2125269" y="6018029"/>
                <a:ext cx="4934750" cy="861774"/>
              </a:xfrm>
              <a:prstGeom prst="rect">
                <a:avLst/>
              </a:prstGeom>
              <a:blipFill>
                <a:blip r:embed="rId17"/>
                <a:stretch>
                  <a:fillRect l="-512" b="-2817"/>
                </a:stretch>
              </a:blipFill>
            </p:spPr>
            <p:txBody>
              <a:bodyPr/>
              <a:lstStyle/>
              <a:p>
                <a:r>
                  <a:rPr lang="en-US">
                    <a:noFill/>
                  </a:rPr>
                  <a:t> </a:t>
                </a:r>
              </a:p>
            </p:txBody>
          </p:sp>
        </mc:Fallback>
      </mc:AlternateContent>
      <p:sp>
        <p:nvSpPr>
          <p:cNvPr id="56" name="Rectangle 55"/>
          <p:cNvSpPr/>
          <p:nvPr/>
        </p:nvSpPr>
        <p:spPr>
          <a:xfrm>
            <a:off x="2148169" y="3040911"/>
            <a:ext cx="3263804" cy="12014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7" name="Rectangle 56"/>
          <p:cNvSpPr/>
          <p:nvPr/>
        </p:nvSpPr>
        <p:spPr>
          <a:xfrm>
            <a:off x="5433184" y="3040911"/>
            <a:ext cx="3263804" cy="12014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8" name="Rectangle 57"/>
          <p:cNvSpPr/>
          <p:nvPr/>
        </p:nvSpPr>
        <p:spPr>
          <a:xfrm>
            <a:off x="2164445" y="4253420"/>
            <a:ext cx="3263804" cy="97779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9" name="Rectangle 58"/>
          <p:cNvSpPr/>
          <p:nvPr/>
        </p:nvSpPr>
        <p:spPr>
          <a:xfrm>
            <a:off x="5449460" y="4253420"/>
            <a:ext cx="3263804" cy="97779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0" name="Rectangle 59"/>
          <p:cNvSpPr/>
          <p:nvPr/>
        </p:nvSpPr>
        <p:spPr>
          <a:xfrm>
            <a:off x="2164445" y="5215707"/>
            <a:ext cx="3263804" cy="7597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1" name="Rectangle 60"/>
          <p:cNvSpPr/>
          <p:nvPr/>
        </p:nvSpPr>
        <p:spPr>
          <a:xfrm>
            <a:off x="5449460" y="5215707"/>
            <a:ext cx="3263804" cy="7597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13" name="Straight Connector 12"/>
          <p:cNvCxnSpPr/>
          <p:nvPr/>
        </p:nvCxnSpPr>
        <p:spPr>
          <a:xfrm flipV="1">
            <a:off x="2148106" y="1249914"/>
            <a:ext cx="9721" cy="4594303"/>
          </a:xfrm>
          <a:prstGeom prst="line">
            <a:avLst/>
          </a:prstGeom>
          <a:ln w="38100"/>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V="1">
            <a:off x="5422605" y="1249915"/>
            <a:ext cx="953" cy="4640522"/>
          </a:xfrm>
          <a:prstGeom prst="line">
            <a:avLst/>
          </a:prstGeom>
          <a:ln w="38100"/>
        </p:spPr>
        <p:style>
          <a:lnRef idx="1">
            <a:schemeClr val="dk1"/>
          </a:lnRef>
          <a:fillRef idx="0">
            <a:schemeClr val="dk1"/>
          </a:fillRef>
          <a:effectRef idx="0">
            <a:schemeClr val="dk1"/>
          </a:effectRef>
          <a:fontRef idx="minor">
            <a:schemeClr val="tx1"/>
          </a:fontRef>
        </p:style>
      </p:cxnSp>
      <p:sp>
        <p:nvSpPr>
          <p:cNvPr id="62" name="Rectangle 61"/>
          <p:cNvSpPr/>
          <p:nvPr/>
        </p:nvSpPr>
        <p:spPr>
          <a:xfrm>
            <a:off x="3980539" y="6315740"/>
            <a:ext cx="2707340" cy="22373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3" name="Rectangle 62"/>
          <p:cNvSpPr/>
          <p:nvPr/>
        </p:nvSpPr>
        <p:spPr>
          <a:xfrm>
            <a:off x="4040078" y="6571865"/>
            <a:ext cx="2707340" cy="22373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64" name="TextBox 63"/>
              <p:cNvSpPr txBox="1"/>
              <p:nvPr/>
            </p:nvSpPr>
            <p:spPr>
              <a:xfrm>
                <a:off x="7117633" y="6218466"/>
                <a:ext cx="1336468" cy="461665"/>
              </a:xfrm>
              <a:prstGeom prst="rect">
                <a:avLst/>
              </a:prstGeom>
              <a:noFill/>
            </p:spPr>
            <p:txBody>
              <a:bodyPr wrap="square" rtlCol="0">
                <a:spAutoFit/>
              </a:bodyPr>
              <a:lstStyle/>
              <a:p>
                <a:r>
                  <a:rPr lang="en-GB" sz="1200"/>
                  <a:t>(And we have the opposite if </a:t>
                </a:r>
                <a14:m>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&lt;0</m:t>
                    </m:r>
                  </m:oMath>
                </a14:m>
                <a:r>
                  <a:rPr lang="en-GB" sz="1200"/>
                  <a:t>)</a:t>
                </a:r>
              </a:p>
            </p:txBody>
          </p:sp>
        </mc:Choice>
        <mc:Fallback>
          <p:sp>
            <p:nvSpPr>
              <p:cNvPr id="64" name="TextBox 63"/>
              <p:cNvSpPr txBox="1">
                <a:spLocks noRot="1" noChangeAspect="1" noMove="1" noResize="1" noEditPoints="1" noAdjustHandles="1" noChangeArrowheads="1" noChangeShapeType="1" noTextEdit="1"/>
              </p:cNvSpPr>
              <p:nvPr/>
            </p:nvSpPr>
            <p:spPr>
              <a:xfrm>
                <a:off x="7117633" y="6218466"/>
                <a:ext cx="1336468" cy="461665"/>
              </a:xfrm>
              <a:prstGeom prst="rect">
                <a:avLst/>
              </a:prstGeom>
              <a:blipFill>
                <a:blip r:embed="rId18"/>
                <a:stretch>
                  <a:fillRect b="-7895"/>
                </a:stretch>
              </a:blipFill>
            </p:spPr>
            <p:txBody>
              <a:bodyPr/>
              <a:lstStyle/>
              <a:p>
                <a:r>
                  <a:rPr lang="en-US">
                    <a:noFill/>
                  </a:rPr>
                  <a:t> </a:t>
                </a:r>
              </a:p>
            </p:txBody>
          </p:sp>
        </mc:Fallback>
      </mc:AlternateContent>
    </p:spTree>
    <p:extLst>
      <p:ext uri="{BB962C8B-B14F-4D97-AF65-F5344CB8AC3E}">
        <p14:creationId xmlns:p14="http://schemas.microsoft.com/office/powerpoint/2010/main" val="16586608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6"/>
                                        </p:tgtEl>
                                      </p:cBhvr>
                                    </p:animEffect>
                                    <p:set>
                                      <p:cBhvr>
                                        <p:cTn id="7" dur="1" fill="hold">
                                          <p:stCondLst>
                                            <p:cond delay="499"/>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8" restart="whenNotActive" fill="hold" evtFilter="cancelBubble" nodeType="interactiveSeq">
                <p:stCondLst>
                  <p:cond evt="onClick" delay="0">
                    <p:tgtEl>
                      <p:spTgt spid="5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57"/>
                                        </p:tgtEl>
                                      </p:cBhvr>
                                    </p:animEffect>
                                    <p:set>
                                      <p:cBhvr>
                                        <p:cTn id="13" dur="1" fill="hold">
                                          <p:stCondLst>
                                            <p:cond delay="499"/>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14" restart="whenNotActive" fill="hold" evtFilter="cancelBubble" nodeType="interactiveSeq">
                <p:stCondLst>
                  <p:cond evt="onClick" delay="0">
                    <p:tgtEl>
                      <p:spTgt spid="5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58"/>
                                        </p:tgtEl>
                                      </p:cBhvr>
                                    </p:animEffect>
                                    <p:set>
                                      <p:cBhvr>
                                        <p:cTn id="19" dur="1" fill="hold">
                                          <p:stCondLst>
                                            <p:cond delay="499"/>
                                          </p:stCondLst>
                                        </p:cTn>
                                        <p:tgtEl>
                                          <p:spTgt spid="58"/>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20" restart="whenNotActive" fill="hold" evtFilter="cancelBubble" nodeType="interactiveSeq">
                <p:stCondLst>
                  <p:cond evt="onClick" delay="0">
                    <p:tgtEl>
                      <p:spTgt spid="5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59"/>
                                        </p:tgtEl>
                                      </p:cBhvr>
                                    </p:animEffect>
                                    <p:set>
                                      <p:cBhvr>
                                        <p:cTn id="25" dur="1" fill="hold">
                                          <p:stCondLst>
                                            <p:cond delay="499"/>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26" restart="whenNotActive" fill="hold" evtFilter="cancelBubble" nodeType="interactiveSeq">
                <p:stCondLst>
                  <p:cond evt="onClick" delay="0">
                    <p:tgtEl>
                      <p:spTgt spid="60"/>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60"/>
                                        </p:tgtEl>
                                      </p:cBhvr>
                                    </p:animEffect>
                                    <p:set>
                                      <p:cBhvr>
                                        <p:cTn id="31" dur="1" fill="hold">
                                          <p:stCondLst>
                                            <p:cond delay="499"/>
                                          </p:stCondLst>
                                        </p:cTn>
                                        <p:tgtEl>
                                          <p:spTgt spid="60"/>
                                        </p:tgtEl>
                                        <p:attrNameLst>
                                          <p:attrName>style.visibility</p:attrName>
                                        </p:attrNameLst>
                                      </p:cBhvr>
                                      <p:to>
                                        <p:strVal val="hidden"/>
                                      </p:to>
                                    </p:set>
                                  </p:childTnLst>
                                </p:cTn>
                              </p:par>
                            </p:childTnLst>
                          </p:cTn>
                        </p:par>
                      </p:childTnLst>
                    </p:cTn>
                  </p:par>
                </p:childTnLst>
              </p:cTn>
              <p:nextCondLst>
                <p:cond evt="onClick" delay="0">
                  <p:tgtEl>
                    <p:spTgt spid="60"/>
                  </p:tgtEl>
                </p:cond>
              </p:nextCondLst>
            </p:seq>
            <p:seq concurrent="1" nextAc="seek">
              <p:cTn id="32" restart="whenNotActive" fill="hold" evtFilter="cancelBubble" nodeType="interactiveSeq">
                <p:stCondLst>
                  <p:cond evt="onClick" delay="0">
                    <p:tgtEl>
                      <p:spTgt spid="61"/>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61"/>
                                        </p:tgtEl>
                                      </p:cBhvr>
                                    </p:animEffect>
                                    <p:set>
                                      <p:cBhvr>
                                        <p:cTn id="37" dur="1" fill="hold">
                                          <p:stCondLst>
                                            <p:cond delay="499"/>
                                          </p:stCondLst>
                                        </p:cTn>
                                        <p:tgtEl>
                                          <p:spTgt spid="61"/>
                                        </p:tgtEl>
                                        <p:attrNameLst>
                                          <p:attrName>style.visibility</p:attrName>
                                        </p:attrNameLst>
                                      </p:cBhvr>
                                      <p:to>
                                        <p:strVal val="hidden"/>
                                      </p:to>
                                    </p:set>
                                  </p:childTnLst>
                                </p:cTn>
                              </p:par>
                            </p:childTnLst>
                          </p:cTn>
                        </p:par>
                      </p:childTnLst>
                    </p:cTn>
                  </p:par>
                </p:childTnLst>
              </p:cTn>
              <p:nextCondLst>
                <p:cond evt="onClick" delay="0">
                  <p:tgtEl>
                    <p:spTgt spid="61"/>
                  </p:tgtEl>
                </p:cond>
              </p:nextCondLst>
            </p:seq>
            <p:seq concurrent="1" nextAc="seek">
              <p:cTn id="38" restart="whenNotActive" fill="hold" evtFilter="cancelBubble" nodeType="interactiveSeq">
                <p:stCondLst>
                  <p:cond evt="onClick" delay="0">
                    <p:tgtEl>
                      <p:spTgt spid="62"/>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62"/>
                                        </p:tgtEl>
                                      </p:cBhvr>
                                    </p:animEffect>
                                    <p:set>
                                      <p:cBhvr>
                                        <p:cTn id="43" dur="1" fill="hold">
                                          <p:stCondLst>
                                            <p:cond delay="499"/>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44" restart="whenNotActive" fill="hold" evtFilter="cancelBubble" nodeType="interactiveSeq">
                <p:stCondLst>
                  <p:cond evt="onClick" delay="0">
                    <p:tgtEl>
                      <p:spTgt spid="63"/>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63"/>
                                        </p:tgtEl>
                                      </p:cBhvr>
                                    </p:animEffect>
                                    <p:set>
                                      <p:cBhvr>
                                        <p:cTn id="49" dur="1" fill="hold">
                                          <p:stCondLst>
                                            <p:cond delay="499"/>
                                          </p:stCondLst>
                                        </p:cTn>
                                        <p:tgtEl>
                                          <p:spTgt spid="63"/>
                                        </p:tgtEl>
                                        <p:attrNameLst>
                                          <p:attrName>style.visibility</p:attrName>
                                        </p:attrNameLst>
                                      </p:cBhvr>
                                      <p:to>
                                        <p:strVal val="hidden"/>
                                      </p:to>
                                    </p:se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64"/>
                                        </p:tgtEl>
                                        <p:attrNameLst>
                                          <p:attrName>style.visibility</p:attrName>
                                        </p:attrNameLst>
                                      </p:cBhvr>
                                      <p:to>
                                        <p:strVal val="visible"/>
                                      </p:to>
                                    </p:set>
                                    <p:anim calcmode="lin" valueType="num">
                                      <p:cBhvr additive="base">
                                        <p:cTn id="53" dur="500" fill="hold"/>
                                        <p:tgtEl>
                                          <p:spTgt spid="64"/>
                                        </p:tgtEl>
                                        <p:attrNameLst>
                                          <p:attrName>ppt_x</p:attrName>
                                        </p:attrNameLst>
                                      </p:cBhvr>
                                      <p:tavLst>
                                        <p:tav tm="0">
                                          <p:val>
                                            <p:strVal val="#ppt_x"/>
                                          </p:val>
                                        </p:tav>
                                        <p:tav tm="100000">
                                          <p:val>
                                            <p:strVal val="#ppt_x"/>
                                          </p:val>
                                        </p:tav>
                                      </p:tavLst>
                                    </p:anim>
                                    <p:anim calcmode="lin" valueType="num">
                                      <p:cBhvr additive="base">
                                        <p:cTn id="54"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63"/>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P spid="64" grpId="0"/>
    </p:bldLst>
  </p:timing>
</p:sld>
</file>

<file path=ppt/c4/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−2)(1−</m:t>
                      </m:r>
                      <m:r>
                        <a:rPr lang="en-GB" b="0" i="1" smtClean="0">
                          <a:latin typeface="Cambria Math" panose="02040503050406030204" pitchFamily="18" charset="0"/>
                        </a:rPr>
                        <m:t>𝑥</m:t>
                      </m:r>
                      <m:r>
                        <a:rPr lang="en-GB" b="0" i="1" smtClean="0">
                          <a:latin typeface="Cambria Math" panose="02040503050406030204" pitchFamily="18" charset="0"/>
                        </a:rPr>
                        <m:t>)(1+</m:t>
                      </m:r>
                      <m:r>
                        <a:rPr lang="en-GB" b="0" i="1" smtClean="0">
                          <a:latin typeface="Cambria Math" panose="02040503050406030204" pitchFamily="18" charset="0"/>
                        </a:rPr>
                        <m:t>𝑥</m:t>
                      </m:r>
                      <m:r>
                        <a:rPr lang="en-GB" b="0" i="1" smtClean="0">
                          <a:latin typeface="Cambria Math" panose="02040503050406030204" pitchFamily="18" charset="0"/>
                        </a:rPr>
                        <m:t>)</m:t>
                      </m:r>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251520" y="836712"/>
                <a:ext cx="3672408"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295003" y="1638843"/>
            <a:ext cx="2990457" cy="369332"/>
          </a:xfrm>
          <a:prstGeom prst="rect">
            <a:avLst/>
          </a:prstGeom>
          <a:noFill/>
        </p:spPr>
        <p:txBody>
          <a:bodyPr wrap="square" rtlCol="0">
            <a:spAutoFit/>
          </a:bodyPr>
          <a:lstStyle/>
          <a:p>
            <a:r>
              <a:rPr lang="en-GB"/>
              <a:t>Features you must consider:</a:t>
            </a:r>
          </a:p>
        </p:txBody>
      </p:sp>
      <p:sp>
        <p:nvSpPr>
          <p:cNvPr id="7" name="TextBox 6"/>
          <p:cNvSpPr txBox="1"/>
          <p:nvPr/>
        </p:nvSpPr>
        <p:spPr>
          <a:xfrm>
            <a:off x="305636" y="2163287"/>
            <a:ext cx="964629" cy="338554"/>
          </a:xfrm>
          <a:prstGeom prst="rect">
            <a:avLst/>
          </a:prstGeom>
          <a:noFill/>
        </p:spPr>
        <p:txBody>
          <a:bodyPr wrap="square" rtlCol="0">
            <a:spAutoFit/>
          </a:bodyPr>
          <a:lstStyle/>
          <a:p>
            <a:r>
              <a:rPr lang="en-GB" sz="1600" b="1"/>
              <a:t>Shape?</a:t>
            </a:r>
          </a:p>
        </p:txBody>
      </p:sp>
      <mc:AlternateContent xmlns:mc="http://schemas.openxmlformats.org/markup-compatibility/2006">
        <mc:Choice xmlns:a14="http://schemas.microsoft.com/office/drawing/2010/main" Requires="a14">
          <p:sp>
            <p:nvSpPr>
              <p:cNvPr id="8" name="TextBox 7"/>
              <p:cNvSpPr txBox="1"/>
              <p:nvPr/>
            </p:nvSpPr>
            <p:spPr>
              <a:xfrm>
                <a:off x="1201591" y="2173920"/>
                <a:ext cx="2679293" cy="830997"/>
              </a:xfrm>
              <a:prstGeom prst="rect">
                <a:avLst/>
              </a:prstGeom>
              <a:noFill/>
            </p:spPr>
            <p:txBody>
              <a:bodyPr wrap="square" rtlCol="0">
                <a:spAutoFit/>
              </a:bodyPr>
              <a:lstStyle/>
              <a:p>
                <a:r>
                  <a:rPr lang="en-GB" sz="1600"/>
                  <a:t>If we expanded,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oMath>
                </a14:m>
                <a:r>
                  <a:rPr lang="en-GB" sz="1600"/>
                  <a:t> term would be negative, so ‘downhill’ shape.</a:t>
                </a:r>
              </a:p>
            </p:txBody>
          </p:sp>
        </mc:Choice>
        <mc:Fallback>
          <p:sp>
            <p:nvSpPr>
              <p:cNvPr id="8" name="TextBox 7"/>
              <p:cNvSpPr txBox="1">
                <a:spLocks noRot="1" noChangeAspect="1" noMove="1" noResize="1" noEditPoints="1" noAdjustHandles="1" noChangeArrowheads="1" noChangeShapeType="1" noTextEdit="1"/>
              </p:cNvSpPr>
              <p:nvPr/>
            </p:nvSpPr>
            <p:spPr>
              <a:xfrm>
                <a:off x="1201591" y="2173920"/>
                <a:ext cx="2679293" cy="830997"/>
              </a:xfrm>
              <a:prstGeom prst="rect">
                <a:avLst/>
              </a:prstGeom>
              <a:blipFill>
                <a:blip r:embed="rId3"/>
                <a:stretch>
                  <a:fillRect l="-943" t="-3030" b="-7576"/>
                </a:stretch>
              </a:blipFill>
            </p:spPr>
            <p:txBody>
              <a:bodyPr/>
              <a:lstStyle/>
              <a:p>
                <a:r>
                  <a:rPr lang="en-US">
                    <a:noFill/>
                  </a:rPr>
                  <a:t> </a:t>
                </a:r>
              </a:p>
            </p:txBody>
          </p:sp>
        </mc:Fallback>
      </mc:AlternateContent>
      <p:sp>
        <p:nvSpPr>
          <p:cNvPr id="9" name="TextBox 8"/>
          <p:cNvSpPr txBox="1"/>
          <p:nvPr/>
        </p:nvSpPr>
        <p:spPr>
          <a:xfrm>
            <a:off x="312093" y="3023441"/>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10" name="TextBox 9"/>
              <p:cNvSpPr txBox="1"/>
              <p:nvPr/>
            </p:nvSpPr>
            <p:spPr>
              <a:xfrm>
                <a:off x="1201591" y="3004917"/>
                <a:ext cx="2349683"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=0</m:t>
                    </m:r>
                  </m:oMath>
                </a14:m>
                <a:r>
                  <a:rPr lang="en-GB" sz="1600"/>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=2, 1 </m:t>
                    </m:r>
                    <m:r>
                      <a:rPr lang="en-GB" sz="1600" b="0" i="1" smtClean="0">
                        <a:latin typeface="Cambria Math" panose="02040503050406030204" pitchFamily="18" charset="0"/>
                      </a:rPr>
                      <m:t>𝑜𝑟</m:t>
                    </m:r>
                    <m:r>
                      <a:rPr lang="en-GB" sz="1600" b="0" i="1" smtClean="0">
                        <a:latin typeface="Cambria Math" panose="02040503050406030204" pitchFamily="18" charset="0"/>
                      </a:rPr>
                      <m:t> −1</m:t>
                    </m:r>
                  </m:oMath>
                </a14:m>
                <a:endParaRPr lang="en-GB" sz="1600"/>
              </a:p>
            </p:txBody>
          </p:sp>
        </mc:Choice>
        <mc:Fallback>
          <p:sp>
            <p:nvSpPr>
              <p:cNvPr id="10" name="TextBox 9"/>
              <p:cNvSpPr txBox="1">
                <a:spLocks noRot="1" noChangeAspect="1" noMove="1" noResize="1" noEditPoints="1" noAdjustHandles="1" noChangeArrowheads="1" noChangeShapeType="1" noTextEdit="1"/>
              </p:cNvSpPr>
              <p:nvPr/>
            </p:nvSpPr>
            <p:spPr>
              <a:xfrm>
                <a:off x="1201591" y="3004917"/>
                <a:ext cx="2349683" cy="338554"/>
              </a:xfrm>
              <a:prstGeom prst="rect">
                <a:avLst/>
              </a:prstGeom>
              <a:blipFill>
                <a:blip r:embed="rId4"/>
                <a:stretch>
                  <a:fillRect l="-1075" t="-3571" b="-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201591" y="3502208"/>
                <a:ext cx="2349683"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a:t> </a:t>
                </a:r>
                <a14:m>
                  <m:oMath xmlns:m="http://schemas.openxmlformats.org/officeDocument/2006/math">
                    <m:r>
                      <a:rPr lang="en-GB" sz="1600" b="0" i="1" dirty="0" smtClean="0">
                        <a:latin typeface="Cambria Math" panose="02040503050406030204" pitchFamily="18" charset="0"/>
                      </a:rPr>
                      <m:t>𝑦</m:t>
                    </m:r>
                    <m:r>
                      <a:rPr lang="en-GB" sz="1600" b="0" i="1" dirty="0" smtClean="0">
                        <a:latin typeface="Cambria Math" panose="02040503050406030204" pitchFamily="18" charset="0"/>
                      </a:rPr>
                      <m:t>=−2</m:t>
                    </m:r>
                  </m:oMath>
                </a14:m>
                <a:endParaRPr lang="en-GB" sz="1600"/>
              </a:p>
            </p:txBody>
          </p:sp>
        </mc:Choice>
        <mc:Fallback>
          <p:sp>
            <p:nvSpPr>
              <p:cNvPr id="11" name="TextBox 10"/>
              <p:cNvSpPr txBox="1">
                <a:spLocks noRot="1" noChangeAspect="1" noMove="1" noResize="1" noEditPoints="1" noAdjustHandles="1" noChangeArrowheads="1" noChangeShapeType="1" noTextEdit="1"/>
              </p:cNvSpPr>
              <p:nvPr/>
            </p:nvSpPr>
            <p:spPr>
              <a:xfrm>
                <a:off x="1201591" y="3502208"/>
                <a:ext cx="2349683" cy="338554"/>
              </a:xfrm>
              <a:prstGeom prst="rect">
                <a:avLst/>
              </a:prstGeom>
              <a:blipFill>
                <a:blip r:embed="rId5"/>
                <a:stretch>
                  <a:fillRect l="-1075" t="-7407"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0" y="34984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12" name="TextBox 11"/>
              <p:cNvSpPr txBox="1">
                <a:spLocks noRot="1" noChangeAspect="1" noMove="1" noResize="1" noEditPoints="1" noAdjustHandles="1" noChangeArrowheads="1" noChangeShapeType="1" noTextEdit="1"/>
              </p:cNvSpPr>
              <p:nvPr/>
            </p:nvSpPr>
            <p:spPr>
              <a:xfrm>
                <a:off x="0" y="3498413"/>
                <a:ext cx="1222744" cy="338554"/>
              </a:xfrm>
              <a:prstGeom prst="rect">
                <a:avLst/>
              </a:prstGeom>
              <a:blipFill>
                <a:blip r:embed="rId6"/>
                <a:stretch>
                  <a:fillRect t="-3704" r="-2062" b="-22222"/>
                </a:stretch>
              </a:blipFill>
            </p:spPr>
            <p:txBody>
              <a:bodyPr/>
              <a:lstStyle/>
              <a:p>
                <a:r>
                  <a:rPr lang="en-US">
                    <a:noFill/>
                  </a:rPr>
                  <a:t> </a:t>
                </a:r>
              </a:p>
            </p:txBody>
          </p:sp>
        </mc:Fallback>
      </mc:AlternateContent>
      <p:cxnSp>
        <p:nvCxnSpPr>
          <p:cNvPr id="14" name="Straight Arrow Connector 13"/>
          <p:cNvCxnSpPr/>
          <p:nvPr/>
        </p:nvCxnSpPr>
        <p:spPr>
          <a:xfrm>
            <a:off x="560491" y="531521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V="1">
            <a:off x="1722888" y="430130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1147514" y="5283317"/>
            <a:ext cx="415472" cy="369332"/>
          </a:xfrm>
          <a:prstGeom prst="rect">
            <a:avLst/>
          </a:prstGeom>
          <a:noFill/>
        </p:spPr>
        <p:txBody>
          <a:bodyPr wrap="square" rtlCol="0">
            <a:spAutoFit/>
          </a:bodyPr>
          <a:lstStyle/>
          <a:p>
            <a:r>
              <a:rPr lang="en-GB"/>
              <a:t>-1</a:t>
            </a:r>
          </a:p>
        </p:txBody>
      </p:sp>
      <p:sp>
        <p:nvSpPr>
          <p:cNvPr id="19" name="TextBox 18"/>
          <p:cNvSpPr txBox="1"/>
          <p:nvPr/>
        </p:nvSpPr>
        <p:spPr>
          <a:xfrm>
            <a:off x="1914689" y="5283317"/>
            <a:ext cx="415472" cy="369332"/>
          </a:xfrm>
          <a:prstGeom prst="rect">
            <a:avLst/>
          </a:prstGeom>
          <a:noFill/>
        </p:spPr>
        <p:txBody>
          <a:bodyPr wrap="square" rtlCol="0">
            <a:spAutoFit/>
          </a:bodyPr>
          <a:lstStyle/>
          <a:p>
            <a:r>
              <a:rPr lang="en-GB"/>
              <a:t>1</a:t>
            </a:r>
          </a:p>
        </p:txBody>
      </p:sp>
      <p:sp>
        <p:nvSpPr>
          <p:cNvPr id="20" name="TextBox 19"/>
          <p:cNvSpPr txBox="1"/>
          <p:nvPr/>
        </p:nvSpPr>
        <p:spPr>
          <a:xfrm>
            <a:off x="2333501" y="5283317"/>
            <a:ext cx="415472" cy="369332"/>
          </a:xfrm>
          <a:prstGeom prst="rect">
            <a:avLst/>
          </a:prstGeom>
          <a:noFill/>
        </p:spPr>
        <p:txBody>
          <a:bodyPr wrap="square" rtlCol="0">
            <a:spAutoFit/>
          </a:bodyPr>
          <a:lstStyle/>
          <a:p>
            <a:r>
              <a:rPr lang="en-GB"/>
              <a:t>2</a:t>
            </a:r>
          </a:p>
        </p:txBody>
      </p:sp>
      <p:sp>
        <p:nvSpPr>
          <p:cNvPr id="22" name="Freeform: Shape 21"/>
          <p:cNvSpPr/>
          <p:nvPr/>
        </p:nvSpPr>
        <p:spPr>
          <a:xfrm>
            <a:off x="1105786" y="4529470"/>
            <a:ext cx="1520456" cy="1297172"/>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0456" h="1297172">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8191" y="441251"/>
                  <a:pt x="1190847" y="446567"/>
                </a:cubicBezTo>
                <a:cubicBezTo>
                  <a:pt x="1263503" y="451883"/>
                  <a:pt x="1327298" y="666307"/>
                  <a:pt x="1382233" y="808074"/>
                </a:cubicBezTo>
                <a:cubicBezTo>
                  <a:pt x="1437168" y="949841"/>
                  <a:pt x="1478812" y="1123506"/>
                  <a:pt x="1520456" y="12971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p:cNvSpPr txBox="1"/>
          <p:nvPr/>
        </p:nvSpPr>
        <p:spPr>
          <a:xfrm>
            <a:off x="1417289" y="5669446"/>
            <a:ext cx="415472" cy="369332"/>
          </a:xfrm>
          <a:prstGeom prst="rect">
            <a:avLst/>
          </a:prstGeom>
          <a:noFill/>
        </p:spPr>
        <p:txBody>
          <a:bodyPr wrap="square" rtlCol="0">
            <a:spAutoFit/>
          </a:bodyPr>
          <a:lstStyle/>
          <a:p>
            <a:r>
              <a:rPr lang="en-GB"/>
              <a:t>-2</a:t>
            </a:r>
          </a:p>
        </p:txBody>
      </p:sp>
      <p:sp>
        <p:nvSpPr>
          <p:cNvPr id="24" name="TextBox 23"/>
          <p:cNvSpPr txBox="1"/>
          <p:nvPr/>
        </p:nvSpPr>
        <p:spPr>
          <a:xfrm>
            <a:off x="1880387" y="5886960"/>
            <a:ext cx="1768991" cy="646331"/>
          </a:xfrm>
          <a:prstGeom prst="rect">
            <a:avLst/>
          </a:prstGeom>
          <a:noFill/>
        </p:spPr>
        <p:txBody>
          <a:bodyPr wrap="square" rtlCol="0">
            <a:spAutoFit/>
          </a:bodyPr>
          <a:lstStyle/>
          <a:p>
            <a:r>
              <a:rPr lang="en-GB" sz="1200" b="1"/>
              <a:t>Tip</a:t>
            </a:r>
            <a:r>
              <a:rPr lang="en-GB" sz="1200"/>
              <a:t>: It’s incredibly easy to forget to write in one of the intercepts. So don’t!</a:t>
            </a:r>
          </a:p>
        </p:txBody>
      </p:sp>
      <mc:AlternateContent xmlns:mc="http://schemas.openxmlformats.org/markup-compatibility/2006">
        <mc:Choice xmlns:a14="http://schemas.microsoft.com/office/drawing/2010/main" Requires="a14">
          <p:sp>
            <p:nvSpPr>
              <p:cNvPr id="25" name="TextBox 24"/>
              <p:cNvSpPr txBox="1"/>
              <p:nvPr/>
            </p:nvSpPr>
            <p:spPr>
              <a:xfrm>
                <a:off x="3419872" y="2000684"/>
                <a:ext cx="1356967" cy="1107996"/>
              </a:xfrm>
              <a:prstGeom prst="rect">
                <a:avLst/>
              </a:prstGeom>
              <a:noFill/>
            </p:spPr>
            <p:txBody>
              <a:bodyPr wrap="square" rtlCol="0">
                <a:spAutoFit/>
              </a:bodyPr>
              <a:lstStyle/>
              <a:p>
                <a:r>
                  <a:rPr lang="en-GB" sz="1100" b="1"/>
                  <a:t>Tip</a:t>
                </a:r>
                <a:r>
                  <a:rPr lang="en-GB" sz="1100"/>
                  <a:t>: No need to expand out the whole thing. Just mentally consider the </a:t>
                </a:r>
                <a14:m>
                  <m:oMath xmlns:m="http://schemas.openxmlformats.org/officeDocument/2006/math">
                    <m:r>
                      <a:rPr lang="en-GB" sz="1100" b="0" i="1" smtClean="0">
                        <a:latin typeface="Cambria Math" panose="02040503050406030204" pitchFamily="18" charset="0"/>
                      </a:rPr>
                      <m:t>𝑥</m:t>
                    </m:r>
                  </m:oMath>
                </a14:m>
                <a:r>
                  <a:rPr lang="en-GB" sz="1100"/>
                  <a:t> terms multiplied together.</a:t>
                </a:r>
              </a:p>
            </p:txBody>
          </p:sp>
        </mc:Choice>
        <mc:Fallback>
          <p:sp>
            <p:nvSpPr>
              <p:cNvPr id="25" name="TextBox 24"/>
              <p:cNvSpPr txBox="1">
                <a:spLocks noRot="1" noChangeAspect="1" noMove="1" noResize="1" noEditPoints="1" noAdjustHandles="1" noChangeArrowheads="1" noChangeShapeType="1" noTextEdit="1"/>
              </p:cNvSpPr>
              <p:nvPr/>
            </p:nvSpPr>
            <p:spPr>
              <a:xfrm>
                <a:off x="3419872" y="2000684"/>
                <a:ext cx="1356967" cy="1107996"/>
              </a:xfrm>
              <a:prstGeom prst="rect">
                <a:avLst/>
              </a:prstGeom>
              <a:blipFill>
                <a:blip r:embed="rId7"/>
                <a:stretch>
                  <a:fillRect b="-2273"/>
                </a:stretch>
              </a:blipFill>
            </p:spPr>
            <p:txBody>
              <a:bodyPr/>
              <a:lstStyle/>
              <a:p>
                <a:r>
                  <a:rPr lang="en-US">
                    <a:noFill/>
                  </a:rPr>
                  <a:t> </a:t>
                </a:r>
              </a:p>
            </p:txBody>
          </p:sp>
        </mc:Fallback>
      </mc:AlternateContent>
      <p:cxnSp>
        <p:nvCxnSpPr>
          <p:cNvPr id="27" name="Straight Arrow Connector 26"/>
          <p:cNvCxnSpPr/>
          <p:nvPr/>
        </p:nvCxnSpPr>
        <p:spPr>
          <a:xfrm flipH="1">
            <a:off x="3331989" y="2352675"/>
            <a:ext cx="147811" cy="38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529208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m:oMathPara>
                </a14:m>
                <a:endParaRPr lang="en-GB"/>
              </a:p>
            </p:txBody>
          </p:sp>
        </mc:Choice>
        <mc:Fallback>
          <p:sp>
            <p:nvSpPr>
              <p:cNvPr id="29" name="TextBox 28"/>
              <p:cNvSpPr txBox="1">
                <a:spLocks noRot="1" noChangeAspect="1" noMove="1" noResize="1" noEditPoints="1" noAdjustHandles="1" noChangeArrowheads="1" noChangeShapeType="1" noTextEdit="1"/>
              </p:cNvSpPr>
              <p:nvPr/>
            </p:nvSpPr>
            <p:spPr>
              <a:xfrm>
                <a:off x="5292080" y="836712"/>
                <a:ext cx="3672408" cy="646331"/>
              </a:xfrm>
              <a:prstGeom prst="rect">
                <a:avLst/>
              </a:prstGeom>
              <a:blipFill>
                <a:blip r:embed="rId8"/>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30" name="Rectangle 29"/>
          <p:cNvSpPr/>
          <p:nvPr/>
        </p:nvSpPr>
        <p:spPr>
          <a:xfrm>
            <a:off x="1233769" y="2158408"/>
            <a:ext cx="2126119" cy="79744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p:cNvSpPr/>
          <p:nvPr/>
        </p:nvSpPr>
        <p:spPr>
          <a:xfrm>
            <a:off x="1226547" y="3030644"/>
            <a:ext cx="2126119" cy="38240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p:cNvSpPr/>
          <p:nvPr/>
        </p:nvSpPr>
        <p:spPr>
          <a:xfrm>
            <a:off x="1221147" y="3497597"/>
            <a:ext cx="2126119" cy="38240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TextBox 33"/>
          <p:cNvSpPr txBox="1"/>
          <p:nvPr/>
        </p:nvSpPr>
        <p:spPr>
          <a:xfrm>
            <a:off x="5074916" y="1897172"/>
            <a:ext cx="964629" cy="338554"/>
          </a:xfrm>
          <a:prstGeom prst="rect">
            <a:avLst/>
          </a:prstGeom>
          <a:noFill/>
        </p:spPr>
        <p:txBody>
          <a:bodyPr wrap="square" rtlCol="0">
            <a:spAutoFit/>
          </a:bodyPr>
          <a:lstStyle/>
          <a:p>
            <a:r>
              <a:rPr lang="en-GB" sz="1600" b="1"/>
              <a:t>Shape?</a:t>
            </a:r>
          </a:p>
        </p:txBody>
      </p:sp>
      <p:sp>
        <p:nvSpPr>
          <p:cNvPr id="35" name="TextBox 34"/>
          <p:cNvSpPr txBox="1"/>
          <p:nvPr/>
        </p:nvSpPr>
        <p:spPr>
          <a:xfrm>
            <a:off x="5074915" y="2630819"/>
            <a:ext cx="868685"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36" name="TextBox 35"/>
              <p:cNvSpPr txBox="1"/>
              <p:nvPr/>
            </p:nvSpPr>
            <p:spPr>
              <a:xfrm>
                <a:off x="4678326" y="3812513"/>
                <a:ext cx="1250718"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36" name="TextBox 35"/>
              <p:cNvSpPr txBox="1">
                <a:spLocks noRot="1" noChangeAspect="1" noMove="1" noResize="1" noEditPoints="1" noAdjustHandles="1" noChangeArrowheads="1" noChangeShapeType="1" noTextEdit="1"/>
              </p:cNvSpPr>
              <p:nvPr/>
            </p:nvSpPr>
            <p:spPr>
              <a:xfrm>
                <a:off x="4678326" y="3812513"/>
                <a:ext cx="1250718" cy="338554"/>
              </a:xfrm>
              <a:prstGeom prst="rect">
                <a:avLst/>
              </a:prstGeom>
              <a:blipFill>
                <a:blip r:embed="rId9"/>
                <a:stretch>
                  <a:fillRect t="-3704"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6039545" y="1903226"/>
                <a:ext cx="2325194" cy="584775"/>
              </a:xfrm>
              <a:prstGeom prst="rect">
                <a:avLst/>
              </a:prstGeom>
              <a:noFill/>
            </p:spPr>
            <p:txBody>
              <a:bodyPr wrap="square" rtlCol="0">
                <a:spAutoFit/>
              </a:bodyPr>
              <a:lstStyle/>
              <a:p>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oMath>
                </a14:m>
                <a:r>
                  <a:rPr lang="en-GB" sz="1600"/>
                  <a:t> term is positive so ‘uphill’ shape.</a:t>
                </a:r>
                <a:endParaRPr lang="en-GB"/>
              </a:p>
            </p:txBody>
          </p:sp>
        </mc:Choice>
        <mc:Fallback>
          <p:sp>
            <p:nvSpPr>
              <p:cNvPr id="37" name="TextBox 36"/>
              <p:cNvSpPr txBox="1">
                <a:spLocks noRot="1" noChangeAspect="1" noMove="1" noResize="1" noEditPoints="1" noAdjustHandles="1" noChangeArrowheads="1" noChangeShapeType="1" noTextEdit="1"/>
              </p:cNvSpPr>
              <p:nvPr/>
            </p:nvSpPr>
            <p:spPr>
              <a:xfrm>
                <a:off x="6039545" y="1903226"/>
                <a:ext cx="2325194" cy="584775"/>
              </a:xfrm>
              <a:prstGeom prst="rect">
                <a:avLst/>
              </a:prstGeom>
              <a:blipFill>
                <a:blip r:embed="rId10"/>
                <a:stretch>
                  <a:fillRect l="-1630" t="-2128" b="-127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5901070" y="2619255"/>
                <a:ext cx="3136604" cy="1077218"/>
              </a:xfrm>
              <a:prstGeom prst="rect">
                <a:avLst/>
              </a:prstGeom>
              <a:noFill/>
            </p:spPr>
            <p:txBody>
              <a:bodyPr wrap="square" rtlCol="0">
                <a:spAutoFit/>
              </a:bodyPr>
              <a:lstStyle/>
              <a:p>
                <a:pPr/>
                <a14:m>
                  <m:oMathPara xmlns:m="http://schemas.openxmlformats.org/officeDocument/2006/math">
                    <m:oMath>
                      <m:r>
                        <a:rPr lang="en-GB" sz="1600" b="0" i="1" smtClean="0">
                          <a:latin typeface="Cambria Math" panose="02040503050406030204" pitchFamily="18" charset="0"/>
                        </a:rPr>
                        <m:t>𝑥</m:t>
                      </m:r>
                      <m:r>
                        <a:rPr lang="en-GB" sz="1600" b="0" i="1" smtClean="0">
                          <a:latin typeface="Cambria Math" panose="02040503050406030204" pitchFamily="18" charset="0"/>
                        </a:rPr>
                        <m:t>=0 </m:t>
                      </m:r>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𝑥</m:t>
                      </m:r>
                      <m:r>
                        <a:rPr lang="en-GB" sz="1600" b="0" i="1" smtClean="0">
                          <a:latin typeface="Cambria Math" panose="02040503050406030204" pitchFamily="18" charset="0"/>
                        </a:rPr>
                        <m:t>=1</m:t>
                      </m:r>
                    </m:oMath>
                  </m:oMathPara>
                </a14:m>
                <a:endParaRPr lang="en-GB" sz="1600"/>
              </a:p>
              <a:p>
                <a:r>
                  <a:rPr lang="en-GB" sz="1600"/>
                  <a:t>However as root of 0 is </a:t>
                </a:r>
                <a:r>
                  <a:rPr lang="en-GB" sz="1600" b="1"/>
                  <a:t>repeated</a:t>
                </a:r>
                <a:r>
                  <a:rPr lang="en-GB" sz="1600"/>
                  <a:t> (because the factor of </a:t>
                </a:r>
                <a14:m>
                  <m:oMath xmlns:m="http://schemas.openxmlformats.org/officeDocument/2006/math">
                    <m:r>
                      <a:rPr lang="en-GB" sz="1600" b="0" i="1" smtClean="0">
                        <a:latin typeface="Cambria Math" panose="02040503050406030204" pitchFamily="18" charset="0"/>
                      </a:rPr>
                      <m:t>𝑥</m:t>
                    </m:r>
                  </m:oMath>
                </a14:m>
                <a:r>
                  <a:rPr lang="en-GB" sz="1600"/>
                  <a:t> appears twice), the curve </a:t>
                </a:r>
                <a:r>
                  <a:rPr lang="en-GB" sz="1600" b="1"/>
                  <a:t>touches</a:t>
                </a:r>
                <a:r>
                  <a:rPr lang="en-GB" sz="1600"/>
                  <a:t>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a:t>.</a:t>
                </a:r>
              </a:p>
            </p:txBody>
          </p:sp>
        </mc:Choice>
        <mc:Fallback>
          <p:sp>
            <p:nvSpPr>
              <p:cNvPr id="38" name="TextBox 37"/>
              <p:cNvSpPr txBox="1">
                <a:spLocks noRot="1" noChangeAspect="1" noMove="1" noResize="1" noEditPoints="1" noAdjustHandles="1" noChangeArrowheads="1" noChangeShapeType="1" noTextEdit="1"/>
              </p:cNvSpPr>
              <p:nvPr/>
            </p:nvSpPr>
            <p:spPr>
              <a:xfrm>
                <a:off x="5901070" y="2619255"/>
                <a:ext cx="3136604" cy="1077218"/>
              </a:xfrm>
              <a:prstGeom prst="rect">
                <a:avLst/>
              </a:prstGeom>
              <a:blipFill>
                <a:blip r:embed="rId11"/>
                <a:stretch>
                  <a:fillRect l="-806" b="-70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939677" y="3823367"/>
                <a:ext cx="3136604"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 </m:t>
                    </m:r>
                    <m:r>
                      <a:rPr lang="en-GB" sz="1600" b="0" i="1" smtClean="0">
                        <a:latin typeface="Cambria Math" panose="02040503050406030204" pitchFamily="18" charset="0"/>
                      </a:rPr>
                      <m:t>𝑦</m:t>
                    </m:r>
                    <m:r>
                      <a:rPr lang="en-GB" sz="1600" b="0" i="1" smtClean="0">
                        <a:latin typeface="Cambria Math" panose="02040503050406030204" pitchFamily="18" charset="0"/>
                      </a:rPr>
                      <m:t>=0</m:t>
                    </m:r>
                  </m:oMath>
                </a14:m>
                <a:endParaRPr lang="en-GB" sz="1600"/>
              </a:p>
            </p:txBody>
          </p:sp>
        </mc:Choice>
        <mc:Fallback>
          <p:sp>
            <p:nvSpPr>
              <p:cNvPr id="39" name="TextBox 38"/>
              <p:cNvSpPr txBox="1">
                <a:spLocks noRot="1" noChangeAspect="1" noMove="1" noResize="1" noEditPoints="1" noAdjustHandles="1" noChangeArrowheads="1" noChangeShapeType="1" noTextEdit="1"/>
              </p:cNvSpPr>
              <p:nvPr/>
            </p:nvSpPr>
            <p:spPr>
              <a:xfrm>
                <a:off x="5939677" y="3823367"/>
                <a:ext cx="3136604" cy="338554"/>
              </a:xfrm>
              <a:prstGeom prst="rect">
                <a:avLst/>
              </a:prstGeom>
              <a:blipFill>
                <a:blip r:embed="rId12"/>
                <a:stretch>
                  <a:fillRect l="-806" t="-3571" b="-21429"/>
                </a:stretch>
              </a:blipFill>
            </p:spPr>
            <p:txBody>
              <a:bodyPr/>
              <a:lstStyle/>
              <a:p>
                <a:r>
                  <a:rPr lang="en-US">
                    <a:noFill/>
                  </a:rPr>
                  <a:t> </a:t>
                </a:r>
              </a:p>
            </p:txBody>
          </p:sp>
        </mc:Fallback>
      </mc:AlternateContent>
      <p:cxnSp>
        <p:nvCxnSpPr>
          <p:cNvPr id="40" name="Straight Arrow Connector 39"/>
          <p:cNvCxnSpPr/>
          <p:nvPr/>
        </p:nvCxnSpPr>
        <p:spPr>
          <a:xfrm>
            <a:off x="5108245" y="5315214"/>
            <a:ext cx="26321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V="1">
            <a:off x="6270642" y="430130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42"/>
          <p:cNvSpPr txBox="1"/>
          <p:nvPr/>
        </p:nvSpPr>
        <p:spPr>
          <a:xfrm>
            <a:off x="7259885" y="5262052"/>
            <a:ext cx="415472" cy="369332"/>
          </a:xfrm>
          <a:prstGeom prst="rect">
            <a:avLst/>
          </a:prstGeom>
          <a:noFill/>
        </p:spPr>
        <p:txBody>
          <a:bodyPr wrap="square" rtlCol="0">
            <a:spAutoFit/>
          </a:bodyPr>
          <a:lstStyle/>
          <a:p>
            <a:r>
              <a:rPr lang="en-GB"/>
              <a:t>1</a:t>
            </a:r>
          </a:p>
        </p:txBody>
      </p:sp>
      <p:sp>
        <p:nvSpPr>
          <p:cNvPr id="45" name="Freeform: Shape 44"/>
          <p:cNvSpPr/>
          <p:nvPr/>
        </p:nvSpPr>
        <p:spPr>
          <a:xfrm flipH="1">
            <a:off x="5919557" y="5029199"/>
            <a:ext cx="1605311" cy="850605"/>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0456" h="1297172">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8191" y="441251"/>
                  <a:pt x="1190847" y="446567"/>
                </a:cubicBezTo>
                <a:cubicBezTo>
                  <a:pt x="1263503" y="451883"/>
                  <a:pt x="1327298" y="666307"/>
                  <a:pt x="1382233" y="808074"/>
                </a:cubicBezTo>
                <a:cubicBezTo>
                  <a:pt x="1437168" y="949841"/>
                  <a:pt x="1478812" y="1123506"/>
                  <a:pt x="1520456" y="12971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50" name="TextBox 49"/>
              <p:cNvSpPr txBox="1"/>
              <p:nvPr/>
            </p:nvSpPr>
            <p:spPr>
              <a:xfrm>
                <a:off x="7638418" y="518007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50" name="TextBox 49"/>
              <p:cNvSpPr txBox="1">
                <a:spLocks noRot="1" noChangeAspect="1" noMove="1" noResize="1" noEditPoints="1" noAdjustHandles="1" noChangeArrowheads="1" noChangeShapeType="1" noTextEdit="1"/>
              </p:cNvSpPr>
              <p:nvPr/>
            </p:nvSpPr>
            <p:spPr>
              <a:xfrm>
                <a:off x="7638418" y="5180073"/>
                <a:ext cx="415472" cy="276999"/>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Box 50"/>
              <p:cNvSpPr txBox="1"/>
              <p:nvPr/>
            </p:nvSpPr>
            <p:spPr>
              <a:xfrm>
                <a:off x="6039545" y="4093116"/>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51" name="TextBox 50"/>
              <p:cNvSpPr txBox="1">
                <a:spLocks noRot="1" noChangeAspect="1" noMove="1" noResize="1" noEditPoints="1" noAdjustHandles="1" noChangeArrowheads="1" noChangeShapeType="1" noTextEdit="1"/>
              </p:cNvSpPr>
              <p:nvPr/>
            </p:nvSpPr>
            <p:spPr>
              <a:xfrm>
                <a:off x="6039545" y="4093116"/>
                <a:ext cx="415472"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Box 51"/>
              <p:cNvSpPr txBox="1"/>
              <p:nvPr/>
            </p:nvSpPr>
            <p:spPr>
              <a:xfrm>
                <a:off x="1515152" y="405068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52" name="TextBox 51"/>
              <p:cNvSpPr txBox="1">
                <a:spLocks noRot="1" noChangeAspect="1" noMove="1" noResize="1" noEditPoints="1" noAdjustHandles="1" noChangeArrowheads="1" noChangeShapeType="1" noTextEdit="1"/>
              </p:cNvSpPr>
              <p:nvPr/>
            </p:nvSpPr>
            <p:spPr>
              <a:xfrm>
                <a:off x="1515152" y="4050683"/>
                <a:ext cx="415472" cy="276999"/>
              </a:xfrm>
              <a:prstGeom prst="rect">
                <a:avLst/>
              </a:prstGeom>
              <a:blipFill>
                <a:blip r:embed="rId15"/>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p:cNvSpPr txBox="1"/>
              <p:nvPr/>
            </p:nvSpPr>
            <p:spPr>
              <a:xfrm>
                <a:off x="2859707" y="518571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53" name="TextBox 52"/>
              <p:cNvSpPr txBox="1">
                <a:spLocks noRot="1" noChangeAspect="1" noMove="1" noResize="1" noEditPoints="1" noAdjustHandles="1" noChangeArrowheads="1" noChangeShapeType="1" noTextEdit="1"/>
              </p:cNvSpPr>
              <p:nvPr/>
            </p:nvSpPr>
            <p:spPr>
              <a:xfrm>
                <a:off x="2859707" y="5185719"/>
                <a:ext cx="415472" cy="276999"/>
              </a:xfrm>
              <a:prstGeom prst="rect">
                <a:avLst/>
              </a:prstGeom>
              <a:blipFill>
                <a:blip r:embed="rId16"/>
                <a:stretch>
                  <a:fillRect/>
                </a:stretch>
              </a:blipFill>
            </p:spPr>
            <p:txBody>
              <a:bodyPr/>
              <a:lstStyle/>
              <a:p>
                <a:r>
                  <a:rPr lang="en-US">
                    <a:noFill/>
                  </a:rPr>
                  <a:t> </a:t>
                </a:r>
              </a:p>
            </p:txBody>
          </p:sp>
        </mc:Fallback>
      </mc:AlternateContent>
      <p:sp>
        <p:nvSpPr>
          <p:cNvPr id="33" name="Rectangle 32"/>
          <p:cNvSpPr/>
          <p:nvPr/>
        </p:nvSpPr>
        <p:spPr>
          <a:xfrm>
            <a:off x="465642" y="4078600"/>
            <a:ext cx="3344667"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48" name="Rectangle 47"/>
          <p:cNvSpPr/>
          <p:nvPr/>
        </p:nvSpPr>
        <p:spPr>
          <a:xfrm>
            <a:off x="5064534" y="4149714"/>
            <a:ext cx="2952639" cy="250171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54" name="Rectangle 53"/>
          <p:cNvSpPr/>
          <p:nvPr/>
        </p:nvSpPr>
        <p:spPr>
          <a:xfrm>
            <a:off x="5960448" y="1915260"/>
            <a:ext cx="2954952" cy="56668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5" name="TextBox 54"/>
          <p:cNvSpPr txBox="1"/>
          <p:nvPr/>
        </p:nvSpPr>
        <p:spPr>
          <a:xfrm>
            <a:off x="4128215" y="3085542"/>
            <a:ext cx="1445271" cy="769441"/>
          </a:xfrm>
          <a:prstGeom prst="rect">
            <a:avLst/>
          </a:prstGeom>
          <a:noFill/>
        </p:spPr>
        <p:txBody>
          <a:bodyPr wrap="square" rtlCol="0">
            <a:spAutoFit/>
          </a:bodyPr>
          <a:lstStyle/>
          <a:p>
            <a:r>
              <a:rPr lang="en-GB" sz="1100"/>
              <a:t>This is sort of because the curve crosses at 0 then immediately crosses at 0 again!</a:t>
            </a:r>
          </a:p>
        </p:txBody>
      </p:sp>
      <p:cxnSp>
        <p:nvCxnSpPr>
          <p:cNvPr id="57" name="Straight Arrow Connector 56"/>
          <p:cNvCxnSpPr>
            <a:stCxn id="55" idx="3"/>
          </p:cNvCxnSpPr>
          <p:nvPr/>
        </p:nvCxnSpPr>
        <p:spPr>
          <a:xfrm flipV="1">
            <a:off x="5573486" y="3309257"/>
            <a:ext cx="283028" cy="161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Rectangle 57"/>
          <p:cNvSpPr/>
          <p:nvPr/>
        </p:nvSpPr>
        <p:spPr>
          <a:xfrm>
            <a:off x="5964357" y="2646907"/>
            <a:ext cx="2954952" cy="101332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9" name="Rectangle 58"/>
          <p:cNvSpPr/>
          <p:nvPr/>
        </p:nvSpPr>
        <p:spPr>
          <a:xfrm>
            <a:off x="5960448" y="3788453"/>
            <a:ext cx="2954952" cy="32634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9234837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childTnLst>
              </p:cTn>
              <p:nextCondLst>
                <p:cond evt="onClick" delay="0">
                  <p:tgtEl>
                    <p:spTgt spid="30"/>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1"/>
                                        </p:tgtEl>
                                      </p:cBhvr>
                                    </p:animEffect>
                                    <p:set>
                                      <p:cBhvr>
                                        <p:cTn id="19"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20" restart="whenNotActive" fill="hold" evtFilter="cancelBubble" nodeType="interactiveSeq">
                <p:stCondLst>
                  <p:cond evt="onClick" delay="0">
                    <p:tgtEl>
                      <p:spTgt spid="3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2"/>
                                        </p:tgtEl>
                                      </p:cBhvr>
                                    </p:animEffect>
                                    <p:set>
                                      <p:cBhvr>
                                        <p:cTn id="25"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26" restart="whenNotActive" fill="hold" evtFilter="cancelBubble" nodeType="interactiveSeq">
                <p:stCondLst>
                  <p:cond evt="onClick" delay="0">
                    <p:tgtEl>
                      <p:spTgt spid="3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2" restart="whenNotActive" fill="hold" evtFilter="cancelBubble" nodeType="interactiveSeq">
                <p:stCondLst>
                  <p:cond evt="onClick" delay="0">
                    <p:tgtEl>
                      <p:spTgt spid="48"/>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48"/>
                                        </p:tgtEl>
                                      </p:cBhvr>
                                    </p:animEffect>
                                    <p:set>
                                      <p:cBhvr>
                                        <p:cTn id="37" dur="1" fill="hold">
                                          <p:stCondLst>
                                            <p:cond delay="499"/>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8"/>
                  </p:tgtEl>
                </p:cond>
              </p:nextCondLst>
            </p:seq>
            <p:seq concurrent="1" nextAc="seek">
              <p:cTn id="38" restart="whenNotActive" fill="hold" evtFilter="cancelBubble" nodeType="interactiveSeq">
                <p:stCondLst>
                  <p:cond evt="onClick" delay="0">
                    <p:tgtEl>
                      <p:spTgt spid="54"/>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54"/>
                                        </p:tgtEl>
                                      </p:cBhvr>
                                    </p:animEffect>
                                    <p:set>
                                      <p:cBhvr>
                                        <p:cTn id="43" dur="1" fill="hold">
                                          <p:stCondLst>
                                            <p:cond delay="499"/>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54"/>
                  </p:tgtEl>
                </p:cond>
              </p:nextCondLst>
            </p:seq>
            <p:seq concurrent="1" nextAc="seek">
              <p:cTn id="44" restart="whenNotActive" fill="hold" evtFilter="cancelBubble" nodeType="interactiveSeq">
                <p:stCondLst>
                  <p:cond evt="onClick" delay="0">
                    <p:tgtEl>
                      <p:spTgt spid="58"/>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58"/>
                                        </p:tgtEl>
                                      </p:cBhvr>
                                    </p:animEffect>
                                    <p:set>
                                      <p:cBhvr>
                                        <p:cTn id="49" dur="1" fill="hold">
                                          <p:stCondLst>
                                            <p:cond delay="499"/>
                                          </p:stCondLst>
                                        </p:cTn>
                                        <p:tgtEl>
                                          <p:spTgt spid="58"/>
                                        </p:tgtEl>
                                        <p:attrNameLst>
                                          <p:attrName>style.visibility</p:attrName>
                                        </p:attrNameLst>
                                      </p:cBhvr>
                                      <p:to>
                                        <p:strVal val="hidden"/>
                                      </p:to>
                                    </p:set>
                                  </p:childTnLst>
                                </p:cTn>
                              </p:par>
                              <p:par>
                                <p:cTn id="50" presetID="10"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fade">
                                      <p:cBhvr>
                                        <p:cTn id="55" dur="500"/>
                                        <p:tgtEl>
                                          <p:spTgt spid="57"/>
                                        </p:tgtEl>
                                      </p:cBhvr>
                                    </p:animEffect>
                                  </p:childTnLst>
                                </p:cTn>
                              </p:par>
                            </p:childTnLst>
                          </p:cTn>
                        </p:par>
                      </p:childTnLst>
                    </p:cTn>
                  </p:par>
                </p:childTnLst>
              </p:cTn>
              <p:nextCondLst>
                <p:cond evt="onClick" delay="0">
                  <p:tgtEl>
                    <p:spTgt spid="58"/>
                  </p:tgtEl>
                </p:cond>
              </p:nextCondLst>
            </p:seq>
            <p:seq concurrent="1" nextAc="seek">
              <p:cTn id="56" restart="whenNotActive" fill="hold" evtFilter="cancelBubble" nodeType="interactiveSeq">
                <p:stCondLst>
                  <p:cond evt="onClick" delay="0">
                    <p:tgtEl>
                      <p:spTgt spid="59"/>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59"/>
                                        </p:tgtEl>
                                      </p:cBhvr>
                                    </p:animEffect>
                                    <p:set>
                                      <p:cBhvr>
                                        <p:cTn id="61" dur="1" fill="hold">
                                          <p:stCondLst>
                                            <p:cond delay="499"/>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59"/>
                  </p:tgtEl>
                </p:cond>
              </p:nextCondLst>
            </p:seq>
          </p:childTnLst>
        </p:cTn>
      </p:par>
    </p:tnLst>
    <p:bldLst>
      <p:bldP spid="25" grpId="0"/>
      <p:bldP spid="30" grpId="0" animBg="1"/>
      <p:bldP spid="31" grpId="0" animBg="1"/>
      <p:bldP spid="32" grpId="0" animBg="1"/>
      <p:bldP spid="33" grpId="0" animBg="1"/>
      <p:bldP spid="48" grpId="0" animBg="1"/>
      <p:bldP spid="54" grpId="0" animBg="1"/>
      <p:bldP spid="58" grpId="0" animBg="1"/>
      <p:bldP spid="59" grpId="0" animBg="1"/>
    </p:bldLst>
  </p:timing>
</p:sld>
</file>

<file path=ppt/c4/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2</m:t>
                          </m:r>
                        </m:sup>
                      </m:sSup>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251520" y="836712"/>
                <a:ext cx="3672408"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349179" y="1695201"/>
            <a:ext cx="964629" cy="338554"/>
          </a:xfrm>
          <a:prstGeom prst="rect">
            <a:avLst/>
          </a:prstGeom>
          <a:noFill/>
        </p:spPr>
        <p:txBody>
          <a:bodyPr wrap="square" rtlCol="0">
            <a:spAutoFit/>
          </a:bodyPr>
          <a:lstStyle/>
          <a:p>
            <a:r>
              <a:rPr lang="en-GB" sz="1600" b="1"/>
              <a:t>Shape?</a:t>
            </a:r>
          </a:p>
        </p:txBody>
      </p:sp>
      <p:sp>
        <p:nvSpPr>
          <p:cNvPr id="7" name="TextBox 6"/>
          <p:cNvSpPr txBox="1"/>
          <p:nvPr/>
        </p:nvSpPr>
        <p:spPr>
          <a:xfrm>
            <a:off x="366521" y="2119927"/>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8" name="TextBox 7"/>
              <p:cNvSpPr txBox="1"/>
              <p:nvPr/>
            </p:nvSpPr>
            <p:spPr>
              <a:xfrm>
                <a:off x="76200" y="31936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76200" y="3193613"/>
                <a:ext cx="1222744" cy="338554"/>
              </a:xfrm>
              <a:prstGeom prst="rect">
                <a:avLst/>
              </a:prstGeom>
              <a:blipFill>
                <a:blip r:embed="rId3"/>
                <a:stretch>
                  <a:fillRect t="-3704" r="-2062" b="-22222"/>
                </a:stretch>
              </a:blipFill>
            </p:spPr>
            <p:txBody>
              <a:bodyPr/>
              <a:lstStyle/>
              <a:p>
                <a:r>
                  <a:rPr lang="en-US">
                    <a:noFill/>
                  </a:rPr>
                  <a:t> </a:t>
                </a:r>
              </a:p>
            </p:txBody>
          </p:sp>
        </mc:Fallback>
      </mc:AlternateContent>
      <p:sp>
        <p:nvSpPr>
          <p:cNvPr id="9" name="TextBox 8"/>
          <p:cNvSpPr txBox="1"/>
          <p:nvPr/>
        </p:nvSpPr>
        <p:spPr>
          <a:xfrm>
            <a:off x="1287608" y="1662544"/>
            <a:ext cx="2243623" cy="369332"/>
          </a:xfrm>
          <a:prstGeom prst="rect">
            <a:avLst/>
          </a:prstGeom>
          <a:noFill/>
        </p:spPr>
        <p:txBody>
          <a:bodyPr wrap="square" rtlCol="0">
            <a:spAutoFit/>
          </a:bodyPr>
          <a:lstStyle/>
          <a:p>
            <a:r>
              <a:rPr lang="en-GB"/>
              <a:t>Downhill.</a:t>
            </a:r>
          </a:p>
        </p:txBody>
      </p:sp>
      <mc:AlternateContent xmlns:mc="http://schemas.openxmlformats.org/markup-compatibility/2006">
        <mc:Choice xmlns:a14="http://schemas.microsoft.com/office/drawing/2010/main" Requires="a14">
          <p:sp>
            <p:nvSpPr>
              <p:cNvPr id="10" name="TextBox 9"/>
              <p:cNvSpPr txBox="1"/>
              <p:nvPr/>
            </p:nvSpPr>
            <p:spPr>
              <a:xfrm>
                <a:off x="1287607" y="2074235"/>
                <a:ext cx="2448762" cy="1077218"/>
              </a:xfrm>
              <a:prstGeom prst="rect">
                <a:avLst/>
              </a:prstGeom>
              <a:noFill/>
            </p:spPr>
            <p:txBody>
              <a:bodyPr wrap="square" rtlCol="0">
                <a:spAutoFit/>
              </a:bodyPr>
              <a:lstStyle/>
              <a:p>
                <a:pPr/>
                <a14:m>
                  <m:oMathPara xmlns:m="http://schemas.openxmlformats.org/officeDocument/2006/math">
                    <m:oMathParaPr>
                      <m:jc m:val="left"/>
                    </m:oMathParaPr>
                    <m:oMath>
                      <m:r>
                        <a:rPr lang="en-GB" sz="1600" b="0" i="1" smtClean="0">
                          <a:latin typeface="Cambria Math" panose="02040503050406030204" pitchFamily="18" charset="0"/>
                        </a:rPr>
                        <m:t>𝑥</m:t>
                      </m:r>
                      <m:r>
                        <a:rPr lang="en-GB" sz="1600" b="0" i="1" smtClean="0">
                          <a:latin typeface="Cambria Math" panose="02040503050406030204" pitchFamily="18" charset="0"/>
                        </a:rPr>
                        <m:t>=2, </m:t>
                      </m:r>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𝑥</m:t>
                      </m:r>
                      <m:r>
                        <a:rPr lang="en-GB" sz="1600" b="0" i="1" smtClean="0">
                          <a:latin typeface="Cambria Math" panose="02040503050406030204" pitchFamily="18" charset="0"/>
                        </a:rPr>
                        <m:t>=−1</m:t>
                      </m:r>
                    </m:oMath>
                  </m:oMathPara>
                </a14:m>
                <a:endParaRPr lang="en-GB" sz="1600"/>
              </a:p>
              <a:p>
                <a:r>
                  <a:rPr lang="en-GB" sz="1600"/>
                  <a:t>Curve crosses as 2, but touches at -1 (again, because of repeated root)</a:t>
                </a:r>
              </a:p>
            </p:txBody>
          </p:sp>
        </mc:Choice>
        <mc:Fallback>
          <p:sp>
            <p:nvSpPr>
              <p:cNvPr id="10" name="TextBox 9"/>
              <p:cNvSpPr txBox="1">
                <a:spLocks noRot="1" noChangeAspect="1" noMove="1" noResize="1" noEditPoints="1" noAdjustHandles="1" noChangeArrowheads="1" noChangeShapeType="1" noTextEdit="1"/>
              </p:cNvSpPr>
              <p:nvPr/>
            </p:nvSpPr>
            <p:spPr>
              <a:xfrm>
                <a:off x="1287607" y="2074235"/>
                <a:ext cx="2448762" cy="1077218"/>
              </a:xfrm>
              <a:prstGeom prst="rect">
                <a:avLst/>
              </a:prstGeom>
              <a:blipFill>
                <a:blip r:embed="rId4"/>
                <a:stretch>
                  <a:fillRect l="-1546" b="-5814"/>
                </a:stretch>
              </a:blipFill>
            </p:spPr>
            <p:txBody>
              <a:bodyPr/>
              <a:lstStyle/>
              <a:p>
                <a:r>
                  <a:rPr lang="en-US">
                    <a:noFill/>
                  </a:rPr>
                  <a:t> </a:t>
                </a:r>
              </a:p>
            </p:txBody>
          </p:sp>
        </mc:Fallback>
      </mc:AlternateContent>
      <p:sp>
        <p:nvSpPr>
          <p:cNvPr id="11" name="TextBox 10"/>
          <p:cNvSpPr txBox="1"/>
          <p:nvPr/>
        </p:nvSpPr>
        <p:spPr>
          <a:xfrm>
            <a:off x="1352921" y="3189501"/>
            <a:ext cx="2448762" cy="338554"/>
          </a:xfrm>
          <a:prstGeom prst="rect">
            <a:avLst/>
          </a:prstGeom>
          <a:noFill/>
        </p:spPr>
        <p:txBody>
          <a:bodyPr wrap="square" rtlCol="0">
            <a:spAutoFit/>
          </a:bodyPr>
          <a:lstStyle/>
          <a:p>
            <a:r>
              <a:rPr lang="en-GB" sz="1600"/>
              <a:t>2</a:t>
            </a:r>
          </a:p>
        </p:txBody>
      </p:sp>
      <p:cxnSp>
        <p:nvCxnSpPr>
          <p:cNvPr id="12" name="Straight Arrow Connector 11"/>
          <p:cNvCxnSpPr/>
          <p:nvPr/>
        </p:nvCxnSpPr>
        <p:spPr>
          <a:xfrm>
            <a:off x="673441" y="5117828"/>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V="1">
            <a:off x="1835838" y="4103923"/>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260464" y="5085931"/>
            <a:ext cx="415472" cy="369332"/>
          </a:xfrm>
          <a:prstGeom prst="rect">
            <a:avLst/>
          </a:prstGeom>
          <a:noFill/>
        </p:spPr>
        <p:txBody>
          <a:bodyPr wrap="square" rtlCol="0">
            <a:spAutoFit/>
          </a:bodyPr>
          <a:lstStyle/>
          <a:p>
            <a:r>
              <a:rPr lang="en-GB"/>
              <a:t>-1</a:t>
            </a:r>
          </a:p>
        </p:txBody>
      </p:sp>
      <p:sp>
        <p:nvSpPr>
          <p:cNvPr id="16" name="TextBox 15"/>
          <p:cNvSpPr txBox="1"/>
          <p:nvPr/>
        </p:nvSpPr>
        <p:spPr>
          <a:xfrm>
            <a:off x="2283165" y="5064159"/>
            <a:ext cx="415472" cy="369332"/>
          </a:xfrm>
          <a:prstGeom prst="rect">
            <a:avLst/>
          </a:prstGeom>
          <a:noFill/>
        </p:spPr>
        <p:txBody>
          <a:bodyPr wrap="square" rtlCol="0">
            <a:spAutoFit/>
          </a:bodyPr>
          <a:lstStyle/>
          <a:p>
            <a:r>
              <a:rPr lang="en-GB"/>
              <a:t>2</a:t>
            </a:r>
          </a:p>
        </p:txBody>
      </p:sp>
      <p:sp>
        <p:nvSpPr>
          <p:cNvPr id="17" name="Freeform: Shape 16"/>
          <p:cNvSpPr/>
          <p:nvPr/>
        </p:nvSpPr>
        <p:spPr>
          <a:xfrm>
            <a:off x="870393" y="3874884"/>
            <a:ext cx="1781713" cy="1776144"/>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82233 w 1781713"/>
              <a:gd name="connsiteY5" fmla="*/ 808074 h 1776144"/>
              <a:gd name="connsiteX6" fmla="*/ 1781713 w 1781713"/>
              <a:gd name="connsiteY6" fmla="*/ 1776144 h 1776144"/>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93119 w 1781713"/>
              <a:gd name="connsiteY5" fmla="*/ 764531 h 1776144"/>
              <a:gd name="connsiteX6" fmla="*/ 1781713 w 1781713"/>
              <a:gd name="connsiteY6" fmla="*/ 1776144 h 17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713" h="1776144">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6377" y="448508"/>
                  <a:pt x="1190847" y="446567"/>
                </a:cubicBezTo>
                <a:cubicBezTo>
                  <a:pt x="1265317" y="444626"/>
                  <a:pt x="1294641" y="542935"/>
                  <a:pt x="1393119" y="764531"/>
                </a:cubicBezTo>
                <a:cubicBezTo>
                  <a:pt x="1491597" y="986127"/>
                  <a:pt x="1740069" y="1602478"/>
                  <a:pt x="1781713" y="17761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p:cNvSpPr txBox="1"/>
          <p:nvPr/>
        </p:nvSpPr>
        <p:spPr>
          <a:xfrm>
            <a:off x="1584668" y="4307288"/>
            <a:ext cx="415472"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20" name="TextBox 19"/>
              <p:cNvSpPr txBox="1"/>
              <p:nvPr/>
            </p:nvSpPr>
            <p:spPr>
              <a:xfrm>
                <a:off x="1628102" y="3853297"/>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1628102" y="3853297"/>
                <a:ext cx="415472"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2972657" y="498833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2972657" y="4988333"/>
                <a:ext cx="415472" cy="276999"/>
              </a:xfrm>
              <a:prstGeom prst="rect">
                <a:avLst/>
              </a:prstGeom>
              <a:blipFill>
                <a:blip r:embed="rId6"/>
                <a:stretch>
                  <a:fillRect/>
                </a:stretch>
              </a:blipFill>
            </p:spPr>
            <p:txBody>
              <a:bodyPr/>
              <a:lstStyle/>
              <a:p>
                <a:r>
                  <a:rPr lang="en-US">
                    <a:noFill/>
                  </a:rPr>
                  <a:t> </a:t>
                </a:r>
              </a:p>
            </p:txBody>
          </p:sp>
        </mc:Fallback>
      </mc:AlternateContent>
      <p:sp>
        <p:nvSpPr>
          <p:cNvPr id="22" name="Rectangle 21"/>
          <p:cNvSpPr/>
          <p:nvPr/>
        </p:nvSpPr>
        <p:spPr>
          <a:xfrm>
            <a:off x="611404" y="3714798"/>
            <a:ext cx="2952639"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23" name="Rectangle 22"/>
          <p:cNvSpPr/>
          <p:nvPr/>
        </p:nvSpPr>
        <p:spPr>
          <a:xfrm>
            <a:off x="1309969" y="1690323"/>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4" name="Rectangle 23"/>
          <p:cNvSpPr/>
          <p:nvPr/>
        </p:nvSpPr>
        <p:spPr>
          <a:xfrm>
            <a:off x="1287607" y="2126274"/>
            <a:ext cx="2369993"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5" name="Rectangle 24"/>
          <p:cNvSpPr/>
          <p:nvPr/>
        </p:nvSpPr>
        <p:spPr>
          <a:xfrm>
            <a:off x="1286462" y="3160140"/>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26" name="TextBox 25"/>
              <p:cNvSpPr txBox="1"/>
              <p:nvPr/>
            </p:nvSpPr>
            <p:spPr>
              <a:xfrm>
                <a:off x="4427984" y="836071"/>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e>
                        <m:sup>
                          <m:r>
                            <a:rPr lang="en-GB" b="0" i="1" smtClean="0">
                              <a:latin typeface="Cambria Math" panose="02040503050406030204" pitchFamily="18" charset="0"/>
                            </a:rPr>
                            <m:t>3</m:t>
                          </m:r>
                        </m:sup>
                      </m:sSup>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4427984" y="836071"/>
                <a:ext cx="3672408" cy="646331"/>
              </a:xfrm>
              <a:prstGeom prst="rect">
                <a:avLst/>
              </a:prstGeom>
              <a:blipFill>
                <a:blip r:embed="rId7"/>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27" name="TextBox 26"/>
          <p:cNvSpPr txBox="1"/>
          <p:nvPr/>
        </p:nvSpPr>
        <p:spPr>
          <a:xfrm>
            <a:off x="4736292" y="1755148"/>
            <a:ext cx="964629" cy="338554"/>
          </a:xfrm>
          <a:prstGeom prst="rect">
            <a:avLst/>
          </a:prstGeom>
          <a:noFill/>
        </p:spPr>
        <p:txBody>
          <a:bodyPr wrap="square" rtlCol="0">
            <a:spAutoFit/>
          </a:bodyPr>
          <a:lstStyle/>
          <a:p>
            <a:r>
              <a:rPr lang="en-GB" sz="1600" b="1"/>
              <a:t>Shape?</a:t>
            </a:r>
          </a:p>
        </p:txBody>
      </p:sp>
      <p:sp>
        <p:nvSpPr>
          <p:cNvPr id="28" name="TextBox 27"/>
          <p:cNvSpPr txBox="1"/>
          <p:nvPr/>
        </p:nvSpPr>
        <p:spPr>
          <a:xfrm>
            <a:off x="4753634" y="2179874"/>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29" name="TextBox 28"/>
              <p:cNvSpPr txBox="1"/>
              <p:nvPr/>
            </p:nvSpPr>
            <p:spPr>
              <a:xfrm>
                <a:off x="4463313" y="3253560"/>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29" name="TextBox 28"/>
              <p:cNvSpPr txBox="1">
                <a:spLocks noRot="1" noChangeAspect="1" noMove="1" noResize="1" noEditPoints="1" noAdjustHandles="1" noChangeArrowheads="1" noChangeShapeType="1" noTextEdit="1"/>
              </p:cNvSpPr>
              <p:nvPr/>
            </p:nvSpPr>
            <p:spPr>
              <a:xfrm>
                <a:off x="4463313" y="3253560"/>
                <a:ext cx="1222744" cy="338554"/>
              </a:xfrm>
              <a:prstGeom prst="rect">
                <a:avLst/>
              </a:prstGeom>
              <a:blipFill>
                <a:blip r:embed="rId8"/>
                <a:stretch>
                  <a:fillRect t="-7407" r="-3093" b="-22222"/>
                </a:stretch>
              </a:blipFill>
            </p:spPr>
            <p:txBody>
              <a:bodyPr/>
              <a:lstStyle/>
              <a:p>
                <a:r>
                  <a:rPr lang="en-US">
                    <a:noFill/>
                  </a:rPr>
                  <a:t> </a:t>
                </a:r>
              </a:p>
            </p:txBody>
          </p:sp>
        </mc:Fallback>
      </mc:AlternateContent>
      <p:sp>
        <p:nvSpPr>
          <p:cNvPr id="30" name="TextBox 29"/>
          <p:cNvSpPr txBox="1"/>
          <p:nvPr/>
        </p:nvSpPr>
        <p:spPr>
          <a:xfrm>
            <a:off x="5674721" y="1722491"/>
            <a:ext cx="2243623" cy="369332"/>
          </a:xfrm>
          <a:prstGeom prst="rect">
            <a:avLst/>
          </a:prstGeom>
          <a:noFill/>
        </p:spPr>
        <p:txBody>
          <a:bodyPr wrap="square" rtlCol="0">
            <a:spAutoFit/>
          </a:bodyPr>
          <a:lstStyle/>
          <a:p>
            <a:r>
              <a:rPr lang="en-GB"/>
              <a:t>Uphill.</a:t>
            </a:r>
          </a:p>
        </p:txBody>
      </p:sp>
      <mc:AlternateContent xmlns:mc="http://schemas.openxmlformats.org/markup-compatibility/2006">
        <mc:Choice xmlns:a14="http://schemas.microsoft.com/office/drawing/2010/main" Requires="a14">
          <p:sp>
            <p:nvSpPr>
              <p:cNvPr id="31" name="TextBox 30"/>
              <p:cNvSpPr txBox="1"/>
              <p:nvPr/>
            </p:nvSpPr>
            <p:spPr>
              <a:xfrm>
                <a:off x="5674720" y="2134182"/>
                <a:ext cx="2448762" cy="1077218"/>
              </a:xfrm>
              <a:prstGeom prst="rect">
                <a:avLst/>
              </a:prstGeom>
              <a:noFill/>
            </p:spPr>
            <p:txBody>
              <a:bodyPr wrap="square" rtlCol="0">
                <a:spAutoFit/>
              </a:bodyPr>
              <a:lstStyle/>
              <a:p>
                <a:pPr/>
                <a14:m>
                  <m:oMathPara xmlns:m="http://schemas.openxmlformats.org/officeDocument/2006/math">
                    <m:oMathParaPr>
                      <m:jc m:val="left"/>
                    </m:oMathParaPr>
                    <m:oMath>
                      <m:r>
                        <a:rPr lang="en-GB" sz="1600" b="0" i="1" smtClean="0">
                          <a:latin typeface="Cambria Math" panose="02040503050406030204" pitchFamily="18" charset="0"/>
                        </a:rPr>
                        <m:t>𝑥</m:t>
                      </m:r>
                      <m:r>
                        <a:rPr lang="en-GB" sz="1600" b="0" i="1" smtClean="0">
                          <a:latin typeface="Cambria Math" panose="02040503050406030204" pitchFamily="18" charset="0"/>
                        </a:rPr>
                        <m:t>=4</m:t>
                      </m:r>
                    </m:oMath>
                  </m:oMathPara>
                </a14:m>
                <a:endParaRPr lang="en-GB" sz="1600"/>
              </a:p>
              <a:p>
                <a:r>
                  <a:rPr lang="en-GB" sz="1600"/>
                  <a:t>But root is triple repeated.</a:t>
                </a:r>
              </a:p>
              <a:p>
                <a:r>
                  <a:rPr lang="en-GB" sz="1600"/>
                  <a:t>We have a </a:t>
                </a:r>
                <a:r>
                  <a:rPr lang="en-GB" sz="1600" b="1"/>
                  <a:t>point of inflection</a:t>
                </a:r>
                <a:r>
                  <a:rPr lang="en-GB" sz="1600"/>
                  <a:t>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=4</m:t>
                    </m:r>
                  </m:oMath>
                </a14:m>
                <a:r>
                  <a:rPr lang="en-GB" sz="1600"/>
                  <a:t>.</a:t>
                </a:r>
              </a:p>
            </p:txBody>
          </p:sp>
        </mc:Choice>
        <mc:Fallback>
          <p:sp>
            <p:nvSpPr>
              <p:cNvPr id="31" name="TextBox 30"/>
              <p:cNvSpPr txBox="1">
                <a:spLocks noRot="1" noChangeAspect="1" noMove="1" noResize="1" noEditPoints="1" noAdjustHandles="1" noChangeArrowheads="1" noChangeShapeType="1" noTextEdit="1"/>
              </p:cNvSpPr>
              <p:nvPr/>
            </p:nvSpPr>
            <p:spPr>
              <a:xfrm>
                <a:off x="5674720" y="2134182"/>
                <a:ext cx="2448762" cy="1077218"/>
              </a:xfrm>
              <a:prstGeom prst="rect">
                <a:avLst/>
              </a:prstGeom>
              <a:blipFill>
                <a:blip r:embed="rId9"/>
                <a:stretch>
                  <a:fillRect l="-1031" b="-7059"/>
                </a:stretch>
              </a:blipFill>
            </p:spPr>
            <p:txBody>
              <a:bodyPr/>
              <a:lstStyle/>
              <a:p>
                <a:r>
                  <a:rPr lang="en-US">
                    <a:noFill/>
                  </a:rPr>
                  <a:t> </a:t>
                </a:r>
              </a:p>
            </p:txBody>
          </p:sp>
        </mc:Fallback>
      </mc:AlternateContent>
      <p:sp>
        <p:nvSpPr>
          <p:cNvPr id="32" name="TextBox 31"/>
          <p:cNvSpPr txBox="1"/>
          <p:nvPr/>
        </p:nvSpPr>
        <p:spPr>
          <a:xfrm>
            <a:off x="5740034" y="3249448"/>
            <a:ext cx="2448762" cy="338554"/>
          </a:xfrm>
          <a:prstGeom prst="rect">
            <a:avLst/>
          </a:prstGeom>
          <a:noFill/>
        </p:spPr>
        <p:txBody>
          <a:bodyPr wrap="square" rtlCol="0">
            <a:spAutoFit/>
          </a:bodyPr>
          <a:lstStyle/>
          <a:p>
            <a:r>
              <a:rPr lang="en-GB" sz="1600"/>
              <a:t>-64</a:t>
            </a:r>
          </a:p>
        </p:txBody>
      </p:sp>
      <p:sp>
        <p:nvSpPr>
          <p:cNvPr id="33" name="Rectangle 32"/>
          <p:cNvSpPr/>
          <p:nvPr/>
        </p:nvSpPr>
        <p:spPr>
          <a:xfrm>
            <a:off x="5717118" y="1745346"/>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5734190" y="2203558"/>
            <a:ext cx="2369993"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5" name="Rectangle 34"/>
          <p:cNvSpPr/>
          <p:nvPr/>
        </p:nvSpPr>
        <p:spPr>
          <a:xfrm>
            <a:off x="5729053" y="3266523"/>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36" name="Straight Arrow Connector 35"/>
          <p:cNvCxnSpPr/>
          <p:nvPr/>
        </p:nvCxnSpPr>
        <p:spPr>
          <a:xfrm flipV="1">
            <a:off x="4131548" y="5240188"/>
            <a:ext cx="1971822" cy="1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843626" y="4213583"/>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4377108" y="5652791"/>
            <a:ext cx="514705" cy="369332"/>
          </a:xfrm>
          <a:prstGeom prst="rect">
            <a:avLst/>
          </a:prstGeom>
          <a:noFill/>
        </p:spPr>
        <p:txBody>
          <a:bodyPr wrap="square" rtlCol="0">
            <a:spAutoFit/>
          </a:bodyPr>
          <a:lstStyle/>
          <a:p>
            <a:r>
              <a:rPr lang="en-GB"/>
              <a:t>-64</a:t>
            </a:r>
          </a:p>
        </p:txBody>
      </p:sp>
      <p:sp>
        <p:nvSpPr>
          <p:cNvPr id="39" name="TextBox 38"/>
          <p:cNvSpPr txBox="1"/>
          <p:nvPr/>
        </p:nvSpPr>
        <p:spPr>
          <a:xfrm>
            <a:off x="5247410" y="5173819"/>
            <a:ext cx="415472" cy="369332"/>
          </a:xfrm>
          <a:prstGeom prst="rect">
            <a:avLst/>
          </a:prstGeom>
          <a:noFill/>
        </p:spPr>
        <p:txBody>
          <a:bodyPr wrap="square" rtlCol="0">
            <a:spAutoFit/>
          </a:bodyPr>
          <a:lstStyle/>
          <a:p>
            <a:r>
              <a:rPr lang="en-GB"/>
              <a:t>4</a:t>
            </a:r>
          </a:p>
        </p:txBody>
      </p:sp>
      <mc:AlternateContent xmlns:mc="http://schemas.openxmlformats.org/markup-compatibility/2006">
        <mc:Choice xmlns:a14="http://schemas.microsoft.com/office/drawing/2010/main" Requires="a14">
          <p:sp>
            <p:nvSpPr>
              <p:cNvPr id="42" name="TextBox 41"/>
              <p:cNvSpPr txBox="1"/>
              <p:nvPr/>
            </p:nvSpPr>
            <p:spPr>
              <a:xfrm>
                <a:off x="4635890" y="3962957"/>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a:off x="4635890" y="3962957"/>
                <a:ext cx="415472"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p:cNvSpPr txBox="1"/>
              <p:nvPr/>
            </p:nvSpPr>
            <p:spPr>
              <a:xfrm>
                <a:off x="5980445" y="509799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43" name="TextBox 42"/>
              <p:cNvSpPr txBox="1">
                <a:spLocks noRot="1" noChangeAspect="1" noMove="1" noResize="1" noEditPoints="1" noAdjustHandles="1" noChangeArrowheads="1" noChangeShapeType="1" noTextEdit="1"/>
              </p:cNvSpPr>
              <p:nvPr/>
            </p:nvSpPr>
            <p:spPr>
              <a:xfrm>
                <a:off x="5980445" y="5097993"/>
                <a:ext cx="415472" cy="276999"/>
              </a:xfrm>
              <a:prstGeom prst="rect">
                <a:avLst/>
              </a:prstGeom>
              <a:blipFill>
                <a:blip r:embed="rId11"/>
                <a:stretch>
                  <a:fillRect/>
                </a:stretch>
              </a:blipFill>
            </p:spPr>
            <p:txBody>
              <a:bodyPr/>
              <a:lstStyle/>
              <a:p>
                <a:r>
                  <a:rPr lang="en-US">
                    <a:noFill/>
                  </a:rPr>
                  <a:t> </a:t>
                </a:r>
              </a:p>
            </p:txBody>
          </p:sp>
        </mc:Fallback>
      </mc:AlternateContent>
      <p:sp>
        <p:nvSpPr>
          <p:cNvPr id="45" name="Freeform: Shape 44"/>
          <p:cNvSpPr/>
          <p:nvPr/>
        </p:nvSpPr>
        <p:spPr>
          <a:xfrm>
            <a:off x="4702403" y="4249247"/>
            <a:ext cx="1223554" cy="1959428"/>
          </a:xfrm>
          <a:custGeom>
            <a:avLst/>
            <a:gdLst>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881743 w 1284514"/>
              <a:gd name="connsiteY4" fmla="*/ 979714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54" h="1959428">
                <a:moveTo>
                  <a:pt x="0" y="1959428"/>
                </a:moveTo>
                <a:cubicBezTo>
                  <a:pt x="36104" y="1861819"/>
                  <a:pt x="67128" y="1685471"/>
                  <a:pt x="145868" y="1534885"/>
                </a:cubicBezTo>
                <a:cubicBezTo>
                  <a:pt x="224608" y="1384299"/>
                  <a:pt x="379911" y="1148442"/>
                  <a:pt x="472440" y="1055914"/>
                </a:cubicBezTo>
                <a:cubicBezTo>
                  <a:pt x="564969" y="963386"/>
                  <a:pt x="613047" y="980621"/>
                  <a:pt x="701040" y="979714"/>
                </a:cubicBezTo>
                <a:cubicBezTo>
                  <a:pt x="789033" y="978807"/>
                  <a:pt x="895169" y="919843"/>
                  <a:pt x="962297" y="859971"/>
                </a:cubicBezTo>
                <a:cubicBezTo>
                  <a:pt x="1004706" y="805920"/>
                  <a:pt x="1060268" y="763813"/>
                  <a:pt x="1103811" y="620485"/>
                </a:cubicBezTo>
                <a:cubicBezTo>
                  <a:pt x="1147354" y="477156"/>
                  <a:pt x="1185454" y="238578"/>
                  <a:pt x="12235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7" name="TextBox 46"/>
              <p:cNvSpPr txBox="1"/>
              <p:nvPr/>
            </p:nvSpPr>
            <p:spPr>
              <a:xfrm>
                <a:off x="6248400" y="3735623"/>
                <a:ext cx="2832395" cy="3093154"/>
              </a:xfrm>
              <a:prstGeom prst="rect">
                <a:avLst/>
              </a:prstGeom>
              <a:noFill/>
            </p:spPr>
            <p:txBody>
              <a:bodyPr wrap="square" rtlCol="0">
                <a:spAutoFit/>
              </a:bodyPr>
              <a:lstStyle/>
              <a:p>
                <a:r>
                  <a:rPr lang="en-GB" sz="1200" b="1"/>
                  <a:t>Exam Notes</a:t>
                </a:r>
                <a:r>
                  <a:rPr lang="en-GB" sz="1200"/>
                  <a:t>: The term ‘point of inflection’ has been removed from the new A Level syllabus (bad idea!!).</a:t>
                </a:r>
              </a:p>
              <a:p>
                <a:endParaRPr lang="en-GB" sz="700"/>
              </a:p>
              <a:p>
                <a:r>
                  <a:rPr lang="en-GB" sz="1200"/>
                  <a:t>You might be able to see we get this shape at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=4</m:t>
                    </m:r>
                  </m:oMath>
                </a14:m>
                <a:r>
                  <a:rPr lang="en-GB" sz="1200"/>
                  <a:t> because as the root is triple repeated, the curve crosses at 4, then crosses again, then crosses again, hence ending up in the same direction and the line becoming momentarily horizontal.</a:t>
                </a:r>
              </a:p>
              <a:p>
                <a:endParaRPr lang="en-GB" sz="800"/>
              </a:p>
              <a:p>
                <a:r>
                  <a:rPr lang="en-GB" sz="1200" b="1"/>
                  <a:t>A point of inflection is where the curve goes from ‘convex’ to ‘concave</a:t>
                </a:r>
                <a:r>
                  <a:rPr lang="en-GB" sz="1200"/>
                  <a:t>’ (or vice versa), i.e. curves in one direction before and curves in another direction after. You might have encountered these terms in Physics.</a:t>
                </a:r>
              </a:p>
            </p:txBody>
          </p:sp>
        </mc:Choice>
        <mc:Fallback>
          <p:sp>
            <p:nvSpPr>
              <p:cNvPr id="47" name="TextBox 46"/>
              <p:cNvSpPr txBox="1">
                <a:spLocks noRot="1" noChangeAspect="1" noMove="1" noResize="1" noEditPoints="1" noAdjustHandles="1" noChangeArrowheads="1" noChangeShapeType="1" noTextEdit="1"/>
              </p:cNvSpPr>
              <p:nvPr/>
            </p:nvSpPr>
            <p:spPr>
              <a:xfrm>
                <a:off x="6248400" y="3735623"/>
                <a:ext cx="2832395" cy="3093154"/>
              </a:xfrm>
              <a:prstGeom prst="rect">
                <a:avLst/>
              </a:prstGeom>
              <a:blipFill>
                <a:blip r:embed="rId12"/>
                <a:stretch>
                  <a:fillRect r="-446" b="-820"/>
                </a:stretch>
              </a:blipFill>
            </p:spPr>
            <p:txBody>
              <a:bodyPr/>
              <a:lstStyle/>
              <a:p>
                <a:r>
                  <a:rPr lang="en-US">
                    <a:noFill/>
                  </a:rPr>
                  <a:t> </a:t>
                </a:r>
              </a:p>
            </p:txBody>
          </p:sp>
        </mc:Fallback>
      </mc:AlternateContent>
      <p:sp>
        <p:nvSpPr>
          <p:cNvPr id="44" name="Rectangle 43"/>
          <p:cNvSpPr/>
          <p:nvPr/>
        </p:nvSpPr>
        <p:spPr>
          <a:xfrm>
            <a:off x="4132068" y="3724241"/>
            <a:ext cx="4948727" cy="304511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Tree>
    <p:extLst>
      <p:ext uri="{BB962C8B-B14F-4D97-AF65-F5344CB8AC3E}">
        <p14:creationId xmlns:p14="http://schemas.microsoft.com/office/powerpoint/2010/main" val="28477792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14" restart="whenNotActive" fill="hold" evtFilter="cancelBubble" nodeType="interactiveSeq">
                <p:stCondLst>
                  <p:cond evt="onClick" delay="0">
                    <p:tgtEl>
                      <p:spTgt spid="2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4"/>
                                        </p:tgtEl>
                                      </p:cBhvr>
                                    </p:animEffect>
                                    <p:set>
                                      <p:cBhvr>
                                        <p:cTn id="19"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20" restart="whenNotActive" fill="hold" evtFilter="cancelBubble" nodeType="interactiveSeq">
                <p:stCondLst>
                  <p:cond evt="onClick" delay="0">
                    <p:tgtEl>
                      <p:spTgt spid="25"/>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26" restart="whenNotActive" fill="hold" evtFilter="cancelBubble" nodeType="interactiveSeq">
                <p:stCondLst>
                  <p:cond evt="onClick" delay="0">
                    <p:tgtEl>
                      <p:spTgt spid="3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2" restart="whenNotActive" fill="hold" evtFilter="cancelBubble" nodeType="interactiveSeq">
                <p:stCondLst>
                  <p:cond evt="onClick" delay="0">
                    <p:tgtEl>
                      <p:spTgt spid="3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34"/>
                                        </p:tgtEl>
                                      </p:cBhvr>
                                    </p:animEffect>
                                    <p:set>
                                      <p:cBhvr>
                                        <p:cTn id="37"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38" restart="whenNotActive" fill="hold" evtFilter="cancelBubble" nodeType="interactiveSeq">
                <p:stCondLst>
                  <p:cond evt="onClick" delay="0">
                    <p:tgtEl>
                      <p:spTgt spid="35"/>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35"/>
                                        </p:tgtEl>
                                      </p:cBhvr>
                                    </p:animEffect>
                                    <p:set>
                                      <p:cBhvr>
                                        <p:cTn id="43"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44"/>
                                        </p:tgtEl>
                                      </p:cBhvr>
                                    </p:animEffect>
                                    <p:set>
                                      <p:cBhvr>
                                        <p:cTn id="49"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childTnLst>
        </p:cTn>
      </p:par>
    </p:tnLst>
    <p:bldLst>
      <p:bldP spid="22" grpId="0" animBg="1"/>
      <p:bldP spid="23" grpId="0" animBg="1"/>
      <p:bldP spid="24" grpId="0" animBg="1"/>
      <p:bldP spid="25" grpId="0" animBg="1"/>
      <p:bldP spid="33" grpId="0" animBg="1"/>
      <p:bldP spid="34" grpId="0" animBg="1"/>
      <p:bldP spid="35" grpId="0" animBg="1"/>
      <p:bldP spid="44" grpId="0" animBg="1"/>
    </p:bldLst>
  </p:timing>
</p:sld>
</file>

<file path=ppt/c4/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r>
                <a:rPr lang="en-GB"/>
                <a:t> with Limited Roots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611560" y="908720"/>
                <a:ext cx="540060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e>
                      </m:d>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611560" y="908720"/>
                <a:ext cx="5400600"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349179" y="1695201"/>
            <a:ext cx="964629" cy="338554"/>
          </a:xfrm>
          <a:prstGeom prst="rect">
            <a:avLst/>
          </a:prstGeom>
          <a:noFill/>
        </p:spPr>
        <p:txBody>
          <a:bodyPr wrap="square" rtlCol="0">
            <a:spAutoFit/>
          </a:bodyPr>
          <a:lstStyle/>
          <a:p>
            <a:r>
              <a:rPr lang="en-GB" sz="1600" b="1"/>
              <a:t>Shape?</a:t>
            </a:r>
          </a:p>
        </p:txBody>
      </p:sp>
      <p:sp>
        <p:nvSpPr>
          <p:cNvPr id="7" name="TextBox 6"/>
          <p:cNvSpPr txBox="1"/>
          <p:nvPr/>
        </p:nvSpPr>
        <p:spPr>
          <a:xfrm>
            <a:off x="366521" y="2119927"/>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8" name="TextBox 7"/>
              <p:cNvSpPr txBox="1"/>
              <p:nvPr/>
            </p:nvSpPr>
            <p:spPr>
              <a:xfrm>
                <a:off x="76200" y="31936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76200" y="3193613"/>
                <a:ext cx="1222744" cy="338554"/>
              </a:xfrm>
              <a:prstGeom prst="rect">
                <a:avLst/>
              </a:prstGeom>
              <a:blipFill>
                <a:blip r:embed="rId3"/>
                <a:stretch>
                  <a:fillRect t="-3704" r="-2062" b="-22222"/>
                </a:stretch>
              </a:blipFill>
            </p:spPr>
            <p:txBody>
              <a:bodyPr/>
              <a:lstStyle/>
              <a:p>
                <a:r>
                  <a:rPr lang="en-US">
                    <a:noFill/>
                  </a:rPr>
                  <a:t> </a:t>
                </a:r>
              </a:p>
            </p:txBody>
          </p:sp>
        </mc:Fallback>
      </mc:AlternateContent>
      <p:sp>
        <p:nvSpPr>
          <p:cNvPr id="9" name="TextBox 8"/>
          <p:cNvSpPr txBox="1"/>
          <p:nvPr/>
        </p:nvSpPr>
        <p:spPr>
          <a:xfrm>
            <a:off x="1287608" y="1662544"/>
            <a:ext cx="2243623" cy="369332"/>
          </a:xfrm>
          <a:prstGeom prst="rect">
            <a:avLst/>
          </a:prstGeom>
          <a:noFill/>
        </p:spPr>
        <p:txBody>
          <a:bodyPr wrap="square" rtlCol="0">
            <a:spAutoFit/>
          </a:bodyPr>
          <a:lstStyle/>
          <a:p>
            <a:r>
              <a:rPr lang="en-GB"/>
              <a:t>Uphill.</a:t>
            </a:r>
          </a:p>
        </p:txBody>
      </p:sp>
      <mc:AlternateContent xmlns:mc="http://schemas.openxmlformats.org/markup-compatibility/2006">
        <mc:Choice xmlns:a14="http://schemas.microsoft.com/office/drawing/2010/main" Requires="a14">
          <p:sp>
            <p:nvSpPr>
              <p:cNvPr id="10" name="TextBox 9"/>
              <p:cNvSpPr txBox="1"/>
              <p:nvPr/>
            </p:nvSpPr>
            <p:spPr>
              <a:xfrm>
                <a:off x="1287606" y="2074235"/>
                <a:ext cx="4940578" cy="830997"/>
              </a:xfrm>
              <a:prstGeom prst="rect">
                <a:avLst/>
              </a:prstGeom>
              <a:noFill/>
            </p:spPr>
            <p:txBody>
              <a:bodyPr wrap="square" rtlCol="0">
                <a:spAutoFit/>
              </a:bodyPr>
              <a:lstStyle/>
              <a:p>
                <a:r>
                  <a:rPr lang="en-GB" sz="1600"/>
                  <a:t>Either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+1=0</m:t>
                    </m:r>
                  </m:oMath>
                </a14:m>
                <a:r>
                  <a:rPr lang="en-GB" sz="1600"/>
                  <a:t> (giving root of -1) or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+1=0</m:t>
                    </m:r>
                  </m:oMath>
                </a14:m>
                <a:r>
                  <a:rPr lang="en-GB" sz="1600"/>
                  <a:t>. </a:t>
                </a:r>
              </a:p>
              <a:p>
                <a:r>
                  <a:rPr lang="en-GB" sz="1600"/>
                  <a:t>This does not have any solutions as the discriminant is -3.</a:t>
                </a:r>
              </a:p>
              <a:p>
                <a:r>
                  <a:rPr lang="en-GB" sz="1600"/>
                  <a:t>Thus -1 is the only root. </a:t>
                </a:r>
              </a:p>
            </p:txBody>
          </p:sp>
        </mc:Choice>
        <mc:Fallback>
          <p:sp>
            <p:nvSpPr>
              <p:cNvPr id="10" name="TextBox 9"/>
              <p:cNvSpPr txBox="1">
                <a:spLocks noRot="1" noChangeAspect="1" noMove="1" noResize="1" noEditPoints="1" noAdjustHandles="1" noChangeArrowheads="1" noChangeShapeType="1" noTextEdit="1"/>
              </p:cNvSpPr>
              <p:nvPr/>
            </p:nvSpPr>
            <p:spPr>
              <a:xfrm>
                <a:off x="1287606" y="2074235"/>
                <a:ext cx="4940578" cy="830997"/>
              </a:xfrm>
              <a:prstGeom prst="rect">
                <a:avLst/>
              </a:prstGeom>
              <a:blipFill>
                <a:blip r:embed="rId4"/>
                <a:stretch>
                  <a:fillRect l="-769" t="-3030" b="-7576"/>
                </a:stretch>
              </a:blipFill>
            </p:spPr>
            <p:txBody>
              <a:bodyPr/>
              <a:lstStyle/>
              <a:p>
                <a:r>
                  <a:rPr lang="en-US">
                    <a:noFill/>
                  </a:rPr>
                  <a:t> </a:t>
                </a:r>
              </a:p>
            </p:txBody>
          </p:sp>
        </mc:Fallback>
      </mc:AlternateContent>
      <p:sp>
        <p:nvSpPr>
          <p:cNvPr id="11" name="TextBox 10"/>
          <p:cNvSpPr txBox="1"/>
          <p:nvPr/>
        </p:nvSpPr>
        <p:spPr>
          <a:xfrm>
            <a:off x="1352921" y="3189501"/>
            <a:ext cx="2448762" cy="338554"/>
          </a:xfrm>
          <a:prstGeom prst="rect">
            <a:avLst/>
          </a:prstGeom>
          <a:noFill/>
        </p:spPr>
        <p:txBody>
          <a:bodyPr wrap="square" rtlCol="0">
            <a:spAutoFit/>
          </a:bodyPr>
          <a:lstStyle/>
          <a:p>
            <a:r>
              <a:rPr lang="en-GB" sz="1600"/>
              <a:t>1</a:t>
            </a:r>
          </a:p>
        </p:txBody>
      </p:sp>
      <p:sp>
        <p:nvSpPr>
          <p:cNvPr id="12" name="Rectangle 11"/>
          <p:cNvSpPr/>
          <p:nvPr/>
        </p:nvSpPr>
        <p:spPr>
          <a:xfrm>
            <a:off x="1286462" y="1681333"/>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Rectangle 12"/>
          <p:cNvSpPr/>
          <p:nvPr/>
        </p:nvSpPr>
        <p:spPr>
          <a:xfrm>
            <a:off x="1286462" y="2107873"/>
            <a:ext cx="4941722"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4" name="Rectangle 13"/>
          <p:cNvSpPr/>
          <p:nvPr/>
        </p:nvSpPr>
        <p:spPr>
          <a:xfrm>
            <a:off x="1286462" y="3150338"/>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15" name="Straight Arrow Connector 14"/>
          <p:cNvCxnSpPr/>
          <p:nvPr/>
        </p:nvCxnSpPr>
        <p:spPr>
          <a:xfrm>
            <a:off x="2243317" y="540809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V="1">
            <a:off x="3405714" y="439418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742621" y="5338097"/>
            <a:ext cx="415472" cy="369332"/>
          </a:xfrm>
          <a:prstGeom prst="rect">
            <a:avLst/>
          </a:prstGeom>
          <a:noFill/>
        </p:spPr>
        <p:txBody>
          <a:bodyPr wrap="square" rtlCol="0">
            <a:spAutoFit/>
          </a:bodyPr>
          <a:lstStyle/>
          <a:p>
            <a:r>
              <a:rPr lang="en-GB"/>
              <a:t>-1</a:t>
            </a:r>
          </a:p>
        </p:txBody>
      </p:sp>
      <p:sp>
        <p:nvSpPr>
          <p:cNvPr id="20" name="TextBox 19"/>
          <p:cNvSpPr txBox="1"/>
          <p:nvPr/>
        </p:nvSpPr>
        <p:spPr>
          <a:xfrm>
            <a:off x="3173593" y="4739430"/>
            <a:ext cx="641279"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21" name="TextBox 20"/>
              <p:cNvSpPr txBox="1"/>
              <p:nvPr/>
            </p:nvSpPr>
            <p:spPr>
              <a:xfrm>
                <a:off x="3197978" y="414356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3197978" y="4143563"/>
                <a:ext cx="415472" cy="276999"/>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4542533" y="527859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4542533" y="5278599"/>
                <a:ext cx="415472" cy="276999"/>
              </a:xfrm>
              <a:prstGeom prst="rect">
                <a:avLst/>
              </a:prstGeom>
              <a:blipFill>
                <a:blip r:embed="rId6"/>
                <a:stretch>
                  <a:fillRect/>
                </a:stretch>
              </a:blipFill>
            </p:spPr>
            <p:txBody>
              <a:bodyPr/>
              <a:lstStyle/>
              <a:p>
                <a:r>
                  <a:rPr lang="en-US">
                    <a:noFill/>
                  </a:rPr>
                  <a:t> </a:t>
                </a:r>
              </a:p>
            </p:txBody>
          </p:sp>
        </mc:Fallback>
      </mc:AlternateContent>
      <p:sp>
        <p:nvSpPr>
          <p:cNvPr id="24" name="Freeform: Shape 23"/>
          <p:cNvSpPr/>
          <p:nvPr/>
        </p:nvSpPr>
        <p:spPr>
          <a:xfrm>
            <a:off x="2381694" y="3859618"/>
            <a:ext cx="1755146" cy="2349795"/>
          </a:xfrm>
          <a:custGeom>
            <a:avLst/>
            <a:gdLst>
              <a:gd name="connsiteX0" fmla="*/ 0 w 1701209"/>
              <a:gd name="connsiteY0" fmla="*/ 1967023 h 1967023"/>
              <a:gd name="connsiteX1" fmla="*/ 489098 w 1701209"/>
              <a:gd name="connsiteY1" fmla="*/ 1180214 h 1967023"/>
              <a:gd name="connsiteX2" fmla="*/ 818707 w 1701209"/>
              <a:gd name="connsiteY2" fmla="*/ 733646 h 1967023"/>
              <a:gd name="connsiteX3" fmla="*/ 1020726 w 1701209"/>
              <a:gd name="connsiteY3" fmla="*/ 6485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786809 h 1967023"/>
              <a:gd name="connsiteX3" fmla="*/ 1020726 w 1701209"/>
              <a:gd name="connsiteY3" fmla="*/ 6485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786809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34422 w 1701209"/>
              <a:gd name="connsiteY2" fmla="*/ 8391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805859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67785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67785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39210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39210 h 1967023"/>
              <a:gd name="connsiteX3" fmla="*/ 1015963 w 1701209"/>
              <a:gd name="connsiteY3" fmla="*/ 758123 h 1967023"/>
              <a:gd name="connsiteX4" fmla="*/ 1701209 w 1701209"/>
              <a:gd name="connsiteY4" fmla="*/ 0 h 1967023"/>
              <a:gd name="connsiteX5" fmla="*/ 1701209 w 1701209"/>
              <a:gd name="connsiteY5" fmla="*/ 0 h 1967023"/>
              <a:gd name="connsiteX0" fmla="*/ 0 w 1744378"/>
              <a:gd name="connsiteY0" fmla="*/ 2023180 h 2023180"/>
              <a:gd name="connsiteX1" fmla="*/ 489098 w 1744378"/>
              <a:gd name="connsiteY1" fmla="*/ 1236371 h 2023180"/>
              <a:gd name="connsiteX2" fmla="*/ 672510 w 1744378"/>
              <a:gd name="connsiteY2" fmla="*/ 995367 h 2023180"/>
              <a:gd name="connsiteX3" fmla="*/ 1015963 w 1744378"/>
              <a:gd name="connsiteY3" fmla="*/ 814280 h 2023180"/>
              <a:gd name="connsiteX4" fmla="*/ 1701209 w 1744378"/>
              <a:gd name="connsiteY4" fmla="*/ 56157 h 2023180"/>
              <a:gd name="connsiteX5" fmla="*/ 1669311 w 1744378"/>
              <a:gd name="connsiteY5" fmla="*/ 56157 h 2023180"/>
              <a:gd name="connsiteX0" fmla="*/ 0 w 1777954"/>
              <a:gd name="connsiteY0" fmla="*/ 2349795 h 2349795"/>
              <a:gd name="connsiteX1" fmla="*/ 489098 w 1777954"/>
              <a:gd name="connsiteY1" fmla="*/ 1562986 h 2349795"/>
              <a:gd name="connsiteX2" fmla="*/ 672510 w 1777954"/>
              <a:gd name="connsiteY2" fmla="*/ 1321982 h 2349795"/>
              <a:gd name="connsiteX3" fmla="*/ 1015963 w 1777954"/>
              <a:gd name="connsiteY3" fmla="*/ 1140895 h 2349795"/>
              <a:gd name="connsiteX4" fmla="*/ 1701209 w 1777954"/>
              <a:gd name="connsiteY4" fmla="*/ 382772 h 2349795"/>
              <a:gd name="connsiteX5" fmla="*/ 1754372 w 1777954"/>
              <a:gd name="connsiteY5" fmla="*/ 0 h 2349795"/>
              <a:gd name="connsiteX0" fmla="*/ 0 w 1755146"/>
              <a:gd name="connsiteY0" fmla="*/ 2349795 h 2349795"/>
              <a:gd name="connsiteX1" fmla="*/ 489098 w 1755146"/>
              <a:gd name="connsiteY1" fmla="*/ 1562986 h 2349795"/>
              <a:gd name="connsiteX2" fmla="*/ 672510 w 1755146"/>
              <a:gd name="connsiteY2" fmla="*/ 1321982 h 2349795"/>
              <a:gd name="connsiteX3" fmla="*/ 1015963 w 1755146"/>
              <a:gd name="connsiteY3" fmla="*/ 1140895 h 2349795"/>
              <a:gd name="connsiteX4" fmla="*/ 1541721 w 1755146"/>
              <a:gd name="connsiteY4" fmla="*/ 595424 h 2349795"/>
              <a:gd name="connsiteX5" fmla="*/ 1754372 w 1755146"/>
              <a:gd name="connsiteY5" fmla="*/ 0 h 2349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5146" h="2349795">
                <a:moveTo>
                  <a:pt x="0" y="2349795"/>
                </a:moveTo>
                <a:cubicBezTo>
                  <a:pt x="176323" y="2059172"/>
                  <a:pt x="377013" y="1734288"/>
                  <a:pt x="489098" y="1562986"/>
                </a:cubicBezTo>
                <a:cubicBezTo>
                  <a:pt x="601183" y="1391684"/>
                  <a:pt x="553743" y="1446304"/>
                  <a:pt x="672510" y="1321982"/>
                </a:cubicBezTo>
                <a:cubicBezTo>
                  <a:pt x="796040" y="1216709"/>
                  <a:pt x="841338" y="1264886"/>
                  <a:pt x="1015963" y="1140895"/>
                </a:cubicBezTo>
                <a:cubicBezTo>
                  <a:pt x="1190588" y="988329"/>
                  <a:pt x="1418653" y="785573"/>
                  <a:pt x="1541721" y="595424"/>
                </a:cubicBezTo>
                <a:cubicBezTo>
                  <a:pt x="1664789" y="405275"/>
                  <a:pt x="1765005" y="0"/>
                  <a:pt x="175437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p:cNvSpPr txBox="1"/>
          <p:nvPr/>
        </p:nvSpPr>
        <p:spPr>
          <a:xfrm>
            <a:off x="5398311" y="3677011"/>
            <a:ext cx="3466289" cy="738664"/>
          </a:xfrm>
          <a:prstGeom prst="rect">
            <a:avLst/>
          </a:prstGeom>
          <a:noFill/>
        </p:spPr>
        <p:txBody>
          <a:bodyPr wrap="square" rtlCol="0">
            <a:spAutoFit/>
          </a:bodyPr>
          <a:lstStyle/>
          <a:p>
            <a:r>
              <a:rPr lang="en-GB" sz="1400"/>
              <a:t>We don’t have enough information to determine the exact shape. It could for example have been:</a:t>
            </a:r>
          </a:p>
        </p:txBody>
      </p:sp>
      <p:cxnSp>
        <p:nvCxnSpPr>
          <p:cNvPr id="26" name="Straight Arrow Connector 25"/>
          <p:cNvCxnSpPr/>
          <p:nvPr/>
        </p:nvCxnSpPr>
        <p:spPr>
          <a:xfrm>
            <a:off x="5469042" y="5911325"/>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flipV="1">
            <a:off x="6631439" y="4897420"/>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6361218" y="5395061"/>
            <a:ext cx="641279"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30" name="TextBox 29"/>
              <p:cNvSpPr txBox="1"/>
              <p:nvPr/>
            </p:nvSpPr>
            <p:spPr>
              <a:xfrm>
                <a:off x="6423703" y="4646794"/>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6423703" y="4646794"/>
                <a:ext cx="415472" cy="276999"/>
              </a:xfrm>
              <a:prstGeom prst="rect">
                <a:avLst/>
              </a:prstGeom>
              <a:blipFill>
                <a:blip r:embed="rId7"/>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7768258" y="5781830"/>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7768258" y="5781830"/>
                <a:ext cx="415472" cy="276999"/>
              </a:xfrm>
              <a:prstGeom prst="rect">
                <a:avLst/>
              </a:prstGeom>
              <a:blipFill>
                <a:blip r:embed="rId8"/>
                <a:stretch>
                  <a:fillRect/>
                </a:stretch>
              </a:blipFill>
            </p:spPr>
            <p:txBody>
              <a:bodyPr/>
              <a:lstStyle/>
              <a:p>
                <a:r>
                  <a:rPr lang="en-US">
                    <a:noFill/>
                  </a:rPr>
                  <a:t> </a:t>
                </a:r>
              </a:p>
            </p:txBody>
          </p:sp>
        </mc:Fallback>
      </mc:AlternateContent>
      <p:sp>
        <p:nvSpPr>
          <p:cNvPr id="33" name="Freeform: Shape 32"/>
          <p:cNvSpPr/>
          <p:nvPr/>
        </p:nvSpPr>
        <p:spPr>
          <a:xfrm>
            <a:off x="5656521" y="5123475"/>
            <a:ext cx="1167809" cy="1383650"/>
          </a:xfrm>
          <a:custGeom>
            <a:avLst/>
            <a:gdLst>
              <a:gd name="connsiteX0" fmla="*/ 0 w 1244009"/>
              <a:gd name="connsiteY0" fmla="*/ 1414130 h 1414130"/>
              <a:gd name="connsiteX1" fmla="*/ 318977 w 1244009"/>
              <a:gd name="connsiteY1" fmla="*/ 882502 h 1414130"/>
              <a:gd name="connsiteX2" fmla="*/ 552893 w 1244009"/>
              <a:gd name="connsiteY2" fmla="*/ 1116418 h 1414130"/>
              <a:gd name="connsiteX3" fmla="*/ 765544 w 1244009"/>
              <a:gd name="connsiteY3" fmla="*/ 744279 h 1414130"/>
              <a:gd name="connsiteX4" fmla="*/ 1244009 w 1244009"/>
              <a:gd name="connsiteY4" fmla="*/ 0 h 1414130"/>
              <a:gd name="connsiteX0" fmla="*/ 0 w 1244009"/>
              <a:gd name="connsiteY0" fmla="*/ 1414130 h 1414130"/>
              <a:gd name="connsiteX1" fmla="*/ 318977 w 1244009"/>
              <a:gd name="connsiteY1" fmla="*/ 882502 h 1414130"/>
              <a:gd name="connsiteX2" fmla="*/ 552893 w 1244009"/>
              <a:gd name="connsiteY2" fmla="*/ 1116418 h 1414130"/>
              <a:gd name="connsiteX3" fmla="*/ 978195 w 1244009"/>
              <a:gd name="connsiteY3" fmla="*/ 446568 h 1414130"/>
              <a:gd name="connsiteX4" fmla="*/ 1244009 w 1244009"/>
              <a:gd name="connsiteY4" fmla="*/ 0 h 1414130"/>
              <a:gd name="connsiteX0" fmla="*/ 0 w 1244009"/>
              <a:gd name="connsiteY0" fmla="*/ 1414130 h 1414130"/>
              <a:gd name="connsiteX1" fmla="*/ 318977 w 1244009"/>
              <a:gd name="connsiteY1" fmla="*/ 882502 h 1414130"/>
              <a:gd name="connsiteX2" fmla="*/ 552893 w 1244009"/>
              <a:gd name="connsiteY2" fmla="*/ 1116418 h 1414130"/>
              <a:gd name="connsiteX3" fmla="*/ 978195 w 1244009"/>
              <a:gd name="connsiteY3" fmla="*/ 446568 h 1414130"/>
              <a:gd name="connsiteX4" fmla="*/ 1244009 w 1244009"/>
              <a:gd name="connsiteY4" fmla="*/ 0 h 1414130"/>
              <a:gd name="connsiteX0" fmla="*/ 0 w 1167809"/>
              <a:gd name="connsiteY0" fmla="*/ 1383650 h 1383650"/>
              <a:gd name="connsiteX1" fmla="*/ 318977 w 1167809"/>
              <a:gd name="connsiteY1" fmla="*/ 852022 h 1383650"/>
              <a:gd name="connsiteX2" fmla="*/ 552893 w 1167809"/>
              <a:gd name="connsiteY2" fmla="*/ 1085938 h 1383650"/>
              <a:gd name="connsiteX3" fmla="*/ 978195 w 1167809"/>
              <a:gd name="connsiteY3" fmla="*/ 416088 h 1383650"/>
              <a:gd name="connsiteX4" fmla="*/ 1167809 w 1167809"/>
              <a:gd name="connsiteY4" fmla="*/ 0 h 1383650"/>
              <a:gd name="connsiteX0" fmla="*/ 0 w 1167809"/>
              <a:gd name="connsiteY0" fmla="*/ 1383650 h 1383650"/>
              <a:gd name="connsiteX1" fmla="*/ 318977 w 1167809"/>
              <a:gd name="connsiteY1" fmla="*/ 852022 h 1383650"/>
              <a:gd name="connsiteX2" fmla="*/ 552893 w 1167809"/>
              <a:gd name="connsiteY2" fmla="*/ 1085938 h 1383650"/>
              <a:gd name="connsiteX3" fmla="*/ 978195 w 1167809"/>
              <a:gd name="connsiteY3" fmla="*/ 416088 h 1383650"/>
              <a:gd name="connsiteX4" fmla="*/ 1167809 w 1167809"/>
              <a:gd name="connsiteY4" fmla="*/ 0 h 1383650"/>
              <a:gd name="connsiteX0" fmla="*/ 0 w 1167809"/>
              <a:gd name="connsiteY0" fmla="*/ 1383650 h 1383650"/>
              <a:gd name="connsiteX1" fmla="*/ 296117 w 1167809"/>
              <a:gd name="connsiteY1" fmla="*/ 935842 h 1383650"/>
              <a:gd name="connsiteX2" fmla="*/ 552893 w 1167809"/>
              <a:gd name="connsiteY2" fmla="*/ 1085938 h 1383650"/>
              <a:gd name="connsiteX3" fmla="*/ 978195 w 1167809"/>
              <a:gd name="connsiteY3" fmla="*/ 416088 h 1383650"/>
              <a:gd name="connsiteX4" fmla="*/ 1167809 w 1167809"/>
              <a:gd name="connsiteY4" fmla="*/ 0 h 1383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7809" h="1383650">
                <a:moveTo>
                  <a:pt x="0" y="1383650"/>
                </a:moveTo>
                <a:cubicBezTo>
                  <a:pt x="113414" y="1142645"/>
                  <a:pt x="203968" y="985461"/>
                  <a:pt x="296117" y="935842"/>
                </a:cubicBezTo>
                <a:cubicBezTo>
                  <a:pt x="388266" y="886223"/>
                  <a:pt x="439213" y="1172564"/>
                  <a:pt x="552893" y="1085938"/>
                </a:cubicBezTo>
                <a:cubicBezTo>
                  <a:pt x="666573" y="999312"/>
                  <a:pt x="863009" y="602158"/>
                  <a:pt x="978195" y="416088"/>
                </a:cubicBezTo>
                <a:cubicBezTo>
                  <a:pt x="1070521" y="207158"/>
                  <a:pt x="1054749" y="286724"/>
                  <a:pt x="116780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p:cNvSpPr txBox="1"/>
          <p:nvPr/>
        </p:nvSpPr>
        <p:spPr>
          <a:xfrm>
            <a:off x="6257906" y="5810848"/>
            <a:ext cx="415472" cy="369332"/>
          </a:xfrm>
          <a:prstGeom prst="rect">
            <a:avLst/>
          </a:prstGeom>
          <a:noFill/>
        </p:spPr>
        <p:txBody>
          <a:bodyPr wrap="square" rtlCol="0">
            <a:spAutoFit/>
          </a:bodyPr>
          <a:lstStyle/>
          <a:p>
            <a:r>
              <a:rPr lang="en-GB"/>
              <a:t>-1</a:t>
            </a:r>
          </a:p>
        </p:txBody>
      </p:sp>
      <p:sp>
        <p:nvSpPr>
          <p:cNvPr id="34" name="Arrow: Down 33"/>
          <p:cNvSpPr/>
          <p:nvPr/>
        </p:nvSpPr>
        <p:spPr>
          <a:xfrm>
            <a:off x="5868144" y="4739430"/>
            <a:ext cx="288032" cy="38404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5" name="TextBox 34"/>
          <p:cNvSpPr txBox="1"/>
          <p:nvPr/>
        </p:nvSpPr>
        <p:spPr>
          <a:xfrm>
            <a:off x="6985000" y="4413562"/>
            <a:ext cx="2073286" cy="1384995"/>
          </a:xfrm>
          <a:prstGeom prst="rect">
            <a:avLst/>
          </a:prstGeom>
          <a:noFill/>
        </p:spPr>
        <p:txBody>
          <a:bodyPr wrap="square" rtlCol="0">
            <a:spAutoFit/>
          </a:bodyPr>
          <a:lstStyle/>
          <a:p>
            <a:r>
              <a:rPr lang="en-GB" sz="1400"/>
              <a:t>However, in Chapter 12, we’ll be able to work </a:t>
            </a:r>
            <a:r>
              <a:rPr lang="en-GB" sz="1400" b="1"/>
              <a:t>turning points </a:t>
            </a:r>
            <a:r>
              <a:rPr lang="en-GB" sz="1400"/>
              <a:t>using ‘differentiation’, and hence conclude that it doesn’t have any!</a:t>
            </a:r>
          </a:p>
        </p:txBody>
      </p:sp>
      <p:sp>
        <p:nvSpPr>
          <p:cNvPr id="23" name="Rectangle 22"/>
          <p:cNvSpPr/>
          <p:nvPr/>
        </p:nvSpPr>
        <p:spPr>
          <a:xfrm>
            <a:off x="1074799" y="3677010"/>
            <a:ext cx="7789801" cy="309208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Tree>
    <p:extLst>
      <p:ext uri="{BB962C8B-B14F-4D97-AF65-F5344CB8AC3E}">
        <p14:creationId xmlns:p14="http://schemas.microsoft.com/office/powerpoint/2010/main" val="2115750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2" grpId="0" animBg="1"/>
      <p:bldP spid="13" grpId="0" animBg="1"/>
      <p:bldP spid="14" grpId="0" animBg="1"/>
      <p:bldP spid="23" grpId="0" animBg="1"/>
    </p:bldLst>
  </p:timing>
</p:sld>
</file>

<file path=ppt/c4/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Finding the equation yourself</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773" y="802718"/>
            <a:ext cx="4464496" cy="191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6" name="Rectangle 5"/>
              <p:cNvSpPr/>
              <p:nvPr/>
            </p:nvSpPr>
            <p:spPr>
              <a:xfrm>
                <a:off x="384390" y="2805798"/>
                <a:ext cx="8208912" cy="1846659"/>
              </a:xfrm>
              <a:prstGeom prst="rect">
                <a:avLst/>
              </a:prstGeom>
              <a:solidFill>
                <a:schemeClr val="bg1"/>
              </a:solidFill>
              <a:effectLst>
                <a:outerShdw blurRad="63500" sx="102000" sy="102000" algn="ctr" rotWithShape="0">
                  <a:prstClr val="black">
                    <a:alpha val="40000"/>
                  </a:prstClr>
                </a:outerShdw>
              </a:effectLst>
            </p:spPr>
            <p:txBody>
              <a:bodyPr wrap="square">
                <a:spAutoFit/>
              </a:bodyPr>
              <a:lstStyle/>
              <a:p>
                <a:r>
                  <a:rPr lang="en-GB" sz="1600"/>
                  <a:t>Figure 1 shows a sketch of the curve </a:t>
                </a:r>
                <a14:m>
                  <m:oMath xmlns:m="http://schemas.openxmlformats.org/officeDocument/2006/math">
                    <m:r>
                      <a:rPr lang="en-GB" sz="1600" i="1" dirty="0" smtClean="0">
                        <a:latin typeface="Cambria Math" panose="02040503050406030204" pitchFamily="18" charset="0"/>
                      </a:rPr>
                      <m:t>𝐶</m:t>
                    </m:r>
                  </m:oMath>
                </a14:m>
                <a:r>
                  <a:rPr lang="en-GB" sz="1600"/>
                  <a:t> with equation </a:t>
                </a:r>
                <a14:m>
                  <m:oMath xmlns:m="http://schemas.openxmlformats.org/officeDocument/2006/math">
                    <m:r>
                      <a:rPr lang="en-GB" sz="1600" i="1" dirty="0" smtClean="0">
                        <a:latin typeface="Cambria Math" panose="02040503050406030204" pitchFamily="18" charset="0"/>
                      </a:rPr>
                      <m:t>𝑦</m:t>
                    </m:r>
                    <m:r>
                      <a:rPr lang="en-GB" sz="1600" i="1" dirty="0" smtClean="0">
                        <a:latin typeface="Cambria Math" panose="02040503050406030204" pitchFamily="18" charset="0"/>
                      </a:rPr>
                      <m:t>=</m:t>
                    </m:r>
                    <m:r>
                      <a:rPr lang="en-GB" sz="1600" i="1" dirty="0" smtClean="0">
                        <a:latin typeface="Cambria Math" panose="02040503050406030204" pitchFamily="18" charset="0"/>
                      </a:rPr>
                      <m:t>𝑓</m:t>
                    </m:r>
                    <m:r>
                      <a:rPr lang="en-GB" sz="1600" i="1" dirty="0" smtClean="0">
                        <a:latin typeface="Cambria Math" panose="02040503050406030204" pitchFamily="18" charset="0"/>
                      </a:rPr>
                      <m:t>(</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oMath>
                </a14:m>
                <a:r>
                  <a:rPr lang="en-GB" sz="1600"/>
                  <a:t>.</a:t>
                </a:r>
              </a:p>
              <a:p>
                <a:r>
                  <a:rPr lang="en-GB" sz="1600"/>
                  <a:t>The curve </a:t>
                </a:r>
                <a14:m>
                  <m:oMath xmlns:m="http://schemas.openxmlformats.org/officeDocument/2006/math">
                    <m:r>
                      <a:rPr lang="en-GB" sz="1600" i="1" dirty="0" smtClean="0">
                        <a:latin typeface="Cambria Math" panose="02040503050406030204" pitchFamily="18" charset="0"/>
                      </a:rPr>
                      <m:t>𝐶</m:t>
                    </m:r>
                  </m:oMath>
                </a14:m>
                <a:r>
                  <a:rPr lang="en-GB" sz="1600"/>
                  <a:t> passes through the point (–1, 0) and touches the </a:t>
                </a:r>
                <a14:m>
                  <m:oMath xmlns:m="http://schemas.openxmlformats.org/officeDocument/2006/math">
                    <m:r>
                      <a:rPr lang="en-GB" sz="1600" i="1" dirty="0" smtClean="0">
                        <a:latin typeface="Cambria Math" panose="02040503050406030204" pitchFamily="18" charset="0"/>
                      </a:rPr>
                      <m:t>𝑥</m:t>
                    </m:r>
                  </m:oMath>
                </a14:m>
                <a:r>
                  <a:rPr lang="en-GB" sz="1600"/>
                  <a:t>-axis at the point (2, 0).</a:t>
                </a:r>
              </a:p>
              <a:p>
                <a:r>
                  <a:rPr lang="en-GB" sz="1600"/>
                  <a:t>The curve </a:t>
                </a:r>
                <a14:m>
                  <m:oMath xmlns:m="http://schemas.openxmlformats.org/officeDocument/2006/math">
                    <m:r>
                      <a:rPr lang="en-GB" sz="1600" i="1" dirty="0" smtClean="0">
                        <a:latin typeface="Cambria Math" panose="02040503050406030204" pitchFamily="18" charset="0"/>
                      </a:rPr>
                      <m:t>𝐶</m:t>
                    </m:r>
                  </m:oMath>
                </a14:m>
                <a:r>
                  <a:rPr lang="en-GB" sz="1600"/>
                  <a:t> has a maximum at the point (0, 4).</a:t>
                </a:r>
              </a:p>
              <a:p>
                <a:r>
                  <a:rPr lang="en-GB" sz="1600"/>
                  <a:t>The equation of the curve </a:t>
                </a:r>
                <a14:m>
                  <m:oMath xmlns:m="http://schemas.openxmlformats.org/officeDocument/2006/math">
                    <m:r>
                      <a:rPr lang="en-GB" sz="1600" i="1" dirty="0" smtClean="0">
                        <a:latin typeface="Cambria Math" panose="02040503050406030204" pitchFamily="18" charset="0"/>
                      </a:rPr>
                      <m:t>𝐶</m:t>
                    </m:r>
                  </m:oMath>
                </a14:m>
                <a:r>
                  <a:rPr lang="en-GB" sz="1600"/>
                  <a:t> can be written in the form.</a:t>
                </a:r>
              </a:p>
              <a:p>
                <a:pPr/>
                <a14:m>
                  <m:oMathPara xmlns:m="http://schemas.openxmlformats.org/officeDocument/2006/math">
                    <m:oMath>
                      <m:r>
                        <a:rPr lang="en-GB" sz="1600" b="0" i="1" smtClean="0">
                          <a:latin typeface="Cambria Math" panose="02040503050406030204" pitchFamily="18" charset="0"/>
                        </a:rPr>
                        <m:t>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m:t>
                      </m:r>
                      <m:r>
                        <a:rPr lang="en-GB" sz="1600" b="0" i="1" smtClean="0">
                          <a:latin typeface="Cambria Math" panose="02040503050406030204" pitchFamily="18" charset="0"/>
                        </a:rPr>
                        <m:t>𝑎</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𝑏𝑥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m:oMathPara>
                </a14:m>
                <a:endParaRPr lang="en-GB" sz="1600"/>
              </a:p>
              <a:p>
                <a:r>
                  <a:rPr lang="en-GB" sz="1600"/>
                  <a:t>where </a:t>
                </a:r>
                <a14:m>
                  <m:oMath xmlns:m="http://schemas.openxmlformats.org/officeDocument/2006/math">
                    <m:r>
                      <a:rPr lang="en-GB" sz="1600" i="1" dirty="0" smtClean="0">
                        <a:latin typeface="Cambria Math" panose="02040503050406030204" pitchFamily="18" charset="0"/>
                      </a:rPr>
                      <m:t>𝑎</m:t>
                    </m:r>
                  </m:oMath>
                </a14:m>
                <a:r>
                  <a:rPr lang="en-GB" sz="1600"/>
                  <a:t>, </a:t>
                </a:r>
                <a14:m>
                  <m:oMath xmlns:m="http://schemas.openxmlformats.org/officeDocument/2006/math">
                    <m:r>
                      <a:rPr lang="en-GB" sz="1600" i="1" dirty="0" smtClean="0">
                        <a:latin typeface="Cambria Math" panose="02040503050406030204" pitchFamily="18" charset="0"/>
                      </a:rPr>
                      <m:t>𝑏</m:t>
                    </m:r>
                  </m:oMath>
                </a14:m>
                <a:r>
                  <a:rPr lang="en-GB" sz="1600"/>
                  <a:t> and </a:t>
                </a:r>
                <a14:m>
                  <m:oMath xmlns:m="http://schemas.openxmlformats.org/officeDocument/2006/math">
                    <m:r>
                      <a:rPr lang="en-GB" sz="1600" i="1" dirty="0" smtClean="0">
                        <a:latin typeface="Cambria Math" panose="02040503050406030204" pitchFamily="18" charset="0"/>
                      </a:rPr>
                      <m:t>𝑐</m:t>
                    </m:r>
                  </m:oMath>
                </a14:m>
                <a:r>
                  <a:rPr lang="en-GB" sz="1600"/>
                  <a:t> are integers.</a:t>
                </a:r>
              </a:p>
              <a:p>
                <a:r>
                  <a:rPr lang="en-GB" sz="1600"/>
                  <a:t>(a) Calculate the values of </a:t>
                </a:r>
                <a14:m>
                  <m:oMath xmlns:m="http://schemas.openxmlformats.org/officeDocument/2006/math">
                    <m:r>
                      <a:rPr lang="en-GB" sz="1600" b="0" i="1" smtClean="0">
                        <a:latin typeface="Cambria Math" panose="02040503050406030204" pitchFamily="18" charset="0"/>
                      </a:rPr>
                      <m:t>𝑎</m:t>
                    </m:r>
                    <m:r>
                      <a:rPr lang="en-GB" sz="1600" b="0" i="1" smtClean="0">
                        <a:latin typeface="Cambria Math" panose="02040503050406030204" pitchFamily="18" charset="0"/>
                      </a:rPr>
                      <m:t>,</m:t>
                    </m:r>
                    <m:r>
                      <a:rPr lang="en-GB" sz="1600" b="0" i="1" smtClean="0">
                        <a:latin typeface="Cambria Math" panose="02040503050406030204" pitchFamily="18" charset="0"/>
                      </a:rPr>
                      <m:t>𝑏</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a:t>.</a:t>
                </a:r>
              </a:p>
            </p:txBody>
          </p:sp>
        </mc:Choice>
        <mc:Fallback>
          <p:sp>
            <p:nvSpPr>
              <p:cNvPr id="6" name="Rectangle 5"/>
              <p:cNvSpPr>
                <a:spLocks noRot="1" noChangeAspect="1" noMove="1" noResize="1" noEditPoints="1" noAdjustHandles="1" noChangeArrowheads="1" noChangeShapeType="1" noTextEdit="1"/>
              </p:cNvSpPr>
              <p:nvPr/>
            </p:nvSpPr>
            <p:spPr>
              <a:xfrm>
                <a:off x="384390" y="2805798"/>
                <a:ext cx="8208912" cy="1846659"/>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7" name="TextBox 6"/>
          <p:cNvSpPr txBox="1"/>
          <p:nvPr/>
        </p:nvSpPr>
        <p:spPr>
          <a:xfrm>
            <a:off x="395536" y="836712"/>
            <a:ext cx="280831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C1 May 2013(R) Q9</a:t>
            </a:r>
          </a:p>
        </p:txBody>
      </p:sp>
      <mc:AlternateContent xmlns:mc="http://schemas.openxmlformats.org/markup-compatibility/2006">
        <mc:Choice xmlns:a14="http://schemas.microsoft.com/office/drawing/2010/main" Requires="a14">
          <p:sp>
            <p:nvSpPr>
              <p:cNvPr id="8" name="TextBox 7"/>
              <p:cNvSpPr txBox="1"/>
              <p:nvPr/>
            </p:nvSpPr>
            <p:spPr>
              <a:xfrm>
                <a:off x="2091392" y="4755574"/>
                <a:ext cx="5040560" cy="2031325"/>
              </a:xfrm>
              <a:prstGeom prst="rect">
                <a:avLst/>
              </a:prstGeom>
              <a:noFill/>
            </p:spPr>
            <p:txBody>
              <a:bodyPr wrap="square" rtlCol="0">
                <a:spAutoFit/>
              </a:bodyPr>
              <a:lstStyle/>
              <a:p>
                <a:r>
                  <a:rPr lang="en-GB"/>
                  <a:t>If it crosses at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−1,0</m:t>
                        </m:r>
                      </m:e>
                    </m:d>
                  </m:oMath>
                </a14:m>
                <a:r>
                  <a:rPr lang="en-GB"/>
                  <a:t> we must have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a:t>
                </a:r>
              </a:p>
              <a:p>
                <a:r>
                  <a:rPr lang="en-GB"/>
                  <a:t>If it touches at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2,0</m:t>
                        </m:r>
                      </m:e>
                    </m:d>
                  </m:oMath>
                </a14:m>
                <a:r>
                  <a:rPr lang="en-GB"/>
                  <a:t> we must have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endParaRPr lang="en-GB"/>
              </a:p>
              <a:p>
                <a:pPr/>
                <a14:m>
                  <m:oMathPara xmlns:m="http://schemas.openxmlformats.org/officeDocument/2006/math">
                    <m:oMath>
                      <m:r>
                        <a:rPr lang="en-GB" b="0" i="1" smtClean="0">
                          <a:latin typeface="Cambria Math" panose="02040503050406030204" pitchFamily="18" charset="0"/>
                        </a:rPr>
                        <m:t>∴  </m:t>
                      </m:r>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oMath>
                    <m:oMath>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=−3, </m:t>
                      </m:r>
                      <m:r>
                        <a:rPr lang="en-GB" b="0" i="1" smtClean="0">
                          <a:latin typeface="Cambria Math" panose="02040503050406030204" pitchFamily="18" charset="0"/>
                        </a:rPr>
                        <m:t>𝑏</m:t>
                      </m:r>
                      <m:r>
                        <a:rPr lang="en-GB" b="0" i="1" smtClean="0">
                          <a:latin typeface="Cambria Math" panose="02040503050406030204" pitchFamily="18" charset="0"/>
                        </a:rPr>
                        <m:t>=0, </m:t>
                      </m:r>
                      <m:r>
                        <a:rPr lang="en-GB" b="0" i="1" smtClean="0">
                          <a:latin typeface="Cambria Math" panose="02040503050406030204" pitchFamily="18" charset="0"/>
                        </a:rPr>
                        <m:t>𝑐</m:t>
                      </m:r>
                      <m:r>
                        <a:rPr lang="en-GB" b="0" i="1" smtClean="0">
                          <a:latin typeface="Cambria Math" panose="02040503050406030204" pitchFamily="18" charset="0"/>
                        </a:rPr>
                        <m:t>=4</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2091392" y="4755574"/>
                <a:ext cx="5040560" cy="2031325"/>
              </a:xfrm>
              <a:prstGeom prst="rect">
                <a:avLst/>
              </a:prstGeom>
              <a:blipFill>
                <a:blip r:embed="rId4"/>
                <a:stretch>
                  <a:fillRect l="-1005" t="-1242"/>
                </a:stretch>
              </a:blipFill>
            </p:spPr>
            <p:txBody>
              <a:bodyPr/>
              <a:lstStyle/>
              <a:p>
                <a:r>
                  <a:rPr lang="en-US">
                    <a:noFill/>
                  </a:rPr>
                  <a:t> </a:t>
                </a:r>
              </a:p>
            </p:txBody>
          </p:sp>
        </mc:Fallback>
      </mc:AlternateContent>
      <p:sp>
        <p:nvSpPr>
          <p:cNvPr id="10" name="Rectangle 9"/>
          <p:cNvSpPr/>
          <p:nvPr/>
        </p:nvSpPr>
        <p:spPr>
          <a:xfrm>
            <a:off x="2064773" y="4737518"/>
            <a:ext cx="4805995" cy="201879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83514327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c4/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486002" y="845853"/>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486002" y="845853"/>
                <a:ext cx="3274764"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6" name="Straight Arrow Connector 5"/>
          <p:cNvCxnSpPr/>
          <p:nvPr/>
        </p:nvCxnSpPr>
        <p:spPr>
          <a:xfrm>
            <a:off x="737115" y="3077689"/>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V="1">
            <a:off x="1429612" y="2051084"/>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2410339" y="3024020"/>
            <a:ext cx="415472" cy="369332"/>
          </a:xfrm>
          <a:prstGeom prst="rect">
            <a:avLst/>
          </a:prstGeom>
          <a:noFill/>
        </p:spPr>
        <p:txBody>
          <a:bodyPr wrap="square" rtlCol="0">
            <a:spAutoFit/>
          </a:bodyPr>
          <a:lstStyle/>
          <a:p>
            <a:r>
              <a:rPr lang="en-GB"/>
              <a:t>3</a:t>
            </a:r>
          </a:p>
        </p:txBody>
      </p:sp>
      <p:sp>
        <p:nvSpPr>
          <p:cNvPr id="10" name="Freeform: Shape 9"/>
          <p:cNvSpPr/>
          <p:nvPr/>
        </p:nvSpPr>
        <p:spPr>
          <a:xfrm flipV="1">
            <a:off x="1149978" y="2100117"/>
            <a:ext cx="1946813" cy="1655535"/>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82233 w 1781713"/>
              <a:gd name="connsiteY5" fmla="*/ 808074 h 1776144"/>
              <a:gd name="connsiteX6" fmla="*/ 1781713 w 1781713"/>
              <a:gd name="connsiteY6" fmla="*/ 1776144 h 1776144"/>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93119 w 1781713"/>
              <a:gd name="connsiteY5" fmla="*/ 764531 h 1776144"/>
              <a:gd name="connsiteX6" fmla="*/ 1781713 w 1781713"/>
              <a:gd name="connsiteY6" fmla="*/ 1776144 h 1776144"/>
              <a:gd name="connsiteX0" fmla="*/ 0 w 1946813"/>
              <a:gd name="connsiteY0" fmla="*/ 0 h 2240127"/>
              <a:gd name="connsiteX1" fmla="*/ 430914 w 1946813"/>
              <a:gd name="connsiteY1" fmla="*/ 1272057 h 2240127"/>
              <a:gd name="connsiteX2" fmla="*/ 771156 w 1946813"/>
              <a:gd name="connsiteY2" fmla="*/ 1707992 h 2240127"/>
              <a:gd name="connsiteX3" fmla="*/ 1111397 w 1946813"/>
              <a:gd name="connsiteY3" fmla="*/ 1240160 h 2240127"/>
              <a:gd name="connsiteX4" fmla="*/ 1355947 w 1946813"/>
              <a:gd name="connsiteY4" fmla="*/ 910550 h 2240127"/>
              <a:gd name="connsiteX5" fmla="*/ 1558219 w 1946813"/>
              <a:gd name="connsiteY5" fmla="*/ 1228514 h 2240127"/>
              <a:gd name="connsiteX6" fmla="*/ 1946813 w 1946813"/>
              <a:gd name="connsiteY6" fmla="*/ 2240127 h 224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6813" h="2240127">
                <a:moveTo>
                  <a:pt x="0" y="0"/>
                </a:moveTo>
                <a:cubicBezTo>
                  <a:pt x="82402" y="300369"/>
                  <a:pt x="302388" y="987392"/>
                  <a:pt x="430914" y="1272057"/>
                </a:cubicBezTo>
                <a:cubicBezTo>
                  <a:pt x="559440" y="1556722"/>
                  <a:pt x="657742" y="1713308"/>
                  <a:pt x="771156" y="1707992"/>
                </a:cubicBezTo>
                <a:cubicBezTo>
                  <a:pt x="884570" y="1702676"/>
                  <a:pt x="1035197" y="1394332"/>
                  <a:pt x="1111397" y="1240160"/>
                </a:cubicBezTo>
                <a:cubicBezTo>
                  <a:pt x="1187597" y="1085988"/>
                  <a:pt x="1281477" y="912491"/>
                  <a:pt x="1355947" y="910550"/>
                </a:cubicBezTo>
                <a:cubicBezTo>
                  <a:pt x="1430417" y="908609"/>
                  <a:pt x="1459741" y="1006918"/>
                  <a:pt x="1558219" y="1228514"/>
                </a:cubicBezTo>
                <a:cubicBezTo>
                  <a:pt x="1656697" y="1450110"/>
                  <a:pt x="1905169" y="2066461"/>
                  <a:pt x="1946813" y="224012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2" name="TextBox 11"/>
              <p:cNvSpPr txBox="1"/>
              <p:nvPr/>
            </p:nvSpPr>
            <p:spPr>
              <a:xfrm>
                <a:off x="1171076" y="172425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1171076" y="1724258"/>
                <a:ext cx="415472"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036331" y="2948194"/>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3036331" y="2948194"/>
                <a:ext cx="415472" cy="276999"/>
              </a:xfrm>
              <a:prstGeom prst="rect">
                <a:avLst/>
              </a:prstGeom>
              <a:blipFill>
                <a:blip r:embed="rId4"/>
                <a:stretch>
                  <a:fillRect/>
                </a:stretch>
              </a:blipFill>
            </p:spPr>
            <p:txBody>
              <a:bodyPr/>
              <a:lstStyle/>
              <a:p>
                <a:r>
                  <a:rPr lang="en-US">
                    <a:noFill/>
                  </a:rPr>
                  <a:t> </a:t>
                </a:r>
              </a:p>
            </p:txBody>
          </p:sp>
        </mc:Fallback>
      </mc:AlternateContent>
      <p:sp>
        <p:nvSpPr>
          <p:cNvPr id="14" name="Rectangle 13"/>
          <p:cNvSpPr/>
          <p:nvPr/>
        </p:nvSpPr>
        <p:spPr>
          <a:xfrm>
            <a:off x="736959" y="1699478"/>
            <a:ext cx="2952639"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15" name="TextBox 14"/>
              <p:cNvSpPr txBox="1"/>
              <p:nvPr/>
            </p:nvSpPr>
            <p:spPr>
              <a:xfrm>
                <a:off x="4809289" y="2733092"/>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i="1">
                          <a:latin typeface="Cambria Math"/>
                        </a:rPr>
                        <m:t>𝑦</m:t>
                      </m:r>
                      <m:r>
                        <a:rPr lang="en-GB" i="1">
                          <a:latin typeface="Cambria Math"/>
                        </a:rPr>
                        <m:t>=2</m:t>
                      </m:r>
                      <m:sSup>
                        <m:sSupPr>
                          <m:ctrlPr>
                            <a:rPr lang="en-GB" i="1">
                              <a:latin typeface="Cambria Math"/>
                            </a:rPr>
                          </m:ctrlPr>
                        </m:sSupPr>
                        <m:e>
                          <m:r>
                            <a:rPr lang="en-GB" i="1">
                              <a:latin typeface="Cambria Math"/>
                            </a:rPr>
                            <m:t>𝑥</m:t>
                          </m:r>
                        </m:e>
                        <m:sup>
                          <m:r>
                            <a:rPr lang="en-GB" i="1">
                              <a:latin typeface="Cambria Math"/>
                            </a:rPr>
                            <m:t>2</m:t>
                          </m:r>
                        </m:sup>
                      </m:sSup>
                      <m:d>
                        <m:dPr>
                          <m:ctrlPr>
                            <a:rPr lang="en-GB" i="1">
                              <a:latin typeface="Cambria Math"/>
                            </a:rPr>
                          </m:ctrlPr>
                        </m:dPr>
                        <m:e>
                          <m:r>
                            <a:rPr lang="en-GB" i="1">
                              <a:latin typeface="Cambria Math"/>
                            </a:rPr>
                            <m:t>𝑥</m:t>
                          </m:r>
                          <m:r>
                            <a:rPr lang="en-GB" i="1">
                              <a:latin typeface="Cambria Math"/>
                            </a:rPr>
                            <m:t>−1</m:t>
                          </m:r>
                        </m:e>
                      </m:d>
                      <m:sSup>
                        <m:sSupPr>
                          <m:ctrlPr>
                            <a:rPr lang="en-GB" i="1">
                              <a:latin typeface="Cambria Math" panose="02040503050406030204" pitchFamily="18" charset="0"/>
                            </a:rPr>
                          </m:ctrlPr>
                        </m:sSupPr>
                        <m:e>
                          <m:d>
                            <m:dPr>
                              <m:ctrlPr>
                                <a:rPr lang="en-GB" i="1">
                                  <a:latin typeface="Cambria Math"/>
                                </a:rPr>
                              </m:ctrlPr>
                            </m:dPr>
                            <m:e>
                              <m:r>
                                <a:rPr lang="en-GB" i="1">
                                  <a:latin typeface="Cambria Math"/>
                                </a:rPr>
                                <m:t>𝑥</m:t>
                              </m:r>
                              <m:r>
                                <a:rPr lang="en-GB" i="1">
                                  <a:latin typeface="Cambria Math"/>
                                </a:rPr>
                                <m:t>+1</m:t>
                              </m:r>
                            </m:e>
                          </m:d>
                        </m:e>
                        <m:sup>
                          <m:r>
                            <a:rPr lang="en-GB" i="1">
                              <a:latin typeface="Cambria Math"/>
                            </a:rPr>
                            <m:t>3</m:t>
                          </m:r>
                        </m:sup>
                      </m:sSup>
                    </m:oMath>
                  </m:oMathPara>
                </a14:m>
                <a:endParaRPr lang="en-GB"/>
              </a:p>
            </p:txBody>
          </p:sp>
        </mc:Choice>
        <mc:Fallback>
          <p:sp>
            <p:nvSpPr>
              <p:cNvPr id="15" name="TextBox 14"/>
              <p:cNvSpPr txBox="1">
                <a:spLocks noRot="1" noChangeAspect="1" noMove="1" noResize="1" noEditPoints="1" noAdjustHandles="1" noChangeArrowheads="1" noChangeShapeType="1" noTextEdit="1"/>
              </p:cNvSpPr>
              <p:nvPr/>
            </p:nvSpPr>
            <p:spPr>
              <a:xfrm>
                <a:off x="4809289" y="2733092"/>
                <a:ext cx="3274764" cy="646331"/>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6" name="Rectangle 15"/>
          <p:cNvSpPr/>
          <p:nvPr/>
        </p:nvSpPr>
        <p:spPr>
          <a:xfrm>
            <a:off x="161051" y="845853"/>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7" name="Rectangle 16"/>
          <p:cNvSpPr/>
          <p:nvPr/>
        </p:nvSpPr>
        <p:spPr>
          <a:xfrm>
            <a:off x="4463072" y="2722459"/>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latin typeface="Wingdings" panose="05000000000000000000" pitchFamily="2" charset="2"/>
              </a:rPr>
              <a:t>N</a:t>
            </a:r>
          </a:p>
        </p:txBody>
      </p:sp>
      <p:pic>
        <p:nvPicPr>
          <p:cNvPr id="19" name="Picture 2" descr="Graph Plo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1879" y="3509380"/>
            <a:ext cx="3886607" cy="240055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5506913" y="3944930"/>
            <a:ext cx="864096" cy="461665"/>
          </a:xfrm>
          <a:prstGeom prst="rect">
            <a:avLst/>
          </a:prstGeom>
          <a:noFill/>
        </p:spPr>
        <p:txBody>
          <a:bodyPr wrap="square" rtlCol="0">
            <a:spAutoFit/>
          </a:bodyPr>
          <a:lstStyle/>
          <a:p>
            <a:r>
              <a:rPr lang="en-GB" sz="1200"/>
              <a:t>Point of inflection</a:t>
            </a:r>
          </a:p>
        </p:txBody>
      </p:sp>
      <p:cxnSp>
        <p:nvCxnSpPr>
          <p:cNvPr id="22" name="Straight Arrow Connector 21"/>
          <p:cNvCxnSpPr/>
          <p:nvPr/>
        </p:nvCxnSpPr>
        <p:spPr>
          <a:xfrm flipH="1">
            <a:off x="5404197" y="4437326"/>
            <a:ext cx="360040" cy="449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3" name="TextBox 22"/>
              <p:cNvSpPr txBox="1"/>
              <p:nvPr/>
            </p:nvSpPr>
            <p:spPr>
              <a:xfrm>
                <a:off x="6667881" y="3920064"/>
                <a:ext cx="864096" cy="461665"/>
              </a:xfrm>
              <a:prstGeom prst="rect">
                <a:avLst/>
              </a:prstGeom>
              <a:noFill/>
            </p:spPr>
            <p:txBody>
              <a:bodyPr wrap="square" rtlCol="0">
                <a:spAutoFit/>
              </a:bodyPr>
              <a:lstStyle/>
              <a:p>
                <a:r>
                  <a:rPr lang="en-GB" sz="1200" b="1"/>
                  <a:t>Touches</a:t>
                </a:r>
              </a:p>
              <a:p>
                <a14:m>
                  <m:oMath xmlns:m="http://schemas.openxmlformats.org/officeDocument/2006/math">
                    <m:r>
                      <a:rPr lang="en-GB" sz="1200" b="0" i="1" smtClean="0">
                        <a:latin typeface="Cambria Math" panose="02040503050406030204" pitchFamily="18" charset="0"/>
                      </a:rPr>
                      <m:t>𝑥</m:t>
                    </m:r>
                  </m:oMath>
                </a14:m>
                <a:r>
                  <a:rPr lang="en-GB" sz="1200"/>
                  <a:t>-axis</a:t>
                </a:r>
              </a:p>
            </p:txBody>
          </p:sp>
        </mc:Choice>
        <mc:Fallback>
          <p:sp>
            <p:nvSpPr>
              <p:cNvPr id="23" name="TextBox 22"/>
              <p:cNvSpPr txBox="1">
                <a:spLocks noRot="1" noChangeAspect="1" noMove="1" noResize="1" noEditPoints="1" noAdjustHandles="1" noChangeArrowheads="1" noChangeShapeType="1" noTextEdit="1"/>
              </p:cNvSpPr>
              <p:nvPr/>
            </p:nvSpPr>
            <p:spPr>
              <a:xfrm>
                <a:off x="6667881" y="3920064"/>
                <a:ext cx="864096" cy="461665"/>
              </a:xfrm>
              <a:prstGeom prst="rect">
                <a:avLst/>
              </a:prstGeom>
              <a:blipFill>
                <a:blip r:embed="rId7"/>
                <a:stretch>
                  <a:fillRect b="-7895"/>
                </a:stretch>
              </a:blipFill>
            </p:spPr>
            <p:txBody>
              <a:bodyPr/>
              <a:lstStyle/>
              <a:p>
                <a:r>
                  <a:rPr lang="en-US">
                    <a:noFill/>
                  </a:rPr>
                  <a:t> </a:t>
                </a:r>
              </a:p>
            </p:txBody>
          </p:sp>
        </mc:Fallback>
      </mc:AlternateContent>
      <p:cxnSp>
        <p:nvCxnSpPr>
          <p:cNvPr id="24" name="Straight Arrow Connector 23"/>
          <p:cNvCxnSpPr/>
          <p:nvPr/>
        </p:nvCxnSpPr>
        <p:spPr>
          <a:xfrm flipH="1">
            <a:off x="6371113" y="4313940"/>
            <a:ext cx="338694" cy="589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6" name="TextBox 25"/>
              <p:cNvSpPr txBox="1"/>
              <p:nvPr/>
            </p:nvSpPr>
            <p:spPr>
              <a:xfrm>
                <a:off x="7669663" y="3877534"/>
                <a:ext cx="864096" cy="461665"/>
              </a:xfrm>
              <a:prstGeom prst="rect">
                <a:avLst/>
              </a:prstGeom>
              <a:noFill/>
            </p:spPr>
            <p:txBody>
              <a:bodyPr wrap="square" rtlCol="0">
                <a:spAutoFit/>
              </a:bodyPr>
              <a:lstStyle/>
              <a:p>
                <a:r>
                  <a:rPr lang="en-GB" sz="1200" b="1"/>
                  <a:t>Crosses</a:t>
                </a:r>
              </a:p>
              <a:p>
                <a14:m>
                  <m:oMath xmlns:m="http://schemas.openxmlformats.org/officeDocument/2006/math">
                    <m:r>
                      <a:rPr lang="en-GB" sz="1200" b="0" i="1" smtClean="0">
                        <a:latin typeface="Cambria Math" panose="02040503050406030204" pitchFamily="18" charset="0"/>
                      </a:rPr>
                      <m:t>𝑥</m:t>
                    </m:r>
                  </m:oMath>
                </a14:m>
                <a:r>
                  <a:rPr lang="en-GB" sz="1200"/>
                  <a:t>-axis</a:t>
                </a:r>
              </a:p>
            </p:txBody>
          </p:sp>
        </mc:Choice>
        <mc:Fallback>
          <p:sp>
            <p:nvSpPr>
              <p:cNvPr id="26" name="TextBox 25"/>
              <p:cNvSpPr txBox="1">
                <a:spLocks noRot="1" noChangeAspect="1" noMove="1" noResize="1" noEditPoints="1" noAdjustHandles="1" noChangeArrowheads="1" noChangeShapeType="1" noTextEdit="1"/>
              </p:cNvSpPr>
              <p:nvPr/>
            </p:nvSpPr>
            <p:spPr>
              <a:xfrm>
                <a:off x="7669663" y="3877534"/>
                <a:ext cx="864096" cy="461665"/>
              </a:xfrm>
              <a:prstGeom prst="rect">
                <a:avLst/>
              </a:prstGeom>
              <a:blipFill>
                <a:blip r:embed="rId8"/>
                <a:stretch>
                  <a:fillRect b="-10811"/>
                </a:stretch>
              </a:blipFill>
            </p:spPr>
            <p:txBody>
              <a:bodyPr/>
              <a:lstStyle/>
              <a:p>
                <a:r>
                  <a:rPr lang="en-US">
                    <a:noFill/>
                  </a:rPr>
                  <a:t> </a:t>
                </a:r>
              </a:p>
            </p:txBody>
          </p:sp>
        </mc:Fallback>
      </mc:AlternateContent>
      <p:cxnSp>
        <p:nvCxnSpPr>
          <p:cNvPr id="27" name="Straight Arrow Connector 26"/>
          <p:cNvCxnSpPr/>
          <p:nvPr/>
        </p:nvCxnSpPr>
        <p:spPr>
          <a:xfrm flipH="1">
            <a:off x="7393990" y="4352266"/>
            <a:ext cx="338694" cy="589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27"/>
          <p:cNvSpPr/>
          <p:nvPr/>
        </p:nvSpPr>
        <p:spPr>
          <a:xfrm>
            <a:off x="4295870" y="3426039"/>
            <a:ext cx="4210177" cy="247503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30" name="TextBox 29"/>
              <p:cNvSpPr txBox="1"/>
              <p:nvPr/>
            </p:nvSpPr>
            <p:spPr>
              <a:xfrm>
                <a:off x="477453" y="4410058"/>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3</m:t>
                          </m:r>
                        </m:sup>
                      </m:sSup>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477453" y="4410058"/>
                <a:ext cx="3274764" cy="646331"/>
              </a:xfrm>
              <a:prstGeom prst="rect">
                <a:avLst/>
              </a:prstGeom>
              <a:blipFill>
                <a:blip r:embed="rId9"/>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31" name="Rectangle 30"/>
          <p:cNvSpPr/>
          <p:nvPr/>
        </p:nvSpPr>
        <p:spPr>
          <a:xfrm>
            <a:off x="152502" y="4410058"/>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cxnSp>
        <p:nvCxnSpPr>
          <p:cNvPr id="32" name="Straight Arrow Connector 31"/>
          <p:cNvCxnSpPr/>
          <p:nvPr/>
        </p:nvCxnSpPr>
        <p:spPr>
          <a:xfrm flipV="1">
            <a:off x="989310" y="5990536"/>
            <a:ext cx="1971822" cy="1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flipH="1" flipV="1">
            <a:off x="2004060" y="5379720"/>
            <a:ext cx="2128" cy="1281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714930" y="6060239"/>
            <a:ext cx="514705" cy="369332"/>
          </a:xfrm>
          <a:prstGeom prst="rect">
            <a:avLst/>
          </a:prstGeom>
          <a:noFill/>
        </p:spPr>
        <p:txBody>
          <a:bodyPr wrap="square" rtlCol="0">
            <a:spAutoFit/>
          </a:bodyPr>
          <a:lstStyle/>
          <a:p>
            <a:r>
              <a:rPr lang="en-GB"/>
              <a:t>-8</a:t>
            </a:r>
          </a:p>
        </p:txBody>
      </p:sp>
      <p:sp>
        <p:nvSpPr>
          <p:cNvPr id="35" name="TextBox 34"/>
          <p:cNvSpPr txBox="1"/>
          <p:nvPr/>
        </p:nvSpPr>
        <p:spPr>
          <a:xfrm>
            <a:off x="1358412" y="5931787"/>
            <a:ext cx="415472"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36" name="TextBox 35"/>
              <p:cNvSpPr txBox="1"/>
              <p:nvPr/>
            </p:nvSpPr>
            <p:spPr>
              <a:xfrm>
                <a:off x="1813692" y="5147645"/>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36" name="TextBox 35"/>
              <p:cNvSpPr txBox="1">
                <a:spLocks noRot="1" noChangeAspect="1" noMove="1" noResize="1" noEditPoints="1" noAdjustHandles="1" noChangeArrowheads="1" noChangeShapeType="1" noTextEdit="1"/>
              </p:cNvSpPr>
              <p:nvPr/>
            </p:nvSpPr>
            <p:spPr>
              <a:xfrm>
                <a:off x="1813692" y="5147645"/>
                <a:ext cx="415472"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2838207" y="5825481"/>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37" name="TextBox 36"/>
              <p:cNvSpPr txBox="1">
                <a:spLocks noRot="1" noChangeAspect="1" noMove="1" noResize="1" noEditPoints="1" noAdjustHandles="1" noChangeArrowheads="1" noChangeShapeType="1" noTextEdit="1"/>
              </p:cNvSpPr>
              <p:nvPr/>
            </p:nvSpPr>
            <p:spPr>
              <a:xfrm>
                <a:off x="2838207" y="5825481"/>
                <a:ext cx="415472" cy="276999"/>
              </a:xfrm>
              <a:prstGeom prst="rect">
                <a:avLst/>
              </a:prstGeom>
              <a:blipFill>
                <a:blip r:embed="rId11"/>
                <a:stretch>
                  <a:fillRect/>
                </a:stretch>
              </a:blipFill>
            </p:spPr>
            <p:txBody>
              <a:bodyPr/>
              <a:lstStyle/>
              <a:p>
                <a:r>
                  <a:rPr lang="en-US">
                    <a:noFill/>
                  </a:rPr>
                  <a:t> </a:t>
                </a:r>
              </a:p>
            </p:txBody>
          </p:sp>
        </mc:Fallback>
      </mc:AlternateContent>
      <p:sp>
        <p:nvSpPr>
          <p:cNvPr id="38" name="Freeform: Shape 37"/>
          <p:cNvSpPr/>
          <p:nvPr/>
        </p:nvSpPr>
        <p:spPr>
          <a:xfrm flipV="1">
            <a:off x="965805" y="5273040"/>
            <a:ext cx="1213515" cy="1440179"/>
          </a:xfrm>
          <a:custGeom>
            <a:avLst/>
            <a:gdLst>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881743 w 1284514"/>
              <a:gd name="connsiteY4" fmla="*/ 979714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54" h="1959428">
                <a:moveTo>
                  <a:pt x="0" y="1959428"/>
                </a:moveTo>
                <a:cubicBezTo>
                  <a:pt x="36104" y="1861819"/>
                  <a:pt x="67128" y="1685471"/>
                  <a:pt x="145868" y="1534885"/>
                </a:cubicBezTo>
                <a:cubicBezTo>
                  <a:pt x="224608" y="1384299"/>
                  <a:pt x="379911" y="1148442"/>
                  <a:pt x="472440" y="1055914"/>
                </a:cubicBezTo>
                <a:cubicBezTo>
                  <a:pt x="564969" y="963386"/>
                  <a:pt x="613047" y="980621"/>
                  <a:pt x="701040" y="979714"/>
                </a:cubicBezTo>
                <a:cubicBezTo>
                  <a:pt x="789033" y="978807"/>
                  <a:pt x="895169" y="919843"/>
                  <a:pt x="962297" y="859971"/>
                </a:cubicBezTo>
                <a:cubicBezTo>
                  <a:pt x="1004706" y="805920"/>
                  <a:pt x="1060268" y="763813"/>
                  <a:pt x="1103811" y="620485"/>
                </a:cubicBezTo>
                <a:cubicBezTo>
                  <a:pt x="1147354" y="477156"/>
                  <a:pt x="1185454" y="238578"/>
                  <a:pt x="12235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725714" y="5239656"/>
            <a:ext cx="2946401" cy="15115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3" name="Rectangle 42"/>
          <p:cNvSpPr/>
          <p:nvPr/>
        </p:nvSpPr>
        <p:spPr>
          <a:xfrm>
            <a:off x="3952655" y="758698"/>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
        <p:nvSpPr>
          <p:cNvPr id="44" name="Freeform: Shape 43"/>
          <p:cNvSpPr/>
          <p:nvPr/>
        </p:nvSpPr>
        <p:spPr>
          <a:xfrm>
            <a:off x="4210494" y="808075"/>
            <a:ext cx="1116418" cy="744279"/>
          </a:xfrm>
          <a:custGeom>
            <a:avLst/>
            <a:gdLst>
              <a:gd name="connsiteX0" fmla="*/ 0 w 1116418"/>
              <a:gd name="connsiteY0" fmla="*/ 744279 h 744279"/>
              <a:gd name="connsiteX1" fmla="*/ 372139 w 1116418"/>
              <a:gd name="connsiteY1" fmla="*/ 170121 h 744279"/>
              <a:gd name="connsiteX2" fmla="*/ 712381 w 1116418"/>
              <a:gd name="connsiteY2" fmla="*/ 489097 h 744279"/>
              <a:gd name="connsiteX3" fmla="*/ 1010093 w 1116418"/>
              <a:gd name="connsiteY3" fmla="*/ 244548 h 744279"/>
              <a:gd name="connsiteX4" fmla="*/ 1116418 w 1116418"/>
              <a:gd name="connsiteY4" fmla="*/ 0 h 744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418" h="744279">
                <a:moveTo>
                  <a:pt x="0" y="744279"/>
                </a:moveTo>
                <a:cubicBezTo>
                  <a:pt x="126704" y="478465"/>
                  <a:pt x="253409" y="212651"/>
                  <a:pt x="372139" y="170121"/>
                </a:cubicBezTo>
                <a:cubicBezTo>
                  <a:pt x="490869" y="127591"/>
                  <a:pt x="606055" y="476693"/>
                  <a:pt x="712381" y="489097"/>
                </a:cubicBezTo>
                <a:cubicBezTo>
                  <a:pt x="818707" y="501501"/>
                  <a:pt x="942754" y="326064"/>
                  <a:pt x="1010093" y="244548"/>
                </a:cubicBezTo>
                <a:cubicBezTo>
                  <a:pt x="1077432" y="163032"/>
                  <a:pt x="1096925" y="81516"/>
                  <a:pt x="111641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5" name="TextBox 44"/>
              <p:cNvSpPr txBox="1"/>
              <p:nvPr/>
            </p:nvSpPr>
            <p:spPr>
              <a:xfrm>
                <a:off x="5448760" y="657127"/>
                <a:ext cx="353575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curve has this shape, touches the </a:t>
                </a:r>
                <a14:m>
                  <m:oMath xmlns:m="http://schemas.openxmlformats.org/officeDocument/2006/math">
                    <m:r>
                      <a:rPr lang="en-GB" b="0" i="1" smtClean="0">
                        <a:latin typeface="Cambria Math" panose="02040503050406030204" pitchFamily="18" charset="0"/>
                      </a:rPr>
                      <m:t>𝑥</m:t>
                    </m:r>
                  </m:oMath>
                </a14:m>
                <a:r>
                  <a:rPr lang="en-GB"/>
                  <a:t> axis at 3 and crosses the </a:t>
                </a:r>
                <a14:m>
                  <m:oMath xmlns:m="http://schemas.openxmlformats.org/officeDocument/2006/math">
                    <m:r>
                      <a:rPr lang="en-GB" b="0" i="1" smtClean="0">
                        <a:latin typeface="Cambria Math" panose="02040503050406030204" pitchFamily="18" charset="0"/>
                      </a:rPr>
                      <m:t>𝑥</m:t>
                    </m:r>
                  </m:oMath>
                </a14:m>
                <a:r>
                  <a:rPr lang="en-GB"/>
                  <a:t> axis at -2. Give a suitable equation for this graph.</a:t>
                </a:r>
              </a:p>
            </p:txBody>
          </p:sp>
        </mc:Choice>
        <mc:Fallback>
          <p:sp>
            <p:nvSpPr>
              <p:cNvPr id="45" name="TextBox 44"/>
              <p:cNvSpPr txBox="1">
                <a:spLocks noRot="1" noChangeAspect="1" noMove="1" noResize="1" noEditPoints="1" noAdjustHandles="1" noChangeArrowheads="1" noChangeShapeType="1" noTextEdit="1"/>
              </p:cNvSpPr>
              <p:nvPr/>
            </p:nvSpPr>
            <p:spPr>
              <a:xfrm>
                <a:off x="5448760" y="657127"/>
                <a:ext cx="3535751" cy="1200329"/>
              </a:xfrm>
              <a:prstGeom prst="rect">
                <a:avLst/>
              </a:prstGeom>
              <a:blipFill>
                <a:blip r:embed="rId12"/>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5148064" y="2067949"/>
                <a:ext cx="273630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oMath>
                  </m:oMathPara>
                </a14:m>
                <a:endParaRPr lang="en-GB"/>
              </a:p>
            </p:txBody>
          </p:sp>
        </mc:Choice>
        <mc:Fallback>
          <p:sp>
            <p:nvSpPr>
              <p:cNvPr id="46" name="TextBox 45"/>
              <p:cNvSpPr txBox="1">
                <a:spLocks noRot="1" noChangeAspect="1" noMove="1" noResize="1" noEditPoints="1" noAdjustHandles="1" noChangeArrowheads="1" noChangeShapeType="1" noTextEdit="1"/>
              </p:cNvSpPr>
              <p:nvPr/>
            </p:nvSpPr>
            <p:spPr>
              <a:xfrm>
                <a:off x="5148064" y="2067949"/>
                <a:ext cx="2736304" cy="369332"/>
              </a:xfrm>
              <a:prstGeom prst="rect">
                <a:avLst/>
              </a:prstGeom>
              <a:blipFill>
                <a:blip r:embed="rId13"/>
                <a:stretch>
                  <a:fillRect b="-10000"/>
                </a:stretch>
              </a:blipFill>
            </p:spPr>
            <p:txBody>
              <a:bodyPr/>
              <a:lstStyle/>
              <a:p>
                <a:r>
                  <a:rPr lang="en-US">
                    <a:noFill/>
                  </a:rPr>
                  <a:t> </a:t>
                </a:r>
              </a:p>
            </p:txBody>
          </p:sp>
        </mc:Fallback>
      </mc:AlternateContent>
      <p:sp>
        <p:nvSpPr>
          <p:cNvPr id="47" name="Rectangle 46"/>
          <p:cNvSpPr/>
          <p:nvPr/>
        </p:nvSpPr>
        <p:spPr>
          <a:xfrm>
            <a:off x="5426889" y="2011257"/>
            <a:ext cx="2345512" cy="46613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1583681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14" restart="whenNotActive" fill="hold" evtFilter="cancelBubble" nodeType="interactiveSeq">
                <p:stCondLst>
                  <p:cond evt="onClick" delay="0">
                    <p:tgtEl>
                      <p:spTgt spid="4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42"/>
                                        </p:tgtEl>
                                      </p:cBhvr>
                                    </p:animEffect>
                                    <p:set>
                                      <p:cBhvr>
                                        <p:cTn id="19" dur="1" fill="hold">
                                          <p:stCondLst>
                                            <p:cond delay="499"/>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20" restart="whenNotActive" fill="hold" evtFilter="cancelBubble" nodeType="interactiveSeq">
                <p:stCondLst>
                  <p:cond evt="onClick" delay="0">
                    <p:tgtEl>
                      <p:spTgt spid="4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47"/>
                                        </p:tgtEl>
                                      </p:cBhvr>
                                    </p:animEffect>
                                    <p:set>
                                      <p:cBhvr>
                                        <p:cTn id="25" dur="1" fill="hold">
                                          <p:stCondLst>
                                            <p:cond delay="499"/>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7"/>
                  </p:tgtEl>
                </p:cond>
              </p:nextCondLst>
            </p:seq>
          </p:childTnLst>
        </p:cTn>
      </p:par>
    </p:tnLst>
    <p:bldLst>
      <p:bldP spid="14" grpId="0" animBg="1"/>
      <p:bldP spid="28" grpId="0" animBg="1"/>
      <p:bldP spid="42" grpId="0" animBg="1"/>
      <p:bldP spid="47" grpId="0" animBg="1"/>
    </p:bldLst>
  </p:timing>
</p:sld>
</file>

<file path=ppt/c4/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–Y1 Pure pages 63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4" name="Picture 13">
            <a:extLst>
              <a:ext uri="{FF2B5EF4-FFF2-40B4-BE49-F238E27FC236}">
                <a16:creationId xmlns:a16="http://schemas.microsoft.com/office/drawing/2014/main" id="{B4F65090-1A25-60FE-7C32-10A86AA713BE}"/>
              </a:ext>
            </a:extLst>
          </p:cNvPr>
          <p:cNvPicPr>
            <a:picLocks noChangeAspect="1"/>
          </p:cNvPicPr>
          <p:nvPr/>
        </p:nvPicPr>
        <p:blipFill>
          <a:blip r:embed="rId2"/>
          <a:stretch>
            <a:fillRect/>
          </a:stretch>
        </p:blipFill>
        <p:spPr>
          <a:xfrm>
            <a:off x="179512" y="621335"/>
            <a:ext cx="6840760" cy="1317278"/>
          </a:xfrm>
          <a:prstGeom prst="rect">
            <a:avLst/>
          </a:prstGeom>
        </p:spPr>
      </p:pic>
      <p:pic>
        <p:nvPicPr>
          <p:cNvPr id="15" name="Picture 14">
            <a:extLst>
              <a:ext uri="{FF2B5EF4-FFF2-40B4-BE49-F238E27FC236}">
                <a16:creationId xmlns:a16="http://schemas.microsoft.com/office/drawing/2014/main" id="{BF698B55-7D11-4B92-FC9D-B1DCD1A0712E}"/>
              </a:ext>
            </a:extLst>
          </p:cNvPr>
          <p:cNvPicPr>
            <a:picLocks noChangeAspect="1"/>
          </p:cNvPicPr>
          <p:nvPr/>
        </p:nvPicPr>
        <p:blipFill>
          <a:blip r:embed="rId3"/>
          <a:stretch>
            <a:fillRect/>
          </a:stretch>
        </p:blipFill>
        <p:spPr>
          <a:xfrm>
            <a:off x="395536" y="1853543"/>
            <a:ext cx="1872208" cy="1032942"/>
          </a:xfrm>
          <a:prstGeom prst="rect">
            <a:avLst/>
          </a:prstGeom>
        </p:spPr>
      </p:pic>
      <p:pic>
        <p:nvPicPr>
          <p:cNvPr id="17" name="Picture 16">
            <a:extLst>
              <a:ext uri="{FF2B5EF4-FFF2-40B4-BE49-F238E27FC236}">
                <a16:creationId xmlns:a16="http://schemas.microsoft.com/office/drawing/2014/main" id="{21242176-456B-1492-CCE7-5B4DF7714774}"/>
              </a:ext>
            </a:extLst>
          </p:cNvPr>
          <p:cNvPicPr>
            <a:picLocks noChangeAspect="1"/>
          </p:cNvPicPr>
          <p:nvPr/>
        </p:nvPicPr>
        <p:blipFill>
          <a:blip r:embed="rId4"/>
          <a:stretch>
            <a:fillRect/>
          </a:stretch>
        </p:blipFill>
        <p:spPr>
          <a:xfrm>
            <a:off x="4252467" y="2009326"/>
            <a:ext cx="3168352" cy="533798"/>
          </a:xfrm>
          <a:prstGeom prst="rect">
            <a:avLst/>
          </a:prstGeom>
        </p:spPr>
      </p:pic>
      <p:sp>
        <p:nvSpPr>
          <p:cNvPr id="18" name="Rectangle 17">
            <a:extLst>
              <a:ext uri="{FF2B5EF4-FFF2-40B4-BE49-F238E27FC236}">
                <a16:creationId xmlns:a16="http://schemas.microsoft.com/office/drawing/2014/main" id="{0D61C316-4511-634D-3961-D65011BAD87E}"/>
              </a:ext>
            </a:extLst>
          </p:cNvPr>
          <p:cNvSpPr/>
          <p:nvPr/>
        </p:nvSpPr>
        <p:spPr>
          <a:xfrm>
            <a:off x="4499992" y="1052736"/>
            <a:ext cx="79208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2FC554FC-3CC1-8960-AB04-95959A6FA889}"/>
              </a:ext>
            </a:extLst>
          </p:cNvPr>
          <p:cNvPicPr>
            <a:picLocks noChangeAspect="1"/>
          </p:cNvPicPr>
          <p:nvPr/>
        </p:nvPicPr>
        <p:blipFill>
          <a:blip r:embed="rId5"/>
          <a:stretch>
            <a:fillRect/>
          </a:stretch>
        </p:blipFill>
        <p:spPr>
          <a:xfrm>
            <a:off x="148692" y="2993763"/>
            <a:ext cx="7772400" cy="1360685"/>
          </a:xfrm>
          <a:prstGeom prst="rect">
            <a:avLst/>
          </a:prstGeom>
        </p:spPr>
      </p:pic>
      <p:sp>
        <p:nvSpPr>
          <p:cNvPr id="29" name="Rectangle 28">
            <a:extLst>
              <a:ext uri="{FF2B5EF4-FFF2-40B4-BE49-F238E27FC236}">
                <a16:creationId xmlns:a16="http://schemas.microsoft.com/office/drawing/2014/main" id="{C339E7F3-C9D0-1DB6-F1E5-48C68663D9D2}"/>
              </a:ext>
            </a:extLst>
          </p:cNvPr>
          <p:cNvSpPr/>
          <p:nvPr/>
        </p:nvSpPr>
        <p:spPr>
          <a:xfrm>
            <a:off x="5044555" y="3354282"/>
            <a:ext cx="792088" cy="4347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a:extLst>
              <a:ext uri="{FF2B5EF4-FFF2-40B4-BE49-F238E27FC236}">
                <a16:creationId xmlns:a16="http://schemas.microsoft.com/office/drawing/2014/main" id="{385977CF-2AAB-C6AA-CF54-353FB7132C7A}"/>
              </a:ext>
            </a:extLst>
          </p:cNvPr>
          <p:cNvPicPr>
            <a:picLocks noChangeAspect="1"/>
          </p:cNvPicPr>
          <p:nvPr/>
        </p:nvPicPr>
        <p:blipFill>
          <a:blip r:embed="rId6"/>
          <a:stretch>
            <a:fillRect/>
          </a:stretch>
        </p:blipFill>
        <p:spPr>
          <a:xfrm>
            <a:off x="683568" y="3941635"/>
            <a:ext cx="3488928" cy="2825273"/>
          </a:xfrm>
          <a:prstGeom prst="rect">
            <a:avLst/>
          </a:prstGeom>
        </p:spPr>
      </p:pic>
      <p:sp>
        <p:nvSpPr>
          <p:cNvPr id="31" name="Rectangle 30">
            <a:extLst>
              <a:ext uri="{FF2B5EF4-FFF2-40B4-BE49-F238E27FC236}">
                <a16:creationId xmlns:a16="http://schemas.microsoft.com/office/drawing/2014/main" id="{C292F507-F763-C015-D1A1-C7E49865C6C7}"/>
              </a:ext>
            </a:extLst>
          </p:cNvPr>
          <p:cNvSpPr/>
          <p:nvPr/>
        </p:nvSpPr>
        <p:spPr>
          <a:xfrm>
            <a:off x="395536" y="1899329"/>
            <a:ext cx="3460887" cy="103294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32" name="Rectangle 31">
            <a:extLst>
              <a:ext uri="{FF2B5EF4-FFF2-40B4-BE49-F238E27FC236}">
                <a16:creationId xmlns:a16="http://schemas.microsoft.com/office/drawing/2014/main" id="{DF1E928F-62F8-EF6D-7D13-A6424E80B188}"/>
              </a:ext>
            </a:extLst>
          </p:cNvPr>
          <p:cNvSpPr/>
          <p:nvPr/>
        </p:nvSpPr>
        <p:spPr>
          <a:xfrm>
            <a:off x="395535" y="3946830"/>
            <a:ext cx="3460888" cy="272252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a:extLst>
              <a:ext uri="{FF2B5EF4-FFF2-40B4-BE49-F238E27FC236}">
                <a16:creationId xmlns:a16="http://schemas.microsoft.com/office/drawing/2014/main" id="{D003DABC-FBB3-FD9E-DAA5-F0CE34C2638D}"/>
              </a:ext>
            </a:extLst>
          </p:cNvPr>
          <p:cNvSpPr/>
          <p:nvPr/>
        </p:nvSpPr>
        <p:spPr>
          <a:xfrm>
            <a:off x="4172496" y="1888949"/>
            <a:ext cx="3460887" cy="103294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5536950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14" restart="whenNotActive" fill="hold" evtFilter="cancelBubble" nodeType="interactiveSeq">
                <p:stCondLst>
                  <p:cond evt="onClick" delay="0">
                    <p:tgtEl>
                      <p:spTgt spid="3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3"/>
                                        </p:tgtEl>
                                      </p:cBhvr>
                                    </p:animEffect>
                                    <p:set>
                                      <p:cBhvr>
                                        <p:cTn id="19"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1" grpId="0" animBg="1"/>
      <p:bldP spid="32" grpId="0" animBg="1"/>
      <p:bldP spid="33" grpId="0" animBg="1"/>
    </p:bldLst>
  </p:timing>
</p:sld>
</file>

<file path=ppt/c4/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–Y1 Pure pages 63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EEB7F987-76A2-D031-3F97-91718AC6867F}"/>
              </a:ext>
            </a:extLst>
          </p:cNvPr>
          <p:cNvPicPr>
            <a:picLocks noChangeAspect="1"/>
          </p:cNvPicPr>
          <p:nvPr/>
        </p:nvPicPr>
        <p:blipFill>
          <a:blip r:embed="rId2"/>
          <a:stretch>
            <a:fillRect/>
          </a:stretch>
        </p:blipFill>
        <p:spPr>
          <a:xfrm>
            <a:off x="251520" y="692696"/>
            <a:ext cx="7772400" cy="1594641"/>
          </a:xfrm>
          <a:prstGeom prst="rect">
            <a:avLst/>
          </a:prstGeom>
        </p:spPr>
      </p:pic>
      <p:pic>
        <p:nvPicPr>
          <p:cNvPr id="6" name="Picture 5">
            <a:extLst>
              <a:ext uri="{FF2B5EF4-FFF2-40B4-BE49-F238E27FC236}">
                <a16:creationId xmlns:a16="http://schemas.microsoft.com/office/drawing/2014/main" id="{BC5F0117-31A0-F94E-E6F5-049500D0045E}"/>
              </a:ext>
            </a:extLst>
          </p:cNvPr>
          <p:cNvPicPr>
            <a:picLocks noChangeAspect="1"/>
          </p:cNvPicPr>
          <p:nvPr/>
        </p:nvPicPr>
        <p:blipFill>
          <a:blip r:embed="rId3"/>
          <a:stretch>
            <a:fillRect/>
          </a:stretch>
        </p:blipFill>
        <p:spPr>
          <a:xfrm>
            <a:off x="467544" y="2380906"/>
            <a:ext cx="2970330" cy="1210134"/>
          </a:xfrm>
          <a:prstGeom prst="rect">
            <a:avLst/>
          </a:prstGeom>
        </p:spPr>
      </p:pic>
      <p:pic>
        <p:nvPicPr>
          <p:cNvPr id="7" name="Picture 6">
            <a:extLst>
              <a:ext uri="{FF2B5EF4-FFF2-40B4-BE49-F238E27FC236}">
                <a16:creationId xmlns:a16="http://schemas.microsoft.com/office/drawing/2014/main" id="{B6A1EA46-A7E2-DF73-AF81-F65FA7E937C3}"/>
              </a:ext>
            </a:extLst>
          </p:cNvPr>
          <p:cNvPicPr>
            <a:picLocks noChangeAspect="1"/>
          </p:cNvPicPr>
          <p:nvPr/>
        </p:nvPicPr>
        <p:blipFill>
          <a:blip r:embed="rId4"/>
          <a:stretch>
            <a:fillRect/>
          </a:stretch>
        </p:blipFill>
        <p:spPr>
          <a:xfrm>
            <a:off x="539552" y="4365104"/>
            <a:ext cx="2376264" cy="693077"/>
          </a:xfrm>
          <a:prstGeom prst="rect">
            <a:avLst/>
          </a:prstGeom>
        </p:spPr>
      </p:pic>
      <p:pic>
        <p:nvPicPr>
          <p:cNvPr id="9" name="Picture 8">
            <a:extLst>
              <a:ext uri="{FF2B5EF4-FFF2-40B4-BE49-F238E27FC236}">
                <a16:creationId xmlns:a16="http://schemas.microsoft.com/office/drawing/2014/main" id="{C3C69203-AE8A-EAD7-EF83-EC21C2AED84D}"/>
              </a:ext>
            </a:extLst>
          </p:cNvPr>
          <p:cNvPicPr>
            <a:picLocks noChangeAspect="1"/>
          </p:cNvPicPr>
          <p:nvPr/>
        </p:nvPicPr>
        <p:blipFill>
          <a:blip r:embed="rId5"/>
          <a:stretch>
            <a:fillRect/>
          </a:stretch>
        </p:blipFill>
        <p:spPr>
          <a:xfrm>
            <a:off x="5099891" y="2407886"/>
            <a:ext cx="3576565" cy="4165999"/>
          </a:xfrm>
          <a:prstGeom prst="rect">
            <a:avLst/>
          </a:prstGeom>
        </p:spPr>
      </p:pic>
      <p:sp>
        <p:nvSpPr>
          <p:cNvPr id="10" name="Rectangle 9">
            <a:extLst>
              <a:ext uri="{FF2B5EF4-FFF2-40B4-BE49-F238E27FC236}">
                <a16:creationId xmlns:a16="http://schemas.microsoft.com/office/drawing/2014/main" id="{48DCEB84-50A7-2877-0A54-EC73EE5C57E6}"/>
              </a:ext>
            </a:extLst>
          </p:cNvPr>
          <p:cNvSpPr/>
          <p:nvPr/>
        </p:nvSpPr>
        <p:spPr>
          <a:xfrm>
            <a:off x="395536" y="2469502"/>
            <a:ext cx="3460887" cy="153556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1" name="Rectangle 10">
            <a:extLst>
              <a:ext uri="{FF2B5EF4-FFF2-40B4-BE49-F238E27FC236}">
                <a16:creationId xmlns:a16="http://schemas.microsoft.com/office/drawing/2014/main" id="{CFCC3CDE-0378-6B17-322D-475C42DCE265}"/>
              </a:ext>
            </a:extLst>
          </p:cNvPr>
          <p:cNvSpPr/>
          <p:nvPr/>
        </p:nvSpPr>
        <p:spPr>
          <a:xfrm>
            <a:off x="395536" y="4290400"/>
            <a:ext cx="3460887" cy="153556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2" name="Rectangle 11">
            <a:extLst>
              <a:ext uri="{FF2B5EF4-FFF2-40B4-BE49-F238E27FC236}">
                <a16:creationId xmlns:a16="http://schemas.microsoft.com/office/drawing/2014/main" id="{B2F4F87C-6819-3089-FA4F-FCBD9ECF459D}"/>
              </a:ext>
            </a:extLst>
          </p:cNvPr>
          <p:cNvSpPr/>
          <p:nvPr/>
        </p:nvSpPr>
        <p:spPr>
          <a:xfrm>
            <a:off x="5071553" y="2469502"/>
            <a:ext cx="3460887" cy="416599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39857662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1" grpId="0" animBg="1"/>
      <p:bldP spid="12" grpId="0" animBg="1"/>
    </p:bldLst>
  </p:timing>
</p:sld>
</file>

<file path=ppt/c4/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Extension</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13" name="Rectangle 12"/>
          <p:cNvSpPr/>
          <p:nvPr/>
        </p:nvSpPr>
        <p:spPr>
          <a:xfrm>
            <a:off x="321762" y="1517160"/>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7" name="TextBox 6"/>
          <p:cNvSpPr txBox="1"/>
          <p:nvPr/>
        </p:nvSpPr>
        <p:spPr>
          <a:xfrm>
            <a:off x="540752" y="1003237"/>
            <a:ext cx="1224136" cy="369332"/>
          </a:xfrm>
          <a:prstGeom prst="rect">
            <a:avLst/>
          </a:prstGeom>
          <a:noFill/>
        </p:spPr>
        <p:txBody>
          <a:bodyPr wrap="square" rtlCol="0">
            <a:spAutoFit/>
          </a:bodyPr>
          <a:lstStyle/>
          <a:p>
            <a:r>
              <a:rPr lang="en-GB" b="1"/>
              <a:t>Extension</a:t>
            </a:r>
          </a:p>
        </p:txBody>
      </p:sp>
      <p:sp>
        <p:nvSpPr>
          <p:cNvPr id="10" name="TextBox 9"/>
          <p:cNvSpPr txBox="1"/>
          <p:nvPr/>
        </p:nvSpPr>
        <p:spPr>
          <a:xfrm>
            <a:off x="668141" y="1426662"/>
            <a:ext cx="3388414" cy="923330"/>
          </a:xfrm>
          <a:prstGeom prst="rect">
            <a:avLst/>
          </a:prstGeom>
          <a:noFill/>
        </p:spPr>
        <p:txBody>
          <a:bodyPr wrap="square" rtlCol="0">
            <a:spAutoFit/>
          </a:bodyPr>
          <a:lstStyle/>
          <a:p>
            <a:r>
              <a:rPr lang="en-GB"/>
              <a:t>[MAT 2012 1E] Which one of the following equations could possibly have the graph given below?</a:t>
            </a:r>
          </a:p>
        </p:txBody>
      </p:sp>
      <p:pic>
        <p:nvPicPr>
          <p:cNvPr id="11" name="Picture 10"/>
          <p:cNvPicPr>
            <a:picLocks noChangeAspect="1"/>
          </p:cNvPicPr>
          <p:nvPr/>
        </p:nvPicPr>
        <p:blipFill>
          <a:blip r:embed="rId2"/>
          <a:stretch>
            <a:fillRect/>
          </a:stretch>
        </p:blipFill>
        <p:spPr>
          <a:xfrm>
            <a:off x="791171" y="2303837"/>
            <a:ext cx="2762614" cy="1852482"/>
          </a:xfrm>
          <a:prstGeom prst="rect">
            <a:avLst/>
          </a:prstGeom>
        </p:spPr>
      </p:pic>
      <mc:AlternateContent xmlns:mc="http://schemas.openxmlformats.org/markup-compatibility/2006">
        <mc:Choice xmlns:a14="http://schemas.microsoft.com/office/drawing/2010/main" Requires="a14">
          <p:sp>
            <p:nvSpPr>
              <p:cNvPr id="20" name="TextBox 19"/>
              <p:cNvSpPr txBox="1"/>
              <p:nvPr/>
            </p:nvSpPr>
            <p:spPr>
              <a:xfrm>
                <a:off x="522998" y="4190570"/>
                <a:ext cx="3744417" cy="1754326"/>
              </a:xfrm>
              <a:prstGeom prst="rect">
                <a:avLst/>
              </a:prstGeom>
              <a:noFill/>
            </p:spPr>
            <p:txBody>
              <a:bodyPr wrap="square" rtlCol="0">
                <a:spAutoFit/>
              </a:bodyPr>
              <a:lstStyle/>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𝑥</m:t>
                        </m:r>
                      </m:e>
                    </m:d>
                  </m:oMath>
                </a14:m>
                <a:endParaRPr lang="en-GB" b="0"/>
              </a:p>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−9</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e>
                    </m:d>
                  </m:oMath>
                </a14:m>
                <a:endParaRPr lang="en-GB" b="0"/>
              </a:p>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−6</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endParaRPr lang="en-GB" b="0"/>
              </a:p>
              <a:p>
                <a:pPr marL="342900" indent="-342900">
                  <a:buAutoNum type="alphaUcParenR"/>
                </a:pPr>
                <a:r>
                  <a:rPr lang="en-GB"/>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−1</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oMath>
                </a14:m>
                <a:endParaRPr lang="en-GB" b="0"/>
              </a:p>
              <a:p>
                <a:pPr marL="342900" indent="-342900">
                  <a:buAutoNum type="alphaUcParenR"/>
                </a:pPr>
                <a:endParaRPr lang="en-GB"/>
              </a:p>
              <a:p>
                <a:r>
                  <a:rPr lang="en-GB" b="1"/>
                  <a:t>Solution: D</a:t>
                </a:r>
              </a:p>
            </p:txBody>
          </p:sp>
        </mc:Choice>
        <mc:Fallback>
          <p:sp>
            <p:nvSpPr>
              <p:cNvPr id="20" name="TextBox 19"/>
              <p:cNvSpPr txBox="1">
                <a:spLocks noRot="1" noChangeAspect="1" noMove="1" noResize="1" noEditPoints="1" noAdjustHandles="1" noChangeArrowheads="1" noChangeShapeType="1" noTextEdit="1"/>
              </p:cNvSpPr>
              <p:nvPr/>
            </p:nvSpPr>
            <p:spPr>
              <a:xfrm>
                <a:off x="522998" y="4190570"/>
                <a:ext cx="3744417" cy="1754326"/>
              </a:xfrm>
              <a:prstGeom prst="rect">
                <a:avLst/>
              </a:prstGeom>
              <a:blipFill>
                <a:blip r:embed="rId3"/>
                <a:stretch>
                  <a:fillRect l="-1695" t="-1429" b="-4286"/>
                </a:stretch>
              </a:blipFill>
            </p:spPr>
            <p:txBody>
              <a:bodyPr/>
              <a:lstStyle/>
              <a:p>
                <a:r>
                  <a:rPr lang="en-US">
                    <a:noFill/>
                  </a:rPr>
                  <a:t> </a:t>
                </a:r>
              </a:p>
            </p:txBody>
          </p:sp>
        </mc:Fallback>
      </mc:AlternateContent>
      <p:sp>
        <p:nvSpPr>
          <p:cNvPr id="21" name="Rectangle 20"/>
          <p:cNvSpPr/>
          <p:nvPr/>
        </p:nvSpPr>
        <p:spPr>
          <a:xfrm>
            <a:off x="4242195" y="1116076"/>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pic>
        <p:nvPicPr>
          <p:cNvPr id="12" name="Picture 11"/>
          <p:cNvPicPr>
            <a:picLocks noChangeAspect="1"/>
          </p:cNvPicPr>
          <p:nvPr/>
        </p:nvPicPr>
        <p:blipFill>
          <a:blip r:embed="rId4"/>
          <a:stretch>
            <a:fillRect/>
          </a:stretch>
        </p:blipFill>
        <p:spPr>
          <a:xfrm>
            <a:off x="4804907" y="1942666"/>
            <a:ext cx="3594304" cy="2668401"/>
          </a:xfrm>
          <a:prstGeom prst="rect">
            <a:avLst/>
          </a:prstGeom>
        </p:spPr>
      </p:pic>
      <mc:AlternateContent xmlns:mc="http://schemas.openxmlformats.org/markup-compatibility/2006">
        <mc:Choice xmlns:a14="http://schemas.microsoft.com/office/drawing/2010/main" Requires="a14">
          <p:sp>
            <p:nvSpPr>
              <p:cNvPr id="22" name="TextBox 21"/>
              <p:cNvSpPr txBox="1"/>
              <p:nvPr/>
            </p:nvSpPr>
            <p:spPr>
              <a:xfrm>
                <a:off x="4609078" y="1044385"/>
                <a:ext cx="3836198" cy="923330"/>
              </a:xfrm>
              <a:prstGeom prst="rect">
                <a:avLst/>
              </a:prstGeom>
              <a:noFill/>
            </p:spPr>
            <p:txBody>
              <a:bodyPr wrap="square" rtlCol="0">
                <a:spAutoFit/>
              </a:bodyPr>
              <a:lstStyle/>
              <a:p>
                <a:r>
                  <a:rPr lang="en-GB"/>
                  <a:t>[MAT 2011 1A] A sketch of the graph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 appears on which of the following axis?</a:t>
                </a:r>
              </a:p>
            </p:txBody>
          </p:sp>
        </mc:Choice>
        <mc:Fallback>
          <p:sp>
            <p:nvSpPr>
              <p:cNvPr id="22" name="TextBox 21"/>
              <p:cNvSpPr txBox="1">
                <a:spLocks noRot="1" noChangeAspect="1" noMove="1" noResize="1" noEditPoints="1" noAdjustHandles="1" noChangeArrowheads="1" noChangeShapeType="1" noTextEdit="1"/>
              </p:cNvSpPr>
              <p:nvPr/>
            </p:nvSpPr>
            <p:spPr>
              <a:xfrm>
                <a:off x="4609078" y="1044385"/>
                <a:ext cx="3836198" cy="923330"/>
              </a:xfrm>
              <a:prstGeom prst="rect">
                <a:avLst/>
              </a:prstGeom>
              <a:blipFill>
                <a:blip r:embed="rId5"/>
                <a:stretch>
                  <a:fillRect l="-990" t="-2703" b="-9459"/>
                </a:stretch>
              </a:blipFill>
            </p:spPr>
            <p:txBody>
              <a:bodyPr/>
              <a:lstStyle/>
              <a:p>
                <a:r>
                  <a:rPr lang="en-US">
                    <a:noFill/>
                  </a:rPr>
                  <a:t> </a:t>
                </a:r>
              </a:p>
            </p:txBody>
          </p:sp>
        </mc:Fallback>
      </mc:AlternateContent>
      <p:sp>
        <p:nvSpPr>
          <p:cNvPr id="23" name="TextBox 22"/>
          <p:cNvSpPr txBox="1"/>
          <p:nvPr/>
        </p:nvSpPr>
        <p:spPr>
          <a:xfrm>
            <a:off x="4761364" y="2987738"/>
            <a:ext cx="548826" cy="369332"/>
          </a:xfrm>
          <a:prstGeom prst="rect">
            <a:avLst/>
          </a:prstGeom>
          <a:solidFill>
            <a:schemeClr val="bg1"/>
          </a:solidFill>
        </p:spPr>
        <p:txBody>
          <a:bodyPr wrap="square" rtlCol="0">
            <a:spAutoFit/>
          </a:bodyPr>
          <a:lstStyle/>
          <a:p>
            <a:r>
              <a:rPr lang="en-GB"/>
              <a:t>(a)</a:t>
            </a:r>
          </a:p>
        </p:txBody>
      </p:sp>
      <p:sp>
        <p:nvSpPr>
          <p:cNvPr id="24" name="TextBox 23"/>
          <p:cNvSpPr txBox="1"/>
          <p:nvPr/>
        </p:nvSpPr>
        <p:spPr>
          <a:xfrm>
            <a:off x="6517769" y="2977664"/>
            <a:ext cx="548826" cy="369332"/>
          </a:xfrm>
          <a:prstGeom prst="rect">
            <a:avLst/>
          </a:prstGeom>
          <a:solidFill>
            <a:schemeClr val="bg1"/>
          </a:solidFill>
        </p:spPr>
        <p:txBody>
          <a:bodyPr wrap="square" rtlCol="0">
            <a:spAutoFit/>
          </a:bodyPr>
          <a:lstStyle/>
          <a:p>
            <a:r>
              <a:rPr lang="en-GB"/>
              <a:t>(b)</a:t>
            </a:r>
          </a:p>
        </p:txBody>
      </p:sp>
      <p:sp>
        <p:nvSpPr>
          <p:cNvPr id="25" name="TextBox 24"/>
          <p:cNvSpPr txBox="1"/>
          <p:nvPr/>
        </p:nvSpPr>
        <p:spPr>
          <a:xfrm>
            <a:off x="4758842" y="4241735"/>
            <a:ext cx="548826" cy="369332"/>
          </a:xfrm>
          <a:prstGeom prst="rect">
            <a:avLst/>
          </a:prstGeom>
          <a:solidFill>
            <a:schemeClr val="bg1"/>
          </a:solidFill>
        </p:spPr>
        <p:txBody>
          <a:bodyPr wrap="square" rtlCol="0">
            <a:spAutoFit/>
          </a:bodyPr>
          <a:lstStyle/>
          <a:p>
            <a:r>
              <a:rPr lang="en-GB"/>
              <a:t>(c)</a:t>
            </a:r>
          </a:p>
        </p:txBody>
      </p:sp>
      <p:sp>
        <p:nvSpPr>
          <p:cNvPr id="26" name="TextBox 25"/>
          <p:cNvSpPr txBox="1"/>
          <p:nvPr/>
        </p:nvSpPr>
        <p:spPr>
          <a:xfrm>
            <a:off x="6517769" y="4241735"/>
            <a:ext cx="548826" cy="369332"/>
          </a:xfrm>
          <a:prstGeom prst="rect">
            <a:avLst/>
          </a:prstGeom>
          <a:solidFill>
            <a:schemeClr val="bg1"/>
          </a:solidFill>
        </p:spPr>
        <p:txBody>
          <a:bodyPr wrap="square" rtlCol="0">
            <a:spAutoFit/>
          </a:bodyPr>
          <a:lstStyle/>
          <a:p>
            <a:r>
              <a:rPr lang="en-GB"/>
              <a:t>(d)</a:t>
            </a:r>
          </a:p>
        </p:txBody>
      </p:sp>
      <mc:AlternateContent xmlns:mc="http://schemas.openxmlformats.org/markup-compatibility/2006">
        <mc:Choice xmlns:a14="http://schemas.microsoft.com/office/drawing/2010/main" Requires="a14">
          <p:sp>
            <p:nvSpPr>
              <p:cNvPr id="27" name="TextBox 26"/>
              <p:cNvSpPr txBox="1"/>
              <p:nvPr/>
            </p:nvSpPr>
            <p:spPr>
              <a:xfrm>
                <a:off x="4407966" y="4869161"/>
                <a:ext cx="4570812" cy="965201"/>
              </a:xfrm>
              <a:prstGeom prst="rect">
                <a:avLst/>
              </a:prstGeom>
              <a:noFill/>
            </p:spPr>
            <p:txBody>
              <a:bodyPr wrap="square" rtlCol="0">
                <a:spAutoFit/>
              </a:bodyPr>
              <a:lstStyle/>
              <a:p>
                <a:r>
                  <a:rPr lang="en-GB" b="1"/>
                  <a:t>Cubics can sometimes be factorised by pairing the terms: </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r>
                      <a:rPr lang="en-GB" b="1" i="1" smtClean="0">
                        <a:latin typeface="Cambria Math" panose="02040503050406030204" pitchFamily="18" charset="0"/>
                      </a:rPr>
                      <m:t>𝟏</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r>
                          <a:rPr lang="en-GB" b="1" i="1" smtClean="0">
                            <a:latin typeface="Cambria Math" panose="02040503050406030204" pitchFamily="18" charset="0"/>
                          </a:rPr>
                          <m:t>−</m:t>
                        </m:r>
                        <m:r>
                          <a:rPr lang="en-GB" b="1" i="1" smtClean="0">
                            <a:latin typeface="Cambria Math" panose="02040503050406030204" pitchFamily="18" charset="0"/>
                          </a:rPr>
                          <m:t>𝟏</m:t>
                        </m:r>
                      </m:e>
                    </m:d>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e>
                      <m:sup>
                        <m:r>
                          <a:rPr lang="en-GB" b="1" i="1" smtClean="0">
                            <a:latin typeface="Cambria Math" panose="02040503050406030204" pitchFamily="18" charset="0"/>
                          </a:rPr>
                          <m:t>𝟐</m:t>
                        </m:r>
                      </m:sup>
                    </m:sSup>
                  </m:oMath>
                </a14:m>
                <a:r>
                  <a:rPr lang="en-GB" b="1"/>
                  <a:t>   </a:t>
                </a:r>
                <a14:m>
                  <m:oMath xmlns:m="http://schemas.openxmlformats.org/officeDocument/2006/math">
                    <m:r>
                      <a:rPr lang="en-GB" b="1" i="1" dirty="0" smtClean="0">
                        <a:latin typeface="Cambria Math" panose="02040503050406030204" pitchFamily="18" charset="0"/>
                      </a:rPr>
                      <m:t>∴</m:t>
                    </m:r>
                  </m:oMath>
                </a14:m>
                <a:r>
                  <a:rPr lang="en-GB" b="1"/>
                  <a:t> (c)</a:t>
                </a:r>
              </a:p>
            </p:txBody>
          </p:sp>
        </mc:Choice>
        <mc:Fallback>
          <p:sp>
            <p:nvSpPr>
              <p:cNvPr id="27" name="TextBox 26"/>
              <p:cNvSpPr txBox="1">
                <a:spLocks noRot="1" noChangeAspect="1" noMove="1" noResize="1" noEditPoints="1" noAdjustHandles="1" noChangeArrowheads="1" noChangeShapeType="1" noTextEdit="1"/>
              </p:cNvSpPr>
              <p:nvPr/>
            </p:nvSpPr>
            <p:spPr>
              <a:xfrm>
                <a:off x="4407966" y="4869161"/>
                <a:ext cx="4570812" cy="965201"/>
              </a:xfrm>
              <a:prstGeom prst="rect">
                <a:avLst/>
              </a:prstGeom>
              <a:blipFill>
                <a:blip r:embed="rId6"/>
                <a:stretch>
                  <a:fillRect l="-1108" t="-2597" r="-1385" b="-7792"/>
                </a:stretch>
              </a:blipFill>
            </p:spPr>
            <p:txBody>
              <a:bodyPr/>
              <a:lstStyle/>
              <a:p>
                <a:r>
                  <a:rPr lang="en-US">
                    <a:noFill/>
                  </a:rPr>
                  <a:t> </a:t>
                </a:r>
              </a:p>
            </p:txBody>
          </p:sp>
        </mc:Fallback>
      </mc:AlternateContent>
      <p:sp>
        <p:nvSpPr>
          <p:cNvPr id="16" name="Rectangle 15"/>
          <p:cNvSpPr/>
          <p:nvPr/>
        </p:nvSpPr>
        <p:spPr>
          <a:xfrm>
            <a:off x="4499992" y="4869160"/>
            <a:ext cx="4478785" cy="96520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8" name="Rectangle 27"/>
          <p:cNvSpPr/>
          <p:nvPr/>
        </p:nvSpPr>
        <p:spPr>
          <a:xfrm>
            <a:off x="594245" y="5463990"/>
            <a:ext cx="2264846" cy="43027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1636371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16" grpId="0" animBg="1"/>
      <p:bldP spid="28" grpId="0" animBg="1"/>
    </p:bldLst>
  </p:timing>
</p:sld>
</file>

<file path=ppt/c4/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Recap</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49412" y="1057353"/>
                <a:ext cx="7878464" cy="3785652"/>
              </a:xfrm>
              <a:prstGeom prst="rect">
                <a:avLst/>
              </a:prstGeom>
              <a:noFill/>
            </p:spPr>
            <p:txBody>
              <a:bodyPr wrap="square" rtlCol="0">
                <a:spAutoFit/>
              </a:bodyPr>
              <a:lstStyle/>
              <a:p>
                <a:r>
                  <a:rPr lang="en-GB" sz="2400"/>
                  <a:t>If we sketched </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𝑎</m:t>
                        </m:r>
                      </m:e>
                    </m:d>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𝑏</m:t>
                            </m:r>
                          </m:e>
                        </m:d>
                      </m:e>
                      <m:sup>
                        <m:r>
                          <a:rPr lang="en-GB" sz="2400" b="0" i="1" smtClean="0">
                            <a:latin typeface="Cambria Math" panose="02040503050406030204" pitchFamily="18" charset="0"/>
                          </a:rPr>
                          <m:t>2</m:t>
                        </m:r>
                      </m:sup>
                    </m:sSup>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𝑐</m:t>
                            </m:r>
                          </m:e>
                        </m:d>
                      </m:e>
                      <m:sup>
                        <m:r>
                          <a:rPr lang="en-GB" sz="2400" b="0" i="1" smtClean="0">
                            <a:latin typeface="Cambria Math" panose="02040503050406030204" pitchFamily="18" charset="0"/>
                          </a:rPr>
                          <m:t>3</m:t>
                        </m:r>
                      </m:sup>
                    </m:sSup>
                  </m:oMath>
                </a14:m>
                <a:r>
                  <a:rPr lang="en-GB" sz="2400"/>
                  <a:t> what happens on the </a:t>
                </a:r>
                <a14:m>
                  <m:oMath xmlns:m="http://schemas.openxmlformats.org/officeDocument/2006/math">
                    <m:r>
                      <a:rPr lang="en-GB" sz="2400" b="0" i="1" smtClean="0">
                        <a:latin typeface="Cambria Math" panose="02040503050406030204" pitchFamily="18" charset="0"/>
                      </a:rPr>
                      <m:t>𝑥</m:t>
                    </m:r>
                  </m:oMath>
                </a14:m>
                <a:r>
                  <a:rPr lang="en-GB" sz="2400"/>
                  <a:t>-axis at:</a:t>
                </a:r>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𝑎</m:t>
                    </m:r>
                  </m:oMath>
                </a14:m>
                <a:r>
                  <a:rPr lang="en-GB" sz="2400"/>
                  <a:t>:     The line </a:t>
                </a:r>
                <a:r>
                  <a:rPr lang="en-GB" sz="2400" b="1"/>
                  <a:t>crosses</a:t>
                </a:r>
                <a:r>
                  <a:rPr lang="en-GB" sz="2400"/>
                  <a:t> the axis.</a:t>
                </a:r>
              </a:p>
              <a:p>
                <a:endParaRPr lang="en-GB" sz="2400"/>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𝑏</m:t>
                    </m:r>
                  </m:oMath>
                </a14:m>
                <a:r>
                  <a:rPr lang="en-GB" sz="2400"/>
                  <a:t>:	    The line </a:t>
                </a:r>
                <a:r>
                  <a:rPr lang="en-GB" sz="2400" b="1"/>
                  <a:t>touches</a:t>
                </a:r>
                <a:r>
                  <a:rPr lang="en-GB" sz="2400"/>
                  <a:t> the axis.</a:t>
                </a:r>
              </a:p>
              <a:p>
                <a:endParaRPr lang="en-GB" sz="2400"/>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𝑐</m:t>
                    </m:r>
                  </m:oMath>
                </a14:m>
                <a:r>
                  <a:rPr lang="en-GB" sz="2400"/>
                  <a:t>:      </a:t>
                </a:r>
                <a:r>
                  <a:rPr lang="en-GB" sz="2400" b="1"/>
                  <a:t>Point of inflection </a:t>
                </a:r>
                <a:r>
                  <a:rPr lang="en-GB" sz="2400"/>
                  <a:t>on the axis.</a:t>
                </a:r>
              </a:p>
            </p:txBody>
          </p:sp>
        </mc:Choice>
        <mc:Fallback>
          <p:sp>
            <p:nvSpPr>
              <p:cNvPr id="5" name="TextBox 4"/>
              <p:cNvSpPr txBox="1">
                <a:spLocks noRot="1" noChangeAspect="1" noMove="1" noResize="1" noEditPoints="1" noAdjustHandles="1" noChangeArrowheads="1" noChangeShapeType="1" noTextEdit="1"/>
              </p:cNvSpPr>
              <p:nvPr/>
            </p:nvSpPr>
            <p:spPr>
              <a:xfrm>
                <a:off x="249412" y="1057353"/>
                <a:ext cx="7878464" cy="3785652"/>
              </a:xfrm>
              <a:prstGeom prst="rect">
                <a:avLst/>
              </a:prstGeom>
              <a:blipFill>
                <a:blip r:embed="rId2"/>
                <a:stretch>
                  <a:fillRect l="-1127" t="-1003" b="-2676"/>
                </a:stretch>
              </a:blipFill>
            </p:spPr>
            <p:txBody>
              <a:bodyPr/>
              <a:lstStyle/>
              <a:p>
                <a:r>
                  <a:rPr lang="en-US">
                    <a:noFill/>
                  </a:rPr>
                  <a:t> </a:t>
                </a:r>
              </a:p>
            </p:txBody>
          </p:sp>
        </mc:Fallback>
      </mc:AlternateContent>
      <p:cxnSp>
        <p:nvCxnSpPr>
          <p:cNvPr id="7" name="Straight Arrow Connector 6"/>
          <p:cNvCxnSpPr/>
          <p:nvPr/>
        </p:nvCxnSpPr>
        <p:spPr>
          <a:xfrm>
            <a:off x="5508104" y="2420888"/>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7143204" y="2204864"/>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7143204" y="2204864"/>
                <a:ext cx="50405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6073626" y="2363634"/>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𝑎</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6073626" y="2363634"/>
                <a:ext cx="504056" cy="369332"/>
              </a:xfrm>
              <a:prstGeom prst="rect">
                <a:avLst/>
              </a:prstGeom>
              <a:blipFill>
                <a:blip r:embed="rId4"/>
                <a:stretch>
                  <a:fillRect/>
                </a:stretch>
              </a:blipFill>
            </p:spPr>
            <p:txBody>
              <a:bodyPr/>
              <a:lstStyle/>
              <a:p>
                <a:r>
                  <a:rPr lang="en-US">
                    <a:noFill/>
                  </a:rPr>
                  <a:t> </a:t>
                </a:r>
              </a:p>
            </p:txBody>
          </p:sp>
        </mc:Fallback>
      </mc:AlternateContent>
      <p:sp>
        <p:nvSpPr>
          <p:cNvPr id="10" name="Freeform: Shape 9"/>
          <p:cNvSpPr/>
          <p:nvPr/>
        </p:nvSpPr>
        <p:spPr>
          <a:xfrm>
            <a:off x="5867400" y="1803400"/>
            <a:ext cx="927100" cy="977900"/>
          </a:xfrm>
          <a:custGeom>
            <a:avLst/>
            <a:gdLst>
              <a:gd name="connsiteX0" fmla="*/ 0 w 927100"/>
              <a:gd name="connsiteY0" fmla="*/ 0 h 977900"/>
              <a:gd name="connsiteX1" fmla="*/ 469900 w 927100"/>
              <a:gd name="connsiteY1" fmla="*/ 635000 h 977900"/>
              <a:gd name="connsiteX2" fmla="*/ 927100 w 927100"/>
              <a:gd name="connsiteY2" fmla="*/ 977900 h 977900"/>
            </a:gdLst>
            <a:ahLst/>
            <a:cxnLst>
              <a:cxn ang="0">
                <a:pos x="connsiteX0" y="connsiteY0"/>
              </a:cxn>
              <a:cxn ang="0">
                <a:pos x="connsiteX1" y="connsiteY1"/>
              </a:cxn>
              <a:cxn ang="0">
                <a:pos x="connsiteX2" y="connsiteY2"/>
              </a:cxn>
            </a:cxnLst>
            <a:rect l="l" t="t" r="r" b="b"/>
            <a:pathLst>
              <a:path w="927100" h="977900">
                <a:moveTo>
                  <a:pt x="0" y="0"/>
                </a:moveTo>
                <a:cubicBezTo>
                  <a:pt x="157691" y="236008"/>
                  <a:pt x="315383" y="472017"/>
                  <a:pt x="469900" y="635000"/>
                </a:cubicBezTo>
                <a:cubicBezTo>
                  <a:pt x="624417" y="797983"/>
                  <a:pt x="775758" y="887941"/>
                  <a:pt x="927100" y="9779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Arrow Connector 10"/>
          <p:cNvCxnSpPr/>
          <p:nvPr/>
        </p:nvCxnSpPr>
        <p:spPr>
          <a:xfrm>
            <a:off x="5488260" y="3504209"/>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2" name="TextBox 11"/>
              <p:cNvSpPr txBox="1"/>
              <p:nvPr/>
            </p:nvSpPr>
            <p:spPr>
              <a:xfrm>
                <a:off x="7123360" y="3288185"/>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7123360" y="3288185"/>
                <a:ext cx="50405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053782" y="3446955"/>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𝑏</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6053782" y="3446955"/>
                <a:ext cx="504056" cy="369332"/>
              </a:xfrm>
              <a:prstGeom prst="rect">
                <a:avLst/>
              </a:prstGeom>
              <a:blipFill>
                <a:blip r:embed="rId6"/>
                <a:stretch>
                  <a:fillRect/>
                </a:stretch>
              </a:blipFill>
            </p:spPr>
            <p:txBody>
              <a:bodyPr/>
              <a:lstStyle/>
              <a:p>
                <a:r>
                  <a:rPr lang="en-US">
                    <a:noFill/>
                  </a:rPr>
                  <a:t> </a:t>
                </a:r>
              </a:p>
            </p:txBody>
          </p:sp>
        </mc:Fallback>
      </mc:AlternateContent>
      <p:cxnSp>
        <p:nvCxnSpPr>
          <p:cNvPr id="15" name="Straight Arrow Connector 14"/>
          <p:cNvCxnSpPr/>
          <p:nvPr/>
        </p:nvCxnSpPr>
        <p:spPr>
          <a:xfrm>
            <a:off x="5508104" y="4709842"/>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TextBox 15"/>
              <p:cNvSpPr txBox="1"/>
              <p:nvPr/>
            </p:nvSpPr>
            <p:spPr>
              <a:xfrm>
                <a:off x="7143204" y="4493818"/>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7143204" y="4493818"/>
                <a:ext cx="50405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6073626" y="4652588"/>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𝑐</m:t>
                      </m:r>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6073626" y="4652588"/>
                <a:ext cx="504056" cy="369332"/>
              </a:xfrm>
              <a:prstGeom prst="rect">
                <a:avLst/>
              </a:prstGeom>
              <a:blipFill>
                <a:blip r:embed="rId8"/>
                <a:stretch>
                  <a:fillRect/>
                </a:stretch>
              </a:blipFill>
            </p:spPr>
            <p:txBody>
              <a:bodyPr/>
              <a:lstStyle/>
              <a:p>
                <a:r>
                  <a:rPr lang="en-US">
                    <a:noFill/>
                  </a:rPr>
                  <a:t> </a:t>
                </a:r>
              </a:p>
            </p:txBody>
          </p:sp>
        </mc:Fallback>
      </mc:AlternateContent>
      <p:sp>
        <p:nvSpPr>
          <p:cNvPr id="19" name="Freeform: Shape 18"/>
          <p:cNvSpPr/>
          <p:nvPr/>
        </p:nvSpPr>
        <p:spPr>
          <a:xfrm>
            <a:off x="5867400" y="3009900"/>
            <a:ext cx="812800" cy="495530"/>
          </a:xfrm>
          <a:custGeom>
            <a:avLst/>
            <a:gdLst>
              <a:gd name="connsiteX0" fmla="*/ 0 w 812800"/>
              <a:gd name="connsiteY0" fmla="*/ 0 h 495530"/>
              <a:gd name="connsiteX1" fmla="*/ 444500 w 812800"/>
              <a:gd name="connsiteY1" fmla="*/ 495300 h 495530"/>
              <a:gd name="connsiteX2" fmla="*/ 812800 w 812800"/>
              <a:gd name="connsiteY2" fmla="*/ 50800 h 495530"/>
            </a:gdLst>
            <a:ahLst/>
            <a:cxnLst>
              <a:cxn ang="0">
                <a:pos x="connsiteX0" y="connsiteY0"/>
              </a:cxn>
              <a:cxn ang="0">
                <a:pos x="connsiteX1" y="connsiteY1"/>
              </a:cxn>
              <a:cxn ang="0">
                <a:pos x="connsiteX2" y="connsiteY2"/>
              </a:cxn>
            </a:cxnLst>
            <a:rect l="l" t="t" r="r" b="b"/>
            <a:pathLst>
              <a:path w="812800" h="495530">
                <a:moveTo>
                  <a:pt x="0" y="0"/>
                </a:moveTo>
                <a:cubicBezTo>
                  <a:pt x="154516" y="243416"/>
                  <a:pt x="309033" y="486833"/>
                  <a:pt x="444500" y="495300"/>
                </a:cubicBezTo>
                <a:cubicBezTo>
                  <a:pt x="579967" y="503767"/>
                  <a:pt x="696383" y="277283"/>
                  <a:pt x="812800" y="508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p:cNvSpPr/>
          <p:nvPr/>
        </p:nvSpPr>
        <p:spPr>
          <a:xfrm>
            <a:off x="5854700" y="4241800"/>
            <a:ext cx="990600" cy="901700"/>
          </a:xfrm>
          <a:custGeom>
            <a:avLst/>
            <a:gdLst>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Lst>
            <a:ahLst/>
            <a:cxnLst>
              <a:cxn ang="0">
                <a:pos x="connsiteX0" y="connsiteY0"/>
              </a:cxn>
              <a:cxn ang="0">
                <a:pos x="connsiteX1" y="connsiteY1"/>
              </a:cxn>
              <a:cxn ang="0">
                <a:pos x="connsiteX2" y="connsiteY2"/>
              </a:cxn>
            </a:cxnLst>
            <a:rect l="l" t="t" r="r" b="b"/>
            <a:pathLst>
              <a:path w="990600" h="901700">
                <a:moveTo>
                  <a:pt x="0" y="901700"/>
                </a:moveTo>
                <a:cubicBezTo>
                  <a:pt x="71967" y="732367"/>
                  <a:pt x="63500" y="480483"/>
                  <a:pt x="482600" y="469900"/>
                </a:cubicBezTo>
                <a:cubicBezTo>
                  <a:pt x="901700" y="459317"/>
                  <a:pt x="908050" y="159808"/>
                  <a:pt x="99060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1514640" y="1877721"/>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2" name="Rectangle 21"/>
          <p:cNvSpPr/>
          <p:nvPr/>
        </p:nvSpPr>
        <p:spPr>
          <a:xfrm>
            <a:off x="1514640" y="2968806"/>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3" name="Rectangle 22"/>
          <p:cNvSpPr/>
          <p:nvPr/>
        </p:nvSpPr>
        <p:spPr>
          <a:xfrm>
            <a:off x="1514639" y="4059891"/>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195879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4" restart="whenNotActive" fill="hold" evtFilter="cancelBubble" nodeType="interactiveSeq">
                <p:stCondLst>
                  <p:cond evt="onClick" delay="0">
                    <p:tgtEl>
                      <p:spTgt spid="2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3"/>
                                        </p:tgtEl>
                                      </p:cBhvr>
                                    </p:animEffect>
                                    <p:set>
                                      <p:cBhvr>
                                        <p:cTn id="19"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1" grpId="0" animBg="1"/>
      <p:bldP spid="22" grpId="0" animBg="1"/>
      <p:bldP spid="23" grpId="0" animBg="1"/>
    </p:bldLst>
  </p:timing>
</p:sld>
</file>

<file path=ppt/c4/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c4/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