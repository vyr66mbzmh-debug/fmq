
<file path=[Content_Types].xml><?xml version="1.0" encoding="utf-8"?>
<ns0:Types xmlns:ns0="http://schemas.openxmlformats.org/package/2006/content-types">
  <ns0:Default Extension="png" ContentType="image/png"/>
  <ns0:Default Extension="rels" ContentType="application/vnd.openxmlformats-package.relationships+xml"/>
  <ns0:Default Extension="xml" ContentType="application/xml"/>
  <ns0:Override PartName="/ppt/c5/ppt/slideMasters/slideMaster1.xml" ContentType="application/vnd.openxmlformats-officedocument.presentationml.slideMaster+xml"/>
  <ns0:Override PartName="/ppt/c5/ppt/slides/slide43.xml" ContentType="application/vnd.openxmlformats-officedocument.presentationml.slide+xml"/>
  <ns0:Override PartName="/ppt/c5/ppt/slides/slide44.xml" ContentType="application/vnd.openxmlformats-officedocument.presentationml.slide+xml"/>
  <ns0:Override PartName="/ppt/c5/ppt/slides/slide45.xml" ContentType="application/vnd.openxmlformats-officedocument.presentationml.slide+xml"/>
  <ns0:Override PartName="/ppt/c5/ppt/slides/slide46.xml" ContentType="application/vnd.openxmlformats-officedocument.presentationml.slide+xml"/>
  <ns0:Override PartName="/ppt/c5/ppt/slides/slide47.xml" ContentType="application/vnd.openxmlformats-officedocument.presentationml.slide+xml"/>
  <ns0:Override PartName="/ppt/c5/ppt/slides/slide48.xml" ContentType="application/vnd.openxmlformats-officedocument.presentationml.slide+xml"/>
  <ns0:Override PartName="/ppt/c5/ppt/slides/slide49.xml" ContentType="application/vnd.openxmlformats-officedocument.presentationml.slide+xml"/>
  <ns0:Override PartName="/ppt/c5/ppt/notesMasters/notesMaster1.xml" ContentType="application/vnd.openxmlformats-officedocument.presentationml.notesMaster+xml"/>
  <ns0:Override PartName="/ppt/c5/ppt/theme/theme1.xml" ContentType="application/vnd.openxmlformats-officedocument.theme+xml"/>
  <ns0:Override PartName="/ppt/c5/ppt/slideLayouts/slideLayout1.xml" ContentType="application/vnd.openxmlformats-officedocument.presentationml.slideLayout+xml"/>
  <ns0:Override PartName="/ppt/c5/ppt/slideLayouts/slideLayout2.xml" ContentType="application/vnd.openxmlformats-officedocument.presentationml.slideLayout+xml"/>
  <ns0:Override PartName="/ppt/c5/ppt/slideLayouts/slideLayout3.xml" ContentType="application/vnd.openxmlformats-officedocument.presentationml.slideLayout+xml"/>
  <ns0:Override PartName="/ppt/c5/ppt/slideLayouts/slideLayout4.xml" ContentType="application/vnd.openxmlformats-officedocument.presentationml.slideLayout+xml"/>
  <ns0:Override PartName="/ppt/c5/ppt/theme/theme2.xml" ContentType="application/vnd.openxmlformats-officedocument.theme+xml"/>
  <ns0:Override PartName="/ppt/presentation.xml" ContentType="application/vnd.openxmlformats-officedocument.presentationml.presentation.main+xml"/>
</ns0:Types>
</file>

<file path=_rels/.rels><?xml version='1.0' encoding='utf-8'?>
<ns0:Relationships xmlns:ns0="http://schemas.openxmlformats.org/package/2006/relationships"><ns0:Relationship Id="rId1" Type="http://schemas.openxmlformats.org/officeDocument/2006/relationships/officeDocument" Target="ppt/presentation.xml" /></ns0:Relationships>
</file>

<file path=ppt/presentation.xml><?xml version="1.0" encoding="utf-8"?>
<p:presentation xmlns:p="http://schemas.openxmlformats.org/presentationml/2006/main" xmlns:r="http://schemas.openxmlformats.org/officeDocument/2006/relationships" saveSubsetFonts="1">
  <p:sldMasterIdLst>
    <p:sldMasterId id="2147484148" r:id="rId8"/>
  </p:sldMasterIdLst>
  <p:notesMasterIdLst>
    <p:notesMasterId r:id="rId9"/>
  </p:notesMasterIdLst>
  <p:sldIdLst>
    <p:sldId id="256" r:id="rId1"/>
    <p:sldId id="257" r:id="rId2"/>
    <p:sldId id="258" r:id="rId3"/>
    <p:sldId id="259" r:id="rId4"/>
    <p:sldId id="260" r:id="rId5"/>
    <p:sldId id="261" r:id="rId6"/>
    <p:sldId id="262" r:id="rId7"/>
  </p:sldIdLst>
  <p:sldSz cx="9144000" cy="6858000" type="screen4x3"/>
  <p:notesSz cx="6858000" cy="9144000"/>
</p:presentation>
</file>

<file path=ppt/_rels/presentation.xml.rels><?xml version='1.0' encoding='utf-8'?>
<ns0:Relationships xmlns:ns0="http://schemas.openxmlformats.org/package/2006/relationships"><ns0:Relationship Id="rId1" Type="http://schemas.openxmlformats.org/officeDocument/2006/relationships/slide" Target="c5/ppt/slides/slide43.xml" /><ns0:Relationship Id="rId2" Type="http://schemas.openxmlformats.org/officeDocument/2006/relationships/slide" Target="c5/ppt/slides/slide44.xml" /><ns0:Relationship Id="rId3" Type="http://schemas.openxmlformats.org/officeDocument/2006/relationships/slide" Target="c5/ppt/slides/slide45.xml" /><ns0:Relationship Id="rId4" Type="http://schemas.openxmlformats.org/officeDocument/2006/relationships/slide" Target="c5/ppt/slides/slide46.xml" /><ns0:Relationship Id="rId5" Type="http://schemas.openxmlformats.org/officeDocument/2006/relationships/slide" Target="c5/ppt/slides/slide47.xml" /><ns0:Relationship Id="rId6" Type="http://schemas.openxmlformats.org/officeDocument/2006/relationships/slide" Target="c5/ppt/slides/slide48.xml" /><ns0:Relationship Id="rId7" Type="http://schemas.openxmlformats.org/officeDocument/2006/relationships/slide" Target="c5/ppt/slides/slide49.xml" /><ns0:Relationship Id="rId8" Type="http://schemas.openxmlformats.org/officeDocument/2006/relationships/slideMaster" Target="c5/ppt/slideMasters/slideMaster1.xml" /><ns0:Relationship Id="rId9" Type="http://schemas.openxmlformats.org/officeDocument/2006/relationships/notesMaster" Target="c5/ppt/notesMasters/notesMaster1.xml" /></ns0:Relationships>
</file>

<file path=ppt/c5/ppt/notesMasters/_rels/notesMaster1.xml.rels><?xml version='1.0' encoding='utf-8'?>
<ns0:Relationships xmlns:ns0="http://schemas.openxmlformats.org/package/2006/relationships"><ns0:Relationship Id="rId1" Type="http://schemas.openxmlformats.org/officeDocument/2006/relationships/theme" Target="../theme/theme2.xml" /></ns0:Relationships>
</file>

<file path=ppt/c5/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4E87F4A-DD11-41AF-8B76-F2E5B6202836}" type="datetimeFigureOut">
              <a:rPr lang="en-GB" smtClean="0"/>
              <a:pPr/>
              <a:t>16/04/2026</a:t>
            </a:fld>
            <a:endParaRPr lang="en-GB"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2F2399-CD51-4C4C-BC34-03B9F40F9CF8}" type="slidenum">
              <a:rPr lang="en-GB" smtClean="0"/>
              <a:pPr/>
              <a:t>‹#›</a:t>
            </a:fld>
            <a:endParaRPr lang="en-GB" dirty="0"/>
          </a:p>
        </p:txBody>
      </p:sp>
    </p:spTree>
    <p:extLst>
      <p:ext uri="{BB962C8B-B14F-4D97-AF65-F5344CB8AC3E}">
        <p14:creationId xmlns:p14="http://schemas.microsoft.com/office/powerpoint/2010/main" val="54745071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c5/ppt/slideLayouts/_rels/slideLayout1.xml.rels><?xml version='1.0' encoding='utf-8'?>
<ns0:Relationships xmlns:ns0="http://schemas.openxmlformats.org/package/2006/relationships"><ns0:Relationship Id="rId1" Type="http://schemas.openxmlformats.org/officeDocument/2006/relationships/slideMaster" Target="../slideMasters/slideMaster1.xml" /></ns0:Relationships>
</file>

<file path=ppt/c5/ppt/slideLayouts/_rels/slideLayout2.xml.rels><?xml version='1.0' encoding='utf-8'?>
<ns0:Relationships xmlns:ns0="http://schemas.openxmlformats.org/package/2006/relationships"><ns0:Relationship Id="rId1" Type="http://schemas.openxmlformats.org/officeDocument/2006/relationships/slideMaster" Target="../slideMasters/slideMaster1.xml" /></ns0:Relationships>
</file>

<file path=ppt/c5/ppt/slideLayouts/_rels/slideLayout3.xml.rels><?xml version='1.0' encoding='utf-8'?>
<ns0:Relationships xmlns:ns0="http://schemas.openxmlformats.org/package/2006/relationships"><ns0:Relationship Id="rId1" Type="http://schemas.openxmlformats.org/officeDocument/2006/relationships/slideMaster" Target="../slideMasters/slideMaster1.xml" /></ns0:Relationships>
</file>

<file path=ppt/c5/ppt/slideLayouts/_rels/slideLayout4.xml.rels><?xml version='1.0' encoding='utf-8'?>
<ns0:Relationships xmlns:ns0="http://schemas.openxmlformats.org/package/2006/relationships"><ns0:Relationship Id="rId1" Type="http://schemas.openxmlformats.org/officeDocument/2006/relationships/slideMaster" Target="../slideMasters/slideMaster1.xml" /></ns0:Relationships>
</file>

<file path=ppt/c5/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0B9AFE4D-3339-4F90-AB07-DAB31D79E32A}" type="datetimeFigureOut">
              <a:rPr lang="en-GB" smtClean="0"/>
              <a:pPr/>
              <a:t>16/04/2026</a:t>
            </a:fld>
            <a:endParaRPr lang="en-GB" dirty="0"/>
          </a:p>
        </p:txBody>
      </p:sp>
      <p:sp>
        <p:nvSpPr>
          <p:cNvPr id="5" name="Footer Placeholder 4"/>
          <p:cNvSpPr>
            <a:spLocks noGrp="1"/>
          </p:cNvSpPr>
          <p:nvPr>
            <p:ph type="ftr" sz="quarter" idx="11"/>
          </p:nvPr>
        </p:nvSpPr>
        <p:spPr/>
        <p:txBody>
          <a:bodyPr/>
          <a:lstStyle/>
          <a:p>
            <a:endParaRPr lang="en-GB" dirty="0"/>
          </a:p>
        </p:txBody>
      </p:sp>
      <p:sp>
        <p:nvSpPr>
          <p:cNvPr id="6" name="Slide Number Placeholder 5"/>
          <p:cNvSpPr>
            <a:spLocks noGrp="1"/>
          </p:cNvSpPr>
          <p:nvPr>
            <p:ph type="sldNum" sz="quarter" idx="12"/>
          </p:nvPr>
        </p:nvSpPr>
        <p:spPr/>
        <p:txBody>
          <a:bodyPr/>
          <a:lstStyle/>
          <a:p>
            <a:fld id="{48177B05-5D28-4021-9BD2-A7A72850B659}" type="slidenum">
              <a:rPr lang="en-GB" smtClean="0"/>
              <a:pPr/>
              <a:t>‹#›</a:t>
            </a:fld>
            <a:endParaRPr lang="en-GB" dirty="0"/>
          </a:p>
        </p:txBody>
      </p:sp>
    </p:spTree>
    <p:extLst>
      <p:ext uri="{BB962C8B-B14F-4D97-AF65-F5344CB8AC3E}">
        <p14:creationId xmlns:p14="http://schemas.microsoft.com/office/powerpoint/2010/main" val="875171852"/>
      </p:ext>
    </p:extLst>
  </p:cSld>
  <p:clrMapOvr>
    <a:masterClrMapping/>
  </p:clrMapOvr>
</p:sldLayout>
</file>

<file path=ppt/c5/ppt/slideLayouts/slideLayout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9AFE4D-3339-4F90-AB07-DAB31D79E32A}" type="datetimeFigureOut">
              <a:rPr lang="en-GB" smtClean="0"/>
              <a:pPr/>
              <a:t>16/04/2026</a:t>
            </a:fld>
            <a:endParaRPr lang="en-GB" dirty="0"/>
          </a:p>
        </p:txBody>
      </p:sp>
      <p:sp>
        <p:nvSpPr>
          <p:cNvPr id="3" name="Footer Placeholder 2"/>
          <p:cNvSpPr>
            <a:spLocks noGrp="1"/>
          </p:cNvSpPr>
          <p:nvPr>
            <p:ph type="ftr" sz="quarter" idx="11"/>
          </p:nvPr>
        </p:nvSpPr>
        <p:spPr/>
        <p:txBody>
          <a:bodyPr/>
          <a:lstStyle/>
          <a:p>
            <a:endParaRPr lang="en-GB" dirty="0"/>
          </a:p>
        </p:txBody>
      </p:sp>
      <p:sp>
        <p:nvSpPr>
          <p:cNvPr id="4" name="Slide Number Placeholder 3"/>
          <p:cNvSpPr>
            <a:spLocks noGrp="1"/>
          </p:cNvSpPr>
          <p:nvPr>
            <p:ph type="sldNum" sz="quarter" idx="12"/>
          </p:nvPr>
        </p:nvSpPr>
        <p:spPr/>
        <p:txBody>
          <a:bodyPr/>
          <a:lstStyle/>
          <a:p>
            <a:fld id="{48177B05-5D28-4021-9BD2-A7A72850B659}" type="slidenum">
              <a:rPr lang="en-GB" smtClean="0"/>
              <a:pPr/>
              <a:t>‹#›</a:t>
            </a:fld>
            <a:endParaRPr lang="en-GB" dirty="0"/>
          </a:p>
        </p:txBody>
      </p:sp>
    </p:spTree>
    <p:extLst>
      <p:ext uri="{BB962C8B-B14F-4D97-AF65-F5344CB8AC3E}">
        <p14:creationId xmlns:p14="http://schemas.microsoft.com/office/powerpoint/2010/main" val="179336913"/>
      </p:ext>
    </p:extLst>
  </p:cSld>
  <p:clrMapOvr>
    <a:masterClrMapping/>
  </p:clrMapOvr>
</p:sldLayout>
</file>

<file path=ppt/c5/ppt/slideLayouts/slideLayout3.xml><?xml version="1.0" encoding="utf-8"?>
<p:sldLayout xmlns:a="http://schemas.openxmlformats.org/drawingml/2006/main" xmlns:r="http://schemas.openxmlformats.org/officeDocument/2006/relationships" xmlns:p="http://schemas.openxmlformats.org/presentationml/2006/main" userDrawn="1">
  <p:cSld name="1_Title Slide">
    <p:bg>
      <p:bgPr>
        <a:solidFill>
          <a:srgbClr val="23305E"/>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693988"/>
            <a:ext cx="7772400" cy="1470025"/>
          </a:xfrm>
        </p:spPr>
        <p:txBody>
          <a:bodyPr>
            <a:noAutofit/>
          </a:bodyPr>
          <a:lstStyle>
            <a:lvl1pPr>
              <a:defRPr sz="6000" b="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2915596292"/>
      </p:ext>
    </p:extLst>
  </p:cSld>
  <p:clrMapOvr>
    <a:masterClrMapping/>
  </p:clrMapOvr>
</p:sldLayout>
</file>

<file path=ppt/c5/ppt/slideLayouts/slideLayout4.xml><?xml version="1.0" encoding="utf-8"?>
<p:sldLayout xmlns:a="http://schemas.openxmlformats.org/drawingml/2006/main" xmlns:r="http://schemas.openxmlformats.org/officeDocument/2006/relationships" xmlns:p="http://schemas.openxmlformats.org/presentationml/2006/main"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1496"/>
            <a:ext cx="9144000" cy="691200"/>
          </a:xfrm>
          <a:solidFill>
            <a:srgbClr val="23305E"/>
          </a:solidFill>
        </p:spPr>
        <p:txBody>
          <a:bodyPr>
            <a:noAutofit/>
          </a:bodyPr>
          <a:lstStyle>
            <a:lvl1pPr>
              <a:defRPr sz="4000">
                <a:solidFill>
                  <a:schemeClr val="bg1"/>
                </a:solidFill>
              </a:defRPr>
            </a:lvl1pPr>
          </a:lstStyle>
          <a:p>
            <a:r>
              <a:rPr lang="en-US" dirty="0"/>
              <a:t>Click to edit Master title style</a:t>
            </a:r>
            <a:endParaRPr lang="en-GB" dirty="0"/>
          </a:p>
        </p:txBody>
      </p:sp>
    </p:spTree>
    <p:extLst>
      <p:ext uri="{BB962C8B-B14F-4D97-AF65-F5344CB8AC3E}">
        <p14:creationId xmlns:p14="http://schemas.microsoft.com/office/powerpoint/2010/main" val="1539460164"/>
      </p:ext>
    </p:extLst>
  </p:cSld>
  <p:clrMapOvr>
    <a:masterClrMapping/>
  </p:clrMapOvr>
</p:sldLayout>
</file>

<file path=ppt/c5/ppt/slideMasters/_rels/slideMaster1.xml.rels><?xml version='1.0' encoding='utf-8'?>
<ns0:Relationships xmlns:ns0="http://schemas.openxmlformats.org/package/2006/relationships"><ns0:Relationship Id="rId3" Type="http://schemas.openxmlformats.org/officeDocument/2006/relationships/slideLayout" Target="../slideLayouts/slideLayout3.xml" /><ns0:Relationship Id="rId2" Type="http://schemas.openxmlformats.org/officeDocument/2006/relationships/slideLayout" Target="../slideLayouts/slideLayout2.xml" /><ns0:Relationship Id="rId1" Type="http://schemas.openxmlformats.org/officeDocument/2006/relationships/slideLayout" Target="../slideLayouts/slideLayout1.xml" /><ns0:Relationship Id="rId5" Type="http://schemas.openxmlformats.org/officeDocument/2006/relationships/theme" Target="../theme/theme1.xml" /><ns0:Relationship Id="rId4" Type="http://schemas.openxmlformats.org/officeDocument/2006/relationships/slideLayout" Target="../slideLayouts/slideLayout4.xml" /></ns0:Relationships>
</file>

<file path=ppt/c5/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endParaRPr lang="en-GB"/>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B9AFE4D-3339-4F90-AB07-DAB31D79E32A}" type="datetimeFigureOut">
              <a:rPr lang="en-GB" smtClean="0"/>
              <a:pPr/>
              <a:t>16/04/2026</a:t>
            </a:fld>
            <a:endParaRPr lang="en-GB"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77B05-5D28-4021-9BD2-A7A72850B659}" type="slidenum">
              <a:rPr lang="en-GB" smtClean="0"/>
              <a:pPr/>
              <a:t>‹#›</a:t>
            </a:fld>
            <a:endParaRPr lang="en-GB" dirty="0"/>
          </a:p>
        </p:txBody>
      </p:sp>
    </p:spTree>
    <p:extLst>
      <p:ext uri="{BB962C8B-B14F-4D97-AF65-F5344CB8AC3E}">
        <p14:creationId xmlns:p14="http://schemas.microsoft.com/office/powerpoint/2010/main" val="3896745248"/>
      </p:ext>
    </p:extLst>
  </p:cSld>
  <p:clrMap bg1="lt1" tx1="dk1" bg2="lt2" tx2="dk2" accent1="accent1" accent2="accent2" accent3="accent3" accent4="accent4" accent5="accent5" accent6="accent6" hlink="hlink" folHlink="folHlink"/>
  <p:sldLayoutIdLst>
    <p:sldLayoutId id="2147500100" r:id="rId1"/>
    <p:sldLayoutId id="2147500101" r:id="rId2"/>
    <p:sldLayoutId id="2147500102" r:id="rId3"/>
    <p:sldLayoutId id="2147500103" r:id="rId4"/>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c5/ppt/slides/_rels/slide43.xml.rels><?xml version='1.0' encoding='utf-8'?>
<ns0:Relationships xmlns:ns0="http://schemas.openxmlformats.org/package/2006/relationships"><ns0:Relationship Id="rId3" Type="http://schemas.openxmlformats.org/officeDocument/2006/relationships/image" Target="../media/image167.png" /><ns0:Relationship Id="rId2" Type="http://schemas.openxmlformats.org/officeDocument/2006/relationships/image" Target="../media/image166.png" /><ns0:Relationship Id="rId1" Type="http://schemas.openxmlformats.org/officeDocument/2006/relationships/slideLayout" Target="../slideLayouts/slideLayout2.xml" /><ns0:Relationship Id="rId5" Type="http://schemas.openxmlformats.org/officeDocument/2006/relationships/image" Target="../media/image1060.png" /><ns0:Relationship Id="rId4" Type="http://schemas.openxmlformats.org/officeDocument/2006/relationships/image" Target="../media/image168.png" /></ns0:Relationships>
</file>

<file path=ppt/c5/ppt/slides/_rels/slide44.xml.rels><?xml version='1.0' encoding='utf-8'?>
<ns0:Relationships xmlns:ns0="http://schemas.openxmlformats.org/package/2006/relationships"><ns0:Relationship Id="rId3" Type="http://schemas.openxmlformats.org/officeDocument/2006/relationships/image" Target="../media/image1190.png" /><ns0:Relationship Id="rId2" Type="http://schemas.openxmlformats.org/officeDocument/2006/relationships/image" Target="../media/image1110.png" /><ns0:Relationship Id="rId1" Type="http://schemas.openxmlformats.org/officeDocument/2006/relationships/slideLayout" Target="../slideLayouts/slideLayout2.xml" /><ns0:Relationship Id="rId6" Type="http://schemas.openxmlformats.org/officeDocument/2006/relationships/image" Target="../media/image1290.png" /><ns0:Relationship Id="rId5" Type="http://schemas.openxmlformats.org/officeDocument/2006/relationships/image" Target="../media/image1280.png" /><ns0:Relationship Id="rId4" Type="http://schemas.openxmlformats.org/officeDocument/2006/relationships/image" Target="../media/image1270.png" /></ns0:Relationships>
</file>

<file path=ppt/c5/ppt/slides/_rels/slide45.xml.rels><?xml version='1.0' encoding='utf-8'?>
<ns0:Relationships xmlns:ns0="http://schemas.openxmlformats.org/package/2006/relationships"><ns0:Relationship Id="rId3" Type="http://schemas.openxmlformats.org/officeDocument/2006/relationships/image" Target="../media/image1311.png" /><ns0:Relationship Id="rId2" Type="http://schemas.openxmlformats.org/officeDocument/2006/relationships/image" Target="../media/image1300.png" /><ns0:Relationship Id="rId1" Type="http://schemas.openxmlformats.org/officeDocument/2006/relationships/slideLayout" Target="../slideLayouts/slideLayout2.xml" /><ns0:Relationship Id="rId5" Type="http://schemas.openxmlformats.org/officeDocument/2006/relationships/image" Target="../media/image170.png" /><ns0:Relationship Id="rId4" Type="http://schemas.openxmlformats.org/officeDocument/2006/relationships/image" Target="../media/image1320.png" /></ns0:Relationships>
</file>

<file path=ppt/c5/ppt/slides/_rels/slide46.xml.rels><?xml version='1.0' encoding='utf-8'?>
<ns0:Relationships xmlns:ns0="http://schemas.openxmlformats.org/package/2006/relationships"><ns0:Relationship Id="rId3" Type="http://schemas.openxmlformats.org/officeDocument/2006/relationships/image" Target="../media/image1350.png" /><ns0:Relationship Id="rId2" Type="http://schemas.openxmlformats.org/officeDocument/2006/relationships/image" Target="../media/image1340.png" /><ns0:Relationship Id="rId1" Type="http://schemas.openxmlformats.org/officeDocument/2006/relationships/slideLayout" Target="../slideLayouts/slideLayout2.xml" /><ns0:Relationship Id="rId4" Type="http://schemas.openxmlformats.org/officeDocument/2006/relationships/image" Target="../media/image1360.png" /></ns0:Relationships>
</file>

<file path=ppt/c5/ppt/slides/_rels/slide47.xml.rels><?xml version='1.0' encoding='utf-8'?>
<ns0:Relationships xmlns:ns0="http://schemas.openxmlformats.org/package/2006/relationships"><ns0:Relationship Id="rId8" Type="http://schemas.openxmlformats.org/officeDocument/2006/relationships/image" Target="../media/image176.png" /><ns0:Relationship Id="rId3" Type="http://schemas.openxmlformats.org/officeDocument/2006/relationships/image" Target="../media/image171.png" /><ns0:Relationship Id="rId7" Type="http://schemas.openxmlformats.org/officeDocument/2006/relationships/image" Target="../media/image175.png" /><ns0:Relationship Id="rId2" Type="http://schemas.openxmlformats.org/officeDocument/2006/relationships/image" Target="../media/image169.png" /><ns0:Relationship Id="rId1" Type="http://schemas.openxmlformats.org/officeDocument/2006/relationships/slideLayout" Target="../slideLayouts/slideLayout2.xml" /><ns0:Relationship Id="rId6" Type="http://schemas.openxmlformats.org/officeDocument/2006/relationships/image" Target="../media/image174.png" /><ns0:Relationship Id="rId5" Type="http://schemas.openxmlformats.org/officeDocument/2006/relationships/image" Target="../media/image173.png" /><ns0:Relationship Id="rId10" Type="http://schemas.openxmlformats.org/officeDocument/2006/relationships/image" Target="../media/image178.png" /><ns0:Relationship Id="rId4" Type="http://schemas.openxmlformats.org/officeDocument/2006/relationships/image" Target="../media/image172.png" /><ns0:Relationship Id="rId9" Type="http://schemas.openxmlformats.org/officeDocument/2006/relationships/image" Target="../media/image177.png" /></ns0:Relationships>
</file>

<file path=ppt/c5/ppt/slides/_rels/slide48.xml.rels><?xml version='1.0' encoding='utf-8'?>
<ns0:Relationships xmlns:ns0="http://schemas.openxmlformats.org/package/2006/relationships"><ns0:Relationship Id="rId8" Type="http://schemas.openxmlformats.org/officeDocument/2006/relationships/image" Target="../media/image185.png" /><ns0:Relationship Id="rId3" Type="http://schemas.openxmlformats.org/officeDocument/2006/relationships/image" Target="../media/image180.png" /><ns0:Relationship Id="rId7" Type="http://schemas.openxmlformats.org/officeDocument/2006/relationships/image" Target="../media/image184.png" /><ns0:Relationship Id="rId2" Type="http://schemas.openxmlformats.org/officeDocument/2006/relationships/image" Target="../media/image179.png" /><ns0:Relationship Id="rId1" Type="http://schemas.openxmlformats.org/officeDocument/2006/relationships/slideLayout" Target="../slideLayouts/slideLayout2.xml" /><ns0:Relationship Id="rId6" Type="http://schemas.openxmlformats.org/officeDocument/2006/relationships/image" Target="../media/image183.png" /><ns0:Relationship Id="rId5" Type="http://schemas.openxmlformats.org/officeDocument/2006/relationships/image" Target="../media/image182.png" /><ns0:Relationship Id="rId4" Type="http://schemas.openxmlformats.org/officeDocument/2006/relationships/image" Target="../media/image181.png" /></ns0:Relationships>
</file>

<file path=ppt/c5/ppt/slides/_rels/slide49.xml.rels><?xml version='1.0' encoding='utf-8'?>
<ns0:Relationships xmlns:ns0="http://schemas.openxmlformats.org/package/2006/relationships"><ns0:Relationship Id="rId8" Type="http://schemas.openxmlformats.org/officeDocument/2006/relationships/image" Target="../media/image192.png" /><ns0:Relationship Id="rId13" Type="http://schemas.openxmlformats.org/officeDocument/2006/relationships/image" Target="../media/image197.png" /><ns0:Relationship Id="rId3" Type="http://schemas.openxmlformats.org/officeDocument/2006/relationships/image" Target="../media/image187.png" /><ns0:Relationship Id="rId7" Type="http://schemas.openxmlformats.org/officeDocument/2006/relationships/image" Target="../media/image191.png" /><ns0:Relationship Id="rId12" Type="http://schemas.openxmlformats.org/officeDocument/2006/relationships/image" Target="../media/image196.png" /><ns0:Relationship Id="rId2" Type="http://schemas.openxmlformats.org/officeDocument/2006/relationships/image" Target="../media/image186.png" /><ns0:Relationship Id="rId1" Type="http://schemas.openxmlformats.org/officeDocument/2006/relationships/slideLayout" Target="../slideLayouts/slideLayout2.xml" /><ns0:Relationship Id="rId6" Type="http://schemas.openxmlformats.org/officeDocument/2006/relationships/image" Target="../media/image190.png" /><ns0:Relationship Id="rId11" Type="http://schemas.openxmlformats.org/officeDocument/2006/relationships/image" Target="../media/image195.png" /><ns0:Relationship Id="rId5" Type="http://schemas.openxmlformats.org/officeDocument/2006/relationships/image" Target="../media/image189.png" /><ns0:Relationship Id="rId10" Type="http://schemas.openxmlformats.org/officeDocument/2006/relationships/image" Target="../media/image194.png" /><ns0:Relationship Id="rId4" Type="http://schemas.openxmlformats.org/officeDocument/2006/relationships/image" Target="../media/image188.png" /><ns0:Relationship Id="rId9" Type="http://schemas.openxmlformats.org/officeDocument/2006/relationships/image" Target="../media/image193.png" /><ns0:Relationship Id="rId14" Type="http://schemas.openxmlformats.org/officeDocument/2006/relationships/image" Target="../media/image198.png" /></ns0:Relationships>
</file>

<file path=ppt/c5/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What’s the point of straight line equations?</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sp>
        <p:nvSpPr>
          <p:cNvPr id="5" name="TextBox 4"/>
          <p:cNvSpPr txBox="1"/>
          <p:nvPr/>
        </p:nvSpPr>
        <p:spPr>
          <a:xfrm>
            <a:off x="425014" y="823660"/>
            <a:ext cx="8179434" cy="1200329"/>
          </a:xfrm>
          <a:prstGeom prst="rect">
            <a:avLst/>
          </a:prstGeom>
          <a:noFill/>
        </p:spPr>
        <p:txBody>
          <a:bodyPr wrap="square" rtlCol="0">
            <a:spAutoFit/>
          </a:bodyPr>
          <a:lstStyle/>
          <a:p>
            <a:r>
              <a:rPr lang="en-GB" dirty="0"/>
              <a:t>We saw in Chapter 2 that lots of things in real life have a ‘quadratic’ relationship, e.g. vertical height with time. Lots of real life variables have a ‘linear’ relationship, i.e. </a:t>
            </a:r>
            <a:r>
              <a:rPr lang="en-GB" b="1" dirty="0"/>
              <a:t>there is a fixed increase/decrease in one variable each time the other variable goes up by 1 unit.</a:t>
            </a:r>
          </a:p>
        </p:txBody>
      </p:sp>
      <p:sp>
        <p:nvSpPr>
          <p:cNvPr id="6" name="TextBox 5"/>
          <p:cNvSpPr txBox="1"/>
          <p:nvPr/>
        </p:nvSpPr>
        <p:spPr>
          <a:xfrm>
            <a:off x="433226" y="2206944"/>
            <a:ext cx="1512168" cy="369332"/>
          </a:xfrm>
          <a:prstGeom prst="rect">
            <a:avLst/>
          </a:prstGeom>
          <a:solidFill>
            <a:schemeClr val="bg1"/>
          </a:solidFill>
          <a:effectLst>
            <a:outerShdw blurRad="63500" sx="102000" sy="102000" algn="ctr" rotWithShape="0">
              <a:prstClr val="black">
                <a:alpha val="40000"/>
              </a:prstClr>
            </a:outerShdw>
          </a:effectLst>
        </p:spPr>
        <p:txBody>
          <a:bodyPr wrap="square" rtlCol="0">
            <a:spAutoFit/>
          </a:bodyPr>
          <a:lstStyle/>
          <a:p>
            <a:r>
              <a:rPr lang="en-GB" dirty="0"/>
              <a:t>Examples</a:t>
            </a:r>
          </a:p>
        </p:txBody>
      </p:sp>
      <p:sp>
        <p:nvSpPr>
          <p:cNvPr id="7" name="TextBox 6"/>
          <p:cNvSpPr txBox="1"/>
          <p:nvPr/>
        </p:nvSpPr>
        <p:spPr>
          <a:xfrm>
            <a:off x="683568" y="2632192"/>
            <a:ext cx="2520280" cy="646331"/>
          </a:xfrm>
          <a:prstGeom prst="rect">
            <a:avLst/>
          </a:prstGeom>
          <a:noFill/>
        </p:spPr>
        <p:txBody>
          <a:bodyPr wrap="square" rtlCol="0">
            <a:spAutoFit/>
          </a:bodyPr>
          <a:lstStyle/>
          <a:p>
            <a:r>
              <a:rPr lang="en-GB" dirty="0"/>
              <a:t>Car sales made and take home pay.</a:t>
            </a:r>
          </a:p>
        </p:txBody>
      </p:sp>
      <p:sp>
        <p:nvSpPr>
          <p:cNvPr id="8" name="TextBox 7"/>
          <p:cNvSpPr txBox="1"/>
          <p:nvPr/>
        </p:nvSpPr>
        <p:spPr>
          <a:xfrm>
            <a:off x="5472394" y="2210086"/>
            <a:ext cx="2520280" cy="923330"/>
          </a:xfrm>
          <a:prstGeom prst="rect">
            <a:avLst/>
          </a:prstGeom>
          <a:noFill/>
        </p:spPr>
        <p:txBody>
          <a:bodyPr wrap="square" rtlCol="0">
            <a:spAutoFit/>
          </a:bodyPr>
          <a:lstStyle/>
          <a:p>
            <a:r>
              <a:rPr lang="en-GB" dirty="0"/>
              <a:t>The relationship between Celsius and Fahrenheit.</a:t>
            </a:r>
          </a:p>
        </p:txBody>
      </p:sp>
      <p:sp>
        <p:nvSpPr>
          <p:cNvPr id="9" name="TextBox 8"/>
          <p:cNvSpPr txBox="1"/>
          <p:nvPr/>
        </p:nvSpPr>
        <p:spPr>
          <a:xfrm>
            <a:off x="2915816" y="4293096"/>
            <a:ext cx="2520280" cy="923330"/>
          </a:xfrm>
          <a:prstGeom prst="rect">
            <a:avLst/>
          </a:prstGeom>
          <a:noFill/>
        </p:spPr>
        <p:txBody>
          <a:bodyPr wrap="square" rtlCol="0">
            <a:spAutoFit/>
          </a:bodyPr>
          <a:lstStyle/>
          <a:p>
            <a:r>
              <a:rPr lang="en-GB" dirty="0"/>
              <a:t>Temperature and altitude (in a particular location)</a:t>
            </a:r>
          </a:p>
        </p:txBody>
      </p:sp>
      <p:pic>
        <p:nvPicPr>
          <p:cNvPr id="10" name="Picture 9"/>
          <p:cNvPicPr>
            <a:picLocks noChangeAspect="1"/>
          </p:cNvPicPr>
          <p:nvPr/>
        </p:nvPicPr>
        <p:blipFill>
          <a:blip r:embed="rId2"/>
          <a:stretch>
            <a:fillRect/>
          </a:stretch>
        </p:blipFill>
        <p:spPr>
          <a:xfrm>
            <a:off x="3203848" y="5281704"/>
            <a:ext cx="1543050" cy="1085850"/>
          </a:xfrm>
          <a:prstGeom prst="rect">
            <a:avLst/>
          </a:prstGeom>
        </p:spPr>
      </p:pic>
      <p:pic>
        <p:nvPicPr>
          <p:cNvPr id="11" name="Picture 10"/>
          <p:cNvPicPr>
            <a:picLocks noChangeAspect="1"/>
          </p:cNvPicPr>
          <p:nvPr/>
        </p:nvPicPr>
        <p:blipFill>
          <a:blip r:embed="rId3"/>
          <a:stretch>
            <a:fillRect/>
          </a:stretch>
        </p:blipFill>
        <p:spPr>
          <a:xfrm>
            <a:off x="5796136" y="3182045"/>
            <a:ext cx="1174742" cy="1111051"/>
          </a:xfrm>
          <a:prstGeom prst="rect">
            <a:avLst/>
          </a:prstGeom>
        </p:spPr>
      </p:pic>
      <p:pic>
        <p:nvPicPr>
          <p:cNvPr id="12" name="Picture 11"/>
          <p:cNvPicPr>
            <a:picLocks noChangeAspect="1"/>
          </p:cNvPicPr>
          <p:nvPr/>
        </p:nvPicPr>
        <p:blipFill>
          <a:blip r:embed="rId4"/>
          <a:stretch>
            <a:fillRect/>
          </a:stretch>
        </p:blipFill>
        <p:spPr>
          <a:xfrm>
            <a:off x="830115" y="3301741"/>
            <a:ext cx="1933575" cy="828675"/>
          </a:xfrm>
          <a:prstGeom prst="rect">
            <a:avLst/>
          </a:prstGeom>
        </p:spPr>
      </p:pic>
      <mc:AlternateContent xmlns:mc="http://schemas.openxmlformats.org/markup-compatibility/2006" xmlns:a14="http://schemas.microsoft.com/office/drawing/2010/main">
        <mc:Choice Requires="a14">
          <p:sp>
            <p:nvSpPr>
              <p:cNvPr id="13" name="TextBox 12"/>
              <p:cNvSpPr txBox="1"/>
              <p:nvPr/>
            </p:nvSpPr>
            <p:spPr>
              <a:xfrm>
                <a:off x="5768210" y="4941168"/>
                <a:ext cx="2520280" cy="1569660"/>
              </a:xfrm>
              <a:prstGeom prst="rect">
                <a:avLst/>
              </a:prstGeom>
              <a:noFill/>
            </p:spPr>
            <p:txBody>
              <a:bodyPr wrap="square" rtlCol="0">
                <a:spAutoFit/>
              </a:bodyPr>
              <a:lstStyle/>
              <a:p>
                <a:r>
                  <a:rPr lang="en-GB" i="1" dirty="0"/>
                  <a:t>(And a pure maths one:)</a:t>
                </a:r>
              </a:p>
              <a:p>
                <a:r>
                  <a:rPr lang="en-GB" dirty="0"/>
                  <a:t>The </a:t>
                </a:r>
                <a14:m>
                  <m:oMath xmlns:m="http://schemas.openxmlformats.org/officeDocument/2006/math">
                    <m:r>
                      <a:rPr lang="en-GB" i="1" dirty="0" smtClean="0">
                        <a:latin typeface="Cambria Math" panose="02040503050406030204" pitchFamily="18" charset="0"/>
                      </a:rPr>
                      <m:t>𝑛</m:t>
                    </m:r>
                  </m:oMath>
                </a14:m>
                <a:r>
                  <a:rPr lang="en-GB" dirty="0"/>
                  <a:t>th term of an arithmetic series.</a:t>
                </a:r>
              </a:p>
              <a:p>
                <a:endParaRPr lang="en-GB" dirty="0"/>
              </a:p>
              <a:p>
                <a:r>
                  <a:rPr lang="en-GB" sz="2400" dirty="0"/>
                  <a:t>3, 5, 8, 11, 14, …</a:t>
                </a:r>
              </a:p>
            </p:txBody>
          </p:sp>
        </mc:Choice>
        <mc:Fallback xmlns="">
          <p:sp>
            <p:nvSpPr>
              <p:cNvPr id="13" name="TextBox 12"/>
              <p:cNvSpPr txBox="1">
                <a:spLocks noRot="1" noChangeAspect="1" noMove="1" noResize="1" noEditPoints="1" noAdjustHandles="1" noChangeArrowheads="1" noChangeShapeType="1" noTextEdit="1"/>
              </p:cNvSpPr>
              <p:nvPr/>
            </p:nvSpPr>
            <p:spPr>
              <a:xfrm>
                <a:off x="5768210" y="4941168"/>
                <a:ext cx="2520280" cy="1569660"/>
              </a:xfrm>
              <a:prstGeom prst="rect">
                <a:avLst/>
              </a:prstGeom>
              <a:blipFill>
                <a:blip r:embed="rId5"/>
                <a:stretch>
                  <a:fillRect l="-3623" t="-2335" b="-8171"/>
                </a:stretch>
              </a:blipFill>
            </p:spPr>
            <p:txBody>
              <a:bodyPr/>
              <a:lstStyle/>
              <a:p>
                <a:r>
                  <a:rPr lang="en-GB">
                    <a:noFill/>
                  </a:rPr>
                  <a:t> </a:t>
                </a:r>
              </a:p>
            </p:txBody>
          </p:sp>
        </mc:Fallback>
      </mc:AlternateContent>
    </p:spTree>
    <p:extLst>
      <p:ext uri="{BB962C8B-B14F-4D97-AF65-F5344CB8AC3E}">
        <p14:creationId xmlns:p14="http://schemas.microsoft.com/office/powerpoint/2010/main" val="2564013810"/>
      </p:ext>
    </p:extLst>
  </p:cSld>
  <p:clrMapOvr>
    <a:masterClrMapping/>
  </p:clrMapOvr>
</p:sld>
</file>

<file path=ppt/c5/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Modelling</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1691680" y="1268760"/>
            <a:ext cx="0" cy="2376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1691680" y="3645024"/>
            <a:ext cx="302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10" name="Oval 9"/>
          <p:cNvSpPr/>
          <p:nvPr/>
        </p:nvSpPr>
        <p:spPr>
          <a:xfrm>
            <a:off x="2153245" y="217323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2483768" y="23439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2699792" y="191421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2843808" y="210123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2987824" y="217323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3064235" y="17921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3275856" y="195021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3491880" y="17394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3697249" y="187820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3923928" y="15567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4201305" y="19268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2051720" y="284058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p:cNvSpPr/>
          <p:nvPr/>
        </p:nvSpPr>
        <p:spPr>
          <a:xfrm>
            <a:off x="2305950" y="26202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p:cNvSpPr/>
          <p:nvPr/>
        </p:nvSpPr>
        <p:spPr>
          <a:xfrm>
            <a:off x="2575732" y="26237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3701825" y="15281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p:cNvSpPr/>
          <p:nvPr/>
        </p:nvSpPr>
        <p:spPr>
          <a:xfrm>
            <a:off x="3450566" y="161393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p:cNvSpPr/>
          <p:nvPr/>
        </p:nvSpPr>
        <p:spPr>
          <a:xfrm>
            <a:off x="3728910" y="170349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3381097" y="207091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p:cNvSpPr/>
          <p:nvPr/>
        </p:nvSpPr>
        <p:spPr>
          <a:xfrm>
            <a:off x="3162516" y="197420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p:cNvSpPr/>
          <p:nvPr/>
        </p:nvSpPr>
        <p:spPr>
          <a:xfrm>
            <a:off x="3052852" y="202222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3136049" y="209822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p:cNvSpPr/>
          <p:nvPr/>
        </p:nvSpPr>
        <p:spPr>
          <a:xfrm>
            <a:off x="2844577" y="222192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Oval 31"/>
          <p:cNvSpPr/>
          <p:nvPr/>
        </p:nvSpPr>
        <p:spPr>
          <a:xfrm>
            <a:off x="2671248" y="224654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3" name="Oval 32"/>
          <p:cNvSpPr/>
          <p:nvPr/>
        </p:nvSpPr>
        <p:spPr>
          <a:xfrm>
            <a:off x="3671900" y="32068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5" name="TextBox 34"/>
          <p:cNvSpPr txBox="1"/>
          <p:nvPr/>
        </p:nvSpPr>
        <p:spPr>
          <a:xfrm>
            <a:off x="1835696" y="3645024"/>
            <a:ext cx="2735732" cy="369332"/>
          </a:xfrm>
          <a:prstGeom prst="rect">
            <a:avLst/>
          </a:prstGeom>
          <a:noFill/>
        </p:spPr>
        <p:txBody>
          <a:bodyPr wrap="square" rtlCol="0">
            <a:spAutoFit/>
          </a:bodyPr>
          <a:lstStyle/>
          <a:p>
            <a:r>
              <a:rPr lang="en-GB" dirty="0"/>
              <a:t>    20       40      60    80   100</a:t>
            </a:r>
          </a:p>
        </p:txBody>
      </p:sp>
      <p:sp>
        <p:nvSpPr>
          <p:cNvPr id="36" name="TextBox 35"/>
          <p:cNvSpPr txBox="1"/>
          <p:nvPr/>
        </p:nvSpPr>
        <p:spPr>
          <a:xfrm>
            <a:off x="2359943" y="4004831"/>
            <a:ext cx="2031082" cy="369332"/>
          </a:xfrm>
          <a:prstGeom prst="rect">
            <a:avLst/>
          </a:prstGeom>
          <a:noFill/>
        </p:spPr>
        <p:txBody>
          <a:bodyPr wrap="square" rtlCol="0">
            <a:spAutoFit/>
          </a:bodyPr>
          <a:lstStyle/>
          <a:p>
            <a:r>
              <a:rPr lang="en-GB" dirty="0"/>
              <a:t>GCSE Maths mark</a:t>
            </a:r>
          </a:p>
        </p:txBody>
      </p:sp>
      <p:sp>
        <p:nvSpPr>
          <p:cNvPr id="37" name="TextBox 36"/>
          <p:cNvSpPr txBox="1"/>
          <p:nvPr/>
        </p:nvSpPr>
        <p:spPr>
          <a:xfrm rot="16200000">
            <a:off x="103312" y="2291431"/>
            <a:ext cx="2031082" cy="369332"/>
          </a:xfrm>
          <a:prstGeom prst="rect">
            <a:avLst/>
          </a:prstGeom>
          <a:noFill/>
        </p:spPr>
        <p:txBody>
          <a:bodyPr wrap="square" rtlCol="0">
            <a:spAutoFit/>
          </a:bodyPr>
          <a:lstStyle/>
          <a:p>
            <a:r>
              <a:rPr lang="en-GB" dirty="0"/>
              <a:t>A Level Maths Mark</a:t>
            </a:r>
          </a:p>
        </p:txBody>
      </p:sp>
      <p:sp>
        <p:nvSpPr>
          <p:cNvPr id="38" name="TextBox 37"/>
          <p:cNvSpPr txBox="1"/>
          <p:nvPr/>
        </p:nvSpPr>
        <p:spPr>
          <a:xfrm>
            <a:off x="1107438" y="1261604"/>
            <a:ext cx="605295" cy="2169825"/>
          </a:xfrm>
          <a:prstGeom prst="rect">
            <a:avLst/>
          </a:prstGeom>
          <a:noFill/>
        </p:spPr>
        <p:txBody>
          <a:bodyPr wrap="square" rtlCol="0">
            <a:spAutoFit/>
          </a:bodyPr>
          <a:lstStyle/>
          <a:p>
            <a:pPr algn="r"/>
            <a:r>
              <a:rPr lang="en-GB" dirty="0"/>
              <a:t>100</a:t>
            </a:r>
          </a:p>
          <a:p>
            <a:pPr algn="r"/>
            <a:endParaRPr lang="en-GB" sz="1100" dirty="0"/>
          </a:p>
          <a:p>
            <a:pPr algn="r"/>
            <a:r>
              <a:rPr lang="en-GB" dirty="0"/>
              <a:t>80</a:t>
            </a:r>
          </a:p>
          <a:p>
            <a:pPr algn="r"/>
            <a:endParaRPr lang="en-GB" sz="1100" dirty="0"/>
          </a:p>
          <a:p>
            <a:pPr algn="r"/>
            <a:r>
              <a:rPr lang="en-GB" dirty="0"/>
              <a:t>60</a:t>
            </a:r>
          </a:p>
          <a:p>
            <a:pPr algn="r"/>
            <a:endParaRPr lang="en-GB" sz="1100" dirty="0"/>
          </a:p>
          <a:p>
            <a:pPr algn="r"/>
            <a:r>
              <a:rPr lang="en-GB" dirty="0"/>
              <a:t>40</a:t>
            </a:r>
          </a:p>
          <a:p>
            <a:pPr algn="r"/>
            <a:endParaRPr lang="en-GB" sz="1100" dirty="0"/>
          </a:p>
          <a:p>
            <a:pPr algn="r"/>
            <a:r>
              <a:rPr lang="en-GB" dirty="0"/>
              <a:t>20</a:t>
            </a:r>
          </a:p>
        </p:txBody>
      </p:sp>
      <mc:AlternateContent xmlns:mc="http://schemas.openxmlformats.org/markup-compatibility/2006" xmlns:a14="http://schemas.microsoft.com/office/drawing/2010/main">
        <mc:Choice Requires="a14">
          <p:sp>
            <p:nvSpPr>
              <p:cNvPr id="39" name="TextBox 38"/>
              <p:cNvSpPr txBox="1"/>
              <p:nvPr/>
            </p:nvSpPr>
            <p:spPr>
              <a:xfrm>
                <a:off x="4617715" y="3444925"/>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39" name="TextBox 38"/>
              <p:cNvSpPr txBox="1">
                <a:spLocks noRot="1" noChangeAspect="1" noMove="1" noResize="1" noEditPoints="1" noAdjustHandles="1" noChangeArrowheads="1" noChangeShapeType="1" noTextEdit="1"/>
              </p:cNvSpPr>
              <p:nvPr/>
            </p:nvSpPr>
            <p:spPr>
              <a:xfrm>
                <a:off x="4617715" y="3444925"/>
                <a:ext cx="544835" cy="369332"/>
              </a:xfrm>
              <a:prstGeom prst="rect">
                <a:avLst/>
              </a:prstGeom>
              <a:blipFill>
                <a:blip r:embed="rId2"/>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0" name="TextBox 39"/>
              <p:cNvSpPr txBox="1"/>
              <p:nvPr/>
            </p:nvSpPr>
            <p:spPr>
              <a:xfrm>
                <a:off x="1440315" y="863343"/>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40" name="TextBox 39"/>
              <p:cNvSpPr txBox="1">
                <a:spLocks noRot="1" noChangeAspect="1" noMove="1" noResize="1" noEditPoints="1" noAdjustHandles="1" noChangeArrowheads="1" noChangeShapeType="1" noTextEdit="1"/>
              </p:cNvSpPr>
              <p:nvPr/>
            </p:nvSpPr>
            <p:spPr>
              <a:xfrm>
                <a:off x="1440315" y="863343"/>
                <a:ext cx="544835" cy="369332"/>
              </a:xfrm>
              <a:prstGeom prst="rect">
                <a:avLst/>
              </a:prstGeom>
              <a:blipFill>
                <a:blip r:embed="rId3"/>
                <a:stretch>
                  <a:fillRect b="-6667"/>
                </a:stretch>
              </a:blipFill>
            </p:spPr>
            <p:txBody>
              <a:bodyPr/>
              <a:lstStyle/>
              <a:p>
                <a:r>
                  <a:rPr lang="en-GB">
                    <a:noFill/>
                  </a:rPr>
                  <a:t> </a:t>
                </a:r>
              </a:p>
            </p:txBody>
          </p:sp>
        </mc:Fallback>
      </mc:AlternateContent>
      <p:sp>
        <p:nvSpPr>
          <p:cNvPr id="41" name="TextBox 40"/>
          <p:cNvSpPr txBox="1"/>
          <p:nvPr/>
        </p:nvSpPr>
        <p:spPr>
          <a:xfrm>
            <a:off x="5403850" y="1181875"/>
            <a:ext cx="2721818" cy="1200329"/>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dirty="0"/>
              <a:t>A mathematical model is an attempt to model a real-life situation based on mathematical concepts.</a:t>
            </a:r>
          </a:p>
        </p:txBody>
      </p:sp>
      <mc:AlternateContent xmlns:mc="http://schemas.openxmlformats.org/markup-compatibility/2006" xmlns:a14="http://schemas.microsoft.com/office/drawing/2010/main">
        <mc:Choice Requires="a14">
          <p:sp>
            <p:nvSpPr>
              <p:cNvPr id="42" name="TextBox 41"/>
              <p:cNvSpPr txBox="1"/>
              <p:nvPr/>
            </p:nvSpPr>
            <p:spPr>
              <a:xfrm>
                <a:off x="5317604" y="2582391"/>
                <a:ext cx="3419996" cy="1477328"/>
              </a:xfrm>
              <a:prstGeom prst="rect">
                <a:avLst/>
              </a:prstGeom>
              <a:noFill/>
            </p:spPr>
            <p:txBody>
              <a:bodyPr wrap="square" rtlCol="0">
                <a:spAutoFit/>
              </a:bodyPr>
              <a:lstStyle/>
              <a:p>
                <a:r>
                  <a:rPr lang="en-GB" dirty="0"/>
                  <a:t>For this example, </a:t>
                </a:r>
                <a:r>
                  <a:rPr lang="en-GB" b="1" dirty="0"/>
                  <a:t>our model might be a linear model with equation </a:t>
                </a:r>
                <a14:m>
                  <m:oMath xmlns:m="http://schemas.openxmlformats.org/officeDocument/2006/math">
                    <m:r>
                      <a:rPr lang="en-GB" b="1" i="1" smtClean="0">
                        <a:latin typeface="Cambria Math" panose="02040503050406030204" pitchFamily="18" charset="0"/>
                      </a:rPr>
                      <m:t>𝒚</m:t>
                    </m:r>
                    <m:r>
                      <a:rPr lang="en-GB" b="1" i="1" smtClean="0">
                        <a:latin typeface="Cambria Math" panose="02040503050406030204" pitchFamily="18" charset="0"/>
                      </a:rPr>
                      <m:t>=</m:t>
                    </m:r>
                    <m:r>
                      <a:rPr lang="en-GB" b="1" i="1" smtClean="0">
                        <a:latin typeface="Cambria Math" panose="02040503050406030204" pitchFamily="18" charset="0"/>
                      </a:rPr>
                      <m:t>𝒎𝒙</m:t>
                    </m:r>
                    <m:r>
                      <a:rPr lang="en-GB" b="1" i="1" smtClean="0">
                        <a:latin typeface="Cambria Math" panose="02040503050406030204" pitchFamily="18" charset="0"/>
                      </a:rPr>
                      <m:t>+</m:t>
                    </m:r>
                    <m:r>
                      <a:rPr lang="en-GB" b="1" i="1" smtClean="0">
                        <a:latin typeface="Cambria Math" panose="02040503050406030204" pitchFamily="18" charset="0"/>
                      </a:rPr>
                      <m:t>𝒄</m:t>
                    </m:r>
                  </m:oMath>
                </a14:m>
                <a:r>
                  <a:rPr lang="en-GB" b="1" dirty="0"/>
                  <a:t> </a:t>
                </a:r>
                <a:r>
                  <a:rPr lang="en-GB" dirty="0"/>
                  <a:t>where </a:t>
                </a:r>
                <a14:m>
                  <m:oMath xmlns:m="http://schemas.openxmlformats.org/officeDocument/2006/math">
                    <m:r>
                      <a:rPr lang="en-GB" b="0" i="1" smtClean="0">
                        <a:latin typeface="Cambria Math" panose="02040503050406030204" pitchFamily="18" charset="0"/>
                      </a:rPr>
                      <m:t>𝑥</m:t>
                    </m:r>
                  </m:oMath>
                </a14:m>
                <a:r>
                  <a:rPr lang="en-GB" dirty="0"/>
                  <a:t> is a student’s GCSE mark and </a:t>
                </a:r>
                <a14:m>
                  <m:oMath xmlns:m="http://schemas.openxmlformats.org/officeDocument/2006/math">
                    <m:r>
                      <a:rPr lang="en-GB" b="0" i="1" smtClean="0">
                        <a:latin typeface="Cambria Math" panose="02040503050406030204" pitchFamily="18" charset="0"/>
                      </a:rPr>
                      <m:t>𝑦</m:t>
                    </m:r>
                  </m:oMath>
                </a14:m>
                <a:r>
                  <a:rPr lang="en-GB" dirty="0"/>
                  <a:t> is the predicted A Level mark.</a:t>
                </a:r>
              </a:p>
            </p:txBody>
          </p:sp>
        </mc:Choice>
        <mc:Fallback xmlns="">
          <p:sp>
            <p:nvSpPr>
              <p:cNvPr id="42" name="TextBox 41"/>
              <p:cNvSpPr txBox="1">
                <a:spLocks noRot="1" noChangeAspect="1" noMove="1" noResize="1" noEditPoints="1" noAdjustHandles="1" noChangeArrowheads="1" noChangeShapeType="1" noTextEdit="1"/>
              </p:cNvSpPr>
              <p:nvPr/>
            </p:nvSpPr>
            <p:spPr>
              <a:xfrm>
                <a:off x="5317604" y="2582391"/>
                <a:ext cx="3419996" cy="1477328"/>
              </a:xfrm>
              <a:prstGeom prst="rect">
                <a:avLst/>
              </a:prstGeom>
              <a:blipFill>
                <a:blip r:embed="rId4"/>
                <a:stretch>
                  <a:fillRect l="-1426" t="-2479" r="-2496" b="-5785"/>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3" name="TextBox 42"/>
              <p:cNvSpPr txBox="1"/>
              <p:nvPr/>
            </p:nvSpPr>
            <p:spPr>
              <a:xfrm>
                <a:off x="322783" y="4526489"/>
                <a:ext cx="3754140" cy="2308324"/>
              </a:xfrm>
              <a:prstGeom prst="rect">
                <a:avLst/>
              </a:prstGeom>
              <a:noFill/>
            </p:spPr>
            <p:txBody>
              <a:bodyPr wrap="square" rtlCol="0">
                <a:spAutoFit/>
              </a:bodyPr>
              <a:lstStyle/>
              <a:p>
                <a:r>
                  <a:rPr lang="en-GB" sz="1600" b="1" dirty="0"/>
                  <a:t>Such a linear model can be drawn as a line of best fit.</a:t>
                </a:r>
              </a:p>
              <a:p>
                <a:r>
                  <a:rPr lang="en-GB" sz="1600" dirty="0"/>
                  <a:t>The data obviously doesn’t fit this line exactly. This chosen model may only partially fit the data (and the further the points are away from the line, the less suitable this model is).</a:t>
                </a:r>
              </a:p>
              <a:p>
                <a:r>
                  <a:rPr lang="en-GB" sz="1600" dirty="0"/>
                  <a:t>We might decide another model, e.g. </a:t>
                </a:r>
              </a:p>
              <a:p>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𝑎</m:t>
                    </m:r>
                    <m:sSup>
                      <m:sSupPr>
                        <m:ctrlPr>
                          <a:rPr lang="en-GB" sz="1600" b="0" i="1" smtClean="0">
                            <a:latin typeface="Cambria Math" panose="02040503050406030204" pitchFamily="18" charset="0"/>
                          </a:rPr>
                        </m:ctrlPr>
                      </m:sSupPr>
                      <m:e>
                        <m:r>
                          <a:rPr lang="en-GB" sz="1600" b="0" i="1" smtClean="0">
                            <a:latin typeface="Cambria Math" panose="02040503050406030204" pitchFamily="18" charset="0"/>
                          </a:rPr>
                          <m:t>𝑥</m:t>
                        </m:r>
                      </m:e>
                      <m:sup>
                        <m:r>
                          <a:rPr lang="en-GB" sz="1600" b="0" i="1" smtClean="0">
                            <a:latin typeface="Cambria Math" panose="02040503050406030204" pitchFamily="18" charset="0"/>
                          </a:rPr>
                          <m:t>2</m:t>
                        </m:r>
                      </m:sup>
                    </m:sSup>
                    <m:r>
                      <a:rPr lang="en-GB" sz="1600" b="0" i="1" smtClean="0">
                        <a:latin typeface="Cambria Math" panose="02040503050406030204" pitchFamily="18" charset="0"/>
                      </a:rPr>
                      <m:t>+</m:t>
                    </m:r>
                    <m:r>
                      <a:rPr lang="en-GB" sz="1600" b="0" i="1" smtClean="0">
                        <a:latin typeface="Cambria Math" panose="02040503050406030204" pitchFamily="18" charset="0"/>
                      </a:rPr>
                      <m:t>𝑏𝑥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r>
                  <a:rPr lang="en-GB" sz="1600" dirty="0"/>
                  <a:t>, is more appropriate.</a:t>
                </a:r>
              </a:p>
            </p:txBody>
          </p:sp>
        </mc:Choice>
        <mc:Fallback xmlns="">
          <p:sp>
            <p:nvSpPr>
              <p:cNvPr id="43" name="TextBox 42"/>
              <p:cNvSpPr txBox="1">
                <a:spLocks noRot="1" noChangeAspect="1" noMove="1" noResize="1" noEditPoints="1" noAdjustHandles="1" noChangeArrowheads="1" noChangeShapeType="1" noTextEdit="1"/>
              </p:cNvSpPr>
              <p:nvPr/>
            </p:nvSpPr>
            <p:spPr>
              <a:xfrm>
                <a:off x="322783" y="4526489"/>
                <a:ext cx="3754140" cy="2308324"/>
              </a:xfrm>
              <a:prstGeom prst="rect">
                <a:avLst/>
              </a:prstGeom>
              <a:blipFill>
                <a:blip r:embed="rId5"/>
                <a:stretch>
                  <a:fillRect l="-974" t="-794" r="-1948" b="-2646"/>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44" name="TextBox 43"/>
              <p:cNvSpPr txBox="1"/>
              <p:nvPr/>
            </p:nvSpPr>
            <p:spPr>
              <a:xfrm>
                <a:off x="4525516" y="4541242"/>
                <a:ext cx="4248472" cy="2308324"/>
              </a:xfrm>
              <a:prstGeom prst="rect">
                <a:avLst/>
              </a:prstGeom>
              <a:noFill/>
            </p:spPr>
            <p:txBody>
              <a:bodyPr wrap="square" rtlCol="0">
                <a:spAutoFit/>
              </a:bodyPr>
              <a:lstStyle/>
              <a:p>
                <a:r>
                  <a:rPr lang="en-GB" sz="1600" dirty="0"/>
                  <a:t>But if we choose a well-known model such as a linear one, then we can use </a:t>
                </a:r>
                <a:r>
                  <a:rPr lang="en-GB" sz="1600" b="1" dirty="0"/>
                  <a:t>established mathematical theory </a:t>
                </a:r>
                <a:r>
                  <a:rPr lang="en-GB" sz="1600" dirty="0"/>
                  <a:t>in useful ways:</a:t>
                </a:r>
              </a:p>
              <a:p>
                <a:pPr marL="285750" indent="-285750">
                  <a:buFont typeface="Arial" panose="020B0604020202020204" pitchFamily="34" charset="0"/>
                  <a:buChar char="•"/>
                </a:pPr>
                <a:r>
                  <a:rPr lang="en-GB" sz="1600" dirty="0"/>
                  <a:t>We need to choose the most appropriate ‘parameters’ </a:t>
                </a:r>
                <a14:m>
                  <m:oMath xmlns:m="http://schemas.openxmlformats.org/officeDocument/2006/math">
                    <m:r>
                      <a:rPr lang="en-GB" sz="1600" b="0" i="1" smtClean="0">
                        <a:latin typeface="Cambria Math" panose="02040503050406030204" pitchFamily="18" charset="0"/>
                      </a:rPr>
                      <m:t>𝑚</m:t>
                    </m:r>
                  </m:oMath>
                </a14:m>
                <a:r>
                  <a:rPr lang="en-GB" sz="1600" dirty="0"/>
                  <a:t> and </a:t>
                </a:r>
                <a14:m>
                  <m:oMath xmlns:m="http://schemas.openxmlformats.org/officeDocument/2006/math">
                    <m:r>
                      <a:rPr lang="en-GB" sz="1600" b="0" i="1" smtClean="0">
                        <a:latin typeface="Cambria Math" panose="02040503050406030204" pitchFamily="18" charset="0"/>
                      </a:rPr>
                      <m:t>𝑐</m:t>
                    </m:r>
                  </m:oMath>
                </a14:m>
                <a:r>
                  <a:rPr lang="en-GB" sz="1600" dirty="0"/>
                  <a:t> so the model best matches the data. You will learn in S1 there are existing techniques to do this.</a:t>
                </a:r>
              </a:p>
              <a:p>
                <a:pPr marL="285750" indent="-285750">
                  <a:buFont typeface="Arial" panose="020B0604020202020204" pitchFamily="34" charset="0"/>
                  <a:buChar char="•"/>
                </a:pPr>
                <a:r>
                  <a:rPr lang="en-GB" sz="1600" dirty="0"/>
                  <a:t>We can then predict a student’s A Level mark based on their maths mark.</a:t>
                </a:r>
              </a:p>
            </p:txBody>
          </p:sp>
        </mc:Choice>
        <mc:Fallback xmlns="">
          <p:sp>
            <p:nvSpPr>
              <p:cNvPr id="44" name="TextBox 43"/>
              <p:cNvSpPr txBox="1">
                <a:spLocks noRot="1" noChangeAspect="1" noMove="1" noResize="1" noEditPoints="1" noAdjustHandles="1" noChangeArrowheads="1" noChangeShapeType="1" noTextEdit="1"/>
              </p:cNvSpPr>
              <p:nvPr/>
            </p:nvSpPr>
            <p:spPr>
              <a:xfrm>
                <a:off x="4525516" y="4541242"/>
                <a:ext cx="4248472" cy="2308324"/>
              </a:xfrm>
              <a:prstGeom prst="rect">
                <a:avLst/>
              </a:prstGeom>
              <a:blipFill>
                <a:blip r:embed="rId6"/>
                <a:stretch>
                  <a:fillRect l="-717" t="-792" r="-430" b="-2375"/>
                </a:stretch>
              </a:blipFill>
            </p:spPr>
            <p:txBody>
              <a:bodyPr/>
              <a:lstStyle/>
              <a:p>
                <a:r>
                  <a:rPr lang="en-GB">
                    <a:noFill/>
                  </a:rPr>
                  <a:t> </a:t>
                </a:r>
              </a:p>
            </p:txBody>
          </p:sp>
        </mc:Fallback>
      </mc:AlternateContent>
      <p:cxnSp>
        <p:nvCxnSpPr>
          <p:cNvPr id="46" name="Straight Connector 45"/>
          <p:cNvCxnSpPr/>
          <p:nvPr/>
        </p:nvCxnSpPr>
        <p:spPr>
          <a:xfrm flipV="1">
            <a:off x="1835696" y="1460556"/>
            <a:ext cx="2555329" cy="1231704"/>
          </a:xfrm>
          <a:prstGeom prst="line">
            <a:avLst/>
          </a:prstGeom>
          <a:ln w="28575"/>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165748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2"/>
                                        </p:tgtEl>
                                        <p:attrNameLst>
                                          <p:attrName>style.visibility</p:attrName>
                                        </p:attrNameLst>
                                      </p:cBhvr>
                                      <p:to>
                                        <p:strVal val="visible"/>
                                      </p:to>
                                    </p:set>
                                    <p:animEffect transition="in" filter="fade">
                                      <p:cBhvr>
                                        <p:cTn id="7" dur="500"/>
                                        <p:tgtEl>
                                          <p:spTgt spid="4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3"/>
                                        </p:tgtEl>
                                        <p:attrNameLst>
                                          <p:attrName>style.visibility</p:attrName>
                                        </p:attrNameLst>
                                      </p:cBhvr>
                                      <p:to>
                                        <p:strVal val="visible"/>
                                      </p:to>
                                    </p:set>
                                    <p:animEffect transition="in" filter="fade">
                                      <p:cBhvr>
                                        <p:cTn id="12" dur="500"/>
                                        <p:tgtEl>
                                          <p:spTgt spid="43"/>
                                        </p:tgtEl>
                                      </p:cBhvr>
                                    </p:animEffect>
                                  </p:childTnLst>
                                </p:cTn>
                              </p:par>
                              <p:par>
                                <p:cTn id="13" presetID="22" presetClass="entr" presetSubtype="8" fill="hold" nodeType="withEffect">
                                  <p:stCondLst>
                                    <p:cond delay="0"/>
                                  </p:stCondLst>
                                  <p:childTnLst>
                                    <p:set>
                                      <p:cBhvr>
                                        <p:cTn id="14" dur="1" fill="hold">
                                          <p:stCondLst>
                                            <p:cond delay="0"/>
                                          </p:stCondLst>
                                        </p:cTn>
                                        <p:tgtEl>
                                          <p:spTgt spid="46"/>
                                        </p:tgtEl>
                                        <p:attrNameLst>
                                          <p:attrName>style.visibility</p:attrName>
                                        </p:attrNameLst>
                                      </p:cBhvr>
                                      <p:to>
                                        <p:strVal val="visible"/>
                                      </p:to>
                                    </p:set>
                                    <p:animEffect transition="in" filter="wipe(left)">
                                      <p:cBhvr>
                                        <p:cTn id="15" dur="2000"/>
                                        <p:tgtEl>
                                          <p:spTgt spid="4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44"/>
                                        </p:tgtEl>
                                        <p:attrNameLst>
                                          <p:attrName>style.visibility</p:attrName>
                                        </p:attrNameLst>
                                      </p:cBhvr>
                                      <p:to>
                                        <p:strVal val="visible"/>
                                      </p:to>
                                    </p:set>
                                    <p:animEffect transition="in" filter="fade">
                                      <p:cBhvr>
                                        <p:cTn id="20"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 grpId="0"/>
      <p:bldP spid="43" grpId="0"/>
      <p:bldP spid="44" grpId="0"/>
    </p:bldLst>
  </p:timing>
</p:sld>
</file>

<file path=ppt/c5/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Example</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cxnSp>
        <p:nvCxnSpPr>
          <p:cNvPr id="6" name="Straight Arrow Connector 5"/>
          <p:cNvCxnSpPr/>
          <p:nvPr/>
        </p:nvCxnSpPr>
        <p:spPr>
          <a:xfrm flipV="1">
            <a:off x="3190280" y="1090960"/>
            <a:ext cx="0" cy="2376264"/>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7" name="Straight Arrow Connector 6"/>
          <p:cNvCxnSpPr/>
          <p:nvPr/>
        </p:nvCxnSpPr>
        <p:spPr>
          <a:xfrm>
            <a:off x="3190280" y="3467224"/>
            <a:ext cx="3024336"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8" name="Oval 7"/>
          <p:cNvSpPr/>
          <p:nvPr/>
        </p:nvSpPr>
        <p:spPr>
          <a:xfrm>
            <a:off x="3704232" y="17858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 name="Oval 8"/>
          <p:cNvSpPr/>
          <p:nvPr/>
        </p:nvSpPr>
        <p:spPr>
          <a:xfrm>
            <a:off x="3982368" y="2166144"/>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0" name="Oval 9"/>
          <p:cNvSpPr/>
          <p:nvPr/>
        </p:nvSpPr>
        <p:spPr>
          <a:xfrm>
            <a:off x="4007892" y="19173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1" name="Oval 10"/>
          <p:cNvSpPr/>
          <p:nvPr/>
        </p:nvSpPr>
        <p:spPr>
          <a:xfrm>
            <a:off x="4342408" y="192343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Oval 11"/>
          <p:cNvSpPr/>
          <p:nvPr/>
        </p:nvSpPr>
        <p:spPr>
          <a:xfrm>
            <a:off x="4643586" y="23812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3" name="Oval 12"/>
          <p:cNvSpPr/>
          <p:nvPr/>
        </p:nvSpPr>
        <p:spPr>
          <a:xfrm>
            <a:off x="4377700" y="236322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4" name="Oval 13"/>
          <p:cNvSpPr/>
          <p:nvPr/>
        </p:nvSpPr>
        <p:spPr>
          <a:xfrm>
            <a:off x="4417268" y="245821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5" name="Oval 14"/>
          <p:cNvSpPr/>
          <p:nvPr/>
        </p:nvSpPr>
        <p:spPr>
          <a:xfrm>
            <a:off x="4833317" y="27427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Oval 15"/>
          <p:cNvSpPr/>
          <p:nvPr/>
        </p:nvSpPr>
        <p:spPr>
          <a:xfrm>
            <a:off x="5038686" y="288150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Oval 16"/>
          <p:cNvSpPr/>
          <p:nvPr/>
        </p:nvSpPr>
        <p:spPr>
          <a:xfrm>
            <a:off x="5265365" y="25600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8" name="Oval 17"/>
          <p:cNvSpPr/>
          <p:nvPr/>
        </p:nvSpPr>
        <p:spPr>
          <a:xfrm>
            <a:off x="5542742" y="2930197"/>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9" name="Oval 18"/>
          <p:cNvSpPr/>
          <p:nvPr/>
        </p:nvSpPr>
        <p:spPr>
          <a:xfrm>
            <a:off x="3269332" y="15054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0" name="Oval 19"/>
          <p:cNvSpPr/>
          <p:nvPr/>
        </p:nvSpPr>
        <p:spPr>
          <a:xfrm>
            <a:off x="3804550" y="244245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Oval 20"/>
          <p:cNvSpPr/>
          <p:nvPr/>
        </p:nvSpPr>
        <p:spPr>
          <a:xfrm>
            <a:off x="4074332" y="244599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2" name="Oval 21"/>
          <p:cNvSpPr/>
          <p:nvPr/>
        </p:nvSpPr>
        <p:spPr>
          <a:xfrm>
            <a:off x="5043262" y="2531492"/>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3" name="Oval 22"/>
          <p:cNvSpPr/>
          <p:nvPr/>
        </p:nvSpPr>
        <p:spPr>
          <a:xfrm>
            <a:off x="4792003" y="2617239"/>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Oval 23"/>
          <p:cNvSpPr/>
          <p:nvPr/>
        </p:nvSpPr>
        <p:spPr>
          <a:xfrm>
            <a:off x="5070347" y="270679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5" name="Oval 24"/>
          <p:cNvSpPr/>
          <p:nvPr/>
        </p:nvSpPr>
        <p:spPr>
          <a:xfrm>
            <a:off x="4951134" y="2493188"/>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6" name="Oval 25"/>
          <p:cNvSpPr/>
          <p:nvPr/>
        </p:nvSpPr>
        <p:spPr>
          <a:xfrm>
            <a:off x="4475981" y="2545231"/>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7" name="Oval 26"/>
          <p:cNvSpPr/>
          <p:nvPr/>
        </p:nvSpPr>
        <p:spPr>
          <a:xfrm>
            <a:off x="4366317" y="2593253"/>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8" name="Oval 27"/>
          <p:cNvSpPr/>
          <p:nvPr/>
        </p:nvSpPr>
        <p:spPr>
          <a:xfrm>
            <a:off x="4625124" y="217759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9" name="Oval 28"/>
          <p:cNvSpPr/>
          <p:nvPr/>
        </p:nvSpPr>
        <p:spPr>
          <a:xfrm>
            <a:off x="4228877" y="2120326"/>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0" name="Oval 29"/>
          <p:cNvSpPr/>
          <p:nvPr/>
        </p:nvSpPr>
        <p:spPr>
          <a:xfrm>
            <a:off x="3741223" y="2121135"/>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Oval 30"/>
          <p:cNvSpPr/>
          <p:nvPr/>
        </p:nvSpPr>
        <p:spPr>
          <a:xfrm>
            <a:off x="5170500" y="3029000"/>
            <a:ext cx="72008" cy="72008"/>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2" name="TextBox 31"/>
          <p:cNvSpPr txBox="1"/>
          <p:nvPr/>
        </p:nvSpPr>
        <p:spPr>
          <a:xfrm>
            <a:off x="3334296" y="3467224"/>
            <a:ext cx="2738844" cy="369332"/>
          </a:xfrm>
          <a:prstGeom prst="rect">
            <a:avLst/>
          </a:prstGeom>
          <a:noFill/>
        </p:spPr>
        <p:txBody>
          <a:bodyPr wrap="square" rtlCol="0">
            <a:spAutoFit/>
          </a:bodyPr>
          <a:lstStyle/>
          <a:p>
            <a:r>
              <a:rPr lang="en-GB" dirty="0"/>
              <a:t>   50     100   150   200   250</a:t>
            </a:r>
          </a:p>
        </p:txBody>
      </p:sp>
      <p:sp>
        <p:nvSpPr>
          <p:cNvPr id="33" name="TextBox 32"/>
          <p:cNvSpPr txBox="1"/>
          <p:nvPr/>
        </p:nvSpPr>
        <p:spPr>
          <a:xfrm>
            <a:off x="3720319" y="3763235"/>
            <a:ext cx="2031082" cy="307777"/>
          </a:xfrm>
          <a:prstGeom prst="rect">
            <a:avLst/>
          </a:prstGeom>
          <a:noFill/>
        </p:spPr>
        <p:txBody>
          <a:bodyPr wrap="square" rtlCol="0">
            <a:spAutoFit/>
          </a:bodyPr>
          <a:lstStyle/>
          <a:p>
            <a:pPr algn="ctr"/>
            <a:r>
              <a:rPr lang="en-GB" sz="1400" dirty="0"/>
              <a:t>Altitude (m)</a:t>
            </a:r>
          </a:p>
        </p:txBody>
      </p:sp>
      <mc:AlternateContent xmlns:mc="http://schemas.openxmlformats.org/markup-compatibility/2006" xmlns:a14="http://schemas.microsoft.com/office/drawing/2010/main">
        <mc:Choice Requires="a14">
          <p:sp>
            <p:nvSpPr>
              <p:cNvPr id="34" name="TextBox 33"/>
              <p:cNvSpPr txBox="1"/>
              <p:nvPr/>
            </p:nvSpPr>
            <p:spPr>
              <a:xfrm rot="16200000">
                <a:off x="1633811" y="1921123"/>
                <a:ext cx="2031082" cy="307777"/>
              </a:xfrm>
              <a:prstGeom prst="rect">
                <a:avLst/>
              </a:prstGeom>
              <a:noFill/>
            </p:spPr>
            <p:txBody>
              <a:bodyPr wrap="square" rtlCol="0">
                <a:spAutoFit/>
              </a:bodyPr>
              <a:lstStyle/>
              <a:p>
                <a:pPr algn="ctr"/>
                <a:r>
                  <a:rPr lang="en-GB" sz="1400" dirty="0"/>
                  <a:t>Temperature </a:t>
                </a:r>
                <a14:m>
                  <m:oMath xmlns:m="http://schemas.openxmlformats.org/officeDocument/2006/math">
                    <m:r>
                      <a:rPr lang="en-GB" sz="1400" b="0" i="1" smtClean="0">
                        <a:latin typeface="Cambria Math" panose="02040503050406030204" pitchFamily="18" charset="0"/>
                      </a:rPr>
                      <m:t>°</m:t>
                    </m:r>
                    <m:r>
                      <a:rPr lang="en-GB" sz="1400" b="0" i="1" smtClean="0">
                        <a:latin typeface="Cambria Math" panose="02040503050406030204" pitchFamily="18" charset="0"/>
                      </a:rPr>
                      <m:t>𝐹</m:t>
                    </m:r>
                  </m:oMath>
                </a14:m>
                <a:endParaRPr lang="en-GB" sz="1400" dirty="0"/>
              </a:p>
            </p:txBody>
          </p:sp>
        </mc:Choice>
        <mc:Fallback xmlns="">
          <p:sp>
            <p:nvSpPr>
              <p:cNvPr id="34" name="TextBox 33"/>
              <p:cNvSpPr txBox="1">
                <a:spLocks noRot="1" noChangeAspect="1" noMove="1" noResize="1" noEditPoints="1" noAdjustHandles="1" noChangeArrowheads="1" noChangeShapeType="1" noTextEdit="1"/>
              </p:cNvSpPr>
              <p:nvPr/>
            </p:nvSpPr>
            <p:spPr>
              <a:xfrm rot="16200000">
                <a:off x="1633811" y="1921123"/>
                <a:ext cx="2031082" cy="307777"/>
              </a:xfrm>
              <a:prstGeom prst="rect">
                <a:avLst/>
              </a:prstGeom>
              <a:blipFill>
                <a:blip r:embed="rId2"/>
                <a:stretch>
                  <a:fillRect l="-1961" r="-19608"/>
                </a:stretch>
              </a:blipFill>
            </p:spPr>
            <p:txBody>
              <a:bodyPr/>
              <a:lstStyle/>
              <a:p>
                <a:r>
                  <a:rPr lang="en-GB">
                    <a:noFill/>
                  </a:rPr>
                  <a:t> </a:t>
                </a:r>
              </a:p>
            </p:txBody>
          </p:sp>
        </mc:Fallback>
      </mc:AlternateContent>
      <p:sp>
        <p:nvSpPr>
          <p:cNvPr id="35" name="TextBox 34"/>
          <p:cNvSpPr txBox="1"/>
          <p:nvPr/>
        </p:nvSpPr>
        <p:spPr>
          <a:xfrm>
            <a:off x="2574140" y="998744"/>
            <a:ext cx="605295" cy="2169825"/>
          </a:xfrm>
          <a:prstGeom prst="rect">
            <a:avLst/>
          </a:prstGeom>
          <a:noFill/>
        </p:spPr>
        <p:txBody>
          <a:bodyPr wrap="square" rtlCol="0">
            <a:spAutoFit/>
          </a:bodyPr>
          <a:lstStyle/>
          <a:p>
            <a:pPr algn="r"/>
            <a:r>
              <a:rPr lang="en-GB" dirty="0"/>
              <a:t>100</a:t>
            </a:r>
          </a:p>
          <a:p>
            <a:pPr algn="r"/>
            <a:endParaRPr lang="en-GB" sz="1100" dirty="0"/>
          </a:p>
          <a:p>
            <a:pPr algn="r"/>
            <a:r>
              <a:rPr lang="en-GB" dirty="0"/>
              <a:t>80</a:t>
            </a:r>
          </a:p>
          <a:p>
            <a:pPr algn="r"/>
            <a:endParaRPr lang="en-GB" sz="1100" dirty="0"/>
          </a:p>
          <a:p>
            <a:pPr algn="r"/>
            <a:r>
              <a:rPr lang="en-GB" dirty="0"/>
              <a:t>60</a:t>
            </a:r>
          </a:p>
          <a:p>
            <a:pPr algn="r"/>
            <a:endParaRPr lang="en-GB" sz="1100" dirty="0"/>
          </a:p>
          <a:p>
            <a:pPr algn="r"/>
            <a:r>
              <a:rPr lang="en-GB" dirty="0"/>
              <a:t>40</a:t>
            </a:r>
          </a:p>
          <a:p>
            <a:pPr algn="r"/>
            <a:endParaRPr lang="en-GB" sz="1100" dirty="0"/>
          </a:p>
          <a:p>
            <a:pPr algn="r"/>
            <a:r>
              <a:rPr lang="en-GB" dirty="0"/>
              <a:t>20</a:t>
            </a:r>
          </a:p>
        </p:txBody>
      </p:sp>
      <mc:AlternateContent xmlns:mc="http://schemas.openxmlformats.org/markup-compatibility/2006" xmlns:a14="http://schemas.microsoft.com/office/drawing/2010/main">
        <mc:Choice Requires="a14">
          <p:sp>
            <p:nvSpPr>
              <p:cNvPr id="36" name="TextBox 35"/>
              <p:cNvSpPr txBox="1"/>
              <p:nvPr/>
            </p:nvSpPr>
            <p:spPr>
              <a:xfrm>
                <a:off x="6116315" y="3267125"/>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𝑥</m:t>
                      </m:r>
                    </m:oMath>
                  </m:oMathPara>
                </a14:m>
                <a:endParaRPr lang="en-GB" dirty="0"/>
              </a:p>
            </p:txBody>
          </p:sp>
        </mc:Choice>
        <mc:Fallback xmlns="">
          <p:sp>
            <p:nvSpPr>
              <p:cNvPr id="36" name="TextBox 35"/>
              <p:cNvSpPr txBox="1">
                <a:spLocks noRot="1" noChangeAspect="1" noMove="1" noResize="1" noEditPoints="1" noAdjustHandles="1" noChangeArrowheads="1" noChangeShapeType="1" noTextEdit="1"/>
              </p:cNvSpPr>
              <p:nvPr/>
            </p:nvSpPr>
            <p:spPr>
              <a:xfrm>
                <a:off x="6116315" y="3267125"/>
                <a:ext cx="544835" cy="369332"/>
              </a:xfrm>
              <a:prstGeom prst="rect">
                <a:avLst/>
              </a:prstGeom>
              <a:blipFill>
                <a:blip r:embed="rId3"/>
                <a:stretch>
                  <a:fillRect/>
                </a:stretch>
              </a:blipFill>
            </p:spPr>
            <p:txBody>
              <a:bodyPr/>
              <a:lstStyle/>
              <a:p>
                <a:r>
                  <a:rPr lang="en-GB">
                    <a:noFill/>
                  </a:rPr>
                  <a:t> </a:t>
                </a:r>
              </a:p>
            </p:txBody>
          </p:sp>
        </mc:Fallback>
      </mc:AlternateContent>
      <mc:AlternateContent xmlns:mc="http://schemas.openxmlformats.org/markup-compatibility/2006" xmlns:a14="http://schemas.microsoft.com/office/drawing/2010/main">
        <mc:Choice Requires="a14">
          <p:sp>
            <p:nvSpPr>
              <p:cNvPr id="37" name="TextBox 36"/>
              <p:cNvSpPr txBox="1"/>
              <p:nvPr/>
            </p:nvSpPr>
            <p:spPr>
              <a:xfrm>
                <a:off x="2938915" y="685543"/>
                <a:ext cx="544835"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GB" b="0" i="1" smtClean="0">
                          <a:latin typeface="Cambria Math" panose="02040503050406030204" pitchFamily="18" charset="0"/>
                        </a:rPr>
                        <m:t>𝑦</m:t>
                      </m:r>
                    </m:oMath>
                  </m:oMathPara>
                </a14:m>
                <a:endParaRPr lang="en-GB" dirty="0"/>
              </a:p>
            </p:txBody>
          </p:sp>
        </mc:Choice>
        <mc:Fallback xmlns="">
          <p:sp>
            <p:nvSpPr>
              <p:cNvPr id="37" name="TextBox 36"/>
              <p:cNvSpPr txBox="1">
                <a:spLocks noRot="1" noChangeAspect="1" noMove="1" noResize="1" noEditPoints="1" noAdjustHandles="1" noChangeArrowheads="1" noChangeShapeType="1" noTextEdit="1"/>
              </p:cNvSpPr>
              <p:nvPr/>
            </p:nvSpPr>
            <p:spPr>
              <a:xfrm>
                <a:off x="2938915" y="685543"/>
                <a:ext cx="544835" cy="369332"/>
              </a:xfrm>
              <a:prstGeom prst="rect">
                <a:avLst/>
              </a:prstGeom>
              <a:blipFill>
                <a:blip r:embed="rId4"/>
                <a:stretch>
                  <a:fillRect b="-6557"/>
                </a:stretch>
              </a:blipFill>
            </p:spPr>
            <p:txBody>
              <a:bodyPr/>
              <a:lstStyle/>
              <a:p>
                <a:r>
                  <a:rPr lang="en-GB">
                    <a:noFill/>
                  </a:rPr>
                  <a:t> </a:t>
                </a:r>
              </a:p>
            </p:txBody>
          </p:sp>
        </mc:Fallback>
      </mc:AlternateContent>
      <p:cxnSp>
        <p:nvCxnSpPr>
          <p:cNvPr id="38" name="Straight Connector 37"/>
          <p:cNvCxnSpPr/>
          <p:nvPr/>
        </p:nvCxnSpPr>
        <p:spPr>
          <a:xfrm>
            <a:off x="3195638" y="1800225"/>
            <a:ext cx="2562225" cy="1276350"/>
          </a:xfrm>
          <a:prstGeom prst="line">
            <a:avLst/>
          </a:prstGeom>
          <a:ln w="28575"/>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39" name="TextBox 38"/>
              <p:cNvSpPr txBox="1"/>
              <p:nvPr/>
            </p:nvSpPr>
            <p:spPr>
              <a:xfrm>
                <a:off x="512987" y="4154275"/>
                <a:ext cx="7884740" cy="2770951"/>
              </a:xfrm>
              <a:prstGeom prst="rect">
                <a:avLst/>
              </a:prstGeom>
              <a:noFill/>
            </p:spPr>
            <p:txBody>
              <a:bodyPr wrap="square" rtlCol="0">
                <a:spAutoFit/>
              </a:bodyPr>
              <a:lstStyle/>
              <a:p>
                <a:r>
                  <a:rPr lang="en-GB" sz="1600" dirty="0"/>
                  <a:t>The temperature </a:t>
                </a:r>
                <a14:m>
                  <m:oMath xmlns:m="http://schemas.openxmlformats.org/officeDocument/2006/math">
                    <m:r>
                      <a:rPr lang="en-GB" sz="1600" b="0" i="1" smtClean="0">
                        <a:latin typeface="Cambria Math" panose="02040503050406030204" pitchFamily="18" charset="0"/>
                      </a:rPr>
                      <m:t>𝑦</m:t>
                    </m:r>
                  </m:oMath>
                </a14:m>
                <a:r>
                  <a:rPr lang="en-GB" sz="1600" dirty="0"/>
                  <a:t> at different points on a mountain is recorded at different altitudes </a:t>
                </a:r>
                <a14:m>
                  <m:oMath xmlns:m="http://schemas.openxmlformats.org/officeDocument/2006/math">
                    <m:r>
                      <a:rPr lang="en-GB" sz="1600" b="0" i="1" smtClean="0">
                        <a:latin typeface="Cambria Math" panose="02040503050406030204" pitchFamily="18" charset="0"/>
                      </a:rPr>
                      <m:t>𝑥</m:t>
                    </m:r>
                  </m:oMath>
                </a14:m>
                <a:r>
                  <a:rPr lang="en-GB" sz="1600" dirty="0"/>
                  <a:t>.</a:t>
                </a:r>
              </a:p>
              <a:p>
                <a:r>
                  <a:rPr lang="en-GB" sz="1600" dirty="0"/>
                  <a:t>Suppose we were to use a linear model </a:t>
                </a:r>
                <a14:m>
                  <m:oMath xmlns:m="http://schemas.openxmlformats.org/officeDocument/2006/math">
                    <m:r>
                      <a:rPr lang="en-GB" sz="1600" b="0" i="1" smtClean="0">
                        <a:latin typeface="Cambria Math" panose="02040503050406030204" pitchFamily="18" charset="0"/>
                      </a:rPr>
                      <m:t>𝑦</m:t>
                    </m:r>
                    <m:r>
                      <a:rPr lang="en-GB" sz="1600" b="0" i="1" smtClean="0">
                        <a:latin typeface="Cambria Math" panose="02040503050406030204" pitchFamily="18" charset="0"/>
                      </a:rPr>
                      <m:t>=</m:t>
                    </m:r>
                    <m:r>
                      <a:rPr lang="en-GB" sz="1600" b="0" i="1" smtClean="0">
                        <a:latin typeface="Cambria Math" panose="02040503050406030204" pitchFamily="18" charset="0"/>
                      </a:rPr>
                      <m:t>𝑚𝑥</m:t>
                    </m:r>
                    <m:r>
                      <a:rPr lang="en-GB" sz="1600" b="0" i="1" smtClean="0">
                        <a:latin typeface="Cambria Math" panose="02040503050406030204" pitchFamily="18" charset="0"/>
                      </a:rPr>
                      <m:t>+</m:t>
                    </m:r>
                    <m:r>
                      <a:rPr lang="en-GB" sz="1600" b="0" i="1" smtClean="0">
                        <a:latin typeface="Cambria Math" panose="02040503050406030204" pitchFamily="18" charset="0"/>
                      </a:rPr>
                      <m:t>𝑐</m:t>
                    </m:r>
                  </m:oMath>
                </a14:m>
                <a:r>
                  <a:rPr lang="en-GB" sz="1600" dirty="0"/>
                  <a:t>.</a:t>
                </a:r>
              </a:p>
              <a:p>
                <a:endParaRPr lang="en-GB" sz="1600" dirty="0"/>
              </a:p>
              <a:p>
                <a:r>
                  <a:rPr lang="en-GB" sz="1600" dirty="0"/>
                  <a:t>Determine </a:t>
                </a:r>
                <a14:m>
                  <m:oMath xmlns:m="http://schemas.openxmlformats.org/officeDocument/2006/math">
                    <m:r>
                      <a:rPr lang="en-GB" sz="1600" b="0" i="1" smtClean="0">
                        <a:latin typeface="Cambria Math" panose="02040503050406030204" pitchFamily="18" charset="0"/>
                      </a:rPr>
                      <m:t>𝑚</m:t>
                    </m:r>
                  </m:oMath>
                </a14:m>
                <a:r>
                  <a:rPr lang="en-GB" sz="1600" dirty="0"/>
                  <a:t> and </a:t>
                </a:r>
                <a14:m>
                  <m:oMath xmlns:m="http://schemas.openxmlformats.org/officeDocument/2006/math">
                    <m:r>
                      <a:rPr lang="en-GB" sz="1600" b="0" i="1" smtClean="0">
                        <a:latin typeface="Cambria Math" panose="02040503050406030204" pitchFamily="18" charset="0"/>
                      </a:rPr>
                      <m:t>𝑐</m:t>
                    </m:r>
                  </m:oMath>
                </a14:m>
                <a:r>
                  <a:rPr lang="en-GB" sz="1600" dirty="0"/>
                  <a:t> (you can assume the line goes through </a:t>
                </a:r>
                <a14:m>
                  <m:oMath xmlns:m="http://schemas.openxmlformats.org/officeDocument/2006/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0,70</m:t>
                        </m:r>
                      </m:e>
                    </m:d>
                  </m:oMath>
                </a14:m>
                <a:r>
                  <a:rPr lang="en-GB" sz="1600" dirty="0"/>
                  <a:t> and </a:t>
                </a:r>
                <a14:m>
                  <m:oMath xmlns:m="http://schemas.openxmlformats.org/officeDocument/2006/math">
                    <m:d>
                      <m:dPr>
                        <m:ctrlPr>
                          <a:rPr lang="en-GB" sz="1600" b="0" i="1" smtClean="0">
                            <a:latin typeface="Cambria Math" panose="02040503050406030204" pitchFamily="18" charset="0"/>
                          </a:rPr>
                        </m:ctrlPr>
                      </m:dPr>
                      <m:e>
                        <m:r>
                          <a:rPr lang="en-GB" sz="1600" b="0" i="1" smtClean="0">
                            <a:latin typeface="Cambria Math" panose="02040503050406030204" pitchFamily="18" charset="0"/>
                          </a:rPr>
                          <m:t>250,20</m:t>
                        </m:r>
                      </m:e>
                    </m:d>
                  </m:oMath>
                </a14:m>
                <a:r>
                  <a:rPr lang="en-GB" sz="1600" dirty="0"/>
                  <a:t>.</a:t>
                </a:r>
              </a:p>
              <a:p>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𝒎</m:t>
                      </m:r>
                      <m:r>
                        <a:rPr lang="en-GB" sz="1600" b="1" i="1" smtClean="0">
                          <a:latin typeface="Cambria Math" panose="02040503050406030204" pitchFamily="18" charset="0"/>
                        </a:rPr>
                        <m:t>=</m:t>
                      </m:r>
                      <m:f>
                        <m:fPr>
                          <m:ctrlPr>
                            <a:rPr lang="en-GB" sz="1600" b="1" i="1" smtClean="0">
                              <a:latin typeface="Cambria Math" panose="02040503050406030204" pitchFamily="18" charset="0"/>
                            </a:rPr>
                          </m:ctrlPr>
                        </m:fPr>
                        <m:num>
                          <m:r>
                            <a:rPr lang="en-GB" sz="1600" b="1" i="1" smtClean="0">
                              <a:latin typeface="Cambria Math" panose="02040503050406030204" pitchFamily="18" charset="0"/>
                            </a:rPr>
                            <m:t>−</m:t>
                          </m:r>
                          <m:r>
                            <a:rPr lang="en-GB" sz="1600" b="1" i="1" smtClean="0">
                              <a:latin typeface="Cambria Math" panose="02040503050406030204" pitchFamily="18" charset="0"/>
                            </a:rPr>
                            <m:t>𝟓𝟎</m:t>
                          </m:r>
                        </m:num>
                        <m:den>
                          <m:r>
                            <a:rPr lang="en-GB" sz="1600" b="1" i="1" smtClean="0">
                              <a:latin typeface="Cambria Math" panose="02040503050406030204" pitchFamily="18" charset="0"/>
                            </a:rPr>
                            <m:t>𝟐𝟓𝟎</m:t>
                          </m:r>
                        </m:den>
                      </m:f>
                      <m:r>
                        <a:rPr lang="en-GB" sz="1600" b="1" i="1" smtClean="0">
                          <a:latin typeface="Cambria Math" panose="02040503050406030204" pitchFamily="18" charset="0"/>
                        </a:rPr>
                        <m:t>=−</m:t>
                      </m:r>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         </m:t>
                      </m:r>
                      <m:r>
                        <a:rPr lang="en-GB" sz="1600" b="1" i="1" smtClean="0">
                          <a:latin typeface="Cambria Math" panose="02040503050406030204" pitchFamily="18" charset="0"/>
                        </a:rPr>
                        <m:t>𝒄</m:t>
                      </m:r>
                      <m:r>
                        <a:rPr lang="en-GB" sz="1600" b="1" i="1" smtClean="0">
                          <a:latin typeface="Cambria Math" panose="02040503050406030204" pitchFamily="18" charset="0"/>
                        </a:rPr>
                        <m:t>=</m:t>
                      </m:r>
                      <m:r>
                        <a:rPr lang="en-GB" sz="1600" b="1" i="1" smtClean="0">
                          <a:latin typeface="Cambria Math" panose="02040503050406030204" pitchFamily="18" charset="0"/>
                        </a:rPr>
                        <m:t>𝟕𝟎</m:t>
                      </m:r>
                    </m:oMath>
                  </m:oMathPara>
                </a14:m>
                <a:endParaRPr lang="en-GB" sz="1600" b="1" dirty="0"/>
              </a:p>
              <a:p>
                <a:r>
                  <a:rPr lang="en-GB" sz="1600" b="1" u="sng" dirty="0"/>
                  <a:t>Interpret</a:t>
                </a:r>
                <a:r>
                  <a:rPr lang="en-GB" sz="1600" dirty="0"/>
                  <a:t> the meaning of </a:t>
                </a:r>
                <a14:m>
                  <m:oMath xmlns:m="http://schemas.openxmlformats.org/officeDocument/2006/math">
                    <m:r>
                      <a:rPr lang="en-GB" sz="1600" b="0" i="1" smtClean="0">
                        <a:latin typeface="Cambria Math" panose="02040503050406030204" pitchFamily="18" charset="0"/>
                      </a:rPr>
                      <m:t>𝑚</m:t>
                    </m:r>
                  </m:oMath>
                </a14:m>
                <a:r>
                  <a:rPr lang="en-GB" sz="1600" dirty="0"/>
                  <a:t> and </a:t>
                </a:r>
                <a14:m>
                  <m:oMath xmlns:m="http://schemas.openxmlformats.org/officeDocument/2006/math">
                    <m:r>
                      <a:rPr lang="en-GB" sz="1600" b="0" i="1" smtClean="0">
                        <a:latin typeface="Cambria Math" panose="02040503050406030204" pitchFamily="18" charset="0"/>
                      </a:rPr>
                      <m:t>𝑐</m:t>
                    </m:r>
                  </m:oMath>
                </a14:m>
                <a:r>
                  <a:rPr lang="en-GB" sz="1600" dirty="0"/>
                  <a:t> </a:t>
                </a:r>
                <a:r>
                  <a:rPr lang="en-GB" sz="1600" b="1" u="sng" dirty="0"/>
                  <a:t>in this context</a:t>
                </a:r>
                <a:r>
                  <a:rPr lang="en-GB" sz="1600" dirty="0"/>
                  <a:t>.</a:t>
                </a:r>
              </a:p>
              <a:p>
                <a:r>
                  <a:rPr lang="en-GB" sz="1600" b="1" dirty="0"/>
                  <a:t>The temperature at sea level is </a:t>
                </a:r>
                <a14:m>
                  <m:oMath xmlns:m="http://schemas.openxmlformats.org/officeDocument/2006/math">
                    <m:r>
                      <a:rPr lang="en-GB" sz="1600" b="1" i="1" smtClean="0">
                        <a:latin typeface="Cambria Math" panose="02040503050406030204" pitchFamily="18" charset="0"/>
                      </a:rPr>
                      <m:t>𝟕𝟎</m:t>
                    </m:r>
                    <m:r>
                      <a:rPr lang="en-GB" sz="1600" b="1" i="1" smtClean="0">
                        <a:latin typeface="Cambria Math" panose="02040503050406030204" pitchFamily="18" charset="0"/>
                      </a:rPr>
                      <m:t>°</m:t>
                    </m:r>
                    <m:r>
                      <a:rPr lang="en-GB" sz="1600" b="1" i="1" smtClean="0">
                        <a:latin typeface="Cambria Math" panose="02040503050406030204" pitchFamily="18" charset="0"/>
                      </a:rPr>
                      <m:t>𝑭</m:t>
                    </m:r>
                  </m:oMath>
                </a14:m>
                <a:r>
                  <a:rPr lang="en-GB" sz="1600" b="1" dirty="0"/>
                  <a:t>. The temperature goes down </a:t>
                </a:r>
                <a14:m>
                  <m:oMath xmlns:m="http://schemas.openxmlformats.org/officeDocument/2006/math">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m:t>
                    </m:r>
                    <m:r>
                      <a:rPr lang="en-GB" sz="1600" b="1" i="1" smtClean="0">
                        <a:latin typeface="Cambria Math" panose="02040503050406030204" pitchFamily="18" charset="0"/>
                      </a:rPr>
                      <m:t>𝑭</m:t>
                    </m:r>
                  </m:oMath>
                </a14:m>
                <a:r>
                  <a:rPr lang="en-GB" sz="1600" b="1" dirty="0"/>
                  <a:t> for each extra metre in altitude.</a:t>
                </a:r>
              </a:p>
              <a:p>
                <a:r>
                  <a:rPr lang="en-GB" sz="1600" dirty="0"/>
                  <a:t>Predict at what altitude the temperature reaches </a:t>
                </a:r>
                <a14:m>
                  <m:oMath xmlns:m="http://schemas.openxmlformats.org/officeDocument/2006/math">
                    <m:r>
                      <a:rPr lang="en-GB" sz="1600" b="0" i="1" smtClean="0">
                        <a:latin typeface="Cambria Math" panose="02040503050406030204" pitchFamily="18" charset="0"/>
                      </a:rPr>
                      <m:t>0°</m:t>
                    </m:r>
                    <m:r>
                      <a:rPr lang="en-GB" sz="1600" b="0" i="1" smtClean="0">
                        <a:latin typeface="Cambria Math" panose="02040503050406030204" pitchFamily="18" charset="0"/>
                      </a:rPr>
                      <m:t>𝐹</m:t>
                    </m:r>
                  </m:oMath>
                </a14:m>
                <a:r>
                  <a:rPr lang="en-GB" sz="1600" dirty="0"/>
                  <a:t>.</a:t>
                </a:r>
              </a:p>
              <a:p>
                <a:pPr/>
                <a14:m>
                  <m:oMathPara xmlns:m="http://schemas.openxmlformats.org/officeDocument/2006/math">
                    <m:oMathParaPr>
                      <m:jc m:val="centerGroup"/>
                    </m:oMathParaPr>
                    <m:oMath xmlns:m="http://schemas.openxmlformats.org/officeDocument/2006/math">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𝟎</m:t>
                      </m:r>
                      <m:r>
                        <a:rPr lang="en-GB" sz="1600" b="1" i="1" smtClean="0">
                          <a:latin typeface="Cambria Math" panose="02040503050406030204" pitchFamily="18" charset="0"/>
                        </a:rPr>
                        <m:t>.</m:t>
                      </m:r>
                      <m:r>
                        <a:rPr lang="en-GB" sz="1600" b="1" i="1" smtClean="0">
                          <a:latin typeface="Cambria Math" panose="02040503050406030204" pitchFamily="18" charset="0"/>
                        </a:rPr>
                        <m:t>𝟐</m:t>
                      </m:r>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𝟕𝟎</m:t>
                      </m:r>
                      <m:r>
                        <a:rPr lang="en-GB" sz="1600" b="1" i="1" smtClean="0">
                          <a:latin typeface="Cambria Math" panose="02040503050406030204" pitchFamily="18" charset="0"/>
                        </a:rPr>
                        <m:t>    →   </m:t>
                      </m:r>
                      <m:r>
                        <a:rPr lang="en-GB" sz="1600" b="1" i="1" smtClean="0">
                          <a:latin typeface="Cambria Math" panose="02040503050406030204" pitchFamily="18" charset="0"/>
                        </a:rPr>
                        <m:t>𝒙</m:t>
                      </m:r>
                      <m:r>
                        <a:rPr lang="en-GB" sz="1600" b="1" i="1" smtClean="0">
                          <a:latin typeface="Cambria Math" panose="02040503050406030204" pitchFamily="18" charset="0"/>
                        </a:rPr>
                        <m:t>=</m:t>
                      </m:r>
                      <m:r>
                        <a:rPr lang="en-GB" sz="1600" b="1" i="1" smtClean="0">
                          <a:latin typeface="Cambria Math" panose="02040503050406030204" pitchFamily="18" charset="0"/>
                        </a:rPr>
                        <m:t>𝟑𝟓𝟎</m:t>
                      </m:r>
                      <m:r>
                        <a:rPr lang="en-GB" sz="1600" b="1" i="1" smtClean="0">
                          <a:latin typeface="Cambria Math" panose="02040503050406030204" pitchFamily="18" charset="0"/>
                        </a:rPr>
                        <m:t>𝒎</m:t>
                      </m:r>
                    </m:oMath>
                  </m:oMathPara>
                </a14:m>
                <a:endParaRPr lang="en-GB" sz="1600" b="1" dirty="0"/>
              </a:p>
            </p:txBody>
          </p:sp>
        </mc:Choice>
        <mc:Fallback xmlns="">
          <p:sp>
            <p:nvSpPr>
              <p:cNvPr id="39" name="TextBox 38"/>
              <p:cNvSpPr txBox="1">
                <a:spLocks noRot="1" noChangeAspect="1" noMove="1" noResize="1" noEditPoints="1" noAdjustHandles="1" noChangeArrowheads="1" noChangeShapeType="1" noTextEdit="1"/>
              </p:cNvSpPr>
              <p:nvPr/>
            </p:nvSpPr>
            <p:spPr>
              <a:xfrm>
                <a:off x="512987" y="4154275"/>
                <a:ext cx="7884740" cy="2770951"/>
              </a:xfrm>
              <a:prstGeom prst="rect">
                <a:avLst/>
              </a:prstGeom>
              <a:blipFill>
                <a:blip r:embed="rId5"/>
                <a:stretch>
                  <a:fillRect l="-386" t="-659"/>
                </a:stretch>
              </a:blipFill>
            </p:spPr>
            <p:txBody>
              <a:bodyPr/>
              <a:lstStyle/>
              <a:p>
                <a:r>
                  <a:rPr lang="en-GB">
                    <a:noFill/>
                  </a:rPr>
                  <a:t> </a:t>
                </a:r>
              </a:p>
            </p:txBody>
          </p:sp>
        </mc:Fallback>
      </mc:AlternateContent>
      <p:cxnSp>
        <p:nvCxnSpPr>
          <p:cNvPr id="50" name="Straight Connector 49"/>
          <p:cNvCxnSpPr/>
          <p:nvPr/>
        </p:nvCxnSpPr>
        <p:spPr>
          <a:xfrm>
            <a:off x="3706031" y="3400425"/>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a:off x="4224920"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51"/>
          <p:cNvCxnSpPr/>
          <p:nvPr/>
        </p:nvCxnSpPr>
        <p:spPr>
          <a:xfrm>
            <a:off x="4723599"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3" name="Straight Connector 52"/>
          <p:cNvCxnSpPr/>
          <p:nvPr/>
        </p:nvCxnSpPr>
        <p:spPr>
          <a:xfrm>
            <a:off x="5236944"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5749595" y="3395216"/>
            <a:ext cx="0" cy="144016"/>
          </a:xfrm>
          <a:prstGeom prst="line">
            <a:avLst/>
          </a:prstGeom>
        </p:spPr>
        <p:style>
          <a:lnRef idx="1">
            <a:schemeClr val="accent1"/>
          </a:lnRef>
          <a:fillRef idx="0">
            <a:schemeClr val="accent1"/>
          </a:fillRef>
          <a:effectRef idx="0">
            <a:schemeClr val="accent1"/>
          </a:effectRef>
          <a:fontRef idx="minor">
            <a:schemeClr val="tx1"/>
          </a:fontRef>
        </p:style>
      </p:cxnSp>
      <p:cxnSp>
        <p:nvCxnSpPr>
          <p:cNvPr id="55" name="Straight Connector 54"/>
          <p:cNvCxnSpPr/>
          <p:nvPr/>
        </p:nvCxnSpPr>
        <p:spPr>
          <a:xfrm>
            <a:off x="3131071" y="3002856"/>
            <a:ext cx="140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58"/>
          <p:cNvCxnSpPr/>
          <p:nvPr/>
        </p:nvCxnSpPr>
        <p:spPr>
          <a:xfrm>
            <a:off x="3130228" y="2514460"/>
            <a:ext cx="140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p:cNvCxnSpPr/>
          <p:nvPr/>
        </p:nvCxnSpPr>
        <p:spPr>
          <a:xfrm>
            <a:off x="3128988" y="2053578"/>
            <a:ext cx="140344"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60"/>
          <p:cNvCxnSpPr/>
          <p:nvPr/>
        </p:nvCxnSpPr>
        <p:spPr>
          <a:xfrm>
            <a:off x="3128988" y="1577503"/>
            <a:ext cx="140344" cy="0"/>
          </a:xfrm>
          <a:prstGeom prst="line">
            <a:avLst/>
          </a:prstGeom>
        </p:spPr>
        <p:style>
          <a:lnRef idx="1">
            <a:schemeClr val="accent1"/>
          </a:lnRef>
          <a:fillRef idx="0">
            <a:schemeClr val="accent1"/>
          </a:fillRef>
          <a:effectRef idx="0">
            <a:schemeClr val="accent1"/>
          </a:effectRef>
          <a:fontRef idx="minor">
            <a:schemeClr val="tx1"/>
          </a:fontRef>
        </p:style>
      </p:cxnSp>
      <p:sp>
        <p:nvSpPr>
          <p:cNvPr id="63" name="Rectangle 62"/>
          <p:cNvSpPr/>
          <p:nvPr/>
        </p:nvSpPr>
        <p:spPr>
          <a:xfrm>
            <a:off x="2663579" y="5175679"/>
            <a:ext cx="3144570" cy="49844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64" name="Rectangle 63"/>
          <p:cNvSpPr/>
          <p:nvPr/>
        </p:nvSpPr>
        <p:spPr>
          <a:xfrm>
            <a:off x="589309" y="5922565"/>
            <a:ext cx="7440441" cy="41227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65" name="Rectangle 64"/>
          <p:cNvSpPr/>
          <p:nvPr/>
        </p:nvSpPr>
        <p:spPr>
          <a:xfrm>
            <a:off x="2827688" y="6617666"/>
            <a:ext cx="3487480" cy="212102"/>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
        <p:nvSpPr>
          <p:cNvPr id="66" name="Rectangle 65"/>
          <p:cNvSpPr/>
          <p:nvPr/>
        </p:nvSpPr>
        <p:spPr>
          <a:xfrm>
            <a:off x="198358" y="4928135"/>
            <a:ext cx="261467" cy="25135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a</a:t>
            </a:r>
          </a:p>
        </p:txBody>
      </p:sp>
      <p:sp>
        <p:nvSpPr>
          <p:cNvPr id="67" name="Rectangle 66"/>
          <p:cNvSpPr/>
          <p:nvPr/>
        </p:nvSpPr>
        <p:spPr>
          <a:xfrm>
            <a:off x="213652" y="5655233"/>
            <a:ext cx="261467" cy="25135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b</a:t>
            </a:r>
          </a:p>
        </p:txBody>
      </p:sp>
      <p:sp>
        <p:nvSpPr>
          <p:cNvPr id="68" name="Rectangle 67"/>
          <p:cNvSpPr/>
          <p:nvPr/>
        </p:nvSpPr>
        <p:spPr>
          <a:xfrm>
            <a:off x="224939" y="6382331"/>
            <a:ext cx="261467" cy="251354"/>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r>
              <a:rPr lang="en-GB" dirty="0"/>
              <a:t>c</a:t>
            </a:r>
          </a:p>
        </p:txBody>
      </p:sp>
      <p:cxnSp>
        <p:nvCxnSpPr>
          <p:cNvPr id="70" name="Straight Connector 69"/>
          <p:cNvCxnSpPr/>
          <p:nvPr/>
        </p:nvCxnSpPr>
        <p:spPr>
          <a:xfrm>
            <a:off x="0" y="4797152"/>
            <a:ext cx="9144000" cy="0"/>
          </a:xfrm>
          <a:prstGeom prst="line">
            <a:avLst/>
          </a:prstGeom>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657563267"/>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63"/>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63"/>
                                        </p:tgtEl>
                                      </p:cBhvr>
                                    </p:animEffect>
                                    <p:set>
                                      <p:cBhvr>
                                        <p:cTn id="7" dur="1" fill="hold">
                                          <p:stCondLst>
                                            <p:cond delay="499"/>
                                          </p:stCondLst>
                                        </p:cTn>
                                        <p:tgtEl>
                                          <p:spTgt spid="63"/>
                                        </p:tgtEl>
                                        <p:attrNameLst>
                                          <p:attrName>style.visibility</p:attrName>
                                        </p:attrNameLst>
                                      </p:cBhvr>
                                      <p:to>
                                        <p:strVal val="hidden"/>
                                      </p:to>
                                    </p:set>
                                  </p:childTnLst>
                                </p:cTn>
                              </p:par>
                            </p:childTnLst>
                          </p:cTn>
                        </p:par>
                      </p:childTnLst>
                    </p:cTn>
                  </p:par>
                </p:childTnLst>
              </p:cTn>
              <p:nextCondLst>
                <p:cond evt="onClick" delay="0">
                  <p:tgtEl>
                    <p:spTgt spid="63"/>
                  </p:tgtEl>
                </p:cond>
              </p:nextCondLst>
            </p:seq>
            <p:seq concurrent="1" nextAc="seek">
              <p:cTn id="8" restart="whenNotActive" fill="hold" evtFilter="cancelBubble" nodeType="interactiveSeq">
                <p:stCondLst>
                  <p:cond evt="onClick" delay="0">
                    <p:tgtEl>
                      <p:spTgt spid="64"/>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64"/>
                                        </p:tgtEl>
                                      </p:cBhvr>
                                    </p:animEffect>
                                    <p:set>
                                      <p:cBhvr>
                                        <p:cTn id="13" dur="1" fill="hold">
                                          <p:stCondLst>
                                            <p:cond delay="499"/>
                                          </p:stCondLst>
                                        </p:cTn>
                                        <p:tgtEl>
                                          <p:spTgt spid="64"/>
                                        </p:tgtEl>
                                        <p:attrNameLst>
                                          <p:attrName>style.visibility</p:attrName>
                                        </p:attrNameLst>
                                      </p:cBhvr>
                                      <p:to>
                                        <p:strVal val="hidden"/>
                                      </p:to>
                                    </p:set>
                                  </p:childTnLst>
                                </p:cTn>
                              </p:par>
                            </p:childTnLst>
                          </p:cTn>
                        </p:par>
                      </p:childTnLst>
                    </p:cTn>
                  </p:par>
                </p:childTnLst>
              </p:cTn>
              <p:nextCondLst>
                <p:cond evt="onClick" delay="0">
                  <p:tgtEl>
                    <p:spTgt spid="64"/>
                  </p:tgtEl>
                </p:cond>
              </p:nextCondLst>
            </p:seq>
            <p:seq concurrent="1" nextAc="seek">
              <p:cTn id="14" restart="whenNotActive" fill="hold" evtFilter="cancelBubble" nodeType="interactiveSeq">
                <p:stCondLst>
                  <p:cond evt="onClick" delay="0">
                    <p:tgtEl>
                      <p:spTgt spid="65"/>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65"/>
                                        </p:tgtEl>
                                      </p:cBhvr>
                                    </p:animEffect>
                                    <p:set>
                                      <p:cBhvr>
                                        <p:cTn id="19" dur="1" fill="hold">
                                          <p:stCondLst>
                                            <p:cond delay="499"/>
                                          </p:stCondLst>
                                        </p:cTn>
                                        <p:tgtEl>
                                          <p:spTgt spid="65"/>
                                        </p:tgtEl>
                                        <p:attrNameLst>
                                          <p:attrName>style.visibility</p:attrName>
                                        </p:attrNameLst>
                                      </p:cBhvr>
                                      <p:to>
                                        <p:strVal val="hidden"/>
                                      </p:to>
                                    </p:set>
                                  </p:childTnLst>
                                </p:cTn>
                              </p:par>
                            </p:childTnLst>
                          </p:cTn>
                        </p:par>
                      </p:childTnLst>
                    </p:cTn>
                  </p:par>
                </p:childTnLst>
              </p:cTn>
              <p:nextCondLst>
                <p:cond evt="onClick" delay="0">
                  <p:tgtEl>
                    <p:spTgt spid="65"/>
                  </p:tgtEl>
                </p:cond>
              </p:nextCondLst>
            </p:seq>
          </p:childTnLst>
        </p:cTn>
      </p:par>
    </p:tnLst>
    <p:bldLst>
      <p:bldP spid="63" grpId="0" animBg="1"/>
      <p:bldP spid="64" grpId="0" animBg="1"/>
      <p:bldP spid="65" grpId="0" animBg="1"/>
    </p:bldLst>
  </p:timing>
</p:sld>
</file>

<file path=ppt/c5/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Evaluating if a linear model is most suitable</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mc:AlternateContent xmlns:mc="http://schemas.openxmlformats.org/markup-compatibility/2006" xmlns:a14="http://schemas.microsoft.com/office/drawing/2010/main">
        <mc:Choice Requires="a14">
          <p:sp>
            <p:nvSpPr>
              <p:cNvPr id="5" name="TextBox 4"/>
              <p:cNvSpPr txBox="1"/>
              <p:nvPr/>
            </p:nvSpPr>
            <p:spPr>
              <a:xfrm>
                <a:off x="467544" y="980728"/>
                <a:ext cx="7056784" cy="1200329"/>
              </a:xfrm>
              <a:prstGeom prst="rect">
                <a:avLst/>
              </a:prstGeom>
              <a:noFill/>
            </p:spPr>
            <p:txBody>
              <a:bodyPr wrap="square" rtlCol="0">
                <a:spAutoFit/>
              </a:bodyPr>
              <a:lstStyle/>
              <a:p>
                <a:r>
                  <a:rPr lang="en-GB" dirty="0"/>
                  <a:t>Choosing a model for our data usually involves making </a:t>
                </a:r>
                <a:r>
                  <a:rPr lang="en-GB" b="1" dirty="0"/>
                  <a:t>simplifying assumptions</a:t>
                </a:r>
                <a:r>
                  <a:rPr lang="en-GB" dirty="0"/>
                  <a:t>. For a linear model we are assuming:</a:t>
                </a:r>
              </a:p>
              <a:p>
                <a:endParaRPr lang="en-GB" dirty="0"/>
              </a:p>
              <a:p>
                <a:r>
                  <a:rPr lang="en-GB" dirty="0"/>
                  <a:t>The </a:t>
                </a:r>
                <a14:m>
                  <m:oMath xmlns:m="http://schemas.openxmlformats.org/officeDocument/2006/math">
                    <m:r>
                      <a:rPr lang="en-GB" b="0" i="1" smtClean="0">
                        <a:latin typeface="Cambria Math" panose="02040503050406030204" pitchFamily="18" charset="0"/>
                      </a:rPr>
                      <m:t>𝑦</m:t>
                    </m:r>
                  </m:oMath>
                </a14:m>
                <a:r>
                  <a:rPr lang="en-GB" dirty="0"/>
                  <a:t> value goes up the same amount for each unit increase in </a:t>
                </a:r>
                <a14:m>
                  <m:oMath xmlns:m="http://schemas.openxmlformats.org/officeDocument/2006/math">
                    <m:r>
                      <a:rPr lang="en-GB" b="0" i="1" smtClean="0">
                        <a:latin typeface="Cambria Math" panose="02040503050406030204" pitchFamily="18" charset="0"/>
                      </a:rPr>
                      <m:t>𝑥</m:t>
                    </m:r>
                  </m:oMath>
                </a14:m>
                <a:r>
                  <a:rPr lang="en-GB" dirty="0"/>
                  <a:t>.</a:t>
                </a:r>
              </a:p>
            </p:txBody>
          </p:sp>
        </mc:Choice>
        <mc:Fallback xmlns="">
          <p:sp>
            <p:nvSpPr>
              <p:cNvPr id="5" name="TextBox 4"/>
              <p:cNvSpPr txBox="1">
                <a:spLocks noRot="1" noChangeAspect="1" noMove="1" noResize="1" noEditPoints="1" noAdjustHandles="1" noChangeArrowheads="1" noChangeShapeType="1" noTextEdit="1"/>
              </p:cNvSpPr>
              <p:nvPr/>
            </p:nvSpPr>
            <p:spPr>
              <a:xfrm>
                <a:off x="467544" y="980728"/>
                <a:ext cx="7056784" cy="1200329"/>
              </a:xfrm>
              <a:prstGeom prst="rect">
                <a:avLst/>
              </a:prstGeom>
              <a:blipFill>
                <a:blip r:embed="rId2"/>
                <a:stretch>
                  <a:fillRect l="-778" t="-3046" b="-7107"/>
                </a:stretch>
              </a:blipFill>
            </p:spPr>
            <p:txBody>
              <a:bodyPr/>
              <a:lstStyle/>
              <a:p>
                <a:r>
                  <a:rPr lang="en-GB">
                    <a:noFill/>
                  </a:rPr>
                  <a:t> </a:t>
                </a:r>
              </a:p>
            </p:txBody>
          </p:sp>
        </mc:Fallback>
      </mc:AlternateContent>
      <p:sp>
        <p:nvSpPr>
          <p:cNvPr id="6" name="TextBox 5"/>
          <p:cNvSpPr txBox="1"/>
          <p:nvPr/>
        </p:nvSpPr>
        <p:spPr>
          <a:xfrm>
            <a:off x="600927" y="4690827"/>
            <a:ext cx="7056784" cy="369332"/>
          </a:xfrm>
          <a:prstGeom prst="rect">
            <a:avLst/>
          </a:prstGeom>
          <a:noFill/>
        </p:spPr>
        <p:txBody>
          <a:bodyPr wrap="square" rtlCol="0">
            <a:spAutoFit/>
          </a:bodyPr>
          <a:lstStyle/>
          <a:p>
            <a:r>
              <a:rPr lang="en-GB" dirty="0"/>
              <a:t>The population is unlikely to increase by the same amount each year. </a:t>
            </a:r>
          </a:p>
        </p:txBody>
      </p:sp>
      <mc:AlternateContent xmlns:mc="http://schemas.openxmlformats.org/markup-compatibility/2006" xmlns:a14="http://schemas.microsoft.com/office/drawing/2010/main">
        <mc:Choice Requires="a14">
          <p:sp>
            <p:nvSpPr>
              <p:cNvPr id="7" name="Rectangle 6"/>
              <p:cNvSpPr/>
              <p:nvPr/>
            </p:nvSpPr>
            <p:spPr>
              <a:xfrm>
                <a:off x="596089" y="2785201"/>
                <a:ext cx="7632848" cy="1754326"/>
              </a:xfrm>
              <a:prstGeom prst="rect">
                <a:avLst/>
              </a:prstGeom>
              <a:solidFill>
                <a:schemeClr val="bg1"/>
              </a:solidFill>
              <a:effectLst>
                <a:outerShdw blurRad="63500" sx="102000" sy="102000" algn="ctr" rotWithShape="0">
                  <a:prstClr val="black">
                    <a:alpha val="40000"/>
                  </a:prstClr>
                </a:outerShdw>
              </a:effectLst>
            </p:spPr>
            <p:txBody>
              <a:bodyPr wrap="square">
                <a:spAutoFit/>
              </a:bodyPr>
              <a:lstStyle/>
              <a:p>
                <a:r>
                  <a:rPr lang="en-GB" dirty="0"/>
                  <a:t>The current population of Bickerstonia is 26000. This year (2017) the population increased by 150. Matt decides to model the population </a:t>
                </a:r>
                <a14:m>
                  <m:oMath xmlns:m="http://schemas.openxmlformats.org/officeDocument/2006/math">
                    <m:r>
                      <a:rPr lang="en-GB" i="1">
                        <a:latin typeface="Cambria Math" panose="02040503050406030204" pitchFamily="18" charset="0"/>
                      </a:rPr>
                      <m:t>𝑃</m:t>
                    </m:r>
                  </m:oMath>
                </a14:m>
                <a:r>
                  <a:rPr lang="en-GB" dirty="0"/>
                  <a:t> based on the years </a:t>
                </a:r>
                <a14:m>
                  <m:oMath xmlns:m="http://schemas.openxmlformats.org/officeDocument/2006/math">
                    <m:r>
                      <a:rPr lang="en-GB" i="1">
                        <a:latin typeface="Cambria Math" panose="02040503050406030204" pitchFamily="18" charset="0"/>
                      </a:rPr>
                      <m:t>𝑡</m:t>
                    </m:r>
                  </m:oMath>
                </a14:m>
                <a:r>
                  <a:rPr lang="en-GB" dirty="0"/>
                  <a:t> after 2017 by the linear model:</a:t>
                </a:r>
              </a:p>
              <a:p>
                <a:pPr/>
                <a14:m>
                  <m:oMathPara xmlns:m="http://schemas.openxmlformats.org/officeDocument/2006/math">
                    <m:oMathParaPr>
                      <m:jc m:val="centerGroup"/>
                    </m:oMathParaPr>
                    <m:oMath xmlns:m="http://schemas.openxmlformats.org/officeDocument/2006/math">
                      <m:r>
                        <a:rPr lang="en-GB" i="1">
                          <a:latin typeface="Cambria Math" panose="02040503050406030204" pitchFamily="18" charset="0"/>
                        </a:rPr>
                        <m:t>𝑃</m:t>
                      </m:r>
                      <m:r>
                        <a:rPr lang="en-GB" i="1">
                          <a:latin typeface="Cambria Math" panose="02040503050406030204" pitchFamily="18" charset="0"/>
                        </a:rPr>
                        <m:t>=</m:t>
                      </m:r>
                      <m:r>
                        <a:rPr lang="en-GB" i="1">
                          <a:latin typeface="Cambria Math" panose="02040503050406030204" pitchFamily="18" charset="0"/>
                        </a:rPr>
                        <m:t>𝑚𝑡</m:t>
                      </m:r>
                      <m:r>
                        <a:rPr lang="en-GB" i="1">
                          <a:latin typeface="Cambria Math" panose="02040503050406030204" pitchFamily="18" charset="0"/>
                        </a:rPr>
                        <m:t>+</m:t>
                      </m:r>
                      <m:r>
                        <a:rPr lang="en-GB" i="1">
                          <a:latin typeface="Cambria Math" panose="02040503050406030204" pitchFamily="18" charset="0"/>
                        </a:rPr>
                        <m:t>𝑐</m:t>
                      </m:r>
                    </m:oMath>
                  </m:oMathPara>
                </a14:m>
                <a:endParaRPr lang="en-GB" dirty="0"/>
              </a:p>
              <a:p>
                <a:endParaRPr lang="en-GB" dirty="0"/>
              </a:p>
              <a:p>
                <a:r>
                  <a:rPr lang="en-GB" dirty="0"/>
                  <a:t>Why might this not be a suitable model?</a:t>
                </a:r>
              </a:p>
            </p:txBody>
          </p:sp>
        </mc:Choice>
        <mc:Fallback xmlns="">
          <p:sp>
            <p:nvSpPr>
              <p:cNvPr id="7" name="Rectangle 6"/>
              <p:cNvSpPr>
                <a:spLocks noRot="1" noChangeAspect="1" noMove="1" noResize="1" noEditPoints="1" noAdjustHandles="1" noChangeArrowheads="1" noChangeShapeType="1" noTextEdit="1"/>
              </p:cNvSpPr>
              <p:nvPr/>
            </p:nvSpPr>
            <p:spPr>
              <a:xfrm>
                <a:off x="596089" y="2785201"/>
                <a:ext cx="7632848" cy="1754326"/>
              </a:xfrm>
              <a:prstGeom prst="rect">
                <a:avLst/>
              </a:prstGeom>
              <a:blipFill>
                <a:blip r:embed="rId3"/>
                <a:stretch>
                  <a:fillRect/>
                </a:stretch>
              </a:blipFill>
              <a:effectLst>
                <a:outerShdw blurRad="63500" sx="102000" sy="102000" algn="ctr" rotWithShape="0">
                  <a:prstClr val="black">
                    <a:alpha val="40000"/>
                  </a:prstClr>
                </a:outerShdw>
              </a:effectLst>
            </p:spPr>
            <p:txBody>
              <a:bodyPr/>
              <a:lstStyle/>
              <a:p>
                <a:r>
                  <a:rPr lang="en-GB">
                    <a:noFill/>
                  </a:rPr>
                  <a:t> </a:t>
                </a:r>
              </a:p>
            </p:txBody>
          </p:sp>
        </mc:Fallback>
      </mc:AlternateContent>
      <p:sp>
        <p:nvSpPr>
          <p:cNvPr id="8" name="TextBox 7"/>
          <p:cNvSpPr txBox="1"/>
          <p:nvPr/>
        </p:nvSpPr>
        <p:spPr>
          <a:xfrm>
            <a:off x="6768244" y="5283445"/>
            <a:ext cx="1512168" cy="646331"/>
          </a:xfrm>
          <a:prstGeom prst="rect">
            <a:avLst/>
          </a:prstGeom>
          <a:noFill/>
        </p:spPr>
        <p:txBody>
          <a:bodyPr wrap="square" rtlCol="0">
            <a:spAutoFit/>
          </a:bodyPr>
          <a:lstStyle/>
          <a:p>
            <a:r>
              <a:rPr lang="en-GB" sz="1200" dirty="0"/>
              <a:t>i.e. the assumption of a linear model is violated.</a:t>
            </a:r>
          </a:p>
        </p:txBody>
      </p:sp>
      <p:cxnSp>
        <p:nvCxnSpPr>
          <p:cNvPr id="10" name="Straight Arrow Connector 9"/>
          <p:cNvCxnSpPr>
            <a:stCxn id="8" idx="1"/>
          </p:cNvCxnSpPr>
          <p:nvPr/>
        </p:nvCxnSpPr>
        <p:spPr>
          <a:xfrm flipH="1" flipV="1">
            <a:off x="6157863" y="5116824"/>
            <a:ext cx="610381" cy="489787"/>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mc:AlternateContent xmlns:mc="http://schemas.openxmlformats.org/markup-compatibility/2006" xmlns:a14="http://schemas.microsoft.com/office/drawing/2010/main">
        <mc:Choice Requires="a14">
          <p:sp>
            <p:nvSpPr>
              <p:cNvPr id="11" name="TextBox 10"/>
              <p:cNvSpPr txBox="1"/>
              <p:nvPr/>
            </p:nvSpPr>
            <p:spPr>
              <a:xfrm>
                <a:off x="2220888" y="5437587"/>
                <a:ext cx="4318136" cy="1015663"/>
              </a:xfrm>
              <a:prstGeom prst="rect">
                <a:avLst/>
              </a:prstGeom>
            </p:spPr>
            <p:style>
              <a:lnRef idx="2">
                <a:schemeClr val="dk1">
                  <a:shade val="50000"/>
                </a:schemeClr>
              </a:lnRef>
              <a:fillRef idx="1">
                <a:schemeClr val="dk1"/>
              </a:fillRef>
              <a:effectRef idx="0">
                <a:schemeClr val="dk1"/>
              </a:effectRef>
              <a:fontRef idx="minor">
                <a:schemeClr val="lt1"/>
              </a:fontRef>
            </p:style>
            <p:txBody>
              <a:bodyPr wrap="square" rtlCol="0">
                <a:spAutoFit/>
              </a:bodyPr>
              <a:lstStyle/>
              <a:p>
                <a:r>
                  <a:rPr lang="en-GB" sz="1200" b="1" dirty="0"/>
                  <a:t>Note:</a:t>
                </a:r>
                <a:r>
                  <a:rPr lang="en-GB" sz="1200" dirty="0"/>
                  <a:t> Population tends to grow/decline by a percentage each year. Therefore a better model would be an </a:t>
                </a:r>
                <a:r>
                  <a:rPr lang="en-GB" sz="1200" b="1" dirty="0"/>
                  <a:t>exponential</a:t>
                </a:r>
                <a:r>
                  <a:rPr lang="en-GB" sz="1200" dirty="0"/>
                  <a:t> function </a:t>
                </a:r>
                <a14:m>
                  <m:oMath xmlns:m="http://schemas.openxmlformats.org/officeDocument/2006/math">
                    <m:r>
                      <a:rPr lang="en-GB" sz="1200" b="0" i="1" smtClean="0">
                        <a:latin typeface="Cambria Math" panose="02040503050406030204" pitchFamily="18" charset="0"/>
                      </a:rPr>
                      <m:t>𝑃</m:t>
                    </m:r>
                    <m:r>
                      <a:rPr lang="en-GB" sz="1200" b="0" i="1" smtClean="0">
                        <a:latin typeface="Cambria Math" panose="02040503050406030204" pitchFamily="18" charset="0"/>
                      </a:rPr>
                      <m:t>=</m:t>
                    </m:r>
                    <m:r>
                      <a:rPr lang="en-GB" sz="1200" b="0" i="1" smtClean="0">
                        <a:latin typeface="Cambria Math" panose="02040503050406030204" pitchFamily="18" charset="0"/>
                      </a:rPr>
                      <m:t>𝑎</m:t>
                    </m:r>
                    <m:sSup>
                      <m:sSupPr>
                        <m:ctrlPr>
                          <a:rPr lang="en-GB" sz="1200" b="0" i="1" smtClean="0">
                            <a:latin typeface="Cambria Math" panose="02040503050406030204" pitchFamily="18" charset="0"/>
                          </a:rPr>
                        </m:ctrlPr>
                      </m:sSupPr>
                      <m:e>
                        <m:r>
                          <a:rPr lang="en-GB" sz="1200" b="0" i="1" smtClean="0">
                            <a:latin typeface="Cambria Math" panose="02040503050406030204" pitchFamily="18" charset="0"/>
                          </a:rPr>
                          <m:t>𝑏</m:t>
                        </m:r>
                      </m:e>
                      <m:sup>
                        <m:r>
                          <a:rPr lang="en-GB" sz="1200" b="0" i="1" smtClean="0">
                            <a:latin typeface="Cambria Math" panose="02040503050406030204" pitchFamily="18" charset="0"/>
                          </a:rPr>
                          <m:t>𝑡</m:t>
                        </m:r>
                      </m:sup>
                    </m:sSup>
                  </m:oMath>
                </a14:m>
                <a:r>
                  <a:rPr lang="en-GB" sz="1200" dirty="0"/>
                  <a:t> where </a:t>
                </a:r>
                <a14:m>
                  <m:oMath xmlns:m="http://schemas.openxmlformats.org/officeDocument/2006/math">
                    <m:r>
                      <a:rPr lang="en-GB" sz="1200" b="0" i="1" smtClean="0">
                        <a:latin typeface="Cambria Math" panose="02040503050406030204" pitchFamily="18" charset="0"/>
                      </a:rPr>
                      <m:t>𝑎</m:t>
                    </m:r>
                    <m:r>
                      <a:rPr lang="en-GB" sz="1200" b="0" i="1" smtClean="0">
                        <a:latin typeface="Cambria Math" panose="02040503050406030204" pitchFamily="18" charset="0"/>
                      </a:rPr>
                      <m:t>,</m:t>
                    </m:r>
                    <m:r>
                      <a:rPr lang="en-GB" sz="1200" b="0" i="1" smtClean="0">
                        <a:latin typeface="Cambria Math" panose="02040503050406030204" pitchFamily="18" charset="0"/>
                      </a:rPr>
                      <m:t>𝑏</m:t>
                    </m:r>
                  </m:oMath>
                </a14:m>
                <a:r>
                  <a:rPr lang="en-GB" sz="1200" dirty="0"/>
                  <a:t> are constants. The </a:t>
                </a:r>
                <a14:m>
                  <m:oMath xmlns:m="http://schemas.openxmlformats.org/officeDocument/2006/math">
                    <m:r>
                      <a:rPr lang="en-GB" sz="1200" b="0" i="1" smtClean="0">
                        <a:latin typeface="Cambria Math" panose="02040503050406030204" pitchFamily="18" charset="0"/>
                      </a:rPr>
                      <m:t>𝑎</m:t>
                    </m:r>
                  </m:oMath>
                </a14:m>
                <a:r>
                  <a:rPr lang="en-GB" sz="1200" dirty="0"/>
                  <a:t> would be the initial population and the </a:t>
                </a:r>
                <a14:m>
                  <m:oMath xmlns:m="http://schemas.openxmlformats.org/officeDocument/2006/math">
                    <m:r>
                      <a:rPr lang="en-GB" sz="1200" b="0" i="1" smtClean="0">
                        <a:latin typeface="Cambria Math" panose="02040503050406030204" pitchFamily="18" charset="0"/>
                      </a:rPr>
                      <m:t>𝑏</m:t>
                    </m:r>
                  </m:oMath>
                </a14:m>
                <a:r>
                  <a:rPr lang="en-GB" sz="1200" dirty="0"/>
                  <a:t> the factor increase each year, e.g. </a:t>
                </a:r>
                <a14:m>
                  <m:oMath xmlns:m="http://schemas.openxmlformats.org/officeDocument/2006/math">
                    <m:r>
                      <a:rPr lang="en-GB" sz="1200" b="0" i="1" smtClean="0">
                        <a:latin typeface="Cambria Math" panose="02040503050406030204" pitchFamily="18" charset="0"/>
                      </a:rPr>
                      <m:t>𝑏</m:t>
                    </m:r>
                    <m:r>
                      <a:rPr lang="en-GB" sz="1200" b="0" i="1" smtClean="0">
                        <a:latin typeface="Cambria Math" panose="02040503050406030204" pitchFamily="18" charset="0"/>
                      </a:rPr>
                      <m:t>=1.1</m:t>
                    </m:r>
                  </m:oMath>
                </a14:m>
                <a:r>
                  <a:rPr lang="en-GB" sz="1200" dirty="0"/>
                  <a:t> would be a 10% annual growth.</a:t>
                </a:r>
              </a:p>
            </p:txBody>
          </p:sp>
        </mc:Choice>
        <mc:Fallback xmlns="">
          <p:sp>
            <p:nvSpPr>
              <p:cNvPr id="11" name="TextBox 10"/>
              <p:cNvSpPr txBox="1">
                <a:spLocks noRot="1" noChangeAspect="1" noMove="1" noResize="1" noEditPoints="1" noAdjustHandles="1" noChangeArrowheads="1" noChangeShapeType="1" noTextEdit="1"/>
              </p:cNvSpPr>
              <p:nvPr/>
            </p:nvSpPr>
            <p:spPr>
              <a:xfrm>
                <a:off x="2220888" y="5437587"/>
                <a:ext cx="4318136" cy="1015663"/>
              </a:xfrm>
              <a:prstGeom prst="rect">
                <a:avLst/>
              </a:prstGeom>
              <a:blipFill>
                <a:blip r:embed="rId4"/>
                <a:stretch>
                  <a:fillRect r="-281" b="-2339"/>
                </a:stretch>
              </a:blipFill>
            </p:spPr>
            <p:txBody>
              <a:bodyPr/>
              <a:lstStyle/>
              <a:p>
                <a:r>
                  <a:rPr lang="en-GB">
                    <a:noFill/>
                  </a:rPr>
                  <a:t> </a:t>
                </a:r>
              </a:p>
            </p:txBody>
          </p:sp>
        </mc:Fallback>
      </mc:AlternateContent>
      <p:sp>
        <p:nvSpPr>
          <p:cNvPr id="12" name="Rectangle 11"/>
          <p:cNvSpPr/>
          <p:nvPr/>
        </p:nvSpPr>
        <p:spPr>
          <a:xfrm>
            <a:off x="596090" y="4690827"/>
            <a:ext cx="7684322" cy="2024017"/>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 </a:t>
            </a:r>
          </a:p>
        </p:txBody>
      </p:sp>
    </p:spTree>
    <p:extLst>
      <p:ext uri="{BB962C8B-B14F-4D97-AF65-F5344CB8AC3E}">
        <p14:creationId xmlns:p14="http://schemas.microsoft.com/office/powerpoint/2010/main" val="2852108315"/>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2"/>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2"/>
                                        </p:tgtEl>
                                      </p:cBhvr>
                                    </p:animEffect>
                                    <p:set>
                                      <p:cBhvr>
                                        <p:cTn id="7" dur="1" fill="hold">
                                          <p:stCondLst>
                                            <p:cond delay="499"/>
                                          </p:stCondLst>
                                        </p:cTn>
                                        <p:tgtEl>
                                          <p:spTgt spid="12"/>
                                        </p:tgtEl>
                                        <p:attrNameLst>
                                          <p:attrName>style.visibility</p:attrName>
                                        </p:attrNameLst>
                                      </p:cBhvr>
                                      <p:to>
                                        <p:strVal val="hidden"/>
                                      </p:to>
                                    </p:set>
                                  </p:childTnLst>
                                </p:cTn>
                              </p:par>
                            </p:childTnLst>
                          </p:cTn>
                        </p:par>
                      </p:childTnLst>
                    </p:cTn>
                  </p:par>
                </p:childTnLst>
              </p:cTn>
              <p:nextCondLst>
                <p:cond evt="onClick" delay="0">
                  <p:tgtEl>
                    <p:spTgt spid="12"/>
                  </p:tgtEl>
                </p:cond>
              </p:nextCondLst>
            </p:seq>
          </p:childTnLst>
        </p:cTn>
      </p:par>
    </p:tnLst>
    <p:bldLst>
      <p:bldP spid="12" grpId="0" animBg="1"/>
    </p:bldLst>
  </p:timing>
</p:sld>
</file>

<file path=ppt/c5/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5H – Pure Y1 Page 106-108</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pic>
        <p:nvPicPr>
          <p:cNvPr id="5" name="Picture 4">
            <a:extLst>
              <a:ext uri="{FF2B5EF4-FFF2-40B4-BE49-F238E27FC236}">
                <a16:creationId xmlns:a16="http://schemas.microsoft.com/office/drawing/2014/main" id="{0E31FA83-5AA4-E4F1-768B-B8EA3D67E3E7}"/>
              </a:ext>
            </a:extLst>
          </p:cNvPr>
          <p:cNvPicPr>
            <a:picLocks noChangeAspect="1"/>
          </p:cNvPicPr>
          <p:nvPr/>
        </p:nvPicPr>
        <p:blipFill>
          <a:blip r:embed="rId2"/>
          <a:stretch>
            <a:fillRect/>
          </a:stretch>
        </p:blipFill>
        <p:spPr>
          <a:xfrm>
            <a:off x="107504" y="599127"/>
            <a:ext cx="7772400" cy="850824"/>
          </a:xfrm>
          <a:prstGeom prst="rect">
            <a:avLst/>
          </a:prstGeom>
        </p:spPr>
      </p:pic>
      <p:pic>
        <p:nvPicPr>
          <p:cNvPr id="6" name="Picture 5">
            <a:extLst>
              <a:ext uri="{FF2B5EF4-FFF2-40B4-BE49-F238E27FC236}">
                <a16:creationId xmlns:a16="http://schemas.microsoft.com/office/drawing/2014/main" id="{F95AAB4B-01ED-94D3-5F6E-E209FFDCD905}"/>
              </a:ext>
            </a:extLst>
          </p:cNvPr>
          <p:cNvPicPr>
            <a:picLocks noChangeAspect="1"/>
          </p:cNvPicPr>
          <p:nvPr/>
        </p:nvPicPr>
        <p:blipFill>
          <a:blip r:embed="rId3"/>
          <a:stretch>
            <a:fillRect/>
          </a:stretch>
        </p:blipFill>
        <p:spPr>
          <a:xfrm>
            <a:off x="323528" y="1437406"/>
            <a:ext cx="4824536" cy="1269614"/>
          </a:xfrm>
          <a:prstGeom prst="rect">
            <a:avLst/>
          </a:prstGeom>
        </p:spPr>
      </p:pic>
      <p:pic>
        <p:nvPicPr>
          <p:cNvPr id="8" name="Picture 7">
            <a:extLst>
              <a:ext uri="{FF2B5EF4-FFF2-40B4-BE49-F238E27FC236}">
                <a16:creationId xmlns:a16="http://schemas.microsoft.com/office/drawing/2014/main" id="{7BF6F5B2-7691-ACB8-DA06-8EEBCA4BD99A}"/>
              </a:ext>
            </a:extLst>
          </p:cNvPr>
          <p:cNvPicPr>
            <a:picLocks noChangeAspect="1"/>
          </p:cNvPicPr>
          <p:nvPr/>
        </p:nvPicPr>
        <p:blipFill>
          <a:blip r:embed="rId4"/>
          <a:stretch>
            <a:fillRect/>
          </a:stretch>
        </p:blipFill>
        <p:spPr>
          <a:xfrm>
            <a:off x="323527" y="2852936"/>
            <a:ext cx="3957031" cy="2664296"/>
          </a:xfrm>
          <a:prstGeom prst="rect">
            <a:avLst/>
          </a:prstGeom>
        </p:spPr>
      </p:pic>
      <p:pic>
        <p:nvPicPr>
          <p:cNvPr id="9" name="Picture 8">
            <a:extLst>
              <a:ext uri="{FF2B5EF4-FFF2-40B4-BE49-F238E27FC236}">
                <a16:creationId xmlns:a16="http://schemas.microsoft.com/office/drawing/2014/main" id="{64547C09-0221-BFCE-3A83-D08B277E195A}"/>
              </a:ext>
            </a:extLst>
          </p:cNvPr>
          <p:cNvPicPr>
            <a:picLocks noChangeAspect="1"/>
          </p:cNvPicPr>
          <p:nvPr/>
        </p:nvPicPr>
        <p:blipFill>
          <a:blip r:embed="rId5"/>
          <a:stretch>
            <a:fillRect/>
          </a:stretch>
        </p:blipFill>
        <p:spPr>
          <a:xfrm>
            <a:off x="467544" y="5724156"/>
            <a:ext cx="3302000" cy="546100"/>
          </a:xfrm>
          <a:prstGeom prst="rect">
            <a:avLst/>
          </a:prstGeom>
        </p:spPr>
      </p:pic>
      <p:grpSp>
        <p:nvGrpSpPr>
          <p:cNvPr id="16" name="Group 15">
            <a:extLst>
              <a:ext uri="{FF2B5EF4-FFF2-40B4-BE49-F238E27FC236}">
                <a16:creationId xmlns:a16="http://schemas.microsoft.com/office/drawing/2014/main" id="{3E7EA334-A29F-B7CB-5F04-442268E8B3C8}"/>
              </a:ext>
            </a:extLst>
          </p:cNvPr>
          <p:cNvGrpSpPr/>
          <p:nvPr/>
        </p:nvGrpSpPr>
        <p:grpSpPr>
          <a:xfrm>
            <a:off x="4613853" y="2850899"/>
            <a:ext cx="3558547" cy="1587876"/>
            <a:chOff x="3924620" y="2850899"/>
            <a:chExt cx="3558547" cy="1587876"/>
          </a:xfrm>
        </p:grpSpPr>
        <p:grpSp>
          <p:nvGrpSpPr>
            <p:cNvPr id="15" name="Group 14">
              <a:extLst>
                <a:ext uri="{FF2B5EF4-FFF2-40B4-BE49-F238E27FC236}">
                  <a16:creationId xmlns:a16="http://schemas.microsoft.com/office/drawing/2014/main" id="{5119E222-B3CA-9B06-D9BE-7B5D2C9E8A92}"/>
                </a:ext>
              </a:extLst>
            </p:cNvPr>
            <p:cNvGrpSpPr/>
            <p:nvPr/>
          </p:nvGrpSpPr>
          <p:grpSpPr>
            <a:xfrm>
              <a:off x="3924620" y="2850899"/>
              <a:ext cx="3558547" cy="588805"/>
              <a:chOff x="3924620" y="2850899"/>
              <a:chExt cx="3558547" cy="588805"/>
            </a:xfrm>
          </p:grpSpPr>
          <p:pic>
            <p:nvPicPr>
              <p:cNvPr id="10" name="Picture 9">
                <a:extLst>
                  <a:ext uri="{FF2B5EF4-FFF2-40B4-BE49-F238E27FC236}">
                    <a16:creationId xmlns:a16="http://schemas.microsoft.com/office/drawing/2014/main" id="{8867C671-AD9E-592C-D2DF-BF7354666AB5}"/>
                  </a:ext>
                </a:extLst>
              </p:cNvPr>
              <p:cNvPicPr>
                <a:picLocks noChangeAspect="1"/>
              </p:cNvPicPr>
              <p:nvPr/>
            </p:nvPicPr>
            <p:blipFill>
              <a:blip r:embed="rId6"/>
              <a:stretch>
                <a:fillRect/>
              </a:stretch>
            </p:blipFill>
            <p:spPr>
              <a:xfrm>
                <a:off x="3924620" y="2893604"/>
                <a:ext cx="1905000" cy="546100"/>
              </a:xfrm>
              <a:prstGeom prst="rect">
                <a:avLst/>
              </a:prstGeom>
            </p:spPr>
          </p:pic>
          <p:pic>
            <p:nvPicPr>
              <p:cNvPr id="11" name="Picture 10">
                <a:extLst>
                  <a:ext uri="{FF2B5EF4-FFF2-40B4-BE49-F238E27FC236}">
                    <a16:creationId xmlns:a16="http://schemas.microsoft.com/office/drawing/2014/main" id="{6C34F0A2-28EE-2A4B-FA3E-D0C765D45A87}"/>
                  </a:ext>
                </a:extLst>
              </p:cNvPr>
              <p:cNvPicPr>
                <a:picLocks noChangeAspect="1"/>
              </p:cNvPicPr>
              <p:nvPr/>
            </p:nvPicPr>
            <p:blipFill>
              <a:blip r:embed="rId7"/>
              <a:stretch>
                <a:fillRect/>
              </a:stretch>
            </p:blipFill>
            <p:spPr>
              <a:xfrm>
                <a:off x="5796136" y="2850899"/>
                <a:ext cx="1079500" cy="546100"/>
              </a:xfrm>
              <a:prstGeom prst="rect">
                <a:avLst/>
              </a:prstGeom>
            </p:spPr>
          </p:pic>
          <p:pic>
            <p:nvPicPr>
              <p:cNvPr id="12" name="Picture 11">
                <a:extLst>
                  <a:ext uri="{FF2B5EF4-FFF2-40B4-BE49-F238E27FC236}">
                    <a16:creationId xmlns:a16="http://schemas.microsoft.com/office/drawing/2014/main" id="{8D20CE11-E6BF-BF4E-755B-94770D323979}"/>
                  </a:ext>
                </a:extLst>
              </p:cNvPr>
              <p:cNvPicPr>
                <a:picLocks noChangeAspect="1"/>
              </p:cNvPicPr>
              <p:nvPr/>
            </p:nvPicPr>
            <p:blipFill>
              <a:blip r:embed="rId8"/>
              <a:stretch>
                <a:fillRect/>
              </a:stretch>
            </p:blipFill>
            <p:spPr>
              <a:xfrm>
                <a:off x="6860867" y="2983063"/>
                <a:ext cx="622300" cy="266700"/>
              </a:xfrm>
              <a:prstGeom prst="rect">
                <a:avLst/>
              </a:prstGeom>
            </p:spPr>
          </p:pic>
        </p:grpSp>
        <p:pic>
          <p:nvPicPr>
            <p:cNvPr id="13" name="Picture 12">
              <a:extLst>
                <a:ext uri="{FF2B5EF4-FFF2-40B4-BE49-F238E27FC236}">
                  <a16:creationId xmlns:a16="http://schemas.microsoft.com/office/drawing/2014/main" id="{B2C0A94A-FD1E-6A36-DFD5-F7834A6F1520}"/>
                </a:ext>
              </a:extLst>
            </p:cNvPr>
            <p:cNvPicPr>
              <a:picLocks noChangeAspect="1"/>
            </p:cNvPicPr>
            <p:nvPr/>
          </p:nvPicPr>
          <p:blipFill>
            <a:blip r:embed="rId9"/>
            <a:stretch>
              <a:fillRect/>
            </a:stretch>
          </p:blipFill>
          <p:spPr>
            <a:xfrm>
              <a:off x="4125714" y="3422775"/>
              <a:ext cx="2044700" cy="1016000"/>
            </a:xfrm>
            <a:prstGeom prst="rect">
              <a:avLst/>
            </a:prstGeom>
          </p:spPr>
        </p:pic>
      </p:grpSp>
      <p:pic>
        <p:nvPicPr>
          <p:cNvPr id="14" name="Picture 13">
            <a:extLst>
              <a:ext uri="{FF2B5EF4-FFF2-40B4-BE49-F238E27FC236}">
                <a16:creationId xmlns:a16="http://schemas.microsoft.com/office/drawing/2014/main" id="{75CB0386-B001-12C0-B39B-09E5C9ABB979}"/>
              </a:ext>
            </a:extLst>
          </p:cNvPr>
          <p:cNvPicPr>
            <a:picLocks noChangeAspect="1"/>
          </p:cNvPicPr>
          <p:nvPr/>
        </p:nvPicPr>
        <p:blipFill>
          <a:blip r:embed="rId10"/>
          <a:stretch>
            <a:fillRect/>
          </a:stretch>
        </p:blipFill>
        <p:spPr>
          <a:xfrm>
            <a:off x="4641800" y="4520158"/>
            <a:ext cx="3530600" cy="2108200"/>
          </a:xfrm>
          <a:prstGeom prst="rect">
            <a:avLst/>
          </a:prstGeom>
        </p:spPr>
      </p:pic>
      <p:sp>
        <p:nvSpPr>
          <p:cNvPr id="17" name="Rectangle 16">
            <a:extLst>
              <a:ext uri="{FF2B5EF4-FFF2-40B4-BE49-F238E27FC236}">
                <a16:creationId xmlns:a16="http://schemas.microsoft.com/office/drawing/2014/main" id="{E95412AF-0606-FA4D-1033-7E247340764E}"/>
              </a:ext>
            </a:extLst>
          </p:cNvPr>
          <p:cNvSpPr/>
          <p:nvPr/>
        </p:nvSpPr>
        <p:spPr>
          <a:xfrm>
            <a:off x="395536" y="2825145"/>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18" name="Rectangle 17">
            <a:extLst>
              <a:ext uri="{FF2B5EF4-FFF2-40B4-BE49-F238E27FC236}">
                <a16:creationId xmlns:a16="http://schemas.microsoft.com/office/drawing/2014/main" id="{B40FD7C6-1ACA-56A5-5ECB-D10FD97DD2F9}"/>
              </a:ext>
            </a:extLst>
          </p:cNvPr>
          <p:cNvSpPr/>
          <p:nvPr/>
        </p:nvSpPr>
        <p:spPr>
          <a:xfrm>
            <a:off x="395536" y="5610870"/>
            <a:ext cx="3830597" cy="105410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
        <p:nvSpPr>
          <p:cNvPr id="19" name="Rectangle 18">
            <a:extLst>
              <a:ext uri="{FF2B5EF4-FFF2-40B4-BE49-F238E27FC236}">
                <a16:creationId xmlns:a16="http://schemas.microsoft.com/office/drawing/2014/main" id="{1C80516B-FADE-EE95-AE0E-BBE43B61C216}"/>
              </a:ext>
            </a:extLst>
          </p:cNvPr>
          <p:cNvSpPr/>
          <p:nvPr/>
        </p:nvSpPr>
        <p:spPr>
          <a:xfrm>
            <a:off x="4641800" y="2813632"/>
            <a:ext cx="3830597" cy="1625144"/>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 </a:t>
            </a:r>
          </a:p>
        </p:txBody>
      </p:sp>
      <p:sp>
        <p:nvSpPr>
          <p:cNvPr id="20" name="Rectangle 19">
            <a:extLst>
              <a:ext uri="{FF2B5EF4-FFF2-40B4-BE49-F238E27FC236}">
                <a16:creationId xmlns:a16="http://schemas.microsoft.com/office/drawing/2014/main" id="{5A6733E0-833F-A623-F9C5-D0DF83642D10}"/>
              </a:ext>
            </a:extLst>
          </p:cNvPr>
          <p:cNvSpPr/>
          <p:nvPr/>
        </p:nvSpPr>
        <p:spPr>
          <a:xfrm>
            <a:off x="4641800" y="4512776"/>
            <a:ext cx="3830597" cy="121138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 </a:t>
            </a:r>
          </a:p>
        </p:txBody>
      </p:sp>
      <p:sp>
        <p:nvSpPr>
          <p:cNvPr id="21" name="Rectangle 20">
            <a:extLst>
              <a:ext uri="{FF2B5EF4-FFF2-40B4-BE49-F238E27FC236}">
                <a16:creationId xmlns:a16="http://schemas.microsoft.com/office/drawing/2014/main" id="{6FA12B9A-42B2-A234-685B-E9C62EF9096F}"/>
              </a:ext>
            </a:extLst>
          </p:cNvPr>
          <p:cNvSpPr/>
          <p:nvPr/>
        </p:nvSpPr>
        <p:spPr>
          <a:xfrm>
            <a:off x="4641799" y="5820640"/>
            <a:ext cx="3830597" cy="844330"/>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e? </a:t>
            </a:r>
          </a:p>
        </p:txBody>
      </p:sp>
    </p:spTree>
    <p:extLst>
      <p:ext uri="{BB962C8B-B14F-4D97-AF65-F5344CB8AC3E}">
        <p14:creationId xmlns:p14="http://schemas.microsoft.com/office/powerpoint/2010/main" val="3380283643"/>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7"/>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7"/>
                                        </p:tgtEl>
                                      </p:cBhvr>
                                    </p:animEffect>
                                    <p:set>
                                      <p:cBhvr>
                                        <p:cTn id="7" dur="1" fill="hold">
                                          <p:stCondLst>
                                            <p:cond delay="499"/>
                                          </p:stCondLst>
                                        </p:cTn>
                                        <p:tgtEl>
                                          <p:spTgt spid="17"/>
                                        </p:tgtEl>
                                        <p:attrNameLst>
                                          <p:attrName>style.visibility</p:attrName>
                                        </p:attrNameLst>
                                      </p:cBhvr>
                                      <p:to>
                                        <p:strVal val="hidden"/>
                                      </p:to>
                                    </p:set>
                                  </p:childTnLst>
                                </p:cTn>
                              </p:par>
                            </p:childTnLst>
                          </p:cTn>
                        </p:par>
                      </p:childTnLst>
                    </p:cTn>
                  </p:par>
                </p:childTnLst>
              </p:cTn>
              <p:nextCondLst>
                <p:cond evt="onClick" delay="0">
                  <p:tgtEl>
                    <p:spTgt spid="17"/>
                  </p:tgtEl>
                </p:cond>
              </p:nextCondLst>
            </p:seq>
            <p:seq concurrent="1" nextAc="seek">
              <p:cTn id="8" restart="whenNotActive" fill="hold" evtFilter="cancelBubble" nodeType="interactiveSeq">
                <p:stCondLst>
                  <p:cond evt="onClick" delay="0">
                    <p:tgtEl>
                      <p:spTgt spid="18"/>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8"/>
                                        </p:tgtEl>
                                      </p:cBhvr>
                                    </p:animEffect>
                                    <p:set>
                                      <p:cBhvr>
                                        <p:cTn id="13"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14" restart="whenNotActive" fill="hold" evtFilter="cancelBubble" nodeType="interactiveSeq">
                <p:stCondLst>
                  <p:cond evt="onClick" delay="0">
                    <p:tgtEl>
                      <p:spTgt spid="19"/>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19"/>
                                        </p:tgtEl>
                                      </p:cBhvr>
                                    </p:animEffect>
                                    <p:set>
                                      <p:cBhvr>
                                        <p:cTn id="19"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20" restart="whenNotActive" fill="hold" evtFilter="cancelBubble" nodeType="interactiveSeq">
                <p:stCondLst>
                  <p:cond evt="onClick" delay="0">
                    <p:tgtEl>
                      <p:spTgt spid="20"/>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0"/>
                                        </p:tgtEl>
                                      </p:cBhvr>
                                    </p:animEffect>
                                    <p:set>
                                      <p:cBhvr>
                                        <p:cTn id="25" dur="1" fill="hold">
                                          <p:stCondLst>
                                            <p:cond delay="499"/>
                                          </p:stCondLst>
                                        </p:cTn>
                                        <p:tgtEl>
                                          <p:spTgt spid="20"/>
                                        </p:tgtEl>
                                        <p:attrNameLst>
                                          <p:attrName>style.visibility</p:attrName>
                                        </p:attrNameLst>
                                      </p:cBhvr>
                                      <p:to>
                                        <p:strVal val="hidden"/>
                                      </p:to>
                                    </p:set>
                                  </p:childTnLst>
                                </p:cTn>
                              </p:par>
                            </p:childTnLst>
                          </p:cTn>
                        </p:par>
                      </p:childTnLst>
                    </p:cTn>
                  </p:par>
                </p:childTnLst>
              </p:cTn>
              <p:nextCondLst>
                <p:cond evt="onClick" delay="0">
                  <p:tgtEl>
                    <p:spTgt spid="20"/>
                  </p:tgtEl>
                </p:cond>
              </p:nextCondLst>
            </p:seq>
            <p:seq concurrent="1" nextAc="seek">
              <p:cTn id="26" restart="whenNotActive" fill="hold" evtFilter="cancelBubble" nodeType="interactiveSeq">
                <p:stCondLst>
                  <p:cond evt="onClick" delay="0">
                    <p:tgtEl>
                      <p:spTgt spid="21"/>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21"/>
                                        </p:tgtEl>
                                      </p:cBhvr>
                                    </p:animEffect>
                                    <p:set>
                                      <p:cBhvr>
                                        <p:cTn id="31" dur="1" fill="hold">
                                          <p:stCondLst>
                                            <p:cond delay="499"/>
                                          </p:stCondLst>
                                        </p:cTn>
                                        <p:tgtEl>
                                          <p:spTgt spid="21"/>
                                        </p:tgtEl>
                                        <p:attrNameLst>
                                          <p:attrName>style.visibility</p:attrName>
                                        </p:attrNameLst>
                                      </p:cBhvr>
                                      <p:to>
                                        <p:strVal val="hidden"/>
                                      </p:to>
                                    </p:set>
                                  </p:childTnLst>
                                </p:cTn>
                              </p:par>
                            </p:childTnLst>
                          </p:cTn>
                        </p:par>
                      </p:childTnLst>
                    </p:cTn>
                  </p:par>
                </p:childTnLst>
              </p:cTn>
              <p:nextCondLst>
                <p:cond evt="onClick" delay="0">
                  <p:tgtEl>
                    <p:spTgt spid="21"/>
                  </p:tgtEl>
                </p:cond>
              </p:nextCondLst>
            </p:seq>
          </p:childTnLst>
        </p:cTn>
      </p:par>
    </p:tnLst>
    <p:bldLst>
      <p:bldP spid="17" grpId="0" animBg="1"/>
      <p:bldP spid="18" grpId="0" animBg="1"/>
      <p:bldP spid="19" grpId="0" animBg="1"/>
      <p:bldP spid="20" grpId="0" animBg="1"/>
      <p:bldP spid="21" grpId="0" animBg="1"/>
    </p:bldLst>
  </p:timing>
</p:sld>
</file>

<file path=ppt/c5/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5H – Pure Y1 Page 106-108</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9" name="Group 8">
            <a:extLst>
              <a:ext uri="{FF2B5EF4-FFF2-40B4-BE49-F238E27FC236}">
                <a16:creationId xmlns:a16="http://schemas.microsoft.com/office/drawing/2014/main" id="{D0891136-0588-0C87-AC4C-220138958480}"/>
              </a:ext>
            </a:extLst>
          </p:cNvPr>
          <p:cNvGrpSpPr/>
          <p:nvPr/>
        </p:nvGrpSpPr>
        <p:grpSpPr>
          <a:xfrm>
            <a:off x="179512" y="661929"/>
            <a:ext cx="7827168" cy="1470928"/>
            <a:chOff x="179512" y="661929"/>
            <a:chExt cx="7827168" cy="1470928"/>
          </a:xfrm>
        </p:grpSpPr>
        <p:pic>
          <p:nvPicPr>
            <p:cNvPr id="5" name="Picture 4">
              <a:extLst>
                <a:ext uri="{FF2B5EF4-FFF2-40B4-BE49-F238E27FC236}">
                  <a16:creationId xmlns:a16="http://schemas.microsoft.com/office/drawing/2014/main" id="{7993284C-4E63-BCFC-7A4C-284118C63118}"/>
                </a:ext>
              </a:extLst>
            </p:cNvPr>
            <p:cNvPicPr>
              <a:picLocks noChangeAspect="1"/>
            </p:cNvPicPr>
            <p:nvPr/>
          </p:nvPicPr>
          <p:blipFill>
            <a:blip r:embed="rId2"/>
            <a:stretch>
              <a:fillRect/>
            </a:stretch>
          </p:blipFill>
          <p:spPr>
            <a:xfrm>
              <a:off x="179512" y="661929"/>
              <a:ext cx="7772400" cy="1257870"/>
            </a:xfrm>
            <a:prstGeom prst="rect">
              <a:avLst/>
            </a:prstGeom>
          </p:spPr>
        </p:pic>
        <p:pic>
          <p:nvPicPr>
            <p:cNvPr id="6" name="Picture 5">
              <a:extLst>
                <a:ext uri="{FF2B5EF4-FFF2-40B4-BE49-F238E27FC236}">
                  <a16:creationId xmlns:a16="http://schemas.microsoft.com/office/drawing/2014/main" id="{06C3D296-98C6-6F1C-1BD9-4422DA4A83C2}"/>
                </a:ext>
              </a:extLst>
            </p:cNvPr>
            <p:cNvPicPr>
              <a:picLocks noChangeAspect="1"/>
            </p:cNvPicPr>
            <p:nvPr/>
          </p:nvPicPr>
          <p:blipFill>
            <a:blip r:embed="rId3"/>
            <a:stretch>
              <a:fillRect/>
            </a:stretch>
          </p:blipFill>
          <p:spPr>
            <a:xfrm>
              <a:off x="360000" y="1916833"/>
              <a:ext cx="7272808" cy="216024"/>
            </a:xfrm>
            <a:prstGeom prst="rect">
              <a:avLst/>
            </a:prstGeom>
          </p:spPr>
        </p:pic>
        <p:sp>
          <p:nvSpPr>
            <p:cNvPr id="8" name="Rectangle 7">
              <a:extLst>
                <a:ext uri="{FF2B5EF4-FFF2-40B4-BE49-F238E27FC236}">
                  <a16:creationId xmlns:a16="http://schemas.microsoft.com/office/drawing/2014/main" id="{07F40010-58D8-C889-94CC-4B958EFE622E}"/>
                </a:ext>
              </a:extLst>
            </p:cNvPr>
            <p:cNvSpPr/>
            <p:nvPr/>
          </p:nvSpPr>
          <p:spPr>
            <a:xfrm>
              <a:off x="7092280" y="1196752"/>
              <a:ext cx="914400" cy="432048"/>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grpSp>
        <p:nvGrpSpPr>
          <p:cNvPr id="15" name="Group 14">
            <a:extLst>
              <a:ext uri="{FF2B5EF4-FFF2-40B4-BE49-F238E27FC236}">
                <a16:creationId xmlns:a16="http://schemas.microsoft.com/office/drawing/2014/main" id="{EE9B8B6A-8F10-D481-CBF6-31EE55B481E9}"/>
              </a:ext>
            </a:extLst>
          </p:cNvPr>
          <p:cNvGrpSpPr/>
          <p:nvPr/>
        </p:nvGrpSpPr>
        <p:grpSpPr>
          <a:xfrm>
            <a:off x="411556" y="2276872"/>
            <a:ext cx="3227840" cy="2695266"/>
            <a:chOff x="251520" y="2389918"/>
            <a:chExt cx="3375512" cy="2818573"/>
          </a:xfrm>
        </p:grpSpPr>
        <p:pic>
          <p:nvPicPr>
            <p:cNvPr id="10" name="Picture 9">
              <a:extLst>
                <a:ext uri="{FF2B5EF4-FFF2-40B4-BE49-F238E27FC236}">
                  <a16:creationId xmlns:a16="http://schemas.microsoft.com/office/drawing/2014/main" id="{262C0F19-6433-28CD-C66D-7BAC33A24571}"/>
                </a:ext>
              </a:extLst>
            </p:cNvPr>
            <p:cNvPicPr>
              <a:picLocks noChangeAspect="1"/>
            </p:cNvPicPr>
            <p:nvPr/>
          </p:nvPicPr>
          <p:blipFill rotWithShape="1">
            <a:blip r:embed="rId4"/>
            <a:srcRect l="5075"/>
            <a:stretch/>
          </p:blipFill>
          <p:spPr>
            <a:xfrm>
              <a:off x="251520" y="2389918"/>
              <a:ext cx="3375512" cy="1384300"/>
            </a:xfrm>
            <a:prstGeom prst="rect">
              <a:avLst/>
            </a:prstGeom>
          </p:spPr>
        </p:pic>
        <p:pic>
          <p:nvPicPr>
            <p:cNvPr id="11" name="Picture 10">
              <a:extLst>
                <a:ext uri="{FF2B5EF4-FFF2-40B4-BE49-F238E27FC236}">
                  <a16:creationId xmlns:a16="http://schemas.microsoft.com/office/drawing/2014/main" id="{8B92AFA4-D4B2-1ACD-D6B1-C2FC9E71AFAC}"/>
                </a:ext>
              </a:extLst>
            </p:cNvPr>
            <p:cNvPicPr>
              <a:picLocks noChangeAspect="1"/>
            </p:cNvPicPr>
            <p:nvPr/>
          </p:nvPicPr>
          <p:blipFill>
            <a:blip r:embed="rId5"/>
            <a:stretch>
              <a:fillRect/>
            </a:stretch>
          </p:blipFill>
          <p:spPr>
            <a:xfrm>
              <a:off x="2339752" y="3379179"/>
              <a:ext cx="482600" cy="279400"/>
            </a:xfrm>
            <a:prstGeom prst="rect">
              <a:avLst/>
            </a:prstGeom>
          </p:spPr>
        </p:pic>
        <p:pic>
          <p:nvPicPr>
            <p:cNvPr id="12" name="Picture 11">
              <a:extLst>
                <a:ext uri="{FF2B5EF4-FFF2-40B4-BE49-F238E27FC236}">
                  <a16:creationId xmlns:a16="http://schemas.microsoft.com/office/drawing/2014/main" id="{781E1C10-BBAB-C168-ACFD-AC5D5C6D12F0}"/>
                </a:ext>
              </a:extLst>
            </p:cNvPr>
            <p:cNvPicPr>
              <a:picLocks noChangeAspect="1"/>
            </p:cNvPicPr>
            <p:nvPr/>
          </p:nvPicPr>
          <p:blipFill>
            <a:blip r:embed="rId6"/>
            <a:stretch>
              <a:fillRect/>
            </a:stretch>
          </p:blipFill>
          <p:spPr>
            <a:xfrm>
              <a:off x="616382" y="3773391"/>
              <a:ext cx="2997200" cy="1435100"/>
            </a:xfrm>
            <a:prstGeom prst="rect">
              <a:avLst/>
            </a:prstGeom>
          </p:spPr>
        </p:pic>
      </p:grpSp>
      <p:pic>
        <p:nvPicPr>
          <p:cNvPr id="14" name="Picture 13">
            <a:extLst>
              <a:ext uri="{FF2B5EF4-FFF2-40B4-BE49-F238E27FC236}">
                <a16:creationId xmlns:a16="http://schemas.microsoft.com/office/drawing/2014/main" id="{96C7F5A9-A67F-1725-FA24-4E9FB51D5B6E}"/>
              </a:ext>
            </a:extLst>
          </p:cNvPr>
          <p:cNvPicPr>
            <a:picLocks noChangeAspect="1"/>
          </p:cNvPicPr>
          <p:nvPr/>
        </p:nvPicPr>
        <p:blipFill>
          <a:blip r:embed="rId7"/>
          <a:stretch>
            <a:fillRect/>
          </a:stretch>
        </p:blipFill>
        <p:spPr>
          <a:xfrm>
            <a:off x="411556" y="5006425"/>
            <a:ext cx="3024336" cy="1594865"/>
          </a:xfrm>
          <a:prstGeom prst="rect">
            <a:avLst/>
          </a:prstGeom>
        </p:spPr>
      </p:pic>
      <p:pic>
        <p:nvPicPr>
          <p:cNvPr id="16" name="Picture 15">
            <a:extLst>
              <a:ext uri="{FF2B5EF4-FFF2-40B4-BE49-F238E27FC236}">
                <a16:creationId xmlns:a16="http://schemas.microsoft.com/office/drawing/2014/main" id="{1C8AB0B5-B318-A068-02B4-57D65A8050A8}"/>
              </a:ext>
            </a:extLst>
          </p:cNvPr>
          <p:cNvPicPr>
            <a:picLocks noChangeAspect="1"/>
          </p:cNvPicPr>
          <p:nvPr/>
        </p:nvPicPr>
        <p:blipFill rotWithShape="1">
          <a:blip r:embed="rId8"/>
          <a:srcRect b="56749"/>
          <a:stretch/>
        </p:blipFill>
        <p:spPr>
          <a:xfrm>
            <a:off x="4387130" y="2458991"/>
            <a:ext cx="3467100" cy="1257870"/>
          </a:xfrm>
          <a:prstGeom prst="rect">
            <a:avLst/>
          </a:prstGeom>
        </p:spPr>
      </p:pic>
      <p:pic>
        <p:nvPicPr>
          <p:cNvPr id="17" name="Picture 16">
            <a:extLst>
              <a:ext uri="{FF2B5EF4-FFF2-40B4-BE49-F238E27FC236}">
                <a16:creationId xmlns:a16="http://schemas.microsoft.com/office/drawing/2014/main" id="{3B90CE60-7E01-9DDC-393C-4FAF32565513}"/>
              </a:ext>
            </a:extLst>
          </p:cNvPr>
          <p:cNvPicPr>
            <a:picLocks noChangeAspect="1"/>
          </p:cNvPicPr>
          <p:nvPr/>
        </p:nvPicPr>
        <p:blipFill rotWithShape="1">
          <a:blip r:embed="rId8"/>
          <a:srcRect t="47773"/>
          <a:stretch/>
        </p:blipFill>
        <p:spPr>
          <a:xfrm>
            <a:off x="4429119" y="5039775"/>
            <a:ext cx="3467100" cy="1518920"/>
          </a:xfrm>
          <a:prstGeom prst="rect">
            <a:avLst/>
          </a:prstGeom>
        </p:spPr>
      </p:pic>
      <p:sp>
        <p:nvSpPr>
          <p:cNvPr id="18" name="Rectangle 17">
            <a:extLst>
              <a:ext uri="{FF2B5EF4-FFF2-40B4-BE49-F238E27FC236}">
                <a16:creationId xmlns:a16="http://schemas.microsoft.com/office/drawing/2014/main" id="{0D1F02AB-EB47-8F36-D949-6786252E8C04}"/>
              </a:ext>
            </a:extLst>
          </p:cNvPr>
          <p:cNvSpPr/>
          <p:nvPr/>
        </p:nvSpPr>
        <p:spPr>
          <a:xfrm>
            <a:off x="411556" y="2281493"/>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19" name="Rectangle 18">
            <a:extLst>
              <a:ext uri="{FF2B5EF4-FFF2-40B4-BE49-F238E27FC236}">
                <a16:creationId xmlns:a16="http://schemas.microsoft.com/office/drawing/2014/main" id="{BF949E57-0DAA-8B68-B3CA-52361DE90FDE}"/>
              </a:ext>
            </a:extLst>
          </p:cNvPr>
          <p:cNvSpPr/>
          <p:nvPr/>
        </p:nvSpPr>
        <p:spPr>
          <a:xfrm>
            <a:off x="426457" y="5022370"/>
            <a:ext cx="3830597" cy="15948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
        <p:nvSpPr>
          <p:cNvPr id="22" name="Rectangle 21">
            <a:extLst>
              <a:ext uri="{FF2B5EF4-FFF2-40B4-BE49-F238E27FC236}">
                <a16:creationId xmlns:a16="http://schemas.microsoft.com/office/drawing/2014/main" id="{CE32336A-B22C-16C4-5364-42765C810C7C}"/>
              </a:ext>
            </a:extLst>
          </p:cNvPr>
          <p:cNvSpPr/>
          <p:nvPr/>
        </p:nvSpPr>
        <p:spPr>
          <a:xfrm>
            <a:off x="4413811" y="2276872"/>
            <a:ext cx="3830597" cy="267469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 </a:t>
            </a:r>
          </a:p>
        </p:txBody>
      </p:sp>
      <p:sp>
        <p:nvSpPr>
          <p:cNvPr id="23" name="Rectangle 22">
            <a:extLst>
              <a:ext uri="{FF2B5EF4-FFF2-40B4-BE49-F238E27FC236}">
                <a16:creationId xmlns:a16="http://schemas.microsoft.com/office/drawing/2014/main" id="{16C05079-481B-4C2A-7E36-DD4367757D2B}"/>
              </a:ext>
            </a:extLst>
          </p:cNvPr>
          <p:cNvSpPr/>
          <p:nvPr/>
        </p:nvSpPr>
        <p:spPr>
          <a:xfrm>
            <a:off x="4413811" y="5034451"/>
            <a:ext cx="3830597" cy="1594865"/>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d? </a:t>
            </a:r>
          </a:p>
        </p:txBody>
      </p:sp>
    </p:spTree>
    <p:extLst>
      <p:ext uri="{BB962C8B-B14F-4D97-AF65-F5344CB8AC3E}">
        <p14:creationId xmlns:p14="http://schemas.microsoft.com/office/powerpoint/2010/main" val="2507962198"/>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18"/>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18"/>
                                        </p:tgtEl>
                                      </p:cBhvr>
                                    </p:animEffect>
                                    <p:set>
                                      <p:cBhvr>
                                        <p:cTn id="7" dur="1" fill="hold">
                                          <p:stCondLst>
                                            <p:cond delay="499"/>
                                          </p:stCondLst>
                                        </p:cTn>
                                        <p:tgtEl>
                                          <p:spTgt spid="18"/>
                                        </p:tgtEl>
                                        <p:attrNameLst>
                                          <p:attrName>style.visibility</p:attrName>
                                        </p:attrNameLst>
                                      </p:cBhvr>
                                      <p:to>
                                        <p:strVal val="hidden"/>
                                      </p:to>
                                    </p:set>
                                  </p:childTnLst>
                                </p:cTn>
                              </p:par>
                            </p:childTnLst>
                          </p:cTn>
                        </p:par>
                      </p:childTnLst>
                    </p:cTn>
                  </p:par>
                </p:childTnLst>
              </p:cTn>
              <p:nextCondLst>
                <p:cond evt="onClick" delay="0">
                  <p:tgtEl>
                    <p:spTgt spid="18"/>
                  </p:tgtEl>
                </p:cond>
              </p:nextCondLst>
            </p:seq>
            <p:seq concurrent="1" nextAc="seek">
              <p:cTn id="8" restart="whenNotActive" fill="hold" evtFilter="cancelBubble" nodeType="interactiveSeq">
                <p:stCondLst>
                  <p:cond evt="onClick" delay="0">
                    <p:tgtEl>
                      <p:spTgt spid="19"/>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19"/>
                                        </p:tgtEl>
                                      </p:cBhvr>
                                    </p:animEffect>
                                    <p:set>
                                      <p:cBhvr>
                                        <p:cTn id="13" dur="1" fill="hold">
                                          <p:stCondLst>
                                            <p:cond delay="499"/>
                                          </p:stCondLst>
                                        </p:cTn>
                                        <p:tgtEl>
                                          <p:spTgt spid="19"/>
                                        </p:tgtEl>
                                        <p:attrNameLst>
                                          <p:attrName>style.visibility</p:attrName>
                                        </p:attrNameLst>
                                      </p:cBhvr>
                                      <p:to>
                                        <p:strVal val="hidden"/>
                                      </p:to>
                                    </p:set>
                                  </p:childTnLst>
                                </p:cTn>
                              </p:par>
                            </p:childTnLst>
                          </p:cTn>
                        </p:par>
                      </p:childTnLst>
                    </p:cTn>
                  </p:par>
                </p:childTnLst>
              </p:cTn>
              <p:nextCondLst>
                <p:cond evt="onClick" delay="0">
                  <p:tgtEl>
                    <p:spTgt spid="19"/>
                  </p:tgtEl>
                </p:cond>
              </p:nextCondLst>
            </p:seq>
            <p:seq concurrent="1" nextAc="seek">
              <p:cTn id="14" restart="whenNotActive" fill="hold" evtFilter="cancelBubble" nodeType="interactiveSeq">
                <p:stCondLst>
                  <p:cond evt="onClick" delay="0">
                    <p:tgtEl>
                      <p:spTgt spid="22"/>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22"/>
                                        </p:tgtEl>
                                      </p:cBhvr>
                                    </p:animEffect>
                                    <p:set>
                                      <p:cBhvr>
                                        <p:cTn id="19" dur="1" fill="hold">
                                          <p:stCondLst>
                                            <p:cond delay="499"/>
                                          </p:stCondLst>
                                        </p:cTn>
                                        <p:tgtEl>
                                          <p:spTgt spid="22"/>
                                        </p:tgtEl>
                                        <p:attrNameLst>
                                          <p:attrName>style.visibility</p:attrName>
                                        </p:attrNameLst>
                                      </p:cBhvr>
                                      <p:to>
                                        <p:strVal val="hidden"/>
                                      </p:to>
                                    </p:set>
                                  </p:childTnLst>
                                </p:cTn>
                              </p:par>
                            </p:childTnLst>
                          </p:cTn>
                        </p:par>
                      </p:childTnLst>
                    </p:cTn>
                  </p:par>
                </p:childTnLst>
              </p:cTn>
              <p:nextCondLst>
                <p:cond evt="onClick" delay="0">
                  <p:tgtEl>
                    <p:spTgt spid="22"/>
                  </p:tgtEl>
                </p:cond>
              </p:nextCondLst>
            </p:seq>
            <p:seq concurrent="1" nextAc="seek">
              <p:cTn id="20" restart="whenNotActive" fill="hold" evtFilter="cancelBubble" nodeType="interactiveSeq">
                <p:stCondLst>
                  <p:cond evt="onClick" delay="0">
                    <p:tgtEl>
                      <p:spTgt spid="23"/>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23"/>
                                        </p:tgtEl>
                                      </p:cBhvr>
                                    </p:animEffect>
                                    <p:set>
                                      <p:cBhvr>
                                        <p:cTn id="25" dur="1" fill="hold">
                                          <p:stCondLst>
                                            <p:cond delay="499"/>
                                          </p:stCondLst>
                                        </p:cTn>
                                        <p:tgtEl>
                                          <p:spTgt spid="23"/>
                                        </p:tgtEl>
                                        <p:attrNameLst>
                                          <p:attrName>style.visibility</p:attrName>
                                        </p:attrNameLst>
                                      </p:cBhvr>
                                      <p:to>
                                        <p:strVal val="hidden"/>
                                      </p:to>
                                    </p:set>
                                  </p:childTnLst>
                                </p:cTn>
                              </p:par>
                            </p:childTnLst>
                          </p:cTn>
                        </p:par>
                      </p:childTnLst>
                    </p:cTn>
                  </p:par>
                </p:childTnLst>
              </p:cTn>
              <p:nextCondLst>
                <p:cond evt="onClick" delay="0">
                  <p:tgtEl>
                    <p:spTgt spid="23"/>
                  </p:tgtEl>
                </p:cond>
              </p:nextCondLst>
            </p:seq>
          </p:childTnLst>
        </p:cTn>
      </p:par>
    </p:tnLst>
    <p:bldLst>
      <p:bldP spid="18" grpId="0" animBg="1"/>
      <p:bldP spid="19" grpId="0" animBg="1"/>
      <p:bldP spid="22" grpId="0" animBg="1"/>
      <p:bldP spid="23" grpId="0" animBg="1"/>
    </p:bldLst>
  </p:timing>
</p:sld>
</file>

<file path=ppt/c5/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1"/>
          <p:cNvGrpSpPr/>
          <p:nvPr/>
        </p:nvGrpSpPr>
        <p:grpSpPr>
          <a:xfrm>
            <a:off x="0" y="0"/>
            <a:ext cx="9143074" cy="599127"/>
            <a:chOff x="0" y="13335"/>
            <a:chExt cx="9144218" cy="599127"/>
          </a:xfrm>
        </p:grpSpPr>
        <p:sp>
          <p:nvSpPr>
            <p:cNvPr id="3" name="TextBox 32"/>
            <p:cNvSpPr txBox="1"/>
            <p:nvPr/>
          </p:nvSpPr>
          <p:spPr>
            <a:xfrm>
              <a:off x="0" y="13335"/>
              <a:ext cx="9144000" cy="599127"/>
            </a:xfrm>
            <a:prstGeom prst="rect">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txBody>
            <a:bodyPr wrap="square" lIns="324000" rtlCol="0">
              <a:spAutoFit/>
            </a:bodyPr>
            <a:lstStyle>
              <a:defPPr>
                <a:defRPr lang="en-US"/>
              </a:defPPr>
              <a:lvl1pPr>
                <a:defRPr sz="3200"/>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r>
                <a:rPr lang="en-GB" dirty="0"/>
                <a:t>Exercise 5H – Pure Y1 Page 106-108</a:t>
              </a:r>
            </a:p>
          </p:txBody>
        </p:sp>
        <p:cxnSp>
          <p:nvCxnSpPr>
            <p:cNvPr id="4" name="Straight Connector 3"/>
            <p:cNvCxnSpPr/>
            <p:nvPr/>
          </p:nvCxnSpPr>
          <p:spPr>
            <a:xfrm>
              <a:off x="218" y="601079"/>
              <a:ext cx="9144000" cy="0"/>
            </a:xfrm>
            <a:prstGeom prst="line">
              <a:avLst/>
            </a:prstGeom>
            <a:solidFill>
              <a:srgbClr val="23305E"/>
            </a:solidFill>
            <a:ln>
              <a:noFill/>
            </a:ln>
          </p:spPr>
          <p:style>
            <a:lnRef idx="2">
              <a:schemeClr val="dk1">
                <a:shade val="50000"/>
              </a:schemeClr>
            </a:lnRef>
            <a:fillRef idx="1">
              <a:schemeClr val="dk1"/>
            </a:fillRef>
            <a:effectRef idx="0">
              <a:schemeClr val="dk1"/>
            </a:effectRef>
            <a:fontRef idx="minor">
              <a:schemeClr val="lt1"/>
            </a:fontRef>
          </p:style>
        </p:cxnSp>
      </p:grpSp>
      <p:grpSp>
        <p:nvGrpSpPr>
          <p:cNvPr id="25" name="Group 24">
            <a:extLst>
              <a:ext uri="{FF2B5EF4-FFF2-40B4-BE49-F238E27FC236}">
                <a16:creationId xmlns:a16="http://schemas.microsoft.com/office/drawing/2014/main" id="{145B7D75-7D4E-29BD-33DA-F6F35DC0E29C}"/>
              </a:ext>
            </a:extLst>
          </p:cNvPr>
          <p:cNvGrpSpPr/>
          <p:nvPr/>
        </p:nvGrpSpPr>
        <p:grpSpPr>
          <a:xfrm>
            <a:off x="179512" y="610748"/>
            <a:ext cx="4104456" cy="2002006"/>
            <a:chOff x="323528" y="633485"/>
            <a:chExt cx="4464497" cy="2203300"/>
          </a:xfrm>
        </p:grpSpPr>
        <p:pic>
          <p:nvPicPr>
            <p:cNvPr id="13" name="Picture 12">
              <a:extLst>
                <a:ext uri="{FF2B5EF4-FFF2-40B4-BE49-F238E27FC236}">
                  <a16:creationId xmlns:a16="http://schemas.microsoft.com/office/drawing/2014/main" id="{55A0E0D3-AA86-592D-030B-F4AF1C5BABCD}"/>
                </a:ext>
              </a:extLst>
            </p:cNvPr>
            <p:cNvPicPr>
              <a:picLocks noChangeAspect="1"/>
            </p:cNvPicPr>
            <p:nvPr/>
          </p:nvPicPr>
          <p:blipFill rotWithShape="1">
            <a:blip r:embed="rId2"/>
            <a:srcRect r="42560"/>
            <a:stretch/>
          </p:blipFill>
          <p:spPr>
            <a:xfrm>
              <a:off x="323528" y="633485"/>
              <a:ext cx="4464497" cy="2191437"/>
            </a:xfrm>
            <a:prstGeom prst="rect">
              <a:avLst/>
            </a:prstGeom>
          </p:spPr>
        </p:pic>
        <p:sp>
          <p:nvSpPr>
            <p:cNvPr id="20" name="Rectangle 19">
              <a:extLst>
                <a:ext uri="{FF2B5EF4-FFF2-40B4-BE49-F238E27FC236}">
                  <a16:creationId xmlns:a16="http://schemas.microsoft.com/office/drawing/2014/main" id="{9B0B2083-2AB2-349B-5204-CDD3E3CC8387}"/>
                </a:ext>
              </a:extLst>
            </p:cNvPr>
            <p:cNvSpPr/>
            <p:nvPr/>
          </p:nvSpPr>
          <p:spPr>
            <a:xfrm>
              <a:off x="4067944" y="1628800"/>
              <a:ext cx="720080"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1" name="Rectangle 20">
              <a:extLst>
                <a:ext uri="{FF2B5EF4-FFF2-40B4-BE49-F238E27FC236}">
                  <a16:creationId xmlns:a16="http://schemas.microsoft.com/office/drawing/2014/main" id="{5F050165-86F8-3406-BDFC-1F2B45A9ABB8}"/>
                </a:ext>
              </a:extLst>
            </p:cNvPr>
            <p:cNvSpPr/>
            <p:nvPr/>
          </p:nvSpPr>
          <p:spPr>
            <a:xfrm>
              <a:off x="4059565" y="2084708"/>
              <a:ext cx="720080"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24" name="Rectangle 23">
              <a:extLst>
                <a:ext uri="{FF2B5EF4-FFF2-40B4-BE49-F238E27FC236}">
                  <a16:creationId xmlns:a16="http://schemas.microsoft.com/office/drawing/2014/main" id="{EC902639-53E5-7270-31CE-0D579ECDB976}"/>
                </a:ext>
              </a:extLst>
            </p:cNvPr>
            <p:cNvSpPr/>
            <p:nvPr/>
          </p:nvSpPr>
          <p:spPr>
            <a:xfrm>
              <a:off x="4067944" y="2620761"/>
              <a:ext cx="720080" cy="21602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pic>
        <p:nvPicPr>
          <p:cNvPr id="26" name="Picture 25">
            <a:extLst>
              <a:ext uri="{FF2B5EF4-FFF2-40B4-BE49-F238E27FC236}">
                <a16:creationId xmlns:a16="http://schemas.microsoft.com/office/drawing/2014/main" id="{2F538FB0-FEBE-801D-7E7D-C29A25927CE0}"/>
              </a:ext>
            </a:extLst>
          </p:cNvPr>
          <p:cNvPicPr>
            <a:picLocks noChangeAspect="1"/>
          </p:cNvPicPr>
          <p:nvPr/>
        </p:nvPicPr>
        <p:blipFill>
          <a:blip r:embed="rId3"/>
          <a:stretch>
            <a:fillRect/>
          </a:stretch>
        </p:blipFill>
        <p:spPr>
          <a:xfrm>
            <a:off x="378081" y="2704203"/>
            <a:ext cx="2589306" cy="603132"/>
          </a:xfrm>
          <a:prstGeom prst="rect">
            <a:avLst/>
          </a:prstGeom>
        </p:spPr>
      </p:pic>
      <p:grpSp>
        <p:nvGrpSpPr>
          <p:cNvPr id="34" name="Group 33">
            <a:extLst>
              <a:ext uri="{FF2B5EF4-FFF2-40B4-BE49-F238E27FC236}">
                <a16:creationId xmlns:a16="http://schemas.microsoft.com/office/drawing/2014/main" id="{A4DEE298-A519-3167-B47E-572323830CF4}"/>
              </a:ext>
            </a:extLst>
          </p:cNvPr>
          <p:cNvGrpSpPr/>
          <p:nvPr/>
        </p:nvGrpSpPr>
        <p:grpSpPr>
          <a:xfrm>
            <a:off x="3109696" y="2637188"/>
            <a:ext cx="2542424" cy="1499378"/>
            <a:chOff x="3015449" y="2780928"/>
            <a:chExt cx="2808312" cy="1656184"/>
          </a:xfrm>
        </p:grpSpPr>
        <p:pic>
          <p:nvPicPr>
            <p:cNvPr id="31" name="Picture 30">
              <a:extLst>
                <a:ext uri="{FF2B5EF4-FFF2-40B4-BE49-F238E27FC236}">
                  <a16:creationId xmlns:a16="http://schemas.microsoft.com/office/drawing/2014/main" id="{FCB2B88F-AC14-EDDB-17C7-7DE68BF2EBCD}"/>
                </a:ext>
              </a:extLst>
            </p:cNvPr>
            <p:cNvPicPr>
              <a:picLocks noChangeAspect="1"/>
            </p:cNvPicPr>
            <p:nvPr/>
          </p:nvPicPr>
          <p:blipFill>
            <a:blip r:embed="rId4"/>
            <a:stretch>
              <a:fillRect/>
            </a:stretch>
          </p:blipFill>
          <p:spPr>
            <a:xfrm>
              <a:off x="3261667" y="3193295"/>
              <a:ext cx="2562094" cy="1243817"/>
            </a:xfrm>
            <a:prstGeom prst="rect">
              <a:avLst/>
            </a:prstGeom>
          </p:spPr>
        </p:pic>
        <p:pic>
          <p:nvPicPr>
            <p:cNvPr id="28" name="Picture 27">
              <a:extLst>
                <a:ext uri="{FF2B5EF4-FFF2-40B4-BE49-F238E27FC236}">
                  <a16:creationId xmlns:a16="http://schemas.microsoft.com/office/drawing/2014/main" id="{28B5AD10-EBCB-61F4-7FE7-3825078542E7}"/>
                </a:ext>
              </a:extLst>
            </p:cNvPr>
            <p:cNvPicPr>
              <a:picLocks noChangeAspect="1"/>
            </p:cNvPicPr>
            <p:nvPr/>
          </p:nvPicPr>
          <p:blipFill>
            <a:blip r:embed="rId5"/>
            <a:stretch>
              <a:fillRect/>
            </a:stretch>
          </p:blipFill>
          <p:spPr>
            <a:xfrm>
              <a:off x="3015449" y="2780928"/>
              <a:ext cx="1628449" cy="454263"/>
            </a:xfrm>
            <a:prstGeom prst="rect">
              <a:avLst/>
            </a:prstGeom>
          </p:spPr>
        </p:pic>
        <p:pic>
          <p:nvPicPr>
            <p:cNvPr id="29" name="Picture 28">
              <a:extLst>
                <a:ext uri="{FF2B5EF4-FFF2-40B4-BE49-F238E27FC236}">
                  <a16:creationId xmlns:a16="http://schemas.microsoft.com/office/drawing/2014/main" id="{C981F97B-3029-B3F8-972C-0EE2DF8D11D4}"/>
                </a:ext>
              </a:extLst>
            </p:cNvPr>
            <p:cNvPicPr>
              <a:picLocks noChangeAspect="1"/>
            </p:cNvPicPr>
            <p:nvPr/>
          </p:nvPicPr>
          <p:blipFill>
            <a:blip r:embed="rId6"/>
            <a:stretch>
              <a:fillRect/>
            </a:stretch>
          </p:blipFill>
          <p:spPr>
            <a:xfrm>
              <a:off x="4622517" y="2806588"/>
              <a:ext cx="710623" cy="396463"/>
            </a:xfrm>
            <a:prstGeom prst="rect">
              <a:avLst/>
            </a:prstGeom>
          </p:spPr>
        </p:pic>
        <p:pic>
          <p:nvPicPr>
            <p:cNvPr id="30" name="Picture 29">
              <a:extLst>
                <a:ext uri="{FF2B5EF4-FFF2-40B4-BE49-F238E27FC236}">
                  <a16:creationId xmlns:a16="http://schemas.microsoft.com/office/drawing/2014/main" id="{EE13EB58-27C8-83A0-0330-D1981D1E5838}"/>
                </a:ext>
              </a:extLst>
            </p:cNvPr>
            <p:cNvPicPr>
              <a:picLocks noChangeAspect="1"/>
            </p:cNvPicPr>
            <p:nvPr/>
          </p:nvPicPr>
          <p:blipFill>
            <a:blip r:embed="rId7"/>
            <a:stretch>
              <a:fillRect/>
            </a:stretch>
          </p:blipFill>
          <p:spPr>
            <a:xfrm>
              <a:off x="5371273" y="2902069"/>
              <a:ext cx="347403" cy="205500"/>
            </a:xfrm>
            <a:prstGeom prst="rect">
              <a:avLst/>
            </a:prstGeom>
          </p:spPr>
        </p:pic>
      </p:grpSp>
      <p:pic>
        <p:nvPicPr>
          <p:cNvPr id="32" name="Picture 31">
            <a:extLst>
              <a:ext uri="{FF2B5EF4-FFF2-40B4-BE49-F238E27FC236}">
                <a16:creationId xmlns:a16="http://schemas.microsoft.com/office/drawing/2014/main" id="{143ED759-E267-7496-696B-53EA5206DC5F}"/>
              </a:ext>
            </a:extLst>
          </p:cNvPr>
          <p:cNvPicPr>
            <a:picLocks noChangeAspect="1"/>
          </p:cNvPicPr>
          <p:nvPr/>
        </p:nvPicPr>
        <p:blipFill>
          <a:blip r:embed="rId8"/>
          <a:stretch>
            <a:fillRect/>
          </a:stretch>
        </p:blipFill>
        <p:spPr>
          <a:xfrm>
            <a:off x="6300192" y="2690552"/>
            <a:ext cx="2232248" cy="906851"/>
          </a:xfrm>
          <a:prstGeom prst="rect">
            <a:avLst/>
          </a:prstGeom>
        </p:spPr>
      </p:pic>
      <p:pic>
        <p:nvPicPr>
          <p:cNvPr id="35" name="Picture 34">
            <a:extLst>
              <a:ext uri="{FF2B5EF4-FFF2-40B4-BE49-F238E27FC236}">
                <a16:creationId xmlns:a16="http://schemas.microsoft.com/office/drawing/2014/main" id="{9219FCDF-62C7-1B3C-49D8-F5A20D9BA513}"/>
              </a:ext>
            </a:extLst>
          </p:cNvPr>
          <p:cNvPicPr>
            <a:picLocks noChangeAspect="1"/>
          </p:cNvPicPr>
          <p:nvPr/>
        </p:nvPicPr>
        <p:blipFill>
          <a:blip r:embed="rId9"/>
          <a:stretch>
            <a:fillRect/>
          </a:stretch>
        </p:blipFill>
        <p:spPr>
          <a:xfrm>
            <a:off x="299689" y="4158763"/>
            <a:ext cx="5899978" cy="1286461"/>
          </a:xfrm>
          <a:prstGeom prst="rect">
            <a:avLst/>
          </a:prstGeom>
        </p:spPr>
      </p:pic>
      <p:pic>
        <p:nvPicPr>
          <p:cNvPr id="36" name="Picture 35">
            <a:extLst>
              <a:ext uri="{FF2B5EF4-FFF2-40B4-BE49-F238E27FC236}">
                <a16:creationId xmlns:a16="http://schemas.microsoft.com/office/drawing/2014/main" id="{A1FAB9D3-7838-964E-A44B-9D14961258D7}"/>
              </a:ext>
            </a:extLst>
          </p:cNvPr>
          <p:cNvPicPr>
            <a:picLocks noChangeAspect="1"/>
          </p:cNvPicPr>
          <p:nvPr/>
        </p:nvPicPr>
        <p:blipFill>
          <a:blip r:embed="rId10"/>
          <a:stretch>
            <a:fillRect/>
          </a:stretch>
        </p:blipFill>
        <p:spPr>
          <a:xfrm>
            <a:off x="4400283" y="633414"/>
            <a:ext cx="2966098" cy="2015517"/>
          </a:xfrm>
          <a:prstGeom prst="rect">
            <a:avLst/>
          </a:prstGeom>
        </p:spPr>
      </p:pic>
      <p:pic>
        <p:nvPicPr>
          <p:cNvPr id="37" name="Picture 36">
            <a:extLst>
              <a:ext uri="{FF2B5EF4-FFF2-40B4-BE49-F238E27FC236}">
                <a16:creationId xmlns:a16="http://schemas.microsoft.com/office/drawing/2014/main" id="{40195A2B-CF2E-CA29-9CC8-8FF330DF9F58}"/>
              </a:ext>
            </a:extLst>
          </p:cNvPr>
          <p:cNvPicPr>
            <a:picLocks noChangeAspect="1"/>
          </p:cNvPicPr>
          <p:nvPr/>
        </p:nvPicPr>
        <p:blipFill rotWithShape="1">
          <a:blip r:embed="rId11"/>
          <a:srcRect t="13646"/>
          <a:stretch/>
        </p:blipFill>
        <p:spPr>
          <a:xfrm>
            <a:off x="536553" y="5526914"/>
            <a:ext cx="1875207" cy="1286462"/>
          </a:xfrm>
          <a:prstGeom prst="rect">
            <a:avLst/>
          </a:prstGeom>
        </p:spPr>
      </p:pic>
      <p:pic>
        <p:nvPicPr>
          <p:cNvPr id="38" name="Picture 37">
            <a:extLst>
              <a:ext uri="{FF2B5EF4-FFF2-40B4-BE49-F238E27FC236}">
                <a16:creationId xmlns:a16="http://schemas.microsoft.com/office/drawing/2014/main" id="{48354D81-FAD4-B567-523B-1C45BEFECB04}"/>
              </a:ext>
            </a:extLst>
          </p:cNvPr>
          <p:cNvPicPr>
            <a:picLocks noChangeAspect="1"/>
          </p:cNvPicPr>
          <p:nvPr/>
        </p:nvPicPr>
        <p:blipFill>
          <a:blip r:embed="rId12"/>
          <a:stretch>
            <a:fillRect/>
          </a:stretch>
        </p:blipFill>
        <p:spPr>
          <a:xfrm>
            <a:off x="2549904" y="5513721"/>
            <a:ext cx="2790709" cy="1155129"/>
          </a:xfrm>
          <a:prstGeom prst="rect">
            <a:avLst/>
          </a:prstGeom>
        </p:spPr>
      </p:pic>
      <p:pic>
        <p:nvPicPr>
          <p:cNvPr id="39" name="Picture 38">
            <a:extLst>
              <a:ext uri="{FF2B5EF4-FFF2-40B4-BE49-F238E27FC236}">
                <a16:creationId xmlns:a16="http://schemas.microsoft.com/office/drawing/2014/main" id="{BE11F373-2794-6F8E-1014-5EEAD8D45880}"/>
              </a:ext>
            </a:extLst>
          </p:cNvPr>
          <p:cNvPicPr>
            <a:picLocks noChangeAspect="1"/>
          </p:cNvPicPr>
          <p:nvPr/>
        </p:nvPicPr>
        <p:blipFill>
          <a:blip r:embed="rId13"/>
          <a:stretch>
            <a:fillRect/>
          </a:stretch>
        </p:blipFill>
        <p:spPr>
          <a:xfrm>
            <a:off x="5705914" y="5525381"/>
            <a:ext cx="2394478" cy="1117423"/>
          </a:xfrm>
          <a:prstGeom prst="rect">
            <a:avLst/>
          </a:prstGeom>
        </p:spPr>
      </p:pic>
      <p:pic>
        <p:nvPicPr>
          <p:cNvPr id="40" name="Picture 39">
            <a:extLst>
              <a:ext uri="{FF2B5EF4-FFF2-40B4-BE49-F238E27FC236}">
                <a16:creationId xmlns:a16="http://schemas.microsoft.com/office/drawing/2014/main" id="{8DA45B08-8D75-8C04-251D-FCCC2215C82D}"/>
              </a:ext>
            </a:extLst>
          </p:cNvPr>
          <p:cNvPicPr>
            <a:picLocks noChangeAspect="1"/>
          </p:cNvPicPr>
          <p:nvPr/>
        </p:nvPicPr>
        <p:blipFill>
          <a:blip r:embed="rId14"/>
          <a:stretch>
            <a:fillRect/>
          </a:stretch>
        </p:blipFill>
        <p:spPr>
          <a:xfrm>
            <a:off x="467544" y="5597389"/>
            <a:ext cx="135867" cy="135867"/>
          </a:xfrm>
          <a:prstGeom prst="rect">
            <a:avLst/>
          </a:prstGeom>
        </p:spPr>
      </p:pic>
      <p:sp>
        <p:nvSpPr>
          <p:cNvPr id="41" name="Rectangle 40">
            <a:extLst>
              <a:ext uri="{FF2B5EF4-FFF2-40B4-BE49-F238E27FC236}">
                <a16:creationId xmlns:a16="http://schemas.microsoft.com/office/drawing/2014/main" id="{CF56F314-A830-989A-5180-97F0CFDFEBD4}"/>
              </a:ext>
            </a:extLst>
          </p:cNvPr>
          <p:cNvSpPr/>
          <p:nvPr/>
        </p:nvSpPr>
        <p:spPr>
          <a:xfrm>
            <a:off x="395536" y="2657661"/>
            <a:ext cx="2606373" cy="145414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42" name="Rectangle 41">
            <a:extLst>
              <a:ext uri="{FF2B5EF4-FFF2-40B4-BE49-F238E27FC236}">
                <a16:creationId xmlns:a16="http://schemas.microsoft.com/office/drawing/2014/main" id="{44936FF2-8F88-5F05-C226-4B09B0CC6095}"/>
              </a:ext>
            </a:extLst>
          </p:cNvPr>
          <p:cNvSpPr/>
          <p:nvPr/>
        </p:nvSpPr>
        <p:spPr>
          <a:xfrm>
            <a:off x="3147698" y="2662065"/>
            <a:ext cx="2606373" cy="145414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
        <p:nvSpPr>
          <p:cNvPr id="43" name="Rectangle 42">
            <a:extLst>
              <a:ext uri="{FF2B5EF4-FFF2-40B4-BE49-F238E27FC236}">
                <a16:creationId xmlns:a16="http://schemas.microsoft.com/office/drawing/2014/main" id="{3C2E35B0-8DDB-5E45-6B9F-B2A64D5596AD}"/>
              </a:ext>
            </a:extLst>
          </p:cNvPr>
          <p:cNvSpPr/>
          <p:nvPr/>
        </p:nvSpPr>
        <p:spPr>
          <a:xfrm>
            <a:off x="5883332" y="2679328"/>
            <a:ext cx="2606373" cy="1454146"/>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c? </a:t>
            </a:r>
          </a:p>
        </p:txBody>
      </p:sp>
      <p:sp>
        <p:nvSpPr>
          <p:cNvPr id="44" name="Rectangle 43">
            <a:extLst>
              <a:ext uri="{FF2B5EF4-FFF2-40B4-BE49-F238E27FC236}">
                <a16:creationId xmlns:a16="http://schemas.microsoft.com/office/drawing/2014/main" id="{D5A22727-7A08-33F7-C174-F215710DCDAD}"/>
              </a:ext>
            </a:extLst>
          </p:cNvPr>
          <p:cNvSpPr/>
          <p:nvPr/>
        </p:nvSpPr>
        <p:spPr>
          <a:xfrm>
            <a:off x="468943" y="5445224"/>
            <a:ext cx="1942818" cy="133261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a? </a:t>
            </a:r>
          </a:p>
        </p:txBody>
      </p:sp>
      <p:sp>
        <p:nvSpPr>
          <p:cNvPr id="45" name="Rectangle 44">
            <a:extLst>
              <a:ext uri="{FF2B5EF4-FFF2-40B4-BE49-F238E27FC236}">
                <a16:creationId xmlns:a16="http://schemas.microsoft.com/office/drawing/2014/main" id="{91333695-D3E4-0A5E-EFC5-F81A72CEBD37}"/>
              </a:ext>
            </a:extLst>
          </p:cNvPr>
          <p:cNvSpPr/>
          <p:nvPr/>
        </p:nvSpPr>
        <p:spPr>
          <a:xfrm>
            <a:off x="2549903" y="5449628"/>
            <a:ext cx="5838521" cy="1332619"/>
          </a:xfrm>
          <a:prstGeom prst="rect">
            <a:avLst/>
          </a:prstGeom>
          <a:solidFill>
            <a:schemeClr val="tx2">
              <a:lumMod val="20000"/>
              <a:lumOff val="80000"/>
            </a:schemeClr>
          </a:solidFill>
          <a:ln>
            <a:solidFill>
              <a:srgbClr val="23305E"/>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r>
              <a:rPr lang="en-GB" sz="2800" dirty="0"/>
              <a:t>b? </a:t>
            </a:r>
          </a:p>
        </p:txBody>
      </p:sp>
    </p:spTree>
    <p:extLst>
      <p:ext uri="{BB962C8B-B14F-4D97-AF65-F5344CB8AC3E}">
        <p14:creationId xmlns:p14="http://schemas.microsoft.com/office/powerpoint/2010/main" val="2816967659"/>
      </p:ext>
    </p:extLst>
  </p:cSld>
  <p:clrMapOvr>
    <a:masterClrMapping/>
  </p:clrMapOvr>
  <p:timing>
    <p:tnLst>
      <p:par>
        <p:cTn id="1" dur="indefinite" restart="never" nodeType="tmRoot">
          <p:childTnLst>
            <p:seq concurrent="1" nextAc="seek">
              <p:cTn id="2" restart="whenNotActive" fill="hold" evtFilter="cancelBubble" nodeType="interactiveSeq">
                <p:stCondLst>
                  <p:cond evt="onClick" delay="0">
                    <p:tgtEl>
                      <p:spTgt spid="41"/>
                    </p:tgtEl>
                  </p:cond>
                </p:stCondLst>
                <p:endSync evt="end" delay="0">
                  <p:rtn val="all"/>
                </p:endSync>
                <p:childTnLst>
                  <p:par>
                    <p:cTn id="3" fill="hold">
                      <p:stCondLst>
                        <p:cond delay="0"/>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41"/>
                                        </p:tgtEl>
                                      </p:cBhvr>
                                    </p:animEffect>
                                    <p:set>
                                      <p:cBhvr>
                                        <p:cTn id="7" dur="1" fill="hold">
                                          <p:stCondLst>
                                            <p:cond delay="499"/>
                                          </p:stCondLst>
                                        </p:cTn>
                                        <p:tgtEl>
                                          <p:spTgt spid="41"/>
                                        </p:tgtEl>
                                        <p:attrNameLst>
                                          <p:attrName>style.visibility</p:attrName>
                                        </p:attrNameLst>
                                      </p:cBhvr>
                                      <p:to>
                                        <p:strVal val="hidden"/>
                                      </p:to>
                                    </p:set>
                                  </p:childTnLst>
                                </p:cTn>
                              </p:par>
                            </p:childTnLst>
                          </p:cTn>
                        </p:par>
                      </p:childTnLst>
                    </p:cTn>
                  </p:par>
                </p:childTnLst>
              </p:cTn>
              <p:nextCondLst>
                <p:cond evt="onClick" delay="0">
                  <p:tgtEl>
                    <p:spTgt spid="41"/>
                  </p:tgtEl>
                </p:cond>
              </p:nextCondLst>
            </p:seq>
            <p:seq concurrent="1" nextAc="seek">
              <p:cTn id="8" restart="whenNotActive" fill="hold" evtFilter="cancelBubble" nodeType="interactiveSeq">
                <p:stCondLst>
                  <p:cond evt="onClick" delay="0">
                    <p:tgtEl>
                      <p:spTgt spid="42"/>
                    </p:tgtEl>
                  </p:cond>
                </p:stCondLst>
                <p:endSync evt="end" delay="0">
                  <p:rtn val="all"/>
                </p:endSync>
                <p:childTnLst>
                  <p:par>
                    <p:cTn id="9" fill="hold">
                      <p:stCondLst>
                        <p:cond delay="0"/>
                      </p:stCondLst>
                      <p:childTnLst>
                        <p:par>
                          <p:cTn id="10" fill="hold">
                            <p:stCondLst>
                              <p:cond delay="0"/>
                            </p:stCondLst>
                            <p:childTnLst>
                              <p:par>
                                <p:cTn id="11" presetID="10" presetClass="exit" presetSubtype="0" fill="hold" grpId="0" nodeType="clickEffect">
                                  <p:stCondLst>
                                    <p:cond delay="0"/>
                                  </p:stCondLst>
                                  <p:childTnLst>
                                    <p:animEffect transition="out" filter="fade">
                                      <p:cBhvr>
                                        <p:cTn id="12" dur="500"/>
                                        <p:tgtEl>
                                          <p:spTgt spid="42"/>
                                        </p:tgtEl>
                                      </p:cBhvr>
                                    </p:animEffect>
                                    <p:set>
                                      <p:cBhvr>
                                        <p:cTn id="13" dur="1" fill="hold">
                                          <p:stCondLst>
                                            <p:cond delay="499"/>
                                          </p:stCondLst>
                                        </p:cTn>
                                        <p:tgtEl>
                                          <p:spTgt spid="42"/>
                                        </p:tgtEl>
                                        <p:attrNameLst>
                                          <p:attrName>style.visibility</p:attrName>
                                        </p:attrNameLst>
                                      </p:cBhvr>
                                      <p:to>
                                        <p:strVal val="hidden"/>
                                      </p:to>
                                    </p:set>
                                  </p:childTnLst>
                                </p:cTn>
                              </p:par>
                            </p:childTnLst>
                          </p:cTn>
                        </p:par>
                      </p:childTnLst>
                    </p:cTn>
                  </p:par>
                </p:childTnLst>
              </p:cTn>
              <p:nextCondLst>
                <p:cond evt="onClick" delay="0">
                  <p:tgtEl>
                    <p:spTgt spid="42"/>
                  </p:tgtEl>
                </p:cond>
              </p:nextCondLst>
            </p:seq>
            <p:seq concurrent="1" nextAc="seek">
              <p:cTn id="14" restart="whenNotActive" fill="hold" evtFilter="cancelBubble" nodeType="interactiveSeq">
                <p:stCondLst>
                  <p:cond evt="onClick" delay="0">
                    <p:tgtEl>
                      <p:spTgt spid="43"/>
                    </p:tgtEl>
                  </p:cond>
                </p:stCondLst>
                <p:endSync evt="end" delay="0">
                  <p:rtn val="all"/>
                </p:endSync>
                <p:childTnLst>
                  <p:par>
                    <p:cTn id="15" fill="hold">
                      <p:stCondLst>
                        <p:cond delay="0"/>
                      </p:stCondLst>
                      <p:childTnLst>
                        <p:par>
                          <p:cTn id="16" fill="hold">
                            <p:stCondLst>
                              <p:cond delay="0"/>
                            </p:stCondLst>
                            <p:childTnLst>
                              <p:par>
                                <p:cTn id="17" presetID="10" presetClass="exit" presetSubtype="0" fill="hold" grpId="0" nodeType="clickEffect">
                                  <p:stCondLst>
                                    <p:cond delay="0"/>
                                  </p:stCondLst>
                                  <p:childTnLst>
                                    <p:animEffect transition="out" filter="fade">
                                      <p:cBhvr>
                                        <p:cTn id="18" dur="500"/>
                                        <p:tgtEl>
                                          <p:spTgt spid="43"/>
                                        </p:tgtEl>
                                      </p:cBhvr>
                                    </p:animEffect>
                                    <p:set>
                                      <p:cBhvr>
                                        <p:cTn id="19" dur="1" fill="hold">
                                          <p:stCondLst>
                                            <p:cond delay="499"/>
                                          </p:stCondLst>
                                        </p:cTn>
                                        <p:tgtEl>
                                          <p:spTgt spid="43"/>
                                        </p:tgtEl>
                                        <p:attrNameLst>
                                          <p:attrName>style.visibility</p:attrName>
                                        </p:attrNameLst>
                                      </p:cBhvr>
                                      <p:to>
                                        <p:strVal val="hidden"/>
                                      </p:to>
                                    </p:set>
                                  </p:childTnLst>
                                </p:cTn>
                              </p:par>
                            </p:childTnLst>
                          </p:cTn>
                        </p:par>
                      </p:childTnLst>
                    </p:cTn>
                  </p:par>
                </p:childTnLst>
              </p:cTn>
              <p:nextCondLst>
                <p:cond evt="onClick" delay="0">
                  <p:tgtEl>
                    <p:spTgt spid="43"/>
                  </p:tgtEl>
                </p:cond>
              </p:nextCondLst>
            </p:seq>
            <p:seq concurrent="1" nextAc="seek">
              <p:cTn id="20" restart="whenNotActive" fill="hold" evtFilter="cancelBubble" nodeType="interactiveSeq">
                <p:stCondLst>
                  <p:cond evt="onClick" delay="0">
                    <p:tgtEl>
                      <p:spTgt spid="44"/>
                    </p:tgtEl>
                  </p:cond>
                </p:stCondLst>
                <p:endSync evt="end" delay="0">
                  <p:rtn val="all"/>
                </p:endSync>
                <p:childTnLst>
                  <p:par>
                    <p:cTn id="21" fill="hold">
                      <p:stCondLst>
                        <p:cond delay="0"/>
                      </p:stCondLst>
                      <p:childTnLst>
                        <p:par>
                          <p:cTn id="22" fill="hold">
                            <p:stCondLst>
                              <p:cond delay="0"/>
                            </p:stCondLst>
                            <p:childTnLst>
                              <p:par>
                                <p:cTn id="23" presetID="10" presetClass="exit" presetSubtype="0" fill="hold" grpId="0" nodeType="clickEffect">
                                  <p:stCondLst>
                                    <p:cond delay="0"/>
                                  </p:stCondLst>
                                  <p:childTnLst>
                                    <p:animEffect transition="out" filter="fade">
                                      <p:cBhvr>
                                        <p:cTn id="24" dur="500"/>
                                        <p:tgtEl>
                                          <p:spTgt spid="44"/>
                                        </p:tgtEl>
                                      </p:cBhvr>
                                    </p:animEffect>
                                    <p:set>
                                      <p:cBhvr>
                                        <p:cTn id="25" dur="1" fill="hold">
                                          <p:stCondLst>
                                            <p:cond delay="499"/>
                                          </p:stCondLst>
                                        </p:cTn>
                                        <p:tgtEl>
                                          <p:spTgt spid="44"/>
                                        </p:tgtEl>
                                        <p:attrNameLst>
                                          <p:attrName>style.visibility</p:attrName>
                                        </p:attrNameLst>
                                      </p:cBhvr>
                                      <p:to>
                                        <p:strVal val="hidden"/>
                                      </p:to>
                                    </p:set>
                                  </p:childTnLst>
                                </p:cTn>
                              </p:par>
                            </p:childTnLst>
                          </p:cTn>
                        </p:par>
                      </p:childTnLst>
                    </p:cTn>
                  </p:par>
                </p:childTnLst>
              </p:cTn>
              <p:nextCondLst>
                <p:cond evt="onClick" delay="0">
                  <p:tgtEl>
                    <p:spTgt spid="44"/>
                  </p:tgtEl>
                </p:cond>
              </p:nextCondLst>
            </p:seq>
            <p:seq concurrent="1" nextAc="seek">
              <p:cTn id="26" restart="whenNotActive" fill="hold" evtFilter="cancelBubble" nodeType="interactiveSeq">
                <p:stCondLst>
                  <p:cond evt="onClick" delay="0">
                    <p:tgtEl>
                      <p:spTgt spid="45"/>
                    </p:tgtEl>
                  </p:cond>
                </p:stCondLst>
                <p:endSync evt="end" delay="0">
                  <p:rtn val="all"/>
                </p:endSync>
                <p:childTnLst>
                  <p:par>
                    <p:cTn id="27" fill="hold">
                      <p:stCondLst>
                        <p:cond delay="0"/>
                      </p:stCondLst>
                      <p:childTnLst>
                        <p:par>
                          <p:cTn id="28" fill="hold">
                            <p:stCondLst>
                              <p:cond delay="0"/>
                            </p:stCondLst>
                            <p:childTnLst>
                              <p:par>
                                <p:cTn id="29" presetID="10" presetClass="exit" presetSubtype="0" fill="hold" grpId="0" nodeType="clickEffect">
                                  <p:stCondLst>
                                    <p:cond delay="0"/>
                                  </p:stCondLst>
                                  <p:childTnLst>
                                    <p:animEffect transition="out" filter="fade">
                                      <p:cBhvr>
                                        <p:cTn id="30" dur="500"/>
                                        <p:tgtEl>
                                          <p:spTgt spid="45"/>
                                        </p:tgtEl>
                                      </p:cBhvr>
                                    </p:animEffect>
                                    <p:set>
                                      <p:cBhvr>
                                        <p:cTn id="31" dur="1" fill="hold">
                                          <p:stCondLst>
                                            <p:cond delay="499"/>
                                          </p:stCondLst>
                                        </p:cTn>
                                        <p:tgtEl>
                                          <p:spTgt spid="45"/>
                                        </p:tgtEl>
                                        <p:attrNameLst>
                                          <p:attrName>style.visibility</p:attrName>
                                        </p:attrNameLst>
                                      </p:cBhvr>
                                      <p:to>
                                        <p:strVal val="hidden"/>
                                      </p:to>
                                    </p:set>
                                  </p:childTnLst>
                                </p:cTn>
                              </p:par>
                            </p:childTnLst>
                          </p:cTn>
                        </p:par>
                      </p:childTnLst>
                    </p:cTn>
                  </p:par>
                </p:childTnLst>
              </p:cTn>
              <p:nextCondLst>
                <p:cond evt="onClick" delay="0">
                  <p:tgtEl>
                    <p:spTgt spid="45"/>
                  </p:tgtEl>
                </p:cond>
              </p:nextCondLst>
            </p:seq>
          </p:childTnLst>
        </p:cTn>
      </p:par>
    </p:tnLst>
    <p:bldLst>
      <p:bldP spid="41" grpId="0" animBg="1"/>
      <p:bldP spid="42" grpId="0" animBg="1"/>
      <p:bldP spid="43" grpId="0" animBg="1"/>
      <p:bldP spid="44" grpId="0" animBg="1"/>
      <p:bldP spid="45" grpId="0" animBg="1"/>
    </p:bldLst>
  </p:timing>
</p:sld>
</file>

<file path=ppt/c5/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a:solidFill>
            <a:schemeClr val="bg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c5/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