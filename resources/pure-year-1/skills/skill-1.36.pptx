
<file path=[Content_Types].xml><?xml version="1.0" encoding="utf-8"?>
<ns0:Types xmlns:ns0="http://schemas.openxmlformats.org/package/2006/content-types">
  <ns0:Default Extension="png" ContentType="image/png"/>
  <ns0:Default Extension="rels" ContentType="application/vnd.openxmlformats-package.relationships+xml"/>
  <ns0:Default Extension="xml" ContentType="application/xml"/>
  <ns0:Override PartName="/ppt/c13/ppt/slideMasters/slideMaster1.xml" ContentType="application/vnd.openxmlformats-officedocument.presentationml.slideMaster+xml"/>
  <ns0:Override PartName="/ppt/c13/ppt/slides/slide3.xml" ContentType="application/vnd.openxmlformats-officedocument.presentationml.slide+xml"/>
  <ns0:Override PartName="/ppt/c13/ppt/slides/slide4.xml" ContentType="application/vnd.openxmlformats-officedocument.presentationml.slide+xml"/>
  <ns0:Override PartName="/ppt/c13/ppt/slides/slide5.xml" ContentType="application/vnd.openxmlformats-officedocument.presentationml.slide+xml"/>
  <ns0:Override PartName="/ppt/c13/ppt/slides/slide6.xml" ContentType="application/vnd.openxmlformats-officedocument.presentationml.slide+xml"/>
  <ns0:Override PartName="/ppt/c13/ppt/slides/slide7.xml" ContentType="application/vnd.openxmlformats-officedocument.presentationml.slide+xml"/>
  <ns0:Override PartName="/ppt/c13/ppt/slides/slide8.xml" ContentType="application/vnd.openxmlformats-officedocument.presentationml.slide+xml"/>
  <ns0:Override PartName="/ppt/c13/ppt/slides/slide9.xml" ContentType="application/vnd.openxmlformats-officedocument.presentationml.slide+xml"/>
  <ns0:Override PartName="/ppt/c13/ppt/slides/slide10.xml" ContentType="application/vnd.openxmlformats-officedocument.presentationml.slide+xml"/>
  <ns0:Override PartName="/ppt/c13/ppt/slides/slide11.xml" ContentType="application/vnd.openxmlformats-officedocument.presentationml.slide+xml"/>
  <ns0:Override PartName="/ppt/c13/ppt/slides/slide12.xml" ContentType="application/vnd.openxmlformats-officedocument.presentationml.slide+xml"/>
  <ns0:Override PartName="/ppt/c13/ppt/slides/slide13.xml" ContentType="application/vnd.openxmlformats-officedocument.presentationml.slide+xml"/>
  <ns0:Override PartName="/ppt/c13/ppt/slides/slide14.xml" ContentType="application/vnd.openxmlformats-officedocument.presentationml.slide+xml"/>
  <ns0:Override PartName="/ppt/c13/ppt/slides/slide15.xml" ContentType="application/vnd.openxmlformats-officedocument.presentationml.slide+xml"/>
  <ns0:Override PartName="/ppt/c13/ppt/slides/slide16.xml" ContentType="application/vnd.openxmlformats-officedocument.presentationml.slide+xml"/>
  <ns0:Override PartName="/ppt/c13/ppt/slides/slide17.xml" ContentType="application/vnd.openxmlformats-officedocument.presentationml.slide+xml"/>
  <ns0:Override PartName="/ppt/c13/ppt/slides/slide18.xml" ContentType="application/vnd.openxmlformats-officedocument.presentationml.slide+xml"/>
  <ns0:Override PartName="/ppt/c13/ppt/notesMasters/notesMaster1.xml" ContentType="application/vnd.openxmlformats-officedocument.presentationml.notesMaster+xml"/>
  <ns0:Override PartName="/ppt/c13/ppt/theme/theme1.xml" ContentType="application/vnd.openxmlformats-officedocument.theme+xml"/>
  <ns0:Override PartName="/ppt/c13/ppt/slideLayouts/slideLayout1.xml" ContentType="application/vnd.openxmlformats-officedocument.presentationml.slideLayout+xml"/>
  <ns0:Override PartName="/ppt/c13/ppt/slideLayouts/slideLayout2.xml" ContentType="application/vnd.openxmlformats-officedocument.presentationml.slideLayout+xml"/>
  <ns0:Override PartName="/ppt/c13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4948" r:id="rId17"/>
  </p:sldMasterIdLst>
  <p:notesMasterIdLst>
    <p:notesMasterId r:id="rId1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3/ppt/slides/slide3.xml" /><ns0:Relationship Id="rId2" Type="http://schemas.openxmlformats.org/officeDocument/2006/relationships/slide" Target="c13/ppt/slides/slide4.xml" /><ns0:Relationship Id="rId3" Type="http://schemas.openxmlformats.org/officeDocument/2006/relationships/slide" Target="c13/ppt/slides/slide5.xml" /><ns0:Relationship Id="rId4" Type="http://schemas.openxmlformats.org/officeDocument/2006/relationships/slide" Target="c13/ppt/slides/slide6.xml" /><ns0:Relationship Id="rId5" Type="http://schemas.openxmlformats.org/officeDocument/2006/relationships/slide" Target="c13/ppt/slides/slide7.xml" /><ns0:Relationship Id="rId6" Type="http://schemas.openxmlformats.org/officeDocument/2006/relationships/slide" Target="c13/ppt/slides/slide8.xml" /><ns0:Relationship Id="rId7" Type="http://schemas.openxmlformats.org/officeDocument/2006/relationships/slide" Target="c13/ppt/slides/slide9.xml" /><ns0:Relationship Id="rId8" Type="http://schemas.openxmlformats.org/officeDocument/2006/relationships/slide" Target="c13/ppt/slides/slide10.xml" /><ns0:Relationship Id="rId9" Type="http://schemas.openxmlformats.org/officeDocument/2006/relationships/slide" Target="c13/ppt/slides/slide11.xml" /><ns0:Relationship Id="rId10" Type="http://schemas.openxmlformats.org/officeDocument/2006/relationships/slide" Target="c13/ppt/slides/slide12.xml" /><ns0:Relationship Id="rId11" Type="http://schemas.openxmlformats.org/officeDocument/2006/relationships/slide" Target="c13/ppt/slides/slide13.xml" /><ns0:Relationship Id="rId12" Type="http://schemas.openxmlformats.org/officeDocument/2006/relationships/slide" Target="c13/ppt/slides/slide14.xml" /><ns0:Relationship Id="rId13" Type="http://schemas.openxmlformats.org/officeDocument/2006/relationships/slide" Target="c13/ppt/slides/slide15.xml" /><ns0:Relationship Id="rId14" Type="http://schemas.openxmlformats.org/officeDocument/2006/relationships/slide" Target="c13/ppt/slides/slide16.xml" /><ns0:Relationship Id="rId15" Type="http://schemas.openxmlformats.org/officeDocument/2006/relationships/slide" Target="c13/ppt/slides/slide17.xml" /><ns0:Relationship Id="rId16" Type="http://schemas.openxmlformats.org/officeDocument/2006/relationships/slide" Target="c13/ppt/slides/slide18.xml" /><ns0:Relationship Id="rId17" Type="http://schemas.openxmlformats.org/officeDocument/2006/relationships/slideMaster" Target="c13/ppt/slideMasters/slideMaster1.xml" /><ns0:Relationship Id="rId18" Type="http://schemas.openxmlformats.org/officeDocument/2006/relationships/notesMaster" Target="c13/ppt/notesMasters/notesMaster1.xml" /></ns0:Relationships>
</file>

<file path=ppt/c13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3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10/01/2024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3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3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3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10/01/2024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BBE1FFC-0839-4EEF-A732-FC1D95326913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12192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3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233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693991"/>
            <a:ext cx="10363200" cy="1470025"/>
          </a:xfrm>
        </p:spPr>
        <p:txBody>
          <a:bodyPr>
            <a:noAutofit/>
          </a:bodyPr>
          <a:lstStyle>
            <a:lvl1pPr>
              <a:defRPr sz="1898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5535025"/>
      </p:ext>
    </p:extLst>
  </p:cSld>
  <p:clrMapOvr>
    <a:masterClrMapping/>
  </p:clrMapOvr>
</p:sldLayout>
</file>

<file path=ppt/c13/ppt/slideMasters/_rels/slideMaster1.xml.rels><?xml version='1.0' encoding='utf-8'?>
<ns0:Relationships xmlns:ns0="http://schemas.openxmlformats.org/package/2006/relationships"><ns0:Relationship Id="rId3" Type="http://schemas.openxmlformats.org/officeDocument/2006/relationships/theme" Target="../theme/theme1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/ns0:Relationships>
</file>

<file path=ppt/c13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10/01/2024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9700" r:id="rId1"/>
    <p:sldLayoutId id="2147509701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3/ppt/slides/_rels/slide3.xml.rels><?xml version='1.0' encoding='utf-8'?>
<ns0:Relationships xmlns:ns0="http://schemas.openxmlformats.org/package/2006/relationships"><ns0:Relationship Id="rId3" Type="http://schemas.openxmlformats.org/officeDocument/2006/relationships/image" Target="../media/image5.png" /><ns0:Relationship Id="rId7" Type="http://schemas.openxmlformats.org/officeDocument/2006/relationships/image" Target="../media/image9.png" /><ns0:Relationship Id="rId2" Type="http://schemas.openxmlformats.org/officeDocument/2006/relationships/image" Target="../media/image239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8.png" /><ns0:Relationship Id="rId5" Type="http://schemas.openxmlformats.org/officeDocument/2006/relationships/image" Target="../media/image7.png" /><ns0:Relationship Id="rId4" Type="http://schemas.openxmlformats.org/officeDocument/2006/relationships/image" Target="../media/image6.png" /></ns0:Relationships>
</file>

<file path=ppt/c13/ppt/slides/_rels/slide4.xml.rels><?xml version='1.0' encoding='utf-8'?>
<ns0:Relationships xmlns:ns0="http://schemas.openxmlformats.org/package/2006/relationships"><ns0:Relationship Id="rId3" Type="http://schemas.openxmlformats.org/officeDocument/2006/relationships/image" Target="../media/image11.png" /><ns0:Relationship Id="rId2" Type="http://schemas.openxmlformats.org/officeDocument/2006/relationships/image" Target="../media/image1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4.png" /><ns0:Relationship Id="rId5" Type="http://schemas.openxmlformats.org/officeDocument/2006/relationships/image" Target="../media/image13.png" /><ns0:Relationship Id="rId4" Type="http://schemas.openxmlformats.org/officeDocument/2006/relationships/image" Target="../media/image12.png" /></ns0:Relationships>
</file>

<file path=ppt/c13/ppt/slides/_rels/slide5.xml.rels><?xml version='1.0' encoding='utf-8'?>
<ns0:Relationships xmlns:ns0="http://schemas.openxmlformats.org/package/2006/relationships"><ns0:Relationship Id="rId3" Type="http://schemas.openxmlformats.org/officeDocument/2006/relationships/image" Target="../media/image15.png" /><ns0:Relationship Id="rId7" Type="http://schemas.openxmlformats.org/officeDocument/2006/relationships/image" Target="../media/image19.png" /><ns0:Relationship Id="rId2" Type="http://schemas.openxmlformats.org/officeDocument/2006/relationships/image" Target="../media/image1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8.png" /><ns0:Relationship Id="rId5" Type="http://schemas.openxmlformats.org/officeDocument/2006/relationships/image" Target="../media/image17.png" /><ns0:Relationship Id="rId4" Type="http://schemas.openxmlformats.org/officeDocument/2006/relationships/image" Target="../media/image16.png" /></ns0:Relationships>
</file>

<file path=ppt/c13/ppt/slides/_rels/slide6.xml.rels><?xml version='1.0' encoding='utf-8'?>
<ns0:Relationships xmlns:ns0="http://schemas.openxmlformats.org/package/2006/relationships"><ns0:Relationship Id="rId8" Type="http://schemas.openxmlformats.org/officeDocument/2006/relationships/image" Target="../media/image26.png" /><ns0:Relationship Id="rId3" Type="http://schemas.openxmlformats.org/officeDocument/2006/relationships/image" Target="../media/image21.png" /><ns0:Relationship Id="rId7" Type="http://schemas.openxmlformats.org/officeDocument/2006/relationships/image" Target="../media/image25.png" /><ns0:Relationship Id="rId2" Type="http://schemas.openxmlformats.org/officeDocument/2006/relationships/image" Target="../media/image20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24.png" /><ns0:Relationship Id="rId5" Type="http://schemas.openxmlformats.org/officeDocument/2006/relationships/image" Target="../media/image23.png" /><ns0:Relationship Id="rId4" Type="http://schemas.openxmlformats.org/officeDocument/2006/relationships/image" Target="../media/image22.png" /></ns0:Relationships>
</file>

<file path=ppt/c13/ppt/slides/_rels/slide7.xml.rels><?xml version='1.0' encoding='utf-8'?>
<ns0:Relationships xmlns:ns0="http://schemas.openxmlformats.org/package/2006/relationships"><ns0:Relationship Id="rId3" Type="http://schemas.openxmlformats.org/officeDocument/2006/relationships/image" Target="../media/image28.png" /><ns0:Relationship Id="rId2" Type="http://schemas.openxmlformats.org/officeDocument/2006/relationships/image" Target="../media/image2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30.png" /><ns0:Relationship Id="rId4" Type="http://schemas.openxmlformats.org/officeDocument/2006/relationships/image" Target="../media/image29.png" /></ns0:Relationships>
</file>

<file path=ppt/c13/ppt/slides/_rels/slide8.xml.rels><?xml version='1.0' encoding='utf-8'?>
<ns0:Relationships xmlns:ns0="http://schemas.openxmlformats.org/package/2006/relationships"><ns0:Relationship Id="rId3" Type="http://schemas.openxmlformats.org/officeDocument/2006/relationships/image" Target="../media/image32.png" /><ns0:Relationship Id="rId2" Type="http://schemas.openxmlformats.org/officeDocument/2006/relationships/image" Target="../media/image31.png" /><ns0:Relationship Id="rId1" Type="http://schemas.openxmlformats.org/officeDocument/2006/relationships/slideLayout" Target="../slideLayouts/slideLayout1.xml" /></ns0:Relationships>
</file>

<file path=ppt/c13/ppt/slides/_rels/slide9.xml.rels><?xml version='1.0' encoding='utf-8'?>
<ns0:Relationships xmlns:ns0="http://schemas.openxmlformats.org/package/2006/relationships"><ns0:Relationship Id="rId3" Type="http://schemas.openxmlformats.org/officeDocument/2006/relationships/image" Target="../media/image34.png" /><ns0:Relationship Id="rId2" Type="http://schemas.openxmlformats.org/officeDocument/2006/relationships/image" Target="../media/image33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37.png" /><ns0:Relationship Id="rId5" Type="http://schemas.openxmlformats.org/officeDocument/2006/relationships/image" Target="../media/image36.png" /><ns0:Relationship Id="rId4" Type="http://schemas.openxmlformats.org/officeDocument/2006/relationships/image" Target="../media/image35.png" /></ns0:Relationships>
</file>

<file path=ppt/c13/ppt/slides/_rels/slide10.xml.rels><?xml version='1.0' encoding='utf-8'?>
<ns0:Relationships xmlns:ns0="http://schemas.openxmlformats.org/package/2006/relationships"><ns0:Relationship Id="rId8" Type="http://schemas.openxmlformats.org/officeDocument/2006/relationships/image" Target="../media/image44.png" /><ns0:Relationship Id="rId3" Type="http://schemas.openxmlformats.org/officeDocument/2006/relationships/image" Target="../media/image39.png" /><ns0:Relationship Id="rId7" Type="http://schemas.openxmlformats.org/officeDocument/2006/relationships/image" Target="../media/image43.png" /><ns0:Relationship Id="rId2" Type="http://schemas.openxmlformats.org/officeDocument/2006/relationships/image" Target="../media/image38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42.png" /><ns0:Relationship Id="rId5" Type="http://schemas.openxmlformats.org/officeDocument/2006/relationships/image" Target="../media/image41.png" /><ns0:Relationship Id="rId4" Type="http://schemas.openxmlformats.org/officeDocument/2006/relationships/image" Target="../media/image40.png" /></ns0:Relationships>
</file>

<file path=ppt/c13/ppt/slides/_rels/slide11.xml.rels><?xml version='1.0' encoding='utf-8'?>
<ns0:Relationships xmlns:ns0="http://schemas.openxmlformats.org/package/2006/relationships"><ns0:Relationship Id="rId3" Type="http://schemas.openxmlformats.org/officeDocument/2006/relationships/image" Target="../media/image46.png" /><ns0:Relationship Id="rId2" Type="http://schemas.openxmlformats.org/officeDocument/2006/relationships/image" Target="../media/image45.png" /><ns0:Relationship Id="rId1" Type="http://schemas.openxmlformats.org/officeDocument/2006/relationships/slideLayout" Target="../slideLayouts/slideLayout1.xml" /></ns0:Relationships>
</file>

<file path=ppt/c13/ppt/slides/_rels/slide12.xml.rels><?xml version='1.0' encoding='utf-8'?>
<ns0:Relationships xmlns:ns0="http://schemas.openxmlformats.org/package/2006/relationships"><ns0:Relationship Id="rId3" Type="http://schemas.openxmlformats.org/officeDocument/2006/relationships/image" Target="../media/image48.png" /><ns0:Relationship Id="rId2" Type="http://schemas.openxmlformats.org/officeDocument/2006/relationships/image" Target="../media/image4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50.png" /><ns0:Relationship Id="rId4" Type="http://schemas.openxmlformats.org/officeDocument/2006/relationships/image" Target="../media/image49.png" /></ns0:Relationships>
</file>

<file path=ppt/c13/ppt/slides/_rels/slide13.xml.rels><?xml version='1.0' encoding='utf-8'?>
<ns0:Relationships xmlns:ns0="http://schemas.openxmlformats.org/package/2006/relationships"><ns0:Relationship Id="rId3" Type="http://schemas.openxmlformats.org/officeDocument/2006/relationships/image" Target="../media/image52.png" /><ns0:Relationship Id="rId7" Type="http://schemas.openxmlformats.org/officeDocument/2006/relationships/image" Target="../media/image56.png" /><ns0:Relationship Id="rId2" Type="http://schemas.openxmlformats.org/officeDocument/2006/relationships/image" Target="../media/image5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55.png" /><ns0:Relationship Id="rId5" Type="http://schemas.openxmlformats.org/officeDocument/2006/relationships/image" Target="../media/image54.png" /><ns0:Relationship Id="rId4" Type="http://schemas.openxmlformats.org/officeDocument/2006/relationships/image" Target="../media/image53.png" /></ns0:Relationships>
</file>

<file path=ppt/c13/ppt/slides/_rels/slide14.xml.rels><?xml version='1.0' encoding='utf-8'?>
<ns0:Relationships xmlns:ns0="http://schemas.openxmlformats.org/package/2006/relationships"><ns0:Relationship Id="rId8" Type="http://schemas.openxmlformats.org/officeDocument/2006/relationships/image" Target="../media/image63.png" /><ns0:Relationship Id="rId3" Type="http://schemas.openxmlformats.org/officeDocument/2006/relationships/image" Target="../media/image58.png" /><ns0:Relationship Id="rId7" Type="http://schemas.openxmlformats.org/officeDocument/2006/relationships/image" Target="../media/image62.png" /><ns0:Relationship Id="rId2" Type="http://schemas.openxmlformats.org/officeDocument/2006/relationships/image" Target="../media/image57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61.png" /><ns0:Relationship Id="rId5" Type="http://schemas.openxmlformats.org/officeDocument/2006/relationships/image" Target="../media/image60.png" /><ns0:Relationship Id="rId10" Type="http://schemas.openxmlformats.org/officeDocument/2006/relationships/image" Target="../media/image65.png" /><ns0:Relationship Id="rId4" Type="http://schemas.openxmlformats.org/officeDocument/2006/relationships/image" Target="../media/image59.png" /><ns0:Relationship Id="rId9" Type="http://schemas.openxmlformats.org/officeDocument/2006/relationships/image" Target="../media/image64.png" /></ns0:Relationships>
</file>

<file path=ppt/c13/ppt/slides/_rels/slide15.xml.rels><?xml version='1.0' encoding='utf-8'?>
<ns0:Relationships xmlns:ns0="http://schemas.openxmlformats.org/package/2006/relationships"><ns0:Relationship Id="rId8" Type="http://schemas.openxmlformats.org/officeDocument/2006/relationships/image" Target="../media/image72.png" /><ns0:Relationship Id="rId13" Type="http://schemas.openxmlformats.org/officeDocument/2006/relationships/image" Target="../media/image77.png" /><ns0:Relationship Id="rId3" Type="http://schemas.openxmlformats.org/officeDocument/2006/relationships/image" Target="../media/image67.png" /><ns0:Relationship Id="rId7" Type="http://schemas.openxmlformats.org/officeDocument/2006/relationships/image" Target="../media/image71.png" /><ns0:Relationship Id="rId12" Type="http://schemas.openxmlformats.org/officeDocument/2006/relationships/image" Target="../media/image76.png" /><ns0:Relationship Id="rId2" Type="http://schemas.openxmlformats.org/officeDocument/2006/relationships/image" Target="../media/image66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70.png" /><ns0:Relationship Id="rId11" Type="http://schemas.openxmlformats.org/officeDocument/2006/relationships/image" Target="../media/image75.png" /><ns0:Relationship Id="rId5" Type="http://schemas.openxmlformats.org/officeDocument/2006/relationships/image" Target="../media/image69.png" /><ns0:Relationship Id="rId10" Type="http://schemas.openxmlformats.org/officeDocument/2006/relationships/image" Target="../media/image74.png" /><ns0:Relationship Id="rId4" Type="http://schemas.openxmlformats.org/officeDocument/2006/relationships/image" Target="../media/image68.png" /><ns0:Relationship Id="rId9" Type="http://schemas.openxmlformats.org/officeDocument/2006/relationships/image" Target="../media/image73.png" /></ns0:Relationships>
</file>

<file path=ppt/c13/ppt/slides/_rels/slide16.xml.rels><?xml version='1.0' encoding='utf-8'?>
<ns0:Relationships xmlns:ns0="http://schemas.openxmlformats.org/package/2006/relationships"><ns0:Relationship Id="rId3" Type="http://schemas.openxmlformats.org/officeDocument/2006/relationships/image" Target="../media/image79.png" /><ns0:Relationship Id="rId2" Type="http://schemas.openxmlformats.org/officeDocument/2006/relationships/image" Target="../media/image78.png" /><ns0:Relationship Id="rId1" Type="http://schemas.openxmlformats.org/officeDocument/2006/relationships/slideLayout" Target="../slideLayouts/slideLayout1.xml" /><ns0:Relationship Id="rId4" Type="http://schemas.openxmlformats.org/officeDocument/2006/relationships/image" Target="../media/image80.png" /></ns0:Relationships>
</file>

<file path=ppt/c13/ppt/slides/_rels/slide17.xml.rels><?xml version='1.0' encoding='utf-8'?>
<ns0:Relationships xmlns:ns0="http://schemas.openxmlformats.org/package/2006/relationships"><ns0:Relationship Id="rId3" Type="http://schemas.openxmlformats.org/officeDocument/2006/relationships/image" Target="../media/image82.png" /><ns0:Relationship Id="rId7" Type="http://schemas.openxmlformats.org/officeDocument/2006/relationships/image" Target="../media/image86.png" /><ns0:Relationship Id="rId2" Type="http://schemas.openxmlformats.org/officeDocument/2006/relationships/image" Target="../media/image8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85.png" /><ns0:Relationship Id="rId5" Type="http://schemas.openxmlformats.org/officeDocument/2006/relationships/image" Target="../media/image84.png" /><ns0:Relationship Id="rId4" Type="http://schemas.openxmlformats.org/officeDocument/2006/relationships/image" Target="../media/image83.png" /></ns0:Relationships>
</file>

<file path=ppt/c13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88.png" /><ns0:Relationship Id="rId2" Type="http://schemas.openxmlformats.org/officeDocument/2006/relationships/image" Target="../media/image8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90.png" /><ns0:Relationship Id="rId4" Type="http://schemas.openxmlformats.org/officeDocument/2006/relationships/image" Target="../media/image89.png" /></ns0:Relationships>
</file>

<file path=ppt/c13/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32"/>
                <p:cNvSpPr txBox="1"/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solidFill>
                  <a:srgbClr val="17375E">
                    <a:alpha val="0"/>
                  </a:srgbClr>
                </a:solidFill>
                <a:ln>
                  <a:noFill/>
                </a:ln>
              </p:spPr>
              <p:style>
                <a:lnRef idx="2">
                  <a:schemeClr val="dk1">
                    <a:shade val="50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wrap="square" lIns="324000" rtlCol="0">
                  <a:spAutoFit/>
                </a:bodyPr>
                <a:lstStyle>
                  <a:defPPr>
                    <a:defRPr lang="en-US"/>
                  </a:defPPr>
                  <a:lvl1pPr>
                    <a:defRPr sz="3200">
                      <a:latin typeface="+mj-lt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r>
                    <a:rPr lang="en-GB" dirty="0"/>
                    <a:t>Integrating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r>
                    <a:rPr lang="en-GB" dirty="0"/>
                    <a:t> terms</a:t>
                  </a:r>
                </a:p>
              </p:txBody>
            </p:sp>
          </mc:Choice>
          <mc:Fallback xmlns="">
            <p:sp>
              <p:nvSpPr>
                <p:cNvPr id="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3335"/>
                  <a:ext cx="9144000" cy="599127"/>
                </a:xfrm>
                <a:prstGeom prst="rect">
                  <a:avLst/>
                </a:prstGeom>
                <a:blipFill>
                  <a:blip r:embed="rId2"/>
                  <a:stretch>
                    <a:fillRect t="-14583" b="-27083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7" name="TextBox 6"/>
          <p:cNvSpPr txBox="1"/>
          <p:nvPr/>
        </p:nvSpPr>
        <p:spPr>
          <a:xfrm>
            <a:off x="1841331" y="863488"/>
            <a:ext cx="6486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Integration is the </a:t>
            </a:r>
            <a:r>
              <a:rPr lang="en-GB" sz="2000" b="1" dirty="0"/>
              <a:t>opposite of differentiation</a:t>
            </a:r>
            <a:r>
              <a:rPr lang="en-GB" sz="2000" dirty="0"/>
              <a:t>.</a:t>
            </a:r>
          </a:p>
          <a:p>
            <a:r>
              <a:rPr lang="en-GB" sz="1600" dirty="0"/>
              <a:t>(For this reason it is also called ‘</a:t>
            </a:r>
            <a:r>
              <a:rPr lang="en-GB" sz="1600" i="1" dirty="0"/>
              <a:t>antidifferentiation</a:t>
            </a:r>
            <a:r>
              <a:rPr lang="en-GB" sz="1600" dirty="0"/>
              <a:t>’)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13787" y="2392175"/>
                <a:ext cx="13099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5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787" y="2392175"/>
                <a:ext cx="1309960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3436052" y="2053943"/>
            <a:ext cx="223224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multiply by power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V="1">
            <a:off x="2914650" y="2247901"/>
            <a:ext cx="514350" cy="29527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2" name="Straight Arrow Connector 71"/>
          <p:cNvCxnSpPr/>
          <p:nvPr/>
        </p:nvCxnSpPr>
        <p:spPr>
          <a:xfrm>
            <a:off x="5683761" y="2228851"/>
            <a:ext cx="457200" cy="952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3" name="TextBox 72"/>
          <p:cNvSpPr txBox="1"/>
          <p:nvPr/>
        </p:nvSpPr>
        <p:spPr>
          <a:xfrm>
            <a:off x="6140961" y="2028868"/>
            <a:ext cx="223224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reduce power by 1</a:t>
            </a:r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8388670" y="2219325"/>
            <a:ext cx="431480" cy="2476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/>
              <p:cNvSpPr txBox="1"/>
              <p:nvPr/>
            </p:nvSpPr>
            <p:spPr>
              <a:xfrm>
                <a:off x="8705015" y="2229792"/>
                <a:ext cx="130996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15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5" name="TextBox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5015" y="2229792"/>
                <a:ext cx="1309960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TextBox 75"/>
          <p:cNvSpPr txBox="1"/>
          <p:nvPr/>
        </p:nvSpPr>
        <p:spPr>
          <a:xfrm>
            <a:off x="6117678" y="2906776"/>
            <a:ext cx="223224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increase power by 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504588" y="2920226"/>
            <a:ext cx="2232248" cy="369332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/>
              <a:t>divide by </a:t>
            </a:r>
            <a:r>
              <a:rPr lang="en-GB" u="sng" dirty="0"/>
              <a:t>new</a:t>
            </a:r>
            <a:r>
              <a:rPr lang="en-GB" dirty="0"/>
              <a:t> power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8391526" y="2714625"/>
            <a:ext cx="504825" cy="36195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/>
          <p:nvPr/>
        </p:nvCxnSpPr>
        <p:spPr>
          <a:xfrm flipH="1">
            <a:off x="5734051" y="3082152"/>
            <a:ext cx="382229" cy="394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Arrow Connector 79"/>
          <p:cNvCxnSpPr/>
          <p:nvPr/>
        </p:nvCxnSpPr>
        <p:spPr>
          <a:xfrm flipH="1" flipV="1">
            <a:off x="2895600" y="2781301"/>
            <a:ext cx="595094" cy="33992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076252" y="3930409"/>
                <a:ext cx="3670498" cy="62427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 when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2400" i="1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252" y="3930409"/>
                <a:ext cx="3670498" cy="6242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/>
              <p:cNvSpPr txBox="1"/>
              <p:nvPr/>
            </p:nvSpPr>
            <p:spPr>
              <a:xfrm>
                <a:off x="2364931" y="4670086"/>
                <a:ext cx="6899297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Adding 1 to the power and dividing by this power give us: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However, other functions would also have differentiated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+1,    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−4,    …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Clearly we could have had any constant, as it disappears upon differentiation.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>
                          <a:latin typeface="Cambria Math" panose="02040503050406030204" pitchFamily="18" charset="0"/>
                        </a:rPr>
                        <m:t>𝒄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81" name="TextBox 8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4931" y="4670086"/>
                <a:ext cx="6899297" cy="2031325"/>
              </a:xfrm>
              <a:prstGeom prst="rect">
                <a:avLst/>
              </a:prstGeom>
              <a:blipFill>
                <a:blip r:embed="rId6"/>
                <a:stretch>
                  <a:fillRect l="-795" t="-1502" b="-90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/>
          <p:cNvSpPr txBox="1"/>
          <p:nvPr/>
        </p:nvSpPr>
        <p:spPr>
          <a:xfrm>
            <a:off x="1987352" y="3467224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However, there’s one added complication…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9430" y="1959124"/>
            <a:ext cx="1105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Function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451860" y="1806795"/>
            <a:ext cx="1949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Gradient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7608168" y="6165305"/>
                <a:ext cx="2793132" cy="64633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 is known as a </a:t>
                </a:r>
                <a:r>
                  <a:rPr lang="en-GB" b="1" dirty="0"/>
                  <a:t>constant of integration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8168" y="6165305"/>
                <a:ext cx="2793132" cy="646331"/>
              </a:xfrm>
              <a:prstGeom prst="rect">
                <a:avLst/>
              </a:prstGeom>
              <a:blipFill>
                <a:blip r:embed="rId7"/>
                <a:stretch>
                  <a:fillRect l="-1299" t="-2727" b="-118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Arrow Connector 38"/>
          <p:cNvCxnSpPr/>
          <p:nvPr/>
        </p:nvCxnSpPr>
        <p:spPr>
          <a:xfrm flipH="1">
            <a:off x="6816080" y="6399415"/>
            <a:ext cx="792088" cy="94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3" name="Rectangle 82"/>
          <p:cNvSpPr/>
          <p:nvPr/>
        </p:nvSpPr>
        <p:spPr>
          <a:xfrm>
            <a:off x="2047302" y="4554681"/>
            <a:ext cx="8353999" cy="224906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4" name="Rectangle 83"/>
          <p:cNvSpPr/>
          <p:nvPr/>
        </p:nvSpPr>
        <p:spPr>
          <a:xfrm>
            <a:off x="3504589" y="2894252"/>
            <a:ext cx="2273847" cy="3953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116280" y="2878922"/>
            <a:ext cx="2273847" cy="39530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51233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8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5"/>
                  </p:tgtEl>
                </p:cond>
              </p:nextCondLst>
            </p:seq>
          </p:childTnLst>
        </p:cTn>
      </p:par>
    </p:tnLst>
    <p:bldLst>
      <p:bldP spid="83" grpId="0" animBg="1"/>
      <p:bldP spid="84" grpId="0" animBg="1"/>
      <p:bldP spid="85" grpId="0" animBg="1"/>
    </p:bldLst>
  </p:timing>
</p:sld>
</file>

<file path=ppt/c13/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96728" y="5917875"/>
            <a:ext cx="3774008" cy="738664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Textbook Error </a:t>
            </a:r>
            <a:r>
              <a:rPr lang="en-GB" sz="1400" dirty="0"/>
              <a:t>on Pg289: “When integrating polynomials”, but Example 3 is not a polynomial because it has negative and fractional powers. 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4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5" name="Straight Connector 4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60228" y="929929"/>
                <a:ext cx="211487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 when:</a:t>
                </a:r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228" y="929929"/>
                <a:ext cx="2114872" cy="461665"/>
              </a:xfrm>
              <a:prstGeom prst="rect">
                <a:avLst/>
              </a:prstGeom>
              <a:blipFill>
                <a:blip r:embed="rId2"/>
                <a:stretch>
                  <a:fillRect l="-267"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000052" y="1738909"/>
                <a:ext cx="3854648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052" y="1738909"/>
                <a:ext cx="3854648" cy="7936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00052" y="2531375"/>
                <a:ext cx="3854648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052" y="2531375"/>
                <a:ext cx="3854648" cy="79361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6924300" y="1139594"/>
            <a:ext cx="3240360" cy="36933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You should </a:t>
            </a:r>
            <a:r>
              <a:rPr lang="en-GB" b="1" u="sng" dirty="0"/>
              <a:t>always</a:t>
            </a:r>
            <a:r>
              <a:rPr lang="en-GB" dirty="0"/>
              <a:t> include the c.</a:t>
            </a:r>
          </a:p>
        </p:txBody>
      </p:sp>
      <p:cxnSp>
        <p:nvCxnSpPr>
          <p:cNvPr id="11" name="Straight Arrow Connector 10"/>
          <p:cNvCxnSpPr>
            <a:stCxn id="9" idx="1"/>
          </p:cNvCxnSpPr>
          <p:nvPr/>
        </p:nvCxnSpPr>
        <p:spPr>
          <a:xfrm flipH="1">
            <a:off x="5663952" y="1324261"/>
            <a:ext cx="1260348" cy="8114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803948" y="2844265"/>
                <a:ext cx="3508452" cy="52443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You could also write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948" y="2844265"/>
                <a:ext cx="3508452" cy="524439"/>
              </a:xfrm>
              <a:prstGeom prst="rect">
                <a:avLst/>
              </a:prstGeom>
              <a:blipFill>
                <a:blip r:embed="rId5"/>
                <a:stretch>
                  <a:fillRect l="-1034" b="-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H="1" flipV="1">
            <a:off x="5803900" y="2959101"/>
            <a:ext cx="1000048" cy="3658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52700" y="4050893"/>
                <a:ext cx="6175300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700" y="4050893"/>
                <a:ext cx="6175300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6413500" y="5042196"/>
            <a:ext cx="4064000" cy="5847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/>
              <a:t>When you divide by a fraction, you multiply by the reciprocal.</a:t>
            </a:r>
          </a:p>
        </p:txBody>
      </p:sp>
      <p:cxnSp>
        <p:nvCxnSpPr>
          <p:cNvPr id="17" name="Straight Arrow Connector 16"/>
          <p:cNvCxnSpPr/>
          <p:nvPr/>
        </p:nvCxnSpPr>
        <p:spPr>
          <a:xfrm flipH="1" flipV="1">
            <a:off x="5575300" y="4902200"/>
            <a:ext cx="846956" cy="7302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457746" y="1741007"/>
            <a:ext cx="1102299" cy="728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73002" y="2561890"/>
            <a:ext cx="1191199" cy="84171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42526" y="3958372"/>
            <a:ext cx="3153674" cy="96922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0445621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6" grpId="0" animBg="1"/>
      <p:bldP spid="19" grpId="0" animBg="1"/>
      <p:bldP spid="20" grpId="0" animBg="1"/>
      <p:bldP spid="21" grpId="0" animBg="1"/>
    </p:bldLst>
  </p:timing>
</p:sld>
</file>

<file path=ppt/c13/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More Fractional 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60228" y="929929"/>
                <a:ext cx="211487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400" dirty="0"/>
                  <a:t> when:</a:t>
                </a:r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228" y="929929"/>
                <a:ext cx="2114872" cy="461665"/>
              </a:xfrm>
              <a:prstGeom prst="rect">
                <a:avLst/>
              </a:prstGeom>
              <a:blipFill>
                <a:blip r:embed="rId2"/>
                <a:stretch>
                  <a:fillRect l="-267"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00052" y="1738908"/>
                <a:ext cx="6102548" cy="862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rad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=8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052" y="1738908"/>
                <a:ext cx="6102548" cy="8626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7178300" y="1076095"/>
                <a:ext cx="3240360" cy="760465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When we divide by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GB" dirty="0"/>
                  <a:t> we multiply by the reciprocal, i.e. 2. 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8300" y="1076095"/>
                <a:ext cx="3240360" cy="760465"/>
              </a:xfrm>
              <a:prstGeom prst="rect">
                <a:avLst/>
              </a:prstGeom>
              <a:blipFill>
                <a:blip r:embed="rId4"/>
                <a:stretch>
                  <a:fillRect l="-1308" r="-561" b="-109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cxnSpLocks/>
            <a:stCxn id="7" idx="1"/>
          </p:cNvCxnSpPr>
          <p:nvPr/>
        </p:nvCxnSpPr>
        <p:spPr>
          <a:xfrm flipH="1">
            <a:off x="6672064" y="1456327"/>
            <a:ext cx="506236" cy="380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00052" y="3047788"/>
                <a:ext cx="6102548" cy="793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=−5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052" y="3047788"/>
                <a:ext cx="6102548" cy="79361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000052" y="4287609"/>
                <a:ext cx="8056388" cy="9221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=4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0052" y="4287609"/>
                <a:ext cx="8056388" cy="9221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994992" y="5445224"/>
                <a:ext cx="7485384" cy="8014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𝑑𝑦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=10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=10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=14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4992" y="5445224"/>
                <a:ext cx="7485384" cy="80143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545902" y="1595582"/>
            <a:ext cx="873699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62100" y="1643842"/>
            <a:ext cx="1140300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6600" y="2914858"/>
            <a:ext cx="1677300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62100" y="4185874"/>
            <a:ext cx="3542212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62100" y="5334941"/>
            <a:ext cx="3542212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8229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c13/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860228" y="929929"/>
                <a:ext cx="2394272" cy="46166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400" dirty="0"/>
                  <a:t> when:</a:t>
                </a:r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228" y="929929"/>
                <a:ext cx="2394272" cy="461665"/>
              </a:xfrm>
              <a:prstGeom prst="rect">
                <a:avLst/>
              </a:prstGeom>
              <a:blipFill>
                <a:blip r:embed="rId2"/>
                <a:stretch>
                  <a:fillRect b="-1111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92900" y="3311661"/>
                <a:ext cx="7156648" cy="7862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p>
                          </m:sSup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−7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−6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2900" y="3311661"/>
                <a:ext cx="7156648" cy="7862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105600" y="4318995"/>
                <a:ext cx="7156648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en-GB" sz="2400"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 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5600" y="4318995"/>
                <a:ext cx="7156648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075884" y="5202034"/>
                <a:ext cx="7156648" cy="635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=33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=18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11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5884" y="5202034"/>
                <a:ext cx="7156648" cy="6356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956348" y="3165015"/>
            <a:ext cx="1140300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0096" y="3165015"/>
            <a:ext cx="1799956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36120" y="4213080"/>
            <a:ext cx="997028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8552" y="4213080"/>
            <a:ext cx="1275436" cy="98251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203252" y="1651239"/>
                <a:ext cx="715664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+7                         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252" y="1651239"/>
                <a:ext cx="7156648" cy="461665"/>
              </a:xfrm>
              <a:prstGeom prst="rect">
                <a:avLst/>
              </a:prstGeom>
              <a:blipFill>
                <a:blip r:embed="rId6"/>
                <a:stretch>
                  <a:fillRect l="-681" b="-17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203996" y="2206998"/>
                <a:ext cx="7156648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−1                         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996" y="2206998"/>
                <a:ext cx="7156648" cy="7861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6908552" y="1447801"/>
            <a:ext cx="2044948" cy="7095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8552" y="2236212"/>
            <a:ext cx="2044948" cy="837189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438400" y="5996013"/>
                <a:ext cx="7569200" cy="79585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Note</a:t>
                </a:r>
                <a:r>
                  <a:rPr lang="en-GB" sz="1600" dirty="0"/>
                  <a:t>: In case you’re wondering what happens if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GB" sz="1600" dirty="0"/>
                  <a:t> , the problem is that after adding 1 to the power, we’d be dividing by 0. You will learn how to integrate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i="1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600" dirty="0"/>
                  <a:t> in Year 2.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5996013"/>
                <a:ext cx="7569200" cy="795859"/>
              </a:xfrm>
              <a:prstGeom prst="rect">
                <a:avLst/>
              </a:prstGeom>
              <a:blipFill>
                <a:blip r:embed="rId8"/>
                <a:stretch>
                  <a:fillRect l="-241" b="-149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6908552" y="5251666"/>
            <a:ext cx="1740148" cy="66653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89465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5" grpId="0" animBg="1"/>
      <p:bldP spid="16" grpId="0" animBg="1"/>
      <p:bldP spid="18" grpId="0" animBg="1"/>
    </p:bldLst>
  </p:timing>
</p:sld>
</file>

<file path=ppt/c13/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13A – Y1 pages 289-290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CABC11-BC9D-2E34-F4DD-C8810A826323}"/>
                  </a:ext>
                </a:extLst>
              </p:cNvPr>
              <p:cNvSpPr txBox="1"/>
              <p:nvPr/>
            </p:nvSpPr>
            <p:spPr>
              <a:xfrm>
                <a:off x="1538736" y="599127"/>
                <a:ext cx="3544368" cy="4912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+3</m:t>
                            </m:r>
                          </m:e>
                        </m:d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CCABC11-BC9D-2E34-F4DD-C8810A826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736" y="599127"/>
                <a:ext cx="3544368" cy="491288"/>
              </a:xfrm>
              <a:prstGeom prst="rect">
                <a:avLst/>
              </a:prstGeom>
              <a:blipFill>
                <a:blip r:embed="rId2"/>
                <a:stretch>
                  <a:fillRect l="-1375" b="-61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324736-FE9A-4BAC-31E1-3CC1225869B6}"/>
                  </a:ext>
                </a:extLst>
              </p:cNvPr>
              <p:cNvSpPr txBox="1"/>
              <p:nvPr/>
            </p:nvSpPr>
            <p:spPr>
              <a:xfrm>
                <a:off x="1538736" y="3094364"/>
                <a:ext cx="5189562" cy="4703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5. </a:t>
                </a:r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GB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𝑓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′ </m:t>
                        </m:r>
                      </m:sup>
                    </m:sSup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</m:t>
                        </m:r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−2</m:t>
                        </m:r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6</m:t>
                        </m:r>
                        <m:r>
                          <a:rPr lang="en-GB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−4</m:t>
                    </m:r>
                  </m:oMath>
                </a14:m>
                <a:endParaRPr lang="en-GB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5324736-FE9A-4BAC-31E1-3CC1225869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736" y="3094364"/>
                <a:ext cx="5189562" cy="470385"/>
              </a:xfrm>
              <a:prstGeom prst="rect">
                <a:avLst/>
              </a:prstGeom>
              <a:blipFill>
                <a:blip r:embed="rId3"/>
                <a:stretch>
                  <a:fillRect l="-939" b="-207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A99BA5DB-2F0F-8676-AC9E-806A89DE5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657" y="1186872"/>
            <a:ext cx="2407275" cy="16283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446482-70D8-FA45-02E1-8DB45B88D8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5680" y="3933057"/>
            <a:ext cx="3384376" cy="19746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76A9AA5-102D-D5F3-BF6C-0709BA492E40}"/>
              </a:ext>
            </a:extLst>
          </p:cNvPr>
          <p:cNvSpPr/>
          <p:nvPr/>
        </p:nvSpPr>
        <p:spPr>
          <a:xfrm>
            <a:off x="2996839" y="1186872"/>
            <a:ext cx="4323297" cy="17380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9F5044-38AE-5A99-EF29-9D6A8D18FC58}"/>
              </a:ext>
            </a:extLst>
          </p:cNvPr>
          <p:cNvSpPr/>
          <p:nvPr/>
        </p:nvSpPr>
        <p:spPr>
          <a:xfrm>
            <a:off x="2996839" y="3925822"/>
            <a:ext cx="4323297" cy="21674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5104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c13/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13A – Y1 pages 290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09D1E4-F6D4-01F6-68CA-0AE002028E13}"/>
                  </a:ext>
                </a:extLst>
              </p:cNvPr>
              <p:cNvSpPr txBox="1"/>
              <p:nvPr/>
            </p:nvSpPr>
            <p:spPr>
              <a:xfrm>
                <a:off x="1524000" y="718208"/>
                <a:ext cx="6104000" cy="5529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Challenge.</a:t>
                </a:r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Find </a:t>
                </a:r>
                <a14:m>
                  <m:oMath xmlns:m="http://schemas.openxmlformats.org/officeDocument/2006/math">
                    <m:r>
                      <a:rPr lang="en-GB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GB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given that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𝑑𝑦</m:t>
                        </m:r>
                      </m:num>
                      <m:den>
                        <m: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𝑑𝑥</m:t>
                        </m:r>
                      </m:den>
                    </m:f>
                    <m:r>
                      <a:rPr lang="en-GB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</m:rad>
                        <m: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GB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ctrlPr>
                          <a:rPr lang="en-GB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GB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GB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3+</m:t>
                            </m:r>
                            <m:r>
                              <a:rPr lang="en-GB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GB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5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GB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109D1E4-F6D4-01F6-68CA-0AE002028E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718208"/>
                <a:ext cx="6104000" cy="552972"/>
              </a:xfrm>
              <a:prstGeom prst="rect">
                <a:avLst/>
              </a:prstGeom>
              <a:blipFill>
                <a:blip r:embed="rId2"/>
                <a:stretch>
                  <a:fillRect l="-999" b="-439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3C66F2D-0B6F-0FBC-786E-174228352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3753" y="1700808"/>
            <a:ext cx="3750895" cy="41855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744340A-3956-8DF1-9C4D-0A24A787E826}"/>
              </a:ext>
            </a:extLst>
          </p:cNvPr>
          <p:cNvSpPr/>
          <p:nvPr/>
        </p:nvSpPr>
        <p:spPr>
          <a:xfrm>
            <a:off x="3325534" y="1624311"/>
            <a:ext cx="4323297" cy="41855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5273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c13/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Integration notation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177976" y="951136"/>
                <a:ext cx="7613724" cy="29668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The following notation could be used to differentiate an expression: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                    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d>
                        <m:d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5</m:t>
                          </m:r>
                          <m:sSup>
                            <m:sSup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GB" sz="2400" i="1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sz="2400" dirty="0"/>
              </a:p>
              <a:p>
                <a:endParaRPr lang="en-GB" sz="2400" dirty="0"/>
              </a:p>
              <a:p>
                <a:endParaRPr lang="en-GB" sz="2400" dirty="0"/>
              </a:p>
              <a:p>
                <a:r>
                  <a:rPr lang="en-GB" sz="2000" dirty="0"/>
                  <a:t>There is similarly notation for integrating an expression:</a:t>
                </a:r>
              </a:p>
              <a:p>
                <a:endParaRPr lang="en-GB" sz="200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i="1">
                          <a:latin typeface="Cambria Math" panose="02040503050406030204" pitchFamily="18" charset="0"/>
                        </a:rPr>
                        <m:t>∫10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=5</m:t>
                      </m:r>
                      <m:sSup>
                        <m:sSupPr>
                          <m:ctrlPr>
                            <a:rPr lang="en-GB" sz="32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76" y="951136"/>
                <a:ext cx="7613724" cy="2966838"/>
              </a:xfrm>
              <a:prstGeom prst="rect">
                <a:avLst/>
              </a:prstGeom>
              <a:blipFill>
                <a:blip r:embed="rId2"/>
                <a:stretch>
                  <a:fillRect l="-801" t="-10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049512" y="1408584"/>
                <a:ext cx="2141488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here means differentiating “with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12" y="1408584"/>
                <a:ext cx="2141488" cy="923330"/>
              </a:xfrm>
              <a:prstGeom prst="rect">
                <a:avLst/>
              </a:prstGeom>
              <a:blipFill>
                <a:blip r:embed="rId3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 flipV="1">
            <a:off x="4191000" y="1803400"/>
            <a:ext cx="1130300" cy="113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774876" y="4488036"/>
            <a:ext cx="1517724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“Integrate…”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1710" y="4611512"/>
            <a:ext cx="1976090" cy="369332"/>
          </a:xfrm>
          <a:prstGeom prst="rect">
            <a:avLst/>
          </a:prstGeom>
          <a:solidFill>
            <a:schemeClr val="bg1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dirty="0"/>
              <a:t>“…this expression”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786910" y="4462636"/>
                <a:ext cx="3269530" cy="73866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“…with respect to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”</a:t>
                </a:r>
              </a:p>
              <a:p>
                <a:r>
                  <a:rPr lang="en-GB" sz="1200" dirty="0"/>
                  <a:t>(the </a:t>
                </a:r>
                <a14:m>
                  <m:oMath xmlns:m="http://schemas.openxmlformats.org/officeDocument/2006/math">
                    <m:r>
                      <a:rPr lang="en-GB" sz="1200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sz="1200" dirty="0"/>
                  <a:t> is needed just as it was needed in the differentiation notation at the top of this slide)</a:t>
                </a: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6910" y="4462636"/>
                <a:ext cx="3269530" cy="7386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/>
          <p:cNvCxnSpPr/>
          <p:nvPr/>
        </p:nvCxnSpPr>
        <p:spPr>
          <a:xfrm flipV="1">
            <a:off x="3759200" y="4051300"/>
            <a:ext cx="444500" cy="419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 flipV="1">
            <a:off x="4978401" y="3987801"/>
            <a:ext cx="72405" cy="6268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 flipV="1">
            <a:off x="5791200" y="3962401"/>
            <a:ext cx="980382" cy="5875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177976" y="5355864"/>
                <a:ext cx="773444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This is known as </a:t>
                </a:r>
                <a:r>
                  <a:rPr lang="en-GB" b="1" dirty="0"/>
                  <a:t>indefinite integration</a:t>
                </a:r>
                <a:r>
                  <a:rPr lang="en-GB" dirty="0"/>
                  <a:t>, in contrast to definite integration, which we’ll see later in the chapter.</a:t>
                </a:r>
              </a:p>
              <a:p>
                <a:endParaRPr lang="en-GB" dirty="0"/>
              </a:p>
              <a:p>
                <a:r>
                  <a:rPr lang="en-GB" dirty="0"/>
                  <a:t>It is called ‘indefinite’ because the exact expression is unknown (due to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GB" dirty="0"/>
                  <a:t>).</a:t>
                </a: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76" y="5355864"/>
                <a:ext cx="7734448" cy="1200329"/>
              </a:xfrm>
              <a:prstGeom prst="rect">
                <a:avLst/>
              </a:prstGeom>
              <a:blipFill>
                <a:blip r:embed="rId5"/>
                <a:stretch>
                  <a:fillRect l="-630" t="-3061" b="-765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2988196" y="6858000"/>
                <a:ext cx="6792044" cy="966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Advanced Note: For the moment you should think of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just as part of the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…</m:t>
                            </m:r>
                          </m:e>
                        </m:d>
                        <m:r>
                          <a:rPr lang="en-GB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dirty="0"/>
                  <a:t> notation, informing us what variable we’re integrating with respect to. But strictly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 actually </a:t>
                </a:r>
                <a:r>
                  <a:rPr lang="en-GB" dirty="0" err="1"/>
                  <a:t>beh</a:t>
                </a:r>
                <a:endParaRPr lang="en-GB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8196" y="6858000"/>
                <a:ext cx="6792044" cy="966162"/>
              </a:xfrm>
              <a:prstGeom prst="rect">
                <a:avLst/>
              </a:prstGeom>
              <a:blipFill>
                <a:blip r:embed="rId6"/>
                <a:stretch>
                  <a:fillRect l="-718" t="-28481" b="-5379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924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20" grpId="0"/>
    </p:bldLst>
  </p:timing>
</p:sld>
</file>

<file path=ppt/c13/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Examples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991544" y="1772817"/>
                <a:ext cx="3024336" cy="65620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GB" sz="24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GB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+2)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1772817"/>
                <a:ext cx="3024336" cy="656205"/>
              </a:xfrm>
              <a:prstGeom prst="rect">
                <a:avLst/>
              </a:prstGeom>
              <a:blipFill>
                <a:blip r:embed="rId2"/>
                <a:stretch>
                  <a:fillRect b="-229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6034991" y="919574"/>
            <a:ext cx="4176464" cy="646331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Note</a:t>
            </a:r>
            <a:r>
              <a:rPr lang="en-GB" dirty="0"/>
              <a:t>: The brackets are required if there’s multiple terms.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374774" y="2429022"/>
                <a:ext cx="4608512" cy="6273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=−2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774" y="2429022"/>
                <a:ext cx="4608512" cy="6273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991544" y="3274607"/>
                <a:ext cx="3024336" cy="51879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(6</m:t>
                        </m:r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−1)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3274607"/>
                <a:ext cx="3024336" cy="518796"/>
              </a:xfrm>
              <a:prstGeom prst="rect">
                <a:avLst/>
              </a:prstGeom>
              <a:blipFill>
                <a:blip r:embed="rId4"/>
                <a:stretch>
                  <a:fillRect t="-100000" b="-147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431704" y="3828878"/>
                <a:ext cx="460851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704" y="3828878"/>
                <a:ext cx="4608512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365488" y="3388200"/>
                <a:ext cx="2870759" cy="369332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Note the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𝑑𝑡</m:t>
                    </m:r>
                  </m:oMath>
                </a14:m>
                <a:r>
                  <a:rPr lang="en-GB" dirty="0"/>
                  <a:t> instead of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𝑑𝑥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5488" y="3388200"/>
                <a:ext cx="2870759" cy="369332"/>
              </a:xfrm>
              <a:prstGeom prst="rect">
                <a:avLst/>
              </a:prstGeom>
              <a:blipFill>
                <a:blip r:embed="rId6"/>
                <a:stretch>
                  <a:fillRect l="-1263" t="-6250" b="-21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/>
          <p:cNvCxnSpPr>
            <a:stCxn id="6" idx="1"/>
          </p:cNvCxnSpPr>
          <p:nvPr/>
        </p:nvCxnSpPr>
        <p:spPr>
          <a:xfrm flipH="1">
            <a:off x="5231905" y="1242740"/>
            <a:ext cx="803087" cy="697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5907314" y="3497943"/>
            <a:ext cx="1458174" cy="953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991544" y="4642156"/>
                <a:ext cx="6552728" cy="51911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Find </a:t>
                </a:r>
                <a14:m>
                  <m:oMath xmlns:m="http://schemas.openxmlformats.org/officeDocument/2006/math">
                    <m:nary>
                      <m:naryPr>
                        <m:subHide m:val="on"/>
                        <m:supHide m:val="on"/>
                        <m:ctrlPr>
                          <a:rPr lang="en-GB" sz="2400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𝑝</m:t>
                        </m:r>
                        <m:sSup>
                          <m:sSupPr>
                            <m:ctrlPr>
                              <a:rPr lang="en-GB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sz="24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) </m:t>
                        </m:r>
                        <m:r>
                          <a:rPr lang="en-GB" sz="2400" i="1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r>
                  <a:rPr lang="en-GB" sz="2400" dirty="0"/>
                  <a:t> where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sz="2400" dirty="0"/>
                  <a:t> and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GB" sz="2400" dirty="0"/>
                  <a:t> are constants.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1544" y="4642156"/>
                <a:ext cx="6552728" cy="519116"/>
              </a:xfrm>
              <a:prstGeom prst="rect">
                <a:avLst/>
              </a:prstGeom>
              <a:blipFill>
                <a:blip r:embed="rId7"/>
                <a:stretch>
                  <a:fillRect t="-100000" b="-14770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1708447" y="5253153"/>
                <a:ext cx="3240924" cy="7861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𝑝</m:t>
                      </m:r>
                      <m:sSup>
                        <m:sSup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𝑞𝑥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8447" y="5253153"/>
                <a:ext cx="3240924" cy="7861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2127548" y="5269586"/>
            <a:ext cx="2517023" cy="11312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4914" y="3862436"/>
            <a:ext cx="2351316" cy="6805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4915" y="2425855"/>
            <a:ext cx="2398231" cy="68053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51776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</p:bldLst>
  </p:timing>
</p:sld>
</file>

<file path=ppt/c13/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553" y="1206044"/>
            <a:ext cx="6215481" cy="121484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063552" y="836712"/>
            <a:ext cx="3024336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May 2014(R) Q4b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423592" y="2708920"/>
                <a:ext cx="5184576" cy="10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=2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5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+6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 xmlns:m="http://schemas.openxmlformats.org/officeDocument/2006/math">
                      <m:nary>
                        <m:naryPr>
                          <m:subHide m:val="on"/>
                          <m:supHide m:val="on"/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𝑑𝑥</m:t>
                          </m:r>
                        </m:e>
                      </m:nary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+12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2" y="2708920"/>
                <a:ext cx="5184576" cy="10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3503712" y="2708920"/>
            <a:ext cx="3744416" cy="12455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1438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c13/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13B  – Y1 pages 291-293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A493B2FC-2C7A-F316-C44A-D14D7BD57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1570"/>
            <a:ext cx="5220072" cy="5531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F762EF2-5DAE-86ED-8682-193EE2532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905" y="3820209"/>
            <a:ext cx="5902833" cy="5531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46BE86-9CF3-0C18-4E38-AA452629F4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3632" y="1114300"/>
            <a:ext cx="2314898" cy="26578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C5D33A-B1A4-EE0C-0777-00F66E7C37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8933" y="4421393"/>
            <a:ext cx="2000529" cy="227679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CDF3A66-F858-7BE4-7CB5-448E70021CDC}"/>
              </a:ext>
            </a:extLst>
          </p:cNvPr>
          <p:cNvSpPr/>
          <p:nvPr/>
        </p:nvSpPr>
        <p:spPr>
          <a:xfrm>
            <a:off x="2423592" y="1136858"/>
            <a:ext cx="3744416" cy="25801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50E128-564D-3548-5574-895189784C27}"/>
              </a:ext>
            </a:extLst>
          </p:cNvPr>
          <p:cNvSpPr/>
          <p:nvPr/>
        </p:nvSpPr>
        <p:spPr>
          <a:xfrm>
            <a:off x="2423592" y="4421393"/>
            <a:ext cx="3744416" cy="227679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544108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c13/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13B  – Y1 pages 291-293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12A43026-0EBC-9E2C-853D-86908B15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9127"/>
            <a:ext cx="7772400" cy="8537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01B8A5-D438-14F9-CEAE-602CEB3D2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382" y="3356992"/>
            <a:ext cx="5830416" cy="5123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CFD179-B68E-2442-9EC6-2B0ED4FD48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9536" y="1556793"/>
            <a:ext cx="3248478" cy="12384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9C885C9-CCA1-2FB3-9960-F640F639FF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976" y="1556793"/>
            <a:ext cx="2019582" cy="165758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69C337F-E8DA-4AD4-EF4D-8E5D110701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8209" y="2470515"/>
            <a:ext cx="2038635" cy="77163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8BA42B0-EF24-7856-A240-405ED46D86D0}"/>
              </a:ext>
            </a:extLst>
          </p:cNvPr>
          <p:cNvSpPr/>
          <p:nvPr/>
        </p:nvSpPr>
        <p:spPr>
          <a:xfrm>
            <a:off x="1919536" y="1464228"/>
            <a:ext cx="3600400" cy="1750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74642A-5B0B-BBF6-A6C8-C8F69B9A95E0}"/>
              </a:ext>
            </a:extLst>
          </p:cNvPr>
          <p:cNvSpPr/>
          <p:nvPr/>
        </p:nvSpPr>
        <p:spPr>
          <a:xfrm>
            <a:off x="5735960" y="1472129"/>
            <a:ext cx="4270882" cy="1750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9666501-628C-3504-B28E-669C975A4A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8866" y="4036113"/>
            <a:ext cx="2981741" cy="2000529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FF8DA85-4DE8-ECC8-DEDD-EC171149256A}"/>
              </a:ext>
            </a:extLst>
          </p:cNvPr>
          <p:cNvSpPr/>
          <p:nvPr/>
        </p:nvSpPr>
        <p:spPr>
          <a:xfrm>
            <a:off x="1919535" y="4004079"/>
            <a:ext cx="3600400" cy="21612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96383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9" grpId="0" animBg="1"/>
    </p:bldLst>
  </p:timing>
</p:sld>
</file>

<file path=ppt/c13/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13B  – Y1 pages 291-293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AFB6645-1A65-AD58-1F7B-61541E818591}"/>
              </a:ext>
            </a:extLst>
          </p:cNvPr>
          <p:cNvGrpSpPr/>
          <p:nvPr/>
        </p:nvGrpSpPr>
        <p:grpSpPr>
          <a:xfrm>
            <a:off x="1537451" y="610018"/>
            <a:ext cx="6807739" cy="628130"/>
            <a:chOff x="13450" y="610018"/>
            <a:chExt cx="7134616" cy="6582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E52E013-B08B-A10F-F621-D00046739F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450" y="610018"/>
              <a:ext cx="3262406" cy="658290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2CDEBF4-45B5-8C68-8891-1744793026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563888" y="857311"/>
              <a:ext cx="3584178" cy="318178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6ACCA2-3001-6BA8-17FE-2D4326C274A3}"/>
              </a:ext>
            </a:extLst>
          </p:cNvPr>
          <p:cNvGrpSpPr/>
          <p:nvPr/>
        </p:nvGrpSpPr>
        <p:grpSpPr>
          <a:xfrm>
            <a:off x="1557516" y="3356993"/>
            <a:ext cx="7562820" cy="1152128"/>
            <a:chOff x="685800" y="2952478"/>
            <a:chExt cx="8209260" cy="125626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9B3AC72-F0C4-92DD-94DB-55F4EE99AA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85800" y="2952478"/>
              <a:ext cx="7772400" cy="95304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31F0D89-9BCC-D1FB-6703-F266B17D0D7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15637"/>
            <a:stretch/>
          </p:blipFill>
          <p:spPr>
            <a:xfrm>
              <a:off x="4716016" y="3649258"/>
              <a:ext cx="4179044" cy="25626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7A358A1-A99A-F243-DFCE-6BAF28BF992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043036" y="3905522"/>
              <a:ext cx="3528392" cy="303221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69E71FDD-26AF-4C30-172C-26412D674D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0435" y="1319649"/>
            <a:ext cx="2583648" cy="195584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E30A28-FE0F-F929-428B-07B8F3C5BA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2572" y="2496194"/>
            <a:ext cx="1709572" cy="70092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08B15071-9C01-6659-7C70-18A07C1F5368}"/>
              </a:ext>
            </a:extLst>
          </p:cNvPr>
          <p:cNvSpPr/>
          <p:nvPr/>
        </p:nvSpPr>
        <p:spPr>
          <a:xfrm>
            <a:off x="1991544" y="1319649"/>
            <a:ext cx="5904656" cy="195584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7D5D076-C941-7F75-4906-B4DD66D7CD6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61878" y="4725144"/>
            <a:ext cx="3458058" cy="11622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1B4EC1-55B9-762D-40C1-F8293423954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07969" y="4716284"/>
            <a:ext cx="3486637" cy="1562318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D05D07B4-0904-A3AF-4767-0A13C189EEF4}"/>
              </a:ext>
            </a:extLst>
          </p:cNvPr>
          <p:cNvSpPr/>
          <p:nvPr/>
        </p:nvSpPr>
        <p:spPr>
          <a:xfrm>
            <a:off x="1991982" y="4704314"/>
            <a:ext cx="3600400" cy="1750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F743F2F-2E73-007E-5EB6-EA11729CE831}"/>
              </a:ext>
            </a:extLst>
          </p:cNvPr>
          <p:cNvSpPr/>
          <p:nvPr/>
        </p:nvSpPr>
        <p:spPr>
          <a:xfrm>
            <a:off x="5808406" y="4712215"/>
            <a:ext cx="4270882" cy="17501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2635130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</p:childTnLst>
        </p:cTn>
      </p:par>
    </p:tnLst>
    <p:bldLst>
      <p:bldP spid="16" grpId="0" animBg="1"/>
      <p:bldP spid="21" grpId="0" animBg="1"/>
      <p:bldP spid="22" grpId="0" animBg="1"/>
    </p:bldLst>
  </p:timing>
</p:sld>
</file>

<file path=ppt/c13/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Finding constant of integration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2063552" y="908721"/>
            <a:ext cx="76328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Recall that when we integrate, we get a constant of integration, which could be any real value. This means </a:t>
            </a:r>
            <a:r>
              <a:rPr lang="en-GB" b="1" dirty="0"/>
              <a:t>we don’t know what the exact original function was</a:t>
            </a:r>
            <a:r>
              <a:rPr lang="en-GB" dirty="0"/>
              <a:t>.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3863752" y="2060848"/>
            <a:ext cx="0" cy="208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>
            <a:off x="2690359" y="3240034"/>
            <a:ext cx="2520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136211" y="3068960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211" y="3068960"/>
                <a:ext cx="432048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3647728" y="1720809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47728" y="1720809"/>
                <a:ext cx="43204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/>
          <p:cNvSpPr/>
          <p:nvPr/>
        </p:nvSpPr>
        <p:spPr>
          <a:xfrm>
            <a:off x="2938130" y="2264735"/>
            <a:ext cx="2020186" cy="978250"/>
          </a:xfrm>
          <a:custGeom>
            <a:avLst/>
            <a:gdLst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20186"/>
              <a:gd name="connsiteY0" fmla="*/ 77311 h 1023623"/>
              <a:gd name="connsiteX1" fmla="*/ 935665 w 2020186"/>
              <a:gd name="connsiteY1" fmla="*/ 1023608 h 1023623"/>
              <a:gd name="connsiteX2" fmla="*/ 2020186 w 2020186"/>
              <a:gd name="connsiteY2" fmla="*/ 45413 h 1023623"/>
              <a:gd name="connsiteX0" fmla="*/ 0 w 2020186"/>
              <a:gd name="connsiteY0" fmla="*/ 31898 h 978250"/>
              <a:gd name="connsiteX1" fmla="*/ 935665 w 2020186"/>
              <a:gd name="connsiteY1" fmla="*/ 978195 h 978250"/>
              <a:gd name="connsiteX2" fmla="*/ 2020186 w 2020186"/>
              <a:gd name="connsiteY2" fmla="*/ 0 h 978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0186" h="978250">
                <a:moveTo>
                  <a:pt x="0" y="31898"/>
                </a:moveTo>
                <a:cubicBezTo>
                  <a:pt x="202019" y="609601"/>
                  <a:pt x="598967" y="983511"/>
                  <a:pt x="935665" y="978195"/>
                </a:cubicBezTo>
                <a:cubicBezTo>
                  <a:pt x="1272363" y="972879"/>
                  <a:pt x="1828800" y="464288"/>
                  <a:pt x="2020186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250848" y="1975788"/>
                <a:ext cx="122846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0848" y="1975788"/>
                <a:ext cx="1228464" cy="307777"/>
              </a:xfrm>
              <a:prstGeom prst="rect">
                <a:avLst/>
              </a:prstGeom>
              <a:blipFill>
                <a:blip r:embed="rId4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V="1">
            <a:off x="7408719" y="2079677"/>
            <a:ext cx="0" cy="20882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6235326" y="3258863"/>
            <a:ext cx="25202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681178" y="3087789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1178" y="3087789"/>
                <a:ext cx="432048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192695" y="1739638"/>
                <a:ext cx="432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2695" y="1739638"/>
                <a:ext cx="432048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Freeform: Shape 18"/>
          <p:cNvSpPr/>
          <p:nvPr/>
        </p:nvSpPr>
        <p:spPr>
          <a:xfrm>
            <a:off x="6398036" y="2283564"/>
            <a:ext cx="2105247" cy="1775637"/>
          </a:xfrm>
          <a:custGeom>
            <a:avLst/>
            <a:gdLst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20186"/>
              <a:gd name="connsiteY0" fmla="*/ 77311 h 1023623"/>
              <a:gd name="connsiteX1" fmla="*/ 935665 w 2020186"/>
              <a:gd name="connsiteY1" fmla="*/ 1023608 h 1023623"/>
              <a:gd name="connsiteX2" fmla="*/ 2020186 w 2020186"/>
              <a:gd name="connsiteY2" fmla="*/ 45413 h 1023623"/>
              <a:gd name="connsiteX0" fmla="*/ 0 w 2020186"/>
              <a:gd name="connsiteY0" fmla="*/ 31898 h 978250"/>
              <a:gd name="connsiteX1" fmla="*/ 935665 w 2020186"/>
              <a:gd name="connsiteY1" fmla="*/ 978195 h 978250"/>
              <a:gd name="connsiteX2" fmla="*/ 2020186 w 2020186"/>
              <a:gd name="connsiteY2" fmla="*/ 0 h 978250"/>
              <a:gd name="connsiteX0" fmla="*/ 0 w 2105247"/>
              <a:gd name="connsiteY0" fmla="*/ 1775637 h 1943052"/>
              <a:gd name="connsiteX1" fmla="*/ 1020726 w 2105247"/>
              <a:gd name="connsiteY1" fmla="*/ 978195 h 1943052"/>
              <a:gd name="connsiteX2" fmla="*/ 2105247 w 2105247"/>
              <a:gd name="connsiteY2" fmla="*/ 0 h 1943052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5247" h="1775637">
                <a:moveTo>
                  <a:pt x="0" y="1775637"/>
                </a:moveTo>
                <a:cubicBezTo>
                  <a:pt x="42530" y="1300717"/>
                  <a:pt x="404038" y="997688"/>
                  <a:pt x="1020726" y="978195"/>
                </a:cubicBezTo>
                <a:cubicBezTo>
                  <a:pt x="1479510" y="963693"/>
                  <a:pt x="1913861" y="464288"/>
                  <a:pt x="2105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050997" y="2334859"/>
                <a:ext cx="16813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0997" y="2334859"/>
                <a:ext cx="1681338" cy="307777"/>
              </a:xfrm>
              <a:prstGeom prst="rect">
                <a:avLst/>
              </a:prstGeom>
              <a:blipFill>
                <a:blip r:embed="rId7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Freeform: Shape 20"/>
          <p:cNvSpPr/>
          <p:nvPr/>
        </p:nvSpPr>
        <p:spPr>
          <a:xfrm>
            <a:off x="6389528" y="1948075"/>
            <a:ext cx="2105247" cy="1775637"/>
          </a:xfrm>
          <a:custGeom>
            <a:avLst/>
            <a:gdLst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20186"/>
              <a:gd name="connsiteY0" fmla="*/ 77311 h 1023623"/>
              <a:gd name="connsiteX1" fmla="*/ 935665 w 2020186"/>
              <a:gd name="connsiteY1" fmla="*/ 1023608 h 1023623"/>
              <a:gd name="connsiteX2" fmla="*/ 2020186 w 2020186"/>
              <a:gd name="connsiteY2" fmla="*/ 45413 h 1023623"/>
              <a:gd name="connsiteX0" fmla="*/ 0 w 2020186"/>
              <a:gd name="connsiteY0" fmla="*/ 31898 h 978250"/>
              <a:gd name="connsiteX1" fmla="*/ 935665 w 2020186"/>
              <a:gd name="connsiteY1" fmla="*/ 978195 h 978250"/>
              <a:gd name="connsiteX2" fmla="*/ 2020186 w 2020186"/>
              <a:gd name="connsiteY2" fmla="*/ 0 h 978250"/>
              <a:gd name="connsiteX0" fmla="*/ 0 w 2105247"/>
              <a:gd name="connsiteY0" fmla="*/ 1775637 h 1943052"/>
              <a:gd name="connsiteX1" fmla="*/ 1020726 w 2105247"/>
              <a:gd name="connsiteY1" fmla="*/ 978195 h 1943052"/>
              <a:gd name="connsiteX2" fmla="*/ 2105247 w 2105247"/>
              <a:gd name="connsiteY2" fmla="*/ 0 h 1943052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5247" h="1775637">
                <a:moveTo>
                  <a:pt x="0" y="1775637"/>
                </a:moveTo>
                <a:cubicBezTo>
                  <a:pt x="42530" y="1300717"/>
                  <a:pt x="404038" y="997688"/>
                  <a:pt x="1020726" y="978195"/>
                </a:cubicBezTo>
                <a:cubicBezTo>
                  <a:pt x="1479510" y="963693"/>
                  <a:pt x="1913861" y="464288"/>
                  <a:pt x="2105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8235849" y="1750467"/>
                <a:ext cx="16813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849" y="1750467"/>
                <a:ext cx="1681338" cy="307777"/>
              </a:xfrm>
              <a:prstGeom prst="rect">
                <a:avLst/>
              </a:prstGeom>
              <a:blipFill>
                <a:blip r:embed="rId8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: Shape 22"/>
          <p:cNvSpPr/>
          <p:nvPr/>
        </p:nvSpPr>
        <p:spPr>
          <a:xfrm>
            <a:off x="6381021" y="2773294"/>
            <a:ext cx="2105247" cy="1775637"/>
          </a:xfrm>
          <a:custGeom>
            <a:avLst/>
            <a:gdLst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09553"/>
              <a:gd name="connsiteY0" fmla="*/ 1828800 h 1828800"/>
              <a:gd name="connsiteX1" fmla="*/ 925032 w 2009553"/>
              <a:gd name="connsiteY1" fmla="*/ 978195 h 1828800"/>
              <a:gd name="connsiteX2" fmla="*/ 2009553 w 2009553"/>
              <a:gd name="connsiteY2" fmla="*/ 0 h 1828800"/>
              <a:gd name="connsiteX0" fmla="*/ 0 w 2020186"/>
              <a:gd name="connsiteY0" fmla="*/ 77311 h 1023623"/>
              <a:gd name="connsiteX1" fmla="*/ 935665 w 2020186"/>
              <a:gd name="connsiteY1" fmla="*/ 1023608 h 1023623"/>
              <a:gd name="connsiteX2" fmla="*/ 2020186 w 2020186"/>
              <a:gd name="connsiteY2" fmla="*/ 45413 h 1023623"/>
              <a:gd name="connsiteX0" fmla="*/ 0 w 2020186"/>
              <a:gd name="connsiteY0" fmla="*/ 31898 h 978250"/>
              <a:gd name="connsiteX1" fmla="*/ 935665 w 2020186"/>
              <a:gd name="connsiteY1" fmla="*/ 978195 h 978250"/>
              <a:gd name="connsiteX2" fmla="*/ 2020186 w 2020186"/>
              <a:gd name="connsiteY2" fmla="*/ 0 h 978250"/>
              <a:gd name="connsiteX0" fmla="*/ 0 w 2105247"/>
              <a:gd name="connsiteY0" fmla="*/ 1775637 h 1943052"/>
              <a:gd name="connsiteX1" fmla="*/ 1020726 w 2105247"/>
              <a:gd name="connsiteY1" fmla="*/ 978195 h 1943052"/>
              <a:gd name="connsiteX2" fmla="*/ 2105247 w 2105247"/>
              <a:gd name="connsiteY2" fmla="*/ 0 h 1943052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  <a:gd name="connsiteX0" fmla="*/ 0 w 2105247"/>
              <a:gd name="connsiteY0" fmla="*/ 1775637 h 1775637"/>
              <a:gd name="connsiteX1" fmla="*/ 1020726 w 2105247"/>
              <a:gd name="connsiteY1" fmla="*/ 978195 h 1775637"/>
              <a:gd name="connsiteX2" fmla="*/ 2105247 w 2105247"/>
              <a:gd name="connsiteY2" fmla="*/ 0 h 177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5247" h="1775637">
                <a:moveTo>
                  <a:pt x="0" y="1775637"/>
                </a:moveTo>
                <a:cubicBezTo>
                  <a:pt x="42530" y="1300717"/>
                  <a:pt x="404038" y="997688"/>
                  <a:pt x="1020726" y="978195"/>
                </a:cubicBezTo>
                <a:cubicBezTo>
                  <a:pt x="1479510" y="963693"/>
                  <a:pt x="1913861" y="464288"/>
                  <a:pt x="2105247" y="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8198958" y="2770935"/>
                <a:ext cx="16813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sz="1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sz="1400" i="1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8958" y="2770935"/>
                <a:ext cx="1681338" cy="307777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Arrow: Right 24"/>
          <p:cNvSpPr/>
          <p:nvPr/>
        </p:nvSpPr>
        <p:spPr>
          <a:xfrm>
            <a:off x="5735960" y="2488746"/>
            <a:ext cx="499366" cy="282188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781710" y="2031946"/>
                <a:ext cx="322578" cy="475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∫</m:t>
                      </m:r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1710" y="2031946"/>
                <a:ext cx="322578" cy="475643"/>
              </a:xfrm>
              <a:prstGeom prst="rect">
                <a:avLst/>
              </a:prstGeom>
              <a:blipFill>
                <a:blip r:embed="rId10"/>
                <a:stretch>
                  <a:fillRect l="-22642" r="-35849" b="-217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/>
          <p:cNvSpPr txBox="1"/>
          <p:nvPr/>
        </p:nvSpPr>
        <p:spPr>
          <a:xfrm>
            <a:off x="9732336" y="2642635"/>
            <a:ext cx="6841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/>
              <a:t>?</a:t>
            </a:r>
            <a:endParaRPr lang="en-GB" b="1" dirty="0"/>
          </a:p>
        </p:txBody>
      </p:sp>
      <p:sp>
        <p:nvSpPr>
          <p:cNvPr id="28" name="Oval 27"/>
          <p:cNvSpPr/>
          <p:nvPr/>
        </p:nvSpPr>
        <p:spPr>
          <a:xfrm>
            <a:off x="7941538" y="2562873"/>
            <a:ext cx="128042" cy="13270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7528923" y="2401090"/>
                <a:ext cx="4565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sz="11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100" i="1">
                              <a:latin typeface="Cambria Math" panose="02040503050406030204" pitchFamily="18" charset="0"/>
                            </a:rPr>
                            <m:t>1,3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8923" y="2401090"/>
                <a:ext cx="456560" cy="2616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7743826" y="3789040"/>
            <a:ext cx="26574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But if we know one point on the curve, it leaves only one possibility.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8058151" y="2752726"/>
            <a:ext cx="573811" cy="1064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1918972" y="4341844"/>
                <a:ext cx="4199830" cy="92333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The curve with equation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passes through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1,3</m:t>
                        </m:r>
                      </m:e>
                    </m:d>
                  </m:oMath>
                </a14:m>
                <a:r>
                  <a:rPr lang="en-GB" dirty="0"/>
                  <a:t>. Given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i="1">
                        <a:latin typeface="Cambria Math" panose="02040503050406030204" pitchFamily="18" charset="0"/>
                      </a:rPr>
                      <m:t>=3</m:t>
                    </m:r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find the equation of the curve.</a:t>
                </a: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8972" y="4341844"/>
                <a:ext cx="4199830" cy="923330"/>
              </a:xfrm>
              <a:prstGeom prst="rect">
                <a:avLst/>
              </a:prstGeom>
              <a:blipFill>
                <a:blip r:embed="rId12"/>
                <a:stretch>
                  <a:fillRect b="-1136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525756" y="5400555"/>
                <a:ext cx="446449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Using the point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(1,3)</m:t>
                    </m:r>
                  </m:oMath>
                </a14:m>
                <a:r>
                  <a:rPr lang="en-GB" dirty="0"/>
                  <a:t>:    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3=</m:t>
                    </m:r>
                    <m:sSup>
                      <m:sSup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  <m:sup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  ∴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5756" y="5400555"/>
                <a:ext cx="4464496" cy="1200329"/>
              </a:xfrm>
              <a:prstGeom prst="rect">
                <a:avLst/>
              </a:prstGeom>
              <a:blipFill>
                <a:blip r:embed="rId13"/>
                <a:stretch>
                  <a:fillRect l="-1091" b="-30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/>
          <p:cNvSpPr/>
          <p:nvPr/>
        </p:nvSpPr>
        <p:spPr>
          <a:xfrm>
            <a:off x="2442080" y="5386802"/>
            <a:ext cx="4631848" cy="12455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7128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2" presetClass="exit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19" grpId="0" animBg="1"/>
      <p:bldP spid="20" grpId="0"/>
      <p:bldP spid="23" grpId="0" animBg="1"/>
      <p:bldP spid="24" grpId="0"/>
      <p:bldP spid="27" grpId="0"/>
      <p:bldP spid="28" grpId="0" animBg="1"/>
      <p:bldP spid="29" grpId="0"/>
      <p:bldP spid="30" grpId="0"/>
      <p:bldP spid="34" grpId="0" animBg="1"/>
      <p:bldP spid="35" grpId="0"/>
      <p:bldP spid="36" grpId="0" animBg="1"/>
      <p:bldP spid="36" grpId="1" animBg="1"/>
    </p:bldLst>
  </p:timing>
</p:sld>
</file>

<file path=ppt/c13/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521" y="1134037"/>
            <a:ext cx="5539689" cy="26977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1775520" y="764704"/>
            <a:ext cx="273630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C1 May 2014 Q10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4092" y="4005066"/>
            <a:ext cx="5794140" cy="216713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433285" y="6065222"/>
                <a:ext cx="2520280" cy="610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−25=−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−4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3285" y="6065222"/>
                <a:ext cx="2520280" cy="61093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3009336" y="6214730"/>
            <a:ext cx="534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(b)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2354" y="3955681"/>
            <a:ext cx="6055069" cy="213677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2354" y="6092458"/>
            <a:ext cx="6055069" cy="55785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 b</a:t>
            </a:r>
          </a:p>
        </p:txBody>
      </p:sp>
    </p:spTree>
    <p:extLst>
      <p:ext uri="{BB962C8B-B14F-4D97-AF65-F5344CB8AC3E}">
        <p14:creationId xmlns:p14="http://schemas.microsoft.com/office/powerpoint/2010/main" val="2111826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c13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13C – Y1 pages 294-295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1B9A9CC5-0DDA-F868-68B8-90CBCDC0F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595177"/>
            <a:ext cx="7772400" cy="5803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7B24250-8A25-F280-0C16-0BC2B8D14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5607" y="3140968"/>
            <a:ext cx="7772400" cy="847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83593C-5A2E-570D-26EF-7FB4DD244B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624" y="1468588"/>
            <a:ext cx="1914792" cy="12860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A55AF63-8A91-4AAE-65F6-2ED63D1229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5961" y="1561815"/>
            <a:ext cx="2743583" cy="1267002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346FCBC-CA3F-DA73-A80E-9C0EEBD03266}"/>
              </a:ext>
            </a:extLst>
          </p:cNvPr>
          <p:cNvCxnSpPr/>
          <p:nvPr/>
        </p:nvCxnSpPr>
        <p:spPr>
          <a:xfrm>
            <a:off x="5410200" y="1561816"/>
            <a:ext cx="0" cy="1192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EB03F150-435E-64C5-7610-8B5B7327F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3633" y="4172376"/>
            <a:ext cx="1924319" cy="224821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4B28C2-6785-F051-52E3-7D6A34A6EC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26990" y="4293097"/>
            <a:ext cx="2067213" cy="18195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763539-CA5C-F9D1-A81A-D499E396A03E}"/>
              </a:ext>
            </a:extLst>
          </p:cNvPr>
          <p:cNvSpPr/>
          <p:nvPr/>
        </p:nvSpPr>
        <p:spPr>
          <a:xfrm>
            <a:off x="2558638" y="1359794"/>
            <a:ext cx="6336704" cy="173807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CDB68-A4C1-17D1-D31F-032DBDC196C8}"/>
              </a:ext>
            </a:extLst>
          </p:cNvPr>
          <p:cNvSpPr/>
          <p:nvPr/>
        </p:nvSpPr>
        <p:spPr>
          <a:xfrm>
            <a:off x="2558638" y="4098744"/>
            <a:ext cx="6336704" cy="232184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147343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c13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524000" y="1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13C – Y1 pages 294-295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BE9246E1-7A09-40E9-61C6-013F2590B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878" y="599128"/>
            <a:ext cx="5044179" cy="1567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5C926C-F7D0-CFF1-079A-F48ECC305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070" y="2386958"/>
            <a:ext cx="2592288" cy="22004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B0FE8FB-5672-6174-2690-39B2F81BBA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9439" y="2524233"/>
            <a:ext cx="1911431" cy="19276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5A535FA-215E-D635-9679-3F06335A6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9613" y="4451931"/>
            <a:ext cx="2071939" cy="200867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8214B95-A7F2-8CC8-4709-7B92DB9638C7}"/>
              </a:ext>
            </a:extLst>
          </p:cNvPr>
          <p:cNvSpPr/>
          <p:nvPr/>
        </p:nvSpPr>
        <p:spPr>
          <a:xfrm>
            <a:off x="1991544" y="2420888"/>
            <a:ext cx="3373878" cy="41425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B723F36-B1DB-EF40-CAEE-944365AD9776}"/>
              </a:ext>
            </a:extLst>
          </p:cNvPr>
          <p:cNvSpPr/>
          <p:nvPr/>
        </p:nvSpPr>
        <p:spPr>
          <a:xfrm>
            <a:off x="5509439" y="2436017"/>
            <a:ext cx="3528393" cy="414253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</p:spTree>
    <p:extLst>
      <p:ext uri="{BB962C8B-B14F-4D97-AF65-F5344CB8AC3E}">
        <p14:creationId xmlns:p14="http://schemas.microsoft.com/office/powerpoint/2010/main" val="4005632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c13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13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