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5/ppt/slideMasters/slideMaster1.xml" ContentType="application/vnd.openxmlformats-officedocument.presentationml.slideMaster+xml"/>
  <ns0:Override PartName="/ppt/c5/ppt/slides/slide4.xml" ContentType="application/vnd.openxmlformats-officedocument.presentationml.slide+xml"/>
  <ns0:Override PartName="/ppt/c5/ppt/slides/slide5.xml" ContentType="application/vnd.openxmlformats-officedocument.presentationml.slide+xml"/>
  <ns0:Override PartName="/ppt/c5/ppt/slides/slide6.xml" ContentType="application/vnd.openxmlformats-officedocument.presentationml.slide+xml"/>
  <ns0:Override PartName="/ppt/c5/ppt/slides/slide7.xml" ContentType="application/vnd.openxmlformats-officedocument.presentationml.slide+xml"/>
  <ns0:Override PartName="/ppt/c5/ppt/slides/slide8.xml" ContentType="application/vnd.openxmlformats-officedocument.presentationml.slide+xml"/>
  <ns0:Override PartName="/ppt/c5/ppt/slides/slide9.xml" ContentType="application/vnd.openxmlformats-officedocument.presentationml.slide+xml"/>
  <ns0:Override PartName="/ppt/c5/ppt/slides/slide10.xml" ContentType="application/vnd.openxmlformats-officedocument.presentationml.slide+xml"/>
  <ns0:Override PartName="/ppt/c5/ppt/slides/slide11.xml" ContentType="application/vnd.openxmlformats-officedocument.presentationml.slide+xml"/>
  <ns0:Override PartName="/ppt/c5/ppt/slides/slide12.xml" ContentType="application/vnd.openxmlformats-officedocument.presentationml.slide+xml"/>
  <ns0:Override PartName="/ppt/c5/ppt/slides/slide13.xml" ContentType="application/vnd.openxmlformats-officedocument.presentationml.slide+xml"/>
  <ns0:Override PartName="/ppt/c5/ppt/slides/slide14.xml" ContentType="application/vnd.openxmlformats-officedocument.presentationml.slide+xml"/>
  <ns0:Override PartName="/ppt/c5/ppt/slides/slide15.xml" ContentType="application/vnd.openxmlformats-officedocument.presentationml.slide+xml"/>
  <ns0:Override PartName="/ppt/c5/ppt/slides/slide16.xml" ContentType="application/vnd.openxmlformats-officedocument.presentationml.slide+xml"/>
  <ns0:Override PartName="/ppt/c5/ppt/slides/slide17.xml" ContentType="application/vnd.openxmlformats-officedocument.presentationml.slide+xml"/>
  <ns0:Override PartName="/ppt/c5/ppt/slides/slide18.xml" ContentType="application/vnd.openxmlformats-officedocument.presentationml.slide+xml"/>
  <ns0:Override PartName="/ppt/c5/ppt/slides/slide19.xml" ContentType="application/vnd.openxmlformats-officedocument.presentationml.slide+xml"/>
  <ns0:Override PartName="/ppt/c5/ppt/slides/slide20.xml" ContentType="application/vnd.openxmlformats-officedocument.presentationml.slide+xml"/>
  <ns0:Override PartName="/ppt/c5/ppt/slides/slide21.xml" ContentType="application/vnd.openxmlformats-officedocument.presentationml.slide+xml"/>
  <ns0:Override PartName="/ppt/c5/ppt/slides/slide22.xml" ContentType="application/vnd.openxmlformats-officedocument.presentationml.slide+xml"/>
  <ns0:Override PartName="/ppt/c5/ppt/slides/slide23.xml" ContentType="application/vnd.openxmlformats-officedocument.presentationml.slide+xml"/>
  <ns0:Override PartName="/ppt/c5/ppt/slides/slide24.xml" ContentType="application/vnd.openxmlformats-officedocument.presentationml.slide+xml"/>
  <ns0:Override PartName="/ppt/c5/ppt/slides/slide25.xml" ContentType="application/vnd.openxmlformats-officedocument.presentationml.slide+xml"/>
  <ns0:Override PartName="/ppt/c5/ppt/slides/slide26.xml" ContentType="application/vnd.openxmlformats-officedocument.presentationml.slide+xml"/>
  <ns0:Override PartName="/ppt/c5/ppt/slides/slide27.xml" ContentType="application/vnd.openxmlformats-officedocument.presentationml.slide+xml"/>
  <ns0:Override PartName="/ppt/c5/ppt/slides/slide28.xml" ContentType="application/vnd.openxmlformats-officedocument.presentationml.slide+xml"/>
  <ns0:Override PartName="/ppt/c5/ppt/slides/slide29.xml" ContentType="application/vnd.openxmlformats-officedocument.presentationml.slide+xml"/>
  <ns0:Override PartName="/ppt/c5/ppt/slides/slide30.xml" ContentType="application/vnd.openxmlformats-officedocument.presentationml.slide+xml"/>
  <ns0:Override PartName="/ppt/c5/ppt/slides/slide31.xml" ContentType="application/vnd.openxmlformats-officedocument.presentationml.slide+xml"/>
  <ns0:Override PartName="/ppt/c5/ppt/slides/slide32.xml" ContentType="application/vnd.openxmlformats-officedocument.presentationml.slide+xml"/>
  <ns0:Override PartName="/ppt/c5/ppt/slides/slide33.xml" ContentType="application/vnd.openxmlformats-officedocument.presentationml.slide+xml"/>
  <ns0:Override PartName="/ppt/c5/ppt/slides/slide34.xml" ContentType="application/vnd.openxmlformats-officedocument.presentationml.slide+xml"/>
  <ns0:Override PartName="/ppt/c5/ppt/slides/slide35.xml" ContentType="application/vnd.openxmlformats-officedocument.presentationml.slide+xml"/>
  <ns0:Override PartName="/ppt/c5/ppt/slides/slide36.xml" ContentType="application/vnd.openxmlformats-officedocument.presentationml.slide+xml"/>
  <ns0:Override PartName="/ppt/c5/ppt/slides/slide37.xml" ContentType="application/vnd.openxmlformats-officedocument.presentationml.slide+xml"/>
  <ns0:Override PartName="/ppt/c5/ppt/slides/slide38.xml" ContentType="application/vnd.openxmlformats-officedocument.presentationml.slide+xml"/>
  <ns0:Override PartName="/ppt/c5/ppt/slides/slide39.xml" ContentType="application/vnd.openxmlformats-officedocument.presentationml.slide+xml"/>
  <ns0:Override PartName="/ppt/c5/ppt/slides/slide40.xml" ContentType="application/vnd.openxmlformats-officedocument.presentationml.slide+xml"/>
  <ns0:Override PartName="/ppt/c5/ppt/slides/slide41.xml" ContentType="application/vnd.openxmlformats-officedocument.presentationml.slide+xml"/>
  <ns0:Override PartName="/ppt/c5/ppt/slides/slide42.xml" ContentType="application/vnd.openxmlformats-officedocument.presentationml.slide+xml"/>
  <ns0:Override PartName="/ppt/c5/ppt/notesMasters/notesMaster1.xml" ContentType="application/vnd.openxmlformats-officedocument.presentationml.notesMaster+xml"/>
  <ns0:Override PartName="/ppt/c5/ppt/theme/theme1.xml" ContentType="application/vnd.openxmlformats-officedocument.theme+xml"/>
  <ns0:Override PartName="/ppt/c5/ppt/slideLayouts/slideLayout1.xml" ContentType="application/vnd.openxmlformats-officedocument.presentationml.slideLayout+xml"/>
  <ns0:Override PartName="/ppt/c5/ppt/slideLayouts/slideLayout2.xml" ContentType="application/vnd.openxmlformats-officedocument.presentationml.slideLayout+xml"/>
  <ns0:Override PartName="/ppt/c5/ppt/slideLayouts/slideLayout3.xml" ContentType="application/vnd.openxmlformats-officedocument.presentationml.slideLayout+xml"/>
  <ns0:Override PartName="/ppt/c5/ppt/slideLayouts/slideLayout4.xml" ContentType="application/vnd.openxmlformats-officedocument.presentationml.slideLayout+xml"/>
  <ns0:Override PartName="/ppt/c5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148" r:id="rId40"/>
  </p:sldMasterIdLst>
  <p:notesMasterIdLst>
    <p:notesMasterId r:id="rId4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5/ppt/slides/slide4.xml" /><ns0:Relationship Id="rId2" Type="http://schemas.openxmlformats.org/officeDocument/2006/relationships/slide" Target="c5/ppt/slides/slide5.xml" /><ns0:Relationship Id="rId3" Type="http://schemas.openxmlformats.org/officeDocument/2006/relationships/slide" Target="c5/ppt/slides/slide6.xml" /><ns0:Relationship Id="rId4" Type="http://schemas.openxmlformats.org/officeDocument/2006/relationships/slide" Target="c5/ppt/slides/slide7.xml" /><ns0:Relationship Id="rId5" Type="http://schemas.openxmlformats.org/officeDocument/2006/relationships/slide" Target="c5/ppt/slides/slide8.xml" /><ns0:Relationship Id="rId6" Type="http://schemas.openxmlformats.org/officeDocument/2006/relationships/slide" Target="c5/ppt/slides/slide9.xml" /><ns0:Relationship Id="rId7" Type="http://schemas.openxmlformats.org/officeDocument/2006/relationships/slide" Target="c5/ppt/slides/slide10.xml" /><ns0:Relationship Id="rId8" Type="http://schemas.openxmlformats.org/officeDocument/2006/relationships/slide" Target="c5/ppt/slides/slide11.xml" /><ns0:Relationship Id="rId9" Type="http://schemas.openxmlformats.org/officeDocument/2006/relationships/slide" Target="c5/ppt/slides/slide12.xml" /><ns0:Relationship Id="rId10" Type="http://schemas.openxmlformats.org/officeDocument/2006/relationships/slide" Target="c5/ppt/slides/slide13.xml" /><ns0:Relationship Id="rId11" Type="http://schemas.openxmlformats.org/officeDocument/2006/relationships/slide" Target="c5/ppt/slides/slide14.xml" /><ns0:Relationship Id="rId12" Type="http://schemas.openxmlformats.org/officeDocument/2006/relationships/slide" Target="c5/ppt/slides/slide15.xml" /><ns0:Relationship Id="rId13" Type="http://schemas.openxmlformats.org/officeDocument/2006/relationships/slide" Target="c5/ppt/slides/slide16.xml" /><ns0:Relationship Id="rId14" Type="http://schemas.openxmlformats.org/officeDocument/2006/relationships/slide" Target="c5/ppt/slides/slide17.xml" /><ns0:Relationship Id="rId15" Type="http://schemas.openxmlformats.org/officeDocument/2006/relationships/slide" Target="c5/ppt/slides/slide18.xml" /><ns0:Relationship Id="rId16" Type="http://schemas.openxmlformats.org/officeDocument/2006/relationships/slide" Target="c5/ppt/slides/slide19.xml" /><ns0:Relationship Id="rId17" Type="http://schemas.openxmlformats.org/officeDocument/2006/relationships/slide" Target="c5/ppt/slides/slide20.xml" /><ns0:Relationship Id="rId18" Type="http://schemas.openxmlformats.org/officeDocument/2006/relationships/slide" Target="c5/ppt/slides/slide21.xml" /><ns0:Relationship Id="rId19" Type="http://schemas.openxmlformats.org/officeDocument/2006/relationships/slide" Target="c5/ppt/slides/slide22.xml" /><ns0:Relationship Id="rId20" Type="http://schemas.openxmlformats.org/officeDocument/2006/relationships/slide" Target="c5/ppt/slides/slide23.xml" /><ns0:Relationship Id="rId21" Type="http://schemas.openxmlformats.org/officeDocument/2006/relationships/slide" Target="c5/ppt/slides/slide24.xml" /><ns0:Relationship Id="rId22" Type="http://schemas.openxmlformats.org/officeDocument/2006/relationships/slide" Target="c5/ppt/slides/slide25.xml" /><ns0:Relationship Id="rId23" Type="http://schemas.openxmlformats.org/officeDocument/2006/relationships/slide" Target="c5/ppt/slides/slide26.xml" /><ns0:Relationship Id="rId24" Type="http://schemas.openxmlformats.org/officeDocument/2006/relationships/slide" Target="c5/ppt/slides/slide27.xml" /><ns0:Relationship Id="rId25" Type="http://schemas.openxmlformats.org/officeDocument/2006/relationships/slide" Target="c5/ppt/slides/slide28.xml" /><ns0:Relationship Id="rId26" Type="http://schemas.openxmlformats.org/officeDocument/2006/relationships/slide" Target="c5/ppt/slides/slide29.xml" /><ns0:Relationship Id="rId27" Type="http://schemas.openxmlformats.org/officeDocument/2006/relationships/slide" Target="c5/ppt/slides/slide30.xml" /><ns0:Relationship Id="rId28" Type="http://schemas.openxmlformats.org/officeDocument/2006/relationships/slide" Target="c5/ppt/slides/slide31.xml" /><ns0:Relationship Id="rId29" Type="http://schemas.openxmlformats.org/officeDocument/2006/relationships/slide" Target="c5/ppt/slides/slide32.xml" /><ns0:Relationship Id="rId30" Type="http://schemas.openxmlformats.org/officeDocument/2006/relationships/slide" Target="c5/ppt/slides/slide33.xml" /><ns0:Relationship Id="rId31" Type="http://schemas.openxmlformats.org/officeDocument/2006/relationships/slide" Target="c5/ppt/slides/slide34.xml" /><ns0:Relationship Id="rId32" Type="http://schemas.openxmlformats.org/officeDocument/2006/relationships/slide" Target="c5/ppt/slides/slide35.xml" /><ns0:Relationship Id="rId33" Type="http://schemas.openxmlformats.org/officeDocument/2006/relationships/slide" Target="c5/ppt/slides/slide36.xml" /><ns0:Relationship Id="rId34" Type="http://schemas.openxmlformats.org/officeDocument/2006/relationships/slide" Target="c5/ppt/slides/slide37.xml" /><ns0:Relationship Id="rId35" Type="http://schemas.openxmlformats.org/officeDocument/2006/relationships/slide" Target="c5/ppt/slides/slide38.xml" /><ns0:Relationship Id="rId36" Type="http://schemas.openxmlformats.org/officeDocument/2006/relationships/slide" Target="c5/ppt/slides/slide39.xml" /><ns0:Relationship Id="rId37" Type="http://schemas.openxmlformats.org/officeDocument/2006/relationships/slide" Target="c5/ppt/slides/slide40.xml" /><ns0:Relationship Id="rId38" Type="http://schemas.openxmlformats.org/officeDocument/2006/relationships/slide" Target="c5/ppt/slides/slide41.xml" /><ns0:Relationship Id="rId39" Type="http://schemas.openxmlformats.org/officeDocument/2006/relationships/slide" Target="c5/ppt/slides/slide42.xml" /><ns0:Relationship Id="rId40" Type="http://schemas.openxmlformats.org/officeDocument/2006/relationships/slideMaster" Target="c5/ppt/slideMasters/slideMaster1.xml" /><ns0:Relationship Id="rId41" Type="http://schemas.openxmlformats.org/officeDocument/2006/relationships/notesMaster" Target="c5/ppt/notesMasters/notesMaster1.xml" /></ns0:Relationships>
</file>

<file path=ppt/c5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5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5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5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5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596292"/>
      </p:ext>
    </p:extLst>
  </p:cSld>
  <p:clrMapOvr>
    <a:masterClrMapping/>
  </p:clrMapOvr>
</p:sldLayout>
</file>

<file path=ppt/c5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6"/>
            <a:ext cx="9144000" cy="691200"/>
          </a:xfrm>
          <a:solidFill>
            <a:srgbClr val="23305E"/>
          </a:solidFill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460164"/>
      </p:ext>
    </p:extLst>
  </p:cSld>
  <p:clrMapOvr>
    <a:masterClrMapping/>
  </p:clrMapOvr>
</p:sldLayout>
</file>

<file path=ppt/c5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5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5/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210.png" /><ns0:Relationship Id="rId2" Type="http://schemas.openxmlformats.org/officeDocument/2006/relationships/image" Target="../media/image610.png" /><ns0:Relationship Id="rId1" Type="http://schemas.openxmlformats.org/officeDocument/2006/relationships/slideLayout" Target="../slideLayouts/slideLayout1.xml" /></ns0:Relationships>
</file>

<file path=ppt/c5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1010.png" /><ns0:Relationship Id="rId13" Type="http://schemas.openxmlformats.org/officeDocument/2006/relationships/image" Target="../media/image1510.png" /><ns0:Relationship Id="rId3" Type="http://schemas.openxmlformats.org/officeDocument/2006/relationships/image" Target="../media/image410.png" /><ns0:Relationship Id="rId7" Type="http://schemas.openxmlformats.org/officeDocument/2006/relationships/image" Target="../media/image5.png" /><ns0:Relationship Id="rId12" Type="http://schemas.openxmlformats.org/officeDocument/2006/relationships/image" Target="../media/image1410.pn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810.png" /><ns0:Relationship Id="rId11" Type="http://schemas.openxmlformats.org/officeDocument/2006/relationships/image" Target="../media/image1310.png" /><ns0:Relationship Id="rId5" Type="http://schemas.openxmlformats.org/officeDocument/2006/relationships/image" Target="../media/image4.png" /><ns0:Relationship Id="rId10" Type="http://schemas.openxmlformats.org/officeDocument/2006/relationships/image" Target="../media/image1210.png" /><ns0:Relationship Id="rId4" Type="http://schemas.openxmlformats.org/officeDocument/2006/relationships/image" Target="../media/image510.png" /><ns0:Relationship Id="rId9" Type="http://schemas.openxmlformats.org/officeDocument/2006/relationships/image" Target="../media/image6.png" /></ns0:Relationships>
</file>

<file path=ppt/c5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17.png" /><ns0:Relationship Id="rId2" Type="http://schemas.openxmlformats.org/officeDocument/2006/relationships/image" Target="../media/image1610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9.png" /><ns0:Relationship Id="rId4" Type="http://schemas.openxmlformats.org/officeDocument/2006/relationships/image" Target="../media/image18.png" /></ns0:Relationships>
</file>

<file path=ppt/c5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21.png" /><ns0:Relationship Id="rId2" Type="http://schemas.openxmlformats.org/officeDocument/2006/relationships/image" Target="../media/image20.png" /><ns0:Relationship Id="rId1" Type="http://schemas.openxmlformats.org/officeDocument/2006/relationships/slideLayout" Target="../slideLayouts/slideLayout2.xml" /></ns0:Relationships>
</file>

<file path=ppt/c5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133.png" /><ns0:Relationship Id="rId3" Type="http://schemas.openxmlformats.org/officeDocument/2006/relationships/image" Target="../media/image22.png" /><ns0:Relationship Id="rId7" Type="http://schemas.openxmlformats.org/officeDocument/2006/relationships/image" Target="../media/image26.png" /><ns0:Relationship Id="rId2" Type="http://schemas.openxmlformats.org/officeDocument/2006/relationships/image" Target="../media/image3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5.png" /><ns0:Relationship Id="rId5" Type="http://schemas.openxmlformats.org/officeDocument/2006/relationships/image" Target="../media/image24.png" /><ns0:Relationship Id="rId4" Type="http://schemas.openxmlformats.org/officeDocument/2006/relationships/image" Target="../media/image23.png" /></ns0:Relationships>
</file>

<file path=ppt/c5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34.png" /><ns0:Relationship Id="rId3" Type="http://schemas.openxmlformats.org/officeDocument/2006/relationships/image" Target="../media/image29.png" /><ns0:Relationship Id="rId7" Type="http://schemas.openxmlformats.org/officeDocument/2006/relationships/image" Target="../media/image33.png" /><ns0:Relationship Id="rId2" Type="http://schemas.openxmlformats.org/officeDocument/2006/relationships/image" Target="../media/image2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2.png" /><ns0:Relationship Id="rId5" Type="http://schemas.openxmlformats.org/officeDocument/2006/relationships/image" Target="../media/image31.png" /><ns0:Relationship Id="rId4" Type="http://schemas.openxmlformats.org/officeDocument/2006/relationships/image" Target="../media/image30.png" /></ns0:Relationships>
</file>

<file path=ppt/c5/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36.png" /><ns0:Relationship Id="rId2" Type="http://schemas.openxmlformats.org/officeDocument/2006/relationships/image" Target="../media/image35.png" /><ns0:Relationship Id="rId1" Type="http://schemas.openxmlformats.org/officeDocument/2006/relationships/slideLayout" Target="../slideLayouts/slideLayout2.xml" /></ns0:Relationships>
</file>

<file path=ppt/c5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39.png" /><ns0:Relationship Id="rId2" Type="http://schemas.openxmlformats.org/officeDocument/2006/relationships/image" Target="../media/image9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41.png" /><ns0:Relationship Id="rId4" Type="http://schemas.openxmlformats.org/officeDocument/2006/relationships/image" Target="../media/image40.png" /></ns0:Relationships>
</file>

<file path=ppt/c5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42.png" /><ns0:Relationship Id="rId2" Type="http://schemas.openxmlformats.org/officeDocument/2006/relationships/image" Target="../media/image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45.png" /><ns0:Relationship Id="rId5" Type="http://schemas.openxmlformats.org/officeDocument/2006/relationships/image" Target="../media/image44.png" /><ns0:Relationship Id="rId4" Type="http://schemas.openxmlformats.org/officeDocument/2006/relationships/image" Target="../media/image43.png" /></ns0:Relationships>
</file>

<file path=ppt/c5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4.png" /><ns0:Relationship Id="rId7" Type="http://schemas.openxmlformats.org/officeDocument/2006/relationships/image" Target="../media/image27.png" /><ns0:Relationship Id="rId2" Type="http://schemas.openxmlformats.org/officeDocument/2006/relationships/image" Target="../media/image1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6.png" /><ns0:Relationship Id="rId5" Type="http://schemas.openxmlformats.org/officeDocument/2006/relationships/image" Target="../media/image15.png" /><ns0:Relationship Id="rId4" Type="http://schemas.openxmlformats.org/officeDocument/2006/relationships/image" Target="../media/image140.png" /></ns0:Relationships>
</file>

<file path=ppt/c5/ppt/slides/_rels/slide14.xml.rels><?xml version='1.0' encoding='utf-8'?>
<ns0:Relationships xmlns:ns0="http://schemas.openxmlformats.org/package/2006/relationships"><ns0:Relationship Id="rId8" Type="http://schemas.openxmlformats.org/officeDocument/2006/relationships/image" Target="../media/image53.png" /><ns0:Relationship Id="rId13" Type="http://schemas.openxmlformats.org/officeDocument/2006/relationships/image" Target="../media/image58.png" /><ns0:Relationship Id="rId7" Type="http://schemas.openxmlformats.org/officeDocument/2006/relationships/image" Target="../media/image52.png" /><ns0:Relationship Id="rId12" Type="http://schemas.openxmlformats.org/officeDocument/2006/relationships/image" Target="../media/image57.png" /><ns0:Relationship Id="rId2" Type="http://schemas.openxmlformats.org/officeDocument/2006/relationships/image" Target="../media/image4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1.png" /><ns0:Relationship Id="rId11" Type="http://schemas.openxmlformats.org/officeDocument/2006/relationships/image" Target="../media/image56.png" /><ns0:Relationship Id="rId5" Type="http://schemas.openxmlformats.org/officeDocument/2006/relationships/image" Target="../media/image50.png" /><ns0:Relationship Id="rId10" Type="http://schemas.openxmlformats.org/officeDocument/2006/relationships/image" Target="../media/image48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54.png" /><ns0:Relationship Id="rId14" Type="http://schemas.openxmlformats.org/officeDocument/2006/relationships/image" Target="../media/image59.png" /></ns0:Relationships>
</file>

<file path=ppt/c5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490.png" /><ns0:Relationship Id="rId2" Type="http://schemas.openxmlformats.org/officeDocument/2006/relationships/image" Target="../media/image480.png" /><ns0:Relationship Id="rId1" Type="http://schemas.openxmlformats.org/officeDocument/2006/relationships/slideLayout" Target="../slideLayouts/slideLayout2.xml" /></ns0:Relationships>
</file>

<file path=ppt/c5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8.png" /><ns0:Relationship Id="rId2" Type="http://schemas.openxmlformats.org/officeDocument/2006/relationships/image" Target="../media/image7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2.png" /><ns0:Relationship Id="rId4" Type="http://schemas.openxmlformats.org/officeDocument/2006/relationships/image" Target="../media/image11.png" /></ns0:Relationships>
</file>

<file path=ppt/c5/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38.png" /><ns0:Relationship Id="rId7" Type="http://schemas.openxmlformats.org/officeDocument/2006/relationships/image" Target="../media/image61.png" /><ns0:Relationship Id="rId2" Type="http://schemas.openxmlformats.org/officeDocument/2006/relationships/image" Target="../media/image1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0.png" /><ns0:Relationship Id="rId5" Type="http://schemas.openxmlformats.org/officeDocument/2006/relationships/image" Target="../media/image55.png" /><ns0:Relationship Id="rId4" Type="http://schemas.openxmlformats.org/officeDocument/2006/relationships/image" Target="../media/image46.png" /></ns0:Relationships>
</file>

<file path=ppt/c5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63.png" /><ns0:Relationship Id="rId7" Type="http://schemas.openxmlformats.org/officeDocument/2006/relationships/image" Target="../media/image67.png" /><ns0:Relationship Id="rId2" Type="http://schemas.openxmlformats.org/officeDocument/2006/relationships/image" Target="../media/image6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6.png" /><ns0:Relationship Id="rId5" Type="http://schemas.openxmlformats.org/officeDocument/2006/relationships/image" Target="../media/image65.png" /><ns0:Relationship Id="rId4" Type="http://schemas.openxmlformats.org/officeDocument/2006/relationships/image" Target="../media/image64.png" /></ns0:Relationships>
</file>

<file path=ppt/c5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511.png" /><ns0:Relationship Id="rId2" Type="http://schemas.openxmlformats.org/officeDocument/2006/relationships/image" Target="../media/image500.png" /><ns0:Relationship Id="rId1" Type="http://schemas.openxmlformats.org/officeDocument/2006/relationships/slideLayout" Target="../slideLayouts/slideLayout2.xml" /></ns0:Relationships>
</file>

<file path=ppt/c5/ppt/slides/_rels/slide20.xml.rels><?xml version='1.0' encoding='utf-8'?>
<ns0:Relationships xmlns:ns0="http://schemas.openxmlformats.org/package/2006/relationships"><ns0:Relationship Id="rId8" Type="http://schemas.openxmlformats.org/officeDocument/2006/relationships/image" Target="../media/image460.png" /><ns0:Relationship Id="rId3" Type="http://schemas.openxmlformats.org/officeDocument/2006/relationships/image" Target="../media/image530.png" /><ns0:Relationship Id="rId7" Type="http://schemas.openxmlformats.org/officeDocument/2006/relationships/image" Target="../media/image570.png" /><ns0:Relationship Id="rId2" Type="http://schemas.openxmlformats.org/officeDocument/2006/relationships/image" Target="../media/image52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60.png" /><ns0:Relationship Id="rId11" Type="http://schemas.openxmlformats.org/officeDocument/2006/relationships/image" Target="../media/image612.png" /><ns0:Relationship Id="rId5" Type="http://schemas.openxmlformats.org/officeDocument/2006/relationships/image" Target="../media/image550.png" /><ns0:Relationship Id="rId10" Type="http://schemas.openxmlformats.org/officeDocument/2006/relationships/image" Target="../media/image600.png" /><ns0:Relationship Id="rId4" Type="http://schemas.openxmlformats.org/officeDocument/2006/relationships/image" Target="../media/image540.png" /><ns0:Relationship Id="rId9" Type="http://schemas.openxmlformats.org/officeDocument/2006/relationships/image" Target="../media/image590.png" /></ns0:Relationships>
</file>

<file path=ppt/c5/ppt/slides/_rels/slide21.xml.rels><?xml version='1.0' encoding='utf-8'?>
<ns0:Relationships xmlns:ns0="http://schemas.openxmlformats.org/package/2006/relationships"><ns0:Relationship Id="rId2" Type="http://schemas.openxmlformats.org/officeDocument/2006/relationships/image" Target="../media/image84.png" /><ns0:Relationship Id="rId1" Type="http://schemas.openxmlformats.org/officeDocument/2006/relationships/slideLayout" Target="../slideLayouts/slideLayout2.xml" /></ns0:Relationships>
</file>

<file path=ppt/c5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630.png" /><ns0:Relationship Id="rId2" Type="http://schemas.openxmlformats.org/officeDocument/2006/relationships/image" Target="../media/image620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650.png" /><ns0:Relationship Id="rId4" Type="http://schemas.openxmlformats.org/officeDocument/2006/relationships/image" Target="../media/image640.png" /></ns0:Relationships>
</file>

<file path=ppt/c5/ppt/slides/_rels/slide23.xml.rels><?xml version='1.0' encoding='utf-8'?>
<ns0:Relationships xmlns:ns0="http://schemas.openxmlformats.org/package/2006/relationships"><ns0:Relationship Id="rId8" Type="http://schemas.openxmlformats.org/officeDocument/2006/relationships/image" Target="../media/image74.png" /><ns0:Relationship Id="rId13" Type="http://schemas.openxmlformats.org/officeDocument/2006/relationships/image" Target="../media/image79.png" /><ns0:Relationship Id="rId3" Type="http://schemas.openxmlformats.org/officeDocument/2006/relationships/image" Target="../media/image69.png" /><ns0:Relationship Id="rId7" Type="http://schemas.openxmlformats.org/officeDocument/2006/relationships/image" Target="../media/image73.png" /><ns0:Relationship Id="rId12" Type="http://schemas.openxmlformats.org/officeDocument/2006/relationships/image" Target="../media/image78.png" /><ns0:Relationship Id="rId2" Type="http://schemas.openxmlformats.org/officeDocument/2006/relationships/image" Target="../media/image6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72.png" /><ns0:Relationship Id="rId11" Type="http://schemas.openxmlformats.org/officeDocument/2006/relationships/image" Target="../media/image77.png" /><ns0:Relationship Id="rId5" Type="http://schemas.openxmlformats.org/officeDocument/2006/relationships/image" Target="../media/image71.png" /><ns0:Relationship Id="rId10" Type="http://schemas.openxmlformats.org/officeDocument/2006/relationships/image" Target="../media/image76.png" /><ns0:Relationship Id="rId4" Type="http://schemas.openxmlformats.org/officeDocument/2006/relationships/image" Target="../media/image70.png" /><ns0:Relationship Id="rId9" Type="http://schemas.openxmlformats.org/officeDocument/2006/relationships/image" Target="../media/image75.png" /></ns0:Relationships>
</file>

<file path=ppt/c5/ppt/slides/_rels/slide24.xml.rels><?xml version='1.0' encoding='utf-8'?>
<ns0:Relationships xmlns:ns0="http://schemas.openxmlformats.org/package/2006/relationships"><ns0:Relationship Id="rId8" Type="http://schemas.openxmlformats.org/officeDocument/2006/relationships/image" Target="../media/image113.png" /><ns0:Relationship Id="rId3" Type="http://schemas.openxmlformats.org/officeDocument/2006/relationships/image" Target="../media/image108.png" /><ns0:Relationship Id="rId7" Type="http://schemas.openxmlformats.org/officeDocument/2006/relationships/image" Target="../media/image112.png" /><ns0:Relationship Id="rId2" Type="http://schemas.openxmlformats.org/officeDocument/2006/relationships/image" Target="../media/image10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51.png" /><ns0:Relationship Id="rId5" Type="http://schemas.openxmlformats.org/officeDocument/2006/relationships/image" Target="../media/image110.png" /><ns0:Relationship Id="rId4" Type="http://schemas.openxmlformats.org/officeDocument/2006/relationships/image" Target="../media/image109.png" /><ns0:Relationship Id="rId9" Type="http://schemas.openxmlformats.org/officeDocument/2006/relationships/image" Target="../media/image114.png" /></ns0:Relationships>
</file>

<file path=ppt/c5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81.png" /><ns0:Relationship Id="rId2" Type="http://schemas.openxmlformats.org/officeDocument/2006/relationships/image" Target="../media/image80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82.png" /></ns0:Relationships>
</file>

<file path=ppt/c5/ppt/slides/_rels/slide26.xml.rels><?xml version='1.0' encoding='utf-8'?>
<ns0:Relationships xmlns:ns0="http://schemas.openxmlformats.org/package/2006/relationships"><ns0:Relationship Id="rId8" Type="http://schemas.openxmlformats.org/officeDocument/2006/relationships/image" Target="../media/image90.png" /><ns0:Relationship Id="rId3" Type="http://schemas.openxmlformats.org/officeDocument/2006/relationships/image" Target="../media/image85.png" /><ns0:Relationship Id="rId7" Type="http://schemas.openxmlformats.org/officeDocument/2006/relationships/image" Target="../media/image89.png" /><ns0:Relationship Id="rId2" Type="http://schemas.openxmlformats.org/officeDocument/2006/relationships/image" Target="../media/image8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88.png" /><ns0:Relationship Id="rId5" Type="http://schemas.openxmlformats.org/officeDocument/2006/relationships/image" Target="../media/image87.png" /><ns0:Relationship Id="rId4" Type="http://schemas.openxmlformats.org/officeDocument/2006/relationships/image" Target="../media/image86.png" /><ns0:Relationship Id="rId9" Type="http://schemas.openxmlformats.org/officeDocument/2006/relationships/image" Target="../media/image91.png" /></ns0:Relationships>
</file>

<file path=ppt/c5/ppt/slides/_rels/slide27.xml.rels><?xml version='1.0' encoding='utf-8'?>
<ns0:Relationships xmlns:ns0="http://schemas.openxmlformats.org/package/2006/relationships"><ns0:Relationship Id="rId8" Type="http://schemas.openxmlformats.org/officeDocument/2006/relationships/image" Target="../media/image98.png" /><ns0:Relationship Id="rId3" Type="http://schemas.openxmlformats.org/officeDocument/2006/relationships/image" Target="../media/image93.png" /><ns0:Relationship Id="rId7" Type="http://schemas.openxmlformats.org/officeDocument/2006/relationships/image" Target="../media/image97.png" /><ns0:Relationship Id="rId12" Type="http://schemas.openxmlformats.org/officeDocument/2006/relationships/image" Target="../media/image102.png" /><ns0:Relationship Id="rId2" Type="http://schemas.openxmlformats.org/officeDocument/2006/relationships/image" Target="../media/image9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6.png" /><ns0:Relationship Id="rId11" Type="http://schemas.openxmlformats.org/officeDocument/2006/relationships/image" Target="../media/image101.png" /><ns0:Relationship Id="rId5" Type="http://schemas.openxmlformats.org/officeDocument/2006/relationships/image" Target="../media/image95.png" /><ns0:Relationship Id="rId10" Type="http://schemas.openxmlformats.org/officeDocument/2006/relationships/image" Target="../media/image100.png" /><ns0:Relationship Id="rId4" Type="http://schemas.openxmlformats.org/officeDocument/2006/relationships/image" Target="../media/image94.png" /><ns0:Relationship Id="rId9" Type="http://schemas.openxmlformats.org/officeDocument/2006/relationships/image" Target="../media/image99.png" /></ns0:Relationships>
</file>

<file path=ppt/c5/ppt/slides/_rels/slide28.xml.rels><?xml version='1.0' encoding='utf-8'?>
<ns0:Relationships xmlns:ns0="http://schemas.openxmlformats.org/package/2006/relationships"><ns0:Relationship Id="rId8" Type="http://schemas.openxmlformats.org/officeDocument/2006/relationships/image" Target="../media/image760.png" /><ns0:Relationship Id="rId3" Type="http://schemas.openxmlformats.org/officeDocument/2006/relationships/image" Target="../media/image711.png" /><ns0:Relationship Id="rId7" Type="http://schemas.openxmlformats.org/officeDocument/2006/relationships/image" Target="../media/image750.png" /><ns0:Relationship Id="rId2" Type="http://schemas.openxmlformats.org/officeDocument/2006/relationships/image" Target="../media/image70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40.png" /><ns0:Relationship Id="rId5" Type="http://schemas.openxmlformats.org/officeDocument/2006/relationships/image" Target="../media/image730.png" /><ns0:Relationship Id="rId10" Type="http://schemas.openxmlformats.org/officeDocument/2006/relationships/image" Target="../media/image690.png" /><ns0:Relationship Id="rId4" Type="http://schemas.openxmlformats.org/officeDocument/2006/relationships/image" Target="../media/image720.png" /><ns0:Relationship Id="rId9" Type="http://schemas.openxmlformats.org/officeDocument/2006/relationships/image" Target="../media/image770.png" /></ns0:Relationships>
</file>

<file path=ppt/c5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143.png" /><ns0:Relationship Id="rId2" Type="http://schemas.openxmlformats.org/officeDocument/2006/relationships/image" Target="../media/image230.png" /><ns0:Relationship Id="rId1" Type="http://schemas.openxmlformats.org/officeDocument/2006/relationships/slideLayout" Target="../slideLayouts/slideLayout2.xml" /></ns0:Relationships>
</file>

<file path=ppt/c5/ppt/slides/_rels/slide30.xml.rels><?xml version='1.0' encoding='utf-8'?>
<ns0:Relationships xmlns:ns0="http://schemas.openxmlformats.org/package/2006/relationships"><ns0:Relationship Id="rId2" Type="http://schemas.openxmlformats.org/officeDocument/2006/relationships/image" Target="../media/image420.png" /><ns0:Relationship Id="rId1" Type="http://schemas.openxmlformats.org/officeDocument/2006/relationships/slideLayout" Target="../slideLayouts/slideLayout2.xml" /></ns0:Relationships>
</file>

<file path=ppt/c5/ppt/slides/_rels/slide31.xml.rels><?xml version='1.0' encoding='utf-8'?>
<ns0:Relationships xmlns:ns0="http://schemas.openxmlformats.org/package/2006/relationships"><ns0:Relationship Id="rId8" Type="http://schemas.openxmlformats.org/officeDocument/2006/relationships/image" Target="../media/image150.png" /><ns0:Relationship Id="rId3" Type="http://schemas.openxmlformats.org/officeDocument/2006/relationships/image" Target="../media/image145.png" /><ns0:Relationship Id="rId7" Type="http://schemas.openxmlformats.org/officeDocument/2006/relationships/image" Target="../media/image149.png" /><ns0:Relationship Id="rId2" Type="http://schemas.openxmlformats.org/officeDocument/2006/relationships/image" Target="../media/image144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48.png" /><ns0:Relationship Id="rId5" Type="http://schemas.openxmlformats.org/officeDocument/2006/relationships/image" Target="../media/image147.png" /><ns0:Relationship Id="rId4" Type="http://schemas.openxmlformats.org/officeDocument/2006/relationships/image" Target="../media/image146.png" /></ns0:Relationships>
</file>

<file path=ppt/c5/ppt/slides/_rels/slide32.xml.rels><?xml version='1.0' encoding='utf-8'?>
<ns0:Relationships xmlns:ns0="http://schemas.openxmlformats.org/package/2006/relationships"><ns0:Relationship Id="rId8" Type="http://schemas.openxmlformats.org/officeDocument/2006/relationships/image" Target="../media/image116.png" /><ns0:Relationship Id="rId3" Type="http://schemas.openxmlformats.org/officeDocument/2006/relationships/image" Target="../media/image104.png" /><ns0:Relationship Id="rId7" Type="http://schemas.openxmlformats.org/officeDocument/2006/relationships/image" Target="../media/image115.png" /><ns0:Relationship Id="rId2" Type="http://schemas.openxmlformats.org/officeDocument/2006/relationships/image" Target="../media/image10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11.png" /><ns0:Relationship Id="rId5" Type="http://schemas.openxmlformats.org/officeDocument/2006/relationships/image" Target="../media/image106.png" /><ns0:Relationship Id="rId10" Type="http://schemas.openxmlformats.org/officeDocument/2006/relationships/image" Target="../media/image118.png" /><ns0:Relationship Id="rId4" Type="http://schemas.openxmlformats.org/officeDocument/2006/relationships/image" Target="../media/image105.png" /><ns0:Relationship Id="rId9" Type="http://schemas.openxmlformats.org/officeDocument/2006/relationships/image" Target="../media/image117.png" /></ns0:Relationships>
</file>

<file path=ppt/c5/ppt/slides/_rels/slide33.xml.rels><?xml version='1.0' encoding='utf-8'?>
<ns0:Relationships xmlns:ns0="http://schemas.openxmlformats.org/package/2006/relationships"><ns0:Relationship Id="rId8" Type="http://schemas.openxmlformats.org/officeDocument/2006/relationships/image" Target="../media/image125.png" /><ns0:Relationship Id="rId13" Type="http://schemas.openxmlformats.org/officeDocument/2006/relationships/image" Target="../media/image130.png" /><ns0:Relationship Id="rId3" Type="http://schemas.openxmlformats.org/officeDocument/2006/relationships/image" Target="../media/image120.png" /><ns0:Relationship Id="rId7" Type="http://schemas.openxmlformats.org/officeDocument/2006/relationships/image" Target="../media/image124.png" /><ns0:Relationship Id="rId12" Type="http://schemas.openxmlformats.org/officeDocument/2006/relationships/image" Target="../media/image129.png" /><ns0:Relationship Id="rId2" Type="http://schemas.openxmlformats.org/officeDocument/2006/relationships/image" Target="../media/image11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3.png" /><ns0:Relationship Id="rId11" Type="http://schemas.openxmlformats.org/officeDocument/2006/relationships/image" Target="../media/image128.png" /><ns0:Relationship Id="rId5" Type="http://schemas.openxmlformats.org/officeDocument/2006/relationships/image" Target="../media/image122.png" /><ns0:Relationship Id="rId10" Type="http://schemas.openxmlformats.org/officeDocument/2006/relationships/image" Target="../media/image127.png" /><ns0:Relationship Id="rId4" Type="http://schemas.openxmlformats.org/officeDocument/2006/relationships/image" Target="../media/image121.png" /><ns0:Relationship Id="rId9" Type="http://schemas.openxmlformats.org/officeDocument/2006/relationships/image" Target="../media/image126.png" /><ns0:Relationship Id="rId14" Type="http://schemas.openxmlformats.org/officeDocument/2006/relationships/image" Target="../media/image131.png" /></ns0:Relationships>
</file>

<file path=ppt/c5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800.png" /><ns0:Relationship Id="rId7" Type="http://schemas.openxmlformats.org/officeDocument/2006/relationships/image" Target="../media/image850.png" /><ns0:Relationship Id="rId2" Type="http://schemas.openxmlformats.org/officeDocument/2006/relationships/image" Target="../media/image79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830.png" /><ns0:Relationship Id="rId5" Type="http://schemas.openxmlformats.org/officeDocument/2006/relationships/image" Target="../media/image820.png" /><ns0:Relationship Id="rId4" Type="http://schemas.openxmlformats.org/officeDocument/2006/relationships/image" Target="../media/image812.png" /></ns0:Relationships>
</file>

<file path=ppt/c5/ppt/slides/_rels/slide35.xml.rels><?xml version='1.0' encoding='utf-8'?>
<ns0:Relationships xmlns:ns0="http://schemas.openxmlformats.org/package/2006/relationships"><ns0:Relationship Id="rId8" Type="http://schemas.openxmlformats.org/officeDocument/2006/relationships/image" Target="../media/image860.png" /><ns0:Relationship Id="rId3" Type="http://schemas.openxmlformats.org/officeDocument/2006/relationships/image" Target="../media/image960.png" /><ns0:Relationship Id="rId7" Type="http://schemas.openxmlformats.org/officeDocument/2006/relationships/image" Target="../media/image1000.png" /><ns0:Relationship Id="rId2" Type="http://schemas.openxmlformats.org/officeDocument/2006/relationships/image" Target="../media/image95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90.png" /><ns0:Relationship Id="rId5" Type="http://schemas.openxmlformats.org/officeDocument/2006/relationships/image" Target="../media/image980.png" /><ns0:Relationship Id="rId4" Type="http://schemas.openxmlformats.org/officeDocument/2006/relationships/image" Target="../media/image970.png" /><ns0:Relationship Id="rId9" Type="http://schemas.openxmlformats.org/officeDocument/2006/relationships/image" Target="../media/image1020.png" /></ns0:Relationships>
</file>

<file path=ppt/c5/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1040.png" /><ns0:Relationship Id="rId2" Type="http://schemas.openxmlformats.org/officeDocument/2006/relationships/image" Target="../media/image1030.png" /><ns0:Relationship Id="rId1" Type="http://schemas.openxmlformats.org/officeDocument/2006/relationships/slideLayout" Target="../slideLayouts/slideLayout2.xml" /></ns0:Relationships>
</file>

<file path=ppt/c5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113.png" /><ns0:Relationship Id="rId3" Type="http://schemas.openxmlformats.org/officeDocument/2006/relationships/image" Target="../media/image108.png" /><ns0:Relationship Id="rId7" Type="http://schemas.openxmlformats.org/officeDocument/2006/relationships/image" Target="../media/image112.png" /><ns0:Relationship Id="rId2" Type="http://schemas.openxmlformats.org/officeDocument/2006/relationships/image" Target="../media/image10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870.png" /><ns0:Relationship Id="rId5" Type="http://schemas.openxmlformats.org/officeDocument/2006/relationships/image" Target="../media/image110.png" /><ns0:Relationship Id="rId4" Type="http://schemas.openxmlformats.org/officeDocument/2006/relationships/image" Target="../media/image109.png" /><ns0:Relationship Id="rId9" Type="http://schemas.openxmlformats.org/officeDocument/2006/relationships/image" Target="../media/image114.png" /></ns0:Relationships>
</file>

<file path=ppt/c5/ppt/slides/_rels/slide38.xml.rels><?xml version='1.0' encoding='utf-8'?>
<ns0:Relationships xmlns:ns0="http://schemas.openxmlformats.org/package/2006/relationships"><ns0:Relationship Id="rId8" Type="http://schemas.openxmlformats.org/officeDocument/2006/relationships/image" Target="../media/image1180.png" /><ns0:Relationship Id="rId3" Type="http://schemas.openxmlformats.org/officeDocument/2006/relationships/image" Target="../media/image108.png" /><ns0:Relationship Id="rId7" Type="http://schemas.openxmlformats.org/officeDocument/2006/relationships/image" Target="../media/image114.png" /><ns0:Relationship Id="rId2" Type="http://schemas.openxmlformats.org/officeDocument/2006/relationships/image" Target="../media/image10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170.png" /><ns0:Relationship Id="rId11" Type="http://schemas.openxmlformats.org/officeDocument/2006/relationships/image" Target="../media/image900.png" /><ns0:Relationship Id="rId5" Type="http://schemas.openxmlformats.org/officeDocument/2006/relationships/image" Target="../media/image1160.png" /><ns0:Relationship Id="rId10" Type="http://schemas.openxmlformats.org/officeDocument/2006/relationships/image" Target="../media/image890.png" /><ns0:Relationship Id="rId4" Type="http://schemas.openxmlformats.org/officeDocument/2006/relationships/image" Target="../media/image1150.png" /><ns0:Relationship Id="rId9" Type="http://schemas.openxmlformats.org/officeDocument/2006/relationships/image" Target="../media/image880.png" /></ns0:Relationships>
</file>

<file path=ppt/c5/ppt/slides/_rels/slide39.xml.rels><?xml version='1.0' encoding='utf-8'?>
<ns0:Relationships xmlns:ns0="http://schemas.openxmlformats.org/package/2006/relationships"><ns0:Relationship Id="rId8" Type="http://schemas.openxmlformats.org/officeDocument/2006/relationships/image" Target="../media/image1240.png" /><ns0:Relationship Id="rId3" Type="http://schemas.openxmlformats.org/officeDocument/2006/relationships/image" Target="../media/image108.png" /><ns0:Relationship Id="rId7" Type="http://schemas.openxmlformats.org/officeDocument/2006/relationships/image" Target="../media/image1230.png" /><ns0:Relationship Id="rId2" Type="http://schemas.openxmlformats.org/officeDocument/2006/relationships/image" Target="../media/image10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20.png" /><ns0:Relationship Id="rId5" Type="http://schemas.openxmlformats.org/officeDocument/2006/relationships/image" Target="../media/image1211.png" /><ns0:Relationship Id="rId10" Type="http://schemas.openxmlformats.org/officeDocument/2006/relationships/image" Target="../media/image1260.png" /><ns0:Relationship Id="rId4" Type="http://schemas.openxmlformats.org/officeDocument/2006/relationships/image" Target="../media/image1200.png" /><ns0:Relationship Id="rId9" Type="http://schemas.openxmlformats.org/officeDocument/2006/relationships/image" Target="../media/image1250.png" /></ns0:Relationships>
</file>

<file path=ppt/c5/ppt/slides/_rels/slide40.xml.rels><?xml version='1.0' encoding='utf-8'?>
<ns0:Relationships xmlns:ns0="http://schemas.openxmlformats.org/package/2006/relationships"><ns0:Relationship Id="rId8" Type="http://schemas.openxmlformats.org/officeDocument/2006/relationships/image" Target="../media/image139.png" /><ns0:Relationship Id="rId13" Type="http://schemas.openxmlformats.org/officeDocument/2006/relationships/image" Target="../media/image153.png" /><ns0:Relationship Id="rId18" Type="http://schemas.openxmlformats.org/officeDocument/2006/relationships/image" Target="../media/image158.png" /><ns0:Relationship Id="rId3" Type="http://schemas.openxmlformats.org/officeDocument/2006/relationships/image" Target="../media/image134.png" /><ns0:Relationship Id="rId7" Type="http://schemas.openxmlformats.org/officeDocument/2006/relationships/image" Target="../media/image138.png" /><ns0:Relationship Id="rId12" Type="http://schemas.openxmlformats.org/officeDocument/2006/relationships/image" Target="../media/image152.png" /><ns0:Relationship Id="rId17" Type="http://schemas.openxmlformats.org/officeDocument/2006/relationships/image" Target="../media/image157.png" /><ns0:Relationship Id="rId2" Type="http://schemas.openxmlformats.org/officeDocument/2006/relationships/image" Target="../media/image132.png" /><ns0:Relationship Id="rId16" Type="http://schemas.openxmlformats.org/officeDocument/2006/relationships/image" Target="../media/image15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7.png" /><ns0:Relationship Id="rId11" Type="http://schemas.openxmlformats.org/officeDocument/2006/relationships/image" Target="../media/image151.png" /><ns0:Relationship Id="rId5" Type="http://schemas.openxmlformats.org/officeDocument/2006/relationships/image" Target="../media/image136.png" /><ns0:Relationship Id="rId15" Type="http://schemas.openxmlformats.org/officeDocument/2006/relationships/image" Target="../media/image155.png" /><ns0:Relationship Id="rId10" Type="http://schemas.openxmlformats.org/officeDocument/2006/relationships/image" Target="../media/image142.png" /><ns0:Relationship Id="rId19" Type="http://schemas.openxmlformats.org/officeDocument/2006/relationships/image" Target="../media/image159.png" /><ns0:Relationship Id="rId4" Type="http://schemas.openxmlformats.org/officeDocument/2006/relationships/image" Target="../media/image135.png" /><ns0:Relationship Id="rId9" Type="http://schemas.openxmlformats.org/officeDocument/2006/relationships/image" Target="../media/image141.png" /><ns0:Relationship Id="rId14" Type="http://schemas.openxmlformats.org/officeDocument/2006/relationships/image" Target="../media/image154.png" /></ns0:Relationships>
</file>

<file path=ppt/c5/ppt/slides/_rels/slide41.xml.rels><?xml version='1.0' encoding='utf-8'?>
<ns0:Relationships xmlns:ns0="http://schemas.openxmlformats.org/package/2006/relationships"><ns0:Relationship Id="rId3" Type="http://schemas.openxmlformats.org/officeDocument/2006/relationships/image" Target="../media/image161.png" /><ns0:Relationship Id="rId7" Type="http://schemas.openxmlformats.org/officeDocument/2006/relationships/image" Target="../media/image165.png" /><ns0:Relationship Id="rId2" Type="http://schemas.openxmlformats.org/officeDocument/2006/relationships/image" Target="../media/image16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64.png" /><ns0:Relationship Id="rId5" Type="http://schemas.openxmlformats.org/officeDocument/2006/relationships/image" Target="../media/image163.png" /><ns0:Relationship Id="rId4" Type="http://schemas.openxmlformats.org/officeDocument/2006/relationships/image" Target="../media/image162.png" /></ns0:Relationships>
</file>

<file path=ppt/c5/ppt/slides/_rels/slide42.xml.rels><?xml version='1.0' encoding='utf-8'?>
<ns0:Relationships xmlns:ns0="http://schemas.openxmlformats.org/package/2006/relationships"><ns0:Relationship Id="rId3" Type="http://schemas.openxmlformats.org/officeDocument/2006/relationships/image" Target="../media/image920.png" /><ns0:Relationship Id="rId2" Type="http://schemas.openxmlformats.org/officeDocument/2006/relationships/image" Target="../media/image910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930.png" /></ns0:Relationships>
</file>

<file path=ppt/c5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4572000" y="0"/>
            <a:ext cx="0" cy="685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0" y="3429000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5148" y="3429000"/>
            <a:ext cx="914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sz="1400" dirty="0"/>
              <a:t>x	-5	-4	-3	-2	-1	0	1	2	3	4	5	6</a:t>
            </a:r>
            <a:endParaRPr lang="en-US" sz="1400" dirty="0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H="1">
            <a:off x="2508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97155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6922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2411413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3132138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0" y="27082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52927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6011863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6732588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74517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817245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88931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0" y="198913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0" y="41497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0" y="486886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0" y="558958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0" y="63087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283968" y="0"/>
            <a:ext cx="28803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400" dirty="0"/>
              <a:t>y</a:t>
            </a:r>
          </a:p>
          <a:p>
            <a:endParaRPr lang="en-GB" sz="1400" dirty="0"/>
          </a:p>
          <a:p>
            <a:endParaRPr lang="en-US" sz="1400" dirty="0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4264025" y="396875"/>
            <a:ext cx="33413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GB" sz="1400" dirty="0"/>
              <a:t>4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3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2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1</a:t>
            </a:r>
          </a:p>
          <a:p>
            <a:pPr algn="r"/>
            <a:endParaRPr lang="en-GB" sz="3300" dirty="0"/>
          </a:p>
          <a:p>
            <a:pPr algn="r"/>
            <a:endParaRPr lang="en-GB" sz="1400" dirty="0"/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-1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-2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-3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-4</a:t>
            </a:r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>
            <a:off x="38512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flipV="1">
            <a:off x="6011862" y="0"/>
            <a:ext cx="1" cy="6858000"/>
          </a:xfrm>
          <a:prstGeom prst="line">
            <a:avLst/>
          </a:prstGeom>
          <a:ln w="76200"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67543" y="188640"/>
            <a:ext cx="3796482" cy="2246769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b="1" dirty="0"/>
              <a:t>Let’s start simple…</a:t>
            </a:r>
          </a:p>
          <a:p>
            <a:r>
              <a:rPr lang="en-GB" sz="2800" dirty="0"/>
              <a:t>What is the equation of this line?</a:t>
            </a:r>
          </a:p>
          <a:p>
            <a:r>
              <a:rPr lang="en-GB" sz="2800" dirty="0"/>
              <a:t>And more importantly, why is it that?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71550" y="5589588"/>
                <a:ext cx="2016274" cy="70788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𝑥</m:t>
                      </m:r>
                      <m:r>
                        <a:rPr lang="en-GB" sz="40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5589588"/>
                <a:ext cx="2016274" cy="7078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971549" y="5600839"/>
            <a:ext cx="201627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038041" y="5763904"/>
                <a:ext cx="3882270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For any point we pick on the line, the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value is always 2.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041" y="5763904"/>
                <a:ext cx="388227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028" t="-4286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71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49" grpId="0" animBg="1"/>
      <p:bldP spid="4" grpId="0" animBg="1"/>
    </p:bldLst>
  </p:timing>
</p:sld>
</file>

<file path=ppt/c5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132" y="2363295"/>
            <a:ext cx="965079" cy="1244444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2053682" y="155541"/>
            <a:ext cx="7090318" cy="6945867"/>
          </a:xfrm>
          <a:prstGeom prst="line">
            <a:avLst/>
          </a:prstGeom>
          <a:ln w="644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764704"/>
                <a:ext cx="856895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!"/>
                </a:pPr>
                <a:r>
                  <a:rPr lang="en-GB" sz="2400" dirty="0"/>
                  <a:t>A line consists of all points which satisfy some equation in terms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and/or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8568952" cy="8309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0" y="0"/>
            <a:ext cx="9143074" cy="571743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Lines and Equations of Lines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6180846" y="4043503"/>
            <a:ext cx="72008" cy="13357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172734" y="3441314"/>
                <a:ext cx="2088232" cy="859893"/>
              </a:xfrm>
              <a:prstGeom prst="rect">
                <a:avLst/>
              </a:prstGeom>
              <a:scene3d>
                <a:camera prst="perspectiveContrastingLeftFacing">
                  <a:rot lat="623785" lon="1800000" rev="21386789"/>
                </a:camera>
                <a:lightRig rig="threePt" dir="t"/>
              </a:scene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Anirudh’s Line Club</a:t>
                </a:r>
              </a:p>
              <a:p>
                <a:pPr algn="ctr"/>
                <a:r>
                  <a:rPr lang="en-GB" sz="1400" dirty="0"/>
                  <a:t>Membership Rules: </a:t>
                </a:r>
                <a:br>
                  <a:rPr lang="en-GB" sz="1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734" y="3441314"/>
                <a:ext cx="2088232" cy="85989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/>
          <p:cNvGrpSpPr/>
          <p:nvPr/>
        </p:nvGrpSpPr>
        <p:grpSpPr>
          <a:xfrm>
            <a:off x="-1587733" y="4043503"/>
            <a:ext cx="992330" cy="1495200"/>
            <a:chOff x="856244" y="3120255"/>
            <a:chExt cx="992330" cy="14952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244" y="3120255"/>
              <a:ext cx="939683" cy="118095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952239" y="4246123"/>
                  <a:ext cx="896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0,5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39" y="4246123"/>
                  <a:ext cx="89633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/>
          <p:cNvGrpSpPr/>
          <p:nvPr/>
        </p:nvGrpSpPr>
        <p:grpSpPr>
          <a:xfrm>
            <a:off x="-1290779" y="2363295"/>
            <a:ext cx="939683" cy="1646587"/>
            <a:chOff x="-1188640" y="3434109"/>
            <a:chExt cx="939683" cy="164658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188640" y="3434109"/>
              <a:ext cx="939683" cy="129523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-1166967" y="4711364"/>
                  <a:ext cx="896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66967" y="4711364"/>
                  <a:ext cx="89633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-2553098" y="5169371"/>
            <a:ext cx="964032" cy="1467462"/>
            <a:chOff x="2395699" y="4297395"/>
            <a:chExt cx="964032" cy="1467462"/>
          </a:xfrm>
        </p:grpSpPr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95699" y="4297395"/>
              <a:ext cx="921974" cy="12100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2463396" y="5395525"/>
                  <a:ext cx="896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3,−1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3396" y="5395525"/>
                  <a:ext cx="896335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ular Callout 53"/>
              <p:cNvSpPr/>
              <p:nvPr/>
            </p:nvSpPr>
            <p:spPr>
              <a:xfrm>
                <a:off x="7260966" y="1844824"/>
                <a:ext cx="1703522" cy="1008112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Yes, you can join 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Rounded Rectangular Callout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966" y="1844824"/>
                <a:ext cx="1703522" cy="1008112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ounded Rectangular Callout 54"/>
              <p:cNvSpPr/>
              <p:nvPr/>
            </p:nvSpPr>
            <p:spPr>
              <a:xfrm>
                <a:off x="7188602" y="1844824"/>
                <a:ext cx="1703522" cy="1257235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Sorry, you can’t join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+2=8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Get lost.</a:t>
                </a:r>
              </a:p>
            </p:txBody>
          </p:sp>
        </mc:Choice>
        <mc:Fallback xmlns="">
          <p:sp>
            <p:nvSpPr>
              <p:cNvPr id="55" name="Rounded Rectangular Callout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602" y="1844824"/>
                <a:ext cx="1703522" cy="1257235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ounded Rectangular Callout 55"/>
              <p:cNvSpPr/>
              <p:nvPr/>
            </p:nvSpPr>
            <p:spPr>
              <a:xfrm>
                <a:off x="7081211" y="2045102"/>
                <a:ext cx="1984789" cy="1056957"/>
              </a:xfrm>
              <a:prstGeom prst="wedgeRoundRectCallout">
                <a:avLst>
                  <a:gd name="adj1" fmla="val -56376"/>
                  <a:gd name="adj2" fmla="val 80259"/>
                  <a:gd name="adj3" fmla="val 1666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b="0" dirty="0"/>
              </a:p>
              <a:p>
                <a:pPr algn="ctr"/>
                <a:r>
                  <a:rPr lang="en-GB" dirty="0"/>
                  <a:t>so you can join.</a:t>
                </a:r>
              </a:p>
            </p:txBody>
          </p:sp>
        </mc:Choice>
        <mc:Fallback xmlns="">
          <p:sp>
            <p:nvSpPr>
              <p:cNvPr id="56" name="Rounded Rectangular Callout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211" y="2045102"/>
                <a:ext cx="1984789" cy="1056957"/>
              </a:xfrm>
              <a:prstGeom prst="wedgeRoundRectCallout">
                <a:avLst>
                  <a:gd name="adj1" fmla="val -56376"/>
                  <a:gd name="adj2" fmla="val 80259"/>
                  <a:gd name="adj3" fmla="val 16667"/>
                </a:avLst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0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11111E-6 L 0.56406 0.05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94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406 0.05023 L 0.57465 -0.3245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-1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33333E-6 L 0.61337 0.3430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60" y="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337 0.34306 L -0.11111 -0.0798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33" y="-2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5185E-6 L 0.65556 -0.0141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78" y="-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5556 -0.01412 L 1.04132 0.0069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</p:bldLst>
  </p:timing>
</p:sld>
</file>

<file path=ppt/c5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71743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3528" y="764704"/>
            <a:ext cx="85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This means we can </a:t>
            </a:r>
            <a:r>
              <a:rPr lang="en-GB" sz="2000" b="1" u="sng" dirty="0"/>
              <a:t>substitute</a:t>
            </a:r>
            <a:r>
              <a:rPr lang="en-GB" sz="2000" dirty="0"/>
              <a:t> the values of a coordinate into our equation whenever we know the point lies on the line.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3717032"/>
                <a:ext cx="784887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coordinate of the point where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 cuts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717032"/>
                <a:ext cx="7848872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67644" y="4221088"/>
                <a:ext cx="6048672" cy="1268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Substituting: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+0=5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644" y="4221088"/>
                <a:ext cx="6048672" cy="1268681"/>
              </a:xfrm>
              <a:prstGeom prst="rect">
                <a:avLst/>
              </a:prstGeom>
              <a:blipFill rotWithShape="0">
                <a:blip r:embed="rId3"/>
                <a:stretch>
                  <a:fillRect l="-806" t="-2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6638" y="1772816"/>
                <a:ext cx="8133793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dirty="0"/>
                  <a:t> lies on the line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. Determine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38" y="1772816"/>
                <a:ext cx="8133793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49321" y="2323909"/>
                <a:ext cx="60486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Substituting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321" y="2323909"/>
                <a:ext cx="6048672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806" t="-32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421492" y="2251301"/>
            <a:ext cx="4662675" cy="9959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1492" y="4221088"/>
            <a:ext cx="4662675" cy="1268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852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5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911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908720"/>
                <a:ext cx="7560840" cy="3660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Determine where the line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400" dirty="0"/>
                  <a:t> crosses the:</a:t>
                </a:r>
              </a:p>
              <a:p>
                <a:endParaRPr lang="en-GB" sz="2400" dirty="0"/>
              </a:p>
              <a:p>
                <a:pPr marL="342900" indent="-342900">
                  <a:buAutoNum type="alphaLcParenR"/>
                </a:pPr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-axis:            </a:t>
                </a:r>
                <a:r>
                  <a:rPr lang="en-GB" sz="2400" b="1" dirty="0"/>
                  <a:t>Let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400" b="1" dirty="0"/>
                  <a:t>.</a:t>
                </a:r>
                <a:br>
                  <a:rPr lang="en-GB" sz="2400" b="1" dirty="0"/>
                </a:br>
                <a:r>
                  <a:rPr lang="en-GB" sz="2400" b="1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      → 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GB" sz="2400" b="1" dirty="0"/>
              </a:p>
              <a:p>
                <a:pPr marL="342900" indent="-342900">
                  <a:buAutoNum type="alphaLcParenR"/>
                </a:pPr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-axis:          </a:t>
                </a:r>
                <a:r>
                  <a:rPr lang="en-GB" sz="2400" b="1" dirty="0"/>
                  <a:t>Let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                  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7560840" cy="3660361"/>
              </a:xfrm>
              <a:prstGeom prst="rect">
                <a:avLst/>
              </a:prstGeom>
              <a:blipFill rotWithShape="0">
                <a:blip r:embed="rId2"/>
                <a:stretch>
                  <a:fillRect l="-1290" t="-13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253258" y="1628800"/>
            <a:ext cx="4118942" cy="15121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3258" y="3212976"/>
            <a:ext cx="4118942" cy="10081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436510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7544" y="4569081"/>
                <a:ext cx="73448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What mistakes do you think it’s easy to make?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Mixing up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/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: Putting answer as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rather than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Setting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to find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-intercept, 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to find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-intercept.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569081"/>
                <a:ext cx="7344816" cy="923330"/>
              </a:xfrm>
              <a:prstGeom prst="rect">
                <a:avLst/>
              </a:prstGeom>
              <a:blipFill>
                <a:blip r:embed="rId3"/>
                <a:stretch>
                  <a:fillRect l="-747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74058" y="4888313"/>
            <a:ext cx="6984776" cy="6137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16957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</p:bldLst>
  </p:timing>
</p:sld>
</file>

<file path=ppt/c5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746701"/>
                <a:ext cx="849694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The steepness of a line is known as the </a:t>
                </a:r>
                <a:r>
                  <a:rPr lang="en-GB" sz="2800" b="1" dirty="0"/>
                  <a:t>gradient</a:t>
                </a:r>
                <a:r>
                  <a:rPr lang="en-GB" sz="2800" dirty="0"/>
                  <a:t>.</a:t>
                </a:r>
              </a:p>
              <a:p>
                <a:r>
                  <a:rPr lang="en-GB" sz="2800" dirty="0"/>
                  <a:t>It tells us what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800" dirty="0"/>
                  <a:t> changes by as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/>
                  <a:t> increases by 1.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46701"/>
                <a:ext cx="8496944" cy="954107"/>
              </a:xfrm>
              <a:prstGeom prst="rect">
                <a:avLst/>
              </a:prstGeom>
              <a:blipFill rotWithShape="0">
                <a:blip r:embed="rId2"/>
                <a:stretch>
                  <a:fillRect l="-1435" t="-5732" b="-17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1786270" y="1881514"/>
            <a:ext cx="21436" cy="312642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041991" y="3897738"/>
            <a:ext cx="2924617" cy="2567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637414" y="1881514"/>
            <a:ext cx="1119916" cy="315831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53274" y="3321674"/>
            <a:ext cx="50405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757330" y="2025530"/>
            <a:ext cx="0" cy="1296144"/>
          </a:xfrm>
          <a:prstGeom prst="line">
            <a:avLst/>
          </a:prstGeom>
          <a:ln>
            <a:prstDash val="sysDot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361286" y="3321674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286" y="3321674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57330" y="2673602"/>
                <a:ext cx="455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330" y="2673602"/>
                <a:ext cx="455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111326" y="3683741"/>
                <a:ext cx="3011948" cy="101752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326" y="3683741"/>
                <a:ext cx="3011948" cy="10175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07395" y="4939850"/>
                <a:ext cx="2764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1400" dirty="0"/>
                  <a:t> is the (capital) Greek letter “delta” and means </a:t>
                </a:r>
                <a:r>
                  <a:rPr lang="en-GB" sz="1400" b="1" dirty="0"/>
                  <a:t>“change in</a:t>
                </a:r>
                <a:r>
                  <a:rPr lang="en-GB" sz="1400" dirty="0"/>
                  <a:t>”.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395" y="4939850"/>
                <a:ext cx="2764465" cy="523220"/>
              </a:xfrm>
              <a:prstGeom prst="rect">
                <a:avLst/>
              </a:prstGeom>
              <a:blipFill>
                <a:blip r:embed="rId6"/>
                <a:stretch>
                  <a:fillRect l="-661" t="-1163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 flipV="1">
            <a:off x="7070651" y="4774018"/>
            <a:ext cx="255182" cy="15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58414" y="1920205"/>
                <a:ext cx="417646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 if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increased by 6 as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value increased by 2, 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increasing by for each unit increase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?</a:t>
                </a:r>
              </a:p>
              <a:p>
                <a:r>
                  <a:rPr lang="en-GB" dirty="0"/>
                  <a:t>How would that give us a suitable formula for the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414" y="1920205"/>
                <a:ext cx="4176464" cy="1477328"/>
              </a:xfrm>
              <a:prstGeom prst="rect">
                <a:avLst/>
              </a:prstGeom>
              <a:blipFill>
                <a:blip r:embed="rId7"/>
                <a:stretch>
                  <a:fillRect l="-1168" t="-2479" r="-438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5282" y="5305533"/>
                <a:ext cx="7968475" cy="14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Textbook Note:</a:t>
                </a:r>
              </a:p>
              <a:p>
                <a:r>
                  <a:rPr lang="en-GB" sz="1200" dirty="0"/>
                  <a:t>The textbook uses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1200" dirty="0"/>
                  <a:t> for two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200" dirty="0"/>
                  <a:t>. Reasons I don’t use it for non-algebraic coordinates: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Students often get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the wrong way round (or with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’s)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Students often make sign errors when dealing with negatives, 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</m:oMath>
                </a14:m>
                <a:endParaRPr lang="en-GB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It can’t be done as easily mentally,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Students see it as “yet another formula to learn” when really all you need is to appreciate is what gradient is, i.e. “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change per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change”.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82" y="5305533"/>
                <a:ext cx="7968475" cy="1469313"/>
              </a:xfrm>
              <a:prstGeom prst="rect">
                <a:avLst/>
              </a:prstGeom>
              <a:blipFill>
                <a:blip r:embed="rId8"/>
                <a:stretch>
                  <a:fillRect b="-2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6747562" y="3718780"/>
            <a:ext cx="844085" cy="9701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ECBD50-C8CC-0583-A836-CD1771FF77A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8" name="TextBox 32">
              <a:extLst>
                <a:ext uri="{FF2B5EF4-FFF2-40B4-BE49-F238E27FC236}">
                  <a16:creationId xmlns:a16="http://schemas.microsoft.com/office/drawing/2014/main" id="{78F0396A-51A8-3E1D-3BDC-0B3A1298972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 of gradient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7750D76-B4D2-FE40-78D0-A6E88ACC4B0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7198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24" grpId="0" animBg="1"/>
    </p:bldLst>
  </p:timing>
</p:sld>
</file>

<file path=ppt/c5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9336" y="1180278"/>
                <a:ext cx="45958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latin typeface="Cambria Math"/>
                            </a:rPr>
                            <m:t>1, 4</m:t>
                          </m:r>
                        </m:e>
                      </m:d>
                      <m:r>
                        <a:rPr lang="en-GB" sz="4000" b="0" i="1" smtClean="0">
                          <a:latin typeface="Cambria Math"/>
                        </a:rPr>
                        <m:t>    (3, 10)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6" y="1180278"/>
                <a:ext cx="4595886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47270" y="1246189"/>
                <a:ext cx="2808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𝑚</m:t>
                      </m:r>
                      <m:r>
                        <a:rPr lang="en-GB" sz="4000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70" y="1246189"/>
                <a:ext cx="280831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91286" y="2030775"/>
                <a:ext cx="2808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𝑚</m:t>
                      </m:r>
                      <m:r>
                        <a:rPr lang="en-GB" sz="4000" b="0" i="1" smtClean="0">
                          <a:latin typeface="Cambria Math"/>
                        </a:rPr>
                        <m:t>=−2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286" y="2030775"/>
                <a:ext cx="28083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0726" y="3112300"/>
                <a:ext cx="45958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latin typeface="Cambria Math"/>
                            </a:rPr>
                            <m:t>2, 2</m:t>
                          </m:r>
                        </m:e>
                      </m:d>
                      <m:r>
                        <a:rPr lang="en-GB" sz="4000" b="0" i="1" smtClean="0">
                          <a:latin typeface="Cambria Math"/>
                        </a:rPr>
                        <m:t>    (−1, 10)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26" y="3112300"/>
                <a:ext cx="459588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26450" y="2773055"/>
                <a:ext cx="2808312" cy="1248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𝑚</m:t>
                      </m:r>
                      <m:r>
                        <a:rPr lang="en-GB" sz="4000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b="0" i="1" smtClean="0"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GB" sz="4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450" y="2773055"/>
                <a:ext cx="2808312" cy="1248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078094" y="1312100"/>
            <a:ext cx="828093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" name="Rectangle 7"/>
          <p:cNvSpPr/>
          <p:nvPr/>
        </p:nvSpPr>
        <p:spPr>
          <a:xfrm>
            <a:off x="7075462" y="2096686"/>
            <a:ext cx="828093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9" name="Rectangle 8"/>
          <p:cNvSpPr/>
          <p:nvPr/>
        </p:nvSpPr>
        <p:spPr>
          <a:xfrm>
            <a:off x="7062761" y="2825972"/>
            <a:ext cx="828093" cy="11729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3883" y="2176196"/>
                <a:ext cx="45958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latin typeface="Cambria Math"/>
                            </a:rPr>
                            <m:t>5, 7</m:t>
                          </m:r>
                        </m:e>
                      </m:d>
                      <m:r>
                        <a:rPr lang="en-GB" sz="4000" b="0" i="1" smtClean="0">
                          <a:latin typeface="Cambria Math"/>
                        </a:rPr>
                        <m:t>    (8, 1)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3" y="2176196"/>
                <a:ext cx="4595886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12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02045" y="4130387"/>
                <a:ext cx="7113157" cy="2194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Show that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11,8</m:t>
                        </m:r>
                      </m:e>
                    </m:d>
                  </m:oMath>
                </a14:m>
                <a:r>
                  <a:rPr lang="en-GB" sz="2800" dirty="0"/>
                  <a:t> all lie on a straight line.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𝑩𝑪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r>
                  <a:rPr lang="en-GB" sz="2800" b="1" dirty="0"/>
                  <a:t>Gradients the same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2800" b="1" dirty="0"/>
                  <a:t> ‘collinear’.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45" y="4130387"/>
                <a:ext cx="7113157" cy="2194447"/>
              </a:xfrm>
              <a:prstGeom prst="rect">
                <a:avLst/>
              </a:prstGeom>
              <a:blipFill>
                <a:blip r:embed="rId8"/>
                <a:stretch>
                  <a:fillRect l="-1714" t="-2778" b="-69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95536" y="1337500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535" y="2317733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535" y="3255779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745" y="743496"/>
            <a:ext cx="6363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Find the gradient of the line that goes through the points: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834" y="4171718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4961" y="5529932"/>
            <a:ext cx="1852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If points are ‘collinear’ they lie on the same line.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070600" y="5945430"/>
            <a:ext cx="814361" cy="112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15616" y="5029200"/>
            <a:ext cx="7456884" cy="1397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3216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3" grpId="0" animBg="1"/>
    </p:bldLst>
  </p:timing>
</p:sld>
</file>

<file path=ppt/c5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0700" y="908720"/>
                <a:ext cx="8083748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line joining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2,−5</m:t>
                        </m:r>
                      </m:e>
                    </m:d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2400" dirty="0"/>
                  <a:t> has gradient -1. Work out the value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00" y="908720"/>
                <a:ext cx="8083748" cy="830997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55280" y="2005732"/>
                <a:ext cx="3456384" cy="2154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−−5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4−2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=−7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80" y="2005732"/>
                <a:ext cx="3456384" cy="21540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874394" y="1934400"/>
            <a:ext cx="2904106" cy="2243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60477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5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solidFill>
                  <a:srgbClr val="23305E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𝑚𝑥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1108" y="795164"/>
                <a:ext cx="86367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One form we can put a straight line equation in is:</a:t>
                </a:r>
              </a:p>
              <a:p>
                <a:endParaRPr lang="en-GB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08" y="795164"/>
                <a:ext cx="8636774" cy="1754326"/>
              </a:xfrm>
              <a:prstGeom prst="rect">
                <a:avLst/>
              </a:prstGeom>
              <a:blipFill>
                <a:blip r:embed="rId3"/>
                <a:stretch>
                  <a:fillRect l="-1835" t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11476" y="2844552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Gradient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381500" y="2387600"/>
            <a:ext cx="101600" cy="469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62476" y="2857500"/>
                <a:ext cx="1895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476" y="2857500"/>
                <a:ext cx="1895624" cy="461665"/>
              </a:xfrm>
              <a:prstGeom prst="rect">
                <a:avLst/>
              </a:prstGeom>
              <a:blipFill>
                <a:blip r:embed="rId4"/>
                <a:stretch>
                  <a:fillRect l="-965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 flipV="1">
            <a:off x="5943600" y="2476500"/>
            <a:ext cx="356592" cy="44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6300" y="3535040"/>
                <a:ext cx="81216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Why does it work?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The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b="1" dirty="0"/>
                  <a:t>-intercept by definition is the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b="1" dirty="0"/>
                  <a:t> value when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400" b="1" dirty="0"/>
                  <a:t>. Substituting:</a:t>
                </a:r>
                <a:br>
                  <a:rPr lang="en-GB" sz="2400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400" b="1" dirty="0"/>
                  <a:t> as expected.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By the definition of gradient, if we increase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400" b="1" dirty="0"/>
                  <a:t> by 1,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b="1" dirty="0"/>
                  <a:t> should increase by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400" b="1" dirty="0"/>
                  <a:t>:</a:t>
                </a:r>
                <a:br>
                  <a:rPr lang="en-GB" sz="2400" b="1" dirty="0"/>
                </a:b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which indeed has increased by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400" b="1" dirty="0"/>
                  <a:t>.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00" y="3535040"/>
                <a:ext cx="8121600" cy="3046988"/>
              </a:xfrm>
              <a:prstGeom prst="rect">
                <a:avLst/>
              </a:prstGeom>
              <a:blipFill>
                <a:blip r:embed="rId5"/>
                <a:stretch>
                  <a:fillRect l="-1126" t="-1600" b="-3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50294" y="3979100"/>
            <a:ext cx="8136506" cy="266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24121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c5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solidFill>
                  <a:srgbClr val="23305E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𝑚𝑥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536" y="908720"/>
                <a:ext cx="8280920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Determine the gradient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 of the line with equation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08720"/>
                <a:ext cx="8280920" cy="830997"/>
              </a:xfrm>
              <a:prstGeom prst="rect">
                <a:avLst/>
              </a:prstGeom>
              <a:blipFill>
                <a:blip r:embed="rId3"/>
                <a:stretch>
                  <a:fillRect b="-62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63568" y="1925340"/>
                <a:ext cx="2069232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Make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the subject so we have the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Put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on the side it’s positive.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568" y="1925340"/>
                <a:ext cx="2069232" cy="1323439"/>
              </a:xfrm>
              <a:prstGeom prst="rect">
                <a:avLst/>
              </a:prstGeom>
              <a:blipFill>
                <a:blip r:embed="rId4"/>
                <a:stretch>
                  <a:fillRect l="-1166" t="-452" b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50268" y="1993156"/>
                <a:ext cx="4176464" cy="2594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68" y="1993156"/>
                <a:ext cx="4176464" cy="2594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63568" y="3407247"/>
                <a:ext cx="2069232" cy="118397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Divide </a:t>
                </a:r>
                <a:r>
                  <a:rPr lang="en-GB" sz="1600" b="1" u="sng" dirty="0"/>
                  <a:t>each</a:t>
                </a:r>
                <a:r>
                  <a:rPr lang="en-GB" sz="1600" dirty="0"/>
                  <a:t> term by 3; don’t write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600" dirty="0"/>
                  <a:t> otherwise it’s not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568" y="3407247"/>
                <a:ext cx="2069232" cy="1183978"/>
              </a:xfrm>
              <a:prstGeom prst="rect">
                <a:avLst/>
              </a:prstGeom>
              <a:blipFill>
                <a:blip r:embed="rId6"/>
                <a:stretch>
                  <a:fillRect l="-1166" t="-505" r="-1749" b="-5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6" idx="1"/>
          </p:cNvCxnSpPr>
          <p:nvPr/>
        </p:nvCxnSpPr>
        <p:spPr>
          <a:xfrm flipH="1" flipV="1">
            <a:off x="5508104" y="2276875"/>
            <a:ext cx="855464" cy="310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5511800" y="2921000"/>
            <a:ext cx="851768" cy="72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63568" y="4763385"/>
            <a:ext cx="2069232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is algebra, so use improper fractions, and not mixed numbers or recurring decimals.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5473700" y="4191000"/>
            <a:ext cx="878408" cy="1244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75656" y="1845500"/>
            <a:ext cx="3662536" cy="4377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48047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7" grpId="0" animBg="1"/>
    </p:bldLst>
  </p:timing>
</p:sld>
</file>

<file path=ppt/c5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solidFill>
                  <a:srgbClr val="23305E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2660" y="900336"/>
                <a:ext cx="786576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At GCSE,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𝒎𝒙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000" b="1" dirty="0"/>
                  <a:t> </a:t>
                </a:r>
                <a:r>
                  <a:rPr lang="en-GB" sz="2000" dirty="0"/>
                  <a:t>was the main form you would express a straight line equation, sometimes known as the ‘</a:t>
                </a:r>
                <a:r>
                  <a:rPr lang="en-GB" sz="2000" b="1" dirty="0"/>
                  <a:t>slope-intercept form</a:t>
                </a:r>
                <a:r>
                  <a:rPr lang="en-GB" sz="2000" dirty="0"/>
                  <a:t>’. </a:t>
                </a:r>
              </a:p>
              <a:p>
                <a:r>
                  <a:rPr lang="en-GB" sz="2000" dirty="0"/>
                  <a:t>But another common form is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are integers. This is known as the ‘</a:t>
                </a:r>
                <a:r>
                  <a:rPr lang="en-GB" sz="2000" b="1" dirty="0"/>
                  <a:t>standard</a:t>
                </a:r>
                <a:r>
                  <a:rPr lang="en-GB" sz="2000" dirty="0"/>
                  <a:t>’ form.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60" y="900336"/>
                <a:ext cx="7865764" cy="1323439"/>
              </a:xfrm>
              <a:prstGeom prst="rect">
                <a:avLst/>
              </a:prstGeom>
              <a:blipFill>
                <a:blip r:embed="rId3"/>
                <a:stretch>
                  <a:fillRect l="-853" t="-2765" r="-1085" b="-73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0883" y="2502086"/>
                <a:ext cx="8316415" cy="52918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are integers.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83" y="2502086"/>
                <a:ext cx="8316415" cy="529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75361" y="3247008"/>
                <a:ext cx="36724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361" y="3247008"/>
                <a:ext cx="3672408" cy="707886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202684" y="3247008"/>
            <a:ext cx="367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 don’t want fractions, so multiply by an appropriate number.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40784" y="4058687"/>
                <a:ext cx="3674616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everything on either side of equation.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r>
                  <a:rPr lang="en-GB" sz="1600" dirty="0"/>
                  <a:t> would also be OK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784" y="4058687"/>
                <a:ext cx="3674616" cy="615553"/>
              </a:xfrm>
              <a:prstGeom prst="rect">
                <a:avLst/>
              </a:prstGeom>
              <a:blipFill>
                <a:blip r:embed="rId6"/>
                <a:stretch>
                  <a:fillRect l="-995" t="-2970" r="-498" b="-14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4355976" y="3519377"/>
            <a:ext cx="800815" cy="125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4355976" y="3917393"/>
            <a:ext cx="738301" cy="37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29872" y="3140968"/>
            <a:ext cx="8347427" cy="1533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44080" y="5622389"/>
                <a:ext cx="500972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We’ll see on the next slide WHY we might want to put an equation in this form over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…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080" y="5622389"/>
                <a:ext cx="5009728" cy="646331"/>
              </a:xfrm>
              <a:prstGeom prst="rect">
                <a:avLst/>
              </a:prstGeom>
              <a:blipFill>
                <a:blip r:embed="rId7"/>
                <a:stretch>
                  <a:fillRect l="-726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19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c5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4499993" y="3109770"/>
            <a:ext cx="4569578" cy="29610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/>
          <p:cNvSpPr/>
          <p:nvPr/>
        </p:nvSpPr>
        <p:spPr>
          <a:xfrm rot="3008957">
            <a:off x="4236718" y="2149814"/>
            <a:ext cx="310919" cy="142276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/>
          <p:cNvSpPr/>
          <p:nvPr/>
        </p:nvSpPr>
        <p:spPr>
          <a:xfrm rot="4311916">
            <a:off x="3389608" y="1168714"/>
            <a:ext cx="187357" cy="32078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8658" y="698785"/>
                <a:ext cx="61926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Why might we want to put a straight line equation in the form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800" dirty="0"/>
                  <a:t>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8" y="698785"/>
                <a:ext cx="6192688" cy="954107"/>
              </a:xfrm>
              <a:prstGeom prst="rect">
                <a:avLst/>
              </a:prstGeom>
              <a:blipFill>
                <a:blip r:embed="rId2"/>
                <a:stretch>
                  <a:fillRect l="-886" t="-6410" r="-2264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49419" y="1800894"/>
                <a:ext cx="2520280" cy="8640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dirty="0"/>
                  <a:t>“Slope-Intercept Form”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19" y="1800894"/>
                <a:ext cx="2520280" cy="864096"/>
              </a:xfrm>
              <a:prstGeom prst="rect">
                <a:avLst/>
              </a:prstGeom>
              <a:blipFill>
                <a:blip r:embed="rId4"/>
                <a:stretch>
                  <a:fillRect b="-20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12952" y="1816635"/>
                <a:ext cx="2520280" cy="8640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400" b="0" dirty="0"/>
              </a:p>
              <a:p>
                <a:pPr algn="ctr"/>
                <a:r>
                  <a:rPr lang="en-GB" dirty="0"/>
                  <a:t>“Standard Form”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52" y="1816635"/>
                <a:ext cx="2520280" cy="864096"/>
              </a:xfrm>
              <a:prstGeom prst="rect">
                <a:avLst/>
              </a:prstGeom>
              <a:blipFill>
                <a:blip r:embed="rId5"/>
                <a:stretch>
                  <a:fillRect b="-20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1409" y="3396849"/>
                <a:ext cx="1696295" cy="166199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Coverage</a:t>
                </a:r>
              </a:p>
              <a:p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300" dirty="0"/>
                  <a:t> doesn’t allow you to represent vertical lines. Standard form allows us to do this by just making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300" dirty="0"/>
                  <a:t> zero.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09" y="3396849"/>
                <a:ext cx="1696295" cy="1661993"/>
              </a:xfrm>
              <a:prstGeom prst="rect">
                <a:avLst/>
              </a:prstGeom>
              <a:blipFill>
                <a:blip r:embed="rId6"/>
                <a:stretch>
                  <a:fillRect l="-6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1083264" y="5247310"/>
            <a:ext cx="0" cy="11521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rot="16200000">
                <a:off x="286530" y="5627960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6530" y="5627960"/>
                <a:ext cx="12241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13845" y="3409043"/>
                <a:ext cx="2150949" cy="24622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Symmetry</a:t>
                </a:r>
              </a:p>
              <a:p>
                <a:r>
                  <a:rPr lang="en-GB" sz="1300" dirty="0"/>
                  <a:t>In general, the ‘</a:t>
                </a:r>
                <a:r>
                  <a:rPr lang="en-GB" sz="1300" b="1" dirty="0"/>
                  <a:t>linear combination</a:t>
                </a:r>
                <a:r>
                  <a:rPr lang="en-GB" sz="1300" dirty="0"/>
                  <a:t>’ of two variables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 and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 is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GB" sz="1300" dirty="0"/>
                  <a:t>, i.e. “some amount of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 and some amount of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”. There is a greater elegance and symmetry to this form over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300" dirty="0"/>
                  <a:t> because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 and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 appear similarly within the expression.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45" y="3409043"/>
                <a:ext cx="2150949" cy="2462213"/>
              </a:xfrm>
              <a:prstGeom prst="rect">
                <a:avLst/>
              </a:prstGeom>
              <a:blipFill>
                <a:blip r:embed="rId8"/>
                <a:stretch>
                  <a:fillRect l="-2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00773" y="3101977"/>
                <a:ext cx="2234637" cy="296106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Usefulness</a:t>
                </a:r>
              </a:p>
              <a:p>
                <a:r>
                  <a:rPr lang="en-GB" sz="1300" dirty="0"/>
                  <a:t>This more ‘elegant’ form also means it ties in with vectors and matrices. In FM, you will learn about the ‘</a:t>
                </a:r>
                <a:r>
                  <a:rPr lang="en-GB" sz="1300" b="1" dirty="0"/>
                  <a:t>dot product</a:t>
                </a:r>
                <a:r>
                  <a:rPr lang="en-GB" sz="1300" dirty="0"/>
                  <a:t>’ of two vectors: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GB" sz="1300" dirty="0"/>
              </a:p>
              <a:p>
                <a:pPr/>
                <a:r>
                  <a:rPr lang="en-GB" sz="1300" dirty="0"/>
                  <a:t>thus since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300" dirty="0"/>
                  <a:t>, we can represent a straight line using: </a:t>
                </a:r>
                <a:br>
                  <a:rPr lang="en-GB" sz="13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=0       (1)</m:t>
                      </m:r>
                    </m:oMath>
                  </m:oMathPara>
                </a14:m>
                <a:endParaRPr lang="en-GB" sz="13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773" y="3101977"/>
                <a:ext cx="2234637" cy="2961067"/>
              </a:xfrm>
              <a:prstGeom prst="rect">
                <a:avLst/>
              </a:prstGeom>
              <a:blipFill>
                <a:blip r:embed="rId9"/>
                <a:stretch>
                  <a:fillRect l="-4087" t="-1646"/>
                </a:stretch>
              </a:blipFill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/>
          <p:cNvSpPr/>
          <p:nvPr/>
        </p:nvSpPr>
        <p:spPr>
          <a:xfrm rot="19791647">
            <a:off x="6236031" y="2586666"/>
            <a:ext cx="348982" cy="6899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666614" y="3439379"/>
                <a:ext cx="2371059" cy="2533899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1300" dirty="0"/>
                  <a:t>We can extend to 3D points to get the equation of a </a:t>
                </a:r>
                <a:r>
                  <a:rPr lang="en-GB" sz="1300" b="1" dirty="0"/>
                  <a:t>plane</a:t>
                </a:r>
                <a:r>
                  <a:rPr lang="en-GB" sz="13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3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300" i="1">
                          <a:latin typeface="Cambria Math" panose="02040503050406030204" pitchFamily="18" charset="0"/>
                        </a:rPr>
                        <m:t>=0        (2)</m:t>
                      </m:r>
                    </m:oMath>
                  </m:oMathPara>
                </a14:m>
                <a:endParaRPr lang="en-GB" sz="1300" b="1" dirty="0"/>
              </a:p>
              <a:p>
                <a:r>
                  <a:rPr lang="en-GB" sz="1300" dirty="0"/>
                  <a:t>Conveniently, in equation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sz="1300" dirty="0"/>
                  <a:t>, the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/>
                          </m:mr>
                          <m:mr>
                            <m:e/>
                          </m:mr>
                        </m:m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300" dirty="0"/>
                  <a:t> is </a:t>
                </a:r>
                <a:r>
                  <a:rPr lang="en-GB" sz="1300" b="1" dirty="0"/>
                  <a:t>perpendicular to the line</a:t>
                </a:r>
                <a:r>
                  <a:rPr lang="en-GB" sz="1300" dirty="0"/>
                  <a:t>. And in equation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GB" sz="1300" dirty="0"/>
                  <a:t>, the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300" dirty="0"/>
                  <a:t> is perpendicular to the plane. Nice!</a:t>
                </a:r>
                <a:endParaRPr lang="en-GB" sz="15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614" y="3439379"/>
                <a:ext cx="2371059" cy="2533899"/>
              </a:xfrm>
              <a:prstGeom prst="rect">
                <a:avLst/>
              </a:prstGeom>
              <a:blipFill>
                <a:blip r:embed="rId10"/>
                <a:stretch>
                  <a:fillRect l="-514" t="-240" r="-1799" b="-1202"/>
                </a:stretch>
              </a:blipFill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648646" y="3109770"/>
            <a:ext cx="85984" cy="2733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/>
          <p:cNvCxnSpPr/>
          <p:nvPr/>
        </p:nvCxnSpPr>
        <p:spPr>
          <a:xfrm>
            <a:off x="6635393" y="3432311"/>
            <a:ext cx="0" cy="2497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285317" y="6178963"/>
                <a:ext cx="1392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317" y="6178963"/>
                <a:ext cx="1392807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986195" y="6097495"/>
                <a:ext cx="1488493" cy="555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195" y="6097495"/>
                <a:ext cx="1488493" cy="5555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/>
          <p:cNvSpPr/>
          <p:nvPr/>
        </p:nvSpPr>
        <p:spPr>
          <a:xfrm>
            <a:off x="5703271" y="6261491"/>
            <a:ext cx="280699" cy="18520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Right 27"/>
          <p:cNvSpPr/>
          <p:nvPr/>
        </p:nvSpPr>
        <p:spPr>
          <a:xfrm>
            <a:off x="7528121" y="6272124"/>
            <a:ext cx="280699" cy="18520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373685" y="6322864"/>
                <a:ext cx="455830" cy="39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85" y="6322864"/>
                <a:ext cx="455830" cy="399084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8041388" y="6177673"/>
            <a:ext cx="277112" cy="5580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rot="3786957">
                <a:off x="7651294" y="6348274"/>
                <a:ext cx="83763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86957">
                <a:off x="7651294" y="6348274"/>
                <a:ext cx="837637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8205344" y="6326626"/>
            <a:ext cx="352496" cy="19162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8265319" y="6372225"/>
            <a:ext cx="46037" cy="9163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8174831" y="6369844"/>
            <a:ext cx="88107" cy="45244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43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 animBg="1"/>
      <p:bldP spid="10" grpId="0" animBg="1"/>
      <p:bldP spid="8" grpId="0" animBg="1"/>
      <p:bldP spid="9" grpId="0" animBg="1"/>
      <p:bldP spid="11" grpId="0" animBg="1"/>
      <p:bldP spid="14" grpId="0"/>
      <p:bldP spid="16" grpId="0" animBg="1"/>
      <p:bldP spid="17" grpId="0"/>
      <p:bldP spid="18" grpId="0" animBg="1"/>
      <p:bldP spid="19" grpId="0"/>
      <p:bldP spid="20" grpId="0"/>
      <p:bldP spid="25" grpId="0"/>
      <p:bldP spid="26" grpId="0"/>
      <p:bldP spid="27" grpId="0" animBg="1"/>
      <p:bldP spid="28" grpId="0" animBg="1"/>
      <p:bldP spid="29" grpId="0"/>
      <p:bldP spid="32" grpId="0"/>
    </p:bldLst>
  </p:timing>
</p:sld>
</file>

<file path=ppt/c5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3083" y="939986"/>
                <a:ext cx="8316415" cy="52950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are integers.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3" y="939986"/>
                <a:ext cx="8316415" cy="5295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79712" y="1988840"/>
                <a:ext cx="46085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988840"/>
                <a:ext cx="4608512" cy="830997"/>
              </a:xfrm>
              <a:prstGeom prst="rect">
                <a:avLst/>
              </a:prstGeom>
              <a:blipFill>
                <a:blip r:embed="rId3"/>
                <a:stretch>
                  <a:fillRect b="-94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333273" y="1820168"/>
            <a:ext cx="476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8530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5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5A – Pure Y1 Page 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70487DB-E65F-F494-E151-018EF7ADC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16832"/>
            <a:ext cx="3888432" cy="3566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81C268-7854-B515-73F3-06DF0BC8F5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60"/>
          <a:stretch/>
        </p:blipFill>
        <p:spPr>
          <a:xfrm>
            <a:off x="216024" y="787012"/>
            <a:ext cx="4283968" cy="6635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C771D4-840F-4C88-96F8-9A78345E6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789" y="1553663"/>
            <a:ext cx="3653931" cy="503607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A15D0E1-381D-F519-B135-9D14C0F18CC2}"/>
              </a:ext>
            </a:extLst>
          </p:cNvPr>
          <p:cNvSpPr/>
          <p:nvPr/>
        </p:nvSpPr>
        <p:spPr>
          <a:xfrm>
            <a:off x="4860032" y="1618615"/>
            <a:ext cx="4145931" cy="5036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AFA0CC-6BD0-7926-1510-B36AD7C16D68}"/>
              </a:ext>
            </a:extLst>
          </p:cNvPr>
          <p:cNvSpPr/>
          <p:nvPr/>
        </p:nvSpPr>
        <p:spPr>
          <a:xfrm>
            <a:off x="216025" y="1618615"/>
            <a:ext cx="4283968" cy="5036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4B131F-4217-C7DD-7548-B0C962879E8E}"/>
              </a:ext>
            </a:extLst>
          </p:cNvPr>
          <p:cNvGrpSpPr/>
          <p:nvPr/>
        </p:nvGrpSpPr>
        <p:grpSpPr>
          <a:xfrm>
            <a:off x="4905262" y="764704"/>
            <a:ext cx="3987218" cy="685896"/>
            <a:chOff x="4905262" y="832541"/>
            <a:chExt cx="3987218" cy="6858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2F62A9E-A128-F13A-81ED-217A3953F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5262" y="832541"/>
              <a:ext cx="3896269" cy="685896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A96E30-8E5E-A8DB-4ADE-D7B49442E165}"/>
                </a:ext>
              </a:extLst>
            </p:cNvPr>
            <p:cNvSpPr/>
            <p:nvPr/>
          </p:nvSpPr>
          <p:spPr>
            <a:xfrm>
              <a:off x="8316416" y="1124744"/>
              <a:ext cx="576064" cy="3639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6996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c5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5B – Pure Y1 Page 92-93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DD1B2DA-B12E-0FE3-6612-BC9CDE8CD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" y="627114"/>
            <a:ext cx="4289331" cy="7631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57E23E-8506-E9D1-700A-6A2B8240B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39" y="599127"/>
            <a:ext cx="3822948" cy="637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EA9AD-ADDE-9A92-1442-37F48CE43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509512"/>
            <a:ext cx="2304256" cy="2516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F2C1F-1916-5093-A6E7-2066CD21D6FD}"/>
              </a:ext>
            </a:extLst>
          </p:cNvPr>
          <p:cNvSpPr/>
          <p:nvPr/>
        </p:nvSpPr>
        <p:spPr>
          <a:xfrm>
            <a:off x="467544" y="1490242"/>
            <a:ext cx="2947090" cy="12906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270B40-9572-4CB8-878B-CC10AD11915F}"/>
              </a:ext>
            </a:extLst>
          </p:cNvPr>
          <p:cNvSpPr/>
          <p:nvPr/>
        </p:nvSpPr>
        <p:spPr>
          <a:xfrm>
            <a:off x="467544" y="2767757"/>
            <a:ext cx="2947090" cy="12906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5624B4-BFB5-1A53-D3CD-180971E42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1445299"/>
            <a:ext cx="1854200" cy="1447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CA98044-8C92-BB3A-7915-A606DD0E7470}"/>
              </a:ext>
            </a:extLst>
          </p:cNvPr>
          <p:cNvSpPr/>
          <p:nvPr/>
        </p:nvSpPr>
        <p:spPr>
          <a:xfrm>
            <a:off x="4932040" y="1390246"/>
            <a:ext cx="2304256" cy="14477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C269C6-3A7C-D42A-98E0-F6532099D075}"/>
              </a:ext>
            </a:extLst>
          </p:cNvPr>
          <p:cNvGrpSpPr/>
          <p:nvPr/>
        </p:nvGrpSpPr>
        <p:grpSpPr>
          <a:xfrm>
            <a:off x="282096" y="4221088"/>
            <a:ext cx="4289332" cy="864096"/>
            <a:chOff x="282096" y="4221088"/>
            <a:chExt cx="4289332" cy="8640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628B34D-7891-E9B7-F9FB-255DD764F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096" y="4221088"/>
              <a:ext cx="4289332" cy="822721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4DFC17-654E-E2A4-A0B4-23FF4338F1DC}"/>
                </a:ext>
              </a:extLst>
            </p:cNvPr>
            <p:cNvSpPr/>
            <p:nvPr/>
          </p:nvSpPr>
          <p:spPr>
            <a:xfrm>
              <a:off x="3707904" y="4653136"/>
              <a:ext cx="86352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A5DD8AF-D03F-6EF5-345D-73EB8FAF9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34" y="5071958"/>
            <a:ext cx="2933700" cy="1727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6A4D4E-2CFF-7015-7191-DBD06C2685AC}"/>
              </a:ext>
            </a:extLst>
          </p:cNvPr>
          <p:cNvSpPr/>
          <p:nvPr/>
        </p:nvSpPr>
        <p:spPr>
          <a:xfrm>
            <a:off x="467544" y="5063357"/>
            <a:ext cx="2947090" cy="173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9768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8" grpId="0" animBg="1"/>
    </p:bldLst>
  </p:timing>
</p:sld>
</file>

<file path=ppt/c5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5B – Pure Y1 Page 92-93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0C97F4D-8F4B-9DC5-B723-3A85F6DB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8" y="613064"/>
            <a:ext cx="7772400" cy="6362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BBB547-D892-1624-52F1-7DA7AA52B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40768"/>
            <a:ext cx="2480643" cy="1811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EAE9566-F96D-7B37-C1C0-5A82BA985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28" y="1390530"/>
            <a:ext cx="2637647" cy="181194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225977-1466-26DA-3467-F6C02F18D383}"/>
              </a:ext>
            </a:extLst>
          </p:cNvPr>
          <p:cNvCxnSpPr/>
          <p:nvPr/>
        </p:nvCxnSpPr>
        <p:spPr>
          <a:xfrm>
            <a:off x="3851920" y="1365649"/>
            <a:ext cx="0" cy="176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F732187-2C5D-64FB-5D83-E2464AB6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30" y="4940713"/>
            <a:ext cx="3454400" cy="1308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B56524-13DC-9016-6077-C864BE697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37" y="4940713"/>
            <a:ext cx="3517900" cy="14605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3040B23-E194-1D3B-F624-51A61BE0F483}"/>
              </a:ext>
            </a:extLst>
          </p:cNvPr>
          <p:cNvSpPr/>
          <p:nvPr/>
        </p:nvSpPr>
        <p:spPr>
          <a:xfrm>
            <a:off x="460275" y="1314773"/>
            <a:ext cx="7425642" cy="19140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2A0800-9A53-E29F-20AC-CB78B9E3B61E}"/>
              </a:ext>
            </a:extLst>
          </p:cNvPr>
          <p:cNvSpPr/>
          <p:nvPr/>
        </p:nvSpPr>
        <p:spPr>
          <a:xfrm>
            <a:off x="460275" y="4915475"/>
            <a:ext cx="3517900" cy="14604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F78D3-8039-3DE3-D787-869170224444}"/>
              </a:ext>
            </a:extLst>
          </p:cNvPr>
          <p:cNvSpPr/>
          <p:nvPr/>
        </p:nvSpPr>
        <p:spPr>
          <a:xfrm>
            <a:off x="4371700" y="4915474"/>
            <a:ext cx="3517900" cy="14604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73B0594-9B72-73BD-EAC8-1C54B4B0D54F}"/>
              </a:ext>
            </a:extLst>
          </p:cNvPr>
          <p:cNvGrpSpPr/>
          <p:nvPr/>
        </p:nvGrpSpPr>
        <p:grpSpPr>
          <a:xfrm>
            <a:off x="147978" y="3415055"/>
            <a:ext cx="8024422" cy="1238081"/>
            <a:chOff x="147978" y="3415055"/>
            <a:chExt cx="8024422" cy="123808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B1224DC-B3C2-1547-8BFA-16E94A9E5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978" y="3415055"/>
              <a:ext cx="7772400" cy="1238081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A354F8-5305-33B3-EBAB-145AC856F4BD}"/>
                </a:ext>
              </a:extLst>
            </p:cNvPr>
            <p:cNvSpPr/>
            <p:nvPr/>
          </p:nvSpPr>
          <p:spPr>
            <a:xfrm>
              <a:off x="7740352" y="4221088"/>
              <a:ext cx="432048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6559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c5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Equations using two points/point + gradient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3083" y="939986"/>
                <a:ext cx="831641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line that goes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</m:oMath>
                </a14:m>
                <a:r>
                  <a:rPr lang="en-GB" sz="2000" dirty="0"/>
                  <a:t> and has gradient 2.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3" y="939986"/>
                <a:ext cx="8316415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3083" y="1628800"/>
            <a:ext cx="6349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How would you have done this at </a:t>
            </a:r>
            <a:r>
              <a:rPr lang="en-GB" sz="2400" b="1" u="sng" dirty="0"/>
              <a:t>GCSE</a:t>
            </a:r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87499" y="2636912"/>
                <a:ext cx="736785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If gradient is 2, then equation of the line is of the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2400" b="1" dirty="0"/>
              </a:p>
              <a:p>
                <a:r>
                  <a:rPr lang="en-GB" sz="2400" b="1" dirty="0"/>
                  <a:t>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GB" sz="2400" b="1" dirty="0"/>
                  <a:t> is on the line, it must satisfy this equation. 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99" y="2636912"/>
                <a:ext cx="7367858" cy="2677656"/>
              </a:xfrm>
              <a:prstGeom prst="rect">
                <a:avLst/>
              </a:prstGeom>
              <a:blipFill>
                <a:blip r:embed="rId3"/>
                <a:stretch>
                  <a:fillRect l="-1325" t="-1822" b="-11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94973" y="2531368"/>
            <a:ext cx="7560384" cy="3129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60039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5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 new way…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Arrow Connector 5"/>
          <p:cNvCxnSpPr/>
          <p:nvPr/>
        </p:nvCxnSpPr>
        <p:spPr>
          <a:xfrm flipV="1">
            <a:off x="984300" y="1078012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984300" y="2950220"/>
            <a:ext cx="2664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72396" y="2747020"/>
                <a:ext cx="419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396" y="2747020"/>
                <a:ext cx="4193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4626" y="742647"/>
                <a:ext cx="419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26" y="742647"/>
                <a:ext cx="41934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V="1">
            <a:off x="984300" y="1255499"/>
            <a:ext cx="2219548" cy="94936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339231" y="1959347"/>
            <a:ext cx="122857" cy="129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689126" y="1365151"/>
            <a:ext cx="122857" cy="129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45171" y="1959347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171" y="1959347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 r="-57831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748297" y="14602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297" y="1460229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 r="-21687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83968" y="927313"/>
                <a:ext cx="4176464" cy="3104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is some fixed point on the line that we specify (e.g.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(3,5)</m:t>
                    </m:r>
                  </m:oMath>
                </a14:m>
                <a:r>
                  <a:rPr lang="en-GB" dirty="0"/>
                  <a:t>).</a:t>
                </a:r>
              </a:p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represents a generic point on the line, which is allowed to change as we consider different points on this line.</a:t>
                </a:r>
              </a:p>
              <a:p>
                <a:r>
                  <a:rPr lang="en-GB" dirty="0"/>
                  <a:t>Then: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r>
                  <a:rPr lang="en-GB" dirty="0"/>
                  <a:t>Thus: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927313"/>
                <a:ext cx="4176464" cy="3104953"/>
              </a:xfrm>
              <a:prstGeom prst="rect">
                <a:avLst/>
              </a:prstGeom>
              <a:blipFill>
                <a:blip r:embed="rId6"/>
                <a:stretch>
                  <a:fillRect l="-1314" t="-982" b="-2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499992" y="4077072"/>
                <a:ext cx="4176464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>
                    <a:latin typeface="+mj-lt"/>
                  </a:rPr>
                  <a:t> The equation of a line that has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b="0" dirty="0">
                    <a:latin typeface="+mj-lt"/>
                  </a:rPr>
                  <a:t> and passes through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b="0" dirty="0">
                    <a:latin typeface="+mj-lt"/>
                  </a:rPr>
                  <a:t>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077072"/>
                <a:ext cx="4176464" cy="923330"/>
              </a:xfrm>
              <a:prstGeom prst="rect">
                <a:avLst/>
              </a:prstGeom>
              <a:blipFill>
                <a:blip r:embed="rId7"/>
                <a:stretch>
                  <a:fillRect l="-871" t="-3226" r="-1161" b="-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15793" y="2973567"/>
                <a:ext cx="330817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Notes</a:t>
                </a:r>
                <a:r>
                  <a:rPr lang="en-GB" sz="1400" dirty="0"/>
                  <a:t>: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400" dirty="0"/>
                  <a:t> are </a:t>
                </a:r>
                <a:r>
                  <a:rPr lang="en-GB" sz="1400" u="sng" dirty="0"/>
                  <a:t>constants</a:t>
                </a:r>
                <a:r>
                  <a:rPr lang="en-GB" sz="1400" dirty="0"/>
                  <a:t> while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are </a:t>
                </a:r>
                <a:r>
                  <a:rPr lang="en-GB" sz="1400" u="sng" dirty="0"/>
                  <a:t>variables</a:t>
                </a:r>
                <a:r>
                  <a:rPr lang="en-GB" sz="1400" dirty="0"/>
                  <a:t>. The latter are variables because as these ‘vary’, we get different points on the line.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93" y="2973567"/>
                <a:ext cx="3308176" cy="954107"/>
              </a:xfrm>
              <a:prstGeom prst="rect">
                <a:avLst/>
              </a:prstGeom>
              <a:blipFill>
                <a:blip r:embed="rId8"/>
                <a:stretch>
                  <a:fillRect l="-552" t="-1282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552" y="5521033"/>
                <a:ext cx="831641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line that goes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</m:oMath>
                </a14:m>
                <a:r>
                  <a:rPr lang="en-GB" sz="2000" dirty="0"/>
                  <a:t> and has gradient 2.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521033"/>
                <a:ext cx="8316415" cy="400110"/>
              </a:xfrm>
              <a:prstGeom prst="rect">
                <a:avLst/>
              </a:prstGeom>
              <a:blipFill>
                <a:blip r:embed="rId9"/>
                <a:stretch>
                  <a:fillRect b="-674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84502" y="5130010"/>
            <a:ext cx="164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Let’s revisit: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184122" y="6023253"/>
                <a:ext cx="2048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122" y="6023253"/>
                <a:ext cx="2048049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296404" y="5963370"/>
                <a:ext cx="28587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No manipulation required! Just plug in numbers and we’re done.</a:t>
                </a:r>
              </a:p>
              <a:p>
                <a:r>
                  <a:rPr lang="en-GB" sz="1200" dirty="0"/>
                  <a:t>Again, note that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are variables so need to remain as such.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404" y="5963370"/>
                <a:ext cx="2858767" cy="830997"/>
              </a:xfrm>
              <a:prstGeom prst="rect">
                <a:avLst/>
              </a:prstGeom>
              <a:blipFill>
                <a:blip r:embed="rId11"/>
                <a:stretch>
                  <a:fillRect l="-213" b="-4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6277066" y="2786550"/>
            <a:ext cx="1428755" cy="10233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503" y="5942835"/>
            <a:ext cx="8271464" cy="7663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73074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 animBg="1"/>
      <p:bldP spid="24" grpId="0"/>
      <p:bldP spid="25" grpId="0"/>
      <p:bldP spid="26" grpId="0"/>
      <p:bldP spid="27" grpId="0" animBg="1"/>
      <p:bldP spid="28" grpId="0" animBg="1"/>
      <p:bldP spid="28" grpId="1" animBg="1"/>
    </p:bldLst>
  </p:timing>
</p:sld>
</file>

<file path=ppt/c5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827584" y="764704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a nutshell: You can use this formula whenever you have (a) a gradient and (b) any point on the line.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403648" y="1844824"/>
              <a:ext cx="6538532" cy="245922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745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(</a:t>
                          </a:r>
                          <a:r>
                            <a:rPr lang="en-GB" dirty="0" err="1"/>
                            <a:t>Unsimplified</a:t>
                          </a:r>
                          <a:r>
                            <a:rPr lang="en-GB" dirty="0"/>
                            <a:t>) Equation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b="1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3,0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d>
                                  <m:d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b="1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−3,4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b="1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1,−5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b="1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−4,−4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d>
                                  <m:d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b="1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1235302"/>
                  </p:ext>
                </p:extLst>
              </p:nvPr>
            </p:nvGraphicFramePr>
            <p:xfrm>
              <a:off x="1403648" y="1844824"/>
              <a:ext cx="6538532" cy="245922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32000"/>
                    <a:gridCol w="2032000"/>
                    <a:gridCol w="2474532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Gradient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Point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(</a:t>
                          </a:r>
                          <a:r>
                            <a:rPr lang="en-GB" dirty="0" err="1" smtClean="0"/>
                            <a:t>Unsimplified</a:t>
                          </a:r>
                          <a:r>
                            <a:rPr lang="en-GB" dirty="0" smtClean="0"/>
                            <a:t>) Equation</a:t>
                          </a:r>
                          <a:endParaRPr lang="en-GB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" t="-108197" r="-223724" b="-4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108197" r="-123054" b="-4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64532" t="-108197" r="-1232" b="-46885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" t="-208197" r="-223724" b="-3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208197" r="-123054" b="-3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64532" t="-208197" r="-1232" b="-36885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" t="-308197" r="-223724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308197" r="-123054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64532" t="-308197" r="-1232" b="-268852"/>
                          </a:stretch>
                        </a:blipFill>
                      </a:tcPr>
                    </a:tc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" t="-249000" r="-223724" b="-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249000" r="-123054" b="-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64532" t="-249000" r="-1232" b="-64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" t="-572131" r="-223724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72131" r="-123054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64532" t="-572131" r="-1232" b="-491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5478544" y="2201358"/>
            <a:ext cx="2449841" cy="369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8543" y="2571078"/>
            <a:ext cx="2449841" cy="369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8543" y="2940798"/>
            <a:ext cx="2449841" cy="369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78543" y="3315355"/>
            <a:ext cx="2449841" cy="587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8542" y="3902699"/>
            <a:ext cx="2449841" cy="4216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274" y="5135413"/>
            <a:ext cx="76701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Important Side Note</a:t>
            </a:r>
            <a:r>
              <a:rPr lang="en-GB" sz="1600" dirty="0"/>
              <a:t>: I’ve found that many students shun this formula and just use the GCSE method. Please persist with it – it’ll be much easier when fractions are involved.</a:t>
            </a:r>
          </a:p>
          <a:p>
            <a:r>
              <a:rPr lang="en-GB" sz="1600" dirty="0"/>
              <a:t>Further Mathematicians, </a:t>
            </a:r>
            <a:r>
              <a:rPr lang="en-GB" sz="1600" u="sng" dirty="0"/>
              <a:t>don’t even think</a:t>
            </a:r>
            <a:r>
              <a:rPr lang="en-GB" sz="1600" dirty="0"/>
              <a:t> about using the GCSE method, because you’ll encounter massive headaches when you consider algebraic points. Trust me on this one!</a:t>
            </a:r>
          </a:p>
        </p:txBody>
      </p:sp>
    </p:spTree>
    <p:extLst>
      <p:ext uri="{BB962C8B-B14F-4D97-AF65-F5344CB8AC3E}">
        <p14:creationId xmlns:p14="http://schemas.microsoft.com/office/powerpoint/2010/main" val="365801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</p:bldLst>
  </p:timing>
</p:sld>
</file>

<file path=ppt/c5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2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9" y="832928"/>
                <a:ext cx="3888431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equation of the line that goes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6,2</m:t>
                        </m:r>
                      </m:e>
                    </m:d>
                  </m:oMath>
                </a14:m>
                <a:r>
                  <a:rPr lang="en-GB" dirty="0"/>
                  <a:t>, giving your equation in the form </a:t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832928"/>
                <a:ext cx="3888431" cy="1200329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529" y="2480357"/>
                <a:ext cx="3934334" cy="389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need to work out the gradient first before we can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Using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</m:oMath>
                </a14:m>
                <a:r>
                  <a:rPr lang="en-GB" dirty="0"/>
                  <a:t> (we could have also used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6,2</m:t>
                        </m:r>
                      </m:e>
                    </m:d>
                  </m:oMath>
                </a14:m>
                <a:r>
                  <a:rPr lang="en-GB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−10=−3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−10=−3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−22=0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2480357"/>
                <a:ext cx="3934334" cy="3899529"/>
              </a:xfrm>
              <a:prstGeom prst="rect">
                <a:avLst/>
              </a:prstGeom>
              <a:blipFill>
                <a:blip r:embed="rId3"/>
                <a:stretch>
                  <a:fillRect l="-1240" t="-938" r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99020" y="817054"/>
                <a:ext cx="3744415" cy="147732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Test Your Understanding:</a:t>
                </a:r>
              </a:p>
              <a:p>
                <a:r>
                  <a:rPr lang="en-GB" dirty="0"/>
                  <a:t>Find the equation of the line that goes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−1,9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</m:oMath>
                </a14:m>
                <a:r>
                  <a:rPr lang="en-GB" dirty="0"/>
                  <a:t>, giving your equation in the form </a:t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020" y="817054"/>
                <a:ext cx="3744415" cy="1477328"/>
              </a:xfrm>
              <a:prstGeom prst="rect">
                <a:avLst/>
              </a:prstGeom>
              <a:blipFill>
                <a:blip r:embed="rId4"/>
                <a:stretch>
                  <a:fillRect b="-37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9020" y="2480357"/>
                <a:ext cx="4087592" cy="2793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Using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−1,9</m:t>
                        </m:r>
                      </m:e>
                    </m:d>
                  </m:oMath>
                </a14:m>
                <a:r>
                  <a:rPr lang="en-GB" b="0" i="1" dirty="0">
                    <a:latin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−45=−4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−45=−4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−41=0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020" y="2480357"/>
                <a:ext cx="4087592" cy="2793201"/>
              </a:xfrm>
              <a:prstGeom prst="rect">
                <a:avLst/>
              </a:prstGeom>
              <a:blipFill>
                <a:blip r:embed="rId5"/>
                <a:stretch>
                  <a:fillRect l="-1343" b="-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23529" y="2033256"/>
            <a:ext cx="3888431" cy="42760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9020" y="2325804"/>
            <a:ext cx="3744415" cy="39835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61776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5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5C – Pure Y1 Page 94-95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0E4E4B5-096C-0F0B-555B-46E931806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7569"/>
            <a:ext cx="7772400" cy="604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6BDB83-64F1-98C5-6330-BEF80C90D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1" y="2852936"/>
            <a:ext cx="4139952" cy="900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9BED98-C0A3-1D0D-E4F7-0A652E544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376" y="2899232"/>
            <a:ext cx="4538712" cy="80815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15B2410-2775-0359-EBEA-5FA006826465}"/>
              </a:ext>
            </a:extLst>
          </p:cNvPr>
          <p:cNvGrpSpPr/>
          <p:nvPr/>
        </p:nvGrpSpPr>
        <p:grpSpPr>
          <a:xfrm>
            <a:off x="356133" y="1289310"/>
            <a:ext cx="3657600" cy="1651000"/>
            <a:chOff x="356133" y="1289310"/>
            <a:chExt cx="3657600" cy="1651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6ECC6A-64B0-92BF-B381-79541744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133" y="1289310"/>
              <a:ext cx="3657600" cy="1651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4275831-1B54-8496-C184-A4FDFCD3C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5656" y="2450728"/>
              <a:ext cx="558800" cy="3302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34EACCE-3BC8-8EA4-9698-22F66C2181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6" y="1395740"/>
            <a:ext cx="2971800" cy="10033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62AD76B-EBD5-53D3-582E-A81F4DCD5EA0}"/>
              </a:ext>
            </a:extLst>
          </p:cNvPr>
          <p:cNvGrpSpPr/>
          <p:nvPr/>
        </p:nvGrpSpPr>
        <p:grpSpPr>
          <a:xfrm>
            <a:off x="112654" y="3988011"/>
            <a:ext cx="4345722" cy="2285869"/>
            <a:chOff x="226278" y="3954337"/>
            <a:chExt cx="5161598" cy="271502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52A993F-DE80-8E67-CF11-2BF4F4273A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47215"/>
            <a:stretch/>
          </p:blipFill>
          <p:spPr>
            <a:xfrm>
              <a:off x="226278" y="3954337"/>
              <a:ext cx="2832100" cy="271502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12B8743-E361-0D44-BF05-C5994FAC6B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53023"/>
            <a:stretch/>
          </p:blipFill>
          <p:spPr>
            <a:xfrm>
              <a:off x="2555776" y="4230629"/>
              <a:ext cx="2832100" cy="241623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17017E-324F-80AE-61EB-EEA20D4DB288}"/>
              </a:ext>
            </a:extLst>
          </p:cNvPr>
          <p:cNvGrpSpPr/>
          <p:nvPr/>
        </p:nvGrpSpPr>
        <p:grpSpPr>
          <a:xfrm>
            <a:off x="4686159" y="3645024"/>
            <a:ext cx="2383905" cy="1920850"/>
            <a:chOff x="4686159" y="3902043"/>
            <a:chExt cx="2832100" cy="228198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1DA5EF-BCC1-B1E0-0A9A-EC0FE7D4A1B1}"/>
                </a:ext>
              </a:extLst>
            </p:cNvPr>
            <p:cNvGrpSpPr/>
            <p:nvPr/>
          </p:nvGrpSpPr>
          <p:grpSpPr>
            <a:xfrm>
              <a:off x="4686159" y="3902043"/>
              <a:ext cx="2832100" cy="952500"/>
              <a:chOff x="4686159" y="3902043"/>
              <a:chExt cx="2832100" cy="9525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FFDFE34-EA40-A46A-869C-A18BBF8F3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6159" y="3902043"/>
                <a:ext cx="2832100" cy="9525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CDD0B8E-1687-83B9-3A7C-3CC172566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0116" y="4203508"/>
                <a:ext cx="863600" cy="5842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256FBFB-DC17-3B06-26A8-7BA5DA6E9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75749" y="4183379"/>
                <a:ext cx="571500" cy="584200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66E45D6-5597-DC0E-99E4-39926207C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96966" y="4799730"/>
              <a:ext cx="2146300" cy="1384300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B3FB012-5452-5129-87FE-EDA33A15E6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6016" y="5565875"/>
            <a:ext cx="2064491" cy="114811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72D22AC-13A1-B070-235A-5A5A0D29E0C0}"/>
              </a:ext>
            </a:extLst>
          </p:cNvPr>
          <p:cNvSpPr/>
          <p:nvPr/>
        </p:nvSpPr>
        <p:spPr>
          <a:xfrm>
            <a:off x="395322" y="1179959"/>
            <a:ext cx="7556590" cy="17163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1E5B78-C4DC-E907-B562-EB129C3DACE3}"/>
              </a:ext>
            </a:extLst>
          </p:cNvPr>
          <p:cNvSpPr/>
          <p:nvPr/>
        </p:nvSpPr>
        <p:spPr>
          <a:xfrm>
            <a:off x="112654" y="3753679"/>
            <a:ext cx="4345188" cy="2960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AC0D8B-19B5-8FAA-D40D-6580D62F2886}"/>
              </a:ext>
            </a:extLst>
          </p:cNvPr>
          <p:cNvSpPr/>
          <p:nvPr/>
        </p:nvSpPr>
        <p:spPr>
          <a:xfrm>
            <a:off x="4651900" y="3733520"/>
            <a:ext cx="4345188" cy="2980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4709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c5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Intersection of lines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Arrow Connector 5"/>
          <p:cNvCxnSpPr/>
          <p:nvPr/>
        </p:nvCxnSpPr>
        <p:spPr>
          <a:xfrm flipV="1">
            <a:off x="1043608" y="1340768"/>
            <a:ext cx="0" cy="309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043608" y="4437112"/>
            <a:ext cx="3672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V="1">
            <a:off x="1043608" y="1327861"/>
            <a:ext cx="1152128" cy="3094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725053" y="1761434"/>
            <a:ext cx="3630923" cy="2845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20006" y="3109044"/>
                <a:ext cx="2000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06" y="3109044"/>
                <a:ext cx="200009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699745" y="1594602"/>
                <a:ext cx="1648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745" y="1594602"/>
                <a:ext cx="164812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95863" y="620347"/>
                <a:ext cx="3616527" cy="6244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diagram shows two lines with equations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, which intersect at 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Determine the coordinates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b="1" dirty="0"/>
                  <a:t>We know from Chapter 4 we can just solve two equations simultaneously.</a:t>
                </a:r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den>
                        </m:f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endParaRPr lang="en-GB" b="1" dirty="0"/>
              </a:p>
              <a:p>
                <a:endParaRPr lang="en-GB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GB" dirty="0"/>
                  <a:t>The line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intersects the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at the point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. Determine the coordinate of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Font typeface="+mj-lt"/>
                  <a:buAutoNum type="alphaLcParenR" startAt="2"/>
                </a:pPr>
                <a:endParaRPr lang="en-GB" dirty="0"/>
              </a:p>
              <a:p>
                <a:pPr>
                  <a:tabLst>
                    <a:tab pos="717550" algn="l"/>
                  </a:tabLst>
                </a:pPr>
                <a:r>
                  <a:rPr lang="en-GB" b="1" dirty="0"/>
                  <a:t>	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b="1" dirty="0"/>
              </a:p>
              <a:p>
                <a:pPr>
                  <a:tabLst>
                    <a:tab pos="717550" algn="l"/>
                  </a:tabLst>
                </a:pPr>
                <a:r>
                  <a:rPr lang="en-GB" b="1" dirty="0"/>
                  <a:t>	Area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863" y="620347"/>
                <a:ext cx="3616527" cy="6244530"/>
              </a:xfrm>
              <a:prstGeom prst="rect">
                <a:avLst/>
              </a:prstGeom>
              <a:blipFill>
                <a:blip r:embed="rId6"/>
                <a:stretch>
                  <a:fillRect l="-1347" t="-586" r="-26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625064" y="2321965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64" y="2321965"/>
                <a:ext cx="608037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26214" y="443711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14" y="4437112"/>
                <a:ext cx="608037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2391" y="443711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91" y="4437112"/>
                <a:ext cx="608037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5435041" y="2264911"/>
            <a:ext cx="3276710" cy="25192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5215" y="5949280"/>
            <a:ext cx="3274942" cy="8640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32840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c5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96262"/>
            <a:ext cx="6762750" cy="1866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95536" y="926930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C1 Edexcel May 2013 Q6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10" y="3217592"/>
            <a:ext cx="5692147" cy="18546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23" y="4943475"/>
            <a:ext cx="6638925" cy="1847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41905" y="3222171"/>
            <a:ext cx="5882152" cy="17081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1905" y="4930282"/>
            <a:ext cx="5882152" cy="1873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6225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5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5D – Pure Y1 Page 96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87C0E29-2AB1-63CC-197C-8365DF385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73920"/>
            <a:ext cx="7772400" cy="5411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B3BE93-4C27-816A-A86B-B881999E9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277075"/>
            <a:ext cx="2298700" cy="1193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2ACBA0-9D49-440D-D81E-61F51E9AA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118" y="1988840"/>
            <a:ext cx="368300" cy="29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7B62F-BBC6-32E6-6EDA-CE2A506EC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212" y="1277075"/>
            <a:ext cx="2396187" cy="16687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69075F-3221-419F-FDFA-0A1DC8AC9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3079281"/>
            <a:ext cx="7772400" cy="6994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92BCF-2605-2CDA-E507-5506636197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44" y="3912151"/>
            <a:ext cx="3454400" cy="198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AAD8A5-788B-F695-9A6D-73E494EF7A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2918" y="5619230"/>
            <a:ext cx="558800" cy="292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733DE8-EB3A-28E2-5F4A-AFD79F95A3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8109" y="3811984"/>
            <a:ext cx="2743200" cy="3073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5188CDD-F19A-1A50-839A-093A771E2233}"/>
              </a:ext>
            </a:extLst>
          </p:cNvPr>
          <p:cNvSpPr/>
          <p:nvPr/>
        </p:nvSpPr>
        <p:spPr>
          <a:xfrm>
            <a:off x="323529" y="1225541"/>
            <a:ext cx="7127780" cy="17081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39075-C91A-B025-38C9-BEE3A264BE84}"/>
              </a:ext>
            </a:extLst>
          </p:cNvPr>
          <p:cNvSpPr/>
          <p:nvPr/>
        </p:nvSpPr>
        <p:spPr>
          <a:xfrm>
            <a:off x="323528" y="3777686"/>
            <a:ext cx="7127780" cy="3073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73365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c5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5D – Pure Y1 Page 96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42B6420-D296-5DAF-8EAF-B1C543982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61" y="599127"/>
            <a:ext cx="7772400" cy="729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C1AE4-42CE-1DFB-9CEF-95C56630A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717032"/>
            <a:ext cx="7772400" cy="551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C5FAB0-4314-BEB9-D7CA-DE203D1F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340384"/>
            <a:ext cx="2895600" cy="2222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185597-AF3A-DADA-03AF-D3C17B12A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761" y="1372134"/>
            <a:ext cx="2895600" cy="1079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6362EC-CA6D-F7E4-0BA4-B4A137FD0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208" y="2037429"/>
            <a:ext cx="368300" cy="241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16E12E-4944-9C07-7E40-9A2EB712C0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5976" y="2494766"/>
            <a:ext cx="2921000" cy="1003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A1BCED-06FB-4EEE-F1E6-CEF7810AF0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68" y="4379273"/>
            <a:ext cx="2857500" cy="1879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89B630-5B83-4C5B-A571-D87DDA2943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3184" y="4268320"/>
            <a:ext cx="2374900" cy="812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750674-81AF-DF46-4DA6-F88DD423DA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1610" y="4458820"/>
            <a:ext cx="990600" cy="622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F187C-1809-D04B-48F5-E743B972B7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2210" y="4623764"/>
            <a:ext cx="419100" cy="279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93DCCF-98C6-E004-F052-FDA59DC378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32758" y="5145050"/>
            <a:ext cx="2895600" cy="15113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C8995C3-CA1C-300F-061F-5F8F9878E596}"/>
              </a:ext>
            </a:extLst>
          </p:cNvPr>
          <p:cNvSpPr/>
          <p:nvPr/>
        </p:nvSpPr>
        <p:spPr>
          <a:xfrm>
            <a:off x="323529" y="1430602"/>
            <a:ext cx="7127780" cy="2222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426908-A4E4-3CB6-2B04-1A4495E36A72}"/>
              </a:ext>
            </a:extLst>
          </p:cNvPr>
          <p:cNvSpPr/>
          <p:nvPr/>
        </p:nvSpPr>
        <p:spPr>
          <a:xfrm>
            <a:off x="357354" y="4285383"/>
            <a:ext cx="7127780" cy="24856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410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5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4572000" y="0"/>
            <a:ext cx="0" cy="685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0" y="3429000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5148" y="3429000"/>
            <a:ext cx="914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sz="1400" dirty="0"/>
              <a:t>x	-5	-4	-3	-2	-1	0	1	2	3	4	5	6</a:t>
            </a:r>
            <a:endParaRPr lang="en-US" sz="1400" dirty="0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H="1">
            <a:off x="2508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97155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6922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2411413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3132138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0" y="27082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52927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6011863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6732588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74517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817245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88931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0" y="198913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0" y="41497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0" y="486886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0" y="558958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0" y="63087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283968" y="0"/>
            <a:ext cx="28803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400" dirty="0"/>
              <a:t>y</a:t>
            </a:r>
          </a:p>
          <a:p>
            <a:endParaRPr lang="en-GB" sz="1400" dirty="0"/>
          </a:p>
          <a:p>
            <a:endParaRPr lang="en-US" sz="1400" dirty="0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4264025" y="396875"/>
            <a:ext cx="33413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GB" sz="1400" dirty="0"/>
              <a:t>4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3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2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1</a:t>
            </a:r>
          </a:p>
          <a:p>
            <a:pPr algn="r"/>
            <a:endParaRPr lang="en-GB" sz="3300" dirty="0"/>
          </a:p>
          <a:p>
            <a:pPr algn="r"/>
            <a:endParaRPr lang="en-GB" sz="1400" dirty="0"/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-1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-2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-3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-4</a:t>
            </a:r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>
            <a:off x="38512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flipV="1">
            <a:off x="-103366" y="-71563"/>
            <a:ext cx="7386762" cy="3673503"/>
          </a:xfrm>
          <a:prstGeom prst="line">
            <a:avLst/>
          </a:prstGeom>
          <a:ln w="76200"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5796136" y="4941168"/>
            <a:ext cx="3148410" cy="1569660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Find the gradients of each pair of </a:t>
            </a:r>
            <a:r>
              <a:rPr lang="en-GB" sz="2400" b="1" dirty="0"/>
              <a:t>perpendicular</a:t>
            </a:r>
            <a:r>
              <a:rPr lang="en-GB" sz="2400" dirty="0"/>
              <a:t> lines. What do you notice?</a:t>
            </a: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142241" y="-396240"/>
            <a:ext cx="3722094" cy="7464949"/>
          </a:xfrm>
          <a:prstGeom prst="line">
            <a:avLst/>
          </a:prstGeom>
          <a:ln w="76200"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2339752" y="-171400"/>
            <a:ext cx="7176482" cy="2380526"/>
          </a:xfrm>
          <a:prstGeom prst="line">
            <a:avLst/>
          </a:prstGeom>
          <a:ln w="76200">
            <a:solidFill>
              <a:schemeClr val="accent2"/>
            </a:solidFill>
            <a:headEnd/>
            <a:tailEnd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V="1">
            <a:off x="4822852" y="-210394"/>
            <a:ext cx="2411428" cy="7201911"/>
          </a:xfrm>
          <a:prstGeom prst="line">
            <a:avLst/>
          </a:prstGeom>
          <a:ln w="76200">
            <a:solidFill>
              <a:schemeClr val="accent2"/>
            </a:solidFill>
            <a:headEnd/>
            <a:tailEnd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13743" y="4249553"/>
                <a:ext cx="1296144" cy="461665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743" y="4249553"/>
                <a:ext cx="129614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70290" y="921544"/>
                <a:ext cx="1152128" cy="783804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90" y="921544"/>
                <a:ext cx="1152128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596336" y="849536"/>
                <a:ext cx="1368152" cy="786177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336" y="849536"/>
                <a:ext cx="1368152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299629" y="2751899"/>
                <a:ext cx="1296144" cy="461665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629" y="2751899"/>
                <a:ext cx="129614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3477629" y="4104580"/>
            <a:ext cx="687971" cy="6561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22590" y="921247"/>
            <a:ext cx="552724" cy="7624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9239" y="804619"/>
            <a:ext cx="682190" cy="8500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5138" y="2607344"/>
            <a:ext cx="711605" cy="6293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692275" y="2708275"/>
            <a:ext cx="2172060" cy="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860800" y="1611086"/>
            <a:ext cx="14514" cy="1132114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03698" y="2644480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698" y="2644480"/>
                <a:ext cx="288032" cy="369332"/>
              </a:xfrm>
              <a:prstGeom prst="rect">
                <a:avLst/>
              </a:prstGeom>
              <a:blipFill>
                <a:blip r:embed="rId6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899284" y="197433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284" y="1974335"/>
                <a:ext cx="288032" cy="369332"/>
              </a:xfrm>
              <a:prstGeom prst="rect">
                <a:avLst/>
              </a:prstGeom>
              <a:blipFill>
                <a:blip r:embed="rId7"/>
                <a:stretch>
                  <a:fillRect r="-10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/>
          <p:cNvCxnSpPr/>
          <p:nvPr/>
        </p:nvCxnSpPr>
        <p:spPr>
          <a:xfrm flipV="1">
            <a:off x="1690577" y="2732568"/>
            <a:ext cx="0" cy="2158409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1717668" y="4868863"/>
            <a:ext cx="1068062" cy="849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368437" y="368973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437" y="3689737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 r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072011" y="489097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11" y="4890977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 r="-10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64906" y="5458959"/>
                <a:ext cx="4883209" cy="105067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Using the changes above, we can see the gradient of one line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GB" b="1" dirty="0"/>
                  <a:t>  and the other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GB" b="1" dirty="0"/>
                  <a:t>. One is the ‘negative reciprocal’ of the other.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06" y="5458959"/>
                <a:ext cx="4883209" cy="1050672"/>
              </a:xfrm>
              <a:prstGeom prst="rect">
                <a:avLst/>
              </a:prstGeom>
              <a:blipFill>
                <a:blip r:embed="rId10"/>
                <a:stretch>
                  <a:fillRect l="-998" t="-2890" r="-1746" b="-8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5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49" grpId="0" animBg="1"/>
      <p:bldP spid="38" grpId="0" animBg="1"/>
      <p:bldP spid="39" grpId="0" animBg="1"/>
      <p:bldP spid="40" grpId="0" animBg="1"/>
      <p:bldP spid="7" grpId="0"/>
      <p:bldP spid="46" grpId="0"/>
      <p:bldP spid="53" grpId="0"/>
      <p:bldP spid="54" grpId="0"/>
      <p:bldP spid="11" grpId="0" animBg="1"/>
    </p:bldLst>
  </p:timing>
</p:sld>
</file>

<file path=ppt/c5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Perpendicular Lines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6" name="Group 14"/>
          <p:cNvGrpSpPr/>
          <p:nvPr/>
        </p:nvGrpSpPr>
        <p:grpSpPr>
          <a:xfrm rot="1761958">
            <a:off x="7071858" y="1037475"/>
            <a:ext cx="1584176" cy="1800200"/>
            <a:chOff x="6588224" y="1916832"/>
            <a:chExt cx="1584176" cy="18002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6588224" y="2780928"/>
              <a:ext cx="15841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7380312" y="1916832"/>
              <a:ext cx="0" cy="18002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7380312" y="2564904"/>
              <a:ext cx="216024" cy="2160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/>
              <p:cNvGraphicFramePr>
                <a:graphicFrameLocks noGrp="1"/>
              </p:cNvGraphicFramePr>
              <p:nvPr/>
            </p:nvGraphicFramePr>
            <p:xfrm>
              <a:off x="1096243" y="2791250"/>
              <a:ext cx="6096000" cy="401180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882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077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 of Perpendicular Line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4005115"/>
                  </p:ext>
                </p:extLst>
              </p:nvPr>
            </p:nvGraphicFramePr>
            <p:xfrm>
              <a:off x="1096243" y="2791250"/>
              <a:ext cx="6096000" cy="401180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88232"/>
                    <a:gridCol w="400776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Gradient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Gradient of Perpendicular Line</a:t>
                          </a:r>
                          <a:endParaRPr lang="en-GB" dirty="0"/>
                        </a:p>
                      </a:txBody>
                      <a:tcPr/>
                    </a:tc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2" t="-66667" r="-191545" b="-5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359" t="-66667" b="-503030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2" t="-165000" r="-191545" b="-3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359" t="-165000" b="-398000"/>
                          </a:stretch>
                        </a:blipFill>
                      </a:tcPr>
                    </a:tc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2" t="-267677" r="-191545" b="-30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-4</a:t>
                          </a:r>
                          <a:endParaRPr lang="en-GB" dirty="0"/>
                        </a:p>
                      </a:txBody>
                      <a:tcPr/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2" t="-367677" r="-191545" b="-20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359" t="-367677" b="-202020"/>
                          </a:stretch>
                        </a:blipFill>
                      </a:tcPr>
                    </a:tc>
                  </a:tr>
                  <a:tr h="6058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2" t="-463000" r="-19154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359" t="-463000" b="-100000"/>
                          </a:stretch>
                        </a:blipFill>
                      </a:tcPr>
                    </a:tc>
                  </a:tr>
                  <a:tr h="6113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2" t="-563000" r="-191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359" t="-563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1" name="Rectangle 20"/>
          <p:cNvSpPr/>
          <p:nvPr/>
        </p:nvSpPr>
        <p:spPr>
          <a:xfrm>
            <a:off x="3201442" y="3140968"/>
            <a:ext cx="3989851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1441" y="3781318"/>
            <a:ext cx="3989851" cy="5837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1440" y="4344782"/>
            <a:ext cx="3989851" cy="6175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1442" y="4962293"/>
            <a:ext cx="3989851" cy="6269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1439" y="5589240"/>
            <a:ext cx="3989851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1438" y="6171687"/>
            <a:ext cx="3989851" cy="6305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99592" y="834900"/>
                <a:ext cx="5976664" cy="185711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gradients of parallel lines are equal.</a:t>
                </a:r>
              </a:p>
              <a:p>
                <a:r>
                  <a:rPr lang="en-GB" sz="1600" dirty="0"/>
                  <a:t>If two lines are perpendicular, then the gradient of one is the </a:t>
                </a:r>
                <a:r>
                  <a:rPr lang="en-GB" sz="1600" b="1" dirty="0"/>
                  <a:t>negative reciprocal </a:t>
                </a:r>
                <a:r>
                  <a:rPr lang="en-GB" sz="1600" dirty="0"/>
                  <a:t>of the other.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To </a:t>
                </a:r>
                <a:r>
                  <a:rPr lang="en-GB" sz="1600" b="1" u="sng" dirty="0"/>
                  <a:t>show</a:t>
                </a:r>
                <a:r>
                  <a:rPr lang="en-GB" sz="1600" dirty="0"/>
                  <a:t> that two lines are perpendicular: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GB" sz="1600" b="0" i="1" smtClean="0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834900"/>
                <a:ext cx="5976664" cy="1857111"/>
              </a:xfrm>
              <a:prstGeom prst="rect">
                <a:avLst/>
              </a:prstGeom>
              <a:blipFill rotWithShape="0">
                <a:blip r:embed="rId3"/>
                <a:stretch>
                  <a:fillRect l="-407" t="-324" r="-7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95536" y="83490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Wingdings" pitchFamily="2" charset="2"/>
              </a:rPr>
              <a:t>!</a:t>
            </a:r>
            <a:endParaRPr lang="en-GB" dirty="0">
              <a:latin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8546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c5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 Problems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43608" y="908720"/>
                <a:ext cx="7704856" cy="4015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line is goes through the point (9,10) and is perpendicular to another line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  <m:r>
                      <a:rPr lang="en-GB" b="0" i="1" smtClean="0">
                        <a:latin typeface="Cambria Math"/>
                      </a:rPr>
                      <m:t>=3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+2</m:t>
                    </m:r>
                  </m:oMath>
                </a14:m>
                <a:r>
                  <a:rPr lang="en-GB" dirty="0"/>
                  <a:t>. What is the equation of the line?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𝟏𝟎</m:t>
                      </m:r>
                      <m:r>
                        <a:rPr lang="en-GB" b="1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𝟗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A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goes through the points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1,3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3,−1</m:t>
                        </m:r>
                      </m:e>
                    </m:d>
                  </m:oMath>
                </a14:m>
                <a:r>
                  <a:rPr lang="en-GB" dirty="0"/>
                  <a:t>. A second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perpendicular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passes through point B. Where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cross the x-axis?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𝟓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dirty="0"/>
                  <a:t>Are the following lines parallel, perpendicular, or neither?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+4=0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Neither. Gradients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𝟐</m:t>
                    </m:r>
                  </m:oMath>
                </a14:m>
                <a:r>
                  <a:rPr lang="en-GB" b="1" dirty="0"/>
                  <a:t>. But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latin typeface="Cambria Math"/>
                      </a:rPr>
                      <m:t>×</m:t>
                    </m:r>
                    <m:r>
                      <a:rPr lang="en-GB" b="1" i="1" smtClean="0">
                        <a:latin typeface="Cambria Math"/>
                      </a:rPr>
                      <m:t>𝟐</m:t>
                    </m:r>
                    <m:r>
                      <a:rPr lang="en-GB" b="1" i="1" smtClean="0">
                        <a:latin typeface="Cambria Math"/>
                      </a:rPr>
                      <m:t>=</m:t>
                    </m:r>
                    <m:r>
                      <a:rPr lang="en-GB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GB" b="1" dirty="0"/>
                  <a:t>, not -1, so not perpendicular.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908720"/>
                <a:ext cx="7704856" cy="4015458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633" t="-759" r="-316" b="-3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635897" y="1484784"/>
            <a:ext cx="2736304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779" y="2852936"/>
            <a:ext cx="2736304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3608" y="4437112"/>
            <a:ext cx="7632848" cy="487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908720"/>
            <a:ext cx="36619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2277180"/>
            <a:ext cx="375717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" y="3429000"/>
            <a:ext cx="375717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73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c5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80404" y="886259"/>
                <a:ext cx="2664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404" y="886259"/>
                <a:ext cx="266429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05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4928406" y="1572130"/>
            <a:ext cx="3634" cy="2615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915222" y="4188119"/>
            <a:ext cx="3672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571503" y="398901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503" y="3989019"/>
                <a:ext cx="36004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52020" y="1189891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020" y="1189891"/>
                <a:ext cx="360040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V="1">
            <a:off x="4915222" y="2580086"/>
            <a:ext cx="964907" cy="1608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928406" y="1964265"/>
            <a:ext cx="3443200" cy="222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78456" y="2753075"/>
            <a:ext cx="192776" cy="125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971233" y="2700995"/>
            <a:ext cx="101599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rot="1915941">
                <a:off x="6366716" y="2750317"/>
                <a:ext cx="1366293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5941">
                <a:off x="6366716" y="2750317"/>
                <a:ext cx="1366293" cy="49564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824227" y="2264880"/>
                <a:ext cx="3029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227" y="2264880"/>
                <a:ext cx="302928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130975" y="4440994"/>
                <a:ext cx="3333971" cy="2205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Equation of other line: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975" y="4440994"/>
                <a:ext cx="3333971" cy="2205860"/>
              </a:xfrm>
              <a:prstGeom prst="rect">
                <a:avLst/>
              </a:prstGeom>
              <a:blipFill rotWithShape="0">
                <a:blip r:embed="rId7"/>
                <a:stretch>
                  <a:fillRect l="-1645" t="-1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29139" y="891535"/>
                <a:ext cx="3058913" cy="33809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A line goes through the point (4,7) and is perpendicular to another line with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=2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+2</m:t>
                    </m:r>
                  </m:oMath>
                </a14:m>
                <a:r>
                  <a:rPr lang="en-GB" dirty="0"/>
                  <a:t>. What is the equation of the line? Put your answer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are integers.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𝟏𝟖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9" y="891535"/>
                <a:ext cx="3058913" cy="3380926"/>
              </a:xfrm>
              <a:prstGeom prst="rect">
                <a:avLst/>
              </a:prstGeom>
              <a:blipFill rotWithShape="0">
                <a:blip r:embed="rId8"/>
                <a:stretch>
                  <a:fillRect l="-1594" t="-901" r="-199" b="-3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421035" y="990823"/>
            <a:ext cx="30087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8235" y="990823"/>
            <a:ext cx="30087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8897" y="3142134"/>
            <a:ext cx="2583928" cy="1125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2369" y="4381175"/>
            <a:ext cx="3385356" cy="23339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6795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c5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5E/5F – Pure Y1 Page 96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E12083D-888B-FC07-304A-6BAC05D6E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6552728" cy="6439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14AEF3-C9BF-4D56-51AF-3D1897D4E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6" y="3549953"/>
            <a:ext cx="8845943" cy="5991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0BEF3F6-2B94-D676-6566-D812BB52C142}"/>
              </a:ext>
            </a:extLst>
          </p:cNvPr>
          <p:cNvGrpSpPr/>
          <p:nvPr/>
        </p:nvGrpSpPr>
        <p:grpSpPr>
          <a:xfrm>
            <a:off x="395536" y="1244561"/>
            <a:ext cx="3403600" cy="1828800"/>
            <a:chOff x="395536" y="1244561"/>
            <a:chExt cx="3403600" cy="18288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E2ED832-240D-8904-12C0-A97A38ACF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536" y="1244561"/>
              <a:ext cx="3403600" cy="1828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EE5B08-911C-EC68-6094-79682168D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01268" y="2450852"/>
              <a:ext cx="482600" cy="5461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FCEDF00-D500-97FE-D61E-A6D40E4AF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5632" y="1290079"/>
            <a:ext cx="2514600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A6045C-61BB-3D48-2D14-90840931B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6014" y="1244561"/>
            <a:ext cx="44450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F8338E-A5E9-2BA2-0B39-86966A95E1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5632" y="1981232"/>
            <a:ext cx="3429000" cy="698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3753B6-FC69-3E60-3F1B-E3011E3C7A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336" y="4397321"/>
            <a:ext cx="3086100" cy="1816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F56A7E-6724-2DB9-9D82-52CAED9E5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3545" y="4354974"/>
            <a:ext cx="3238500" cy="14351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81FE26B-9A23-069A-28F5-7851A43667F9}"/>
              </a:ext>
            </a:extLst>
          </p:cNvPr>
          <p:cNvSpPr/>
          <p:nvPr/>
        </p:nvSpPr>
        <p:spPr>
          <a:xfrm>
            <a:off x="372336" y="1297338"/>
            <a:ext cx="7410598" cy="17760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E76539-AF77-B49F-D6D0-AB4258DEF70A}"/>
              </a:ext>
            </a:extLst>
          </p:cNvPr>
          <p:cNvSpPr/>
          <p:nvPr/>
        </p:nvSpPr>
        <p:spPr>
          <a:xfrm>
            <a:off x="372336" y="4288695"/>
            <a:ext cx="7410598" cy="2092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31727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c5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5F – Pure Y1 Page 100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674A3D6-4AE5-F61A-ABF5-17D0331A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643813"/>
            <a:ext cx="4298920" cy="7117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E9F179-8BB0-1EA9-6050-CC3FE938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570" y="687356"/>
            <a:ext cx="4477286" cy="74132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A84AB01-4AC8-C6DD-DA07-653903DAAADC}"/>
              </a:ext>
            </a:extLst>
          </p:cNvPr>
          <p:cNvGrpSpPr/>
          <p:nvPr/>
        </p:nvGrpSpPr>
        <p:grpSpPr>
          <a:xfrm>
            <a:off x="323528" y="1586460"/>
            <a:ext cx="2984500" cy="1193800"/>
            <a:chOff x="323528" y="1355602"/>
            <a:chExt cx="2984500" cy="119380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D5AA112-4048-3491-2696-993F87E5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528" y="1355602"/>
              <a:ext cx="2984500" cy="11938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77FE439-02A9-820A-6581-FB991B3E6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55921" y="1785888"/>
              <a:ext cx="546100" cy="63500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7FD249F-03B3-23EF-19CC-1B10C37F10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28" y="2780260"/>
            <a:ext cx="2755900" cy="1676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F94F77C-CAE2-CC24-DFC8-3FEC8E6986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778" y="3976572"/>
            <a:ext cx="444500" cy="25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9910176-D705-CCBA-7994-97A766335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03" y="4462511"/>
            <a:ext cx="2552700" cy="838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5C59628-DEFD-0513-6777-E231F54BC9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8024" y="1516906"/>
            <a:ext cx="3352800" cy="2120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A4FD20-A5DD-5C6F-FC9D-95ED58BA87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74" y="3542514"/>
            <a:ext cx="2006600" cy="914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11C1A5F-0373-140B-87BF-8F3F075483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5568" y="3845081"/>
            <a:ext cx="622300" cy="571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541CC9D-05E7-3D4B-9C37-BAEE9E1E58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321" y="4461878"/>
            <a:ext cx="1930400" cy="762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4139959-D914-5241-690F-A036F55C05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0524" y="4739734"/>
            <a:ext cx="546100" cy="5207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5E4576C-21D8-ADBC-A8A0-63627ECF99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0321" y="5310339"/>
            <a:ext cx="3213100" cy="787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5C63ED8-5E0F-5F02-2A0F-8ED8738CEDD3}"/>
              </a:ext>
            </a:extLst>
          </p:cNvPr>
          <p:cNvSpPr/>
          <p:nvPr/>
        </p:nvSpPr>
        <p:spPr>
          <a:xfrm>
            <a:off x="426884" y="1530392"/>
            <a:ext cx="3497044" cy="46402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5A8A4F-3AB7-3FE1-12AD-E650FF5ACBBE}"/>
              </a:ext>
            </a:extLst>
          </p:cNvPr>
          <p:cNvSpPr/>
          <p:nvPr/>
        </p:nvSpPr>
        <p:spPr>
          <a:xfrm>
            <a:off x="4886321" y="1530392"/>
            <a:ext cx="3497044" cy="46402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9633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c5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5E/5F – Pure Y1 Page 96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81022" y="182974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21" y="2141021"/>
                <a:ext cx="3362843" cy="337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2004 1D]</a:t>
                </a:r>
              </a:p>
              <a:p>
                <a:r>
                  <a:rPr lang="en-GB" sz="1600" dirty="0"/>
                  <a:t>What is the reflection of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GB" sz="1600" dirty="0"/>
                  <a:t> in the line </a:t>
                </a:r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GB" sz="1600" dirty="0"/>
                  <a:t>?</a:t>
                </a:r>
              </a:p>
              <a:p>
                <a:r>
                  <a:rPr lang="en-GB" sz="1600" b="1" dirty="0"/>
                  <a:t>Gradient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GB" sz="1600" b="1" dirty="0"/>
                  <a:t> is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1600" b="1" dirty="0"/>
                  <a:t> Equation of line passing through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b="1" dirty="0"/>
                  <a:t> perpendicular to </a:t>
                </a:r>
                <a:r>
                  <a:rPr lang="en-GB" sz="1600" b="1" dirty="0" err="1"/>
                  <a:t>ths</a:t>
                </a:r>
                <a:r>
                  <a:rPr lang="en-GB" sz="1600" b="1" dirty="0"/>
                  <a:t>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Find intersection of two lines to get closest point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GB" sz="1600" b="1" dirty="0"/>
                  <a:t> to original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Thus reflected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21" y="2141021"/>
                <a:ext cx="3362843" cy="3370731"/>
              </a:xfrm>
              <a:prstGeom prst="rect">
                <a:avLst/>
              </a:prstGeom>
              <a:blipFill>
                <a:blip r:embed="rId2"/>
                <a:stretch>
                  <a:fillRect l="-1089" t="-542" b="-14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899592" y="5567023"/>
            <a:ext cx="1512168" cy="1290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 rot="2574543">
                <a:off x="1226096" y="6209974"/>
                <a:ext cx="18073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=50 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74543">
                <a:off x="1226096" y="6209974"/>
                <a:ext cx="180739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1280569" y="5905500"/>
            <a:ext cx="129131" cy="12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974702" y="6241724"/>
            <a:ext cx="129131" cy="12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591110" y="5556647"/>
            <a:ext cx="129131" cy="12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1047750" y="5600700"/>
            <a:ext cx="622300" cy="7048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0760" y="6302793"/>
                <a:ext cx="5250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60" y="6302793"/>
                <a:ext cx="52509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0044" y="5825016"/>
                <a:ext cx="5250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6,8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44" y="5825016"/>
                <a:ext cx="52509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875405" y="1795152"/>
                <a:ext cx="4854612" cy="1558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2014 1D] </a:t>
                </a:r>
                <a:r>
                  <a:rPr lang="en-GB" dirty="0"/>
                  <a:t>The reflection of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dirty="0"/>
                  <a:t> in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𝑚𝑥</m:t>
                    </m:r>
                  </m:oMath>
                </a14:m>
                <a:r>
                  <a:rPr lang="en-GB" dirty="0"/>
                  <a:t> has coordinates: (in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b="1" dirty="0"/>
                  <a:t>Using a similar method: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405" y="1795152"/>
                <a:ext cx="4854612" cy="1558375"/>
              </a:xfrm>
              <a:prstGeom prst="rect">
                <a:avLst/>
              </a:prstGeom>
              <a:blipFill>
                <a:blip r:embed="rId6"/>
                <a:stretch>
                  <a:fillRect l="-1131" t="-1953" r="-16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30129" y="3597425"/>
                <a:ext cx="5312728" cy="323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700" i="1" dirty="0"/>
                  <a:t>[STEP I 2004 Q6] </a:t>
                </a:r>
                <a:r>
                  <a:rPr lang="en-GB" sz="1700" dirty="0"/>
                  <a:t>The three points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700" dirty="0"/>
                  <a:t> have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700" dirty="0"/>
                  <a:t>, respectively. Find the point of intersection of the line joining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to the midpoint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sz="1700" dirty="0"/>
                  <a:t>, and the line joining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to the midpoint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sz="1700" dirty="0"/>
                  <a:t>. Verify that this point lies on the line joining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700" dirty="0"/>
                  <a:t> to the midpoint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700" dirty="0"/>
                  <a:t>.</a:t>
                </a:r>
              </a:p>
              <a:p>
                <a:r>
                  <a:rPr lang="en-GB" sz="1700" dirty="0"/>
                  <a:t>The point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sz="17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700" dirty="0"/>
                  <a:t>. Show that if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𝐴𝐻</m:t>
                    </m:r>
                  </m:oMath>
                </a14:m>
                <a:r>
                  <a:rPr lang="en-GB" sz="1700" dirty="0"/>
                  <a:t> intersects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sz="1700" dirty="0"/>
                  <a:t> at right angles,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1700" dirty="0"/>
                  <a:t>, and write down a similar result if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r>
                  <a:rPr lang="en-GB" sz="1700" dirty="0"/>
                  <a:t> intersects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sz="1700" dirty="0"/>
                  <a:t> at right angles.</a:t>
                </a:r>
              </a:p>
              <a:p>
                <a:r>
                  <a:rPr lang="en-GB" sz="1700" dirty="0"/>
                  <a:t>Deduce that if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𝐴𝐻</m:t>
                    </m:r>
                  </m:oMath>
                </a14:m>
                <a:r>
                  <a:rPr lang="en-GB" sz="1700" dirty="0"/>
                  <a:t> is perpendicular to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sz="1700" dirty="0"/>
                  <a:t> and also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r>
                  <a:rPr lang="en-GB" sz="1700" dirty="0"/>
                  <a:t> is perpendicular to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sz="1700" dirty="0"/>
                  <a:t>, then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𝐶𝐻</m:t>
                    </m:r>
                  </m:oMath>
                </a14:m>
                <a:r>
                  <a:rPr lang="en-GB" sz="1700" dirty="0"/>
                  <a:t> is perpendicular to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29" y="3597425"/>
                <a:ext cx="5312728" cy="3236463"/>
              </a:xfrm>
              <a:prstGeom prst="rect">
                <a:avLst/>
              </a:prstGeom>
              <a:blipFill>
                <a:blip r:embed="rId7"/>
                <a:stretch>
                  <a:fillRect l="-1835" t="-565" r="-1261" b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65225" y="2213365"/>
            <a:ext cx="201509" cy="2218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28620" y="1897009"/>
            <a:ext cx="201509" cy="2218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409" y="3664681"/>
            <a:ext cx="201509" cy="2218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796" y="3187700"/>
            <a:ext cx="3171303" cy="3632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8953" y="2446444"/>
            <a:ext cx="3831547" cy="868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58700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c5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Distances between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Oval 4"/>
          <p:cNvSpPr/>
          <p:nvPr/>
        </p:nvSpPr>
        <p:spPr>
          <a:xfrm>
            <a:off x="401383" y="3286075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641743" y="1655114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9375" y="3502099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(1,6)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75" y="3502099"/>
                <a:ext cx="648072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22638" y="1498739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(5,9)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638" y="1498739"/>
                <a:ext cx="648072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830" r="-8491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V="1">
            <a:off x="502803" y="1769851"/>
            <a:ext cx="3256384" cy="1632857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92080" y="1124744"/>
                <a:ext cx="302433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How could we find the </a:t>
                </a:r>
                <a:r>
                  <a:rPr lang="en-GB" b="1" dirty="0"/>
                  <a:t>distance</a:t>
                </a:r>
                <a:r>
                  <a:rPr lang="en-GB" dirty="0"/>
                  <a:t> between these two points?</a:t>
                </a:r>
              </a:p>
              <a:p>
                <a:r>
                  <a:rPr lang="en-GB" sz="1400" dirty="0"/>
                  <a:t>Hint: Pythagoras</a:t>
                </a:r>
              </a:p>
              <a:p>
                <a:endParaRPr lang="en-GB" dirty="0"/>
              </a:p>
              <a:p>
                <a:r>
                  <a:rPr lang="en-GB" dirty="0"/>
                  <a:t>Form a right-angled triangle using the change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change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then use Pythagoras.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1124744"/>
                <a:ext cx="3024336" cy="2585323"/>
              </a:xfrm>
              <a:prstGeom prst="rect">
                <a:avLst/>
              </a:prstGeom>
              <a:blipFill rotWithShape="0">
                <a:blip r:embed="rId4"/>
                <a:stretch>
                  <a:fillRect l="-1613" t="-1415" b="-4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764993" y="2015413"/>
            <a:ext cx="897064" cy="2519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6460" y="2445431"/>
            <a:ext cx="2855939" cy="126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98042" y="1872521"/>
            <a:ext cx="3166160" cy="1540900"/>
            <a:chOff x="617407" y="1871138"/>
            <a:chExt cx="3166160" cy="1540900"/>
          </a:xfrm>
        </p:grpSpPr>
        <p:cxnSp>
          <p:nvCxnSpPr>
            <p:cNvPr id="16" name="Straight Connector 15"/>
            <p:cNvCxnSpPr>
              <a:stCxn id="5" idx="6"/>
            </p:cNvCxnSpPr>
            <p:nvPr/>
          </p:nvCxnSpPr>
          <p:spPr>
            <a:xfrm>
              <a:off x="617407" y="3394087"/>
              <a:ext cx="3166160" cy="8621"/>
            </a:xfrm>
            <a:prstGeom prst="line">
              <a:avLst/>
            </a:prstGeom>
            <a:ln w="76200">
              <a:prstDash val="sysDot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6" idx="4"/>
            </p:cNvCxnSpPr>
            <p:nvPr/>
          </p:nvCxnSpPr>
          <p:spPr>
            <a:xfrm flipH="1">
              <a:off x="3740526" y="1871138"/>
              <a:ext cx="9229" cy="1540900"/>
            </a:xfrm>
            <a:prstGeom prst="line">
              <a:avLst/>
            </a:prstGeom>
            <a:ln w="76200">
              <a:prstDash val="sysDot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398582" y="3028100"/>
              <a:ext cx="2434" cy="373226"/>
            </a:xfrm>
            <a:prstGeom prst="line">
              <a:avLst/>
            </a:prstGeom>
            <a:ln w="76200">
              <a:prstDash val="sysDot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398583" y="3046761"/>
              <a:ext cx="345232" cy="0"/>
            </a:xfrm>
            <a:prstGeom prst="line">
              <a:avLst/>
            </a:prstGeom>
            <a:ln w="76200">
              <a:prstDash val="sysDot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679139" y="3560340"/>
                <a:ext cx="1042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139" y="3560340"/>
                <a:ext cx="104269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753220" y="2541554"/>
                <a:ext cx="9108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220" y="2541554"/>
                <a:ext cx="91088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644231" y="2124899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231" y="2124899"/>
                <a:ext cx="648072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2383002" y="3553979"/>
            <a:ext cx="616255" cy="457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5976" y="2445431"/>
            <a:ext cx="571234" cy="457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34798" y="1929335"/>
            <a:ext cx="692429" cy="5384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2991" y="823733"/>
                <a:ext cx="4248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0" dirty="0"/>
                  <a:t>Recall: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dirty="0"/>
                  <a:t> (said ‘delta’) means “change in”.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91" y="823733"/>
                <a:ext cx="4248472" cy="369332"/>
              </a:xfrm>
              <a:prstGeom prst="rect">
                <a:avLst/>
              </a:prstGeom>
              <a:blipFill>
                <a:blip r:embed="rId8"/>
                <a:stretch>
                  <a:fillRect l="-1148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73215" y="4571094"/>
                <a:ext cx="4907989" cy="9089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Distance between two points: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215" y="4571094"/>
                <a:ext cx="4907989" cy="908903"/>
              </a:xfrm>
              <a:prstGeom prst="rect">
                <a:avLst/>
              </a:prstGeom>
              <a:blipFill rotWithShape="0">
                <a:blip r:embed="rId9"/>
                <a:stretch>
                  <a:fillRect l="-1731" t="-4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49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  <p:bldP spid="18" grpId="0"/>
      <p:bldP spid="20" grpId="0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11" grpId="0"/>
      <p:bldP spid="12" grpId="0" animBg="1"/>
    </p:bldLst>
  </p:timing>
</p:sld>
</file>

<file path=ppt/c5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5472608" cy="1640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Distance between: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(3,4)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5,7</m:t>
                        </m:r>
                      </m:e>
                    </m:d>
                  </m:oMath>
                </a14:m>
                <a:r>
                  <a:rPr lang="en-GB" dirty="0"/>
                  <a:t>   	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r>
                  <a:rPr lang="en-GB" dirty="0"/>
                  <a:t>   	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   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5472608" cy="1640449"/>
              </a:xfrm>
              <a:prstGeom prst="rect">
                <a:avLst/>
              </a:prstGeom>
              <a:blipFill rotWithShape="0">
                <a:blip r:embed="rId2"/>
                <a:stretch>
                  <a:fillRect l="-891" t="-1859" b="-1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864957" y="1872435"/>
            <a:ext cx="3024336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Note</a:t>
            </a:r>
            <a:r>
              <a:rPr lang="en-GB" sz="1600" dirty="0"/>
              <a:t>: Unlike with gradient, we don’t care if the difference is positive or negative (it’s being squared to make it positive anyway!)</a:t>
            </a: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5004048" y="1916832"/>
            <a:ext cx="860909" cy="617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29803" y="1286724"/>
            <a:ext cx="2015922" cy="4098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9803" y="1711895"/>
            <a:ext cx="2015922" cy="370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8499" y="2094528"/>
            <a:ext cx="2015922" cy="370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7595" y="4162487"/>
                <a:ext cx="5472608" cy="1640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Distance between: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(1,10)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4,14</m:t>
                        </m:r>
                      </m:e>
                    </m:d>
                  </m:oMath>
                </a14:m>
                <a:r>
                  <a:rPr lang="en-GB" dirty="0"/>
                  <a:t>   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dirty="0"/>
                  <a:t>   	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   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95" y="4162487"/>
                <a:ext cx="5472608" cy="1640449"/>
              </a:xfrm>
              <a:prstGeom prst="rect">
                <a:avLst/>
              </a:prstGeom>
              <a:blipFill rotWithShape="0">
                <a:blip r:embed="rId3"/>
                <a:stretch>
                  <a:fillRect l="-891" t="-2230" b="-1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3528" y="3573016"/>
            <a:ext cx="252028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 err="1"/>
              <a:t>Quickfire</a:t>
            </a:r>
            <a:r>
              <a:rPr lang="en-GB" dirty="0"/>
              <a:t> Questions: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1690" y="4612551"/>
            <a:ext cx="1960780" cy="4098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1690" y="5037722"/>
            <a:ext cx="1960780" cy="370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0386" y="5420355"/>
            <a:ext cx="1960780" cy="370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372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</p:bldLst>
  </p:timing>
</p:sld>
</file>

<file path=ppt/c5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Area of Shapes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Arrow Connector 5"/>
          <p:cNvCxnSpPr/>
          <p:nvPr/>
        </p:nvCxnSpPr>
        <p:spPr>
          <a:xfrm flipV="1">
            <a:off x="1043608" y="1340768"/>
            <a:ext cx="0" cy="309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043608" y="4437112"/>
            <a:ext cx="3672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V="1">
            <a:off x="1043608" y="1327861"/>
            <a:ext cx="1152128" cy="3094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725053" y="1761434"/>
            <a:ext cx="3630923" cy="2845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20006" y="3109044"/>
                <a:ext cx="2000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06" y="3109044"/>
                <a:ext cx="200009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699745" y="1594602"/>
                <a:ext cx="1648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745" y="1594602"/>
                <a:ext cx="164812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81447" y="691884"/>
                <a:ext cx="3616527" cy="5967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diagram shows two lines with equations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, which intersect at 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Determine the coordinates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i="1" dirty="0"/>
                  <a:t>(We did this in a previous lesson)</a:t>
                </a:r>
              </a:p>
              <a:p>
                <a:pPr/>
                <a:r>
                  <a:rPr lang="en-GB" b="1" dirty="0"/>
                  <a:t>     Just solve two equations</a:t>
                </a:r>
                <a:br>
                  <a:rPr lang="en-GB" b="1" dirty="0"/>
                </a:br>
                <a:r>
                  <a:rPr lang="en-GB" b="1" dirty="0"/>
                  <a:t>     simultaneously.</a:t>
                </a:r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b)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intersects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at 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. Determine the area of the triangle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𝑂𝑃𝑄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Area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47" y="691884"/>
                <a:ext cx="3616527" cy="5967531"/>
              </a:xfrm>
              <a:prstGeom prst="rect">
                <a:avLst/>
              </a:prstGeom>
              <a:blipFill>
                <a:blip r:embed="rId6"/>
                <a:stretch>
                  <a:fillRect l="-1347" t="-511" r="-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625064" y="2321965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64" y="2321965"/>
                <a:ext cx="608037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26214" y="443711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14" y="4437112"/>
                <a:ext cx="608037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2391" y="443711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91" y="4437112"/>
                <a:ext cx="608037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333766" y="5897099"/>
            <a:ext cx="3458847" cy="7841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24770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c5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1043608" y="1340768"/>
            <a:ext cx="0" cy="309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043608" y="4437112"/>
            <a:ext cx="3672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H="1" flipV="1">
            <a:off x="539552" y="1594603"/>
            <a:ext cx="3186662" cy="32745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66044" y="1844824"/>
            <a:ext cx="3854060" cy="18466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93155" y="1499428"/>
                <a:ext cx="2000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55" y="1499428"/>
                <a:ext cx="200009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52461" y="3537003"/>
                <a:ext cx="1648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461" y="3537003"/>
                <a:ext cx="164812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18100" y="2710404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100" y="2710404"/>
                <a:ext cx="608037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2391" y="443711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91" y="4437112"/>
                <a:ext cx="608037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7386" y="321996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86" y="3219962"/>
                <a:ext cx="608037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483466" y="771055"/>
                <a:ext cx="3168352" cy="4313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length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b="1" dirty="0"/>
                  <a:t>Distance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𝑷𝑸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466" y="771055"/>
                <a:ext cx="3168352" cy="4313425"/>
              </a:xfrm>
              <a:prstGeom prst="rect">
                <a:avLst/>
              </a:prstGeom>
              <a:blipFill>
                <a:blip r:embed="rId9"/>
                <a:stretch>
                  <a:fillRect l="-1734" t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575627" y="1257711"/>
            <a:ext cx="3279062" cy="37714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19917" y="2006732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17" y="2006732"/>
                <a:ext cx="60803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25996" y="5205515"/>
                <a:ext cx="3168352" cy="144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area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𝑃𝑄𝑅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pPr/>
                <a:r>
                  <a:rPr lang="en-GB" b="1" dirty="0"/>
                  <a:t>Use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𝑹𝑸</m:t>
                    </m:r>
                  </m:oMath>
                </a14:m>
                <a:r>
                  <a:rPr lang="en-GB" b="1" dirty="0"/>
                  <a:t> as the base:</a:t>
                </a:r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96" y="5205515"/>
                <a:ext cx="3168352" cy="1441933"/>
              </a:xfrm>
              <a:prstGeom prst="rect">
                <a:avLst/>
              </a:prstGeom>
              <a:blipFill>
                <a:blip r:embed="rId11"/>
                <a:stretch>
                  <a:fillRect l="-1538" t="-25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5599593" y="5507665"/>
            <a:ext cx="3279062" cy="12256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48064" y="813585"/>
            <a:ext cx="288032" cy="30334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064" y="5215064"/>
            <a:ext cx="288032" cy="30334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82" y="5169422"/>
            <a:ext cx="3023823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When finding areas of triangles in exam questions, one line is often vertical or horizontal. You should generally choose this to be the ‘base’ of your triangle.</a:t>
            </a:r>
          </a:p>
        </p:txBody>
      </p:sp>
    </p:spTree>
    <p:extLst>
      <p:ext uri="{BB962C8B-B14F-4D97-AF65-F5344CB8AC3E}">
        <p14:creationId xmlns:p14="http://schemas.microsoft.com/office/powerpoint/2010/main" val="25329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4" grpId="0" animBg="1"/>
      <p:bldP spid="20" grpId="0" animBg="1"/>
    </p:bldLst>
  </p:timing>
</p:sld>
</file>

<file path=ppt/c5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1043608" y="1340768"/>
            <a:ext cx="0" cy="4320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043608" y="4437112"/>
            <a:ext cx="3672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889" y="4238012"/>
                <a:ext cx="36004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958529"/>
                <a:ext cx="36004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H="1" flipV="1">
            <a:off x="539552" y="1594604"/>
            <a:ext cx="4321026" cy="19064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55576" y="1868760"/>
            <a:ext cx="3960440" cy="37032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02852" y="1684094"/>
                <a:ext cx="2000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852" y="1684094"/>
                <a:ext cx="200009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121056" y="1665471"/>
                <a:ext cx="1648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056" y="1665471"/>
                <a:ext cx="164812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75856" y="2547806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547806"/>
                <a:ext cx="608037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1014" y="4306185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14" y="4306185"/>
                <a:ext cx="608037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6426" y="1736338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6" y="1736338"/>
                <a:ext cx="608037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292080" y="1340768"/>
                <a:ext cx="3672408" cy="3724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a) Determine the coordinate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→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b) Determine the area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𝑃𝑄𝑅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c) Determine the length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𝑫𝒊𝒔𝒕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𝟒𝟓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1340768"/>
                <a:ext cx="3672408" cy="3724033"/>
              </a:xfrm>
              <a:prstGeom prst="rect">
                <a:avLst/>
              </a:prstGeom>
              <a:blipFill rotWithShape="0">
                <a:blip r:embed="rId9"/>
                <a:stretch>
                  <a:fillRect l="-1327" t="-9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15591" y="5075965"/>
                <a:ext cx="6080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1" y="5075965"/>
                <a:ext cx="608037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5613818" y="1691043"/>
            <a:ext cx="2942353" cy="622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1648" y="2754971"/>
            <a:ext cx="2942353" cy="10985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1648" y="4393572"/>
            <a:ext cx="2942353" cy="840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65864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</p:bldLst>
  </p:timing>
</p:sld>
</file>

<file path=ppt/c5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5G – Pure Y1 Page 102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2BB3A46-CCF8-BAB1-873E-F420CA561C15}"/>
              </a:ext>
            </a:extLst>
          </p:cNvPr>
          <p:cNvGrpSpPr/>
          <p:nvPr/>
        </p:nvGrpSpPr>
        <p:grpSpPr>
          <a:xfrm>
            <a:off x="179512" y="676192"/>
            <a:ext cx="7812360" cy="648072"/>
            <a:chOff x="0" y="692696"/>
            <a:chExt cx="7812360" cy="64807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DACEDE3-E08A-A62F-D29D-8753A47C3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92696"/>
              <a:ext cx="7772400" cy="55400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67F32F-9DF9-C810-3F34-94BA72173F89}"/>
                </a:ext>
              </a:extLst>
            </p:cNvPr>
            <p:cNvSpPr/>
            <p:nvPr/>
          </p:nvSpPr>
          <p:spPr>
            <a:xfrm>
              <a:off x="7236296" y="908720"/>
              <a:ext cx="57606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FB6BBA-CD8F-1174-1571-FAB0991B153D}"/>
              </a:ext>
            </a:extLst>
          </p:cNvPr>
          <p:cNvGrpSpPr/>
          <p:nvPr/>
        </p:nvGrpSpPr>
        <p:grpSpPr>
          <a:xfrm>
            <a:off x="179511" y="3212976"/>
            <a:ext cx="5400581" cy="1080120"/>
            <a:chOff x="179512" y="3284984"/>
            <a:chExt cx="4896544" cy="93610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869357-93BC-512E-DB7E-73330DB2A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3284984"/>
              <a:ext cx="4822304" cy="81257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E9151F-B8B3-808C-1497-EFE96DE121E5}"/>
                </a:ext>
              </a:extLst>
            </p:cNvPr>
            <p:cNvSpPr/>
            <p:nvPr/>
          </p:nvSpPr>
          <p:spPr>
            <a:xfrm>
              <a:off x="3995936" y="4005064"/>
              <a:ext cx="1080120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4A43C4B-E2B6-974D-F83E-03C92C8B3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307264"/>
            <a:ext cx="2808302" cy="142177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8E0ECD-E03A-FBF5-A395-8071D5011E99}"/>
              </a:ext>
            </a:extLst>
          </p:cNvPr>
          <p:cNvCxnSpPr>
            <a:cxnSpLocks/>
          </p:cNvCxnSpPr>
          <p:nvPr/>
        </p:nvCxnSpPr>
        <p:spPr>
          <a:xfrm>
            <a:off x="3275846" y="1307264"/>
            <a:ext cx="0" cy="1734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6E52B28-5D21-94C5-73F5-D39B9BC7B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1257910"/>
            <a:ext cx="2787485" cy="17839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770EDD-84C3-6F23-DCA3-EC1AA53C8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095" y="1230199"/>
            <a:ext cx="2451594" cy="156902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33576B-A014-79D2-C022-50611A86DBE2}"/>
              </a:ext>
            </a:extLst>
          </p:cNvPr>
          <p:cNvCxnSpPr>
            <a:cxnSpLocks/>
          </p:cNvCxnSpPr>
          <p:nvPr/>
        </p:nvCxnSpPr>
        <p:spPr>
          <a:xfrm>
            <a:off x="6300192" y="1257910"/>
            <a:ext cx="0" cy="1734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26CA1E-BD63-2A35-F7F7-9638540F6455}"/>
              </a:ext>
            </a:extLst>
          </p:cNvPr>
          <p:cNvGrpSpPr/>
          <p:nvPr/>
        </p:nvGrpSpPr>
        <p:grpSpPr>
          <a:xfrm>
            <a:off x="396078" y="4274400"/>
            <a:ext cx="3581400" cy="2394960"/>
            <a:chOff x="396078" y="4221088"/>
            <a:chExt cx="3581400" cy="239496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4145D70-ED04-08DF-4618-AB8E99D892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65916"/>
            <a:stretch/>
          </p:blipFill>
          <p:spPr>
            <a:xfrm>
              <a:off x="396078" y="4221088"/>
              <a:ext cx="3581400" cy="56273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91CE21D-A553-9CDF-3EA5-74B163DED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0567" y="4761302"/>
              <a:ext cx="2755900" cy="2921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A63B03F-226E-A0F1-AEA8-8D22558DB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6145" y="5076011"/>
              <a:ext cx="2451100" cy="3175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A20F39E-C113-3DC0-04A4-C66D72C43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932946" y="5076011"/>
              <a:ext cx="685800" cy="3175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093D6B-E2EB-B127-3AA1-3DF6318F4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5046" y="5511085"/>
              <a:ext cx="2590800" cy="3556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78FE66F-DE3F-5585-DCDC-53D11B5CA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12317" y="5513597"/>
              <a:ext cx="368300" cy="3556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49B41C5-CEB4-D864-A1B4-BCFE45675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8337" y="5925247"/>
              <a:ext cx="2336800" cy="3556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E34B532-A0F5-1A93-7EE2-D233E478A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94798" y="5914237"/>
              <a:ext cx="673100" cy="3556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A70EE1C-4F0C-9095-923A-9F34F21A0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2317" y="6339409"/>
              <a:ext cx="2692400" cy="2667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568D862-B6F5-A5E2-C180-1B45DB0A1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29778" y="6362048"/>
              <a:ext cx="647700" cy="254000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4BEC3703-E820-EBD8-766B-44289CE1B82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4985" y="4321641"/>
            <a:ext cx="3225800" cy="5207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C4B0972-069D-D07E-B957-1684D2E88BD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8787" y="4796846"/>
            <a:ext cx="2019300" cy="20193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7DA25B7-A8B1-CD09-13ED-ACD521AE61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0579" y="5013284"/>
            <a:ext cx="2578100" cy="9525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0EF5CFE-1858-1D56-0EA4-D07C512A4E93}"/>
              </a:ext>
            </a:extLst>
          </p:cNvPr>
          <p:cNvSpPr/>
          <p:nvPr/>
        </p:nvSpPr>
        <p:spPr>
          <a:xfrm>
            <a:off x="396078" y="1199348"/>
            <a:ext cx="8424394" cy="192141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2C30D9-B64C-097E-8C26-8E9230AB9FE1}"/>
              </a:ext>
            </a:extLst>
          </p:cNvPr>
          <p:cNvSpPr/>
          <p:nvPr/>
        </p:nvSpPr>
        <p:spPr>
          <a:xfrm>
            <a:off x="361895" y="4251176"/>
            <a:ext cx="3830597" cy="25132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D6447B-9149-4113-39CA-90D237366177}"/>
              </a:ext>
            </a:extLst>
          </p:cNvPr>
          <p:cNvSpPr/>
          <p:nvPr/>
        </p:nvSpPr>
        <p:spPr>
          <a:xfrm>
            <a:off x="4263043" y="4251176"/>
            <a:ext cx="4725636" cy="25132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264706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>
</file>

<file path=ppt/c5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5G – Pure Y1 Page 103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7C90A17-A445-C176-10CE-C95C47CEF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21674"/>
            <a:ext cx="7772400" cy="22034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FF71B2-D70E-5926-C393-5D54D0C9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852936"/>
            <a:ext cx="3048000" cy="1993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1A90A0-611D-A449-9F14-817835C2B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543252"/>
            <a:ext cx="3048000" cy="1054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E6E87C-46C8-1830-9527-85C970CC3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93574"/>
            <a:ext cx="3187700" cy="2006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832EE2-38C2-03E0-5502-B80F8C934B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275" y="4725144"/>
            <a:ext cx="2425700" cy="774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CCB3EC-A788-FEA7-8CA8-41A63EBA0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5610870"/>
            <a:ext cx="3492500" cy="101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79C9B07-0E14-3FF8-8679-28B947DDFF8D}"/>
              </a:ext>
            </a:extLst>
          </p:cNvPr>
          <p:cNvSpPr/>
          <p:nvPr/>
        </p:nvSpPr>
        <p:spPr>
          <a:xfrm>
            <a:off x="443351" y="2825145"/>
            <a:ext cx="3830597" cy="26746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8E0E5B-CE5A-B069-09CB-D6010BEAD477}"/>
              </a:ext>
            </a:extLst>
          </p:cNvPr>
          <p:cNvSpPr/>
          <p:nvPr/>
        </p:nvSpPr>
        <p:spPr>
          <a:xfrm>
            <a:off x="4465779" y="2825145"/>
            <a:ext cx="3830597" cy="26746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F27BB8-D7FB-20D5-AD05-DB6F477DD750}"/>
              </a:ext>
            </a:extLst>
          </p:cNvPr>
          <p:cNvSpPr/>
          <p:nvPr/>
        </p:nvSpPr>
        <p:spPr>
          <a:xfrm>
            <a:off x="443351" y="5610870"/>
            <a:ext cx="3830597" cy="105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D796FA-549F-8AEE-BD89-E538B562072B}"/>
              </a:ext>
            </a:extLst>
          </p:cNvPr>
          <p:cNvSpPr/>
          <p:nvPr/>
        </p:nvSpPr>
        <p:spPr>
          <a:xfrm>
            <a:off x="4465779" y="5610870"/>
            <a:ext cx="3830597" cy="105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 </a:t>
            </a:r>
          </a:p>
        </p:txBody>
      </p:sp>
    </p:spTree>
    <p:extLst>
      <p:ext uri="{BB962C8B-B14F-4D97-AF65-F5344CB8AC3E}">
        <p14:creationId xmlns:p14="http://schemas.microsoft.com/office/powerpoint/2010/main" val="69500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c5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5G – Pure Y1 Page 102-103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81022" y="182974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21" y="2141021"/>
                <a:ext cx="6639251" cy="2990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2001 1C]</a:t>
                </a:r>
              </a:p>
              <a:p>
                <a:r>
                  <a:rPr lang="en-GB" sz="1600" dirty="0"/>
                  <a:t>The shortest distance from the origin to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GB" dirty="0"/>
                  <a:t> is what?</a:t>
                </a:r>
              </a:p>
              <a:p>
                <a:endParaRPr lang="en-GB" b="1" dirty="0"/>
              </a:p>
              <a:p>
                <a:r>
                  <a:rPr lang="en-GB" b="1" dirty="0"/>
                  <a:t>Gradient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en-GB" b="1" dirty="0"/>
                  <a:t>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b="1" dirty="0"/>
                  <a:t>. Therefore gradient of line going through origin and closest point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b="1" dirty="0"/>
                  <a:t> (see diagram). This line therefore has equation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Solving two equations simultaneously, we get point of intersection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b="1" dirty="0"/>
                  <a:t>Therefore distance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𝑶𝑨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b="1" dirty="0"/>
                  <a:t>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21" y="2141021"/>
                <a:ext cx="6639251" cy="2990755"/>
              </a:xfrm>
              <a:prstGeom prst="rect">
                <a:avLst/>
              </a:prstGeom>
              <a:blipFill>
                <a:blip r:embed="rId2"/>
                <a:stretch>
                  <a:fillRect l="-826" t="-611" b="-2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1257745" y="5427512"/>
            <a:ext cx="1512168" cy="1290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 rot="2574543">
                <a:off x="1482648" y="5968862"/>
                <a:ext cx="18073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74543">
                <a:off x="1482648" y="5968862"/>
                <a:ext cx="180739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940222" y="6375589"/>
            <a:ext cx="129131" cy="12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593663" y="5671136"/>
            <a:ext cx="129131" cy="12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1024903" y="5715189"/>
            <a:ext cx="622300" cy="7048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7797" y="6142705"/>
                <a:ext cx="5250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97" y="6142705"/>
                <a:ext cx="52509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65225" y="2213365"/>
            <a:ext cx="201509" cy="2218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380" y="2950350"/>
            <a:ext cx="6448286" cy="3795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33536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c5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5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