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46.xml" ContentType="application/vnd.openxmlformats-officedocument.presentationml.slide+xml"/>
  <ns0:Override PartName="/ppt/c14/ppt/slides/slide47.xml" ContentType="application/vnd.openxmlformats-officedocument.presentationml.slide+xml"/>
  <ns0:Override PartName="/ppt/c14/ppt/slides/slide48.xml" ContentType="application/vnd.openxmlformats-officedocument.presentationml.slide+xml"/>
  <ns0:Override PartName="/ppt/c14/ppt/slides/slide49.xml" ContentType="application/vnd.openxmlformats-officedocument.presentationml.slide+xml"/>
  <ns0:Override PartName="/ppt/c14/ppt/slides/slide50.xml" ContentType="application/vnd.openxmlformats-officedocument.presentationml.slide+xml"/>
  <ns0:Override PartName="/ppt/c14/ppt/slides/slide51.xml" ContentType="application/vnd.openxmlformats-officedocument.presentationml.slide+xml"/>
  <ns0:Override PartName="/ppt/c14/ppt/slides/slide52.xml" ContentType="application/vnd.openxmlformats-officedocument.presentationml.slide+xml"/>
  <ns0:Override PartName="/ppt/c14/ppt/slides/slide53.xml" ContentType="application/vnd.openxmlformats-officedocument.presentationml.slide+xml"/>
  <ns0:Override PartName="/ppt/c14/ppt/slides/slide54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1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46.xml" /><ns0:Relationship Id="rId2" Type="http://schemas.openxmlformats.org/officeDocument/2006/relationships/slide" Target="c14/ppt/slides/slide47.xml" /><ns0:Relationship Id="rId3" Type="http://schemas.openxmlformats.org/officeDocument/2006/relationships/slide" Target="c14/ppt/slides/slide48.xml" /><ns0:Relationship Id="rId4" Type="http://schemas.openxmlformats.org/officeDocument/2006/relationships/slide" Target="c14/ppt/slides/slide49.xml" /><ns0:Relationship Id="rId5" Type="http://schemas.openxmlformats.org/officeDocument/2006/relationships/slide" Target="c14/ppt/slides/slide50.xml" /><ns0:Relationship Id="rId6" Type="http://schemas.openxmlformats.org/officeDocument/2006/relationships/slide" Target="c14/ppt/slides/slide51.xml" /><ns0:Relationship Id="rId7" Type="http://schemas.openxmlformats.org/officeDocument/2006/relationships/slide" Target="c14/ppt/slides/slide52.xml" /><ns0:Relationship Id="rId8" Type="http://schemas.openxmlformats.org/officeDocument/2006/relationships/slide" Target="c14/ppt/slides/slide53.xml" /><ns0:Relationship Id="rId9" Type="http://schemas.openxmlformats.org/officeDocument/2006/relationships/slide" Target="c14/ppt/slides/slide54.xml" /><ns0:Relationship Id="rId10" Type="http://schemas.openxmlformats.org/officeDocument/2006/relationships/slideMaster" Target="c14/ppt/slideMasters/slideMaster1.xml" /><ns0:Relationship Id="rId11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46.xml.rels><?xml version='1.0' encoding='utf-8'?>
<ns0:Relationships xmlns:ns0="http://schemas.openxmlformats.org/package/2006/relationships"><ns0:Relationship Id="rId2" Type="http://schemas.openxmlformats.org/officeDocument/2006/relationships/image" Target="../media/image300.png" /><ns0:Relationship Id="rId1" Type="http://schemas.openxmlformats.org/officeDocument/2006/relationships/slideLayout" Target="../slideLayouts/slideLayout2.xml" /></ns0:Relationships>
</file>

<file path=ppt/c14/ppt/slides/_rels/slide47.xml.rels><?xml version='1.0' encoding='utf-8'?>
<ns0:Relationships xmlns:ns0="http://schemas.openxmlformats.org/package/2006/relationships"><ns0:Relationship Id="rId2" Type="http://schemas.openxmlformats.org/officeDocument/2006/relationships/image" Target="../media/image300.jpeg" /><ns0:Relationship Id="rId1" Type="http://schemas.openxmlformats.org/officeDocument/2006/relationships/slideLayout" Target="../slideLayouts/slideLayout2.xml" /></ns0:Relationships>
</file>

<file path=ppt/c14/ppt/slides/_rels/slide48.xml.rels><?xml version='1.0' encoding='utf-8'?>
<ns0:Relationships xmlns:ns0="http://schemas.openxmlformats.org/package/2006/relationships"><ns0:Relationship Id="rId3" Type="http://schemas.openxmlformats.org/officeDocument/2006/relationships/image" Target="../media/image303.png" /><ns0:Relationship Id="rId2" Type="http://schemas.openxmlformats.org/officeDocument/2006/relationships/image" Target="../media/image302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304.png" /></ns0:Relationships>
</file>

<file path=ppt/c14/ppt/slides/_rels/slide49.xml.rels><?xml version='1.0' encoding='utf-8'?>
<ns0:Relationships xmlns:ns0="http://schemas.openxmlformats.org/package/2006/relationships"><ns0:Relationship Id="rId8" Type="http://schemas.openxmlformats.org/officeDocument/2006/relationships/image" Target="../media/image311.png" /><ns0:Relationship Id="rId13" Type="http://schemas.openxmlformats.org/officeDocument/2006/relationships/image" Target="../media/image316.png" /><ns0:Relationship Id="rId3" Type="http://schemas.openxmlformats.org/officeDocument/2006/relationships/image" Target="../media/image306.png" /><ns0:Relationship Id="rId7" Type="http://schemas.openxmlformats.org/officeDocument/2006/relationships/image" Target="../media/image310.png" /><ns0:Relationship Id="rId12" Type="http://schemas.openxmlformats.org/officeDocument/2006/relationships/image" Target="../media/image315.png" /><ns0:Relationship Id="rId2" Type="http://schemas.openxmlformats.org/officeDocument/2006/relationships/image" Target="../media/image305.png" /><ns0:Relationship Id="rId16" Type="http://schemas.openxmlformats.org/officeDocument/2006/relationships/image" Target="../media/image31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09.png" /><ns0:Relationship Id="rId11" Type="http://schemas.openxmlformats.org/officeDocument/2006/relationships/image" Target="../media/image314.png" /><ns0:Relationship Id="rId5" Type="http://schemas.openxmlformats.org/officeDocument/2006/relationships/image" Target="../media/image308.png" /><ns0:Relationship Id="rId15" Type="http://schemas.openxmlformats.org/officeDocument/2006/relationships/image" Target="../media/image318.png" /><ns0:Relationship Id="rId10" Type="http://schemas.openxmlformats.org/officeDocument/2006/relationships/image" Target="../media/image313.png" /><ns0:Relationship Id="rId4" Type="http://schemas.openxmlformats.org/officeDocument/2006/relationships/image" Target="../media/image307.png" /><ns0:Relationship Id="rId9" Type="http://schemas.openxmlformats.org/officeDocument/2006/relationships/image" Target="../media/image312.png" /><ns0:Relationship Id="rId14" Type="http://schemas.openxmlformats.org/officeDocument/2006/relationships/image" Target="../media/image317.png" /></ns0:Relationships>
</file>

<file path=ppt/c14/ppt/slides/_rels/slide50.xml.rels><?xml version='1.0' encoding='utf-8'?>
<ns0:Relationships xmlns:ns0="http://schemas.openxmlformats.org/package/2006/relationships"><ns0:Relationship Id="rId8" Type="http://schemas.openxmlformats.org/officeDocument/2006/relationships/image" Target="../media/image326.png" /><ns0:Relationship Id="rId3" Type="http://schemas.openxmlformats.org/officeDocument/2006/relationships/image" Target="../media/image321.png" /><ns0:Relationship Id="rId7" Type="http://schemas.openxmlformats.org/officeDocument/2006/relationships/image" Target="../media/image325.png" /><ns0:Relationship Id="rId2" Type="http://schemas.openxmlformats.org/officeDocument/2006/relationships/image" Target="../media/image32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24.png" /><ns0:Relationship Id="rId5" Type="http://schemas.openxmlformats.org/officeDocument/2006/relationships/image" Target="../media/image323.png" /><ns0:Relationship Id="rId10" Type="http://schemas.openxmlformats.org/officeDocument/2006/relationships/image" Target="../media/image328.png" /><ns0:Relationship Id="rId4" Type="http://schemas.openxmlformats.org/officeDocument/2006/relationships/image" Target="../media/image322.png" /><ns0:Relationship Id="rId9" Type="http://schemas.openxmlformats.org/officeDocument/2006/relationships/image" Target="../media/image327.png" /></ns0:Relationships>
</file>

<file path=ppt/c14/ppt/slides/_rels/slide51.xml.rels><?xml version='1.0' encoding='utf-8'?>
<ns0:Relationships xmlns:ns0="http://schemas.openxmlformats.org/package/2006/relationships"><ns0:Relationship Id="rId8" Type="http://schemas.openxmlformats.org/officeDocument/2006/relationships/image" Target="../media/image335.png" /><ns0:Relationship Id="rId3" Type="http://schemas.openxmlformats.org/officeDocument/2006/relationships/image" Target="../media/image330.png" /><ns0:Relationship Id="rId7" Type="http://schemas.openxmlformats.org/officeDocument/2006/relationships/image" Target="../media/image334.png" /><ns0:Relationship Id="rId2" Type="http://schemas.openxmlformats.org/officeDocument/2006/relationships/image" Target="../media/image32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33.png" /><ns0:Relationship Id="rId5" Type="http://schemas.openxmlformats.org/officeDocument/2006/relationships/image" Target="../media/image332.png" /><ns0:Relationship Id="rId4" Type="http://schemas.openxmlformats.org/officeDocument/2006/relationships/image" Target="../media/image331.png" /><ns0:Relationship Id="rId9" Type="http://schemas.openxmlformats.org/officeDocument/2006/relationships/image" Target="../media/image336.png" /></ns0:Relationships>
</file>

<file path=ppt/c14/ppt/slides/_rels/slide52.xml.rels><?xml version='1.0' encoding='utf-8'?>
<ns0:Relationships xmlns:ns0="http://schemas.openxmlformats.org/package/2006/relationships"><ns0:Relationship Id="rId3" Type="http://schemas.openxmlformats.org/officeDocument/2006/relationships/image" Target="../media/image338.png" /><ns0:Relationship Id="rId7" Type="http://schemas.openxmlformats.org/officeDocument/2006/relationships/image" Target="../media/image342.png" /><ns0:Relationship Id="rId2" Type="http://schemas.openxmlformats.org/officeDocument/2006/relationships/image" Target="../media/image33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41.png" /><ns0:Relationship Id="rId5" Type="http://schemas.openxmlformats.org/officeDocument/2006/relationships/image" Target="../media/image340.png" /><ns0:Relationship Id="rId4" Type="http://schemas.openxmlformats.org/officeDocument/2006/relationships/image" Target="../media/image339.png" /></ns0:Relationships>
</file>

<file path=ppt/c14/ppt/slides/_rels/slide53.xml.rels><?xml version='1.0' encoding='utf-8'?>
<ns0:Relationships xmlns:ns0="http://schemas.openxmlformats.org/package/2006/relationships"><ns0:Relationship Id="rId3" Type="http://schemas.openxmlformats.org/officeDocument/2006/relationships/image" Target="../media/image343.png" /><ns0:Relationship Id="rId2" Type="http://schemas.openxmlformats.org/officeDocument/2006/relationships/image" Target="../media/image30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46.png" /><ns0:Relationship Id="rId5" Type="http://schemas.openxmlformats.org/officeDocument/2006/relationships/image" Target="../media/image345.png" /><ns0:Relationship Id="rId4" Type="http://schemas.openxmlformats.org/officeDocument/2006/relationships/image" Target="../media/image344.png" /></ns0:Relationships>
</file>

<file path=ppt/c14/ppt/slides/_rels/slide54.xml.rels><?xml version='1.0' encoding='utf-8'?>
<ns0:Relationships xmlns:ns0="http://schemas.openxmlformats.org/package/2006/relationships"><ns0:Relationship Id="rId3" Type="http://schemas.openxmlformats.org/officeDocument/2006/relationships/image" Target="../media/image348.png" /><ns0:Relationship Id="rId2" Type="http://schemas.openxmlformats.org/officeDocument/2006/relationships/image" Target="../media/image34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51.png" /><ns0:Relationship Id="rId5" Type="http://schemas.openxmlformats.org/officeDocument/2006/relationships/image" Target="../media/image350.png" /><ns0:Relationship Id="rId4" Type="http://schemas.openxmlformats.org/officeDocument/2006/relationships/image" Target="../media/image349.png" /></ns0:Relationships>
</file>

<file path=ppt/c14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Graphs for Exponential Data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934050" y="835586"/>
            <a:ext cx="8194398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Science and Economics, </a:t>
            </a:r>
            <a:r>
              <a:rPr lang="en-GB" b="1" dirty="0"/>
              <a:t>experimental data often has exponential growth</a:t>
            </a:r>
            <a:r>
              <a:rPr lang="en-GB" dirty="0"/>
              <a:t>, e.g. bacteria in a sample, rabbit populations, energy produced by earthquakes, my Twitter followers over time, etc.</a:t>
            </a:r>
          </a:p>
          <a:p>
            <a:endParaRPr lang="en-GB" sz="400" dirty="0"/>
          </a:p>
          <a:p>
            <a:r>
              <a:rPr lang="en-GB" dirty="0"/>
              <a:t>Because exponential functions increase rapidly, it tends to look a bit rubbish if we tried to draw a suitable graph: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7950" y="2658545"/>
            <a:ext cx="4054851" cy="95410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400" dirty="0"/>
              <a:t>Take for example “Moore’s Law”, which hypothesised that the processing power of computers would double every 2 years. Suppose we tried to plot this for computers we sampled over time: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112346" y="3905279"/>
            <a:ext cx="0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112346" y="620953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15707" y="623271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6570" y="62210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7544" y="62210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132" y="62095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2000</a:t>
            </a:r>
          </a:p>
        </p:txBody>
      </p:sp>
      <p:sp>
        <p:nvSpPr>
          <p:cNvPr id="17" name="Oval 16"/>
          <p:cNvSpPr/>
          <p:nvPr/>
        </p:nvSpPr>
        <p:spPr>
          <a:xfrm>
            <a:off x="2066210" y="608853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2288165" y="60822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2491773" y="609820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2678645" y="6012057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065597" y="5881295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3296903" y="559792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3543442" y="475175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3758163" y="396277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>
            <a:off x="2119312" y="3873500"/>
            <a:ext cx="1652588" cy="2308225"/>
          </a:xfrm>
          <a:custGeom>
            <a:avLst/>
            <a:gdLst>
              <a:gd name="connsiteX0" fmla="*/ 0 w 1689100"/>
              <a:gd name="connsiteY0" fmla="*/ 2279650 h 2279650"/>
              <a:gd name="connsiteX1" fmla="*/ 469900 w 1689100"/>
              <a:gd name="connsiteY1" fmla="*/ 2184400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982662 w 1689100"/>
              <a:gd name="connsiteY2" fmla="*/ 2033587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4338"/>
              <a:gd name="connsiteY0" fmla="*/ 2232025 h 2238923"/>
              <a:gd name="connsiteX1" fmla="*/ 469900 w 1684338"/>
              <a:gd name="connsiteY1" fmla="*/ 2227262 h 2238923"/>
              <a:gd name="connsiteX2" fmla="*/ 1101725 w 1684338"/>
              <a:gd name="connsiteY2" fmla="*/ 2038349 h 2238923"/>
              <a:gd name="connsiteX3" fmla="*/ 1387476 w 1684338"/>
              <a:gd name="connsiteY3" fmla="*/ 1343025 h 2238923"/>
              <a:gd name="connsiteX4" fmla="*/ 1684338 w 1684338"/>
              <a:gd name="connsiteY4" fmla="*/ 0 h 2238923"/>
              <a:gd name="connsiteX0" fmla="*/ 0 w 1684338"/>
              <a:gd name="connsiteY0" fmla="*/ 2232025 h 2232025"/>
              <a:gd name="connsiteX1" fmla="*/ 508000 w 1684338"/>
              <a:gd name="connsiteY1" fmla="*/ 2198687 h 2232025"/>
              <a:gd name="connsiteX2" fmla="*/ 1101725 w 1684338"/>
              <a:gd name="connsiteY2" fmla="*/ 2038349 h 2232025"/>
              <a:gd name="connsiteX3" fmla="*/ 1387476 w 1684338"/>
              <a:gd name="connsiteY3" fmla="*/ 1343025 h 2232025"/>
              <a:gd name="connsiteX4" fmla="*/ 1684338 w 1684338"/>
              <a:gd name="connsiteY4" fmla="*/ 0 h 2232025"/>
              <a:gd name="connsiteX0" fmla="*/ 0 w 1684338"/>
              <a:gd name="connsiteY0" fmla="*/ 2232025 h 2232025"/>
              <a:gd name="connsiteX1" fmla="*/ 508000 w 1684338"/>
              <a:gd name="connsiteY1" fmla="*/ 2198687 h 2232025"/>
              <a:gd name="connsiteX2" fmla="*/ 1101725 w 1684338"/>
              <a:gd name="connsiteY2" fmla="*/ 2038349 h 2232025"/>
              <a:gd name="connsiteX3" fmla="*/ 1387476 w 1684338"/>
              <a:gd name="connsiteY3" fmla="*/ 1343025 h 2232025"/>
              <a:gd name="connsiteX4" fmla="*/ 1684338 w 1684338"/>
              <a:gd name="connsiteY4" fmla="*/ 0 h 2232025"/>
              <a:gd name="connsiteX0" fmla="*/ 0 w 1684338"/>
              <a:gd name="connsiteY0" fmla="*/ 2232025 h 2232955"/>
              <a:gd name="connsiteX1" fmla="*/ 508000 w 1684338"/>
              <a:gd name="connsiteY1" fmla="*/ 2198687 h 2232955"/>
              <a:gd name="connsiteX2" fmla="*/ 1101725 w 1684338"/>
              <a:gd name="connsiteY2" fmla="*/ 2038349 h 2232955"/>
              <a:gd name="connsiteX3" fmla="*/ 1387476 w 1684338"/>
              <a:gd name="connsiteY3" fmla="*/ 1343025 h 2232955"/>
              <a:gd name="connsiteX4" fmla="*/ 1684338 w 1684338"/>
              <a:gd name="connsiteY4" fmla="*/ 0 h 2232955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387476 w 1684338"/>
              <a:gd name="connsiteY3" fmla="*/ 134302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387476 w 1684338"/>
              <a:gd name="connsiteY3" fmla="*/ 134302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406526 w 1684338"/>
              <a:gd name="connsiteY3" fmla="*/ 140017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406526 w 1684338"/>
              <a:gd name="connsiteY3" fmla="*/ 1400175 h 2232608"/>
              <a:gd name="connsiteX4" fmla="*/ 1684338 w 1684338"/>
              <a:gd name="connsiteY4" fmla="*/ 0 h 2232608"/>
              <a:gd name="connsiteX0" fmla="*/ 0 w 1646238"/>
              <a:gd name="connsiteY0" fmla="*/ 2232025 h 2232608"/>
              <a:gd name="connsiteX1" fmla="*/ 508000 w 1646238"/>
              <a:gd name="connsiteY1" fmla="*/ 2198687 h 2232608"/>
              <a:gd name="connsiteX2" fmla="*/ 1101725 w 1646238"/>
              <a:gd name="connsiteY2" fmla="*/ 2038349 h 2232608"/>
              <a:gd name="connsiteX3" fmla="*/ 1406526 w 1646238"/>
              <a:gd name="connsiteY3" fmla="*/ 1400175 h 2232608"/>
              <a:gd name="connsiteX4" fmla="*/ 1646238 w 1646238"/>
              <a:gd name="connsiteY4" fmla="*/ 0 h 2232608"/>
              <a:gd name="connsiteX0" fmla="*/ 0 w 1646238"/>
              <a:gd name="connsiteY0" fmla="*/ 2232025 h 2232608"/>
              <a:gd name="connsiteX1" fmla="*/ 508000 w 1646238"/>
              <a:gd name="connsiteY1" fmla="*/ 2198687 h 2232608"/>
              <a:gd name="connsiteX2" fmla="*/ 1101725 w 1646238"/>
              <a:gd name="connsiteY2" fmla="*/ 2038349 h 2232608"/>
              <a:gd name="connsiteX3" fmla="*/ 1406526 w 1646238"/>
              <a:gd name="connsiteY3" fmla="*/ 1400175 h 2232608"/>
              <a:gd name="connsiteX4" fmla="*/ 1646238 w 1646238"/>
              <a:gd name="connsiteY4" fmla="*/ 0 h 2232608"/>
              <a:gd name="connsiteX0" fmla="*/ 0 w 1652588"/>
              <a:gd name="connsiteY0" fmla="*/ 2289175 h 2289413"/>
              <a:gd name="connsiteX1" fmla="*/ 514350 w 1652588"/>
              <a:gd name="connsiteY1" fmla="*/ 2198687 h 2289413"/>
              <a:gd name="connsiteX2" fmla="*/ 1108075 w 1652588"/>
              <a:gd name="connsiteY2" fmla="*/ 2038349 h 2289413"/>
              <a:gd name="connsiteX3" fmla="*/ 1412876 w 1652588"/>
              <a:gd name="connsiteY3" fmla="*/ 1400175 h 2289413"/>
              <a:gd name="connsiteX4" fmla="*/ 1652588 w 1652588"/>
              <a:gd name="connsiteY4" fmla="*/ 0 h 2289413"/>
              <a:gd name="connsiteX0" fmla="*/ 0 w 1652588"/>
              <a:gd name="connsiteY0" fmla="*/ 2289175 h 2290153"/>
              <a:gd name="connsiteX1" fmla="*/ 565150 w 1652588"/>
              <a:gd name="connsiteY1" fmla="*/ 2243137 h 2290153"/>
              <a:gd name="connsiteX2" fmla="*/ 1108075 w 1652588"/>
              <a:gd name="connsiteY2" fmla="*/ 2038349 h 2290153"/>
              <a:gd name="connsiteX3" fmla="*/ 1412876 w 1652588"/>
              <a:gd name="connsiteY3" fmla="*/ 1400175 h 2290153"/>
              <a:gd name="connsiteX4" fmla="*/ 1652588 w 1652588"/>
              <a:gd name="connsiteY4" fmla="*/ 0 h 2290153"/>
              <a:gd name="connsiteX0" fmla="*/ 0 w 1652588"/>
              <a:gd name="connsiteY0" fmla="*/ 2308225 h 2308698"/>
              <a:gd name="connsiteX1" fmla="*/ 565150 w 1652588"/>
              <a:gd name="connsiteY1" fmla="*/ 2243137 h 2308698"/>
              <a:gd name="connsiteX2" fmla="*/ 1108075 w 1652588"/>
              <a:gd name="connsiteY2" fmla="*/ 2038349 h 2308698"/>
              <a:gd name="connsiteX3" fmla="*/ 1412876 w 1652588"/>
              <a:gd name="connsiteY3" fmla="*/ 1400175 h 2308698"/>
              <a:gd name="connsiteX4" fmla="*/ 1652588 w 1652588"/>
              <a:gd name="connsiteY4" fmla="*/ 0 h 2308698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12876 w 1652588"/>
              <a:gd name="connsiteY3" fmla="*/ 1400175 h 2308225"/>
              <a:gd name="connsiteX4" fmla="*/ 1652588 w 1652588"/>
              <a:gd name="connsiteY4" fmla="*/ 0 h 2308225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12876 w 1652588"/>
              <a:gd name="connsiteY3" fmla="*/ 1400175 h 2308225"/>
              <a:gd name="connsiteX4" fmla="*/ 1652588 w 1652588"/>
              <a:gd name="connsiteY4" fmla="*/ 0 h 2308225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38276 w 1652588"/>
              <a:gd name="connsiteY3" fmla="*/ 1409700 h 2308225"/>
              <a:gd name="connsiteX4" fmla="*/ 1652588 w 1652588"/>
              <a:gd name="connsiteY4" fmla="*/ 0 h 230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2588" h="2308225">
                <a:moveTo>
                  <a:pt x="0" y="2308225"/>
                </a:moveTo>
                <a:cubicBezTo>
                  <a:pt x="262996" y="2296584"/>
                  <a:pt x="367771" y="2272241"/>
                  <a:pt x="565150" y="2243137"/>
                </a:cubicBezTo>
                <a:cubicBezTo>
                  <a:pt x="762529" y="2214033"/>
                  <a:pt x="962554" y="2177255"/>
                  <a:pt x="1108075" y="2038349"/>
                </a:cubicBezTo>
                <a:cubicBezTo>
                  <a:pt x="1253596" y="1899443"/>
                  <a:pt x="1361018" y="1814512"/>
                  <a:pt x="1438276" y="1409700"/>
                </a:cubicBezTo>
                <a:cubicBezTo>
                  <a:pt x="1572685" y="738188"/>
                  <a:pt x="1549930" y="966787"/>
                  <a:pt x="1652588" y="0"/>
                </a:cubicBezTo>
              </a:path>
            </a:pathLst>
          </a:cu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3597335" y="403691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3535069" y="518526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2900600" y="60491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3690837" y="452142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3633745" y="42003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 rot="16200000">
            <a:off x="954132" y="4758826"/>
            <a:ext cx="192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Number of transistors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3117" y="607325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760" y="4378822"/>
            <a:ext cx="1719177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If we tried to force all the data onto the graph, we would end up making most of the data close to the horizontal axis. This is not ideal.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065157" y="2223117"/>
                <a:ext cx="4483100" cy="24622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But suppose we </a:t>
                </a:r>
                <a:r>
                  <a:rPr lang="en-GB" sz="1400" b="1" dirty="0"/>
                  <a:t>took the log </a:t>
                </a:r>
                <a:r>
                  <a:rPr lang="en-GB" sz="1400" dirty="0"/>
                  <a:t>of the number of transistors for each computer. Suppose the number of transistors one year was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, then doubled 2 years later to get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When we log (base 2) these: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→ 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  →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                           =1+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The logged value only increased by 1! Thus </a:t>
                </a:r>
                <a:r>
                  <a:rPr lang="en-GB" sz="1400" b="1" dirty="0"/>
                  <a:t>taking the log of the values turns </a:t>
                </a:r>
                <a:r>
                  <a:rPr lang="en-GB" sz="1400" b="1" u="sng" dirty="0"/>
                  <a:t>exponential growth</a:t>
                </a:r>
                <a:r>
                  <a:rPr lang="en-GB" sz="1400" b="1" dirty="0"/>
                  <a:t> into </a:t>
                </a:r>
                <a:r>
                  <a:rPr lang="en-GB" sz="1400" b="1" u="sng" dirty="0"/>
                  <a:t>linear growth</a:t>
                </a:r>
                <a:r>
                  <a:rPr lang="en-GB" sz="1400" b="1" dirty="0"/>
                  <a:t> (because each time we would have doubled, we’re now just adding 1), and the resulting graph is a straight line.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7" y="2223117"/>
                <a:ext cx="4483100" cy="24622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V="1">
            <a:off x="7064456" y="625792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67817" y="628110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680" y="626939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9654" y="626939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0242" y="625792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5227" y="61256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Year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7061200" y="5003801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7061200" y="5127971"/>
            <a:ext cx="2347168" cy="80488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16200000">
            <a:off x="6161024" y="5369520"/>
            <a:ext cx="139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log(transistors)</a:t>
            </a:r>
          </a:p>
        </p:txBody>
      </p:sp>
      <p:sp>
        <p:nvSpPr>
          <p:cNvPr id="46" name="Oval 45"/>
          <p:cNvSpPr/>
          <p:nvPr/>
        </p:nvSpPr>
        <p:spPr>
          <a:xfrm>
            <a:off x="7156439" y="572817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7487897" y="58144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/>
          <p:cNvSpPr/>
          <p:nvPr/>
        </p:nvSpPr>
        <p:spPr>
          <a:xfrm>
            <a:off x="7680176" y="555672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/>
          <p:cNvSpPr/>
          <p:nvPr/>
        </p:nvSpPr>
        <p:spPr>
          <a:xfrm>
            <a:off x="7919199" y="568911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8104370" y="54604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/>
          <p:cNvSpPr/>
          <p:nvPr/>
        </p:nvSpPr>
        <p:spPr>
          <a:xfrm>
            <a:off x="8360129" y="555672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/>
          <p:cNvSpPr/>
          <p:nvPr/>
        </p:nvSpPr>
        <p:spPr>
          <a:xfrm>
            <a:off x="8553094" y="529761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8761927" y="539051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8879734" y="516504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/>
          <p:cNvSpPr/>
          <p:nvPr/>
        </p:nvSpPr>
        <p:spPr>
          <a:xfrm>
            <a:off x="8504728" y="542993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/>
          <p:cNvSpPr/>
          <p:nvPr/>
        </p:nvSpPr>
        <p:spPr>
          <a:xfrm>
            <a:off x="8289326" y="538576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/>
          <p:cNvSpPr/>
          <p:nvPr/>
        </p:nvSpPr>
        <p:spPr>
          <a:xfrm>
            <a:off x="9264352" y="522975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/>
          <p:cNvSpPr/>
          <p:nvPr/>
        </p:nvSpPr>
        <p:spPr>
          <a:xfrm>
            <a:off x="9264352" y="502774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9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6" grpId="0"/>
      <p:bldP spid="37" grpId="0"/>
      <p:bldP spid="38" grpId="0"/>
      <p:bldP spid="39" grpId="0"/>
      <p:bldP spid="40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c14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Graphs for Exponential Data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122" name="Picture 2" descr="Image result for graph richter sc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200" y="1378869"/>
            <a:ext cx="3600400" cy="43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0892" y="1358251"/>
            <a:ext cx="43040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the energy involved in </a:t>
            </a:r>
            <a:r>
              <a:rPr lang="en-GB" b="1" dirty="0"/>
              <a:t>earthquakes</a:t>
            </a:r>
            <a:r>
              <a:rPr lang="en-GB" dirty="0"/>
              <a:t> decreases exponentially from the epicentre of the earthquake, such energy values recorded from different earthquakes would </a:t>
            </a:r>
            <a:r>
              <a:rPr lang="en-GB" b="1" dirty="0"/>
              <a:t>vary wildly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Richter Scale </a:t>
            </a:r>
            <a:r>
              <a:rPr lang="en-GB" dirty="0"/>
              <a:t>is a</a:t>
            </a:r>
            <a:r>
              <a:rPr lang="en-GB" b="1" dirty="0"/>
              <a:t> </a:t>
            </a:r>
            <a:r>
              <a:rPr lang="en-GB" b="1" u="sng" dirty="0"/>
              <a:t>logarithmic scale</a:t>
            </a:r>
            <a:r>
              <a:rPr lang="en-GB" dirty="0"/>
              <a:t>, and takes the log (base 10) of the amplitude of the waves, giving a more even spread of values in a more sensible range.</a:t>
            </a:r>
          </a:p>
          <a:p>
            <a:r>
              <a:rPr lang="en-GB" sz="1200" dirty="0"/>
              <a:t>(The largest recorded value on the Richter Scale is 9.5 in Chile in 1960, and 15 would destroy the Earth completely – evil scientists take note)</a:t>
            </a:r>
          </a:p>
          <a:p>
            <a:endParaRPr lang="en-GB" dirty="0"/>
          </a:p>
          <a:p>
            <a:r>
              <a:rPr lang="en-GB" dirty="0"/>
              <a:t>The result is that an earthquake just 1 greater on the Richter scale would in fact be 10 times as powerful.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9980" y="5697899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Richter Scale</a:t>
            </a:r>
          </a:p>
        </p:txBody>
      </p:sp>
    </p:spTree>
    <p:extLst>
      <p:ext uri="{BB962C8B-B14F-4D97-AF65-F5344CB8AC3E}">
        <p14:creationId xmlns:p14="http://schemas.microsoft.com/office/powerpoint/2010/main" val="2839940480"/>
      </p:ext>
    </p:extLst>
  </p:cSld>
  <p:clrMapOvr>
    <a:masterClrMapping/>
  </p:clrMapOvr>
</p:sld>
</file>

<file path=ppt/c14/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Other Non-Linear Growth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823546" y="1936779"/>
            <a:ext cx="0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823546" y="424103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77410" y="412003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2973686" y="403850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3169742" y="4066085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3414688" y="3964359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3702720" y="3795317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3999675" y="336674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195845" y="276876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469363" y="199427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4308535" y="206841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4220507" y="315947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3529782" y="3804159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4344945" y="269160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4344945" y="22318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454318" y="4104759"/>
                <a:ext cx="400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18" y="4104759"/>
                <a:ext cx="4003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632914" y="1544272"/>
                <a:ext cx="400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914" y="1544272"/>
                <a:ext cx="40038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>
            <a:off x="2832100" y="1861820"/>
            <a:ext cx="1633220" cy="2379980"/>
          </a:xfrm>
          <a:custGeom>
            <a:avLst/>
            <a:gdLst>
              <a:gd name="connsiteX0" fmla="*/ 0 w 1816100"/>
              <a:gd name="connsiteY0" fmla="*/ 2273300 h 2273300"/>
              <a:gd name="connsiteX1" fmla="*/ 762000 w 1816100"/>
              <a:gd name="connsiteY1" fmla="*/ 1917700 h 2273300"/>
              <a:gd name="connsiteX2" fmla="*/ 1409700 w 1816100"/>
              <a:gd name="connsiteY2" fmla="*/ 1092200 h 2273300"/>
              <a:gd name="connsiteX3" fmla="*/ 1816100 w 1816100"/>
              <a:gd name="connsiteY3" fmla="*/ 0 h 2273300"/>
              <a:gd name="connsiteX0" fmla="*/ 0 w 1633220"/>
              <a:gd name="connsiteY0" fmla="*/ 2379980 h 2379980"/>
              <a:gd name="connsiteX1" fmla="*/ 762000 w 1633220"/>
              <a:gd name="connsiteY1" fmla="*/ 2024380 h 2379980"/>
              <a:gd name="connsiteX2" fmla="*/ 1409700 w 1633220"/>
              <a:gd name="connsiteY2" fmla="*/ 1198880 h 2379980"/>
              <a:gd name="connsiteX3" fmla="*/ 1633220 w 1633220"/>
              <a:gd name="connsiteY3" fmla="*/ 0 h 2379980"/>
              <a:gd name="connsiteX0" fmla="*/ 0 w 1633220"/>
              <a:gd name="connsiteY0" fmla="*/ 2379980 h 2379980"/>
              <a:gd name="connsiteX1" fmla="*/ 762000 w 1633220"/>
              <a:gd name="connsiteY1" fmla="*/ 2024380 h 2379980"/>
              <a:gd name="connsiteX2" fmla="*/ 1409700 w 1633220"/>
              <a:gd name="connsiteY2" fmla="*/ 1198880 h 2379980"/>
              <a:gd name="connsiteX3" fmla="*/ 1633220 w 1633220"/>
              <a:gd name="connsiteY3" fmla="*/ 0 h 2379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3220" h="2379980">
                <a:moveTo>
                  <a:pt x="0" y="2379980"/>
                </a:moveTo>
                <a:cubicBezTo>
                  <a:pt x="263525" y="2300605"/>
                  <a:pt x="527050" y="2221230"/>
                  <a:pt x="762000" y="2024380"/>
                </a:cubicBezTo>
                <a:cubicBezTo>
                  <a:pt x="996950" y="1827530"/>
                  <a:pt x="1234017" y="1518497"/>
                  <a:pt x="1409700" y="1198880"/>
                </a:cubicBezTo>
                <a:cubicBezTo>
                  <a:pt x="1585383" y="879263"/>
                  <a:pt x="1578821" y="470111"/>
                  <a:pt x="163322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6133528" y="1678139"/>
            <a:ext cx="41762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would also have similar graphing problems if we tried to plot data that followed some </a:t>
            </a:r>
            <a:r>
              <a:rPr lang="en-GB" b="1" dirty="0"/>
              <a:t>polynomial function </a:t>
            </a:r>
            <a:r>
              <a:rPr lang="en-GB" dirty="0"/>
              <a:t>such as a quadratic or cubic.</a:t>
            </a:r>
          </a:p>
          <a:p>
            <a:endParaRPr lang="en-GB" dirty="0"/>
          </a:p>
          <a:p>
            <a:r>
              <a:rPr lang="en-GB" dirty="0"/>
              <a:t>We will therefore look at the process to convert a </a:t>
            </a:r>
            <a:r>
              <a:rPr lang="en-GB" b="1" dirty="0"/>
              <a:t>polynomial graph into a linear one</a:t>
            </a:r>
            <a:r>
              <a:rPr lang="en-GB" dirty="0"/>
              <a:t>, as well as a </a:t>
            </a:r>
            <a:r>
              <a:rPr lang="en-GB" b="1" dirty="0"/>
              <a:t>exponential graph into a linear one…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596780" y="1702211"/>
                <a:ext cx="1067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780" y="1702211"/>
                <a:ext cx="106742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68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30" grpId="0"/>
    </p:bldLst>
  </p:timing>
</p:sld>
</file>

<file path=ppt/c14/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Turning non-linear graphs into linear ones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663228"/>
                <a:ext cx="338437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Case 1</a:t>
                </a:r>
                <a:r>
                  <a:rPr lang="en-GB" dirty="0"/>
                  <a:t>:  Polynomial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Linear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663228"/>
                <a:ext cx="3384376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03259" y="655729"/>
                <a:ext cx="359422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Case 2</a:t>
                </a:r>
                <a:r>
                  <a:rPr lang="en-GB" dirty="0"/>
                  <a:t>:  Exponential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Linear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259" y="655729"/>
                <a:ext cx="3594224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8000" y="1070001"/>
                <a:ext cx="382245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Suppose our original model was a polynomial one*: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Then taking logs of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We can compare this against a straight line: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0" y="1070001"/>
                <a:ext cx="3822452" cy="2062103"/>
              </a:xfrm>
              <a:prstGeom prst="rect">
                <a:avLst/>
              </a:prstGeom>
              <a:blipFill>
                <a:blip r:embed="rId4"/>
                <a:stretch>
                  <a:fillRect l="-957" t="-888" r="-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65300" y="5632028"/>
                <a:ext cx="33904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* We could also allow non-integer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100" dirty="0"/>
                  <a:t>; the term would then not strictly be polynomial, but we’d still say the function had “polynomial growth”.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300" y="5632028"/>
                <a:ext cx="3390404" cy="600164"/>
              </a:xfrm>
              <a:prstGeom prst="rect">
                <a:avLst/>
              </a:prstGeom>
              <a:blipFill>
                <a:blip r:embed="rId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65164" y="3092927"/>
                <a:ext cx="3502248" cy="25545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600" dirty="0"/>
                  <a:t>, then the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6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will be a straight line </a:t>
                </a:r>
                <a:r>
                  <a:rPr lang="en-GB" sz="1600" dirty="0" err="1"/>
                  <a:t>wih</a:t>
                </a:r>
                <a:r>
                  <a:rPr lang="en-GB" sz="1600" dirty="0"/>
                  <a:t> gradient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and vertical intercept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64" y="3092927"/>
                <a:ext cx="3502248" cy="2554545"/>
              </a:xfrm>
              <a:prstGeom prst="rect">
                <a:avLst/>
              </a:prstGeom>
              <a:blipFill>
                <a:blip r:embed="rId6"/>
                <a:stretch>
                  <a:fillRect l="-346" t="-236" r="-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2593008" y="4378052"/>
            <a:ext cx="0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593008" y="5386164"/>
            <a:ext cx="19442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30899" y="5265832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899" y="5265832"/>
                <a:ext cx="637878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4069" y="4159277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069" y="4159277"/>
                <a:ext cx="637878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2593008" y="4493142"/>
            <a:ext cx="1657062" cy="4609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9877" y="4795817"/>
                <a:ext cx="6378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877" y="4795817"/>
                <a:ext cx="637878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829657" y="1068629"/>
                <a:ext cx="4539487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Suppose our original model was an exponential one: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Then taking logs of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Again we can compare this against a straight line: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657" y="1068629"/>
                <a:ext cx="4539487" cy="1815882"/>
              </a:xfrm>
              <a:prstGeom prst="rect">
                <a:avLst/>
              </a:prstGeom>
              <a:blipFill>
                <a:blip r:embed="rId10"/>
                <a:stretch>
                  <a:fillRect l="-671" t="-1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182023" y="3077484"/>
                <a:ext cx="3502248" cy="25545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, then the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600" dirty="0"/>
                  <a:t> against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will be a straight line with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r>
                  <a:rPr lang="en-GB" sz="1600" dirty="0"/>
                  <a:t> and vertical intercept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023" y="3077484"/>
                <a:ext cx="3502248" cy="2554545"/>
              </a:xfrm>
              <a:prstGeom prst="rect">
                <a:avLst/>
              </a:prstGeom>
              <a:blipFill>
                <a:blip r:embed="rId11"/>
                <a:stretch>
                  <a:fillRect l="-345" t="-2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6884467" y="4362609"/>
            <a:ext cx="0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4467" y="5370721"/>
            <a:ext cx="19442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722359" y="5250389"/>
                <a:ext cx="44110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359" y="5250389"/>
                <a:ext cx="441107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565528" y="4143834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528" y="4143834"/>
                <a:ext cx="637878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V="1">
            <a:off x="6884467" y="4477699"/>
            <a:ext cx="1657062" cy="4609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351336" y="4780374"/>
                <a:ext cx="6378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336" y="4780374"/>
                <a:ext cx="637878" cy="307777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346204" y="5631732"/>
                <a:ext cx="5319138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The key difference compared to Case 1 is that we’re </a:t>
                </a:r>
                <a:r>
                  <a:rPr lang="en-GB" sz="1100" b="1" dirty="0"/>
                  <a:t>only logging the </a:t>
                </a:r>
                <a14:m>
                  <m:oMath xmlns:m="http://schemas.openxmlformats.org/officeDocument/2006/math">
                    <m:r>
                      <a:rPr lang="en-GB" sz="11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100" b="1" dirty="0"/>
                  <a:t> values </a:t>
                </a:r>
                <a:r>
                  <a:rPr lang="en-GB" sz="1100" dirty="0"/>
                  <a:t>(e.g. number of transistors), not the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values (e.g. years elapsed). </a:t>
                </a:r>
                <a:r>
                  <a:rPr lang="en-GB" sz="1100" b="1" dirty="0"/>
                  <a:t>Note that you </a:t>
                </a:r>
                <a:r>
                  <a:rPr lang="en-GB" sz="1100" b="1" u="sng" dirty="0"/>
                  <a:t>do not need to memorise</a:t>
                </a:r>
                <a:r>
                  <a:rPr lang="en-GB" sz="1100" b="1" dirty="0"/>
                  <a:t> the contents of these boxes and we will work out from scratch each time…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04" y="5631732"/>
                <a:ext cx="5319138" cy="600164"/>
              </a:xfrm>
              <a:prstGeom prst="rect">
                <a:avLst/>
              </a:prstGeom>
              <a:blipFill>
                <a:blip r:embed="rId1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E73FEC-B1D9-4D57-8CE8-480F59B3F391}"/>
                  </a:ext>
                </a:extLst>
              </p:cNvPr>
              <p:cNvSpPr txBox="1"/>
              <p:nvPr/>
            </p:nvSpPr>
            <p:spPr>
              <a:xfrm>
                <a:off x="2885356" y="6282697"/>
                <a:ext cx="6840760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summary, logging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 </a:t>
                </a:r>
                <a:r>
                  <a:rPr lang="en-GB" sz="1600" b="1" dirty="0"/>
                  <a:t>turns an exponential graph into a linear one</a:t>
                </a:r>
                <a:r>
                  <a:rPr lang="en-GB" sz="1600" dirty="0"/>
                  <a:t>. Logging </a:t>
                </a:r>
                <a:r>
                  <a:rPr lang="en-GB" sz="1600" b="1" dirty="0"/>
                  <a:t>both</a:t>
                </a:r>
                <a:r>
                  <a:rPr lang="en-GB" sz="1600" dirty="0"/>
                  <a:t>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 turns a polynomial graph into a linear one.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E73FEC-B1D9-4D57-8CE8-480F59B3F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56" y="6282697"/>
                <a:ext cx="6840760" cy="584775"/>
              </a:xfrm>
              <a:prstGeom prst="rect">
                <a:avLst/>
              </a:prstGeom>
              <a:blipFill>
                <a:blip r:embed="rId16"/>
                <a:stretch>
                  <a:fillRect l="-266" t="-1000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53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9" grpId="0"/>
      <p:bldP spid="21" grpId="0" animBg="1"/>
      <p:bldP spid="24" grpId="0"/>
      <p:bldP spid="25" grpId="0"/>
      <p:bldP spid="27" grpId="0"/>
      <p:bldP spid="28" grpId="0"/>
      <p:bldP spid="10" grpId="0" animBg="1"/>
    </p:bldLst>
  </p:timing>
</p:sld>
</file>

<file path=ppt/c14/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70099" y="873506"/>
                <a:ext cx="5682086" cy="23083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graph represents the growth of a population of bacteria,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, over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 hours. The graph has a gradient of 0.6 and meets the vertical axis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r>
                  <a:rPr lang="en-GB" sz="1600" dirty="0"/>
                  <a:t> as shown.</a:t>
                </a:r>
              </a:p>
              <a:p>
                <a:r>
                  <a:rPr lang="en-GB" sz="1600" dirty="0"/>
                  <a:t>A scientist suggest that this growth can be modelled by the equation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are constants to be found.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Write down an equation for the line.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Using your answer to part (a) or otherwise, find the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giving them to 3 sf where necessary.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Interpret the meaning of the constant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in this model.</a:t>
                </a:r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99" y="873506"/>
                <a:ext cx="568208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8334456" y="2486025"/>
            <a:ext cx="19033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961927" y="2290204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927" y="2290204"/>
                <a:ext cx="72008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 flipV="1">
            <a:off x="8331200" y="1231901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8331200" y="1549401"/>
            <a:ext cx="1701800" cy="611559"/>
          </a:xfrm>
          <a:prstGeom prst="line">
            <a:avLst/>
          </a:prstGeom>
          <a:ln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875524" y="873720"/>
                <a:ext cx="903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524" y="873720"/>
                <a:ext cx="903433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846569" y="1977008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569" y="1977008"/>
                <a:ext cx="72008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97324" y="3420740"/>
                <a:ext cx="24482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24" y="3420740"/>
                <a:ext cx="2448272" cy="369332"/>
              </a:xfrm>
              <a:prstGeom prst="rect">
                <a:avLst/>
              </a:prstGeom>
              <a:blipFill>
                <a:blip r:embed="rId6"/>
                <a:stretch>
                  <a:fillRect l="-746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65676" y="3373884"/>
                <a:ext cx="4013324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Equation of straight line is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400" dirty="0"/>
                  <a:t> where here: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=0.6,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676" y="3373884"/>
                <a:ext cx="4013324" cy="523220"/>
              </a:xfrm>
              <a:prstGeom prst="rect">
                <a:avLst/>
              </a:prstGeom>
              <a:blipFill>
                <a:blip r:embed="rId7"/>
                <a:stretch>
                  <a:fillRect l="-151" b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>
            <a:stCxn id="38" idx="1"/>
            <a:endCxn id="37" idx="3"/>
          </p:cNvCxnSpPr>
          <p:nvPr/>
        </p:nvCxnSpPr>
        <p:spPr>
          <a:xfrm flipH="1" flipV="1">
            <a:off x="5045596" y="3605406"/>
            <a:ext cx="720080" cy="30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597324" y="3880004"/>
                <a:ext cx="618163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Just like on previous slide, start with the model then log 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𝑡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b="1" u="sng" dirty="0"/>
                  <a:t>Comparing with our straight line equation in (a)</a:t>
                </a:r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=100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=0.6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0.6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=3.98 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24" y="3880004"/>
                <a:ext cx="6181632" cy="1569660"/>
              </a:xfrm>
              <a:prstGeom prst="rect">
                <a:avLst/>
              </a:prstGeom>
              <a:blipFill>
                <a:blip r:embed="rId8"/>
                <a:stretch>
                  <a:fillRect l="-493" t="-1163" b="-1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580432" y="5456572"/>
                <a:ext cx="48075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gives the initial size of the bacteria population.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32" y="5456572"/>
                <a:ext cx="4807520" cy="338554"/>
              </a:xfrm>
              <a:prstGeom prst="rect">
                <a:avLst/>
              </a:prstGeom>
              <a:blipFill>
                <a:blip r:embed="rId9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5874432" y="5854843"/>
            <a:ext cx="324416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Recall that the coefficient of an exponential term gives the ‘initial value’.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5232400" y="6032501"/>
            <a:ext cx="642032" cy="150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608998" y="3367140"/>
            <a:ext cx="7205026" cy="5823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7787" y="5384992"/>
            <a:ext cx="7205026" cy="9930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8200" y="33816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88344" y="393865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88344" y="547858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087468" y="4386313"/>
                <a:ext cx="1891432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 means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468" y="4386313"/>
                <a:ext cx="1891432" cy="584775"/>
              </a:xfrm>
              <a:prstGeom prst="rect">
                <a:avLst/>
              </a:prstGeom>
              <a:blipFill>
                <a:blip r:embed="rId10"/>
                <a:stretch>
                  <a:fillRect l="-1274" t="-1010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/>
          <p:cNvSpPr/>
          <p:nvPr/>
        </p:nvSpPr>
        <p:spPr>
          <a:xfrm>
            <a:off x="2607787" y="3952391"/>
            <a:ext cx="7205026" cy="1425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260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  <p:bldLst>
      <p:bldP spid="58" grpId="0" animBg="1"/>
      <p:bldP spid="62" grpId="0" animBg="1"/>
      <p:bldP spid="61" grpId="0" animBg="1"/>
    </p:bldLst>
  </p:timing>
</p:sld>
</file>

<file path=ppt/c14/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44699" y="746506"/>
                <a:ext cx="7770317" cy="25699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[Textbook] The table below gives the rank (by size) and population of the UK’s largest cities and districts (London is number 1 but has been excluded as an outlier).</a:t>
                </a:r>
              </a:p>
              <a:p>
                <a:endParaRPr lang="en-GB" sz="600" dirty="0"/>
              </a:p>
              <a:p>
                <a:r>
                  <a:rPr lang="en-GB" sz="1400" b="1" dirty="0"/>
                  <a:t>City</a:t>
                </a:r>
                <a:r>
                  <a:rPr lang="en-GB" sz="1400" dirty="0"/>
                  <a:t>		</a:t>
                </a:r>
                <a:r>
                  <a:rPr lang="en-GB" sz="1400" dirty="0" err="1"/>
                  <a:t>B’ham</a:t>
                </a:r>
                <a:r>
                  <a:rPr lang="en-GB" sz="1400" dirty="0"/>
                  <a:t>	Leeds	Glasgow	Sheffield	Bradford</a:t>
                </a:r>
              </a:p>
              <a:p>
                <a:r>
                  <a:rPr lang="en-GB" sz="1400" b="1" dirty="0"/>
                  <a:t>Rank,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GB" sz="1400" dirty="0"/>
                  <a:t>		2	3	4	5	6</a:t>
                </a:r>
              </a:p>
              <a:p>
                <a:r>
                  <a:rPr lang="en-GB" sz="1400" b="1" dirty="0"/>
                  <a:t>Population,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1400" dirty="0"/>
                  <a:t>	1 000 000	730 000	620 000	530 000	480 000</a:t>
                </a:r>
              </a:p>
              <a:p>
                <a:endParaRPr lang="en-GB" sz="1000" dirty="0"/>
              </a:p>
              <a:p>
                <a:r>
                  <a:rPr lang="en-GB" sz="1400" dirty="0"/>
                  <a:t>The relationship between the rank and population can be modelled by the formula:</a:t>
                </a:r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  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 are constants.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Draw a table giving values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to 2dp.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Plot a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4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using the values from your table and draw the line of best fit.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Use your graph to estimate the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 to two significant figures.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699" y="746506"/>
                <a:ext cx="7770317" cy="2569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54350"/>
                  </p:ext>
                </p:extLst>
              </p:nvPr>
            </p:nvGraphicFramePr>
            <p:xfrm>
              <a:off x="2205961" y="3537098"/>
              <a:ext cx="3691255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19116592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3610622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54350"/>
                  </p:ext>
                </p:extLst>
              </p:nvPr>
            </p:nvGraphicFramePr>
            <p:xfrm>
              <a:off x="2205961" y="3537098"/>
              <a:ext cx="3691255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19116592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3610622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" t="-4918" r="-39918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" t="-104918" r="-39918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2855640" y="6237312"/>
            <a:ext cx="19033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37111" y="6054191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111" y="6054191"/>
                <a:ext cx="720080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2852384" y="4983188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54326" y="5238750"/>
            <a:ext cx="1740535" cy="483870"/>
          </a:xfrm>
          <a:prstGeom prst="line">
            <a:avLst/>
          </a:prstGeom>
          <a:ln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96708" y="4625007"/>
                <a:ext cx="903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708" y="4625007"/>
                <a:ext cx="903433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443953" y="4928195"/>
            <a:ext cx="72008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6.4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6.0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5.6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1703" y="6204123"/>
            <a:ext cx="1800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0.2  0.4   0.6   0.8</a:t>
            </a:r>
            <a:endParaRPr lang="en-GB" sz="1600" dirty="0"/>
          </a:p>
        </p:txBody>
      </p:sp>
      <p:sp>
        <p:nvSpPr>
          <p:cNvPr id="19" name="Oval 18"/>
          <p:cNvSpPr/>
          <p:nvPr/>
        </p:nvSpPr>
        <p:spPr>
          <a:xfrm>
            <a:off x="3293790" y="5341466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3622066" y="5425973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892909" y="5499658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4106031" y="5553657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4317664" y="5605015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29682" y="4996482"/>
                <a:ext cx="9098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0.05, 6.16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682" y="4996482"/>
                <a:ext cx="9098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171896" y="5272819"/>
                <a:ext cx="9098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0.77, 5.68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896" y="5272819"/>
                <a:ext cx="90984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962345" y="4493144"/>
            <a:ext cx="1492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Let’s use these points on the line of best fit to determine the gradient.</a:t>
            </a:r>
          </a:p>
        </p:txBody>
      </p:sp>
      <p:cxnSp>
        <p:nvCxnSpPr>
          <p:cNvPr id="29" name="Straight Arrow Connector 28"/>
          <p:cNvCxnSpPr>
            <a:stCxn id="27" idx="2"/>
            <a:endCxn id="26" idx="0"/>
          </p:cNvCxnSpPr>
          <p:nvPr/>
        </p:nvCxnSpPr>
        <p:spPr>
          <a:xfrm flipH="1">
            <a:off x="4626821" y="5047142"/>
            <a:ext cx="81553" cy="225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676651" y="4810125"/>
            <a:ext cx="295275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36080" y="3402372"/>
                <a:ext cx="3985303" cy="2732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First get equation of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5.68−6.16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0.77−0.05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</m:oMath>
                  </m:oMathPara>
                </a14:m>
                <a:endParaRPr lang="en-GB" sz="1400" dirty="0"/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=6.2</m:t>
                    </m:r>
                  </m:oMath>
                </a14:m>
                <a:r>
                  <a:rPr lang="en-GB" sz="1400" dirty="0"/>
                  <a:t>   (reading from the graph)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+6.2</m:t>
                      </m:r>
                    </m:oMath>
                  </m:oMathPara>
                </a14:m>
                <a:endParaRPr lang="en-GB" sz="1400" dirty="0"/>
              </a:p>
              <a:p>
                <a:endParaRPr lang="en-GB" sz="500" dirty="0"/>
              </a:p>
              <a:p>
                <a:r>
                  <a:rPr lang="en-GB" sz="1400" dirty="0"/>
                  <a:t>As with previous example, let’s log the original model so we can compare against our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br>
                  <a:rPr lang="en-GB" sz="1400" dirty="0"/>
                </a:br>
                <a:r>
                  <a:rPr lang="en-GB" sz="1400" dirty="0"/>
                  <a:t>Comparing this with our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=6.2   →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6.2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=1600000 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080" y="3402372"/>
                <a:ext cx="3985303" cy="2732799"/>
              </a:xfrm>
              <a:prstGeom prst="rect">
                <a:avLst/>
              </a:prstGeom>
              <a:blipFill>
                <a:blip r:embed="rId8"/>
                <a:stretch>
                  <a:fillRect l="-459" t="-4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1957801" y="3543546"/>
            <a:ext cx="3931502" cy="773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76400" y="35467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0363" y="4366407"/>
            <a:ext cx="3931502" cy="224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6400" y="436920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848" y="349333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76331" y="3452079"/>
            <a:ext cx="3931502" cy="31618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9BA187-94BE-477F-A184-0241B87A0CD3}"/>
                  </a:ext>
                </a:extLst>
              </p:cNvPr>
              <p:cNvSpPr txBox="1"/>
              <p:nvPr/>
            </p:nvSpPr>
            <p:spPr>
              <a:xfrm>
                <a:off x="8606755" y="1983508"/>
                <a:ext cx="1944216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Textbook Error</a:t>
                </a:r>
                <a:r>
                  <a:rPr lang="en-GB" sz="1200" dirty="0"/>
                  <a:t>: They use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200" dirty="0"/>
                  <a:t> but then plot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2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9BA187-94BE-477F-A184-0241B87A0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755" y="1983508"/>
                <a:ext cx="1944216" cy="646331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710E23-ED58-4359-9885-63031E158CED}"/>
              </a:ext>
            </a:extLst>
          </p:cNvPr>
          <p:cNvCxnSpPr>
            <a:stCxn id="14" idx="1"/>
          </p:cNvCxnSpPr>
          <p:nvPr/>
        </p:nvCxnSpPr>
        <p:spPr>
          <a:xfrm flipH="1">
            <a:off x="7680177" y="2306674"/>
            <a:ext cx="926579" cy="11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4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35" grpId="0" animBg="1"/>
      <p:bldP spid="37" grpId="0" animBg="1"/>
      <p:bldP spid="40" grpId="0" animBg="1"/>
    </p:bldLst>
  </p:timing>
</p:sld>
</file>

<file path=ppt/c14/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964016" y="676177"/>
                <a:ext cx="2602384" cy="57861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bIns="0" rtlCol="0">
                <a:spAutoFit/>
              </a:bodyPr>
              <a:lstStyle/>
              <a:p>
                <a:r>
                  <a:rPr lang="en-GB" sz="1200" b="1"/>
                  <a:t>Notes</a:t>
                </a:r>
              </a:p>
              <a:p>
                <a:endParaRPr lang="en-GB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We want to find the </a:t>
                </a:r>
                <a:r>
                  <a:rPr lang="en-GB" sz="1200" b="1" dirty="0"/>
                  <a:t>parameters of a model</a:t>
                </a:r>
                <a:r>
                  <a:rPr lang="en-GB" sz="1200" dirty="0"/>
                  <a:t>, e.g.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200" dirty="0"/>
                  <a:t> that </a:t>
                </a:r>
                <a:r>
                  <a:rPr lang="en-GB" sz="1200" b="1" dirty="0"/>
                  <a:t>best fits the data </a:t>
                </a:r>
                <a:r>
                  <a:rPr lang="en-GB" sz="1200" dirty="0"/>
                  <a:t>(in this case the parameters we want to find are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If the data had a linear trend, then this would be easy! We know from KS3 that we’d just plot the data, find the line of best fit, then use the gradient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to work out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200" dirty="0"/>
                  <a:t> in our linear model.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But the original data wasn’t linear, and it would be harder to draw an ‘exponential curve of best fit’.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We therefore log the model so that the plotted data then roughly forms a straight line, and then we can then draw a (straight) line of best fit.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The gradient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of this line then allows us to estimate the parameters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 in the original model that best fit the data.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100" dirty="0"/>
              </a:p>
              <a:p>
                <a:r>
                  <a:rPr lang="en-GB" sz="1200" dirty="0"/>
                  <a:t>The process of finding parameters in a model, that best fits the data, is known as </a:t>
                </a:r>
                <a:r>
                  <a:rPr lang="en-GB" sz="1200" b="1" u="sng" dirty="0"/>
                  <a:t>regression</a:t>
                </a:r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016" y="676177"/>
                <a:ext cx="2602384" cy="5786199"/>
              </a:xfrm>
              <a:prstGeom prst="rect">
                <a:avLst/>
              </a:prstGeom>
              <a:blipFill>
                <a:blip r:embed="rId2"/>
                <a:stretch>
                  <a:fillRect r="-928" b="-5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4501" y="822707"/>
                <a:ext cx="6109692" cy="31393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website wants to predict his number of Twitter followers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years from the start 2015. He predicts that his followers will increase exponentially according to the model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are constants that he wishes to find.</a:t>
                </a:r>
              </a:p>
              <a:p>
                <a:endParaRPr lang="en-GB" sz="400" dirty="0"/>
              </a:p>
              <a:p>
                <a:r>
                  <a:rPr lang="en-GB" sz="1400" dirty="0"/>
                  <a:t>He records his followers at certain times. Here is the data:</a:t>
                </a:r>
              </a:p>
              <a:p>
                <a:endParaRPr lang="en-GB" sz="600" dirty="0"/>
              </a:p>
              <a:p>
                <a:r>
                  <a:rPr lang="en-GB" sz="1400" b="1" dirty="0"/>
                  <a:t>Years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sz="1400" b="1" dirty="0"/>
                  <a:t> after 2015</a:t>
                </a:r>
                <a:r>
                  <a:rPr lang="en-GB" sz="1400" dirty="0"/>
                  <a:t>:	0.7	1.3	2.2</a:t>
                </a:r>
              </a:p>
              <a:p>
                <a:r>
                  <a:rPr lang="en-GB" sz="1400" b="1" dirty="0"/>
                  <a:t>Followers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1400" dirty="0"/>
                  <a:t>:	2353	3673	7162</a:t>
                </a:r>
              </a:p>
              <a:p>
                <a:endParaRPr lang="en-GB" sz="600" dirty="0"/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Draw a table giving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(to 3dp).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A line of best fit is drawn for the data in your new table, and it happens to go through the first data point above (where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sz="1400" dirty="0"/>
                  <a:t>) and last (where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=2.2</m:t>
                    </m:r>
                  </m:oMath>
                </a14:m>
                <a:r>
                  <a:rPr lang="en-GB" sz="1400" dirty="0"/>
                  <a:t>).</a:t>
                </a:r>
                <a:br>
                  <a:rPr lang="en-GB" sz="1400" dirty="0"/>
                </a:br>
                <a:r>
                  <a:rPr lang="en-GB" sz="1400" dirty="0"/>
                  <a:t>Determine the equation of this line of best fit. (The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-intercept is 3.147)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Hence, determine the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in the model.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Estimate how many followers the website will have at the start of 2020 (when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400" dirty="0"/>
                  <a:t>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1" y="822707"/>
                <a:ext cx="6109692" cy="3139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480942"/>
                  </p:ext>
                </p:extLst>
              </p:nvPr>
            </p:nvGraphicFramePr>
            <p:xfrm>
              <a:off x="1723361" y="4527698"/>
              <a:ext cx="282225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3.372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3.565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3.855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480942"/>
                  </p:ext>
                </p:extLst>
              </p:nvPr>
            </p:nvGraphicFramePr>
            <p:xfrm>
              <a:off x="1723361" y="4527698"/>
              <a:ext cx="282225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" t="-3226" r="-281967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" t="-104918" r="-281967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3.372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3.565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3.855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99000" y="4438799"/>
                <a:ext cx="3060700" cy="932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3.855−3.372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2.2−0.7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=0.322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=3.147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=0.322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+3.147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4438799"/>
                <a:ext cx="3060700" cy="932307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04139" y="5661249"/>
                <a:ext cx="30607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=3.147   →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=1403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=0.322     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=2.099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139" y="5661249"/>
                <a:ext cx="3060700" cy="954107"/>
              </a:xfrm>
              <a:prstGeom prst="rect">
                <a:avLst/>
              </a:prstGeom>
              <a:blipFill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61616" y="5760023"/>
                <a:ext cx="233028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=1403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2.099</m:t>
                              </m:r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=57164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616" y="5760023"/>
                <a:ext cx="2330281" cy="553998"/>
              </a:xfrm>
              <a:prstGeom prst="rect">
                <a:avLst/>
              </a:prstGeom>
              <a:blipFill>
                <a:blip r:embed="rId7"/>
                <a:stretch>
                  <a:fillRect l="-1305" b="-13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587500" y="44103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9001" y="4438799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3215" y="563546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7973" y="558552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6598" y="4522840"/>
            <a:ext cx="2064602" cy="6968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1615" y="4438798"/>
            <a:ext cx="2304385" cy="8952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85624" y="5633882"/>
            <a:ext cx="2470476" cy="957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1034" y="5597903"/>
            <a:ext cx="2470476" cy="957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270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c14/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14H Page 331-333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E60CD0-E552-1282-FEAF-1D6A0231D3D8}"/>
              </a:ext>
            </a:extLst>
          </p:cNvPr>
          <p:cNvGrpSpPr/>
          <p:nvPr/>
        </p:nvGrpSpPr>
        <p:grpSpPr>
          <a:xfrm>
            <a:off x="1532330" y="584776"/>
            <a:ext cx="6579894" cy="3740960"/>
            <a:chOff x="8330" y="584775"/>
            <a:chExt cx="6795918" cy="38637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B7718B-2C7D-43E8-C7AE-1E8BB7200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30" y="584775"/>
              <a:ext cx="6768752" cy="259643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EB3FF4-18EA-7F2B-1A67-86186B872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3181214"/>
              <a:ext cx="6336704" cy="126734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1A484B-1B88-A7F2-4C4C-AA6E8D93570E}"/>
                </a:ext>
              </a:extLst>
            </p:cNvPr>
            <p:cNvSpPr/>
            <p:nvPr/>
          </p:nvSpPr>
          <p:spPr>
            <a:xfrm>
              <a:off x="6345034" y="2348880"/>
              <a:ext cx="459214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FA74065-8EE6-52C0-0288-13AEF427E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0" y="4278864"/>
            <a:ext cx="3101785" cy="25814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AC3AC6-CD76-18E6-8F1B-EC702253D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588" y="4257204"/>
            <a:ext cx="2938636" cy="25794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63E16C-7A8F-7FA0-BA42-122C53485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931" y="4296971"/>
            <a:ext cx="1941447" cy="89368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4739373-0E7A-7B9C-E01E-7AF997E1262B}"/>
              </a:ext>
            </a:extLst>
          </p:cNvPr>
          <p:cNvSpPr/>
          <p:nvPr/>
        </p:nvSpPr>
        <p:spPr>
          <a:xfrm>
            <a:off x="1821863" y="4278864"/>
            <a:ext cx="3099152" cy="5738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7E22ED-0A38-707E-F271-1FCEE91CE7A6}"/>
              </a:ext>
            </a:extLst>
          </p:cNvPr>
          <p:cNvSpPr/>
          <p:nvPr/>
        </p:nvSpPr>
        <p:spPr>
          <a:xfrm>
            <a:off x="1821863" y="4908750"/>
            <a:ext cx="3099152" cy="19046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b?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A23F2B-F75E-CBB6-D1E3-635DB75D115C}"/>
              </a:ext>
            </a:extLst>
          </p:cNvPr>
          <p:cNvSpPr/>
          <p:nvPr/>
        </p:nvSpPr>
        <p:spPr>
          <a:xfrm>
            <a:off x="5044807" y="4276742"/>
            <a:ext cx="3041114" cy="2536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c?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93E13-2C91-A7CF-9B36-17D12D5ED94E}"/>
              </a:ext>
            </a:extLst>
          </p:cNvPr>
          <p:cNvSpPr/>
          <p:nvPr/>
        </p:nvSpPr>
        <p:spPr>
          <a:xfrm>
            <a:off x="8208930" y="4263842"/>
            <a:ext cx="2312818" cy="2536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45020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c14/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14H Page 331-333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9FE318-EA5B-6ED3-A5F7-B64F66C5A277}"/>
              </a:ext>
            </a:extLst>
          </p:cNvPr>
          <p:cNvGrpSpPr/>
          <p:nvPr/>
        </p:nvGrpSpPr>
        <p:grpSpPr>
          <a:xfrm>
            <a:off x="1524000" y="656784"/>
            <a:ext cx="7772400" cy="2988241"/>
            <a:chOff x="0" y="584775"/>
            <a:chExt cx="7772400" cy="29882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1816A2-3F42-CFED-05CA-B93328184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84775"/>
              <a:ext cx="7772400" cy="39620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2A9BFE-7E6A-DEAC-C837-48B12C2AD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" y="993888"/>
              <a:ext cx="6659993" cy="232621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398053-ACB0-CB5F-7659-ABE964E4AB2D}"/>
                </a:ext>
              </a:extLst>
            </p:cNvPr>
            <p:cNvSpPr/>
            <p:nvPr/>
          </p:nvSpPr>
          <p:spPr>
            <a:xfrm>
              <a:off x="6372200" y="1844824"/>
              <a:ext cx="432048" cy="17281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06570C7-DFEA-EA5C-FFF1-F43056C0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86" y="1642298"/>
            <a:ext cx="3097112" cy="15706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EC27BF-3F63-12C6-100B-F39DDF28D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3429000"/>
            <a:ext cx="3403600" cy="3238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A225D3-0CFE-6499-00E1-1CD905191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498" y="3425002"/>
            <a:ext cx="3606800" cy="1790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EFD2FD-BD8D-CCAB-B53B-DAE1F1F1D8CA}"/>
              </a:ext>
            </a:extLst>
          </p:cNvPr>
          <p:cNvSpPr/>
          <p:nvPr/>
        </p:nvSpPr>
        <p:spPr>
          <a:xfrm>
            <a:off x="1752442" y="3433292"/>
            <a:ext cx="3606800" cy="19399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a?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8F7E4-0FCD-1742-6454-4F8BEDB72256}"/>
              </a:ext>
            </a:extLst>
          </p:cNvPr>
          <p:cNvSpPr/>
          <p:nvPr/>
        </p:nvSpPr>
        <p:spPr>
          <a:xfrm>
            <a:off x="1752442" y="5486402"/>
            <a:ext cx="3606800" cy="11810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b?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20CB1C-04D0-453B-7931-093F8A75AA57}"/>
              </a:ext>
            </a:extLst>
          </p:cNvPr>
          <p:cNvSpPr/>
          <p:nvPr/>
        </p:nvSpPr>
        <p:spPr>
          <a:xfrm>
            <a:off x="6000023" y="3433985"/>
            <a:ext cx="3606800" cy="4410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c?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C8D4A1-0D70-C979-5FFC-8313EEC518BB}"/>
              </a:ext>
            </a:extLst>
          </p:cNvPr>
          <p:cNvSpPr/>
          <p:nvPr/>
        </p:nvSpPr>
        <p:spPr>
          <a:xfrm>
            <a:off x="5990970" y="3993380"/>
            <a:ext cx="3606800" cy="2674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7534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