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8.xml" ContentType="application/vnd.openxmlformats-officedocument.presentationml.slide+xml"/>
  <ns0:Override PartName="/ppt/c14/ppt/slides/slide9.xml" ContentType="application/vnd.openxmlformats-officedocument.presentationml.slide+xml"/>
  <ns0:Override PartName="/ppt/c14/ppt/slides/slide10.xml" ContentType="application/vnd.openxmlformats-officedocument.presentationml.slide+xml"/>
  <ns0:Override PartName="/ppt/c14/ppt/slides/slide41.xml" ContentType="application/vnd.openxmlformats-officedocument.presentationml.slide+xml"/>
  <ns0:Override PartName="/ppt/c14/ppt/slides/slide42.xml" ContentType="application/vnd.openxmlformats-officedocument.presentationml.slide+xml"/>
  <ns0:Override PartName="/ppt/c14/ppt/slides/slide43.xml" ContentType="application/vnd.openxmlformats-officedocument.presentationml.slide+xml"/>
  <ns0:Override PartName="/ppt/c14/ppt/slides/slide44.xml" ContentType="application/vnd.openxmlformats-officedocument.presentationml.slide+xml"/>
  <ns0:Override PartName="/ppt/c14/ppt/slides/slide45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9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8.xml" /><ns0:Relationship Id="rId2" Type="http://schemas.openxmlformats.org/officeDocument/2006/relationships/slide" Target="c14/ppt/slides/slide9.xml" /><ns0:Relationship Id="rId3" Type="http://schemas.openxmlformats.org/officeDocument/2006/relationships/slide" Target="c14/ppt/slides/slide10.xml" /><ns0:Relationship Id="rId4" Type="http://schemas.openxmlformats.org/officeDocument/2006/relationships/slide" Target="c14/ppt/slides/slide41.xml" /><ns0:Relationship Id="rId5" Type="http://schemas.openxmlformats.org/officeDocument/2006/relationships/slide" Target="c14/ppt/slides/slide42.xml" /><ns0:Relationship Id="rId6" Type="http://schemas.openxmlformats.org/officeDocument/2006/relationships/slide" Target="c14/ppt/slides/slide43.xml" /><ns0:Relationship Id="rId7" Type="http://schemas.openxmlformats.org/officeDocument/2006/relationships/slide" Target="c14/ppt/slides/slide44.xml" /><ns0:Relationship Id="rId8" Type="http://schemas.openxmlformats.org/officeDocument/2006/relationships/slide" Target="c14/ppt/slides/slide45.xml" /><ns0:Relationship Id="rId9" Type="http://schemas.openxmlformats.org/officeDocument/2006/relationships/slideMaster" Target="c14/ppt/slideMasters/slideMaster1.xml" /><ns0:Relationship Id="rId10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44.png" /><ns0:Relationship Id="rId13" Type="http://schemas.openxmlformats.org/officeDocument/2006/relationships/image" Target="../media/image49.png" /><ns0:Relationship Id="rId18" Type="http://schemas.openxmlformats.org/officeDocument/2006/relationships/image" Target="../media/image54.png" /><ns0:Relationship Id="rId3" Type="http://schemas.openxmlformats.org/officeDocument/2006/relationships/image" Target="../media/image360.png" /><ns0:Relationship Id="rId21" Type="http://schemas.openxmlformats.org/officeDocument/2006/relationships/image" Target="../media/image57.png" /><ns0:Relationship Id="rId7" Type="http://schemas.openxmlformats.org/officeDocument/2006/relationships/image" Target="../media/image43.png" /><ns0:Relationship Id="rId12" Type="http://schemas.openxmlformats.org/officeDocument/2006/relationships/image" Target="../media/image48.png" /><ns0:Relationship Id="rId17" Type="http://schemas.openxmlformats.org/officeDocument/2006/relationships/image" Target="../media/image53.png" /><ns0:Relationship Id="rId2" Type="http://schemas.openxmlformats.org/officeDocument/2006/relationships/image" Target="../media/image39.png" /><ns0:Relationship Id="rId16" Type="http://schemas.openxmlformats.org/officeDocument/2006/relationships/image" Target="../media/image52.png" /><ns0:Relationship Id="rId20" Type="http://schemas.openxmlformats.org/officeDocument/2006/relationships/image" Target="../media/image5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42.png" /><ns0:Relationship Id="rId11" Type="http://schemas.openxmlformats.org/officeDocument/2006/relationships/image" Target="../media/image47.png" /><ns0:Relationship Id="rId5" Type="http://schemas.openxmlformats.org/officeDocument/2006/relationships/image" Target="../media/image41.png" /><ns0:Relationship Id="rId15" Type="http://schemas.openxmlformats.org/officeDocument/2006/relationships/image" Target="../media/image51.png" /><ns0:Relationship Id="rId10" Type="http://schemas.openxmlformats.org/officeDocument/2006/relationships/image" Target="../media/image46.png" /><ns0:Relationship Id="rId19" Type="http://schemas.openxmlformats.org/officeDocument/2006/relationships/image" Target="../media/image55.png" /><ns0:Relationship Id="rId4" Type="http://schemas.openxmlformats.org/officeDocument/2006/relationships/image" Target="../media/image40.png" /><ns0:Relationship Id="rId9" Type="http://schemas.openxmlformats.org/officeDocument/2006/relationships/image" Target="../media/image45.png" /><ns0:Relationship Id="rId14" Type="http://schemas.openxmlformats.org/officeDocument/2006/relationships/image" Target="../media/image50.png" /></ns0:Relationships>
</file>

<file path=ppt/c14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59.png" /><ns0:Relationship Id="rId13" Type="http://schemas.openxmlformats.org/officeDocument/2006/relationships/image" Target="../media/image246.png" /><ns0:Relationship Id="rId18" Type="http://schemas.openxmlformats.org/officeDocument/2006/relationships/image" Target="../media/image450.png" /><ns0:Relationship Id="rId3" Type="http://schemas.openxmlformats.org/officeDocument/2006/relationships/image" Target="../media/image40.png" /><ns0:Relationship Id="rId7" Type="http://schemas.openxmlformats.org/officeDocument/2006/relationships/image" Target="../media/image58.png" /><ns0:Relationship Id="rId12" Type="http://schemas.openxmlformats.org/officeDocument/2006/relationships/image" Target="../media/image49.png" /><ns0:Relationship Id="rId17" Type="http://schemas.openxmlformats.org/officeDocument/2006/relationships/image" Target="../media/image440.png" /><ns0:Relationship Id="rId2" Type="http://schemas.openxmlformats.org/officeDocument/2006/relationships/image" Target="../media/image360.png" /><ns0:Relationship Id="rId16" Type="http://schemas.openxmlformats.org/officeDocument/2006/relationships/image" Target="../media/image151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43.png" /><ns0:Relationship Id="rId11" Type="http://schemas.openxmlformats.org/officeDocument/2006/relationships/image" Target="../media/image48.png" /><ns0:Relationship Id="rId5" Type="http://schemas.openxmlformats.org/officeDocument/2006/relationships/image" Target="../media/image42.png" /><ns0:Relationship Id="rId15" Type="http://schemas.openxmlformats.org/officeDocument/2006/relationships/image" Target="../media/image2510.png" /><ns0:Relationship Id="rId10" Type="http://schemas.openxmlformats.org/officeDocument/2006/relationships/image" Target="../media/image47.png" /><ns0:Relationship Id="rId19" Type="http://schemas.openxmlformats.org/officeDocument/2006/relationships/image" Target="../media/image460.png" /><ns0:Relationship Id="rId4" Type="http://schemas.openxmlformats.org/officeDocument/2006/relationships/image" Target="../media/image41.png" /><ns0:Relationship Id="rId9" Type="http://schemas.openxmlformats.org/officeDocument/2006/relationships/image" Target="../media/image46.png" /><ns0:Relationship Id="rId14" Type="http://schemas.openxmlformats.org/officeDocument/2006/relationships/image" Target="../media/image1410.png" /></ns0:Relationships>
</file>

<file path=ppt/c14/ppt/slides/_rels/slide10.xml.rels><?xml version='1.0' encoding='utf-8'?>
<ns0:Relationships xmlns:ns0="http://schemas.openxmlformats.org/package/2006/relationships"><ns0:Relationship Id="rId8" Type="http://schemas.openxmlformats.org/officeDocument/2006/relationships/image" Target="../media/image65.png" /><ns0:Relationship Id="rId3" Type="http://schemas.openxmlformats.org/officeDocument/2006/relationships/image" Target="../media/image60.png" /><ns0:Relationship Id="rId7" Type="http://schemas.openxmlformats.org/officeDocument/2006/relationships/image" Target="../media/image64.png" /><ns0:Relationship Id="rId2" Type="http://schemas.openxmlformats.org/officeDocument/2006/relationships/image" Target="../media/image43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3.png" /><ns0:Relationship Id="rId5" Type="http://schemas.openxmlformats.org/officeDocument/2006/relationships/image" Target="../media/image62.png" /><ns0:Relationship Id="rId4" Type="http://schemas.openxmlformats.org/officeDocument/2006/relationships/image" Target="../media/image61.png" /><ns0:Relationship Id="rId9" Type="http://schemas.openxmlformats.org/officeDocument/2006/relationships/image" Target="../media/image66.png" /></ns0:Relationships>
</file>

<file path=ppt/c14/ppt/slides/_rels/slide41.xml.rels><?xml version='1.0' encoding='utf-8'?>
<ns0:Relationships xmlns:ns0="http://schemas.openxmlformats.org/package/2006/relationships"><ns0:Relationship Id="rId8" Type="http://schemas.openxmlformats.org/officeDocument/2006/relationships/image" Target="../media/image275.png" /><ns0:Relationship Id="rId3" Type="http://schemas.openxmlformats.org/officeDocument/2006/relationships/image" Target="../media/image270.png" /><ns0:Relationship Id="rId7" Type="http://schemas.openxmlformats.org/officeDocument/2006/relationships/image" Target="../media/image274.png" /><ns0:Relationship Id="rId2" Type="http://schemas.openxmlformats.org/officeDocument/2006/relationships/image" Target="../media/image26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73.png" /><ns0:Relationship Id="rId11" Type="http://schemas.openxmlformats.org/officeDocument/2006/relationships/image" Target="../media/image278.png" /><ns0:Relationship Id="rId5" Type="http://schemas.openxmlformats.org/officeDocument/2006/relationships/image" Target="../media/image272.png" /><ns0:Relationship Id="rId10" Type="http://schemas.openxmlformats.org/officeDocument/2006/relationships/image" Target="../media/image277.png" /><ns0:Relationship Id="rId4" Type="http://schemas.openxmlformats.org/officeDocument/2006/relationships/image" Target="../media/image271.png" /><ns0:Relationship Id="rId9" Type="http://schemas.openxmlformats.org/officeDocument/2006/relationships/image" Target="../media/image276.png" /></ns0:Relationships>
</file>

<file path=ppt/c14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279.png" /><ns0:Relationship Id="rId2" Type="http://schemas.openxmlformats.org/officeDocument/2006/relationships/image" Target="../media/image234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82.png" /><ns0:Relationship Id="rId5" Type="http://schemas.openxmlformats.org/officeDocument/2006/relationships/image" Target="../media/image281.png" /><ns0:Relationship Id="rId4" Type="http://schemas.openxmlformats.org/officeDocument/2006/relationships/image" Target="../media/image280.png" /></ns0:Relationships>
</file>

<file path=ppt/c14/ppt/slides/_rels/slide43.xml.rels><?xml version='1.0' encoding='utf-8'?>
<ns0:Relationships xmlns:ns0="http://schemas.openxmlformats.org/package/2006/relationships"><ns0:Relationship Id="rId3" Type="http://schemas.openxmlformats.org/officeDocument/2006/relationships/image" Target="../media/image284.png" /><ns0:Relationship Id="rId7" Type="http://schemas.openxmlformats.org/officeDocument/2006/relationships/image" Target="../media/image288.png" /><ns0:Relationship Id="rId2" Type="http://schemas.openxmlformats.org/officeDocument/2006/relationships/image" Target="../media/image28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87.png" /><ns0:Relationship Id="rId5" Type="http://schemas.openxmlformats.org/officeDocument/2006/relationships/image" Target="../media/image286.png" /><ns0:Relationship Id="rId4" Type="http://schemas.openxmlformats.org/officeDocument/2006/relationships/image" Target="../media/image285.png" /></ns0:Relationships>
</file>

<file path=ppt/c14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290.png" /><ns0:Relationship Id="rId2" Type="http://schemas.openxmlformats.org/officeDocument/2006/relationships/image" Target="../media/image28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93.png" /><ns0:Relationship Id="rId5" Type="http://schemas.openxmlformats.org/officeDocument/2006/relationships/image" Target="../media/image292.png" /><ns0:Relationship Id="rId4" Type="http://schemas.openxmlformats.org/officeDocument/2006/relationships/image" Target="../media/image291.png" /></ns0:Relationships>
</file>

<file path=ppt/c14/ppt/slides/_rels/slide45.xml.rels><?xml version='1.0' encoding='utf-8'?>
<ns0:Relationships xmlns:ns0="http://schemas.openxmlformats.org/package/2006/relationships"><ns0:Relationship Id="rId3" Type="http://schemas.openxmlformats.org/officeDocument/2006/relationships/image" Target="../media/image295.png" /><ns0:Relationship Id="rId7" Type="http://schemas.openxmlformats.org/officeDocument/2006/relationships/image" Target="../media/image299.png" /><ns0:Relationship Id="rId2" Type="http://schemas.openxmlformats.org/officeDocument/2006/relationships/image" Target="../media/image294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98.png" /><ns0:Relationship Id="rId5" Type="http://schemas.openxmlformats.org/officeDocument/2006/relationships/image" Target="../media/image297.png" /><ns0:Relationship Id="rId4" Type="http://schemas.openxmlformats.org/officeDocument/2006/relationships/image" Target="../media/image296.png" /></ns0:Relationships>
</file>

<file path=ppt/c14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303694" y="599128"/>
                <a:ext cx="5364088" cy="6258873"/>
              </a:xfrm>
              <a:prstGeom prst="rect">
                <a:avLst/>
              </a:prstGeom>
              <a:gradFill>
                <a:gsLst>
                  <a:gs pos="0">
                    <a:schemeClr val="bg2">
                      <a:alpha val="33000"/>
                    </a:schemeClr>
                  </a:gs>
                  <a:gs pos="74000">
                    <a:schemeClr val="bg1">
                      <a:lumMod val="85000"/>
                      <a:alpha val="40000"/>
                    </a:schemeClr>
                  </a:gs>
                  <a:gs pos="83000">
                    <a:schemeClr val="bg1">
                      <a:lumMod val="75000"/>
                      <a:alpha val="10000"/>
                    </a:schemeClr>
                  </a:gs>
                  <a:gs pos="100000">
                    <a:schemeClr val="bg1">
                      <a:lumMod val="65000"/>
                      <a:alpha val="43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You won’t yet be able to differentiate general exponential functions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 until Year 2.</a:t>
                </a:r>
              </a:p>
              <a:p>
                <a:pPr algn="ctr"/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But I’ve calculated the gradient functions for you – click the black arrow to reveal the graph and gradient function.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694" y="599128"/>
                <a:ext cx="5364088" cy="6258873"/>
              </a:xfrm>
              <a:prstGeom prst="rect">
                <a:avLst/>
              </a:prstGeom>
              <a:blipFill>
                <a:blip r:embed="rId2"/>
                <a:stretch>
                  <a:fillRect l="-568" r="-14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1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993479"/>
            <a:ext cx="14401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5680" y="990823"/>
            <a:ext cx="162302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775520" y="38169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816955"/>
                <a:ext cx="1440160" cy="4947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215680" y="13601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3215680" y="184321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/>
        </p:nvSpPr>
        <p:spPr>
          <a:xfrm>
            <a:off x="3215680" y="2335319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215680" y="28287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215680" y="332219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215680" y="38169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=0.41×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4838700" y="1348447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8700" y="1856223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=0.69×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4838700" y="235019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=0.92×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blipFill>
                <a:blip r:embed="rId1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4838700" y="284504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333180" y="3322053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=1.10×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3322053"/>
                <a:ext cx="1505520" cy="501356"/>
              </a:xfrm>
              <a:prstGeom prst="rect">
                <a:avLst/>
              </a:prstGeom>
              <a:blipFill>
                <a:blip r:embed="rId1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4838700" y="333902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333180" y="3806403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=1.25×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3806403"/>
                <a:ext cx="1505520" cy="501356"/>
              </a:xfrm>
              <a:prstGeom prst="rect">
                <a:avLst/>
              </a:prstGeom>
              <a:blipFill>
                <a:blip r:embed="rId15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4838700" y="382337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0924" y="4653136"/>
            <a:ext cx="3026866" cy="1631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000" dirty="0"/>
              <a:t>Compare each exponential function against its respective gradient function. What do you notice?</a:t>
            </a:r>
          </a:p>
        </p:txBody>
      </p:sp>
      <p:pic>
        <p:nvPicPr>
          <p:cNvPr id="1028" name="Picture 4" descr="Graph Plot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721" y="1970340"/>
            <a:ext cx="5178470" cy="319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aph Plot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422" y="1970339"/>
            <a:ext cx="5163914" cy="318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raph Plot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422" y="1983870"/>
            <a:ext cx="5182756" cy="320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aph Plot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88" y="1983870"/>
            <a:ext cx="5180204" cy="31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ph Plot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665" y="1961348"/>
            <a:ext cx="5163194" cy="31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raph Plot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512" y="1986288"/>
            <a:ext cx="5171748" cy="319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54C8D7-F131-41DB-B99D-CBC284862A8C}"/>
              </a:ext>
            </a:extLst>
          </p:cNvPr>
          <p:cNvSpPr txBox="1"/>
          <p:nvPr/>
        </p:nvSpPr>
        <p:spPr>
          <a:xfrm>
            <a:off x="4693692" y="61182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6DB90-A4E8-4A20-86BE-9E136788E21C}"/>
              </a:ext>
            </a:extLst>
          </p:cNvPr>
          <p:cNvCxnSpPr>
            <a:stCxn id="6" idx="2"/>
          </p:cNvCxnSpPr>
          <p:nvPr/>
        </p:nvCxnSpPr>
        <p:spPr>
          <a:xfrm flipH="1">
            <a:off x="5003800" y="981160"/>
            <a:ext cx="85936" cy="263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62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5" grpId="0"/>
      <p:bldP spid="29" grpId="0"/>
      <p:bldP spid="40" grpId="0"/>
      <p:bldP spid="42" grpId="0"/>
      <p:bldP spid="44" grpId="0"/>
      <p:bldP spid="46" grpId="0"/>
    </p:bldLst>
  </p:timing>
</p:sld>
</file>

<file path=ppt/c14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993479"/>
            <a:ext cx="14401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5680" y="990823"/>
            <a:ext cx="162302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215680" y="13601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215680" y="184321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215680" y="2335319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215680" y="28287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215680" y="3322191"/>
                <a:ext cx="1623020" cy="494764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322191"/>
                <a:ext cx="1623020" cy="494764"/>
              </a:xfrm>
              <a:prstGeom prst="rect">
                <a:avLst/>
              </a:prstGeom>
              <a:blipFill>
                <a:blip r:embed="rId8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=0.41×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838700" y="1348447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38700" y="1856223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=0.69×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4838700" y="235019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=0.92×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4838700" y="284504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38700" y="333902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775520" y="3314118"/>
            <a:ext cx="3384376" cy="1000363"/>
            <a:chOff x="251520" y="3806403"/>
            <a:chExt cx="3384376" cy="1000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251520" y="3816955"/>
                  <a:ext cx="1440160" cy="494764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3816955"/>
                  <a:ext cx="1440160" cy="494764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/>
            <p:cNvSpPr/>
            <p:nvPr/>
          </p:nvSpPr>
          <p:spPr>
            <a:xfrm>
              <a:off x="1691680" y="3816955"/>
              <a:ext cx="1623020" cy="4947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809180" y="3806403"/>
                  <a:ext cx="150552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=1.10×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180" y="3806403"/>
                  <a:ext cx="1505520" cy="501356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/>
            <p:cNvSpPr/>
            <p:nvPr/>
          </p:nvSpPr>
          <p:spPr>
            <a:xfrm>
              <a:off x="3314700" y="3823375"/>
              <a:ext cx="321196" cy="490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&gt;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251520" y="4309542"/>
                  <a:ext cx="1440160" cy="494764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3.5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4309542"/>
                  <a:ext cx="1440160" cy="494764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/>
            <p:cNvSpPr/>
            <p:nvPr/>
          </p:nvSpPr>
          <p:spPr>
            <a:xfrm>
              <a:off x="1691680" y="4309542"/>
              <a:ext cx="1623020" cy="4947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1809180" y="4298990"/>
                  <a:ext cx="150552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=1.25×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3.5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180" y="4298990"/>
                  <a:ext cx="1505520" cy="501356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b="-120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/>
            <p:cNvSpPr/>
            <p:nvPr/>
          </p:nvSpPr>
          <p:spPr>
            <a:xfrm>
              <a:off x="3314700" y="4315962"/>
              <a:ext cx="321196" cy="490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&gt;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591944" y="990824"/>
            <a:ext cx="4824536" cy="5365537"/>
            <a:chOff x="4067944" y="990823"/>
            <a:chExt cx="4824536" cy="536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067944" y="990823"/>
                  <a:ext cx="4824536" cy="27853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>
                      <a:latin typeface="+mj-lt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>
                      <a:latin typeface="+mj-lt"/>
                    </a:rPr>
                    <a:t> seem to be similar to their respective gradient functions. So is there a base between 2.5 and 3 where the </a:t>
                  </a:r>
                  <a:r>
                    <a:rPr lang="en-GB" b="1" dirty="0">
                      <a:latin typeface="+mj-lt"/>
                    </a:rPr>
                    <a:t>function</a:t>
                  </a:r>
                  <a:r>
                    <a:rPr lang="en-GB" dirty="0">
                      <a:latin typeface="+mj-lt"/>
                    </a:rPr>
                    <a:t> </a:t>
                  </a:r>
                  <a:r>
                    <a:rPr lang="en-GB" b="1" dirty="0">
                      <a:latin typeface="+mj-lt"/>
                    </a:rPr>
                    <a:t>is equal to its gradient function</a:t>
                  </a:r>
                  <a:r>
                    <a:rPr lang="en-GB" dirty="0">
                      <a:latin typeface="+mj-lt"/>
                    </a:rPr>
                    <a:t>?</a:t>
                  </a:r>
                </a:p>
                <a:p>
                  <a:endParaRPr lang="en-GB" sz="110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GB" sz="19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900" i="1">
                          <a:latin typeface="Cambria Math" panose="02040503050406030204" pitchFamily="18" charset="0"/>
                        </a:rPr>
                        <m:t>=2.71828…</m:t>
                      </m:r>
                    </m:oMath>
                  </a14:m>
                  <a:r>
                    <a:rPr lang="en-GB" sz="1900" dirty="0"/>
                    <a:t> is known as </a:t>
                  </a:r>
                  <a:r>
                    <a:rPr lang="en-GB" sz="1900" b="1" dirty="0"/>
                    <a:t>Euler’s Number.</a:t>
                  </a:r>
                </a:p>
                <a:p>
                  <a:endParaRPr lang="en-GB" sz="800" dirty="0"/>
                </a:p>
                <a:p>
                  <a:r>
                    <a:rPr lang="en-GB" dirty="0"/>
                    <a:t>It is one of the five most fundamental constants in mathematics (0, 1,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GB" dirty="0"/>
                    <a:t>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GB" dirty="0"/>
                    <a:t>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GB" dirty="0"/>
                    <a:t>).</a:t>
                  </a:r>
                </a:p>
                <a:p>
                  <a:endParaRPr lang="en-GB" sz="1100" dirty="0"/>
                </a:p>
                <a:p>
                  <a:r>
                    <a:rPr lang="en-GB" dirty="0"/>
                    <a:t>It has the property that: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7944" y="990823"/>
                  <a:ext cx="4824536" cy="2785378"/>
                </a:xfrm>
                <a:prstGeom prst="rect">
                  <a:avLst/>
                </a:prstGeom>
                <a:blipFill>
                  <a:blip r:embed="rId17"/>
                  <a:stretch>
                    <a:fillRect l="-1010" t="-1316" r="-1515" b="-28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828356" y="3919622"/>
                  <a:ext cx="3168352" cy="618246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       →     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356" y="3919622"/>
                  <a:ext cx="3168352" cy="61824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139952" y="4725144"/>
                  <a:ext cx="4680520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Although any function of the form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is known as </a:t>
                  </a:r>
                  <a:r>
                    <a:rPr lang="en-GB" b="1" dirty="0"/>
                    <a:t>an</a:t>
                  </a:r>
                  <a:r>
                    <a:rPr lang="en-GB" dirty="0"/>
                    <a:t> exponential function,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is known as “</a:t>
                  </a:r>
                  <a:r>
                    <a:rPr lang="en-GB" b="1" dirty="0"/>
                    <a:t>the</a:t>
                  </a:r>
                  <a:r>
                    <a:rPr lang="en-GB" dirty="0"/>
                    <a:t>” exponential function.</a:t>
                  </a:r>
                </a:p>
                <a:p>
                  <a:endParaRPr lang="en-GB" dirty="0"/>
                </a:p>
                <a:p>
                  <a:r>
                    <a:rPr lang="en-GB" sz="1400" dirty="0"/>
                    <a:t>You can find the exponential function on your calculator, to the right (above the “ln” key)</a:t>
                  </a: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952" y="4725144"/>
                  <a:ext cx="4680520" cy="1631216"/>
                </a:xfrm>
                <a:prstGeom prst="rect">
                  <a:avLst/>
                </a:prstGeom>
                <a:blipFill>
                  <a:blip r:embed="rId19"/>
                  <a:stretch>
                    <a:fillRect l="-1042" t="-1866" b="-298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65413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 L 0.00017 0.07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c14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Differentiating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0417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907660"/>
                <a:ext cx="5883448" cy="53565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Wingdings" panose="05000000000000000000" pitchFamily="2" charset="2"/>
                  </a:rPr>
                  <a:t>!</a:t>
                </a:r>
                <a:r>
                  <a:rPr lang="en-GB" sz="2000" dirty="0"/>
                  <a:t> If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is a constant,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907660"/>
                <a:ext cx="5883448" cy="535659"/>
              </a:xfrm>
              <a:prstGeom prst="rect">
                <a:avLst/>
              </a:prstGeom>
              <a:blipFill>
                <a:blip r:embed="rId3"/>
                <a:stretch>
                  <a:fillRect l="-826" b="-5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91544" y="1776630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1776630"/>
                <a:ext cx="3565252" cy="369332"/>
              </a:xfrm>
              <a:prstGeom prst="rect">
                <a:avLst/>
              </a:prstGeom>
              <a:blipFill>
                <a:blip r:embed="rId4"/>
                <a:stretch>
                  <a:fillRect b="-4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51584" y="2276872"/>
                <a:ext cx="201622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2276872"/>
                <a:ext cx="2016224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781652" y="1663363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Note: </a:t>
            </a:r>
            <a:r>
              <a:rPr lang="en-GB" sz="1400" dirty="0"/>
              <a:t>This is not a standalone rule but an application of something called the ‘</a:t>
            </a:r>
            <a:r>
              <a:rPr lang="en-GB" sz="1400" i="1" dirty="0"/>
              <a:t>chain rule</a:t>
            </a:r>
            <a:r>
              <a:rPr lang="en-GB" sz="1400" dirty="0"/>
              <a:t>’, which you will encounter in Year 2.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7968208" y="1268760"/>
            <a:ext cx="864096" cy="394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91544" y="3140968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3140968"/>
                <a:ext cx="3565252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51584" y="3756150"/>
                <a:ext cx="309634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  ∴ 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3756150"/>
                <a:ext cx="3096344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91544" y="4620246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620246"/>
                <a:ext cx="3565252" cy="369332"/>
              </a:xfrm>
              <a:prstGeom prst="rect">
                <a:avLst/>
              </a:prstGeom>
              <a:blipFill>
                <a:blip r:embed="rId8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346772" y="5235428"/>
                <a:ext cx="309634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772" y="5235428"/>
                <a:ext cx="3096344" cy="6182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176120" y="5058861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Note: </a:t>
            </a:r>
            <a:r>
              <a:rPr lang="en-GB" sz="1400" dirty="0"/>
              <a:t>In general, when you scale the function, you scale the derivative/integral.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295900" y="5295900"/>
            <a:ext cx="18415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91544" y="2136694"/>
            <a:ext cx="3565252" cy="7584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1544" y="3510300"/>
            <a:ext cx="3565252" cy="9414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1544" y="4989579"/>
            <a:ext cx="3565252" cy="9414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81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5" grpId="0"/>
      <p:bldP spid="19" grpId="0" animBg="1"/>
      <p:bldP spid="20" grpId="0" animBg="1"/>
      <p:bldP spid="21" grpId="0" animBg="1"/>
    </p:bldLst>
  </p:timing>
</p:sld>
</file>

<file path=ppt/c14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Natural Logarithms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previously seen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is the inverse function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We also saw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“</a:t>
                </a:r>
                <a:r>
                  <a:rPr lang="en-GB" b="1" dirty="0"/>
                  <a:t>the</a:t>
                </a:r>
                <a:r>
                  <a:rPr lang="en-GB" dirty="0"/>
                  <a:t>” exponential function.</a:t>
                </a:r>
              </a:p>
              <a:p>
                <a:r>
                  <a:rPr lang="en-GB" dirty="0"/>
                  <a:t>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but because of its special importance, it has its own function name!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blipFill>
                <a:blip r:embed="rId2"/>
                <a:stretch>
                  <a:fillRect l="-653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The inverse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400" dirty="0"/>
                  <a:t> is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  <a:blipFill>
                <a:blip r:embed="rId3"/>
                <a:stretch>
                  <a:fillRect l="-1582" t="-8861" b="-26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428344" y="2900414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8344" y="3570517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 to the power of” and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dirty="0"/>
                  <a:t> of” are inverse functions, they cancel each other out!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blipFill>
                <a:blip r:embed="rId5"/>
                <a:stretch>
                  <a:fillRect l="-1688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744072" y="3284985"/>
            <a:ext cx="718954" cy="23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blipFill>
                <a:blip r:embed="rId6"/>
                <a:stretch>
                  <a:fillRect l="-215"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+1=5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“ln both sides”. </a:t>
                </a:r>
              </a:p>
              <a:p>
                <a:r>
                  <a:rPr lang="en-GB" sz="1400" dirty="0"/>
                  <a:t>On the LHS it cancels out the “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blipFill>
                <a:blip r:embed="rId9"/>
                <a:stretch>
                  <a:fillRect l="-1176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Do “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 each side. On the LHS it cancels out the ln.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blipFill>
                <a:blip r:embed="rId11"/>
                <a:stretch>
                  <a:fillRect l="-1176" t="-1274" r="-392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 flipV="1">
            <a:off x="8476343" y="6096001"/>
            <a:ext cx="297328" cy="4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74685" y="5191976"/>
            <a:ext cx="3304774" cy="11326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9674" y="5191974"/>
            <a:ext cx="3730782" cy="142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0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21" grpId="0" animBg="1"/>
      <p:bldP spid="22" grpId="0" animBg="1"/>
    </p:bldLst>
  </p:timing>
</p:sld>
</file>

<file path=ppt/c14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Quadratics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4583" b="-270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8973" y="879129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previous chapters we’ve already dealt with quadratics in disguise, e.g. “quadratic in sin”. We therefore just apply our usual approach: either make a suitable substitution so the equation </a:t>
            </a:r>
            <a:r>
              <a:rPr lang="en-GB" b="1" dirty="0"/>
              <a:t>is</a:t>
            </a:r>
            <a:r>
              <a:rPr lang="en-GB" dirty="0"/>
              <a:t> then quadratic, or (strongly recommended!) </a:t>
            </a:r>
            <a:r>
              <a:rPr lang="en-GB" b="1" dirty="0"/>
              <a:t>go straight for the factorisation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−15=0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therefore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Exponential functions are always positive 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blipFill>
                <a:blip r:embed="rId5"/>
                <a:stretch>
                  <a:fillRect l="-1479" t="-2083" r="-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write negative powers as fractions: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blipFill>
                <a:blip r:embed="rId6"/>
                <a:stretch>
                  <a:fillRect l="-1667" t="-14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019299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7071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192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4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=−6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dirty="0"/>
                  <a:t> giving your answer as an exact value.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+1=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938974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428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6357" y="4538737"/>
            <a:ext cx="7285986" cy="2098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42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c14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14G – Y1 Page 327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B5A013-0C3C-A04A-D38D-1C8107226ED5}"/>
              </a:ext>
            </a:extLst>
          </p:cNvPr>
          <p:cNvGrpSpPr/>
          <p:nvPr/>
        </p:nvGrpSpPr>
        <p:grpSpPr>
          <a:xfrm>
            <a:off x="1553080" y="679657"/>
            <a:ext cx="3616277" cy="869397"/>
            <a:chOff x="29079" y="679657"/>
            <a:chExt cx="3030753" cy="7286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76505E9-0A10-AFE8-F6A1-E5BA574C5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6658" r="43018"/>
            <a:stretch/>
          </p:blipFill>
          <p:spPr>
            <a:xfrm>
              <a:off x="29079" y="679657"/>
              <a:ext cx="3030753" cy="49286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28F29C-5FCE-25E6-4EC4-BDE81D0390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313"/>
            <a:stretch/>
          </p:blipFill>
          <p:spPr>
            <a:xfrm>
              <a:off x="323528" y="1074387"/>
              <a:ext cx="2304256" cy="3339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C56E56-C196-8D6F-E28A-CDE6A70D1E4D}"/>
              </a:ext>
            </a:extLst>
          </p:cNvPr>
          <p:cNvGrpSpPr/>
          <p:nvPr/>
        </p:nvGrpSpPr>
        <p:grpSpPr>
          <a:xfrm>
            <a:off x="6023992" y="599128"/>
            <a:ext cx="4509492" cy="1101669"/>
            <a:chOff x="4572002" y="599127"/>
            <a:chExt cx="3888432" cy="9499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504B83-59B9-6BA5-DD50-6950BA044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4" r="32998" b="1"/>
            <a:stretch/>
          </p:blipFill>
          <p:spPr>
            <a:xfrm>
              <a:off x="4572002" y="599127"/>
              <a:ext cx="3888432" cy="49286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68EBA79-45C5-B29A-8AA2-65503CCD43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871" t="-4" b="1"/>
            <a:stretch/>
          </p:blipFill>
          <p:spPr>
            <a:xfrm>
              <a:off x="4860034" y="1056210"/>
              <a:ext cx="1980649" cy="49286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0B1CACB-97C0-D0D8-11DB-69FA87C7F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1798655"/>
            <a:ext cx="2331772" cy="45826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6BBAD3-3EE6-A16E-C5FF-3CDDAE229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096" y="1821083"/>
            <a:ext cx="2953852" cy="24000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BBC2BC3-A3B0-7771-9C09-0409485E5BD7}"/>
              </a:ext>
            </a:extLst>
          </p:cNvPr>
          <p:cNvSpPr/>
          <p:nvPr/>
        </p:nvSpPr>
        <p:spPr>
          <a:xfrm>
            <a:off x="1904414" y="1821082"/>
            <a:ext cx="3626758" cy="45826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76695-FA85-7DC9-2D52-BF8EA437570E}"/>
              </a:ext>
            </a:extLst>
          </p:cNvPr>
          <p:cNvSpPr/>
          <p:nvPr/>
        </p:nvSpPr>
        <p:spPr>
          <a:xfrm>
            <a:off x="6319911" y="1785658"/>
            <a:ext cx="3626758" cy="46180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7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14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14G  – Y1 Page 328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0653D43-820F-AF29-077F-6DA57842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30979"/>
            <a:ext cx="4392489" cy="9678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7C6F2D-FD59-FEE7-063D-62A1557F2CB0}"/>
              </a:ext>
            </a:extLst>
          </p:cNvPr>
          <p:cNvSpPr/>
          <p:nvPr/>
        </p:nvSpPr>
        <p:spPr>
          <a:xfrm>
            <a:off x="5519936" y="1052736"/>
            <a:ext cx="576064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BE7F68-6C00-D63E-7094-7BDB7E10D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1523595"/>
            <a:ext cx="3143359" cy="2141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931EB3-1DCA-C3D6-B50F-FE8C5B9444F8}"/>
                  </a:ext>
                </a:extLst>
              </p:cNvPr>
              <p:cNvSpPr txBox="1"/>
              <p:nvPr/>
            </p:nvSpPr>
            <p:spPr>
              <a:xfrm>
                <a:off x="6168008" y="699023"/>
                <a:ext cx="4248472" cy="119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u="sng" dirty="0"/>
                  <a:t>Challenge</a:t>
                </a:r>
                <a:r>
                  <a:rPr lang="en-GB" sz="1600" b="1" dirty="0"/>
                  <a:t>:    </a:t>
                </a:r>
                <a:r>
                  <a:rPr lang="en-GB" sz="1600" dirty="0"/>
                  <a:t>The graph of the function </a:t>
                </a:r>
              </a:p>
              <a:p>
                <a:r>
                  <a:rPr lang="en-GB" sz="1600" dirty="0"/>
                  <a:t> passes through (0,5) and (6,10). Given that the line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 is an asymptote to the graph, show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931EB3-1DCA-C3D6-B50F-FE8C5B94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699023"/>
                <a:ext cx="4248472" cy="1199496"/>
              </a:xfrm>
              <a:prstGeom prst="rect">
                <a:avLst/>
              </a:prstGeom>
              <a:blipFill>
                <a:blip r:embed="rId4"/>
                <a:stretch>
                  <a:fillRect l="-861" t="-1531" b="-15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A9506E8-50B7-9AE7-A345-CA2B72745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393" y="3794135"/>
            <a:ext cx="1991532" cy="12059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F4E77D-5A68-E18F-0F5F-DC4F3EE8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741" y="3722126"/>
            <a:ext cx="2091109" cy="23345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9CD7C-7524-E609-C5FE-6845DFAF5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700" y="2009797"/>
            <a:ext cx="3073160" cy="29496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26B54E-89BD-85F6-CEDA-F4830252FC42}"/>
              </a:ext>
            </a:extLst>
          </p:cNvPr>
          <p:cNvSpPr/>
          <p:nvPr/>
        </p:nvSpPr>
        <p:spPr>
          <a:xfrm>
            <a:off x="1670386" y="3774798"/>
            <a:ext cx="2013347" cy="25698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020B9-AC3D-1F4C-4379-8FA7F8C27AE0}"/>
              </a:ext>
            </a:extLst>
          </p:cNvPr>
          <p:cNvSpPr/>
          <p:nvPr/>
        </p:nvSpPr>
        <p:spPr>
          <a:xfrm>
            <a:off x="3805933" y="3774798"/>
            <a:ext cx="2074044" cy="25698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5F1C5-84F5-1C84-1EA2-170D0A000246}"/>
              </a:ext>
            </a:extLst>
          </p:cNvPr>
          <p:cNvSpPr/>
          <p:nvPr/>
        </p:nvSpPr>
        <p:spPr>
          <a:xfrm>
            <a:off x="6277393" y="1999988"/>
            <a:ext cx="3816424" cy="42702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8798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