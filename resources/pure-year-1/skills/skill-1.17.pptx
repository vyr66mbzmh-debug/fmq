
<file path=[Content_Types].xml><?xml version="1.0" encoding="utf-8"?>
<ns0:Types xmlns:ns0="http://schemas.openxmlformats.org/package/2006/content-types"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ppt/c1/ppt/slideMasters/slideMaster1.xml" ContentType="application/vnd.openxmlformats-officedocument.presentationml.slideMaster+xml"/>
  <ns0:Override PartName="/ppt/c1/ppt/slides/slide17.xml" ContentType="application/vnd.openxmlformats-officedocument.presentationml.slide+xml"/>
  <ns0:Override PartName="/ppt/c1/ppt/slides/slide18.xml" ContentType="application/vnd.openxmlformats-officedocument.presentationml.slide+xml"/>
  <ns0:Override PartName="/ppt/c1/ppt/slides/slide19.xml" ContentType="application/vnd.openxmlformats-officedocument.presentationml.slide+xml"/>
  <ns0:Override PartName="/ppt/c1/ppt/slides/slide20.xml" ContentType="application/vnd.openxmlformats-officedocument.presentationml.slide+xml"/>
  <ns0:Override PartName="/ppt/c1/ppt/slides/slide21.xml" ContentType="application/vnd.openxmlformats-officedocument.presentationml.slide+xml"/>
  <ns0:Override PartName="/ppt/c1/ppt/notesMasters/notesMaster1.xml" ContentType="application/vnd.openxmlformats-officedocument.presentationml.notesMaster+xml"/>
  <ns0:Override PartName="/ppt/c1/ppt/theme/theme1.xml" ContentType="application/vnd.openxmlformats-officedocument.theme+xml"/>
  <ns0:Override PartName="/ppt/c1/ppt/slideLayouts/slideLayout1.xml" ContentType="application/vnd.openxmlformats-officedocument.presentationml.slideLayout+xml"/>
  <ns0:Override PartName="/ppt/c1/ppt/slideLayouts/slideLayout2.xml" ContentType="application/vnd.openxmlformats-officedocument.presentationml.slideLayout+xml"/>
  <ns0:Override PartName="/ppt/c1/ppt/slideLayouts/slideLayout3.xml" ContentType="application/vnd.openxmlformats-officedocument.presentationml.slideLayout+xml"/>
  <ns0:Override PartName="/ppt/c1/ppt/theme/theme2.xml" ContentType="application/vnd.openxmlformats-officedocument.theme+xml"/>
  <ns0:Override PartName="/ppt/c1/ppt/notesSlides/notesSlide2.xml" ContentType="application/vnd.openxmlformats-officedocument.presentationml.notesSlide+xml"/>
  <ns0:Default Extension="emf" ContentType="image/x-emf"/>
  <ns0:Override PartName="/ppt/c4/ppt/slideMasters/slideMaster1.xml" ContentType="application/vnd.openxmlformats-officedocument.presentationml.slideMaster+xml"/>
  <ns0:Override PartName="/ppt/c4/ppt/slides/slide21.xml" ContentType="application/vnd.openxmlformats-officedocument.presentationml.slide+xml"/>
  <ns0:Override PartName="/ppt/c4/ppt/slides/slide22.xml" ContentType="application/vnd.openxmlformats-officedocument.presentationml.slide+xml"/>
  <ns0:Override PartName="/ppt/c4/ppt/slides/slide23.xml" ContentType="application/vnd.openxmlformats-officedocument.presentationml.slide+xml"/>
  <ns0:Override PartName="/ppt/c4/ppt/slides/slide24.xml" ContentType="application/vnd.openxmlformats-officedocument.presentationml.slide+xml"/>
  <ns0:Override PartName="/ppt/c4/ppt/slides/slide25.xml" ContentType="application/vnd.openxmlformats-officedocument.presentationml.slide+xml"/>
  <ns0:Override PartName="/ppt/c4/ppt/notesMasters/notesMaster1.xml" ContentType="application/vnd.openxmlformats-officedocument.presentationml.notesMaster+xml"/>
  <ns0:Override PartName="/ppt/c4/ppt/theme/theme1.xml" ContentType="application/vnd.openxmlformats-officedocument.theme+xml"/>
  <ns0:Override PartName="/ppt/c4/ppt/slideLayouts/slideLayout1.xml" ContentType="application/vnd.openxmlformats-officedocument.presentationml.slideLayout+xml"/>
  <ns0:Override PartName="/ppt/c4/ppt/slideLayouts/slideLayout2.xml" ContentType="application/vnd.openxmlformats-officedocument.presentationml.slideLayout+xml"/>
  <ns0:Override PartName="/ppt/c4/ppt/slideLayouts/slideLayout3.xml" ContentType="application/vnd.openxmlformats-officedocument.presentationml.slideLayout+xml"/>
  <ns0:Override PartName="/ppt/c4/ppt/theme/theme2.xml" ContentType="application/vnd.openxmlformats-officedocument.theme+xml"/>
  <ns0:Override PartName="/ppt/presentation.xml" ContentType="application/vnd.openxmlformats-officedocument.presentationml.presentation.main+xml"/>
</ns0:Types>
</file>

<file path=_rels/.rels><?xml version='1.0' encoding='utf-8'?>
<ns0:Relationships xmlns:ns0="http://schemas.openxmlformats.org/package/2006/relationships"><ns0:Relationship Id="rId1" Type="http://schemas.openxmlformats.org/officeDocument/2006/relationships/officeDocument" Target="ppt/presentation.xml" /></ns0:Relationships>
</file>

<file path=ppt/presentation.xml><?xml version="1.0" encoding="utf-8"?>
<p:presentation xmlns:p="http://schemas.openxmlformats.org/presentationml/2006/main" xmlns:r="http://schemas.openxmlformats.org/officeDocument/2006/relationships" saveSubsetFonts="1">
  <p:sldMasterIdLst>
    <p:sldMasterId id="2147483748" r:id="rId6"/>
    <p:sldMasterId id="2147484049" r:id="rId13"/>
  </p:sldMasterIdLst>
  <p:notesMasterIdLst>
    <p:notesMasterId r:id="rId7"/>
  </p:notesMasterIdLst>
  <p:sldIdLst>
    <p:sldId id="256" r:id="rId1"/>
    <p:sldId id="257" r:id="rId2"/>
    <p:sldId id="258" r:id="rId3"/>
    <p:sldId id="259" r:id="rId4"/>
    <p:sldId id="260" r:id="rId5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</p:presentation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" Target="c1/ppt/slides/slide17.xml" /><ns0:Relationship Id="rId2" Type="http://schemas.openxmlformats.org/officeDocument/2006/relationships/slide" Target="c1/ppt/slides/slide18.xml" /><ns0:Relationship Id="rId3" Type="http://schemas.openxmlformats.org/officeDocument/2006/relationships/slide" Target="c1/ppt/slides/slide19.xml" /><ns0:Relationship Id="rId4" Type="http://schemas.openxmlformats.org/officeDocument/2006/relationships/slide" Target="c1/ppt/slides/slide20.xml" /><ns0:Relationship Id="rId5" Type="http://schemas.openxmlformats.org/officeDocument/2006/relationships/slide" Target="c1/ppt/slides/slide21.xml" /><ns0:Relationship Id="rId6" Type="http://schemas.openxmlformats.org/officeDocument/2006/relationships/slideMaster" Target="c1/ppt/slideMasters/slideMaster1.xml" /><ns0:Relationship Id="rId7" Type="http://schemas.openxmlformats.org/officeDocument/2006/relationships/notesMaster" Target="c1/ppt/notesMasters/notesMaster1.xml" /><ns0:Relationship Id="rId8" Type="http://schemas.openxmlformats.org/officeDocument/2006/relationships/slide" Target="c4/ppt/slides/slide21.xml" /><ns0:Relationship Id="rId9" Type="http://schemas.openxmlformats.org/officeDocument/2006/relationships/slide" Target="c4/ppt/slides/slide22.xml" /><ns0:Relationship Id="rId10" Type="http://schemas.openxmlformats.org/officeDocument/2006/relationships/slide" Target="c4/ppt/slides/slide23.xml" /><ns0:Relationship Id="rId11" Type="http://schemas.openxmlformats.org/officeDocument/2006/relationships/slide" Target="c4/ppt/slides/slide24.xml" /><ns0:Relationship Id="rId12" Type="http://schemas.openxmlformats.org/officeDocument/2006/relationships/slide" Target="c4/ppt/slides/slide25.xml" /><ns0:Relationship Id="rId13" Type="http://schemas.openxmlformats.org/officeDocument/2006/relationships/slideMaster" Target="c4/ppt/slideMasters/slideMaster1.xml" /><ns0:Relationship Id="rId14" Type="http://schemas.openxmlformats.org/officeDocument/2006/relationships/notesMaster" Target="c4/ppt/notesMasters/notesMaster1.xml" /></ns0:Relationships>
</file>

<file path=ppt/c1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1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1/ppt/notesSlides/_rels/notesSlide2.xml.rels><?xml version='1.0' encoding='utf-8'?>
<ns0:Relationships xmlns:ns0="http://schemas.openxmlformats.org/package/2006/relationships"><ns0:Relationship Id="rId2" Type="http://schemas.openxmlformats.org/officeDocument/2006/relationships/slide" Target="../slides/slide18.xml" /><ns0:Relationship Id="rId1" Type="http://schemas.openxmlformats.org/officeDocument/2006/relationships/notesMaster" Target="../notesMasters/notesMaster1.xml" /></ns0:Relationships>
</file>

<file path=ppt/c1/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F2399-CD51-4C4C-BC34-03B9F40F9CF8}" type="slidenum">
              <a:rPr lang="en-GB" smtClean="0"/>
              <a:pPr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42057664"/>
      </p:ext>
    </p:extLst>
  </p:cSld>
  <p:clrMapOvr>
    <a:masterClrMapping/>
  </p:clrMapOvr>
</p:notes>
</file>

<file path=ppt/c1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1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c1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solidFill>
          <a:srgbClr val="17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88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60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ECDDC1-0B0A-6E37-1995-A8CC6B0F35AF}"/>
              </a:ext>
            </a:extLst>
          </p:cNvPr>
          <p:cNvSpPr/>
          <p:nvPr userDrawn="1"/>
        </p:nvSpPr>
        <p:spPr>
          <a:xfrm>
            <a:off x="8458200" y="116632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0430923"/>
      </p:ext>
    </p:extLst>
  </p:cSld>
  <p:clrMapOvr>
    <a:masterClrMapping/>
  </p:clrMapOvr>
</p:sldLayout>
</file>

<file path=ppt/c1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7351934"/>
      </p:ext>
    </p:extLst>
  </p:cSld>
  <p:clrMapOvr>
    <a:masterClrMapping/>
  </p:clrMapOvr>
</p:sldLayout>
</file>

<file path=ppt/c1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1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12/09/2026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56BE1C5E-5248-9158-42CE-6786A1D85C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C46619E1-8E5E-BED0-8159-D618D0F5B26B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4400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600" i="0" smtClean="0">
                <a:solidFill>
                  <a:schemeClr val="bg1"/>
                </a:solidFill>
              </a:rPr>
              <a:pPr algn="r"/>
              <a:t>‹#›</a:t>
            </a:fld>
            <a:endParaRPr lang="en-GB" sz="1600" i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00100" r:id="rId1"/>
    <p:sldLayoutId id="2147500101" r:id="rId2"/>
    <p:sldLayoutId id="214750010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1/ppt/slides/_rels/slide17.xml.rels><?xml version='1.0' encoding='utf-8'?>
<ns0:Relationships xmlns:ns0="http://schemas.openxmlformats.org/package/2006/relationships"><ns0:Relationship Id="rId8" Type="http://schemas.openxmlformats.org/officeDocument/2006/relationships/image" Target="../media/image87.png" /><ns0:Relationship Id="rId13" Type="http://schemas.openxmlformats.org/officeDocument/2006/relationships/image" Target="../media/image92.png" /><ns0:Relationship Id="rId3" Type="http://schemas.openxmlformats.org/officeDocument/2006/relationships/image" Target="../media/image320.png" /><ns0:Relationship Id="rId7" Type="http://schemas.openxmlformats.org/officeDocument/2006/relationships/image" Target="../media/image86.png" /><ns0:Relationship Id="rId12" Type="http://schemas.openxmlformats.org/officeDocument/2006/relationships/image" Target="../media/image91.png" /><ns0:Relationship Id="rId2" Type="http://schemas.openxmlformats.org/officeDocument/2006/relationships/image" Target="../media/image81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85.png" /><ns0:Relationship Id="rId11" Type="http://schemas.openxmlformats.org/officeDocument/2006/relationships/image" Target="../media/image90.png" /><ns0:Relationship Id="rId5" Type="http://schemas.openxmlformats.org/officeDocument/2006/relationships/image" Target="../media/image840.png" /><ns0:Relationship Id="rId15" Type="http://schemas.openxmlformats.org/officeDocument/2006/relationships/image" Target="../media/image94.png" /><ns0:Relationship Id="rId10" Type="http://schemas.openxmlformats.org/officeDocument/2006/relationships/image" Target="../media/image89.png" /><ns0:Relationship Id="rId4" Type="http://schemas.openxmlformats.org/officeDocument/2006/relationships/image" Target="../media/image830.png" /><ns0:Relationship Id="rId9" Type="http://schemas.openxmlformats.org/officeDocument/2006/relationships/image" Target="../media/image88.png" /><ns0:Relationship Id="rId14" Type="http://schemas.openxmlformats.org/officeDocument/2006/relationships/image" Target="../media/image93.png" /></ns0:Relationships>
</file>

<file path=ppt/c1/ppt/slides/_rels/slide18.xml.rels><?xml version='1.0' encoding='utf-8'?>
<ns0:Relationships xmlns:ns0="http://schemas.openxmlformats.org/package/2006/relationships"><ns0:Relationship Id="rId3" Type="http://schemas.openxmlformats.org/officeDocument/2006/relationships/image" Target="../media/image520.png" /><ns0:Relationship Id="rId2" Type="http://schemas.openxmlformats.org/officeDocument/2006/relationships/notesSlide" Target="../notesSlides/notesSlide2.xml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340.png" /><ns0:Relationship Id="rId4" Type="http://schemas.openxmlformats.org/officeDocument/2006/relationships/image" Target="../media/image95.png" /></ns0:Relationships>
</file>

<file path=ppt/c1/ppt/slides/_rels/slide19.xml.rels><?xml version='1.0' encoding='utf-8'?>
<ns0:Relationships xmlns:ns0="http://schemas.openxmlformats.org/package/2006/relationships"><ns0:Relationship Id="rId3" Type="http://schemas.openxmlformats.org/officeDocument/2006/relationships/image" Target="../media/image98.png" /><ns0:Relationship Id="rId2" Type="http://schemas.openxmlformats.org/officeDocument/2006/relationships/image" Target="../media/image97.png" /><ns0:Relationship Id="rId1" Type="http://schemas.openxmlformats.org/officeDocument/2006/relationships/slideLayout" Target="../slideLayouts/slideLayout1.xml" /><ns0:Relationship Id="rId5" Type="http://schemas.openxmlformats.org/officeDocument/2006/relationships/image" Target="../media/image100.png" /><ns0:Relationship Id="rId4" Type="http://schemas.openxmlformats.org/officeDocument/2006/relationships/image" Target="../media/image99.png" /></ns0:Relationships>
</file>

<file path=ppt/c1/ppt/slides/_rels/slide20.xml.rels><?xml version='1.0' encoding='utf-8'?>
<ns0:Relationships xmlns:ns0="http://schemas.openxmlformats.org/package/2006/relationships"><ns0:Relationship Id="rId3" Type="http://schemas.openxmlformats.org/officeDocument/2006/relationships/image" Target="../media/image96.png" /><ns0:Relationship Id="rId2" Type="http://schemas.openxmlformats.org/officeDocument/2006/relationships/image" Target="../media/image84.png" /><ns0:Relationship Id="rId1" Type="http://schemas.openxmlformats.org/officeDocument/2006/relationships/slideLayout" Target="../slideLayouts/slideLayout1.xml" /></ns0:Relationships>
</file>

<file path=ppt/c1/ppt/slides/_rels/slide21.xml.rels><?xml version='1.0' encoding='utf-8'?>
<ns0:Relationships xmlns:ns0="http://schemas.openxmlformats.org/package/2006/relationships"><ns0:Relationship Id="rId8" Type="http://schemas.openxmlformats.org/officeDocument/2006/relationships/image" Target="../media/image107.png" /><ns0:Relationship Id="rId3" Type="http://schemas.openxmlformats.org/officeDocument/2006/relationships/image" Target="../media/image103.png" /><ns0:Relationship Id="rId7" Type="http://schemas.openxmlformats.org/officeDocument/2006/relationships/image" Target="../media/image106.png" /><ns0:Relationship Id="rId2" Type="http://schemas.openxmlformats.org/officeDocument/2006/relationships/image" Target="../media/image101.png" /><ns0:Relationship Id="rId1" Type="http://schemas.openxmlformats.org/officeDocument/2006/relationships/slideLayout" Target="../slideLayouts/slideLayout1.xml" /><ns0:Relationship Id="rId6" Type="http://schemas.openxmlformats.org/officeDocument/2006/relationships/image" Target="../media/image105.png" /><ns0:Relationship Id="rId11" Type="http://schemas.openxmlformats.org/officeDocument/2006/relationships/image" Target="../media/image110.png" /><ns0:Relationship Id="rId5" Type="http://schemas.openxmlformats.org/officeDocument/2006/relationships/image" Target="../media/image104.png" /><ns0:Relationship Id="rId10" Type="http://schemas.openxmlformats.org/officeDocument/2006/relationships/image" Target="../media/image109.png" /><ns0:Relationship Id="rId4" Type="http://schemas.openxmlformats.org/officeDocument/2006/relationships/image" Target="../media/image102.png" /><ns0:Relationship Id="rId9" Type="http://schemas.openxmlformats.org/officeDocument/2006/relationships/image" Target="../media/image108.png" /></ns0:Relationships>
</file>

<file path=ppt/c1/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4: Negative and Fractional Indices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915233" y="903545"/>
                <a:ext cx="2808312" cy="1672574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  <m:oMath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deg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</m:oMath>
                    <m:oMath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m:rPr>
                                      <m:brk m:alnAt="7"/>
                                    </m:rP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</m:deg>
                                <m:e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  <m:oMath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𝑚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233" y="903545"/>
                <a:ext cx="2808312" cy="167257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39388" y="1006938"/>
                <a:ext cx="4104456" cy="15395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Note</a:t>
                </a:r>
                <a:r>
                  <a:rPr lang="en-GB" dirty="0"/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e>
                    </m:rad>
                  </m:oMath>
                </a14:m>
                <a:r>
                  <a:rPr lang="en-GB" dirty="0"/>
                  <a:t> only means the </a:t>
                </a:r>
                <a:r>
                  <a:rPr lang="en-GB" u="sng" dirty="0"/>
                  <a:t>positive</a:t>
                </a:r>
                <a:r>
                  <a:rPr lang="en-GB" dirty="0"/>
                  <a:t> square root of 9, i.e. 3 not -3.</a:t>
                </a:r>
              </a:p>
              <a:p>
                <a:r>
                  <a:rPr lang="en-GB" dirty="0"/>
                  <a:t>Otherwise, what would be the point of the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GB" dirty="0"/>
                  <a:t> in the quadratic formula before the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𝑎𝑐</m:t>
                        </m:r>
                      </m:e>
                    </m:rad>
                  </m:oMath>
                </a14:m>
                <a:r>
                  <a:rPr lang="en-GB" dirty="0"/>
                  <a:t>?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9388" y="1006938"/>
                <a:ext cx="4104456" cy="1539589"/>
              </a:xfrm>
              <a:prstGeom prst="rect">
                <a:avLst/>
              </a:prstGeom>
              <a:blipFill>
                <a:blip r:embed="rId3"/>
                <a:stretch>
                  <a:fillRect l="-926" r="-1235" b="-57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6980" y="2866887"/>
                <a:ext cx="2304819" cy="470385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Prove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80" y="2866887"/>
                <a:ext cx="2304819" cy="470385"/>
              </a:xfrm>
              <a:prstGeom prst="rect">
                <a:avLst/>
              </a:prstGeom>
              <a:blipFill>
                <a:blip r:embed="rId4"/>
                <a:stretch>
                  <a:fillRect b="-3960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66982" y="3501008"/>
                <a:ext cx="2304818" cy="1174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But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82" y="3501008"/>
                <a:ext cx="2304818" cy="1174296"/>
              </a:xfrm>
              <a:prstGeom prst="rect">
                <a:avLst/>
              </a:prstGeom>
              <a:blipFill>
                <a:blip r:embed="rId5"/>
                <a:stretch>
                  <a:fillRect l="-23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986978" y="2899807"/>
                <a:ext cx="2304819" cy="48487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Evaluate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27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6978" y="2899807"/>
                <a:ext cx="2304819" cy="484876"/>
              </a:xfrm>
              <a:prstGeom prst="rect">
                <a:avLst/>
              </a:prstGeom>
              <a:blipFill>
                <a:blip r:embed="rId6"/>
                <a:stretch>
                  <a:fillRect b="-194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777005" y="3517226"/>
                <a:ext cx="2304818" cy="7455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27</m:t>
                              </m:r>
                            </m:e>
                            <m:sup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7005" y="3517226"/>
                <a:ext cx="2304818" cy="74552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24128" y="2899807"/>
                <a:ext cx="2304819" cy="48577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Evaluate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32</m:t>
                        </m:r>
                      </m:e>
                      <m:sup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4128" y="2899807"/>
                <a:ext cx="2304819" cy="485774"/>
              </a:xfrm>
              <a:prstGeom prst="rect">
                <a:avLst/>
              </a:prstGeom>
              <a:blipFill>
                <a:blip r:embed="rId8"/>
                <a:stretch>
                  <a:fillRect b="-194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08104" y="3501008"/>
                <a:ext cx="23048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=4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8104" y="3501008"/>
                <a:ext cx="2304818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466979" y="4960971"/>
                <a:ext cx="2304819" cy="63652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Simplify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sup>
                            </m:s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79" y="4960971"/>
                <a:ext cx="2304819" cy="63652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323528" y="5605032"/>
                <a:ext cx="2304818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5605032"/>
                <a:ext cx="2304818" cy="6127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3068146" y="4960971"/>
                <a:ext cx="2304819" cy="63716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Evaluate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27</m:t>
                                </m:r>
                              </m:num>
                              <m:den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146" y="4960971"/>
                <a:ext cx="2304819" cy="63716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2922709" y="5597492"/>
                <a:ext cx="2304818" cy="8678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27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22709" y="5597492"/>
                <a:ext cx="2304818" cy="86780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465483" y="3372961"/>
            <a:ext cx="2306316" cy="13023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85481" y="3372961"/>
            <a:ext cx="2306316" cy="13023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37515" y="3372961"/>
            <a:ext cx="2306316" cy="13023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6895" y="5597492"/>
            <a:ext cx="2322361" cy="9998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059374" y="5597492"/>
            <a:ext cx="2322361" cy="9998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5564471" y="4906860"/>
                <a:ext cx="3492443" cy="76194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If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, determine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</m:sSup>
                  </m:oMath>
                </a14:m>
                <a:r>
                  <a:rPr lang="en-GB" dirty="0"/>
                  <a:t>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GB" dirty="0"/>
                  <a:t> where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dirty="0"/>
                  <a:t> are constants.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471" y="4906860"/>
                <a:ext cx="3492443" cy="761940"/>
              </a:xfrm>
              <a:prstGeom prst="rect">
                <a:avLst/>
              </a:prstGeom>
              <a:blipFill>
                <a:blip r:embed="rId14"/>
                <a:stretch>
                  <a:fillRect b="-201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5593499" y="5693637"/>
                <a:ext cx="3256001" cy="10463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9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sup>
                      </m:sSup>
                    </m:oMath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81</m:t>
                          </m:r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−4</m:t>
                              </m:r>
                            </m:sup>
                          </m:sSup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=243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3499" y="5693637"/>
                <a:ext cx="3256001" cy="1046377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Rectangle 23"/>
          <p:cNvSpPr/>
          <p:nvPr/>
        </p:nvSpPr>
        <p:spPr>
          <a:xfrm>
            <a:off x="5582389" y="5666030"/>
            <a:ext cx="3474525" cy="10739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72293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32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3" fill="hold">
                      <p:stCondLst>
                        <p:cond delay="0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4" grpId="0" animBg="1"/>
    </p:bldLst>
  </p:timing>
</p:sld>
</file>

<file path=ppt/c1/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Writing a surd using indices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2804" y="823944"/>
                <a:ext cx="6264696" cy="49648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9</m:t>
                    </m:r>
                    <m:rad>
                      <m:radPr>
                        <m:degHide m:val="on"/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r>
                  <a:rPr lang="en-GB" sz="2400" dirty="0"/>
                  <a:t>, determine the value of </a:t>
                </a:r>
                <a14:m>
                  <m:oMath xmlns:m="http://schemas.openxmlformats.org/officeDocument/2006/math">
                    <m:r>
                      <a:rPr lang="en-GB" sz="24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sz="24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804" y="823944"/>
                <a:ext cx="6264696" cy="496483"/>
              </a:xfrm>
              <a:prstGeom prst="rect">
                <a:avLst/>
              </a:prstGeom>
              <a:blipFill>
                <a:blip r:embed="rId3"/>
                <a:stretch>
                  <a:fillRect b="-943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/>
          <p:cNvSpPr txBox="1"/>
          <p:nvPr/>
        </p:nvSpPr>
        <p:spPr>
          <a:xfrm>
            <a:off x="480957" y="1345182"/>
            <a:ext cx="62646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key here is to write everything as powers with a consistent base, in this case, 3.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6BC60A-EF6A-4CC7-8D3E-580DF6A6C4A1}"/>
                  </a:ext>
                </a:extLst>
              </p:cNvPr>
              <p:cNvSpPr txBox="1"/>
              <p:nvPr/>
            </p:nvSpPr>
            <p:spPr>
              <a:xfrm>
                <a:off x="1838443" y="2175370"/>
                <a:ext cx="2016224" cy="19162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9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=9×</m:t>
                      </m:r>
                      <m:rad>
                        <m:radPr>
                          <m:degHide m:val="on"/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</m:oMath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  <m:sup>
                          <m:f>
                            <m:f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GB" sz="20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96BC60A-EF6A-4CC7-8D3E-580DF6A6C4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443" y="2175370"/>
                <a:ext cx="2016224" cy="191623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899475-F37A-4D40-A0AC-5F09027CFB44}"/>
                  </a:ext>
                </a:extLst>
              </p:cNvPr>
              <p:cNvSpPr txBox="1"/>
              <p:nvPr/>
            </p:nvSpPr>
            <p:spPr>
              <a:xfrm>
                <a:off x="5186815" y="2607418"/>
                <a:ext cx="2952328" cy="1024383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b="1" dirty="0"/>
                  <a:t>Note</a:t>
                </a:r>
                <a:r>
                  <a:rPr lang="en-GB" dirty="0"/>
                  <a:t>: In algebra we like to avoid mixed numbers. So don’t write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f>
                          <m:f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p>
                    </m:sSup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E899475-F37A-4D40-A0AC-5F09027CF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815" y="2607418"/>
                <a:ext cx="2952328" cy="1024383"/>
              </a:xfrm>
              <a:prstGeom prst="rect">
                <a:avLst/>
              </a:prstGeom>
              <a:blipFill>
                <a:blip r:embed="rId5"/>
                <a:stretch>
                  <a:fillRect l="-1277" t="-1190" b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C140B72-4F95-4A0F-8AB6-E0C903B16EA6}"/>
              </a:ext>
            </a:extLst>
          </p:cNvPr>
          <p:cNvCxnSpPr>
            <a:stCxn id="8" idx="1"/>
          </p:cNvCxnSpPr>
          <p:nvPr/>
        </p:nvCxnSpPr>
        <p:spPr>
          <a:xfrm flipH="1">
            <a:off x="3278603" y="3119610"/>
            <a:ext cx="1908212" cy="638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AC28E89-FFCC-4D87-990B-C3103098542D}"/>
              </a:ext>
            </a:extLst>
          </p:cNvPr>
          <p:cNvSpPr/>
          <p:nvPr/>
        </p:nvSpPr>
        <p:spPr>
          <a:xfrm>
            <a:off x="452804" y="1357786"/>
            <a:ext cx="8007628" cy="293531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9998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c1/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CF66555-9EE1-41DE-9EA7-C461C3D35171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9AA4B0B-C662-4A52-9F0D-844670D92B5D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Further Examples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A175393-8652-4F9C-BA4E-95B93FBEC50E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07727A-4F3D-44B0-8464-4004ACA34403}"/>
                  </a:ext>
                </a:extLst>
              </p:cNvPr>
              <p:cNvSpPr txBox="1"/>
              <p:nvPr/>
            </p:nvSpPr>
            <p:spPr>
              <a:xfrm>
                <a:off x="4062662" y="808137"/>
                <a:ext cx="4824536" cy="159184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i="1" dirty="0"/>
                  <a:t>[Edexcel IAL C12 Jan 2019 Q2c] </a:t>
                </a:r>
                <a:r>
                  <a:rPr lang="en-GB" sz="2000" dirty="0"/>
                  <a:t>Given that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r>
                  <a:rPr lang="en-GB" sz="2000" dirty="0"/>
                  <a:t>, express the following in terms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b="0" dirty="0"/>
              </a:p>
              <a:p>
                <a:r>
                  <a:rPr lang="en-GB" sz="2000" dirty="0"/>
                  <a:t>Write your expression in its simplest form.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607727A-4F3D-44B0-8464-4004ACA344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2662" y="808137"/>
                <a:ext cx="4824536" cy="1591846"/>
              </a:xfrm>
              <a:prstGeom prst="rect">
                <a:avLst/>
              </a:prstGeom>
              <a:blipFill>
                <a:blip r:embed="rId2"/>
                <a:stretch>
                  <a:fillRect b="-69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876357-D56C-471A-A629-1A90B35FB793}"/>
                  </a:ext>
                </a:extLst>
              </p:cNvPr>
              <p:cNvSpPr txBox="1"/>
              <p:nvPr/>
            </p:nvSpPr>
            <p:spPr>
              <a:xfrm>
                <a:off x="4319974" y="2708920"/>
                <a:ext cx="3096344" cy="28382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−3</m:t>
                              </m:r>
                            </m:sup>
                          </m:sSup>
                        </m:den>
                      </m:f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−(2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−3)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p>
                      </m:sSup>
                    </m:oMath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sup>
                      </m:sSup>
                    </m:oMath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+6</m:t>
                          </m:r>
                        </m:sup>
                      </m:sSup>
                    </m:oMath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</m:sSup>
                    </m:oMath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×64</m:t>
                      </m:r>
                    </m:oMath>
                    <m:oMath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=64</m:t>
                      </m:r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p>
                      </m:sSup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 lang="en-GB" sz="2000" b="0" i="0" smtClean="0">
                          <a:latin typeface="Cambria Math" panose="02040503050406030204" pitchFamily="18" charset="0"/>
                        </a:rPr>
                        <m:t>or</m:t>
                      </m:r>
                      <m:r>
                        <a:rPr lang="en-GB" sz="2000" b="0" i="0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64</m:t>
                          </m:r>
                        </m:num>
                        <m:den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B876357-D56C-471A-A629-1A90B35FB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974" y="2708920"/>
                <a:ext cx="3096344" cy="283821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ACB27A-BAF8-4F5F-B6CD-E84E48C207D1}"/>
                  </a:ext>
                </a:extLst>
              </p:cNvPr>
              <p:cNvSpPr txBox="1"/>
              <p:nvPr/>
            </p:nvSpPr>
            <p:spPr>
              <a:xfrm>
                <a:off x="395536" y="785759"/>
                <a:ext cx="3384376" cy="161422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i="1" dirty="0"/>
                  <a:t>[Edexcel IGCSE May14-4H] </a:t>
                </a:r>
                <a:r>
                  <a:rPr lang="en-GB" sz="2000" dirty="0"/>
                  <a:t>Given that</a:t>
                </a:r>
              </a:p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sup>
                                  <m:f>
                                    <m:fPr>
                                      <m:ctrlP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GB" sz="20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sup>
                              <m:r>
                                <a:rPr lang="en-GB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2000" dirty="0"/>
              </a:p>
              <a:p>
                <a:r>
                  <a:rPr lang="en-GB" sz="2000" dirty="0"/>
                  <a:t>Express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GB" sz="2000" dirty="0"/>
                  <a:t> in terms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and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0ACB27A-BAF8-4F5F-B6CD-E84E48C20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785759"/>
                <a:ext cx="3384376" cy="1614224"/>
              </a:xfrm>
              <a:prstGeom prst="rect">
                <a:avLst/>
              </a:prstGeom>
              <a:blipFill>
                <a:blip r:embed="rId4"/>
                <a:stretch>
                  <a:fillRect b="-341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31956C-901A-4282-BE46-DFD6B32856EF}"/>
                  </a:ext>
                </a:extLst>
              </p:cNvPr>
              <p:cNvSpPr txBox="1"/>
              <p:nvPr/>
            </p:nvSpPr>
            <p:spPr>
              <a:xfrm>
                <a:off x="611560" y="2624304"/>
                <a:ext cx="2664296" cy="19918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f>
                            <m:f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  <m:sup>
                                      <m:r>
                                        <a:rPr lang="en-GB" b="0" i="1" smtClean="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</m:oMath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p>
                          </m:sSup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sup>
                      </m:sSup>
                    </m:oMath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31956C-901A-4282-BE46-DFD6B32856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624304"/>
                <a:ext cx="2664296" cy="1991827"/>
              </a:xfrm>
              <a:prstGeom prst="rect">
                <a:avLst/>
              </a:prstGeom>
              <a:blipFill>
                <a:blip r:embed="rId5"/>
                <a:stretch>
                  <a:fillRect b="-152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FD45277-CF41-42F8-A4B4-31960FF482BE}"/>
              </a:ext>
            </a:extLst>
          </p:cNvPr>
          <p:cNvSpPr txBox="1"/>
          <p:nvPr/>
        </p:nvSpPr>
        <p:spPr>
          <a:xfrm>
            <a:off x="1547664" y="5013176"/>
            <a:ext cx="2376264" cy="147732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Write 8 as a power of 2 (putting a bracket around it), for consistency of base with the other powers.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D79400-B1D1-465F-B557-A2F492B7052F}"/>
              </a:ext>
            </a:extLst>
          </p:cNvPr>
          <p:cNvCxnSpPr/>
          <p:nvPr/>
        </p:nvCxnSpPr>
        <p:spPr>
          <a:xfrm flipH="1" flipV="1">
            <a:off x="2771800" y="3212976"/>
            <a:ext cx="1008112" cy="1800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8F36A1F-B1D2-4473-B437-380807025575}"/>
              </a:ext>
            </a:extLst>
          </p:cNvPr>
          <p:cNvSpPr/>
          <p:nvPr/>
        </p:nvSpPr>
        <p:spPr>
          <a:xfrm>
            <a:off x="395536" y="2387944"/>
            <a:ext cx="3528392" cy="42094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0D06E12-0B2F-4DD4-95EF-DB4B569873F8}"/>
              </a:ext>
            </a:extLst>
          </p:cNvPr>
          <p:cNvSpPr/>
          <p:nvPr/>
        </p:nvSpPr>
        <p:spPr>
          <a:xfrm>
            <a:off x="4070523" y="2399983"/>
            <a:ext cx="4819254" cy="420940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26229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</p:bldLst>
  </p:timing>
</p:sld>
</file>

<file path=ppt/c1/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2ACC42E-2DB1-4372-AB90-AFDF6AB38E0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AC5797-AE5C-45CD-BE8A-1CF970152838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Test Your Understanding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6B5C283-02DB-41E6-A790-660600269DA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EDDD3B93-70B5-4CE5-B577-EFB44BB92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293679"/>
            <a:ext cx="6934200" cy="16383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1FC8F43-A93A-4C16-851F-271FFD9DA1C4}"/>
              </a:ext>
            </a:extLst>
          </p:cNvPr>
          <p:cNvSpPr txBox="1"/>
          <p:nvPr/>
        </p:nvSpPr>
        <p:spPr>
          <a:xfrm>
            <a:off x="539552" y="908720"/>
            <a:ext cx="3096344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Paper 2 – May 2019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A18F1E-C8C4-43F7-B51B-CD0B9510A0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693" y="3426506"/>
            <a:ext cx="7058025" cy="196215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D82BBBE-DF98-4237-8ED8-D895CB9B9878}"/>
              </a:ext>
            </a:extLst>
          </p:cNvPr>
          <p:cNvSpPr/>
          <p:nvPr/>
        </p:nvSpPr>
        <p:spPr>
          <a:xfrm>
            <a:off x="539552" y="3284984"/>
            <a:ext cx="7920880" cy="225248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933407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c1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dirty="0"/>
                <a:t>Exercise 1D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4622" y="3182108"/>
            <a:ext cx="5423937" cy="3619528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379550" y="5460868"/>
                <a:ext cx="3695745" cy="12146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</m:sup>
                          </m:s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×</m:t>
                          </m:r>
                          <m:sSup>
                            <m:sSup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𝒔</m:t>
                              </m:r>
                            </m:sup>
                          </m:sSup>
                        </m:den>
                      </m:f>
                    </m:oMath>
                    <m:oMath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𝒔</m:t>
                          </m:r>
                        </m:sup>
                      </m:sSup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This is an integer only if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𝒔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r>
                  <a:rPr lang="en-GB" b="1" dirty="0"/>
                  <a:t>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9550" y="5460868"/>
                <a:ext cx="3695745" cy="1214692"/>
              </a:xfrm>
              <a:prstGeom prst="rect">
                <a:avLst/>
              </a:prstGeom>
              <a:blipFill>
                <a:blip r:embed="rId3"/>
                <a:stretch>
                  <a:fillRect l="-1370" b="-729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5436096" y="5373216"/>
            <a:ext cx="3566142" cy="130234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?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32FBFDF-E142-AD89-F317-942A2B52E7D1}"/>
              </a:ext>
            </a:extLst>
          </p:cNvPr>
          <p:cNvSpPr txBox="1"/>
          <p:nvPr/>
        </p:nvSpPr>
        <p:spPr>
          <a:xfrm>
            <a:off x="3614641" y="2932055"/>
            <a:ext cx="11313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Challenge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F5AB069-407E-203F-1529-7AA5FAA525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1738"/>
            <a:ext cx="2736304" cy="82189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2F09FF3-5E3B-CAFD-7FAB-AF3D26FCD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3848" y="628107"/>
            <a:ext cx="1219200" cy="6604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70D9BD-7797-7E30-36F7-350DB459203C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4737"/>
          <a:stretch/>
        </p:blipFill>
        <p:spPr>
          <a:xfrm>
            <a:off x="4985274" y="664167"/>
            <a:ext cx="2095500" cy="46575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844F662-699C-3CBE-A490-1F81B57AA42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1907" y="714385"/>
            <a:ext cx="1003300" cy="4064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00524191-61C5-BF2B-91A0-5EAC1CCF7A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7956" y="680833"/>
            <a:ext cx="825500" cy="4064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9DDE41FB-3933-B48B-0B35-11A1EA99AC3A}"/>
              </a:ext>
            </a:extLst>
          </p:cNvPr>
          <p:cNvSpPr/>
          <p:nvPr/>
        </p:nvSpPr>
        <p:spPr>
          <a:xfrm>
            <a:off x="2841556" y="705319"/>
            <a:ext cx="2095500" cy="7794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72CF30C-5980-E4E5-2D8B-7AB062D1F411}"/>
              </a:ext>
            </a:extLst>
          </p:cNvPr>
          <p:cNvSpPr/>
          <p:nvPr/>
        </p:nvSpPr>
        <p:spPr>
          <a:xfrm>
            <a:off x="4985274" y="705319"/>
            <a:ext cx="3763190" cy="7794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5203F315-E698-CE4C-81E7-E9E4567DC065}"/>
              </a:ext>
            </a:extLst>
          </p:cNvPr>
          <p:cNvGrpSpPr/>
          <p:nvPr/>
        </p:nvGrpSpPr>
        <p:grpSpPr>
          <a:xfrm>
            <a:off x="169737" y="1606070"/>
            <a:ext cx="8280921" cy="1221178"/>
            <a:chOff x="251519" y="3287942"/>
            <a:chExt cx="8280921" cy="1221178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E572C9A-A55C-5CFE-07AD-3D95A719779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51519" y="3287942"/>
              <a:ext cx="8113031" cy="1005154"/>
            </a:xfrm>
            <a:prstGeom prst="rect">
              <a:avLst/>
            </a:prstGeom>
          </p:spPr>
        </p:pic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20890129-2898-1097-CCDD-CB0CFB8156D5}"/>
                </a:ext>
              </a:extLst>
            </p:cNvPr>
            <p:cNvSpPr/>
            <p:nvPr/>
          </p:nvSpPr>
          <p:spPr>
            <a:xfrm>
              <a:off x="7524328" y="3645024"/>
              <a:ext cx="1008112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69D290BF-C954-5D4C-13E6-1B2B744B42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5356" y="2635467"/>
            <a:ext cx="1376196" cy="158706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E924314C-5E6D-8A1A-B0A9-7F7F6CCC159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75356" y="4214216"/>
            <a:ext cx="1656184" cy="2412983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F5091302-BA8C-9128-E616-559BE473F5C9}"/>
              </a:ext>
            </a:extLst>
          </p:cNvPr>
          <p:cNvSpPr/>
          <p:nvPr/>
        </p:nvSpPr>
        <p:spPr>
          <a:xfrm>
            <a:off x="366863" y="2647842"/>
            <a:ext cx="1851263" cy="1598933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a?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401EC87-0833-2992-286E-21FA08535166}"/>
              </a:ext>
            </a:extLst>
          </p:cNvPr>
          <p:cNvSpPr/>
          <p:nvPr/>
        </p:nvSpPr>
        <p:spPr>
          <a:xfrm>
            <a:off x="366863" y="4349201"/>
            <a:ext cx="1851263" cy="239216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 dirty="0"/>
              <a:t>b?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D29BEFDE-7E49-7454-CFB6-3D4121718221}"/>
              </a:ext>
            </a:extLst>
          </p:cNvPr>
          <p:cNvCxnSpPr/>
          <p:nvPr/>
        </p:nvCxnSpPr>
        <p:spPr>
          <a:xfrm>
            <a:off x="3275856" y="2827248"/>
            <a:ext cx="5868144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A4B0AFE-C629-69ED-A764-A5B9EEC00212}"/>
              </a:ext>
            </a:extLst>
          </p:cNvPr>
          <p:cNvCxnSpPr>
            <a:cxnSpLocks/>
          </p:cNvCxnSpPr>
          <p:nvPr/>
        </p:nvCxnSpPr>
        <p:spPr>
          <a:xfrm>
            <a:off x="3275856" y="2827248"/>
            <a:ext cx="0" cy="42021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7135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  <p:bldLst>
      <p:bldP spid="11" grpId="0" animBg="1"/>
      <p:bldP spid="20" grpId="0" animBg="1"/>
      <p:bldP spid="21" grpId="0" animBg="1"/>
      <p:bldP spid="27" grpId="0" animBg="1"/>
      <p:bldP spid="28" grpId="0" animBg="1"/>
    </p:bldLst>
  </p:timing>
</p:sld>
</file>

<file path=ppt/c1/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1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c4/ppt/notesMasters/_rels/notesMaster1.xml.rels><?xml version='1.0' encoding='utf-8'?>
<ns0:Relationships xmlns:ns0="http://schemas.openxmlformats.org/package/2006/relationships"><ns0:Relationship Id="rId1" Type="http://schemas.openxmlformats.org/officeDocument/2006/relationships/theme" Target="../theme/theme2.xml" /></ns0:Relationships>
</file>

<file path=ppt/c4/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c4/ppt/slideLayouts/_rels/slideLayout1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_rels/slideLayout2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_rels/slideLayout3.xml.rels><?xml version='1.0' encoding='utf-8'?>
<ns0:Relationships xmlns:ns0="http://schemas.openxmlformats.org/package/2006/relationships"><ns0:Relationship Id="rId1" Type="http://schemas.openxmlformats.org/officeDocument/2006/relationships/slideMaster" Target="../slideMasters/slideMaster1.xml" /></ns0:Relationships>
</file>

<file path=ppt/c4/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1636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93990"/>
            <a:ext cx="7772400" cy="1470025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5539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72F630-5B3C-7CD4-714F-EBE8672B649B}"/>
              </a:ext>
            </a:extLst>
          </p:cNvPr>
          <p:cNvSpPr/>
          <p:nvPr userDrawn="1"/>
        </p:nvSpPr>
        <p:spPr>
          <a:xfrm>
            <a:off x="8428871" y="188640"/>
            <a:ext cx="648072" cy="432048"/>
          </a:xfrm>
          <a:prstGeom prst="rect">
            <a:avLst/>
          </a:prstGeom>
          <a:solidFill>
            <a:srgbClr val="1737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662"/>
          </a:p>
        </p:txBody>
      </p:sp>
    </p:spTree>
    <p:extLst>
      <p:ext uri="{BB962C8B-B14F-4D97-AF65-F5344CB8AC3E}">
        <p14:creationId xmlns:p14="http://schemas.microsoft.com/office/powerpoint/2010/main" val="2805543805"/>
      </p:ext>
    </p:extLst>
  </p:cSld>
  <p:clrMapOvr>
    <a:masterClrMapping/>
  </p:clrMapOvr>
</p:sldLayout>
</file>

<file path=ppt/c4/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9236634"/>
      </p:ext>
    </p:extLst>
  </p:cSld>
  <p:clrMapOvr>
    <a:masterClrMapping/>
  </p:clrMapOvr>
</p:sldLayout>
</file>

<file path=ppt/c4/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612116"/>
      </p:ext>
    </p:extLst>
  </p:cSld>
  <p:clrMapOvr>
    <a:masterClrMapping/>
  </p:clrMapOvr>
</p:sldLayout>
</file>

<file path=ppt/c4/ppt/slideMasters/_rels/slideMaster1.xml.rels><?xml version='1.0' encoding='utf-8'?>
<ns0:Relationships xmlns:ns0="http://schemas.openxmlformats.org/package/2006/relationships"><ns0:Relationship Id="rId3" Type="http://schemas.openxmlformats.org/officeDocument/2006/relationships/slideLayout" Target="../slideLayouts/slideLayout3.xml" /><ns0:Relationship Id="rId2" Type="http://schemas.openxmlformats.org/officeDocument/2006/relationships/slideLayout" Target="../slideLayouts/slideLayout2.xml" /><ns0:Relationship Id="rId1" Type="http://schemas.openxmlformats.org/officeDocument/2006/relationships/slideLayout" Target="../slideLayouts/slideLayout1.xml" /><ns0:Relationship Id="rId4" Type="http://schemas.openxmlformats.org/officeDocument/2006/relationships/theme" Target="../theme/theme1.xml" /></ns0:Relationships>
</file>

<file path=ppt/c4/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13/10/2026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2ED294D-B0C8-4542-E684-B53C78608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99126"/>
            <a:ext cx="8229600" cy="818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75F76BD1-7557-D06F-3AB0-B42B271D5D21}"/>
              </a:ext>
            </a:extLst>
          </p:cNvPr>
          <p:cNvSpPr txBox="1">
            <a:spLocks/>
          </p:cNvSpPr>
          <p:nvPr userDrawn="1"/>
        </p:nvSpPr>
        <p:spPr>
          <a:xfrm>
            <a:off x="0" y="0"/>
            <a:ext cx="9144000" cy="599126"/>
          </a:xfrm>
          <a:prstGeom prst="rect">
            <a:avLst/>
          </a:prstGeom>
          <a:solidFill>
            <a:srgbClr val="17375E"/>
          </a:solidFill>
        </p:spPr>
        <p:txBody>
          <a:bodyPr vert="horz" lIns="0" tIns="0" rIns="132923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rgbClr val="17375E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48177B05-5D28-4021-9BD2-A7A72850B659}" type="slidenum">
              <a:rPr lang="en-GB" sz="1477" i="0" smtClean="0">
                <a:solidFill>
                  <a:schemeClr val="bg1"/>
                </a:solidFill>
              </a:rPr>
              <a:pPr algn="r"/>
              <a:t>‹#›</a:t>
            </a:fld>
            <a:endParaRPr lang="en-GB" sz="1477" i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3499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527300" r:id="rId1"/>
    <p:sldLayoutId id="2147527301" r:id="rId2"/>
    <p:sldLayoutId id="2147527302" r:id="rId3"/>
  </p:sldLayoutIdLst>
  <p:txStyles>
    <p:titleStyle>
      <a:lvl1pPr algn="ctr" defTabSz="844083" rtl="0" eaLnBrk="1" latinLnBrk="0" hangingPunct="1">
        <a:spcBef>
          <a:spcPct val="0"/>
        </a:spcBef>
        <a:buNone/>
        <a:defRPr sz="40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6531" indent="-316531" algn="l" defTabSz="844083" rtl="0" eaLnBrk="1" latinLnBrk="0" hangingPunct="1">
        <a:spcBef>
          <a:spcPct val="20000"/>
        </a:spcBef>
        <a:buFont typeface="Arial" pitchFamily="34" charset="0"/>
        <a:buChar char="•"/>
        <a:defRPr sz="2954" kern="1200">
          <a:solidFill>
            <a:schemeClr val="tx1"/>
          </a:solidFill>
          <a:latin typeface="+mn-lt"/>
          <a:ea typeface="+mn-ea"/>
          <a:cs typeface="+mn-cs"/>
        </a:defRPr>
      </a:lvl1pPr>
      <a:lvl2pPr marL="685817" indent="-263776" algn="l" defTabSz="844083" rtl="0" eaLnBrk="1" latinLnBrk="0" hangingPunct="1">
        <a:spcBef>
          <a:spcPct val="20000"/>
        </a:spcBef>
        <a:buFont typeface="Arial" pitchFamily="34" charset="0"/>
        <a:buChar char="–"/>
        <a:defRPr sz="2585" kern="1200">
          <a:solidFill>
            <a:schemeClr val="tx1"/>
          </a:solidFill>
          <a:latin typeface="+mn-lt"/>
          <a:ea typeface="+mn-ea"/>
          <a:cs typeface="+mn-cs"/>
        </a:defRPr>
      </a:lvl2pPr>
      <a:lvl3pPr marL="1055103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477145" indent="-211021" algn="l" defTabSz="844083" rtl="0" eaLnBrk="1" latinLnBrk="0" hangingPunct="1">
        <a:spcBef>
          <a:spcPct val="20000"/>
        </a:spcBef>
        <a:buFont typeface="Arial" pitchFamily="34" charset="0"/>
        <a:buChar char="–"/>
        <a:defRPr sz="1846" kern="1200">
          <a:solidFill>
            <a:schemeClr val="tx1"/>
          </a:solidFill>
          <a:latin typeface="+mn-lt"/>
          <a:ea typeface="+mn-ea"/>
          <a:cs typeface="+mn-cs"/>
        </a:defRPr>
      </a:lvl4pPr>
      <a:lvl5pPr marL="1899186" indent="-211021" algn="l" defTabSz="844083" rtl="0" eaLnBrk="1" latinLnBrk="0" hangingPunct="1">
        <a:spcBef>
          <a:spcPct val="20000"/>
        </a:spcBef>
        <a:buFont typeface="Arial" pitchFamily="34" charset="0"/>
        <a:buChar char="»"/>
        <a:defRPr sz="1846" kern="1200">
          <a:solidFill>
            <a:schemeClr val="tx1"/>
          </a:solidFill>
          <a:latin typeface="+mn-lt"/>
          <a:ea typeface="+mn-ea"/>
          <a:cs typeface="+mn-cs"/>
        </a:defRPr>
      </a:lvl5pPr>
      <a:lvl6pPr marL="2321227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6pPr>
      <a:lvl7pPr marL="2743269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7pPr>
      <a:lvl8pPr marL="3165310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8pPr>
      <a:lvl9pPr marL="3587351" indent="-211021" algn="l" defTabSz="844083" rtl="0" eaLnBrk="1" latinLnBrk="0" hangingPunct="1">
        <a:spcBef>
          <a:spcPct val="20000"/>
        </a:spcBef>
        <a:buFont typeface="Arial" pitchFamily="34" charset="0"/>
        <a:buChar char="•"/>
        <a:defRPr sz="184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1pPr>
      <a:lvl2pPr marL="42204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2pPr>
      <a:lvl3pPr marL="844083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3pPr>
      <a:lvl4pPr marL="1266124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4pPr>
      <a:lvl5pPr marL="1688165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5pPr>
      <a:lvl6pPr marL="2110207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6pPr>
      <a:lvl7pPr marL="2532248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7pPr>
      <a:lvl8pPr marL="2954289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8pPr>
      <a:lvl9pPr marL="3376331" algn="l" defTabSz="844083" rtl="0" eaLnBrk="1" latinLnBrk="0" hangingPunct="1">
        <a:defRPr sz="166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c4/ppt/slides/_rels/slide21.xml.rels><?xml version='1.0' encoding='utf-8'?>
<ns0:Relationships xmlns:ns0="http://schemas.openxmlformats.org/package/2006/relationships"><ns0:Relationship Id="rId8" Type="http://schemas.openxmlformats.org/officeDocument/2006/relationships/image" Target="../media/image129.png" /><ns0:Relationship Id="rId3" Type="http://schemas.openxmlformats.org/officeDocument/2006/relationships/image" Target="../media/image126.png" /><ns0:Relationship Id="rId7" Type="http://schemas.openxmlformats.org/officeDocument/2006/relationships/image" Target="../media/image128.png" /><ns0:Relationship Id="rId2" Type="http://schemas.openxmlformats.org/officeDocument/2006/relationships/image" Target="../media/image125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27.png" /><ns0:Relationship Id="rId5" Type="http://schemas.openxmlformats.org/officeDocument/2006/relationships/image" Target="../media/image113.png" /><ns0:Relationship Id="rId4" Type="http://schemas.openxmlformats.org/officeDocument/2006/relationships/image" Target="../media/image45.png" /><ns0:Relationship Id="rId9" Type="http://schemas.openxmlformats.org/officeDocument/2006/relationships/image" Target="../media/image130.png" /></ns0:Relationships>
</file>

<file path=ppt/c4/ppt/slides/_rels/slide22.xml.rels><?xml version='1.0' encoding='utf-8'?>
<ns0:Relationships xmlns:ns0="http://schemas.openxmlformats.org/package/2006/relationships"><ns0:Relationship Id="rId3" Type="http://schemas.openxmlformats.org/officeDocument/2006/relationships/image" Target="../media/image132.png" /><ns0:Relationship Id="rId7" Type="http://schemas.openxmlformats.org/officeDocument/2006/relationships/image" Target="../media/image134.png" /><ns0:Relationship Id="rId2" Type="http://schemas.openxmlformats.org/officeDocument/2006/relationships/image" Target="../media/image131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3.png" /><ns0:Relationship Id="rId5" Type="http://schemas.openxmlformats.org/officeDocument/2006/relationships/image" Target="../media/image113.png" /><ns0:Relationship Id="rId4" Type="http://schemas.openxmlformats.org/officeDocument/2006/relationships/image" Target="../media/image45.png" /></ns0:Relationships>
</file>

<file path=ppt/c4/ppt/slides/_rels/slide23.xml.rels><?xml version='1.0' encoding='utf-8'?>
<ns0:Relationships xmlns:ns0="http://schemas.openxmlformats.org/package/2006/relationships"><ns0:Relationship Id="rId3" Type="http://schemas.openxmlformats.org/officeDocument/2006/relationships/image" Target="../media/image136.png" /><ns0:Relationship Id="rId7" Type="http://schemas.openxmlformats.org/officeDocument/2006/relationships/image" Target="../media/image139.png" /><ns0:Relationship Id="rId2" Type="http://schemas.openxmlformats.org/officeDocument/2006/relationships/image" Target="../media/image135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38.png" /><ns0:Relationship Id="rId5" Type="http://schemas.openxmlformats.org/officeDocument/2006/relationships/image" Target="../media/image137.png" /><ns0:Relationship Id="rId4" Type="http://schemas.openxmlformats.org/officeDocument/2006/relationships/image" Target="../media/image44.png" /></ns0:Relationships>
</file>

<file path=ppt/c4/ppt/slides/_rels/slide24.xml.rels><?xml version='1.0' encoding='utf-8'?>
<ns0:Relationships xmlns:ns0="http://schemas.openxmlformats.org/package/2006/relationships"><ns0:Relationship Id="rId8" Type="http://schemas.openxmlformats.org/officeDocument/2006/relationships/image" Target="../media/image146.png" /><ns0:Relationship Id="rId3" Type="http://schemas.openxmlformats.org/officeDocument/2006/relationships/image" Target="../media/image141.png" /><ns0:Relationship Id="rId7" Type="http://schemas.openxmlformats.org/officeDocument/2006/relationships/image" Target="../media/image145.png" /><ns0:Relationship Id="rId2" Type="http://schemas.openxmlformats.org/officeDocument/2006/relationships/image" Target="../media/image140.png" /><ns0:Relationship Id="rId1" Type="http://schemas.openxmlformats.org/officeDocument/2006/relationships/slideLayout" Target="../slideLayouts/slideLayout2.xml" /><ns0:Relationship Id="rId6" Type="http://schemas.openxmlformats.org/officeDocument/2006/relationships/image" Target="../media/image144.png" /><ns0:Relationship Id="rId5" Type="http://schemas.openxmlformats.org/officeDocument/2006/relationships/image" Target="../media/image143.png" /><ns0:Relationship Id="rId4" Type="http://schemas.openxmlformats.org/officeDocument/2006/relationships/image" Target="../media/image142.png" /></ns0:Relationships>
</file>

<file path=ppt/c4/ppt/slides/_rels/slide25.xml.rels><?xml version='1.0' encoding='utf-8'?>
<ns0:Relationships xmlns:ns0="http://schemas.openxmlformats.org/package/2006/relationships"><ns0:Relationship Id="rId3" Type="http://schemas.openxmlformats.org/officeDocument/2006/relationships/image" Target="../media/image148.png" /><ns0:Relationship Id="rId2" Type="http://schemas.openxmlformats.org/officeDocument/2006/relationships/image" Target="../media/image147.png" /><ns0:Relationship Id="rId1" Type="http://schemas.openxmlformats.org/officeDocument/2006/relationships/slideLayout" Target="../slideLayouts/slideLayout2.xml" /><ns0:Relationship Id="rId5" Type="http://schemas.openxmlformats.org/officeDocument/2006/relationships/image" Target="../media/image150.png" /><ns0:Relationship Id="rId4" Type="http://schemas.openxmlformats.org/officeDocument/2006/relationships/image" Target="../media/image149.png" /></ns0:Relationships>
</file>

<file path=ppt/c4/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GCSE RECAP: Reciprocal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5536" y="911091"/>
                <a:ext cx="2160240" cy="4849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11091"/>
                <a:ext cx="2160240" cy="4849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585070" y="944400"/>
                <a:ext cx="2160240" cy="485518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5070" y="944400"/>
                <a:ext cx="2160240" cy="4855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828197" y="3314777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2035783" y="2199272"/>
            <a:ext cx="13997" cy="2136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: Shape 14"/>
          <p:cNvSpPr/>
          <p:nvPr/>
        </p:nvSpPr>
        <p:spPr>
          <a:xfrm>
            <a:off x="2094614" y="2317898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reeform: Shape 15"/>
          <p:cNvSpPr/>
          <p:nvPr/>
        </p:nvSpPr>
        <p:spPr>
          <a:xfrm rot="10800000">
            <a:off x="972421" y="3368319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4217642" y="3344094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H="1" flipV="1">
            <a:off x="5425228" y="2228589"/>
            <a:ext cx="13997" cy="2136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185889" y="1886995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5889" y="1886995"/>
                <a:ext cx="41547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/>
              <p:cNvSpPr txBox="1"/>
              <p:nvPr/>
            </p:nvSpPr>
            <p:spPr>
              <a:xfrm>
                <a:off x="6516858" y="3214599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6858" y="3214599"/>
                <a:ext cx="41547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Freeform: Shape 23"/>
          <p:cNvSpPr/>
          <p:nvPr/>
        </p:nvSpPr>
        <p:spPr>
          <a:xfrm flipV="1">
            <a:off x="5484059" y="3399837"/>
            <a:ext cx="1031358" cy="1108367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Freeform: Shape 24"/>
          <p:cNvSpPr/>
          <p:nvPr/>
        </p:nvSpPr>
        <p:spPr>
          <a:xfrm rot="10800000" flipV="1">
            <a:off x="4340601" y="2158409"/>
            <a:ext cx="1031358" cy="1143533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/>
          <p:cNvSpPr txBox="1"/>
          <p:nvPr/>
        </p:nvSpPr>
        <p:spPr>
          <a:xfrm>
            <a:off x="5740553" y="1888346"/>
            <a:ext cx="297814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Note</a:t>
            </a:r>
            <a:r>
              <a:rPr lang="en-GB" sz="1400"/>
              <a:t>: The scaling caused by the 3 isn’t observable for this graph in isolation because the axes have no scale. This will only be observation for multiple graphs on the same axes.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/>
              <p:cNvSpPr txBox="1"/>
              <p:nvPr/>
            </p:nvSpPr>
            <p:spPr>
              <a:xfrm>
                <a:off x="520996" y="4394614"/>
                <a:ext cx="353583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200"/>
                  <a:t>Notice the distance between this line and the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200"/>
                  <a:t>-axis (i.e. the line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/>
                  <a:t>) gradually decreases as the lines go off towards infinity. The line </a:t>
                </a:r>
                <a14:m>
                  <m:oMath xmlns:m="http://schemas.openxmlformats.org/officeDocument/2006/math"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200"/>
                  <a:t> is known as an </a:t>
                </a:r>
                <a:r>
                  <a:rPr lang="en-GB" sz="1200" b="1"/>
                  <a:t>asymptote</a:t>
                </a:r>
                <a:r>
                  <a:rPr lang="en-GB" sz="1200"/>
                  <a:t> of the graph.</a:t>
                </a:r>
              </a:p>
            </p:txBody>
          </p:sp>
        </mc:Choice>
        <mc:Fallback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0996" y="4394614"/>
                <a:ext cx="3535839" cy="830997"/>
              </a:xfrm>
              <a:prstGeom prst="rect">
                <a:avLst/>
              </a:prstGeom>
              <a:blipFill>
                <a:blip r:embed="rId8"/>
                <a:stretch>
                  <a:fillRect b="-30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/>
          <p:cNvSpPr txBox="1"/>
          <p:nvPr/>
        </p:nvSpPr>
        <p:spPr>
          <a:xfrm>
            <a:off x="1006562" y="5423528"/>
            <a:ext cx="2695717" cy="83099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>
                <a:latin typeface="Wingdings" panose="05000000000000000000" pitchFamily="2" charset="2"/>
              </a:rPr>
              <a:t>!</a:t>
            </a:r>
            <a:r>
              <a:rPr lang="en-GB" sz="1600"/>
              <a:t> An asymptote is a line which the graph approaches but never reaches.</a:t>
            </a:r>
          </a:p>
        </p:txBody>
      </p:sp>
      <p:sp>
        <p:nvSpPr>
          <p:cNvPr id="29" name="Freeform: Shape 28"/>
          <p:cNvSpPr/>
          <p:nvPr/>
        </p:nvSpPr>
        <p:spPr>
          <a:xfrm>
            <a:off x="2695575" y="3176588"/>
            <a:ext cx="433387" cy="85725"/>
          </a:xfrm>
          <a:custGeom>
            <a:avLst/>
            <a:gdLst>
              <a:gd name="connsiteX0" fmla="*/ 0 w 433387"/>
              <a:gd name="connsiteY0" fmla="*/ 0 h 85725"/>
              <a:gd name="connsiteX1" fmla="*/ 195262 w 433387"/>
              <a:gd name="connsiteY1" fmla="*/ 61913 h 85725"/>
              <a:gd name="connsiteX2" fmla="*/ 433387 w 433387"/>
              <a:gd name="connsiteY2" fmla="*/ 85725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33387" h="85725">
                <a:moveTo>
                  <a:pt x="0" y="0"/>
                </a:moveTo>
                <a:cubicBezTo>
                  <a:pt x="61515" y="23813"/>
                  <a:pt x="123031" y="47626"/>
                  <a:pt x="195262" y="61913"/>
                </a:cubicBezTo>
                <a:cubicBezTo>
                  <a:pt x="267493" y="76200"/>
                  <a:pt x="350440" y="80962"/>
                  <a:pt x="433387" y="85725"/>
                </a:cubicBezTo>
              </a:path>
            </a:pathLst>
          </a:custGeom>
          <a:noFill/>
          <a:ln w="762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 flipH="1">
            <a:off x="2599089" y="3342831"/>
            <a:ext cx="529327" cy="0"/>
          </a:xfrm>
          <a:prstGeom prst="line">
            <a:avLst/>
          </a:prstGeom>
          <a:ln w="76200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 flipV="1">
            <a:off x="2695575" y="3491598"/>
            <a:ext cx="168177" cy="84418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05713" y="1520077"/>
            <a:ext cx="3475172" cy="378574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/>
              <p:cNvSpPr txBox="1"/>
              <p:nvPr/>
            </p:nvSpPr>
            <p:spPr>
              <a:xfrm>
                <a:off x="3857684" y="5317203"/>
                <a:ext cx="2687955" cy="1016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Asymptotes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/>
                  <a:t> :</a:t>
                </a:r>
              </a:p>
              <a:p>
                <a:r>
                  <a:rPr lang="en-GB"/>
                  <a:t>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=0,</m:t>
                    </m:r>
                  </m:oMath>
                </a14:m>
                <a:endParaRPr lang="en-GB"/>
              </a:p>
              <a:p>
                <a:r>
                  <a:rPr lang="en-GB"/>
                  <a:t>    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/>
              </a:p>
            </p:txBody>
          </p:sp>
        </mc:Choice>
        <mc:Fallback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7684" y="5317203"/>
                <a:ext cx="2687955" cy="1016945"/>
              </a:xfrm>
              <a:prstGeom prst="rect">
                <a:avLst/>
              </a:prstGeom>
              <a:blipFill>
                <a:blip r:embed="rId9"/>
                <a:stretch>
                  <a:fillRect l="-18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Rectangle 34"/>
          <p:cNvSpPr/>
          <p:nvPr/>
        </p:nvSpPr>
        <p:spPr>
          <a:xfrm>
            <a:off x="4116383" y="6060559"/>
            <a:ext cx="1327488" cy="51036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55643" y="1566694"/>
            <a:ext cx="4579991" cy="298240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458550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31" restart="whenNotActive" fill="hold" evtFilter="cancelBubble" nodeType="interactiveSeq">
                <p:stCondLst>
                  <p:cond evt="onClick" delay="0">
                    <p:tgtEl>
                      <p:spTgt spid="3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" fill="hold">
                      <p:stCondLst>
                        <p:cond delay="0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5"/>
                  </p:tgtEl>
                </p:cond>
              </p:nextCondLst>
            </p:seq>
            <p:seq concurrent="1" nextAc="seek">
              <p:cTn id="3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" fill="hold">
                      <p:stCondLst>
                        <p:cond delay="0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27" grpId="0"/>
      <p:bldP spid="28" grpId="0" animBg="1"/>
      <p:bldP spid="29" grpId="0" animBg="1"/>
      <p:bldP spid="14" grpId="0" animBg="1"/>
      <p:bldP spid="34" grpId="0"/>
      <p:bldP spid="35" grpId="0" animBg="1"/>
      <p:bldP spid="35" grpId="1" animBg="1"/>
      <p:bldP spid="36" grpId="0" animBg="1"/>
    </p:bldLst>
  </p:timing>
</p:sld>
</file>

<file path=ppt/c4/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Reciprocal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395536" y="911091"/>
                <a:ext cx="2160240" cy="4849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5536" y="911091"/>
                <a:ext cx="2160240" cy="4849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4499992" y="911091"/>
                <a:ext cx="2160240" cy="4843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sSup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9992" y="911091"/>
                <a:ext cx="2160240" cy="4843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828197" y="3314777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H="1" flipV="1">
            <a:off x="2035783" y="2199272"/>
            <a:ext cx="13997" cy="2136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6444" y="1857678"/>
                <a:ext cx="415472" cy="276999"/>
              </a:xfrm>
              <a:prstGeom prst="rect">
                <a:avLst/>
              </a:prstGeom>
              <a:blipFill>
                <a:blip r:embed="rId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/>
              <p:cNvSpPr txBox="1"/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7413" y="3185282"/>
                <a:ext cx="415472" cy="2769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Freeform: Shape 10"/>
          <p:cNvSpPr/>
          <p:nvPr/>
        </p:nvSpPr>
        <p:spPr>
          <a:xfrm>
            <a:off x="2094614" y="2317898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Freeform: Shape 11"/>
          <p:cNvSpPr/>
          <p:nvPr/>
        </p:nvSpPr>
        <p:spPr>
          <a:xfrm flipH="1">
            <a:off x="944416" y="2299050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/>
          <p:cNvSpPr txBox="1"/>
          <p:nvPr/>
        </p:nvSpPr>
        <p:spPr>
          <a:xfrm>
            <a:off x="609140" y="5031069"/>
            <a:ext cx="2859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/>
              <a:t>Hint</a:t>
            </a:r>
            <a:r>
              <a:rPr lang="en-GB" sz="1400"/>
              <a:t>: Note that anything squared will always be at least 0.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4491836" y="3344094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flipH="1" flipV="1">
            <a:off x="5699422" y="2228589"/>
            <a:ext cx="13997" cy="2136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5460083" y="1886995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083" y="1886995"/>
                <a:ext cx="415472" cy="27699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/>
              <p:cNvSpPr txBox="1"/>
              <p:nvPr/>
            </p:nvSpPr>
            <p:spPr>
              <a:xfrm>
                <a:off x="6791052" y="3214599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1052" y="3214599"/>
                <a:ext cx="415472" cy="27699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Freeform: Shape 21"/>
          <p:cNvSpPr/>
          <p:nvPr/>
        </p:nvSpPr>
        <p:spPr>
          <a:xfrm flipV="1">
            <a:off x="5768885" y="3421103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eform: Shape 22"/>
          <p:cNvSpPr/>
          <p:nvPr/>
        </p:nvSpPr>
        <p:spPr>
          <a:xfrm flipH="1" flipV="1">
            <a:off x="4618687" y="3402255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 15"/>
          <p:cNvSpPr/>
          <p:nvPr/>
        </p:nvSpPr>
        <p:spPr>
          <a:xfrm>
            <a:off x="470076" y="1740103"/>
            <a:ext cx="2974873" cy="2704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15271" y="1740103"/>
            <a:ext cx="2974873" cy="27043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75706" y="740971"/>
            <a:ext cx="115212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/>
              <a:t>This is new to the A Level 2017 syllabus.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 flipH="1">
            <a:off x="2627784" y="911091"/>
            <a:ext cx="288032" cy="1416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884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</p:childTnLst>
        </p:cTn>
      </p:par>
    </p:tnLst>
    <p:bldLst>
      <p:bldP spid="16" grpId="0" animBg="1"/>
      <p:bldP spid="24" grpId="0" animBg="1"/>
    </p:bldLst>
  </p:timing>
</p:sld>
</file>

<file path=ppt/c4/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Reciprocal Graphs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/>
              <p:cNvSpPr txBox="1"/>
              <p:nvPr/>
            </p:nvSpPr>
            <p:spPr>
              <a:xfrm>
                <a:off x="839026" y="890053"/>
                <a:ext cx="6696744" cy="48494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/>
                  <a:t>On the same axes, sketch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026" y="890053"/>
                <a:ext cx="6696744" cy="4849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/>
          <p:nvPr/>
        </p:nvCxnSpPr>
        <p:spPr>
          <a:xfrm>
            <a:off x="2720793" y="3761345"/>
            <a:ext cx="24094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 flipH="1" flipV="1">
            <a:off x="3928380" y="2645840"/>
            <a:ext cx="37565" cy="27342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3689040" y="2304246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9040" y="2304246"/>
                <a:ext cx="415472" cy="276999"/>
              </a:xfrm>
              <a:prstGeom prst="rect">
                <a:avLst/>
              </a:prstGeom>
              <a:blipFill>
                <a:blip r:embed="rId3"/>
                <a:stretch>
                  <a:fillRect b="-43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020009" y="3631850"/>
                <a:ext cx="415472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0009" y="3631850"/>
                <a:ext cx="415472" cy="27699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Freeform: Shape 9"/>
          <p:cNvSpPr/>
          <p:nvPr/>
        </p:nvSpPr>
        <p:spPr>
          <a:xfrm>
            <a:off x="3987210" y="2764466"/>
            <a:ext cx="1031358" cy="96756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reeform: Shape 10"/>
          <p:cNvSpPr/>
          <p:nvPr/>
        </p:nvSpPr>
        <p:spPr>
          <a:xfrm rot="10800000">
            <a:off x="2865017" y="3814887"/>
            <a:ext cx="1063256" cy="1233376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63256"/>
              <a:gd name="connsiteY0" fmla="*/ 0 h 1233376"/>
              <a:gd name="connsiteX1" fmla="*/ 350875 w 1063256"/>
              <a:gd name="connsiteY1" fmla="*/ 988828 h 1233376"/>
              <a:gd name="connsiteX2" fmla="*/ 1063256 w 1063256"/>
              <a:gd name="connsiteY2" fmla="*/ 1233376 h 1233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63256" h="1233376">
                <a:moveTo>
                  <a:pt x="0" y="0"/>
                </a:moveTo>
                <a:cubicBezTo>
                  <a:pt x="31012" y="227714"/>
                  <a:pt x="173666" y="783265"/>
                  <a:pt x="350875" y="988828"/>
                </a:cubicBezTo>
                <a:cubicBezTo>
                  <a:pt x="528084" y="1194391"/>
                  <a:pt x="729217" y="1202365"/>
                  <a:pt x="1063256" y="1233376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/>
          <p:cNvSpPr/>
          <p:nvPr/>
        </p:nvSpPr>
        <p:spPr>
          <a:xfrm>
            <a:off x="4029741" y="1998922"/>
            <a:ext cx="1031358" cy="162678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/>
          <p:cNvSpPr/>
          <p:nvPr/>
        </p:nvSpPr>
        <p:spPr>
          <a:xfrm flipH="1" flipV="1">
            <a:off x="2856019" y="3913773"/>
            <a:ext cx="1031358" cy="1626782"/>
          </a:xfrm>
          <a:custGeom>
            <a:avLst/>
            <a:gdLst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  <a:gd name="connsiteX0" fmla="*/ 0 w 1031358"/>
              <a:gd name="connsiteY0" fmla="*/ 0 h 967562"/>
              <a:gd name="connsiteX1" fmla="*/ 318977 w 1031358"/>
              <a:gd name="connsiteY1" fmla="*/ 723014 h 967562"/>
              <a:gd name="connsiteX2" fmla="*/ 1031358 w 1031358"/>
              <a:gd name="connsiteY2" fmla="*/ 967562 h 9675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1358" h="967562">
                <a:moveTo>
                  <a:pt x="0" y="0"/>
                </a:moveTo>
                <a:cubicBezTo>
                  <a:pt x="31012" y="227714"/>
                  <a:pt x="147084" y="561754"/>
                  <a:pt x="318977" y="723014"/>
                </a:cubicBezTo>
                <a:cubicBezTo>
                  <a:pt x="490870" y="884274"/>
                  <a:pt x="697319" y="936551"/>
                  <a:pt x="1031358" y="967562"/>
                </a:cubicBezTo>
              </a:path>
            </a:pathLst>
          </a:cu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/>
              <p:cNvSpPr txBox="1"/>
              <p:nvPr/>
            </p:nvSpPr>
            <p:spPr>
              <a:xfrm>
                <a:off x="4187398" y="2380026"/>
                <a:ext cx="714212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solidFill>
                            <a:schemeClr val="accent6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4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7398" y="2380026"/>
                <a:ext cx="714212" cy="49705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/>
              <p:cNvSpPr txBox="1"/>
              <p:nvPr/>
            </p:nvSpPr>
            <p:spPr>
              <a:xfrm>
                <a:off x="4352803" y="3723299"/>
                <a:ext cx="714212" cy="4970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sz="1400" b="0" i="1" smtClean="0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/>
              </a:p>
            </p:txBody>
          </p:sp>
        </mc:Choice>
        <mc:Fallback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2803" y="3723299"/>
                <a:ext cx="714212" cy="49705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/>
              <p:cNvSpPr txBox="1"/>
              <p:nvPr/>
            </p:nvSpPr>
            <p:spPr>
              <a:xfrm>
                <a:off x="5385875" y="2749494"/>
                <a:ext cx="2588544" cy="790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/>
                  <a:t>The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1600"/>
                  <a:t> value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600"/>
                  <a:t> will be 3 times greater than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lang="en-GB"/>
              </a:p>
            </p:txBody>
          </p:sp>
        </mc:Choice>
        <mc:Fallback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5875" y="2749494"/>
                <a:ext cx="2588544" cy="790729"/>
              </a:xfrm>
              <a:prstGeom prst="rect">
                <a:avLst/>
              </a:prstGeom>
              <a:blipFill>
                <a:blip r:embed="rId7"/>
                <a:stretch>
                  <a:fillRect l="-1471" r="-980" b="-1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ectangle 14"/>
          <p:cNvSpPr/>
          <p:nvPr/>
        </p:nvSpPr>
        <p:spPr>
          <a:xfrm>
            <a:off x="1540665" y="1707996"/>
            <a:ext cx="6343703" cy="390516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70501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c4/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4C – Pure Y1 page 67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A23AAECE-F880-AE00-766B-4BB517B302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599127"/>
            <a:ext cx="7772400" cy="11957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742F5BF-3E1B-B1A6-63A7-1CDD4C91AC8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623"/>
          <a:stretch/>
        </p:blipFill>
        <p:spPr>
          <a:xfrm>
            <a:off x="375239" y="1920364"/>
            <a:ext cx="2159929" cy="225544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F4F1D33-36A2-6A1D-4581-51DFE9E191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1920364"/>
            <a:ext cx="2081333" cy="204279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B8E68DAF-FD1A-76B2-B1C6-3F7D856B8D9B}"/>
              </a:ext>
            </a:extLst>
          </p:cNvPr>
          <p:cNvGrpSpPr/>
          <p:nvPr/>
        </p:nvGrpSpPr>
        <p:grpSpPr>
          <a:xfrm>
            <a:off x="5840664" y="2135449"/>
            <a:ext cx="2454808" cy="3655410"/>
            <a:chOff x="6306959" y="1861822"/>
            <a:chExt cx="2050947" cy="305402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88EFA4A-90C6-0ADE-6BD5-6A87CC04B71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06959" y="1861822"/>
              <a:ext cx="2050947" cy="1467047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FA9C5540-A361-3FE9-82F4-9A0A999334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545288" y="3366809"/>
              <a:ext cx="1580230" cy="1549041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4F01CE61-EE72-7A56-4741-F395DDAB3B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552" y="4342274"/>
            <a:ext cx="2376264" cy="2202004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6C3206-9CC9-768A-E96D-A9DBACC12A5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80330" y="4236081"/>
            <a:ext cx="2144390" cy="252595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A16CD10-2D28-47D1-0EDC-B97DD4D1C1B3}"/>
              </a:ext>
            </a:extLst>
          </p:cNvPr>
          <p:cNvSpPr/>
          <p:nvPr/>
        </p:nvSpPr>
        <p:spPr>
          <a:xfrm>
            <a:off x="365397" y="1788962"/>
            <a:ext cx="2599187" cy="2386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95E858D-A4EF-48B5-5397-E86F74676399}"/>
              </a:ext>
            </a:extLst>
          </p:cNvPr>
          <p:cNvSpPr/>
          <p:nvPr/>
        </p:nvSpPr>
        <p:spPr>
          <a:xfrm>
            <a:off x="3052932" y="1788962"/>
            <a:ext cx="2599187" cy="2386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265068C-67DE-509F-1380-6308A911E073}"/>
              </a:ext>
            </a:extLst>
          </p:cNvPr>
          <p:cNvSpPr/>
          <p:nvPr/>
        </p:nvSpPr>
        <p:spPr>
          <a:xfrm>
            <a:off x="5719653" y="1788962"/>
            <a:ext cx="2740780" cy="49515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c?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FCCA533-8584-6867-6FFA-3770E3846F82}"/>
              </a:ext>
            </a:extLst>
          </p:cNvPr>
          <p:cNvSpPr/>
          <p:nvPr/>
        </p:nvSpPr>
        <p:spPr>
          <a:xfrm>
            <a:off x="365397" y="4249853"/>
            <a:ext cx="2599187" cy="249064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d?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A28B634-F6CA-A56F-DCED-D4085C7C083E}"/>
              </a:ext>
            </a:extLst>
          </p:cNvPr>
          <p:cNvSpPr/>
          <p:nvPr/>
        </p:nvSpPr>
        <p:spPr>
          <a:xfrm>
            <a:off x="3059832" y="4256947"/>
            <a:ext cx="2599187" cy="248422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e?</a:t>
            </a:r>
          </a:p>
        </p:txBody>
      </p:sp>
    </p:spTree>
    <p:extLst>
      <p:ext uri="{BB962C8B-B14F-4D97-AF65-F5344CB8AC3E}">
        <p14:creationId xmlns:p14="http://schemas.microsoft.com/office/powerpoint/2010/main" val="791552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c4/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solidFill>
              <a:srgbClr val="17375E">
                <a:alpha val="0"/>
              </a:srgb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vert="horz" wrap="square" lIns="324000" tIns="45720" rIns="91440" bIns="45720" rtlCol="0" anchor="ctr">
              <a:spAutoFit/>
            </a:bodyPr>
            <a:lstStyle>
              <a:defPPr>
                <a:defRPr lang="en-US"/>
              </a:defPPr>
              <a:lvl1pPr>
                <a:spcBef>
                  <a:spcPct val="0"/>
                </a:spcBef>
                <a:buNone/>
                <a:defRPr sz="3200">
                  <a:latin typeface="+mj-lt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/>
                <a:t>Exercise 4C – Pure Y1 page 67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solidFill>
              <a:srgbClr val="23305E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87410B64-61FF-B45B-AEB3-817D92458D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611457"/>
            <a:ext cx="7772400" cy="8245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9AD5469-1490-483D-5B74-2378E312F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12" y="1907324"/>
            <a:ext cx="2420733" cy="33068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1AD33C-8621-AEA1-0818-69627B9DB4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9573" y="1949864"/>
            <a:ext cx="2618424" cy="36145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7F5DFF3-921F-7758-5141-5F7C3214D6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8536" y="1907324"/>
            <a:ext cx="2878336" cy="3767234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C2A0A95D-006F-F7BD-6333-9C83409DD714}"/>
              </a:ext>
            </a:extLst>
          </p:cNvPr>
          <p:cNvSpPr/>
          <p:nvPr/>
        </p:nvSpPr>
        <p:spPr>
          <a:xfrm>
            <a:off x="6016552" y="1916832"/>
            <a:ext cx="2929936" cy="3849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c?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2C9B1E5-D36E-FB9A-D3F4-5957745DD2CF}"/>
              </a:ext>
            </a:extLst>
          </p:cNvPr>
          <p:cNvSpPr/>
          <p:nvPr/>
        </p:nvSpPr>
        <p:spPr>
          <a:xfrm>
            <a:off x="3129572" y="1916832"/>
            <a:ext cx="2641465" cy="3849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b?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06BAC66-CF0A-02D5-A751-4202FF16367D}"/>
              </a:ext>
            </a:extLst>
          </p:cNvPr>
          <p:cNvSpPr/>
          <p:nvPr/>
        </p:nvSpPr>
        <p:spPr>
          <a:xfrm>
            <a:off x="251520" y="1916832"/>
            <a:ext cx="2641464" cy="384945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23305E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GB" sz="2800"/>
              <a:t>a?</a:t>
            </a:r>
          </a:p>
        </p:txBody>
      </p:sp>
    </p:spTree>
    <p:extLst>
      <p:ext uri="{BB962C8B-B14F-4D97-AF65-F5344CB8AC3E}">
        <p14:creationId xmlns:p14="http://schemas.microsoft.com/office/powerpoint/2010/main" val="17407334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</p:bldLst>
  </p:timing>
</p:sld>
</file>

<file path=ppt/c4/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bg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c4/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